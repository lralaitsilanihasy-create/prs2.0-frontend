
<file path=[Content_Types].xml><?xml version="1.0" encoding="utf-8"?>
<Types xmlns="http://schemas.openxmlformats.org/package/2006/content-types">
  <Default Extension="jpg" ContentType="image/jp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slides/slide527.xml" ContentType="application/vnd.openxmlformats-officedocument.presentationml.slide+xml"/>
  <Override PartName="/ppt/slides/slide528.xml" ContentType="application/vnd.openxmlformats-officedocument.presentationml.slide+xml"/>
  <Override PartName="/ppt/slides/slide529.xml" ContentType="application/vnd.openxmlformats-officedocument.presentationml.slide+xml"/>
  <Override PartName="/ppt/slides/slide530.xml" ContentType="application/vnd.openxmlformats-officedocument.presentationml.slide+xml"/>
  <Override PartName="/ppt/slides/slide531.xml" ContentType="application/vnd.openxmlformats-officedocument.presentationml.slide+xml"/>
  <Override PartName="/ppt/slides/slide532.xml" ContentType="application/vnd.openxmlformats-officedocument.presentationml.slide+xml"/>
  <Override PartName="/ppt/slides/slide533.xml" ContentType="application/vnd.openxmlformats-officedocument.presentationml.slide+xml"/>
  <Override PartName="/ppt/slides/slide534.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0.xml" ContentType="application/vnd.openxmlformats-officedocument.presentationml.slide+xml"/>
  <Override PartName="/ppt/slides/slide561.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29.xml" ContentType="application/vnd.openxmlformats-officedocument.presentationml.notesSl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notesSlides/notesSlide332.xml" ContentType="application/vnd.openxmlformats-officedocument.presentationml.notesSlide+xml"/>
  <Override PartName="/ppt/notesSlides/notesSlide333.xml" ContentType="application/vnd.openxmlformats-officedocument.presentationml.notesSlide+xml"/>
  <Override PartName="/ppt/notesSlides/notesSlide334.xml" ContentType="application/vnd.openxmlformats-officedocument.presentationml.notesSlide+xml"/>
  <Override PartName="/ppt/notesSlides/notesSlide335.xml" ContentType="application/vnd.openxmlformats-officedocument.presentationml.notesSlide+xml"/>
  <Override PartName="/ppt/notesSlides/notesSlide336.xml" ContentType="application/vnd.openxmlformats-officedocument.presentationml.notesSlide+xml"/>
  <Override PartName="/ppt/notesSlides/notesSlide337.xml" ContentType="application/vnd.openxmlformats-officedocument.presentationml.notesSlide+xml"/>
  <Override PartName="/ppt/notesSlides/notesSlide338.xml" ContentType="application/vnd.openxmlformats-officedocument.presentationml.notesSlide+xml"/>
  <Override PartName="/ppt/notesSlides/notesSlide339.xml" ContentType="application/vnd.openxmlformats-officedocument.presentationml.notesSlide+xml"/>
  <Override PartName="/ppt/notesSlides/notesSlide340.xml" ContentType="application/vnd.openxmlformats-officedocument.presentationml.notesSlide+xml"/>
  <Override PartName="/ppt/notesSlides/notesSlide341.xml" ContentType="application/vnd.openxmlformats-officedocument.presentationml.notesSlide+xml"/>
  <Override PartName="/ppt/notesSlides/notesSlide342.xml" ContentType="application/vnd.openxmlformats-officedocument.presentationml.notesSlide+xml"/>
  <Override PartName="/ppt/notesSlides/notesSlide343.xml" ContentType="application/vnd.openxmlformats-officedocument.presentationml.notesSlide+xml"/>
  <Override PartName="/ppt/notesSlides/notesSlide344.xml" ContentType="application/vnd.openxmlformats-officedocument.presentationml.notesSlide+xml"/>
  <Override PartName="/ppt/notesSlides/notesSlide345.xml" ContentType="application/vnd.openxmlformats-officedocument.presentationml.notesSlide+xml"/>
  <Override PartName="/ppt/notesSlides/notesSlide346.xml" ContentType="application/vnd.openxmlformats-officedocument.presentationml.notesSlide+xml"/>
  <Override PartName="/ppt/notesSlides/notesSlide347.xml" ContentType="application/vnd.openxmlformats-officedocument.presentationml.notesSlide+xml"/>
  <Override PartName="/ppt/notesSlides/notesSlide348.xml" ContentType="application/vnd.openxmlformats-officedocument.presentationml.notesSlide+xml"/>
  <Override PartName="/ppt/notesSlides/notesSlide349.xml" ContentType="application/vnd.openxmlformats-officedocument.presentationml.notesSlide+xml"/>
  <Override PartName="/ppt/notesSlides/notesSlide350.xml" ContentType="application/vnd.openxmlformats-officedocument.presentationml.notesSlide+xml"/>
  <Override PartName="/ppt/notesSlides/notesSlide351.xml" ContentType="application/vnd.openxmlformats-officedocument.presentationml.notesSlide+xml"/>
  <Override PartName="/ppt/notesSlides/notesSlide352.xml" ContentType="application/vnd.openxmlformats-officedocument.presentationml.notesSlide+xml"/>
  <Override PartName="/ppt/notesSlides/notesSlide353.xml" ContentType="application/vnd.openxmlformats-officedocument.presentationml.notesSlide+xml"/>
  <Override PartName="/ppt/notesSlides/notesSlide354.xml" ContentType="application/vnd.openxmlformats-officedocument.presentationml.notesSlide+xml"/>
  <Override PartName="/ppt/notesSlides/notesSlide355.xml" ContentType="application/vnd.openxmlformats-officedocument.presentationml.notesSlide+xml"/>
  <Override PartName="/ppt/notesSlides/notesSlide356.xml" ContentType="application/vnd.openxmlformats-officedocument.presentationml.notesSlide+xml"/>
  <Override PartName="/ppt/notesSlides/notesSlide357.xml" ContentType="application/vnd.openxmlformats-officedocument.presentationml.notesSlide+xml"/>
  <Override PartName="/ppt/notesSlides/notesSlide358.xml" ContentType="application/vnd.openxmlformats-officedocument.presentationml.notesSlide+xml"/>
  <Override PartName="/ppt/notesSlides/notesSlide359.xml" ContentType="application/vnd.openxmlformats-officedocument.presentationml.notesSlide+xml"/>
  <Override PartName="/ppt/notesSlides/notesSlide360.xml" ContentType="application/vnd.openxmlformats-officedocument.presentationml.notesSlide+xml"/>
  <Override PartName="/ppt/notesSlides/notesSlide361.xml" ContentType="application/vnd.openxmlformats-officedocument.presentationml.notesSlide+xml"/>
  <Override PartName="/ppt/notesSlides/notesSlide362.xml" ContentType="application/vnd.openxmlformats-officedocument.presentationml.notesSlide+xml"/>
  <Override PartName="/ppt/notesSlides/notesSlide363.xml" ContentType="application/vnd.openxmlformats-officedocument.presentationml.notesSlide+xml"/>
  <Override PartName="/ppt/notesSlides/notesSlide364.xml" ContentType="application/vnd.openxmlformats-officedocument.presentationml.notesSlide+xml"/>
  <Override PartName="/ppt/notesSlides/notesSlide365.xml" ContentType="application/vnd.openxmlformats-officedocument.presentationml.notesSlide+xml"/>
  <Override PartName="/ppt/notesSlides/notesSlide366.xml" ContentType="application/vnd.openxmlformats-officedocument.presentationml.notesSlide+xml"/>
  <Override PartName="/ppt/notesSlides/notesSlide367.xml" ContentType="application/vnd.openxmlformats-officedocument.presentationml.notesSlide+xml"/>
  <Override PartName="/ppt/notesSlides/notesSlide368.xml" ContentType="application/vnd.openxmlformats-officedocument.presentationml.notesSlide+xml"/>
  <Override PartName="/ppt/notesSlides/notesSlide369.xml" ContentType="application/vnd.openxmlformats-officedocument.presentationml.notesSlide+xml"/>
  <Override PartName="/ppt/notesSlides/notesSlide370.xml" ContentType="application/vnd.openxmlformats-officedocument.presentationml.notesSlide+xml"/>
  <Override PartName="/ppt/notesSlides/notesSlide371.xml" ContentType="application/vnd.openxmlformats-officedocument.presentationml.notesSlide+xml"/>
  <Override PartName="/ppt/notesSlides/notesSlide372.xml" ContentType="application/vnd.openxmlformats-officedocument.presentationml.notesSlide+xml"/>
  <Override PartName="/ppt/notesSlides/notesSlide373.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1.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7.xml" ContentType="application/vnd.openxmlformats-officedocument.presentationml.notesSlide+xml"/>
  <Override PartName="/ppt/notesSlides/notesSlide388.xml" ContentType="application/vnd.openxmlformats-officedocument.presentationml.notesSlide+xml"/>
  <Override PartName="/ppt/notesSlides/notesSlide38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398.xml" ContentType="application/vnd.openxmlformats-officedocument.presentationml.notesSlide+xml"/>
  <Override PartName="/ppt/notesSlides/notesSlide399.xml" ContentType="application/vnd.openxmlformats-officedocument.presentationml.notesSlide+xml"/>
  <Override PartName="/ppt/notesSlides/notesSlide400.xml" ContentType="application/vnd.openxmlformats-officedocument.presentationml.notesSlide+xml"/>
  <Override PartName="/ppt/notesSlides/notesSlide401.xml" ContentType="application/vnd.openxmlformats-officedocument.presentationml.notesSlide+xml"/>
  <Override PartName="/ppt/notesSlides/notesSlide402.xml" ContentType="application/vnd.openxmlformats-officedocument.presentationml.notesSlide+xml"/>
  <Override PartName="/ppt/notesSlides/notesSlide403.xml" ContentType="application/vnd.openxmlformats-officedocument.presentationml.notesSlide+xml"/>
  <Override PartName="/ppt/notesSlides/notesSlide404.xml" ContentType="application/vnd.openxmlformats-officedocument.presentationml.notesSlide+xml"/>
  <Override PartName="/ppt/notesSlides/notesSlide405.xml" ContentType="application/vnd.openxmlformats-officedocument.presentationml.notesSlide+xml"/>
  <Override PartName="/ppt/notesSlides/notesSlide406.xml" ContentType="application/vnd.openxmlformats-officedocument.presentationml.notesSlide+xml"/>
  <Override PartName="/ppt/notesSlides/notesSlide407.xml" ContentType="application/vnd.openxmlformats-officedocument.presentationml.notesSlide+xml"/>
  <Override PartName="/ppt/notesSlides/notesSlide408.xml" ContentType="application/vnd.openxmlformats-officedocument.presentationml.notesSlide+xml"/>
  <Override PartName="/ppt/notesSlides/notesSlide409.xml" ContentType="application/vnd.openxmlformats-officedocument.presentationml.notesSlide+xml"/>
  <Override PartName="/ppt/notesSlides/notesSlide410.xml" ContentType="application/vnd.openxmlformats-officedocument.presentationml.notesSlide+xml"/>
  <Override PartName="/ppt/notesSlides/notesSlide411.xml" ContentType="application/vnd.openxmlformats-officedocument.presentationml.notesSlide+xml"/>
  <Override PartName="/ppt/notesSlides/notesSlide412.xml" ContentType="application/vnd.openxmlformats-officedocument.presentationml.notesSlide+xml"/>
  <Override PartName="/ppt/notesSlides/notesSlide413.xml" ContentType="application/vnd.openxmlformats-officedocument.presentationml.notesSlide+xml"/>
  <Override PartName="/ppt/notesSlides/notesSlide414.xml" ContentType="application/vnd.openxmlformats-officedocument.presentationml.notesSlide+xml"/>
  <Override PartName="/ppt/notesSlides/notesSlide415.xml" ContentType="application/vnd.openxmlformats-officedocument.presentationml.notesSlide+xml"/>
  <Override PartName="/ppt/notesSlides/notesSlide416.xml" ContentType="application/vnd.openxmlformats-officedocument.presentationml.notesSlide+xml"/>
  <Override PartName="/ppt/notesSlides/notesSlide417.xml" ContentType="application/vnd.openxmlformats-officedocument.presentationml.notesSlide+xml"/>
  <Override PartName="/ppt/notesSlides/notesSlide418.xml" ContentType="application/vnd.openxmlformats-officedocument.presentationml.notesSlide+xml"/>
  <Override PartName="/ppt/notesSlides/notesSlide419.xml" ContentType="application/vnd.openxmlformats-officedocument.presentationml.notesSlide+xml"/>
  <Override PartName="/ppt/notesSlides/notesSlide420.xml" ContentType="application/vnd.openxmlformats-officedocument.presentationml.notesSlide+xml"/>
  <Override PartName="/ppt/notesSlides/notesSlide421.xml" ContentType="application/vnd.openxmlformats-officedocument.presentationml.notesSlide+xml"/>
  <Override PartName="/ppt/notesSlides/notesSlide422.xml" ContentType="application/vnd.openxmlformats-officedocument.presentationml.notesSlide+xml"/>
  <Override PartName="/ppt/notesSlides/notesSlide423.xml" ContentType="application/vnd.openxmlformats-officedocument.presentationml.notesSlide+xml"/>
  <Override PartName="/ppt/notesSlides/notesSlide424.xml" ContentType="application/vnd.openxmlformats-officedocument.presentationml.notesSlide+xml"/>
  <Override PartName="/ppt/notesSlides/notesSlide425.xml" ContentType="application/vnd.openxmlformats-officedocument.presentationml.notesSlide+xml"/>
  <Override PartName="/ppt/notesSlides/notesSlide426.xml" ContentType="application/vnd.openxmlformats-officedocument.presentationml.notesSlide+xml"/>
  <Override PartName="/ppt/notesSlides/notesSlide427.xml" ContentType="application/vnd.openxmlformats-officedocument.presentationml.notesSlide+xml"/>
  <Override PartName="/ppt/notesSlides/notesSlide428.xml" ContentType="application/vnd.openxmlformats-officedocument.presentationml.notesSlide+xml"/>
  <Override PartName="/ppt/notesSlides/notesSlide429.xml" ContentType="application/vnd.openxmlformats-officedocument.presentationml.notesSlide+xml"/>
  <Override PartName="/ppt/notesSlides/notesSlide430.xml" ContentType="application/vnd.openxmlformats-officedocument.presentationml.notesSlide+xml"/>
  <Override PartName="/ppt/notesSlides/notesSlide431.xml" ContentType="application/vnd.openxmlformats-officedocument.presentationml.notesSlide+xml"/>
  <Override PartName="/ppt/notesSlides/notesSlide432.xml" ContentType="application/vnd.openxmlformats-officedocument.presentationml.notesSlide+xml"/>
  <Override PartName="/ppt/notesSlides/notesSlide433.xml" ContentType="application/vnd.openxmlformats-officedocument.presentationml.notesSlide+xml"/>
  <Override PartName="/ppt/notesSlides/notesSlide434.xml" ContentType="application/vnd.openxmlformats-officedocument.presentationml.notesSlide+xml"/>
  <Override PartName="/ppt/notesSlides/notesSlide435.xml" ContentType="application/vnd.openxmlformats-officedocument.presentationml.notesSlide+xml"/>
  <Override PartName="/ppt/notesSlides/notesSlide436.xml" ContentType="application/vnd.openxmlformats-officedocument.presentationml.notesSlide+xml"/>
  <Override PartName="/ppt/notesSlides/notesSlide437.xml" ContentType="application/vnd.openxmlformats-officedocument.presentationml.notesSlide+xml"/>
  <Override PartName="/ppt/notesSlides/notesSlide438.xml" ContentType="application/vnd.openxmlformats-officedocument.presentationml.notesSlide+xml"/>
  <Override PartName="/ppt/notesSlides/notesSlide439.xml" ContentType="application/vnd.openxmlformats-officedocument.presentationml.notesSlide+xml"/>
  <Override PartName="/ppt/notesSlides/notesSlide440.xml" ContentType="application/vnd.openxmlformats-officedocument.presentationml.notesSlide+xml"/>
  <Override PartName="/ppt/notesSlides/notesSlide441.xml" ContentType="application/vnd.openxmlformats-officedocument.presentationml.notesSlide+xml"/>
  <Override PartName="/ppt/notesSlides/notesSlide442.xml" ContentType="application/vnd.openxmlformats-officedocument.presentationml.notesSlide+xml"/>
  <Override PartName="/ppt/notesSlides/notesSlide443.xml" ContentType="application/vnd.openxmlformats-officedocument.presentationml.notesSlide+xml"/>
  <Override PartName="/ppt/notesSlides/notesSlide444.xml" ContentType="application/vnd.openxmlformats-officedocument.presentationml.notesSlide+xml"/>
  <Override PartName="/ppt/notesSlides/notesSlide445.xml" ContentType="application/vnd.openxmlformats-officedocument.presentationml.notesSlide+xml"/>
  <Override PartName="/ppt/notesSlides/notesSlide446.xml" ContentType="application/vnd.openxmlformats-officedocument.presentationml.notesSlide+xml"/>
  <Override PartName="/ppt/notesSlides/notesSlide447.xml" ContentType="application/vnd.openxmlformats-officedocument.presentationml.notesSlide+xml"/>
  <Override PartName="/ppt/notesSlides/notesSlide448.xml" ContentType="application/vnd.openxmlformats-officedocument.presentationml.notesSlide+xml"/>
  <Override PartName="/ppt/notesSlides/notesSlide449.xml" ContentType="application/vnd.openxmlformats-officedocument.presentationml.notesSlide+xml"/>
  <Override PartName="/ppt/notesSlides/notesSlide450.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3.xml" ContentType="application/vnd.openxmlformats-officedocument.presentationml.notesSlide+xml"/>
  <Override PartName="/ppt/notesSlides/notesSlide454.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0.xml" ContentType="application/vnd.openxmlformats-officedocument.presentationml.notesSlide+xml"/>
  <Override PartName="/ppt/notesSlides/notesSlide461.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4.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69.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2.xml" ContentType="application/vnd.openxmlformats-officedocument.presentationml.notesSlide+xml"/>
  <Override PartName="/ppt/notesSlides/notesSlide473.xml" ContentType="application/vnd.openxmlformats-officedocument.presentationml.notesSlide+xml"/>
  <Override PartName="/ppt/notesSlides/notesSlide474.xml" ContentType="application/vnd.openxmlformats-officedocument.presentationml.notesSlide+xml"/>
  <Override PartName="/ppt/notesSlides/notesSlide475.xml" ContentType="application/vnd.openxmlformats-officedocument.presentationml.notesSlide+xml"/>
  <Override PartName="/ppt/notesSlides/notesSlide476.xml" ContentType="application/vnd.openxmlformats-officedocument.presentationml.notesSlide+xml"/>
  <Override PartName="/ppt/notesSlides/notesSlide477.xml" ContentType="application/vnd.openxmlformats-officedocument.presentationml.notesSlide+xml"/>
  <Override PartName="/ppt/notesSlides/notesSlide478.xml" ContentType="application/vnd.openxmlformats-officedocument.presentationml.notesSlide+xml"/>
  <Override PartName="/ppt/notesSlides/notesSlide479.xml" ContentType="application/vnd.openxmlformats-officedocument.presentationml.notesSlide+xml"/>
  <Override PartName="/ppt/notesSlides/notesSlide480.xml" ContentType="application/vnd.openxmlformats-officedocument.presentationml.notesSlide+xml"/>
  <Override PartName="/ppt/notesSlides/notesSlide481.xml" ContentType="application/vnd.openxmlformats-officedocument.presentationml.notesSlide+xml"/>
  <Override PartName="/ppt/notesSlides/notesSlide482.xml" ContentType="application/vnd.openxmlformats-officedocument.presentationml.notesSlide+xml"/>
  <Override PartName="/ppt/notesSlides/notesSlide483.xml" ContentType="application/vnd.openxmlformats-officedocument.presentationml.notesSlide+xml"/>
  <Override PartName="/ppt/notesSlides/notesSlide484.xml" ContentType="application/vnd.openxmlformats-officedocument.presentationml.notesSlide+xml"/>
  <Override PartName="/ppt/notesSlides/notesSlide485.xml" ContentType="application/vnd.openxmlformats-officedocument.presentationml.notesSlide+xml"/>
  <Override PartName="/ppt/notesSlides/notesSlide486.xml" ContentType="application/vnd.openxmlformats-officedocument.presentationml.notesSlide+xml"/>
  <Override PartName="/ppt/notesSlides/notesSlide487.xml" ContentType="application/vnd.openxmlformats-officedocument.presentationml.notesSlide+xml"/>
  <Override PartName="/ppt/notesSlides/notesSlide488.xml" ContentType="application/vnd.openxmlformats-officedocument.presentationml.notesSlide+xml"/>
  <Override PartName="/ppt/notesSlides/notesSlide489.xml" ContentType="application/vnd.openxmlformats-officedocument.presentationml.notesSlide+xml"/>
  <Override PartName="/ppt/notesSlides/notesSlide490.xml" ContentType="application/vnd.openxmlformats-officedocument.presentationml.notesSlide+xml"/>
  <Override PartName="/ppt/notesSlides/notesSlide491.xml" ContentType="application/vnd.openxmlformats-officedocument.presentationml.notesSlide+xml"/>
  <Override PartName="/ppt/notesSlides/notesSlide492.xml" ContentType="application/vnd.openxmlformats-officedocument.presentationml.notesSlide+xml"/>
  <Override PartName="/ppt/notesSlides/notesSlide493.xml" ContentType="application/vnd.openxmlformats-officedocument.presentationml.notesSlide+xml"/>
  <Override PartName="/ppt/notesSlides/notesSlide494.xml" ContentType="application/vnd.openxmlformats-officedocument.presentationml.notesSlide+xml"/>
  <Override PartName="/ppt/notesSlides/notesSlide495.xml" ContentType="application/vnd.openxmlformats-officedocument.presentationml.notesSlide+xml"/>
  <Override PartName="/ppt/notesSlides/notesSlide496.xml" ContentType="application/vnd.openxmlformats-officedocument.presentationml.notesSlide+xml"/>
  <Override PartName="/ppt/notesSlides/notesSlide497.xml" ContentType="application/vnd.openxmlformats-officedocument.presentationml.notesSlide+xml"/>
  <Override PartName="/ppt/notesSlides/notesSlide498.xml" ContentType="application/vnd.openxmlformats-officedocument.presentationml.notesSlide+xml"/>
  <Override PartName="/ppt/notesSlides/notesSlide499.xml" ContentType="application/vnd.openxmlformats-officedocument.presentationml.notesSlide+xml"/>
  <Override PartName="/ppt/notesSlides/notesSlide500.xml" ContentType="application/vnd.openxmlformats-officedocument.presentationml.notesSlide+xml"/>
  <Override PartName="/ppt/notesSlides/notesSlide501.xml" ContentType="application/vnd.openxmlformats-officedocument.presentationml.notesSlide+xml"/>
  <Override PartName="/ppt/notesSlides/notesSlide502.xml" ContentType="application/vnd.openxmlformats-officedocument.presentationml.notesSlide+xml"/>
  <Override PartName="/ppt/notesSlides/notesSlide503.xml" ContentType="application/vnd.openxmlformats-officedocument.presentationml.notesSlide+xml"/>
  <Override PartName="/ppt/notesSlides/notesSlide504.xml" ContentType="application/vnd.openxmlformats-officedocument.presentationml.notesSlide+xml"/>
  <Override PartName="/ppt/notesSlides/notesSlide505.xml" ContentType="application/vnd.openxmlformats-officedocument.presentationml.notesSlide+xml"/>
  <Override PartName="/ppt/notesSlides/notesSlide506.xml" ContentType="application/vnd.openxmlformats-officedocument.presentationml.notesSlide+xml"/>
  <Override PartName="/ppt/notesSlides/notesSlide507.xml" ContentType="application/vnd.openxmlformats-officedocument.presentationml.notesSlide+xml"/>
  <Override PartName="/ppt/notesSlides/notesSlide508.xml" ContentType="application/vnd.openxmlformats-officedocument.presentationml.notesSlide+xml"/>
  <Override PartName="/ppt/notesSlides/notesSlide509.xml" ContentType="application/vnd.openxmlformats-officedocument.presentationml.notesSlide+xml"/>
  <Override PartName="/ppt/notesSlides/notesSlide510.xml" ContentType="application/vnd.openxmlformats-officedocument.presentationml.notesSlide+xml"/>
  <Override PartName="/ppt/notesSlides/notesSlide511.xml" ContentType="application/vnd.openxmlformats-officedocument.presentationml.notesSlide+xml"/>
  <Override PartName="/ppt/notesSlides/notesSlide512.xml" ContentType="application/vnd.openxmlformats-officedocument.presentationml.notesSlide+xml"/>
  <Override PartName="/ppt/notesSlides/notesSlide513.xml" ContentType="application/vnd.openxmlformats-officedocument.presentationml.notesSlide+xml"/>
  <Override PartName="/ppt/notesSlides/notesSlide514.xml" ContentType="application/vnd.openxmlformats-officedocument.presentationml.notesSlide+xml"/>
  <Override PartName="/ppt/notesSlides/notesSlide515.xml" ContentType="application/vnd.openxmlformats-officedocument.presentationml.notesSlide+xml"/>
  <Override PartName="/ppt/notesSlides/notesSlide516.xml" ContentType="application/vnd.openxmlformats-officedocument.presentationml.notesSlide+xml"/>
  <Override PartName="/ppt/notesSlides/notesSlide517.xml" ContentType="application/vnd.openxmlformats-officedocument.presentationml.notesSlide+xml"/>
  <Override PartName="/ppt/notesSlides/notesSlide518.xml" ContentType="application/vnd.openxmlformats-officedocument.presentationml.notesSlide+xml"/>
  <Override PartName="/ppt/notesSlides/notesSlide519.xml" ContentType="application/vnd.openxmlformats-officedocument.presentationml.notesSlide+xml"/>
  <Override PartName="/ppt/notesSlides/notesSlide520.xml" ContentType="application/vnd.openxmlformats-officedocument.presentationml.notesSlide+xml"/>
  <Override PartName="/ppt/notesSlides/notesSlide521.xml" ContentType="application/vnd.openxmlformats-officedocument.presentationml.notesSlide+xml"/>
  <Override PartName="/ppt/notesSlides/notesSlide522.xml" ContentType="application/vnd.openxmlformats-officedocument.presentationml.notesSlide+xml"/>
  <Override PartName="/ppt/notesSlides/notesSlide523.xml" ContentType="application/vnd.openxmlformats-officedocument.presentationml.notesSlide+xml"/>
  <Override PartName="/ppt/notesSlides/notesSlide524.xml" ContentType="application/vnd.openxmlformats-officedocument.presentationml.notesSlide+xml"/>
  <Override PartName="/ppt/notesSlides/notesSlide525.xml" ContentType="application/vnd.openxmlformats-officedocument.presentationml.notesSlide+xml"/>
  <Override PartName="/ppt/notesSlides/notesSlide526.xml" ContentType="application/vnd.openxmlformats-officedocument.presentationml.notesSlide+xml"/>
  <Override PartName="/ppt/notesSlides/notesSlide527.xml" ContentType="application/vnd.openxmlformats-officedocument.presentationml.notesSlide+xml"/>
  <Override PartName="/ppt/notesSlides/notesSlide528.xml" ContentType="application/vnd.openxmlformats-officedocument.presentationml.notesSlide+xml"/>
  <Override PartName="/ppt/notesSlides/notesSlide529.xml" ContentType="application/vnd.openxmlformats-officedocument.presentationml.notesSlide+xml"/>
  <Override PartName="/ppt/notesSlides/notesSlide530.xml" ContentType="application/vnd.openxmlformats-officedocument.presentationml.notesSlide+xml"/>
  <Override PartName="/ppt/notesSlides/notesSlide531.xml" ContentType="application/vnd.openxmlformats-officedocument.presentationml.notesSlide+xml"/>
  <Override PartName="/ppt/notesSlides/notesSlide532.xml" ContentType="application/vnd.openxmlformats-officedocument.presentationml.notesSlide+xml"/>
  <Override PartName="/ppt/notesSlides/notesSlide533.xml" ContentType="application/vnd.openxmlformats-officedocument.presentationml.notesSlide+xml"/>
  <Override PartName="/ppt/notesSlides/notesSlide534.xml" ContentType="application/vnd.openxmlformats-officedocument.presentationml.notesSlide+xml"/>
  <Override PartName="/ppt/notesSlides/notesSlide535.xml" ContentType="application/vnd.openxmlformats-officedocument.presentationml.notesSlide+xml"/>
  <Override PartName="/ppt/notesSlides/notesSlide536.xml" ContentType="application/vnd.openxmlformats-officedocument.presentationml.notesSlide+xml"/>
  <Override PartName="/ppt/notesSlides/notesSlide537.xml" ContentType="application/vnd.openxmlformats-officedocument.presentationml.notesSlide+xml"/>
  <Override PartName="/ppt/notesSlides/notesSlide538.xml" ContentType="application/vnd.openxmlformats-officedocument.presentationml.notesSlide+xml"/>
  <Override PartName="/ppt/notesSlides/notesSlide539.xml" ContentType="application/vnd.openxmlformats-officedocument.presentationml.notesSlide+xml"/>
  <Override PartName="/ppt/notesSlides/notesSlide540.xml" ContentType="application/vnd.openxmlformats-officedocument.presentationml.notesSlide+xml"/>
  <Override PartName="/ppt/notesSlides/notesSlide541.xml" ContentType="application/vnd.openxmlformats-officedocument.presentationml.notesSlide+xml"/>
  <Override PartName="/ppt/notesSlides/notesSlide542.xml" ContentType="application/vnd.openxmlformats-officedocument.presentationml.notesSlide+xml"/>
  <Override PartName="/ppt/notesSlides/notesSlide543.xml" ContentType="application/vnd.openxmlformats-officedocument.presentationml.notesSlide+xml"/>
  <Override PartName="/ppt/notesSlides/notesSlide544.xml" ContentType="application/vnd.openxmlformats-officedocument.presentationml.notesSlide+xml"/>
  <Override PartName="/ppt/notesSlides/notesSlide545.xml" ContentType="application/vnd.openxmlformats-officedocument.presentationml.notesSlide+xml"/>
  <Override PartName="/ppt/notesSlides/notesSlide546.xml" ContentType="application/vnd.openxmlformats-officedocument.presentationml.notesSlide+xml"/>
  <Override PartName="/ppt/notesSlides/notesSlide547.xml" ContentType="application/vnd.openxmlformats-officedocument.presentationml.notesSlide+xml"/>
  <Override PartName="/ppt/notesSlides/notesSlide548.xml" ContentType="application/vnd.openxmlformats-officedocument.presentationml.notesSlide+xml"/>
  <Override PartName="/ppt/notesSlides/notesSlide549.xml" ContentType="application/vnd.openxmlformats-officedocument.presentationml.notesSlide+xml"/>
  <Override PartName="/ppt/notesSlides/notesSlide550.xml" ContentType="application/vnd.openxmlformats-officedocument.presentationml.notesSlide+xml"/>
  <Override PartName="/ppt/notesSlides/notesSlide551.xml" ContentType="application/vnd.openxmlformats-officedocument.presentationml.notesSlide+xml"/>
  <Override PartName="/ppt/notesSlides/notesSlide552.xml" ContentType="application/vnd.openxmlformats-officedocument.presentationml.notesSlide+xml"/>
  <Override PartName="/ppt/notesSlides/notesSlide553.xml" ContentType="application/vnd.openxmlformats-officedocument.presentationml.notesSlide+xml"/>
  <Override PartName="/ppt/notesSlides/notesSlide554.xml" ContentType="application/vnd.openxmlformats-officedocument.presentationml.notesSlide+xml"/>
  <Override PartName="/ppt/notesSlides/notesSlide555.xml" ContentType="application/vnd.openxmlformats-officedocument.presentationml.notesSlide+xml"/>
  <Override PartName="/ppt/notesSlides/notesSlide556.xml" ContentType="application/vnd.openxmlformats-officedocument.presentationml.notesSlide+xml"/>
  <Override PartName="/ppt/notesSlides/notesSlide557.xml" ContentType="application/vnd.openxmlformats-officedocument.presentationml.notesSlide+xml"/>
  <Override PartName="/ppt/notesSlides/notesSlide558.xml" ContentType="application/vnd.openxmlformats-officedocument.presentationml.notesSlide+xml"/>
  <Override PartName="/ppt/notesSlides/notesSlide559.xml" ContentType="application/vnd.openxmlformats-officedocument.presentationml.notesSlide+xml"/>
  <Override PartName="/ppt/notesSlides/notesSlide560.xml" ContentType="application/vnd.openxmlformats-officedocument.presentationml.notesSlide+xml"/>
  <Override PartName="/ppt/notesSlides/notesSlide561.xml" ContentType="application/vnd.openxmlformats-officedocument.presentationml.notesSlide+xml"/>
  <Override PartName="/ppt/notesSlides/notesSlide562.xml" ContentType="application/vnd.openxmlformats-officedocument.presentationml.notesSlide+xml"/>
  <Override PartName="/ppt/notesSlides/notesSlide563.xml" ContentType="application/vnd.openxmlformats-officedocument.presentationml.notesSlide+xml"/>
  <Override PartName="/ppt/notesSlides/notesSlide564.xml" ContentType="application/vnd.openxmlformats-officedocument.presentationml.notesSlide+xml"/>
  <Override PartName="/ppt/notesSlides/notesSlide565.xml" ContentType="application/vnd.openxmlformats-officedocument.presentationml.notesSlide+xml"/>
  <Override PartName="/ppt/notesSlides/notesSlide566.xml" ContentType="application/vnd.openxmlformats-officedocument.presentationml.notesSlide+xml"/>
  <Override PartName="/ppt/notesSlides/notesSlide56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569"/>
  </p:notesMasterIdLst>
  <p:sldIdLst>
    <p:sldId id="256" r:id="rId2"/>
    <p:sldId id="257" r:id="rId3"/>
    <p:sldId id="258" r:id="rId4"/>
    <p:sldId id="259" r:id="rId5"/>
    <p:sldId id="260" r:id="rId6"/>
    <p:sldId id="261" r:id="rId7"/>
    <p:sldId id="262" r:id="rId8"/>
    <p:sldId id="263" r:id="rId9"/>
    <p:sldId id="264" r:id="rId10"/>
    <p:sldId id="265" r:id="rId11"/>
    <p:sldId id="266" r:id="rId12"/>
    <p:sldId id="267" r:id="rId13"/>
    <p:sldId id="268" r:id="rId14"/>
    <p:sldId id="269" r:id="rId15"/>
    <p:sldId id="270" r:id="rId16"/>
    <p:sldId id="271" r:id="rId17"/>
    <p:sldId id="272" r:id="rId18"/>
    <p:sldId id="273" r:id="rId19"/>
    <p:sldId id="274" r:id="rId20"/>
    <p:sldId id="275" r:id="rId21"/>
    <p:sldId id="276" r:id="rId22"/>
    <p:sldId id="277" r:id="rId23"/>
    <p:sldId id="278" r:id="rId24"/>
    <p:sldId id="279" r:id="rId25"/>
    <p:sldId id="280" r:id="rId26"/>
    <p:sldId id="281" r:id="rId27"/>
    <p:sldId id="282" r:id="rId28"/>
    <p:sldId id="283" r:id="rId29"/>
    <p:sldId id="284" r:id="rId30"/>
    <p:sldId id="285" r:id="rId31"/>
    <p:sldId id="286" r:id="rId32"/>
    <p:sldId id="287" r:id="rId33"/>
    <p:sldId id="288" r:id="rId34"/>
    <p:sldId id="289" r:id="rId35"/>
    <p:sldId id="290" r:id="rId36"/>
    <p:sldId id="291" r:id="rId37"/>
    <p:sldId id="292" r:id="rId38"/>
    <p:sldId id="293" r:id="rId39"/>
    <p:sldId id="294" r:id="rId40"/>
    <p:sldId id="295" r:id="rId41"/>
    <p:sldId id="296" r:id="rId42"/>
    <p:sldId id="297" r:id="rId43"/>
    <p:sldId id="298" r:id="rId44"/>
    <p:sldId id="299" r:id="rId45"/>
    <p:sldId id="300" r:id="rId46"/>
    <p:sldId id="301" r:id="rId47"/>
    <p:sldId id="302" r:id="rId48"/>
    <p:sldId id="303" r:id="rId49"/>
    <p:sldId id="304" r:id="rId50"/>
    <p:sldId id="305" r:id="rId51"/>
    <p:sldId id="306" r:id="rId52"/>
    <p:sldId id="307" r:id="rId53"/>
    <p:sldId id="308" r:id="rId54"/>
    <p:sldId id="309" r:id="rId55"/>
    <p:sldId id="310" r:id="rId56"/>
    <p:sldId id="311" r:id="rId57"/>
    <p:sldId id="312" r:id="rId58"/>
    <p:sldId id="313" r:id="rId59"/>
    <p:sldId id="314" r:id="rId60"/>
    <p:sldId id="315" r:id="rId61"/>
    <p:sldId id="316" r:id="rId62"/>
    <p:sldId id="317" r:id="rId63"/>
    <p:sldId id="318" r:id="rId64"/>
    <p:sldId id="319" r:id="rId65"/>
    <p:sldId id="320" r:id="rId66"/>
    <p:sldId id="321" r:id="rId67"/>
    <p:sldId id="322" r:id="rId68"/>
    <p:sldId id="323" r:id="rId69"/>
    <p:sldId id="324" r:id="rId70"/>
    <p:sldId id="325" r:id="rId71"/>
    <p:sldId id="326" r:id="rId72"/>
    <p:sldId id="327" r:id="rId73"/>
    <p:sldId id="328" r:id="rId74"/>
    <p:sldId id="329" r:id="rId75"/>
    <p:sldId id="330" r:id="rId76"/>
    <p:sldId id="331" r:id="rId77"/>
    <p:sldId id="332" r:id="rId78"/>
    <p:sldId id="333" r:id="rId79"/>
    <p:sldId id="334" r:id="rId80"/>
    <p:sldId id="335" r:id="rId81"/>
    <p:sldId id="336" r:id="rId82"/>
    <p:sldId id="337" r:id="rId83"/>
    <p:sldId id="338" r:id="rId84"/>
    <p:sldId id="339" r:id="rId85"/>
    <p:sldId id="340" r:id="rId86"/>
    <p:sldId id="341" r:id="rId87"/>
    <p:sldId id="342" r:id="rId88"/>
    <p:sldId id="343" r:id="rId89"/>
    <p:sldId id="344" r:id="rId90"/>
    <p:sldId id="345" r:id="rId91"/>
    <p:sldId id="346" r:id="rId92"/>
    <p:sldId id="347" r:id="rId93"/>
    <p:sldId id="348" r:id="rId94"/>
    <p:sldId id="349" r:id="rId95"/>
    <p:sldId id="350" r:id="rId96"/>
    <p:sldId id="351" r:id="rId97"/>
    <p:sldId id="352" r:id="rId98"/>
    <p:sldId id="353" r:id="rId99"/>
    <p:sldId id="354" r:id="rId100"/>
    <p:sldId id="355" r:id="rId101"/>
    <p:sldId id="356" r:id="rId102"/>
    <p:sldId id="357" r:id="rId103"/>
    <p:sldId id="358" r:id="rId104"/>
    <p:sldId id="359" r:id="rId105"/>
    <p:sldId id="360" r:id="rId106"/>
    <p:sldId id="361" r:id="rId107"/>
    <p:sldId id="362" r:id="rId108"/>
    <p:sldId id="363" r:id="rId109"/>
    <p:sldId id="364" r:id="rId110"/>
    <p:sldId id="365" r:id="rId111"/>
    <p:sldId id="366" r:id="rId112"/>
    <p:sldId id="367" r:id="rId113"/>
    <p:sldId id="368" r:id="rId114"/>
    <p:sldId id="369" r:id="rId115"/>
    <p:sldId id="370" r:id="rId116"/>
    <p:sldId id="371" r:id="rId117"/>
    <p:sldId id="372" r:id="rId118"/>
    <p:sldId id="373" r:id="rId119"/>
    <p:sldId id="374" r:id="rId120"/>
    <p:sldId id="375" r:id="rId121"/>
    <p:sldId id="376" r:id="rId122"/>
    <p:sldId id="377" r:id="rId123"/>
    <p:sldId id="378" r:id="rId124"/>
    <p:sldId id="379" r:id="rId125"/>
    <p:sldId id="380" r:id="rId126"/>
    <p:sldId id="381" r:id="rId127"/>
    <p:sldId id="382" r:id="rId128"/>
    <p:sldId id="383" r:id="rId129"/>
    <p:sldId id="384" r:id="rId130"/>
    <p:sldId id="385" r:id="rId131"/>
    <p:sldId id="386" r:id="rId132"/>
    <p:sldId id="387" r:id="rId133"/>
    <p:sldId id="388" r:id="rId134"/>
    <p:sldId id="389" r:id="rId135"/>
    <p:sldId id="390" r:id="rId136"/>
    <p:sldId id="391" r:id="rId137"/>
    <p:sldId id="392" r:id="rId138"/>
    <p:sldId id="393" r:id="rId139"/>
    <p:sldId id="394" r:id="rId140"/>
    <p:sldId id="395" r:id="rId141"/>
    <p:sldId id="396" r:id="rId142"/>
    <p:sldId id="397" r:id="rId143"/>
    <p:sldId id="398" r:id="rId144"/>
    <p:sldId id="399" r:id="rId145"/>
    <p:sldId id="400" r:id="rId146"/>
    <p:sldId id="401" r:id="rId147"/>
    <p:sldId id="402" r:id="rId148"/>
    <p:sldId id="403" r:id="rId149"/>
    <p:sldId id="404" r:id="rId150"/>
    <p:sldId id="405" r:id="rId151"/>
    <p:sldId id="406" r:id="rId152"/>
    <p:sldId id="407" r:id="rId153"/>
    <p:sldId id="408" r:id="rId154"/>
    <p:sldId id="409" r:id="rId155"/>
    <p:sldId id="410" r:id="rId156"/>
    <p:sldId id="411" r:id="rId157"/>
    <p:sldId id="412" r:id="rId158"/>
    <p:sldId id="413" r:id="rId159"/>
    <p:sldId id="414" r:id="rId160"/>
    <p:sldId id="415" r:id="rId161"/>
    <p:sldId id="416" r:id="rId162"/>
    <p:sldId id="417" r:id="rId163"/>
    <p:sldId id="418" r:id="rId164"/>
    <p:sldId id="419" r:id="rId165"/>
    <p:sldId id="420" r:id="rId166"/>
    <p:sldId id="421" r:id="rId167"/>
    <p:sldId id="422" r:id="rId168"/>
    <p:sldId id="423" r:id="rId169"/>
    <p:sldId id="424" r:id="rId170"/>
    <p:sldId id="425" r:id="rId171"/>
    <p:sldId id="426" r:id="rId172"/>
    <p:sldId id="427" r:id="rId173"/>
    <p:sldId id="428" r:id="rId174"/>
    <p:sldId id="429" r:id="rId175"/>
    <p:sldId id="430" r:id="rId176"/>
    <p:sldId id="431" r:id="rId177"/>
    <p:sldId id="432" r:id="rId178"/>
    <p:sldId id="433" r:id="rId179"/>
    <p:sldId id="434" r:id="rId180"/>
    <p:sldId id="435" r:id="rId181"/>
    <p:sldId id="436" r:id="rId182"/>
    <p:sldId id="437" r:id="rId183"/>
    <p:sldId id="438" r:id="rId184"/>
    <p:sldId id="439" r:id="rId185"/>
    <p:sldId id="440" r:id="rId186"/>
    <p:sldId id="441" r:id="rId187"/>
    <p:sldId id="442" r:id="rId188"/>
    <p:sldId id="443" r:id="rId189"/>
    <p:sldId id="444" r:id="rId190"/>
    <p:sldId id="445" r:id="rId191"/>
    <p:sldId id="446" r:id="rId192"/>
    <p:sldId id="447" r:id="rId193"/>
    <p:sldId id="448" r:id="rId194"/>
    <p:sldId id="449" r:id="rId195"/>
    <p:sldId id="450" r:id="rId196"/>
    <p:sldId id="451" r:id="rId197"/>
    <p:sldId id="452" r:id="rId198"/>
    <p:sldId id="453" r:id="rId199"/>
    <p:sldId id="454" r:id="rId200"/>
    <p:sldId id="455" r:id="rId201"/>
    <p:sldId id="456" r:id="rId202"/>
    <p:sldId id="457" r:id="rId203"/>
    <p:sldId id="458" r:id="rId204"/>
    <p:sldId id="459" r:id="rId205"/>
    <p:sldId id="460" r:id="rId206"/>
    <p:sldId id="461" r:id="rId207"/>
    <p:sldId id="462" r:id="rId208"/>
    <p:sldId id="463" r:id="rId209"/>
    <p:sldId id="464" r:id="rId210"/>
    <p:sldId id="465" r:id="rId211"/>
    <p:sldId id="466" r:id="rId212"/>
    <p:sldId id="467" r:id="rId213"/>
    <p:sldId id="468" r:id="rId214"/>
    <p:sldId id="469" r:id="rId215"/>
    <p:sldId id="470" r:id="rId216"/>
    <p:sldId id="471" r:id="rId217"/>
    <p:sldId id="472" r:id="rId218"/>
    <p:sldId id="473" r:id="rId219"/>
    <p:sldId id="474" r:id="rId220"/>
    <p:sldId id="475" r:id="rId221"/>
    <p:sldId id="476" r:id="rId222"/>
    <p:sldId id="477" r:id="rId223"/>
    <p:sldId id="478" r:id="rId224"/>
    <p:sldId id="479" r:id="rId225"/>
    <p:sldId id="480" r:id="rId226"/>
    <p:sldId id="481" r:id="rId227"/>
    <p:sldId id="482" r:id="rId228"/>
    <p:sldId id="483" r:id="rId229"/>
    <p:sldId id="484" r:id="rId230"/>
    <p:sldId id="485" r:id="rId231"/>
    <p:sldId id="486" r:id="rId232"/>
    <p:sldId id="487" r:id="rId233"/>
    <p:sldId id="488" r:id="rId234"/>
    <p:sldId id="489" r:id="rId235"/>
    <p:sldId id="490" r:id="rId236"/>
    <p:sldId id="491" r:id="rId237"/>
    <p:sldId id="492" r:id="rId238"/>
    <p:sldId id="493" r:id="rId239"/>
    <p:sldId id="494" r:id="rId240"/>
    <p:sldId id="495" r:id="rId241"/>
    <p:sldId id="496" r:id="rId242"/>
    <p:sldId id="497" r:id="rId243"/>
    <p:sldId id="498" r:id="rId244"/>
    <p:sldId id="499" r:id="rId245"/>
    <p:sldId id="500" r:id="rId246"/>
    <p:sldId id="501" r:id="rId247"/>
    <p:sldId id="502" r:id="rId248"/>
    <p:sldId id="503" r:id="rId249"/>
    <p:sldId id="504" r:id="rId250"/>
    <p:sldId id="505" r:id="rId251"/>
    <p:sldId id="506" r:id="rId252"/>
    <p:sldId id="507" r:id="rId253"/>
    <p:sldId id="508" r:id="rId254"/>
    <p:sldId id="509" r:id="rId255"/>
    <p:sldId id="510" r:id="rId256"/>
    <p:sldId id="511" r:id="rId257"/>
    <p:sldId id="512" r:id="rId258"/>
    <p:sldId id="513" r:id="rId259"/>
    <p:sldId id="514" r:id="rId260"/>
    <p:sldId id="515" r:id="rId261"/>
    <p:sldId id="516" r:id="rId262"/>
    <p:sldId id="517" r:id="rId263"/>
    <p:sldId id="518" r:id="rId264"/>
    <p:sldId id="519" r:id="rId265"/>
    <p:sldId id="520" r:id="rId266"/>
    <p:sldId id="521" r:id="rId267"/>
    <p:sldId id="522" r:id="rId268"/>
    <p:sldId id="523" r:id="rId269"/>
    <p:sldId id="524" r:id="rId270"/>
    <p:sldId id="525" r:id="rId271"/>
    <p:sldId id="526" r:id="rId272"/>
    <p:sldId id="527" r:id="rId273"/>
    <p:sldId id="528" r:id="rId274"/>
    <p:sldId id="529" r:id="rId275"/>
    <p:sldId id="530" r:id="rId276"/>
    <p:sldId id="531" r:id="rId277"/>
    <p:sldId id="532" r:id="rId278"/>
    <p:sldId id="533" r:id="rId279"/>
    <p:sldId id="534" r:id="rId280"/>
    <p:sldId id="535" r:id="rId281"/>
    <p:sldId id="536" r:id="rId282"/>
    <p:sldId id="537" r:id="rId283"/>
    <p:sldId id="538" r:id="rId284"/>
    <p:sldId id="539" r:id="rId285"/>
    <p:sldId id="540" r:id="rId286"/>
    <p:sldId id="541" r:id="rId287"/>
    <p:sldId id="542" r:id="rId288"/>
    <p:sldId id="543" r:id="rId289"/>
    <p:sldId id="544" r:id="rId290"/>
    <p:sldId id="545" r:id="rId291"/>
    <p:sldId id="546" r:id="rId292"/>
    <p:sldId id="547" r:id="rId293"/>
    <p:sldId id="548" r:id="rId294"/>
    <p:sldId id="549" r:id="rId295"/>
    <p:sldId id="550" r:id="rId296"/>
    <p:sldId id="551" r:id="rId297"/>
    <p:sldId id="552" r:id="rId298"/>
    <p:sldId id="553" r:id="rId299"/>
    <p:sldId id="554" r:id="rId300"/>
    <p:sldId id="555" r:id="rId301"/>
    <p:sldId id="556" r:id="rId302"/>
    <p:sldId id="557" r:id="rId303"/>
    <p:sldId id="558" r:id="rId304"/>
    <p:sldId id="559" r:id="rId305"/>
    <p:sldId id="560" r:id="rId306"/>
    <p:sldId id="561" r:id="rId307"/>
    <p:sldId id="562" r:id="rId308"/>
    <p:sldId id="563" r:id="rId309"/>
    <p:sldId id="564" r:id="rId310"/>
    <p:sldId id="565" r:id="rId311"/>
    <p:sldId id="566" r:id="rId312"/>
    <p:sldId id="567" r:id="rId313"/>
    <p:sldId id="568" r:id="rId314"/>
    <p:sldId id="569" r:id="rId315"/>
    <p:sldId id="570" r:id="rId316"/>
    <p:sldId id="571" r:id="rId317"/>
    <p:sldId id="572" r:id="rId318"/>
    <p:sldId id="573" r:id="rId319"/>
    <p:sldId id="574" r:id="rId320"/>
    <p:sldId id="575" r:id="rId321"/>
    <p:sldId id="576" r:id="rId322"/>
    <p:sldId id="577" r:id="rId323"/>
    <p:sldId id="578" r:id="rId324"/>
    <p:sldId id="579" r:id="rId325"/>
    <p:sldId id="580" r:id="rId326"/>
    <p:sldId id="581" r:id="rId327"/>
    <p:sldId id="582" r:id="rId328"/>
    <p:sldId id="583" r:id="rId329"/>
    <p:sldId id="584" r:id="rId330"/>
    <p:sldId id="585" r:id="rId331"/>
    <p:sldId id="586" r:id="rId332"/>
    <p:sldId id="587" r:id="rId333"/>
    <p:sldId id="588" r:id="rId334"/>
    <p:sldId id="589" r:id="rId335"/>
    <p:sldId id="590" r:id="rId336"/>
    <p:sldId id="591" r:id="rId337"/>
    <p:sldId id="592" r:id="rId338"/>
    <p:sldId id="593" r:id="rId339"/>
    <p:sldId id="594" r:id="rId340"/>
    <p:sldId id="595" r:id="rId341"/>
    <p:sldId id="596" r:id="rId342"/>
    <p:sldId id="597" r:id="rId343"/>
    <p:sldId id="598" r:id="rId344"/>
    <p:sldId id="599" r:id="rId345"/>
    <p:sldId id="600" r:id="rId346"/>
    <p:sldId id="601" r:id="rId347"/>
    <p:sldId id="602" r:id="rId348"/>
    <p:sldId id="603" r:id="rId349"/>
    <p:sldId id="604" r:id="rId350"/>
    <p:sldId id="605" r:id="rId351"/>
    <p:sldId id="606" r:id="rId352"/>
    <p:sldId id="607" r:id="rId353"/>
    <p:sldId id="608" r:id="rId354"/>
    <p:sldId id="609" r:id="rId355"/>
    <p:sldId id="610" r:id="rId356"/>
    <p:sldId id="611" r:id="rId357"/>
    <p:sldId id="612" r:id="rId358"/>
    <p:sldId id="613" r:id="rId359"/>
    <p:sldId id="614" r:id="rId360"/>
    <p:sldId id="615" r:id="rId361"/>
    <p:sldId id="616" r:id="rId362"/>
    <p:sldId id="617" r:id="rId363"/>
    <p:sldId id="618" r:id="rId364"/>
    <p:sldId id="619" r:id="rId365"/>
    <p:sldId id="620" r:id="rId366"/>
    <p:sldId id="621" r:id="rId367"/>
    <p:sldId id="622" r:id="rId368"/>
    <p:sldId id="623" r:id="rId369"/>
    <p:sldId id="624" r:id="rId370"/>
    <p:sldId id="625" r:id="rId371"/>
    <p:sldId id="626" r:id="rId372"/>
    <p:sldId id="627" r:id="rId373"/>
    <p:sldId id="628" r:id="rId374"/>
    <p:sldId id="629" r:id="rId375"/>
    <p:sldId id="630" r:id="rId376"/>
    <p:sldId id="631" r:id="rId377"/>
    <p:sldId id="632" r:id="rId378"/>
    <p:sldId id="633" r:id="rId379"/>
    <p:sldId id="634" r:id="rId380"/>
    <p:sldId id="635" r:id="rId381"/>
    <p:sldId id="636" r:id="rId382"/>
    <p:sldId id="637" r:id="rId383"/>
    <p:sldId id="638" r:id="rId384"/>
    <p:sldId id="639" r:id="rId385"/>
    <p:sldId id="640" r:id="rId386"/>
    <p:sldId id="641" r:id="rId387"/>
    <p:sldId id="642" r:id="rId388"/>
    <p:sldId id="643" r:id="rId389"/>
    <p:sldId id="644" r:id="rId390"/>
    <p:sldId id="645" r:id="rId391"/>
    <p:sldId id="646" r:id="rId392"/>
    <p:sldId id="647" r:id="rId393"/>
    <p:sldId id="648" r:id="rId394"/>
    <p:sldId id="649" r:id="rId395"/>
    <p:sldId id="650" r:id="rId396"/>
    <p:sldId id="651" r:id="rId397"/>
    <p:sldId id="652" r:id="rId398"/>
    <p:sldId id="653" r:id="rId399"/>
    <p:sldId id="654" r:id="rId400"/>
    <p:sldId id="655" r:id="rId401"/>
    <p:sldId id="656" r:id="rId402"/>
    <p:sldId id="657" r:id="rId403"/>
    <p:sldId id="658" r:id="rId404"/>
    <p:sldId id="659" r:id="rId405"/>
    <p:sldId id="660" r:id="rId406"/>
    <p:sldId id="661" r:id="rId407"/>
    <p:sldId id="662" r:id="rId408"/>
    <p:sldId id="663" r:id="rId409"/>
    <p:sldId id="664" r:id="rId410"/>
    <p:sldId id="665" r:id="rId411"/>
    <p:sldId id="666" r:id="rId412"/>
    <p:sldId id="667" r:id="rId413"/>
    <p:sldId id="668" r:id="rId414"/>
    <p:sldId id="669" r:id="rId415"/>
    <p:sldId id="670" r:id="rId416"/>
    <p:sldId id="671" r:id="rId417"/>
    <p:sldId id="672" r:id="rId418"/>
    <p:sldId id="673" r:id="rId419"/>
    <p:sldId id="674" r:id="rId420"/>
    <p:sldId id="675" r:id="rId421"/>
    <p:sldId id="676" r:id="rId422"/>
    <p:sldId id="677" r:id="rId423"/>
    <p:sldId id="678" r:id="rId424"/>
    <p:sldId id="679" r:id="rId425"/>
    <p:sldId id="680" r:id="rId426"/>
    <p:sldId id="681" r:id="rId427"/>
    <p:sldId id="682" r:id="rId428"/>
    <p:sldId id="683" r:id="rId429"/>
    <p:sldId id="684" r:id="rId430"/>
    <p:sldId id="685" r:id="rId431"/>
    <p:sldId id="686" r:id="rId432"/>
    <p:sldId id="687" r:id="rId433"/>
    <p:sldId id="688" r:id="rId434"/>
    <p:sldId id="689" r:id="rId435"/>
    <p:sldId id="690" r:id="rId436"/>
    <p:sldId id="691" r:id="rId437"/>
    <p:sldId id="692" r:id="rId438"/>
    <p:sldId id="693" r:id="rId439"/>
    <p:sldId id="694" r:id="rId440"/>
    <p:sldId id="695" r:id="rId441"/>
    <p:sldId id="696" r:id="rId442"/>
    <p:sldId id="697" r:id="rId443"/>
    <p:sldId id="698" r:id="rId444"/>
    <p:sldId id="699" r:id="rId445"/>
    <p:sldId id="700" r:id="rId446"/>
    <p:sldId id="701" r:id="rId447"/>
    <p:sldId id="702" r:id="rId448"/>
    <p:sldId id="703" r:id="rId449"/>
    <p:sldId id="704" r:id="rId450"/>
    <p:sldId id="705" r:id="rId451"/>
    <p:sldId id="706" r:id="rId452"/>
    <p:sldId id="707" r:id="rId453"/>
    <p:sldId id="708" r:id="rId454"/>
    <p:sldId id="709" r:id="rId455"/>
    <p:sldId id="710" r:id="rId456"/>
    <p:sldId id="711" r:id="rId457"/>
    <p:sldId id="712" r:id="rId458"/>
    <p:sldId id="713" r:id="rId459"/>
    <p:sldId id="714" r:id="rId460"/>
    <p:sldId id="715" r:id="rId461"/>
    <p:sldId id="716" r:id="rId462"/>
    <p:sldId id="717" r:id="rId463"/>
    <p:sldId id="718" r:id="rId464"/>
    <p:sldId id="719" r:id="rId465"/>
    <p:sldId id="720" r:id="rId466"/>
    <p:sldId id="721" r:id="rId467"/>
    <p:sldId id="722" r:id="rId468"/>
    <p:sldId id="723" r:id="rId469"/>
    <p:sldId id="724" r:id="rId470"/>
    <p:sldId id="725" r:id="rId471"/>
    <p:sldId id="726" r:id="rId472"/>
    <p:sldId id="727" r:id="rId473"/>
    <p:sldId id="728" r:id="rId474"/>
    <p:sldId id="729" r:id="rId475"/>
    <p:sldId id="730" r:id="rId476"/>
    <p:sldId id="731" r:id="rId477"/>
    <p:sldId id="732" r:id="rId478"/>
    <p:sldId id="733" r:id="rId479"/>
    <p:sldId id="734" r:id="rId480"/>
    <p:sldId id="735" r:id="rId481"/>
    <p:sldId id="736" r:id="rId482"/>
    <p:sldId id="737" r:id="rId483"/>
    <p:sldId id="738" r:id="rId484"/>
    <p:sldId id="739" r:id="rId485"/>
    <p:sldId id="740" r:id="rId486"/>
    <p:sldId id="741" r:id="rId487"/>
    <p:sldId id="742" r:id="rId488"/>
    <p:sldId id="743" r:id="rId489"/>
    <p:sldId id="744" r:id="rId490"/>
    <p:sldId id="745" r:id="rId491"/>
    <p:sldId id="746" r:id="rId492"/>
    <p:sldId id="747" r:id="rId493"/>
    <p:sldId id="748" r:id="rId494"/>
    <p:sldId id="749" r:id="rId495"/>
    <p:sldId id="750" r:id="rId496"/>
    <p:sldId id="751" r:id="rId497"/>
    <p:sldId id="752" r:id="rId498"/>
    <p:sldId id="753" r:id="rId499"/>
    <p:sldId id="754" r:id="rId500"/>
    <p:sldId id="755" r:id="rId501"/>
    <p:sldId id="756" r:id="rId502"/>
    <p:sldId id="757" r:id="rId503"/>
    <p:sldId id="758" r:id="rId504"/>
    <p:sldId id="759" r:id="rId505"/>
    <p:sldId id="760" r:id="rId506"/>
    <p:sldId id="761" r:id="rId507"/>
    <p:sldId id="762" r:id="rId508"/>
    <p:sldId id="763" r:id="rId509"/>
    <p:sldId id="764" r:id="rId510"/>
    <p:sldId id="765" r:id="rId511"/>
    <p:sldId id="766" r:id="rId512"/>
    <p:sldId id="767" r:id="rId513"/>
    <p:sldId id="768" r:id="rId514"/>
    <p:sldId id="769" r:id="rId515"/>
    <p:sldId id="770" r:id="rId516"/>
    <p:sldId id="771" r:id="rId517"/>
    <p:sldId id="772" r:id="rId518"/>
    <p:sldId id="773" r:id="rId519"/>
    <p:sldId id="774" r:id="rId520"/>
    <p:sldId id="775" r:id="rId521"/>
    <p:sldId id="776" r:id="rId522"/>
    <p:sldId id="777" r:id="rId523"/>
    <p:sldId id="778" r:id="rId524"/>
    <p:sldId id="779" r:id="rId525"/>
    <p:sldId id="780" r:id="rId526"/>
    <p:sldId id="781" r:id="rId527"/>
    <p:sldId id="782" r:id="rId528"/>
    <p:sldId id="783" r:id="rId529"/>
    <p:sldId id="784" r:id="rId530"/>
    <p:sldId id="785" r:id="rId531"/>
    <p:sldId id="786" r:id="rId532"/>
    <p:sldId id="787" r:id="rId533"/>
    <p:sldId id="788" r:id="rId534"/>
    <p:sldId id="789" r:id="rId535"/>
    <p:sldId id="790" r:id="rId536"/>
    <p:sldId id="791" r:id="rId537"/>
    <p:sldId id="792" r:id="rId538"/>
    <p:sldId id="793" r:id="rId539"/>
    <p:sldId id="794" r:id="rId540"/>
    <p:sldId id="795" r:id="rId541"/>
    <p:sldId id="796" r:id="rId542"/>
    <p:sldId id="797" r:id="rId543"/>
    <p:sldId id="798" r:id="rId544"/>
    <p:sldId id="799" r:id="rId545"/>
    <p:sldId id="800" r:id="rId546"/>
    <p:sldId id="801" r:id="rId547"/>
    <p:sldId id="802" r:id="rId548"/>
    <p:sldId id="803" r:id="rId549"/>
    <p:sldId id="804" r:id="rId550"/>
    <p:sldId id="805" r:id="rId551"/>
    <p:sldId id="806" r:id="rId552"/>
    <p:sldId id="807" r:id="rId553"/>
    <p:sldId id="808" r:id="rId554"/>
    <p:sldId id="809" r:id="rId555"/>
    <p:sldId id="810" r:id="rId556"/>
    <p:sldId id="811" r:id="rId557"/>
    <p:sldId id="812" r:id="rId558"/>
    <p:sldId id="813" r:id="rId559"/>
    <p:sldId id="814" r:id="rId560"/>
    <p:sldId id="815" r:id="rId561"/>
    <p:sldId id="816" r:id="rId562"/>
    <p:sldId id="817" r:id="rId563"/>
    <p:sldId id="818" r:id="rId564"/>
    <p:sldId id="819" r:id="rId565"/>
    <p:sldId id="820" r:id="rId566"/>
    <p:sldId id="821" r:id="rId567"/>
    <p:sldId id="822" r:id="rId568"/>
  </p:sldIdLst>
  <p:sldSz cx="12192000" cy="6858000"/>
  <p:notesSz cx="6858000" cy="12192000"/>
  <p:defaultTextStyle>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5611"/>
    <p:restoredTop sz="94610"/>
  </p:normalViewPr>
  <p:slideViewPr>
    <p:cSldViewPr snapToGrid="0" snapToObjects="1">
      <p:cViewPr varScale="1">
        <p:scale>
          <a:sx n="111" d="100"/>
          <a:sy n="111" d="100"/>
        </p:scale>
        <p:origin x="558" y="96"/>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324" Type="http://schemas.openxmlformats.org/officeDocument/2006/relationships/slide" Target="slides/slide323.xml"/><Relationship Id="rId531" Type="http://schemas.openxmlformats.org/officeDocument/2006/relationships/slide" Target="slides/slide530.xml"/><Relationship Id="rId170" Type="http://schemas.openxmlformats.org/officeDocument/2006/relationships/slide" Target="slides/slide169.xml"/><Relationship Id="rId268" Type="http://schemas.openxmlformats.org/officeDocument/2006/relationships/slide" Target="slides/slide267.xml"/><Relationship Id="rId475" Type="http://schemas.openxmlformats.org/officeDocument/2006/relationships/slide" Target="slides/slide474.xml"/><Relationship Id="rId32" Type="http://schemas.openxmlformats.org/officeDocument/2006/relationships/slide" Target="slides/slide31.xml"/><Relationship Id="rId128" Type="http://schemas.openxmlformats.org/officeDocument/2006/relationships/slide" Target="slides/slide127.xml"/><Relationship Id="rId335" Type="http://schemas.openxmlformats.org/officeDocument/2006/relationships/slide" Target="slides/slide334.xml"/><Relationship Id="rId542" Type="http://schemas.openxmlformats.org/officeDocument/2006/relationships/slide" Target="slides/slide541.xml"/><Relationship Id="rId181" Type="http://schemas.openxmlformats.org/officeDocument/2006/relationships/slide" Target="slides/slide180.xml"/><Relationship Id="rId402" Type="http://schemas.openxmlformats.org/officeDocument/2006/relationships/slide" Target="slides/slide401.xml"/><Relationship Id="rId279" Type="http://schemas.openxmlformats.org/officeDocument/2006/relationships/slide" Target="slides/slide278.xml"/><Relationship Id="rId486" Type="http://schemas.openxmlformats.org/officeDocument/2006/relationships/slide" Target="slides/slide485.xml"/><Relationship Id="rId43" Type="http://schemas.openxmlformats.org/officeDocument/2006/relationships/slide" Target="slides/slide42.xml"/><Relationship Id="rId139" Type="http://schemas.openxmlformats.org/officeDocument/2006/relationships/slide" Target="slides/slide138.xml"/><Relationship Id="rId346" Type="http://schemas.openxmlformats.org/officeDocument/2006/relationships/slide" Target="slides/slide345.xml"/><Relationship Id="rId553" Type="http://schemas.openxmlformats.org/officeDocument/2006/relationships/slide" Target="slides/slide552.xml"/><Relationship Id="rId192" Type="http://schemas.openxmlformats.org/officeDocument/2006/relationships/slide" Target="slides/slide191.xml"/><Relationship Id="rId206" Type="http://schemas.openxmlformats.org/officeDocument/2006/relationships/slide" Target="slides/slide205.xml"/><Relationship Id="rId413" Type="http://schemas.openxmlformats.org/officeDocument/2006/relationships/slide" Target="slides/slide412.xml"/><Relationship Id="rId497" Type="http://schemas.openxmlformats.org/officeDocument/2006/relationships/slide" Target="slides/slide496.xml"/><Relationship Id="rId357" Type="http://schemas.openxmlformats.org/officeDocument/2006/relationships/slide" Target="slides/slide356.xml"/><Relationship Id="rId54" Type="http://schemas.openxmlformats.org/officeDocument/2006/relationships/slide" Target="slides/slide53.xml"/><Relationship Id="rId217" Type="http://schemas.openxmlformats.org/officeDocument/2006/relationships/slide" Target="slides/slide216.xml"/><Relationship Id="rId564" Type="http://schemas.openxmlformats.org/officeDocument/2006/relationships/slide" Target="slides/slide563.xml"/><Relationship Id="rId424" Type="http://schemas.openxmlformats.org/officeDocument/2006/relationships/slide" Target="slides/slide423.xml"/><Relationship Id="rId270" Type="http://schemas.openxmlformats.org/officeDocument/2006/relationships/slide" Target="slides/slide269.xml"/><Relationship Id="rId65" Type="http://schemas.openxmlformats.org/officeDocument/2006/relationships/slide" Target="slides/slide64.xml"/><Relationship Id="rId130" Type="http://schemas.openxmlformats.org/officeDocument/2006/relationships/slide" Target="slides/slide129.xml"/><Relationship Id="rId368" Type="http://schemas.openxmlformats.org/officeDocument/2006/relationships/slide" Target="slides/slide367.xml"/><Relationship Id="rId228" Type="http://schemas.openxmlformats.org/officeDocument/2006/relationships/slide" Target="slides/slide227.xml"/><Relationship Id="rId435" Type="http://schemas.openxmlformats.org/officeDocument/2006/relationships/slide" Target="slides/slide434.xml"/><Relationship Id="rId281" Type="http://schemas.openxmlformats.org/officeDocument/2006/relationships/slide" Target="slides/slide280.xml"/><Relationship Id="rId337" Type="http://schemas.openxmlformats.org/officeDocument/2006/relationships/slide" Target="slides/slide336.xml"/><Relationship Id="rId502" Type="http://schemas.openxmlformats.org/officeDocument/2006/relationships/slide" Target="slides/slide501.xml"/><Relationship Id="rId34" Type="http://schemas.openxmlformats.org/officeDocument/2006/relationships/slide" Target="slides/slide33.xml"/><Relationship Id="rId76" Type="http://schemas.openxmlformats.org/officeDocument/2006/relationships/slide" Target="slides/slide75.xml"/><Relationship Id="rId141" Type="http://schemas.openxmlformats.org/officeDocument/2006/relationships/slide" Target="slides/slide140.xml"/><Relationship Id="rId379" Type="http://schemas.openxmlformats.org/officeDocument/2006/relationships/slide" Target="slides/slide378.xml"/><Relationship Id="rId544" Type="http://schemas.openxmlformats.org/officeDocument/2006/relationships/slide" Target="slides/slide543.xml"/><Relationship Id="rId7" Type="http://schemas.openxmlformats.org/officeDocument/2006/relationships/slide" Target="slides/slide6.xml"/><Relationship Id="rId183" Type="http://schemas.openxmlformats.org/officeDocument/2006/relationships/slide" Target="slides/slide182.xml"/><Relationship Id="rId239" Type="http://schemas.openxmlformats.org/officeDocument/2006/relationships/slide" Target="slides/slide238.xml"/><Relationship Id="rId390" Type="http://schemas.openxmlformats.org/officeDocument/2006/relationships/slide" Target="slides/slide389.xml"/><Relationship Id="rId404" Type="http://schemas.openxmlformats.org/officeDocument/2006/relationships/slide" Target="slides/slide403.xml"/><Relationship Id="rId446" Type="http://schemas.openxmlformats.org/officeDocument/2006/relationships/slide" Target="slides/slide445.xml"/><Relationship Id="rId250" Type="http://schemas.openxmlformats.org/officeDocument/2006/relationships/slide" Target="slides/slide249.xml"/><Relationship Id="rId292" Type="http://schemas.openxmlformats.org/officeDocument/2006/relationships/slide" Target="slides/slide291.xml"/><Relationship Id="rId306" Type="http://schemas.openxmlformats.org/officeDocument/2006/relationships/slide" Target="slides/slide305.xml"/><Relationship Id="rId488" Type="http://schemas.openxmlformats.org/officeDocument/2006/relationships/slide" Target="slides/slide487.xml"/><Relationship Id="rId45" Type="http://schemas.openxmlformats.org/officeDocument/2006/relationships/slide" Target="slides/slide44.xml"/><Relationship Id="rId87" Type="http://schemas.openxmlformats.org/officeDocument/2006/relationships/slide" Target="slides/slide86.xml"/><Relationship Id="rId110" Type="http://schemas.openxmlformats.org/officeDocument/2006/relationships/slide" Target="slides/slide109.xml"/><Relationship Id="rId348" Type="http://schemas.openxmlformats.org/officeDocument/2006/relationships/slide" Target="slides/slide347.xml"/><Relationship Id="rId513" Type="http://schemas.openxmlformats.org/officeDocument/2006/relationships/slide" Target="slides/slide512.xml"/><Relationship Id="rId555" Type="http://schemas.openxmlformats.org/officeDocument/2006/relationships/slide" Target="slides/slide554.xml"/><Relationship Id="rId152" Type="http://schemas.openxmlformats.org/officeDocument/2006/relationships/slide" Target="slides/slide151.xml"/><Relationship Id="rId194" Type="http://schemas.openxmlformats.org/officeDocument/2006/relationships/slide" Target="slides/slide193.xml"/><Relationship Id="rId208" Type="http://schemas.openxmlformats.org/officeDocument/2006/relationships/slide" Target="slides/slide207.xml"/><Relationship Id="rId415" Type="http://schemas.openxmlformats.org/officeDocument/2006/relationships/slide" Target="slides/slide414.xml"/><Relationship Id="rId457" Type="http://schemas.openxmlformats.org/officeDocument/2006/relationships/slide" Target="slides/slide456.xml"/><Relationship Id="rId261" Type="http://schemas.openxmlformats.org/officeDocument/2006/relationships/slide" Target="slides/slide260.xml"/><Relationship Id="rId499" Type="http://schemas.openxmlformats.org/officeDocument/2006/relationships/slide" Target="slides/slide498.xml"/><Relationship Id="rId14" Type="http://schemas.openxmlformats.org/officeDocument/2006/relationships/slide" Target="slides/slide13.xml"/><Relationship Id="rId56" Type="http://schemas.openxmlformats.org/officeDocument/2006/relationships/slide" Target="slides/slide55.xml"/><Relationship Id="rId317" Type="http://schemas.openxmlformats.org/officeDocument/2006/relationships/slide" Target="slides/slide316.xml"/><Relationship Id="rId359" Type="http://schemas.openxmlformats.org/officeDocument/2006/relationships/slide" Target="slides/slide358.xml"/><Relationship Id="rId524" Type="http://schemas.openxmlformats.org/officeDocument/2006/relationships/slide" Target="slides/slide523.xml"/><Relationship Id="rId566" Type="http://schemas.openxmlformats.org/officeDocument/2006/relationships/slide" Target="slides/slide565.xml"/><Relationship Id="rId98" Type="http://schemas.openxmlformats.org/officeDocument/2006/relationships/slide" Target="slides/slide97.xml"/><Relationship Id="rId121" Type="http://schemas.openxmlformats.org/officeDocument/2006/relationships/slide" Target="slides/slide120.xml"/><Relationship Id="rId163" Type="http://schemas.openxmlformats.org/officeDocument/2006/relationships/slide" Target="slides/slide162.xml"/><Relationship Id="rId219" Type="http://schemas.openxmlformats.org/officeDocument/2006/relationships/slide" Target="slides/slide218.xml"/><Relationship Id="rId370" Type="http://schemas.openxmlformats.org/officeDocument/2006/relationships/slide" Target="slides/slide369.xml"/><Relationship Id="rId426" Type="http://schemas.openxmlformats.org/officeDocument/2006/relationships/slide" Target="slides/slide425.xml"/><Relationship Id="rId230" Type="http://schemas.openxmlformats.org/officeDocument/2006/relationships/slide" Target="slides/slide229.xml"/><Relationship Id="rId468" Type="http://schemas.openxmlformats.org/officeDocument/2006/relationships/slide" Target="slides/slide467.xml"/><Relationship Id="rId25" Type="http://schemas.openxmlformats.org/officeDocument/2006/relationships/slide" Target="slides/slide24.xml"/><Relationship Id="rId67" Type="http://schemas.openxmlformats.org/officeDocument/2006/relationships/slide" Target="slides/slide66.xml"/><Relationship Id="rId272" Type="http://schemas.openxmlformats.org/officeDocument/2006/relationships/slide" Target="slides/slide271.xml"/><Relationship Id="rId328" Type="http://schemas.openxmlformats.org/officeDocument/2006/relationships/slide" Target="slides/slide327.xml"/><Relationship Id="rId535" Type="http://schemas.openxmlformats.org/officeDocument/2006/relationships/slide" Target="slides/slide534.xml"/><Relationship Id="rId132" Type="http://schemas.openxmlformats.org/officeDocument/2006/relationships/slide" Target="slides/slide131.xml"/><Relationship Id="rId174" Type="http://schemas.openxmlformats.org/officeDocument/2006/relationships/slide" Target="slides/slide173.xml"/><Relationship Id="rId381" Type="http://schemas.openxmlformats.org/officeDocument/2006/relationships/slide" Target="slides/slide380.xml"/><Relationship Id="rId241" Type="http://schemas.openxmlformats.org/officeDocument/2006/relationships/slide" Target="slides/slide240.xml"/><Relationship Id="rId437" Type="http://schemas.openxmlformats.org/officeDocument/2006/relationships/slide" Target="slides/slide436.xml"/><Relationship Id="rId479" Type="http://schemas.openxmlformats.org/officeDocument/2006/relationships/slide" Target="slides/slide478.xml"/><Relationship Id="rId36" Type="http://schemas.openxmlformats.org/officeDocument/2006/relationships/slide" Target="slides/slide35.xml"/><Relationship Id="rId283" Type="http://schemas.openxmlformats.org/officeDocument/2006/relationships/slide" Target="slides/slide282.xml"/><Relationship Id="rId339" Type="http://schemas.openxmlformats.org/officeDocument/2006/relationships/slide" Target="slides/slide338.xml"/><Relationship Id="rId490" Type="http://schemas.openxmlformats.org/officeDocument/2006/relationships/slide" Target="slides/slide489.xml"/><Relationship Id="rId504" Type="http://schemas.openxmlformats.org/officeDocument/2006/relationships/slide" Target="slides/slide503.xml"/><Relationship Id="rId546" Type="http://schemas.openxmlformats.org/officeDocument/2006/relationships/slide" Target="slides/slide545.xml"/><Relationship Id="rId78" Type="http://schemas.openxmlformats.org/officeDocument/2006/relationships/slide" Target="slides/slide77.xml"/><Relationship Id="rId101" Type="http://schemas.openxmlformats.org/officeDocument/2006/relationships/slide" Target="slides/slide100.xml"/><Relationship Id="rId143" Type="http://schemas.openxmlformats.org/officeDocument/2006/relationships/slide" Target="slides/slide142.xml"/><Relationship Id="rId185" Type="http://schemas.openxmlformats.org/officeDocument/2006/relationships/slide" Target="slides/slide184.xml"/><Relationship Id="rId350" Type="http://schemas.openxmlformats.org/officeDocument/2006/relationships/slide" Target="slides/slide349.xml"/><Relationship Id="rId406" Type="http://schemas.openxmlformats.org/officeDocument/2006/relationships/slide" Target="slides/slide405.xml"/><Relationship Id="rId9" Type="http://schemas.openxmlformats.org/officeDocument/2006/relationships/slide" Target="slides/slide8.xml"/><Relationship Id="rId210" Type="http://schemas.openxmlformats.org/officeDocument/2006/relationships/slide" Target="slides/slide209.xml"/><Relationship Id="rId392" Type="http://schemas.openxmlformats.org/officeDocument/2006/relationships/slide" Target="slides/slide391.xml"/><Relationship Id="rId448" Type="http://schemas.openxmlformats.org/officeDocument/2006/relationships/slide" Target="slides/slide447.xml"/><Relationship Id="rId252" Type="http://schemas.openxmlformats.org/officeDocument/2006/relationships/slide" Target="slides/slide251.xml"/><Relationship Id="rId294" Type="http://schemas.openxmlformats.org/officeDocument/2006/relationships/slide" Target="slides/slide293.xml"/><Relationship Id="rId308" Type="http://schemas.openxmlformats.org/officeDocument/2006/relationships/slide" Target="slides/slide307.xml"/><Relationship Id="rId515" Type="http://schemas.openxmlformats.org/officeDocument/2006/relationships/slide" Target="slides/slide514.xml"/><Relationship Id="rId47" Type="http://schemas.openxmlformats.org/officeDocument/2006/relationships/slide" Target="slides/slide46.xml"/><Relationship Id="rId89" Type="http://schemas.openxmlformats.org/officeDocument/2006/relationships/slide" Target="slides/slide88.xml"/><Relationship Id="rId112" Type="http://schemas.openxmlformats.org/officeDocument/2006/relationships/slide" Target="slides/slide111.xml"/><Relationship Id="rId154" Type="http://schemas.openxmlformats.org/officeDocument/2006/relationships/slide" Target="slides/slide153.xml"/><Relationship Id="rId361" Type="http://schemas.openxmlformats.org/officeDocument/2006/relationships/slide" Target="slides/slide360.xml"/><Relationship Id="rId557" Type="http://schemas.openxmlformats.org/officeDocument/2006/relationships/slide" Target="slides/slide556.xml"/><Relationship Id="rId196" Type="http://schemas.openxmlformats.org/officeDocument/2006/relationships/slide" Target="slides/slide195.xml"/><Relationship Id="rId417" Type="http://schemas.openxmlformats.org/officeDocument/2006/relationships/slide" Target="slides/slide416.xml"/><Relationship Id="rId459" Type="http://schemas.openxmlformats.org/officeDocument/2006/relationships/slide" Target="slides/slide458.xml"/><Relationship Id="rId16" Type="http://schemas.openxmlformats.org/officeDocument/2006/relationships/slide" Target="slides/slide15.xml"/><Relationship Id="rId221" Type="http://schemas.openxmlformats.org/officeDocument/2006/relationships/slide" Target="slides/slide220.xml"/><Relationship Id="rId263" Type="http://schemas.openxmlformats.org/officeDocument/2006/relationships/slide" Target="slides/slide262.xml"/><Relationship Id="rId319" Type="http://schemas.openxmlformats.org/officeDocument/2006/relationships/slide" Target="slides/slide318.xml"/><Relationship Id="rId470" Type="http://schemas.openxmlformats.org/officeDocument/2006/relationships/slide" Target="slides/slide469.xml"/><Relationship Id="rId526" Type="http://schemas.openxmlformats.org/officeDocument/2006/relationships/slide" Target="slides/slide525.xml"/><Relationship Id="rId58" Type="http://schemas.openxmlformats.org/officeDocument/2006/relationships/slide" Target="slides/slide57.xml"/><Relationship Id="rId123" Type="http://schemas.openxmlformats.org/officeDocument/2006/relationships/slide" Target="slides/slide122.xml"/><Relationship Id="rId330" Type="http://schemas.openxmlformats.org/officeDocument/2006/relationships/slide" Target="slides/slide329.xml"/><Relationship Id="rId568" Type="http://schemas.openxmlformats.org/officeDocument/2006/relationships/slide" Target="slides/slide567.xml"/><Relationship Id="rId165" Type="http://schemas.openxmlformats.org/officeDocument/2006/relationships/slide" Target="slides/slide164.xml"/><Relationship Id="rId372" Type="http://schemas.openxmlformats.org/officeDocument/2006/relationships/slide" Target="slides/slide371.xml"/><Relationship Id="rId428" Type="http://schemas.openxmlformats.org/officeDocument/2006/relationships/slide" Target="slides/slide427.xml"/><Relationship Id="rId232" Type="http://schemas.openxmlformats.org/officeDocument/2006/relationships/slide" Target="slides/slide231.xml"/><Relationship Id="rId274" Type="http://schemas.openxmlformats.org/officeDocument/2006/relationships/slide" Target="slides/slide273.xml"/><Relationship Id="rId481" Type="http://schemas.openxmlformats.org/officeDocument/2006/relationships/slide" Target="slides/slide480.xml"/><Relationship Id="rId27" Type="http://schemas.openxmlformats.org/officeDocument/2006/relationships/slide" Target="slides/slide26.xml"/><Relationship Id="rId69" Type="http://schemas.openxmlformats.org/officeDocument/2006/relationships/slide" Target="slides/slide68.xml"/><Relationship Id="rId134" Type="http://schemas.openxmlformats.org/officeDocument/2006/relationships/slide" Target="slides/slide133.xml"/><Relationship Id="rId537" Type="http://schemas.openxmlformats.org/officeDocument/2006/relationships/slide" Target="slides/slide536.xml"/><Relationship Id="rId80" Type="http://schemas.openxmlformats.org/officeDocument/2006/relationships/slide" Target="slides/slide79.xml"/><Relationship Id="rId176" Type="http://schemas.openxmlformats.org/officeDocument/2006/relationships/slide" Target="slides/slide175.xml"/><Relationship Id="rId341" Type="http://schemas.openxmlformats.org/officeDocument/2006/relationships/slide" Target="slides/slide340.xml"/><Relationship Id="rId383" Type="http://schemas.openxmlformats.org/officeDocument/2006/relationships/slide" Target="slides/slide382.xml"/><Relationship Id="rId439" Type="http://schemas.openxmlformats.org/officeDocument/2006/relationships/slide" Target="slides/slide438.xml"/><Relationship Id="rId201" Type="http://schemas.openxmlformats.org/officeDocument/2006/relationships/slide" Target="slides/slide200.xml"/><Relationship Id="rId243" Type="http://schemas.openxmlformats.org/officeDocument/2006/relationships/slide" Target="slides/slide242.xml"/><Relationship Id="rId285" Type="http://schemas.openxmlformats.org/officeDocument/2006/relationships/slide" Target="slides/slide284.xml"/><Relationship Id="rId450" Type="http://schemas.openxmlformats.org/officeDocument/2006/relationships/slide" Target="slides/slide449.xml"/><Relationship Id="rId506" Type="http://schemas.openxmlformats.org/officeDocument/2006/relationships/slide" Target="slides/slide505.xml"/><Relationship Id="rId38" Type="http://schemas.openxmlformats.org/officeDocument/2006/relationships/slide" Target="slides/slide37.xml"/><Relationship Id="rId103" Type="http://schemas.openxmlformats.org/officeDocument/2006/relationships/slide" Target="slides/slide102.xml"/><Relationship Id="rId310" Type="http://schemas.openxmlformats.org/officeDocument/2006/relationships/slide" Target="slides/slide309.xml"/><Relationship Id="rId492" Type="http://schemas.openxmlformats.org/officeDocument/2006/relationships/slide" Target="slides/slide491.xml"/><Relationship Id="rId548" Type="http://schemas.openxmlformats.org/officeDocument/2006/relationships/slide" Target="slides/slide547.xml"/><Relationship Id="rId91" Type="http://schemas.openxmlformats.org/officeDocument/2006/relationships/slide" Target="slides/slide90.xml"/><Relationship Id="rId145" Type="http://schemas.openxmlformats.org/officeDocument/2006/relationships/slide" Target="slides/slide144.xml"/><Relationship Id="rId187" Type="http://schemas.openxmlformats.org/officeDocument/2006/relationships/slide" Target="slides/slide186.xml"/><Relationship Id="rId352" Type="http://schemas.openxmlformats.org/officeDocument/2006/relationships/slide" Target="slides/slide351.xml"/><Relationship Id="rId394" Type="http://schemas.openxmlformats.org/officeDocument/2006/relationships/slide" Target="slides/slide393.xml"/><Relationship Id="rId408" Type="http://schemas.openxmlformats.org/officeDocument/2006/relationships/slide" Target="slides/slide407.xml"/><Relationship Id="rId212" Type="http://schemas.openxmlformats.org/officeDocument/2006/relationships/slide" Target="slides/slide211.xml"/><Relationship Id="rId254" Type="http://schemas.openxmlformats.org/officeDocument/2006/relationships/slide" Target="slides/slide253.xml"/><Relationship Id="rId49" Type="http://schemas.openxmlformats.org/officeDocument/2006/relationships/slide" Target="slides/slide48.xml"/><Relationship Id="rId114" Type="http://schemas.openxmlformats.org/officeDocument/2006/relationships/slide" Target="slides/slide113.xml"/><Relationship Id="rId296" Type="http://schemas.openxmlformats.org/officeDocument/2006/relationships/slide" Target="slides/slide295.xml"/><Relationship Id="rId461" Type="http://schemas.openxmlformats.org/officeDocument/2006/relationships/slide" Target="slides/slide460.xml"/><Relationship Id="rId517" Type="http://schemas.openxmlformats.org/officeDocument/2006/relationships/slide" Target="slides/slide516.xml"/><Relationship Id="rId559" Type="http://schemas.openxmlformats.org/officeDocument/2006/relationships/slide" Target="slides/slide558.xml"/><Relationship Id="rId60" Type="http://schemas.openxmlformats.org/officeDocument/2006/relationships/slide" Target="slides/slide59.xml"/><Relationship Id="rId156" Type="http://schemas.openxmlformats.org/officeDocument/2006/relationships/slide" Target="slides/slide155.xml"/><Relationship Id="rId198" Type="http://schemas.openxmlformats.org/officeDocument/2006/relationships/slide" Target="slides/slide197.xml"/><Relationship Id="rId321" Type="http://schemas.openxmlformats.org/officeDocument/2006/relationships/slide" Target="slides/slide320.xml"/><Relationship Id="rId363" Type="http://schemas.openxmlformats.org/officeDocument/2006/relationships/slide" Target="slides/slide362.xml"/><Relationship Id="rId419" Type="http://schemas.openxmlformats.org/officeDocument/2006/relationships/slide" Target="slides/slide418.xml"/><Relationship Id="rId570" Type="http://schemas.openxmlformats.org/officeDocument/2006/relationships/presProps" Target="presProps.xml"/><Relationship Id="rId223" Type="http://schemas.openxmlformats.org/officeDocument/2006/relationships/slide" Target="slides/slide222.xml"/><Relationship Id="rId430" Type="http://schemas.openxmlformats.org/officeDocument/2006/relationships/slide" Target="slides/slide429.xml"/><Relationship Id="rId18" Type="http://schemas.openxmlformats.org/officeDocument/2006/relationships/slide" Target="slides/slide17.xml"/><Relationship Id="rId265" Type="http://schemas.openxmlformats.org/officeDocument/2006/relationships/slide" Target="slides/slide264.xml"/><Relationship Id="rId472" Type="http://schemas.openxmlformats.org/officeDocument/2006/relationships/slide" Target="slides/slide471.xml"/><Relationship Id="rId528" Type="http://schemas.openxmlformats.org/officeDocument/2006/relationships/slide" Target="slides/slide527.xml"/><Relationship Id="rId125" Type="http://schemas.openxmlformats.org/officeDocument/2006/relationships/slide" Target="slides/slide124.xml"/><Relationship Id="rId167" Type="http://schemas.openxmlformats.org/officeDocument/2006/relationships/slide" Target="slides/slide166.xml"/><Relationship Id="rId332" Type="http://schemas.openxmlformats.org/officeDocument/2006/relationships/slide" Target="slides/slide331.xml"/><Relationship Id="rId374" Type="http://schemas.openxmlformats.org/officeDocument/2006/relationships/slide" Target="slides/slide373.xml"/><Relationship Id="rId71" Type="http://schemas.openxmlformats.org/officeDocument/2006/relationships/slide" Target="slides/slide70.xml"/><Relationship Id="rId234" Type="http://schemas.openxmlformats.org/officeDocument/2006/relationships/slide" Target="slides/slide233.xml"/><Relationship Id="rId2" Type="http://schemas.openxmlformats.org/officeDocument/2006/relationships/slide" Target="slides/slide1.xml"/><Relationship Id="rId29" Type="http://schemas.openxmlformats.org/officeDocument/2006/relationships/slide" Target="slides/slide28.xml"/><Relationship Id="rId276" Type="http://schemas.openxmlformats.org/officeDocument/2006/relationships/slide" Target="slides/slide275.xml"/><Relationship Id="rId441" Type="http://schemas.openxmlformats.org/officeDocument/2006/relationships/slide" Target="slides/slide440.xml"/><Relationship Id="rId483" Type="http://schemas.openxmlformats.org/officeDocument/2006/relationships/slide" Target="slides/slide482.xml"/><Relationship Id="rId539" Type="http://schemas.openxmlformats.org/officeDocument/2006/relationships/slide" Target="slides/slide538.xml"/><Relationship Id="rId40" Type="http://schemas.openxmlformats.org/officeDocument/2006/relationships/slide" Target="slides/slide39.xml"/><Relationship Id="rId136" Type="http://schemas.openxmlformats.org/officeDocument/2006/relationships/slide" Target="slides/slide135.xml"/><Relationship Id="rId178" Type="http://schemas.openxmlformats.org/officeDocument/2006/relationships/slide" Target="slides/slide177.xml"/><Relationship Id="rId301" Type="http://schemas.openxmlformats.org/officeDocument/2006/relationships/slide" Target="slides/slide300.xml"/><Relationship Id="rId343" Type="http://schemas.openxmlformats.org/officeDocument/2006/relationships/slide" Target="slides/slide342.xml"/><Relationship Id="rId550" Type="http://schemas.openxmlformats.org/officeDocument/2006/relationships/slide" Target="slides/slide549.xml"/><Relationship Id="rId82" Type="http://schemas.openxmlformats.org/officeDocument/2006/relationships/slide" Target="slides/slide81.xml"/><Relationship Id="rId203" Type="http://schemas.openxmlformats.org/officeDocument/2006/relationships/slide" Target="slides/slide202.xml"/><Relationship Id="rId385" Type="http://schemas.openxmlformats.org/officeDocument/2006/relationships/slide" Target="slides/slide384.xml"/><Relationship Id="rId245" Type="http://schemas.openxmlformats.org/officeDocument/2006/relationships/slide" Target="slides/slide244.xml"/><Relationship Id="rId287" Type="http://schemas.openxmlformats.org/officeDocument/2006/relationships/slide" Target="slides/slide286.xml"/><Relationship Id="rId410" Type="http://schemas.openxmlformats.org/officeDocument/2006/relationships/slide" Target="slides/slide409.xml"/><Relationship Id="rId452" Type="http://schemas.openxmlformats.org/officeDocument/2006/relationships/slide" Target="slides/slide451.xml"/><Relationship Id="rId494" Type="http://schemas.openxmlformats.org/officeDocument/2006/relationships/slide" Target="slides/slide493.xml"/><Relationship Id="rId508" Type="http://schemas.openxmlformats.org/officeDocument/2006/relationships/slide" Target="slides/slide507.xml"/><Relationship Id="rId105" Type="http://schemas.openxmlformats.org/officeDocument/2006/relationships/slide" Target="slides/slide104.xml"/><Relationship Id="rId147" Type="http://schemas.openxmlformats.org/officeDocument/2006/relationships/slide" Target="slides/slide146.xml"/><Relationship Id="rId312" Type="http://schemas.openxmlformats.org/officeDocument/2006/relationships/slide" Target="slides/slide311.xml"/><Relationship Id="rId354" Type="http://schemas.openxmlformats.org/officeDocument/2006/relationships/slide" Target="slides/slide353.xml"/><Relationship Id="rId51" Type="http://schemas.openxmlformats.org/officeDocument/2006/relationships/slide" Target="slides/slide50.xml"/><Relationship Id="rId93" Type="http://schemas.openxmlformats.org/officeDocument/2006/relationships/slide" Target="slides/slide92.xml"/><Relationship Id="rId189" Type="http://schemas.openxmlformats.org/officeDocument/2006/relationships/slide" Target="slides/slide188.xml"/><Relationship Id="rId396" Type="http://schemas.openxmlformats.org/officeDocument/2006/relationships/slide" Target="slides/slide395.xml"/><Relationship Id="rId561" Type="http://schemas.openxmlformats.org/officeDocument/2006/relationships/slide" Target="slides/slide560.xml"/><Relationship Id="rId214" Type="http://schemas.openxmlformats.org/officeDocument/2006/relationships/slide" Target="slides/slide213.xml"/><Relationship Id="rId256" Type="http://schemas.openxmlformats.org/officeDocument/2006/relationships/slide" Target="slides/slide255.xml"/><Relationship Id="rId298" Type="http://schemas.openxmlformats.org/officeDocument/2006/relationships/slide" Target="slides/slide297.xml"/><Relationship Id="rId421" Type="http://schemas.openxmlformats.org/officeDocument/2006/relationships/slide" Target="slides/slide420.xml"/><Relationship Id="rId463" Type="http://schemas.openxmlformats.org/officeDocument/2006/relationships/slide" Target="slides/slide462.xml"/><Relationship Id="rId519" Type="http://schemas.openxmlformats.org/officeDocument/2006/relationships/slide" Target="slides/slide518.xml"/><Relationship Id="rId116" Type="http://schemas.openxmlformats.org/officeDocument/2006/relationships/slide" Target="slides/slide115.xml"/><Relationship Id="rId158" Type="http://schemas.openxmlformats.org/officeDocument/2006/relationships/slide" Target="slides/slide157.xml"/><Relationship Id="rId323" Type="http://schemas.openxmlformats.org/officeDocument/2006/relationships/slide" Target="slides/slide322.xml"/><Relationship Id="rId530" Type="http://schemas.openxmlformats.org/officeDocument/2006/relationships/slide" Target="slides/slide529.xml"/><Relationship Id="rId20" Type="http://schemas.openxmlformats.org/officeDocument/2006/relationships/slide" Target="slides/slide19.xml"/><Relationship Id="rId62" Type="http://schemas.openxmlformats.org/officeDocument/2006/relationships/slide" Target="slides/slide61.xml"/><Relationship Id="rId365" Type="http://schemas.openxmlformats.org/officeDocument/2006/relationships/slide" Target="slides/slide364.xml"/><Relationship Id="rId572" Type="http://schemas.openxmlformats.org/officeDocument/2006/relationships/theme" Target="theme/theme1.xml"/><Relationship Id="rId225" Type="http://schemas.openxmlformats.org/officeDocument/2006/relationships/slide" Target="slides/slide224.xml"/><Relationship Id="rId267" Type="http://schemas.openxmlformats.org/officeDocument/2006/relationships/slide" Target="slides/slide266.xml"/><Relationship Id="rId432" Type="http://schemas.openxmlformats.org/officeDocument/2006/relationships/slide" Target="slides/slide431.xml"/><Relationship Id="rId474" Type="http://schemas.openxmlformats.org/officeDocument/2006/relationships/slide" Target="slides/slide473.xml"/><Relationship Id="rId127" Type="http://schemas.openxmlformats.org/officeDocument/2006/relationships/slide" Target="slides/slide126.xml"/><Relationship Id="rId31" Type="http://schemas.openxmlformats.org/officeDocument/2006/relationships/slide" Target="slides/slide30.xml"/><Relationship Id="rId73" Type="http://schemas.openxmlformats.org/officeDocument/2006/relationships/slide" Target="slides/slide72.xml"/><Relationship Id="rId169" Type="http://schemas.openxmlformats.org/officeDocument/2006/relationships/slide" Target="slides/slide168.xml"/><Relationship Id="rId334" Type="http://schemas.openxmlformats.org/officeDocument/2006/relationships/slide" Target="slides/slide333.xml"/><Relationship Id="rId376" Type="http://schemas.openxmlformats.org/officeDocument/2006/relationships/slide" Target="slides/slide375.xml"/><Relationship Id="rId541" Type="http://schemas.openxmlformats.org/officeDocument/2006/relationships/slide" Target="slides/slide540.xml"/><Relationship Id="rId4" Type="http://schemas.openxmlformats.org/officeDocument/2006/relationships/slide" Target="slides/slide3.xml"/><Relationship Id="rId180" Type="http://schemas.openxmlformats.org/officeDocument/2006/relationships/slide" Target="slides/slide179.xml"/><Relationship Id="rId236" Type="http://schemas.openxmlformats.org/officeDocument/2006/relationships/slide" Target="slides/slide235.xml"/><Relationship Id="rId278" Type="http://schemas.openxmlformats.org/officeDocument/2006/relationships/slide" Target="slides/slide277.xml"/><Relationship Id="rId401" Type="http://schemas.openxmlformats.org/officeDocument/2006/relationships/slide" Target="slides/slide400.xml"/><Relationship Id="rId443" Type="http://schemas.openxmlformats.org/officeDocument/2006/relationships/slide" Target="slides/slide442.xml"/><Relationship Id="rId303" Type="http://schemas.openxmlformats.org/officeDocument/2006/relationships/slide" Target="slides/slide302.xml"/><Relationship Id="rId485" Type="http://schemas.openxmlformats.org/officeDocument/2006/relationships/slide" Target="slides/slide484.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345" Type="http://schemas.openxmlformats.org/officeDocument/2006/relationships/slide" Target="slides/slide344.xml"/><Relationship Id="rId387" Type="http://schemas.openxmlformats.org/officeDocument/2006/relationships/slide" Target="slides/slide386.xml"/><Relationship Id="rId510" Type="http://schemas.openxmlformats.org/officeDocument/2006/relationships/slide" Target="slides/slide509.xml"/><Relationship Id="rId552" Type="http://schemas.openxmlformats.org/officeDocument/2006/relationships/slide" Target="slides/slide551.xml"/><Relationship Id="rId191" Type="http://schemas.openxmlformats.org/officeDocument/2006/relationships/slide" Target="slides/slide190.xml"/><Relationship Id="rId205" Type="http://schemas.openxmlformats.org/officeDocument/2006/relationships/slide" Target="slides/slide204.xml"/><Relationship Id="rId247" Type="http://schemas.openxmlformats.org/officeDocument/2006/relationships/slide" Target="slides/slide246.xml"/><Relationship Id="rId412" Type="http://schemas.openxmlformats.org/officeDocument/2006/relationships/slide" Target="slides/slide411.xml"/><Relationship Id="rId107" Type="http://schemas.openxmlformats.org/officeDocument/2006/relationships/slide" Target="slides/slide106.xml"/><Relationship Id="rId289" Type="http://schemas.openxmlformats.org/officeDocument/2006/relationships/slide" Target="slides/slide288.xml"/><Relationship Id="rId454" Type="http://schemas.openxmlformats.org/officeDocument/2006/relationships/slide" Target="slides/slide453.xml"/><Relationship Id="rId496" Type="http://schemas.openxmlformats.org/officeDocument/2006/relationships/slide" Target="slides/slide495.xml"/><Relationship Id="rId11" Type="http://schemas.openxmlformats.org/officeDocument/2006/relationships/slide" Target="slides/slide10.xml"/><Relationship Id="rId53" Type="http://schemas.openxmlformats.org/officeDocument/2006/relationships/slide" Target="slides/slide52.xml"/><Relationship Id="rId149" Type="http://schemas.openxmlformats.org/officeDocument/2006/relationships/slide" Target="slides/slide148.xml"/><Relationship Id="rId314" Type="http://schemas.openxmlformats.org/officeDocument/2006/relationships/slide" Target="slides/slide313.xml"/><Relationship Id="rId356" Type="http://schemas.openxmlformats.org/officeDocument/2006/relationships/slide" Target="slides/slide355.xml"/><Relationship Id="rId398" Type="http://schemas.openxmlformats.org/officeDocument/2006/relationships/slide" Target="slides/slide397.xml"/><Relationship Id="rId521" Type="http://schemas.openxmlformats.org/officeDocument/2006/relationships/slide" Target="slides/slide520.xml"/><Relationship Id="rId563" Type="http://schemas.openxmlformats.org/officeDocument/2006/relationships/slide" Target="slides/slide562.xml"/><Relationship Id="rId95" Type="http://schemas.openxmlformats.org/officeDocument/2006/relationships/slide" Target="slides/slide94.xml"/><Relationship Id="rId160" Type="http://schemas.openxmlformats.org/officeDocument/2006/relationships/slide" Target="slides/slide159.xml"/><Relationship Id="rId216" Type="http://schemas.openxmlformats.org/officeDocument/2006/relationships/slide" Target="slides/slide215.xml"/><Relationship Id="rId423" Type="http://schemas.openxmlformats.org/officeDocument/2006/relationships/slide" Target="slides/slide422.xml"/><Relationship Id="rId258" Type="http://schemas.openxmlformats.org/officeDocument/2006/relationships/slide" Target="slides/slide257.xml"/><Relationship Id="rId465" Type="http://schemas.openxmlformats.org/officeDocument/2006/relationships/slide" Target="slides/slide464.xml"/><Relationship Id="rId22" Type="http://schemas.openxmlformats.org/officeDocument/2006/relationships/slide" Target="slides/slide21.xml"/><Relationship Id="rId64" Type="http://schemas.openxmlformats.org/officeDocument/2006/relationships/slide" Target="slides/slide63.xml"/><Relationship Id="rId118" Type="http://schemas.openxmlformats.org/officeDocument/2006/relationships/slide" Target="slides/slide117.xml"/><Relationship Id="rId325" Type="http://schemas.openxmlformats.org/officeDocument/2006/relationships/slide" Target="slides/slide324.xml"/><Relationship Id="rId367" Type="http://schemas.openxmlformats.org/officeDocument/2006/relationships/slide" Target="slides/slide366.xml"/><Relationship Id="rId532" Type="http://schemas.openxmlformats.org/officeDocument/2006/relationships/slide" Target="slides/slide531.xml"/><Relationship Id="rId171" Type="http://schemas.openxmlformats.org/officeDocument/2006/relationships/slide" Target="slides/slide170.xml"/><Relationship Id="rId227" Type="http://schemas.openxmlformats.org/officeDocument/2006/relationships/slide" Target="slides/slide226.xml"/><Relationship Id="rId269" Type="http://schemas.openxmlformats.org/officeDocument/2006/relationships/slide" Target="slides/slide268.xml"/><Relationship Id="rId434" Type="http://schemas.openxmlformats.org/officeDocument/2006/relationships/slide" Target="slides/slide433.xml"/><Relationship Id="rId476" Type="http://schemas.openxmlformats.org/officeDocument/2006/relationships/slide" Target="slides/slide475.xml"/><Relationship Id="rId33" Type="http://schemas.openxmlformats.org/officeDocument/2006/relationships/slide" Target="slides/slide32.xml"/><Relationship Id="rId129" Type="http://schemas.openxmlformats.org/officeDocument/2006/relationships/slide" Target="slides/slide128.xml"/><Relationship Id="rId280" Type="http://schemas.openxmlformats.org/officeDocument/2006/relationships/slide" Target="slides/slide279.xml"/><Relationship Id="rId336" Type="http://schemas.openxmlformats.org/officeDocument/2006/relationships/slide" Target="slides/slide335.xml"/><Relationship Id="rId501" Type="http://schemas.openxmlformats.org/officeDocument/2006/relationships/slide" Target="slides/slide500.xml"/><Relationship Id="rId543" Type="http://schemas.openxmlformats.org/officeDocument/2006/relationships/slide" Target="slides/slide542.xml"/><Relationship Id="rId75" Type="http://schemas.openxmlformats.org/officeDocument/2006/relationships/slide" Target="slides/slide74.xml"/><Relationship Id="rId140" Type="http://schemas.openxmlformats.org/officeDocument/2006/relationships/slide" Target="slides/slide139.xml"/><Relationship Id="rId182" Type="http://schemas.openxmlformats.org/officeDocument/2006/relationships/slide" Target="slides/slide181.xml"/><Relationship Id="rId378" Type="http://schemas.openxmlformats.org/officeDocument/2006/relationships/slide" Target="slides/slide377.xml"/><Relationship Id="rId403" Type="http://schemas.openxmlformats.org/officeDocument/2006/relationships/slide" Target="slides/slide402.xml"/><Relationship Id="rId6" Type="http://schemas.openxmlformats.org/officeDocument/2006/relationships/slide" Target="slides/slide5.xml"/><Relationship Id="rId238" Type="http://schemas.openxmlformats.org/officeDocument/2006/relationships/slide" Target="slides/slide237.xml"/><Relationship Id="rId445" Type="http://schemas.openxmlformats.org/officeDocument/2006/relationships/slide" Target="slides/slide444.xml"/><Relationship Id="rId487" Type="http://schemas.openxmlformats.org/officeDocument/2006/relationships/slide" Target="slides/slide486.xml"/><Relationship Id="rId291" Type="http://schemas.openxmlformats.org/officeDocument/2006/relationships/slide" Target="slides/slide290.xml"/><Relationship Id="rId305" Type="http://schemas.openxmlformats.org/officeDocument/2006/relationships/slide" Target="slides/slide304.xml"/><Relationship Id="rId347" Type="http://schemas.openxmlformats.org/officeDocument/2006/relationships/slide" Target="slides/slide346.xml"/><Relationship Id="rId512" Type="http://schemas.openxmlformats.org/officeDocument/2006/relationships/slide" Target="slides/slide511.xml"/><Relationship Id="rId44" Type="http://schemas.openxmlformats.org/officeDocument/2006/relationships/slide" Target="slides/slide43.xml"/><Relationship Id="rId86" Type="http://schemas.openxmlformats.org/officeDocument/2006/relationships/slide" Target="slides/slide85.xml"/><Relationship Id="rId151" Type="http://schemas.openxmlformats.org/officeDocument/2006/relationships/slide" Target="slides/slide150.xml"/><Relationship Id="rId389" Type="http://schemas.openxmlformats.org/officeDocument/2006/relationships/slide" Target="slides/slide388.xml"/><Relationship Id="rId554" Type="http://schemas.openxmlformats.org/officeDocument/2006/relationships/slide" Target="slides/slide553.xml"/><Relationship Id="rId193" Type="http://schemas.openxmlformats.org/officeDocument/2006/relationships/slide" Target="slides/slide192.xml"/><Relationship Id="rId207" Type="http://schemas.openxmlformats.org/officeDocument/2006/relationships/slide" Target="slides/slide206.xml"/><Relationship Id="rId249" Type="http://schemas.openxmlformats.org/officeDocument/2006/relationships/slide" Target="slides/slide248.xml"/><Relationship Id="rId414" Type="http://schemas.openxmlformats.org/officeDocument/2006/relationships/slide" Target="slides/slide413.xml"/><Relationship Id="rId456" Type="http://schemas.openxmlformats.org/officeDocument/2006/relationships/slide" Target="slides/slide455.xml"/><Relationship Id="rId498" Type="http://schemas.openxmlformats.org/officeDocument/2006/relationships/slide" Target="slides/slide497.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316" Type="http://schemas.openxmlformats.org/officeDocument/2006/relationships/slide" Target="slides/slide315.xml"/><Relationship Id="rId523" Type="http://schemas.openxmlformats.org/officeDocument/2006/relationships/slide" Target="slides/slide522.xml"/><Relationship Id="rId55" Type="http://schemas.openxmlformats.org/officeDocument/2006/relationships/slide" Target="slides/slide54.xml"/><Relationship Id="rId97" Type="http://schemas.openxmlformats.org/officeDocument/2006/relationships/slide" Target="slides/slide96.xml"/><Relationship Id="rId120" Type="http://schemas.openxmlformats.org/officeDocument/2006/relationships/slide" Target="slides/slide119.xml"/><Relationship Id="rId358" Type="http://schemas.openxmlformats.org/officeDocument/2006/relationships/slide" Target="slides/slide357.xml"/><Relationship Id="rId565" Type="http://schemas.openxmlformats.org/officeDocument/2006/relationships/slide" Target="slides/slide564.xml"/><Relationship Id="rId162" Type="http://schemas.openxmlformats.org/officeDocument/2006/relationships/slide" Target="slides/slide161.xml"/><Relationship Id="rId218" Type="http://schemas.openxmlformats.org/officeDocument/2006/relationships/slide" Target="slides/slide217.xml"/><Relationship Id="rId425" Type="http://schemas.openxmlformats.org/officeDocument/2006/relationships/slide" Target="slides/slide424.xml"/><Relationship Id="rId467" Type="http://schemas.openxmlformats.org/officeDocument/2006/relationships/slide" Target="slides/slide466.xml"/><Relationship Id="rId271" Type="http://schemas.openxmlformats.org/officeDocument/2006/relationships/slide" Target="slides/slide270.xml"/><Relationship Id="rId24" Type="http://schemas.openxmlformats.org/officeDocument/2006/relationships/slide" Target="slides/slide23.xml"/><Relationship Id="rId66" Type="http://schemas.openxmlformats.org/officeDocument/2006/relationships/slide" Target="slides/slide65.xml"/><Relationship Id="rId131" Type="http://schemas.openxmlformats.org/officeDocument/2006/relationships/slide" Target="slides/slide130.xml"/><Relationship Id="rId327" Type="http://schemas.openxmlformats.org/officeDocument/2006/relationships/slide" Target="slides/slide326.xml"/><Relationship Id="rId369" Type="http://schemas.openxmlformats.org/officeDocument/2006/relationships/slide" Target="slides/slide368.xml"/><Relationship Id="rId534" Type="http://schemas.openxmlformats.org/officeDocument/2006/relationships/slide" Target="slides/slide533.xml"/><Relationship Id="rId173" Type="http://schemas.openxmlformats.org/officeDocument/2006/relationships/slide" Target="slides/slide172.xml"/><Relationship Id="rId229" Type="http://schemas.openxmlformats.org/officeDocument/2006/relationships/slide" Target="slides/slide228.xml"/><Relationship Id="rId380" Type="http://schemas.openxmlformats.org/officeDocument/2006/relationships/slide" Target="slides/slide379.xml"/><Relationship Id="rId436" Type="http://schemas.openxmlformats.org/officeDocument/2006/relationships/slide" Target="slides/slide435.xml"/><Relationship Id="rId240" Type="http://schemas.openxmlformats.org/officeDocument/2006/relationships/slide" Target="slides/slide239.xml"/><Relationship Id="rId478" Type="http://schemas.openxmlformats.org/officeDocument/2006/relationships/slide" Target="slides/slide477.xml"/><Relationship Id="rId35" Type="http://schemas.openxmlformats.org/officeDocument/2006/relationships/slide" Target="slides/slide34.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338" Type="http://schemas.openxmlformats.org/officeDocument/2006/relationships/slide" Target="slides/slide337.xml"/><Relationship Id="rId503" Type="http://schemas.openxmlformats.org/officeDocument/2006/relationships/slide" Target="slides/slide502.xml"/><Relationship Id="rId545" Type="http://schemas.openxmlformats.org/officeDocument/2006/relationships/slide" Target="slides/slide544.xml"/><Relationship Id="rId8" Type="http://schemas.openxmlformats.org/officeDocument/2006/relationships/slide" Target="slides/slide7.xml"/><Relationship Id="rId142" Type="http://schemas.openxmlformats.org/officeDocument/2006/relationships/slide" Target="slides/slide141.xml"/><Relationship Id="rId184" Type="http://schemas.openxmlformats.org/officeDocument/2006/relationships/slide" Target="slides/slide183.xml"/><Relationship Id="rId391" Type="http://schemas.openxmlformats.org/officeDocument/2006/relationships/slide" Target="slides/slide390.xml"/><Relationship Id="rId405" Type="http://schemas.openxmlformats.org/officeDocument/2006/relationships/slide" Target="slides/slide404.xml"/><Relationship Id="rId447" Type="http://schemas.openxmlformats.org/officeDocument/2006/relationships/slide" Target="slides/slide446.xml"/><Relationship Id="rId251" Type="http://schemas.openxmlformats.org/officeDocument/2006/relationships/slide" Target="slides/slide250.xml"/><Relationship Id="rId489" Type="http://schemas.openxmlformats.org/officeDocument/2006/relationships/slide" Target="slides/slide488.xml"/><Relationship Id="rId46" Type="http://schemas.openxmlformats.org/officeDocument/2006/relationships/slide" Target="slides/slide45.xml"/><Relationship Id="rId293" Type="http://schemas.openxmlformats.org/officeDocument/2006/relationships/slide" Target="slides/slide292.xml"/><Relationship Id="rId307" Type="http://schemas.openxmlformats.org/officeDocument/2006/relationships/slide" Target="slides/slide306.xml"/><Relationship Id="rId349" Type="http://schemas.openxmlformats.org/officeDocument/2006/relationships/slide" Target="slides/slide348.xml"/><Relationship Id="rId514" Type="http://schemas.openxmlformats.org/officeDocument/2006/relationships/slide" Target="slides/slide513.xml"/><Relationship Id="rId556" Type="http://schemas.openxmlformats.org/officeDocument/2006/relationships/slide" Target="slides/slide555.xml"/><Relationship Id="rId88" Type="http://schemas.openxmlformats.org/officeDocument/2006/relationships/slide" Target="slides/slide87.xml"/><Relationship Id="rId111" Type="http://schemas.openxmlformats.org/officeDocument/2006/relationships/slide" Target="slides/slide110.xml"/><Relationship Id="rId153" Type="http://schemas.openxmlformats.org/officeDocument/2006/relationships/slide" Target="slides/slide152.xml"/><Relationship Id="rId195" Type="http://schemas.openxmlformats.org/officeDocument/2006/relationships/slide" Target="slides/slide194.xml"/><Relationship Id="rId209" Type="http://schemas.openxmlformats.org/officeDocument/2006/relationships/slide" Target="slides/slide208.xml"/><Relationship Id="rId360" Type="http://schemas.openxmlformats.org/officeDocument/2006/relationships/slide" Target="slides/slide359.xml"/><Relationship Id="rId416" Type="http://schemas.openxmlformats.org/officeDocument/2006/relationships/slide" Target="slides/slide415.xml"/><Relationship Id="rId220" Type="http://schemas.openxmlformats.org/officeDocument/2006/relationships/slide" Target="slides/slide219.xml"/><Relationship Id="rId458" Type="http://schemas.openxmlformats.org/officeDocument/2006/relationships/slide" Target="slides/slide457.xml"/><Relationship Id="rId15" Type="http://schemas.openxmlformats.org/officeDocument/2006/relationships/slide" Target="slides/slide14.xml"/><Relationship Id="rId57" Type="http://schemas.openxmlformats.org/officeDocument/2006/relationships/slide" Target="slides/slide56.xml"/><Relationship Id="rId262" Type="http://schemas.openxmlformats.org/officeDocument/2006/relationships/slide" Target="slides/slide261.xml"/><Relationship Id="rId318" Type="http://schemas.openxmlformats.org/officeDocument/2006/relationships/slide" Target="slides/slide317.xml"/><Relationship Id="rId525" Type="http://schemas.openxmlformats.org/officeDocument/2006/relationships/slide" Target="slides/slide524.xml"/><Relationship Id="rId567" Type="http://schemas.openxmlformats.org/officeDocument/2006/relationships/slide" Target="slides/slide566.xml"/><Relationship Id="rId99" Type="http://schemas.openxmlformats.org/officeDocument/2006/relationships/slide" Target="slides/slide98.xml"/><Relationship Id="rId122" Type="http://schemas.openxmlformats.org/officeDocument/2006/relationships/slide" Target="slides/slide121.xml"/><Relationship Id="rId164" Type="http://schemas.openxmlformats.org/officeDocument/2006/relationships/slide" Target="slides/slide163.xml"/><Relationship Id="rId371" Type="http://schemas.openxmlformats.org/officeDocument/2006/relationships/slide" Target="slides/slide370.xml"/><Relationship Id="rId427" Type="http://schemas.openxmlformats.org/officeDocument/2006/relationships/slide" Target="slides/slide426.xml"/><Relationship Id="rId469" Type="http://schemas.openxmlformats.org/officeDocument/2006/relationships/slide" Target="slides/slide468.xml"/><Relationship Id="rId26" Type="http://schemas.openxmlformats.org/officeDocument/2006/relationships/slide" Target="slides/slide25.xml"/><Relationship Id="rId231" Type="http://schemas.openxmlformats.org/officeDocument/2006/relationships/slide" Target="slides/slide230.xml"/><Relationship Id="rId273" Type="http://schemas.openxmlformats.org/officeDocument/2006/relationships/slide" Target="slides/slide272.xml"/><Relationship Id="rId329" Type="http://schemas.openxmlformats.org/officeDocument/2006/relationships/slide" Target="slides/slide328.xml"/><Relationship Id="rId480" Type="http://schemas.openxmlformats.org/officeDocument/2006/relationships/slide" Target="slides/slide479.xml"/><Relationship Id="rId536" Type="http://schemas.openxmlformats.org/officeDocument/2006/relationships/slide" Target="slides/slide535.xml"/><Relationship Id="rId68" Type="http://schemas.openxmlformats.org/officeDocument/2006/relationships/slide" Target="slides/slide67.xml"/><Relationship Id="rId133" Type="http://schemas.openxmlformats.org/officeDocument/2006/relationships/slide" Target="slides/slide132.xml"/><Relationship Id="rId175" Type="http://schemas.openxmlformats.org/officeDocument/2006/relationships/slide" Target="slides/slide174.xml"/><Relationship Id="rId340" Type="http://schemas.openxmlformats.org/officeDocument/2006/relationships/slide" Target="slides/slide339.xml"/><Relationship Id="rId200" Type="http://schemas.openxmlformats.org/officeDocument/2006/relationships/slide" Target="slides/slide199.xml"/><Relationship Id="rId382" Type="http://schemas.openxmlformats.org/officeDocument/2006/relationships/slide" Target="slides/slide381.xml"/><Relationship Id="rId438" Type="http://schemas.openxmlformats.org/officeDocument/2006/relationships/slide" Target="slides/slide437.xml"/><Relationship Id="rId242" Type="http://schemas.openxmlformats.org/officeDocument/2006/relationships/slide" Target="slides/slide241.xml"/><Relationship Id="rId284" Type="http://schemas.openxmlformats.org/officeDocument/2006/relationships/slide" Target="slides/slide283.xml"/><Relationship Id="rId491" Type="http://schemas.openxmlformats.org/officeDocument/2006/relationships/slide" Target="slides/slide490.xml"/><Relationship Id="rId505" Type="http://schemas.openxmlformats.org/officeDocument/2006/relationships/slide" Target="slides/slide504.xml"/><Relationship Id="rId37" Type="http://schemas.openxmlformats.org/officeDocument/2006/relationships/slide" Target="slides/slide36.xml"/><Relationship Id="rId79" Type="http://schemas.openxmlformats.org/officeDocument/2006/relationships/slide" Target="slides/slide78.xml"/><Relationship Id="rId102" Type="http://schemas.openxmlformats.org/officeDocument/2006/relationships/slide" Target="slides/slide101.xml"/><Relationship Id="rId144" Type="http://schemas.openxmlformats.org/officeDocument/2006/relationships/slide" Target="slides/slide143.xml"/><Relationship Id="rId547" Type="http://schemas.openxmlformats.org/officeDocument/2006/relationships/slide" Target="slides/slide546.xml"/><Relationship Id="rId90" Type="http://schemas.openxmlformats.org/officeDocument/2006/relationships/slide" Target="slides/slide89.xml"/><Relationship Id="rId186" Type="http://schemas.openxmlformats.org/officeDocument/2006/relationships/slide" Target="slides/slide185.xml"/><Relationship Id="rId351" Type="http://schemas.openxmlformats.org/officeDocument/2006/relationships/slide" Target="slides/slide350.xml"/><Relationship Id="rId393" Type="http://schemas.openxmlformats.org/officeDocument/2006/relationships/slide" Target="slides/slide392.xml"/><Relationship Id="rId407" Type="http://schemas.openxmlformats.org/officeDocument/2006/relationships/slide" Target="slides/slide406.xml"/><Relationship Id="rId449" Type="http://schemas.openxmlformats.org/officeDocument/2006/relationships/slide" Target="slides/slide448.xml"/><Relationship Id="rId211" Type="http://schemas.openxmlformats.org/officeDocument/2006/relationships/slide" Target="slides/slide210.xml"/><Relationship Id="rId253" Type="http://schemas.openxmlformats.org/officeDocument/2006/relationships/slide" Target="slides/slide252.xml"/><Relationship Id="rId295" Type="http://schemas.openxmlformats.org/officeDocument/2006/relationships/slide" Target="slides/slide294.xml"/><Relationship Id="rId309" Type="http://schemas.openxmlformats.org/officeDocument/2006/relationships/slide" Target="slides/slide308.xml"/><Relationship Id="rId460" Type="http://schemas.openxmlformats.org/officeDocument/2006/relationships/slide" Target="slides/slide459.xml"/><Relationship Id="rId516" Type="http://schemas.openxmlformats.org/officeDocument/2006/relationships/slide" Target="slides/slide515.xml"/><Relationship Id="rId48" Type="http://schemas.openxmlformats.org/officeDocument/2006/relationships/slide" Target="slides/slide47.xml"/><Relationship Id="rId113" Type="http://schemas.openxmlformats.org/officeDocument/2006/relationships/slide" Target="slides/slide112.xml"/><Relationship Id="rId320" Type="http://schemas.openxmlformats.org/officeDocument/2006/relationships/slide" Target="slides/slide319.xml"/><Relationship Id="rId558" Type="http://schemas.openxmlformats.org/officeDocument/2006/relationships/slide" Target="slides/slide557.xml"/><Relationship Id="rId155" Type="http://schemas.openxmlformats.org/officeDocument/2006/relationships/slide" Target="slides/slide154.xml"/><Relationship Id="rId197" Type="http://schemas.openxmlformats.org/officeDocument/2006/relationships/slide" Target="slides/slide196.xml"/><Relationship Id="rId362" Type="http://schemas.openxmlformats.org/officeDocument/2006/relationships/slide" Target="slides/slide361.xml"/><Relationship Id="rId418" Type="http://schemas.openxmlformats.org/officeDocument/2006/relationships/slide" Target="slides/slide417.xml"/><Relationship Id="rId222" Type="http://schemas.openxmlformats.org/officeDocument/2006/relationships/slide" Target="slides/slide221.xml"/><Relationship Id="rId264" Type="http://schemas.openxmlformats.org/officeDocument/2006/relationships/slide" Target="slides/slide263.xml"/><Relationship Id="rId471" Type="http://schemas.openxmlformats.org/officeDocument/2006/relationships/slide" Target="slides/slide470.xml"/><Relationship Id="rId17" Type="http://schemas.openxmlformats.org/officeDocument/2006/relationships/slide" Target="slides/slide16.xml"/><Relationship Id="rId59" Type="http://schemas.openxmlformats.org/officeDocument/2006/relationships/slide" Target="slides/slide58.xml"/><Relationship Id="rId124" Type="http://schemas.openxmlformats.org/officeDocument/2006/relationships/slide" Target="slides/slide123.xml"/><Relationship Id="rId527" Type="http://schemas.openxmlformats.org/officeDocument/2006/relationships/slide" Target="slides/slide526.xml"/><Relationship Id="rId569" Type="http://schemas.openxmlformats.org/officeDocument/2006/relationships/notesMaster" Target="notesMasters/notesMaster1.xml"/><Relationship Id="rId70" Type="http://schemas.openxmlformats.org/officeDocument/2006/relationships/slide" Target="slides/slide69.xml"/><Relationship Id="rId166" Type="http://schemas.openxmlformats.org/officeDocument/2006/relationships/slide" Target="slides/slide165.xml"/><Relationship Id="rId331" Type="http://schemas.openxmlformats.org/officeDocument/2006/relationships/slide" Target="slides/slide330.xml"/><Relationship Id="rId373" Type="http://schemas.openxmlformats.org/officeDocument/2006/relationships/slide" Target="slides/slide372.xml"/><Relationship Id="rId429" Type="http://schemas.openxmlformats.org/officeDocument/2006/relationships/slide" Target="slides/slide428.xml"/><Relationship Id="rId1" Type="http://schemas.openxmlformats.org/officeDocument/2006/relationships/slideMaster" Target="slideMasters/slideMaster1.xml"/><Relationship Id="rId233" Type="http://schemas.openxmlformats.org/officeDocument/2006/relationships/slide" Target="slides/slide232.xml"/><Relationship Id="rId440" Type="http://schemas.openxmlformats.org/officeDocument/2006/relationships/slide" Target="slides/slide439.xml"/><Relationship Id="rId28" Type="http://schemas.openxmlformats.org/officeDocument/2006/relationships/slide" Target="slides/slide27.xml"/><Relationship Id="rId275" Type="http://schemas.openxmlformats.org/officeDocument/2006/relationships/slide" Target="slides/slide274.xml"/><Relationship Id="rId300" Type="http://schemas.openxmlformats.org/officeDocument/2006/relationships/slide" Target="slides/slide299.xml"/><Relationship Id="rId482" Type="http://schemas.openxmlformats.org/officeDocument/2006/relationships/slide" Target="slides/slide481.xml"/><Relationship Id="rId538" Type="http://schemas.openxmlformats.org/officeDocument/2006/relationships/slide" Target="slides/slide537.xml"/><Relationship Id="rId81" Type="http://schemas.openxmlformats.org/officeDocument/2006/relationships/slide" Target="slides/slide80.xml"/><Relationship Id="rId135" Type="http://schemas.openxmlformats.org/officeDocument/2006/relationships/slide" Target="slides/slide134.xml"/><Relationship Id="rId177" Type="http://schemas.openxmlformats.org/officeDocument/2006/relationships/slide" Target="slides/slide176.xml"/><Relationship Id="rId342" Type="http://schemas.openxmlformats.org/officeDocument/2006/relationships/slide" Target="slides/slide341.xml"/><Relationship Id="rId384" Type="http://schemas.openxmlformats.org/officeDocument/2006/relationships/slide" Target="slides/slide383.xml"/><Relationship Id="rId202" Type="http://schemas.openxmlformats.org/officeDocument/2006/relationships/slide" Target="slides/slide201.xml"/><Relationship Id="rId244" Type="http://schemas.openxmlformats.org/officeDocument/2006/relationships/slide" Target="slides/slide243.xml"/><Relationship Id="rId39" Type="http://schemas.openxmlformats.org/officeDocument/2006/relationships/slide" Target="slides/slide38.xml"/><Relationship Id="rId286" Type="http://schemas.openxmlformats.org/officeDocument/2006/relationships/slide" Target="slides/slide285.xml"/><Relationship Id="rId451" Type="http://schemas.openxmlformats.org/officeDocument/2006/relationships/slide" Target="slides/slide450.xml"/><Relationship Id="rId493" Type="http://schemas.openxmlformats.org/officeDocument/2006/relationships/slide" Target="slides/slide492.xml"/><Relationship Id="rId507" Type="http://schemas.openxmlformats.org/officeDocument/2006/relationships/slide" Target="slides/slide506.xml"/><Relationship Id="rId549" Type="http://schemas.openxmlformats.org/officeDocument/2006/relationships/slide" Target="slides/slide548.xml"/><Relationship Id="rId50" Type="http://schemas.openxmlformats.org/officeDocument/2006/relationships/slide" Target="slides/slide49.xml"/><Relationship Id="rId104" Type="http://schemas.openxmlformats.org/officeDocument/2006/relationships/slide" Target="slides/slide103.xml"/><Relationship Id="rId146" Type="http://schemas.openxmlformats.org/officeDocument/2006/relationships/slide" Target="slides/slide145.xml"/><Relationship Id="rId188" Type="http://schemas.openxmlformats.org/officeDocument/2006/relationships/slide" Target="slides/slide187.xml"/><Relationship Id="rId311" Type="http://schemas.openxmlformats.org/officeDocument/2006/relationships/slide" Target="slides/slide310.xml"/><Relationship Id="rId353" Type="http://schemas.openxmlformats.org/officeDocument/2006/relationships/slide" Target="slides/slide352.xml"/><Relationship Id="rId395" Type="http://schemas.openxmlformats.org/officeDocument/2006/relationships/slide" Target="slides/slide394.xml"/><Relationship Id="rId409" Type="http://schemas.openxmlformats.org/officeDocument/2006/relationships/slide" Target="slides/slide408.xml"/><Relationship Id="rId560" Type="http://schemas.openxmlformats.org/officeDocument/2006/relationships/slide" Target="slides/slide559.xml"/><Relationship Id="rId92" Type="http://schemas.openxmlformats.org/officeDocument/2006/relationships/slide" Target="slides/slide91.xml"/><Relationship Id="rId213" Type="http://schemas.openxmlformats.org/officeDocument/2006/relationships/slide" Target="slides/slide212.xml"/><Relationship Id="rId420" Type="http://schemas.openxmlformats.org/officeDocument/2006/relationships/slide" Target="slides/slide419.xml"/><Relationship Id="rId255" Type="http://schemas.openxmlformats.org/officeDocument/2006/relationships/slide" Target="slides/slide254.xml"/><Relationship Id="rId297" Type="http://schemas.openxmlformats.org/officeDocument/2006/relationships/slide" Target="slides/slide296.xml"/><Relationship Id="rId462" Type="http://schemas.openxmlformats.org/officeDocument/2006/relationships/slide" Target="slides/slide461.xml"/><Relationship Id="rId518" Type="http://schemas.openxmlformats.org/officeDocument/2006/relationships/slide" Target="slides/slide517.xml"/><Relationship Id="rId115" Type="http://schemas.openxmlformats.org/officeDocument/2006/relationships/slide" Target="slides/slide114.xml"/><Relationship Id="rId157" Type="http://schemas.openxmlformats.org/officeDocument/2006/relationships/slide" Target="slides/slide156.xml"/><Relationship Id="rId322" Type="http://schemas.openxmlformats.org/officeDocument/2006/relationships/slide" Target="slides/slide321.xml"/><Relationship Id="rId364" Type="http://schemas.openxmlformats.org/officeDocument/2006/relationships/slide" Target="slides/slide363.xml"/><Relationship Id="rId61" Type="http://schemas.openxmlformats.org/officeDocument/2006/relationships/slide" Target="slides/slide60.xml"/><Relationship Id="rId199" Type="http://schemas.openxmlformats.org/officeDocument/2006/relationships/slide" Target="slides/slide198.xml"/><Relationship Id="rId571" Type="http://schemas.openxmlformats.org/officeDocument/2006/relationships/viewProps" Target="viewProps.xml"/><Relationship Id="rId19" Type="http://schemas.openxmlformats.org/officeDocument/2006/relationships/slide" Target="slides/slide18.xml"/><Relationship Id="rId224" Type="http://schemas.openxmlformats.org/officeDocument/2006/relationships/slide" Target="slides/slide223.xml"/><Relationship Id="rId266" Type="http://schemas.openxmlformats.org/officeDocument/2006/relationships/slide" Target="slides/slide265.xml"/><Relationship Id="rId431" Type="http://schemas.openxmlformats.org/officeDocument/2006/relationships/slide" Target="slides/slide430.xml"/><Relationship Id="rId473" Type="http://schemas.openxmlformats.org/officeDocument/2006/relationships/slide" Target="slides/slide472.xml"/><Relationship Id="rId529" Type="http://schemas.openxmlformats.org/officeDocument/2006/relationships/slide" Target="slides/slide528.xml"/><Relationship Id="rId30" Type="http://schemas.openxmlformats.org/officeDocument/2006/relationships/slide" Target="slides/slide29.xml"/><Relationship Id="rId126" Type="http://schemas.openxmlformats.org/officeDocument/2006/relationships/slide" Target="slides/slide125.xml"/><Relationship Id="rId168" Type="http://schemas.openxmlformats.org/officeDocument/2006/relationships/slide" Target="slides/slide167.xml"/><Relationship Id="rId333" Type="http://schemas.openxmlformats.org/officeDocument/2006/relationships/slide" Target="slides/slide332.xml"/><Relationship Id="rId540" Type="http://schemas.openxmlformats.org/officeDocument/2006/relationships/slide" Target="slides/slide539.xml"/><Relationship Id="rId72" Type="http://schemas.openxmlformats.org/officeDocument/2006/relationships/slide" Target="slides/slide71.xml"/><Relationship Id="rId375" Type="http://schemas.openxmlformats.org/officeDocument/2006/relationships/slide" Target="slides/slide374.xml"/><Relationship Id="rId3" Type="http://schemas.openxmlformats.org/officeDocument/2006/relationships/slide" Target="slides/slide2.xml"/><Relationship Id="rId235" Type="http://schemas.openxmlformats.org/officeDocument/2006/relationships/slide" Target="slides/slide234.xml"/><Relationship Id="rId277" Type="http://schemas.openxmlformats.org/officeDocument/2006/relationships/slide" Target="slides/slide276.xml"/><Relationship Id="rId400" Type="http://schemas.openxmlformats.org/officeDocument/2006/relationships/slide" Target="slides/slide399.xml"/><Relationship Id="rId442" Type="http://schemas.openxmlformats.org/officeDocument/2006/relationships/slide" Target="slides/slide441.xml"/><Relationship Id="rId484" Type="http://schemas.openxmlformats.org/officeDocument/2006/relationships/slide" Target="slides/slide483.xml"/><Relationship Id="rId137" Type="http://schemas.openxmlformats.org/officeDocument/2006/relationships/slide" Target="slides/slide136.xml"/><Relationship Id="rId302" Type="http://schemas.openxmlformats.org/officeDocument/2006/relationships/slide" Target="slides/slide301.xml"/><Relationship Id="rId344" Type="http://schemas.openxmlformats.org/officeDocument/2006/relationships/slide" Target="slides/slide343.xml"/><Relationship Id="rId41" Type="http://schemas.openxmlformats.org/officeDocument/2006/relationships/slide" Target="slides/slide40.xml"/><Relationship Id="rId83" Type="http://schemas.openxmlformats.org/officeDocument/2006/relationships/slide" Target="slides/slide82.xml"/><Relationship Id="rId179" Type="http://schemas.openxmlformats.org/officeDocument/2006/relationships/slide" Target="slides/slide178.xml"/><Relationship Id="rId386" Type="http://schemas.openxmlformats.org/officeDocument/2006/relationships/slide" Target="slides/slide385.xml"/><Relationship Id="rId551" Type="http://schemas.openxmlformats.org/officeDocument/2006/relationships/slide" Target="slides/slide550.xml"/><Relationship Id="rId190" Type="http://schemas.openxmlformats.org/officeDocument/2006/relationships/slide" Target="slides/slide189.xml"/><Relationship Id="rId204" Type="http://schemas.openxmlformats.org/officeDocument/2006/relationships/slide" Target="slides/slide203.xml"/><Relationship Id="rId246" Type="http://schemas.openxmlformats.org/officeDocument/2006/relationships/slide" Target="slides/slide245.xml"/><Relationship Id="rId288" Type="http://schemas.openxmlformats.org/officeDocument/2006/relationships/slide" Target="slides/slide287.xml"/><Relationship Id="rId411" Type="http://schemas.openxmlformats.org/officeDocument/2006/relationships/slide" Target="slides/slide410.xml"/><Relationship Id="rId453" Type="http://schemas.openxmlformats.org/officeDocument/2006/relationships/slide" Target="slides/slide452.xml"/><Relationship Id="rId509" Type="http://schemas.openxmlformats.org/officeDocument/2006/relationships/slide" Target="slides/slide508.xml"/><Relationship Id="rId106" Type="http://schemas.openxmlformats.org/officeDocument/2006/relationships/slide" Target="slides/slide105.xml"/><Relationship Id="rId313" Type="http://schemas.openxmlformats.org/officeDocument/2006/relationships/slide" Target="slides/slide312.xml"/><Relationship Id="rId495" Type="http://schemas.openxmlformats.org/officeDocument/2006/relationships/slide" Target="slides/slide494.xml"/><Relationship Id="rId10" Type="http://schemas.openxmlformats.org/officeDocument/2006/relationships/slide" Target="slides/slide9.xml"/><Relationship Id="rId52" Type="http://schemas.openxmlformats.org/officeDocument/2006/relationships/slide" Target="slides/slide51.xml"/><Relationship Id="rId94" Type="http://schemas.openxmlformats.org/officeDocument/2006/relationships/slide" Target="slides/slide93.xml"/><Relationship Id="rId148" Type="http://schemas.openxmlformats.org/officeDocument/2006/relationships/slide" Target="slides/slide147.xml"/><Relationship Id="rId355" Type="http://schemas.openxmlformats.org/officeDocument/2006/relationships/slide" Target="slides/slide354.xml"/><Relationship Id="rId397" Type="http://schemas.openxmlformats.org/officeDocument/2006/relationships/slide" Target="slides/slide396.xml"/><Relationship Id="rId520" Type="http://schemas.openxmlformats.org/officeDocument/2006/relationships/slide" Target="slides/slide519.xml"/><Relationship Id="rId562" Type="http://schemas.openxmlformats.org/officeDocument/2006/relationships/slide" Target="slides/slide561.xml"/><Relationship Id="rId215" Type="http://schemas.openxmlformats.org/officeDocument/2006/relationships/slide" Target="slides/slide214.xml"/><Relationship Id="rId257" Type="http://schemas.openxmlformats.org/officeDocument/2006/relationships/slide" Target="slides/slide256.xml"/><Relationship Id="rId422" Type="http://schemas.openxmlformats.org/officeDocument/2006/relationships/slide" Target="slides/slide421.xml"/><Relationship Id="rId464" Type="http://schemas.openxmlformats.org/officeDocument/2006/relationships/slide" Target="slides/slide463.xml"/><Relationship Id="rId299" Type="http://schemas.openxmlformats.org/officeDocument/2006/relationships/slide" Target="slides/slide298.xml"/><Relationship Id="rId63" Type="http://schemas.openxmlformats.org/officeDocument/2006/relationships/slide" Target="slides/slide62.xml"/><Relationship Id="rId159" Type="http://schemas.openxmlformats.org/officeDocument/2006/relationships/slide" Target="slides/slide158.xml"/><Relationship Id="rId366" Type="http://schemas.openxmlformats.org/officeDocument/2006/relationships/slide" Target="slides/slide365.xml"/><Relationship Id="rId573" Type="http://schemas.openxmlformats.org/officeDocument/2006/relationships/tableStyles" Target="tableStyles.xml"/><Relationship Id="rId226" Type="http://schemas.openxmlformats.org/officeDocument/2006/relationships/slide" Target="slides/slide225.xml"/><Relationship Id="rId433" Type="http://schemas.openxmlformats.org/officeDocument/2006/relationships/slide" Target="slides/slide432.xml"/><Relationship Id="rId74" Type="http://schemas.openxmlformats.org/officeDocument/2006/relationships/slide" Target="slides/slide73.xml"/><Relationship Id="rId377" Type="http://schemas.openxmlformats.org/officeDocument/2006/relationships/slide" Target="slides/slide376.xml"/><Relationship Id="rId500" Type="http://schemas.openxmlformats.org/officeDocument/2006/relationships/slide" Target="slides/slide499.xml"/><Relationship Id="rId5" Type="http://schemas.openxmlformats.org/officeDocument/2006/relationships/slide" Target="slides/slide4.xml"/><Relationship Id="rId237" Type="http://schemas.openxmlformats.org/officeDocument/2006/relationships/slide" Target="slides/slide236.xml"/><Relationship Id="rId444" Type="http://schemas.openxmlformats.org/officeDocument/2006/relationships/slide" Target="slides/slide443.xml"/><Relationship Id="rId290" Type="http://schemas.openxmlformats.org/officeDocument/2006/relationships/slide" Target="slides/slide289.xml"/><Relationship Id="rId304" Type="http://schemas.openxmlformats.org/officeDocument/2006/relationships/slide" Target="slides/slide303.xml"/><Relationship Id="rId388" Type="http://schemas.openxmlformats.org/officeDocument/2006/relationships/slide" Target="slides/slide387.xml"/><Relationship Id="rId511" Type="http://schemas.openxmlformats.org/officeDocument/2006/relationships/slide" Target="slides/slide510.xml"/><Relationship Id="rId85" Type="http://schemas.openxmlformats.org/officeDocument/2006/relationships/slide" Target="slides/slide84.xml"/><Relationship Id="rId150" Type="http://schemas.openxmlformats.org/officeDocument/2006/relationships/slide" Target="slides/slide149.xml"/><Relationship Id="rId248" Type="http://schemas.openxmlformats.org/officeDocument/2006/relationships/slide" Target="slides/slide247.xml"/><Relationship Id="rId455" Type="http://schemas.openxmlformats.org/officeDocument/2006/relationships/slide" Target="slides/slide454.xml"/><Relationship Id="rId12" Type="http://schemas.openxmlformats.org/officeDocument/2006/relationships/slide" Target="slides/slide11.xml"/><Relationship Id="rId108" Type="http://schemas.openxmlformats.org/officeDocument/2006/relationships/slide" Target="slides/slide107.xml"/><Relationship Id="rId315" Type="http://schemas.openxmlformats.org/officeDocument/2006/relationships/slide" Target="slides/slide314.xml"/><Relationship Id="rId522" Type="http://schemas.openxmlformats.org/officeDocument/2006/relationships/slide" Target="slides/slide521.xml"/><Relationship Id="rId96" Type="http://schemas.openxmlformats.org/officeDocument/2006/relationships/slide" Target="slides/slide95.xml"/><Relationship Id="rId161" Type="http://schemas.openxmlformats.org/officeDocument/2006/relationships/slide" Target="slides/slide160.xml"/><Relationship Id="rId399" Type="http://schemas.openxmlformats.org/officeDocument/2006/relationships/slide" Target="slides/slide398.xml"/><Relationship Id="rId259" Type="http://schemas.openxmlformats.org/officeDocument/2006/relationships/slide" Target="slides/slide258.xml"/><Relationship Id="rId466" Type="http://schemas.openxmlformats.org/officeDocument/2006/relationships/slide" Target="slides/slide465.xml"/><Relationship Id="rId23" Type="http://schemas.openxmlformats.org/officeDocument/2006/relationships/slide" Target="slides/slide22.xml"/><Relationship Id="rId119" Type="http://schemas.openxmlformats.org/officeDocument/2006/relationships/slide" Target="slides/slide118.xml"/><Relationship Id="rId326" Type="http://schemas.openxmlformats.org/officeDocument/2006/relationships/slide" Target="slides/slide325.xml"/><Relationship Id="rId533" Type="http://schemas.openxmlformats.org/officeDocument/2006/relationships/slide" Target="slides/slide532.xml"/><Relationship Id="rId172" Type="http://schemas.openxmlformats.org/officeDocument/2006/relationships/slide" Target="slides/slide171.xml"/><Relationship Id="rId477" Type="http://schemas.openxmlformats.org/officeDocument/2006/relationships/slide" Target="slides/slide476.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176653466"/>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253.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254.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255.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257.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259.xml.rels><?xml version="1.0" encoding="UTF-8" standalone="yes"?>
<Relationships xmlns="http://schemas.openxmlformats.org/package/2006/relationships"><Relationship Id="rId2" Type="http://schemas.openxmlformats.org/officeDocument/2006/relationships/slide" Target="../slides/slide259.xml"/><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2" Type="http://schemas.openxmlformats.org/officeDocument/2006/relationships/slide" Target="../slides/slide260.xml"/><Relationship Id="rId1" Type="http://schemas.openxmlformats.org/officeDocument/2006/relationships/notesMaster" Target="../notesMasters/notesMaster1.xml"/></Relationships>
</file>

<file path=ppt/notesSlides/_rels/notesSlide261.xml.rels><?xml version="1.0" encoding="UTF-8" standalone="yes"?>
<Relationships xmlns="http://schemas.openxmlformats.org/package/2006/relationships"><Relationship Id="rId2" Type="http://schemas.openxmlformats.org/officeDocument/2006/relationships/slide" Target="../slides/slide261.xml"/><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2" Type="http://schemas.openxmlformats.org/officeDocument/2006/relationships/slide" Target="../slides/slide262.xml"/><Relationship Id="rId1" Type="http://schemas.openxmlformats.org/officeDocument/2006/relationships/notesMaster" Target="../notesMasters/notesMaster1.xml"/></Relationships>
</file>

<file path=ppt/notesSlides/_rels/notesSlide263.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265.xml.rels><?xml version="1.0" encoding="UTF-8" standalone="yes"?>
<Relationships xmlns="http://schemas.openxmlformats.org/package/2006/relationships"><Relationship Id="rId2" Type="http://schemas.openxmlformats.org/officeDocument/2006/relationships/slide" Target="../slides/slide265.xml"/><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267.xml.rels><?xml version="1.0" encoding="UTF-8" standalone="yes"?>
<Relationships xmlns="http://schemas.openxmlformats.org/package/2006/relationships"><Relationship Id="rId2" Type="http://schemas.openxmlformats.org/officeDocument/2006/relationships/slide" Target="../slides/slide267.xml"/><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2" Type="http://schemas.openxmlformats.org/officeDocument/2006/relationships/slide" Target="../slides/slide268.xml"/><Relationship Id="rId1" Type="http://schemas.openxmlformats.org/officeDocument/2006/relationships/notesMaster" Target="../notesMasters/notesMaster1.xml"/></Relationships>
</file>

<file path=ppt/notesSlides/_rels/notesSlide269.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2" Type="http://schemas.openxmlformats.org/officeDocument/2006/relationships/slide" Target="../slides/slide270.xml"/><Relationship Id="rId1" Type="http://schemas.openxmlformats.org/officeDocument/2006/relationships/notesMaster" Target="../notesMasters/notesMaster1.xml"/></Relationships>
</file>

<file path=ppt/notesSlides/_rels/notesSlide271.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272.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273.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274.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276.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278.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280.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282.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284.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286.xml.rels><?xml version="1.0" encoding="UTF-8" standalone="yes"?>
<Relationships xmlns="http://schemas.openxmlformats.org/package/2006/relationships"><Relationship Id="rId2" Type="http://schemas.openxmlformats.org/officeDocument/2006/relationships/slide" Target="../slides/slide286.xml"/><Relationship Id="rId1" Type="http://schemas.openxmlformats.org/officeDocument/2006/relationships/notesMaster" Target="../notesMasters/notesMaster1.xml"/></Relationships>
</file>

<file path=ppt/notesSlides/_rels/notesSlide287.xml.rels><?xml version="1.0" encoding="UTF-8" standalone="yes"?>
<Relationships xmlns="http://schemas.openxmlformats.org/package/2006/relationships"><Relationship Id="rId2" Type="http://schemas.openxmlformats.org/officeDocument/2006/relationships/slide" Target="../slides/slide287.xml"/><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2" Type="http://schemas.openxmlformats.org/officeDocument/2006/relationships/slide" Target="../slides/slide288.xml"/><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2" Type="http://schemas.openxmlformats.org/officeDocument/2006/relationships/slide" Target="../slides/slide291.xml"/><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2" Type="http://schemas.openxmlformats.org/officeDocument/2006/relationships/slide" Target="../slides/slide301.xml"/><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2" Type="http://schemas.openxmlformats.org/officeDocument/2006/relationships/slide" Target="../slides/slide305.xml"/><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2" Type="http://schemas.openxmlformats.org/officeDocument/2006/relationships/slide" Target="../slides/slide306.xml"/><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2" Type="http://schemas.openxmlformats.org/officeDocument/2006/relationships/slide" Target="../slides/slide307.xml"/><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2" Type="http://schemas.openxmlformats.org/officeDocument/2006/relationships/slide" Target="../slides/slide308.xml"/><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2" Type="http://schemas.openxmlformats.org/officeDocument/2006/relationships/slide" Target="../slides/slide309.xml"/><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2" Type="http://schemas.openxmlformats.org/officeDocument/2006/relationships/slide" Target="../slides/slide310.xml"/><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2" Type="http://schemas.openxmlformats.org/officeDocument/2006/relationships/slide" Target="../slides/slide311.xml"/><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2" Type="http://schemas.openxmlformats.org/officeDocument/2006/relationships/slide" Target="../slides/slide312.xml"/><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2" Type="http://schemas.openxmlformats.org/officeDocument/2006/relationships/slide" Target="../slides/slide313.xml"/><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2" Type="http://schemas.openxmlformats.org/officeDocument/2006/relationships/slide" Target="../slides/slide314.xml"/><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2" Type="http://schemas.openxmlformats.org/officeDocument/2006/relationships/slide" Target="../slides/slide315.xml"/><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2" Type="http://schemas.openxmlformats.org/officeDocument/2006/relationships/slide" Target="../slides/slide316.xml"/><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2" Type="http://schemas.openxmlformats.org/officeDocument/2006/relationships/slide" Target="../slides/slide317.xml"/><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2" Type="http://schemas.openxmlformats.org/officeDocument/2006/relationships/slide" Target="../slides/slide318.xml"/><Relationship Id="rId1" Type="http://schemas.openxmlformats.org/officeDocument/2006/relationships/notesMaster" Target="../notesMasters/notesMaster1.xml"/></Relationships>
</file>

<file path=ppt/notesSlides/_rels/notesSlide319.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2" Type="http://schemas.openxmlformats.org/officeDocument/2006/relationships/slide" Target="../slides/slide320.xml"/><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2" Type="http://schemas.openxmlformats.org/officeDocument/2006/relationships/slide" Target="../slides/slide321.xml"/><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2" Type="http://schemas.openxmlformats.org/officeDocument/2006/relationships/slide" Target="../slides/slide323.xml"/><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2" Type="http://schemas.openxmlformats.org/officeDocument/2006/relationships/slide" Target="../slides/slide324.xml"/><Relationship Id="rId1" Type="http://schemas.openxmlformats.org/officeDocument/2006/relationships/notesMaster" Target="../notesMasters/notesMaster1.xml"/></Relationships>
</file>

<file path=ppt/notesSlides/_rels/notesSlide325.xml.rels><?xml version="1.0" encoding="UTF-8" standalone="yes"?>
<Relationships xmlns="http://schemas.openxmlformats.org/package/2006/relationships"><Relationship Id="rId2" Type="http://schemas.openxmlformats.org/officeDocument/2006/relationships/slide" Target="../slides/slide325.xml"/><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2" Type="http://schemas.openxmlformats.org/officeDocument/2006/relationships/slide" Target="../slides/slide326.xml"/><Relationship Id="rId1" Type="http://schemas.openxmlformats.org/officeDocument/2006/relationships/notesMaster" Target="../notesMasters/notesMaster1.xml"/></Relationships>
</file>

<file path=ppt/notesSlides/_rels/notesSlide327.xml.rels><?xml version="1.0" encoding="UTF-8" standalone="yes"?>
<Relationships xmlns="http://schemas.openxmlformats.org/package/2006/relationships"><Relationship Id="rId2" Type="http://schemas.openxmlformats.org/officeDocument/2006/relationships/slide" Target="../slides/slide327.xml"/><Relationship Id="rId1" Type="http://schemas.openxmlformats.org/officeDocument/2006/relationships/notesMaster" Target="../notesMasters/notesMaster1.xml"/></Relationships>
</file>

<file path=ppt/notesSlides/_rels/notesSlide328.xml.rels><?xml version="1.0" encoding="UTF-8" standalone="yes"?>
<Relationships xmlns="http://schemas.openxmlformats.org/package/2006/relationships"><Relationship Id="rId2" Type="http://schemas.openxmlformats.org/officeDocument/2006/relationships/slide" Target="../slides/slide328.xml"/><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2" Type="http://schemas.openxmlformats.org/officeDocument/2006/relationships/slide" Target="../slides/slide329.xml"/><Relationship Id="rId1" Type="http://schemas.openxmlformats.org/officeDocument/2006/relationships/notesMaster" Target="../notesMasters/notesMaster1.xml"/></Relationships>
</file>

<file path=ppt/notesSlides/_rels/notesSlide330.xml.rels><?xml version="1.0" encoding="UTF-8" standalone="yes"?>
<Relationships xmlns="http://schemas.openxmlformats.org/package/2006/relationships"><Relationship Id="rId2" Type="http://schemas.openxmlformats.org/officeDocument/2006/relationships/slide" Target="../slides/slide330.xml"/><Relationship Id="rId1" Type="http://schemas.openxmlformats.org/officeDocument/2006/relationships/notesMaster" Target="../notesMasters/notesMaster1.xml"/></Relationships>
</file>

<file path=ppt/notesSlides/_rels/notesSlide331.xml.rels><?xml version="1.0" encoding="UTF-8" standalone="yes"?>
<Relationships xmlns="http://schemas.openxmlformats.org/package/2006/relationships"><Relationship Id="rId2" Type="http://schemas.openxmlformats.org/officeDocument/2006/relationships/slide" Target="../slides/slide331.xml"/><Relationship Id="rId1" Type="http://schemas.openxmlformats.org/officeDocument/2006/relationships/notesMaster" Target="../notesMasters/notesMaster1.xml"/></Relationships>
</file>

<file path=ppt/notesSlides/_rels/notesSlide332.xml.rels><?xml version="1.0" encoding="UTF-8" standalone="yes"?>
<Relationships xmlns="http://schemas.openxmlformats.org/package/2006/relationships"><Relationship Id="rId2" Type="http://schemas.openxmlformats.org/officeDocument/2006/relationships/slide" Target="../slides/slide332.xml"/><Relationship Id="rId1" Type="http://schemas.openxmlformats.org/officeDocument/2006/relationships/notesMaster" Target="../notesMasters/notesMaster1.xml"/></Relationships>
</file>

<file path=ppt/notesSlides/_rels/notesSlide333.xml.rels><?xml version="1.0" encoding="UTF-8" standalone="yes"?>
<Relationships xmlns="http://schemas.openxmlformats.org/package/2006/relationships"><Relationship Id="rId2" Type="http://schemas.openxmlformats.org/officeDocument/2006/relationships/slide" Target="../slides/slide333.xml"/><Relationship Id="rId1" Type="http://schemas.openxmlformats.org/officeDocument/2006/relationships/notesMaster" Target="../notesMasters/notesMaster1.xml"/></Relationships>
</file>

<file path=ppt/notesSlides/_rels/notesSlide334.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335.xml.rels><?xml version="1.0" encoding="UTF-8" standalone="yes"?>
<Relationships xmlns="http://schemas.openxmlformats.org/package/2006/relationships"><Relationship Id="rId2" Type="http://schemas.openxmlformats.org/officeDocument/2006/relationships/slide" Target="../slides/slide335.xml"/><Relationship Id="rId1" Type="http://schemas.openxmlformats.org/officeDocument/2006/relationships/notesMaster" Target="../notesMasters/notesMaster1.xml"/></Relationships>
</file>

<file path=ppt/notesSlides/_rels/notesSlide336.xml.rels><?xml version="1.0" encoding="UTF-8" standalone="yes"?>
<Relationships xmlns="http://schemas.openxmlformats.org/package/2006/relationships"><Relationship Id="rId2" Type="http://schemas.openxmlformats.org/officeDocument/2006/relationships/slide" Target="../slides/slide336.xml"/><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2" Type="http://schemas.openxmlformats.org/officeDocument/2006/relationships/slide" Target="../slides/slide337.xml"/><Relationship Id="rId1" Type="http://schemas.openxmlformats.org/officeDocument/2006/relationships/notesMaster" Target="../notesMasters/notesMaster1.xml"/></Relationships>
</file>

<file path=ppt/notesSlides/_rels/notesSlide338.xml.rels><?xml version="1.0" encoding="UTF-8" standalone="yes"?>
<Relationships xmlns="http://schemas.openxmlformats.org/package/2006/relationships"><Relationship Id="rId2" Type="http://schemas.openxmlformats.org/officeDocument/2006/relationships/slide" Target="../slides/slide338.xml"/><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2" Type="http://schemas.openxmlformats.org/officeDocument/2006/relationships/slide" Target="../slides/slide339.xml"/><Relationship Id="rId1" Type="http://schemas.openxmlformats.org/officeDocument/2006/relationships/notesMaster" Target="../notesMasters/notesMaster1.xml"/></Relationships>
</file>

<file path=ppt/notesSlides/_rels/notesSlide340.xml.rels><?xml version="1.0" encoding="UTF-8" standalone="yes"?>
<Relationships xmlns="http://schemas.openxmlformats.org/package/2006/relationships"><Relationship Id="rId2" Type="http://schemas.openxmlformats.org/officeDocument/2006/relationships/slide" Target="../slides/slide340.xml"/><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2" Type="http://schemas.openxmlformats.org/officeDocument/2006/relationships/slide" Target="../slides/slide341.xml"/><Relationship Id="rId1" Type="http://schemas.openxmlformats.org/officeDocument/2006/relationships/notesMaster" Target="../notesMasters/notesMaster1.xml"/></Relationships>
</file>

<file path=ppt/notesSlides/_rels/notesSlide342.xml.rels><?xml version="1.0" encoding="UTF-8" standalone="yes"?>
<Relationships xmlns="http://schemas.openxmlformats.org/package/2006/relationships"><Relationship Id="rId2" Type="http://schemas.openxmlformats.org/officeDocument/2006/relationships/slide" Target="../slides/slide342.xml"/><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2" Type="http://schemas.openxmlformats.org/officeDocument/2006/relationships/slide" Target="../slides/slide343.xml"/><Relationship Id="rId1" Type="http://schemas.openxmlformats.org/officeDocument/2006/relationships/notesMaster" Target="../notesMasters/notesMaster1.xml"/></Relationships>
</file>

<file path=ppt/notesSlides/_rels/notesSlide344.xml.rels><?xml version="1.0" encoding="UTF-8" standalone="yes"?>
<Relationships xmlns="http://schemas.openxmlformats.org/package/2006/relationships"><Relationship Id="rId2" Type="http://schemas.openxmlformats.org/officeDocument/2006/relationships/slide" Target="../slides/slide344.xml"/><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2" Type="http://schemas.openxmlformats.org/officeDocument/2006/relationships/slide" Target="../slides/slide345.xml"/><Relationship Id="rId1" Type="http://schemas.openxmlformats.org/officeDocument/2006/relationships/notesMaster" Target="../notesMasters/notesMaster1.xml"/></Relationships>
</file>

<file path=ppt/notesSlides/_rels/notesSlide346.xml.rels><?xml version="1.0" encoding="UTF-8" standalone="yes"?>
<Relationships xmlns="http://schemas.openxmlformats.org/package/2006/relationships"><Relationship Id="rId2" Type="http://schemas.openxmlformats.org/officeDocument/2006/relationships/slide" Target="../slides/slide346.xml"/><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2" Type="http://schemas.openxmlformats.org/officeDocument/2006/relationships/slide" Target="../slides/slide347.xml"/><Relationship Id="rId1" Type="http://schemas.openxmlformats.org/officeDocument/2006/relationships/notesMaster" Target="../notesMasters/notesMaster1.xml"/></Relationships>
</file>

<file path=ppt/notesSlides/_rels/notesSlide348.xml.rels><?xml version="1.0" encoding="UTF-8" standalone="yes"?>
<Relationships xmlns="http://schemas.openxmlformats.org/package/2006/relationships"><Relationship Id="rId2" Type="http://schemas.openxmlformats.org/officeDocument/2006/relationships/slide" Target="../slides/slide348.xml"/><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2" Type="http://schemas.openxmlformats.org/officeDocument/2006/relationships/slide" Target="../slides/slide349.xml"/><Relationship Id="rId1" Type="http://schemas.openxmlformats.org/officeDocument/2006/relationships/notesMaster" Target="../notesMasters/notesMaster1.xml"/></Relationships>
</file>

<file path=ppt/notesSlides/_rels/notesSlide350.xml.rels><?xml version="1.0" encoding="UTF-8" standalone="yes"?>
<Relationships xmlns="http://schemas.openxmlformats.org/package/2006/relationships"><Relationship Id="rId2" Type="http://schemas.openxmlformats.org/officeDocument/2006/relationships/slide" Target="../slides/slide350.xml"/><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2" Type="http://schemas.openxmlformats.org/officeDocument/2006/relationships/slide" Target="../slides/slide351.xml"/><Relationship Id="rId1" Type="http://schemas.openxmlformats.org/officeDocument/2006/relationships/notesMaster" Target="../notesMasters/notesMaster1.xml"/></Relationships>
</file>

<file path=ppt/notesSlides/_rels/notesSlide352.xml.rels><?xml version="1.0" encoding="UTF-8" standalone="yes"?>
<Relationships xmlns="http://schemas.openxmlformats.org/package/2006/relationships"><Relationship Id="rId2" Type="http://schemas.openxmlformats.org/officeDocument/2006/relationships/slide" Target="../slides/slide352.xml"/><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2" Type="http://schemas.openxmlformats.org/officeDocument/2006/relationships/slide" Target="../slides/slide353.xml"/><Relationship Id="rId1" Type="http://schemas.openxmlformats.org/officeDocument/2006/relationships/notesMaster" Target="../notesMasters/notesMaster1.xml"/></Relationships>
</file>

<file path=ppt/notesSlides/_rels/notesSlide354.xml.rels><?xml version="1.0" encoding="UTF-8" standalone="yes"?>
<Relationships xmlns="http://schemas.openxmlformats.org/package/2006/relationships"><Relationship Id="rId2" Type="http://schemas.openxmlformats.org/officeDocument/2006/relationships/slide" Target="../slides/slide354.xml"/><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2" Type="http://schemas.openxmlformats.org/officeDocument/2006/relationships/slide" Target="../slides/slide355.xml"/><Relationship Id="rId1" Type="http://schemas.openxmlformats.org/officeDocument/2006/relationships/notesMaster" Target="../notesMasters/notesMaster1.xml"/></Relationships>
</file>

<file path=ppt/notesSlides/_rels/notesSlide356.xml.rels><?xml version="1.0" encoding="UTF-8" standalone="yes"?>
<Relationships xmlns="http://schemas.openxmlformats.org/package/2006/relationships"><Relationship Id="rId2" Type="http://schemas.openxmlformats.org/officeDocument/2006/relationships/slide" Target="../slides/slide356.xml"/><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2" Type="http://schemas.openxmlformats.org/officeDocument/2006/relationships/slide" Target="../slides/slide357.xml"/><Relationship Id="rId1" Type="http://schemas.openxmlformats.org/officeDocument/2006/relationships/notesMaster" Target="../notesMasters/notesMaster1.xml"/></Relationships>
</file>

<file path=ppt/notesSlides/_rels/notesSlide358.xml.rels><?xml version="1.0" encoding="UTF-8" standalone="yes"?>
<Relationships xmlns="http://schemas.openxmlformats.org/package/2006/relationships"><Relationship Id="rId2" Type="http://schemas.openxmlformats.org/officeDocument/2006/relationships/slide" Target="../slides/slide358.xml"/><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2" Type="http://schemas.openxmlformats.org/officeDocument/2006/relationships/slide" Target="../slides/slide359.xml"/><Relationship Id="rId1" Type="http://schemas.openxmlformats.org/officeDocument/2006/relationships/notesMaster" Target="../notesMasters/notesMaster1.xml"/></Relationships>
</file>

<file path=ppt/notesSlides/_rels/notesSlide360.xml.rels><?xml version="1.0" encoding="UTF-8" standalone="yes"?>
<Relationships xmlns="http://schemas.openxmlformats.org/package/2006/relationships"><Relationship Id="rId2" Type="http://schemas.openxmlformats.org/officeDocument/2006/relationships/slide" Target="../slides/slide360.xml"/><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2" Type="http://schemas.openxmlformats.org/officeDocument/2006/relationships/slide" Target="../slides/slide361.xml"/><Relationship Id="rId1" Type="http://schemas.openxmlformats.org/officeDocument/2006/relationships/notesMaster" Target="../notesMasters/notesMaster1.xml"/></Relationships>
</file>

<file path=ppt/notesSlides/_rels/notesSlide362.xml.rels><?xml version="1.0" encoding="UTF-8" standalone="yes"?>
<Relationships xmlns="http://schemas.openxmlformats.org/package/2006/relationships"><Relationship Id="rId2" Type="http://schemas.openxmlformats.org/officeDocument/2006/relationships/slide" Target="../slides/slide362.xml"/><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2" Type="http://schemas.openxmlformats.org/officeDocument/2006/relationships/slide" Target="../slides/slide363.xml"/><Relationship Id="rId1" Type="http://schemas.openxmlformats.org/officeDocument/2006/relationships/notesMaster" Target="../notesMasters/notesMaster1.xml"/></Relationships>
</file>

<file path=ppt/notesSlides/_rels/notesSlide364.xml.rels><?xml version="1.0" encoding="UTF-8" standalone="yes"?>
<Relationships xmlns="http://schemas.openxmlformats.org/package/2006/relationships"><Relationship Id="rId2" Type="http://schemas.openxmlformats.org/officeDocument/2006/relationships/slide" Target="../slides/slide364.xml"/><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2" Type="http://schemas.openxmlformats.org/officeDocument/2006/relationships/slide" Target="../slides/slide365.xml"/><Relationship Id="rId1" Type="http://schemas.openxmlformats.org/officeDocument/2006/relationships/notesMaster" Target="../notesMasters/notesMaster1.xml"/></Relationships>
</file>

<file path=ppt/notesSlides/_rels/notesSlide366.xml.rels><?xml version="1.0" encoding="UTF-8" standalone="yes"?>
<Relationships xmlns="http://schemas.openxmlformats.org/package/2006/relationships"><Relationship Id="rId2" Type="http://schemas.openxmlformats.org/officeDocument/2006/relationships/slide" Target="../slides/slide366.xml"/><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2" Type="http://schemas.openxmlformats.org/officeDocument/2006/relationships/slide" Target="../slides/slide367.xml"/><Relationship Id="rId1" Type="http://schemas.openxmlformats.org/officeDocument/2006/relationships/notesMaster" Target="../notesMasters/notesMaster1.xml"/></Relationships>
</file>

<file path=ppt/notesSlides/_rels/notesSlide368.xml.rels><?xml version="1.0" encoding="UTF-8" standalone="yes"?>
<Relationships xmlns="http://schemas.openxmlformats.org/package/2006/relationships"><Relationship Id="rId2" Type="http://schemas.openxmlformats.org/officeDocument/2006/relationships/slide" Target="../slides/slide368.xml"/><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2" Type="http://schemas.openxmlformats.org/officeDocument/2006/relationships/slide" Target="../slides/slide369.xml"/><Relationship Id="rId1" Type="http://schemas.openxmlformats.org/officeDocument/2006/relationships/notesMaster" Target="../notesMasters/notesMaster1.xml"/></Relationships>
</file>

<file path=ppt/notesSlides/_rels/notesSlide370.xml.rels><?xml version="1.0" encoding="UTF-8" standalone="yes"?>
<Relationships xmlns="http://schemas.openxmlformats.org/package/2006/relationships"><Relationship Id="rId2" Type="http://schemas.openxmlformats.org/officeDocument/2006/relationships/slide" Target="../slides/slide370.xml"/><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2" Type="http://schemas.openxmlformats.org/officeDocument/2006/relationships/slide" Target="../slides/slide371.xml"/><Relationship Id="rId1" Type="http://schemas.openxmlformats.org/officeDocument/2006/relationships/notesMaster" Target="../notesMasters/notesMaster1.xml"/></Relationships>
</file>

<file path=ppt/notesSlides/_rels/notesSlide372.xml.rels><?xml version="1.0" encoding="UTF-8" standalone="yes"?>
<Relationships xmlns="http://schemas.openxmlformats.org/package/2006/relationships"><Relationship Id="rId2" Type="http://schemas.openxmlformats.org/officeDocument/2006/relationships/slide" Target="../slides/slide372.xml"/><Relationship Id="rId1" Type="http://schemas.openxmlformats.org/officeDocument/2006/relationships/notesMaster" Target="../notesMasters/notesMaster1.xml"/></Relationships>
</file>

<file path=ppt/notesSlides/_rels/notesSlide373.xml.rels><?xml version="1.0" encoding="UTF-8" standalone="yes"?>
<Relationships xmlns="http://schemas.openxmlformats.org/package/2006/relationships"><Relationship Id="rId2" Type="http://schemas.openxmlformats.org/officeDocument/2006/relationships/slide" Target="../slides/slide373.xml"/><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2" Type="http://schemas.openxmlformats.org/officeDocument/2006/relationships/slide" Target="../slides/slide374.xml"/><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2" Type="http://schemas.openxmlformats.org/officeDocument/2006/relationships/slide" Target="../slides/slide375.xml"/><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2" Type="http://schemas.openxmlformats.org/officeDocument/2006/relationships/slide" Target="../slides/slide376.xml"/><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2" Type="http://schemas.openxmlformats.org/officeDocument/2006/relationships/slide" Target="../slides/slide377.xml"/><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2" Type="http://schemas.openxmlformats.org/officeDocument/2006/relationships/slide" Target="../slides/slide378.xml"/><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2" Type="http://schemas.openxmlformats.org/officeDocument/2006/relationships/slide" Target="../slides/slide379.xml"/><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2" Type="http://schemas.openxmlformats.org/officeDocument/2006/relationships/slide" Target="../slides/slide380.xml"/><Relationship Id="rId1" Type="http://schemas.openxmlformats.org/officeDocument/2006/relationships/notesMaster" Target="../notesMasters/notesMaster1.xml"/></Relationships>
</file>

<file path=ppt/notesSlides/_rels/notesSlide381.xml.rels><?xml version="1.0" encoding="UTF-8" standalone="yes"?>
<Relationships xmlns="http://schemas.openxmlformats.org/package/2006/relationships"><Relationship Id="rId2" Type="http://schemas.openxmlformats.org/officeDocument/2006/relationships/slide" Target="../slides/slide381.xml"/><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2" Type="http://schemas.openxmlformats.org/officeDocument/2006/relationships/slide" Target="../slides/slide382.xml"/><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2" Type="http://schemas.openxmlformats.org/officeDocument/2006/relationships/slide" Target="../slides/slide383.xml"/><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2" Type="http://schemas.openxmlformats.org/officeDocument/2006/relationships/slide" Target="../slides/slide384.xml"/><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2" Type="http://schemas.openxmlformats.org/officeDocument/2006/relationships/slide" Target="../slides/slide385.xml"/><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2" Type="http://schemas.openxmlformats.org/officeDocument/2006/relationships/slide" Target="../slides/slide386.xml"/><Relationship Id="rId1" Type="http://schemas.openxmlformats.org/officeDocument/2006/relationships/notesMaster" Target="../notesMasters/notesMaster1.xml"/></Relationships>
</file>

<file path=ppt/notesSlides/_rels/notesSlide387.xml.rels><?xml version="1.0" encoding="UTF-8" standalone="yes"?>
<Relationships xmlns="http://schemas.openxmlformats.org/package/2006/relationships"><Relationship Id="rId2" Type="http://schemas.openxmlformats.org/officeDocument/2006/relationships/slide" Target="../slides/slide387.xml"/><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2" Type="http://schemas.openxmlformats.org/officeDocument/2006/relationships/slide" Target="../slides/slide388.xml"/><Relationship Id="rId1" Type="http://schemas.openxmlformats.org/officeDocument/2006/relationships/notesMaster" Target="../notesMasters/notesMaster1.xml"/></Relationships>
</file>

<file path=ppt/notesSlides/_rels/notesSlide389.xml.rels><?xml version="1.0" encoding="UTF-8" standalone="yes"?>
<Relationships xmlns="http://schemas.openxmlformats.org/package/2006/relationships"><Relationship Id="rId2" Type="http://schemas.openxmlformats.org/officeDocument/2006/relationships/slide" Target="../slides/slide389.xml"/><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2" Type="http://schemas.openxmlformats.org/officeDocument/2006/relationships/slide" Target="../slides/slide390.xml"/><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2" Type="http://schemas.openxmlformats.org/officeDocument/2006/relationships/slide" Target="../slides/slide391.xml"/><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2" Type="http://schemas.openxmlformats.org/officeDocument/2006/relationships/slide" Target="../slides/slide392.xml"/><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2" Type="http://schemas.openxmlformats.org/officeDocument/2006/relationships/slide" Target="../slides/slide393.xml"/><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2" Type="http://schemas.openxmlformats.org/officeDocument/2006/relationships/slide" Target="../slides/slide394.xml"/><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2" Type="http://schemas.openxmlformats.org/officeDocument/2006/relationships/slide" Target="../slides/slide395.xml"/><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2" Type="http://schemas.openxmlformats.org/officeDocument/2006/relationships/slide" Target="../slides/slide396.xml"/><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2" Type="http://schemas.openxmlformats.org/officeDocument/2006/relationships/slide" Target="../slides/slide397.xml"/><Relationship Id="rId1" Type="http://schemas.openxmlformats.org/officeDocument/2006/relationships/notesMaster" Target="../notesMasters/notesMaster1.xml"/></Relationships>
</file>

<file path=ppt/notesSlides/_rels/notesSlide398.xml.rels><?xml version="1.0" encoding="UTF-8" standalone="yes"?>
<Relationships xmlns="http://schemas.openxmlformats.org/package/2006/relationships"><Relationship Id="rId2" Type="http://schemas.openxmlformats.org/officeDocument/2006/relationships/slide" Target="../slides/slide398.xml"/><Relationship Id="rId1" Type="http://schemas.openxmlformats.org/officeDocument/2006/relationships/notesMaster" Target="../notesMasters/notesMaster1.xml"/></Relationships>
</file>

<file path=ppt/notesSlides/_rels/notesSlide399.xml.rels><?xml version="1.0" encoding="UTF-8" standalone="yes"?>
<Relationships xmlns="http://schemas.openxmlformats.org/package/2006/relationships"><Relationship Id="rId2" Type="http://schemas.openxmlformats.org/officeDocument/2006/relationships/slide" Target="../slides/slide399.xml"/><Relationship Id="rId1" Type="http://schemas.openxmlformats.org/officeDocument/2006/relationships/notesMaster" Target="../notesMasters/notesMaster1.xml"/></Relationships>
</file>

<file path=ppt/notesSlides/_rels/notesSlide400.xml.rels><?xml version="1.0" encoding="UTF-8" standalone="yes"?>
<Relationships xmlns="http://schemas.openxmlformats.org/package/2006/relationships"><Relationship Id="rId2" Type="http://schemas.openxmlformats.org/officeDocument/2006/relationships/slide" Target="../slides/slide400.xml"/><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2" Type="http://schemas.openxmlformats.org/officeDocument/2006/relationships/slide" Target="../slides/slide401.xml"/><Relationship Id="rId1" Type="http://schemas.openxmlformats.org/officeDocument/2006/relationships/notesMaster" Target="../notesMasters/notesMaster1.xml"/></Relationships>
</file>

<file path=ppt/notesSlides/_rels/notesSlide402.xml.rels><?xml version="1.0" encoding="UTF-8" standalone="yes"?>
<Relationships xmlns="http://schemas.openxmlformats.org/package/2006/relationships"><Relationship Id="rId2" Type="http://schemas.openxmlformats.org/officeDocument/2006/relationships/slide" Target="../slides/slide402.xml"/><Relationship Id="rId1" Type="http://schemas.openxmlformats.org/officeDocument/2006/relationships/notesMaster" Target="../notesMasters/notesMaster1.xml"/></Relationships>
</file>

<file path=ppt/notesSlides/_rels/notesSlide403.xml.rels><?xml version="1.0" encoding="UTF-8" standalone="yes"?>
<Relationships xmlns="http://schemas.openxmlformats.org/package/2006/relationships"><Relationship Id="rId2" Type="http://schemas.openxmlformats.org/officeDocument/2006/relationships/slide" Target="../slides/slide403.xml"/><Relationship Id="rId1" Type="http://schemas.openxmlformats.org/officeDocument/2006/relationships/notesMaster" Target="../notesMasters/notesMaster1.xml"/></Relationships>
</file>

<file path=ppt/notesSlides/_rels/notesSlide404.xml.rels><?xml version="1.0" encoding="UTF-8" standalone="yes"?>
<Relationships xmlns="http://schemas.openxmlformats.org/package/2006/relationships"><Relationship Id="rId2" Type="http://schemas.openxmlformats.org/officeDocument/2006/relationships/slide" Target="../slides/slide404.xml"/><Relationship Id="rId1" Type="http://schemas.openxmlformats.org/officeDocument/2006/relationships/notesMaster" Target="../notesMasters/notesMaster1.xml"/></Relationships>
</file>

<file path=ppt/notesSlides/_rels/notesSlide405.xml.rels><?xml version="1.0" encoding="UTF-8" standalone="yes"?>
<Relationships xmlns="http://schemas.openxmlformats.org/package/2006/relationships"><Relationship Id="rId2" Type="http://schemas.openxmlformats.org/officeDocument/2006/relationships/slide" Target="../slides/slide405.xml"/><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2" Type="http://schemas.openxmlformats.org/officeDocument/2006/relationships/slide" Target="../slides/slide406.xml"/><Relationship Id="rId1" Type="http://schemas.openxmlformats.org/officeDocument/2006/relationships/notesMaster" Target="../notesMasters/notesMaster1.xml"/></Relationships>
</file>

<file path=ppt/notesSlides/_rels/notesSlide407.xml.rels><?xml version="1.0" encoding="UTF-8" standalone="yes"?>
<Relationships xmlns="http://schemas.openxmlformats.org/package/2006/relationships"><Relationship Id="rId2" Type="http://schemas.openxmlformats.org/officeDocument/2006/relationships/slide" Target="../slides/slide407.xml"/><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2" Type="http://schemas.openxmlformats.org/officeDocument/2006/relationships/slide" Target="../slides/slide408.xml"/><Relationship Id="rId1" Type="http://schemas.openxmlformats.org/officeDocument/2006/relationships/notesMaster" Target="../notesMasters/notesMaster1.xml"/></Relationships>
</file>

<file path=ppt/notesSlides/_rels/notesSlide409.xml.rels><?xml version="1.0" encoding="UTF-8" standalone="yes"?>
<Relationships xmlns="http://schemas.openxmlformats.org/package/2006/relationships"><Relationship Id="rId2" Type="http://schemas.openxmlformats.org/officeDocument/2006/relationships/slide" Target="../slides/slide409.xml"/><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2" Type="http://schemas.openxmlformats.org/officeDocument/2006/relationships/slide" Target="../slides/slide410.xml"/><Relationship Id="rId1" Type="http://schemas.openxmlformats.org/officeDocument/2006/relationships/notesMaster" Target="../notesMasters/notesMaster1.xml"/></Relationships>
</file>

<file path=ppt/notesSlides/_rels/notesSlide411.xml.rels><?xml version="1.0" encoding="UTF-8" standalone="yes"?>
<Relationships xmlns="http://schemas.openxmlformats.org/package/2006/relationships"><Relationship Id="rId2" Type="http://schemas.openxmlformats.org/officeDocument/2006/relationships/slide" Target="../slides/slide411.xml"/><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2" Type="http://schemas.openxmlformats.org/officeDocument/2006/relationships/slide" Target="../slides/slide412.xml"/><Relationship Id="rId1" Type="http://schemas.openxmlformats.org/officeDocument/2006/relationships/notesMaster" Target="../notesMasters/notesMaster1.xml"/></Relationships>
</file>

<file path=ppt/notesSlides/_rels/notesSlide413.xml.rels><?xml version="1.0" encoding="UTF-8" standalone="yes"?>
<Relationships xmlns="http://schemas.openxmlformats.org/package/2006/relationships"><Relationship Id="rId2" Type="http://schemas.openxmlformats.org/officeDocument/2006/relationships/slide" Target="../slides/slide413.xml"/><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2" Type="http://schemas.openxmlformats.org/officeDocument/2006/relationships/slide" Target="../slides/slide414.xml"/><Relationship Id="rId1" Type="http://schemas.openxmlformats.org/officeDocument/2006/relationships/notesMaster" Target="../notesMasters/notesMaster1.xml"/></Relationships>
</file>

<file path=ppt/notesSlides/_rels/notesSlide415.xml.rels><?xml version="1.0" encoding="UTF-8" standalone="yes"?>
<Relationships xmlns="http://schemas.openxmlformats.org/package/2006/relationships"><Relationship Id="rId2" Type="http://schemas.openxmlformats.org/officeDocument/2006/relationships/slide" Target="../slides/slide415.xml"/><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2" Type="http://schemas.openxmlformats.org/officeDocument/2006/relationships/slide" Target="../slides/slide416.xml"/><Relationship Id="rId1" Type="http://schemas.openxmlformats.org/officeDocument/2006/relationships/notesMaster" Target="../notesMasters/notesMaster1.xml"/></Relationships>
</file>

<file path=ppt/notesSlides/_rels/notesSlide417.xml.rels><?xml version="1.0" encoding="UTF-8" standalone="yes"?>
<Relationships xmlns="http://schemas.openxmlformats.org/package/2006/relationships"><Relationship Id="rId2" Type="http://schemas.openxmlformats.org/officeDocument/2006/relationships/slide" Target="../slides/slide417.xml"/><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2" Type="http://schemas.openxmlformats.org/officeDocument/2006/relationships/slide" Target="../slides/slide418.xml"/><Relationship Id="rId1" Type="http://schemas.openxmlformats.org/officeDocument/2006/relationships/notesMaster" Target="../notesMasters/notesMaster1.xml"/></Relationships>
</file>

<file path=ppt/notesSlides/_rels/notesSlide419.xml.rels><?xml version="1.0" encoding="UTF-8" standalone="yes"?>
<Relationships xmlns="http://schemas.openxmlformats.org/package/2006/relationships"><Relationship Id="rId2" Type="http://schemas.openxmlformats.org/officeDocument/2006/relationships/slide" Target="../slides/slide419.xml"/><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2" Type="http://schemas.openxmlformats.org/officeDocument/2006/relationships/slide" Target="../slides/slide420.xml"/><Relationship Id="rId1" Type="http://schemas.openxmlformats.org/officeDocument/2006/relationships/notesMaster" Target="../notesMasters/notesMaster1.xml"/></Relationships>
</file>

<file path=ppt/notesSlides/_rels/notesSlide421.xml.rels><?xml version="1.0" encoding="UTF-8" standalone="yes"?>
<Relationships xmlns="http://schemas.openxmlformats.org/package/2006/relationships"><Relationship Id="rId2" Type="http://schemas.openxmlformats.org/officeDocument/2006/relationships/slide" Target="../slides/slide421.xml"/><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2" Type="http://schemas.openxmlformats.org/officeDocument/2006/relationships/slide" Target="../slides/slide422.xml"/><Relationship Id="rId1" Type="http://schemas.openxmlformats.org/officeDocument/2006/relationships/notesMaster" Target="../notesMasters/notesMaster1.xml"/></Relationships>
</file>

<file path=ppt/notesSlides/_rels/notesSlide423.xml.rels><?xml version="1.0" encoding="UTF-8" standalone="yes"?>
<Relationships xmlns="http://schemas.openxmlformats.org/package/2006/relationships"><Relationship Id="rId2" Type="http://schemas.openxmlformats.org/officeDocument/2006/relationships/slide" Target="../slides/slide423.xml"/><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2" Type="http://schemas.openxmlformats.org/officeDocument/2006/relationships/slide" Target="../slides/slide424.xml"/><Relationship Id="rId1" Type="http://schemas.openxmlformats.org/officeDocument/2006/relationships/notesMaster" Target="../notesMasters/notesMaster1.xml"/></Relationships>
</file>

<file path=ppt/notesSlides/_rels/notesSlide425.xml.rels><?xml version="1.0" encoding="UTF-8" standalone="yes"?>
<Relationships xmlns="http://schemas.openxmlformats.org/package/2006/relationships"><Relationship Id="rId2" Type="http://schemas.openxmlformats.org/officeDocument/2006/relationships/slide" Target="../slides/slide425.xml"/><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2" Type="http://schemas.openxmlformats.org/officeDocument/2006/relationships/slide" Target="../slides/slide426.xml"/><Relationship Id="rId1" Type="http://schemas.openxmlformats.org/officeDocument/2006/relationships/notesMaster" Target="../notesMasters/notesMaster1.xml"/></Relationships>
</file>

<file path=ppt/notesSlides/_rels/notesSlide427.xml.rels><?xml version="1.0" encoding="UTF-8" standalone="yes"?>
<Relationships xmlns="http://schemas.openxmlformats.org/package/2006/relationships"><Relationship Id="rId2" Type="http://schemas.openxmlformats.org/officeDocument/2006/relationships/slide" Target="../slides/slide427.xml"/><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2" Type="http://schemas.openxmlformats.org/officeDocument/2006/relationships/slide" Target="../slides/slide428.xml"/><Relationship Id="rId1" Type="http://schemas.openxmlformats.org/officeDocument/2006/relationships/notesMaster" Target="../notesMasters/notesMaster1.xml"/></Relationships>
</file>

<file path=ppt/notesSlides/_rels/notesSlide429.xml.rels><?xml version="1.0" encoding="UTF-8" standalone="yes"?>
<Relationships xmlns="http://schemas.openxmlformats.org/package/2006/relationships"><Relationship Id="rId2" Type="http://schemas.openxmlformats.org/officeDocument/2006/relationships/slide" Target="../slides/slide429.xml"/><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2" Type="http://schemas.openxmlformats.org/officeDocument/2006/relationships/slide" Target="../slides/slide430.xml"/><Relationship Id="rId1" Type="http://schemas.openxmlformats.org/officeDocument/2006/relationships/notesMaster" Target="../notesMasters/notesMaster1.xml"/></Relationships>
</file>

<file path=ppt/notesSlides/_rels/notesSlide431.xml.rels><?xml version="1.0" encoding="UTF-8" standalone="yes"?>
<Relationships xmlns="http://schemas.openxmlformats.org/package/2006/relationships"><Relationship Id="rId2" Type="http://schemas.openxmlformats.org/officeDocument/2006/relationships/slide" Target="../slides/slide431.xml"/><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2" Type="http://schemas.openxmlformats.org/officeDocument/2006/relationships/slide" Target="../slides/slide432.xml"/><Relationship Id="rId1" Type="http://schemas.openxmlformats.org/officeDocument/2006/relationships/notesMaster" Target="../notesMasters/notesMaster1.xml"/></Relationships>
</file>

<file path=ppt/notesSlides/_rels/notesSlide433.xml.rels><?xml version="1.0" encoding="UTF-8" standalone="yes"?>
<Relationships xmlns="http://schemas.openxmlformats.org/package/2006/relationships"><Relationship Id="rId2" Type="http://schemas.openxmlformats.org/officeDocument/2006/relationships/slide" Target="../slides/slide433.xml"/><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2" Type="http://schemas.openxmlformats.org/officeDocument/2006/relationships/slide" Target="../slides/slide434.xml"/><Relationship Id="rId1" Type="http://schemas.openxmlformats.org/officeDocument/2006/relationships/notesMaster" Target="../notesMasters/notesMaster1.xml"/></Relationships>
</file>

<file path=ppt/notesSlides/_rels/notesSlide435.xml.rels><?xml version="1.0" encoding="UTF-8" standalone="yes"?>
<Relationships xmlns="http://schemas.openxmlformats.org/package/2006/relationships"><Relationship Id="rId2" Type="http://schemas.openxmlformats.org/officeDocument/2006/relationships/slide" Target="../slides/slide435.xml"/><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2" Type="http://schemas.openxmlformats.org/officeDocument/2006/relationships/slide" Target="../slides/slide436.xml"/><Relationship Id="rId1" Type="http://schemas.openxmlformats.org/officeDocument/2006/relationships/notesMaster" Target="../notesMasters/notesMaster1.xml"/></Relationships>
</file>

<file path=ppt/notesSlides/_rels/notesSlide437.xml.rels><?xml version="1.0" encoding="UTF-8" standalone="yes"?>
<Relationships xmlns="http://schemas.openxmlformats.org/package/2006/relationships"><Relationship Id="rId2" Type="http://schemas.openxmlformats.org/officeDocument/2006/relationships/slide" Target="../slides/slide437.xml"/><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2" Type="http://schemas.openxmlformats.org/officeDocument/2006/relationships/slide" Target="../slides/slide438.xml"/><Relationship Id="rId1" Type="http://schemas.openxmlformats.org/officeDocument/2006/relationships/notesMaster" Target="../notesMasters/notesMaster1.xml"/></Relationships>
</file>

<file path=ppt/notesSlides/_rels/notesSlide439.xml.rels><?xml version="1.0" encoding="UTF-8" standalone="yes"?>
<Relationships xmlns="http://schemas.openxmlformats.org/package/2006/relationships"><Relationship Id="rId2" Type="http://schemas.openxmlformats.org/officeDocument/2006/relationships/slide" Target="../slides/slide439.xml"/><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2" Type="http://schemas.openxmlformats.org/officeDocument/2006/relationships/slide" Target="../slides/slide440.xml"/><Relationship Id="rId1" Type="http://schemas.openxmlformats.org/officeDocument/2006/relationships/notesMaster" Target="../notesMasters/notesMaster1.xml"/></Relationships>
</file>

<file path=ppt/notesSlides/_rels/notesSlide441.xml.rels><?xml version="1.0" encoding="UTF-8" standalone="yes"?>
<Relationships xmlns="http://schemas.openxmlformats.org/package/2006/relationships"><Relationship Id="rId2" Type="http://schemas.openxmlformats.org/officeDocument/2006/relationships/slide" Target="../slides/slide441.xml"/><Relationship Id="rId1" Type="http://schemas.openxmlformats.org/officeDocument/2006/relationships/notesMaster" Target="../notesMasters/notesMaster1.xml"/></Relationships>
</file>

<file path=ppt/notesSlides/_rels/notesSlide442.xml.rels><?xml version="1.0" encoding="UTF-8" standalone="yes"?>
<Relationships xmlns="http://schemas.openxmlformats.org/package/2006/relationships"><Relationship Id="rId2" Type="http://schemas.openxmlformats.org/officeDocument/2006/relationships/slide" Target="../slides/slide442.xml"/><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2" Type="http://schemas.openxmlformats.org/officeDocument/2006/relationships/slide" Target="../slides/slide443.xml"/><Relationship Id="rId1" Type="http://schemas.openxmlformats.org/officeDocument/2006/relationships/notesMaster" Target="../notesMasters/notesMaster1.xml"/></Relationships>
</file>

<file path=ppt/notesSlides/_rels/notesSlide444.xml.rels><?xml version="1.0" encoding="UTF-8" standalone="yes"?>
<Relationships xmlns="http://schemas.openxmlformats.org/package/2006/relationships"><Relationship Id="rId2" Type="http://schemas.openxmlformats.org/officeDocument/2006/relationships/slide" Target="../slides/slide444.xml"/><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2" Type="http://schemas.openxmlformats.org/officeDocument/2006/relationships/slide" Target="../slides/slide445.xml"/><Relationship Id="rId1" Type="http://schemas.openxmlformats.org/officeDocument/2006/relationships/notesMaster" Target="../notesMasters/notesMaster1.xml"/></Relationships>
</file>

<file path=ppt/notesSlides/_rels/notesSlide446.xml.rels><?xml version="1.0" encoding="UTF-8" standalone="yes"?>
<Relationships xmlns="http://schemas.openxmlformats.org/package/2006/relationships"><Relationship Id="rId2" Type="http://schemas.openxmlformats.org/officeDocument/2006/relationships/slide" Target="../slides/slide446.xml"/><Relationship Id="rId1" Type="http://schemas.openxmlformats.org/officeDocument/2006/relationships/notesMaster" Target="../notesMasters/notesMaster1.xml"/></Relationships>
</file>

<file path=ppt/notesSlides/_rels/notesSlide447.xml.rels><?xml version="1.0" encoding="UTF-8" standalone="yes"?>
<Relationships xmlns="http://schemas.openxmlformats.org/package/2006/relationships"><Relationship Id="rId2" Type="http://schemas.openxmlformats.org/officeDocument/2006/relationships/slide" Target="../slides/slide447.xml"/><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2" Type="http://schemas.openxmlformats.org/officeDocument/2006/relationships/slide" Target="../slides/slide448.xml"/><Relationship Id="rId1" Type="http://schemas.openxmlformats.org/officeDocument/2006/relationships/notesMaster" Target="../notesMasters/notesMaster1.xml"/></Relationships>
</file>

<file path=ppt/notesSlides/_rels/notesSlide449.xml.rels><?xml version="1.0" encoding="UTF-8" standalone="yes"?>
<Relationships xmlns="http://schemas.openxmlformats.org/package/2006/relationships"><Relationship Id="rId2" Type="http://schemas.openxmlformats.org/officeDocument/2006/relationships/slide" Target="../slides/slide449.xml"/><Relationship Id="rId1" Type="http://schemas.openxmlformats.org/officeDocument/2006/relationships/notesMaster" Target="../notesMasters/notesMaster1.xml"/></Relationships>
</file>

<file path=ppt/notesSlides/_rels/notesSlide450.xml.rels><?xml version="1.0" encoding="UTF-8" standalone="yes"?>
<Relationships xmlns="http://schemas.openxmlformats.org/package/2006/relationships"><Relationship Id="rId2" Type="http://schemas.openxmlformats.org/officeDocument/2006/relationships/slide" Target="../slides/slide450.xml"/><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2" Type="http://schemas.openxmlformats.org/officeDocument/2006/relationships/slide" Target="../slides/slide451.xml"/><Relationship Id="rId1" Type="http://schemas.openxmlformats.org/officeDocument/2006/relationships/notesMaster" Target="../notesMasters/notesMaster1.xml"/></Relationships>
</file>

<file path=ppt/notesSlides/_rels/notesSlide452.xml.rels><?xml version="1.0" encoding="UTF-8" standalone="yes"?>
<Relationships xmlns="http://schemas.openxmlformats.org/package/2006/relationships"><Relationship Id="rId2" Type="http://schemas.openxmlformats.org/officeDocument/2006/relationships/slide" Target="../slides/slide452.xml"/><Relationship Id="rId1" Type="http://schemas.openxmlformats.org/officeDocument/2006/relationships/notesMaster" Target="../notesMasters/notesMaster1.xml"/></Relationships>
</file>

<file path=ppt/notesSlides/_rels/notesSlide453.xml.rels><?xml version="1.0" encoding="UTF-8" standalone="yes"?>
<Relationships xmlns="http://schemas.openxmlformats.org/package/2006/relationships"><Relationship Id="rId2" Type="http://schemas.openxmlformats.org/officeDocument/2006/relationships/slide" Target="../slides/slide453.xml"/><Relationship Id="rId1" Type="http://schemas.openxmlformats.org/officeDocument/2006/relationships/notesMaster" Target="../notesMasters/notesMaster1.xml"/></Relationships>
</file>

<file path=ppt/notesSlides/_rels/notesSlide454.xml.rels><?xml version="1.0" encoding="UTF-8" standalone="yes"?>
<Relationships xmlns="http://schemas.openxmlformats.org/package/2006/relationships"><Relationship Id="rId2" Type="http://schemas.openxmlformats.org/officeDocument/2006/relationships/slide" Target="../slides/slide454.xml"/><Relationship Id="rId1" Type="http://schemas.openxmlformats.org/officeDocument/2006/relationships/notesMaster" Target="../notesMasters/notesMaster1.xml"/></Relationships>
</file>

<file path=ppt/notesSlides/_rels/notesSlide455.xml.rels><?xml version="1.0" encoding="UTF-8" standalone="yes"?>
<Relationships xmlns="http://schemas.openxmlformats.org/package/2006/relationships"><Relationship Id="rId2" Type="http://schemas.openxmlformats.org/officeDocument/2006/relationships/slide" Target="../slides/slide455.xml"/><Relationship Id="rId1" Type="http://schemas.openxmlformats.org/officeDocument/2006/relationships/notesMaster" Target="../notesMasters/notesMaster1.xml"/></Relationships>
</file>

<file path=ppt/notesSlides/_rels/notesSlide456.xml.rels><?xml version="1.0" encoding="UTF-8" standalone="yes"?>
<Relationships xmlns="http://schemas.openxmlformats.org/package/2006/relationships"><Relationship Id="rId2" Type="http://schemas.openxmlformats.org/officeDocument/2006/relationships/slide" Target="../slides/slide456.xml"/><Relationship Id="rId1" Type="http://schemas.openxmlformats.org/officeDocument/2006/relationships/notesMaster" Target="../notesMasters/notesMaster1.xml"/></Relationships>
</file>

<file path=ppt/notesSlides/_rels/notesSlide457.xml.rels><?xml version="1.0" encoding="UTF-8" standalone="yes"?>
<Relationships xmlns="http://schemas.openxmlformats.org/package/2006/relationships"><Relationship Id="rId2" Type="http://schemas.openxmlformats.org/officeDocument/2006/relationships/slide" Target="../slides/slide457.xml"/><Relationship Id="rId1" Type="http://schemas.openxmlformats.org/officeDocument/2006/relationships/notesMaster" Target="../notesMasters/notesMaster1.xml"/></Relationships>
</file>

<file path=ppt/notesSlides/_rels/notesSlide458.xml.rels><?xml version="1.0" encoding="UTF-8" standalone="yes"?>
<Relationships xmlns="http://schemas.openxmlformats.org/package/2006/relationships"><Relationship Id="rId2" Type="http://schemas.openxmlformats.org/officeDocument/2006/relationships/slide" Target="../slides/slide458.xml"/><Relationship Id="rId1" Type="http://schemas.openxmlformats.org/officeDocument/2006/relationships/notesMaster" Target="../notesMasters/notesMaster1.xml"/></Relationships>
</file>

<file path=ppt/notesSlides/_rels/notesSlide459.xml.rels><?xml version="1.0" encoding="UTF-8" standalone="yes"?>
<Relationships xmlns="http://schemas.openxmlformats.org/package/2006/relationships"><Relationship Id="rId2" Type="http://schemas.openxmlformats.org/officeDocument/2006/relationships/slide" Target="../slides/slide459.xml"/><Relationship Id="rId1" Type="http://schemas.openxmlformats.org/officeDocument/2006/relationships/notesMaster" Target="../notesMasters/notesMaster1.xml"/></Relationships>
</file>

<file path=ppt/notesSlides/_rels/notesSlide460.xml.rels><?xml version="1.0" encoding="UTF-8" standalone="yes"?>
<Relationships xmlns="http://schemas.openxmlformats.org/package/2006/relationships"><Relationship Id="rId2" Type="http://schemas.openxmlformats.org/officeDocument/2006/relationships/slide" Target="../slides/slide460.xml"/><Relationship Id="rId1" Type="http://schemas.openxmlformats.org/officeDocument/2006/relationships/notesMaster" Target="../notesMasters/notesMaster1.xml"/></Relationships>
</file>

<file path=ppt/notesSlides/_rels/notesSlide461.xml.rels><?xml version="1.0" encoding="UTF-8" standalone="yes"?>
<Relationships xmlns="http://schemas.openxmlformats.org/package/2006/relationships"><Relationship Id="rId2" Type="http://schemas.openxmlformats.org/officeDocument/2006/relationships/slide" Target="../slides/slide461.xml"/><Relationship Id="rId1" Type="http://schemas.openxmlformats.org/officeDocument/2006/relationships/notesMaster" Target="../notesMasters/notesMaster1.xml"/></Relationships>
</file>

<file path=ppt/notesSlides/_rels/notesSlide462.xml.rels><?xml version="1.0" encoding="UTF-8" standalone="yes"?>
<Relationships xmlns="http://schemas.openxmlformats.org/package/2006/relationships"><Relationship Id="rId2" Type="http://schemas.openxmlformats.org/officeDocument/2006/relationships/slide" Target="../slides/slide462.xml"/><Relationship Id="rId1" Type="http://schemas.openxmlformats.org/officeDocument/2006/relationships/notesMaster" Target="../notesMasters/notesMaster1.xml"/></Relationships>
</file>

<file path=ppt/notesSlides/_rels/notesSlide463.xml.rels><?xml version="1.0" encoding="UTF-8" standalone="yes"?>
<Relationships xmlns="http://schemas.openxmlformats.org/package/2006/relationships"><Relationship Id="rId2" Type="http://schemas.openxmlformats.org/officeDocument/2006/relationships/slide" Target="../slides/slide463.xml"/><Relationship Id="rId1" Type="http://schemas.openxmlformats.org/officeDocument/2006/relationships/notesMaster" Target="../notesMasters/notesMaster1.xml"/></Relationships>
</file>

<file path=ppt/notesSlides/_rels/notesSlide464.xml.rels><?xml version="1.0" encoding="UTF-8" standalone="yes"?>
<Relationships xmlns="http://schemas.openxmlformats.org/package/2006/relationships"><Relationship Id="rId2" Type="http://schemas.openxmlformats.org/officeDocument/2006/relationships/slide" Target="../slides/slide464.xml"/><Relationship Id="rId1" Type="http://schemas.openxmlformats.org/officeDocument/2006/relationships/notesMaster" Target="../notesMasters/notesMaster1.xml"/></Relationships>
</file>

<file path=ppt/notesSlides/_rels/notesSlide465.xml.rels><?xml version="1.0" encoding="UTF-8" standalone="yes"?>
<Relationships xmlns="http://schemas.openxmlformats.org/package/2006/relationships"><Relationship Id="rId2" Type="http://schemas.openxmlformats.org/officeDocument/2006/relationships/slide" Target="../slides/slide465.xml"/><Relationship Id="rId1" Type="http://schemas.openxmlformats.org/officeDocument/2006/relationships/notesMaster" Target="../notesMasters/notesMaster1.xml"/></Relationships>
</file>

<file path=ppt/notesSlides/_rels/notesSlide466.xml.rels><?xml version="1.0" encoding="UTF-8" standalone="yes"?>
<Relationships xmlns="http://schemas.openxmlformats.org/package/2006/relationships"><Relationship Id="rId2" Type="http://schemas.openxmlformats.org/officeDocument/2006/relationships/slide" Target="../slides/slide466.xml"/><Relationship Id="rId1" Type="http://schemas.openxmlformats.org/officeDocument/2006/relationships/notesMaster" Target="../notesMasters/notesMaster1.xml"/></Relationships>
</file>

<file path=ppt/notesSlides/_rels/notesSlide467.xml.rels><?xml version="1.0" encoding="UTF-8" standalone="yes"?>
<Relationships xmlns="http://schemas.openxmlformats.org/package/2006/relationships"><Relationship Id="rId2" Type="http://schemas.openxmlformats.org/officeDocument/2006/relationships/slide" Target="../slides/slide467.xml"/><Relationship Id="rId1" Type="http://schemas.openxmlformats.org/officeDocument/2006/relationships/notesMaster" Target="../notesMasters/notesMaster1.xml"/></Relationships>
</file>

<file path=ppt/notesSlides/_rels/notesSlide468.xml.rels><?xml version="1.0" encoding="UTF-8" standalone="yes"?>
<Relationships xmlns="http://schemas.openxmlformats.org/package/2006/relationships"><Relationship Id="rId2" Type="http://schemas.openxmlformats.org/officeDocument/2006/relationships/slide" Target="../slides/slide468.xml"/><Relationship Id="rId1" Type="http://schemas.openxmlformats.org/officeDocument/2006/relationships/notesMaster" Target="../notesMasters/notesMaster1.xml"/></Relationships>
</file>

<file path=ppt/notesSlides/_rels/notesSlide469.xml.rels><?xml version="1.0" encoding="UTF-8" standalone="yes"?>
<Relationships xmlns="http://schemas.openxmlformats.org/package/2006/relationships"><Relationship Id="rId2" Type="http://schemas.openxmlformats.org/officeDocument/2006/relationships/slide" Target="../slides/slide469.xml"/><Relationship Id="rId1" Type="http://schemas.openxmlformats.org/officeDocument/2006/relationships/notesMaster" Target="../notesMasters/notesMaster1.xml"/></Relationships>
</file>

<file path=ppt/notesSlides/_rels/notesSlide470.xml.rels><?xml version="1.0" encoding="UTF-8" standalone="yes"?>
<Relationships xmlns="http://schemas.openxmlformats.org/package/2006/relationships"><Relationship Id="rId2" Type="http://schemas.openxmlformats.org/officeDocument/2006/relationships/slide" Target="../slides/slide470.xml"/><Relationship Id="rId1" Type="http://schemas.openxmlformats.org/officeDocument/2006/relationships/notesMaster" Target="../notesMasters/notesMaster1.xml"/></Relationships>
</file>

<file path=ppt/notesSlides/_rels/notesSlide471.xml.rels><?xml version="1.0" encoding="UTF-8" standalone="yes"?>
<Relationships xmlns="http://schemas.openxmlformats.org/package/2006/relationships"><Relationship Id="rId2" Type="http://schemas.openxmlformats.org/officeDocument/2006/relationships/slide" Target="../slides/slide471.xml"/><Relationship Id="rId1" Type="http://schemas.openxmlformats.org/officeDocument/2006/relationships/notesMaster" Target="../notesMasters/notesMaster1.xml"/></Relationships>
</file>

<file path=ppt/notesSlides/_rels/notesSlide472.xml.rels><?xml version="1.0" encoding="UTF-8" standalone="yes"?>
<Relationships xmlns="http://schemas.openxmlformats.org/package/2006/relationships"><Relationship Id="rId2" Type="http://schemas.openxmlformats.org/officeDocument/2006/relationships/slide" Target="../slides/slide472.xml"/><Relationship Id="rId1" Type="http://schemas.openxmlformats.org/officeDocument/2006/relationships/notesMaster" Target="../notesMasters/notesMaster1.xml"/></Relationships>
</file>

<file path=ppt/notesSlides/_rels/notesSlide473.xml.rels><?xml version="1.0" encoding="UTF-8" standalone="yes"?>
<Relationships xmlns="http://schemas.openxmlformats.org/package/2006/relationships"><Relationship Id="rId2" Type="http://schemas.openxmlformats.org/officeDocument/2006/relationships/slide" Target="../slides/slide473.xml"/><Relationship Id="rId1" Type="http://schemas.openxmlformats.org/officeDocument/2006/relationships/notesMaster" Target="../notesMasters/notesMaster1.xml"/></Relationships>
</file>

<file path=ppt/notesSlides/_rels/notesSlide474.xml.rels><?xml version="1.0" encoding="UTF-8" standalone="yes"?>
<Relationships xmlns="http://schemas.openxmlformats.org/package/2006/relationships"><Relationship Id="rId2" Type="http://schemas.openxmlformats.org/officeDocument/2006/relationships/slide" Target="../slides/slide474.xml"/><Relationship Id="rId1" Type="http://schemas.openxmlformats.org/officeDocument/2006/relationships/notesMaster" Target="../notesMasters/notesMaster1.xml"/></Relationships>
</file>

<file path=ppt/notesSlides/_rels/notesSlide475.xml.rels><?xml version="1.0" encoding="UTF-8" standalone="yes"?>
<Relationships xmlns="http://schemas.openxmlformats.org/package/2006/relationships"><Relationship Id="rId2" Type="http://schemas.openxmlformats.org/officeDocument/2006/relationships/slide" Target="../slides/slide475.xml"/><Relationship Id="rId1" Type="http://schemas.openxmlformats.org/officeDocument/2006/relationships/notesMaster" Target="../notesMasters/notesMaster1.xml"/></Relationships>
</file>

<file path=ppt/notesSlides/_rels/notesSlide476.xml.rels><?xml version="1.0" encoding="UTF-8" standalone="yes"?>
<Relationships xmlns="http://schemas.openxmlformats.org/package/2006/relationships"><Relationship Id="rId2" Type="http://schemas.openxmlformats.org/officeDocument/2006/relationships/slide" Target="../slides/slide476.xml"/><Relationship Id="rId1" Type="http://schemas.openxmlformats.org/officeDocument/2006/relationships/notesMaster" Target="../notesMasters/notesMaster1.xml"/></Relationships>
</file>

<file path=ppt/notesSlides/_rels/notesSlide477.xml.rels><?xml version="1.0" encoding="UTF-8" standalone="yes"?>
<Relationships xmlns="http://schemas.openxmlformats.org/package/2006/relationships"><Relationship Id="rId2" Type="http://schemas.openxmlformats.org/officeDocument/2006/relationships/slide" Target="../slides/slide477.xml"/><Relationship Id="rId1" Type="http://schemas.openxmlformats.org/officeDocument/2006/relationships/notesMaster" Target="../notesMasters/notesMaster1.xml"/></Relationships>
</file>

<file path=ppt/notesSlides/_rels/notesSlide478.xml.rels><?xml version="1.0" encoding="UTF-8" standalone="yes"?>
<Relationships xmlns="http://schemas.openxmlformats.org/package/2006/relationships"><Relationship Id="rId2" Type="http://schemas.openxmlformats.org/officeDocument/2006/relationships/slide" Target="../slides/slide478.xml"/><Relationship Id="rId1" Type="http://schemas.openxmlformats.org/officeDocument/2006/relationships/notesMaster" Target="../notesMasters/notesMaster1.xml"/></Relationships>
</file>

<file path=ppt/notesSlides/_rels/notesSlide479.xml.rels><?xml version="1.0" encoding="UTF-8" standalone="yes"?>
<Relationships xmlns="http://schemas.openxmlformats.org/package/2006/relationships"><Relationship Id="rId2" Type="http://schemas.openxmlformats.org/officeDocument/2006/relationships/slide" Target="../slides/slide479.xml"/><Relationship Id="rId1" Type="http://schemas.openxmlformats.org/officeDocument/2006/relationships/notesMaster" Target="../notesMasters/notesMaster1.xml"/></Relationships>
</file>

<file path=ppt/notesSlides/_rels/notesSlide480.xml.rels><?xml version="1.0" encoding="UTF-8" standalone="yes"?>
<Relationships xmlns="http://schemas.openxmlformats.org/package/2006/relationships"><Relationship Id="rId2" Type="http://schemas.openxmlformats.org/officeDocument/2006/relationships/slide" Target="../slides/slide480.xml"/><Relationship Id="rId1" Type="http://schemas.openxmlformats.org/officeDocument/2006/relationships/notesMaster" Target="../notesMasters/notesMaster1.xml"/></Relationships>
</file>

<file path=ppt/notesSlides/_rels/notesSlide481.xml.rels><?xml version="1.0" encoding="UTF-8" standalone="yes"?>
<Relationships xmlns="http://schemas.openxmlformats.org/package/2006/relationships"><Relationship Id="rId2" Type="http://schemas.openxmlformats.org/officeDocument/2006/relationships/slide" Target="../slides/slide481.xml"/><Relationship Id="rId1" Type="http://schemas.openxmlformats.org/officeDocument/2006/relationships/notesMaster" Target="../notesMasters/notesMaster1.xml"/></Relationships>
</file>

<file path=ppt/notesSlides/_rels/notesSlide482.xml.rels><?xml version="1.0" encoding="UTF-8" standalone="yes"?>
<Relationships xmlns="http://schemas.openxmlformats.org/package/2006/relationships"><Relationship Id="rId2" Type="http://schemas.openxmlformats.org/officeDocument/2006/relationships/slide" Target="../slides/slide482.xml"/><Relationship Id="rId1" Type="http://schemas.openxmlformats.org/officeDocument/2006/relationships/notesMaster" Target="../notesMasters/notesMaster1.xml"/></Relationships>
</file>

<file path=ppt/notesSlides/_rels/notesSlide483.xml.rels><?xml version="1.0" encoding="UTF-8" standalone="yes"?>
<Relationships xmlns="http://schemas.openxmlformats.org/package/2006/relationships"><Relationship Id="rId2" Type="http://schemas.openxmlformats.org/officeDocument/2006/relationships/slide" Target="../slides/slide483.xml"/><Relationship Id="rId1" Type="http://schemas.openxmlformats.org/officeDocument/2006/relationships/notesMaster" Target="../notesMasters/notesMaster1.xml"/></Relationships>
</file>

<file path=ppt/notesSlides/_rels/notesSlide484.xml.rels><?xml version="1.0" encoding="UTF-8" standalone="yes"?>
<Relationships xmlns="http://schemas.openxmlformats.org/package/2006/relationships"><Relationship Id="rId2" Type="http://schemas.openxmlformats.org/officeDocument/2006/relationships/slide" Target="../slides/slide484.xml"/><Relationship Id="rId1" Type="http://schemas.openxmlformats.org/officeDocument/2006/relationships/notesMaster" Target="../notesMasters/notesMaster1.xml"/></Relationships>
</file>

<file path=ppt/notesSlides/_rels/notesSlide485.xml.rels><?xml version="1.0" encoding="UTF-8" standalone="yes"?>
<Relationships xmlns="http://schemas.openxmlformats.org/package/2006/relationships"><Relationship Id="rId2" Type="http://schemas.openxmlformats.org/officeDocument/2006/relationships/slide" Target="../slides/slide485.xml"/><Relationship Id="rId1" Type="http://schemas.openxmlformats.org/officeDocument/2006/relationships/notesMaster" Target="../notesMasters/notesMaster1.xml"/></Relationships>
</file>

<file path=ppt/notesSlides/_rels/notesSlide486.xml.rels><?xml version="1.0" encoding="UTF-8" standalone="yes"?>
<Relationships xmlns="http://schemas.openxmlformats.org/package/2006/relationships"><Relationship Id="rId2" Type="http://schemas.openxmlformats.org/officeDocument/2006/relationships/slide" Target="../slides/slide486.xml"/><Relationship Id="rId1" Type="http://schemas.openxmlformats.org/officeDocument/2006/relationships/notesMaster" Target="../notesMasters/notesMaster1.xml"/></Relationships>
</file>

<file path=ppt/notesSlides/_rels/notesSlide487.xml.rels><?xml version="1.0" encoding="UTF-8" standalone="yes"?>
<Relationships xmlns="http://schemas.openxmlformats.org/package/2006/relationships"><Relationship Id="rId2" Type="http://schemas.openxmlformats.org/officeDocument/2006/relationships/slide" Target="../slides/slide487.xml"/><Relationship Id="rId1" Type="http://schemas.openxmlformats.org/officeDocument/2006/relationships/notesMaster" Target="../notesMasters/notesMaster1.xml"/></Relationships>
</file>

<file path=ppt/notesSlides/_rels/notesSlide488.xml.rels><?xml version="1.0" encoding="UTF-8" standalone="yes"?>
<Relationships xmlns="http://schemas.openxmlformats.org/package/2006/relationships"><Relationship Id="rId2" Type="http://schemas.openxmlformats.org/officeDocument/2006/relationships/slide" Target="../slides/slide488.xml"/><Relationship Id="rId1" Type="http://schemas.openxmlformats.org/officeDocument/2006/relationships/notesMaster" Target="../notesMasters/notesMaster1.xml"/></Relationships>
</file>

<file path=ppt/notesSlides/_rels/notesSlide489.xml.rels><?xml version="1.0" encoding="UTF-8" standalone="yes"?>
<Relationships xmlns="http://schemas.openxmlformats.org/package/2006/relationships"><Relationship Id="rId2" Type="http://schemas.openxmlformats.org/officeDocument/2006/relationships/slide" Target="../slides/slide489.xml"/><Relationship Id="rId1" Type="http://schemas.openxmlformats.org/officeDocument/2006/relationships/notesMaster" Target="../notesMasters/notesMaster1.xml"/></Relationships>
</file>

<file path=ppt/notesSlides/_rels/notesSlide490.xml.rels><?xml version="1.0" encoding="UTF-8" standalone="yes"?>
<Relationships xmlns="http://schemas.openxmlformats.org/package/2006/relationships"><Relationship Id="rId2" Type="http://schemas.openxmlformats.org/officeDocument/2006/relationships/slide" Target="../slides/slide490.xml"/><Relationship Id="rId1" Type="http://schemas.openxmlformats.org/officeDocument/2006/relationships/notesMaster" Target="../notesMasters/notesMaster1.xml"/></Relationships>
</file>

<file path=ppt/notesSlides/_rels/notesSlide491.xml.rels><?xml version="1.0" encoding="UTF-8" standalone="yes"?>
<Relationships xmlns="http://schemas.openxmlformats.org/package/2006/relationships"><Relationship Id="rId2" Type="http://schemas.openxmlformats.org/officeDocument/2006/relationships/slide" Target="../slides/slide491.xml"/><Relationship Id="rId1" Type="http://schemas.openxmlformats.org/officeDocument/2006/relationships/notesMaster" Target="../notesMasters/notesMaster1.xml"/></Relationships>
</file>

<file path=ppt/notesSlides/_rels/notesSlide492.xml.rels><?xml version="1.0" encoding="UTF-8" standalone="yes"?>
<Relationships xmlns="http://schemas.openxmlformats.org/package/2006/relationships"><Relationship Id="rId2" Type="http://schemas.openxmlformats.org/officeDocument/2006/relationships/slide" Target="../slides/slide492.xml"/><Relationship Id="rId1" Type="http://schemas.openxmlformats.org/officeDocument/2006/relationships/notesMaster" Target="../notesMasters/notesMaster1.xml"/></Relationships>
</file>

<file path=ppt/notesSlides/_rels/notesSlide493.xml.rels><?xml version="1.0" encoding="UTF-8" standalone="yes"?>
<Relationships xmlns="http://schemas.openxmlformats.org/package/2006/relationships"><Relationship Id="rId2" Type="http://schemas.openxmlformats.org/officeDocument/2006/relationships/slide" Target="../slides/slide493.xml"/><Relationship Id="rId1" Type="http://schemas.openxmlformats.org/officeDocument/2006/relationships/notesMaster" Target="../notesMasters/notesMaster1.xml"/></Relationships>
</file>

<file path=ppt/notesSlides/_rels/notesSlide494.xml.rels><?xml version="1.0" encoding="UTF-8" standalone="yes"?>
<Relationships xmlns="http://schemas.openxmlformats.org/package/2006/relationships"><Relationship Id="rId2" Type="http://schemas.openxmlformats.org/officeDocument/2006/relationships/slide" Target="../slides/slide494.xml"/><Relationship Id="rId1" Type="http://schemas.openxmlformats.org/officeDocument/2006/relationships/notesMaster" Target="../notesMasters/notesMaster1.xml"/></Relationships>
</file>

<file path=ppt/notesSlides/_rels/notesSlide495.xml.rels><?xml version="1.0" encoding="UTF-8" standalone="yes"?>
<Relationships xmlns="http://schemas.openxmlformats.org/package/2006/relationships"><Relationship Id="rId2" Type="http://schemas.openxmlformats.org/officeDocument/2006/relationships/slide" Target="../slides/slide495.xml"/><Relationship Id="rId1" Type="http://schemas.openxmlformats.org/officeDocument/2006/relationships/notesMaster" Target="../notesMasters/notesMaster1.xml"/></Relationships>
</file>

<file path=ppt/notesSlides/_rels/notesSlide496.xml.rels><?xml version="1.0" encoding="UTF-8" standalone="yes"?>
<Relationships xmlns="http://schemas.openxmlformats.org/package/2006/relationships"><Relationship Id="rId2" Type="http://schemas.openxmlformats.org/officeDocument/2006/relationships/slide" Target="../slides/slide496.xml"/><Relationship Id="rId1" Type="http://schemas.openxmlformats.org/officeDocument/2006/relationships/notesMaster" Target="../notesMasters/notesMaster1.xml"/></Relationships>
</file>

<file path=ppt/notesSlides/_rels/notesSlide497.xml.rels><?xml version="1.0" encoding="UTF-8" standalone="yes"?>
<Relationships xmlns="http://schemas.openxmlformats.org/package/2006/relationships"><Relationship Id="rId2" Type="http://schemas.openxmlformats.org/officeDocument/2006/relationships/slide" Target="../slides/slide497.xml"/><Relationship Id="rId1" Type="http://schemas.openxmlformats.org/officeDocument/2006/relationships/notesMaster" Target="../notesMasters/notesMaster1.xml"/></Relationships>
</file>

<file path=ppt/notesSlides/_rels/notesSlide498.xml.rels><?xml version="1.0" encoding="UTF-8" standalone="yes"?>
<Relationships xmlns="http://schemas.openxmlformats.org/package/2006/relationships"><Relationship Id="rId2" Type="http://schemas.openxmlformats.org/officeDocument/2006/relationships/slide" Target="../slides/slide498.xml"/><Relationship Id="rId1" Type="http://schemas.openxmlformats.org/officeDocument/2006/relationships/notesMaster" Target="../notesMasters/notesMaster1.xml"/></Relationships>
</file>

<file path=ppt/notesSlides/_rels/notesSlide499.xml.rels><?xml version="1.0" encoding="UTF-8" standalone="yes"?>
<Relationships xmlns="http://schemas.openxmlformats.org/package/2006/relationships"><Relationship Id="rId2" Type="http://schemas.openxmlformats.org/officeDocument/2006/relationships/slide" Target="../slides/slide499.xml"/><Relationship Id="rId1" Type="http://schemas.openxmlformats.org/officeDocument/2006/relationships/notesMaster" Target="../notesMasters/notesMaster1.xml"/></Relationships>
</file>

<file path=ppt/notesSlides/_rels/notesSlide500.xml.rels><?xml version="1.0" encoding="UTF-8" standalone="yes"?>
<Relationships xmlns="http://schemas.openxmlformats.org/package/2006/relationships"><Relationship Id="rId2" Type="http://schemas.openxmlformats.org/officeDocument/2006/relationships/slide" Target="../slides/slide500.xml"/><Relationship Id="rId1" Type="http://schemas.openxmlformats.org/officeDocument/2006/relationships/notesMaster" Target="../notesMasters/notesMaster1.xml"/></Relationships>
</file>

<file path=ppt/notesSlides/_rels/notesSlide501.xml.rels><?xml version="1.0" encoding="UTF-8" standalone="yes"?>
<Relationships xmlns="http://schemas.openxmlformats.org/package/2006/relationships"><Relationship Id="rId2" Type="http://schemas.openxmlformats.org/officeDocument/2006/relationships/slide" Target="../slides/slide501.xml"/><Relationship Id="rId1" Type="http://schemas.openxmlformats.org/officeDocument/2006/relationships/notesMaster" Target="../notesMasters/notesMaster1.xml"/></Relationships>
</file>

<file path=ppt/notesSlides/_rels/notesSlide502.xml.rels><?xml version="1.0" encoding="UTF-8" standalone="yes"?>
<Relationships xmlns="http://schemas.openxmlformats.org/package/2006/relationships"><Relationship Id="rId2" Type="http://schemas.openxmlformats.org/officeDocument/2006/relationships/slide" Target="../slides/slide502.xml"/><Relationship Id="rId1" Type="http://schemas.openxmlformats.org/officeDocument/2006/relationships/notesMaster" Target="../notesMasters/notesMaster1.xml"/></Relationships>
</file>

<file path=ppt/notesSlides/_rels/notesSlide503.xml.rels><?xml version="1.0" encoding="UTF-8" standalone="yes"?>
<Relationships xmlns="http://schemas.openxmlformats.org/package/2006/relationships"><Relationship Id="rId2" Type="http://schemas.openxmlformats.org/officeDocument/2006/relationships/slide" Target="../slides/slide503.xml"/><Relationship Id="rId1" Type="http://schemas.openxmlformats.org/officeDocument/2006/relationships/notesMaster" Target="../notesMasters/notesMaster1.xml"/></Relationships>
</file>

<file path=ppt/notesSlides/_rels/notesSlide504.xml.rels><?xml version="1.0" encoding="UTF-8" standalone="yes"?>
<Relationships xmlns="http://schemas.openxmlformats.org/package/2006/relationships"><Relationship Id="rId2" Type="http://schemas.openxmlformats.org/officeDocument/2006/relationships/slide" Target="../slides/slide504.xml"/><Relationship Id="rId1" Type="http://schemas.openxmlformats.org/officeDocument/2006/relationships/notesMaster" Target="../notesMasters/notesMaster1.xml"/></Relationships>
</file>

<file path=ppt/notesSlides/_rels/notesSlide505.xml.rels><?xml version="1.0" encoding="UTF-8" standalone="yes"?>
<Relationships xmlns="http://schemas.openxmlformats.org/package/2006/relationships"><Relationship Id="rId2" Type="http://schemas.openxmlformats.org/officeDocument/2006/relationships/slide" Target="../slides/slide505.xml"/><Relationship Id="rId1" Type="http://schemas.openxmlformats.org/officeDocument/2006/relationships/notesMaster" Target="../notesMasters/notesMaster1.xml"/></Relationships>
</file>

<file path=ppt/notesSlides/_rels/notesSlide506.xml.rels><?xml version="1.0" encoding="UTF-8" standalone="yes"?>
<Relationships xmlns="http://schemas.openxmlformats.org/package/2006/relationships"><Relationship Id="rId2" Type="http://schemas.openxmlformats.org/officeDocument/2006/relationships/slide" Target="../slides/slide506.xml"/><Relationship Id="rId1" Type="http://schemas.openxmlformats.org/officeDocument/2006/relationships/notesMaster" Target="../notesMasters/notesMaster1.xml"/></Relationships>
</file>

<file path=ppt/notesSlides/_rels/notesSlide507.xml.rels><?xml version="1.0" encoding="UTF-8" standalone="yes"?>
<Relationships xmlns="http://schemas.openxmlformats.org/package/2006/relationships"><Relationship Id="rId2" Type="http://schemas.openxmlformats.org/officeDocument/2006/relationships/slide" Target="../slides/slide507.xml"/><Relationship Id="rId1" Type="http://schemas.openxmlformats.org/officeDocument/2006/relationships/notesMaster" Target="../notesMasters/notesMaster1.xml"/></Relationships>
</file>

<file path=ppt/notesSlides/_rels/notesSlide508.xml.rels><?xml version="1.0" encoding="UTF-8" standalone="yes"?>
<Relationships xmlns="http://schemas.openxmlformats.org/package/2006/relationships"><Relationship Id="rId2" Type="http://schemas.openxmlformats.org/officeDocument/2006/relationships/slide" Target="../slides/slide508.xml"/><Relationship Id="rId1" Type="http://schemas.openxmlformats.org/officeDocument/2006/relationships/notesMaster" Target="../notesMasters/notesMaster1.xml"/></Relationships>
</file>

<file path=ppt/notesSlides/_rels/notesSlide509.xml.rels><?xml version="1.0" encoding="UTF-8" standalone="yes"?>
<Relationships xmlns="http://schemas.openxmlformats.org/package/2006/relationships"><Relationship Id="rId2" Type="http://schemas.openxmlformats.org/officeDocument/2006/relationships/slide" Target="../slides/slide509.xml"/><Relationship Id="rId1" Type="http://schemas.openxmlformats.org/officeDocument/2006/relationships/notesMaster" Target="../notesMasters/notesMaster1.xml"/></Relationships>
</file>

<file path=ppt/notesSlides/_rels/notesSlide510.xml.rels><?xml version="1.0" encoding="UTF-8" standalone="yes"?>
<Relationships xmlns="http://schemas.openxmlformats.org/package/2006/relationships"><Relationship Id="rId2" Type="http://schemas.openxmlformats.org/officeDocument/2006/relationships/slide" Target="../slides/slide510.xml"/><Relationship Id="rId1" Type="http://schemas.openxmlformats.org/officeDocument/2006/relationships/notesMaster" Target="../notesMasters/notesMaster1.xml"/></Relationships>
</file>

<file path=ppt/notesSlides/_rels/notesSlide511.xml.rels><?xml version="1.0" encoding="UTF-8" standalone="yes"?>
<Relationships xmlns="http://schemas.openxmlformats.org/package/2006/relationships"><Relationship Id="rId2" Type="http://schemas.openxmlformats.org/officeDocument/2006/relationships/slide" Target="../slides/slide511.xml"/><Relationship Id="rId1" Type="http://schemas.openxmlformats.org/officeDocument/2006/relationships/notesMaster" Target="../notesMasters/notesMaster1.xml"/></Relationships>
</file>

<file path=ppt/notesSlides/_rels/notesSlide512.xml.rels><?xml version="1.0" encoding="UTF-8" standalone="yes"?>
<Relationships xmlns="http://schemas.openxmlformats.org/package/2006/relationships"><Relationship Id="rId2" Type="http://schemas.openxmlformats.org/officeDocument/2006/relationships/slide" Target="../slides/slide512.xml"/><Relationship Id="rId1" Type="http://schemas.openxmlformats.org/officeDocument/2006/relationships/notesMaster" Target="../notesMasters/notesMaster1.xml"/></Relationships>
</file>

<file path=ppt/notesSlides/_rels/notesSlide513.xml.rels><?xml version="1.0" encoding="UTF-8" standalone="yes"?>
<Relationships xmlns="http://schemas.openxmlformats.org/package/2006/relationships"><Relationship Id="rId2" Type="http://schemas.openxmlformats.org/officeDocument/2006/relationships/slide" Target="../slides/slide513.xml"/><Relationship Id="rId1" Type="http://schemas.openxmlformats.org/officeDocument/2006/relationships/notesMaster" Target="../notesMasters/notesMaster1.xml"/></Relationships>
</file>

<file path=ppt/notesSlides/_rels/notesSlide514.xml.rels><?xml version="1.0" encoding="UTF-8" standalone="yes"?>
<Relationships xmlns="http://schemas.openxmlformats.org/package/2006/relationships"><Relationship Id="rId2" Type="http://schemas.openxmlformats.org/officeDocument/2006/relationships/slide" Target="../slides/slide514.xml"/><Relationship Id="rId1" Type="http://schemas.openxmlformats.org/officeDocument/2006/relationships/notesMaster" Target="../notesMasters/notesMaster1.xml"/></Relationships>
</file>

<file path=ppt/notesSlides/_rels/notesSlide515.xml.rels><?xml version="1.0" encoding="UTF-8" standalone="yes"?>
<Relationships xmlns="http://schemas.openxmlformats.org/package/2006/relationships"><Relationship Id="rId2" Type="http://schemas.openxmlformats.org/officeDocument/2006/relationships/slide" Target="../slides/slide515.xml"/><Relationship Id="rId1" Type="http://schemas.openxmlformats.org/officeDocument/2006/relationships/notesMaster" Target="../notesMasters/notesMaster1.xml"/></Relationships>
</file>

<file path=ppt/notesSlides/_rels/notesSlide516.xml.rels><?xml version="1.0" encoding="UTF-8" standalone="yes"?>
<Relationships xmlns="http://schemas.openxmlformats.org/package/2006/relationships"><Relationship Id="rId2" Type="http://schemas.openxmlformats.org/officeDocument/2006/relationships/slide" Target="../slides/slide516.xml"/><Relationship Id="rId1" Type="http://schemas.openxmlformats.org/officeDocument/2006/relationships/notesMaster" Target="../notesMasters/notesMaster1.xml"/></Relationships>
</file>

<file path=ppt/notesSlides/_rels/notesSlide517.xml.rels><?xml version="1.0" encoding="UTF-8" standalone="yes"?>
<Relationships xmlns="http://schemas.openxmlformats.org/package/2006/relationships"><Relationship Id="rId2" Type="http://schemas.openxmlformats.org/officeDocument/2006/relationships/slide" Target="../slides/slide517.xml"/><Relationship Id="rId1" Type="http://schemas.openxmlformats.org/officeDocument/2006/relationships/notesMaster" Target="../notesMasters/notesMaster1.xml"/></Relationships>
</file>

<file path=ppt/notesSlides/_rels/notesSlide518.xml.rels><?xml version="1.0" encoding="UTF-8" standalone="yes"?>
<Relationships xmlns="http://schemas.openxmlformats.org/package/2006/relationships"><Relationship Id="rId2" Type="http://schemas.openxmlformats.org/officeDocument/2006/relationships/slide" Target="../slides/slide518.xml"/><Relationship Id="rId1" Type="http://schemas.openxmlformats.org/officeDocument/2006/relationships/notesMaster" Target="../notesMasters/notesMaster1.xml"/></Relationships>
</file>

<file path=ppt/notesSlides/_rels/notesSlide519.xml.rels><?xml version="1.0" encoding="UTF-8" standalone="yes"?>
<Relationships xmlns="http://schemas.openxmlformats.org/package/2006/relationships"><Relationship Id="rId2" Type="http://schemas.openxmlformats.org/officeDocument/2006/relationships/slide" Target="../slides/slide519.xml"/><Relationship Id="rId1" Type="http://schemas.openxmlformats.org/officeDocument/2006/relationships/notesMaster" Target="../notesMasters/notesMaster1.xml"/></Relationships>
</file>

<file path=ppt/notesSlides/_rels/notesSlide520.xml.rels><?xml version="1.0" encoding="UTF-8" standalone="yes"?>
<Relationships xmlns="http://schemas.openxmlformats.org/package/2006/relationships"><Relationship Id="rId2" Type="http://schemas.openxmlformats.org/officeDocument/2006/relationships/slide" Target="../slides/slide520.xml"/><Relationship Id="rId1" Type="http://schemas.openxmlformats.org/officeDocument/2006/relationships/notesMaster" Target="../notesMasters/notesMaster1.xml"/></Relationships>
</file>

<file path=ppt/notesSlides/_rels/notesSlide521.xml.rels><?xml version="1.0" encoding="UTF-8" standalone="yes"?>
<Relationships xmlns="http://schemas.openxmlformats.org/package/2006/relationships"><Relationship Id="rId2" Type="http://schemas.openxmlformats.org/officeDocument/2006/relationships/slide" Target="../slides/slide521.xml"/><Relationship Id="rId1" Type="http://schemas.openxmlformats.org/officeDocument/2006/relationships/notesMaster" Target="../notesMasters/notesMaster1.xml"/></Relationships>
</file>

<file path=ppt/notesSlides/_rels/notesSlide522.xml.rels><?xml version="1.0" encoding="UTF-8" standalone="yes"?>
<Relationships xmlns="http://schemas.openxmlformats.org/package/2006/relationships"><Relationship Id="rId2" Type="http://schemas.openxmlformats.org/officeDocument/2006/relationships/slide" Target="../slides/slide522.xml"/><Relationship Id="rId1" Type="http://schemas.openxmlformats.org/officeDocument/2006/relationships/notesMaster" Target="../notesMasters/notesMaster1.xml"/></Relationships>
</file>

<file path=ppt/notesSlides/_rels/notesSlide523.xml.rels><?xml version="1.0" encoding="UTF-8" standalone="yes"?>
<Relationships xmlns="http://schemas.openxmlformats.org/package/2006/relationships"><Relationship Id="rId2" Type="http://schemas.openxmlformats.org/officeDocument/2006/relationships/slide" Target="../slides/slide523.xml"/><Relationship Id="rId1" Type="http://schemas.openxmlformats.org/officeDocument/2006/relationships/notesMaster" Target="../notesMasters/notesMaster1.xml"/></Relationships>
</file>

<file path=ppt/notesSlides/_rels/notesSlide524.xml.rels><?xml version="1.0" encoding="UTF-8" standalone="yes"?>
<Relationships xmlns="http://schemas.openxmlformats.org/package/2006/relationships"><Relationship Id="rId2" Type="http://schemas.openxmlformats.org/officeDocument/2006/relationships/slide" Target="../slides/slide524.xml"/><Relationship Id="rId1" Type="http://schemas.openxmlformats.org/officeDocument/2006/relationships/notesMaster" Target="../notesMasters/notesMaster1.xml"/></Relationships>
</file>

<file path=ppt/notesSlides/_rels/notesSlide525.xml.rels><?xml version="1.0" encoding="UTF-8" standalone="yes"?>
<Relationships xmlns="http://schemas.openxmlformats.org/package/2006/relationships"><Relationship Id="rId2" Type="http://schemas.openxmlformats.org/officeDocument/2006/relationships/slide" Target="../slides/slide525.xml"/><Relationship Id="rId1" Type="http://schemas.openxmlformats.org/officeDocument/2006/relationships/notesMaster" Target="../notesMasters/notesMaster1.xml"/></Relationships>
</file>

<file path=ppt/notesSlides/_rels/notesSlide526.xml.rels><?xml version="1.0" encoding="UTF-8" standalone="yes"?>
<Relationships xmlns="http://schemas.openxmlformats.org/package/2006/relationships"><Relationship Id="rId2" Type="http://schemas.openxmlformats.org/officeDocument/2006/relationships/slide" Target="../slides/slide526.xml"/><Relationship Id="rId1" Type="http://schemas.openxmlformats.org/officeDocument/2006/relationships/notesMaster" Target="../notesMasters/notesMaster1.xml"/></Relationships>
</file>

<file path=ppt/notesSlides/_rels/notesSlide527.xml.rels><?xml version="1.0" encoding="UTF-8" standalone="yes"?>
<Relationships xmlns="http://schemas.openxmlformats.org/package/2006/relationships"><Relationship Id="rId2" Type="http://schemas.openxmlformats.org/officeDocument/2006/relationships/slide" Target="../slides/slide527.xml"/><Relationship Id="rId1" Type="http://schemas.openxmlformats.org/officeDocument/2006/relationships/notesMaster" Target="../notesMasters/notesMaster1.xml"/></Relationships>
</file>

<file path=ppt/notesSlides/_rels/notesSlide528.xml.rels><?xml version="1.0" encoding="UTF-8" standalone="yes"?>
<Relationships xmlns="http://schemas.openxmlformats.org/package/2006/relationships"><Relationship Id="rId2" Type="http://schemas.openxmlformats.org/officeDocument/2006/relationships/slide" Target="../slides/slide528.xml"/><Relationship Id="rId1" Type="http://schemas.openxmlformats.org/officeDocument/2006/relationships/notesMaster" Target="../notesMasters/notesMaster1.xml"/></Relationships>
</file>

<file path=ppt/notesSlides/_rels/notesSlide529.xml.rels><?xml version="1.0" encoding="UTF-8" standalone="yes"?>
<Relationships xmlns="http://schemas.openxmlformats.org/package/2006/relationships"><Relationship Id="rId2" Type="http://schemas.openxmlformats.org/officeDocument/2006/relationships/slide" Target="../slides/slide529.xml"/><Relationship Id="rId1" Type="http://schemas.openxmlformats.org/officeDocument/2006/relationships/notesMaster" Target="../notesMasters/notesMaster1.xml"/></Relationships>
</file>

<file path=ppt/notesSlides/_rels/notesSlide530.xml.rels><?xml version="1.0" encoding="UTF-8" standalone="yes"?>
<Relationships xmlns="http://schemas.openxmlformats.org/package/2006/relationships"><Relationship Id="rId2" Type="http://schemas.openxmlformats.org/officeDocument/2006/relationships/slide" Target="../slides/slide530.xml"/><Relationship Id="rId1" Type="http://schemas.openxmlformats.org/officeDocument/2006/relationships/notesMaster" Target="../notesMasters/notesMaster1.xml"/></Relationships>
</file>

<file path=ppt/notesSlides/_rels/notesSlide531.xml.rels><?xml version="1.0" encoding="UTF-8" standalone="yes"?>
<Relationships xmlns="http://schemas.openxmlformats.org/package/2006/relationships"><Relationship Id="rId2" Type="http://schemas.openxmlformats.org/officeDocument/2006/relationships/slide" Target="../slides/slide531.xml"/><Relationship Id="rId1" Type="http://schemas.openxmlformats.org/officeDocument/2006/relationships/notesMaster" Target="../notesMasters/notesMaster1.xml"/></Relationships>
</file>

<file path=ppt/notesSlides/_rels/notesSlide532.xml.rels><?xml version="1.0" encoding="UTF-8" standalone="yes"?>
<Relationships xmlns="http://schemas.openxmlformats.org/package/2006/relationships"><Relationship Id="rId2" Type="http://schemas.openxmlformats.org/officeDocument/2006/relationships/slide" Target="../slides/slide532.xml"/><Relationship Id="rId1" Type="http://schemas.openxmlformats.org/officeDocument/2006/relationships/notesMaster" Target="../notesMasters/notesMaster1.xml"/></Relationships>
</file>

<file path=ppt/notesSlides/_rels/notesSlide533.xml.rels><?xml version="1.0" encoding="UTF-8" standalone="yes"?>
<Relationships xmlns="http://schemas.openxmlformats.org/package/2006/relationships"><Relationship Id="rId2" Type="http://schemas.openxmlformats.org/officeDocument/2006/relationships/slide" Target="../slides/slide533.xml"/><Relationship Id="rId1" Type="http://schemas.openxmlformats.org/officeDocument/2006/relationships/notesMaster" Target="../notesMasters/notesMaster1.xml"/></Relationships>
</file>

<file path=ppt/notesSlides/_rels/notesSlide534.xml.rels><?xml version="1.0" encoding="UTF-8" standalone="yes"?>
<Relationships xmlns="http://schemas.openxmlformats.org/package/2006/relationships"><Relationship Id="rId2" Type="http://schemas.openxmlformats.org/officeDocument/2006/relationships/slide" Target="../slides/slide534.xml"/><Relationship Id="rId1" Type="http://schemas.openxmlformats.org/officeDocument/2006/relationships/notesMaster" Target="../notesMasters/notesMaster1.xml"/></Relationships>
</file>

<file path=ppt/notesSlides/_rels/notesSlide535.xml.rels><?xml version="1.0" encoding="UTF-8" standalone="yes"?>
<Relationships xmlns="http://schemas.openxmlformats.org/package/2006/relationships"><Relationship Id="rId2" Type="http://schemas.openxmlformats.org/officeDocument/2006/relationships/slide" Target="../slides/slide535.xml"/><Relationship Id="rId1" Type="http://schemas.openxmlformats.org/officeDocument/2006/relationships/notesMaster" Target="../notesMasters/notesMaster1.xml"/></Relationships>
</file>

<file path=ppt/notesSlides/_rels/notesSlide536.xml.rels><?xml version="1.0" encoding="UTF-8" standalone="yes"?>
<Relationships xmlns="http://schemas.openxmlformats.org/package/2006/relationships"><Relationship Id="rId2" Type="http://schemas.openxmlformats.org/officeDocument/2006/relationships/slide" Target="../slides/slide536.xml"/><Relationship Id="rId1" Type="http://schemas.openxmlformats.org/officeDocument/2006/relationships/notesMaster" Target="../notesMasters/notesMaster1.xml"/></Relationships>
</file>

<file path=ppt/notesSlides/_rels/notesSlide537.xml.rels><?xml version="1.0" encoding="UTF-8" standalone="yes"?>
<Relationships xmlns="http://schemas.openxmlformats.org/package/2006/relationships"><Relationship Id="rId2" Type="http://schemas.openxmlformats.org/officeDocument/2006/relationships/slide" Target="../slides/slide537.xml"/><Relationship Id="rId1" Type="http://schemas.openxmlformats.org/officeDocument/2006/relationships/notesMaster" Target="../notesMasters/notesMaster1.xml"/></Relationships>
</file>

<file path=ppt/notesSlides/_rels/notesSlide538.xml.rels><?xml version="1.0" encoding="UTF-8" standalone="yes"?>
<Relationships xmlns="http://schemas.openxmlformats.org/package/2006/relationships"><Relationship Id="rId2" Type="http://schemas.openxmlformats.org/officeDocument/2006/relationships/slide" Target="../slides/slide538.xml"/><Relationship Id="rId1" Type="http://schemas.openxmlformats.org/officeDocument/2006/relationships/notesMaster" Target="../notesMasters/notesMaster1.xml"/></Relationships>
</file>

<file path=ppt/notesSlides/_rels/notesSlide539.xml.rels><?xml version="1.0" encoding="UTF-8" standalone="yes"?>
<Relationships xmlns="http://schemas.openxmlformats.org/package/2006/relationships"><Relationship Id="rId2" Type="http://schemas.openxmlformats.org/officeDocument/2006/relationships/slide" Target="../slides/slide539.xml"/><Relationship Id="rId1" Type="http://schemas.openxmlformats.org/officeDocument/2006/relationships/notesMaster" Target="../notesMasters/notesMaster1.xml"/></Relationships>
</file>

<file path=ppt/notesSlides/_rels/notesSlide540.xml.rels><?xml version="1.0" encoding="UTF-8" standalone="yes"?>
<Relationships xmlns="http://schemas.openxmlformats.org/package/2006/relationships"><Relationship Id="rId2" Type="http://schemas.openxmlformats.org/officeDocument/2006/relationships/slide" Target="../slides/slide540.xml"/><Relationship Id="rId1" Type="http://schemas.openxmlformats.org/officeDocument/2006/relationships/notesMaster" Target="../notesMasters/notesMaster1.xml"/></Relationships>
</file>

<file path=ppt/notesSlides/_rels/notesSlide541.xml.rels><?xml version="1.0" encoding="UTF-8" standalone="yes"?>
<Relationships xmlns="http://schemas.openxmlformats.org/package/2006/relationships"><Relationship Id="rId2" Type="http://schemas.openxmlformats.org/officeDocument/2006/relationships/slide" Target="../slides/slide541.xml"/><Relationship Id="rId1" Type="http://schemas.openxmlformats.org/officeDocument/2006/relationships/notesMaster" Target="../notesMasters/notesMaster1.xml"/></Relationships>
</file>

<file path=ppt/notesSlides/_rels/notesSlide542.xml.rels><?xml version="1.0" encoding="UTF-8" standalone="yes"?>
<Relationships xmlns="http://schemas.openxmlformats.org/package/2006/relationships"><Relationship Id="rId2" Type="http://schemas.openxmlformats.org/officeDocument/2006/relationships/slide" Target="../slides/slide542.xml"/><Relationship Id="rId1" Type="http://schemas.openxmlformats.org/officeDocument/2006/relationships/notesMaster" Target="../notesMasters/notesMaster1.xml"/></Relationships>
</file>

<file path=ppt/notesSlides/_rels/notesSlide543.xml.rels><?xml version="1.0" encoding="UTF-8" standalone="yes"?>
<Relationships xmlns="http://schemas.openxmlformats.org/package/2006/relationships"><Relationship Id="rId2" Type="http://schemas.openxmlformats.org/officeDocument/2006/relationships/slide" Target="../slides/slide543.xml"/><Relationship Id="rId1" Type="http://schemas.openxmlformats.org/officeDocument/2006/relationships/notesMaster" Target="../notesMasters/notesMaster1.xml"/></Relationships>
</file>

<file path=ppt/notesSlides/_rels/notesSlide544.xml.rels><?xml version="1.0" encoding="UTF-8" standalone="yes"?>
<Relationships xmlns="http://schemas.openxmlformats.org/package/2006/relationships"><Relationship Id="rId2" Type="http://schemas.openxmlformats.org/officeDocument/2006/relationships/slide" Target="../slides/slide544.xml"/><Relationship Id="rId1" Type="http://schemas.openxmlformats.org/officeDocument/2006/relationships/notesMaster" Target="../notesMasters/notesMaster1.xml"/></Relationships>
</file>

<file path=ppt/notesSlides/_rels/notesSlide545.xml.rels><?xml version="1.0" encoding="UTF-8" standalone="yes"?>
<Relationships xmlns="http://schemas.openxmlformats.org/package/2006/relationships"><Relationship Id="rId2" Type="http://schemas.openxmlformats.org/officeDocument/2006/relationships/slide" Target="../slides/slide545.xml"/><Relationship Id="rId1" Type="http://schemas.openxmlformats.org/officeDocument/2006/relationships/notesMaster" Target="../notesMasters/notesMaster1.xml"/></Relationships>
</file>

<file path=ppt/notesSlides/_rels/notesSlide546.xml.rels><?xml version="1.0" encoding="UTF-8" standalone="yes"?>
<Relationships xmlns="http://schemas.openxmlformats.org/package/2006/relationships"><Relationship Id="rId2" Type="http://schemas.openxmlformats.org/officeDocument/2006/relationships/slide" Target="../slides/slide546.xml"/><Relationship Id="rId1" Type="http://schemas.openxmlformats.org/officeDocument/2006/relationships/notesMaster" Target="../notesMasters/notesMaster1.xml"/></Relationships>
</file>

<file path=ppt/notesSlides/_rels/notesSlide547.xml.rels><?xml version="1.0" encoding="UTF-8" standalone="yes"?>
<Relationships xmlns="http://schemas.openxmlformats.org/package/2006/relationships"><Relationship Id="rId2" Type="http://schemas.openxmlformats.org/officeDocument/2006/relationships/slide" Target="../slides/slide547.xml"/><Relationship Id="rId1" Type="http://schemas.openxmlformats.org/officeDocument/2006/relationships/notesMaster" Target="../notesMasters/notesMaster1.xml"/></Relationships>
</file>

<file path=ppt/notesSlides/_rels/notesSlide548.xml.rels><?xml version="1.0" encoding="UTF-8" standalone="yes"?>
<Relationships xmlns="http://schemas.openxmlformats.org/package/2006/relationships"><Relationship Id="rId2" Type="http://schemas.openxmlformats.org/officeDocument/2006/relationships/slide" Target="../slides/slide548.xml"/><Relationship Id="rId1" Type="http://schemas.openxmlformats.org/officeDocument/2006/relationships/notesMaster" Target="../notesMasters/notesMaster1.xml"/></Relationships>
</file>

<file path=ppt/notesSlides/_rels/notesSlide549.xml.rels><?xml version="1.0" encoding="UTF-8" standalone="yes"?>
<Relationships xmlns="http://schemas.openxmlformats.org/package/2006/relationships"><Relationship Id="rId2" Type="http://schemas.openxmlformats.org/officeDocument/2006/relationships/slide" Target="../slides/slide549.xml"/><Relationship Id="rId1" Type="http://schemas.openxmlformats.org/officeDocument/2006/relationships/notesMaster" Target="../notesMasters/notesMaster1.xml"/></Relationships>
</file>

<file path=ppt/notesSlides/_rels/notesSlide550.xml.rels><?xml version="1.0" encoding="UTF-8" standalone="yes"?>
<Relationships xmlns="http://schemas.openxmlformats.org/package/2006/relationships"><Relationship Id="rId2" Type="http://schemas.openxmlformats.org/officeDocument/2006/relationships/slide" Target="../slides/slide550.xml"/><Relationship Id="rId1" Type="http://schemas.openxmlformats.org/officeDocument/2006/relationships/notesMaster" Target="../notesMasters/notesMaster1.xml"/></Relationships>
</file>

<file path=ppt/notesSlides/_rels/notesSlide551.xml.rels><?xml version="1.0" encoding="UTF-8" standalone="yes"?>
<Relationships xmlns="http://schemas.openxmlformats.org/package/2006/relationships"><Relationship Id="rId2" Type="http://schemas.openxmlformats.org/officeDocument/2006/relationships/slide" Target="../slides/slide551.xml"/><Relationship Id="rId1" Type="http://schemas.openxmlformats.org/officeDocument/2006/relationships/notesMaster" Target="../notesMasters/notesMaster1.xml"/></Relationships>
</file>

<file path=ppt/notesSlides/_rels/notesSlide552.xml.rels><?xml version="1.0" encoding="UTF-8" standalone="yes"?>
<Relationships xmlns="http://schemas.openxmlformats.org/package/2006/relationships"><Relationship Id="rId2" Type="http://schemas.openxmlformats.org/officeDocument/2006/relationships/slide" Target="../slides/slide552.xml"/><Relationship Id="rId1" Type="http://schemas.openxmlformats.org/officeDocument/2006/relationships/notesMaster" Target="../notesMasters/notesMaster1.xml"/></Relationships>
</file>

<file path=ppt/notesSlides/_rels/notesSlide553.xml.rels><?xml version="1.0" encoding="UTF-8" standalone="yes"?>
<Relationships xmlns="http://schemas.openxmlformats.org/package/2006/relationships"><Relationship Id="rId2" Type="http://schemas.openxmlformats.org/officeDocument/2006/relationships/slide" Target="../slides/slide553.xml"/><Relationship Id="rId1" Type="http://schemas.openxmlformats.org/officeDocument/2006/relationships/notesMaster" Target="../notesMasters/notesMaster1.xml"/></Relationships>
</file>

<file path=ppt/notesSlides/_rels/notesSlide554.xml.rels><?xml version="1.0" encoding="UTF-8" standalone="yes"?>
<Relationships xmlns="http://schemas.openxmlformats.org/package/2006/relationships"><Relationship Id="rId2" Type="http://schemas.openxmlformats.org/officeDocument/2006/relationships/slide" Target="../slides/slide554.xml"/><Relationship Id="rId1" Type="http://schemas.openxmlformats.org/officeDocument/2006/relationships/notesMaster" Target="../notesMasters/notesMaster1.xml"/></Relationships>
</file>

<file path=ppt/notesSlides/_rels/notesSlide555.xml.rels><?xml version="1.0" encoding="UTF-8" standalone="yes"?>
<Relationships xmlns="http://schemas.openxmlformats.org/package/2006/relationships"><Relationship Id="rId2" Type="http://schemas.openxmlformats.org/officeDocument/2006/relationships/slide" Target="../slides/slide555.xml"/><Relationship Id="rId1" Type="http://schemas.openxmlformats.org/officeDocument/2006/relationships/notesMaster" Target="../notesMasters/notesMaster1.xml"/></Relationships>
</file>

<file path=ppt/notesSlides/_rels/notesSlide556.xml.rels><?xml version="1.0" encoding="UTF-8" standalone="yes"?>
<Relationships xmlns="http://schemas.openxmlformats.org/package/2006/relationships"><Relationship Id="rId2" Type="http://schemas.openxmlformats.org/officeDocument/2006/relationships/slide" Target="../slides/slide556.xml"/><Relationship Id="rId1" Type="http://schemas.openxmlformats.org/officeDocument/2006/relationships/notesMaster" Target="../notesMasters/notesMaster1.xml"/></Relationships>
</file>

<file path=ppt/notesSlides/_rels/notesSlide557.xml.rels><?xml version="1.0" encoding="UTF-8" standalone="yes"?>
<Relationships xmlns="http://schemas.openxmlformats.org/package/2006/relationships"><Relationship Id="rId2" Type="http://schemas.openxmlformats.org/officeDocument/2006/relationships/slide" Target="../slides/slide557.xml"/><Relationship Id="rId1" Type="http://schemas.openxmlformats.org/officeDocument/2006/relationships/notesMaster" Target="../notesMasters/notesMaster1.xml"/></Relationships>
</file>

<file path=ppt/notesSlides/_rels/notesSlide558.xml.rels><?xml version="1.0" encoding="UTF-8" standalone="yes"?>
<Relationships xmlns="http://schemas.openxmlformats.org/package/2006/relationships"><Relationship Id="rId2" Type="http://schemas.openxmlformats.org/officeDocument/2006/relationships/slide" Target="../slides/slide558.xml"/><Relationship Id="rId1" Type="http://schemas.openxmlformats.org/officeDocument/2006/relationships/notesMaster" Target="../notesMasters/notesMaster1.xml"/></Relationships>
</file>

<file path=ppt/notesSlides/_rels/notesSlide559.xml.rels><?xml version="1.0" encoding="UTF-8" standalone="yes"?>
<Relationships xmlns="http://schemas.openxmlformats.org/package/2006/relationships"><Relationship Id="rId2" Type="http://schemas.openxmlformats.org/officeDocument/2006/relationships/slide" Target="../slides/slide559.xml"/><Relationship Id="rId1" Type="http://schemas.openxmlformats.org/officeDocument/2006/relationships/notesMaster" Target="../notesMasters/notesMaster1.xml"/></Relationships>
</file>

<file path=ppt/notesSlides/_rels/notesSlide560.xml.rels><?xml version="1.0" encoding="UTF-8" standalone="yes"?>
<Relationships xmlns="http://schemas.openxmlformats.org/package/2006/relationships"><Relationship Id="rId2" Type="http://schemas.openxmlformats.org/officeDocument/2006/relationships/slide" Target="../slides/slide560.xml"/><Relationship Id="rId1" Type="http://schemas.openxmlformats.org/officeDocument/2006/relationships/notesMaster" Target="../notesMasters/notesMaster1.xml"/></Relationships>
</file>

<file path=ppt/notesSlides/_rels/notesSlide561.xml.rels><?xml version="1.0" encoding="UTF-8" standalone="yes"?>
<Relationships xmlns="http://schemas.openxmlformats.org/package/2006/relationships"><Relationship Id="rId2" Type="http://schemas.openxmlformats.org/officeDocument/2006/relationships/slide" Target="../slides/slide561.xml"/><Relationship Id="rId1" Type="http://schemas.openxmlformats.org/officeDocument/2006/relationships/notesMaster" Target="../notesMasters/notesMaster1.xml"/></Relationships>
</file>

<file path=ppt/notesSlides/_rels/notesSlide562.xml.rels><?xml version="1.0" encoding="UTF-8" standalone="yes"?>
<Relationships xmlns="http://schemas.openxmlformats.org/package/2006/relationships"><Relationship Id="rId2" Type="http://schemas.openxmlformats.org/officeDocument/2006/relationships/slide" Target="../slides/slide562.xml"/><Relationship Id="rId1" Type="http://schemas.openxmlformats.org/officeDocument/2006/relationships/notesMaster" Target="../notesMasters/notesMaster1.xml"/></Relationships>
</file>

<file path=ppt/notesSlides/_rels/notesSlide563.xml.rels><?xml version="1.0" encoding="UTF-8" standalone="yes"?>
<Relationships xmlns="http://schemas.openxmlformats.org/package/2006/relationships"><Relationship Id="rId2" Type="http://schemas.openxmlformats.org/officeDocument/2006/relationships/slide" Target="../slides/slide563.xml"/><Relationship Id="rId1" Type="http://schemas.openxmlformats.org/officeDocument/2006/relationships/notesMaster" Target="../notesMasters/notesMaster1.xml"/></Relationships>
</file>

<file path=ppt/notesSlides/_rels/notesSlide564.xml.rels><?xml version="1.0" encoding="UTF-8" standalone="yes"?>
<Relationships xmlns="http://schemas.openxmlformats.org/package/2006/relationships"><Relationship Id="rId2" Type="http://schemas.openxmlformats.org/officeDocument/2006/relationships/slide" Target="../slides/slide564.xml"/><Relationship Id="rId1" Type="http://schemas.openxmlformats.org/officeDocument/2006/relationships/notesMaster" Target="../notesMasters/notesMaster1.xml"/></Relationships>
</file>

<file path=ppt/notesSlides/_rels/notesSlide565.xml.rels><?xml version="1.0" encoding="UTF-8" standalone="yes"?>
<Relationships xmlns="http://schemas.openxmlformats.org/package/2006/relationships"><Relationship Id="rId2" Type="http://schemas.openxmlformats.org/officeDocument/2006/relationships/slide" Target="../slides/slide565.xml"/><Relationship Id="rId1" Type="http://schemas.openxmlformats.org/officeDocument/2006/relationships/notesMaster" Target="../notesMasters/notesMaster1.xml"/></Relationships>
</file>

<file path=ppt/notesSlides/_rels/notesSlide566.xml.rels><?xml version="1.0" encoding="UTF-8" standalone="yes"?>
<Relationships xmlns="http://schemas.openxmlformats.org/package/2006/relationships"><Relationship Id="rId2" Type="http://schemas.openxmlformats.org/officeDocument/2006/relationships/slide" Target="../slides/slide566.xml"/><Relationship Id="rId1" Type="http://schemas.openxmlformats.org/officeDocument/2006/relationships/notesMaster" Target="../notesMasters/notesMaster1.xml"/></Relationships>
</file>

<file path=ppt/notesSlides/_rels/notesSlide567.xml.rels><?xml version="1.0" encoding="UTF-8" standalone="yes"?>
<Relationships xmlns="http://schemas.openxmlformats.org/package/2006/relationships"><Relationship Id="rId2" Type="http://schemas.openxmlformats.org/officeDocument/2006/relationships/slide" Target="../slides/slide56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01-portail-prmp.
Écran : /accueil/prmp — compte : sans session.
Noms, matricules, initiales, photos et adresses réelles masqués dans la page avant la capture.
Règles appliquées (annexe A) : RG-ENT-05, RG-ENT-08, RG-ENT-09, RG-ENT-10, RG-ENT-14, RG-ENT-26.</a:t>
            </a:r>
          </a:p>
        </p:txBody>
      </p:sp>
      <p:sp>
        <p:nvSpPr>
          <p:cNvPr id="4" name="Slide Number Placeholder 3"/>
          <p:cNvSpPr>
            <a:spLocks noGrp="1"/>
          </p:cNvSpPr>
          <p:nvPr>
            <p:ph type="sldNum" sz="quarter" idx="10"/>
          </p:nvPr>
        </p:nvSpPr>
        <p:spPr/>
        <p:txBody>
          <a:bodyPr/>
          <a:lstStyle/>
          <a:p>
            <a:fld id="{F7021451-1387-4CA6-816F-3879F97B5CBC}" type="slidenum">
              <a:rPr lang="en-US"/>
              <a:t>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01-portail-commission.
Écran : /accueil/commission — compte : sans session.
Noms, matricules, initiales, photos et adresses réelles masqués dans la page avant la capture.
Règles appliquées (annexe A) : RG-ENT-12, RG-ENT-13, RG-ENT-26.</a:t>
            </a:r>
          </a:p>
        </p:txBody>
      </p:sp>
      <p:sp>
        <p:nvSpPr>
          <p:cNvPr id="4" name="Slide Number Placeholder 3"/>
          <p:cNvSpPr>
            <a:spLocks noGrp="1"/>
          </p:cNvSpPr>
          <p:nvPr>
            <p:ph type="sldNum" sz="quarter" idx="10"/>
          </p:nvPr>
        </p:nvSpPr>
        <p:spPr/>
        <p:txBody>
          <a:bodyPr/>
          <a:lstStyle/>
          <a:p>
            <a:fld id="{F7021451-1387-4CA6-816F-3879F97B5CBC}" type="slidenum">
              <a:rPr lang="en-US"/>
              <a:t>10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01-portail-candidat.
Écran : /accueil/candidat — compte : sans session.
Noms, matricules, initiales, photos et adresses réelles masqués dans la page avant la capture.
Règles appliquées (annexe A) : RG-ENT-26.</a:t>
            </a:r>
          </a:p>
        </p:txBody>
      </p:sp>
      <p:sp>
        <p:nvSpPr>
          <p:cNvPr id="4" name="Slide Number Placeholder 3"/>
          <p:cNvSpPr>
            <a:spLocks noGrp="1"/>
          </p:cNvSpPr>
          <p:nvPr>
            <p:ph type="sldNum" sz="quarter" idx="10"/>
          </p:nvPr>
        </p:nvSpPr>
        <p:spPr/>
        <p:txBody>
          <a:bodyPr/>
          <a:lstStyle/>
          <a:p>
            <a:fld id="{F7021451-1387-4CA6-816F-3879F97B5CBC}" type="slidenum">
              <a:rPr lang="en-US"/>
              <a:t>11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01-connexion.
Écran : /login — compte : sans session.
Noms, matricules, initiales, photos et adresses réelles masqués dans la page avant la capture.
Règles appliquées (annexe A) : RG-ENT-01, RG-ENT-02, RG-ENT-03, RG-ENT-04, RG-ENT-27.</a:t>
            </a:r>
          </a:p>
        </p:txBody>
      </p:sp>
      <p:sp>
        <p:nvSpPr>
          <p:cNvPr id="4" name="Slide Number Placeholder 3"/>
          <p:cNvSpPr>
            <a:spLocks noGrp="1"/>
          </p:cNvSpPr>
          <p:nvPr>
            <p:ph type="sldNum" sz="quarter" idx="10"/>
          </p:nvPr>
        </p:nvSpPr>
        <p:spPr/>
        <p:txBody>
          <a:bodyPr/>
          <a:lstStyle/>
          <a:p>
            <a:fld id="{F7021451-1387-4CA6-816F-3879F97B5CBC}" type="slidenum">
              <a:rPr lang="en-US"/>
              <a:t>13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01-inscription-prmp.
Écran : /inscription — compte : sans session.
Noms, matricules, initiales, photos et adresses réelles masqués dans la page avant la capture.
Règles appliquées (annexe A) : RG-ENT-02, RG-ENT-03, RG-ENT-05, RG-ENT-06, RG-ENT-07, RG-ENT-08.</a:t>
            </a:r>
          </a:p>
        </p:txBody>
      </p:sp>
      <p:sp>
        <p:nvSpPr>
          <p:cNvPr id="4" name="Slide Number Placeholder 3"/>
          <p:cNvSpPr>
            <a:spLocks noGrp="1"/>
          </p:cNvSpPr>
          <p:nvPr>
            <p:ph type="sldNum" sz="quarter" idx="10"/>
          </p:nvPr>
        </p:nvSpPr>
        <p:spPr/>
        <p:txBody>
          <a:bodyPr/>
          <a:lstStyle/>
          <a:p>
            <a:fld id="{F7021451-1387-4CA6-816F-3879F97B5CBC}" type="slidenum">
              <a:rPr lang="en-US"/>
              <a:t>14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01-creer-ugpm.
Écran : /prmp/creer-ugpm — compte : PRMP.
Noms, matricules, initiales, photos et adresses réelles masqués dans la page avant la capture.
Règles appliquées (annexe A) : RG-ENT-09, RG-ENT-10.</a:t>
            </a:r>
          </a:p>
        </p:txBody>
      </p:sp>
      <p:sp>
        <p:nvSpPr>
          <p:cNvPr id="4" name="Slide Number Placeholder 3"/>
          <p:cNvSpPr>
            <a:spLocks noGrp="1"/>
          </p:cNvSpPr>
          <p:nvPr>
            <p:ph type="sldNum" sz="quarter" idx="10"/>
          </p:nvPr>
        </p:nvSpPr>
        <p:spPr/>
        <p:txBody>
          <a:bodyPr/>
          <a:lstStyle/>
          <a:p>
            <a:fld id="{F7021451-1387-4CA6-816F-3879F97B5CBC}" type="slidenum">
              <a:rPr lang="en-US"/>
              <a:t>15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01-mot-de-passe.
Écran : /prmp/a-faire — compte : PRMP.
Noms, matricules, initiales, photos et adresses réelles masqués dans la page avant la capture.
Règles appliquées (annexe A) : RG-ENT-03, RG-ENT-27.</a:t>
            </a:r>
          </a:p>
        </p:txBody>
      </p:sp>
      <p:sp>
        <p:nvSpPr>
          <p:cNvPr id="4" name="Slide Number Placeholder 3"/>
          <p:cNvSpPr>
            <a:spLocks noGrp="1"/>
          </p:cNvSpPr>
          <p:nvPr>
            <p:ph type="sldNum" sz="quarter" idx="10"/>
          </p:nvPr>
        </p:nvSpPr>
        <p:spPr/>
        <p:txBody>
          <a:bodyPr/>
          <a:lstStyle/>
          <a:p>
            <a:fld id="{F7021451-1387-4CA6-816F-3879F97B5CBC}" type="slidenum">
              <a:rPr lang="en-US"/>
              <a:t>16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detail__p00-actualite.jpg (« Une actualité à l’ouverture »).
Raison : l’état montré ne se reproduit plus sur la base du 14/10 ; l’écran n’a pas changé sur ce qu’il montre.
Règles appliquées (annexe A) : RG-ENT-21.</a:t>
            </a:r>
          </a:p>
        </p:txBody>
      </p:sp>
      <p:sp>
        <p:nvSpPr>
          <p:cNvPr id="4" name="Slide Number Placeholder 3"/>
          <p:cNvSpPr>
            <a:spLocks noGrp="1"/>
          </p:cNvSpPr>
          <p:nvPr>
            <p:ph type="sldNum" sz="quarter" idx="10"/>
          </p:nvPr>
        </p:nvSpPr>
        <p:spPr/>
        <p:txBody>
          <a:bodyPr/>
          <a:lstStyle/>
          <a:p>
            <a:fld id="{F7021451-1387-4CA6-816F-3879F97B5CBC}" type="slidenum">
              <a:rPr lang="en-US"/>
              <a:t>18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01-afaire-prmp.
Écran : /prmp/a-faire — compte : PRMP.
Noms, matricules, initiales, photos et adresses réelles masqués dans la page avant la capture.
Règles appliquées (annexe A) : RG-ENT-10, RG-ENT-11, RG-ENT-14, RG-ENT-16, RG-ENT-17, RG-ENT-19, RG-ENT-20.</a:t>
            </a:r>
          </a:p>
        </p:txBody>
      </p:sp>
      <p:sp>
        <p:nvSpPr>
          <p:cNvPr id="4" name="Slide Number Placeholder 3"/>
          <p:cNvSpPr>
            <a:spLocks noGrp="1"/>
          </p:cNvSpPr>
          <p:nvPr>
            <p:ph type="sldNum" sz="quarter" idx="10"/>
          </p:nvPr>
        </p:nvSpPr>
        <p:spPr/>
        <p:txBody>
          <a:bodyPr/>
          <a:lstStyle/>
          <a:p>
            <a:fld id="{F7021451-1387-4CA6-816F-3879F97B5CBC}" type="slidenum">
              <a:rPr lang="en-US"/>
              <a:t>19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01-afaire-sec.
Écran : /secretaire/a-faire — compte : Secrétaire.
Noms, matricules, initiales, photos et adresses réelles masqués dans la page avant la capture.
Règles appliquées (annexe A) : RG-ENT-13, RG-ENT-16, RG-ENT-17, RG-ENT-19.</a:t>
            </a:r>
          </a:p>
        </p:txBody>
      </p:sp>
      <p:sp>
        <p:nvSpPr>
          <p:cNvPr id="4" name="Slide Number Placeholder 3"/>
          <p:cNvSpPr>
            <a:spLocks noGrp="1"/>
          </p:cNvSpPr>
          <p:nvPr>
            <p:ph type="sldNum" sz="quarter" idx="10"/>
          </p:nvPr>
        </p:nvSpPr>
        <p:spPr/>
        <p:txBody>
          <a:bodyPr/>
          <a:lstStyle/>
          <a:p>
            <a:fld id="{F7021451-1387-4CA6-816F-3879F97B5CBC}" type="slidenum">
              <a:rPr lang="en-US"/>
              <a:t>20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01-afaire-pres.
Écran : /president/a-faire — compte : Président.
Noms, matricules, initiales, photos et adresses réelles masqués dans la page avant la capture.
Règles appliquées (annexe A) : RG-ENT-12, RG-ENT-16, RG-ENT-17, RG-ENT-18, RG-ENT-19.</a:t>
            </a:r>
          </a:p>
        </p:txBody>
      </p:sp>
      <p:sp>
        <p:nvSpPr>
          <p:cNvPr id="4" name="Slide Number Placeholder 3"/>
          <p:cNvSpPr>
            <a:spLocks noGrp="1"/>
          </p:cNvSpPr>
          <p:nvPr>
            <p:ph type="sldNum" sz="quarter" idx="10"/>
          </p:nvPr>
        </p:nvSpPr>
        <p:spPr/>
        <p:txBody>
          <a:bodyPr/>
          <a:lstStyle/>
          <a:p>
            <a:fld id="{F7021451-1387-4CA6-816F-3879F97B5CBC}" type="slidenum">
              <a:rPr lang="en-US"/>
              <a:t>21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01-afaire-mem.
Écran : /membre/a-faire — compte : Membre.
Noms, matricules, initiales, photos et adresses réelles masqués dans la page avant la capture.
Règles appliquées (annexe A) : RG-ENT-13, RG-ENT-15, RG-ENT-16, RG-ENT-17, RG-ENT-19.</a:t>
            </a:r>
          </a:p>
        </p:txBody>
      </p:sp>
      <p:sp>
        <p:nvSpPr>
          <p:cNvPr id="4" name="Slide Number Placeholder 3"/>
          <p:cNvSpPr>
            <a:spLocks noGrp="1"/>
          </p:cNvSpPr>
          <p:nvPr>
            <p:ph type="sldNum" sz="quarter" idx="10"/>
          </p:nvPr>
        </p:nvSpPr>
        <p:spPr/>
        <p:txBody>
          <a:bodyPr/>
          <a:lstStyle/>
          <a:p>
            <a:fld id="{F7021451-1387-4CA6-816F-3879F97B5CBC}" type="slidenum">
              <a:rPr lang="en-US"/>
              <a:t>22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01-afaire-ver.
Écran : /verificateur/a-faire — compte : Vérificateur.
Noms, matricules, initiales, photos et adresses réelles masqués dans la page avant la capture.
Règles appliquées (annexe A) : RG-ENT-13, RG-ENT-15, RG-ENT-16, RG-ENT-17, RG-ENT-18, RG-ENT-19.</a:t>
            </a:r>
          </a:p>
        </p:txBody>
      </p:sp>
      <p:sp>
        <p:nvSpPr>
          <p:cNvPr id="4" name="Slide Number Placeholder 3"/>
          <p:cNvSpPr>
            <a:spLocks noGrp="1"/>
          </p:cNvSpPr>
          <p:nvPr>
            <p:ph type="sldNum" sz="quarter" idx="10"/>
          </p:nvPr>
        </p:nvSpPr>
        <p:spPr/>
        <p:txBody>
          <a:bodyPr/>
          <a:lstStyle/>
          <a:p>
            <a:fld id="{F7021451-1387-4CA6-816F-3879F97B5CBC}" type="slidenum">
              <a:rPr lang="en-US"/>
              <a:t>23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01-notifications.
Écran : /notifications — compte : PRMP.
Noms, matricules, initiales, photos et adresses réelles masqués dans la page avant la capture.
Règles appliquées (annexe A) : RG-ENT-22, RG-ENT-23.</a:t>
            </a:r>
          </a:p>
        </p:txBody>
      </p:sp>
      <p:sp>
        <p:nvSpPr>
          <p:cNvPr id="4" name="Slide Number Placeholder 3"/>
          <p:cNvSpPr>
            <a:spLocks noGrp="1"/>
          </p:cNvSpPr>
          <p:nvPr>
            <p:ph type="sldNum" sz="quarter" idx="10"/>
          </p:nvPr>
        </p:nvSpPr>
        <p:spPr/>
        <p:txBody>
          <a:bodyPr/>
          <a:lstStyle/>
          <a:p>
            <a:fld id="{F7021451-1387-4CA6-816F-3879F97B5CBC}" type="slidenum">
              <a:rPr lang="en-US"/>
              <a:t>25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01-cloche.
Écran : /prmp/a-faire — compte : PRMP.
Noms, matricules, initiales, photos et adresses réelles masqués dans la page avant la capture.
Règles appliquées (annexe A) : RG-ENT-22, RG-ENT-23.</a:t>
            </a:r>
          </a:p>
        </p:txBody>
      </p:sp>
      <p:sp>
        <p:nvSpPr>
          <p:cNvPr id="4" name="Slide Number Placeholder 3"/>
          <p:cNvSpPr>
            <a:spLocks noGrp="1"/>
          </p:cNvSpPr>
          <p:nvPr>
            <p:ph type="sldNum" sz="quarter" idx="10"/>
          </p:nvPr>
        </p:nvSpPr>
        <p:spPr/>
        <p:txBody>
          <a:bodyPr/>
          <a:lstStyle/>
          <a:p>
            <a:fld id="{F7021451-1387-4CA6-816F-3879F97B5CBC}" type="slidenum">
              <a:rPr lang="en-US"/>
              <a:t>26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02-creer-type.
Écran : /prmp/soumettre-dossier — compte : PRMP.
Noms, matricules, initiales, photos et adresses réelles masqués dans la page avant la capture.
Règles appliquées (annexe A) : RG-PLA-01, RG-PLA-02.</a:t>
            </a:r>
          </a:p>
        </p:txBody>
      </p:sp>
      <p:sp>
        <p:nvSpPr>
          <p:cNvPr id="4" name="Slide Number Placeholder 3"/>
          <p:cNvSpPr>
            <a:spLocks noGrp="1"/>
          </p:cNvSpPr>
          <p:nvPr>
            <p:ph type="sldNum" sz="quarter" idx="10"/>
          </p:nvPr>
        </p:nvSpPr>
        <p:spPr/>
        <p:txBody>
          <a:bodyPr/>
          <a:lstStyle/>
          <a:p>
            <a:fld id="{F7021451-1387-4CA6-816F-3879F97B5CBC}" type="slidenum">
              <a:rPr lang="en-US"/>
              <a:t>31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detail__p03-plan-entete.jpg (« L’en-tête du plan, et l’import PDF »).
Raison : l’état montré ne se reproduit plus sur la base du 14/10 ; l’écran n’a pas changé sur ce qu’il montre.
Règles appliquées (annexe A) : RG-PLA-02, RG-PLA-10.</a:t>
            </a:r>
          </a:p>
        </p:txBody>
      </p:sp>
      <p:sp>
        <p:nvSpPr>
          <p:cNvPr id="4" name="Slide Number Placeholder 3"/>
          <p:cNvSpPr>
            <a:spLocks noGrp="1"/>
          </p:cNvSpPr>
          <p:nvPr>
            <p:ph type="sldNum" sz="quarter" idx="10"/>
          </p:nvPr>
        </p:nvSpPr>
        <p:spPr/>
        <p:txBody>
          <a:bodyPr/>
          <a:lstStyle/>
          <a:p>
            <a:fld id="{F7021451-1387-4CA6-816F-3879F97B5CBC}" type="slidenum">
              <a:rPr lang="en-US"/>
              <a:t>32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detail__p04-plan-ligne.jpg (« Une ligne de marché »).
Raison : l’état montré ne se reproduit plus sur la base du 14/10 ; l’écran n’a pas changé sur ce qu’il montre.
Règles appliquées (annexe A) : RG-PLA-03, RG-PLA-04, RG-PLA-05, RG-PLA-06, RG-PLA-26.</a:t>
            </a:r>
          </a:p>
        </p:txBody>
      </p:sp>
      <p:sp>
        <p:nvSpPr>
          <p:cNvPr id="4" name="Slide Number Placeholder 3"/>
          <p:cNvSpPr>
            <a:spLocks noGrp="1"/>
          </p:cNvSpPr>
          <p:nvPr>
            <p:ph type="sldNum" sz="quarter" idx="10"/>
          </p:nvPr>
        </p:nvSpPr>
        <p:spPr/>
        <p:txBody>
          <a:bodyPr/>
          <a:lstStyle/>
          <a:p>
            <a:fld id="{F7021451-1387-4CA6-816F-3879F97B5CBC}" type="slidenum">
              <a:rPr lang="en-US"/>
              <a:t>33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detail__p05-plan-capm.jpg (« Le calendrier prévisionnel (CAPM) »).
Raison : l’état montré ne se reproduit plus sur la base du 14/10 ; l’écran n’a pas changé sur ce qu’il montre.
Règles appliquées (annexe A) : RG-PLA-07, RG-PLA-08.</a:t>
            </a:r>
          </a:p>
        </p:txBody>
      </p:sp>
      <p:sp>
        <p:nvSpPr>
          <p:cNvPr id="4" name="Slide Number Placeholder 3"/>
          <p:cNvSpPr>
            <a:spLocks noGrp="1"/>
          </p:cNvSpPr>
          <p:nvPr>
            <p:ph type="sldNum" sz="quarter" idx="10"/>
          </p:nvPr>
        </p:nvSpPr>
        <p:spPr/>
        <p:txBody>
          <a:bodyPr/>
          <a:lstStyle/>
          <a:p>
            <a:fld id="{F7021451-1387-4CA6-816F-3879F97B5CBC}" type="slidenum">
              <a:rPr lang="en-US"/>
              <a:t>34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detail__p06-plan-pieces.jpg (« Les pièces jointes »).
Raison : l’état montré ne se reproduit plus sur la base du 14/10 ; l’écran n’a pas changé sur ce qu’il montre.
Règles appliquées (annexe A) : RG-PLA-04, RG-PLA-09.</a:t>
            </a:r>
          </a:p>
        </p:txBody>
      </p:sp>
      <p:sp>
        <p:nvSpPr>
          <p:cNvPr id="4" name="Slide Number Placeholder 3"/>
          <p:cNvSpPr>
            <a:spLocks noGrp="1"/>
          </p:cNvSpPr>
          <p:nvPr>
            <p:ph type="sldNum" sz="quarter" idx="10"/>
          </p:nvPr>
        </p:nvSpPr>
        <p:spPr/>
        <p:txBody>
          <a:bodyPr/>
          <a:lstStyle/>
          <a:p>
            <a:fld id="{F7021451-1387-4CA6-816F-3879F97B5CBC}" type="slidenum">
              <a:rPr lang="en-US"/>
              <a:t>35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detail__p07-plan-apercu.jpg (« L’aperçu avant création »).
Raison : l’état montré ne se reproduit plus sur la base du 14/10 ; l’écran n’a pas changé sur ce qu’il montre.
Règles appliquées (annexe A) : RG-PLA-02, RG-PLA-06, RG-PLA-10.</a:t>
            </a:r>
          </a:p>
        </p:txBody>
      </p:sp>
      <p:sp>
        <p:nvSpPr>
          <p:cNvPr id="4" name="Slide Number Placeholder 3"/>
          <p:cNvSpPr>
            <a:spLocks noGrp="1"/>
          </p:cNvSpPr>
          <p:nvPr>
            <p:ph type="sldNum" sz="quarter" idx="10"/>
          </p:nvPr>
        </p:nvSpPr>
        <p:spPr/>
        <p:txBody>
          <a:bodyPr/>
          <a:lstStyle/>
          <a:p>
            <a:fld id="{F7021451-1387-4CA6-816F-3879F97B5CBC}" type="slidenum">
              <a:rPr lang="en-US"/>
              <a:t>36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02-brouillons.
Écran : /prmp/mes-brouillons — compte : PRMP.
Noms, matricules, initiales, photos et adresses réelles masqués dans la page avant la capture.
Règles appliquées (annexe A) : RG-PLA-02, RG-PLA-16, RG-PLA-17.</a:t>
            </a:r>
          </a:p>
        </p:txBody>
      </p:sp>
      <p:sp>
        <p:nvSpPr>
          <p:cNvPr id="4" name="Slide Number Placeholder 3"/>
          <p:cNvSpPr>
            <a:spLocks noGrp="1"/>
          </p:cNvSpPr>
          <p:nvPr>
            <p:ph type="sldNum" sz="quarter" idx="10"/>
          </p:nvPr>
        </p:nvSpPr>
        <p:spPr/>
        <p:txBody>
          <a:bodyPr/>
          <a:lstStyle/>
          <a:p>
            <a:fld id="{F7021451-1387-4CA6-816F-3879F97B5CBC}" type="slidenum">
              <a:rPr lang="en-US"/>
              <a:t>38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02-verifier-ppm.
Écran : /prmp/verifier-ppm/200342 — compte : PRMP.
Noms, matricules, initiales, photos et adresses réelles masqués dans la page avant la capture.
Règles appliquées (annexe A) : RG-PLA-11, RG-PLA-12, RG-PLA-13, RG-PLA-14, RG-PLA-15.</a:t>
            </a:r>
          </a:p>
        </p:txBody>
      </p:sp>
      <p:sp>
        <p:nvSpPr>
          <p:cNvPr id="4" name="Slide Number Placeholder 3"/>
          <p:cNvSpPr>
            <a:spLocks noGrp="1"/>
          </p:cNvSpPr>
          <p:nvPr>
            <p:ph type="sldNum" sz="quarter" idx="10"/>
          </p:nvPr>
        </p:nvSpPr>
        <p:spPr/>
        <p:txBody>
          <a:bodyPr/>
          <a:lstStyle/>
          <a:p>
            <a:fld id="{F7021451-1387-4CA6-816F-3879F97B5CBC}" type="slidenum">
              <a:rPr lang="en-US"/>
              <a:t>39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02-suivi.
Écran : /prmp/tableau-de-bord — compte : PRMP.
Noms, matricules, initiales, photos et adresses réelles masqués dans la page avant la capture.
Règles appliquées (annexe A) : RG-PLA-18, RG-PLA-19.</a:t>
            </a:r>
          </a:p>
        </p:txBody>
      </p:sp>
      <p:sp>
        <p:nvSpPr>
          <p:cNvPr id="4" name="Slide Number Placeholder 3"/>
          <p:cNvSpPr>
            <a:spLocks noGrp="1"/>
          </p:cNvSpPr>
          <p:nvPr>
            <p:ph type="sldNum" sz="quarter" idx="10"/>
          </p:nvPr>
        </p:nvSpPr>
        <p:spPr/>
        <p:txBody>
          <a:bodyPr/>
          <a:lstStyle/>
          <a:p>
            <a:fld id="{F7021451-1387-4CA6-816F-3879F97B5CBC}" type="slidenum">
              <a:rPr lang="en-US"/>
              <a:t>41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02-dossier-frise.
Écran : /prmp/dossier/100359 — compte : PRMP.
Noms, matricules, initiales, photos et adresses réelles masqués dans la page avant la capture.
Règles appliquées (annexe A) : RG-PLA-18, RG-PLA-19, RG-PLA-27.</a:t>
            </a:r>
          </a:p>
        </p:txBody>
      </p:sp>
      <p:sp>
        <p:nvSpPr>
          <p:cNvPr id="4" name="Slide Number Placeholder 3"/>
          <p:cNvSpPr>
            <a:spLocks noGrp="1"/>
          </p:cNvSpPr>
          <p:nvPr>
            <p:ph type="sldNum" sz="quarter" idx="10"/>
          </p:nvPr>
        </p:nvSpPr>
        <p:spPr/>
        <p:txBody>
          <a:bodyPr/>
          <a:lstStyle/>
          <a:p>
            <a:fld id="{F7021451-1387-4CA6-816F-3879F97B5CBC}" type="slidenum">
              <a:rPr lang="en-US"/>
              <a:t>42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02-dossier-ppm-lignes.
Écran : /prmp/dossier/100363 — compte : PRMP.
Noms, matricules, initiales, photos et adresses réelles masqués dans la page avant la capture.
Règles appliquées (annexe A) : RG-PLA-18, RG-PLA-26.</a:t>
            </a:r>
          </a:p>
        </p:txBody>
      </p:sp>
      <p:sp>
        <p:nvSpPr>
          <p:cNvPr id="4" name="Slide Number Placeholder 3"/>
          <p:cNvSpPr>
            <a:spLocks noGrp="1"/>
          </p:cNvSpPr>
          <p:nvPr>
            <p:ph type="sldNum" sz="quarter" idx="10"/>
          </p:nvPr>
        </p:nvSpPr>
        <p:spPr/>
        <p:txBody>
          <a:bodyPr/>
          <a:lstStyle/>
          <a:p>
            <a:fld id="{F7021451-1387-4CA6-816F-3879F97B5CBC}" type="slidenum">
              <a:rPr lang="en-US"/>
              <a:t>43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02-ppm-marches.
Écran : /prmp/ppm-marches — compte : PRMP.
Noms, matricules, initiales, photos et adresses réelles masqués dans la page avant la capture.
Règles appliquées (annexe A) : RG-PLA-04, RG-PLA-20.</a:t>
            </a:r>
          </a:p>
        </p:txBody>
      </p:sp>
      <p:sp>
        <p:nvSpPr>
          <p:cNvPr id="4" name="Slide Number Placeholder 3"/>
          <p:cNvSpPr>
            <a:spLocks noGrp="1"/>
          </p:cNvSpPr>
          <p:nvPr>
            <p:ph type="sldNum" sz="quarter" idx="10"/>
          </p:nvPr>
        </p:nvSpPr>
        <p:spPr/>
        <p:txBody>
          <a:bodyPr/>
          <a:lstStyle/>
          <a:p>
            <a:fld id="{F7021451-1387-4CA6-816F-3879F97B5CBC}" type="slidenum">
              <a:rPr lang="en-US"/>
              <a:t>44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02-ppm-marches-details.
Écran : /prmp/ppm-marches — compte : PRMP.
Noms, matricules, initiales, photos et adresses réelles masqués dans la page avant la capture.
Règles appliquées (annexe A) : RG-PLA-05, RG-PLA-26.</a:t>
            </a:r>
          </a:p>
        </p:txBody>
      </p:sp>
      <p:sp>
        <p:nvSpPr>
          <p:cNvPr id="4" name="Slide Number Placeholder 3"/>
          <p:cNvSpPr>
            <a:spLocks noGrp="1"/>
          </p:cNvSpPr>
          <p:nvPr>
            <p:ph type="sldNum" sz="quarter" idx="10"/>
          </p:nvPr>
        </p:nvSpPr>
        <p:spPr/>
        <p:txBody>
          <a:bodyPr/>
          <a:lstStyle/>
          <a:p>
            <a:fld id="{F7021451-1387-4CA6-816F-3879F97B5CBC}" type="slidenum">
              <a:rPr lang="en-US"/>
              <a:t>45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02-mettre-a-jour-maj.
Écran : /prmp/dossiers-verifies?maj=1 — compte : PRMP.
Noms, matricules, initiales, photos et adresses réelles masqués dans la page avant la capture.
Règles appliquées (annexe A) : RG-PLA-20, RG-PLA-21, RG-PLA-22.</a:t>
            </a:r>
          </a:p>
        </p:txBody>
      </p:sp>
      <p:sp>
        <p:nvSpPr>
          <p:cNvPr id="4" name="Slide Number Placeholder 3"/>
          <p:cNvSpPr>
            <a:spLocks noGrp="1"/>
          </p:cNvSpPr>
          <p:nvPr>
            <p:ph type="sldNum" sz="quarter" idx="10"/>
          </p:nvPr>
        </p:nvSpPr>
        <p:spPr/>
        <p:txBody>
          <a:bodyPr/>
          <a:lstStyle/>
          <a:p>
            <a:fld id="{F7021451-1387-4CA6-816F-3879F97B5CBC}" type="slidenum">
              <a:rPr lang="en-US"/>
              <a:t>47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02-retraits.
Écran : /prmp/retraits — compte : PRMP.
Noms, matricules, initiales, photos et adresses réelles masqués dans la page avant la capture.
Règles appliquées (annexe A) : RG-PLA-23, RG-PLA-24.</a:t>
            </a:r>
          </a:p>
        </p:txBody>
      </p:sp>
      <p:sp>
        <p:nvSpPr>
          <p:cNvPr id="4" name="Slide Number Placeholder 3"/>
          <p:cNvSpPr>
            <a:spLocks noGrp="1"/>
          </p:cNvSpPr>
          <p:nvPr>
            <p:ph type="sldNum" sz="quarter" idx="10"/>
          </p:nvPr>
        </p:nvSpPr>
        <p:spPr/>
        <p:txBody>
          <a:bodyPr/>
          <a:lstStyle/>
          <a:p>
            <a:fld id="{F7021451-1387-4CA6-816F-3879F97B5CBC}" type="slidenum">
              <a:rPr lang="en-US"/>
              <a:t>48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02-calendrier-alertes.
Écran : /prmp/calendrier — compte : PRMP.
Noms, matricules, initiales, photos et adresses réelles masqués dans la page avant la capture.
Règles appliquées (annexe A) : RG-PLA-25.</a:t>
            </a:r>
          </a:p>
        </p:txBody>
      </p:sp>
      <p:sp>
        <p:nvSpPr>
          <p:cNvPr id="4" name="Slide Number Placeholder 3"/>
          <p:cNvSpPr>
            <a:spLocks noGrp="1"/>
          </p:cNvSpPr>
          <p:nvPr>
            <p:ph type="sldNum" sz="quarter" idx="10"/>
          </p:nvPr>
        </p:nvSpPr>
        <p:spPr/>
        <p:txBody>
          <a:bodyPr/>
          <a:lstStyle/>
          <a:p>
            <a:fld id="{F7021451-1387-4CA6-816F-3879F97B5CBC}" type="slidenum">
              <a:rPr lang="en-US"/>
              <a:t>49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03-sec-tous.
Écran : /secretaire/tableau-de-bord — compte : Secrétaire.
Noms, matricules, initiales, photos et adresses réelles masqués dans la page avant la capture.
Règles appliquées (annexe A) : RG-CTL-04, RG-CTL-05, RG-CTL-42.</a:t>
            </a:r>
          </a:p>
        </p:txBody>
      </p:sp>
      <p:sp>
        <p:nvSpPr>
          <p:cNvPr id="4" name="Slide Number Placeholder 3"/>
          <p:cNvSpPr>
            <a:spLocks noGrp="1"/>
          </p:cNvSpPr>
          <p:nvPr>
            <p:ph type="sldNum" sz="quarter" idx="10"/>
          </p:nvPr>
        </p:nvSpPr>
        <p:spPr/>
        <p:txBody>
          <a:bodyPr/>
          <a:lstStyle/>
          <a:p>
            <a:fld id="{F7021451-1387-4CA6-816F-3879F97B5CBC}" type="slidenum">
              <a:rPr lang="en-US"/>
              <a:t>54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03-sec-recevabilite.
Écran : /secretaire/dossier/100373 — compte : Secrétaire.
Noms, matricules, initiales, photos et adresses réelles masqués dans la page avant la capture.
Règles appliquées (annexe A) : RG-CTL-01, RG-CTL-05, RG-CTL-42.</a:t>
            </a:r>
          </a:p>
        </p:txBody>
      </p:sp>
      <p:sp>
        <p:nvSpPr>
          <p:cNvPr id="4" name="Slide Number Placeholder 3"/>
          <p:cNvSpPr>
            <a:spLocks noGrp="1"/>
          </p:cNvSpPr>
          <p:nvPr>
            <p:ph type="sldNum" sz="quarter" idx="10"/>
          </p:nvPr>
        </p:nvSpPr>
        <p:spPr/>
        <p:txBody>
          <a:bodyPr/>
          <a:lstStyle/>
          <a:p>
            <a:fld id="{F7021451-1387-4CA6-816F-3879F97B5CBC}" type="slidenum">
              <a:rPr lang="en-US"/>
              <a:t>55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03-sec-reception-modale.
Écran : /secretaire/dossier/100373 — compte : Secrétaire.
Noms, matricules, initiales, photos et adresses réelles masqués dans la page avant la capture.
Règles appliquées (annexe A) : RG-CTL-01, RG-CTL-02, RG-CTL-03, RG-CTL-04, RG-CTL-47.</a:t>
            </a:r>
          </a:p>
        </p:txBody>
      </p:sp>
      <p:sp>
        <p:nvSpPr>
          <p:cNvPr id="4" name="Slide Number Placeholder 3"/>
          <p:cNvSpPr>
            <a:spLocks noGrp="1"/>
          </p:cNvSpPr>
          <p:nvPr>
            <p:ph type="sldNum" sz="quarter" idx="10"/>
          </p:nvPr>
        </p:nvSpPr>
        <p:spPr/>
        <p:txBody>
          <a:bodyPr/>
          <a:lstStyle/>
          <a:p>
            <a:fld id="{F7021451-1387-4CA6-816F-3879F97B5CBC}" type="slidenum">
              <a:rPr lang="en-US"/>
              <a:t>56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03-pres-tous.
Écran : /president/tableau-de-bord — compte : Président.
Noms, matricules, initiales, photos et adresses réelles masqués dans la page avant la capture.
Règles appliquées (annexe A) : RG-CTL-10, RG-CTL-42, RG-CTL-45.</a:t>
            </a:r>
          </a:p>
        </p:txBody>
      </p:sp>
      <p:sp>
        <p:nvSpPr>
          <p:cNvPr id="4" name="Slide Number Placeholder 3"/>
          <p:cNvSpPr>
            <a:spLocks noGrp="1"/>
          </p:cNvSpPr>
          <p:nvPr>
            <p:ph type="sldNum" sz="quarter" idx="10"/>
          </p:nvPr>
        </p:nvSpPr>
        <p:spPr/>
        <p:txBody>
          <a:bodyPr/>
          <a:lstStyle/>
          <a:p>
            <a:fld id="{F7021451-1387-4CA6-816F-3879F97B5CBC}" type="slidenum">
              <a:rPr lang="en-US"/>
              <a:t>58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detail__c04-president-dispatch.jpg (« Dispatcher à un Membre »).
Raison : l’état montré ne se reproduit plus sur la base du 14/10 ; l’écran n’a pas changé sur ce qu’il montre.
Règles appliquées (annexe A) : RG-CTL-06, RG-CTL-07, RG-CTL-08, RG-CTL-09, RG-CTL-11.</a:t>
            </a:r>
          </a:p>
        </p:txBody>
      </p:sp>
      <p:sp>
        <p:nvSpPr>
          <p:cNvPr id="4" name="Slide Number Placeholder 3"/>
          <p:cNvSpPr>
            <a:spLocks noGrp="1"/>
          </p:cNvSpPr>
          <p:nvPr>
            <p:ph type="sldNum" sz="quarter" idx="10"/>
          </p:nvPr>
        </p:nvSpPr>
        <p:spPr/>
        <p:txBody>
          <a:bodyPr/>
          <a:lstStyle/>
          <a:p>
            <a:fld id="{F7021451-1387-4CA6-816F-3879F97B5CBC}" type="slidenum">
              <a:rPr lang="en-US"/>
              <a:t>59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03-pres-repartition.
Écran : /president/repartition-dispatch — compte : Président.
Noms, matricules, initiales, photos et adresses réelles masqués dans la page avant la capture.
Règles appliquées (annexe A) : RG-CTL-07, RG-CTL-11, RG-CTL-12.</a:t>
            </a:r>
          </a:p>
        </p:txBody>
      </p:sp>
      <p:sp>
        <p:nvSpPr>
          <p:cNvPr id="4" name="Slide Number Placeholder 3"/>
          <p:cNvSpPr>
            <a:spLocks noGrp="1"/>
          </p:cNvSpPr>
          <p:nvPr>
            <p:ph type="sldNum" sz="quarter" idx="10"/>
          </p:nvPr>
        </p:nvSpPr>
        <p:spPr/>
        <p:txBody>
          <a:bodyPr/>
          <a:lstStyle/>
          <a:p>
            <a:fld id="{F7021451-1387-4CA6-816F-3879F97B5CBC}" type="slidenum">
              <a:rPr lang="en-US"/>
              <a:t>60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03-pres-chaines.
Écran : /president/chaines-controle — compte : Président.
Noms, matricules, initiales, photos et adresses réelles masqués dans la page avant la capture.
Règles appliquées (annexe A) : RG-CTL-13.</a:t>
            </a:r>
          </a:p>
        </p:txBody>
      </p:sp>
      <p:sp>
        <p:nvSpPr>
          <p:cNvPr id="4" name="Slide Number Placeholder 3"/>
          <p:cNvSpPr>
            <a:spLocks noGrp="1"/>
          </p:cNvSpPr>
          <p:nvPr>
            <p:ph type="sldNum" sz="quarter" idx="10"/>
          </p:nvPr>
        </p:nvSpPr>
        <p:spPr/>
        <p:txBody>
          <a:bodyPr/>
          <a:lstStyle/>
          <a:p>
            <a:fld id="{F7021451-1387-4CA6-816F-3879F97B5CBC}" type="slidenum">
              <a:rPr lang="en-US"/>
              <a:t>61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03-pres-dossier.
Écran : /president/dossier/100370 — compte : Président.
Noms, matricules, initiales, photos et adresses réelles masqués dans la page avant la capture.
Règles appliquées (annexe A) : RG-CTL-42, RG-CTL-44, RG-CTL-45.</a:t>
            </a:r>
          </a:p>
        </p:txBody>
      </p:sp>
      <p:sp>
        <p:nvSpPr>
          <p:cNvPr id="4" name="Slide Number Placeholder 3"/>
          <p:cNvSpPr>
            <a:spLocks noGrp="1"/>
          </p:cNvSpPr>
          <p:nvPr>
            <p:ph type="sldNum" sz="quarter" idx="10"/>
          </p:nvPr>
        </p:nvSpPr>
        <p:spPr/>
        <p:txBody>
          <a:bodyPr/>
          <a:lstStyle/>
          <a:p>
            <a:fld id="{F7021451-1387-4CA6-816F-3879F97B5CBC}" type="slidenum">
              <a:rPr lang="en-US"/>
              <a:t>62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03-mem-tous.
Écran : /membre/tableau-de-bord — compte : Membre.
Noms, matricules, initiales, photos et adresses réelles masqués dans la page avant la capture.
Règles appliquées (annexe A) : RG-CTL-14.</a:t>
            </a:r>
          </a:p>
        </p:txBody>
      </p:sp>
      <p:sp>
        <p:nvSpPr>
          <p:cNvPr id="4" name="Slide Number Placeholder 3"/>
          <p:cNvSpPr>
            <a:spLocks noGrp="1"/>
          </p:cNvSpPr>
          <p:nvPr>
            <p:ph type="sldNum" sz="quarter" idx="10"/>
          </p:nvPr>
        </p:nvSpPr>
        <p:spPr/>
        <p:txBody>
          <a:bodyPr/>
          <a:lstStyle/>
          <a:p>
            <a:fld id="{F7021451-1387-4CA6-816F-3879F97B5CBC}" type="slidenum">
              <a:rPr lang="en-US"/>
              <a:t>64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03-mem-examen.
Écran : /membre/examiner/100378 — compte : Membre.
Noms, matricules, initiales, photos et adresses réelles masqués dans la page avant la capture.
Règles appliquées (annexe A) : RG-CTL-14, RG-CTL-15, RG-CTL-17, RG-CTL-18, RG-CTL-48.</a:t>
            </a:r>
          </a:p>
        </p:txBody>
      </p:sp>
      <p:sp>
        <p:nvSpPr>
          <p:cNvPr id="4" name="Slide Number Placeholder 3"/>
          <p:cNvSpPr>
            <a:spLocks noGrp="1"/>
          </p:cNvSpPr>
          <p:nvPr>
            <p:ph type="sldNum" sz="quarter" idx="10"/>
          </p:nvPr>
        </p:nvSpPr>
        <p:spPr/>
        <p:txBody>
          <a:bodyPr/>
          <a:lstStyle/>
          <a:p>
            <a:fld id="{F7021451-1387-4CA6-816F-3879F97B5CBC}" type="slidenum">
              <a:rPr lang="en-US"/>
              <a:t>65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manuel-recette__m09-admin-motifs-types.jpg (« Les motifs-types de la conclusion »).
Raison : l’état montré ne se reproduit plus sur la base du 14/10 ; l’écran n’a pas changé sur ce qu’il montre.
Règles appliquées (annexe A) : RG-CTL-49.</a:t>
            </a:r>
          </a:p>
        </p:txBody>
      </p:sp>
      <p:sp>
        <p:nvSpPr>
          <p:cNvPr id="4" name="Slide Number Placeholder 3"/>
          <p:cNvSpPr>
            <a:spLocks noGrp="1"/>
          </p:cNvSpPr>
          <p:nvPr>
            <p:ph type="sldNum" sz="quarter" idx="10"/>
          </p:nvPr>
        </p:nvSpPr>
        <p:spPr/>
        <p:txBody>
          <a:bodyPr/>
          <a:lstStyle/>
          <a:p>
            <a:fld id="{F7021451-1387-4CA6-816F-3879F97B5CBC}" type="slidenum">
              <a:rPr lang="en-US"/>
              <a:t>66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detail__c08-membre-projet-pv.jpg (« Le projet de PV »).
Raison : l’état montré ne se reproduit plus sur la base du 14/10 ; l’écran n’a pas changé sur ce qu’il montre.
Règles appliquées (annexe A) : RG-CTL-19, RG-CTL-20, RG-CTL-21.</a:t>
            </a:r>
          </a:p>
        </p:txBody>
      </p:sp>
      <p:sp>
        <p:nvSpPr>
          <p:cNvPr id="4" name="Slide Number Placeholder 3"/>
          <p:cNvSpPr>
            <a:spLocks noGrp="1"/>
          </p:cNvSpPr>
          <p:nvPr>
            <p:ph type="sldNum" sz="quarter" idx="10"/>
          </p:nvPr>
        </p:nvSpPr>
        <p:spPr/>
        <p:txBody>
          <a:bodyPr/>
          <a:lstStyle/>
          <a:p>
            <a:fld id="{F7021451-1387-4CA6-816F-3879F97B5CBC}" type="slidenum">
              <a:rPr lang="en-US"/>
              <a:t>67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detail__c09-president-visa.jpg (« Le visa du Président »).
Raison : l’état montré ne se reproduit plus sur la base du 14/10 ; l’écran n’a pas changé sur ce qu’il montre.
Règles appliquées (annexe A) : RG-CTL-21, RG-CTL-22, RG-CTL-23, RG-CTL-24, RG-CTL-25, RG-CTL-26, RG-CTL-28.</a:t>
            </a:r>
          </a:p>
        </p:txBody>
      </p:sp>
      <p:sp>
        <p:nvSpPr>
          <p:cNvPr id="4" name="Slide Number Placeholder 3"/>
          <p:cNvSpPr>
            <a:spLocks noGrp="1"/>
          </p:cNvSpPr>
          <p:nvPr>
            <p:ph type="sldNum" sz="quarter" idx="10"/>
          </p:nvPr>
        </p:nvSpPr>
        <p:spPr/>
        <p:txBody>
          <a:bodyPr/>
          <a:lstStyle/>
          <a:p>
            <a:fld id="{F7021451-1387-4CA6-816F-3879F97B5CBC}" type="slidenum">
              <a:rPr lang="en-US"/>
              <a:t>68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detail__c10-membre-signature.jpg (« La seconde signature »).
Raison : l’état montré ne se reproduit plus sur la base du 14/10 ; l’écran n’a pas changé sur ce qu’il montre.
Règles appliquées (annexe A) : RG-CTL-26, RG-CTL-27.</a:t>
            </a:r>
          </a:p>
        </p:txBody>
      </p:sp>
      <p:sp>
        <p:nvSpPr>
          <p:cNvPr id="4" name="Slide Number Placeholder 3"/>
          <p:cNvSpPr>
            <a:spLocks noGrp="1"/>
          </p:cNvSpPr>
          <p:nvPr>
            <p:ph type="sldNum" sz="quarter" idx="10"/>
          </p:nvPr>
        </p:nvSpPr>
        <p:spPr/>
        <p:txBody>
          <a:bodyPr/>
          <a:lstStyle/>
          <a:p>
            <a:fld id="{F7021451-1387-4CA6-816F-3879F97B5CBC}" type="slidenum">
              <a:rPr lang="en-US"/>
              <a:t>69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03-pres-examen.
Écran : /president/resultat-examen — compte : Président.
Noms, matricules, initiales, photos et adresses réelles masqués dans la page avant la capture.
Règles appliquées (annexe A) : RG-CTL-21, RG-CTL-25, RG-CTL-36.</a:t>
            </a:r>
          </a:p>
        </p:txBody>
      </p:sp>
      <p:sp>
        <p:nvSpPr>
          <p:cNvPr id="4" name="Slide Number Placeholder 3"/>
          <p:cNvSpPr>
            <a:spLocks noGrp="1"/>
          </p:cNvSpPr>
          <p:nvPr>
            <p:ph type="sldNum" sz="quarter" idx="10"/>
          </p:nvPr>
        </p:nvSpPr>
        <p:spPr/>
        <p:txBody>
          <a:bodyPr/>
          <a:lstStyle/>
          <a:p>
            <a:fld id="{F7021451-1387-4CA6-816F-3879F97B5CBC}" type="slidenum">
              <a:rPr lang="en-US"/>
              <a:t>70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03-mem-pv-liste.
Écran : /membre/pv — compte : Membre.
Noms, matricules, initiales, photos et adresses réelles masqués dans la page avant la capture.
Règles appliquées (annexe A) : RG-CTL-36, RG-CTL-37.</a:t>
            </a:r>
          </a:p>
        </p:txBody>
      </p:sp>
      <p:sp>
        <p:nvSpPr>
          <p:cNvPr id="4" name="Slide Number Placeholder 3"/>
          <p:cNvSpPr>
            <a:spLocks noGrp="1"/>
          </p:cNvSpPr>
          <p:nvPr>
            <p:ph type="sldNum" sz="quarter" idx="10"/>
          </p:nvPr>
        </p:nvSpPr>
        <p:spPr/>
        <p:txBody>
          <a:bodyPr/>
          <a:lstStyle/>
          <a:p>
            <a:fld id="{F7021451-1387-4CA6-816F-3879F97B5CBC}" type="slidenum">
              <a:rPr lang="en-US"/>
              <a:t>71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03-ver-a-verifier.
Écran : /verificateur/a-verifier — compte : Vérificateur.
Noms, matricules, initiales, photos et adresses réelles masqués dans la page avant la capture.
Règles appliquées (annexe A) : RG-CTL-29, RG-CTL-30, RG-CTL-31, RG-CTL-32, RG-CTL-33.</a:t>
            </a:r>
          </a:p>
        </p:txBody>
      </p:sp>
      <p:sp>
        <p:nvSpPr>
          <p:cNvPr id="4" name="Slide Number Placeholder 3"/>
          <p:cNvSpPr>
            <a:spLocks noGrp="1"/>
          </p:cNvSpPr>
          <p:nvPr>
            <p:ph type="sldNum" sz="quarter" idx="10"/>
          </p:nvPr>
        </p:nvSpPr>
        <p:spPr/>
        <p:txBody>
          <a:bodyPr/>
          <a:lstStyle/>
          <a:p>
            <a:fld id="{F7021451-1387-4CA6-816F-3879F97B5CBC}" type="slidenum">
              <a:rPr lang="en-US"/>
              <a:t>73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03-ver-verifier.
Écran : /verificateur/verifier/100372 — compte : Vérificateur.
Noms, matricules, initiales, photos et adresses réelles masqués dans la page avant la capture.
Règles appliquées (annexe A) : RG-CTL-29, RG-CTL-34.</a:t>
            </a:r>
          </a:p>
        </p:txBody>
      </p:sp>
      <p:sp>
        <p:nvSpPr>
          <p:cNvPr id="4" name="Slide Number Placeholder 3"/>
          <p:cNvSpPr>
            <a:spLocks noGrp="1"/>
          </p:cNvSpPr>
          <p:nvPr>
            <p:ph type="sldNum" sz="quarter" idx="10"/>
          </p:nvPr>
        </p:nvSpPr>
        <p:spPr/>
        <p:txBody>
          <a:bodyPr/>
          <a:lstStyle/>
          <a:p>
            <a:fld id="{F7021451-1387-4CA6-816F-3879F97B5CBC}" type="slidenum">
              <a:rPr lang="en-US"/>
              <a:t>74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03-ver-verifies.
Écran : /verificateur/verifies — compte : Vérificateur.
Noms, matricules, initiales, photos et adresses réelles masqués dans la page avant la capture.
Règles appliquées (annexe A) : RG-CTL-34, RG-CTL-35.</a:t>
            </a:r>
          </a:p>
        </p:txBody>
      </p:sp>
      <p:sp>
        <p:nvSpPr>
          <p:cNvPr id="4" name="Slide Number Placeholder 3"/>
          <p:cNvSpPr>
            <a:spLocks noGrp="1"/>
          </p:cNvSpPr>
          <p:nvPr>
            <p:ph type="sldNum" sz="quarter" idx="10"/>
          </p:nvPr>
        </p:nvSpPr>
        <p:spPr/>
        <p:txBody>
          <a:bodyPr/>
          <a:lstStyle/>
          <a:p>
            <a:fld id="{F7021451-1387-4CA6-816F-3879F97B5CBC}" type="slidenum">
              <a:rPr lang="en-US"/>
              <a:t>75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03-pres-archivage.
Écran : /president/a-faire — compte : Président.
Noms, matricules, initiales, photos et adresses réelles masqués dans la page avant la capture.
Règles appliquées (annexe A) : RG-CTL-10, RG-CTL-35.</a:t>
            </a:r>
          </a:p>
        </p:txBody>
      </p:sp>
      <p:sp>
        <p:nvSpPr>
          <p:cNvPr id="4" name="Slide Number Placeholder 3"/>
          <p:cNvSpPr>
            <a:spLocks noGrp="1"/>
          </p:cNvSpPr>
          <p:nvPr>
            <p:ph type="sldNum" sz="quarter" idx="10"/>
          </p:nvPr>
        </p:nvSpPr>
        <p:spPr/>
        <p:txBody>
          <a:bodyPr/>
          <a:lstStyle/>
          <a:p>
            <a:fld id="{F7021451-1387-4CA6-816F-3879F97B5CBC}" type="slidenum">
              <a:rPr lang="en-US"/>
              <a:t>76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detail__c15-assistant-archivage.jpg (« L’archivage du PV »).
Raison : l’état montré ne se reproduit plus sur la base du 14/10 ; l’écran n’a pas changé sur ce qu’il montre.
Règles appliquées (annexe A) : RG-CTL-35.</a:t>
            </a:r>
          </a:p>
        </p:txBody>
      </p:sp>
      <p:sp>
        <p:nvSpPr>
          <p:cNvPr id="4" name="Slide Number Placeholder 3"/>
          <p:cNvSpPr>
            <a:spLocks noGrp="1"/>
          </p:cNvSpPr>
          <p:nvPr>
            <p:ph type="sldNum" sz="quarter" idx="10"/>
          </p:nvPr>
        </p:nvSpPr>
        <p:spPr/>
        <p:txBody>
          <a:bodyPr/>
          <a:lstStyle/>
          <a:p>
            <a:fld id="{F7021451-1387-4CA6-816F-3879F97B5CBC}" type="slidenum">
              <a:rPr lang="en-US"/>
              <a:t>77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03-dossier-dss.
Écran : /prmp/dossier/100377 — compte : PRMP.
Noms, matricules, initiales, photos et adresses réelles masqués dans la page avant la capture.
Règles appliquées (annexe A) : RG-CTL-29, RG-CTL-43, RG-CTL-44, RG-CTL-47.</a:t>
            </a:r>
          </a:p>
        </p:txBody>
      </p:sp>
      <p:sp>
        <p:nvSpPr>
          <p:cNvPr id="4" name="Slide Number Placeholder 3"/>
          <p:cNvSpPr>
            <a:spLocks noGrp="1"/>
          </p:cNvSpPr>
          <p:nvPr>
            <p:ph type="sldNum" sz="quarter" idx="10"/>
          </p:nvPr>
        </p:nvSpPr>
        <p:spPr/>
        <p:txBody>
          <a:bodyPr/>
          <a:lstStyle/>
          <a:p>
            <a:fld id="{F7021451-1387-4CA6-816F-3879F97B5CBC}" type="slidenum">
              <a:rPr lang="en-US"/>
              <a:t>78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03-prmp-pv-definitifs.
Écran : /prmp/pv-definitifs — compte : PRMP.
Noms, matricules, initiales, photos et adresses réelles masqués dans la page avant la capture.
Règles appliquées (annexe A) : RG-CTL-29, RG-CTL-30, RG-CTL-36, RG-CTL-37.</a:t>
            </a:r>
          </a:p>
        </p:txBody>
      </p:sp>
      <p:sp>
        <p:nvSpPr>
          <p:cNvPr id="4" name="Slide Number Placeholder 3"/>
          <p:cNvSpPr>
            <a:spLocks noGrp="1"/>
          </p:cNvSpPr>
          <p:nvPr>
            <p:ph type="sldNum" sz="quarter" idx="10"/>
          </p:nvPr>
        </p:nvSpPr>
        <p:spPr/>
        <p:txBody>
          <a:bodyPr/>
          <a:lstStyle/>
          <a:p>
            <a:fld id="{F7021451-1387-4CA6-816F-3879F97B5CBC}" type="slidenum">
              <a:rPr lang="en-US"/>
              <a:t>79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03-pres-retraits.
Écran : /president/retraits — compte : Président.
Noms, matricules, initiales, photos et adresses réelles masqués dans la page avant la capture.
Règles appliquées (annexe A) : RG-CTL-39, RG-CTL-40, RG-CTL-41.</a:t>
            </a:r>
          </a:p>
        </p:txBody>
      </p:sp>
      <p:sp>
        <p:nvSpPr>
          <p:cNvPr id="4" name="Slide Number Placeholder 3"/>
          <p:cNvSpPr>
            <a:spLocks noGrp="1"/>
          </p:cNvSpPr>
          <p:nvPr>
            <p:ph type="sldNum" sz="quarter" idx="10"/>
          </p:nvPr>
        </p:nvSpPr>
        <p:spPr/>
        <p:txBody>
          <a:bodyPr/>
          <a:lstStyle/>
          <a:p>
            <a:fld id="{F7021451-1387-4CA6-816F-3879F97B5CBC}" type="slidenum">
              <a:rPr lang="en-US"/>
              <a:t>80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03-dossier-figes.
Écran : /president/dossier/100378 — compte : Président.
Noms, matricules, initiales, photos et adresses réelles masqués dans la page avant la capture.
Règles appliquées (annexe A) : RG-CTL-52, RG-CTL-51.</a:t>
            </a:r>
          </a:p>
        </p:txBody>
      </p:sp>
      <p:sp>
        <p:nvSpPr>
          <p:cNvPr id="4" name="Slide Number Placeholder 3"/>
          <p:cNvSpPr>
            <a:spLocks noGrp="1"/>
          </p:cNvSpPr>
          <p:nvPr>
            <p:ph type="sldNum" sz="quarter" idx="10"/>
          </p:nvPr>
        </p:nvSpPr>
        <p:spPr/>
        <p:txBody>
          <a:bodyPr/>
          <a:lstStyle/>
          <a:p>
            <a:fld id="{F7021451-1387-4CA6-816F-3879F97B5CBC}" type="slidenum">
              <a:rPr lang="en-US"/>
              <a:t>82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03-dossier-controles.
Écran : /prmp/dossier/100378 — compte : PRMP.
Noms, matricules, initiales, photos et adresses réelles masqués dans la page avant la capture.
Règles appliquées (annexe A) : RG-CTL-53, RG-CTL-54, RG-CTL-56.</a:t>
            </a:r>
          </a:p>
        </p:txBody>
      </p:sp>
      <p:sp>
        <p:nvSpPr>
          <p:cNvPr id="4" name="Slide Number Placeholder 3"/>
          <p:cNvSpPr>
            <a:spLocks noGrp="1"/>
          </p:cNvSpPr>
          <p:nvPr>
            <p:ph type="sldNum" sz="quarter" idx="10"/>
          </p:nvPr>
        </p:nvSpPr>
        <p:spPr/>
        <p:txBody>
          <a:bodyPr/>
          <a:lstStyle/>
          <a:p>
            <a:fld id="{F7021451-1387-4CA6-816F-3879F97B5CBC}" type="slidenum">
              <a:rPr lang="en-US"/>
              <a:t>83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03-mem-examen-controles.
Écran : /membre/examiner/100378 — compte : Membre.
Noms, matricules, initiales, photos et adresses réelles masqués dans la page avant la capture.
Règles appliquées (annexe A) : RG-CTL-53, RG-CTL-54, RG-CTL-19.</a:t>
            </a:r>
          </a:p>
        </p:txBody>
      </p:sp>
      <p:sp>
        <p:nvSpPr>
          <p:cNvPr id="4" name="Slide Number Placeholder 3"/>
          <p:cNvSpPr>
            <a:spLocks noGrp="1"/>
          </p:cNvSpPr>
          <p:nvPr>
            <p:ph type="sldNum" sz="quarter" idx="10"/>
          </p:nvPr>
        </p:nvSpPr>
        <p:spPr/>
        <p:txBody>
          <a:bodyPr/>
          <a:lstStyle/>
          <a:p>
            <a:fld id="{F7021451-1387-4CA6-816F-3879F97B5CBC}" type="slidenum">
              <a:rPr lang="en-US"/>
              <a:t>84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03-admin-points.
Écran : /admin/referentiels/points-ctrls — compte : Administrateur.
Noms, matricules, initiales, photos et adresses réelles masqués dans la page avant la capture.
Règles appliquées (annexe A) : RG-CTL-48, RG-CTL-46.</a:t>
            </a:r>
          </a:p>
        </p:txBody>
      </p:sp>
      <p:sp>
        <p:nvSpPr>
          <p:cNvPr id="4" name="Slide Number Placeholder 3"/>
          <p:cNvSpPr>
            <a:spLocks noGrp="1"/>
          </p:cNvSpPr>
          <p:nvPr>
            <p:ph type="sldNum" sz="quarter" idx="10"/>
          </p:nvPr>
        </p:nvSpPr>
        <p:spPr/>
        <p:txBody>
          <a:bodyPr/>
          <a:lstStyle/>
          <a:p>
            <a:fld id="{F7021451-1387-4CA6-816F-3879F97B5CBC}" type="slidenum">
              <a:rPr lang="en-US"/>
              <a:t>85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03-admin-pre-controle.
Écran : /admin/pre-controle-regles — compte : Administrateur.
Noms, matricules, initiales, photos et adresses réelles masqués dans la page avant la capture.
Règles appliquées (annexe A) : RG-CTL-57.</a:t>
            </a:r>
          </a:p>
        </p:txBody>
      </p:sp>
      <p:sp>
        <p:nvSpPr>
          <p:cNvPr id="4" name="Slide Number Placeholder 3"/>
          <p:cNvSpPr>
            <a:spLocks noGrp="1"/>
          </p:cNvSpPr>
          <p:nvPr>
            <p:ph type="sldNum" sz="quarter" idx="10"/>
          </p:nvPr>
        </p:nvSpPr>
        <p:spPr/>
        <p:txBody>
          <a:bodyPr/>
          <a:lstStyle/>
          <a:p>
            <a:fld id="{F7021451-1387-4CA6-816F-3879F97B5CBC}" type="slidenum">
              <a:rPr lang="en-US"/>
              <a:t>86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03-admin-delais.
Écran : /admin/delais-standards — compte : Administrateur.
Noms, matricules, initiales, photos et adresses réelles masqués dans la page avant la capture.
Règles appliquées (annexe A) : RG-CTL-42, RG-CTL-44, RG-CTL-50.</a:t>
            </a:r>
          </a:p>
        </p:txBody>
      </p:sp>
      <p:sp>
        <p:nvSpPr>
          <p:cNvPr id="4" name="Slide Number Placeholder 3"/>
          <p:cNvSpPr>
            <a:spLocks noGrp="1"/>
          </p:cNvSpPr>
          <p:nvPr>
            <p:ph type="sldNum" sz="quarter" idx="10"/>
          </p:nvPr>
        </p:nvSpPr>
        <p:spPr/>
        <p:txBody>
          <a:bodyPr/>
          <a:lstStyle/>
          <a:p>
            <a:fld id="{F7021451-1387-4CA6-816F-3879F97B5CBC}" type="slidenum">
              <a:rPr lang="en-US"/>
              <a:t>87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manuel-recette__m10-delais-sous-type-regle.jpg (« Les délais par sous-type »).
Raison : l’état montré ne se reproduit plus sur la base du 14/10 ; l’écran n’a pas changé sur ce qu’il montre.
Règles appliquées (annexe A) : RG-CTL-50.</a:t>
            </a:r>
          </a:p>
        </p:txBody>
      </p:sp>
      <p:sp>
        <p:nvSpPr>
          <p:cNvPr id="4" name="Slide Number Placeholder 3"/>
          <p:cNvSpPr>
            <a:spLocks noGrp="1"/>
          </p:cNvSpPr>
          <p:nvPr>
            <p:ph type="sldNum" sz="quarter" idx="10"/>
          </p:nvPr>
        </p:nvSpPr>
        <p:spPr/>
        <p:txBody>
          <a:bodyPr/>
          <a:lstStyle/>
          <a:p>
            <a:fld id="{F7021451-1387-4CA6-816F-3879F97B5CBC}" type="slidenum">
              <a:rPr lang="en-US"/>
              <a:t>88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04-appels-offres.
Écran : /prmp/dao — compte : PRMP.
Noms, matricules, initiales, photos et adresses réelles masqués dans la page avant la capture.
Règles appliquées (annexe A) : RG-DAO-02, RG-DAO-03, RG-DAO-04, RG-DAO-05, RG-DAO-07, RG-DAO-08.</a:t>
            </a:r>
          </a:p>
        </p:txBody>
      </p:sp>
      <p:sp>
        <p:nvSpPr>
          <p:cNvPr id="4" name="Slide Number Placeholder 3"/>
          <p:cNvSpPr>
            <a:spLocks noGrp="1"/>
          </p:cNvSpPr>
          <p:nvPr>
            <p:ph type="sldNum" sz="quarter" idx="10"/>
          </p:nvPr>
        </p:nvSpPr>
        <p:spPr/>
        <p:txBody>
          <a:bodyPr/>
          <a:lstStyle/>
          <a:p>
            <a:fld id="{F7021451-1387-4CA6-816F-3879F97B5CBC}" type="slidenum">
              <a:rPr lang="en-US"/>
              <a:t>93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04-e2-cadrage.
Écran : /prmp/dao/40 — compte : PRMP.
Noms, matricules, initiales, photos et adresses réelles masqués dans la page avant la capture.
Règles appliquées (annexe A) : RG-DAO-12, RG-DAO-46.</a:t>
            </a:r>
          </a:p>
        </p:txBody>
      </p:sp>
      <p:sp>
        <p:nvSpPr>
          <p:cNvPr id="4" name="Slide Number Placeholder 3"/>
          <p:cNvSpPr>
            <a:spLocks noGrp="1"/>
          </p:cNvSpPr>
          <p:nvPr>
            <p:ph type="sldNum" sz="quarter" idx="10"/>
          </p:nvPr>
        </p:nvSpPr>
        <p:spPr/>
        <p:txBody>
          <a:bodyPr/>
          <a:lstStyle/>
          <a:p>
            <a:fld id="{F7021451-1387-4CA6-816F-3879F97B5CBC}" type="slidenum">
              <a:rPr lang="en-US"/>
              <a:t>95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04-e2-mode-fige.
Écran : /prmp/dao/32 — compte : PRMP.
Noms, matricules, initiales, photos et adresses réelles masqués dans la page avant la capture.
Règles appliquées (annexe A) : RG-DAO-46, RG-DAO-47, RG-DAO-48.</a:t>
            </a:r>
          </a:p>
        </p:txBody>
      </p:sp>
      <p:sp>
        <p:nvSpPr>
          <p:cNvPr id="4" name="Slide Number Placeholder 3"/>
          <p:cNvSpPr>
            <a:spLocks noGrp="1"/>
          </p:cNvSpPr>
          <p:nvPr>
            <p:ph type="sldNum" sz="quarter" idx="10"/>
          </p:nvPr>
        </p:nvSpPr>
        <p:spPr/>
        <p:txBody>
          <a:bodyPr/>
          <a:lstStyle/>
          <a:p>
            <a:fld id="{F7021451-1387-4CA6-816F-3879F97B5CBC}" type="slidenum">
              <a:rPr lang="en-US"/>
              <a:t>96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04-e3-saisie.
Écran : /prmp/dao/40 — compte : PRMP.
Noms, matricules, initiales, photos et adresses réelles masqués dans la page avant la capture.
Règles appliquées (annexe A) : RG-DAO-13, RG-DAO-15, RG-DAO-18, RG-DAO-19, RG-DAO-26.</a:t>
            </a:r>
          </a:p>
        </p:txBody>
      </p:sp>
      <p:sp>
        <p:nvSpPr>
          <p:cNvPr id="4" name="Slide Number Placeholder 3"/>
          <p:cNvSpPr>
            <a:spLocks noGrp="1"/>
          </p:cNvSpPr>
          <p:nvPr>
            <p:ph type="sldNum" sz="quarter" idx="10"/>
          </p:nvPr>
        </p:nvSpPr>
        <p:spPr/>
        <p:txBody>
          <a:bodyPr/>
          <a:lstStyle/>
          <a:p>
            <a:fld id="{F7021451-1387-4CA6-816F-3879F97B5CBC}" type="slidenum">
              <a:rPr lang="en-US"/>
              <a:t>97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04-e3-saisie-f.
Écran : /prmp/dao/44 — compte : PRMP.
Noms, matricules, initiales, photos et adresses réelles masqués dans la page avant la capture.
Règles appliquées (annexe A) : RG-DAO-07, RG-DAO-08, RG-DAO-11, RG-DAO-15.</a:t>
            </a:r>
          </a:p>
        </p:txBody>
      </p:sp>
      <p:sp>
        <p:nvSpPr>
          <p:cNvPr id="4" name="Slide Number Placeholder 3"/>
          <p:cNvSpPr>
            <a:spLocks noGrp="1"/>
          </p:cNvSpPr>
          <p:nvPr>
            <p:ph type="sldNum" sz="quarter" idx="10"/>
          </p:nvPr>
        </p:nvSpPr>
        <p:spPr/>
        <p:txBody>
          <a:bodyPr/>
          <a:lstStyle/>
          <a:p>
            <a:fld id="{F7021451-1387-4CA6-816F-3879F97B5CBC}" type="slidenum">
              <a:rPr lang="en-US"/>
              <a:t>98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04-e3-b12.
Écran : /prmp/dao/40 — compte : PRMP.
Noms, matricules, initiales, photos et adresses réelles masqués dans la page avant la capture.
Règles appliquées (annexe A) : RG-DAO-18, RG-DAO-21, RG-DAO-22.</a:t>
            </a:r>
          </a:p>
        </p:txBody>
      </p:sp>
      <p:sp>
        <p:nvSpPr>
          <p:cNvPr id="4" name="Slide Number Placeholder 3"/>
          <p:cNvSpPr>
            <a:spLocks noGrp="1"/>
          </p:cNvSpPr>
          <p:nvPr>
            <p:ph type="sldNum" sz="quarter" idx="10"/>
          </p:nvPr>
        </p:nvSpPr>
        <p:spPr/>
        <p:txBody>
          <a:bodyPr/>
          <a:lstStyle/>
          <a:p>
            <a:fld id="{F7021451-1387-4CA6-816F-3879F97B5CBC}" type="slidenum">
              <a:rPr lang="en-US"/>
              <a:t>99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se__v02-b14-proposer-liste.jpg (« Les pièces de l’offre, listées une à une »).
Raison : l’état montré ne se reproduit plus sur la base du 14/10 ; l’écran n’a pas changé sur ce qu’il montre.
Règles appliquées (annexe A) : RG-DAO-15, RG-DAO-35.</a:t>
            </a:r>
          </a:p>
        </p:txBody>
      </p:sp>
      <p:sp>
        <p:nvSpPr>
          <p:cNvPr id="4" name="Slide Number Placeholder 3"/>
          <p:cNvSpPr>
            <a:spLocks noGrp="1"/>
          </p:cNvSpPr>
          <p:nvPr>
            <p:ph type="sldNum" sz="quarter" idx="10"/>
          </p:nvPr>
        </p:nvSpPr>
        <p:spPr/>
        <p:txBody>
          <a:bodyPr/>
          <a:lstStyle/>
          <a:p>
            <a:fld id="{F7021451-1387-4CA6-816F-3879F97B5CBC}" type="slidenum">
              <a:rPr lang="en-US"/>
              <a:t>100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se__v03-b14-collage-depuis-texte.jpg (« Le texte découpé, à relire »).
Raison : l’état montré ne se reproduit plus sur la base du 14/10 ; l’écran n’a pas changé sur ce qu’il montre.
Règles appliquées (annexe A) : RG-DAO-35.</a:t>
            </a:r>
          </a:p>
        </p:txBody>
      </p:sp>
      <p:sp>
        <p:nvSpPr>
          <p:cNvPr id="4" name="Slide Number Placeholder 3"/>
          <p:cNvSpPr>
            <a:spLocks noGrp="1"/>
          </p:cNvSpPr>
          <p:nvPr>
            <p:ph type="sldNum" sz="quarter" idx="10"/>
          </p:nvPr>
        </p:nvSpPr>
        <p:spPr/>
        <p:txBody>
          <a:bodyPr/>
          <a:lstStyle/>
          <a:p>
            <a:fld id="{F7021451-1387-4CA6-816F-3879F97B5CBC}" type="slidenum">
              <a:rPr lang="en-US"/>
              <a:t>101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04-e3-b14.
Écran : /prmp/dao/40 — compte : PRMP.
Noms, matricules, initiales, photos et adresses réelles masqués dans la page avant la capture.
Règles appliquées (annexe A) : RG-DAO-34, RG-DAO-35.</a:t>
            </a:r>
          </a:p>
        </p:txBody>
      </p:sp>
      <p:sp>
        <p:nvSpPr>
          <p:cNvPr id="4" name="Slide Number Placeholder 3"/>
          <p:cNvSpPr>
            <a:spLocks noGrp="1"/>
          </p:cNvSpPr>
          <p:nvPr>
            <p:ph type="sldNum" sz="quarter" idx="10"/>
          </p:nvPr>
        </p:nvSpPr>
        <p:spPr/>
        <p:txBody>
          <a:bodyPr/>
          <a:lstStyle/>
          <a:p>
            <a:fld id="{F7021451-1387-4CA6-816F-3879F97B5CBC}" type="slidenum">
              <a:rPr lang="en-US"/>
              <a:t>102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04-e4-reprises.
Écran : /prmp/dao/40 — compte : PRMP.
Noms, matricules, initiales, photos et adresses réelles masqués dans la page avant la capture.
Règles appliquées (annexe A) : RG-DAO-01, RG-DAO-26.</a:t>
            </a:r>
          </a:p>
        </p:txBody>
      </p:sp>
      <p:sp>
        <p:nvSpPr>
          <p:cNvPr id="4" name="Slide Number Placeholder 3"/>
          <p:cNvSpPr>
            <a:spLocks noGrp="1"/>
          </p:cNvSpPr>
          <p:nvPr>
            <p:ph type="sldNum" sz="quarter" idx="10"/>
          </p:nvPr>
        </p:nvSpPr>
        <p:spPr/>
        <p:txBody>
          <a:bodyPr/>
          <a:lstStyle/>
          <a:p>
            <a:fld id="{F7021451-1387-4CA6-816F-3879F97B5CBC}" type="slidenum">
              <a:rPr lang="en-US"/>
              <a:t>103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04-e5-controles.
Écran : /prmp/dao/40 — compte : PRMP.
Noms, matricules, initiales, photos et adresses réelles masqués dans la page avant la capture.
Règles appliquées (annexe A) : RG-DAO-14, RG-DAO-17, RG-DAO-34, RG-DAO-52.</a:t>
            </a:r>
          </a:p>
        </p:txBody>
      </p:sp>
      <p:sp>
        <p:nvSpPr>
          <p:cNvPr id="4" name="Slide Number Placeholder 3"/>
          <p:cNvSpPr>
            <a:spLocks noGrp="1"/>
          </p:cNvSpPr>
          <p:nvPr>
            <p:ph type="sldNum" sz="quarter" idx="10"/>
          </p:nvPr>
        </p:nvSpPr>
        <p:spPr/>
        <p:txBody>
          <a:bodyPr/>
          <a:lstStyle/>
          <a:p>
            <a:fld id="{F7021451-1387-4CA6-816F-3879F97B5CBC}" type="slidenum">
              <a:rPr lang="en-US"/>
              <a:t>104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04-e6-validation.
Écran : /prmp/dao/40 — compte : PRMP.
Noms, matricules, initiales, photos et adresses réelles masqués dans la page avant la capture.
Règles appliquées (annexe A) : RG-DAO-06, RG-DAO-16, RG-DAO-24, RG-DAO-25.</a:t>
            </a:r>
          </a:p>
        </p:txBody>
      </p:sp>
      <p:sp>
        <p:nvSpPr>
          <p:cNvPr id="4" name="Slide Number Placeholder 3"/>
          <p:cNvSpPr>
            <a:spLocks noGrp="1"/>
          </p:cNvSpPr>
          <p:nvPr>
            <p:ph type="sldNum" sz="quarter" idx="10"/>
          </p:nvPr>
        </p:nvSpPr>
        <p:spPr/>
        <p:txBody>
          <a:bodyPr/>
          <a:lstStyle/>
          <a:p>
            <a:fld id="{F7021451-1387-4CA6-816F-3879F97B5CBC}" type="slidenum">
              <a:rPr lang="en-US"/>
              <a:t>105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04-e7-documents.
Écran : /prmp/dao/40 — compte : PRMP.
Noms, matricules, initiales, photos et adresses réelles masqués dans la page avant la capture.
Règles appliquées (annexe A) : RG-DAO-27, RG-DAO-30, RG-DAO-32, RG-DAO-33, RG-DAO-36.</a:t>
            </a:r>
          </a:p>
        </p:txBody>
      </p:sp>
      <p:sp>
        <p:nvSpPr>
          <p:cNvPr id="4" name="Slide Number Placeholder 3"/>
          <p:cNvSpPr>
            <a:spLocks noGrp="1"/>
          </p:cNvSpPr>
          <p:nvPr>
            <p:ph type="sldNum" sz="quarter" idx="10"/>
          </p:nvPr>
        </p:nvSpPr>
        <p:spPr/>
        <p:txBody>
          <a:bodyPr/>
          <a:lstStyle/>
          <a:p>
            <a:fld id="{F7021451-1387-4CA6-816F-3879F97B5CBC}" type="slidenum">
              <a:rPr lang="en-US"/>
              <a:t>107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04-e7-documents-f.
Écran : /prmp/dao/44 — compte : PRMP.
Noms, matricules, initiales, photos et adresses réelles masqués dans la page avant la capture.
Règles appliquées (annexe A) : RG-DAO-22, RG-DAO-33.</a:t>
            </a:r>
          </a:p>
        </p:txBody>
      </p:sp>
      <p:sp>
        <p:nvSpPr>
          <p:cNvPr id="4" name="Slide Number Placeholder 3"/>
          <p:cNvSpPr>
            <a:spLocks noGrp="1"/>
          </p:cNvSpPr>
          <p:nvPr>
            <p:ph type="sldNum" sz="quarter" idx="10"/>
          </p:nvPr>
        </p:nvSpPr>
        <p:spPr/>
        <p:txBody>
          <a:bodyPr/>
          <a:lstStyle/>
          <a:p>
            <a:fld id="{F7021451-1387-4CA6-816F-3879F97B5CBC}" type="slidenum">
              <a:rPr lang="en-US"/>
              <a:t>108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detail2__n14-dao-garde.jpg (« La page de garde »).
Raison : l’état montré ne se reproduit plus sur la base du 14/10 ; l’écran n’a pas changé sur ce qu’il montre.
Règles appliquées (annexe A) : RG-DAO-30, RG-DAO-31.</a:t>
            </a:r>
          </a:p>
        </p:txBody>
      </p:sp>
      <p:sp>
        <p:nvSpPr>
          <p:cNvPr id="4" name="Slide Number Placeholder 3"/>
          <p:cNvSpPr>
            <a:spLocks noGrp="1"/>
          </p:cNvSpPr>
          <p:nvPr>
            <p:ph type="sldNum" sz="quarter" idx="10"/>
          </p:nvPr>
        </p:nvSpPr>
        <p:spPr/>
        <p:txBody>
          <a:bodyPr/>
          <a:lstStyle/>
          <a:p>
            <a:fld id="{F7021451-1387-4CA6-816F-3879F97B5CBC}" type="slidenum">
              <a:rPr lang="en-US"/>
              <a:t>109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detail2__n15-dao-sommaire.jpg (« Le sommaire général »).
Raison : l’état montré ne se reproduit plus sur la base du 14/10 ; l’écran n’a pas changé sur ce qu’il montre.
Règles appliquées (annexe A) : RG-DAO-30, RG-DAO-31.</a:t>
            </a:r>
          </a:p>
        </p:txBody>
      </p:sp>
      <p:sp>
        <p:nvSpPr>
          <p:cNvPr id="4" name="Slide Number Placeholder 3"/>
          <p:cNvSpPr>
            <a:spLocks noGrp="1"/>
          </p:cNvSpPr>
          <p:nvPr>
            <p:ph type="sldNum" sz="quarter" idx="10"/>
          </p:nvPr>
        </p:nvSpPr>
        <p:spPr/>
        <p:txBody>
          <a:bodyPr/>
          <a:lstStyle/>
          <a:p>
            <a:fld id="{F7021451-1387-4CA6-816F-3879F97B5CBC}" type="slidenum">
              <a:rPr lang="en-US"/>
              <a:t>110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04-cao.
Écran : /prmp/dao/40/cao — compte : PRMP.
Noms, matricules, initiales, photos et adresses réelles masqués dans la page avant la capture.
Règles appliquées (annexe A) : RG-DAO-55.</a:t>
            </a:r>
          </a:p>
        </p:txBody>
      </p:sp>
      <p:sp>
        <p:nvSpPr>
          <p:cNvPr id="4" name="Slide Number Placeholder 3"/>
          <p:cNvSpPr>
            <a:spLocks noGrp="1"/>
          </p:cNvSpPr>
          <p:nvPr>
            <p:ph type="sldNum" sz="quarter" idx="10"/>
          </p:nvPr>
        </p:nvSpPr>
        <p:spPr/>
        <p:txBody>
          <a:bodyPr/>
          <a:lstStyle/>
          <a:p>
            <a:fld id="{F7021451-1387-4CA6-816F-3879F97B5CBC}" type="slidenum">
              <a:rPr lang="en-US"/>
              <a:t>112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04-procedures-en-ligne.
Écran : /procedures-en-ligne — compte : Administrateur.
Noms, matricules, initiales, photos et adresses réelles masqués dans la page avant la capture.
Règles appliquées (annexe A) : RG-DAO-57.</a:t>
            </a:r>
          </a:p>
        </p:txBody>
      </p:sp>
      <p:sp>
        <p:nvSpPr>
          <p:cNvPr id="4" name="Slide Number Placeholder 3"/>
          <p:cNvSpPr>
            <a:spLocks noGrp="1"/>
          </p:cNvSpPr>
          <p:nvPr>
            <p:ph type="sldNum" sz="quarter" idx="10"/>
          </p:nvPr>
        </p:nvSpPr>
        <p:spPr/>
        <p:txBody>
          <a:bodyPr/>
          <a:lstStyle/>
          <a:p>
            <a:fld id="{F7021451-1387-4CA6-816F-3879F97B5CBC}" type="slidenum">
              <a:rPr lang="en-US"/>
              <a:t>113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04-param-internes.
Écran : /procedure/40/parametres-internes — compte : Administrateur.
Noms, matricules, initiales, photos et adresses réelles masqués dans la page avant la capture.
Règles appliquées (annexe A) : RG-DAO-56, RG-DAO-58.</a:t>
            </a:r>
          </a:p>
        </p:txBody>
      </p:sp>
      <p:sp>
        <p:nvSpPr>
          <p:cNvPr id="4" name="Slide Number Placeholder 3"/>
          <p:cNvSpPr>
            <a:spLocks noGrp="1"/>
          </p:cNvSpPr>
          <p:nvPr>
            <p:ph type="sldNum" sz="quarter" idx="10"/>
          </p:nvPr>
        </p:nvSpPr>
        <p:spPr/>
        <p:txBody>
          <a:bodyPr/>
          <a:lstStyle/>
          <a:p>
            <a:fld id="{F7021451-1387-4CA6-816F-3879F97B5CBC}" type="slidenum">
              <a:rPr lang="en-US"/>
              <a:t>114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04-param-signature.
Écran : /procedure/40/parametres-internes — compte : Administrateur.
Noms, matricules, initiales, photos et adresses réelles masqués dans la page avant la capture.
Règles appliquées (annexe A) : RG-DAO-51, RG-DAO-58.</a:t>
            </a:r>
          </a:p>
        </p:txBody>
      </p:sp>
      <p:sp>
        <p:nvSpPr>
          <p:cNvPr id="4" name="Slide Number Placeholder 3"/>
          <p:cNvSpPr>
            <a:spLocks noGrp="1"/>
          </p:cNvSpPr>
          <p:nvPr>
            <p:ph type="sldNum" sz="quarter" idx="10"/>
          </p:nvPr>
        </p:nvSpPr>
        <p:spPr/>
        <p:txBody>
          <a:bodyPr/>
          <a:lstStyle/>
          <a:p>
            <a:fld id="{F7021451-1387-4CA6-816F-3879F97B5CBC}" type="slidenum">
              <a:rPr lang="en-US"/>
              <a:t>115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04-admin-fiche.
Écran : /admin/dao/32 — compte : Administrateur.
Noms, matricules, initiales, photos et adresses réelles masqués dans la page avant la capture.
Règles appliquées (annexe A) : RG-DAO-47, RG-DAO-57.</a:t>
            </a:r>
          </a:p>
        </p:txBody>
      </p:sp>
      <p:sp>
        <p:nvSpPr>
          <p:cNvPr id="4" name="Slide Number Placeholder 3"/>
          <p:cNvSpPr>
            <a:spLocks noGrp="1"/>
          </p:cNvSpPr>
          <p:nvPr>
            <p:ph type="sldNum" sz="quarter" idx="10"/>
          </p:nvPr>
        </p:nvSpPr>
        <p:spPr/>
        <p:txBody>
          <a:bodyPr/>
          <a:lstStyle/>
          <a:p>
            <a:fld id="{F7021451-1387-4CA6-816F-3879F97B5CBC}" type="slidenum">
              <a:rPr lang="en-US"/>
              <a:t>116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04-migration.
Écran : /admin/dao/32 — compte : Administrateur.
Noms, matricules, initiales, photos et adresses réelles masqués dans la page avant la capture.
Règles appliquées (annexe A) : RG-DAO-47, RG-DAO-48.</a:t>
            </a:r>
          </a:p>
        </p:txBody>
      </p:sp>
      <p:sp>
        <p:nvSpPr>
          <p:cNvPr id="4" name="Slide Number Placeholder 3"/>
          <p:cNvSpPr>
            <a:spLocks noGrp="1"/>
          </p:cNvSpPr>
          <p:nvPr>
            <p:ph type="sldNum" sz="quarter" idx="10"/>
          </p:nvPr>
        </p:nvSpPr>
        <p:spPr/>
        <p:txBody>
          <a:bodyPr/>
          <a:lstStyle/>
          <a:p>
            <a:fld id="{F7021451-1387-4CA6-816F-3879F97B5CBC}" type="slidenum">
              <a:rPr lang="en-US"/>
              <a:t>117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04-mem-fiche.
Écran : /membre/dao/39 — compte : Membre.
Noms, matricules, initiales, photos et adresses réelles masqués dans la page avant la capture.
Règles appliquées (annexe A) : RG-DAO-36, RG-DAO-37.</a:t>
            </a:r>
          </a:p>
        </p:txBody>
      </p:sp>
      <p:sp>
        <p:nvSpPr>
          <p:cNvPr id="4" name="Slide Number Placeholder 3"/>
          <p:cNvSpPr>
            <a:spLocks noGrp="1"/>
          </p:cNvSpPr>
          <p:nvPr>
            <p:ph type="sldNum" sz="quarter" idx="10"/>
          </p:nvPr>
        </p:nvSpPr>
        <p:spPr/>
        <p:txBody>
          <a:bodyPr/>
          <a:lstStyle/>
          <a:p>
            <a:fld id="{F7021451-1387-4CA6-816F-3879F97B5CBC}" type="slidenum">
              <a:rPr lang="en-US"/>
              <a:t>119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04-e7-avis.
Écran : /prmp/dao/40 — compte : PRMP.
Noms, matricules, initiales, photos et adresses réelles masqués dans la page avant la capture.
Règles appliquées (annexe A) : RG-DAO-38, RG-DAO-53, RG-DAO-54.</a:t>
            </a:r>
          </a:p>
        </p:txBody>
      </p:sp>
      <p:sp>
        <p:nvSpPr>
          <p:cNvPr id="4" name="Slide Number Placeholder 3"/>
          <p:cNvSpPr>
            <a:spLocks noGrp="1"/>
          </p:cNvSpPr>
          <p:nvPr>
            <p:ph type="sldNum" sz="quarter" idx="10"/>
          </p:nvPr>
        </p:nvSpPr>
        <p:spPr/>
        <p:txBody>
          <a:bodyPr/>
          <a:lstStyle/>
          <a:p>
            <a:fld id="{F7021451-1387-4CA6-816F-3879F97B5CBC}" type="slidenum">
              <a:rPr lang="en-US"/>
              <a:t>120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04-recus.
Écran : /prmp/dao/47/recus — compte : PRMP.
Noms, matricules, initiales, photos et adresses réelles masqués dans la page avant la capture.
Règles appliquées (annexe A) : RG-DAO-59.</a:t>
            </a:r>
          </a:p>
        </p:txBody>
      </p:sp>
      <p:sp>
        <p:nvSpPr>
          <p:cNvPr id="4" name="Slide Number Placeholder 3"/>
          <p:cNvSpPr>
            <a:spLocks noGrp="1"/>
          </p:cNvSpPr>
          <p:nvPr>
            <p:ph type="sldNum" sz="quarter" idx="10"/>
          </p:nvPr>
        </p:nvSpPr>
        <p:spPr/>
        <p:txBody>
          <a:bodyPr/>
          <a:lstStyle/>
          <a:p>
            <a:fld id="{F7021451-1387-4CA6-816F-3879F97B5CBC}" type="slidenum">
              <a:rPr lang="en-US"/>
              <a:t>121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04-retraits.
Écran : /prmp/dao/47/retraits — compte : PRMP.
Noms, matricules, initiales, photos et adresses réelles masqués dans la page avant la capture.
Règles appliquées (annexe A) : RG-DAO-60, RG-DAO-49.</a:t>
            </a:r>
          </a:p>
        </p:txBody>
      </p:sp>
      <p:sp>
        <p:nvSpPr>
          <p:cNvPr id="4" name="Slide Number Placeholder 3"/>
          <p:cNvSpPr>
            <a:spLocks noGrp="1"/>
          </p:cNvSpPr>
          <p:nvPr>
            <p:ph type="sldNum" sz="quarter" idx="10"/>
          </p:nvPr>
        </p:nvSpPr>
        <p:spPr/>
        <p:txBody>
          <a:bodyPr/>
          <a:lstStyle/>
          <a:p>
            <a:fld id="{F7021451-1387-4CA6-816F-3879F97B5CBC}" type="slidenum">
              <a:rPr lang="en-US"/>
              <a:t>122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04-questions.
Écran : /prmp/dao/40/questions — compte : PRMP.
Noms, matricules, initiales, photos et adresses réelles masqués dans la page avant la capture.
Règles appliquées (annexe A) : RG-DAO-49, RG-DAO-50.</a:t>
            </a:r>
          </a:p>
        </p:txBody>
      </p:sp>
      <p:sp>
        <p:nvSpPr>
          <p:cNvPr id="4" name="Slide Number Placeholder 3"/>
          <p:cNvSpPr>
            <a:spLocks noGrp="1"/>
          </p:cNvSpPr>
          <p:nvPr>
            <p:ph type="sldNum" sz="quarter" idx="10"/>
          </p:nvPr>
        </p:nvSpPr>
        <p:spPr/>
        <p:txBody>
          <a:bodyPr/>
          <a:lstStyle/>
          <a:p>
            <a:fld id="{F7021451-1387-4CA6-816F-3879F97B5CBC}" type="slidenum">
              <a:rPr lang="en-US"/>
              <a:t>123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05-ami-fiche.
Écran : /prmp/dao/49 — compte : PRMP.
Noms, matricules, initiales, photos et adresses réelles masqués dans la page avant la capture.
Règles appliquées (annexe A) : RG-AMI-01, RG-AMI-02.</a:t>
            </a:r>
          </a:p>
        </p:txBody>
      </p:sp>
      <p:sp>
        <p:nvSpPr>
          <p:cNvPr id="4" name="Slide Number Placeholder 3"/>
          <p:cNvSpPr>
            <a:spLocks noGrp="1"/>
          </p:cNvSpPr>
          <p:nvPr>
            <p:ph type="sldNum" sz="quarter" idx="10"/>
          </p:nvPr>
        </p:nvSpPr>
        <p:spPr/>
        <p:txBody>
          <a:bodyPr/>
          <a:lstStyle/>
          <a:p>
            <a:fld id="{F7021451-1387-4CA6-816F-3879F97B5CBC}" type="slidenum">
              <a:rPr lang="en-US"/>
              <a:t>128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ami__g03-ami-preparation.jpg (« Préparer l’appel »).
Raison : l’état montré ne se reproduit plus sur la base du 14/10 ; l’écran n’a pas changé sur ce qu’il montre.
Règles appliquées (annexe A) : RG-AMI-03, RG-AMI-04, RG-AMI-05.</a:t>
            </a:r>
          </a:p>
        </p:txBody>
      </p:sp>
      <p:sp>
        <p:nvSpPr>
          <p:cNvPr id="4" name="Slide Number Placeholder 3"/>
          <p:cNvSpPr>
            <a:spLocks noGrp="1"/>
          </p:cNvSpPr>
          <p:nvPr>
            <p:ph type="sldNum" sz="quarter" idx="10"/>
          </p:nvPr>
        </p:nvSpPr>
        <p:spPr/>
        <p:txBody>
          <a:bodyPr/>
          <a:lstStyle/>
          <a:p>
            <a:fld id="{F7021451-1387-4CA6-816F-3879F97B5CBC}" type="slidenum">
              <a:rPr lang="en-US"/>
              <a:t>129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ami__g04-ami-publier.jpg (« Publier l’appel »).
Raison : l’état montré ne se reproduit plus sur la base du 14/10 ; l’écran n’a pas changé sur ce qu’il montre.
Règles appliquées (annexe A) : RG-AMI-04, RG-AMI-05, RG-AMI-06, RG-AMI-07.</a:t>
            </a:r>
          </a:p>
        </p:txBody>
      </p:sp>
      <p:sp>
        <p:nvSpPr>
          <p:cNvPr id="4" name="Slide Number Placeholder 3"/>
          <p:cNvSpPr>
            <a:spLocks noGrp="1"/>
          </p:cNvSpPr>
          <p:nvPr>
            <p:ph type="sldNum" sz="quarter" idx="10"/>
          </p:nvPr>
        </p:nvSpPr>
        <p:spPr/>
        <p:txBody>
          <a:bodyPr/>
          <a:lstStyle/>
          <a:p>
            <a:fld id="{F7021451-1387-4CA6-816F-3879F97B5CBC}" type="slidenum">
              <a:rPr lang="en-US"/>
              <a:t>130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ami__g05-ami-publie.jpg (« L’appel publié »).
Raison : l’état montré ne se reproduit plus sur la base du 14/10 ; l’écran n’a pas changé sur ce qu’il montre.
Règles appliquées (annexe A) : RG-AMI-06, RG-AMI-10.</a:t>
            </a:r>
          </a:p>
        </p:txBody>
      </p:sp>
      <p:sp>
        <p:nvSpPr>
          <p:cNvPr id="4" name="Slide Number Placeholder 3"/>
          <p:cNvSpPr>
            <a:spLocks noGrp="1"/>
          </p:cNvSpPr>
          <p:nvPr>
            <p:ph type="sldNum" sz="quarter" idx="10"/>
          </p:nvPr>
        </p:nvSpPr>
        <p:spPr/>
        <p:txBody>
          <a:bodyPr/>
          <a:lstStyle/>
          <a:p>
            <a:fld id="{F7021451-1387-4CA6-816F-3879F97B5CBC}" type="slidenum">
              <a:rPr lang="en-US"/>
              <a:t>131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05-ami-prmp.
Écran : /prmp/dao/49/ami — compte : PRMP.
Noms, matricules, initiales, photos et adresses réelles masqués dans la page avant la capture.
Règles appliquées (annexe A) : RG-AMI-08, RG-AMI-09, RG-AMI-10.</a:t>
            </a:r>
          </a:p>
        </p:txBody>
      </p:sp>
      <p:sp>
        <p:nvSpPr>
          <p:cNvPr id="4" name="Slide Number Placeholder 3"/>
          <p:cNvSpPr>
            <a:spLocks noGrp="1"/>
          </p:cNvSpPr>
          <p:nvPr>
            <p:ph type="sldNum" sz="quarter" idx="10"/>
          </p:nvPr>
        </p:nvSpPr>
        <p:spPr/>
        <p:txBody>
          <a:bodyPr/>
          <a:lstStyle/>
          <a:p>
            <a:fld id="{F7021451-1387-4CA6-816F-3879F97B5CBC}" type="slidenum">
              <a:rPr lang="en-US"/>
              <a:t>133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ami__h02-preselection-avant-declaration.jpg (« La présélection : les déclarations »).
Raison : l’état montré ne se reproduit plus sur la base du 14/10 ; l’écran n’a pas changé sur ce qu’il montre.
Règles appliquées (annexe A) : RG-AMI-11.</a:t>
            </a:r>
          </a:p>
        </p:txBody>
      </p:sp>
      <p:sp>
        <p:nvSpPr>
          <p:cNvPr id="4" name="Slide Number Placeholder 3"/>
          <p:cNvSpPr>
            <a:spLocks noGrp="1"/>
          </p:cNvSpPr>
          <p:nvPr>
            <p:ph type="sldNum" sz="quarter" idx="10"/>
          </p:nvPr>
        </p:nvSpPr>
        <p:spPr/>
        <p:txBody>
          <a:bodyPr/>
          <a:lstStyle/>
          <a:p>
            <a:fld id="{F7021451-1387-4CA6-816F-3879F97B5CBC}" type="slidenum">
              <a:rPr lang="en-US"/>
              <a:t>135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ami__h03-preselection-notation.jpg (« La notation, critère par critère »).
Raison : l’état montré ne se reproduit plus sur la base du 14/10 ; l’écran n’a pas changé sur ce qu’il montre.
Règles appliquées (annexe A) : RG-AMI-12, RG-AMI-13.</a:t>
            </a:r>
          </a:p>
        </p:txBody>
      </p:sp>
      <p:sp>
        <p:nvSpPr>
          <p:cNvPr id="4" name="Slide Number Placeholder 3"/>
          <p:cNvSpPr>
            <a:spLocks noGrp="1"/>
          </p:cNvSpPr>
          <p:nvPr>
            <p:ph type="sldNum" sz="quarter" idx="10"/>
          </p:nvPr>
        </p:nvSpPr>
        <p:spPr/>
        <p:txBody>
          <a:bodyPr/>
          <a:lstStyle/>
          <a:p>
            <a:fld id="{F7021451-1387-4CA6-816F-3879F97B5CBC}" type="slidenum">
              <a:rPr lang="en-US"/>
              <a:t>136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05-ami-cao-notes.
Écran : /cao/procedures/49/ami — compte : membre de la commission « démonstration ».
Noms, matricules, initiales, photos et adresses réelles masqués dans la page avant la capture.
Règles appliquées (annexe A) : RG-AMI-14, RG-AMI-16.</a:t>
            </a:r>
          </a:p>
        </p:txBody>
      </p:sp>
      <p:sp>
        <p:nvSpPr>
          <p:cNvPr id="4" name="Slide Number Placeholder 3"/>
          <p:cNvSpPr>
            <a:spLocks noGrp="1"/>
          </p:cNvSpPr>
          <p:nvPr>
            <p:ph type="sldNum" sz="quarter" idx="10"/>
          </p:nvPr>
        </p:nvSpPr>
        <p:spPr/>
        <p:txBody>
          <a:bodyPr/>
          <a:lstStyle/>
          <a:p>
            <a:fld id="{F7021451-1387-4CA6-816F-3879F97B5CBC}" type="slidenum">
              <a:rPr lang="en-US"/>
              <a:t>137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ami__h05-preselection-arret.jpg (« Arrêter la liste restreinte »).
Raison : l’état montré ne se reproduit plus sur la base du 14/10 ; l’écran n’a pas changé sur ce qu’il montre.
Règles appliquées (annexe A) : RG-AMI-13, RG-AMI-15, RG-AMI-16, RG-AMI-24.</a:t>
            </a:r>
          </a:p>
        </p:txBody>
      </p:sp>
      <p:sp>
        <p:nvSpPr>
          <p:cNvPr id="4" name="Slide Number Placeholder 3"/>
          <p:cNvSpPr>
            <a:spLocks noGrp="1"/>
          </p:cNvSpPr>
          <p:nvPr>
            <p:ph type="sldNum" sz="quarter" idx="10"/>
          </p:nvPr>
        </p:nvSpPr>
        <p:spPr/>
        <p:txBody>
          <a:bodyPr/>
          <a:lstStyle/>
          <a:p>
            <a:fld id="{F7021451-1387-4CA6-816F-3879F97B5CBC}" type="slidenum">
              <a:rPr lang="en-US"/>
              <a:t>138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05-ami-preselection.
Écran : /procedure/49/ami — compte : PRMP.
Noms, matricules, initiales, photos et adresses réelles masqués dans la page avant la capture.
Règles appliquées (annexe A) : RG-AMI-17, RG-AMI-18, RG-AMI-19, RG-AMI-20, RG-AMI-24.</a:t>
            </a:r>
          </a:p>
        </p:txBody>
      </p:sp>
      <p:sp>
        <p:nvSpPr>
          <p:cNvPr id="4" name="Slide Number Placeholder 3"/>
          <p:cNvSpPr>
            <a:spLocks noGrp="1"/>
          </p:cNvSpPr>
          <p:nvPr>
            <p:ph type="sldNum" sz="quarter" idx="10"/>
          </p:nvPr>
        </p:nvSpPr>
        <p:spPr/>
        <p:txBody>
          <a:bodyPr/>
          <a:lstStyle/>
          <a:p>
            <a:fld id="{F7021451-1387-4CA6-816F-3879F97B5CBC}" type="slidenum">
              <a:rPr lang="en-US"/>
              <a:t>139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07-cao-procedures.
Écran : /cao/mes-procedures — compte : membre de la commission « recette ».
Noms, matricules, initiales, photos et adresses réelles masqués dans la page avant la capture.
Règles appliquées (annexe A) : RG-OFF-25, RG-OFF-27.</a:t>
            </a:r>
          </a:p>
        </p:txBody>
      </p:sp>
      <p:sp>
        <p:nvSpPr>
          <p:cNvPr id="4" name="Slide Number Placeholder 3"/>
          <p:cNvSpPr>
            <a:spLocks noGrp="1"/>
          </p:cNvSpPr>
          <p:nvPr>
            <p:ph type="sldNum" sz="quarter" idx="10"/>
          </p:nvPr>
        </p:nvSpPr>
        <p:spPr/>
        <p:txBody>
          <a:bodyPr/>
          <a:lstStyle/>
          <a:p>
            <a:fld id="{F7021451-1387-4CA6-816F-3879F97B5CBC}" type="slidenum">
              <a:rPr lang="en-US"/>
              <a:t>144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07-cao-cle.
Écran : /cao/procedures/40 — compte : membre de la commission « recette ».
Noms, matricules, initiales, photos et adresses réelles masqués dans la page avant la capture.
Règles appliquées (annexe A) : RG-OFF-27, RG-OFF-28.</a:t>
            </a:r>
          </a:p>
        </p:txBody>
      </p:sp>
      <p:sp>
        <p:nvSpPr>
          <p:cNvPr id="4" name="Slide Number Placeholder 3"/>
          <p:cNvSpPr>
            <a:spLocks noGrp="1"/>
          </p:cNvSpPr>
          <p:nvPr>
            <p:ph type="sldNum" sz="quarter" idx="10"/>
          </p:nvPr>
        </p:nvSpPr>
        <p:spPr/>
        <p:txBody>
          <a:bodyPr/>
          <a:lstStyle/>
          <a:p>
            <a:fld id="{F7021451-1387-4CA6-816F-3879F97B5CBC}" type="slidenum">
              <a:rPr lang="en-US"/>
              <a:t>145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06-depositaire.
Écran : /depositaire/mes-procedures — compte : dépositaire.
Noms, matricules, initiales, photos et adresses réelles masqués dans la page avant la capture.
Règles appliquées (annexe A) : RG-OFF-29, RG-OFF-30.</a:t>
            </a:r>
          </a:p>
        </p:txBody>
      </p:sp>
      <p:sp>
        <p:nvSpPr>
          <p:cNvPr id="4" name="Slide Number Placeholder 3"/>
          <p:cNvSpPr>
            <a:spLocks noGrp="1"/>
          </p:cNvSpPr>
          <p:nvPr>
            <p:ph type="sldNum" sz="quarter" idx="10"/>
          </p:nvPr>
        </p:nvSpPr>
        <p:spPr/>
        <p:txBody>
          <a:bodyPr/>
          <a:lstStyle/>
          <a:p>
            <a:fld id="{F7021451-1387-4CA6-816F-3879F97B5CBC}" type="slidenum">
              <a:rPr lang="en-US"/>
              <a:t>146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detail__e02-procedures-ouvertes.jpg (« Les procédures ouvertes »).
Raison : l’état montré ne se reproduit plus sur la base du 14/10 ; l’écran n’a pas changé sur ce qu’il montre.
Règles appliquées (annexe A) : RG-OFF-06.</a:t>
            </a:r>
          </a:p>
        </p:txBody>
      </p:sp>
      <p:sp>
        <p:nvSpPr>
          <p:cNvPr id="4" name="Slide Number Placeholder 3"/>
          <p:cNvSpPr>
            <a:spLocks noGrp="1"/>
          </p:cNvSpPr>
          <p:nvPr>
            <p:ph type="sldNum" sz="quarter" idx="10"/>
          </p:nvPr>
        </p:nvSpPr>
        <p:spPr/>
        <p:txBody>
          <a:bodyPr/>
          <a:lstStyle/>
          <a:p>
            <a:fld id="{F7021451-1387-4CA6-816F-3879F97B5CBC}" type="slidenum">
              <a:rPr lang="en-US"/>
              <a:t>148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06-procedure-detail.
Écran : /candidat/procedures/44 — compte : sans session.
Noms, matricules, initiales, photos et adresses réelles masqués dans la page avant la capture.
Règles appliquées (annexe A) : RG-OFF-06, RG-OFF-07, RG-OFF-34.</a:t>
            </a:r>
          </a:p>
        </p:txBody>
      </p:sp>
      <p:sp>
        <p:nvSpPr>
          <p:cNvPr id="4" name="Slide Number Placeholder 3"/>
          <p:cNvSpPr>
            <a:spLocks noGrp="1"/>
          </p:cNvSpPr>
          <p:nvPr>
            <p:ph type="sldNum" sz="quarter" idx="10"/>
          </p:nvPr>
        </p:nvSpPr>
        <p:spPr/>
        <p:txBody>
          <a:bodyPr/>
          <a:lstStyle/>
          <a:p>
            <a:fld id="{F7021451-1387-4CA6-816F-3879F97B5CBC}" type="slidenum">
              <a:rPr lang="en-US"/>
              <a:t>149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06-inscription.
Écran : /candidat/inscription — compte : sans session.
Noms, matricules, initiales, photos et adresses réelles masqués dans la page avant la capture.
Règles appliquées (annexe A) : RG-OFF-01.</a:t>
            </a:r>
          </a:p>
        </p:txBody>
      </p:sp>
      <p:sp>
        <p:nvSpPr>
          <p:cNvPr id="4" name="Slide Number Placeholder 3"/>
          <p:cNvSpPr>
            <a:spLocks noGrp="1"/>
          </p:cNvSpPr>
          <p:nvPr>
            <p:ph type="sldNum" sz="quarter" idx="10"/>
          </p:nvPr>
        </p:nvSpPr>
        <p:spPr/>
        <p:txBody>
          <a:bodyPr/>
          <a:lstStyle/>
          <a:p>
            <a:fld id="{F7021451-1387-4CA6-816F-3879F97B5CBC}" type="slidenum">
              <a:rPr lang="en-US"/>
              <a:t>150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06-cand-entreprise.
Écran : /candidat/entreprise — compte : candidat (Entreprise de recette BTP).
Noms, matricules, initiales, photos et adresses réelles masqués dans la page avant la capture.
Règles appliquées (annexe A) : RG-OFF-02, RG-OFF-03, RG-OFF-04.</a:t>
            </a:r>
          </a:p>
        </p:txBody>
      </p:sp>
      <p:sp>
        <p:nvSpPr>
          <p:cNvPr id="4" name="Slide Number Placeholder 3"/>
          <p:cNvSpPr>
            <a:spLocks noGrp="1"/>
          </p:cNvSpPr>
          <p:nvPr>
            <p:ph type="sldNum" sz="quarter" idx="10"/>
          </p:nvPr>
        </p:nvSpPr>
        <p:spPr/>
        <p:txBody>
          <a:bodyPr/>
          <a:lstStyle/>
          <a:p>
            <a:fld id="{F7021451-1387-4CA6-816F-3879F97B5CBC}" type="slidenum">
              <a:rPr lang="en-US"/>
              <a:t>151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detail2__n17-retrait-attend-recu.jpg (« Le retrait attend le reçu »).
Raison : l’état montré ne se reproduit plus sur la base du 14/10 ; l’écran n’a pas changé sur ce qu’il montre.
Règles appliquées (annexe A) : RG-OFF-09.</a:t>
            </a:r>
          </a:p>
        </p:txBody>
      </p:sp>
      <p:sp>
        <p:nvSpPr>
          <p:cNvPr id="4" name="Slide Number Placeholder 3"/>
          <p:cNvSpPr>
            <a:spLocks noGrp="1"/>
          </p:cNvSpPr>
          <p:nvPr>
            <p:ph type="sldNum" sz="quarter" idx="10"/>
          </p:nvPr>
        </p:nvSpPr>
        <p:spPr/>
        <p:txBody>
          <a:bodyPr/>
          <a:lstStyle/>
          <a:p>
            <a:fld id="{F7021451-1387-4CA6-816F-3879F97B5CBC}" type="slidenum">
              <a:rPr lang="en-US"/>
              <a:t>153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se__w02-recu-formulaire.jpg (« Déposer le reçu du versement »).
Raison : l’état montré ne se reproduit plus sur la base du 14/10 ; l’écran n’a pas changé sur ce qu’il montre.
Règles appliquées (annexe A) : RG-OFF-09, RG-OFF-10.</a:t>
            </a:r>
          </a:p>
        </p:txBody>
      </p:sp>
      <p:sp>
        <p:nvSpPr>
          <p:cNvPr id="4" name="Slide Number Placeholder 3"/>
          <p:cNvSpPr>
            <a:spLocks noGrp="1"/>
          </p:cNvSpPr>
          <p:nvPr>
            <p:ph type="sldNum" sz="quarter" idx="10"/>
          </p:nvPr>
        </p:nvSpPr>
        <p:spPr/>
        <p:txBody>
          <a:bodyPr/>
          <a:lstStyle/>
          <a:p>
            <a:fld id="{F7021451-1387-4CA6-816F-3879F97B5CBC}" type="slidenum">
              <a:rPr lang="en-US"/>
              <a:t>154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se__w03-recu-en-attente.jpg (« Le reçu attend la décision »).
Raison : l’état montré ne se reproduit plus sur la base du 14/10 ; l’écran n’a pas changé sur ce qu’il montre.
Règles appliquées (annexe A) : RG-OFF-09, RG-OFF-12.</a:t>
            </a:r>
          </a:p>
        </p:txBody>
      </p:sp>
      <p:sp>
        <p:nvSpPr>
          <p:cNvPr id="4" name="Slide Number Placeholder 3"/>
          <p:cNvSpPr>
            <a:spLocks noGrp="1"/>
          </p:cNvSpPr>
          <p:nvPr>
            <p:ph type="sldNum" sz="quarter" idx="10"/>
          </p:nvPr>
        </p:nvSpPr>
        <p:spPr/>
        <p:txBody>
          <a:bodyPr/>
          <a:lstStyle/>
          <a:p>
            <a:fld id="{F7021451-1387-4CA6-816F-3879F97B5CBC}" type="slidenum">
              <a:rPr lang="en-US"/>
              <a:t>155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se__w05-prmp-refus-motif.jpg (« Refuser, avec un motif »).
Raison : l’état montré ne se reproduit plus sur la base du 14/10 ; l’écran n’a pas changé sur ce qu’il montre.
Règles appliquées (annexe A) : RG-OFF-11.</a:t>
            </a:r>
          </a:p>
        </p:txBody>
      </p:sp>
      <p:sp>
        <p:nvSpPr>
          <p:cNvPr id="4" name="Slide Number Placeholder 3"/>
          <p:cNvSpPr>
            <a:spLocks noGrp="1"/>
          </p:cNvSpPr>
          <p:nvPr>
            <p:ph type="sldNum" sz="quarter" idx="10"/>
          </p:nvPr>
        </p:nvSpPr>
        <p:spPr/>
        <p:txBody>
          <a:bodyPr/>
          <a:lstStyle/>
          <a:p>
            <a:fld id="{F7021451-1387-4CA6-816F-3879F97B5CBC}" type="slidenum">
              <a:rPr lang="en-US"/>
              <a:t>156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se__w07-recu-refuse.jpg (« Reçu refusé : le motif »).
Raison : l’état montré ne se reproduit plus sur la base du 14/10 ; l’écran n’a pas changé sur ce qu’il montre.
Règles appliquées (annexe A) : RG-OFF-11.</a:t>
            </a:r>
          </a:p>
        </p:txBody>
      </p:sp>
      <p:sp>
        <p:nvSpPr>
          <p:cNvPr id="4" name="Slide Number Placeholder 3"/>
          <p:cNvSpPr>
            <a:spLocks noGrp="1"/>
          </p:cNvSpPr>
          <p:nvPr>
            <p:ph type="sldNum" sz="quarter" idx="10"/>
          </p:nvPr>
        </p:nvSpPr>
        <p:spPr/>
        <p:txBody>
          <a:bodyPr/>
          <a:lstStyle/>
          <a:p>
            <a:fld id="{F7021451-1387-4CA6-816F-3879F97B5CBC}" type="slidenum">
              <a:rPr lang="en-US"/>
              <a:t>157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se__w06-recu-valide.jpg (« Reçu validé : le dossier se retire »).
Raison : l’état montré ne se reproduit plus sur la base du 14/10 ; l’écran n’a pas changé sur ce qu’il montre.
Règles appliquées (annexe A) : RG-OFF-09, RG-OFF-13.</a:t>
            </a:r>
          </a:p>
        </p:txBody>
      </p:sp>
      <p:sp>
        <p:nvSpPr>
          <p:cNvPr id="4" name="Slide Number Placeholder 3"/>
          <p:cNvSpPr>
            <a:spLocks noGrp="1"/>
          </p:cNvSpPr>
          <p:nvPr>
            <p:ph type="sldNum" sz="quarter" idx="10"/>
          </p:nvPr>
        </p:nvSpPr>
        <p:spPr/>
        <p:txBody>
          <a:bodyPr/>
          <a:lstStyle/>
          <a:p>
            <a:fld id="{F7021451-1387-4CA6-816F-3879F97B5CBC}" type="slidenum">
              <a:rPr lang="en-US"/>
              <a:t>158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06-cand-procedure.
Écran : /candidat/procedures/44 — compte : candidat (Entreprise de recette BTP).
Noms, matricules, initiales, photos et adresses réelles masqués dans la page avant la capture.
Règles appliquées (annexe A) : RG-OFF-08.</a:t>
            </a:r>
          </a:p>
        </p:txBody>
      </p:sp>
      <p:sp>
        <p:nvSpPr>
          <p:cNvPr id="4" name="Slide Number Placeholder 3"/>
          <p:cNvSpPr>
            <a:spLocks noGrp="1"/>
          </p:cNvSpPr>
          <p:nvPr>
            <p:ph type="sldNum" sz="quarter" idx="10"/>
          </p:nvPr>
        </p:nvSpPr>
        <p:spPr/>
        <p:txBody>
          <a:bodyPr/>
          <a:lstStyle/>
          <a:p>
            <a:fld id="{F7021451-1387-4CA6-816F-3879F97B5CBC}" type="slidenum">
              <a:rPr lang="en-US"/>
              <a:t>159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detail2__n10-depot-ferme.jpg (« Sans reçu validé, pas de dépôt »).
Raison : l’état montré ne se reproduit plus sur la base du 14/10 ; l’écran n’a pas changé sur ce qu’il montre.
Règles appliquées (annexe A) : RG-OFF-12.</a:t>
            </a:r>
          </a:p>
        </p:txBody>
      </p:sp>
      <p:sp>
        <p:nvSpPr>
          <p:cNvPr id="4" name="Slide Number Placeholder 3"/>
          <p:cNvSpPr>
            <a:spLocks noGrp="1"/>
          </p:cNvSpPr>
          <p:nvPr>
            <p:ph type="sldNum" sz="quarter" idx="10"/>
          </p:nvPr>
        </p:nvSpPr>
        <p:spPr/>
        <p:txBody>
          <a:bodyPr/>
          <a:lstStyle/>
          <a:p>
            <a:fld id="{F7021451-1387-4CA6-816F-3879F97B5CBC}" type="slidenum">
              <a:rPr lang="en-US"/>
              <a:t>160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06-cand-invitations.
Écran : /candidat/invitations — compte : candidat (Société de démonstration).
Noms, matricules, initiales, photos et adresses réelles masqués dans la page avant la capture.
Règles appliquées (annexe A) : RG-OFF-31.</a:t>
            </a:r>
          </a:p>
        </p:txBody>
      </p:sp>
      <p:sp>
        <p:nvSpPr>
          <p:cNvPr id="4" name="Slide Number Placeholder 3"/>
          <p:cNvSpPr>
            <a:spLocks noGrp="1"/>
          </p:cNvSpPr>
          <p:nvPr>
            <p:ph type="sldNum" sz="quarter" idx="10"/>
          </p:nvPr>
        </p:nvSpPr>
        <p:spPr/>
        <p:txBody>
          <a:bodyPr/>
          <a:lstStyle/>
          <a:p>
            <a:fld id="{F7021451-1387-4CA6-816F-3879F97B5CBC}" type="slidenum">
              <a:rPr lang="en-US"/>
              <a:t>161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se__d01-fournitures-bordereau.jpg (« Le bordereau des prix et le calendrier de livraison »).
Raison : l’état montré ne se reproduit plus sur la base du 14/10 ; l’écran n’a pas changé sur ce qu’il montre.
Règles appliquées (annexe A) : RG-OFF-14.</a:t>
            </a:r>
          </a:p>
        </p:txBody>
      </p:sp>
      <p:sp>
        <p:nvSpPr>
          <p:cNvPr id="4" name="Slide Number Placeholder 3"/>
          <p:cNvSpPr>
            <a:spLocks noGrp="1"/>
          </p:cNvSpPr>
          <p:nvPr>
            <p:ph type="sldNum" sz="quarter" idx="10"/>
          </p:nvPr>
        </p:nvSpPr>
        <p:spPr/>
        <p:txBody>
          <a:bodyPr/>
          <a:lstStyle/>
          <a:p>
            <a:fld id="{F7021451-1387-4CA6-816F-3879F97B5CBC}" type="slidenum">
              <a:rPr lang="en-US"/>
              <a:t>163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se__d02-fournitures-conformite.jpg (« La conformité technique »).
Raison : l’état montré ne se reproduit plus sur la base du 14/10 ; l’écran n’a pas changé sur ce qu’il montre.
Règles appliquées (annexe A) : RG-OFF-14.</a:t>
            </a:r>
          </a:p>
        </p:txBody>
      </p:sp>
      <p:sp>
        <p:nvSpPr>
          <p:cNvPr id="4" name="Slide Number Placeholder 3"/>
          <p:cNvSpPr>
            <a:spLocks noGrp="1"/>
          </p:cNvSpPr>
          <p:nvPr>
            <p:ph type="sldNum" sz="quarter" idx="10"/>
          </p:nvPr>
        </p:nvSpPr>
        <p:spPr/>
        <p:txBody>
          <a:bodyPr/>
          <a:lstStyle/>
          <a:p>
            <a:fld id="{F7021451-1387-4CA6-816F-3879F97B5CBC}" type="slidenum">
              <a:rPr lang="en-US"/>
              <a:t>164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se__d03-fournitures-avertissements.jpg (« Les avertissements, avant de déposer »).
Raison : l’état montré ne se reproduit plus sur la base du 14/10 ; l’écran n’a pas changé sur ce qu’il montre.
Règles appliquées (annexe A) : RG-OFF-18.</a:t>
            </a:r>
          </a:p>
        </p:txBody>
      </p:sp>
      <p:sp>
        <p:nvSpPr>
          <p:cNvPr id="4" name="Slide Number Placeholder 3"/>
          <p:cNvSpPr>
            <a:spLocks noGrp="1"/>
          </p:cNvSpPr>
          <p:nvPr>
            <p:ph type="sldNum" sz="quarter" idx="10"/>
          </p:nvPr>
        </p:nvSpPr>
        <p:spPr/>
        <p:txBody>
          <a:bodyPr/>
          <a:lstStyle/>
          <a:p>
            <a:fld id="{F7021451-1387-4CA6-816F-3879F97B5CBC}" type="slidenum">
              <a:rPr lang="en-US"/>
              <a:t>165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se__d04-acte-derive.jpg (« L’acte d’engagement, calculé »).
Raison : l’état montré ne se reproduit plus sur la base du 14/10 ; l’écran n’a pas changé sur ce qu’il montre.
Règles appliquées (annexe A) : RG-OFF-16, RG-OFF-17.</a:t>
            </a:r>
          </a:p>
        </p:txBody>
      </p:sp>
      <p:sp>
        <p:nvSpPr>
          <p:cNvPr id="4" name="Slide Number Placeholder 3"/>
          <p:cNvSpPr>
            <a:spLocks noGrp="1"/>
          </p:cNvSpPr>
          <p:nvPr>
            <p:ph type="sldNum" sz="quarter" idx="10"/>
          </p:nvPr>
        </p:nvSpPr>
        <p:spPr/>
        <p:txBody>
          <a:bodyPr/>
          <a:lstStyle/>
          <a:p>
            <a:fld id="{F7021451-1387-4CA6-816F-3879F97B5CBC}" type="slidenum">
              <a:rPr lang="en-US"/>
              <a:t>166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se__t01-travaux-dqe.jpg (« Le DQE et les prix en lettres »).
Raison : l’état montré ne se reproduit plus sur la base du 14/10 ; l’écran n’a pas changé sur ce qu’il montre.
Règles appliquées (annexe A) : RG-OFF-14.</a:t>
            </a:r>
          </a:p>
        </p:txBody>
      </p:sp>
      <p:sp>
        <p:nvSpPr>
          <p:cNvPr id="4" name="Slide Number Placeholder 3"/>
          <p:cNvSpPr>
            <a:spLocks noGrp="1"/>
          </p:cNvSpPr>
          <p:nvPr>
            <p:ph type="sldNum" sz="quarter" idx="10"/>
          </p:nvPr>
        </p:nvSpPr>
        <p:spPr/>
        <p:txBody>
          <a:bodyPr/>
          <a:lstStyle/>
          <a:p>
            <a:fld id="{F7021451-1387-4CA6-816F-3879F97B5CBC}" type="slidenum">
              <a:rPr lang="en-US"/>
              <a:t>167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se__t03-travaux-k1.jpg (« Le coefficient K1 »).
Raison : l’état montré ne se reproduit plus sur la base du 14/10 ; l’écran n’a pas changé sur ce qu’il montre.
Règles appliquées (annexe A) : RG-OFF-15.</a:t>
            </a:r>
          </a:p>
        </p:txBody>
      </p:sp>
      <p:sp>
        <p:nvSpPr>
          <p:cNvPr id="4" name="Slide Number Placeholder 3"/>
          <p:cNvSpPr>
            <a:spLocks noGrp="1"/>
          </p:cNvSpPr>
          <p:nvPr>
            <p:ph type="sldNum" sz="quarter" idx="10"/>
          </p:nvPr>
        </p:nvSpPr>
        <p:spPr/>
        <p:txBody>
          <a:bodyPr/>
          <a:lstStyle/>
          <a:p>
            <a:fld id="{F7021451-1387-4CA6-816F-3879F97B5CBC}" type="slidenum">
              <a:rPr lang="en-US"/>
              <a:t>168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se__t04-travaux-sous-detail.jpg (« Le sous-détail d’un prix »).
Raison : l’état montré ne se reproduit plus sur la base du 14/10 ; l’écran n’a pas changé sur ce qu’il montre.
Règles appliquées (annexe A) : RG-OFF-15.</a:t>
            </a:r>
          </a:p>
        </p:txBody>
      </p:sp>
      <p:sp>
        <p:nvSpPr>
          <p:cNvPr id="4" name="Slide Number Placeholder 3"/>
          <p:cNvSpPr>
            <a:spLocks noGrp="1"/>
          </p:cNvSpPr>
          <p:nvPr>
            <p:ph type="sldNum" sz="quarter" idx="10"/>
          </p:nvPr>
        </p:nvSpPr>
        <p:spPr/>
        <p:txBody>
          <a:bodyPr/>
          <a:lstStyle/>
          <a:p>
            <a:fld id="{F7021451-1387-4CA6-816F-3879F97B5CBC}" type="slidenum">
              <a:rPr lang="en-US"/>
              <a:t>169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se__t05-travaux-capacites.jpg (« Les capacités financières et techniques »).
Raison : l’état montré ne se reproduit plus sur la base du 14/10 ; l’écran n’a pas changé sur ce qu’il montre.
Règles appliquées (annexe A) : RG-OFF-15.</a:t>
            </a:r>
          </a:p>
        </p:txBody>
      </p:sp>
      <p:sp>
        <p:nvSpPr>
          <p:cNvPr id="4" name="Slide Number Placeholder 3"/>
          <p:cNvSpPr>
            <a:spLocks noGrp="1"/>
          </p:cNvSpPr>
          <p:nvPr>
            <p:ph type="sldNum" sz="quarter" idx="10"/>
          </p:nvPr>
        </p:nvSpPr>
        <p:spPr/>
        <p:txBody>
          <a:bodyPr/>
          <a:lstStyle/>
          <a:p>
            <a:fld id="{F7021451-1387-4CA6-816F-3879F97B5CBC}" type="slidenum">
              <a:rPr lang="en-US"/>
              <a:t>170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se__t06-travaux-personnel.jpg (« Le personnel proposé »).
Raison : l’état montré ne se reproduit plus sur la base du 14/10 ; l’écran n’a pas changé sur ce qu’il montre.
Règles appliquées (annexe A) : RG-OFF-15.</a:t>
            </a:r>
          </a:p>
        </p:txBody>
      </p:sp>
      <p:sp>
        <p:nvSpPr>
          <p:cNvPr id="4" name="Slide Number Placeholder 3"/>
          <p:cNvSpPr>
            <a:spLocks noGrp="1"/>
          </p:cNvSpPr>
          <p:nvPr>
            <p:ph type="sldNum" sz="quarter" idx="10"/>
          </p:nvPr>
        </p:nvSpPr>
        <p:spPr/>
        <p:txBody>
          <a:bodyPr/>
          <a:lstStyle/>
          <a:p>
            <a:fld id="{F7021451-1387-4CA6-816F-3879F97B5CBC}" type="slidenum">
              <a:rPr lang="en-US"/>
              <a:t>171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se__t07-travaux-materiel.jpg (« Le matériel proposé »).
Raison : l’état montré ne se reproduit plus sur la base du 14/10 ; l’écran n’a pas changé sur ce qu’il montre.
Règles appliquées (annexe A) : RG-OFF-15.</a:t>
            </a:r>
          </a:p>
        </p:txBody>
      </p:sp>
      <p:sp>
        <p:nvSpPr>
          <p:cNvPr id="4" name="Slide Number Placeholder 3"/>
          <p:cNvSpPr>
            <a:spLocks noGrp="1"/>
          </p:cNvSpPr>
          <p:nvPr>
            <p:ph type="sldNum" sz="quarter" idx="10"/>
          </p:nvPr>
        </p:nvSpPr>
        <p:spPr/>
        <p:txBody>
          <a:bodyPr/>
          <a:lstStyle/>
          <a:p>
            <a:fld id="{F7021451-1387-4CA6-816F-3879F97B5CBC}" type="slidenum">
              <a:rPr lang="en-US"/>
              <a:t>172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se__t08-travaux-avertissements.jpg (« Les avertissements des travaux »).
Raison : l’état montré ne se reproduit plus sur la base du 14/10 ; l’écran n’a pas changé sur ce qu’il montre.
Règles appliquées (annexe A) : RG-OFF-18.</a:t>
            </a:r>
          </a:p>
        </p:txBody>
      </p:sp>
      <p:sp>
        <p:nvSpPr>
          <p:cNvPr id="4" name="Slide Number Placeholder 3"/>
          <p:cNvSpPr>
            <a:spLocks noGrp="1"/>
          </p:cNvSpPr>
          <p:nvPr>
            <p:ph type="sldNum" sz="quarter" idx="10"/>
          </p:nvPr>
        </p:nvSpPr>
        <p:spPr/>
        <p:txBody>
          <a:bodyPr/>
          <a:lstStyle/>
          <a:p>
            <a:fld id="{F7021451-1387-4CA6-816F-3879F97B5CBC}" type="slidenum">
              <a:rPr lang="en-US"/>
              <a:t>173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se__y01-brouillon-repris.jpg (« Une saisie jamais perdue »).
Raison : l’état montré ne se reproduit plus sur la base du 14/10 ; l’écran n’a pas changé sur ce qu’il montre.</a:t>
            </a:r>
          </a:p>
        </p:txBody>
      </p:sp>
      <p:sp>
        <p:nvSpPr>
          <p:cNvPr id="4" name="Slide Number Placeholder 3"/>
          <p:cNvSpPr>
            <a:spLocks noGrp="1"/>
          </p:cNvSpPr>
          <p:nvPr>
            <p:ph type="sldNum" sz="quarter" idx="10"/>
          </p:nvPr>
        </p:nvSpPr>
        <p:spPr/>
        <p:txBody>
          <a:bodyPr/>
          <a:lstStyle/>
          <a:p>
            <a:fld id="{F7021451-1387-4CA6-816F-3879F97B5CBC}" type="slidenum">
              <a:rPr lang="en-US"/>
              <a:t>174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se__d05-pieces-remplies.jpg (« Les pièces remplies en ligne, et le reçu déjà fourni »).
Raison : l’état montré ne se reproduit plus sur la base du 14/10 ; l’écran n’a pas changé sur ce qu’il montre.
Règles appliquées (annexe A) : RG-OFF-13, RG-OFF-14.</a:t>
            </a:r>
          </a:p>
        </p:txBody>
      </p:sp>
      <p:sp>
        <p:nvSpPr>
          <p:cNvPr id="4" name="Slide Number Placeholder 3"/>
          <p:cNvSpPr>
            <a:spLocks noGrp="1"/>
          </p:cNvSpPr>
          <p:nvPr>
            <p:ph type="sldNum" sz="quarter" idx="10"/>
          </p:nvPr>
        </p:nvSpPr>
        <p:spPr/>
        <p:txBody>
          <a:bodyPr/>
          <a:lstStyle/>
          <a:p>
            <a:fld id="{F7021451-1387-4CA6-816F-3879F97B5CBC}" type="slidenum">
              <a:rPr lang="en-US"/>
              <a:t>176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detail__e08-depot-formulaire.jpg (« Le dépôt sans formulaires : l’acte d’engagement »).
Raison : l’état montré ne se reproduit plus sur la base du 14/10 ; l’écran n’a pas changé sur ce qu’il montre.
Règles appliquées (annexe A) : RG-OFF-16.</a:t>
            </a:r>
          </a:p>
        </p:txBody>
      </p:sp>
      <p:sp>
        <p:nvSpPr>
          <p:cNvPr id="4" name="Slide Number Placeholder 3"/>
          <p:cNvSpPr>
            <a:spLocks noGrp="1"/>
          </p:cNvSpPr>
          <p:nvPr>
            <p:ph type="sldNum" sz="quarter" idx="10"/>
          </p:nvPr>
        </p:nvSpPr>
        <p:spPr/>
        <p:txBody>
          <a:bodyPr/>
          <a:lstStyle/>
          <a:p>
            <a:fld id="{F7021451-1387-4CA6-816F-3879F97B5CBC}" type="slidenum">
              <a:rPr lang="en-US"/>
              <a:t>177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detail__e09-depot-pieces.jpg (« Le dépôt : les pièces, puis le scellement »).
Raison : l’état montré ne se reproduit plus sur la base du 14/10 ; l’écran n’a pas changé sur ce qu’il montre.
Règles appliquées (annexe A) : RG-OFF-19, RG-OFF-20.</a:t>
            </a:r>
          </a:p>
        </p:txBody>
      </p:sp>
      <p:sp>
        <p:nvSpPr>
          <p:cNvPr id="4" name="Slide Number Placeholder 3"/>
          <p:cNvSpPr>
            <a:spLocks noGrp="1"/>
          </p:cNvSpPr>
          <p:nvPr>
            <p:ph type="sldNum" sz="quarter" idx="10"/>
          </p:nvPr>
        </p:nvSpPr>
        <p:spPr/>
        <p:txBody>
          <a:bodyPr/>
          <a:lstStyle/>
          <a:p>
            <a:fld id="{F7021451-1387-4CA6-816F-3879F97B5CBC}" type="slidenum">
              <a:rPr lang="en-US"/>
              <a:t>178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detail__e10-depot-accuse.jpg (« L’accusé de dépôt »).
Raison : l’état montré ne se reproduit plus sur la base du 14/10 ; l’écran n’a pas changé sur ce qu’il montre.
Règles appliquées (annexe A) : RG-OFF-22.</a:t>
            </a:r>
          </a:p>
        </p:txBody>
      </p:sp>
      <p:sp>
        <p:nvSpPr>
          <p:cNvPr id="4" name="Slide Number Placeholder 3"/>
          <p:cNvSpPr>
            <a:spLocks noGrp="1"/>
          </p:cNvSpPr>
          <p:nvPr>
            <p:ph type="sldNum" sz="quarter" idx="10"/>
          </p:nvPr>
        </p:nvSpPr>
        <p:spPr/>
        <p:txBody>
          <a:bodyPr/>
          <a:lstStyle/>
          <a:p>
            <a:fld id="{F7021451-1387-4CA6-816F-3879F97B5CBC}" type="slidenum">
              <a:rPr lang="en-US"/>
              <a:t>179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pi-recette__p1-depot-technique.jpg (« Déposer l’enveloppe technique »).
Raison : l’état montré ne se reproduit plus sur la base du 14/10 ; l’écran n’a pas changé sur ce qu’il montre.
Règles appliquées (annexe A) : RG-OFF-32.</a:t>
            </a:r>
          </a:p>
        </p:txBody>
      </p:sp>
      <p:sp>
        <p:nvSpPr>
          <p:cNvPr id="4" name="Slide Number Placeholder 3"/>
          <p:cNvSpPr>
            <a:spLocks noGrp="1"/>
          </p:cNvSpPr>
          <p:nvPr>
            <p:ph type="sldNum" sz="quarter" idx="10"/>
          </p:nvPr>
        </p:nvSpPr>
        <p:spPr/>
        <p:txBody>
          <a:bodyPr/>
          <a:lstStyle/>
          <a:p>
            <a:fld id="{F7021451-1387-4CA6-816F-3879F97B5CBC}" type="slidenum">
              <a:rPr lang="en-US"/>
              <a:t>180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pi-recette__p1-accuse-financiere.jpg (« L’accusé d’une proposition complète »).
Raison : l’état montré ne se reproduit plus sur la base du 14/10 ; l’écran n’a pas changé sur ce qu’il montre.
Règles appliquées (annexe A) : RG-OFF-32.</a:t>
            </a:r>
          </a:p>
        </p:txBody>
      </p:sp>
      <p:sp>
        <p:nvSpPr>
          <p:cNvPr id="4" name="Slide Number Placeholder 3"/>
          <p:cNvSpPr>
            <a:spLocks noGrp="1"/>
          </p:cNvSpPr>
          <p:nvPr>
            <p:ph type="sldNum" sz="quarter" idx="10"/>
          </p:nvPr>
        </p:nvSpPr>
        <p:spPr/>
        <p:txBody>
          <a:bodyPr/>
          <a:lstStyle/>
          <a:p>
            <a:fld id="{F7021451-1387-4CA6-816F-3879F97B5CBC}" type="slidenum">
              <a:rPr lang="en-US"/>
              <a:t>181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06-cand-offres.
Écran : /candidat/offres — compte : candidat (Entreprise de recette BTP).
Noms, matricules, initiales, photos et adresses réelles masqués dans la page avant la capture.
Règles appliquées (annexe A) : RG-OFF-21, RG-OFF-22, RG-OFF-23, RG-OFF-32.</a:t>
            </a:r>
          </a:p>
        </p:txBody>
      </p:sp>
      <p:sp>
        <p:nvSpPr>
          <p:cNvPr id="4" name="Slide Number Placeholder 3"/>
          <p:cNvSpPr>
            <a:spLocks noGrp="1"/>
          </p:cNvSpPr>
          <p:nvPr>
            <p:ph type="sldNum" sz="quarter" idx="10"/>
          </p:nvPr>
        </p:nvSpPr>
        <p:spPr/>
        <p:txBody>
          <a:bodyPr/>
          <a:lstStyle/>
          <a:p>
            <a:fld id="{F7021451-1387-4CA6-816F-3879F97B5CBC}" type="slidenum">
              <a:rPr lang="en-US"/>
              <a:t>182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detail2__n05-depots.jpg (« Le registre des dépôts, avant l’échéance »).
Raison : l’état montré ne se reproduit plus sur la base du 14/10 ; l’écran n’a pas changé sur ce qu’il montre.
Règles appliquées (annexe A) : RG-OFF-24.</a:t>
            </a:r>
          </a:p>
        </p:txBody>
      </p:sp>
      <p:sp>
        <p:nvSpPr>
          <p:cNvPr id="4" name="Slide Number Placeholder 3"/>
          <p:cNvSpPr>
            <a:spLocks noGrp="1"/>
          </p:cNvSpPr>
          <p:nvPr>
            <p:ph type="sldNum" sz="quarter" idx="10"/>
          </p:nvPr>
        </p:nvSpPr>
        <p:spPr/>
        <p:txBody>
          <a:bodyPr/>
          <a:lstStyle/>
          <a:p>
            <a:fld id="{F7021451-1387-4CA6-816F-3879F97B5CBC}" type="slidenum">
              <a:rPr lang="en-US"/>
              <a:t>184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06-depots.
Écran : /prmp/dao/40/depots — compte : PRMP.
Noms, matricules, initiales, photos et adresses réelles masqués dans la page avant la capture.
Règles appliquées (annexe A) : RG-OFF-23, RG-OFF-24.</a:t>
            </a:r>
          </a:p>
        </p:txBody>
      </p:sp>
      <p:sp>
        <p:nvSpPr>
          <p:cNvPr id="4" name="Slide Number Placeholder 3"/>
          <p:cNvSpPr>
            <a:spLocks noGrp="1"/>
          </p:cNvSpPr>
          <p:nvPr>
            <p:ph type="sldNum" sz="quarter" idx="10"/>
          </p:nvPr>
        </p:nvSpPr>
        <p:spPr/>
        <p:txBody>
          <a:bodyPr/>
          <a:lstStyle/>
          <a:p>
            <a:fld id="{F7021451-1387-4CA6-816F-3879F97B5CBC}" type="slidenum">
              <a:rPr lang="en-US"/>
              <a:t>185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06-depots-44.
Écran : /prmp/dao/44/depots — compte : PRMP.
Noms, matricules, initiales, photos et adresses réelles masqués dans la page avant la capture.
Règles appliquées (annexe A) : RG-OFF-33.</a:t>
            </a:r>
          </a:p>
        </p:txBody>
      </p:sp>
      <p:sp>
        <p:nvSpPr>
          <p:cNvPr id="4" name="Slide Number Placeholder 3"/>
          <p:cNvSpPr>
            <a:spLocks noGrp="1"/>
          </p:cNvSpPr>
          <p:nvPr>
            <p:ph type="sldNum" sz="quarter" idx="10"/>
          </p:nvPr>
        </p:nvSpPr>
        <p:spPr/>
        <p:txBody>
          <a:bodyPr/>
          <a:lstStyle/>
          <a:p>
            <a:fld id="{F7021451-1387-4CA6-816F-3879F97B5CBC}" type="slidenum">
              <a:rPr lang="en-US"/>
              <a:t>186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detail__f01-seance-a-venir.jpg (« La séance, avant l’heure »).
Raison : l’état montré ne se reproduit plus sur la base du 14/10 ; l’écran n’a pas changé sur ce qu’il montre.
Règles appliquées (annexe A) : RG-SEA-01, RG-SEA-02.</a:t>
            </a:r>
          </a:p>
        </p:txBody>
      </p:sp>
      <p:sp>
        <p:nvSpPr>
          <p:cNvPr id="4" name="Slide Number Placeholder 3"/>
          <p:cNvSpPr>
            <a:spLocks noGrp="1"/>
          </p:cNvSpPr>
          <p:nvPr>
            <p:ph type="sldNum" sz="quarter" idx="10"/>
          </p:nvPr>
        </p:nvSpPr>
        <p:spPr/>
        <p:txBody>
          <a:bodyPr/>
          <a:lstStyle/>
          <a:p>
            <a:fld id="{F7021451-1387-4CA6-816F-3879F97B5CBC}" type="slidenum">
              <a:rPr lang="en-US"/>
              <a:t>191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detail__f02-membre-seance-a-venir.jpg (« Le membre attend l’ouverture »).
Raison : l’état montré ne se reproduit plus sur la base du 14/10 ; l’écran n’a pas changé sur ce qu’il montre.
Règles appliquées (annexe A) : RG-SEA-01, RG-SEA-02.</a:t>
            </a:r>
          </a:p>
        </p:txBody>
      </p:sp>
      <p:sp>
        <p:nvSpPr>
          <p:cNvPr id="4" name="Slide Number Placeholder 3"/>
          <p:cNvSpPr>
            <a:spLocks noGrp="1"/>
          </p:cNvSpPr>
          <p:nvPr>
            <p:ph type="sldNum" sz="quarter" idx="10"/>
          </p:nvPr>
        </p:nvSpPr>
        <p:spPr/>
        <p:txBody>
          <a:bodyPr/>
          <a:lstStyle/>
          <a:p>
            <a:fld id="{F7021451-1387-4CA6-816F-3879F97B5CBC}" type="slidenum">
              <a:rPr lang="en-US"/>
              <a:t>192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07-cao-representant.
Écran : /cao/procedures/40 — compte : membre de la commission « recette ».
Noms, matricules, initiales, photos et adresses réelles masqués dans la page avant la capture.
Règles appliquées (annexe A) : RG-SEA-29, RG-SEA-30.</a:t>
            </a:r>
          </a:p>
        </p:txBody>
      </p:sp>
      <p:sp>
        <p:nvSpPr>
          <p:cNvPr id="4" name="Slide Number Placeholder 3"/>
          <p:cNvSpPr>
            <a:spLocks noGrp="1"/>
          </p:cNvSpPr>
          <p:nvPr>
            <p:ph type="sldNum" sz="quarter" idx="10"/>
          </p:nvPr>
        </p:nvSpPr>
        <p:spPr/>
        <p:txBody>
          <a:bodyPr/>
          <a:lstStyle/>
          <a:p>
            <a:fld id="{F7021451-1387-4CA6-816F-3879F97B5CBC}" type="slidenum">
              <a:rPr lang="en-US"/>
              <a:t>193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detail__f03-seance-ouverte.jpg (« L’ouverture et les présences »).
Raison : l’état montré ne se reproduit plus sur la base du 14/10 ; l’écran n’a pas changé sur ce qu’il montre.
Règles appliquées (annexe A) : RG-SEA-01, RG-SEA-03.</a:t>
            </a:r>
          </a:p>
        </p:txBody>
      </p:sp>
      <p:sp>
        <p:nvSpPr>
          <p:cNvPr id="4" name="Slide Number Placeholder 3"/>
          <p:cNvSpPr>
            <a:spLocks noGrp="1"/>
          </p:cNvSpPr>
          <p:nvPr>
            <p:ph type="sldNum" sz="quarter" idx="10"/>
          </p:nvPr>
        </p:nvSpPr>
        <p:spPr/>
        <p:txBody>
          <a:bodyPr/>
          <a:lstStyle/>
          <a:p>
            <a:fld id="{F7021451-1387-4CA6-816F-3879F97B5CBC}" type="slidenum">
              <a:rPr lang="en-US"/>
              <a:t>195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detail__f04-membre-apport-parts.jpg (« Apporter ses parts »).
Raison : l’état montré ne se reproduit plus sur la base du 14/10 ; l’écran n’a pas changé sur ce qu’il montre.
Règles appliquées (annexe A) : RG-SEA-05, RG-SEA-06.</a:t>
            </a:r>
          </a:p>
        </p:txBody>
      </p:sp>
      <p:sp>
        <p:nvSpPr>
          <p:cNvPr id="4" name="Slide Number Placeholder 3"/>
          <p:cNvSpPr>
            <a:spLocks noGrp="1"/>
          </p:cNvSpPr>
          <p:nvPr>
            <p:ph type="sldNum" sz="quarter" idx="10"/>
          </p:nvPr>
        </p:nvSpPr>
        <p:spPr/>
        <p:txBody>
          <a:bodyPr/>
          <a:lstStyle/>
          <a:p>
            <a:fld id="{F7021451-1387-4CA6-816F-3879F97B5CBC}" type="slidenum">
              <a:rPr lang="en-US"/>
              <a:t>196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detail__f05-membre-parts-apportees.jpg (« Le quorum se remplit »).
Raison : l’état montré ne se reproduit plus sur la base du 14/10 ; l’écran n’a pas changé sur ce qu’il montre.
Règles appliquées (annexe A) : RG-SEA-07, RG-SEA-08.</a:t>
            </a:r>
          </a:p>
        </p:txBody>
      </p:sp>
      <p:sp>
        <p:nvSpPr>
          <p:cNvPr id="4" name="Slide Number Placeholder 3"/>
          <p:cNvSpPr>
            <a:spLocks noGrp="1"/>
          </p:cNvSpPr>
          <p:nvPr>
            <p:ph type="sldNum" sz="quarter" idx="10"/>
          </p:nvPr>
        </p:nvSpPr>
        <p:spPr/>
        <p:txBody>
          <a:bodyPr/>
          <a:lstStyle/>
          <a:p>
            <a:fld id="{F7021451-1387-4CA6-816F-3879F97B5CBC}" type="slidenum">
              <a:rPr lang="en-US"/>
              <a:t>197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detail__f06-seance-offres-ouvertes.jpg (« Toutes les offres s’ouvrent ensemble »).
Raison : l’état montré ne se reproduit plus sur la base du 14/10 ; l’écran n’a pas changé sur ce qu’il montre.
Règles appliquées (annexe A) : RG-SEA-08, RG-SEA-10, RG-SEA-11.</a:t>
            </a:r>
          </a:p>
        </p:txBody>
      </p:sp>
      <p:sp>
        <p:nvSpPr>
          <p:cNvPr id="4" name="Slide Number Placeholder 3"/>
          <p:cNvSpPr>
            <a:spLocks noGrp="1"/>
          </p:cNvSpPr>
          <p:nvPr>
            <p:ph type="sldNum" sz="quarter" idx="10"/>
          </p:nvPr>
        </p:nvSpPr>
        <p:spPr/>
        <p:txBody>
          <a:bodyPr/>
          <a:lstStyle/>
          <a:p>
            <a:fld id="{F7021451-1387-4CA6-816F-3879F97B5CBC}" type="slidenum">
              <a:rPr lang="en-US"/>
              <a:t>198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se__d06-lecture-fournitures.jpg (« La lecture d’une offre remplie : fournitures »).
Raison : l’état montré ne se reproduit plus sur la base du 14/10 ; l’écran n’a pas changé sur ce qu’il montre.
Règles appliquées (annexe A) : RG-SEA-12, RG-SEA-13.</a:t>
            </a:r>
          </a:p>
        </p:txBody>
      </p:sp>
      <p:sp>
        <p:nvSpPr>
          <p:cNvPr id="4" name="Slide Number Placeholder 3"/>
          <p:cNvSpPr>
            <a:spLocks noGrp="1"/>
          </p:cNvSpPr>
          <p:nvPr>
            <p:ph type="sldNum" sz="quarter" idx="10"/>
          </p:nvPr>
        </p:nvSpPr>
        <p:spPr/>
        <p:txBody>
          <a:bodyPr/>
          <a:lstStyle/>
          <a:p>
            <a:fld id="{F7021451-1387-4CA6-816F-3879F97B5CBC}" type="slidenum">
              <a:rPr lang="en-US"/>
              <a:t>200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se__t09-lecture-travaux.jpg (« La lecture d’une offre remplie : travaux »).
Raison : l’état montré ne se reproduit plus sur la base du 14/10 ; l’écran n’a pas changé sur ce qu’il montre.
Règles appliquées (annexe A) : RG-SEA-12, RG-SEA-14.</a:t>
            </a:r>
          </a:p>
        </p:txBody>
      </p:sp>
      <p:sp>
        <p:nvSpPr>
          <p:cNvPr id="4" name="Slide Number Placeholder 3"/>
          <p:cNvSpPr>
            <a:spLocks noGrp="1"/>
          </p:cNvSpPr>
          <p:nvPr>
            <p:ph type="sldNum" sz="quarter" idx="10"/>
          </p:nvPr>
        </p:nvSpPr>
        <p:spPr/>
        <p:txBody>
          <a:bodyPr/>
          <a:lstStyle/>
          <a:p>
            <a:fld id="{F7021451-1387-4CA6-816F-3879F97B5CBC}" type="slidenum">
              <a:rPr lang="en-US"/>
              <a:t>201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se__x01-lecture-frais.jpg (« Les frais de dossier, lus en séance »).
Raison : l’état montré ne se reproduit plus sur la base du 14/10 ; l’écran n’a pas changé sur ce qu’il montre.
Règles appliquées (annexe A) : RG-SEA-16.</a:t>
            </a:r>
          </a:p>
        </p:txBody>
      </p:sp>
      <p:sp>
        <p:nvSpPr>
          <p:cNvPr id="4" name="Slide Number Placeholder 3"/>
          <p:cNvSpPr>
            <a:spLocks noGrp="1"/>
          </p:cNvSpPr>
          <p:nvPr>
            <p:ph type="sldNum" sz="quarter" idx="10"/>
          </p:nvPr>
        </p:nvSpPr>
        <p:spPr/>
        <p:txBody>
          <a:bodyPr/>
          <a:lstStyle/>
          <a:p>
            <a:fld id="{F7021451-1387-4CA6-816F-3879F97B5CBC}" type="slidenum">
              <a:rPr lang="en-US"/>
              <a:t>202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detail__f07-lecture-projetee.jpg (« La lecture, projetée »).
Raison : l’état montré ne se reproduit plus sur la base du 14/10 ; l’écran n’a pas changé sur ce qu’il montre.
Règles appliquées (annexe A) : RG-SEA-12, RG-SEA-15, RG-SEA-17.</a:t>
            </a:r>
          </a:p>
        </p:txBody>
      </p:sp>
      <p:sp>
        <p:nvSpPr>
          <p:cNvPr id="4" name="Slide Number Placeholder 3"/>
          <p:cNvSpPr>
            <a:spLocks noGrp="1"/>
          </p:cNvSpPr>
          <p:nvPr>
            <p:ph type="sldNum" sz="quarter" idx="10"/>
          </p:nvPr>
        </p:nvSpPr>
        <p:spPr/>
        <p:txBody>
          <a:bodyPr/>
          <a:lstStyle/>
          <a:p>
            <a:fld id="{F7021451-1387-4CA6-816F-3879F97B5CBC}" type="slidenum">
              <a:rPr lang="en-US"/>
              <a:t>203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07-cao-procedure.
Écran : /cao/procedures/40 — compte : membre de la commission « recette ».
Noms, matricules, initiales, photos et adresses réelles masqués dans la page avant la capture.
Règles appliquées (annexe A) : RG-SEA-12, RG-SEA-18.</a:t>
            </a:r>
          </a:p>
        </p:txBody>
      </p:sp>
      <p:sp>
        <p:nvSpPr>
          <p:cNvPr id="4" name="Slide Number Placeholder 3"/>
          <p:cNvSpPr>
            <a:spLocks noGrp="1"/>
          </p:cNvSpPr>
          <p:nvPr>
            <p:ph type="sldNum" sz="quarter" idx="10"/>
          </p:nvPr>
        </p:nvSpPr>
        <p:spPr/>
        <p:txBody>
          <a:bodyPr/>
          <a:lstStyle/>
          <a:p>
            <a:fld id="{F7021451-1387-4CA6-816F-3879F97B5CBC}" type="slidenum">
              <a:rPr lang="en-US"/>
              <a:t>204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07-seance-44.
Écran : /procedure/44/seance — compte : PRMP.
Noms, matricules, initiales, photos et adresses réelles masqués dans la page avant la capture.
Règles appliquées (annexe A) : RG-SEA-07, RG-SEA-15, RG-SEA-18.</a:t>
            </a:r>
          </a:p>
        </p:txBody>
      </p:sp>
      <p:sp>
        <p:nvSpPr>
          <p:cNvPr id="4" name="Slide Number Placeholder 3"/>
          <p:cNvSpPr>
            <a:spLocks noGrp="1"/>
          </p:cNvSpPr>
          <p:nvPr>
            <p:ph type="sldNum" sz="quarter" idx="10"/>
          </p:nvPr>
        </p:nvSpPr>
        <p:spPr/>
        <p:txBody>
          <a:bodyPr/>
          <a:lstStyle/>
          <a:p>
            <a:fld id="{F7021451-1387-4CA6-816F-3879F97B5CBC}" type="slidenum">
              <a:rPr lang="en-US"/>
              <a:t>205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detail__f09-pv-a-signer.jpg (« Le PV d’ouverture, à signer »).
Raison : l’état montré ne se reproduit plus sur la base du 14/10 ; l’écran n’a pas changé sur ce qu’il montre.
Règles appliquées (annexe A) : RG-SEA-20, RG-SEA-31.</a:t>
            </a:r>
          </a:p>
        </p:txBody>
      </p:sp>
      <p:sp>
        <p:nvSpPr>
          <p:cNvPr id="4" name="Slide Number Placeholder 3"/>
          <p:cNvSpPr>
            <a:spLocks noGrp="1"/>
          </p:cNvSpPr>
          <p:nvPr>
            <p:ph type="sldNum" sz="quarter" idx="10"/>
          </p:nvPr>
        </p:nvSpPr>
        <p:spPr/>
        <p:txBody>
          <a:bodyPr/>
          <a:lstStyle/>
          <a:p>
            <a:fld id="{F7021451-1387-4CA6-816F-3879F97B5CBC}" type="slidenum">
              <a:rPr lang="en-US"/>
              <a:t>207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detail__f10-membre-signer-pv.jpg (« Signer le PV en ligne »).
Raison : l’état montré ne se reproduit plus sur la base du 14/10 ; l’écran n’a pas changé sur ce qu’il montre.
Règles appliquées (annexe A) : RG-SEA-21, RG-SEA-22.</a:t>
            </a:r>
          </a:p>
        </p:txBody>
      </p:sp>
      <p:sp>
        <p:nvSpPr>
          <p:cNvPr id="4" name="Slide Number Placeholder 3"/>
          <p:cNvSpPr>
            <a:spLocks noGrp="1"/>
          </p:cNvSpPr>
          <p:nvPr>
            <p:ph type="sldNum" sz="quarter" idx="10"/>
          </p:nvPr>
        </p:nvSpPr>
        <p:spPr/>
        <p:txBody>
          <a:bodyPr/>
          <a:lstStyle/>
          <a:p>
            <a:fld id="{F7021451-1387-4CA6-816F-3879F97B5CBC}" type="slidenum">
              <a:rPr lang="en-US"/>
              <a:t>208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07-seance-50.
Écran : /procedure/50/seance — compte : Administrateur.
Noms, matricules, initiales, photos et adresses réelles masqués dans la page avant la capture.
Règles appliquées (annexe A) : RG-SEA-23, RG-SEA-27, RG-SEA-29.</a:t>
            </a:r>
          </a:p>
        </p:txBody>
      </p:sp>
      <p:sp>
        <p:nvSpPr>
          <p:cNvPr id="4" name="Slide Number Placeholder 3"/>
          <p:cNvSpPr>
            <a:spLocks noGrp="1"/>
          </p:cNvSpPr>
          <p:nvPr>
            <p:ph type="sldNum" sz="quarter" idx="10"/>
          </p:nvPr>
        </p:nvSpPr>
        <p:spPr/>
        <p:txBody>
          <a:bodyPr/>
          <a:lstStyle/>
          <a:p>
            <a:fld id="{F7021451-1387-4CA6-816F-3879F97B5CBC}" type="slidenum">
              <a:rPr lang="en-US"/>
              <a:t>209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pi-recette__f03-seconde-seance-dechiffree.jpg (« La seconde séance : les enveloppes financières »).
Raison : l’état montré ne se reproduit plus sur la base du 14/10 ; l’écran n’a pas changé sur ce qu’il montre.
Règles appliquées (annexe A) : RG-SEA-28, RG-SEA-29.</a:t>
            </a:r>
          </a:p>
        </p:txBody>
      </p:sp>
      <p:sp>
        <p:nvSpPr>
          <p:cNvPr id="4" name="Slide Number Placeholder 3"/>
          <p:cNvSpPr>
            <a:spLocks noGrp="1"/>
          </p:cNvSpPr>
          <p:nvPr>
            <p:ph type="sldNum" sz="quarter" idx="10"/>
          </p:nvPr>
        </p:nvSpPr>
        <p:spPr/>
        <p:txBody>
          <a:bodyPr/>
          <a:lstStyle/>
          <a:p>
            <a:fld id="{F7021451-1387-4CA6-816F-3879F97B5CBC}" type="slidenum">
              <a:rPr lang="en-US"/>
              <a:t>210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06-questions-section.
Écran : /candidat/procedures/44 — compte : sans session.
Noms, matricules, initiales, photos et adresses réelles masqués dans la page avant la capture.
Règles appliquées (annexe A) : RG-SEA-23, RG-SEA-24.</a:t>
            </a:r>
          </a:p>
        </p:txBody>
      </p:sp>
      <p:sp>
        <p:nvSpPr>
          <p:cNvPr id="4" name="Slide Number Placeholder 3"/>
          <p:cNvSpPr>
            <a:spLocks noGrp="1"/>
          </p:cNvSpPr>
          <p:nvPr>
            <p:ph type="sldNum" sz="quarter" idx="10"/>
          </p:nvPr>
        </p:nvSpPr>
        <p:spPr/>
        <p:txBody>
          <a:bodyPr/>
          <a:lstStyle/>
          <a:p>
            <a:fld id="{F7021451-1387-4CA6-816F-3879F97B5CBC}" type="slidenum">
              <a:rPr lang="en-US"/>
              <a:t>211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deck-eval__c01-non-ouverte.jpg (« L’évaluation, avant son ouverture »).
Raison : l’état montré ne se reproduit plus sur la base du 14/10 ; l’écran n’a pas changé sur ce qu’il montre.
Règles appliquées (annexe A) : RG-EVA-01, RG-EVA-02.</a:t>
            </a:r>
          </a:p>
        </p:txBody>
      </p:sp>
      <p:sp>
        <p:nvSpPr>
          <p:cNvPr id="4" name="Slide Number Placeholder 3"/>
          <p:cNvSpPr>
            <a:spLocks noGrp="1"/>
          </p:cNvSpPr>
          <p:nvPr>
            <p:ph type="sldNum" sz="quarter" idx="10"/>
          </p:nvPr>
        </p:nvSpPr>
        <p:spPr/>
        <p:txBody>
          <a:bodyPr/>
          <a:lstStyle/>
          <a:p>
            <a:fld id="{F7021451-1387-4CA6-816F-3879F97B5CBC}" type="slidenum">
              <a:rPr lang="en-US"/>
              <a:t>216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deck-eval__c02-entree-cao.jpg (« L’entrée depuis l’espace de la commission »).
Raison : l’état montré ne se reproduit plus sur la base du 14/10 ; l’écran n’a pas changé sur ce qu’il montre.
Règles appliquées (annexe A) : RG-EVA-02, RG-EVA-04.</a:t>
            </a:r>
          </a:p>
        </p:txBody>
      </p:sp>
      <p:sp>
        <p:nvSpPr>
          <p:cNvPr id="4" name="Slide Number Placeholder 3"/>
          <p:cNvSpPr>
            <a:spLocks noGrp="1"/>
          </p:cNvSpPr>
          <p:nvPr>
            <p:ph type="sldNum" sz="quarter" idx="10"/>
          </p:nvPr>
        </p:nvSpPr>
        <p:spPr/>
        <p:txBody>
          <a:bodyPr/>
          <a:lstStyle/>
          <a:p>
            <a:fld id="{F7021451-1387-4CA6-816F-3879F97B5CBC}" type="slidenum">
              <a:rPr lang="en-US"/>
              <a:t>217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deck-eval__c03-declaration.jpg (« La déclaration préalable »).
Raison : l’état montré ne se reproduit plus sur la base du 14/10 ; l’écran n’a pas changé sur ce qu’il montre.
Règles appliquées (annexe A) : RG-EVA-03.</a:t>
            </a:r>
          </a:p>
        </p:txBody>
      </p:sp>
      <p:sp>
        <p:nvSpPr>
          <p:cNvPr id="4" name="Slide Number Placeholder 3"/>
          <p:cNvSpPr>
            <a:spLocks noGrp="1"/>
          </p:cNvSpPr>
          <p:nvPr>
            <p:ph type="sldNum" sz="quarter" idx="10"/>
          </p:nvPr>
        </p:nvSpPr>
        <p:spPr/>
        <p:txBody>
          <a:bodyPr/>
          <a:lstStyle/>
          <a:p>
            <a:fld id="{F7021451-1387-4CA6-816F-3879F97B5CBC}" type="slidenum">
              <a:rPr lang="en-US"/>
              <a:t>218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08-eval-40.
Écran : /procedure/40/evaluation — compte : PRMP.
Noms, matricules, initiales, photos et adresses réelles masqués dans la page avant la capture.
Règles appliquées (annexe A) : RG-EVA-01, RG-EVA-04, RG-EVA-07.</a:t>
            </a:r>
          </a:p>
        </p:txBody>
      </p:sp>
      <p:sp>
        <p:nvSpPr>
          <p:cNvPr id="4" name="Slide Number Placeholder 3"/>
          <p:cNvSpPr>
            <a:spLocks noGrp="1"/>
          </p:cNvSpPr>
          <p:nvPr>
            <p:ph type="sldNum" sz="quarter" idx="10"/>
          </p:nvPr>
        </p:nvSpPr>
        <p:spPr/>
        <p:txBody>
          <a:bodyPr/>
          <a:lstStyle/>
          <a:p>
            <a:fld id="{F7021451-1387-4CA6-816F-3879F97B5CBC}" type="slidenum">
              <a:rPr lang="en-US"/>
              <a:t>219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08-eval-44-prelim.
Écran : /cao/procedures/44/evaluation — compte : membre de la commission « démonstration ».
Noms, matricules, initiales, photos et adresses réelles masqués dans la page avant la capture.
Règles appliquées (annexe A) : RG-EVA-05, RG-EVA-08, RG-EVA-09, RG-EVA-10, RG-EVA-11.</a:t>
            </a:r>
          </a:p>
        </p:txBody>
      </p:sp>
      <p:sp>
        <p:nvSpPr>
          <p:cNvPr id="4" name="Slide Number Placeholder 3"/>
          <p:cNvSpPr>
            <a:spLocks noGrp="1"/>
          </p:cNvSpPr>
          <p:nvPr>
            <p:ph type="sldNum" sz="quarter" idx="10"/>
          </p:nvPr>
        </p:nvSpPr>
        <p:spPr/>
        <p:txBody>
          <a:bodyPr/>
          <a:lstStyle/>
          <a:p>
            <a:fld id="{F7021451-1387-4CA6-816F-3879F97B5CBC}" type="slidenum">
              <a:rPr lang="en-US"/>
              <a:t>221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deck-eval__c04-precision-prmp.jpg (« Demander une précision au candidat »).
Raison : l’état montré ne se reproduit plus sur la base du 14/10 ; l’écran n’a pas changé sur ce qu’il montre.
Règles appliquées (annexe A) : RG-EVA-12, RG-EVA-13.</a:t>
            </a:r>
          </a:p>
        </p:txBody>
      </p:sp>
      <p:sp>
        <p:nvSpPr>
          <p:cNvPr id="4" name="Slide Number Placeholder 3"/>
          <p:cNvSpPr>
            <a:spLocks noGrp="1"/>
          </p:cNvSpPr>
          <p:nvPr>
            <p:ph type="sldNum" sz="quarter" idx="10"/>
          </p:nvPr>
        </p:nvSpPr>
        <p:spPr/>
        <p:txBody>
          <a:bodyPr/>
          <a:lstStyle/>
          <a:p>
            <a:fld id="{F7021451-1387-4CA6-816F-3879F97B5CBC}" type="slidenum">
              <a:rPr lang="en-US"/>
              <a:t>222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deck-eval__c05-candidat-repond.jpg (« Répondre depuis « Mes offres » »).
Raison : l’état montré ne se reproduit plus sur la base du 14/10 ; l’écran n’a pas changé sur ce qu’il montre.
Règles appliquées (annexe A) : RG-EVA-12.</a:t>
            </a:r>
          </a:p>
        </p:txBody>
      </p:sp>
      <p:sp>
        <p:nvSpPr>
          <p:cNvPr id="4" name="Slide Number Placeholder 3"/>
          <p:cNvSpPr>
            <a:spLocks noGrp="1"/>
          </p:cNvSpPr>
          <p:nvPr>
            <p:ph type="sldNum" sz="quarter" idx="10"/>
          </p:nvPr>
        </p:nvSpPr>
        <p:spPr/>
        <p:txBody>
          <a:bodyPr/>
          <a:lstStyle/>
          <a:p>
            <a:fld id="{F7021451-1387-4CA6-816F-3879F97B5CBC}" type="slidenum">
              <a:rPr lang="en-US"/>
              <a:t>223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08-eval-44-montant.
Écran : /cao/procedures/44/evaluation — compte : membre de la commission « démonstration ».
Noms, matricules, initiales, photos et adresses réelles masqués dans la page avant la capture.
Règles appliquées (annexe A) : RG-EVA-16, RG-EVA-19.</a:t>
            </a:r>
          </a:p>
        </p:txBody>
      </p:sp>
      <p:sp>
        <p:nvSpPr>
          <p:cNvPr id="4" name="Slide Number Placeholder 3"/>
          <p:cNvSpPr>
            <a:spLocks noGrp="1"/>
          </p:cNvSpPr>
          <p:nvPr>
            <p:ph type="sldNum" sz="quarter" idx="10"/>
          </p:nvPr>
        </p:nvSpPr>
        <p:spPr/>
        <p:txBody>
          <a:bodyPr/>
          <a:lstStyle/>
          <a:p>
            <a:fld id="{F7021451-1387-4CA6-816F-3879F97B5CBC}" type="slidenum">
              <a:rPr lang="en-US"/>
              <a:t>225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08-eval-44-montant-detail.
Écran : /cao/procedures/44/evaluation — compte : membre de la commission « démonstration ».
Noms, matricules, initiales, photos et adresses réelles masqués dans la page avant la capture.
Règles appliquées (annexe A) : RG-EVA-14, RG-EVA-15, RG-EVA-17, RG-EVA-18, RG-EVA-35.</a:t>
            </a:r>
          </a:p>
        </p:txBody>
      </p:sp>
      <p:sp>
        <p:nvSpPr>
          <p:cNvPr id="4" name="Slide Number Placeholder 3"/>
          <p:cNvSpPr>
            <a:spLocks noGrp="1"/>
          </p:cNvSpPr>
          <p:nvPr>
            <p:ph type="sldNum" sz="quarter" idx="10"/>
          </p:nvPr>
        </p:nvSpPr>
        <p:spPr/>
        <p:txBody>
          <a:bodyPr/>
          <a:lstStyle/>
          <a:p>
            <a:fld id="{F7021451-1387-4CA6-816F-3879F97B5CBC}" type="slidenum">
              <a:rPr lang="en-US"/>
              <a:t>226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08-eval-44-anormales.
Écran : /cao/procedures/44/evaluation — compte : membre de la commission « démonstration ».
Noms, matricules, initiales, photos et adresses réelles masqués dans la page avant la capture.
Règles appliquées (annexe A) : RG-EVA-20, RG-EVA-21.</a:t>
            </a:r>
          </a:p>
        </p:txBody>
      </p:sp>
      <p:sp>
        <p:nvSpPr>
          <p:cNvPr id="4" name="Slide Number Placeholder 3"/>
          <p:cNvSpPr>
            <a:spLocks noGrp="1"/>
          </p:cNvSpPr>
          <p:nvPr>
            <p:ph type="sldNum" sz="quarter" idx="10"/>
          </p:nvPr>
        </p:nvSpPr>
        <p:spPr/>
        <p:txBody>
          <a:bodyPr/>
          <a:lstStyle/>
          <a:p>
            <a:fld id="{F7021451-1387-4CA6-816F-3879F97B5CBC}" type="slidenum">
              <a:rPr lang="en-US"/>
              <a:t>228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08-eval-40-anormales.
Écran : /procedure/40/evaluation — compte : PRMP.
Noms, matricules, initiales, photos et adresses réelles masqués dans la page avant la capture.
Règles appliquées (annexe A) : RG-EVA-21, RG-EVA-22, RG-EVA-36.</a:t>
            </a:r>
          </a:p>
        </p:txBody>
      </p:sp>
      <p:sp>
        <p:nvSpPr>
          <p:cNvPr id="4" name="Slide Number Placeholder 3"/>
          <p:cNvSpPr>
            <a:spLocks noGrp="1"/>
          </p:cNvSpPr>
          <p:nvPr>
            <p:ph type="sldNum" sz="quarter" idx="10"/>
          </p:nvPr>
        </p:nvSpPr>
        <p:spPr/>
        <p:txBody>
          <a:bodyPr/>
          <a:lstStyle/>
          <a:p>
            <a:fld id="{F7021451-1387-4CA6-816F-3879F97B5CBC}" type="slidenum">
              <a:rPr lang="en-US"/>
              <a:t>229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08-eval-44-postqualif.
Écran : /cao/procedures/44/evaluation — compte : membre de la commission « démonstration ».
Noms, matricules, initiales, photos et adresses réelles masqués dans la page avant la capture.
Règles appliquées (annexe A) : RG-EVA-23, RG-EVA-24, RG-EVA-25, RG-EVA-26.</a:t>
            </a:r>
          </a:p>
        </p:txBody>
      </p:sp>
      <p:sp>
        <p:nvSpPr>
          <p:cNvPr id="4" name="Slide Number Placeholder 3"/>
          <p:cNvSpPr>
            <a:spLocks noGrp="1"/>
          </p:cNvSpPr>
          <p:nvPr>
            <p:ph type="sldNum" sz="quarter" idx="10"/>
          </p:nvPr>
        </p:nvSpPr>
        <p:spPr/>
        <p:txBody>
          <a:bodyPr/>
          <a:lstStyle/>
          <a:p>
            <a:fld id="{F7021451-1387-4CA6-816F-3879F97B5CBC}" type="slidenum">
              <a:rPr lang="en-US"/>
              <a:t>231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08-eval-44-rapport.
Écran : /cao/procedures/44/evaluation — compte : membre de la commission « démonstration ».
Noms, matricules, initiales, photos et adresses réelles masqués dans la page avant la capture.
Règles appliquées (annexe A) : RG-EVA-27, RG-EVA-29, RG-EVA-30, RG-EVA-38.</a:t>
            </a:r>
          </a:p>
        </p:txBody>
      </p:sp>
      <p:sp>
        <p:nvSpPr>
          <p:cNvPr id="4" name="Slide Number Placeholder 3"/>
          <p:cNvSpPr>
            <a:spLocks noGrp="1"/>
          </p:cNvSpPr>
          <p:nvPr>
            <p:ph type="sldNum" sz="quarter" idx="10"/>
          </p:nvPr>
        </p:nvSpPr>
        <p:spPr/>
        <p:txBody>
          <a:bodyPr/>
          <a:lstStyle/>
          <a:p>
            <a:fld id="{F7021451-1387-4CA6-816F-3879F97B5CBC}" type="slidenum">
              <a:rPr lang="en-US"/>
              <a:t>233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deck-eval__c16-signature-membre.jpg (« Signer, avec une observation »).
Raison : l’état montré ne se reproduit plus sur la base du 14/10 ; l’écran n’a pas changé sur ce qu’il montre.
Règles appliquées (annexe A) : RG-EVA-29.</a:t>
            </a:r>
          </a:p>
        </p:txBody>
      </p:sp>
      <p:sp>
        <p:nvSpPr>
          <p:cNvPr id="4" name="Slide Number Placeholder 3"/>
          <p:cNvSpPr>
            <a:spLocks noGrp="1"/>
          </p:cNvSpPr>
          <p:nvPr>
            <p:ph type="sldNum" sz="quarter" idx="10"/>
          </p:nvPr>
        </p:nvSpPr>
        <p:spPr/>
        <p:txBody>
          <a:bodyPr/>
          <a:lstStyle/>
          <a:p>
            <a:fld id="{F7021451-1387-4CA6-816F-3879F97B5CBC}" type="slidenum">
              <a:rPr lang="en-US"/>
              <a:t>234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rapport__page-001.jpg (« Le rapport, sur le plan du guide »).
Raison : l’état montré ne se reproduit plus sur la base du 14/10 ; l’écran n’a pas changé sur ce qu’il montre.
Règles appliquées (annexe A) : RG-EVA-28.</a:t>
            </a:r>
          </a:p>
        </p:txBody>
      </p:sp>
      <p:sp>
        <p:nvSpPr>
          <p:cNvPr id="4" name="Slide Number Placeholder 3"/>
          <p:cNvSpPr>
            <a:spLocks noGrp="1"/>
          </p:cNvSpPr>
          <p:nvPr>
            <p:ph type="sldNum" sz="quarter" idx="10"/>
          </p:nvPr>
        </p:nvSpPr>
        <p:spPr/>
        <p:txBody>
          <a:bodyPr/>
          <a:lstStyle/>
          <a:p>
            <a:fld id="{F7021451-1387-4CA6-816F-3879F97B5CBC}" type="slidenum">
              <a:rPr lang="en-US"/>
              <a:t>235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09-attr-44.
Écran : /procedure/44/evaluation — compte : PRMP.
Noms, matricules, initiales, photos et adresses réelles masqués dans la page avant la capture.
Règles appliquées (annexe A) : RG-EVA-37.</a:t>
            </a:r>
          </a:p>
        </p:txBody>
      </p:sp>
      <p:sp>
        <p:nvSpPr>
          <p:cNvPr id="4" name="Slide Number Placeholder 3"/>
          <p:cNvSpPr>
            <a:spLocks noGrp="1"/>
          </p:cNvSpPr>
          <p:nvPr>
            <p:ph type="sldNum" sz="quarter" idx="10"/>
          </p:nvPr>
        </p:nvSpPr>
        <p:spPr/>
        <p:txBody>
          <a:bodyPr/>
          <a:lstStyle/>
          <a:p>
            <a:fld id="{F7021451-1387-4CA6-816F-3879F97B5CBC}" type="slidenum">
              <a:rPr lang="en-US"/>
              <a:t>236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pi-recette__t01-grille-membre-ecart.jpg (« L’évaluation technique : la grille d’un membre »).
Raison : l’état montré ne se reproduit plus sur la base du 14/10 ; l’écran n’a pas changé sur ce qu’il montre.
Règles appliquées (annexe A) : RG-EVA-31.</a:t>
            </a:r>
          </a:p>
        </p:txBody>
      </p:sp>
      <p:sp>
        <p:nvSpPr>
          <p:cNvPr id="4" name="Slide Number Placeholder 3"/>
          <p:cNvSpPr>
            <a:spLocks noGrp="1"/>
          </p:cNvSpPr>
          <p:nvPr>
            <p:ph type="sldNum" sz="quarter" idx="10"/>
          </p:nvPr>
        </p:nvSpPr>
        <p:spPr/>
        <p:txBody>
          <a:bodyPr/>
          <a:lstStyle/>
          <a:p>
            <a:fld id="{F7021451-1387-4CA6-816F-3879F97B5CBC}" type="slidenum">
              <a:rPr lang="en-US"/>
              <a:t>238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pi-recette__t02-classement-technique.jpg (« Le classement technique »).
Raison : l’état montré ne se reproduit plus sur la base du 14/10 ; l’écran n’a pas changé sur ce qu’il montre.
Règles appliquées (annexe A) : RG-EVA-31.</a:t>
            </a:r>
          </a:p>
        </p:txBody>
      </p:sp>
      <p:sp>
        <p:nvSpPr>
          <p:cNvPr id="4" name="Slide Number Placeholder 3"/>
          <p:cNvSpPr>
            <a:spLocks noGrp="1"/>
          </p:cNvSpPr>
          <p:nvPr>
            <p:ph type="sldNum" sz="quarter" idx="10"/>
          </p:nvPr>
        </p:nvSpPr>
        <p:spPr/>
        <p:txBody>
          <a:bodyPr/>
          <a:lstStyle/>
          <a:p>
            <a:fld id="{F7021451-1387-4CA6-816F-3879F97B5CBC}" type="slidenum">
              <a:rPr lang="en-US"/>
              <a:t>239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08-eval-50-cao.
Écran : /cao/procedures/50/evaluation — compte : membre de la commission « démonstration ».
Noms, matricules, initiales, photos et adresses réelles masqués dans la page avant la capture.
Règles appliquées (annexe A) : RG-EVA-32.</a:t>
            </a:r>
          </a:p>
        </p:txBody>
      </p:sp>
      <p:sp>
        <p:nvSpPr>
          <p:cNvPr id="4" name="Slide Number Placeholder 3"/>
          <p:cNvSpPr>
            <a:spLocks noGrp="1"/>
          </p:cNvSpPr>
          <p:nvPr>
            <p:ph type="sldNum" sz="quarter" idx="10"/>
          </p:nvPr>
        </p:nvSpPr>
        <p:spPr/>
        <p:txBody>
          <a:bodyPr/>
          <a:lstStyle/>
          <a:p>
            <a:fld id="{F7021451-1387-4CA6-816F-3879F97B5CBC}" type="slidenum">
              <a:rPr lang="en-US"/>
              <a:t>240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pi-recette__g01-saisie-financiere.jpg (« La saisie d’une enveloppe financière »).
Raison : l’état montré ne se reproduit plus sur la base du 14/10 ; l’écran n’a pas changé sur ce qu’il montre.
Règles appliquées (annexe A) : RG-EVA-32, RG-EVA-35.</a:t>
            </a:r>
          </a:p>
        </p:txBody>
      </p:sp>
      <p:sp>
        <p:nvSpPr>
          <p:cNvPr id="4" name="Slide Number Placeholder 3"/>
          <p:cNvSpPr>
            <a:spLocks noGrp="1"/>
          </p:cNvSpPr>
          <p:nvPr>
            <p:ph type="sldNum" sz="quarter" idx="10"/>
          </p:nvPr>
        </p:nvSpPr>
        <p:spPr/>
        <p:txBody>
          <a:bodyPr/>
          <a:lstStyle/>
          <a:p>
            <a:fld id="{F7021451-1387-4CA6-816F-3879F97B5CBC}" type="slidenum">
              <a:rPr lang="en-US"/>
              <a:t>241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pi-recette__n02-negociation-a-conclure.jpg (« La négociation à conclure »).
Raison : l’état montré ne se reproduit plus sur la base du 14/10 ; l’écran n’a pas changé sur ce qu’il montre.
Règles appliquées (annexe A) : RG-EVA-33.</a:t>
            </a:r>
          </a:p>
        </p:txBody>
      </p:sp>
      <p:sp>
        <p:nvSpPr>
          <p:cNvPr id="4" name="Slide Number Placeholder 3"/>
          <p:cNvSpPr>
            <a:spLocks noGrp="1"/>
          </p:cNvSpPr>
          <p:nvPr>
            <p:ph type="sldNum" sz="quarter" idx="10"/>
          </p:nvPr>
        </p:nvSpPr>
        <p:spPr/>
        <p:txBody>
          <a:bodyPr/>
          <a:lstStyle/>
          <a:p>
            <a:fld id="{F7021451-1387-4CA6-816F-3879F97B5CBC}" type="slidenum">
              <a:rPr lang="en-US"/>
              <a:t>242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08-eval-50-rapport.
Écran : /procedure/50/evaluation — compte : Administrateur.
Noms, matricules, initiales, photos et adresses réelles masqués dans la page avant la capture.
Règles appliquées (annexe A) : RG-EVA-33, RG-EVA-34.</a:t>
            </a:r>
          </a:p>
        </p:txBody>
      </p:sp>
      <p:sp>
        <p:nvSpPr>
          <p:cNvPr id="4" name="Slide Number Placeholder 3"/>
          <p:cNvSpPr>
            <a:spLocks noGrp="1"/>
          </p:cNvSpPr>
          <p:nvPr>
            <p:ph type="sldNum" sz="quarter" idx="10"/>
          </p:nvPr>
        </p:nvSpPr>
        <p:spPr/>
        <p:txBody>
          <a:bodyPr/>
          <a:lstStyle/>
          <a:p>
            <a:fld id="{F7021451-1387-4CA6-816F-3879F97B5CBC}" type="slidenum">
              <a:rPr lang="en-US"/>
              <a:t>243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deck-eval__c18-attribution-proposee.jpg (« L’attribution, lot par lot »).
Raison : l’état montré ne se reproduit plus sur la base du 14/10 ; l’écran n’a pas changé sur ce qu’il montre.
Règles appliquées (annexe A) : RG-ATT-01, RG-ATT-02, RG-ATT-03.</a:t>
            </a:r>
          </a:p>
        </p:txBody>
      </p:sp>
      <p:sp>
        <p:nvSpPr>
          <p:cNvPr id="4" name="Slide Number Placeholder 3"/>
          <p:cNvSpPr>
            <a:spLocks noGrp="1"/>
          </p:cNvSpPr>
          <p:nvPr>
            <p:ph type="sldNum" sz="quarter" idx="10"/>
          </p:nvPr>
        </p:nvSpPr>
        <p:spPr/>
        <p:txBody>
          <a:bodyPr/>
          <a:lstStyle/>
          <a:p>
            <a:fld id="{F7021451-1387-4CA6-816F-3879F97B5CBC}" type="slidenum">
              <a:rPr lang="en-US"/>
              <a:t>248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09-attr-40-lots.
Écran : /procedure/40/evaluation — compte : PRMP.
Noms, matricules, initiales, photos et adresses réelles masqués dans la page avant la capture.
Règles appliquées (annexe A) : RG-ATT-02, RG-ATT-04, RG-ATT-25, RG-ATT-29.</a:t>
            </a:r>
          </a:p>
        </p:txBody>
      </p:sp>
      <p:sp>
        <p:nvSpPr>
          <p:cNvPr id="4" name="Slide Number Placeholder 3"/>
          <p:cNvSpPr>
            <a:spLocks noGrp="1"/>
          </p:cNvSpPr>
          <p:nvPr>
            <p:ph type="sldNum" sz="quarter" idx="10"/>
          </p:nvPr>
        </p:nvSpPr>
        <p:spPr/>
        <p:txBody>
          <a:bodyPr/>
          <a:lstStyle/>
          <a:p>
            <a:fld id="{F7021451-1387-4CA6-816F-3879F97B5CBC}" type="slidenum">
              <a:rPr lang="en-US"/>
              <a:t>249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09-dossier-mpi.
Écran : /prmp/dossier/100376 — compte : PRMP.
Noms, matricules, initiales, photos et adresses réelles masqués dans la page avant la capture.
Règles appliquées (annexe A) : RG-ATT-03, RG-ATT-05, RG-ATT-06, RG-ATT-32.</a:t>
            </a:r>
          </a:p>
        </p:txBody>
      </p:sp>
      <p:sp>
        <p:nvSpPr>
          <p:cNvPr id="4" name="Slide Number Placeholder 3"/>
          <p:cNvSpPr>
            <a:spLocks noGrp="1"/>
          </p:cNvSpPr>
          <p:nvPr>
            <p:ph type="sldNum" sz="quarter" idx="10"/>
          </p:nvPr>
        </p:nvSpPr>
        <p:spPr/>
        <p:txBody>
          <a:bodyPr/>
          <a:lstStyle/>
          <a:p>
            <a:fld id="{F7021451-1387-4CA6-816F-3879F97B5CBC}" type="slidenum">
              <a:rPr lang="en-US"/>
              <a:t>250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attribution__k01-avis-favorable.jpg (« Le lot, après l’avis favorable de la Commission »).
Raison : l’état montré ne se reproduit plus sur la base du 14/10 ; l’écran n’a pas changé sur ce qu’il montre.
Règles appliquées (annexe A) : RG-ATT-07, RG-ATT-08.</a:t>
            </a:r>
          </a:p>
        </p:txBody>
      </p:sp>
      <p:sp>
        <p:nvSpPr>
          <p:cNvPr id="4" name="Slide Number Placeholder 3"/>
          <p:cNvSpPr>
            <a:spLocks noGrp="1"/>
          </p:cNvSpPr>
          <p:nvPr>
            <p:ph type="sldNum" sz="quarter" idx="10"/>
          </p:nvPr>
        </p:nvSpPr>
        <p:spPr/>
        <p:txBody>
          <a:bodyPr/>
          <a:lstStyle/>
          <a:p>
            <a:fld id="{F7021451-1387-4CA6-816F-3879F97B5CBC}" type="slidenum">
              <a:rPr lang="en-US"/>
              <a:t>252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attribution__k02-informer.jpg (« Informer les candidats »).
Raison : l’état montré ne se reproduit plus sur la base du 14/10 ; l’écran n’a pas changé sur ce qu’il montre.
Règles appliquées (annexe A) : RG-ATT-09, RG-ATT-10, RG-ATT-11, RG-ATT-14.</a:t>
            </a:r>
          </a:p>
        </p:txBody>
      </p:sp>
      <p:sp>
        <p:nvSpPr>
          <p:cNvPr id="4" name="Slide Number Placeholder 3"/>
          <p:cNvSpPr>
            <a:spLocks noGrp="1"/>
          </p:cNvSpPr>
          <p:nvPr>
            <p:ph type="sldNum" sz="quarter" idx="10"/>
          </p:nvPr>
        </p:nvSpPr>
        <p:spPr/>
        <p:txBody>
          <a:bodyPr/>
          <a:lstStyle/>
          <a:p>
            <a:fld id="{F7021451-1387-4CA6-816F-3879F97B5CBC}" type="slidenum">
              <a:rPr lang="en-US"/>
              <a:t>253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09-attr-44-lot.
Écran : /procedure/44/evaluation — compte : PRMP.
Noms, matricules, initiales, photos et adresses réelles masqués dans la page avant la capture.
Règles appliquées (annexe A) : RG-ATT-07, RG-ATT-09, RG-ATT-10, RG-ATT-11.</a:t>
            </a:r>
          </a:p>
        </p:txBody>
      </p:sp>
      <p:sp>
        <p:nvSpPr>
          <p:cNvPr id="4" name="Slide Number Placeholder 3"/>
          <p:cNvSpPr>
            <a:spLocks noGrp="1"/>
          </p:cNvSpPr>
          <p:nvPr>
            <p:ph type="sldNum" sz="quarter" idx="10"/>
          </p:nvPr>
        </p:nvSpPr>
        <p:spPr/>
        <p:txBody>
          <a:bodyPr/>
          <a:lstStyle/>
          <a:p>
            <a:fld id="{F7021451-1387-4CA6-816F-3879F97B5CBC}" type="slidenum">
              <a:rPr lang="en-US"/>
              <a:t>254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09-attr-44-recours.
Écran : /procedure/44/evaluation — compte : PRMP.
Noms, matricules, initiales, photos et adresses réelles masqués dans la page avant la capture.
Règles appliquées (annexe A) : RG-ATT-12, RG-ATT-13, RG-ATT-15, RG-ATT-16, RG-ATT-17, RG-ATT-35.</a:t>
            </a:r>
          </a:p>
        </p:txBody>
      </p:sp>
      <p:sp>
        <p:nvSpPr>
          <p:cNvPr id="4" name="Slide Number Placeholder 3"/>
          <p:cNvSpPr>
            <a:spLocks noGrp="1"/>
          </p:cNvSpPr>
          <p:nvPr>
            <p:ph type="sldNum" sz="quarter" idx="10"/>
          </p:nvPr>
        </p:nvSpPr>
        <p:spPr/>
        <p:txBody>
          <a:bodyPr/>
          <a:lstStyle/>
          <a:p>
            <a:fld id="{F7021451-1387-4CA6-816F-3879F97B5CBC}" type="slidenum">
              <a:rPr lang="en-US"/>
              <a:t>255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09-cand2-non-retenue.
Écran : /candidat/offres — compte : candidat (Société de démonstration).
Noms, matricules, initiales, photos et adresses réelles masqués dans la page avant la capture.
Règles appliquées (annexe A) : RG-ATT-09, RG-ATT-10, RG-ATT-13.</a:t>
            </a:r>
          </a:p>
        </p:txBody>
      </p:sp>
      <p:sp>
        <p:nvSpPr>
          <p:cNvPr id="4" name="Slide Number Placeholder 3"/>
          <p:cNvSpPr>
            <a:spLocks noGrp="1"/>
          </p:cNvSpPr>
          <p:nvPr>
            <p:ph type="sldNum" sz="quarter" idx="10"/>
          </p:nvPr>
        </p:nvSpPr>
        <p:spPr/>
        <p:txBody>
          <a:bodyPr/>
          <a:lstStyle/>
          <a:p>
            <a:fld id="{F7021451-1387-4CA6-816F-3879F97B5CBC}" type="slidenum">
              <a:rPr lang="en-US"/>
              <a:t>256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09-public-resultat.
Écran : /candidat/procedures/44 — compte : sans session.
Noms, matricules, initiales, photos et adresses réelles masqués dans la page avant la capture.
Règles appliquées (annexe A) : RG-ATT-11, RG-ATT-24.</a:t>
            </a:r>
          </a:p>
        </p:txBody>
      </p:sp>
      <p:sp>
        <p:nvSpPr>
          <p:cNvPr id="4" name="Slide Number Placeholder 3"/>
          <p:cNvSpPr>
            <a:spLocks noGrp="1"/>
          </p:cNvSpPr>
          <p:nvPr>
            <p:ph type="sldNum" sz="quarter" idx="10"/>
          </p:nvPr>
        </p:nvSpPr>
        <p:spPr/>
        <p:txBody>
          <a:bodyPr/>
          <a:lstStyle/>
          <a:p>
            <a:fld id="{F7021451-1387-4CA6-816F-3879F97B5CBC}" type="slidenum">
              <a:rPr lang="en-US"/>
              <a:t>257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09-cand-resultat.
Écran : /candidat/offres — compte : candidat (Entreprise de recette BTP).
Noms, matricules, initiales, photos et adresses réelles masqués dans la page avant la capture.
Règles appliquées (annexe A) : RG-ATT-18, RG-ATT-19, RG-ATT-34.</a:t>
            </a:r>
          </a:p>
        </p:txBody>
      </p:sp>
      <p:sp>
        <p:nvSpPr>
          <p:cNvPr id="4" name="Slide Number Placeholder 3"/>
          <p:cNvSpPr>
            <a:spLocks noGrp="1"/>
          </p:cNvSpPr>
          <p:nvPr>
            <p:ph type="sldNum" sz="quarter" idx="10"/>
          </p:nvPr>
        </p:nvSpPr>
        <p:spPr/>
        <p:txBody>
          <a:bodyPr/>
          <a:lstStyle/>
          <a:p>
            <a:fld id="{F7021451-1387-4CA6-816F-3879F97B5CBC}" type="slidenum">
              <a:rPr lang="en-US"/>
              <a:t>259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09-attr-44-pieces.
Écran : /procedure/44/evaluation — compte : PRMP.
Noms, matricules, initiales, photos et adresses réelles masqués dans la page avant la capture.
Règles appliquées (annexe A) : RG-ATT-18, RG-ATT-19, RG-ATT-34.</a:t>
            </a:r>
          </a:p>
        </p:txBody>
      </p:sp>
      <p:sp>
        <p:nvSpPr>
          <p:cNvPr id="4" name="Slide Number Placeholder 3"/>
          <p:cNvSpPr>
            <a:spLocks noGrp="1"/>
          </p:cNvSpPr>
          <p:nvPr>
            <p:ph type="sldNum" sz="quarter" idx="10"/>
          </p:nvPr>
        </p:nvSpPr>
        <p:spPr/>
        <p:txBody>
          <a:bodyPr/>
          <a:lstStyle/>
          <a:p>
            <a:fld id="{F7021451-1387-4CA6-816F-3879F97B5CBC}" type="slidenum">
              <a:rPr lang="en-US"/>
              <a:t>260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09-attr-44-signer.
Écran : /procedure/44/evaluation — compte : PRMP.
Noms, matricules, initiales, photos et adresses réelles masqués dans la page avant la capture.
Règles appliquées (annexe A) : RG-ATT-20, RG-ATT-21, RG-ATT-22, RG-ATT-33.</a:t>
            </a:r>
          </a:p>
        </p:txBody>
      </p:sp>
      <p:sp>
        <p:nvSpPr>
          <p:cNvPr id="4" name="Slide Number Placeholder 3"/>
          <p:cNvSpPr>
            <a:spLocks noGrp="1"/>
          </p:cNvSpPr>
          <p:nvPr>
            <p:ph type="sldNum" sz="quarter" idx="10"/>
          </p:nvPr>
        </p:nvSpPr>
        <p:spPr/>
        <p:txBody>
          <a:bodyPr/>
          <a:lstStyle/>
          <a:p>
            <a:fld id="{F7021451-1387-4CA6-816F-3879F97B5CBC}" type="slidenum">
              <a:rPr lang="en-US"/>
              <a:t>261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attribution-2d__i03-avis-defavorable-decisions.jpg (« Après un avis défavorable : infructuosité ou reprise »).
Raison : l’état montré ne se reproduit plus sur la base du 14/10 ; l’écran n’a pas changé sur ce qu’il montre.
Règles appliquées (annexe A) : RG-ATT-29, RG-ATT-30.</a:t>
            </a:r>
          </a:p>
        </p:txBody>
      </p:sp>
      <p:sp>
        <p:nvSpPr>
          <p:cNvPr id="4" name="Slide Number Placeholder 3"/>
          <p:cNvSpPr>
            <a:spLocks noGrp="1"/>
          </p:cNvSpPr>
          <p:nvPr>
            <p:ph type="sldNum" sz="quarter" idx="10"/>
          </p:nvPr>
        </p:nvSpPr>
        <p:spPr/>
        <p:txBody>
          <a:bodyPr/>
          <a:lstStyle/>
          <a:p>
            <a:fld id="{F7021451-1387-4CA6-816F-3879F97B5CBC}" type="slidenum">
              <a:rPr lang="en-US"/>
              <a:t>263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09-attr-50-reprise.
Écran : /procedure/50/evaluation — compte : Administrateur.
Noms, matricules, initiales, photos et adresses réelles masqués dans la page avant la capture.
Règles appliquées (annexe A) : RG-ATT-30.</a:t>
            </a:r>
          </a:p>
        </p:txBody>
      </p:sp>
      <p:sp>
        <p:nvSpPr>
          <p:cNvPr id="4" name="Slide Number Placeholder 3"/>
          <p:cNvSpPr>
            <a:spLocks noGrp="1"/>
          </p:cNvSpPr>
          <p:nvPr>
            <p:ph type="sldNum" sz="quarter" idx="10"/>
          </p:nvPr>
        </p:nvSpPr>
        <p:spPr/>
        <p:txBody>
          <a:bodyPr/>
          <a:lstStyle/>
          <a:p>
            <a:fld id="{F7021451-1387-4CA6-816F-3879F97B5CBC}" type="slidenum">
              <a:rPr lang="en-US"/>
              <a:t>264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attribution-2d__j01-sans-suite-demande.jpg (« La déclaration sans suite »).
Raison : l’état montré ne se reproduit plus sur la base du 14/10 ; l’écran n’a pas changé sur ce qu’il montre.
Règles appliquées (annexe A) : RG-ATT-31.</a:t>
            </a:r>
          </a:p>
        </p:txBody>
      </p:sp>
      <p:sp>
        <p:nvSpPr>
          <p:cNvPr id="4" name="Slide Number Placeholder 3"/>
          <p:cNvSpPr>
            <a:spLocks noGrp="1"/>
          </p:cNvSpPr>
          <p:nvPr>
            <p:ph type="sldNum" sz="quarter" idx="10"/>
          </p:nvPr>
        </p:nvSpPr>
        <p:spPr/>
        <p:txBody>
          <a:bodyPr/>
          <a:lstStyle/>
          <a:p>
            <a:fld id="{F7021451-1387-4CA6-816F-3879F97B5CBC}" type="slidenum">
              <a:rPr lang="en-US"/>
              <a:t>265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09-dossier-dss.
Écran : /prmp/dossier/100377 — compte : PRMP.
Noms, matricules, initiales, photos et adresses réelles masqués dans la page avant la capture.
Règles appliquées (annexe A) : RG-ATT-31.</a:t>
            </a:r>
          </a:p>
        </p:txBody>
      </p:sp>
      <p:sp>
        <p:nvSpPr>
          <p:cNvPr id="4" name="Slide Number Placeholder 3"/>
          <p:cNvSpPr>
            <a:spLocks noGrp="1"/>
          </p:cNvSpPr>
          <p:nvPr>
            <p:ph type="sldNum" sz="quarter" idx="10"/>
          </p:nvPr>
        </p:nvSpPr>
        <p:spPr/>
        <p:txBody>
          <a:bodyPr/>
          <a:lstStyle/>
          <a:p>
            <a:fld id="{F7021451-1387-4CA6-816F-3879F97B5CBC}" type="slidenum">
              <a:rPr lang="en-US"/>
              <a:t>266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attribution-2d__j03-sans-suite-favorable.jpg (« L’avis favorable : la PRMP déclare »).
Raison : l’état montré ne se reproduit plus sur la base du 14/10 ; l’écran n’a pas changé sur ce qu’il montre.
Règles appliquées (annexe A) : RG-ATT-31.</a:t>
            </a:r>
          </a:p>
        </p:txBody>
      </p:sp>
      <p:sp>
        <p:nvSpPr>
          <p:cNvPr id="4" name="Slide Number Placeholder 3"/>
          <p:cNvSpPr>
            <a:spLocks noGrp="1"/>
          </p:cNvSpPr>
          <p:nvPr>
            <p:ph type="sldNum" sz="quarter" idx="10"/>
          </p:nvPr>
        </p:nvSpPr>
        <p:spPr/>
        <p:txBody>
          <a:bodyPr/>
          <a:lstStyle/>
          <a:p>
            <a:fld id="{F7021451-1387-4CA6-816F-3879F97B5CBC}" type="slidenum">
              <a:rPr lang="en-US"/>
              <a:t>267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attribution-2d__j04-sans-suite-declaree.jpg (« La procédure déclarée sans suite »).
Raison : l’état montré ne se reproduit plus sur la base du 14/10 ; l’écran n’a pas changé sur ce qu’il montre.
Règles appliquées (annexe A) : RG-ATT-31.</a:t>
            </a:r>
          </a:p>
        </p:txBody>
      </p:sp>
      <p:sp>
        <p:nvSpPr>
          <p:cNvPr id="4" name="Slide Number Placeholder 3"/>
          <p:cNvSpPr>
            <a:spLocks noGrp="1"/>
          </p:cNvSpPr>
          <p:nvPr>
            <p:ph type="sldNum" sz="quarter" idx="10"/>
          </p:nvPr>
        </p:nvSpPr>
        <p:spPr/>
        <p:txBody>
          <a:bodyPr/>
          <a:lstStyle/>
          <a:p>
            <a:fld id="{F7021451-1387-4CA6-816F-3879F97B5CBC}" type="slidenum">
              <a:rPr lang="en-US"/>
              <a:t>268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09-dossier-marche.
Écran : /prmp/dossier/100372 — compte : PRMP.
Noms, matricules, initiales, photos et adresses réelles masqués dans la page avant la capture.
Règles appliquées (annexe A) : RG-ATT-03, RG-ATT-27, RG-ATT-28.</a:t>
            </a:r>
          </a:p>
        </p:txBody>
      </p:sp>
      <p:sp>
        <p:nvSpPr>
          <p:cNvPr id="4" name="Slide Number Placeholder 3"/>
          <p:cNvSpPr>
            <a:spLocks noGrp="1"/>
          </p:cNvSpPr>
          <p:nvPr>
            <p:ph type="sldNum" sz="quarter" idx="10"/>
          </p:nvPr>
        </p:nvSpPr>
        <p:spPr/>
        <p:txBody>
          <a:bodyPr/>
          <a:lstStyle/>
          <a:p>
            <a:fld id="{F7021451-1387-4CA6-816F-3879F97B5CBC}" type="slidenum">
              <a:rPr lang="en-US"/>
              <a:t>270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reprise de la présentation du 08/10 : manuel-recette__m02-depot-avenant-modale.jpg (« Déposer un avenant »).
Raison : l’état montré ne se reproduit plus sur la base du 14/10 ; l’écran n’a pas changé sur ce qu’il montre.
Règles appliquées (annexe A) : RG-ATT-28.</a:t>
            </a:r>
          </a:p>
        </p:txBody>
      </p:sp>
      <p:sp>
        <p:nvSpPr>
          <p:cNvPr id="4" name="Slide Number Placeholder 3"/>
          <p:cNvSpPr>
            <a:spLocks noGrp="1"/>
          </p:cNvSpPr>
          <p:nvPr>
            <p:ph type="sldNum" sz="quarter" idx="10"/>
          </p:nvPr>
        </p:nvSpPr>
        <p:spPr/>
        <p:txBody>
          <a:bodyPr/>
          <a:lstStyle/>
          <a:p>
            <a:fld id="{F7021451-1387-4CA6-816F-3879F97B5CBC}" type="slidenum">
              <a:rPr lang="en-US"/>
              <a:t>271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09-dossier-dgc-brouillon.
Écran : /prmp/dossier/100374 — compte : PRMP.
Noms, matricules, initiales, photos et adresses réelles masqués dans la page avant la capture.
Règles appliquées (annexe A) : RG-ATT-27.</a:t>
            </a:r>
          </a:p>
        </p:txBody>
      </p:sp>
      <p:sp>
        <p:nvSpPr>
          <p:cNvPr id="4" name="Slide Number Placeholder 3"/>
          <p:cNvSpPr>
            <a:spLocks noGrp="1"/>
          </p:cNvSpPr>
          <p:nvPr>
            <p:ph type="sldNum" sz="quarter" idx="10"/>
          </p:nvPr>
        </p:nvSpPr>
        <p:spPr/>
        <p:txBody>
          <a:bodyPr/>
          <a:lstStyle/>
          <a:p>
            <a:fld id="{F7021451-1387-4CA6-816F-3879F97B5CBC}" type="slidenum">
              <a:rPr lang="en-US"/>
              <a:t>272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09-dossier-dgc.
Écran : /prmp/dossier/100373 — compte : PRMP.
Noms, matricules, initiales, photos et adresses réelles masqués dans la page avant la capture.
Règles appliquées (annexe A) : RG-ATT-27, RG-ATT-28.</a:t>
            </a:r>
          </a:p>
        </p:txBody>
      </p:sp>
      <p:sp>
        <p:nvSpPr>
          <p:cNvPr id="4" name="Slide Number Placeholder 3"/>
          <p:cNvSpPr>
            <a:spLocks noGrp="1"/>
          </p:cNvSpPr>
          <p:nvPr>
            <p:ph type="sldNum" sz="quarter" idx="10"/>
          </p:nvPr>
        </p:nvSpPr>
        <p:spPr/>
        <p:txBody>
          <a:bodyPr/>
          <a:lstStyle/>
          <a:p>
            <a:fld id="{F7021451-1387-4CA6-816F-3879F97B5CBC}" type="slidenum">
              <a:rPr lang="en-US"/>
              <a:t>273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10-interim-cc.
Écran : /cc/interim — compte : Chef de commission.
Noms, matricules, initiales, photos et adresses réelles masqués dans la page avant la capture.
Règles appliquées (annexe A) : RG-INT-01, RG-INT-03, RG-INT-05, RG-INT-06, RG-INT-07, RG-INT-10.</a:t>
            </a:r>
          </a:p>
        </p:txBody>
      </p:sp>
      <p:sp>
        <p:nvSpPr>
          <p:cNvPr id="4" name="Slide Number Placeholder 3"/>
          <p:cNvSpPr>
            <a:spLocks noGrp="1"/>
          </p:cNvSpPr>
          <p:nvPr>
            <p:ph type="sldNum" sz="quarter" idx="10"/>
          </p:nvPr>
        </p:nvSpPr>
        <p:spPr/>
        <p:txBody>
          <a:bodyPr/>
          <a:lstStyle/>
          <a:p>
            <a:fld id="{F7021451-1387-4CA6-816F-3879F97B5CBC}" type="slidenum">
              <a:rPr lang="en-US"/>
              <a:t>278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10-interim-cc-modale.
Écran : /cc/interim — compte : Chef de commission.
Noms, matricules, initiales, photos et adresses réelles masqués dans la page avant la capture.
Règles appliquées (annexe A) : RG-INT-01, RG-INT-02, RG-INT-04.</a:t>
            </a:r>
          </a:p>
        </p:txBody>
      </p:sp>
      <p:sp>
        <p:nvSpPr>
          <p:cNvPr id="4" name="Slide Number Placeholder 3"/>
          <p:cNvSpPr>
            <a:spLocks noGrp="1"/>
          </p:cNvSpPr>
          <p:nvPr>
            <p:ph type="sldNum" sz="quarter" idx="10"/>
          </p:nvPr>
        </p:nvSpPr>
        <p:spPr/>
        <p:txBody>
          <a:bodyPr/>
          <a:lstStyle/>
          <a:p>
            <a:fld id="{F7021451-1387-4CA6-816F-3879F97B5CBC}" type="slidenum">
              <a:rPr lang="en-US"/>
              <a:t>279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10-admin-interims.
Écran : /admin/comptes/interims — compte : Administrateur.
Noms, matricules, initiales, photos et adresses réelles masqués dans la page avant la capture.
Règles appliquées (annexe A) : RG-INT-01, RG-INT-03, RG-INT-04, RG-INT-05, RG-INT-06.</a:t>
            </a:r>
          </a:p>
        </p:txBody>
      </p:sp>
      <p:sp>
        <p:nvSpPr>
          <p:cNvPr id="4" name="Slide Number Placeholder 3"/>
          <p:cNvSpPr>
            <a:spLocks noGrp="1"/>
          </p:cNvSpPr>
          <p:nvPr>
            <p:ph type="sldNum" sz="quarter" idx="10"/>
          </p:nvPr>
        </p:nvSpPr>
        <p:spPr/>
        <p:txBody>
          <a:bodyPr/>
          <a:lstStyle/>
          <a:p>
            <a:fld id="{F7021451-1387-4CA6-816F-3879F97B5CBC}" type="slidenum">
              <a:rPr lang="en-US"/>
              <a:t>280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10-admin-mandats.
Écran : /admin/comptes/mandats — compte : Administrateur.
Noms, matricules, initiales, photos et adresses réelles masqués dans la page avant la capture.
Règles appliquées (annexe A) : RG-INT-11, RG-INT-12, RG-INT-13, RG-INT-16.</a:t>
            </a:r>
          </a:p>
        </p:txBody>
      </p:sp>
      <p:sp>
        <p:nvSpPr>
          <p:cNvPr id="4" name="Slide Number Placeholder 3"/>
          <p:cNvSpPr>
            <a:spLocks noGrp="1"/>
          </p:cNvSpPr>
          <p:nvPr>
            <p:ph type="sldNum" sz="quarter" idx="10"/>
          </p:nvPr>
        </p:nvSpPr>
        <p:spPr/>
        <p:txBody>
          <a:bodyPr/>
          <a:lstStyle/>
          <a:p>
            <a:fld id="{F7021451-1387-4CA6-816F-3879F97B5CBC}" type="slidenum">
              <a:rPr lang="en-US"/>
              <a:t>282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10-admin-mandat-nouveau.
Écran : /admin/comptes/mandats — compte : Administrateur.
Noms, matricules, initiales, photos et adresses réelles masqués dans la page avant la capture.
Règles appliquées (annexe A) : RG-INT-11, RG-INT-12, RG-INT-14, RG-INT-15.</a:t>
            </a:r>
          </a:p>
        </p:txBody>
      </p:sp>
      <p:sp>
        <p:nvSpPr>
          <p:cNvPr id="4" name="Slide Number Placeholder 3"/>
          <p:cNvSpPr>
            <a:spLocks noGrp="1"/>
          </p:cNvSpPr>
          <p:nvPr>
            <p:ph type="sldNum" sz="quarter" idx="10"/>
          </p:nvPr>
        </p:nvSpPr>
        <p:spPr/>
        <p:txBody>
          <a:bodyPr/>
          <a:lstStyle/>
          <a:p>
            <a:fld id="{F7021451-1387-4CA6-816F-3879F97B5CBC}" type="slidenum">
              <a:rPr lang="en-US"/>
              <a:t>283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11-poste.
Écran : /admin/tableau-de-bord — compte : Administrateur.
Noms, matricules, initiales, photos et adresses réelles masqués dans la page avant la capture.
Règles appliquées (annexe A) : RG-ADM-03, RG-ADM-05, RG-ADM-29, RG-ADM-35, RG-ADM-47.</a:t>
            </a:r>
          </a:p>
        </p:txBody>
      </p:sp>
      <p:sp>
        <p:nvSpPr>
          <p:cNvPr id="4" name="Slide Number Placeholder 3"/>
          <p:cNvSpPr>
            <a:spLocks noGrp="1"/>
          </p:cNvSpPr>
          <p:nvPr>
            <p:ph type="sldNum" sz="quarter" idx="10"/>
          </p:nvPr>
        </p:nvSpPr>
        <p:spPr/>
        <p:txBody>
          <a:bodyPr/>
          <a:lstStyle/>
          <a:p>
            <a:fld id="{F7021451-1387-4CA6-816F-3879F97B5CBC}" type="slidenum">
              <a:rPr lang="en-US"/>
              <a:t>288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11-inscriptions.
Écran : /admin/inscriptions — compte : Administrateur.
Noms, matricules, initiales, photos et adresses réelles masqués dans la page avant la capture.
Règles appliquées (annexe A) : RG-ADM-01, RG-ADM-02, RG-ADM-03, RG-ADM-04.</a:t>
            </a:r>
          </a:p>
        </p:txBody>
      </p:sp>
      <p:sp>
        <p:nvSpPr>
          <p:cNvPr id="4" name="Slide Number Placeholder 3"/>
          <p:cNvSpPr>
            <a:spLocks noGrp="1"/>
          </p:cNvSpPr>
          <p:nvPr>
            <p:ph type="sldNum" sz="quarter" idx="10"/>
          </p:nvPr>
        </p:nvSpPr>
        <p:spPr/>
        <p:txBody>
          <a:bodyPr/>
          <a:lstStyle/>
          <a:p>
            <a:fld id="{F7021451-1387-4CA6-816F-3879F97B5CBC}" type="slidenum">
              <a:rPr lang="en-US"/>
              <a:t>289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11-rattachements.
Écran : /admin/rattachements — compte : Administrateur.
Noms, matricules, initiales, photos et adresses réelles masqués dans la page avant la capture.
Règles appliquées (annexe A) : RG-ADM-09.</a:t>
            </a:r>
          </a:p>
        </p:txBody>
      </p:sp>
      <p:sp>
        <p:nvSpPr>
          <p:cNvPr id="4" name="Slide Number Placeholder 3"/>
          <p:cNvSpPr>
            <a:spLocks noGrp="1"/>
          </p:cNvSpPr>
          <p:nvPr>
            <p:ph type="sldNum" sz="quarter" idx="10"/>
          </p:nvPr>
        </p:nvSpPr>
        <p:spPr/>
        <p:txBody>
          <a:bodyPr/>
          <a:lstStyle/>
          <a:p>
            <a:fld id="{F7021451-1387-4CA6-816F-3879F97B5CBC}" type="slidenum">
              <a:rPr lang="en-US"/>
              <a:t>290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11-fiche-personne.
Écran : /admin/comptes — compte : Administrateur.
Noms, matricules, initiales, photos et adresses réelles masqués dans la page avant la capture.
Règles appliquées (annexe A) : RG-ADM-04, RG-ADM-05, RG-ADM-11, RG-ADM-32.</a:t>
            </a:r>
          </a:p>
        </p:txBody>
      </p:sp>
      <p:sp>
        <p:nvSpPr>
          <p:cNvPr id="4" name="Slide Number Placeholder 3"/>
          <p:cNvSpPr>
            <a:spLocks noGrp="1"/>
          </p:cNvSpPr>
          <p:nvPr>
            <p:ph type="sldNum" sz="quarter" idx="10"/>
          </p:nvPr>
        </p:nvSpPr>
        <p:spPr/>
        <p:txBody>
          <a:bodyPr/>
          <a:lstStyle/>
          <a:p>
            <a:fld id="{F7021451-1387-4CA6-816F-3879F97B5CBC}" type="slidenum">
              <a:rPr lang="en-US"/>
              <a:t>291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11-comptes-prmp.
Écran : /admin/comptes/prmps — compte : Administrateur.
Noms, matricules, initiales, photos et adresses réelles masqués dans la page avant la capture.
Règles appliquées (annexe A) : RG-ADM-06, RG-ADM-09.</a:t>
            </a:r>
          </a:p>
        </p:txBody>
      </p:sp>
      <p:sp>
        <p:nvSpPr>
          <p:cNvPr id="4" name="Slide Number Placeholder 3"/>
          <p:cNvSpPr>
            <a:spLocks noGrp="1"/>
          </p:cNvSpPr>
          <p:nvPr>
            <p:ph type="sldNum" sz="quarter" idx="10"/>
          </p:nvPr>
        </p:nvSpPr>
        <p:spPr/>
        <p:txBody>
          <a:bodyPr/>
          <a:lstStyle/>
          <a:p>
            <a:fld id="{F7021451-1387-4CA6-816F-3879F97B5CBC}" type="slidenum">
              <a:rPr lang="en-US"/>
              <a:t>292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11-comptes-controleurs.
Écran : /admin/comptes/controleurs — compte : Administrateur.
Noms, matricules, initiales, photos et adresses réelles masqués dans la page avant la capture.
Règles appliquées (annexe A) : RG-ADM-05, RG-ADM-10.</a:t>
            </a:r>
          </a:p>
        </p:txBody>
      </p:sp>
      <p:sp>
        <p:nvSpPr>
          <p:cNvPr id="4" name="Slide Number Placeholder 3"/>
          <p:cNvSpPr>
            <a:spLocks noGrp="1"/>
          </p:cNvSpPr>
          <p:nvPr>
            <p:ph type="sldNum" sz="quarter" idx="10"/>
          </p:nvPr>
        </p:nvSpPr>
        <p:spPr/>
        <p:txBody>
          <a:bodyPr/>
          <a:lstStyle/>
          <a:p>
            <a:fld id="{F7021451-1387-4CA6-816F-3879F97B5CBC}" type="slidenum">
              <a:rPr lang="en-US"/>
              <a:t>293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11-chaines.
Écran : /admin/chaines-controle — compte : Administrateur.
Noms, matricules, initiales, photos et adresses réelles masqués dans la page avant la capture.
Règles appliquées (annexe A) : RG-ADM-10.</a:t>
            </a:r>
          </a:p>
        </p:txBody>
      </p:sp>
      <p:sp>
        <p:nvSpPr>
          <p:cNvPr id="4" name="Slide Number Placeholder 3"/>
          <p:cNvSpPr>
            <a:spLocks noGrp="1"/>
          </p:cNvSpPr>
          <p:nvPr>
            <p:ph type="sldNum" sz="quarter" idx="10"/>
          </p:nvPr>
        </p:nvSpPr>
        <p:spPr/>
        <p:txBody>
          <a:bodyPr/>
          <a:lstStyle/>
          <a:p>
            <a:fld id="{F7021451-1387-4CA6-816F-3879F97B5CBC}" type="slidenum">
              <a:rPr lang="en-US"/>
              <a:t>295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11-delais-standards.
Écran : /admin/delais-standards — compte : Administrateur.
Noms, matricules, initiales, photos et adresses réelles masqués dans la page avant la capture.
Règles appliquées (annexe A) : RG-ADM-12, RG-ADM-13, RG-ADM-41, RG-ADM-42, RG-ADM-43.</a:t>
            </a:r>
          </a:p>
        </p:txBody>
      </p:sp>
      <p:sp>
        <p:nvSpPr>
          <p:cNvPr id="4" name="Slide Number Placeholder 3"/>
          <p:cNvSpPr>
            <a:spLocks noGrp="1"/>
          </p:cNvSpPr>
          <p:nvPr>
            <p:ph type="sldNum" sz="quarter" idx="10"/>
          </p:nvPr>
        </p:nvSpPr>
        <p:spPr/>
        <p:txBody>
          <a:bodyPr/>
          <a:lstStyle/>
          <a:p>
            <a:fld id="{F7021451-1387-4CA6-816F-3879F97B5CBC}" type="slidenum">
              <a:rPr lang="en-US"/>
              <a:t>296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11-points-controle.
Écran : /admin/referentiels/points-ctrls — compte : Administrateur.
Noms, matricules, initiales, photos et adresses réelles masqués dans la page avant la capture.
Règles appliquées (annexe A) : RG-ADM-14.</a:t>
            </a:r>
          </a:p>
        </p:txBody>
      </p:sp>
      <p:sp>
        <p:nvSpPr>
          <p:cNvPr id="4" name="Slide Number Placeholder 3"/>
          <p:cNvSpPr>
            <a:spLocks noGrp="1"/>
          </p:cNvSpPr>
          <p:nvPr>
            <p:ph type="sldNum" sz="quarter" idx="10"/>
          </p:nvPr>
        </p:nvSpPr>
        <p:spPr/>
        <p:txBody>
          <a:bodyPr/>
          <a:lstStyle/>
          <a:p>
            <a:fld id="{F7021451-1387-4CA6-816F-3879F97B5CBC}" type="slidenum">
              <a:rPr lang="en-US"/>
              <a:t>297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11-agpm-seuil.
Écran : /admin/agpm-seuil — compte : Administrateur.
Noms, matricules, initiales, photos et adresses réelles masqués dans la page avant la capture.
Règles appliquées (annexe A) : RG-ADM-15.</a:t>
            </a:r>
          </a:p>
        </p:txBody>
      </p:sp>
      <p:sp>
        <p:nvSpPr>
          <p:cNvPr id="4" name="Slide Number Placeholder 3"/>
          <p:cNvSpPr>
            <a:spLocks noGrp="1"/>
          </p:cNvSpPr>
          <p:nvPr>
            <p:ph type="sldNum" sz="quarter" idx="10"/>
          </p:nvPr>
        </p:nvSpPr>
        <p:spPr/>
        <p:txBody>
          <a:bodyPr/>
          <a:lstStyle/>
          <a:p>
            <a:fld id="{F7021451-1387-4CA6-816F-3879F97B5CBC}" type="slidenum">
              <a:rPr lang="en-US"/>
              <a:t>298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11-regles-alerte.
Écran : /admin/referentiels/regle-alertes — compte : Administrateur.
Noms, matricules, initiales, photos et adresses réelles masqués dans la page avant la capture.
Règles appliquées (annexe A) : RG-ADM-16.</a:t>
            </a:r>
          </a:p>
        </p:txBody>
      </p:sp>
      <p:sp>
        <p:nvSpPr>
          <p:cNvPr id="4" name="Slide Number Placeholder 3"/>
          <p:cNvSpPr>
            <a:spLocks noGrp="1"/>
          </p:cNvSpPr>
          <p:nvPr>
            <p:ph type="sldNum" sz="quarter" idx="10"/>
          </p:nvPr>
        </p:nvSpPr>
        <p:spPr/>
        <p:txBody>
          <a:bodyPr/>
          <a:lstStyle/>
          <a:p>
            <a:fld id="{F7021451-1387-4CA6-816F-3879F97B5CBC}" type="slidenum">
              <a:rPr lang="en-US"/>
              <a:t>299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11-pre-controle-regles.
Écran : /admin/pre-controle-regles — compte : Administrateur.
Noms, matricules, initiales, photos et adresses réelles masqués dans la page avant la capture.
Règles appliquées (annexe A) : RG-ADM-34, RG-ADM-35.</a:t>
            </a:r>
          </a:p>
        </p:txBody>
      </p:sp>
      <p:sp>
        <p:nvSpPr>
          <p:cNvPr id="4" name="Slide Number Placeholder 3"/>
          <p:cNvSpPr>
            <a:spLocks noGrp="1"/>
          </p:cNvSpPr>
          <p:nvPr>
            <p:ph type="sldNum" sz="quarter" idx="10"/>
          </p:nvPr>
        </p:nvSpPr>
        <p:spPr/>
        <p:txBody>
          <a:bodyPr/>
          <a:lstStyle/>
          <a:p>
            <a:fld id="{F7021451-1387-4CA6-816F-3879F97B5CBC}" type="slidenum">
              <a:rPr lang="en-US"/>
              <a:t>300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11-nomenclatures.
Écran : /admin/referentiels — compte : Administrateur.
Noms, matricules, initiales, photos et adresses réelles masqués dans la page avant la capture.
Règles appliquées (annexe A) : RG-ADM-11, RG-ADM-17, RG-ADM-18, RG-ADM-20, RG-ADM-22.</a:t>
            </a:r>
          </a:p>
        </p:txBody>
      </p:sp>
      <p:sp>
        <p:nvSpPr>
          <p:cNvPr id="4" name="Slide Number Placeholder 3"/>
          <p:cNvSpPr>
            <a:spLocks noGrp="1"/>
          </p:cNvSpPr>
          <p:nvPr>
            <p:ph type="sldNum" sz="quarter" idx="10"/>
          </p:nvPr>
        </p:nvSpPr>
        <p:spPr/>
        <p:txBody>
          <a:bodyPr/>
          <a:lstStyle/>
          <a:p>
            <a:fld id="{F7021451-1387-4CA6-816F-3879F97B5CBC}" type="slidenum">
              <a:rPr lang="en-US"/>
              <a:t>302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11-entites.
Écran : /admin/referentiels/entite-arbre — compte : Administrateur.
Noms, matricules, initiales, photos et adresses réelles masqués dans la page avant la capture.
Règles appliquées (annexe A) : RG-ADM-09.</a:t>
            </a:r>
          </a:p>
        </p:txBody>
      </p:sp>
      <p:sp>
        <p:nvSpPr>
          <p:cNvPr id="4" name="Slide Number Placeholder 3"/>
          <p:cNvSpPr>
            <a:spLocks noGrp="1"/>
          </p:cNvSpPr>
          <p:nvPr>
            <p:ph type="sldNum" sz="quarter" idx="10"/>
          </p:nvPr>
        </p:nvSpPr>
        <p:spPr/>
        <p:txBody>
          <a:bodyPr/>
          <a:lstStyle/>
          <a:p>
            <a:fld id="{F7021451-1387-4CA6-816F-3879F97B5CBC}" type="slidenum">
              <a:rPr lang="en-US"/>
              <a:t>303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11-dmc-mapping.
Écran : /admin/referentiels/dmc-mapping — compte : Administrateur.
Noms, matricules, initiales, photos et adresses réelles masqués dans la page avant la capture.
Règles appliquées (annexe A) : RG-ADM-19.</a:t>
            </a:r>
          </a:p>
        </p:txBody>
      </p:sp>
      <p:sp>
        <p:nvSpPr>
          <p:cNvPr id="4" name="Slide Number Placeholder 3"/>
          <p:cNvSpPr>
            <a:spLocks noGrp="1"/>
          </p:cNvSpPr>
          <p:nvPr>
            <p:ph type="sldNum" sz="quarter" idx="10"/>
          </p:nvPr>
        </p:nvSpPr>
        <p:spPr/>
        <p:txBody>
          <a:bodyPr/>
          <a:lstStyle/>
          <a:p>
            <a:fld id="{F7021451-1387-4CA6-816F-3879F97B5CBC}" type="slidenum">
              <a:rPr lang="en-US"/>
              <a:t>304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11-champs-fiche.
Écran : /admin/referentiels/champs-fiche-marche — compte : Administrateur.
Noms, matricules, initiales, photos et adresses réelles masqués dans la page avant la capture.
Règles appliquées (annexe A) : RG-ADM-21.</a:t>
            </a:r>
          </a:p>
        </p:txBody>
      </p:sp>
      <p:sp>
        <p:nvSpPr>
          <p:cNvPr id="4" name="Slide Number Placeholder 3"/>
          <p:cNvSpPr>
            <a:spLocks noGrp="1"/>
          </p:cNvSpPr>
          <p:nvPr>
            <p:ph type="sldNum" sz="quarter" idx="10"/>
          </p:nvPr>
        </p:nvSpPr>
        <p:spPr/>
        <p:txBody>
          <a:bodyPr/>
          <a:lstStyle/>
          <a:p>
            <a:fld id="{F7021451-1387-4CA6-816F-3879F97B5CBC}" type="slidenum">
              <a:rPr lang="en-US"/>
              <a:t>305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11-cao-quorum.
Écran : /admin/referentiels/cao-quorum — compte : Administrateur.
Noms, matricules, initiales, photos et adresses réelles masqués dans la page avant la capture.
Règles appliquées (annexe A) : RG-ADM-36, RG-ADM-37.</a:t>
            </a:r>
          </a:p>
        </p:txBody>
      </p:sp>
      <p:sp>
        <p:nvSpPr>
          <p:cNvPr id="4" name="Slide Number Placeholder 3"/>
          <p:cNvSpPr>
            <a:spLocks noGrp="1"/>
          </p:cNvSpPr>
          <p:nvPr>
            <p:ph type="sldNum" sz="quarter" idx="10"/>
          </p:nvPr>
        </p:nvSpPr>
        <p:spPr/>
        <p:txBody>
          <a:bodyPr/>
          <a:lstStyle/>
          <a:p>
            <a:fld id="{F7021451-1387-4CA6-816F-3879F97B5CBC}" type="slidenum">
              <a:rPr lang="en-US"/>
              <a:t>307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11-recours.
Écran : /admin/referentiels/recours-suspensifs — compte : Administrateur.
Noms, matricules, initiales, photos et adresses réelles masqués dans la page avant la capture.
Règles appliquées (annexe A) : RG-ADM-38.</a:t>
            </a:r>
          </a:p>
        </p:txBody>
      </p:sp>
      <p:sp>
        <p:nvSpPr>
          <p:cNvPr id="4" name="Slide Number Placeholder 3"/>
          <p:cNvSpPr>
            <a:spLocks noGrp="1"/>
          </p:cNvSpPr>
          <p:nvPr>
            <p:ph type="sldNum" sz="quarter" idx="10"/>
          </p:nvPr>
        </p:nvSpPr>
        <p:spPr/>
        <p:txBody>
          <a:bodyPr/>
          <a:lstStyle/>
          <a:p>
            <a:fld id="{F7021451-1387-4CA6-816F-3879F97B5CBC}" type="slidenum">
              <a:rPr lang="en-US"/>
              <a:t>308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11-sigmp-transition.
Écran : /admin/referentiels/sigmp-transition — compte : Administrateur.
Noms, matricules, initiales, photos et adresses réelles masqués dans la page avant la capture.
Règles appliquées (annexe A) : RG-ADM-39, RG-ADM-40.</a:t>
            </a:r>
          </a:p>
        </p:txBody>
      </p:sp>
      <p:sp>
        <p:nvSpPr>
          <p:cNvPr id="4" name="Slide Number Placeholder 3"/>
          <p:cNvSpPr>
            <a:spLocks noGrp="1"/>
          </p:cNvSpPr>
          <p:nvPr>
            <p:ph type="sldNum" sz="quarter" idx="10"/>
          </p:nvPr>
        </p:nvSpPr>
        <p:spPr/>
        <p:txBody>
          <a:bodyPr/>
          <a:lstStyle/>
          <a:p>
            <a:fld id="{F7021451-1387-4CA6-816F-3879F97B5CBC}" type="slidenum">
              <a:rPr lang="en-US"/>
              <a:t>309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11-remise-electronique.
Écran : /admin/referentiels/remise-electronique — compte : Administrateur.
Noms, matricules, initiales, photos et adresses réelles masqués dans la page avant la capture.
Règles appliquées (annexe A) : RG-ADM-23, RG-ADM-24, RG-ADM-46.</a:t>
            </a:r>
          </a:p>
        </p:txBody>
      </p:sp>
      <p:sp>
        <p:nvSpPr>
          <p:cNvPr id="4" name="Slide Number Placeholder 3"/>
          <p:cNvSpPr>
            <a:spLocks noGrp="1"/>
          </p:cNvSpPr>
          <p:nvPr>
            <p:ph type="sldNum" sz="quarter" idx="10"/>
          </p:nvPr>
        </p:nvSpPr>
        <p:spPr/>
        <p:txBody>
          <a:bodyPr/>
          <a:lstStyle/>
          <a:p>
            <a:fld id="{F7021451-1387-4CA6-816F-3879F97B5CBC}" type="slidenum">
              <a:rPr lang="en-US"/>
              <a:t>310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11-compte-dao.
Écran : /admin/referentiels/compte-dao — compte : Administrateur.
Noms, matricules, initiales, photos et adresses réelles masqués dans la page avant la capture.
Règles appliquées (annexe A) : RG-ADM-25.</a:t>
            </a:r>
          </a:p>
        </p:txBody>
      </p:sp>
      <p:sp>
        <p:nvSpPr>
          <p:cNvPr id="4" name="Slide Number Placeholder 3"/>
          <p:cNvSpPr>
            <a:spLocks noGrp="1"/>
          </p:cNvSpPr>
          <p:nvPr>
            <p:ph type="sldNum" sz="quarter" idx="10"/>
          </p:nvPr>
        </p:nvSpPr>
        <p:spPr/>
        <p:txBody>
          <a:bodyPr/>
          <a:lstStyle/>
          <a:p>
            <a:fld id="{F7021451-1387-4CA6-816F-3879F97B5CBC}" type="slidenum">
              <a:rPr lang="en-US"/>
              <a:t>311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11-candidats.
Écran : /admin/referentiels/candidats — compte : Administrateur.
Noms, matricules, initiales, photos et adresses réelles masqués dans la page avant la capture.
Règles appliquées (annexe A) : RG-ADM-26, RG-ADM-30, RG-ADM-45.</a:t>
            </a:r>
          </a:p>
        </p:txBody>
      </p:sp>
      <p:sp>
        <p:nvSpPr>
          <p:cNvPr id="4" name="Slide Number Placeholder 3"/>
          <p:cNvSpPr>
            <a:spLocks noGrp="1"/>
          </p:cNvSpPr>
          <p:nvPr>
            <p:ph type="sldNum" sz="quarter" idx="10"/>
          </p:nvPr>
        </p:nvSpPr>
        <p:spPr/>
        <p:txBody>
          <a:bodyPr/>
          <a:lstStyle/>
          <a:p>
            <a:fld id="{F7021451-1387-4CA6-816F-3879F97B5CBC}" type="slidenum">
              <a:rPr lang="en-US"/>
              <a:t>313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11-entreprises.
Écran : /admin/entreprises — compte : Administrateur.
Noms, matricules, initiales, photos et adresses réelles masqués dans la page avant la capture.
Règles appliquées (annexe A) : RG-ADM-27.</a:t>
            </a:r>
          </a:p>
        </p:txBody>
      </p:sp>
      <p:sp>
        <p:nvSpPr>
          <p:cNvPr id="4" name="Slide Number Placeholder 3"/>
          <p:cNvSpPr>
            <a:spLocks noGrp="1"/>
          </p:cNvSpPr>
          <p:nvPr>
            <p:ph type="sldNum" sz="quarter" idx="10"/>
          </p:nvPr>
        </p:nvSpPr>
        <p:spPr/>
        <p:txBody>
          <a:bodyPr/>
          <a:lstStyle/>
          <a:p>
            <a:fld id="{F7021451-1387-4CA6-816F-3879F97B5CBC}" type="slidenum">
              <a:rPr lang="en-US"/>
              <a:t>314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11-exclusions.
Écran : /admin/referentiels/exclusions-armp — compte : Administrateur.
Noms, matricules, initiales, photos et adresses réelles masqués dans la page avant la capture.
Règles appliquées (annexe A) : RG-ADM-28.</a:t>
            </a:r>
          </a:p>
        </p:txBody>
      </p:sp>
      <p:sp>
        <p:nvSpPr>
          <p:cNvPr id="4" name="Slide Number Placeholder 3"/>
          <p:cNvSpPr>
            <a:spLocks noGrp="1"/>
          </p:cNvSpPr>
          <p:nvPr>
            <p:ph type="sldNum" sz="quarter" idx="10"/>
          </p:nvPr>
        </p:nvSpPr>
        <p:spPr/>
        <p:txBody>
          <a:bodyPr/>
          <a:lstStyle/>
          <a:p>
            <a:fld id="{F7021451-1387-4CA6-816F-3879F97B5CBC}" type="slidenum">
              <a:rPr lang="en-US"/>
              <a:t>315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11-journal.
Écran : /admin/audit — compte : Administrateur.
Noms, matricules, initiales, photos et adresses réelles masqués dans la page avant la capture.
Règles appliquées (annexe A) : RG-ADM-31.</a:t>
            </a:r>
          </a:p>
        </p:txBody>
      </p:sp>
      <p:sp>
        <p:nvSpPr>
          <p:cNvPr id="4" name="Slide Number Placeholder 3"/>
          <p:cNvSpPr>
            <a:spLocks noGrp="1"/>
          </p:cNvSpPr>
          <p:nvPr>
            <p:ph type="sldNum" sz="quarter" idx="10"/>
          </p:nvPr>
        </p:nvSpPr>
        <p:spPr/>
        <p:txBody>
          <a:bodyPr/>
          <a:lstStyle/>
          <a:p>
            <a:fld id="{F7021451-1387-4CA6-816F-3879F97B5CBC}" type="slidenum">
              <a:rPr lang="en-US"/>
              <a:t>317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11-journal-connexions.
Écran : /admin/audit — compte : Administrateur.
Noms, matricules, initiales, photos et adresses réelles masqués dans la page avant la capture.
Règles appliquées (annexe A) : RG-ADM-32.</a:t>
            </a:r>
          </a:p>
        </p:txBody>
      </p:sp>
      <p:sp>
        <p:nvSpPr>
          <p:cNvPr id="4" name="Slide Number Placeholder 3"/>
          <p:cNvSpPr>
            <a:spLocks noGrp="1"/>
          </p:cNvSpPr>
          <p:nvPr>
            <p:ph type="sldNum" sz="quarter" idx="10"/>
          </p:nvPr>
        </p:nvSpPr>
        <p:spPr/>
        <p:txBody>
          <a:bodyPr/>
          <a:lstStyle/>
          <a:p>
            <a:fld id="{F7021451-1387-4CA6-816F-3879F97B5CBC}" type="slidenum">
              <a:rPr lang="en-US"/>
              <a:t>318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11-actualites.
Écran : /admin/actualites — compte : Administrateur.
Noms, matricules, initiales, photos et adresses réelles masqués dans la page avant la capture.
Règles appliquées (annexe A) : RG-ADM-33.</a:t>
            </a:r>
          </a:p>
        </p:txBody>
      </p:sp>
      <p:sp>
        <p:nvSpPr>
          <p:cNvPr id="4" name="Slide Number Placeholder 3"/>
          <p:cNvSpPr>
            <a:spLocks noGrp="1"/>
          </p:cNvSpPr>
          <p:nvPr>
            <p:ph type="sldNum" sz="quarter" idx="10"/>
          </p:nvPr>
        </p:nvSpPr>
        <p:spPr/>
        <p:txBody>
          <a:bodyPr/>
          <a:lstStyle/>
          <a:p>
            <a:fld id="{F7021451-1387-4CA6-816F-3879F97B5CBC}" type="slidenum">
              <a:rPr lang="en-US"/>
              <a:t>319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11-ppm-marches.
Écran : /admin/ppm-marches — compte : Administrateur.
Noms, matricules, initiales, photos et adresses réelles masqués dans la page avant la capture.</a:t>
            </a:r>
          </a:p>
        </p:txBody>
      </p:sp>
      <p:sp>
        <p:nvSpPr>
          <p:cNvPr id="4" name="Slide Number Placeholder 3"/>
          <p:cNvSpPr>
            <a:spLocks noGrp="1"/>
          </p:cNvSpPr>
          <p:nvPr>
            <p:ph type="sldNum" sz="quarter" idx="10"/>
          </p:nvPr>
        </p:nvSpPr>
        <p:spPr/>
        <p:txBody>
          <a:bodyPr/>
          <a:lstStyle/>
          <a:p>
            <a:fld id="{F7021451-1387-4CA6-816F-3879F97B5CBC}" type="slidenum">
              <a:rPr lang="en-US"/>
              <a:t>320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12-suivi-prmp.
Écran : /prmp/tableau-de-bord — compte : PRMP.
Noms, matricules, initiales, photos et adresses réelles masqués dans la page avant la capture.
Règles appliquées (annexe A) : RG-PIL-01, RG-PIL-02, RG-PIL-03.</a:t>
            </a:r>
          </a:p>
        </p:txBody>
      </p:sp>
      <p:sp>
        <p:nvSpPr>
          <p:cNvPr id="4" name="Slide Number Placeholder 3"/>
          <p:cNvSpPr>
            <a:spLocks noGrp="1"/>
          </p:cNvSpPr>
          <p:nvPr>
            <p:ph type="sldNum" sz="quarter" idx="10"/>
          </p:nvPr>
        </p:nvSpPr>
        <p:spPr/>
        <p:txBody>
          <a:bodyPr/>
          <a:lstStyle/>
          <a:p>
            <a:fld id="{F7021451-1387-4CA6-816F-3879F97B5CBC}" type="slidenum">
              <a:rPr lang="en-US"/>
              <a:t>325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12-statistiques.
Écran : /president/statistiques — compte : Président.
Noms, matricules, initiales, photos et adresses réelles masqués dans la page avant la capture.
Règles appliquées (annexe A) : RG-PIL-05, RG-PIL-06, RG-PIL-15.</a:t>
            </a:r>
          </a:p>
        </p:txBody>
      </p:sp>
      <p:sp>
        <p:nvSpPr>
          <p:cNvPr id="4" name="Slide Number Placeholder 3"/>
          <p:cNvSpPr>
            <a:spLocks noGrp="1"/>
          </p:cNvSpPr>
          <p:nvPr>
            <p:ph type="sldNum" sz="quarter" idx="10"/>
          </p:nvPr>
        </p:nvSpPr>
        <p:spPr/>
        <p:txBody>
          <a:bodyPr/>
          <a:lstStyle/>
          <a:p>
            <a:fld id="{F7021451-1387-4CA6-816F-3879F97B5CBC}" type="slidenum">
              <a:rPr lang="en-US"/>
              <a:t>326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12-rapports-pres.
Écran : /president/rapports — compte : Président.
Noms, matricules, initiales, photos et adresses réelles masqués dans la page avant la capture.
Règles appliquées (annexe A) : RG-PIL-04.</a:t>
            </a:r>
          </a:p>
        </p:txBody>
      </p:sp>
      <p:sp>
        <p:nvSpPr>
          <p:cNvPr id="4" name="Slide Number Placeholder 3"/>
          <p:cNvSpPr>
            <a:spLocks noGrp="1"/>
          </p:cNvSpPr>
          <p:nvPr>
            <p:ph type="sldNum" sz="quarter" idx="10"/>
          </p:nvPr>
        </p:nvSpPr>
        <p:spPr/>
        <p:txBody>
          <a:bodyPr/>
          <a:lstStyle/>
          <a:p>
            <a:fld id="{F7021451-1387-4CA6-816F-3879F97B5CBC}" type="slidenum">
              <a:rPr lang="en-US"/>
              <a:t>327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12-procedures-en-ligne.
Écran : /procedures-en-ligne — compte : Administrateur.
Noms, matricules, initiales, photos et adresses réelles masqués dans la page avant la capture.
Règles appliquées (annexe A) : RG-PIL-11, RG-PIL-12, RG-PIL-13, RG-PIL-14.</a:t>
            </a:r>
          </a:p>
        </p:txBody>
      </p:sp>
      <p:sp>
        <p:nvSpPr>
          <p:cNvPr id="4" name="Slide Number Placeholder 3"/>
          <p:cNvSpPr>
            <a:spLocks noGrp="1"/>
          </p:cNvSpPr>
          <p:nvPr>
            <p:ph type="sldNum" sz="quarter" idx="10"/>
          </p:nvPr>
        </p:nvSpPr>
        <p:spPr/>
        <p:txBody>
          <a:bodyPr/>
          <a:lstStyle/>
          <a:p>
            <a:fld id="{F7021451-1387-4CA6-816F-3879F97B5CBC}" type="slidenum">
              <a:rPr lang="en-US"/>
              <a:t>329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12-publications.
Écran : /publication/publications — compte : Chargé de publication.
Noms, matricules, initiales, photos et adresses réelles masqués dans la page avant la capture.
Règles appliquées (annexe A) : RG-PIL-07, RG-PIL-08, RG-PIL-09.</a:t>
            </a:r>
          </a:p>
        </p:txBody>
      </p:sp>
      <p:sp>
        <p:nvSpPr>
          <p:cNvPr id="4" name="Slide Number Placeholder 3"/>
          <p:cNvSpPr>
            <a:spLocks noGrp="1"/>
          </p:cNvSpPr>
          <p:nvPr>
            <p:ph type="sldNum" sz="quarter" idx="10"/>
          </p:nvPr>
        </p:nvSpPr>
        <p:spPr/>
        <p:txBody>
          <a:bodyPr/>
          <a:lstStyle/>
          <a:p>
            <a:fld id="{F7021451-1387-4CA6-816F-3879F97B5CBC}" type="slidenum">
              <a:rPr lang="en-US"/>
              <a:t>331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Capture neuve du 14/10/2026 : 12-documents.
Écran : /publication/documents — compte : Chargé de publication.
Noms, matricules, initiales, photos et adresses réelles masqués dans la page avant la capture.
Règles appliquées (annexe A) : RG-PIL-10.</a:t>
            </a:r>
          </a:p>
        </p:txBody>
      </p:sp>
      <p:sp>
        <p:nvSpPr>
          <p:cNvPr id="4" name="Slide Number Placeholder 3"/>
          <p:cNvSpPr>
            <a:spLocks noGrp="1"/>
          </p:cNvSpPr>
          <p:nvPr>
            <p:ph type="sldNum" sz="quarter" idx="10"/>
          </p:nvPr>
        </p:nvSpPr>
        <p:spPr/>
        <p:txBody>
          <a:bodyPr/>
          <a:lstStyle/>
          <a:p>
            <a:fld id="{F7021451-1387-4CA6-816F-3879F97B5CBC}" type="slidenum">
              <a:rPr lang="en-US"/>
              <a:t>332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350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351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352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353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354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355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356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357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358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359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360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361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362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363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364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365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366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367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368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369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370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371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372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373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374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375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376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377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378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379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380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381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382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383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384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385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386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387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388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389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390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391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392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393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394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395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396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397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398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399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400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401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402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403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404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405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406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407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408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409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410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411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412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413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414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415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416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417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418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419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420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421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422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423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424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425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426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427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428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429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430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431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432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433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434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435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436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437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438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439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440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441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442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443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444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445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446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447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448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449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450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451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452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453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454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455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456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457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458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459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460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461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462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463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464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465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466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467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468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469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470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471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472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473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474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475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476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477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478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479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480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481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482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483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484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485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486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487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488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489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490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491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492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493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494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495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496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497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498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499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500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501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502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503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504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505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506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507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508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509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510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511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512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513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514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515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516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517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518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519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520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521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522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523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524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525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526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527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528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529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530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531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532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533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534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535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536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537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538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539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540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541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542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543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544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545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546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547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548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549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550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551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552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553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554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555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556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557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558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559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560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561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562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563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564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565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566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567</a:t>
            </a:fld>
            <a:endParaRPr lang="en-US"/>
          </a:p>
        </p:txBody>
      </p:sp>
    </p:spTree>
    <p:extLst>
      <p:ext uri="{BB962C8B-B14F-4D97-AF65-F5344CB8AC3E}">
        <p14:creationId xmlns:p14="http://schemas.microsoft.com/office/powerpoint/2010/main" val="102408699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p:cSld name="DEFAULT">
    <p:bg>
      <p:bgRef idx="1001">
        <a:schemeClr val="bg1"/>
      </p:bgRef>
    </p:bg>
    <p:spTree>
      <p:nvGrpSpPr>
        <p:cNvPr id="1" name=""/>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 Type="http://schemas.openxmlformats.org/officeDocument/2006/relationships/theme" Target="../theme/theme1.xml"/><Relationship Id="rId1" Type="http://schemas.openxmlformats.org/officeDocument/2006/relationships/slideLayout" Target="../slideLayouts/slideLayout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649" r:id="rId1"/>
  </p:sldLayoutIdLst>
  <p:hf sldNum="0"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9.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0.xml"/><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11.xml"/><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13.xml"/><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xml"/><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5.xml"/><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3" Type="http://schemas.openxmlformats.org/officeDocument/2006/relationships/image" Target="../media/image7.jpg"/><Relationship Id="rId2" Type="http://schemas.openxmlformats.org/officeDocument/2006/relationships/notesSlide" Target="../notesSlides/notesSlide16.xml"/><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notesSlide" Target="../notesSlides/notesSlide18.xml"/><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3" Type="http://schemas.openxmlformats.org/officeDocument/2006/relationships/image" Target="../media/image9.jpg"/><Relationship Id="rId2" Type="http://schemas.openxmlformats.org/officeDocument/2006/relationships/notesSlide" Target="../notesSlides/notesSlide19.xml"/><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notesSlide" Target="../notesSlides/notesSlide20.xml"/><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notesSlide" Target="../notesSlides/notesSlide21.xml"/><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3" Type="http://schemas.openxmlformats.org/officeDocument/2006/relationships/image" Target="../media/image12.jpg"/><Relationship Id="rId2" Type="http://schemas.openxmlformats.org/officeDocument/2006/relationships/notesSlide" Target="../notesSlides/notesSlide22.xml"/><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3" Type="http://schemas.openxmlformats.org/officeDocument/2006/relationships/image" Target="../media/image13.jpg"/><Relationship Id="rId2" Type="http://schemas.openxmlformats.org/officeDocument/2006/relationships/notesSlide" Target="../notesSlides/notesSlide23.xml"/><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3" Type="http://schemas.openxmlformats.org/officeDocument/2006/relationships/image" Target="../media/image14.jpg"/><Relationship Id="rId2" Type="http://schemas.openxmlformats.org/officeDocument/2006/relationships/notesSlide" Target="../notesSlides/notesSlide25.xml"/><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3" Type="http://schemas.openxmlformats.org/officeDocument/2006/relationships/image" Target="../media/image15.jpg"/><Relationship Id="rId2" Type="http://schemas.openxmlformats.org/officeDocument/2006/relationships/notesSlide" Target="../notesSlides/notesSlide26.xml"/><Relationship Id="rId1" Type="http://schemas.openxmlformats.org/officeDocument/2006/relationships/slideLayout" Target="../slideLayouts/slideLayout1.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3" Type="http://schemas.openxmlformats.org/officeDocument/2006/relationships/image" Target="../media/image16.jpg"/><Relationship Id="rId2" Type="http://schemas.openxmlformats.org/officeDocument/2006/relationships/notesSlide" Target="../notesSlides/notesSlide31.xml"/><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3" Type="http://schemas.openxmlformats.org/officeDocument/2006/relationships/image" Target="../media/image17.jpg"/><Relationship Id="rId2" Type="http://schemas.openxmlformats.org/officeDocument/2006/relationships/notesSlide" Target="../notesSlides/notesSlide32.xml"/><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3" Type="http://schemas.openxmlformats.org/officeDocument/2006/relationships/image" Target="../media/image18.jpg"/><Relationship Id="rId2" Type="http://schemas.openxmlformats.org/officeDocument/2006/relationships/notesSlide" Target="../notesSlides/notesSlide33.xml"/><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3" Type="http://schemas.openxmlformats.org/officeDocument/2006/relationships/image" Target="../media/image19.jpg"/><Relationship Id="rId2" Type="http://schemas.openxmlformats.org/officeDocument/2006/relationships/notesSlide" Target="../notesSlides/notesSlide34.xml"/><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3" Type="http://schemas.openxmlformats.org/officeDocument/2006/relationships/image" Target="../media/image20.jpg"/><Relationship Id="rId2" Type="http://schemas.openxmlformats.org/officeDocument/2006/relationships/notesSlide" Target="../notesSlides/notesSlide35.xml"/><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3" Type="http://schemas.openxmlformats.org/officeDocument/2006/relationships/image" Target="../media/image21.jpg"/><Relationship Id="rId2" Type="http://schemas.openxmlformats.org/officeDocument/2006/relationships/notesSlide" Target="../notesSlides/notesSlide36.xml"/><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3" Type="http://schemas.openxmlformats.org/officeDocument/2006/relationships/image" Target="../media/image22.jpg"/><Relationship Id="rId2" Type="http://schemas.openxmlformats.org/officeDocument/2006/relationships/notesSlide" Target="../notesSlides/notesSlide38.xml"/><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notesSlide" Target="../notesSlides/notesSlide39.xml"/><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3" Type="http://schemas.openxmlformats.org/officeDocument/2006/relationships/image" Target="../media/image24.jpg"/><Relationship Id="rId2" Type="http://schemas.openxmlformats.org/officeDocument/2006/relationships/notesSlide" Target="../notesSlides/notesSlide41.xml"/><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3" Type="http://schemas.openxmlformats.org/officeDocument/2006/relationships/image" Target="../media/image25.jpg"/><Relationship Id="rId2" Type="http://schemas.openxmlformats.org/officeDocument/2006/relationships/notesSlide" Target="../notesSlides/notesSlide42.xml"/><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3" Type="http://schemas.openxmlformats.org/officeDocument/2006/relationships/image" Target="../media/image26.jpg"/><Relationship Id="rId2" Type="http://schemas.openxmlformats.org/officeDocument/2006/relationships/notesSlide" Target="../notesSlides/notesSlide43.xml"/><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3" Type="http://schemas.openxmlformats.org/officeDocument/2006/relationships/image" Target="../media/image27.jpg"/><Relationship Id="rId2" Type="http://schemas.openxmlformats.org/officeDocument/2006/relationships/notesSlide" Target="../notesSlides/notesSlide44.xml"/><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3" Type="http://schemas.openxmlformats.org/officeDocument/2006/relationships/image" Target="../media/image28.jpg"/><Relationship Id="rId2" Type="http://schemas.openxmlformats.org/officeDocument/2006/relationships/notesSlide" Target="../notesSlides/notesSlide45.xml"/><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1.xml"/></Relationships>
</file>

<file path=ppt/slides/_rels/slide47.xml.rels><?xml version="1.0" encoding="UTF-8" standalone="yes"?>
<Relationships xmlns="http://schemas.openxmlformats.org/package/2006/relationships"><Relationship Id="rId3" Type="http://schemas.openxmlformats.org/officeDocument/2006/relationships/image" Target="../media/image29.jpg"/><Relationship Id="rId2" Type="http://schemas.openxmlformats.org/officeDocument/2006/relationships/notesSlide" Target="../notesSlides/notesSlide47.xml"/><Relationship Id="rId1" Type="http://schemas.openxmlformats.org/officeDocument/2006/relationships/slideLayout" Target="../slideLayouts/slideLayout1.xml"/></Relationships>
</file>

<file path=ppt/slides/_rels/slide48.xml.rels><?xml version="1.0" encoding="UTF-8" standalone="yes"?>
<Relationships xmlns="http://schemas.openxmlformats.org/package/2006/relationships"><Relationship Id="rId3" Type="http://schemas.openxmlformats.org/officeDocument/2006/relationships/image" Target="../media/image30.jpg"/><Relationship Id="rId2" Type="http://schemas.openxmlformats.org/officeDocument/2006/relationships/notesSlide" Target="../notesSlides/notesSlide48.xml"/><Relationship Id="rId1" Type="http://schemas.openxmlformats.org/officeDocument/2006/relationships/slideLayout" Target="../slideLayouts/slideLayout1.xml"/></Relationships>
</file>

<file path=ppt/slides/_rels/slide49.xml.rels><?xml version="1.0" encoding="UTF-8" standalone="yes"?>
<Relationships xmlns="http://schemas.openxmlformats.org/package/2006/relationships"><Relationship Id="rId3" Type="http://schemas.openxmlformats.org/officeDocument/2006/relationships/image" Target="../media/image31.jpg"/><Relationship Id="rId2" Type="http://schemas.openxmlformats.org/officeDocument/2006/relationships/notesSlide" Target="../notesSlides/notesSlide49.xml"/><Relationship Id="rId1" Type="http://schemas.openxmlformats.org/officeDocument/2006/relationships/slideLayout" Target="../slideLayouts/slideLayout1.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1.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1.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1.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1.xml"/></Relationships>
</file>

<file path=ppt/slides/_rels/slide54.xml.rels><?xml version="1.0" encoding="UTF-8" standalone="yes"?>
<Relationships xmlns="http://schemas.openxmlformats.org/package/2006/relationships"><Relationship Id="rId3" Type="http://schemas.openxmlformats.org/officeDocument/2006/relationships/image" Target="../media/image32.jpg"/><Relationship Id="rId2" Type="http://schemas.openxmlformats.org/officeDocument/2006/relationships/notesSlide" Target="../notesSlides/notesSlide54.xml"/><Relationship Id="rId1" Type="http://schemas.openxmlformats.org/officeDocument/2006/relationships/slideLayout" Target="../slideLayouts/slideLayout1.xml"/></Relationships>
</file>

<file path=ppt/slides/_rels/slide55.xml.rels><?xml version="1.0" encoding="UTF-8" standalone="yes"?>
<Relationships xmlns="http://schemas.openxmlformats.org/package/2006/relationships"><Relationship Id="rId3" Type="http://schemas.openxmlformats.org/officeDocument/2006/relationships/image" Target="../media/image33.jpg"/><Relationship Id="rId2" Type="http://schemas.openxmlformats.org/officeDocument/2006/relationships/notesSlide" Target="../notesSlides/notesSlide55.xml"/><Relationship Id="rId1" Type="http://schemas.openxmlformats.org/officeDocument/2006/relationships/slideLayout" Target="../slideLayouts/slideLayout1.xml"/></Relationships>
</file>

<file path=ppt/slides/_rels/slide56.xml.rels><?xml version="1.0" encoding="UTF-8" standalone="yes"?>
<Relationships xmlns="http://schemas.openxmlformats.org/package/2006/relationships"><Relationship Id="rId3" Type="http://schemas.openxmlformats.org/officeDocument/2006/relationships/image" Target="../media/image34.jpg"/><Relationship Id="rId2" Type="http://schemas.openxmlformats.org/officeDocument/2006/relationships/notesSlide" Target="../notesSlides/notesSlide56.xml"/><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1.xml"/></Relationships>
</file>

<file path=ppt/slides/_rels/slide58.xml.rels><?xml version="1.0" encoding="UTF-8" standalone="yes"?>
<Relationships xmlns="http://schemas.openxmlformats.org/package/2006/relationships"><Relationship Id="rId3" Type="http://schemas.openxmlformats.org/officeDocument/2006/relationships/image" Target="../media/image35.jpg"/><Relationship Id="rId2" Type="http://schemas.openxmlformats.org/officeDocument/2006/relationships/notesSlide" Target="../notesSlides/notesSlide58.xml"/><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3" Type="http://schemas.openxmlformats.org/officeDocument/2006/relationships/image" Target="../media/image36.jpg"/><Relationship Id="rId2" Type="http://schemas.openxmlformats.org/officeDocument/2006/relationships/notesSlide" Target="../notesSlides/notesSlide59.xml"/><Relationship Id="rId1" Type="http://schemas.openxmlformats.org/officeDocument/2006/relationships/slideLayout" Target="../slideLayouts/slideLayout1.xml"/></Relationships>
</file>

<file path=ppt/slides/_rels/slide60.xml.rels><?xml version="1.0" encoding="UTF-8" standalone="yes"?>
<Relationships xmlns="http://schemas.openxmlformats.org/package/2006/relationships"><Relationship Id="rId3" Type="http://schemas.openxmlformats.org/officeDocument/2006/relationships/image" Target="../media/image37.jpg"/><Relationship Id="rId2" Type="http://schemas.openxmlformats.org/officeDocument/2006/relationships/notesSlide" Target="../notesSlides/notesSlide60.xml"/><Relationship Id="rId1" Type="http://schemas.openxmlformats.org/officeDocument/2006/relationships/slideLayout" Target="../slideLayouts/slideLayout1.xml"/></Relationships>
</file>

<file path=ppt/slides/_rels/slide61.xml.rels><?xml version="1.0" encoding="UTF-8" standalone="yes"?>
<Relationships xmlns="http://schemas.openxmlformats.org/package/2006/relationships"><Relationship Id="rId3" Type="http://schemas.openxmlformats.org/officeDocument/2006/relationships/image" Target="../media/image38.jpg"/><Relationship Id="rId2" Type="http://schemas.openxmlformats.org/officeDocument/2006/relationships/notesSlide" Target="../notesSlides/notesSlide61.xml"/><Relationship Id="rId1" Type="http://schemas.openxmlformats.org/officeDocument/2006/relationships/slideLayout" Target="../slideLayouts/slideLayout1.xml"/></Relationships>
</file>

<file path=ppt/slides/_rels/slide62.xml.rels><?xml version="1.0" encoding="UTF-8" standalone="yes"?>
<Relationships xmlns="http://schemas.openxmlformats.org/package/2006/relationships"><Relationship Id="rId3" Type="http://schemas.openxmlformats.org/officeDocument/2006/relationships/image" Target="../media/image39.jpg"/><Relationship Id="rId2" Type="http://schemas.openxmlformats.org/officeDocument/2006/relationships/notesSlide" Target="../notesSlides/notesSlide62.xml"/><Relationship Id="rId1" Type="http://schemas.openxmlformats.org/officeDocument/2006/relationships/slideLayout" Target="../slideLayouts/slideLayout1.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1.xml"/></Relationships>
</file>

<file path=ppt/slides/_rels/slide64.xml.rels><?xml version="1.0" encoding="UTF-8" standalone="yes"?>
<Relationships xmlns="http://schemas.openxmlformats.org/package/2006/relationships"><Relationship Id="rId3" Type="http://schemas.openxmlformats.org/officeDocument/2006/relationships/image" Target="../media/image40.jpg"/><Relationship Id="rId2" Type="http://schemas.openxmlformats.org/officeDocument/2006/relationships/notesSlide" Target="../notesSlides/notesSlide64.xml"/><Relationship Id="rId1" Type="http://schemas.openxmlformats.org/officeDocument/2006/relationships/slideLayout" Target="../slideLayouts/slideLayout1.xml"/></Relationships>
</file>

<file path=ppt/slides/_rels/slide65.xml.rels><?xml version="1.0" encoding="UTF-8" standalone="yes"?>
<Relationships xmlns="http://schemas.openxmlformats.org/package/2006/relationships"><Relationship Id="rId3" Type="http://schemas.openxmlformats.org/officeDocument/2006/relationships/image" Target="../media/image41.jpg"/><Relationship Id="rId2" Type="http://schemas.openxmlformats.org/officeDocument/2006/relationships/notesSlide" Target="../notesSlides/notesSlide65.xml"/><Relationship Id="rId1" Type="http://schemas.openxmlformats.org/officeDocument/2006/relationships/slideLayout" Target="../slideLayouts/slideLayout1.xml"/></Relationships>
</file>

<file path=ppt/slides/_rels/slide66.xml.rels><?xml version="1.0" encoding="UTF-8" standalone="yes"?>
<Relationships xmlns="http://schemas.openxmlformats.org/package/2006/relationships"><Relationship Id="rId3" Type="http://schemas.openxmlformats.org/officeDocument/2006/relationships/image" Target="../media/image42.jpg"/><Relationship Id="rId2" Type="http://schemas.openxmlformats.org/officeDocument/2006/relationships/notesSlide" Target="../notesSlides/notesSlide66.xml"/><Relationship Id="rId1" Type="http://schemas.openxmlformats.org/officeDocument/2006/relationships/slideLayout" Target="../slideLayouts/slideLayout1.xml"/></Relationships>
</file>

<file path=ppt/slides/_rels/slide67.xml.rels><?xml version="1.0" encoding="UTF-8" standalone="yes"?>
<Relationships xmlns="http://schemas.openxmlformats.org/package/2006/relationships"><Relationship Id="rId3" Type="http://schemas.openxmlformats.org/officeDocument/2006/relationships/image" Target="../media/image43.jpg"/><Relationship Id="rId2" Type="http://schemas.openxmlformats.org/officeDocument/2006/relationships/notesSlide" Target="../notesSlides/notesSlide67.xml"/><Relationship Id="rId1" Type="http://schemas.openxmlformats.org/officeDocument/2006/relationships/slideLayout" Target="../slideLayouts/slideLayout1.xml"/></Relationships>
</file>

<file path=ppt/slides/_rels/slide68.xml.rels><?xml version="1.0" encoding="UTF-8" standalone="yes"?>
<Relationships xmlns="http://schemas.openxmlformats.org/package/2006/relationships"><Relationship Id="rId3" Type="http://schemas.openxmlformats.org/officeDocument/2006/relationships/image" Target="../media/image44.jpg"/><Relationship Id="rId2" Type="http://schemas.openxmlformats.org/officeDocument/2006/relationships/notesSlide" Target="../notesSlides/notesSlide68.xml"/><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3" Type="http://schemas.openxmlformats.org/officeDocument/2006/relationships/image" Target="../media/image45.jpg"/><Relationship Id="rId2" Type="http://schemas.openxmlformats.org/officeDocument/2006/relationships/notesSlide" Target="../notesSlides/notesSlide69.xml"/><Relationship Id="rId1" Type="http://schemas.openxmlformats.org/officeDocument/2006/relationships/slideLayout" Target="../slideLayouts/slideLayout1.xml"/></Relationships>
</file>

<file path=ppt/slides/_rels/slide70.xml.rels><?xml version="1.0" encoding="UTF-8" standalone="yes"?>
<Relationships xmlns="http://schemas.openxmlformats.org/package/2006/relationships"><Relationship Id="rId3" Type="http://schemas.openxmlformats.org/officeDocument/2006/relationships/image" Target="../media/image46.jpg"/><Relationship Id="rId2" Type="http://schemas.openxmlformats.org/officeDocument/2006/relationships/notesSlide" Target="../notesSlides/notesSlide70.xml"/><Relationship Id="rId1" Type="http://schemas.openxmlformats.org/officeDocument/2006/relationships/slideLayout" Target="../slideLayouts/slideLayout1.xml"/></Relationships>
</file>

<file path=ppt/slides/_rels/slide71.xml.rels><?xml version="1.0" encoding="UTF-8" standalone="yes"?>
<Relationships xmlns="http://schemas.openxmlformats.org/package/2006/relationships"><Relationship Id="rId3" Type="http://schemas.openxmlformats.org/officeDocument/2006/relationships/image" Target="../media/image47.jpg"/><Relationship Id="rId2" Type="http://schemas.openxmlformats.org/officeDocument/2006/relationships/notesSlide" Target="../notesSlides/notesSlide71.xml"/><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3" Type="http://schemas.openxmlformats.org/officeDocument/2006/relationships/image" Target="../media/image48.jpg"/><Relationship Id="rId2" Type="http://schemas.openxmlformats.org/officeDocument/2006/relationships/notesSlide" Target="../notesSlides/notesSlide73.xml"/><Relationship Id="rId1" Type="http://schemas.openxmlformats.org/officeDocument/2006/relationships/slideLayout" Target="../slideLayouts/slideLayout1.xml"/></Relationships>
</file>

<file path=ppt/slides/_rels/slide74.xml.rels><?xml version="1.0" encoding="UTF-8" standalone="yes"?>
<Relationships xmlns="http://schemas.openxmlformats.org/package/2006/relationships"><Relationship Id="rId3" Type="http://schemas.openxmlformats.org/officeDocument/2006/relationships/image" Target="../media/image49.jpg"/><Relationship Id="rId2" Type="http://schemas.openxmlformats.org/officeDocument/2006/relationships/notesSlide" Target="../notesSlides/notesSlide74.xml"/><Relationship Id="rId1" Type="http://schemas.openxmlformats.org/officeDocument/2006/relationships/slideLayout" Target="../slideLayouts/slideLayout1.xml"/></Relationships>
</file>

<file path=ppt/slides/_rels/slide75.xml.rels><?xml version="1.0" encoding="UTF-8" standalone="yes"?>
<Relationships xmlns="http://schemas.openxmlformats.org/package/2006/relationships"><Relationship Id="rId3" Type="http://schemas.openxmlformats.org/officeDocument/2006/relationships/image" Target="../media/image50.jpg"/><Relationship Id="rId2" Type="http://schemas.openxmlformats.org/officeDocument/2006/relationships/notesSlide" Target="../notesSlides/notesSlide75.xml"/><Relationship Id="rId1" Type="http://schemas.openxmlformats.org/officeDocument/2006/relationships/slideLayout" Target="../slideLayouts/slideLayout1.xml"/></Relationships>
</file>

<file path=ppt/slides/_rels/slide76.xml.rels><?xml version="1.0" encoding="UTF-8" standalone="yes"?>
<Relationships xmlns="http://schemas.openxmlformats.org/package/2006/relationships"><Relationship Id="rId3" Type="http://schemas.openxmlformats.org/officeDocument/2006/relationships/image" Target="../media/image51.jpg"/><Relationship Id="rId2" Type="http://schemas.openxmlformats.org/officeDocument/2006/relationships/notesSlide" Target="../notesSlides/notesSlide76.xml"/><Relationship Id="rId1" Type="http://schemas.openxmlformats.org/officeDocument/2006/relationships/slideLayout" Target="../slideLayouts/slideLayout1.xml"/></Relationships>
</file>

<file path=ppt/slides/_rels/slide77.xml.rels><?xml version="1.0" encoding="UTF-8" standalone="yes"?>
<Relationships xmlns="http://schemas.openxmlformats.org/package/2006/relationships"><Relationship Id="rId3" Type="http://schemas.openxmlformats.org/officeDocument/2006/relationships/image" Target="../media/image52.jpg"/><Relationship Id="rId2" Type="http://schemas.openxmlformats.org/officeDocument/2006/relationships/notesSlide" Target="../notesSlides/notesSlide77.xml"/><Relationship Id="rId1" Type="http://schemas.openxmlformats.org/officeDocument/2006/relationships/slideLayout" Target="../slideLayouts/slideLayout1.xml"/></Relationships>
</file>

<file path=ppt/slides/_rels/slide78.xml.rels><?xml version="1.0" encoding="UTF-8" standalone="yes"?>
<Relationships xmlns="http://schemas.openxmlformats.org/package/2006/relationships"><Relationship Id="rId3" Type="http://schemas.openxmlformats.org/officeDocument/2006/relationships/image" Target="../media/image53.jpg"/><Relationship Id="rId2" Type="http://schemas.openxmlformats.org/officeDocument/2006/relationships/notesSlide" Target="../notesSlides/notesSlide78.xml"/><Relationship Id="rId1" Type="http://schemas.openxmlformats.org/officeDocument/2006/relationships/slideLayout" Target="../slideLayouts/slideLayout1.xml"/></Relationships>
</file>

<file path=ppt/slides/_rels/slide79.xml.rels><?xml version="1.0" encoding="UTF-8" standalone="yes"?>
<Relationships xmlns="http://schemas.openxmlformats.org/package/2006/relationships"><Relationship Id="rId3" Type="http://schemas.openxmlformats.org/officeDocument/2006/relationships/image" Target="../media/image54.jpg"/><Relationship Id="rId2" Type="http://schemas.openxmlformats.org/officeDocument/2006/relationships/notesSlide" Target="../notesSlides/notesSlide79.xml"/><Relationship Id="rId1" Type="http://schemas.openxmlformats.org/officeDocument/2006/relationships/slideLayout" Target="../slideLayouts/slideLayout1.xml"/></Relationships>
</file>

<file path=ppt/slides/_rels/slide80.xml.rels><?xml version="1.0" encoding="UTF-8" standalone="yes"?>
<Relationships xmlns="http://schemas.openxmlformats.org/package/2006/relationships"><Relationship Id="rId3" Type="http://schemas.openxmlformats.org/officeDocument/2006/relationships/image" Target="../media/image55.jpg"/><Relationship Id="rId2" Type="http://schemas.openxmlformats.org/officeDocument/2006/relationships/notesSlide" Target="../notesSlides/notesSlide80.xml"/><Relationship Id="rId1" Type="http://schemas.openxmlformats.org/officeDocument/2006/relationships/slideLayout" Target="../slideLayouts/slideLayout1.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1.xml"/></Relationships>
</file>

<file path=ppt/slides/_rels/slide82.xml.rels><?xml version="1.0" encoding="UTF-8" standalone="yes"?>
<Relationships xmlns="http://schemas.openxmlformats.org/package/2006/relationships"><Relationship Id="rId3" Type="http://schemas.openxmlformats.org/officeDocument/2006/relationships/image" Target="../media/image56.jpg"/><Relationship Id="rId2" Type="http://schemas.openxmlformats.org/officeDocument/2006/relationships/notesSlide" Target="../notesSlides/notesSlide82.xml"/><Relationship Id="rId1" Type="http://schemas.openxmlformats.org/officeDocument/2006/relationships/slideLayout" Target="../slideLayouts/slideLayout1.xml"/></Relationships>
</file>

<file path=ppt/slides/_rels/slide83.xml.rels><?xml version="1.0" encoding="UTF-8" standalone="yes"?>
<Relationships xmlns="http://schemas.openxmlformats.org/package/2006/relationships"><Relationship Id="rId3" Type="http://schemas.openxmlformats.org/officeDocument/2006/relationships/image" Target="../media/image57.jpg"/><Relationship Id="rId2" Type="http://schemas.openxmlformats.org/officeDocument/2006/relationships/notesSlide" Target="../notesSlides/notesSlide83.xml"/><Relationship Id="rId1" Type="http://schemas.openxmlformats.org/officeDocument/2006/relationships/slideLayout" Target="../slideLayouts/slideLayout1.xml"/></Relationships>
</file>

<file path=ppt/slides/_rels/slide84.xml.rels><?xml version="1.0" encoding="UTF-8" standalone="yes"?>
<Relationships xmlns="http://schemas.openxmlformats.org/package/2006/relationships"><Relationship Id="rId3" Type="http://schemas.openxmlformats.org/officeDocument/2006/relationships/image" Target="../media/image58.jpg"/><Relationship Id="rId2" Type="http://schemas.openxmlformats.org/officeDocument/2006/relationships/notesSlide" Target="../notesSlides/notesSlide84.xml"/><Relationship Id="rId1" Type="http://schemas.openxmlformats.org/officeDocument/2006/relationships/slideLayout" Target="../slideLayouts/slideLayout1.xml"/></Relationships>
</file>

<file path=ppt/slides/_rels/slide85.xml.rels><?xml version="1.0" encoding="UTF-8" standalone="yes"?>
<Relationships xmlns="http://schemas.openxmlformats.org/package/2006/relationships"><Relationship Id="rId3" Type="http://schemas.openxmlformats.org/officeDocument/2006/relationships/image" Target="../media/image59.jpg"/><Relationship Id="rId2" Type="http://schemas.openxmlformats.org/officeDocument/2006/relationships/notesSlide" Target="../notesSlides/notesSlide85.xml"/><Relationship Id="rId1" Type="http://schemas.openxmlformats.org/officeDocument/2006/relationships/slideLayout" Target="../slideLayouts/slideLayout1.xml"/></Relationships>
</file>

<file path=ppt/slides/_rels/slide86.xml.rels><?xml version="1.0" encoding="UTF-8" standalone="yes"?>
<Relationships xmlns="http://schemas.openxmlformats.org/package/2006/relationships"><Relationship Id="rId3" Type="http://schemas.openxmlformats.org/officeDocument/2006/relationships/image" Target="../media/image60.jpg"/><Relationship Id="rId2" Type="http://schemas.openxmlformats.org/officeDocument/2006/relationships/notesSlide" Target="../notesSlides/notesSlide86.xml"/><Relationship Id="rId1" Type="http://schemas.openxmlformats.org/officeDocument/2006/relationships/slideLayout" Target="../slideLayouts/slideLayout1.xml"/></Relationships>
</file>

<file path=ppt/slides/_rels/slide87.xml.rels><?xml version="1.0" encoding="UTF-8" standalone="yes"?>
<Relationships xmlns="http://schemas.openxmlformats.org/package/2006/relationships"><Relationship Id="rId3" Type="http://schemas.openxmlformats.org/officeDocument/2006/relationships/image" Target="../media/image61.jpg"/><Relationship Id="rId2" Type="http://schemas.openxmlformats.org/officeDocument/2006/relationships/notesSlide" Target="../notesSlides/notesSlide87.xml"/><Relationship Id="rId1" Type="http://schemas.openxmlformats.org/officeDocument/2006/relationships/slideLayout" Target="../slideLayouts/slideLayout1.xml"/></Relationships>
</file>

<file path=ppt/slides/_rels/slide88.xml.rels><?xml version="1.0" encoding="UTF-8" standalone="yes"?>
<Relationships xmlns="http://schemas.openxmlformats.org/package/2006/relationships"><Relationship Id="rId3" Type="http://schemas.openxmlformats.org/officeDocument/2006/relationships/image" Target="../media/image62.jpg"/><Relationship Id="rId2" Type="http://schemas.openxmlformats.org/officeDocument/2006/relationships/notesSlide" Target="../notesSlides/notesSlide88.xml"/><Relationship Id="rId1" Type="http://schemas.openxmlformats.org/officeDocument/2006/relationships/slideLayout" Target="../slideLayouts/slideLayout1.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1.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1.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1.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1.xml"/></Relationships>
</file>

<file path=ppt/slides/_rels/slide93.xml.rels><?xml version="1.0" encoding="UTF-8" standalone="yes"?>
<Relationships xmlns="http://schemas.openxmlformats.org/package/2006/relationships"><Relationship Id="rId3" Type="http://schemas.openxmlformats.org/officeDocument/2006/relationships/image" Target="../media/image63.jpg"/><Relationship Id="rId2" Type="http://schemas.openxmlformats.org/officeDocument/2006/relationships/notesSlide" Target="../notesSlides/notesSlide93.xml"/><Relationship Id="rId1" Type="http://schemas.openxmlformats.org/officeDocument/2006/relationships/slideLayout" Target="../slideLayouts/slideLayout1.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1.xml"/></Relationships>
</file>

<file path=ppt/slides/_rels/slide95.xml.rels><?xml version="1.0" encoding="UTF-8" standalone="yes"?>
<Relationships xmlns="http://schemas.openxmlformats.org/package/2006/relationships"><Relationship Id="rId3" Type="http://schemas.openxmlformats.org/officeDocument/2006/relationships/image" Target="../media/image64.jpg"/><Relationship Id="rId2" Type="http://schemas.openxmlformats.org/officeDocument/2006/relationships/notesSlide" Target="../notesSlides/notesSlide95.xml"/><Relationship Id="rId1" Type="http://schemas.openxmlformats.org/officeDocument/2006/relationships/slideLayout" Target="../slideLayouts/slideLayout1.xml"/></Relationships>
</file>

<file path=ppt/slides/_rels/slide96.xml.rels><?xml version="1.0" encoding="UTF-8" standalone="yes"?>
<Relationships xmlns="http://schemas.openxmlformats.org/package/2006/relationships"><Relationship Id="rId3" Type="http://schemas.openxmlformats.org/officeDocument/2006/relationships/image" Target="../media/image65.jpg"/><Relationship Id="rId2" Type="http://schemas.openxmlformats.org/officeDocument/2006/relationships/notesSlide" Target="../notesSlides/notesSlide96.xml"/><Relationship Id="rId1" Type="http://schemas.openxmlformats.org/officeDocument/2006/relationships/slideLayout" Target="../slideLayouts/slideLayout1.xml"/></Relationships>
</file>

<file path=ppt/slides/_rels/slide97.xml.rels><?xml version="1.0" encoding="UTF-8" standalone="yes"?>
<Relationships xmlns="http://schemas.openxmlformats.org/package/2006/relationships"><Relationship Id="rId3" Type="http://schemas.openxmlformats.org/officeDocument/2006/relationships/image" Target="../media/image66.jpg"/><Relationship Id="rId2" Type="http://schemas.openxmlformats.org/officeDocument/2006/relationships/notesSlide" Target="../notesSlides/notesSlide97.xml"/><Relationship Id="rId1" Type="http://schemas.openxmlformats.org/officeDocument/2006/relationships/slideLayout" Target="../slideLayouts/slideLayout1.xml"/></Relationships>
</file>

<file path=ppt/slides/_rels/slide98.xml.rels><?xml version="1.0" encoding="UTF-8" standalone="yes"?>
<Relationships xmlns="http://schemas.openxmlformats.org/package/2006/relationships"><Relationship Id="rId3" Type="http://schemas.openxmlformats.org/officeDocument/2006/relationships/image" Target="../media/image67.jpg"/><Relationship Id="rId2" Type="http://schemas.openxmlformats.org/officeDocument/2006/relationships/notesSlide" Target="../notesSlides/notesSlide98.xml"/><Relationship Id="rId1" Type="http://schemas.openxmlformats.org/officeDocument/2006/relationships/slideLayout" Target="../slideLayouts/slideLayout1.xml"/></Relationships>
</file>

<file path=ppt/slides/_rels/slide99.xml.rels><?xml version="1.0" encoding="UTF-8" standalone="yes"?>
<Relationships xmlns="http://schemas.openxmlformats.org/package/2006/relationships"><Relationship Id="rId3" Type="http://schemas.openxmlformats.org/officeDocument/2006/relationships/image" Target="../media/image68.jpg"/><Relationship Id="rId2" Type="http://schemas.openxmlformats.org/officeDocument/2006/relationships/notesSlide" Target="../notesSlides/notesSlide99.xml"/><Relationship Id="rId1" Type="http://schemas.openxmlformats.org/officeDocument/2006/relationships/slideLayout" Target="../slideLayouts/slideLayout1.xml"/></Relationships>
</file>

<file path=ppt/slides/_rels/slide100.xml.rels><?xml version="1.0" encoding="UTF-8" standalone="yes"?>
<Relationships xmlns="http://schemas.openxmlformats.org/package/2006/relationships"><Relationship Id="rId3" Type="http://schemas.openxmlformats.org/officeDocument/2006/relationships/image" Target="../media/image69.jpg"/><Relationship Id="rId2" Type="http://schemas.openxmlformats.org/officeDocument/2006/relationships/notesSlide" Target="../notesSlides/notesSlide100.xml"/><Relationship Id="rId1" Type="http://schemas.openxmlformats.org/officeDocument/2006/relationships/slideLayout" Target="../slideLayouts/slideLayout1.xml"/></Relationships>
</file>

<file path=ppt/slides/_rels/slide101.xml.rels><?xml version="1.0" encoding="UTF-8" standalone="yes"?>
<Relationships xmlns="http://schemas.openxmlformats.org/package/2006/relationships"><Relationship Id="rId3" Type="http://schemas.openxmlformats.org/officeDocument/2006/relationships/image" Target="../media/image70.jpg"/><Relationship Id="rId2" Type="http://schemas.openxmlformats.org/officeDocument/2006/relationships/notesSlide" Target="../notesSlides/notesSlide101.xml"/><Relationship Id="rId1" Type="http://schemas.openxmlformats.org/officeDocument/2006/relationships/slideLayout" Target="../slideLayouts/slideLayout1.xml"/></Relationships>
</file>

<file path=ppt/slides/_rels/slide102.xml.rels><?xml version="1.0" encoding="UTF-8" standalone="yes"?>
<Relationships xmlns="http://schemas.openxmlformats.org/package/2006/relationships"><Relationship Id="rId3" Type="http://schemas.openxmlformats.org/officeDocument/2006/relationships/image" Target="../media/image71.jpg"/><Relationship Id="rId2" Type="http://schemas.openxmlformats.org/officeDocument/2006/relationships/notesSlide" Target="../notesSlides/notesSlide102.xml"/><Relationship Id="rId1" Type="http://schemas.openxmlformats.org/officeDocument/2006/relationships/slideLayout" Target="../slideLayouts/slideLayout1.xml"/></Relationships>
</file>

<file path=ppt/slides/_rels/slide103.xml.rels><?xml version="1.0" encoding="UTF-8" standalone="yes"?>
<Relationships xmlns="http://schemas.openxmlformats.org/package/2006/relationships"><Relationship Id="rId3" Type="http://schemas.openxmlformats.org/officeDocument/2006/relationships/image" Target="../media/image72.jpg"/><Relationship Id="rId2" Type="http://schemas.openxmlformats.org/officeDocument/2006/relationships/notesSlide" Target="../notesSlides/notesSlide103.xml"/><Relationship Id="rId1" Type="http://schemas.openxmlformats.org/officeDocument/2006/relationships/slideLayout" Target="../slideLayouts/slideLayout1.xml"/></Relationships>
</file>

<file path=ppt/slides/_rels/slide104.xml.rels><?xml version="1.0" encoding="UTF-8" standalone="yes"?>
<Relationships xmlns="http://schemas.openxmlformats.org/package/2006/relationships"><Relationship Id="rId3" Type="http://schemas.openxmlformats.org/officeDocument/2006/relationships/image" Target="../media/image73.jpg"/><Relationship Id="rId2" Type="http://schemas.openxmlformats.org/officeDocument/2006/relationships/notesSlide" Target="../notesSlides/notesSlide104.xml"/><Relationship Id="rId1" Type="http://schemas.openxmlformats.org/officeDocument/2006/relationships/slideLayout" Target="../slideLayouts/slideLayout1.xml"/></Relationships>
</file>

<file path=ppt/slides/_rels/slide105.xml.rels><?xml version="1.0" encoding="UTF-8" standalone="yes"?>
<Relationships xmlns="http://schemas.openxmlformats.org/package/2006/relationships"><Relationship Id="rId3" Type="http://schemas.openxmlformats.org/officeDocument/2006/relationships/image" Target="../media/image74.jpg"/><Relationship Id="rId2" Type="http://schemas.openxmlformats.org/officeDocument/2006/relationships/notesSlide" Target="../notesSlides/notesSlide105.xml"/><Relationship Id="rId1" Type="http://schemas.openxmlformats.org/officeDocument/2006/relationships/slideLayout" Target="../slideLayouts/slideLayout1.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1.xml"/></Relationships>
</file>

<file path=ppt/slides/_rels/slide107.xml.rels><?xml version="1.0" encoding="UTF-8" standalone="yes"?>
<Relationships xmlns="http://schemas.openxmlformats.org/package/2006/relationships"><Relationship Id="rId3" Type="http://schemas.openxmlformats.org/officeDocument/2006/relationships/image" Target="../media/image75.jpg"/><Relationship Id="rId2" Type="http://schemas.openxmlformats.org/officeDocument/2006/relationships/notesSlide" Target="../notesSlides/notesSlide107.xml"/><Relationship Id="rId1" Type="http://schemas.openxmlformats.org/officeDocument/2006/relationships/slideLayout" Target="../slideLayouts/slideLayout1.xml"/></Relationships>
</file>

<file path=ppt/slides/_rels/slide108.xml.rels><?xml version="1.0" encoding="UTF-8" standalone="yes"?>
<Relationships xmlns="http://schemas.openxmlformats.org/package/2006/relationships"><Relationship Id="rId3" Type="http://schemas.openxmlformats.org/officeDocument/2006/relationships/image" Target="../media/image76.jpg"/><Relationship Id="rId2" Type="http://schemas.openxmlformats.org/officeDocument/2006/relationships/notesSlide" Target="../notesSlides/notesSlide108.xml"/><Relationship Id="rId1" Type="http://schemas.openxmlformats.org/officeDocument/2006/relationships/slideLayout" Target="../slideLayouts/slideLayout1.xml"/></Relationships>
</file>

<file path=ppt/slides/_rels/slide109.xml.rels><?xml version="1.0" encoding="UTF-8" standalone="yes"?>
<Relationships xmlns="http://schemas.openxmlformats.org/package/2006/relationships"><Relationship Id="rId3" Type="http://schemas.openxmlformats.org/officeDocument/2006/relationships/image" Target="../media/image77.jpg"/><Relationship Id="rId2" Type="http://schemas.openxmlformats.org/officeDocument/2006/relationships/notesSlide" Target="../notesSlides/notesSlide109.xml"/><Relationship Id="rId1" Type="http://schemas.openxmlformats.org/officeDocument/2006/relationships/slideLayout" Target="../slideLayouts/slideLayout1.xml"/></Relationships>
</file>

<file path=ppt/slides/_rels/slide110.xml.rels><?xml version="1.0" encoding="UTF-8" standalone="yes"?>
<Relationships xmlns="http://schemas.openxmlformats.org/package/2006/relationships"><Relationship Id="rId3" Type="http://schemas.openxmlformats.org/officeDocument/2006/relationships/image" Target="../media/image78.jpg"/><Relationship Id="rId2" Type="http://schemas.openxmlformats.org/officeDocument/2006/relationships/notesSlide" Target="../notesSlides/notesSlide110.xml"/><Relationship Id="rId1" Type="http://schemas.openxmlformats.org/officeDocument/2006/relationships/slideLayout" Target="../slideLayouts/slideLayout1.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1.xml"/></Relationships>
</file>

<file path=ppt/slides/_rels/slide112.xml.rels><?xml version="1.0" encoding="UTF-8" standalone="yes"?>
<Relationships xmlns="http://schemas.openxmlformats.org/package/2006/relationships"><Relationship Id="rId3" Type="http://schemas.openxmlformats.org/officeDocument/2006/relationships/image" Target="../media/image79.jpg"/><Relationship Id="rId2" Type="http://schemas.openxmlformats.org/officeDocument/2006/relationships/notesSlide" Target="../notesSlides/notesSlide112.xml"/><Relationship Id="rId1" Type="http://schemas.openxmlformats.org/officeDocument/2006/relationships/slideLayout" Target="../slideLayouts/slideLayout1.xml"/></Relationships>
</file>

<file path=ppt/slides/_rels/slide113.xml.rels><?xml version="1.0" encoding="UTF-8" standalone="yes"?>
<Relationships xmlns="http://schemas.openxmlformats.org/package/2006/relationships"><Relationship Id="rId3" Type="http://schemas.openxmlformats.org/officeDocument/2006/relationships/image" Target="../media/image80.jpg"/><Relationship Id="rId2" Type="http://schemas.openxmlformats.org/officeDocument/2006/relationships/notesSlide" Target="../notesSlides/notesSlide113.xml"/><Relationship Id="rId1" Type="http://schemas.openxmlformats.org/officeDocument/2006/relationships/slideLayout" Target="../slideLayouts/slideLayout1.xml"/></Relationships>
</file>

<file path=ppt/slides/_rels/slide114.xml.rels><?xml version="1.0" encoding="UTF-8" standalone="yes"?>
<Relationships xmlns="http://schemas.openxmlformats.org/package/2006/relationships"><Relationship Id="rId3" Type="http://schemas.openxmlformats.org/officeDocument/2006/relationships/image" Target="../media/image81.jpg"/><Relationship Id="rId2" Type="http://schemas.openxmlformats.org/officeDocument/2006/relationships/notesSlide" Target="../notesSlides/notesSlide114.xml"/><Relationship Id="rId1" Type="http://schemas.openxmlformats.org/officeDocument/2006/relationships/slideLayout" Target="../slideLayouts/slideLayout1.xml"/></Relationships>
</file>

<file path=ppt/slides/_rels/slide115.xml.rels><?xml version="1.0" encoding="UTF-8" standalone="yes"?>
<Relationships xmlns="http://schemas.openxmlformats.org/package/2006/relationships"><Relationship Id="rId3" Type="http://schemas.openxmlformats.org/officeDocument/2006/relationships/image" Target="../media/image82.jpg"/><Relationship Id="rId2" Type="http://schemas.openxmlformats.org/officeDocument/2006/relationships/notesSlide" Target="../notesSlides/notesSlide115.xml"/><Relationship Id="rId1" Type="http://schemas.openxmlformats.org/officeDocument/2006/relationships/slideLayout" Target="../slideLayouts/slideLayout1.xml"/></Relationships>
</file>

<file path=ppt/slides/_rels/slide116.xml.rels><?xml version="1.0" encoding="UTF-8" standalone="yes"?>
<Relationships xmlns="http://schemas.openxmlformats.org/package/2006/relationships"><Relationship Id="rId3" Type="http://schemas.openxmlformats.org/officeDocument/2006/relationships/image" Target="../media/image83.jpg"/><Relationship Id="rId2" Type="http://schemas.openxmlformats.org/officeDocument/2006/relationships/notesSlide" Target="../notesSlides/notesSlide116.xml"/><Relationship Id="rId1" Type="http://schemas.openxmlformats.org/officeDocument/2006/relationships/slideLayout" Target="../slideLayouts/slideLayout1.xml"/></Relationships>
</file>

<file path=ppt/slides/_rels/slide117.xml.rels><?xml version="1.0" encoding="UTF-8" standalone="yes"?>
<Relationships xmlns="http://schemas.openxmlformats.org/package/2006/relationships"><Relationship Id="rId3" Type="http://schemas.openxmlformats.org/officeDocument/2006/relationships/image" Target="../media/image84.jpg"/><Relationship Id="rId2" Type="http://schemas.openxmlformats.org/officeDocument/2006/relationships/notesSlide" Target="../notesSlides/notesSlide117.xml"/><Relationship Id="rId1" Type="http://schemas.openxmlformats.org/officeDocument/2006/relationships/slideLayout" Target="../slideLayouts/slideLayout1.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118.xml"/><Relationship Id="rId1" Type="http://schemas.openxmlformats.org/officeDocument/2006/relationships/slideLayout" Target="../slideLayouts/slideLayout1.xml"/></Relationships>
</file>

<file path=ppt/slides/_rels/slide119.xml.rels><?xml version="1.0" encoding="UTF-8" standalone="yes"?>
<Relationships xmlns="http://schemas.openxmlformats.org/package/2006/relationships"><Relationship Id="rId3" Type="http://schemas.openxmlformats.org/officeDocument/2006/relationships/image" Target="../media/image85.jpg"/><Relationship Id="rId2" Type="http://schemas.openxmlformats.org/officeDocument/2006/relationships/notesSlide" Target="../notesSlides/notesSlide119.xml"/><Relationship Id="rId1" Type="http://schemas.openxmlformats.org/officeDocument/2006/relationships/slideLayout" Target="../slideLayouts/slideLayout1.xml"/></Relationships>
</file>

<file path=ppt/slides/_rels/slide120.xml.rels><?xml version="1.0" encoding="UTF-8" standalone="yes"?>
<Relationships xmlns="http://schemas.openxmlformats.org/package/2006/relationships"><Relationship Id="rId3" Type="http://schemas.openxmlformats.org/officeDocument/2006/relationships/image" Target="../media/image86.jpg"/><Relationship Id="rId2" Type="http://schemas.openxmlformats.org/officeDocument/2006/relationships/notesSlide" Target="../notesSlides/notesSlide120.xml"/><Relationship Id="rId1" Type="http://schemas.openxmlformats.org/officeDocument/2006/relationships/slideLayout" Target="../slideLayouts/slideLayout1.xml"/></Relationships>
</file>

<file path=ppt/slides/_rels/slide121.xml.rels><?xml version="1.0" encoding="UTF-8" standalone="yes"?>
<Relationships xmlns="http://schemas.openxmlformats.org/package/2006/relationships"><Relationship Id="rId3" Type="http://schemas.openxmlformats.org/officeDocument/2006/relationships/image" Target="../media/image87.jpg"/><Relationship Id="rId2" Type="http://schemas.openxmlformats.org/officeDocument/2006/relationships/notesSlide" Target="../notesSlides/notesSlide121.xml"/><Relationship Id="rId1" Type="http://schemas.openxmlformats.org/officeDocument/2006/relationships/slideLayout" Target="../slideLayouts/slideLayout1.xml"/></Relationships>
</file>

<file path=ppt/slides/_rels/slide122.xml.rels><?xml version="1.0" encoding="UTF-8" standalone="yes"?>
<Relationships xmlns="http://schemas.openxmlformats.org/package/2006/relationships"><Relationship Id="rId3" Type="http://schemas.openxmlformats.org/officeDocument/2006/relationships/image" Target="../media/image88.jpg"/><Relationship Id="rId2" Type="http://schemas.openxmlformats.org/officeDocument/2006/relationships/notesSlide" Target="../notesSlides/notesSlide122.xml"/><Relationship Id="rId1" Type="http://schemas.openxmlformats.org/officeDocument/2006/relationships/slideLayout" Target="../slideLayouts/slideLayout1.xml"/></Relationships>
</file>

<file path=ppt/slides/_rels/slide123.xml.rels><?xml version="1.0" encoding="UTF-8" standalone="yes"?>
<Relationships xmlns="http://schemas.openxmlformats.org/package/2006/relationships"><Relationship Id="rId3" Type="http://schemas.openxmlformats.org/officeDocument/2006/relationships/image" Target="../media/image89.jpg"/><Relationship Id="rId2" Type="http://schemas.openxmlformats.org/officeDocument/2006/relationships/notesSlide" Target="../notesSlides/notesSlide123.xml"/><Relationship Id="rId1" Type="http://schemas.openxmlformats.org/officeDocument/2006/relationships/slideLayout" Target="../slideLayouts/slideLayout1.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124.xml"/><Relationship Id="rId1" Type="http://schemas.openxmlformats.org/officeDocument/2006/relationships/slideLayout" Target="../slideLayouts/slideLayout1.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1.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1.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1.xml"/></Relationships>
</file>

<file path=ppt/slides/_rels/slide128.xml.rels><?xml version="1.0" encoding="UTF-8" standalone="yes"?>
<Relationships xmlns="http://schemas.openxmlformats.org/package/2006/relationships"><Relationship Id="rId3" Type="http://schemas.openxmlformats.org/officeDocument/2006/relationships/image" Target="../media/image90.jpg"/><Relationship Id="rId2" Type="http://schemas.openxmlformats.org/officeDocument/2006/relationships/notesSlide" Target="../notesSlides/notesSlide128.xml"/><Relationship Id="rId1" Type="http://schemas.openxmlformats.org/officeDocument/2006/relationships/slideLayout" Target="../slideLayouts/slideLayout1.xml"/></Relationships>
</file>

<file path=ppt/slides/_rels/slide129.xml.rels><?xml version="1.0" encoding="UTF-8" standalone="yes"?>
<Relationships xmlns="http://schemas.openxmlformats.org/package/2006/relationships"><Relationship Id="rId3" Type="http://schemas.openxmlformats.org/officeDocument/2006/relationships/image" Target="../media/image91.jpg"/><Relationship Id="rId2" Type="http://schemas.openxmlformats.org/officeDocument/2006/relationships/notesSlide" Target="../notesSlides/notesSlide129.xml"/><Relationship Id="rId1" Type="http://schemas.openxmlformats.org/officeDocument/2006/relationships/slideLayout" Target="../slideLayouts/slideLayout1.xml"/></Relationships>
</file>

<file path=ppt/slides/_rels/slide130.xml.rels><?xml version="1.0" encoding="UTF-8" standalone="yes"?>
<Relationships xmlns="http://schemas.openxmlformats.org/package/2006/relationships"><Relationship Id="rId3" Type="http://schemas.openxmlformats.org/officeDocument/2006/relationships/image" Target="../media/image92.jpg"/><Relationship Id="rId2" Type="http://schemas.openxmlformats.org/officeDocument/2006/relationships/notesSlide" Target="../notesSlides/notesSlide130.xml"/><Relationship Id="rId1" Type="http://schemas.openxmlformats.org/officeDocument/2006/relationships/slideLayout" Target="../slideLayouts/slideLayout1.xml"/></Relationships>
</file>

<file path=ppt/slides/_rels/slide131.xml.rels><?xml version="1.0" encoding="UTF-8" standalone="yes"?>
<Relationships xmlns="http://schemas.openxmlformats.org/package/2006/relationships"><Relationship Id="rId3" Type="http://schemas.openxmlformats.org/officeDocument/2006/relationships/image" Target="../media/image93.jpg"/><Relationship Id="rId2" Type="http://schemas.openxmlformats.org/officeDocument/2006/relationships/notesSlide" Target="../notesSlides/notesSlide131.xml"/><Relationship Id="rId1" Type="http://schemas.openxmlformats.org/officeDocument/2006/relationships/slideLayout" Target="../slideLayouts/slideLayout1.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1.xml"/></Relationships>
</file>

<file path=ppt/slides/_rels/slide133.xml.rels><?xml version="1.0" encoding="UTF-8" standalone="yes"?>
<Relationships xmlns="http://schemas.openxmlformats.org/package/2006/relationships"><Relationship Id="rId3" Type="http://schemas.openxmlformats.org/officeDocument/2006/relationships/image" Target="../media/image94.jpg"/><Relationship Id="rId2" Type="http://schemas.openxmlformats.org/officeDocument/2006/relationships/notesSlide" Target="../notesSlides/notesSlide133.xml"/><Relationship Id="rId1" Type="http://schemas.openxmlformats.org/officeDocument/2006/relationships/slideLayout" Target="../slideLayouts/slideLayout1.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1.xml"/></Relationships>
</file>

<file path=ppt/slides/_rels/slide135.xml.rels><?xml version="1.0" encoding="UTF-8" standalone="yes"?>
<Relationships xmlns="http://schemas.openxmlformats.org/package/2006/relationships"><Relationship Id="rId3" Type="http://schemas.openxmlformats.org/officeDocument/2006/relationships/image" Target="../media/image95.jpg"/><Relationship Id="rId2" Type="http://schemas.openxmlformats.org/officeDocument/2006/relationships/notesSlide" Target="../notesSlides/notesSlide135.xml"/><Relationship Id="rId1" Type="http://schemas.openxmlformats.org/officeDocument/2006/relationships/slideLayout" Target="../slideLayouts/slideLayout1.xml"/></Relationships>
</file>

<file path=ppt/slides/_rels/slide136.xml.rels><?xml version="1.0" encoding="UTF-8" standalone="yes"?>
<Relationships xmlns="http://schemas.openxmlformats.org/package/2006/relationships"><Relationship Id="rId3" Type="http://schemas.openxmlformats.org/officeDocument/2006/relationships/image" Target="../media/image96.jpg"/><Relationship Id="rId2" Type="http://schemas.openxmlformats.org/officeDocument/2006/relationships/notesSlide" Target="../notesSlides/notesSlide136.xml"/><Relationship Id="rId1" Type="http://schemas.openxmlformats.org/officeDocument/2006/relationships/slideLayout" Target="../slideLayouts/slideLayout1.xml"/></Relationships>
</file>

<file path=ppt/slides/_rels/slide137.xml.rels><?xml version="1.0" encoding="UTF-8" standalone="yes"?>
<Relationships xmlns="http://schemas.openxmlformats.org/package/2006/relationships"><Relationship Id="rId3" Type="http://schemas.openxmlformats.org/officeDocument/2006/relationships/image" Target="../media/image97.jpg"/><Relationship Id="rId2" Type="http://schemas.openxmlformats.org/officeDocument/2006/relationships/notesSlide" Target="../notesSlides/notesSlide137.xml"/><Relationship Id="rId1" Type="http://schemas.openxmlformats.org/officeDocument/2006/relationships/slideLayout" Target="../slideLayouts/slideLayout1.xml"/></Relationships>
</file>

<file path=ppt/slides/_rels/slide138.xml.rels><?xml version="1.0" encoding="UTF-8" standalone="yes"?>
<Relationships xmlns="http://schemas.openxmlformats.org/package/2006/relationships"><Relationship Id="rId3" Type="http://schemas.openxmlformats.org/officeDocument/2006/relationships/image" Target="../media/image98.jpg"/><Relationship Id="rId2" Type="http://schemas.openxmlformats.org/officeDocument/2006/relationships/notesSlide" Target="../notesSlides/notesSlide138.xml"/><Relationship Id="rId1" Type="http://schemas.openxmlformats.org/officeDocument/2006/relationships/slideLayout" Target="../slideLayouts/slideLayout1.xml"/></Relationships>
</file>

<file path=ppt/slides/_rels/slide139.xml.rels><?xml version="1.0" encoding="UTF-8" standalone="yes"?>
<Relationships xmlns="http://schemas.openxmlformats.org/package/2006/relationships"><Relationship Id="rId3" Type="http://schemas.openxmlformats.org/officeDocument/2006/relationships/image" Target="../media/image99.jpg"/><Relationship Id="rId2" Type="http://schemas.openxmlformats.org/officeDocument/2006/relationships/notesSlide" Target="../notesSlides/notesSlide139.xml"/><Relationship Id="rId1" Type="http://schemas.openxmlformats.org/officeDocument/2006/relationships/slideLayout" Target="../slideLayouts/slideLayout1.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1.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141.xml"/><Relationship Id="rId1" Type="http://schemas.openxmlformats.org/officeDocument/2006/relationships/slideLayout" Target="../slideLayouts/slideLayout1.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1.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43.xml"/><Relationship Id="rId1" Type="http://schemas.openxmlformats.org/officeDocument/2006/relationships/slideLayout" Target="../slideLayouts/slideLayout1.xml"/></Relationships>
</file>

<file path=ppt/slides/_rels/slide144.xml.rels><?xml version="1.0" encoding="UTF-8" standalone="yes"?>
<Relationships xmlns="http://schemas.openxmlformats.org/package/2006/relationships"><Relationship Id="rId3" Type="http://schemas.openxmlformats.org/officeDocument/2006/relationships/image" Target="../media/image100.jpg"/><Relationship Id="rId2" Type="http://schemas.openxmlformats.org/officeDocument/2006/relationships/notesSlide" Target="../notesSlides/notesSlide144.xml"/><Relationship Id="rId1" Type="http://schemas.openxmlformats.org/officeDocument/2006/relationships/slideLayout" Target="../slideLayouts/slideLayout1.xml"/></Relationships>
</file>

<file path=ppt/slides/_rels/slide145.xml.rels><?xml version="1.0" encoding="UTF-8" standalone="yes"?>
<Relationships xmlns="http://schemas.openxmlformats.org/package/2006/relationships"><Relationship Id="rId3" Type="http://schemas.openxmlformats.org/officeDocument/2006/relationships/image" Target="../media/image101.jpg"/><Relationship Id="rId2" Type="http://schemas.openxmlformats.org/officeDocument/2006/relationships/notesSlide" Target="../notesSlides/notesSlide145.xml"/><Relationship Id="rId1" Type="http://schemas.openxmlformats.org/officeDocument/2006/relationships/slideLayout" Target="../slideLayouts/slideLayout1.xml"/></Relationships>
</file>

<file path=ppt/slides/_rels/slide146.xml.rels><?xml version="1.0" encoding="UTF-8" standalone="yes"?>
<Relationships xmlns="http://schemas.openxmlformats.org/package/2006/relationships"><Relationship Id="rId3" Type="http://schemas.openxmlformats.org/officeDocument/2006/relationships/image" Target="../media/image102.jpg"/><Relationship Id="rId2" Type="http://schemas.openxmlformats.org/officeDocument/2006/relationships/notesSlide" Target="../notesSlides/notesSlide146.xml"/><Relationship Id="rId1" Type="http://schemas.openxmlformats.org/officeDocument/2006/relationships/slideLayout" Target="../slideLayouts/slideLayout1.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1.xml"/></Relationships>
</file>

<file path=ppt/slides/_rels/slide148.xml.rels><?xml version="1.0" encoding="UTF-8" standalone="yes"?>
<Relationships xmlns="http://schemas.openxmlformats.org/package/2006/relationships"><Relationship Id="rId3" Type="http://schemas.openxmlformats.org/officeDocument/2006/relationships/image" Target="../media/image103.jpg"/><Relationship Id="rId2" Type="http://schemas.openxmlformats.org/officeDocument/2006/relationships/notesSlide" Target="../notesSlides/notesSlide148.xml"/><Relationship Id="rId1" Type="http://schemas.openxmlformats.org/officeDocument/2006/relationships/slideLayout" Target="../slideLayouts/slideLayout1.xml"/></Relationships>
</file>

<file path=ppt/slides/_rels/slide149.xml.rels><?xml version="1.0" encoding="UTF-8" standalone="yes"?>
<Relationships xmlns="http://schemas.openxmlformats.org/package/2006/relationships"><Relationship Id="rId3" Type="http://schemas.openxmlformats.org/officeDocument/2006/relationships/image" Target="../media/image104.jpg"/><Relationship Id="rId2" Type="http://schemas.openxmlformats.org/officeDocument/2006/relationships/notesSlide" Target="../notesSlides/notesSlide149.xml"/><Relationship Id="rId1" Type="http://schemas.openxmlformats.org/officeDocument/2006/relationships/slideLayout" Target="../slideLayouts/slideLayout1.xml"/></Relationships>
</file>

<file path=ppt/slides/_rels/slide150.xml.rels><?xml version="1.0" encoding="UTF-8" standalone="yes"?>
<Relationships xmlns="http://schemas.openxmlformats.org/package/2006/relationships"><Relationship Id="rId3" Type="http://schemas.openxmlformats.org/officeDocument/2006/relationships/image" Target="../media/image105.jpg"/><Relationship Id="rId2" Type="http://schemas.openxmlformats.org/officeDocument/2006/relationships/notesSlide" Target="../notesSlides/notesSlide150.xml"/><Relationship Id="rId1" Type="http://schemas.openxmlformats.org/officeDocument/2006/relationships/slideLayout" Target="../slideLayouts/slideLayout1.xml"/></Relationships>
</file>

<file path=ppt/slides/_rels/slide151.xml.rels><?xml version="1.0" encoding="UTF-8" standalone="yes"?>
<Relationships xmlns="http://schemas.openxmlformats.org/package/2006/relationships"><Relationship Id="rId3" Type="http://schemas.openxmlformats.org/officeDocument/2006/relationships/image" Target="../media/image106.jpg"/><Relationship Id="rId2" Type="http://schemas.openxmlformats.org/officeDocument/2006/relationships/notesSlide" Target="../notesSlides/notesSlide151.xml"/><Relationship Id="rId1" Type="http://schemas.openxmlformats.org/officeDocument/2006/relationships/slideLayout" Target="../slideLayouts/slideLayout1.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152.xml"/><Relationship Id="rId1" Type="http://schemas.openxmlformats.org/officeDocument/2006/relationships/slideLayout" Target="../slideLayouts/slideLayout1.xml"/></Relationships>
</file>

<file path=ppt/slides/_rels/slide153.xml.rels><?xml version="1.0" encoding="UTF-8" standalone="yes"?>
<Relationships xmlns="http://schemas.openxmlformats.org/package/2006/relationships"><Relationship Id="rId3" Type="http://schemas.openxmlformats.org/officeDocument/2006/relationships/image" Target="../media/image107.jpg"/><Relationship Id="rId2" Type="http://schemas.openxmlformats.org/officeDocument/2006/relationships/notesSlide" Target="../notesSlides/notesSlide153.xml"/><Relationship Id="rId1" Type="http://schemas.openxmlformats.org/officeDocument/2006/relationships/slideLayout" Target="../slideLayouts/slideLayout1.xml"/></Relationships>
</file>

<file path=ppt/slides/_rels/slide154.xml.rels><?xml version="1.0" encoding="UTF-8" standalone="yes"?>
<Relationships xmlns="http://schemas.openxmlformats.org/package/2006/relationships"><Relationship Id="rId3" Type="http://schemas.openxmlformats.org/officeDocument/2006/relationships/image" Target="../media/image108.jpg"/><Relationship Id="rId2" Type="http://schemas.openxmlformats.org/officeDocument/2006/relationships/notesSlide" Target="../notesSlides/notesSlide154.xml"/><Relationship Id="rId1" Type="http://schemas.openxmlformats.org/officeDocument/2006/relationships/slideLayout" Target="../slideLayouts/slideLayout1.xml"/></Relationships>
</file>

<file path=ppt/slides/_rels/slide155.xml.rels><?xml version="1.0" encoding="UTF-8" standalone="yes"?>
<Relationships xmlns="http://schemas.openxmlformats.org/package/2006/relationships"><Relationship Id="rId3" Type="http://schemas.openxmlformats.org/officeDocument/2006/relationships/image" Target="../media/image109.jpg"/><Relationship Id="rId2" Type="http://schemas.openxmlformats.org/officeDocument/2006/relationships/notesSlide" Target="../notesSlides/notesSlide155.xml"/><Relationship Id="rId1" Type="http://schemas.openxmlformats.org/officeDocument/2006/relationships/slideLayout" Target="../slideLayouts/slideLayout1.xml"/></Relationships>
</file>

<file path=ppt/slides/_rels/slide156.xml.rels><?xml version="1.0" encoding="UTF-8" standalone="yes"?>
<Relationships xmlns="http://schemas.openxmlformats.org/package/2006/relationships"><Relationship Id="rId3" Type="http://schemas.openxmlformats.org/officeDocument/2006/relationships/image" Target="../media/image110.jpg"/><Relationship Id="rId2" Type="http://schemas.openxmlformats.org/officeDocument/2006/relationships/notesSlide" Target="../notesSlides/notesSlide156.xml"/><Relationship Id="rId1" Type="http://schemas.openxmlformats.org/officeDocument/2006/relationships/slideLayout" Target="../slideLayouts/slideLayout1.xml"/></Relationships>
</file>

<file path=ppt/slides/_rels/slide157.xml.rels><?xml version="1.0" encoding="UTF-8" standalone="yes"?>
<Relationships xmlns="http://schemas.openxmlformats.org/package/2006/relationships"><Relationship Id="rId3" Type="http://schemas.openxmlformats.org/officeDocument/2006/relationships/image" Target="../media/image111.jpg"/><Relationship Id="rId2" Type="http://schemas.openxmlformats.org/officeDocument/2006/relationships/notesSlide" Target="../notesSlides/notesSlide157.xml"/><Relationship Id="rId1" Type="http://schemas.openxmlformats.org/officeDocument/2006/relationships/slideLayout" Target="../slideLayouts/slideLayout1.xml"/></Relationships>
</file>

<file path=ppt/slides/_rels/slide158.xml.rels><?xml version="1.0" encoding="UTF-8" standalone="yes"?>
<Relationships xmlns="http://schemas.openxmlformats.org/package/2006/relationships"><Relationship Id="rId3" Type="http://schemas.openxmlformats.org/officeDocument/2006/relationships/image" Target="../media/image112.jpg"/><Relationship Id="rId2" Type="http://schemas.openxmlformats.org/officeDocument/2006/relationships/notesSlide" Target="../notesSlides/notesSlide158.xml"/><Relationship Id="rId1" Type="http://schemas.openxmlformats.org/officeDocument/2006/relationships/slideLayout" Target="../slideLayouts/slideLayout1.xml"/></Relationships>
</file>

<file path=ppt/slides/_rels/slide159.xml.rels><?xml version="1.0" encoding="UTF-8" standalone="yes"?>
<Relationships xmlns="http://schemas.openxmlformats.org/package/2006/relationships"><Relationship Id="rId3" Type="http://schemas.openxmlformats.org/officeDocument/2006/relationships/image" Target="../media/image113.jpg"/><Relationship Id="rId2" Type="http://schemas.openxmlformats.org/officeDocument/2006/relationships/notesSlide" Target="../notesSlides/notesSlide159.xml"/><Relationship Id="rId1" Type="http://schemas.openxmlformats.org/officeDocument/2006/relationships/slideLayout" Target="../slideLayouts/slideLayout1.xml"/></Relationships>
</file>

<file path=ppt/slides/_rels/slide160.xml.rels><?xml version="1.0" encoding="UTF-8" standalone="yes"?>
<Relationships xmlns="http://schemas.openxmlformats.org/package/2006/relationships"><Relationship Id="rId3" Type="http://schemas.openxmlformats.org/officeDocument/2006/relationships/image" Target="../media/image114.jpg"/><Relationship Id="rId2" Type="http://schemas.openxmlformats.org/officeDocument/2006/relationships/notesSlide" Target="../notesSlides/notesSlide160.xml"/><Relationship Id="rId1" Type="http://schemas.openxmlformats.org/officeDocument/2006/relationships/slideLayout" Target="../slideLayouts/slideLayout1.xml"/></Relationships>
</file>

<file path=ppt/slides/_rels/slide161.xml.rels><?xml version="1.0" encoding="UTF-8" standalone="yes"?>
<Relationships xmlns="http://schemas.openxmlformats.org/package/2006/relationships"><Relationship Id="rId3" Type="http://schemas.openxmlformats.org/officeDocument/2006/relationships/image" Target="../media/image115.jpg"/><Relationship Id="rId2" Type="http://schemas.openxmlformats.org/officeDocument/2006/relationships/notesSlide" Target="../notesSlides/notesSlide161.xml"/><Relationship Id="rId1" Type="http://schemas.openxmlformats.org/officeDocument/2006/relationships/slideLayout" Target="../slideLayouts/slideLayout1.xml"/></Relationships>
</file>

<file path=ppt/slides/_rels/slide162.xml.rels><?xml version="1.0" encoding="UTF-8" standalone="yes"?>
<Relationships xmlns="http://schemas.openxmlformats.org/package/2006/relationships"><Relationship Id="rId2" Type="http://schemas.openxmlformats.org/officeDocument/2006/relationships/notesSlide" Target="../notesSlides/notesSlide162.xml"/><Relationship Id="rId1" Type="http://schemas.openxmlformats.org/officeDocument/2006/relationships/slideLayout" Target="../slideLayouts/slideLayout1.xml"/></Relationships>
</file>

<file path=ppt/slides/_rels/slide163.xml.rels><?xml version="1.0" encoding="UTF-8" standalone="yes"?>
<Relationships xmlns="http://schemas.openxmlformats.org/package/2006/relationships"><Relationship Id="rId3" Type="http://schemas.openxmlformats.org/officeDocument/2006/relationships/image" Target="../media/image116.jpg"/><Relationship Id="rId2" Type="http://schemas.openxmlformats.org/officeDocument/2006/relationships/notesSlide" Target="../notesSlides/notesSlide163.xml"/><Relationship Id="rId1" Type="http://schemas.openxmlformats.org/officeDocument/2006/relationships/slideLayout" Target="../slideLayouts/slideLayout1.xml"/></Relationships>
</file>

<file path=ppt/slides/_rels/slide164.xml.rels><?xml version="1.0" encoding="UTF-8" standalone="yes"?>
<Relationships xmlns="http://schemas.openxmlformats.org/package/2006/relationships"><Relationship Id="rId3" Type="http://schemas.openxmlformats.org/officeDocument/2006/relationships/image" Target="../media/image117.jpg"/><Relationship Id="rId2" Type="http://schemas.openxmlformats.org/officeDocument/2006/relationships/notesSlide" Target="../notesSlides/notesSlide164.xml"/><Relationship Id="rId1" Type="http://schemas.openxmlformats.org/officeDocument/2006/relationships/slideLayout" Target="../slideLayouts/slideLayout1.xml"/></Relationships>
</file>

<file path=ppt/slides/_rels/slide165.xml.rels><?xml version="1.0" encoding="UTF-8" standalone="yes"?>
<Relationships xmlns="http://schemas.openxmlformats.org/package/2006/relationships"><Relationship Id="rId3" Type="http://schemas.openxmlformats.org/officeDocument/2006/relationships/image" Target="../media/image118.jpg"/><Relationship Id="rId2" Type="http://schemas.openxmlformats.org/officeDocument/2006/relationships/notesSlide" Target="../notesSlides/notesSlide165.xml"/><Relationship Id="rId1" Type="http://schemas.openxmlformats.org/officeDocument/2006/relationships/slideLayout" Target="../slideLayouts/slideLayout1.xml"/></Relationships>
</file>

<file path=ppt/slides/_rels/slide166.xml.rels><?xml version="1.0" encoding="UTF-8" standalone="yes"?>
<Relationships xmlns="http://schemas.openxmlformats.org/package/2006/relationships"><Relationship Id="rId3" Type="http://schemas.openxmlformats.org/officeDocument/2006/relationships/image" Target="../media/image119.jpg"/><Relationship Id="rId2" Type="http://schemas.openxmlformats.org/officeDocument/2006/relationships/notesSlide" Target="../notesSlides/notesSlide166.xml"/><Relationship Id="rId1" Type="http://schemas.openxmlformats.org/officeDocument/2006/relationships/slideLayout" Target="../slideLayouts/slideLayout1.xml"/></Relationships>
</file>

<file path=ppt/slides/_rels/slide167.xml.rels><?xml version="1.0" encoding="UTF-8" standalone="yes"?>
<Relationships xmlns="http://schemas.openxmlformats.org/package/2006/relationships"><Relationship Id="rId3" Type="http://schemas.openxmlformats.org/officeDocument/2006/relationships/image" Target="../media/image120.jpg"/><Relationship Id="rId2" Type="http://schemas.openxmlformats.org/officeDocument/2006/relationships/notesSlide" Target="../notesSlides/notesSlide167.xml"/><Relationship Id="rId1" Type="http://schemas.openxmlformats.org/officeDocument/2006/relationships/slideLayout" Target="../slideLayouts/slideLayout1.xml"/></Relationships>
</file>

<file path=ppt/slides/_rels/slide168.xml.rels><?xml version="1.0" encoding="UTF-8" standalone="yes"?>
<Relationships xmlns="http://schemas.openxmlformats.org/package/2006/relationships"><Relationship Id="rId3" Type="http://schemas.openxmlformats.org/officeDocument/2006/relationships/image" Target="../media/image121.jpg"/><Relationship Id="rId2" Type="http://schemas.openxmlformats.org/officeDocument/2006/relationships/notesSlide" Target="../notesSlides/notesSlide168.xml"/><Relationship Id="rId1" Type="http://schemas.openxmlformats.org/officeDocument/2006/relationships/slideLayout" Target="../slideLayouts/slideLayout1.xml"/></Relationships>
</file>

<file path=ppt/slides/_rels/slide169.xml.rels><?xml version="1.0" encoding="UTF-8" standalone="yes"?>
<Relationships xmlns="http://schemas.openxmlformats.org/package/2006/relationships"><Relationship Id="rId3" Type="http://schemas.openxmlformats.org/officeDocument/2006/relationships/image" Target="../media/image122.jpg"/><Relationship Id="rId2" Type="http://schemas.openxmlformats.org/officeDocument/2006/relationships/notesSlide" Target="../notesSlides/notesSlide169.xml"/><Relationship Id="rId1" Type="http://schemas.openxmlformats.org/officeDocument/2006/relationships/slideLayout" Target="../slideLayouts/slideLayout1.xml"/></Relationships>
</file>

<file path=ppt/slides/_rels/slide170.xml.rels><?xml version="1.0" encoding="UTF-8" standalone="yes"?>
<Relationships xmlns="http://schemas.openxmlformats.org/package/2006/relationships"><Relationship Id="rId3" Type="http://schemas.openxmlformats.org/officeDocument/2006/relationships/image" Target="../media/image123.jpg"/><Relationship Id="rId2" Type="http://schemas.openxmlformats.org/officeDocument/2006/relationships/notesSlide" Target="../notesSlides/notesSlide170.xml"/><Relationship Id="rId1" Type="http://schemas.openxmlformats.org/officeDocument/2006/relationships/slideLayout" Target="../slideLayouts/slideLayout1.xml"/></Relationships>
</file>

<file path=ppt/slides/_rels/slide171.xml.rels><?xml version="1.0" encoding="UTF-8" standalone="yes"?>
<Relationships xmlns="http://schemas.openxmlformats.org/package/2006/relationships"><Relationship Id="rId3" Type="http://schemas.openxmlformats.org/officeDocument/2006/relationships/image" Target="../media/image124.jpg"/><Relationship Id="rId2" Type="http://schemas.openxmlformats.org/officeDocument/2006/relationships/notesSlide" Target="../notesSlides/notesSlide171.xml"/><Relationship Id="rId1" Type="http://schemas.openxmlformats.org/officeDocument/2006/relationships/slideLayout" Target="../slideLayouts/slideLayout1.xml"/></Relationships>
</file>

<file path=ppt/slides/_rels/slide172.xml.rels><?xml version="1.0" encoding="UTF-8" standalone="yes"?>
<Relationships xmlns="http://schemas.openxmlformats.org/package/2006/relationships"><Relationship Id="rId3" Type="http://schemas.openxmlformats.org/officeDocument/2006/relationships/image" Target="../media/image125.jpg"/><Relationship Id="rId2" Type="http://schemas.openxmlformats.org/officeDocument/2006/relationships/notesSlide" Target="../notesSlides/notesSlide172.xml"/><Relationship Id="rId1" Type="http://schemas.openxmlformats.org/officeDocument/2006/relationships/slideLayout" Target="../slideLayouts/slideLayout1.xml"/></Relationships>
</file>

<file path=ppt/slides/_rels/slide173.xml.rels><?xml version="1.0" encoding="UTF-8" standalone="yes"?>
<Relationships xmlns="http://schemas.openxmlformats.org/package/2006/relationships"><Relationship Id="rId3" Type="http://schemas.openxmlformats.org/officeDocument/2006/relationships/image" Target="../media/image126.jpg"/><Relationship Id="rId2" Type="http://schemas.openxmlformats.org/officeDocument/2006/relationships/notesSlide" Target="../notesSlides/notesSlide173.xml"/><Relationship Id="rId1" Type="http://schemas.openxmlformats.org/officeDocument/2006/relationships/slideLayout" Target="../slideLayouts/slideLayout1.xml"/></Relationships>
</file>

<file path=ppt/slides/_rels/slide174.xml.rels><?xml version="1.0" encoding="UTF-8" standalone="yes"?>
<Relationships xmlns="http://schemas.openxmlformats.org/package/2006/relationships"><Relationship Id="rId3" Type="http://schemas.openxmlformats.org/officeDocument/2006/relationships/image" Target="../media/image127.jpg"/><Relationship Id="rId2" Type="http://schemas.openxmlformats.org/officeDocument/2006/relationships/notesSlide" Target="../notesSlides/notesSlide174.xml"/><Relationship Id="rId1" Type="http://schemas.openxmlformats.org/officeDocument/2006/relationships/slideLayout" Target="../slideLayouts/slideLayout1.xml"/></Relationships>
</file>

<file path=ppt/slides/_rels/slide175.xml.rels><?xml version="1.0" encoding="UTF-8" standalone="yes"?>
<Relationships xmlns="http://schemas.openxmlformats.org/package/2006/relationships"><Relationship Id="rId2" Type="http://schemas.openxmlformats.org/officeDocument/2006/relationships/notesSlide" Target="../notesSlides/notesSlide175.xml"/><Relationship Id="rId1" Type="http://schemas.openxmlformats.org/officeDocument/2006/relationships/slideLayout" Target="../slideLayouts/slideLayout1.xml"/></Relationships>
</file>

<file path=ppt/slides/_rels/slide176.xml.rels><?xml version="1.0" encoding="UTF-8" standalone="yes"?>
<Relationships xmlns="http://schemas.openxmlformats.org/package/2006/relationships"><Relationship Id="rId3" Type="http://schemas.openxmlformats.org/officeDocument/2006/relationships/image" Target="../media/image128.jpg"/><Relationship Id="rId2" Type="http://schemas.openxmlformats.org/officeDocument/2006/relationships/notesSlide" Target="../notesSlides/notesSlide176.xml"/><Relationship Id="rId1" Type="http://schemas.openxmlformats.org/officeDocument/2006/relationships/slideLayout" Target="../slideLayouts/slideLayout1.xml"/></Relationships>
</file>

<file path=ppt/slides/_rels/slide177.xml.rels><?xml version="1.0" encoding="UTF-8" standalone="yes"?>
<Relationships xmlns="http://schemas.openxmlformats.org/package/2006/relationships"><Relationship Id="rId3" Type="http://schemas.openxmlformats.org/officeDocument/2006/relationships/image" Target="../media/image129.jpg"/><Relationship Id="rId2" Type="http://schemas.openxmlformats.org/officeDocument/2006/relationships/notesSlide" Target="../notesSlides/notesSlide177.xml"/><Relationship Id="rId1" Type="http://schemas.openxmlformats.org/officeDocument/2006/relationships/slideLayout" Target="../slideLayouts/slideLayout1.xml"/></Relationships>
</file>

<file path=ppt/slides/_rels/slide178.xml.rels><?xml version="1.0" encoding="UTF-8" standalone="yes"?>
<Relationships xmlns="http://schemas.openxmlformats.org/package/2006/relationships"><Relationship Id="rId3" Type="http://schemas.openxmlformats.org/officeDocument/2006/relationships/image" Target="../media/image129.jpg"/><Relationship Id="rId2" Type="http://schemas.openxmlformats.org/officeDocument/2006/relationships/notesSlide" Target="../notesSlides/notesSlide178.xml"/><Relationship Id="rId1" Type="http://schemas.openxmlformats.org/officeDocument/2006/relationships/slideLayout" Target="../slideLayouts/slideLayout1.xml"/></Relationships>
</file>

<file path=ppt/slides/_rels/slide179.xml.rels><?xml version="1.0" encoding="UTF-8" standalone="yes"?>
<Relationships xmlns="http://schemas.openxmlformats.org/package/2006/relationships"><Relationship Id="rId3" Type="http://schemas.openxmlformats.org/officeDocument/2006/relationships/image" Target="../media/image130.jpg"/><Relationship Id="rId2" Type="http://schemas.openxmlformats.org/officeDocument/2006/relationships/notesSlide" Target="../notesSlides/notesSlide179.xml"/><Relationship Id="rId1" Type="http://schemas.openxmlformats.org/officeDocument/2006/relationships/slideLayout" Target="../slideLayouts/slideLayout1.xml"/></Relationships>
</file>

<file path=ppt/slides/_rels/slide180.xml.rels><?xml version="1.0" encoding="UTF-8" standalone="yes"?>
<Relationships xmlns="http://schemas.openxmlformats.org/package/2006/relationships"><Relationship Id="rId3" Type="http://schemas.openxmlformats.org/officeDocument/2006/relationships/image" Target="../media/image131.jpg"/><Relationship Id="rId2" Type="http://schemas.openxmlformats.org/officeDocument/2006/relationships/notesSlide" Target="../notesSlides/notesSlide180.xml"/><Relationship Id="rId1" Type="http://schemas.openxmlformats.org/officeDocument/2006/relationships/slideLayout" Target="../slideLayouts/slideLayout1.xml"/></Relationships>
</file>

<file path=ppt/slides/_rels/slide181.xml.rels><?xml version="1.0" encoding="UTF-8" standalone="yes"?>
<Relationships xmlns="http://schemas.openxmlformats.org/package/2006/relationships"><Relationship Id="rId3" Type="http://schemas.openxmlformats.org/officeDocument/2006/relationships/image" Target="../media/image132.jpg"/><Relationship Id="rId2" Type="http://schemas.openxmlformats.org/officeDocument/2006/relationships/notesSlide" Target="../notesSlides/notesSlide181.xml"/><Relationship Id="rId1" Type="http://schemas.openxmlformats.org/officeDocument/2006/relationships/slideLayout" Target="../slideLayouts/slideLayout1.xml"/></Relationships>
</file>

<file path=ppt/slides/_rels/slide182.xml.rels><?xml version="1.0" encoding="UTF-8" standalone="yes"?>
<Relationships xmlns="http://schemas.openxmlformats.org/package/2006/relationships"><Relationship Id="rId3" Type="http://schemas.openxmlformats.org/officeDocument/2006/relationships/image" Target="../media/image133.jpg"/><Relationship Id="rId2" Type="http://schemas.openxmlformats.org/officeDocument/2006/relationships/notesSlide" Target="../notesSlides/notesSlide182.xml"/><Relationship Id="rId1" Type="http://schemas.openxmlformats.org/officeDocument/2006/relationships/slideLayout" Target="../slideLayouts/slideLayout1.xml"/></Relationships>
</file>

<file path=ppt/slides/_rels/slide183.xml.rels><?xml version="1.0" encoding="UTF-8" standalone="yes"?>
<Relationships xmlns="http://schemas.openxmlformats.org/package/2006/relationships"><Relationship Id="rId2" Type="http://schemas.openxmlformats.org/officeDocument/2006/relationships/notesSlide" Target="../notesSlides/notesSlide183.xml"/><Relationship Id="rId1" Type="http://schemas.openxmlformats.org/officeDocument/2006/relationships/slideLayout" Target="../slideLayouts/slideLayout1.xml"/></Relationships>
</file>

<file path=ppt/slides/_rels/slide184.xml.rels><?xml version="1.0" encoding="UTF-8" standalone="yes"?>
<Relationships xmlns="http://schemas.openxmlformats.org/package/2006/relationships"><Relationship Id="rId3" Type="http://schemas.openxmlformats.org/officeDocument/2006/relationships/image" Target="../media/image134.jpg"/><Relationship Id="rId2" Type="http://schemas.openxmlformats.org/officeDocument/2006/relationships/notesSlide" Target="../notesSlides/notesSlide184.xml"/><Relationship Id="rId1" Type="http://schemas.openxmlformats.org/officeDocument/2006/relationships/slideLayout" Target="../slideLayouts/slideLayout1.xml"/></Relationships>
</file>

<file path=ppt/slides/_rels/slide185.xml.rels><?xml version="1.0" encoding="UTF-8" standalone="yes"?>
<Relationships xmlns="http://schemas.openxmlformats.org/package/2006/relationships"><Relationship Id="rId3" Type="http://schemas.openxmlformats.org/officeDocument/2006/relationships/image" Target="../media/image135.jpg"/><Relationship Id="rId2" Type="http://schemas.openxmlformats.org/officeDocument/2006/relationships/notesSlide" Target="../notesSlides/notesSlide185.xml"/><Relationship Id="rId1" Type="http://schemas.openxmlformats.org/officeDocument/2006/relationships/slideLayout" Target="../slideLayouts/slideLayout1.xml"/></Relationships>
</file>

<file path=ppt/slides/_rels/slide186.xml.rels><?xml version="1.0" encoding="UTF-8" standalone="yes"?>
<Relationships xmlns="http://schemas.openxmlformats.org/package/2006/relationships"><Relationship Id="rId3" Type="http://schemas.openxmlformats.org/officeDocument/2006/relationships/image" Target="../media/image136.jpg"/><Relationship Id="rId2" Type="http://schemas.openxmlformats.org/officeDocument/2006/relationships/notesSlide" Target="../notesSlides/notesSlide186.xml"/><Relationship Id="rId1" Type="http://schemas.openxmlformats.org/officeDocument/2006/relationships/slideLayout" Target="../slideLayouts/slideLayout1.xml"/></Relationships>
</file>

<file path=ppt/slides/_rels/slide187.xml.rels><?xml version="1.0" encoding="UTF-8" standalone="yes"?>
<Relationships xmlns="http://schemas.openxmlformats.org/package/2006/relationships"><Relationship Id="rId2" Type="http://schemas.openxmlformats.org/officeDocument/2006/relationships/notesSlide" Target="../notesSlides/notesSlide187.xml"/><Relationship Id="rId1" Type="http://schemas.openxmlformats.org/officeDocument/2006/relationships/slideLayout" Target="../slideLayouts/slideLayout1.xml"/></Relationships>
</file>

<file path=ppt/slides/_rels/slide188.xml.rels><?xml version="1.0" encoding="UTF-8" standalone="yes"?>
<Relationships xmlns="http://schemas.openxmlformats.org/package/2006/relationships"><Relationship Id="rId2" Type="http://schemas.openxmlformats.org/officeDocument/2006/relationships/notesSlide" Target="../notesSlides/notesSlide188.xml"/><Relationship Id="rId1" Type="http://schemas.openxmlformats.org/officeDocument/2006/relationships/slideLayout" Target="../slideLayouts/slideLayout1.xml"/></Relationships>
</file>

<file path=ppt/slides/_rels/slide189.xml.rels><?xml version="1.0" encoding="UTF-8" standalone="yes"?>
<Relationships xmlns="http://schemas.openxmlformats.org/package/2006/relationships"><Relationship Id="rId2" Type="http://schemas.openxmlformats.org/officeDocument/2006/relationships/notesSlide" Target="../notesSlides/notesSlide189.xml"/><Relationship Id="rId1" Type="http://schemas.openxmlformats.org/officeDocument/2006/relationships/slideLayout" Target="../slideLayouts/slideLayout1.xml"/></Relationships>
</file>

<file path=ppt/slides/_rels/slide190.xml.rels><?xml version="1.0" encoding="UTF-8" standalone="yes"?>
<Relationships xmlns="http://schemas.openxmlformats.org/package/2006/relationships"><Relationship Id="rId2" Type="http://schemas.openxmlformats.org/officeDocument/2006/relationships/notesSlide" Target="../notesSlides/notesSlide190.xml"/><Relationship Id="rId1" Type="http://schemas.openxmlformats.org/officeDocument/2006/relationships/slideLayout" Target="../slideLayouts/slideLayout1.xml"/></Relationships>
</file>

<file path=ppt/slides/_rels/slide191.xml.rels><?xml version="1.0" encoding="UTF-8" standalone="yes"?>
<Relationships xmlns="http://schemas.openxmlformats.org/package/2006/relationships"><Relationship Id="rId3" Type="http://schemas.openxmlformats.org/officeDocument/2006/relationships/image" Target="../media/image137.jpg"/><Relationship Id="rId2" Type="http://schemas.openxmlformats.org/officeDocument/2006/relationships/notesSlide" Target="../notesSlides/notesSlide191.xml"/><Relationship Id="rId1" Type="http://schemas.openxmlformats.org/officeDocument/2006/relationships/slideLayout" Target="../slideLayouts/slideLayout1.xml"/></Relationships>
</file>

<file path=ppt/slides/_rels/slide192.xml.rels><?xml version="1.0" encoding="UTF-8" standalone="yes"?>
<Relationships xmlns="http://schemas.openxmlformats.org/package/2006/relationships"><Relationship Id="rId3" Type="http://schemas.openxmlformats.org/officeDocument/2006/relationships/image" Target="../media/image138.jpg"/><Relationship Id="rId2" Type="http://schemas.openxmlformats.org/officeDocument/2006/relationships/notesSlide" Target="../notesSlides/notesSlide192.xml"/><Relationship Id="rId1" Type="http://schemas.openxmlformats.org/officeDocument/2006/relationships/slideLayout" Target="../slideLayouts/slideLayout1.xml"/></Relationships>
</file>

<file path=ppt/slides/_rels/slide193.xml.rels><?xml version="1.0" encoding="UTF-8" standalone="yes"?>
<Relationships xmlns="http://schemas.openxmlformats.org/package/2006/relationships"><Relationship Id="rId3" Type="http://schemas.openxmlformats.org/officeDocument/2006/relationships/image" Target="../media/image139.jpg"/><Relationship Id="rId2" Type="http://schemas.openxmlformats.org/officeDocument/2006/relationships/notesSlide" Target="../notesSlides/notesSlide193.xml"/><Relationship Id="rId1" Type="http://schemas.openxmlformats.org/officeDocument/2006/relationships/slideLayout" Target="../slideLayouts/slideLayout1.xml"/></Relationships>
</file>

<file path=ppt/slides/_rels/slide194.xml.rels><?xml version="1.0" encoding="UTF-8" standalone="yes"?>
<Relationships xmlns="http://schemas.openxmlformats.org/package/2006/relationships"><Relationship Id="rId2" Type="http://schemas.openxmlformats.org/officeDocument/2006/relationships/notesSlide" Target="../notesSlides/notesSlide194.xml"/><Relationship Id="rId1" Type="http://schemas.openxmlformats.org/officeDocument/2006/relationships/slideLayout" Target="../slideLayouts/slideLayout1.xml"/></Relationships>
</file>

<file path=ppt/slides/_rels/slide195.xml.rels><?xml version="1.0" encoding="UTF-8" standalone="yes"?>
<Relationships xmlns="http://schemas.openxmlformats.org/package/2006/relationships"><Relationship Id="rId3" Type="http://schemas.openxmlformats.org/officeDocument/2006/relationships/image" Target="../media/image140.jpg"/><Relationship Id="rId2" Type="http://schemas.openxmlformats.org/officeDocument/2006/relationships/notesSlide" Target="../notesSlides/notesSlide195.xml"/><Relationship Id="rId1" Type="http://schemas.openxmlformats.org/officeDocument/2006/relationships/slideLayout" Target="../slideLayouts/slideLayout1.xml"/></Relationships>
</file>

<file path=ppt/slides/_rels/slide196.xml.rels><?xml version="1.0" encoding="UTF-8" standalone="yes"?>
<Relationships xmlns="http://schemas.openxmlformats.org/package/2006/relationships"><Relationship Id="rId3" Type="http://schemas.openxmlformats.org/officeDocument/2006/relationships/image" Target="../media/image141.jpg"/><Relationship Id="rId2" Type="http://schemas.openxmlformats.org/officeDocument/2006/relationships/notesSlide" Target="../notesSlides/notesSlide196.xml"/><Relationship Id="rId1" Type="http://schemas.openxmlformats.org/officeDocument/2006/relationships/slideLayout" Target="../slideLayouts/slideLayout1.xml"/></Relationships>
</file>

<file path=ppt/slides/_rels/slide197.xml.rels><?xml version="1.0" encoding="UTF-8" standalone="yes"?>
<Relationships xmlns="http://schemas.openxmlformats.org/package/2006/relationships"><Relationship Id="rId3" Type="http://schemas.openxmlformats.org/officeDocument/2006/relationships/image" Target="../media/image142.jpg"/><Relationship Id="rId2" Type="http://schemas.openxmlformats.org/officeDocument/2006/relationships/notesSlide" Target="../notesSlides/notesSlide197.xml"/><Relationship Id="rId1" Type="http://schemas.openxmlformats.org/officeDocument/2006/relationships/slideLayout" Target="../slideLayouts/slideLayout1.xml"/></Relationships>
</file>

<file path=ppt/slides/_rels/slide198.xml.rels><?xml version="1.0" encoding="UTF-8" standalone="yes"?>
<Relationships xmlns="http://schemas.openxmlformats.org/package/2006/relationships"><Relationship Id="rId3" Type="http://schemas.openxmlformats.org/officeDocument/2006/relationships/image" Target="../media/image143.jpg"/><Relationship Id="rId2" Type="http://schemas.openxmlformats.org/officeDocument/2006/relationships/notesSlide" Target="../notesSlides/notesSlide198.xml"/><Relationship Id="rId1" Type="http://schemas.openxmlformats.org/officeDocument/2006/relationships/slideLayout" Target="../slideLayouts/slideLayout1.xml"/></Relationships>
</file>

<file path=ppt/slides/_rels/slide199.xml.rels><?xml version="1.0" encoding="UTF-8" standalone="yes"?>
<Relationships xmlns="http://schemas.openxmlformats.org/package/2006/relationships"><Relationship Id="rId2" Type="http://schemas.openxmlformats.org/officeDocument/2006/relationships/notesSlide" Target="../notesSlides/notesSlide199.xml"/><Relationship Id="rId1" Type="http://schemas.openxmlformats.org/officeDocument/2006/relationships/slideLayout" Target="../slideLayouts/slideLayout1.xml"/></Relationships>
</file>

<file path=ppt/slides/_rels/slide200.xml.rels><?xml version="1.0" encoding="UTF-8" standalone="yes"?>
<Relationships xmlns="http://schemas.openxmlformats.org/package/2006/relationships"><Relationship Id="rId3" Type="http://schemas.openxmlformats.org/officeDocument/2006/relationships/image" Target="../media/image144.jpg"/><Relationship Id="rId2" Type="http://schemas.openxmlformats.org/officeDocument/2006/relationships/notesSlide" Target="../notesSlides/notesSlide200.xml"/><Relationship Id="rId1" Type="http://schemas.openxmlformats.org/officeDocument/2006/relationships/slideLayout" Target="../slideLayouts/slideLayout1.xml"/></Relationships>
</file>

<file path=ppt/slides/_rels/slide201.xml.rels><?xml version="1.0" encoding="UTF-8" standalone="yes"?>
<Relationships xmlns="http://schemas.openxmlformats.org/package/2006/relationships"><Relationship Id="rId3" Type="http://schemas.openxmlformats.org/officeDocument/2006/relationships/image" Target="../media/image145.jpg"/><Relationship Id="rId2" Type="http://schemas.openxmlformats.org/officeDocument/2006/relationships/notesSlide" Target="../notesSlides/notesSlide201.xml"/><Relationship Id="rId1" Type="http://schemas.openxmlformats.org/officeDocument/2006/relationships/slideLayout" Target="../slideLayouts/slideLayout1.xml"/></Relationships>
</file>

<file path=ppt/slides/_rels/slide202.xml.rels><?xml version="1.0" encoding="UTF-8" standalone="yes"?>
<Relationships xmlns="http://schemas.openxmlformats.org/package/2006/relationships"><Relationship Id="rId3" Type="http://schemas.openxmlformats.org/officeDocument/2006/relationships/image" Target="../media/image146.jpg"/><Relationship Id="rId2" Type="http://schemas.openxmlformats.org/officeDocument/2006/relationships/notesSlide" Target="../notesSlides/notesSlide202.xml"/><Relationship Id="rId1" Type="http://schemas.openxmlformats.org/officeDocument/2006/relationships/slideLayout" Target="../slideLayouts/slideLayout1.xml"/></Relationships>
</file>

<file path=ppt/slides/_rels/slide203.xml.rels><?xml version="1.0" encoding="UTF-8" standalone="yes"?>
<Relationships xmlns="http://schemas.openxmlformats.org/package/2006/relationships"><Relationship Id="rId3" Type="http://schemas.openxmlformats.org/officeDocument/2006/relationships/image" Target="../media/image147.jpg"/><Relationship Id="rId2" Type="http://schemas.openxmlformats.org/officeDocument/2006/relationships/notesSlide" Target="../notesSlides/notesSlide203.xml"/><Relationship Id="rId1" Type="http://schemas.openxmlformats.org/officeDocument/2006/relationships/slideLayout" Target="../slideLayouts/slideLayout1.xml"/></Relationships>
</file>

<file path=ppt/slides/_rels/slide204.xml.rels><?xml version="1.0" encoding="UTF-8" standalone="yes"?>
<Relationships xmlns="http://schemas.openxmlformats.org/package/2006/relationships"><Relationship Id="rId3" Type="http://schemas.openxmlformats.org/officeDocument/2006/relationships/image" Target="../media/image148.jpg"/><Relationship Id="rId2" Type="http://schemas.openxmlformats.org/officeDocument/2006/relationships/notesSlide" Target="../notesSlides/notesSlide204.xml"/><Relationship Id="rId1" Type="http://schemas.openxmlformats.org/officeDocument/2006/relationships/slideLayout" Target="../slideLayouts/slideLayout1.xml"/></Relationships>
</file>

<file path=ppt/slides/_rels/slide205.xml.rels><?xml version="1.0" encoding="UTF-8" standalone="yes"?>
<Relationships xmlns="http://schemas.openxmlformats.org/package/2006/relationships"><Relationship Id="rId3" Type="http://schemas.openxmlformats.org/officeDocument/2006/relationships/image" Target="../media/image149.jpg"/><Relationship Id="rId2" Type="http://schemas.openxmlformats.org/officeDocument/2006/relationships/notesSlide" Target="../notesSlides/notesSlide205.xml"/><Relationship Id="rId1" Type="http://schemas.openxmlformats.org/officeDocument/2006/relationships/slideLayout" Target="../slideLayouts/slideLayout1.xml"/></Relationships>
</file>

<file path=ppt/slides/_rels/slide206.xml.rels><?xml version="1.0" encoding="UTF-8" standalone="yes"?>
<Relationships xmlns="http://schemas.openxmlformats.org/package/2006/relationships"><Relationship Id="rId2" Type="http://schemas.openxmlformats.org/officeDocument/2006/relationships/notesSlide" Target="../notesSlides/notesSlide206.xml"/><Relationship Id="rId1" Type="http://schemas.openxmlformats.org/officeDocument/2006/relationships/slideLayout" Target="../slideLayouts/slideLayout1.xml"/></Relationships>
</file>

<file path=ppt/slides/_rels/slide207.xml.rels><?xml version="1.0" encoding="UTF-8" standalone="yes"?>
<Relationships xmlns="http://schemas.openxmlformats.org/package/2006/relationships"><Relationship Id="rId3" Type="http://schemas.openxmlformats.org/officeDocument/2006/relationships/image" Target="../media/image150.jpg"/><Relationship Id="rId2" Type="http://schemas.openxmlformats.org/officeDocument/2006/relationships/notesSlide" Target="../notesSlides/notesSlide207.xml"/><Relationship Id="rId1" Type="http://schemas.openxmlformats.org/officeDocument/2006/relationships/slideLayout" Target="../slideLayouts/slideLayout1.xml"/></Relationships>
</file>

<file path=ppt/slides/_rels/slide208.xml.rels><?xml version="1.0" encoding="UTF-8" standalone="yes"?>
<Relationships xmlns="http://schemas.openxmlformats.org/package/2006/relationships"><Relationship Id="rId3" Type="http://schemas.openxmlformats.org/officeDocument/2006/relationships/image" Target="../media/image151.jpg"/><Relationship Id="rId2" Type="http://schemas.openxmlformats.org/officeDocument/2006/relationships/notesSlide" Target="../notesSlides/notesSlide208.xml"/><Relationship Id="rId1" Type="http://schemas.openxmlformats.org/officeDocument/2006/relationships/slideLayout" Target="../slideLayouts/slideLayout1.xml"/></Relationships>
</file>

<file path=ppt/slides/_rels/slide209.xml.rels><?xml version="1.0" encoding="UTF-8" standalone="yes"?>
<Relationships xmlns="http://schemas.openxmlformats.org/package/2006/relationships"><Relationship Id="rId3" Type="http://schemas.openxmlformats.org/officeDocument/2006/relationships/image" Target="../media/image152.jpg"/><Relationship Id="rId2" Type="http://schemas.openxmlformats.org/officeDocument/2006/relationships/notesSlide" Target="../notesSlides/notesSlide209.xml"/><Relationship Id="rId1" Type="http://schemas.openxmlformats.org/officeDocument/2006/relationships/slideLayout" Target="../slideLayouts/slideLayout1.xml"/></Relationships>
</file>

<file path=ppt/slides/_rels/slide210.xml.rels><?xml version="1.0" encoding="UTF-8" standalone="yes"?>
<Relationships xmlns="http://schemas.openxmlformats.org/package/2006/relationships"><Relationship Id="rId3" Type="http://schemas.openxmlformats.org/officeDocument/2006/relationships/image" Target="../media/image153.jpg"/><Relationship Id="rId2" Type="http://schemas.openxmlformats.org/officeDocument/2006/relationships/notesSlide" Target="../notesSlides/notesSlide210.xml"/><Relationship Id="rId1" Type="http://schemas.openxmlformats.org/officeDocument/2006/relationships/slideLayout" Target="../slideLayouts/slideLayout1.xml"/></Relationships>
</file>

<file path=ppt/slides/_rels/slide211.xml.rels><?xml version="1.0" encoding="UTF-8" standalone="yes"?>
<Relationships xmlns="http://schemas.openxmlformats.org/package/2006/relationships"><Relationship Id="rId3" Type="http://schemas.openxmlformats.org/officeDocument/2006/relationships/image" Target="../media/image104.jpg"/><Relationship Id="rId2" Type="http://schemas.openxmlformats.org/officeDocument/2006/relationships/notesSlide" Target="../notesSlides/notesSlide211.xml"/><Relationship Id="rId1" Type="http://schemas.openxmlformats.org/officeDocument/2006/relationships/slideLayout" Target="../slideLayouts/slideLayout1.xml"/></Relationships>
</file>

<file path=ppt/slides/_rels/slide212.xml.rels><?xml version="1.0" encoding="UTF-8" standalone="yes"?>
<Relationships xmlns="http://schemas.openxmlformats.org/package/2006/relationships"><Relationship Id="rId2" Type="http://schemas.openxmlformats.org/officeDocument/2006/relationships/notesSlide" Target="../notesSlides/notesSlide212.xml"/><Relationship Id="rId1" Type="http://schemas.openxmlformats.org/officeDocument/2006/relationships/slideLayout" Target="../slideLayouts/slideLayout1.xml"/></Relationships>
</file>

<file path=ppt/slides/_rels/slide213.xml.rels><?xml version="1.0" encoding="UTF-8" standalone="yes"?>
<Relationships xmlns="http://schemas.openxmlformats.org/package/2006/relationships"><Relationship Id="rId2" Type="http://schemas.openxmlformats.org/officeDocument/2006/relationships/notesSlide" Target="../notesSlides/notesSlide213.xml"/><Relationship Id="rId1" Type="http://schemas.openxmlformats.org/officeDocument/2006/relationships/slideLayout" Target="../slideLayouts/slideLayout1.xml"/></Relationships>
</file>

<file path=ppt/slides/_rels/slide214.xml.rels><?xml version="1.0" encoding="UTF-8" standalone="yes"?>
<Relationships xmlns="http://schemas.openxmlformats.org/package/2006/relationships"><Relationship Id="rId2" Type="http://schemas.openxmlformats.org/officeDocument/2006/relationships/notesSlide" Target="../notesSlides/notesSlide214.xml"/><Relationship Id="rId1" Type="http://schemas.openxmlformats.org/officeDocument/2006/relationships/slideLayout" Target="../slideLayouts/slideLayout1.xml"/></Relationships>
</file>

<file path=ppt/slides/_rels/slide215.xml.rels><?xml version="1.0" encoding="UTF-8" standalone="yes"?>
<Relationships xmlns="http://schemas.openxmlformats.org/package/2006/relationships"><Relationship Id="rId2" Type="http://schemas.openxmlformats.org/officeDocument/2006/relationships/notesSlide" Target="../notesSlides/notesSlide215.xml"/><Relationship Id="rId1" Type="http://schemas.openxmlformats.org/officeDocument/2006/relationships/slideLayout" Target="../slideLayouts/slideLayout1.xml"/></Relationships>
</file>

<file path=ppt/slides/_rels/slide216.xml.rels><?xml version="1.0" encoding="UTF-8" standalone="yes"?>
<Relationships xmlns="http://schemas.openxmlformats.org/package/2006/relationships"><Relationship Id="rId3" Type="http://schemas.openxmlformats.org/officeDocument/2006/relationships/image" Target="../media/image154.jpg"/><Relationship Id="rId2" Type="http://schemas.openxmlformats.org/officeDocument/2006/relationships/notesSlide" Target="../notesSlides/notesSlide216.xml"/><Relationship Id="rId1" Type="http://schemas.openxmlformats.org/officeDocument/2006/relationships/slideLayout" Target="../slideLayouts/slideLayout1.xml"/></Relationships>
</file>

<file path=ppt/slides/_rels/slide217.xml.rels><?xml version="1.0" encoding="UTF-8" standalone="yes"?>
<Relationships xmlns="http://schemas.openxmlformats.org/package/2006/relationships"><Relationship Id="rId3" Type="http://schemas.openxmlformats.org/officeDocument/2006/relationships/image" Target="../media/image155.jpg"/><Relationship Id="rId2" Type="http://schemas.openxmlformats.org/officeDocument/2006/relationships/notesSlide" Target="../notesSlides/notesSlide217.xml"/><Relationship Id="rId1" Type="http://schemas.openxmlformats.org/officeDocument/2006/relationships/slideLayout" Target="../slideLayouts/slideLayout1.xml"/></Relationships>
</file>

<file path=ppt/slides/_rels/slide218.xml.rels><?xml version="1.0" encoding="UTF-8" standalone="yes"?>
<Relationships xmlns="http://schemas.openxmlformats.org/package/2006/relationships"><Relationship Id="rId3" Type="http://schemas.openxmlformats.org/officeDocument/2006/relationships/image" Target="../media/image156.jpg"/><Relationship Id="rId2" Type="http://schemas.openxmlformats.org/officeDocument/2006/relationships/notesSlide" Target="../notesSlides/notesSlide218.xml"/><Relationship Id="rId1" Type="http://schemas.openxmlformats.org/officeDocument/2006/relationships/slideLayout" Target="../slideLayouts/slideLayout1.xml"/></Relationships>
</file>

<file path=ppt/slides/_rels/slide219.xml.rels><?xml version="1.0" encoding="UTF-8" standalone="yes"?>
<Relationships xmlns="http://schemas.openxmlformats.org/package/2006/relationships"><Relationship Id="rId3" Type="http://schemas.openxmlformats.org/officeDocument/2006/relationships/image" Target="../media/image157.jpg"/><Relationship Id="rId2" Type="http://schemas.openxmlformats.org/officeDocument/2006/relationships/notesSlide" Target="../notesSlides/notesSlide219.xml"/><Relationship Id="rId1" Type="http://schemas.openxmlformats.org/officeDocument/2006/relationships/slideLayout" Target="../slideLayouts/slideLayout1.xml"/></Relationships>
</file>

<file path=ppt/slides/_rels/slide220.xml.rels><?xml version="1.0" encoding="UTF-8" standalone="yes"?>
<Relationships xmlns="http://schemas.openxmlformats.org/package/2006/relationships"><Relationship Id="rId2" Type="http://schemas.openxmlformats.org/officeDocument/2006/relationships/notesSlide" Target="../notesSlides/notesSlide220.xml"/><Relationship Id="rId1" Type="http://schemas.openxmlformats.org/officeDocument/2006/relationships/slideLayout" Target="../slideLayouts/slideLayout1.xml"/></Relationships>
</file>

<file path=ppt/slides/_rels/slide221.xml.rels><?xml version="1.0" encoding="UTF-8" standalone="yes"?>
<Relationships xmlns="http://schemas.openxmlformats.org/package/2006/relationships"><Relationship Id="rId3" Type="http://schemas.openxmlformats.org/officeDocument/2006/relationships/image" Target="../media/image158.jpg"/><Relationship Id="rId2" Type="http://schemas.openxmlformats.org/officeDocument/2006/relationships/notesSlide" Target="../notesSlides/notesSlide221.xml"/><Relationship Id="rId1" Type="http://schemas.openxmlformats.org/officeDocument/2006/relationships/slideLayout" Target="../slideLayouts/slideLayout1.xml"/></Relationships>
</file>

<file path=ppt/slides/_rels/slide222.xml.rels><?xml version="1.0" encoding="UTF-8" standalone="yes"?>
<Relationships xmlns="http://schemas.openxmlformats.org/package/2006/relationships"><Relationship Id="rId3" Type="http://schemas.openxmlformats.org/officeDocument/2006/relationships/image" Target="../media/image159.jpg"/><Relationship Id="rId2" Type="http://schemas.openxmlformats.org/officeDocument/2006/relationships/notesSlide" Target="../notesSlides/notesSlide222.xml"/><Relationship Id="rId1" Type="http://schemas.openxmlformats.org/officeDocument/2006/relationships/slideLayout" Target="../slideLayouts/slideLayout1.xml"/></Relationships>
</file>

<file path=ppt/slides/_rels/slide223.xml.rels><?xml version="1.0" encoding="UTF-8" standalone="yes"?>
<Relationships xmlns="http://schemas.openxmlformats.org/package/2006/relationships"><Relationship Id="rId3" Type="http://schemas.openxmlformats.org/officeDocument/2006/relationships/image" Target="../media/image160.jpg"/><Relationship Id="rId2" Type="http://schemas.openxmlformats.org/officeDocument/2006/relationships/notesSlide" Target="../notesSlides/notesSlide223.xml"/><Relationship Id="rId1" Type="http://schemas.openxmlformats.org/officeDocument/2006/relationships/slideLayout" Target="../slideLayouts/slideLayout1.xml"/></Relationships>
</file>

<file path=ppt/slides/_rels/slide224.xml.rels><?xml version="1.0" encoding="UTF-8" standalone="yes"?>
<Relationships xmlns="http://schemas.openxmlformats.org/package/2006/relationships"><Relationship Id="rId2" Type="http://schemas.openxmlformats.org/officeDocument/2006/relationships/notesSlide" Target="../notesSlides/notesSlide224.xml"/><Relationship Id="rId1" Type="http://schemas.openxmlformats.org/officeDocument/2006/relationships/slideLayout" Target="../slideLayouts/slideLayout1.xml"/></Relationships>
</file>

<file path=ppt/slides/_rels/slide225.xml.rels><?xml version="1.0" encoding="UTF-8" standalone="yes"?>
<Relationships xmlns="http://schemas.openxmlformats.org/package/2006/relationships"><Relationship Id="rId3" Type="http://schemas.openxmlformats.org/officeDocument/2006/relationships/image" Target="../media/image161.jpg"/><Relationship Id="rId2" Type="http://schemas.openxmlformats.org/officeDocument/2006/relationships/notesSlide" Target="../notesSlides/notesSlide225.xml"/><Relationship Id="rId1" Type="http://schemas.openxmlformats.org/officeDocument/2006/relationships/slideLayout" Target="../slideLayouts/slideLayout1.xml"/></Relationships>
</file>

<file path=ppt/slides/_rels/slide226.xml.rels><?xml version="1.0" encoding="UTF-8" standalone="yes"?>
<Relationships xmlns="http://schemas.openxmlformats.org/package/2006/relationships"><Relationship Id="rId3" Type="http://schemas.openxmlformats.org/officeDocument/2006/relationships/image" Target="../media/image162.jpg"/><Relationship Id="rId2" Type="http://schemas.openxmlformats.org/officeDocument/2006/relationships/notesSlide" Target="../notesSlides/notesSlide226.xml"/><Relationship Id="rId1" Type="http://schemas.openxmlformats.org/officeDocument/2006/relationships/slideLayout" Target="../slideLayouts/slideLayout1.xml"/></Relationships>
</file>

<file path=ppt/slides/_rels/slide227.xml.rels><?xml version="1.0" encoding="UTF-8" standalone="yes"?>
<Relationships xmlns="http://schemas.openxmlformats.org/package/2006/relationships"><Relationship Id="rId2" Type="http://schemas.openxmlformats.org/officeDocument/2006/relationships/notesSlide" Target="../notesSlides/notesSlide227.xml"/><Relationship Id="rId1" Type="http://schemas.openxmlformats.org/officeDocument/2006/relationships/slideLayout" Target="../slideLayouts/slideLayout1.xml"/></Relationships>
</file>

<file path=ppt/slides/_rels/slide228.xml.rels><?xml version="1.0" encoding="UTF-8" standalone="yes"?>
<Relationships xmlns="http://schemas.openxmlformats.org/package/2006/relationships"><Relationship Id="rId3" Type="http://schemas.openxmlformats.org/officeDocument/2006/relationships/image" Target="../media/image163.jpg"/><Relationship Id="rId2" Type="http://schemas.openxmlformats.org/officeDocument/2006/relationships/notesSlide" Target="../notesSlides/notesSlide228.xml"/><Relationship Id="rId1" Type="http://schemas.openxmlformats.org/officeDocument/2006/relationships/slideLayout" Target="../slideLayouts/slideLayout1.xml"/></Relationships>
</file>

<file path=ppt/slides/_rels/slide229.xml.rels><?xml version="1.0" encoding="UTF-8" standalone="yes"?>
<Relationships xmlns="http://schemas.openxmlformats.org/package/2006/relationships"><Relationship Id="rId3" Type="http://schemas.openxmlformats.org/officeDocument/2006/relationships/image" Target="../media/image164.jpg"/><Relationship Id="rId2" Type="http://schemas.openxmlformats.org/officeDocument/2006/relationships/notesSlide" Target="../notesSlides/notesSlide229.xml"/><Relationship Id="rId1" Type="http://schemas.openxmlformats.org/officeDocument/2006/relationships/slideLayout" Target="../slideLayouts/slideLayout1.xml"/></Relationships>
</file>

<file path=ppt/slides/_rels/slide230.xml.rels><?xml version="1.0" encoding="UTF-8" standalone="yes"?>
<Relationships xmlns="http://schemas.openxmlformats.org/package/2006/relationships"><Relationship Id="rId2" Type="http://schemas.openxmlformats.org/officeDocument/2006/relationships/notesSlide" Target="../notesSlides/notesSlide230.xml"/><Relationship Id="rId1" Type="http://schemas.openxmlformats.org/officeDocument/2006/relationships/slideLayout" Target="../slideLayouts/slideLayout1.xml"/></Relationships>
</file>

<file path=ppt/slides/_rels/slide231.xml.rels><?xml version="1.0" encoding="UTF-8" standalone="yes"?>
<Relationships xmlns="http://schemas.openxmlformats.org/package/2006/relationships"><Relationship Id="rId3" Type="http://schemas.openxmlformats.org/officeDocument/2006/relationships/image" Target="../media/image165.jpg"/><Relationship Id="rId2" Type="http://schemas.openxmlformats.org/officeDocument/2006/relationships/notesSlide" Target="../notesSlides/notesSlide231.xml"/><Relationship Id="rId1" Type="http://schemas.openxmlformats.org/officeDocument/2006/relationships/slideLayout" Target="../slideLayouts/slideLayout1.xml"/></Relationships>
</file>

<file path=ppt/slides/_rels/slide232.xml.rels><?xml version="1.0" encoding="UTF-8" standalone="yes"?>
<Relationships xmlns="http://schemas.openxmlformats.org/package/2006/relationships"><Relationship Id="rId2" Type="http://schemas.openxmlformats.org/officeDocument/2006/relationships/notesSlide" Target="../notesSlides/notesSlide232.xml"/><Relationship Id="rId1" Type="http://schemas.openxmlformats.org/officeDocument/2006/relationships/slideLayout" Target="../slideLayouts/slideLayout1.xml"/></Relationships>
</file>

<file path=ppt/slides/_rels/slide233.xml.rels><?xml version="1.0" encoding="UTF-8" standalone="yes"?>
<Relationships xmlns="http://schemas.openxmlformats.org/package/2006/relationships"><Relationship Id="rId3" Type="http://schemas.openxmlformats.org/officeDocument/2006/relationships/image" Target="../media/image166.jpg"/><Relationship Id="rId2" Type="http://schemas.openxmlformats.org/officeDocument/2006/relationships/notesSlide" Target="../notesSlides/notesSlide233.xml"/><Relationship Id="rId1" Type="http://schemas.openxmlformats.org/officeDocument/2006/relationships/slideLayout" Target="../slideLayouts/slideLayout1.xml"/></Relationships>
</file>

<file path=ppt/slides/_rels/slide234.xml.rels><?xml version="1.0" encoding="UTF-8" standalone="yes"?>
<Relationships xmlns="http://schemas.openxmlformats.org/package/2006/relationships"><Relationship Id="rId3" Type="http://schemas.openxmlformats.org/officeDocument/2006/relationships/image" Target="../media/image167.jpg"/><Relationship Id="rId2" Type="http://schemas.openxmlformats.org/officeDocument/2006/relationships/notesSlide" Target="../notesSlides/notesSlide234.xml"/><Relationship Id="rId1" Type="http://schemas.openxmlformats.org/officeDocument/2006/relationships/slideLayout" Target="../slideLayouts/slideLayout1.xml"/></Relationships>
</file>

<file path=ppt/slides/_rels/slide235.xml.rels><?xml version="1.0" encoding="UTF-8" standalone="yes"?>
<Relationships xmlns="http://schemas.openxmlformats.org/package/2006/relationships"><Relationship Id="rId3" Type="http://schemas.openxmlformats.org/officeDocument/2006/relationships/image" Target="../media/image168.jpg"/><Relationship Id="rId2" Type="http://schemas.openxmlformats.org/officeDocument/2006/relationships/notesSlide" Target="../notesSlides/notesSlide235.xml"/><Relationship Id="rId1" Type="http://schemas.openxmlformats.org/officeDocument/2006/relationships/slideLayout" Target="../slideLayouts/slideLayout1.xml"/></Relationships>
</file>

<file path=ppt/slides/_rels/slide236.xml.rels><?xml version="1.0" encoding="UTF-8" standalone="yes"?>
<Relationships xmlns="http://schemas.openxmlformats.org/package/2006/relationships"><Relationship Id="rId3" Type="http://schemas.openxmlformats.org/officeDocument/2006/relationships/image" Target="../media/image169.jpg"/><Relationship Id="rId2" Type="http://schemas.openxmlformats.org/officeDocument/2006/relationships/notesSlide" Target="../notesSlides/notesSlide236.xml"/><Relationship Id="rId1" Type="http://schemas.openxmlformats.org/officeDocument/2006/relationships/slideLayout" Target="../slideLayouts/slideLayout1.xml"/></Relationships>
</file>

<file path=ppt/slides/_rels/slide237.xml.rels><?xml version="1.0" encoding="UTF-8" standalone="yes"?>
<Relationships xmlns="http://schemas.openxmlformats.org/package/2006/relationships"><Relationship Id="rId2" Type="http://schemas.openxmlformats.org/officeDocument/2006/relationships/notesSlide" Target="../notesSlides/notesSlide237.xml"/><Relationship Id="rId1" Type="http://schemas.openxmlformats.org/officeDocument/2006/relationships/slideLayout" Target="../slideLayouts/slideLayout1.xml"/></Relationships>
</file>

<file path=ppt/slides/_rels/slide238.xml.rels><?xml version="1.0" encoding="UTF-8" standalone="yes"?>
<Relationships xmlns="http://schemas.openxmlformats.org/package/2006/relationships"><Relationship Id="rId3" Type="http://schemas.openxmlformats.org/officeDocument/2006/relationships/image" Target="../media/image170.jpg"/><Relationship Id="rId2" Type="http://schemas.openxmlformats.org/officeDocument/2006/relationships/notesSlide" Target="../notesSlides/notesSlide238.xml"/><Relationship Id="rId1" Type="http://schemas.openxmlformats.org/officeDocument/2006/relationships/slideLayout" Target="../slideLayouts/slideLayout1.xml"/></Relationships>
</file>

<file path=ppt/slides/_rels/slide239.xml.rels><?xml version="1.0" encoding="UTF-8" standalone="yes"?>
<Relationships xmlns="http://schemas.openxmlformats.org/package/2006/relationships"><Relationship Id="rId3" Type="http://schemas.openxmlformats.org/officeDocument/2006/relationships/image" Target="../media/image171.jpg"/><Relationship Id="rId2" Type="http://schemas.openxmlformats.org/officeDocument/2006/relationships/notesSlide" Target="../notesSlides/notesSlide239.xml"/><Relationship Id="rId1" Type="http://schemas.openxmlformats.org/officeDocument/2006/relationships/slideLayout" Target="../slideLayouts/slideLayout1.xml"/></Relationships>
</file>

<file path=ppt/slides/_rels/slide240.xml.rels><?xml version="1.0" encoding="UTF-8" standalone="yes"?>
<Relationships xmlns="http://schemas.openxmlformats.org/package/2006/relationships"><Relationship Id="rId3" Type="http://schemas.openxmlformats.org/officeDocument/2006/relationships/image" Target="../media/image172.jpg"/><Relationship Id="rId2" Type="http://schemas.openxmlformats.org/officeDocument/2006/relationships/notesSlide" Target="../notesSlides/notesSlide240.xml"/><Relationship Id="rId1" Type="http://schemas.openxmlformats.org/officeDocument/2006/relationships/slideLayout" Target="../slideLayouts/slideLayout1.xml"/></Relationships>
</file>

<file path=ppt/slides/_rels/slide241.xml.rels><?xml version="1.0" encoding="UTF-8" standalone="yes"?>
<Relationships xmlns="http://schemas.openxmlformats.org/package/2006/relationships"><Relationship Id="rId3" Type="http://schemas.openxmlformats.org/officeDocument/2006/relationships/image" Target="../media/image173.jpg"/><Relationship Id="rId2" Type="http://schemas.openxmlformats.org/officeDocument/2006/relationships/notesSlide" Target="../notesSlides/notesSlide241.xml"/><Relationship Id="rId1" Type="http://schemas.openxmlformats.org/officeDocument/2006/relationships/slideLayout" Target="../slideLayouts/slideLayout1.xml"/></Relationships>
</file>

<file path=ppt/slides/_rels/slide242.xml.rels><?xml version="1.0" encoding="UTF-8" standalone="yes"?>
<Relationships xmlns="http://schemas.openxmlformats.org/package/2006/relationships"><Relationship Id="rId3" Type="http://schemas.openxmlformats.org/officeDocument/2006/relationships/image" Target="../media/image174.jpg"/><Relationship Id="rId2" Type="http://schemas.openxmlformats.org/officeDocument/2006/relationships/notesSlide" Target="../notesSlides/notesSlide242.xml"/><Relationship Id="rId1" Type="http://schemas.openxmlformats.org/officeDocument/2006/relationships/slideLayout" Target="../slideLayouts/slideLayout1.xml"/></Relationships>
</file>

<file path=ppt/slides/_rels/slide243.xml.rels><?xml version="1.0" encoding="UTF-8" standalone="yes"?>
<Relationships xmlns="http://schemas.openxmlformats.org/package/2006/relationships"><Relationship Id="rId3" Type="http://schemas.openxmlformats.org/officeDocument/2006/relationships/image" Target="../media/image175.jpg"/><Relationship Id="rId2" Type="http://schemas.openxmlformats.org/officeDocument/2006/relationships/notesSlide" Target="../notesSlides/notesSlide243.xml"/><Relationship Id="rId1" Type="http://schemas.openxmlformats.org/officeDocument/2006/relationships/slideLayout" Target="../slideLayouts/slideLayout1.xml"/></Relationships>
</file>

<file path=ppt/slides/_rels/slide244.xml.rels><?xml version="1.0" encoding="UTF-8" standalone="yes"?>
<Relationships xmlns="http://schemas.openxmlformats.org/package/2006/relationships"><Relationship Id="rId2" Type="http://schemas.openxmlformats.org/officeDocument/2006/relationships/notesSlide" Target="../notesSlides/notesSlide244.xml"/><Relationship Id="rId1" Type="http://schemas.openxmlformats.org/officeDocument/2006/relationships/slideLayout" Target="../slideLayouts/slideLayout1.xml"/></Relationships>
</file>

<file path=ppt/slides/_rels/slide245.xml.rels><?xml version="1.0" encoding="UTF-8" standalone="yes"?>
<Relationships xmlns="http://schemas.openxmlformats.org/package/2006/relationships"><Relationship Id="rId2" Type="http://schemas.openxmlformats.org/officeDocument/2006/relationships/notesSlide" Target="../notesSlides/notesSlide245.xml"/><Relationship Id="rId1" Type="http://schemas.openxmlformats.org/officeDocument/2006/relationships/slideLayout" Target="../slideLayouts/slideLayout1.xml"/></Relationships>
</file>

<file path=ppt/slides/_rels/slide246.xml.rels><?xml version="1.0" encoding="UTF-8" standalone="yes"?>
<Relationships xmlns="http://schemas.openxmlformats.org/package/2006/relationships"><Relationship Id="rId2" Type="http://schemas.openxmlformats.org/officeDocument/2006/relationships/notesSlide" Target="../notesSlides/notesSlide246.xml"/><Relationship Id="rId1" Type="http://schemas.openxmlformats.org/officeDocument/2006/relationships/slideLayout" Target="../slideLayouts/slideLayout1.xml"/></Relationships>
</file>

<file path=ppt/slides/_rels/slide247.xml.rels><?xml version="1.0" encoding="UTF-8" standalone="yes"?>
<Relationships xmlns="http://schemas.openxmlformats.org/package/2006/relationships"><Relationship Id="rId2" Type="http://schemas.openxmlformats.org/officeDocument/2006/relationships/notesSlide" Target="../notesSlides/notesSlide247.xml"/><Relationship Id="rId1" Type="http://schemas.openxmlformats.org/officeDocument/2006/relationships/slideLayout" Target="../slideLayouts/slideLayout1.xml"/></Relationships>
</file>

<file path=ppt/slides/_rels/slide248.xml.rels><?xml version="1.0" encoding="UTF-8" standalone="yes"?>
<Relationships xmlns="http://schemas.openxmlformats.org/package/2006/relationships"><Relationship Id="rId3" Type="http://schemas.openxmlformats.org/officeDocument/2006/relationships/image" Target="../media/image176.jpg"/><Relationship Id="rId2" Type="http://schemas.openxmlformats.org/officeDocument/2006/relationships/notesSlide" Target="../notesSlides/notesSlide248.xml"/><Relationship Id="rId1" Type="http://schemas.openxmlformats.org/officeDocument/2006/relationships/slideLayout" Target="../slideLayouts/slideLayout1.xml"/></Relationships>
</file>

<file path=ppt/slides/_rels/slide249.xml.rels><?xml version="1.0" encoding="UTF-8" standalone="yes"?>
<Relationships xmlns="http://schemas.openxmlformats.org/package/2006/relationships"><Relationship Id="rId3" Type="http://schemas.openxmlformats.org/officeDocument/2006/relationships/image" Target="../media/image177.jpg"/><Relationship Id="rId2" Type="http://schemas.openxmlformats.org/officeDocument/2006/relationships/notesSlide" Target="../notesSlides/notesSlide249.xml"/><Relationship Id="rId1" Type="http://schemas.openxmlformats.org/officeDocument/2006/relationships/slideLayout" Target="../slideLayouts/slideLayout1.xml"/></Relationships>
</file>

<file path=ppt/slides/_rels/slide250.xml.rels><?xml version="1.0" encoding="UTF-8" standalone="yes"?>
<Relationships xmlns="http://schemas.openxmlformats.org/package/2006/relationships"><Relationship Id="rId3" Type="http://schemas.openxmlformats.org/officeDocument/2006/relationships/image" Target="../media/image178.jpg"/><Relationship Id="rId2" Type="http://schemas.openxmlformats.org/officeDocument/2006/relationships/notesSlide" Target="../notesSlides/notesSlide250.xml"/><Relationship Id="rId1" Type="http://schemas.openxmlformats.org/officeDocument/2006/relationships/slideLayout" Target="../slideLayouts/slideLayout1.xml"/></Relationships>
</file>

<file path=ppt/slides/_rels/slide251.xml.rels><?xml version="1.0" encoding="UTF-8" standalone="yes"?>
<Relationships xmlns="http://schemas.openxmlformats.org/package/2006/relationships"><Relationship Id="rId2" Type="http://schemas.openxmlformats.org/officeDocument/2006/relationships/notesSlide" Target="../notesSlides/notesSlide251.xml"/><Relationship Id="rId1" Type="http://schemas.openxmlformats.org/officeDocument/2006/relationships/slideLayout" Target="../slideLayouts/slideLayout1.xml"/></Relationships>
</file>

<file path=ppt/slides/_rels/slide252.xml.rels><?xml version="1.0" encoding="UTF-8" standalone="yes"?>
<Relationships xmlns="http://schemas.openxmlformats.org/package/2006/relationships"><Relationship Id="rId3" Type="http://schemas.openxmlformats.org/officeDocument/2006/relationships/image" Target="../media/image179.jpg"/><Relationship Id="rId2" Type="http://schemas.openxmlformats.org/officeDocument/2006/relationships/notesSlide" Target="../notesSlides/notesSlide252.xml"/><Relationship Id="rId1" Type="http://schemas.openxmlformats.org/officeDocument/2006/relationships/slideLayout" Target="../slideLayouts/slideLayout1.xml"/></Relationships>
</file>

<file path=ppt/slides/_rels/slide253.xml.rels><?xml version="1.0" encoding="UTF-8" standalone="yes"?>
<Relationships xmlns="http://schemas.openxmlformats.org/package/2006/relationships"><Relationship Id="rId3" Type="http://schemas.openxmlformats.org/officeDocument/2006/relationships/image" Target="../media/image180.jpg"/><Relationship Id="rId2" Type="http://schemas.openxmlformats.org/officeDocument/2006/relationships/notesSlide" Target="../notesSlides/notesSlide253.xml"/><Relationship Id="rId1" Type="http://schemas.openxmlformats.org/officeDocument/2006/relationships/slideLayout" Target="../slideLayouts/slideLayout1.xml"/></Relationships>
</file>

<file path=ppt/slides/_rels/slide254.xml.rels><?xml version="1.0" encoding="UTF-8" standalone="yes"?>
<Relationships xmlns="http://schemas.openxmlformats.org/package/2006/relationships"><Relationship Id="rId3" Type="http://schemas.openxmlformats.org/officeDocument/2006/relationships/image" Target="../media/image181.jpg"/><Relationship Id="rId2" Type="http://schemas.openxmlformats.org/officeDocument/2006/relationships/notesSlide" Target="../notesSlides/notesSlide254.xml"/><Relationship Id="rId1" Type="http://schemas.openxmlformats.org/officeDocument/2006/relationships/slideLayout" Target="../slideLayouts/slideLayout1.xml"/></Relationships>
</file>

<file path=ppt/slides/_rels/slide255.xml.rels><?xml version="1.0" encoding="UTF-8" standalone="yes"?>
<Relationships xmlns="http://schemas.openxmlformats.org/package/2006/relationships"><Relationship Id="rId3" Type="http://schemas.openxmlformats.org/officeDocument/2006/relationships/image" Target="../media/image182.jpg"/><Relationship Id="rId2" Type="http://schemas.openxmlformats.org/officeDocument/2006/relationships/notesSlide" Target="../notesSlides/notesSlide255.xml"/><Relationship Id="rId1" Type="http://schemas.openxmlformats.org/officeDocument/2006/relationships/slideLayout" Target="../slideLayouts/slideLayout1.xml"/></Relationships>
</file>

<file path=ppt/slides/_rels/slide256.xml.rels><?xml version="1.0" encoding="UTF-8" standalone="yes"?>
<Relationships xmlns="http://schemas.openxmlformats.org/package/2006/relationships"><Relationship Id="rId3" Type="http://schemas.openxmlformats.org/officeDocument/2006/relationships/image" Target="../media/image183.jpg"/><Relationship Id="rId2" Type="http://schemas.openxmlformats.org/officeDocument/2006/relationships/notesSlide" Target="../notesSlides/notesSlide256.xml"/><Relationship Id="rId1" Type="http://schemas.openxmlformats.org/officeDocument/2006/relationships/slideLayout" Target="../slideLayouts/slideLayout1.xml"/></Relationships>
</file>

<file path=ppt/slides/_rels/slide257.xml.rels><?xml version="1.0" encoding="UTF-8" standalone="yes"?>
<Relationships xmlns="http://schemas.openxmlformats.org/package/2006/relationships"><Relationship Id="rId3" Type="http://schemas.openxmlformats.org/officeDocument/2006/relationships/image" Target="../media/image184.jpg"/><Relationship Id="rId2" Type="http://schemas.openxmlformats.org/officeDocument/2006/relationships/notesSlide" Target="../notesSlides/notesSlide257.xml"/><Relationship Id="rId1" Type="http://schemas.openxmlformats.org/officeDocument/2006/relationships/slideLayout" Target="../slideLayouts/slideLayout1.xml"/></Relationships>
</file>

<file path=ppt/slides/_rels/slide258.xml.rels><?xml version="1.0" encoding="UTF-8" standalone="yes"?>
<Relationships xmlns="http://schemas.openxmlformats.org/package/2006/relationships"><Relationship Id="rId2" Type="http://schemas.openxmlformats.org/officeDocument/2006/relationships/notesSlide" Target="../notesSlides/notesSlide258.xml"/><Relationship Id="rId1" Type="http://schemas.openxmlformats.org/officeDocument/2006/relationships/slideLayout" Target="../slideLayouts/slideLayout1.xml"/></Relationships>
</file>

<file path=ppt/slides/_rels/slide259.xml.rels><?xml version="1.0" encoding="UTF-8" standalone="yes"?>
<Relationships xmlns="http://schemas.openxmlformats.org/package/2006/relationships"><Relationship Id="rId3" Type="http://schemas.openxmlformats.org/officeDocument/2006/relationships/image" Target="../media/image185.jpg"/><Relationship Id="rId2" Type="http://schemas.openxmlformats.org/officeDocument/2006/relationships/notesSlide" Target="../notesSlides/notesSlide259.xml"/><Relationship Id="rId1" Type="http://schemas.openxmlformats.org/officeDocument/2006/relationships/slideLayout" Target="../slideLayouts/slideLayout1.xml"/></Relationships>
</file>

<file path=ppt/slides/_rels/slide260.xml.rels><?xml version="1.0" encoding="UTF-8" standalone="yes"?>
<Relationships xmlns="http://schemas.openxmlformats.org/package/2006/relationships"><Relationship Id="rId3" Type="http://schemas.openxmlformats.org/officeDocument/2006/relationships/image" Target="../media/image186.jpg"/><Relationship Id="rId2" Type="http://schemas.openxmlformats.org/officeDocument/2006/relationships/notesSlide" Target="../notesSlides/notesSlide260.xml"/><Relationship Id="rId1" Type="http://schemas.openxmlformats.org/officeDocument/2006/relationships/slideLayout" Target="../slideLayouts/slideLayout1.xml"/></Relationships>
</file>

<file path=ppt/slides/_rels/slide261.xml.rels><?xml version="1.0" encoding="UTF-8" standalone="yes"?>
<Relationships xmlns="http://schemas.openxmlformats.org/package/2006/relationships"><Relationship Id="rId3" Type="http://schemas.openxmlformats.org/officeDocument/2006/relationships/image" Target="../media/image187.jpg"/><Relationship Id="rId2" Type="http://schemas.openxmlformats.org/officeDocument/2006/relationships/notesSlide" Target="../notesSlides/notesSlide261.xml"/><Relationship Id="rId1" Type="http://schemas.openxmlformats.org/officeDocument/2006/relationships/slideLayout" Target="../slideLayouts/slideLayout1.xml"/></Relationships>
</file>

<file path=ppt/slides/_rels/slide262.xml.rels><?xml version="1.0" encoding="UTF-8" standalone="yes"?>
<Relationships xmlns="http://schemas.openxmlformats.org/package/2006/relationships"><Relationship Id="rId2" Type="http://schemas.openxmlformats.org/officeDocument/2006/relationships/notesSlide" Target="../notesSlides/notesSlide262.xml"/><Relationship Id="rId1" Type="http://schemas.openxmlformats.org/officeDocument/2006/relationships/slideLayout" Target="../slideLayouts/slideLayout1.xml"/></Relationships>
</file>

<file path=ppt/slides/_rels/slide263.xml.rels><?xml version="1.0" encoding="UTF-8" standalone="yes"?>
<Relationships xmlns="http://schemas.openxmlformats.org/package/2006/relationships"><Relationship Id="rId3" Type="http://schemas.openxmlformats.org/officeDocument/2006/relationships/image" Target="../media/image188.jpg"/><Relationship Id="rId2" Type="http://schemas.openxmlformats.org/officeDocument/2006/relationships/notesSlide" Target="../notesSlides/notesSlide263.xml"/><Relationship Id="rId1" Type="http://schemas.openxmlformats.org/officeDocument/2006/relationships/slideLayout" Target="../slideLayouts/slideLayout1.xml"/></Relationships>
</file>

<file path=ppt/slides/_rels/slide264.xml.rels><?xml version="1.0" encoding="UTF-8" standalone="yes"?>
<Relationships xmlns="http://schemas.openxmlformats.org/package/2006/relationships"><Relationship Id="rId3" Type="http://schemas.openxmlformats.org/officeDocument/2006/relationships/image" Target="../media/image189.jpg"/><Relationship Id="rId2" Type="http://schemas.openxmlformats.org/officeDocument/2006/relationships/notesSlide" Target="../notesSlides/notesSlide264.xml"/><Relationship Id="rId1" Type="http://schemas.openxmlformats.org/officeDocument/2006/relationships/slideLayout" Target="../slideLayouts/slideLayout1.xml"/></Relationships>
</file>

<file path=ppt/slides/_rels/slide265.xml.rels><?xml version="1.0" encoding="UTF-8" standalone="yes"?>
<Relationships xmlns="http://schemas.openxmlformats.org/package/2006/relationships"><Relationship Id="rId3" Type="http://schemas.openxmlformats.org/officeDocument/2006/relationships/image" Target="../media/image190.jpg"/><Relationship Id="rId2" Type="http://schemas.openxmlformats.org/officeDocument/2006/relationships/notesSlide" Target="../notesSlides/notesSlide265.xml"/><Relationship Id="rId1" Type="http://schemas.openxmlformats.org/officeDocument/2006/relationships/slideLayout" Target="../slideLayouts/slideLayout1.xml"/></Relationships>
</file>

<file path=ppt/slides/_rels/slide266.xml.rels><?xml version="1.0" encoding="UTF-8" standalone="yes"?>
<Relationships xmlns="http://schemas.openxmlformats.org/package/2006/relationships"><Relationship Id="rId3" Type="http://schemas.openxmlformats.org/officeDocument/2006/relationships/image" Target="../media/image53.jpg"/><Relationship Id="rId2" Type="http://schemas.openxmlformats.org/officeDocument/2006/relationships/notesSlide" Target="../notesSlides/notesSlide266.xml"/><Relationship Id="rId1" Type="http://schemas.openxmlformats.org/officeDocument/2006/relationships/slideLayout" Target="../slideLayouts/slideLayout1.xml"/></Relationships>
</file>

<file path=ppt/slides/_rels/slide267.xml.rels><?xml version="1.0" encoding="UTF-8" standalone="yes"?>
<Relationships xmlns="http://schemas.openxmlformats.org/package/2006/relationships"><Relationship Id="rId3" Type="http://schemas.openxmlformats.org/officeDocument/2006/relationships/image" Target="../media/image191.jpg"/><Relationship Id="rId2" Type="http://schemas.openxmlformats.org/officeDocument/2006/relationships/notesSlide" Target="../notesSlides/notesSlide267.xml"/><Relationship Id="rId1" Type="http://schemas.openxmlformats.org/officeDocument/2006/relationships/slideLayout" Target="../slideLayouts/slideLayout1.xml"/></Relationships>
</file>

<file path=ppt/slides/_rels/slide268.xml.rels><?xml version="1.0" encoding="UTF-8" standalone="yes"?>
<Relationships xmlns="http://schemas.openxmlformats.org/package/2006/relationships"><Relationship Id="rId3" Type="http://schemas.openxmlformats.org/officeDocument/2006/relationships/image" Target="../media/image192.jpg"/><Relationship Id="rId2" Type="http://schemas.openxmlformats.org/officeDocument/2006/relationships/notesSlide" Target="../notesSlides/notesSlide268.xml"/><Relationship Id="rId1" Type="http://schemas.openxmlformats.org/officeDocument/2006/relationships/slideLayout" Target="../slideLayouts/slideLayout1.xml"/></Relationships>
</file>

<file path=ppt/slides/_rels/slide269.xml.rels><?xml version="1.0" encoding="UTF-8" standalone="yes"?>
<Relationships xmlns="http://schemas.openxmlformats.org/package/2006/relationships"><Relationship Id="rId2" Type="http://schemas.openxmlformats.org/officeDocument/2006/relationships/notesSlide" Target="../notesSlides/notesSlide269.xml"/><Relationship Id="rId1" Type="http://schemas.openxmlformats.org/officeDocument/2006/relationships/slideLayout" Target="../slideLayouts/slideLayout1.xml"/></Relationships>
</file>

<file path=ppt/slides/_rels/slide270.xml.rels><?xml version="1.0" encoding="UTF-8" standalone="yes"?>
<Relationships xmlns="http://schemas.openxmlformats.org/package/2006/relationships"><Relationship Id="rId3" Type="http://schemas.openxmlformats.org/officeDocument/2006/relationships/image" Target="../media/image193.jpg"/><Relationship Id="rId2" Type="http://schemas.openxmlformats.org/officeDocument/2006/relationships/notesSlide" Target="../notesSlides/notesSlide270.xml"/><Relationship Id="rId1" Type="http://schemas.openxmlformats.org/officeDocument/2006/relationships/slideLayout" Target="../slideLayouts/slideLayout1.xml"/></Relationships>
</file>

<file path=ppt/slides/_rels/slide271.xml.rels><?xml version="1.0" encoding="UTF-8" standalone="yes"?>
<Relationships xmlns="http://schemas.openxmlformats.org/package/2006/relationships"><Relationship Id="rId3" Type="http://schemas.openxmlformats.org/officeDocument/2006/relationships/image" Target="../media/image194.jpg"/><Relationship Id="rId2" Type="http://schemas.openxmlformats.org/officeDocument/2006/relationships/notesSlide" Target="../notesSlides/notesSlide271.xml"/><Relationship Id="rId1" Type="http://schemas.openxmlformats.org/officeDocument/2006/relationships/slideLayout" Target="../slideLayouts/slideLayout1.xml"/></Relationships>
</file>

<file path=ppt/slides/_rels/slide272.xml.rels><?xml version="1.0" encoding="UTF-8" standalone="yes"?>
<Relationships xmlns="http://schemas.openxmlformats.org/package/2006/relationships"><Relationship Id="rId3" Type="http://schemas.openxmlformats.org/officeDocument/2006/relationships/image" Target="../media/image195.jpg"/><Relationship Id="rId2" Type="http://schemas.openxmlformats.org/officeDocument/2006/relationships/notesSlide" Target="../notesSlides/notesSlide272.xml"/><Relationship Id="rId1" Type="http://schemas.openxmlformats.org/officeDocument/2006/relationships/slideLayout" Target="../slideLayouts/slideLayout1.xml"/></Relationships>
</file>

<file path=ppt/slides/_rels/slide273.xml.rels><?xml version="1.0" encoding="UTF-8" standalone="yes"?>
<Relationships xmlns="http://schemas.openxmlformats.org/package/2006/relationships"><Relationship Id="rId3" Type="http://schemas.openxmlformats.org/officeDocument/2006/relationships/image" Target="../media/image196.jpg"/><Relationship Id="rId2" Type="http://schemas.openxmlformats.org/officeDocument/2006/relationships/notesSlide" Target="../notesSlides/notesSlide273.xml"/><Relationship Id="rId1" Type="http://schemas.openxmlformats.org/officeDocument/2006/relationships/slideLayout" Target="../slideLayouts/slideLayout1.xml"/></Relationships>
</file>

<file path=ppt/slides/_rels/slide274.xml.rels><?xml version="1.0" encoding="UTF-8" standalone="yes"?>
<Relationships xmlns="http://schemas.openxmlformats.org/package/2006/relationships"><Relationship Id="rId2" Type="http://schemas.openxmlformats.org/officeDocument/2006/relationships/notesSlide" Target="../notesSlides/notesSlide274.xml"/><Relationship Id="rId1" Type="http://schemas.openxmlformats.org/officeDocument/2006/relationships/slideLayout" Target="../slideLayouts/slideLayout1.xml"/></Relationships>
</file>

<file path=ppt/slides/_rels/slide275.xml.rels><?xml version="1.0" encoding="UTF-8" standalone="yes"?>
<Relationships xmlns="http://schemas.openxmlformats.org/package/2006/relationships"><Relationship Id="rId2" Type="http://schemas.openxmlformats.org/officeDocument/2006/relationships/notesSlide" Target="../notesSlides/notesSlide275.xml"/><Relationship Id="rId1" Type="http://schemas.openxmlformats.org/officeDocument/2006/relationships/slideLayout" Target="../slideLayouts/slideLayout1.xml"/></Relationships>
</file>

<file path=ppt/slides/_rels/slide276.xml.rels><?xml version="1.0" encoding="UTF-8" standalone="yes"?>
<Relationships xmlns="http://schemas.openxmlformats.org/package/2006/relationships"><Relationship Id="rId2" Type="http://schemas.openxmlformats.org/officeDocument/2006/relationships/notesSlide" Target="../notesSlides/notesSlide276.xml"/><Relationship Id="rId1" Type="http://schemas.openxmlformats.org/officeDocument/2006/relationships/slideLayout" Target="../slideLayouts/slideLayout1.xml"/></Relationships>
</file>

<file path=ppt/slides/_rels/slide277.xml.rels><?xml version="1.0" encoding="UTF-8" standalone="yes"?>
<Relationships xmlns="http://schemas.openxmlformats.org/package/2006/relationships"><Relationship Id="rId2" Type="http://schemas.openxmlformats.org/officeDocument/2006/relationships/notesSlide" Target="../notesSlides/notesSlide277.xml"/><Relationship Id="rId1" Type="http://schemas.openxmlformats.org/officeDocument/2006/relationships/slideLayout" Target="../slideLayouts/slideLayout1.xml"/></Relationships>
</file>

<file path=ppt/slides/_rels/slide278.xml.rels><?xml version="1.0" encoding="UTF-8" standalone="yes"?>
<Relationships xmlns="http://schemas.openxmlformats.org/package/2006/relationships"><Relationship Id="rId3" Type="http://schemas.openxmlformats.org/officeDocument/2006/relationships/image" Target="../media/image197.jpg"/><Relationship Id="rId2" Type="http://schemas.openxmlformats.org/officeDocument/2006/relationships/notesSlide" Target="../notesSlides/notesSlide278.xml"/><Relationship Id="rId1" Type="http://schemas.openxmlformats.org/officeDocument/2006/relationships/slideLayout" Target="../slideLayouts/slideLayout1.xml"/></Relationships>
</file>

<file path=ppt/slides/_rels/slide279.xml.rels><?xml version="1.0" encoding="UTF-8" standalone="yes"?>
<Relationships xmlns="http://schemas.openxmlformats.org/package/2006/relationships"><Relationship Id="rId3" Type="http://schemas.openxmlformats.org/officeDocument/2006/relationships/image" Target="../media/image198.jpg"/><Relationship Id="rId2" Type="http://schemas.openxmlformats.org/officeDocument/2006/relationships/notesSlide" Target="../notesSlides/notesSlide279.xml"/><Relationship Id="rId1" Type="http://schemas.openxmlformats.org/officeDocument/2006/relationships/slideLayout" Target="../slideLayouts/slideLayout1.xml"/></Relationships>
</file>

<file path=ppt/slides/_rels/slide280.xml.rels><?xml version="1.0" encoding="UTF-8" standalone="yes"?>
<Relationships xmlns="http://schemas.openxmlformats.org/package/2006/relationships"><Relationship Id="rId3" Type="http://schemas.openxmlformats.org/officeDocument/2006/relationships/image" Target="../media/image199.jpg"/><Relationship Id="rId2" Type="http://schemas.openxmlformats.org/officeDocument/2006/relationships/notesSlide" Target="../notesSlides/notesSlide280.xml"/><Relationship Id="rId1" Type="http://schemas.openxmlformats.org/officeDocument/2006/relationships/slideLayout" Target="../slideLayouts/slideLayout1.xml"/></Relationships>
</file>

<file path=ppt/slides/_rels/slide281.xml.rels><?xml version="1.0" encoding="UTF-8" standalone="yes"?>
<Relationships xmlns="http://schemas.openxmlformats.org/package/2006/relationships"><Relationship Id="rId2" Type="http://schemas.openxmlformats.org/officeDocument/2006/relationships/notesSlide" Target="../notesSlides/notesSlide281.xml"/><Relationship Id="rId1" Type="http://schemas.openxmlformats.org/officeDocument/2006/relationships/slideLayout" Target="../slideLayouts/slideLayout1.xml"/></Relationships>
</file>

<file path=ppt/slides/_rels/slide282.xml.rels><?xml version="1.0" encoding="UTF-8" standalone="yes"?>
<Relationships xmlns="http://schemas.openxmlformats.org/package/2006/relationships"><Relationship Id="rId3" Type="http://schemas.openxmlformats.org/officeDocument/2006/relationships/image" Target="../media/image200.jpg"/><Relationship Id="rId2" Type="http://schemas.openxmlformats.org/officeDocument/2006/relationships/notesSlide" Target="../notesSlides/notesSlide282.xml"/><Relationship Id="rId1" Type="http://schemas.openxmlformats.org/officeDocument/2006/relationships/slideLayout" Target="../slideLayouts/slideLayout1.xml"/></Relationships>
</file>

<file path=ppt/slides/_rels/slide283.xml.rels><?xml version="1.0" encoding="UTF-8" standalone="yes"?>
<Relationships xmlns="http://schemas.openxmlformats.org/package/2006/relationships"><Relationship Id="rId3" Type="http://schemas.openxmlformats.org/officeDocument/2006/relationships/image" Target="../media/image201.jpg"/><Relationship Id="rId2" Type="http://schemas.openxmlformats.org/officeDocument/2006/relationships/notesSlide" Target="../notesSlides/notesSlide283.xml"/><Relationship Id="rId1" Type="http://schemas.openxmlformats.org/officeDocument/2006/relationships/slideLayout" Target="../slideLayouts/slideLayout1.xml"/></Relationships>
</file>

<file path=ppt/slides/_rels/slide284.xml.rels><?xml version="1.0" encoding="UTF-8" standalone="yes"?>
<Relationships xmlns="http://schemas.openxmlformats.org/package/2006/relationships"><Relationship Id="rId2" Type="http://schemas.openxmlformats.org/officeDocument/2006/relationships/notesSlide" Target="../notesSlides/notesSlide284.xml"/><Relationship Id="rId1" Type="http://schemas.openxmlformats.org/officeDocument/2006/relationships/slideLayout" Target="../slideLayouts/slideLayout1.xml"/></Relationships>
</file>

<file path=ppt/slides/_rels/slide285.xml.rels><?xml version="1.0" encoding="UTF-8" standalone="yes"?>
<Relationships xmlns="http://schemas.openxmlformats.org/package/2006/relationships"><Relationship Id="rId2" Type="http://schemas.openxmlformats.org/officeDocument/2006/relationships/notesSlide" Target="../notesSlides/notesSlide285.xml"/><Relationship Id="rId1" Type="http://schemas.openxmlformats.org/officeDocument/2006/relationships/slideLayout" Target="../slideLayouts/slideLayout1.xml"/></Relationships>
</file>

<file path=ppt/slides/_rels/slide286.xml.rels><?xml version="1.0" encoding="UTF-8" standalone="yes"?>
<Relationships xmlns="http://schemas.openxmlformats.org/package/2006/relationships"><Relationship Id="rId2" Type="http://schemas.openxmlformats.org/officeDocument/2006/relationships/notesSlide" Target="../notesSlides/notesSlide286.xml"/><Relationship Id="rId1" Type="http://schemas.openxmlformats.org/officeDocument/2006/relationships/slideLayout" Target="../slideLayouts/slideLayout1.xml"/></Relationships>
</file>

<file path=ppt/slides/_rels/slide287.xml.rels><?xml version="1.0" encoding="UTF-8" standalone="yes"?>
<Relationships xmlns="http://schemas.openxmlformats.org/package/2006/relationships"><Relationship Id="rId2" Type="http://schemas.openxmlformats.org/officeDocument/2006/relationships/notesSlide" Target="../notesSlides/notesSlide287.xml"/><Relationship Id="rId1" Type="http://schemas.openxmlformats.org/officeDocument/2006/relationships/slideLayout" Target="../slideLayouts/slideLayout1.xml"/></Relationships>
</file>

<file path=ppt/slides/_rels/slide288.xml.rels><?xml version="1.0" encoding="UTF-8" standalone="yes"?>
<Relationships xmlns="http://schemas.openxmlformats.org/package/2006/relationships"><Relationship Id="rId3" Type="http://schemas.openxmlformats.org/officeDocument/2006/relationships/image" Target="../media/image202.jpg"/><Relationship Id="rId2" Type="http://schemas.openxmlformats.org/officeDocument/2006/relationships/notesSlide" Target="../notesSlides/notesSlide288.xml"/><Relationship Id="rId1" Type="http://schemas.openxmlformats.org/officeDocument/2006/relationships/slideLayout" Target="../slideLayouts/slideLayout1.xml"/></Relationships>
</file>

<file path=ppt/slides/_rels/slide289.xml.rels><?xml version="1.0" encoding="UTF-8" standalone="yes"?>
<Relationships xmlns="http://schemas.openxmlformats.org/package/2006/relationships"><Relationship Id="rId3" Type="http://schemas.openxmlformats.org/officeDocument/2006/relationships/image" Target="../media/image203.jpg"/><Relationship Id="rId2" Type="http://schemas.openxmlformats.org/officeDocument/2006/relationships/notesSlide" Target="../notesSlides/notesSlide289.xml"/><Relationship Id="rId1" Type="http://schemas.openxmlformats.org/officeDocument/2006/relationships/slideLayout" Target="../slideLayouts/slideLayout1.xml"/></Relationships>
</file>

<file path=ppt/slides/_rels/slide290.xml.rels><?xml version="1.0" encoding="UTF-8" standalone="yes"?>
<Relationships xmlns="http://schemas.openxmlformats.org/package/2006/relationships"><Relationship Id="rId3" Type="http://schemas.openxmlformats.org/officeDocument/2006/relationships/image" Target="../media/image204.jpg"/><Relationship Id="rId2" Type="http://schemas.openxmlformats.org/officeDocument/2006/relationships/notesSlide" Target="../notesSlides/notesSlide290.xml"/><Relationship Id="rId1" Type="http://schemas.openxmlformats.org/officeDocument/2006/relationships/slideLayout" Target="../slideLayouts/slideLayout1.xml"/></Relationships>
</file>

<file path=ppt/slides/_rels/slide291.xml.rels><?xml version="1.0" encoding="UTF-8" standalone="yes"?>
<Relationships xmlns="http://schemas.openxmlformats.org/package/2006/relationships"><Relationship Id="rId3" Type="http://schemas.openxmlformats.org/officeDocument/2006/relationships/image" Target="../media/image205.jpg"/><Relationship Id="rId2" Type="http://schemas.openxmlformats.org/officeDocument/2006/relationships/notesSlide" Target="../notesSlides/notesSlide291.xml"/><Relationship Id="rId1" Type="http://schemas.openxmlformats.org/officeDocument/2006/relationships/slideLayout" Target="../slideLayouts/slideLayout1.xml"/></Relationships>
</file>

<file path=ppt/slides/_rels/slide292.xml.rels><?xml version="1.0" encoding="UTF-8" standalone="yes"?>
<Relationships xmlns="http://schemas.openxmlformats.org/package/2006/relationships"><Relationship Id="rId3" Type="http://schemas.openxmlformats.org/officeDocument/2006/relationships/image" Target="../media/image206.jpg"/><Relationship Id="rId2" Type="http://schemas.openxmlformats.org/officeDocument/2006/relationships/notesSlide" Target="../notesSlides/notesSlide292.xml"/><Relationship Id="rId1" Type="http://schemas.openxmlformats.org/officeDocument/2006/relationships/slideLayout" Target="../slideLayouts/slideLayout1.xml"/></Relationships>
</file>

<file path=ppt/slides/_rels/slide293.xml.rels><?xml version="1.0" encoding="UTF-8" standalone="yes"?>
<Relationships xmlns="http://schemas.openxmlformats.org/package/2006/relationships"><Relationship Id="rId3" Type="http://schemas.openxmlformats.org/officeDocument/2006/relationships/image" Target="../media/image207.jpg"/><Relationship Id="rId2" Type="http://schemas.openxmlformats.org/officeDocument/2006/relationships/notesSlide" Target="../notesSlides/notesSlide293.xml"/><Relationship Id="rId1" Type="http://schemas.openxmlformats.org/officeDocument/2006/relationships/slideLayout" Target="../slideLayouts/slideLayout1.xml"/></Relationships>
</file>

<file path=ppt/slides/_rels/slide294.xml.rels><?xml version="1.0" encoding="UTF-8" standalone="yes"?>
<Relationships xmlns="http://schemas.openxmlformats.org/package/2006/relationships"><Relationship Id="rId2" Type="http://schemas.openxmlformats.org/officeDocument/2006/relationships/notesSlide" Target="../notesSlides/notesSlide294.xml"/><Relationship Id="rId1" Type="http://schemas.openxmlformats.org/officeDocument/2006/relationships/slideLayout" Target="../slideLayouts/slideLayout1.xml"/></Relationships>
</file>

<file path=ppt/slides/_rels/slide295.xml.rels><?xml version="1.0" encoding="UTF-8" standalone="yes"?>
<Relationships xmlns="http://schemas.openxmlformats.org/package/2006/relationships"><Relationship Id="rId3" Type="http://schemas.openxmlformats.org/officeDocument/2006/relationships/image" Target="../media/image208.jpg"/><Relationship Id="rId2" Type="http://schemas.openxmlformats.org/officeDocument/2006/relationships/notesSlide" Target="../notesSlides/notesSlide295.xml"/><Relationship Id="rId1" Type="http://schemas.openxmlformats.org/officeDocument/2006/relationships/slideLayout" Target="../slideLayouts/slideLayout1.xml"/></Relationships>
</file>

<file path=ppt/slides/_rels/slide296.xml.rels><?xml version="1.0" encoding="UTF-8" standalone="yes"?>
<Relationships xmlns="http://schemas.openxmlformats.org/package/2006/relationships"><Relationship Id="rId3" Type="http://schemas.openxmlformats.org/officeDocument/2006/relationships/image" Target="../media/image61.jpg"/><Relationship Id="rId2" Type="http://schemas.openxmlformats.org/officeDocument/2006/relationships/notesSlide" Target="../notesSlides/notesSlide296.xml"/><Relationship Id="rId1" Type="http://schemas.openxmlformats.org/officeDocument/2006/relationships/slideLayout" Target="../slideLayouts/slideLayout1.xml"/></Relationships>
</file>

<file path=ppt/slides/_rels/slide297.xml.rels><?xml version="1.0" encoding="UTF-8" standalone="yes"?>
<Relationships xmlns="http://schemas.openxmlformats.org/package/2006/relationships"><Relationship Id="rId3" Type="http://schemas.openxmlformats.org/officeDocument/2006/relationships/image" Target="../media/image59.jpg"/><Relationship Id="rId2" Type="http://schemas.openxmlformats.org/officeDocument/2006/relationships/notesSlide" Target="../notesSlides/notesSlide297.xml"/><Relationship Id="rId1" Type="http://schemas.openxmlformats.org/officeDocument/2006/relationships/slideLayout" Target="../slideLayouts/slideLayout1.xml"/></Relationships>
</file>

<file path=ppt/slides/_rels/slide298.xml.rels><?xml version="1.0" encoding="UTF-8" standalone="yes"?>
<Relationships xmlns="http://schemas.openxmlformats.org/package/2006/relationships"><Relationship Id="rId3" Type="http://schemas.openxmlformats.org/officeDocument/2006/relationships/image" Target="../media/image209.jpg"/><Relationship Id="rId2" Type="http://schemas.openxmlformats.org/officeDocument/2006/relationships/notesSlide" Target="../notesSlides/notesSlide298.xml"/><Relationship Id="rId1" Type="http://schemas.openxmlformats.org/officeDocument/2006/relationships/slideLayout" Target="../slideLayouts/slideLayout1.xml"/></Relationships>
</file>

<file path=ppt/slides/_rels/slide299.xml.rels><?xml version="1.0" encoding="UTF-8" standalone="yes"?>
<Relationships xmlns="http://schemas.openxmlformats.org/package/2006/relationships"><Relationship Id="rId3" Type="http://schemas.openxmlformats.org/officeDocument/2006/relationships/image" Target="../media/image210.jpg"/><Relationship Id="rId2" Type="http://schemas.openxmlformats.org/officeDocument/2006/relationships/notesSlide" Target="../notesSlides/notesSlide299.xml"/><Relationship Id="rId1" Type="http://schemas.openxmlformats.org/officeDocument/2006/relationships/slideLayout" Target="../slideLayouts/slideLayout1.xml"/></Relationships>
</file>

<file path=ppt/slides/_rels/slide300.xml.rels><?xml version="1.0" encoding="UTF-8" standalone="yes"?>
<Relationships xmlns="http://schemas.openxmlformats.org/package/2006/relationships"><Relationship Id="rId3" Type="http://schemas.openxmlformats.org/officeDocument/2006/relationships/image" Target="../media/image60.jpg"/><Relationship Id="rId2" Type="http://schemas.openxmlformats.org/officeDocument/2006/relationships/notesSlide" Target="../notesSlides/notesSlide300.xml"/><Relationship Id="rId1" Type="http://schemas.openxmlformats.org/officeDocument/2006/relationships/slideLayout" Target="../slideLayouts/slideLayout1.xml"/></Relationships>
</file>

<file path=ppt/slides/_rels/slide301.xml.rels><?xml version="1.0" encoding="UTF-8" standalone="yes"?>
<Relationships xmlns="http://schemas.openxmlformats.org/package/2006/relationships"><Relationship Id="rId2" Type="http://schemas.openxmlformats.org/officeDocument/2006/relationships/notesSlide" Target="../notesSlides/notesSlide301.xml"/><Relationship Id="rId1" Type="http://schemas.openxmlformats.org/officeDocument/2006/relationships/slideLayout" Target="../slideLayouts/slideLayout1.xml"/></Relationships>
</file>

<file path=ppt/slides/_rels/slide302.xml.rels><?xml version="1.0" encoding="UTF-8" standalone="yes"?>
<Relationships xmlns="http://schemas.openxmlformats.org/package/2006/relationships"><Relationship Id="rId3" Type="http://schemas.openxmlformats.org/officeDocument/2006/relationships/image" Target="../media/image211.jpg"/><Relationship Id="rId2" Type="http://schemas.openxmlformats.org/officeDocument/2006/relationships/notesSlide" Target="../notesSlides/notesSlide302.xml"/><Relationship Id="rId1" Type="http://schemas.openxmlformats.org/officeDocument/2006/relationships/slideLayout" Target="../slideLayouts/slideLayout1.xml"/></Relationships>
</file>

<file path=ppt/slides/_rels/slide303.xml.rels><?xml version="1.0" encoding="UTF-8" standalone="yes"?>
<Relationships xmlns="http://schemas.openxmlformats.org/package/2006/relationships"><Relationship Id="rId3" Type="http://schemas.openxmlformats.org/officeDocument/2006/relationships/image" Target="../media/image212.jpg"/><Relationship Id="rId2" Type="http://schemas.openxmlformats.org/officeDocument/2006/relationships/notesSlide" Target="../notesSlides/notesSlide303.xml"/><Relationship Id="rId1" Type="http://schemas.openxmlformats.org/officeDocument/2006/relationships/slideLayout" Target="../slideLayouts/slideLayout1.xml"/></Relationships>
</file>

<file path=ppt/slides/_rels/slide304.xml.rels><?xml version="1.0" encoding="UTF-8" standalone="yes"?>
<Relationships xmlns="http://schemas.openxmlformats.org/package/2006/relationships"><Relationship Id="rId3" Type="http://schemas.openxmlformats.org/officeDocument/2006/relationships/image" Target="../media/image213.jpg"/><Relationship Id="rId2" Type="http://schemas.openxmlformats.org/officeDocument/2006/relationships/notesSlide" Target="../notesSlides/notesSlide304.xml"/><Relationship Id="rId1" Type="http://schemas.openxmlformats.org/officeDocument/2006/relationships/slideLayout" Target="../slideLayouts/slideLayout1.xml"/></Relationships>
</file>

<file path=ppt/slides/_rels/slide305.xml.rels><?xml version="1.0" encoding="UTF-8" standalone="yes"?>
<Relationships xmlns="http://schemas.openxmlformats.org/package/2006/relationships"><Relationship Id="rId3" Type="http://schemas.openxmlformats.org/officeDocument/2006/relationships/image" Target="../media/image214.jpg"/><Relationship Id="rId2" Type="http://schemas.openxmlformats.org/officeDocument/2006/relationships/notesSlide" Target="../notesSlides/notesSlide305.xml"/><Relationship Id="rId1" Type="http://schemas.openxmlformats.org/officeDocument/2006/relationships/slideLayout" Target="../slideLayouts/slideLayout1.xml"/></Relationships>
</file>

<file path=ppt/slides/_rels/slide306.xml.rels><?xml version="1.0" encoding="UTF-8" standalone="yes"?>
<Relationships xmlns="http://schemas.openxmlformats.org/package/2006/relationships"><Relationship Id="rId2" Type="http://schemas.openxmlformats.org/officeDocument/2006/relationships/notesSlide" Target="../notesSlides/notesSlide306.xml"/><Relationship Id="rId1" Type="http://schemas.openxmlformats.org/officeDocument/2006/relationships/slideLayout" Target="../slideLayouts/slideLayout1.xml"/></Relationships>
</file>

<file path=ppt/slides/_rels/slide307.xml.rels><?xml version="1.0" encoding="UTF-8" standalone="yes"?>
<Relationships xmlns="http://schemas.openxmlformats.org/package/2006/relationships"><Relationship Id="rId3" Type="http://schemas.openxmlformats.org/officeDocument/2006/relationships/image" Target="../media/image215.jpg"/><Relationship Id="rId2" Type="http://schemas.openxmlformats.org/officeDocument/2006/relationships/notesSlide" Target="../notesSlides/notesSlide307.xml"/><Relationship Id="rId1" Type="http://schemas.openxmlformats.org/officeDocument/2006/relationships/slideLayout" Target="../slideLayouts/slideLayout1.xml"/></Relationships>
</file>

<file path=ppt/slides/_rels/slide308.xml.rels><?xml version="1.0" encoding="UTF-8" standalone="yes"?>
<Relationships xmlns="http://schemas.openxmlformats.org/package/2006/relationships"><Relationship Id="rId3" Type="http://schemas.openxmlformats.org/officeDocument/2006/relationships/image" Target="../media/image216.jpg"/><Relationship Id="rId2" Type="http://schemas.openxmlformats.org/officeDocument/2006/relationships/notesSlide" Target="../notesSlides/notesSlide308.xml"/><Relationship Id="rId1" Type="http://schemas.openxmlformats.org/officeDocument/2006/relationships/slideLayout" Target="../slideLayouts/slideLayout1.xml"/></Relationships>
</file>

<file path=ppt/slides/_rels/slide309.xml.rels><?xml version="1.0" encoding="UTF-8" standalone="yes"?>
<Relationships xmlns="http://schemas.openxmlformats.org/package/2006/relationships"><Relationship Id="rId3" Type="http://schemas.openxmlformats.org/officeDocument/2006/relationships/image" Target="../media/image217.jpg"/><Relationship Id="rId2" Type="http://schemas.openxmlformats.org/officeDocument/2006/relationships/notesSlide" Target="../notesSlides/notesSlide309.xml"/><Relationship Id="rId1" Type="http://schemas.openxmlformats.org/officeDocument/2006/relationships/slideLayout" Target="../slideLayouts/slideLayout1.xml"/></Relationships>
</file>

<file path=ppt/slides/_rels/slide310.xml.rels><?xml version="1.0" encoding="UTF-8" standalone="yes"?>
<Relationships xmlns="http://schemas.openxmlformats.org/package/2006/relationships"><Relationship Id="rId3" Type="http://schemas.openxmlformats.org/officeDocument/2006/relationships/image" Target="../media/image218.jpg"/><Relationship Id="rId2" Type="http://schemas.openxmlformats.org/officeDocument/2006/relationships/notesSlide" Target="../notesSlides/notesSlide310.xml"/><Relationship Id="rId1" Type="http://schemas.openxmlformats.org/officeDocument/2006/relationships/slideLayout" Target="../slideLayouts/slideLayout1.xml"/></Relationships>
</file>

<file path=ppt/slides/_rels/slide311.xml.rels><?xml version="1.0" encoding="UTF-8" standalone="yes"?>
<Relationships xmlns="http://schemas.openxmlformats.org/package/2006/relationships"><Relationship Id="rId3" Type="http://schemas.openxmlformats.org/officeDocument/2006/relationships/image" Target="../media/image219.jpg"/><Relationship Id="rId2" Type="http://schemas.openxmlformats.org/officeDocument/2006/relationships/notesSlide" Target="../notesSlides/notesSlide311.xml"/><Relationship Id="rId1" Type="http://schemas.openxmlformats.org/officeDocument/2006/relationships/slideLayout" Target="../slideLayouts/slideLayout1.xml"/></Relationships>
</file>

<file path=ppt/slides/_rels/slide312.xml.rels><?xml version="1.0" encoding="UTF-8" standalone="yes"?>
<Relationships xmlns="http://schemas.openxmlformats.org/package/2006/relationships"><Relationship Id="rId2" Type="http://schemas.openxmlformats.org/officeDocument/2006/relationships/notesSlide" Target="../notesSlides/notesSlide312.xml"/><Relationship Id="rId1" Type="http://schemas.openxmlformats.org/officeDocument/2006/relationships/slideLayout" Target="../slideLayouts/slideLayout1.xml"/></Relationships>
</file>

<file path=ppt/slides/_rels/slide313.xml.rels><?xml version="1.0" encoding="UTF-8" standalone="yes"?>
<Relationships xmlns="http://schemas.openxmlformats.org/package/2006/relationships"><Relationship Id="rId3" Type="http://schemas.openxmlformats.org/officeDocument/2006/relationships/image" Target="../media/image220.jpg"/><Relationship Id="rId2" Type="http://schemas.openxmlformats.org/officeDocument/2006/relationships/notesSlide" Target="../notesSlides/notesSlide313.xml"/><Relationship Id="rId1" Type="http://schemas.openxmlformats.org/officeDocument/2006/relationships/slideLayout" Target="../slideLayouts/slideLayout1.xml"/></Relationships>
</file>

<file path=ppt/slides/_rels/slide314.xml.rels><?xml version="1.0" encoding="UTF-8" standalone="yes"?>
<Relationships xmlns="http://schemas.openxmlformats.org/package/2006/relationships"><Relationship Id="rId3" Type="http://schemas.openxmlformats.org/officeDocument/2006/relationships/image" Target="../media/image221.jpg"/><Relationship Id="rId2" Type="http://schemas.openxmlformats.org/officeDocument/2006/relationships/notesSlide" Target="../notesSlides/notesSlide314.xml"/><Relationship Id="rId1" Type="http://schemas.openxmlformats.org/officeDocument/2006/relationships/slideLayout" Target="../slideLayouts/slideLayout1.xml"/></Relationships>
</file>

<file path=ppt/slides/_rels/slide315.xml.rels><?xml version="1.0" encoding="UTF-8" standalone="yes"?>
<Relationships xmlns="http://schemas.openxmlformats.org/package/2006/relationships"><Relationship Id="rId3" Type="http://schemas.openxmlformats.org/officeDocument/2006/relationships/image" Target="../media/image222.jpg"/><Relationship Id="rId2" Type="http://schemas.openxmlformats.org/officeDocument/2006/relationships/notesSlide" Target="../notesSlides/notesSlide315.xml"/><Relationship Id="rId1" Type="http://schemas.openxmlformats.org/officeDocument/2006/relationships/slideLayout" Target="../slideLayouts/slideLayout1.xml"/></Relationships>
</file>

<file path=ppt/slides/_rels/slide316.xml.rels><?xml version="1.0" encoding="UTF-8" standalone="yes"?>
<Relationships xmlns="http://schemas.openxmlformats.org/package/2006/relationships"><Relationship Id="rId2" Type="http://schemas.openxmlformats.org/officeDocument/2006/relationships/notesSlide" Target="../notesSlides/notesSlide316.xml"/><Relationship Id="rId1" Type="http://schemas.openxmlformats.org/officeDocument/2006/relationships/slideLayout" Target="../slideLayouts/slideLayout1.xml"/></Relationships>
</file>

<file path=ppt/slides/_rels/slide317.xml.rels><?xml version="1.0" encoding="UTF-8" standalone="yes"?>
<Relationships xmlns="http://schemas.openxmlformats.org/package/2006/relationships"><Relationship Id="rId3" Type="http://schemas.openxmlformats.org/officeDocument/2006/relationships/image" Target="../media/image223.jpg"/><Relationship Id="rId2" Type="http://schemas.openxmlformats.org/officeDocument/2006/relationships/notesSlide" Target="../notesSlides/notesSlide317.xml"/><Relationship Id="rId1" Type="http://schemas.openxmlformats.org/officeDocument/2006/relationships/slideLayout" Target="../slideLayouts/slideLayout1.xml"/></Relationships>
</file>

<file path=ppt/slides/_rels/slide318.xml.rels><?xml version="1.0" encoding="UTF-8" standalone="yes"?>
<Relationships xmlns="http://schemas.openxmlformats.org/package/2006/relationships"><Relationship Id="rId3" Type="http://schemas.openxmlformats.org/officeDocument/2006/relationships/image" Target="../media/image224.jpg"/><Relationship Id="rId2" Type="http://schemas.openxmlformats.org/officeDocument/2006/relationships/notesSlide" Target="../notesSlides/notesSlide318.xml"/><Relationship Id="rId1" Type="http://schemas.openxmlformats.org/officeDocument/2006/relationships/slideLayout" Target="../slideLayouts/slideLayout1.xml"/></Relationships>
</file>

<file path=ppt/slides/_rels/slide319.xml.rels><?xml version="1.0" encoding="UTF-8" standalone="yes"?>
<Relationships xmlns="http://schemas.openxmlformats.org/package/2006/relationships"><Relationship Id="rId3" Type="http://schemas.openxmlformats.org/officeDocument/2006/relationships/image" Target="../media/image225.jpg"/><Relationship Id="rId2" Type="http://schemas.openxmlformats.org/officeDocument/2006/relationships/notesSlide" Target="../notesSlides/notesSlide319.xml"/><Relationship Id="rId1" Type="http://schemas.openxmlformats.org/officeDocument/2006/relationships/slideLayout" Target="../slideLayouts/slideLayout1.xml"/></Relationships>
</file>

<file path=ppt/slides/_rels/slide320.xml.rels><?xml version="1.0" encoding="UTF-8" standalone="yes"?>
<Relationships xmlns="http://schemas.openxmlformats.org/package/2006/relationships"><Relationship Id="rId3" Type="http://schemas.openxmlformats.org/officeDocument/2006/relationships/image" Target="../media/image226.jpg"/><Relationship Id="rId2" Type="http://schemas.openxmlformats.org/officeDocument/2006/relationships/notesSlide" Target="../notesSlides/notesSlide320.xml"/><Relationship Id="rId1" Type="http://schemas.openxmlformats.org/officeDocument/2006/relationships/slideLayout" Target="../slideLayouts/slideLayout1.xml"/></Relationships>
</file>

<file path=ppt/slides/_rels/slide321.xml.rels><?xml version="1.0" encoding="UTF-8" standalone="yes"?>
<Relationships xmlns="http://schemas.openxmlformats.org/package/2006/relationships"><Relationship Id="rId2" Type="http://schemas.openxmlformats.org/officeDocument/2006/relationships/notesSlide" Target="../notesSlides/notesSlide321.xml"/><Relationship Id="rId1" Type="http://schemas.openxmlformats.org/officeDocument/2006/relationships/slideLayout" Target="../slideLayouts/slideLayout1.xml"/></Relationships>
</file>

<file path=ppt/slides/_rels/slide322.xml.rels><?xml version="1.0" encoding="UTF-8" standalone="yes"?>
<Relationships xmlns="http://schemas.openxmlformats.org/package/2006/relationships"><Relationship Id="rId2" Type="http://schemas.openxmlformats.org/officeDocument/2006/relationships/notesSlide" Target="../notesSlides/notesSlide322.xml"/><Relationship Id="rId1" Type="http://schemas.openxmlformats.org/officeDocument/2006/relationships/slideLayout" Target="../slideLayouts/slideLayout1.xml"/></Relationships>
</file>

<file path=ppt/slides/_rels/slide323.xml.rels><?xml version="1.0" encoding="UTF-8" standalone="yes"?>
<Relationships xmlns="http://schemas.openxmlformats.org/package/2006/relationships"><Relationship Id="rId2" Type="http://schemas.openxmlformats.org/officeDocument/2006/relationships/notesSlide" Target="../notesSlides/notesSlide323.xml"/><Relationship Id="rId1" Type="http://schemas.openxmlformats.org/officeDocument/2006/relationships/slideLayout" Target="../slideLayouts/slideLayout1.xml"/></Relationships>
</file>

<file path=ppt/slides/_rels/slide324.xml.rels><?xml version="1.0" encoding="UTF-8" standalone="yes"?>
<Relationships xmlns="http://schemas.openxmlformats.org/package/2006/relationships"><Relationship Id="rId2" Type="http://schemas.openxmlformats.org/officeDocument/2006/relationships/notesSlide" Target="../notesSlides/notesSlide324.xml"/><Relationship Id="rId1" Type="http://schemas.openxmlformats.org/officeDocument/2006/relationships/slideLayout" Target="../slideLayouts/slideLayout1.xml"/></Relationships>
</file>

<file path=ppt/slides/_rels/slide325.xml.rels><?xml version="1.0" encoding="UTF-8" standalone="yes"?>
<Relationships xmlns="http://schemas.openxmlformats.org/package/2006/relationships"><Relationship Id="rId3" Type="http://schemas.openxmlformats.org/officeDocument/2006/relationships/image" Target="../media/image24.jpg"/><Relationship Id="rId2" Type="http://schemas.openxmlformats.org/officeDocument/2006/relationships/notesSlide" Target="../notesSlides/notesSlide325.xml"/><Relationship Id="rId1" Type="http://schemas.openxmlformats.org/officeDocument/2006/relationships/slideLayout" Target="../slideLayouts/slideLayout1.xml"/></Relationships>
</file>

<file path=ppt/slides/_rels/slide326.xml.rels><?xml version="1.0" encoding="UTF-8" standalone="yes"?>
<Relationships xmlns="http://schemas.openxmlformats.org/package/2006/relationships"><Relationship Id="rId3" Type="http://schemas.openxmlformats.org/officeDocument/2006/relationships/image" Target="../media/image227.jpg"/><Relationship Id="rId2" Type="http://schemas.openxmlformats.org/officeDocument/2006/relationships/notesSlide" Target="../notesSlides/notesSlide326.xml"/><Relationship Id="rId1" Type="http://schemas.openxmlformats.org/officeDocument/2006/relationships/slideLayout" Target="../slideLayouts/slideLayout1.xml"/></Relationships>
</file>

<file path=ppt/slides/_rels/slide327.xml.rels><?xml version="1.0" encoding="UTF-8" standalone="yes"?>
<Relationships xmlns="http://schemas.openxmlformats.org/package/2006/relationships"><Relationship Id="rId3" Type="http://schemas.openxmlformats.org/officeDocument/2006/relationships/image" Target="../media/image228.jpg"/><Relationship Id="rId2" Type="http://schemas.openxmlformats.org/officeDocument/2006/relationships/notesSlide" Target="../notesSlides/notesSlide327.xml"/><Relationship Id="rId1" Type="http://schemas.openxmlformats.org/officeDocument/2006/relationships/slideLayout" Target="../slideLayouts/slideLayout1.xml"/></Relationships>
</file>

<file path=ppt/slides/_rels/slide328.xml.rels><?xml version="1.0" encoding="UTF-8" standalone="yes"?>
<Relationships xmlns="http://schemas.openxmlformats.org/package/2006/relationships"><Relationship Id="rId2" Type="http://schemas.openxmlformats.org/officeDocument/2006/relationships/notesSlide" Target="../notesSlides/notesSlide328.xml"/><Relationship Id="rId1" Type="http://schemas.openxmlformats.org/officeDocument/2006/relationships/slideLayout" Target="../slideLayouts/slideLayout1.xml"/></Relationships>
</file>

<file path=ppt/slides/_rels/slide329.xml.rels><?xml version="1.0" encoding="UTF-8" standalone="yes"?>
<Relationships xmlns="http://schemas.openxmlformats.org/package/2006/relationships"><Relationship Id="rId3" Type="http://schemas.openxmlformats.org/officeDocument/2006/relationships/image" Target="../media/image80.jpg"/><Relationship Id="rId2" Type="http://schemas.openxmlformats.org/officeDocument/2006/relationships/notesSlide" Target="../notesSlides/notesSlide329.xml"/><Relationship Id="rId1" Type="http://schemas.openxmlformats.org/officeDocument/2006/relationships/slideLayout" Target="../slideLayouts/slideLayout1.xml"/></Relationships>
</file>

<file path=ppt/slides/_rels/slide330.xml.rels><?xml version="1.0" encoding="UTF-8" standalone="yes"?>
<Relationships xmlns="http://schemas.openxmlformats.org/package/2006/relationships"><Relationship Id="rId2" Type="http://schemas.openxmlformats.org/officeDocument/2006/relationships/notesSlide" Target="../notesSlides/notesSlide330.xml"/><Relationship Id="rId1" Type="http://schemas.openxmlformats.org/officeDocument/2006/relationships/slideLayout" Target="../slideLayouts/slideLayout1.xml"/></Relationships>
</file>

<file path=ppt/slides/_rels/slide331.xml.rels><?xml version="1.0" encoding="UTF-8" standalone="yes"?>
<Relationships xmlns="http://schemas.openxmlformats.org/package/2006/relationships"><Relationship Id="rId3" Type="http://schemas.openxmlformats.org/officeDocument/2006/relationships/image" Target="../media/image229.jpg"/><Relationship Id="rId2" Type="http://schemas.openxmlformats.org/officeDocument/2006/relationships/notesSlide" Target="../notesSlides/notesSlide331.xml"/><Relationship Id="rId1" Type="http://schemas.openxmlformats.org/officeDocument/2006/relationships/slideLayout" Target="../slideLayouts/slideLayout1.xml"/></Relationships>
</file>

<file path=ppt/slides/_rels/slide332.xml.rels><?xml version="1.0" encoding="UTF-8" standalone="yes"?>
<Relationships xmlns="http://schemas.openxmlformats.org/package/2006/relationships"><Relationship Id="rId3" Type="http://schemas.openxmlformats.org/officeDocument/2006/relationships/image" Target="../media/image230.jpg"/><Relationship Id="rId2" Type="http://schemas.openxmlformats.org/officeDocument/2006/relationships/notesSlide" Target="../notesSlides/notesSlide332.xml"/><Relationship Id="rId1" Type="http://schemas.openxmlformats.org/officeDocument/2006/relationships/slideLayout" Target="../slideLayouts/slideLayout1.xml"/></Relationships>
</file>

<file path=ppt/slides/_rels/slide333.xml.rels><?xml version="1.0" encoding="UTF-8" standalone="yes"?>
<Relationships xmlns="http://schemas.openxmlformats.org/package/2006/relationships"><Relationship Id="rId2" Type="http://schemas.openxmlformats.org/officeDocument/2006/relationships/notesSlide" Target="../notesSlides/notesSlide333.xml"/><Relationship Id="rId1" Type="http://schemas.openxmlformats.org/officeDocument/2006/relationships/slideLayout" Target="../slideLayouts/slideLayout1.xml"/></Relationships>
</file>

<file path=ppt/slides/_rels/slide334.xml.rels><?xml version="1.0" encoding="UTF-8" standalone="yes"?>
<Relationships xmlns="http://schemas.openxmlformats.org/package/2006/relationships"><Relationship Id="rId2" Type="http://schemas.openxmlformats.org/officeDocument/2006/relationships/notesSlide" Target="../notesSlides/notesSlide334.xml"/><Relationship Id="rId1" Type="http://schemas.openxmlformats.org/officeDocument/2006/relationships/slideLayout" Target="../slideLayouts/slideLayout1.xml"/></Relationships>
</file>

<file path=ppt/slides/_rels/slide335.xml.rels><?xml version="1.0" encoding="UTF-8" standalone="yes"?>
<Relationships xmlns="http://schemas.openxmlformats.org/package/2006/relationships"><Relationship Id="rId2" Type="http://schemas.openxmlformats.org/officeDocument/2006/relationships/notesSlide" Target="../notesSlides/notesSlide335.xml"/><Relationship Id="rId1" Type="http://schemas.openxmlformats.org/officeDocument/2006/relationships/slideLayout" Target="../slideLayouts/slideLayout1.xml"/></Relationships>
</file>

<file path=ppt/slides/_rels/slide336.xml.rels><?xml version="1.0" encoding="UTF-8" standalone="yes"?>
<Relationships xmlns="http://schemas.openxmlformats.org/package/2006/relationships"><Relationship Id="rId2" Type="http://schemas.openxmlformats.org/officeDocument/2006/relationships/notesSlide" Target="../notesSlides/notesSlide336.xml"/><Relationship Id="rId1" Type="http://schemas.openxmlformats.org/officeDocument/2006/relationships/slideLayout" Target="../slideLayouts/slideLayout1.xml"/></Relationships>
</file>

<file path=ppt/slides/_rels/slide337.xml.rels><?xml version="1.0" encoding="UTF-8" standalone="yes"?>
<Relationships xmlns="http://schemas.openxmlformats.org/package/2006/relationships"><Relationship Id="rId2" Type="http://schemas.openxmlformats.org/officeDocument/2006/relationships/notesSlide" Target="../notesSlides/notesSlide337.xml"/><Relationship Id="rId1" Type="http://schemas.openxmlformats.org/officeDocument/2006/relationships/slideLayout" Target="../slideLayouts/slideLayout1.xml"/></Relationships>
</file>

<file path=ppt/slides/_rels/slide338.xml.rels><?xml version="1.0" encoding="UTF-8" standalone="yes"?>
<Relationships xmlns="http://schemas.openxmlformats.org/package/2006/relationships"><Relationship Id="rId2" Type="http://schemas.openxmlformats.org/officeDocument/2006/relationships/notesSlide" Target="../notesSlides/notesSlide338.xml"/><Relationship Id="rId1" Type="http://schemas.openxmlformats.org/officeDocument/2006/relationships/slideLayout" Target="../slideLayouts/slideLayout1.xml"/></Relationships>
</file>

<file path=ppt/slides/_rels/slide339.xml.rels><?xml version="1.0" encoding="UTF-8" standalone="yes"?>
<Relationships xmlns="http://schemas.openxmlformats.org/package/2006/relationships"><Relationship Id="rId2" Type="http://schemas.openxmlformats.org/officeDocument/2006/relationships/notesSlide" Target="../notesSlides/notesSlide339.xml"/><Relationship Id="rId1" Type="http://schemas.openxmlformats.org/officeDocument/2006/relationships/slideLayout" Target="../slideLayouts/slideLayout1.xml"/></Relationships>
</file>

<file path=ppt/slides/_rels/slide340.xml.rels><?xml version="1.0" encoding="UTF-8" standalone="yes"?>
<Relationships xmlns="http://schemas.openxmlformats.org/package/2006/relationships"><Relationship Id="rId2" Type="http://schemas.openxmlformats.org/officeDocument/2006/relationships/notesSlide" Target="../notesSlides/notesSlide340.xml"/><Relationship Id="rId1" Type="http://schemas.openxmlformats.org/officeDocument/2006/relationships/slideLayout" Target="../slideLayouts/slideLayout1.xml"/></Relationships>
</file>

<file path=ppt/slides/_rels/slide341.xml.rels><?xml version="1.0" encoding="UTF-8" standalone="yes"?>
<Relationships xmlns="http://schemas.openxmlformats.org/package/2006/relationships"><Relationship Id="rId2" Type="http://schemas.openxmlformats.org/officeDocument/2006/relationships/notesSlide" Target="../notesSlides/notesSlide341.xml"/><Relationship Id="rId1" Type="http://schemas.openxmlformats.org/officeDocument/2006/relationships/slideLayout" Target="../slideLayouts/slideLayout1.xml"/></Relationships>
</file>

<file path=ppt/slides/_rels/slide342.xml.rels><?xml version="1.0" encoding="UTF-8" standalone="yes"?>
<Relationships xmlns="http://schemas.openxmlformats.org/package/2006/relationships"><Relationship Id="rId2" Type="http://schemas.openxmlformats.org/officeDocument/2006/relationships/notesSlide" Target="../notesSlides/notesSlide342.xml"/><Relationship Id="rId1" Type="http://schemas.openxmlformats.org/officeDocument/2006/relationships/slideLayout" Target="../slideLayouts/slideLayout1.xml"/></Relationships>
</file>

<file path=ppt/slides/_rels/slide343.xml.rels><?xml version="1.0" encoding="UTF-8" standalone="yes"?>
<Relationships xmlns="http://schemas.openxmlformats.org/package/2006/relationships"><Relationship Id="rId2" Type="http://schemas.openxmlformats.org/officeDocument/2006/relationships/notesSlide" Target="../notesSlides/notesSlide343.xml"/><Relationship Id="rId1" Type="http://schemas.openxmlformats.org/officeDocument/2006/relationships/slideLayout" Target="../slideLayouts/slideLayout1.xml"/></Relationships>
</file>

<file path=ppt/slides/_rels/slide344.xml.rels><?xml version="1.0" encoding="UTF-8" standalone="yes"?>
<Relationships xmlns="http://schemas.openxmlformats.org/package/2006/relationships"><Relationship Id="rId2" Type="http://schemas.openxmlformats.org/officeDocument/2006/relationships/notesSlide" Target="../notesSlides/notesSlide344.xml"/><Relationship Id="rId1" Type="http://schemas.openxmlformats.org/officeDocument/2006/relationships/slideLayout" Target="../slideLayouts/slideLayout1.xml"/></Relationships>
</file>

<file path=ppt/slides/_rels/slide345.xml.rels><?xml version="1.0" encoding="UTF-8" standalone="yes"?>
<Relationships xmlns="http://schemas.openxmlformats.org/package/2006/relationships"><Relationship Id="rId2" Type="http://schemas.openxmlformats.org/officeDocument/2006/relationships/notesSlide" Target="../notesSlides/notesSlide345.xml"/><Relationship Id="rId1" Type="http://schemas.openxmlformats.org/officeDocument/2006/relationships/slideLayout" Target="../slideLayouts/slideLayout1.xml"/></Relationships>
</file>

<file path=ppt/slides/_rels/slide346.xml.rels><?xml version="1.0" encoding="UTF-8" standalone="yes"?>
<Relationships xmlns="http://schemas.openxmlformats.org/package/2006/relationships"><Relationship Id="rId2" Type="http://schemas.openxmlformats.org/officeDocument/2006/relationships/notesSlide" Target="../notesSlides/notesSlide346.xml"/><Relationship Id="rId1" Type="http://schemas.openxmlformats.org/officeDocument/2006/relationships/slideLayout" Target="../slideLayouts/slideLayout1.xml"/></Relationships>
</file>

<file path=ppt/slides/_rels/slide347.xml.rels><?xml version="1.0" encoding="UTF-8" standalone="yes"?>
<Relationships xmlns="http://schemas.openxmlformats.org/package/2006/relationships"><Relationship Id="rId2" Type="http://schemas.openxmlformats.org/officeDocument/2006/relationships/notesSlide" Target="../notesSlides/notesSlide347.xml"/><Relationship Id="rId1" Type="http://schemas.openxmlformats.org/officeDocument/2006/relationships/slideLayout" Target="../slideLayouts/slideLayout1.xml"/></Relationships>
</file>

<file path=ppt/slides/_rels/slide348.xml.rels><?xml version="1.0" encoding="UTF-8" standalone="yes"?>
<Relationships xmlns="http://schemas.openxmlformats.org/package/2006/relationships"><Relationship Id="rId2" Type="http://schemas.openxmlformats.org/officeDocument/2006/relationships/notesSlide" Target="../notesSlides/notesSlide348.xml"/><Relationship Id="rId1" Type="http://schemas.openxmlformats.org/officeDocument/2006/relationships/slideLayout" Target="../slideLayouts/slideLayout1.xml"/></Relationships>
</file>

<file path=ppt/slides/_rels/slide349.xml.rels><?xml version="1.0" encoding="UTF-8" standalone="yes"?>
<Relationships xmlns="http://schemas.openxmlformats.org/package/2006/relationships"><Relationship Id="rId2" Type="http://schemas.openxmlformats.org/officeDocument/2006/relationships/notesSlide" Target="../notesSlides/notesSlide349.xml"/><Relationship Id="rId1" Type="http://schemas.openxmlformats.org/officeDocument/2006/relationships/slideLayout" Target="../slideLayouts/slideLayout1.xml"/></Relationships>
</file>

<file path=ppt/slides/_rels/slide350.xml.rels><?xml version="1.0" encoding="UTF-8" standalone="yes"?>
<Relationships xmlns="http://schemas.openxmlformats.org/package/2006/relationships"><Relationship Id="rId2" Type="http://schemas.openxmlformats.org/officeDocument/2006/relationships/notesSlide" Target="../notesSlides/notesSlide350.xml"/><Relationship Id="rId1" Type="http://schemas.openxmlformats.org/officeDocument/2006/relationships/slideLayout" Target="../slideLayouts/slideLayout1.xml"/></Relationships>
</file>

<file path=ppt/slides/_rels/slide351.xml.rels><?xml version="1.0" encoding="UTF-8" standalone="yes"?>
<Relationships xmlns="http://schemas.openxmlformats.org/package/2006/relationships"><Relationship Id="rId2" Type="http://schemas.openxmlformats.org/officeDocument/2006/relationships/notesSlide" Target="../notesSlides/notesSlide351.xml"/><Relationship Id="rId1" Type="http://schemas.openxmlformats.org/officeDocument/2006/relationships/slideLayout" Target="../slideLayouts/slideLayout1.xml"/></Relationships>
</file>

<file path=ppt/slides/_rels/slide352.xml.rels><?xml version="1.0" encoding="UTF-8" standalone="yes"?>
<Relationships xmlns="http://schemas.openxmlformats.org/package/2006/relationships"><Relationship Id="rId2" Type="http://schemas.openxmlformats.org/officeDocument/2006/relationships/notesSlide" Target="../notesSlides/notesSlide352.xml"/><Relationship Id="rId1" Type="http://schemas.openxmlformats.org/officeDocument/2006/relationships/slideLayout" Target="../slideLayouts/slideLayout1.xml"/></Relationships>
</file>

<file path=ppt/slides/_rels/slide353.xml.rels><?xml version="1.0" encoding="UTF-8" standalone="yes"?>
<Relationships xmlns="http://schemas.openxmlformats.org/package/2006/relationships"><Relationship Id="rId2" Type="http://schemas.openxmlformats.org/officeDocument/2006/relationships/notesSlide" Target="../notesSlides/notesSlide353.xml"/><Relationship Id="rId1" Type="http://schemas.openxmlformats.org/officeDocument/2006/relationships/slideLayout" Target="../slideLayouts/slideLayout1.xml"/></Relationships>
</file>

<file path=ppt/slides/_rels/slide354.xml.rels><?xml version="1.0" encoding="UTF-8" standalone="yes"?>
<Relationships xmlns="http://schemas.openxmlformats.org/package/2006/relationships"><Relationship Id="rId2" Type="http://schemas.openxmlformats.org/officeDocument/2006/relationships/notesSlide" Target="../notesSlides/notesSlide354.xml"/><Relationship Id="rId1" Type="http://schemas.openxmlformats.org/officeDocument/2006/relationships/slideLayout" Target="../slideLayouts/slideLayout1.xml"/></Relationships>
</file>

<file path=ppt/slides/_rels/slide355.xml.rels><?xml version="1.0" encoding="UTF-8" standalone="yes"?>
<Relationships xmlns="http://schemas.openxmlformats.org/package/2006/relationships"><Relationship Id="rId2" Type="http://schemas.openxmlformats.org/officeDocument/2006/relationships/notesSlide" Target="../notesSlides/notesSlide355.xml"/><Relationship Id="rId1" Type="http://schemas.openxmlformats.org/officeDocument/2006/relationships/slideLayout" Target="../slideLayouts/slideLayout1.xml"/></Relationships>
</file>

<file path=ppt/slides/_rels/slide356.xml.rels><?xml version="1.0" encoding="UTF-8" standalone="yes"?>
<Relationships xmlns="http://schemas.openxmlformats.org/package/2006/relationships"><Relationship Id="rId2" Type="http://schemas.openxmlformats.org/officeDocument/2006/relationships/notesSlide" Target="../notesSlides/notesSlide356.xml"/><Relationship Id="rId1" Type="http://schemas.openxmlformats.org/officeDocument/2006/relationships/slideLayout" Target="../slideLayouts/slideLayout1.xml"/></Relationships>
</file>

<file path=ppt/slides/_rels/slide357.xml.rels><?xml version="1.0" encoding="UTF-8" standalone="yes"?>
<Relationships xmlns="http://schemas.openxmlformats.org/package/2006/relationships"><Relationship Id="rId2" Type="http://schemas.openxmlformats.org/officeDocument/2006/relationships/notesSlide" Target="../notesSlides/notesSlide357.xml"/><Relationship Id="rId1" Type="http://schemas.openxmlformats.org/officeDocument/2006/relationships/slideLayout" Target="../slideLayouts/slideLayout1.xml"/></Relationships>
</file>

<file path=ppt/slides/_rels/slide358.xml.rels><?xml version="1.0" encoding="UTF-8" standalone="yes"?>
<Relationships xmlns="http://schemas.openxmlformats.org/package/2006/relationships"><Relationship Id="rId2" Type="http://schemas.openxmlformats.org/officeDocument/2006/relationships/notesSlide" Target="../notesSlides/notesSlide358.xml"/><Relationship Id="rId1" Type="http://schemas.openxmlformats.org/officeDocument/2006/relationships/slideLayout" Target="../slideLayouts/slideLayout1.xml"/></Relationships>
</file>

<file path=ppt/slides/_rels/slide359.xml.rels><?xml version="1.0" encoding="UTF-8" standalone="yes"?>
<Relationships xmlns="http://schemas.openxmlformats.org/package/2006/relationships"><Relationship Id="rId2" Type="http://schemas.openxmlformats.org/officeDocument/2006/relationships/notesSlide" Target="../notesSlides/notesSlide359.xml"/><Relationship Id="rId1" Type="http://schemas.openxmlformats.org/officeDocument/2006/relationships/slideLayout" Target="../slideLayouts/slideLayout1.xml"/></Relationships>
</file>

<file path=ppt/slides/_rels/slide360.xml.rels><?xml version="1.0" encoding="UTF-8" standalone="yes"?>
<Relationships xmlns="http://schemas.openxmlformats.org/package/2006/relationships"><Relationship Id="rId2" Type="http://schemas.openxmlformats.org/officeDocument/2006/relationships/notesSlide" Target="../notesSlides/notesSlide360.xml"/><Relationship Id="rId1" Type="http://schemas.openxmlformats.org/officeDocument/2006/relationships/slideLayout" Target="../slideLayouts/slideLayout1.xml"/></Relationships>
</file>

<file path=ppt/slides/_rels/slide361.xml.rels><?xml version="1.0" encoding="UTF-8" standalone="yes"?>
<Relationships xmlns="http://schemas.openxmlformats.org/package/2006/relationships"><Relationship Id="rId2" Type="http://schemas.openxmlformats.org/officeDocument/2006/relationships/notesSlide" Target="../notesSlides/notesSlide361.xml"/><Relationship Id="rId1" Type="http://schemas.openxmlformats.org/officeDocument/2006/relationships/slideLayout" Target="../slideLayouts/slideLayout1.xml"/></Relationships>
</file>

<file path=ppt/slides/_rels/slide362.xml.rels><?xml version="1.0" encoding="UTF-8" standalone="yes"?>
<Relationships xmlns="http://schemas.openxmlformats.org/package/2006/relationships"><Relationship Id="rId2" Type="http://schemas.openxmlformats.org/officeDocument/2006/relationships/notesSlide" Target="../notesSlides/notesSlide362.xml"/><Relationship Id="rId1" Type="http://schemas.openxmlformats.org/officeDocument/2006/relationships/slideLayout" Target="../slideLayouts/slideLayout1.xml"/></Relationships>
</file>

<file path=ppt/slides/_rels/slide363.xml.rels><?xml version="1.0" encoding="UTF-8" standalone="yes"?>
<Relationships xmlns="http://schemas.openxmlformats.org/package/2006/relationships"><Relationship Id="rId2" Type="http://schemas.openxmlformats.org/officeDocument/2006/relationships/notesSlide" Target="../notesSlides/notesSlide363.xml"/><Relationship Id="rId1" Type="http://schemas.openxmlformats.org/officeDocument/2006/relationships/slideLayout" Target="../slideLayouts/slideLayout1.xml"/></Relationships>
</file>

<file path=ppt/slides/_rels/slide364.xml.rels><?xml version="1.0" encoding="UTF-8" standalone="yes"?>
<Relationships xmlns="http://schemas.openxmlformats.org/package/2006/relationships"><Relationship Id="rId2" Type="http://schemas.openxmlformats.org/officeDocument/2006/relationships/notesSlide" Target="../notesSlides/notesSlide364.xml"/><Relationship Id="rId1" Type="http://schemas.openxmlformats.org/officeDocument/2006/relationships/slideLayout" Target="../slideLayouts/slideLayout1.xml"/></Relationships>
</file>

<file path=ppt/slides/_rels/slide365.xml.rels><?xml version="1.0" encoding="UTF-8" standalone="yes"?>
<Relationships xmlns="http://schemas.openxmlformats.org/package/2006/relationships"><Relationship Id="rId2" Type="http://schemas.openxmlformats.org/officeDocument/2006/relationships/notesSlide" Target="../notesSlides/notesSlide365.xml"/><Relationship Id="rId1" Type="http://schemas.openxmlformats.org/officeDocument/2006/relationships/slideLayout" Target="../slideLayouts/slideLayout1.xml"/></Relationships>
</file>

<file path=ppt/slides/_rels/slide366.xml.rels><?xml version="1.0" encoding="UTF-8" standalone="yes"?>
<Relationships xmlns="http://schemas.openxmlformats.org/package/2006/relationships"><Relationship Id="rId2" Type="http://schemas.openxmlformats.org/officeDocument/2006/relationships/notesSlide" Target="../notesSlides/notesSlide366.xml"/><Relationship Id="rId1" Type="http://schemas.openxmlformats.org/officeDocument/2006/relationships/slideLayout" Target="../slideLayouts/slideLayout1.xml"/></Relationships>
</file>

<file path=ppt/slides/_rels/slide367.xml.rels><?xml version="1.0" encoding="UTF-8" standalone="yes"?>
<Relationships xmlns="http://schemas.openxmlformats.org/package/2006/relationships"><Relationship Id="rId2" Type="http://schemas.openxmlformats.org/officeDocument/2006/relationships/notesSlide" Target="../notesSlides/notesSlide367.xml"/><Relationship Id="rId1" Type="http://schemas.openxmlformats.org/officeDocument/2006/relationships/slideLayout" Target="../slideLayouts/slideLayout1.xml"/></Relationships>
</file>

<file path=ppt/slides/_rels/slide368.xml.rels><?xml version="1.0" encoding="UTF-8" standalone="yes"?>
<Relationships xmlns="http://schemas.openxmlformats.org/package/2006/relationships"><Relationship Id="rId2" Type="http://schemas.openxmlformats.org/officeDocument/2006/relationships/notesSlide" Target="../notesSlides/notesSlide368.xml"/><Relationship Id="rId1" Type="http://schemas.openxmlformats.org/officeDocument/2006/relationships/slideLayout" Target="../slideLayouts/slideLayout1.xml"/></Relationships>
</file>

<file path=ppt/slides/_rels/slide369.xml.rels><?xml version="1.0" encoding="UTF-8" standalone="yes"?>
<Relationships xmlns="http://schemas.openxmlformats.org/package/2006/relationships"><Relationship Id="rId2" Type="http://schemas.openxmlformats.org/officeDocument/2006/relationships/notesSlide" Target="../notesSlides/notesSlide369.xml"/><Relationship Id="rId1" Type="http://schemas.openxmlformats.org/officeDocument/2006/relationships/slideLayout" Target="../slideLayouts/slideLayout1.xml"/></Relationships>
</file>

<file path=ppt/slides/_rels/slide370.xml.rels><?xml version="1.0" encoding="UTF-8" standalone="yes"?>
<Relationships xmlns="http://schemas.openxmlformats.org/package/2006/relationships"><Relationship Id="rId2" Type="http://schemas.openxmlformats.org/officeDocument/2006/relationships/notesSlide" Target="../notesSlides/notesSlide370.xml"/><Relationship Id="rId1" Type="http://schemas.openxmlformats.org/officeDocument/2006/relationships/slideLayout" Target="../slideLayouts/slideLayout1.xml"/></Relationships>
</file>

<file path=ppt/slides/_rels/slide371.xml.rels><?xml version="1.0" encoding="UTF-8" standalone="yes"?>
<Relationships xmlns="http://schemas.openxmlformats.org/package/2006/relationships"><Relationship Id="rId2" Type="http://schemas.openxmlformats.org/officeDocument/2006/relationships/notesSlide" Target="../notesSlides/notesSlide371.xml"/><Relationship Id="rId1" Type="http://schemas.openxmlformats.org/officeDocument/2006/relationships/slideLayout" Target="../slideLayouts/slideLayout1.xml"/></Relationships>
</file>

<file path=ppt/slides/_rels/slide372.xml.rels><?xml version="1.0" encoding="UTF-8" standalone="yes"?>
<Relationships xmlns="http://schemas.openxmlformats.org/package/2006/relationships"><Relationship Id="rId2" Type="http://schemas.openxmlformats.org/officeDocument/2006/relationships/notesSlide" Target="../notesSlides/notesSlide372.xml"/><Relationship Id="rId1" Type="http://schemas.openxmlformats.org/officeDocument/2006/relationships/slideLayout" Target="../slideLayouts/slideLayout1.xml"/></Relationships>
</file>

<file path=ppt/slides/_rels/slide373.xml.rels><?xml version="1.0" encoding="UTF-8" standalone="yes"?>
<Relationships xmlns="http://schemas.openxmlformats.org/package/2006/relationships"><Relationship Id="rId2" Type="http://schemas.openxmlformats.org/officeDocument/2006/relationships/notesSlide" Target="../notesSlides/notesSlide373.xml"/><Relationship Id="rId1" Type="http://schemas.openxmlformats.org/officeDocument/2006/relationships/slideLayout" Target="../slideLayouts/slideLayout1.xml"/></Relationships>
</file>

<file path=ppt/slides/_rels/slide374.xml.rels><?xml version="1.0" encoding="UTF-8" standalone="yes"?>
<Relationships xmlns="http://schemas.openxmlformats.org/package/2006/relationships"><Relationship Id="rId2" Type="http://schemas.openxmlformats.org/officeDocument/2006/relationships/notesSlide" Target="../notesSlides/notesSlide374.xml"/><Relationship Id="rId1" Type="http://schemas.openxmlformats.org/officeDocument/2006/relationships/slideLayout" Target="../slideLayouts/slideLayout1.xml"/></Relationships>
</file>

<file path=ppt/slides/_rels/slide375.xml.rels><?xml version="1.0" encoding="UTF-8" standalone="yes"?>
<Relationships xmlns="http://schemas.openxmlformats.org/package/2006/relationships"><Relationship Id="rId2" Type="http://schemas.openxmlformats.org/officeDocument/2006/relationships/notesSlide" Target="../notesSlides/notesSlide375.xml"/><Relationship Id="rId1" Type="http://schemas.openxmlformats.org/officeDocument/2006/relationships/slideLayout" Target="../slideLayouts/slideLayout1.xml"/></Relationships>
</file>

<file path=ppt/slides/_rels/slide376.xml.rels><?xml version="1.0" encoding="UTF-8" standalone="yes"?>
<Relationships xmlns="http://schemas.openxmlformats.org/package/2006/relationships"><Relationship Id="rId2" Type="http://schemas.openxmlformats.org/officeDocument/2006/relationships/notesSlide" Target="../notesSlides/notesSlide376.xml"/><Relationship Id="rId1" Type="http://schemas.openxmlformats.org/officeDocument/2006/relationships/slideLayout" Target="../slideLayouts/slideLayout1.xml"/></Relationships>
</file>

<file path=ppt/slides/_rels/slide377.xml.rels><?xml version="1.0" encoding="UTF-8" standalone="yes"?>
<Relationships xmlns="http://schemas.openxmlformats.org/package/2006/relationships"><Relationship Id="rId2" Type="http://schemas.openxmlformats.org/officeDocument/2006/relationships/notesSlide" Target="../notesSlides/notesSlide377.xml"/><Relationship Id="rId1" Type="http://schemas.openxmlformats.org/officeDocument/2006/relationships/slideLayout" Target="../slideLayouts/slideLayout1.xml"/></Relationships>
</file>

<file path=ppt/slides/_rels/slide378.xml.rels><?xml version="1.0" encoding="UTF-8" standalone="yes"?>
<Relationships xmlns="http://schemas.openxmlformats.org/package/2006/relationships"><Relationship Id="rId2" Type="http://schemas.openxmlformats.org/officeDocument/2006/relationships/notesSlide" Target="../notesSlides/notesSlide378.xml"/><Relationship Id="rId1" Type="http://schemas.openxmlformats.org/officeDocument/2006/relationships/slideLayout" Target="../slideLayouts/slideLayout1.xml"/></Relationships>
</file>

<file path=ppt/slides/_rels/slide379.xml.rels><?xml version="1.0" encoding="UTF-8" standalone="yes"?>
<Relationships xmlns="http://schemas.openxmlformats.org/package/2006/relationships"><Relationship Id="rId2" Type="http://schemas.openxmlformats.org/officeDocument/2006/relationships/notesSlide" Target="../notesSlides/notesSlide379.xml"/><Relationship Id="rId1" Type="http://schemas.openxmlformats.org/officeDocument/2006/relationships/slideLayout" Target="../slideLayouts/slideLayout1.xml"/></Relationships>
</file>

<file path=ppt/slides/_rels/slide380.xml.rels><?xml version="1.0" encoding="UTF-8" standalone="yes"?>
<Relationships xmlns="http://schemas.openxmlformats.org/package/2006/relationships"><Relationship Id="rId2" Type="http://schemas.openxmlformats.org/officeDocument/2006/relationships/notesSlide" Target="../notesSlides/notesSlide380.xml"/><Relationship Id="rId1" Type="http://schemas.openxmlformats.org/officeDocument/2006/relationships/slideLayout" Target="../slideLayouts/slideLayout1.xml"/></Relationships>
</file>

<file path=ppt/slides/_rels/slide381.xml.rels><?xml version="1.0" encoding="UTF-8" standalone="yes"?>
<Relationships xmlns="http://schemas.openxmlformats.org/package/2006/relationships"><Relationship Id="rId2" Type="http://schemas.openxmlformats.org/officeDocument/2006/relationships/notesSlide" Target="../notesSlides/notesSlide381.xml"/><Relationship Id="rId1" Type="http://schemas.openxmlformats.org/officeDocument/2006/relationships/slideLayout" Target="../slideLayouts/slideLayout1.xml"/></Relationships>
</file>

<file path=ppt/slides/_rels/slide382.xml.rels><?xml version="1.0" encoding="UTF-8" standalone="yes"?>
<Relationships xmlns="http://schemas.openxmlformats.org/package/2006/relationships"><Relationship Id="rId2" Type="http://schemas.openxmlformats.org/officeDocument/2006/relationships/notesSlide" Target="../notesSlides/notesSlide382.xml"/><Relationship Id="rId1" Type="http://schemas.openxmlformats.org/officeDocument/2006/relationships/slideLayout" Target="../slideLayouts/slideLayout1.xml"/></Relationships>
</file>

<file path=ppt/slides/_rels/slide383.xml.rels><?xml version="1.0" encoding="UTF-8" standalone="yes"?>
<Relationships xmlns="http://schemas.openxmlformats.org/package/2006/relationships"><Relationship Id="rId2" Type="http://schemas.openxmlformats.org/officeDocument/2006/relationships/notesSlide" Target="../notesSlides/notesSlide383.xml"/><Relationship Id="rId1" Type="http://schemas.openxmlformats.org/officeDocument/2006/relationships/slideLayout" Target="../slideLayouts/slideLayout1.xml"/></Relationships>
</file>

<file path=ppt/slides/_rels/slide384.xml.rels><?xml version="1.0" encoding="UTF-8" standalone="yes"?>
<Relationships xmlns="http://schemas.openxmlformats.org/package/2006/relationships"><Relationship Id="rId2" Type="http://schemas.openxmlformats.org/officeDocument/2006/relationships/notesSlide" Target="../notesSlides/notesSlide384.xml"/><Relationship Id="rId1" Type="http://schemas.openxmlformats.org/officeDocument/2006/relationships/slideLayout" Target="../slideLayouts/slideLayout1.xml"/></Relationships>
</file>

<file path=ppt/slides/_rels/slide385.xml.rels><?xml version="1.0" encoding="UTF-8" standalone="yes"?>
<Relationships xmlns="http://schemas.openxmlformats.org/package/2006/relationships"><Relationship Id="rId2" Type="http://schemas.openxmlformats.org/officeDocument/2006/relationships/notesSlide" Target="../notesSlides/notesSlide385.xml"/><Relationship Id="rId1" Type="http://schemas.openxmlformats.org/officeDocument/2006/relationships/slideLayout" Target="../slideLayouts/slideLayout1.xml"/></Relationships>
</file>

<file path=ppt/slides/_rels/slide386.xml.rels><?xml version="1.0" encoding="UTF-8" standalone="yes"?>
<Relationships xmlns="http://schemas.openxmlformats.org/package/2006/relationships"><Relationship Id="rId2" Type="http://schemas.openxmlformats.org/officeDocument/2006/relationships/notesSlide" Target="../notesSlides/notesSlide386.xml"/><Relationship Id="rId1" Type="http://schemas.openxmlformats.org/officeDocument/2006/relationships/slideLayout" Target="../slideLayouts/slideLayout1.xml"/></Relationships>
</file>

<file path=ppt/slides/_rels/slide387.xml.rels><?xml version="1.0" encoding="UTF-8" standalone="yes"?>
<Relationships xmlns="http://schemas.openxmlformats.org/package/2006/relationships"><Relationship Id="rId2" Type="http://schemas.openxmlformats.org/officeDocument/2006/relationships/notesSlide" Target="../notesSlides/notesSlide387.xml"/><Relationship Id="rId1" Type="http://schemas.openxmlformats.org/officeDocument/2006/relationships/slideLayout" Target="../slideLayouts/slideLayout1.xml"/></Relationships>
</file>

<file path=ppt/slides/_rels/slide388.xml.rels><?xml version="1.0" encoding="UTF-8" standalone="yes"?>
<Relationships xmlns="http://schemas.openxmlformats.org/package/2006/relationships"><Relationship Id="rId2" Type="http://schemas.openxmlformats.org/officeDocument/2006/relationships/notesSlide" Target="../notesSlides/notesSlide388.xml"/><Relationship Id="rId1" Type="http://schemas.openxmlformats.org/officeDocument/2006/relationships/slideLayout" Target="../slideLayouts/slideLayout1.xml"/></Relationships>
</file>

<file path=ppt/slides/_rels/slide389.xml.rels><?xml version="1.0" encoding="UTF-8" standalone="yes"?>
<Relationships xmlns="http://schemas.openxmlformats.org/package/2006/relationships"><Relationship Id="rId2" Type="http://schemas.openxmlformats.org/officeDocument/2006/relationships/notesSlide" Target="../notesSlides/notesSlide389.xml"/><Relationship Id="rId1" Type="http://schemas.openxmlformats.org/officeDocument/2006/relationships/slideLayout" Target="../slideLayouts/slideLayout1.xml"/></Relationships>
</file>

<file path=ppt/slides/_rels/slide390.xml.rels><?xml version="1.0" encoding="UTF-8" standalone="yes"?>
<Relationships xmlns="http://schemas.openxmlformats.org/package/2006/relationships"><Relationship Id="rId2" Type="http://schemas.openxmlformats.org/officeDocument/2006/relationships/notesSlide" Target="../notesSlides/notesSlide390.xml"/><Relationship Id="rId1" Type="http://schemas.openxmlformats.org/officeDocument/2006/relationships/slideLayout" Target="../slideLayouts/slideLayout1.xml"/></Relationships>
</file>

<file path=ppt/slides/_rels/slide391.xml.rels><?xml version="1.0" encoding="UTF-8" standalone="yes"?>
<Relationships xmlns="http://schemas.openxmlformats.org/package/2006/relationships"><Relationship Id="rId2" Type="http://schemas.openxmlformats.org/officeDocument/2006/relationships/notesSlide" Target="../notesSlides/notesSlide391.xml"/><Relationship Id="rId1" Type="http://schemas.openxmlformats.org/officeDocument/2006/relationships/slideLayout" Target="../slideLayouts/slideLayout1.xml"/></Relationships>
</file>

<file path=ppt/slides/_rels/slide392.xml.rels><?xml version="1.0" encoding="UTF-8" standalone="yes"?>
<Relationships xmlns="http://schemas.openxmlformats.org/package/2006/relationships"><Relationship Id="rId2" Type="http://schemas.openxmlformats.org/officeDocument/2006/relationships/notesSlide" Target="../notesSlides/notesSlide392.xml"/><Relationship Id="rId1" Type="http://schemas.openxmlformats.org/officeDocument/2006/relationships/slideLayout" Target="../slideLayouts/slideLayout1.xml"/></Relationships>
</file>

<file path=ppt/slides/_rels/slide393.xml.rels><?xml version="1.0" encoding="UTF-8" standalone="yes"?>
<Relationships xmlns="http://schemas.openxmlformats.org/package/2006/relationships"><Relationship Id="rId2" Type="http://schemas.openxmlformats.org/officeDocument/2006/relationships/notesSlide" Target="../notesSlides/notesSlide393.xml"/><Relationship Id="rId1" Type="http://schemas.openxmlformats.org/officeDocument/2006/relationships/slideLayout" Target="../slideLayouts/slideLayout1.xml"/></Relationships>
</file>

<file path=ppt/slides/_rels/slide394.xml.rels><?xml version="1.0" encoding="UTF-8" standalone="yes"?>
<Relationships xmlns="http://schemas.openxmlformats.org/package/2006/relationships"><Relationship Id="rId2" Type="http://schemas.openxmlformats.org/officeDocument/2006/relationships/notesSlide" Target="../notesSlides/notesSlide394.xml"/><Relationship Id="rId1" Type="http://schemas.openxmlformats.org/officeDocument/2006/relationships/slideLayout" Target="../slideLayouts/slideLayout1.xml"/></Relationships>
</file>

<file path=ppt/slides/_rels/slide395.xml.rels><?xml version="1.0" encoding="UTF-8" standalone="yes"?>
<Relationships xmlns="http://schemas.openxmlformats.org/package/2006/relationships"><Relationship Id="rId2" Type="http://schemas.openxmlformats.org/officeDocument/2006/relationships/notesSlide" Target="../notesSlides/notesSlide395.xml"/><Relationship Id="rId1" Type="http://schemas.openxmlformats.org/officeDocument/2006/relationships/slideLayout" Target="../slideLayouts/slideLayout1.xml"/></Relationships>
</file>

<file path=ppt/slides/_rels/slide396.xml.rels><?xml version="1.0" encoding="UTF-8" standalone="yes"?>
<Relationships xmlns="http://schemas.openxmlformats.org/package/2006/relationships"><Relationship Id="rId2" Type="http://schemas.openxmlformats.org/officeDocument/2006/relationships/notesSlide" Target="../notesSlides/notesSlide396.xml"/><Relationship Id="rId1" Type="http://schemas.openxmlformats.org/officeDocument/2006/relationships/slideLayout" Target="../slideLayouts/slideLayout1.xml"/></Relationships>
</file>

<file path=ppt/slides/_rels/slide397.xml.rels><?xml version="1.0" encoding="UTF-8" standalone="yes"?>
<Relationships xmlns="http://schemas.openxmlformats.org/package/2006/relationships"><Relationship Id="rId2" Type="http://schemas.openxmlformats.org/officeDocument/2006/relationships/notesSlide" Target="../notesSlides/notesSlide397.xml"/><Relationship Id="rId1" Type="http://schemas.openxmlformats.org/officeDocument/2006/relationships/slideLayout" Target="../slideLayouts/slideLayout1.xml"/></Relationships>
</file>

<file path=ppt/slides/_rels/slide398.xml.rels><?xml version="1.0" encoding="UTF-8" standalone="yes"?>
<Relationships xmlns="http://schemas.openxmlformats.org/package/2006/relationships"><Relationship Id="rId2" Type="http://schemas.openxmlformats.org/officeDocument/2006/relationships/notesSlide" Target="../notesSlides/notesSlide398.xml"/><Relationship Id="rId1" Type="http://schemas.openxmlformats.org/officeDocument/2006/relationships/slideLayout" Target="../slideLayouts/slideLayout1.xml"/></Relationships>
</file>

<file path=ppt/slides/_rels/slide399.xml.rels><?xml version="1.0" encoding="UTF-8" standalone="yes"?>
<Relationships xmlns="http://schemas.openxmlformats.org/package/2006/relationships"><Relationship Id="rId2" Type="http://schemas.openxmlformats.org/officeDocument/2006/relationships/notesSlide" Target="../notesSlides/notesSlide399.xml"/><Relationship Id="rId1" Type="http://schemas.openxmlformats.org/officeDocument/2006/relationships/slideLayout" Target="../slideLayouts/slideLayout1.xml"/></Relationships>
</file>

<file path=ppt/slides/_rels/slide400.xml.rels><?xml version="1.0" encoding="UTF-8" standalone="yes"?>
<Relationships xmlns="http://schemas.openxmlformats.org/package/2006/relationships"><Relationship Id="rId2" Type="http://schemas.openxmlformats.org/officeDocument/2006/relationships/notesSlide" Target="../notesSlides/notesSlide400.xml"/><Relationship Id="rId1" Type="http://schemas.openxmlformats.org/officeDocument/2006/relationships/slideLayout" Target="../slideLayouts/slideLayout1.xml"/></Relationships>
</file>

<file path=ppt/slides/_rels/slide401.xml.rels><?xml version="1.0" encoding="UTF-8" standalone="yes"?>
<Relationships xmlns="http://schemas.openxmlformats.org/package/2006/relationships"><Relationship Id="rId2" Type="http://schemas.openxmlformats.org/officeDocument/2006/relationships/notesSlide" Target="../notesSlides/notesSlide401.xml"/><Relationship Id="rId1" Type="http://schemas.openxmlformats.org/officeDocument/2006/relationships/slideLayout" Target="../slideLayouts/slideLayout1.xml"/></Relationships>
</file>

<file path=ppt/slides/_rels/slide402.xml.rels><?xml version="1.0" encoding="UTF-8" standalone="yes"?>
<Relationships xmlns="http://schemas.openxmlformats.org/package/2006/relationships"><Relationship Id="rId2" Type="http://schemas.openxmlformats.org/officeDocument/2006/relationships/notesSlide" Target="../notesSlides/notesSlide402.xml"/><Relationship Id="rId1" Type="http://schemas.openxmlformats.org/officeDocument/2006/relationships/slideLayout" Target="../slideLayouts/slideLayout1.xml"/></Relationships>
</file>

<file path=ppt/slides/_rels/slide403.xml.rels><?xml version="1.0" encoding="UTF-8" standalone="yes"?>
<Relationships xmlns="http://schemas.openxmlformats.org/package/2006/relationships"><Relationship Id="rId2" Type="http://schemas.openxmlformats.org/officeDocument/2006/relationships/notesSlide" Target="../notesSlides/notesSlide403.xml"/><Relationship Id="rId1" Type="http://schemas.openxmlformats.org/officeDocument/2006/relationships/slideLayout" Target="../slideLayouts/slideLayout1.xml"/></Relationships>
</file>

<file path=ppt/slides/_rels/slide404.xml.rels><?xml version="1.0" encoding="UTF-8" standalone="yes"?>
<Relationships xmlns="http://schemas.openxmlformats.org/package/2006/relationships"><Relationship Id="rId2" Type="http://schemas.openxmlformats.org/officeDocument/2006/relationships/notesSlide" Target="../notesSlides/notesSlide404.xml"/><Relationship Id="rId1" Type="http://schemas.openxmlformats.org/officeDocument/2006/relationships/slideLayout" Target="../slideLayouts/slideLayout1.xml"/></Relationships>
</file>

<file path=ppt/slides/_rels/slide405.xml.rels><?xml version="1.0" encoding="UTF-8" standalone="yes"?>
<Relationships xmlns="http://schemas.openxmlformats.org/package/2006/relationships"><Relationship Id="rId2" Type="http://schemas.openxmlformats.org/officeDocument/2006/relationships/notesSlide" Target="../notesSlides/notesSlide405.xml"/><Relationship Id="rId1" Type="http://schemas.openxmlformats.org/officeDocument/2006/relationships/slideLayout" Target="../slideLayouts/slideLayout1.xml"/></Relationships>
</file>

<file path=ppt/slides/_rels/slide406.xml.rels><?xml version="1.0" encoding="UTF-8" standalone="yes"?>
<Relationships xmlns="http://schemas.openxmlformats.org/package/2006/relationships"><Relationship Id="rId2" Type="http://schemas.openxmlformats.org/officeDocument/2006/relationships/notesSlide" Target="../notesSlides/notesSlide406.xml"/><Relationship Id="rId1" Type="http://schemas.openxmlformats.org/officeDocument/2006/relationships/slideLayout" Target="../slideLayouts/slideLayout1.xml"/></Relationships>
</file>

<file path=ppt/slides/_rels/slide407.xml.rels><?xml version="1.0" encoding="UTF-8" standalone="yes"?>
<Relationships xmlns="http://schemas.openxmlformats.org/package/2006/relationships"><Relationship Id="rId2" Type="http://schemas.openxmlformats.org/officeDocument/2006/relationships/notesSlide" Target="../notesSlides/notesSlide407.xml"/><Relationship Id="rId1" Type="http://schemas.openxmlformats.org/officeDocument/2006/relationships/slideLayout" Target="../slideLayouts/slideLayout1.xml"/></Relationships>
</file>

<file path=ppt/slides/_rels/slide408.xml.rels><?xml version="1.0" encoding="UTF-8" standalone="yes"?>
<Relationships xmlns="http://schemas.openxmlformats.org/package/2006/relationships"><Relationship Id="rId2" Type="http://schemas.openxmlformats.org/officeDocument/2006/relationships/notesSlide" Target="../notesSlides/notesSlide408.xml"/><Relationship Id="rId1" Type="http://schemas.openxmlformats.org/officeDocument/2006/relationships/slideLayout" Target="../slideLayouts/slideLayout1.xml"/></Relationships>
</file>

<file path=ppt/slides/_rels/slide409.xml.rels><?xml version="1.0" encoding="UTF-8" standalone="yes"?>
<Relationships xmlns="http://schemas.openxmlformats.org/package/2006/relationships"><Relationship Id="rId2" Type="http://schemas.openxmlformats.org/officeDocument/2006/relationships/notesSlide" Target="../notesSlides/notesSlide409.xml"/><Relationship Id="rId1" Type="http://schemas.openxmlformats.org/officeDocument/2006/relationships/slideLayout" Target="../slideLayouts/slideLayout1.xml"/></Relationships>
</file>

<file path=ppt/slides/_rels/slide410.xml.rels><?xml version="1.0" encoding="UTF-8" standalone="yes"?>
<Relationships xmlns="http://schemas.openxmlformats.org/package/2006/relationships"><Relationship Id="rId2" Type="http://schemas.openxmlformats.org/officeDocument/2006/relationships/notesSlide" Target="../notesSlides/notesSlide410.xml"/><Relationship Id="rId1" Type="http://schemas.openxmlformats.org/officeDocument/2006/relationships/slideLayout" Target="../slideLayouts/slideLayout1.xml"/></Relationships>
</file>

<file path=ppt/slides/_rels/slide411.xml.rels><?xml version="1.0" encoding="UTF-8" standalone="yes"?>
<Relationships xmlns="http://schemas.openxmlformats.org/package/2006/relationships"><Relationship Id="rId2" Type="http://schemas.openxmlformats.org/officeDocument/2006/relationships/notesSlide" Target="../notesSlides/notesSlide411.xml"/><Relationship Id="rId1" Type="http://schemas.openxmlformats.org/officeDocument/2006/relationships/slideLayout" Target="../slideLayouts/slideLayout1.xml"/></Relationships>
</file>

<file path=ppt/slides/_rels/slide412.xml.rels><?xml version="1.0" encoding="UTF-8" standalone="yes"?>
<Relationships xmlns="http://schemas.openxmlformats.org/package/2006/relationships"><Relationship Id="rId2" Type="http://schemas.openxmlformats.org/officeDocument/2006/relationships/notesSlide" Target="../notesSlides/notesSlide412.xml"/><Relationship Id="rId1" Type="http://schemas.openxmlformats.org/officeDocument/2006/relationships/slideLayout" Target="../slideLayouts/slideLayout1.xml"/></Relationships>
</file>

<file path=ppt/slides/_rels/slide413.xml.rels><?xml version="1.0" encoding="UTF-8" standalone="yes"?>
<Relationships xmlns="http://schemas.openxmlformats.org/package/2006/relationships"><Relationship Id="rId2" Type="http://schemas.openxmlformats.org/officeDocument/2006/relationships/notesSlide" Target="../notesSlides/notesSlide413.xml"/><Relationship Id="rId1" Type="http://schemas.openxmlformats.org/officeDocument/2006/relationships/slideLayout" Target="../slideLayouts/slideLayout1.xml"/></Relationships>
</file>

<file path=ppt/slides/_rels/slide414.xml.rels><?xml version="1.0" encoding="UTF-8" standalone="yes"?>
<Relationships xmlns="http://schemas.openxmlformats.org/package/2006/relationships"><Relationship Id="rId2" Type="http://schemas.openxmlformats.org/officeDocument/2006/relationships/notesSlide" Target="../notesSlides/notesSlide414.xml"/><Relationship Id="rId1" Type="http://schemas.openxmlformats.org/officeDocument/2006/relationships/slideLayout" Target="../slideLayouts/slideLayout1.xml"/></Relationships>
</file>

<file path=ppt/slides/_rels/slide415.xml.rels><?xml version="1.0" encoding="UTF-8" standalone="yes"?>
<Relationships xmlns="http://schemas.openxmlformats.org/package/2006/relationships"><Relationship Id="rId2" Type="http://schemas.openxmlformats.org/officeDocument/2006/relationships/notesSlide" Target="../notesSlides/notesSlide415.xml"/><Relationship Id="rId1" Type="http://schemas.openxmlformats.org/officeDocument/2006/relationships/slideLayout" Target="../slideLayouts/slideLayout1.xml"/></Relationships>
</file>

<file path=ppt/slides/_rels/slide416.xml.rels><?xml version="1.0" encoding="UTF-8" standalone="yes"?>
<Relationships xmlns="http://schemas.openxmlformats.org/package/2006/relationships"><Relationship Id="rId2" Type="http://schemas.openxmlformats.org/officeDocument/2006/relationships/notesSlide" Target="../notesSlides/notesSlide416.xml"/><Relationship Id="rId1" Type="http://schemas.openxmlformats.org/officeDocument/2006/relationships/slideLayout" Target="../slideLayouts/slideLayout1.xml"/></Relationships>
</file>

<file path=ppt/slides/_rels/slide417.xml.rels><?xml version="1.0" encoding="UTF-8" standalone="yes"?>
<Relationships xmlns="http://schemas.openxmlformats.org/package/2006/relationships"><Relationship Id="rId2" Type="http://schemas.openxmlformats.org/officeDocument/2006/relationships/notesSlide" Target="../notesSlides/notesSlide417.xml"/><Relationship Id="rId1" Type="http://schemas.openxmlformats.org/officeDocument/2006/relationships/slideLayout" Target="../slideLayouts/slideLayout1.xml"/></Relationships>
</file>

<file path=ppt/slides/_rels/slide418.xml.rels><?xml version="1.0" encoding="UTF-8" standalone="yes"?>
<Relationships xmlns="http://schemas.openxmlformats.org/package/2006/relationships"><Relationship Id="rId2" Type="http://schemas.openxmlformats.org/officeDocument/2006/relationships/notesSlide" Target="../notesSlides/notesSlide418.xml"/><Relationship Id="rId1" Type="http://schemas.openxmlformats.org/officeDocument/2006/relationships/slideLayout" Target="../slideLayouts/slideLayout1.xml"/></Relationships>
</file>

<file path=ppt/slides/_rels/slide419.xml.rels><?xml version="1.0" encoding="UTF-8" standalone="yes"?>
<Relationships xmlns="http://schemas.openxmlformats.org/package/2006/relationships"><Relationship Id="rId2" Type="http://schemas.openxmlformats.org/officeDocument/2006/relationships/notesSlide" Target="../notesSlides/notesSlide419.xml"/><Relationship Id="rId1" Type="http://schemas.openxmlformats.org/officeDocument/2006/relationships/slideLayout" Target="../slideLayouts/slideLayout1.xml"/></Relationships>
</file>

<file path=ppt/slides/_rels/slide420.xml.rels><?xml version="1.0" encoding="UTF-8" standalone="yes"?>
<Relationships xmlns="http://schemas.openxmlformats.org/package/2006/relationships"><Relationship Id="rId2" Type="http://schemas.openxmlformats.org/officeDocument/2006/relationships/notesSlide" Target="../notesSlides/notesSlide420.xml"/><Relationship Id="rId1" Type="http://schemas.openxmlformats.org/officeDocument/2006/relationships/slideLayout" Target="../slideLayouts/slideLayout1.xml"/></Relationships>
</file>

<file path=ppt/slides/_rels/slide421.xml.rels><?xml version="1.0" encoding="UTF-8" standalone="yes"?>
<Relationships xmlns="http://schemas.openxmlformats.org/package/2006/relationships"><Relationship Id="rId2" Type="http://schemas.openxmlformats.org/officeDocument/2006/relationships/notesSlide" Target="../notesSlides/notesSlide421.xml"/><Relationship Id="rId1" Type="http://schemas.openxmlformats.org/officeDocument/2006/relationships/slideLayout" Target="../slideLayouts/slideLayout1.xml"/></Relationships>
</file>

<file path=ppt/slides/_rels/slide422.xml.rels><?xml version="1.0" encoding="UTF-8" standalone="yes"?>
<Relationships xmlns="http://schemas.openxmlformats.org/package/2006/relationships"><Relationship Id="rId2" Type="http://schemas.openxmlformats.org/officeDocument/2006/relationships/notesSlide" Target="../notesSlides/notesSlide422.xml"/><Relationship Id="rId1" Type="http://schemas.openxmlformats.org/officeDocument/2006/relationships/slideLayout" Target="../slideLayouts/slideLayout1.xml"/></Relationships>
</file>

<file path=ppt/slides/_rels/slide423.xml.rels><?xml version="1.0" encoding="UTF-8" standalone="yes"?>
<Relationships xmlns="http://schemas.openxmlformats.org/package/2006/relationships"><Relationship Id="rId2" Type="http://schemas.openxmlformats.org/officeDocument/2006/relationships/notesSlide" Target="../notesSlides/notesSlide423.xml"/><Relationship Id="rId1" Type="http://schemas.openxmlformats.org/officeDocument/2006/relationships/slideLayout" Target="../slideLayouts/slideLayout1.xml"/></Relationships>
</file>

<file path=ppt/slides/_rels/slide424.xml.rels><?xml version="1.0" encoding="UTF-8" standalone="yes"?>
<Relationships xmlns="http://schemas.openxmlformats.org/package/2006/relationships"><Relationship Id="rId2" Type="http://schemas.openxmlformats.org/officeDocument/2006/relationships/notesSlide" Target="../notesSlides/notesSlide424.xml"/><Relationship Id="rId1" Type="http://schemas.openxmlformats.org/officeDocument/2006/relationships/slideLayout" Target="../slideLayouts/slideLayout1.xml"/></Relationships>
</file>

<file path=ppt/slides/_rels/slide425.xml.rels><?xml version="1.0" encoding="UTF-8" standalone="yes"?>
<Relationships xmlns="http://schemas.openxmlformats.org/package/2006/relationships"><Relationship Id="rId2" Type="http://schemas.openxmlformats.org/officeDocument/2006/relationships/notesSlide" Target="../notesSlides/notesSlide425.xml"/><Relationship Id="rId1" Type="http://schemas.openxmlformats.org/officeDocument/2006/relationships/slideLayout" Target="../slideLayouts/slideLayout1.xml"/></Relationships>
</file>

<file path=ppt/slides/_rels/slide426.xml.rels><?xml version="1.0" encoding="UTF-8" standalone="yes"?>
<Relationships xmlns="http://schemas.openxmlformats.org/package/2006/relationships"><Relationship Id="rId2" Type="http://schemas.openxmlformats.org/officeDocument/2006/relationships/notesSlide" Target="../notesSlides/notesSlide426.xml"/><Relationship Id="rId1" Type="http://schemas.openxmlformats.org/officeDocument/2006/relationships/slideLayout" Target="../slideLayouts/slideLayout1.xml"/></Relationships>
</file>

<file path=ppt/slides/_rels/slide427.xml.rels><?xml version="1.0" encoding="UTF-8" standalone="yes"?>
<Relationships xmlns="http://schemas.openxmlformats.org/package/2006/relationships"><Relationship Id="rId2" Type="http://schemas.openxmlformats.org/officeDocument/2006/relationships/notesSlide" Target="../notesSlides/notesSlide427.xml"/><Relationship Id="rId1" Type="http://schemas.openxmlformats.org/officeDocument/2006/relationships/slideLayout" Target="../slideLayouts/slideLayout1.xml"/></Relationships>
</file>

<file path=ppt/slides/_rels/slide428.xml.rels><?xml version="1.0" encoding="UTF-8" standalone="yes"?>
<Relationships xmlns="http://schemas.openxmlformats.org/package/2006/relationships"><Relationship Id="rId2" Type="http://schemas.openxmlformats.org/officeDocument/2006/relationships/notesSlide" Target="../notesSlides/notesSlide428.xml"/><Relationship Id="rId1" Type="http://schemas.openxmlformats.org/officeDocument/2006/relationships/slideLayout" Target="../slideLayouts/slideLayout1.xml"/></Relationships>
</file>

<file path=ppt/slides/_rels/slide429.xml.rels><?xml version="1.0" encoding="UTF-8" standalone="yes"?>
<Relationships xmlns="http://schemas.openxmlformats.org/package/2006/relationships"><Relationship Id="rId2" Type="http://schemas.openxmlformats.org/officeDocument/2006/relationships/notesSlide" Target="../notesSlides/notesSlide429.xml"/><Relationship Id="rId1" Type="http://schemas.openxmlformats.org/officeDocument/2006/relationships/slideLayout" Target="../slideLayouts/slideLayout1.xml"/></Relationships>
</file>

<file path=ppt/slides/_rels/slide430.xml.rels><?xml version="1.0" encoding="UTF-8" standalone="yes"?>
<Relationships xmlns="http://schemas.openxmlformats.org/package/2006/relationships"><Relationship Id="rId2" Type="http://schemas.openxmlformats.org/officeDocument/2006/relationships/notesSlide" Target="../notesSlides/notesSlide430.xml"/><Relationship Id="rId1" Type="http://schemas.openxmlformats.org/officeDocument/2006/relationships/slideLayout" Target="../slideLayouts/slideLayout1.xml"/></Relationships>
</file>

<file path=ppt/slides/_rels/slide431.xml.rels><?xml version="1.0" encoding="UTF-8" standalone="yes"?>
<Relationships xmlns="http://schemas.openxmlformats.org/package/2006/relationships"><Relationship Id="rId2" Type="http://schemas.openxmlformats.org/officeDocument/2006/relationships/notesSlide" Target="../notesSlides/notesSlide431.xml"/><Relationship Id="rId1" Type="http://schemas.openxmlformats.org/officeDocument/2006/relationships/slideLayout" Target="../slideLayouts/slideLayout1.xml"/></Relationships>
</file>

<file path=ppt/slides/_rels/slide432.xml.rels><?xml version="1.0" encoding="UTF-8" standalone="yes"?>
<Relationships xmlns="http://schemas.openxmlformats.org/package/2006/relationships"><Relationship Id="rId2" Type="http://schemas.openxmlformats.org/officeDocument/2006/relationships/notesSlide" Target="../notesSlides/notesSlide432.xml"/><Relationship Id="rId1" Type="http://schemas.openxmlformats.org/officeDocument/2006/relationships/slideLayout" Target="../slideLayouts/slideLayout1.xml"/></Relationships>
</file>

<file path=ppt/slides/_rels/slide433.xml.rels><?xml version="1.0" encoding="UTF-8" standalone="yes"?>
<Relationships xmlns="http://schemas.openxmlformats.org/package/2006/relationships"><Relationship Id="rId2" Type="http://schemas.openxmlformats.org/officeDocument/2006/relationships/notesSlide" Target="../notesSlides/notesSlide433.xml"/><Relationship Id="rId1" Type="http://schemas.openxmlformats.org/officeDocument/2006/relationships/slideLayout" Target="../slideLayouts/slideLayout1.xml"/></Relationships>
</file>

<file path=ppt/slides/_rels/slide434.xml.rels><?xml version="1.0" encoding="UTF-8" standalone="yes"?>
<Relationships xmlns="http://schemas.openxmlformats.org/package/2006/relationships"><Relationship Id="rId2" Type="http://schemas.openxmlformats.org/officeDocument/2006/relationships/notesSlide" Target="../notesSlides/notesSlide434.xml"/><Relationship Id="rId1" Type="http://schemas.openxmlformats.org/officeDocument/2006/relationships/slideLayout" Target="../slideLayouts/slideLayout1.xml"/></Relationships>
</file>

<file path=ppt/slides/_rels/slide435.xml.rels><?xml version="1.0" encoding="UTF-8" standalone="yes"?>
<Relationships xmlns="http://schemas.openxmlformats.org/package/2006/relationships"><Relationship Id="rId2" Type="http://schemas.openxmlformats.org/officeDocument/2006/relationships/notesSlide" Target="../notesSlides/notesSlide435.xml"/><Relationship Id="rId1" Type="http://schemas.openxmlformats.org/officeDocument/2006/relationships/slideLayout" Target="../slideLayouts/slideLayout1.xml"/></Relationships>
</file>

<file path=ppt/slides/_rels/slide436.xml.rels><?xml version="1.0" encoding="UTF-8" standalone="yes"?>
<Relationships xmlns="http://schemas.openxmlformats.org/package/2006/relationships"><Relationship Id="rId2" Type="http://schemas.openxmlformats.org/officeDocument/2006/relationships/notesSlide" Target="../notesSlides/notesSlide436.xml"/><Relationship Id="rId1" Type="http://schemas.openxmlformats.org/officeDocument/2006/relationships/slideLayout" Target="../slideLayouts/slideLayout1.xml"/></Relationships>
</file>

<file path=ppt/slides/_rels/slide437.xml.rels><?xml version="1.0" encoding="UTF-8" standalone="yes"?>
<Relationships xmlns="http://schemas.openxmlformats.org/package/2006/relationships"><Relationship Id="rId2" Type="http://schemas.openxmlformats.org/officeDocument/2006/relationships/notesSlide" Target="../notesSlides/notesSlide437.xml"/><Relationship Id="rId1" Type="http://schemas.openxmlformats.org/officeDocument/2006/relationships/slideLayout" Target="../slideLayouts/slideLayout1.xml"/></Relationships>
</file>

<file path=ppt/slides/_rels/slide438.xml.rels><?xml version="1.0" encoding="UTF-8" standalone="yes"?>
<Relationships xmlns="http://schemas.openxmlformats.org/package/2006/relationships"><Relationship Id="rId2" Type="http://schemas.openxmlformats.org/officeDocument/2006/relationships/notesSlide" Target="../notesSlides/notesSlide438.xml"/><Relationship Id="rId1" Type="http://schemas.openxmlformats.org/officeDocument/2006/relationships/slideLayout" Target="../slideLayouts/slideLayout1.xml"/></Relationships>
</file>

<file path=ppt/slides/_rels/slide439.xml.rels><?xml version="1.0" encoding="UTF-8" standalone="yes"?>
<Relationships xmlns="http://schemas.openxmlformats.org/package/2006/relationships"><Relationship Id="rId2" Type="http://schemas.openxmlformats.org/officeDocument/2006/relationships/notesSlide" Target="../notesSlides/notesSlide439.xml"/><Relationship Id="rId1" Type="http://schemas.openxmlformats.org/officeDocument/2006/relationships/slideLayout" Target="../slideLayouts/slideLayout1.xml"/></Relationships>
</file>

<file path=ppt/slides/_rels/slide440.xml.rels><?xml version="1.0" encoding="UTF-8" standalone="yes"?>
<Relationships xmlns="http://schemas.openxmlformats.org/package/2006/relationships"><Relationship Id="rId2" Type="http://schemas.openxmlformats.org/officeDocument/2006/relationships/notesSlide" Target="../notesSlides/notesSlide440.xml"/><Relationship Id="rId1" Type="http://schemas.openxmlformats.org/officeDocument/2006/relationships/slideLayout" Target="../slideLayouts/slideLayout1.xml"/></Relationships>
</file>

<file path=ppt/slides/_rels/slide441.xml.rels><?xml version="1.0" encoding="UTF-8" standalone="yes"?>
<Relationships xmlns="http://schemas.openxmlformats.org/package/2006/relationships"><Relationship Id="rId2" Type="http://schemas.openxmlformats.org/officeDocument/2006/relationships/notesSlide" Target="../notesSlides/notesSlide441.xml"/><Relationship Id="rId1" Type="http://schemas.openxmlformats.org/officeDocument/2006/relationships/slideLayout" Target="../slideLayouts/slideLayout1.xml"/></Relationships>
</file>

<file path=ppt/slides/_rels/slide442.xml.rels><?xml version="1.0" encoding="UTF-8" standalone="yes"?>
<Relationships xmlns="http://schemas.openxmlformats.org/package/2006/relationships"><Relationship Id="rId2" Type="http://schemas.openxmlformats.org/officeDocument/2006/relationships/notesSlide" Target="../notesSlides/notesSlide442.xml"/><Relationship Id="rId1" Type="http://schemas.openxmlformats.org/officeDocument/2006/relationships/slideLayout" Target="../slideLayouts/slideLayout1.xml"/></Relationships>
</file>

<file path=ppt/slides/_rels/slide443.xml.rels><?xml version="1.0" encoding="UTF-8" standalone="yes"?>
<Relationships xmlns="http://schemas.openxmlformats.org/package/2006/relationships"><Relationship Id="rId2" Type="http://schemas.openxmlformats.org/officeDocument/2006/relationships/notesSlide" Target="../notesSlides/notesSlide443.xml"/><Relationship Id="rId1" Type="http://schemas.openxmlformats.org/officeDocument/2006/relationships/slideLayout" Target="../slideLayouts/slideLayout1.xml"/></Relationships>
</file>

<file path=ppt/slides/_rels/slide444.xml.rels><?xml version="1.0" encoding="UTF-8" standalone="yes"?>
<Relationships xmlns="http://schemas.openxmlformats.org/package/2006/relationships"><Relationship Id="rId2" Type="http://schemas.openxmlformats.org/officeDocument/2006/relationships/notesSlide" Target="../notesSlides/notesSlide444.xml"/><Relationship Id="rId1" Type="http://schemas.openxmlformats.org/officeDocument/2006/relationships/slideLayout" Target="../slideLayouts/slideLayout1.xml"/></Relationships>
</file>

<file path=ppt/slides/_rels/slide445.xml.rels><?xml version="1.0" encoding="UTF-8" standalone="yes"?>
<Relationships xmlns="http://schemas.openxmlformats.org/package/2006/relationships"><Relationship Id="rId2" Type="http://schemas.openxmlformats.org/officeDocument/2006/relationships/notesSlide" Target="../notesSlides/notesSlide445.xml"/><Relationship Id="rId1" Type="http://schemas.openxmlformats.org/officeDocument/2006/relationships/slideLayout" Target="../slideLayouts/slideLayout1.xml"/></Relationships>
</file>

<file path=ppt/slides/_rels/slide446.xml.rels><?xml version="1.0" encoding="UTF-8" standalone="yes"?>
<Relationships xmlns="http://schemas.openxmlformats.org/package/2006/relationships"><Relationship Id="rId2" Type="http://schemas.openxmlformats.org/officeDocument/2006/relationships/notesSlide" Target="../notesSlides/notesSlide446.xml"/><Relationship Id="rId1" Type="http://schemas.openxmlformats.org/officeDocument/2006/relationships/slideLayout" Target="../slideLayouts/slideLayout1.xml"/></Relationships>
</file>

<file path=ppt/slides/_rels/slide447.xml.rels><?xml version="1.0" encoding="UTF-8" standalone="yes"?>
<Relationships xmlns="http://schemas.openxmlformats.org/package/2006/relationships"><Relationship Id="rId2" Type="http://schemas.openxmlformats.org/officeDocument/2006/relationships/notesSlide" Target="../notesSlides/notesSlide447.xml"/><Relationship Id="rId1" Type="http://schemas.openxmlformats.org/officeDocument/2006/relationships/slideLayout" Target="../slideLayouts/slideLayout1.xml"/></Relationships>
</file>

<file path=ppt/slides/_rels/slide448.xml.rels><?xml version="1.0" encoding="UTF-8" standalone="yes"?>
<Relationships xmlns="http://schemas.openxmlformats.org/package/2006/relationships"><Relationship Id="rId2" Type="http://schemas.openxmlformats.org/officeDocument/2006/relationships/notesSlide" Target="../notesSlides/notesSlide448.xml"/><Relationship Id="rId1" Type="http://schemas.openxmlformats.org/officeDocument/2006/relationships/slideLayout" Target="../slideLayouts/slideLayout1.xml"/></Relationships>
</file>

<file path=ppt/slides/_rels/slide449.xml.rels><?xml version="1.0" encoding="UTF-8" standalone="yes"?>
<Relationships xmlns="http://schemas.openxmlformats.org/package/2006/relationships"><Relationship Id="rId2" Type="http://schemas.openxmlformats.org/officeDocument/2006/relationships/notesSlide" Target="../notesSlides/notesSlide449.xml"/><Relationship Id="rId1" Type="http://schemas.openxmlformats.org/officeDocument/2006/relationships/slideLayout" Target="../slideLayouts/slideLayout1.xml"/></Relationships>
</file>

<file path=ppt/slides/_rels/slide450.xml.rels><?xml version="1.0" encoding="UTF-8" standalone="yes"?>
<Relationships xmlns="http://schemas.openxmlformats.org/package/2006/relationships"><Relationship Id="rId2" Type="http://schemas.openxmlformats.org/officeDocument/2006/relationships/notesSlide" Target="../notesSlides/notesSlide450.xml"/><Relationship Id="rId1" Type="http://schemas.openxmlformats.org/officeDocument/2006/relationships/slideLayout" Target="../slideLayouts/slideLayout1.xml"/></Relationships>
</file>

<file path=ppt/slides/_rels/slide451.xml.rels><?xml version="1.0" encoding="UTF-8" standalone="yes"?>
<Relationships xmlns="http://schemas.openxmlformats.org/package/2006/relationships"><Relationship Id="rId2" Type="http://schemas.openxmlformats.org/officeDocument/2006/relationships/notesSlide" Target="../notesSlides/notesSlide451.xml"/><Relationship Id="rId1" Type="http://schemas.openxmlformats.org/officeDocument/2006/relationships/slideLayout" Target="../slideLayouts/slideLayout1.xml"/></Relationships>
</file>

<file path=ppt/slides/_rels/slide452.xml.rels><?xml version="1.0" encoding="UTF-8" standalone="yes"?>
<Relationships xmlns="http://schemas.openxmlformats.org/package/2006/relationships"><Relationship Id="rId2" Type="http://schemas.openxmlformats.org/officeDocument/2006/relationships/notesSlide" Target="../notesSlides/notesSlide452.xml"/><Relationship Id="rId1" Type="http://schemas.openxmlformats.org/officeDocument/2006/relationships/slideLayout" Target="../slideLayouts/slideLayout1.xml"/></Relationships>
</file>

<file path=ppt/slides/_rels/slide453.xml.rels><?xml version="1.0" encoding="UTF-8" standalone="yes"?>
<Relationships xmlns="http://schemas.openxmlformats.org/package/2006/relationships"><Relationship Id="rId2" Type="http://schemas.openxmlformats.org/officeDocument/2006/relationships/notesSlide" Target="../notesSlides/notesSlide453.xml"/><Relationship Id="rId1" Type="http://schemas.openxmlformats.org/officeDocument/2006/relationships/slideLayout" Target="../slideLayouts/slideLayout1.xml"/></Relationships>
</file>

<file path=ppt/slides/_rels/slide454.xml.rels><?xml version="1.0" encoding="UTF-8" standalone="yes"?>
<Relationships xmlns="http://schemas.openxmlformats.org/package/2006/relationships"><Relationship Id="rId2" Type="http://schemas.openxmlformats.org/officeDocument/2006/relationships/notesSlide" Target="../notesSlides/notesSlide454.xml"/><Relationship Id="rId1" Type="http://schemas.openxmlformats.org/officeDocument/2006/relationships/slideLayout" Target="../slideLayouts/slideLayout1.xml"/></Relationships>
</file>

<file path=ppt/slides/_rels/slide455.xml.rels><?xml version="1.0" encoding="UTF-8" standalone="yes"?>
<Relationships xmlns="http://schemas.openxmlformats.org/package/2006/relationships"><Relationship Id="rId2" Type="http://schemas.openxmlformats.org/officeDocument/2006/relationships/notesSlide" Target="../notesSlides/notesSlide455.xml"/><Relationship Id="rId1" Type="http://schemas.openxmlformats.org/officeDocument/2006/relationships/slideLayout" Target="../slideLayouts/slideLayout1.xml"/></Relationships>
</file>

<file path=ppt/slides/_rels/slide456.xml.rels><?xml version="1.0" encoding="UTF-8" standalone="yes"?>
<Relationships xmlns="http://schemas.openxmlformats.org/package/2006/relationships"><Relationship Id="rId2" Type="http://schemas.openxmlformats.org/officeDocument/2006/relationships/notesSlide" Target="../notesSlides/notesSlide456.xml"/><Relationship Id="rId1" Type="http://schemas.openxmlformats.org/officeDocument/2006/relationships/slideLayout" Target="../slideLayouts/slideLayout1.xml"/></Relationships>
</file>

<file path=ppt/slides/_rels/slide457.xml.rels><?xml version="1.0" encoding="UTF-8" standalone="yes"?>
<Relationships xmlns="http://schemas.openxmlformats.org/package/2006/relationships"><Relationship Id="rId2" Type="http://schemas.openxmlformats.org/officeDocument/2006/relationships/notesSlide" Target="../notesSlides/notesSlide457.xml"/><Relationship Id="rId1" Type="http://schemas.openxmlformats.org/officeDocument/2006/relationships/slideLayout" Target="../slideLayouts/slideLayout1.xml"/></Relationships>
</file>

<file path=ppt/slides/_rels/slide458.xml.rels><?xml version="1.0" encoding="UTF-8" standalone="yes"?>
<Relationships xmlns="http://schemas.openxmlformats.org/package/2006/relationships"><Relationship Id="rId2" Type="http://schemas.openxmlformats.org/officeDocument/2006/relationships/notesSlide" Target="../notesSlides/notesSlide458.xml"/><Relationship Id="rId1" Type="http://schemas.openxmlformats.org/officeDocument/2006/relationships/slideLayout" Target="../slideLayouts/slideLayout1.xml"/></Relationships>
</file>

<file path=ppt/slides/_rels/slide459.xml.rels><?xml version="1.0" encoding="UTF-8" standalone="yes"?>
<Relationships xmlns="http://schemas.openxmlformats.org/package/2006/relationships"><Relationship Id="rId2" Type="http://schemas.openxmlformats.org/officeDocument/2006/relationships/notesSlide" Target="../notesSlides/notesSlide459.xml"/><Relationship Id="rId1" Type="http://schemas.openxmlformats.org/officeDocument/2006/relationships/slideLayout" Target="../slideLayouts/slideLayout1.xml"/></Relationships>
</file>

<file path=ppt/slides/_rels/slide460.xml.rels><?xml version="1.0" encoding="UTF-8" standalone="yes"?>
<Relationships xmlns="http://schemas.openxmlformats.org/package/2006/relationships"><Relationship Id="rId2" Type="http://schemas.openxmlformats.org/officeDocument/2006/relationships/notesSlide" Target="../notesSlides/notesSlide460.xml"/><Relationship Id="rId1" Type="http://schemas.openxmlformats.org/officeDocument/2006/relationships/slideLayout" Target="../slideLayouts/slideLayout1.xml"/></Relationships>
</file>

<file path=ppt/slides/_rels/slide461.xml.rels><?xml version="1.0" encoding="UTF-8" standalone="yes"?>
<Relationships xmlns="http://schemas.openxmlformats.org/package/2006/relationships"><Relationship Id="rId2" Type="http://schemas.openxmlformats.org/officeDocument/2006/relationships/notesSlide" Target="../notesSlides/notesSlide461.xml"/><Relationship Id="rId1" Type="http://schemas.openxmlformats.org/officeDocument/2006/relationships/slideLayout" Target="../slideLayouts/slideLayout1.xml"/></Relationships>
</file>

<file path=ppt/slides/_rels/slide462.xml.rels><?xml version="1.0" encoding="UTF-8" standalone="yes"?>
<Relationships xmlns="http://schemas.openxmlformats.org/package/2006/relationships"><Relationship Id="rId2" Type="http://schemas.openxmlformats.org/officeDocument/2006/relationships/notesSlide" Target="../notesSlides/notesSlide462.xml"/><Relationship Id="rId1" Type="http://schemas.openxmlformats.org/officeDocument/2006/relationships/slideLayout" Target="../slideLayouts/slideLayout1.xml"/></Relationships>
</file>

<file path=ppt/slides/_rels/slide463.xml.rels><?xml version="1.0" encoding="UTF-8" standalone="yes"?>
<Relationships xmlns="http://schemas.openxmlformats.org/package/2006/relationships"><Relationship Id="rId2" Type="http://schemas.openxmlformats.org/officeDocument/2006/relationships/notesSlide" Target="../notesSlides/notesSlide463.xml"/><Relationship Id="rId1" Type="http://schemas.openxmlformats.org/officeDocument/2006/relationships/slideLayout" Target="../slideLayouts/slideLayout1.xml"/></Relationships>
</file>

<file path=ppt/slides/_rels/slide464.xml.rels><?xml version="1.0" encoding="UTF-8" standalone="yes"?>
<Relationships xmlns="http://schemas.openxmlformats.org/package/2006/relationships"><Relationship Id="rId2" Type="http://schemas.openxmlformats.org/officeDocument/2006/relationships/notesSlide" Target="../notesSlides/notesSlide464.xml"/><Relationship Id="rId1" Type="http://schemas.openxmlformats.org/officeDocument/2006/relationships/slideLayout" Target="../slideLayouts/slideLayout1.xml"/></Relationships>
</file>

<file path=ppt/slides/_rels/slide465.xml.rels><?xml version="1.0" encoding="UTF-8" standalone="yes"?>
<Relationships xmlns="http://schemas.openxmlformats.org/package/2006/relationships"><Relationship Id="rId2" Type="http://schemas.openxmlformats.org/officeDocument/2006/relationships/notesSlide" Target="../notesSlides/notesSlide465.xml"/><Relationship Id="rId1" Type="http://schemas.openxmlformats.org/officeDocument/2006/relationships/slideLayout" Target="../slideLayouts/slideLayout1.xml"/></Relationships>
</file>

<file path=ppt/slides/_rels/slide466.xml.rels><?xml version="1.0" encoding="UTF-8" standalone="yes"?>
<Relationships xmlns="http://schemas.openxmlformats.org/package/2006/relationships"><Relationship Id="rId2" Type="http://schemas.openxmlformats.org/officeDocument/2006/relationships/notesSlide" Target="../notesSlides/notesSlide466.xml"/><Relationship Id="rId1" Type="http://schemas.openxmlformats.org/officeDocument/2006/relationships/slideLayout" Target="../slideLayouts/slideLayout1.xml"/></Relationships>
</file>

<file path=ppt/slides/_rels/slide467.xml.rels><?xml version="1.0" encoding="UTF-8" standalone="yes"?>
<Relationships xmlns="http://schemas.openxmlformats.org/package/2006/relationships"><Relationship Id="rId2" Type="http://schemas.openxmlformats.org/officeDocument/2006/relationships/notesSlide" Target="../notesSlides/notesSlide467.xml"/><Relationship Id="rId1" Type="http://schemas.openxmlformats.org/officeDocument/2006/relationships/slideLayout" Target="../slideLayouts/slideLayout1.xml"/></Relationships>
</file>

<file path=ppt/slides/_rels/slide468.xml.rels><?xml version="1.0" encoding="UTF-8" standalone="yes"?>
<Relationships xmlns="http://schemas.openxmlformats.org/package/2006/relationships"><Relationship Id="rId2" Type="http://schemas.openxmlformats.org/officeDocument/2006/relationships/notesSlide" Target="../notesSlides/notesSlide468.xml"/><Relationship Id="rId1" Type="http://schemas.openxmlformats.org/officeDocument/2006/relationships/slideLayout" Target="../slideLayouts/slideLayout1.xml"/></Relationships>
</file>

<file path=ppt/slides/_rels/slide469.xml.rels><?xml version="1.0" encoding="UTF-8" standalone="yes"?>
<Relationships xmlns="http://schemas.openxmlformats.org/package/2006/relationships"><Relationship Id="rId2" Type="http://schemas.openxmlformats.org/officeDocument/2006/relationships/notesSlide" Target="../notesSlides/notesSlide469.xml"/><Relationship Id="rId1" Type="http://schemas.openxmlformats.org/officeDocument/2006/relationships/slideLayout" Target="../slideLayouts/slideLayout1.xml"/></Relationships>
</file>

<file path=ppt/slides/_rels/slide470.xml.rels><?xml version="1.0" encoding="UTF-8" standalone="yes"?>
<Relationships xmlns="http://schemas.openxmlformats.org/package/2006/relationships"><Relationship Id="rId2" Type="http://schemas.openxmlformats.org/officeDocument/2006/relationships/notesSlide" Target="../notesSlides/notesSlide470.xml"/><Relationship Id="rId1" Type="http://schemas.openxmlformats.org/officeDocument/2006/relationships/slideLayout" Target="../slideLayouts/slideLayout1.xml"/></Relationships>
</file>

<file path=ppt/slides/_rels/slide471.xml.rels><?xml version="1.0" encoding="UTF-8" standalone="yes"?>
<Relationships xmlns="http://schemas.openxmlformats.org/package/2006/relationships"><Relationship Id="rId2" Type="http://schemas.openxmlformats.org/officeDocument/2006/relationships/notesSlide" Target="../notesSlides/notesSlide471.xml"/><Relationship Id="rId1" Type="http://schemas.openxmlformats.org/officeDocument/2006/relationships/slideLayout" Target="../slideLayouts/slideLayout1.xml"/></Relationships>
</file>

<file path=ppt/slides/_rels/slide472.xml.rels><?xml version="1.0" encoding="UTF-8" standalone="yes"?>
<Relationships xmlns="http://schemas.openxmlformats.org/package/2006/relationships"><Relationship Id="rId2" Type="http://schemas.openxmlformats.org/officeDocument/2006/relationships/notesSlide" Target="../notesSlides/notesSlide472.xml"/><Relationship Id="rId1" Type="http://schemas.openxmlformats.org/officeDocument/2006/relationships/slideLayout" Target="../slideLayouts/slideLayout1.xml"/></Relationships>
</file>

<file path=ppt/slides/_rels/slide473.xml.rels><?xml version="1.0" encoding="UTF-8" standalone="yes"?>
<Relationships xmlns="http://schemas.openxmlformats.org/package/2006/relationships"><Relationship Id="rId2" Type="http://schemas.openxmlformats.org/officeDocument/2006/relationships/notesSlide" Target="../notesSlides/notesSlide473.xml"/><Relationship Id="rId1" Type="http://schemas.openxmlformats.org/officeDocument/2006/relationships/slideLayout" Target="../slideLayouts/slideLayout1.xml"/></Relationships>
</file>

<file path=ppt/slides/_rels/slide474.xml.rels><?xml version="1.0" encoding="UTF-8" standalone="yes"?>
<Relationships xmlns="http://schemas.openxmlformats.org/package/2006/relationships"><Relationship Id="rId2" Type="http://schemas.openxmlformats.org/officeDocument/2006/relationships/notesSlide" Target="../notesSlides/notesSlide474.xml"/><Relationship Id="rId1" Type="http://schemas.openxmlformats.org/officeDocument/2006/relationships/slideLayout" Target="../slideLayouts/slideLayout1.xml"/></Relationships>
</file>

<file path=ppt/slides/_rels/slide475.xml.rels><?xml version="1.0" encoding="UTF-8" standalone="yes"?>
<Relationships xmlns="http://schemas.openxmlformats.org/package/2006/relationships"><Relationship Id="rId2" Type="http://schemas.openxmlformats.org/officeDocument/2006/relationships/notesSlide" Target="../notesSlides/notesSlide475.xml"/><Relationship Id="rId1" Type="http://schemas.openxmlformats.org/officeDocument/2006/relationships/slideLayout" Target="../slideLayouts/slideLayout1.xml"/></Relationships>
</file>

<file path=ppt/slides/_rels/slide476.xml.rels><?xml version="1.0" encoding="UTF-8" standalone="yes"?>
<Relationships xmlns="http://schemas.openxmlformats.org/package/2006/relationships"><Relationship Id="rId2" Type="http://schemas.openxmlformats.org/officeDocument/2006/relationships/notesSlide" Target="../notesSlides/notesSlide476.xml"/><Relationship Id="rId1" Type="http://schemas.openxmlformats.org/officeDocument/2006/relationships/slideLayout" Target="../slideLayouts/slideLayout1.xml"/></Relationships>
</file>

<file path=ppt/slides/_rels/slide477.xml.rels><?xml version="1.0" encoding="UTF-8" standalone="yes"?>
<Relationships xmlns="http://schemas.openxmlformats.org/package/2006/relationships"><Relationship Id="rId2" Type="http://schemas.openxmlformats.org/officeDocument/2006/relationships/notesSlide" Target="../notesSlides/notesSlide477.xml"/><Relationship Id="rId1" Type="http://schemas.openxmlformats.org/officeDocument/2006/relationships/slideLayout" Target="../slideLayouts/slideLayout1.xml"/></Relationships>
</file>

<file path=ppt/slides/_rels/slide478.xml.rels><?xml version="1.0" encoding="UTF-8" standalone="yes"?>
<Relationships xmlns="http://schemas.openxmlformats.org/package/2006/relationships"><Relationship Id="rId2" Type="http://schemas.openxmlformats.org/officeDocument/2006/relationships/notesSlide" Target="../notesSlides/notesSlide478.xml"/><Relationship Id="rId1" Type="http://schemas.openxmlformats.org/officeDocument/2006/relationships/slideLayout" Target="../slideLayouts/slideLayout1.xml"/></Relationships>
</file>

<file path=ppt/slides/_rels/slide479.xml.rels><?xml version="1.0" encoding="UTF-8" standalone="yes"?>
<Relationships xmlns="http://schemas.openxmlformats.org/package/2006/relationships"><Relationship Id="rId2" Type="http://schemas.openxmlformats.org/officeDocument/2006/relationships/notesSlide" Target="../notesSlides/notesSlide479.xml"/><Relationship Id="rId1" Type="http://schemas.openxmlformats.org/officeDocument/2006/relationships/slideLayout" Target="../slideLayouts/slideLayout1.xml"/></Relationships>
</file>

<file path=ppt/slides/_rels/slide480.xml.rels><?xml version="1.0" encoding="UTF-8" standalone="yes"?>
<Relationships xmlns="http://schemas.openxmlformats.org/package/2006/relationships"><Relationship Id="rId2" Type="http://schemas.openxmlformats.org/officeDocument/2006/relationships/notesSlide" Target="../notesSlides/notesSlide480.xml"/><Relationship Id="rId1" Type="http://schemas.openxmlformats.org/officeDocument/2006/relationships/slideLayout" Target="../slideLayouts/slideLayout1.xml"/></Relationships>
</file>

<file path=ppt/slides/_rels/slide481.xml.rels><?xml version="1.0" encoding="UTF-8" standalone="yes"?>
<Relationships xmlns="http://schemas.openxmlformats.org/package/2006/relationships"><Relationship Id="rId2" Type="http://schemas.openxmlformats.org/officeDocument/2006/relationships/notesSlide" Target="../notesSlides/notesSlide481.xml"/><Relationship Id="rId1" Type="http://schemas.openxmlformats.org/officeDocument/2006/relationships/slideLayout" Target="../slideLayouts/slideLayout1.xml"/></Relationships>
</file>

<file path=ppt/slides/_rels/slide482.xml.rels><?xml version="1.0" encoding="UTF-8" standalone="yes"?>
<Relationships xmlns="http://schemas.openxmlformats.org/package/2006/relationships"><Relationship Id="rId2" Type="http://schemas.openxmlformats.org/officeDocument/2006/relationships/notesSlide" Target="../notesSlides/notesSlide482.xml"/><Relationship Id="rId1" Type="http://schemas.openxmlformats.org/officeDocument/2006/relationships/slideLayout" Target="../slideLayouts/slideLayout1.xml"/></Relationships>
</file>

<file path=ppt/slides/_rels/slide483.xml.rels><?xml version="1.0" encoding="UTF-8" standalone="yes"?>
<Relationships xmlns="http://schemas.openxmlformats.org/package/2006/relationships"><Relationship Id="rId2" Type="http://schemas.openxmlformats.org/officeDocument/2006/relationships/notesSlide" Target="../notesSlides/notesSlide483.xml"/><Relationship Id="rId1" Type="http://schemas.openxmlformats.org/officeDocument/2006/relationships/slideLayout" Target="../slideLayouts/slideLayout1.xml"/></Relationships>
</file>

<file path=ppt/slides/_rels/slide484.xml.rels><?xml version="1.0" encoding="UTF-8" standalone="yes"?>
<Relationships xmlns="http://schemas.openxmlformats.org/package/2006/relationships"><Relationship Id="rId2" Type="http://schemas.openxmlformats.org/officeDocument/2006/relationships/notesSlide" Target="../notesSlides/notesSlide484.xml"/><Relationship Id="rId1" Type="http://schemas.openxmlformats.org/officeDocument/2006/relationships/slideLayout" Target="../slideLayouts/slideLayout1.xml"/></Relationships>
</file>

<file path=ppt/slides/_rels/slide485.xml.rels><?xml version="1.0" encoding="UTF-8" standalone="yes"?>
<Relationships xmlns="http://schemas.openxmlformats.org/package/2006/relationships"><Relationship Id="rId2" Type="http://schemas.openxmlformats.org/officeDocument/2006/relationships/notesSlide" Target="../notesSlides/notesSlide485.xml"/><Relationship Id="rId1" Type="http://schemas.openxmlformats.org/officeDocument/2006/relationships/slideLayout" Target="../slideLayouts/slideLayout1.xml"/></Relationships>
</file>

<file path=ppt/slides/_rels/slide486.xml.rels><?xml version="1.0" encoding="UTF-8" standalone="yes"?>
<Relationships xmlns="http://schemas.openxmlformats.org/package/2006/relationships"><Relationship Id="rId2" Type="http://schemas.openxmlformats.org/officeDocument/2006/relationships/notesSlide" Target="../notesSlides/notesSlide486.xml"/><Relationship Id="rId1" Type="http://schemas.openxmlformats.org/officeDocument/2006/relationships/slideLayout" Target="../slideLayouts/slideLayout1.xml"/></Relationships>
</file>

<file path=ppt/slides/_rels/slide487.xml.rels><?xml version="1.0" encoding="UTF-8" standalone="yes"?>
<Relationships xmlns="http://schemas.openxmlformats.org/package/2006/relationships"><Relationship Id="rId2" Type="http://schemas.openxmlformats.org/officeDocument/2006/relationships/notesSlide" Target="../notesSlides/notesSlide487.xml"/><Relationship Id="rId1" Type="http://schemas.openxmlformats.org/officeDocument/2006/relationships/slideLayout" Target="../slideLayouts/slideLayout1.xml"/></Relationships>
</file>

<file path=ppt/slides/_rels/slide488.xml.rels><?xml version="1.0" encoding="UTF-8" standalone="yes"?>
<Relationships xmlns="http://schemas.openxmlformats.org/package/2006/relationships"><Relationship Id="rId2" Type="http://schemas.openxmlformats.org/officeDocument/2006/relationships/notesSlide" Target="../notesSlides/notesSlide488.xml"/><Relationship Id="rId1" Type="http://schemas.openxmlformats.org/officeDocument/2006/relationships/slideLayout" Target="../slideLayouts/slideLayout1.xml"/></Relationships>
</file>

<file path=ppt/slides/_rels/slide489.xml.rels><?xml version="1.0" encoding="UTF-8" standalone="yes"?>
<Relationships xmlns="http://schemas.openxmlformats.org/package/2006/relationships"><Relationship Id="rId2" Type="http://schemas.openxmlformats.org/officeDocument/2006/relationships/notesSlide" Target="../notesSlides/notesSlide489.xml"/><Relationship Id="rId1" Type="http://schemas.openxmlformats.org/officeDocument/2006/relationships/slideLayout" Target="../slideLayouts/slideLayout1.xml"/></Relationships>
</file>

<file path=ppt/slides/_rels/slide490.xml.rels><?xml version="1.0" encoding="UTF-8" standalone="yes"?>
<Relationships xmlns="http://schemas.openxmlformats.org/package/2006/relationships"><Relationship Id="rId2" Type="http://schemas.openxmlformats.org/officeDocument/2006/relationships/notesSlide" Target="../notesSlides/notesSlide490.xml"/><Relationship Id="rId1" Type="http://schemas.openxmlformats.org/officeDocument/2006/relationships/slideLayout" Target="../slideLayouts/slideLayout1.xml"/></Relationships>
</file>

<file path=ppt/slides/_rels/slide491.xml.rels><?xml version="1.0" encoding="UTF-8" standalone="yes"?>
<Relationships xmlns="http://schemas.openxmlformats.org/package/2006/relationships"><Relationship Id="rId2" Type="http://schemas.openxmlformats.org/officeDocument/2006/relationships/notesSlide" Target="../notesSlides/notesSlide491.xml"/><Relationship Id="rId1" Type="http://schemas.openxmlformats.org/officeDocument/2006/relationships/slideLayout" Target="../slideLayouts/slideLayout1.xml"/></Relationships>
</file>

<file path=ppt/slides/_rels/slide492.xml.rels><?xml version="1.0" encoding="UTF-8" standalone="yes"?>
<Relationships xmlns="http://schemas.openxmlformats.org/package/2006/relationships"><Relationship Id="rId2" Type="http://schemas.openxmlformats.org/officeDocument/2006/relationships/notesSlide" Target="../notesSlides/notesSlide492.xml"/><Relationship Id="rId1" Type="http://schemas.openxmlformats.org/officeDocument/2006/relationships/slideLayout" Target="../slideLayouts/slideLayout1.xml"/></Relationships>
</file>

<file path=ppt/slides/_rels/slide493.xml.rels><?xml version="1.0" encoding="UTF-8" standalone="yes"?>
<Relationships xmlns="http://schemas.openxmlformats.org/package/2006/relationships"><Relationship Id="rId2" Type="http://schemas.openxmlformats.org/officeDocument/2006/relationships/notesSlide" Target="../notesSlides/notesSlide493.xml"/><Relationship Id="rId1" Type="http://schemas.openxmlformats.org/officeDocument/2006/relationships/slideLayout" Target="../slideLayouts/slideLayout1.xml"/></Relationships>
</file>

<file path=ppt/slides/_rels/slide494.xml.rels><?xml version="1.0" encoding="UTF-8" standalone="yes"?>
<Relationships xmlns="http://schemas.openxmlformats.org/package/2006/relationships"><Relationship Id="rId2" Type="http://schemas.openxmlformats.org/officeDocument/2006/relationships/notesSlide" Target="../notesSlides/notesSlide494.xml"/><Relationship Id="rId1" Type="http://schemas.openxmlformats.org/officeDocument/2006/relationships/slideLayout" Target="../slideLayouts/slideLayout1.xml"/></Relationships>
</file>

<file path=ppt/slides/_rels/slide495.xml.rels><?xml version="1.0" encoding="UTF-8" standalone="yes"?>
<Relationships xmlns="http://schemas.openxmlformats.org/package/2006/relationships"><Relationship Id="rId2" Type="http://schemas.openxmlformats.org/officeDocument/2006/relationships/notesSlide" Target="../notesSlides/notesSlide495.xml"/><Relationship Id="rId1" Type="http://schemas.openxmlformats.org/officeDocument/2006/relationships/slideLayout" Target="../slideLayouts/slideLayout1.xml"/></Relationships>
</file>

<file path=ppt/slides/_rels/slide496.xml.rels><?xml version="1.0" encoding="UTF-8" standalone="yes"?>
<Relationships xmlns="http://schemas.openxmlformats.org/package/2006/relationships"><Relationship Id="rId2" Type="http://schemas.openxmlformats.org/officeDocument/2006/relationships/notesSlide" Target="../notesSlides/notesSlide496.xml"/><Relationship Id="rId1" Type="http://schemas.openxmlformats.org/officeDocument/2006/relationships/slideLayout" Target="../slideLayouts/slideLayout1.xml"/></Relationships>
</file>

<file path=ppt/slides/_rels/slide497.xml.rels><?xml version="1.0" encoding="UTF-8" standalone="yes"?>
<Relationships xmlns="http://schemas.openxmlformats.org/package/2006/relationships"><Relationship Id="rId2" Type="http://schemas.openxmlformats.org/officeDocument/2006/relationships/notesSlide" Target="../notesSlides/notesSlide497.xml"/><Relationship Id="rId1" Type="http://schemas.openxmlformats.org/officeDocument/2006/relationships/slideLayout" Target="../slideLayouts/slideLayout1.xml"/></Relationships>
</file>

<file path=ppt/slides/_rels/slide498.xml.rels><?xml version="1.0" encoding="UTF-8" standalone="yes"?>
<Relationships xmlns="http://schemas.openxmlformats.org/package/2006/relationships"><Relationship Id="rId2" Type="http://schemas.openxmlformats.org/officeDocument/2006/relationships/notesSlide" Target="../notesSlides/notesSlide498.xml"/><Relationship Id="rId1" Type="http://schemas.openxmlformats.org/officeDocument/2006/relationships/slideLayout" Target="../slideLayouts/slideLayout1.xml"/></Relationships>
</file>

<file path=ppt/slides/_rels/slide499.xml.rels><?xml version="1.0" encoding="UTF-8" standalone="yes"?>
<Relationships xmlns="http://schemas.openxmlformats.org/package/2006/relationships"><Relationship Id="rId2" Type="http://schemas.openxmlformats.org/officeDocument/2006/relationships/notesSlide" Target="../notesSlides/notesSlide499.xml"/><Relationship Id="rId1" Type="http://schemas.openxmlformats.org/officeDocument/2006/relationships/slideLayout" Target="../slideLayouts/slideLayout1.xml"/></Relationships>
</file>

<file path=ppt/slides/_rels/slide500.xml.rels><?xml version="1.0" encoding="UTF-8" standalone="yes"?>
<Relationships xmlns="http://schemas.openxmlformats.org/package/2006/relationships"><Relationship Id="rId2" Type="http://schemas.openxmlformats.org/officeDocument/2006/relationships/notesSlide" Target="../notesSlides/notesSlide500.xml"/><Relationship Id="rId1" Type="http://schemas.openxmlformats.org/officeDocument/2006/relationships/slideLayout" Target="../slideLayouts/slideLayout1.xml"/></Relationships>
</file>

<file path=ppt/slides/_rels/slide501.xml.rels><?xml version="1.0" encoding="UTF-8" standalone="yes"?>
<Relationships xmlns="http://schemas.openxmlformats.org/package/2006/relationships"><Relationship Id="rId2" Type="http://schemas.openxmlformats.org/officeDocument/2006/relationships/notesSlide" Target="../notesSlides/notesSlide501.xml"/><Relationship Id="rId1" Type="http://schemas.openxmlformats.org/officeDocument/2006/relationships/slideLayout" Target="../slideLayouts/slideLayout1.xml"/></Relationships>
</file>

<file path=ppt/slides/_rels/slide502.xml.rels><?xml version="1.0" encoding="UTF-8" standalone="yes"?>
<Relationships xmlns="http://schemas.openxmlformats.org/package/2006/relationships"><Relationship Id="rId2" Type="http://schemas.openxmlformats.org/officeDocument/2006/relationships/notesSlide" Target="../notesSlides/notesSlide502.xml"/><Relationship Id="rId1" Type="http://schemas.openxmlformats.org/officeDocument/2006/relationships/slideLayout" Target="../slideLayouts/slideLayout1.xml"/></Relationships>
</file>

<file path=ppt/slides/_rels/slide503.xml.rels><?xml version="1.0" encoding="UTF-8" standalone="yes"?>
<Relationships xmlns="http://schemas.openxmlformats.org/package/2006/relationships"><Relationship Id="rId2" Type="http://schemas.openxmlformats.org/officeDocument/2006/relationships/notesSlide" Target="../notesSlides/notesSlide503.xml"/><Relationship Id="rId1" Type="http://schemas.openxmlformats.org/officeDocument/2006/relationships/slideLayout" Target="../slideLayouts/slideLayout1.xml"/></Relationships>
</file>

<file path=ppt/slides/_rels/slide504.xml.rels><?xml version="1.0" encoding="UTF-8" standalone="yes"?>
<Relationships xmlns="http://schemas.openxmlformats.org/package/2006/relationships"><Relationship Id="rId2" Type="http://schemas.openxmlformats.org/officeDocument/2006/relationships/notesSlide" Target="../notesSlides/notesSlide504.xml"/><Relationship Id="rId1" Type="http://schemas.openxmlformats.org/officeDocument/2006/relationships/slideLayout" Target="../slideLayouts/slideLayout1.xml"/></Relationships>
</file>

<file path=ppt/slides/_rels/slide505.xml.rels><?xml version="1.0" encoding="UTF-8" standalone="yes"?>
<Relationships xmlns="http://schemas.openxmlformats.org/package/2006/relationships"><Relationship Id="rId2" Type="http://schemas.openxmlformats.org/officeDocument/2006/relationships/notesSlide" Target="../notesSlides/notesSlide505.xml"/><Relationship Id="rId1" Type="http://schemas.openxmlformats.org/officeDocument/2006/relationships/slideLayout" Target="../slideLayouts/slideLayout1.xml"/></Relationships>
</file>

<file path=ppt/slides/_rels/slide506.xml.rels><?xml version="1.0" encoding="UTF-8" standalone="yes"?>
<Relationships xmlns="http://schemas.openxmlformats.org/package/2006/relationships"><Relationship Id="rId2" Type="http://schemas.openxmlformats.org/officeDocument/2006/relationships/notesSlide" Target="../notesSlides/notesSlide506.xml"/><Relationship Id="rId1" Type="http://schemas.openxmlformats.org/officeDocument/2006/relationships/slideLayout" Target="../slideLayouts/slideLayout1.xml"/></Relationships>
</file>

<file path=ppt/slides/_rels/slide507.xml.rels><?xml version="1.0" encoding="UTF-8" standalone="yes"?>
<Relationships xmlns="http://schemas.openxmlformats.org/package/2006/relationships"><Relationship Id="rId2" Type="http://schemas.openxmlformats.org/officeDocument/2006/relationships/notesSlide" Target="../notesSlides/notesSlide507.xml"/><Relationship Id="rId1" Type="http://schemas.openxmlformats.org/officeDocument/2006/relationships/slideLayout" Target="../slideLayouts/slideLayout1.xml"/></Relationships>
</file>

<file path=ppt/slides/_rels/slide508.xml.rels><?xml version="1.0" encoding="UTF-8" standalone="yes"?>
<Relationships xmlns="http://schemas.openxmlformats.org/package/2006/relationships"><Relationship Id="rId2" Type="http://schemas.openxmlformats.org/officeDocument/2006/relationships/notesSlide" Target="../notesSlides/notesSlide508.xml"/><Relationship Id="rId1" Type="http://schemas.openxmlformats.org/officeDocument/2006/relationships/slideLayout" Target="../slideLayouts/slideLayout1.xml"/></Relationships>
</file>

<file path=ppt/slides/_rels/slide509.xml.rels><?xml version="1.0" encoding="UTF-8" standalone="yes"?>
<Relationships xmlns="http://schemas.openxmlformats.org/package/2006/relationships"><Relationship Id="rId2" Type="http://schemas.openxmlformats.org/officeDocument/2006/relationships/notesSlide" Target="../notesSlides/notesSlide509.xml"/><Relationship Id="rId1" Type="http://schemas.openxmlformats.org/officeDocument/2006/relationships/slideLayout" Target="../slideLayouts/slideLayout1.xml"/></Relationships>
</file>

<file path=ppt/slides/_rels/slide510.xml.rels><?xml version="1.0" encoding="UTF-8" standalone="yes"?>
<Relationships xmlns="http://schemas.openxmlformats.org/package/2006/relationships"><Relationship Id="rId2" Type="http://schemas.openxmlformats.org/officeDocument/2006/relationships/notesSlide" Target="../notesSlides/notesSlide510.xml"/><Relationship Id="rId1" Type="http://schemas.openxmlformats.org/officeDocument/2006/relationships/slideLayout" Target="../slideLayouts/slideLayout1.xml"/></Relationships>
</file>

<file path=ppt/slides/_rels/slide511.xml.rels><?xml version="1.0" encoding="UTF-8" standalone="yes"?>
<Relationships xmlns="http://schemas.openxmlformats.org/package/2006/relationships"><Relationship Id="rId2" Type="http://schemas.openxmlformats.org/officeDocument/2006/relationships/notesSlide" Target="../notesSlides/notesSlide511.xml"/><Relationship Id="rId1" Type="http://schemas.openxmlformats.org/officeDocument/2006/relationships/slideLayout" Target="../slideLayouts/slideLayout1.xml"/></Relationships>
</file>

<file path=ppt/slides/_rels/slide512.xml.rels><?xml version="1.0" encoding="UTF-8" standalone="yes"?>
<Relationships xmlns="http://schemas.openxmlformats.org/package/2006/relationships"><Relationship Id="rId2" Type="http://schemas.openxmlformats.org/officeDocument/2006/relationships/notesSlide" Target="../notesSlides/notesSlide512.xml"/><Relationship Id="rId1" Type="http://schemas.openxmlformats.org/officeDocument/2006/relationships/slideLayout" Target="../slideLayouts/slideLayout1.xml"/></Relationships>
</file>

<file path=ppt/slides/_rels/slide513.xml.rels><?xml version="1.0" encoding="UTF-8" standalone="yes"?>
<Relationships xmlns="http://schemas.openxmlformats.org/package/2006/relationships"><Relationship Id="rId2" Type="http://schemas.openxmlformats.org/officeDocument/2006/relationships/notesSlide" Target="../notesSlides/notesSlide513.xml"/><Relationship Id="rId1" Type="http://schemas.openxmlformats.org/officeDocument/2006/relationships/slideLayout" Target="../slideLayouts/slideLayout1.xml"/></Relationships>
</file>

<file path=ppt/slides/_rels/slide514.xml.rels><?xml version="1.0" encoding="UTF-8" standalone="yes"?>
<Relationships xmlns="http://schemas.openxmlformats.org/package/2006/relationships"><Relationship Id="rId2" Type="http://schemas.openxmlformats.org/officeDocument/2006/relationships/notesSlide" Target="../notesSlides/notesSlide514.xml"/><Relationship Id="rId1" Type="http://schemas.openxmlformats.org/officeDocument/2006/relationships/slideLayout" Target="../slideLayouts/slideLayout1.xml"/></Relationships>
</file>

<file path=ppt/slides/_rels/slide515.xml.rels><?xml version="1.0" encoding="UTF-8" standalone="yes"?>
<Relationships xmlns="http://schemas.openxmlformats.org/package/2006/relationships"><Relationship Id="rId2" Type="http://schemas.openxmlformats.org/officeDocument/2006/relationships/notesSlide" Target="../notesSlides/notesSlide515.xml"/><Relationship Id="rId1" Type="http://schemas.openxmlformats.org/officeDocument/2006/relationships/slideLayout" Target="../slideLayouts/slideLayout1.xml"/></Relationships>
</file>

<file path=ppt/slides/_rels/slide516.xml.rels><?xml version="1.0" encoding="UTF-8" standalone="yes"?>
<Relationships xmlns="http://schemas.openxmlformats.org/package/2006/relationships"><Relationship Id="rId2" Type="http://schemas.openxmlformats.org/officeDocument/2006/relationships/notesSlide" Target="../notesSlides/notesSlide516.xml"/><Relationship Id="rId1" Type="http://schemas.openxmlformats.org/officeDocument/2006/relationships/slideLayout" Target="../slideLayouts/slideLayout1.xml"/></Relationships>
</file>

<file path=ppt/slides/_rels/slide517.xml.rels><?xml version="1.0" encoding="UTF-8" standalone="yes"?>
<Relationships xmlns="http://schemas.openxmlformats.org/package/2006/relationships"><Relationship Id="rId2" Type="http://schemas.openxmlformats.org/officeDocument/2006/relationships/notesSlide" Target="../notesSlides/notesSlide517.xml"/><Relationship Id="rId1" Type="http://schemas.openxmlformats.org/officeDocument/2006/relationships/slideLayout" Target="../slideLayouts/slideLayout1.xml"/></Relationships>
</file>

<file path=ppt/slides/_rels/slide518.xml.rels><?xml version="1.0" encoding="UTF-8" standalone="yes"?>
<Relationships xmlns="http://schemas.openxmlformats.org/package/2006/relationships"><Relationship Id="rId2" Type="http://schemas.openxmlformats.org/officeDocument/2006/relationships/notesSlide" Target="../notesSlides/notesSlide518.xml"/><Relationship Id="rId1" Type="http://schemas.openxmlformats.org/officeDocument/2006/relationships/slideLayout" Target="../slideLayouts/slideLayout1.xml"/></Relationships>
</file>

<file path=ppt/slides/_rels/slide519.xml.rels><?xml version="1.0" encoding="UTF-8" standalone="yes"?>
<Relationships xmlns="http://schemas.openxmlformats.org/package/2006/relationships"><Relationship Id="rId2" Type="http://schemas.openxmlformats.org/officeDocument/2006/relationships/notesSlide" Target="../notesSlides/notesSlide519.xml"/><Relationship Id="rId1" Type="http://schemas.openxmlformats.org/officeDocument/2006/relationships/slideLayout" Target="../slideLayouts/slideLayout1.xml"/></Relationships>
</file>

<file path=ppt/slides/_rels/slide520.xml.rels><?xml version="1.0" encoding="UTF-8" standalone="yes"?>
<Relationships xmlns="http://schemas.openxmlformats.org/package/2006/relationships"><Relationship Id="rId2" Type="http://schemas.openxmlformats.org/officeDocument/2006/relationships/notesSlide" Target="../notesSlides/notesSlide520.xml"/><Relationship Id="rId1" Type="http://schemas.openxmlformats.org/officeDocument/2006/relationships/slideLayout" Target="../slideLayouts/slideLayout1.xml"/></Relationships>
</file>

<file path=ppt/slides/_rels/slide521.xml.rels><?xml version="1.0" encoding="UTF-8" standalone="yes"?>
<Relationships xmlns="http://schemas.openxmlformats.org/package/2006/relationships"><Relationship Id="rId2" Type="http://schemas.openxmlformats.org/officeDocument/2006/relationships/notesSlide" Target="../notesSlides/notesSlide521.xml"/><Relationship Id="rId1" Type="http://schemas.openxmlformats.org/officeDocument/2006/relationships/slideLayout" Target="../slideLayouts/slideLayout1.xml"/></Relationships>
</file>

<file path=ppt/slides/_rels/slide522.xml.rels><?xml version="1.0" encoding="UTF-8" standalone="yes"?>
<Relationships xmlns="http://schemas.openxmlformats.org/package/2006/relationships"><Relationship Id="rId2" Type="http://schemas.openxmlformats.org/officeDocument/2006/relationships/notesSlide" Target="../notesSlides/notesSlide522.xml"/><Relationship Id="rId1" Type="http://schemas.openxmlformats.org/officeDocument/2006/relationships/slideLayout" Target="../slideLayouts/slideLayout1.xml"/></Relationships>
</file>

<file path=ppt/slides/_rels/slide523.xml.rels><?xml version="1.0" encoding="UTF-8" standalone="yes"?>
<Relationships xmlns="http://schemas.openxmlformats.org/package/2006/relationships"><Relationship Id="rId2" Type="http://schemas.openxmlformats.org/officeDocument/2006/relationships/notesSlide" Target="../notesSlides/notesSlide523.xml"/><Relationship Id="rId1" Type="http://schemas.openxmlformats.org/officeDocument/2006/relationships/slideLayout" Target="../slideLayouts/slideLayout1.xml"/></Relationships>
</file>

<file path=ppt/slides/_rels/slide524.xml.rels><?xml version="1.0" encoding="UTF-8" standalone="yes"?>
<Relationships xmlns="http://schemas.openxmlformats.org/package/2006/relationships"><Relationship Id="rId2" Type="http://schemas.openxmlformats.org/officeDocument/2006/relationships/notesSlide" Target="../notesSlides/notesSlide524.xml"/><Relationship Id="rId1" Type="http://schemas.openxmlformats.org/officeDocument/2006/relationships/slideLayout" Target="../slideLayouts/slideLayout1.xml"/></Relationships>
</file>

<file path=ppt/slides/_rels/slide525.xml.rels><?xml version="1.0" encoding="UTF-8" standalone="yes"?>
<Relationships xmlns="http://schemas.openxmlformats.org/package/2006/relationships"><Relationship Id="rId2" Type="http://schemas.openxmlformats.org/officeDocument/2006/relationships/notesSlide" Target="../notesSlides/notesSlide525.xml"/><Relationship Id="rId1" Type="http://schemas.openxmlformats.org/officeDocument/2006/relationships/slideLayout" Target="../slideLayouts/slideLayout1.xml"/></Relationships>
</file>

<file path=ppt/slides/_rels/slide526.xml.rels><?xml version="1.0" encoding="UTF-8" standalone="yes"?>
<Relationships xmlns="http://schemas.openxmlformats.org/package/2006/relationships"><Relationship Id="rId2" Type="http://schemas.openxmlformats.org/officeDocument/2006/relationships/notesSlide" Target="../notesSlides/notesSlide526.xml"/><Relationship Id="rId1" Type="http://schemas.openxmlformats.org/officeDocument/2006/relationships/slideLayout" Target="../slideLayouts/slideLayout1.xml"/></Relationships>
</file>

<file path=ppt/slides/_rels/slide527.xml.rels><?xml version="1.0" encoding="UTF-8" standalone="yes"?>
<Relationships xmlns="http://schemas.openxmlformats.org/package/2006/relationships"><Relationship Id="rId2" Type="http://schemas.openxmlformats.org/officeDocument/2006/relationships/notesSlide" Target="../notesSlides/notesSlide527.xml"/><Relationship Id="rId1" Type="http://schemas.openxmlformats.org/officeDocument/2006/relationships/slideLayout" Target="../slideLayouts/slideLayout1.xml"/></Relationships>
</file>

<file path=ppt/slides/_rels/slide528.xml.rels><?xml version="1.0" encoding="UTF-8" standalone="yes"?>
<Relationships xmlns="http://schemas.openxmlformats.org/package/2006/relationships"><Relationship Id="rId2" Type="http://schemas.openxmlformats.org/officeDocument/2006/relationships/notesSlide" Target="../notesSlides/notesSlide528.xml"/><Relationship Id="rId1" Type="http://schemas.openxmlformats.org/officeDocument/2006/relationships/slideLayout" Target="../slideLayouts/slideLayout1.xml"/></Relationships>
</file>

<file path=ppt/slides/_rels/slide529.xml.rels><?xml version="1.0" encoding="UTF-8" standalone="yes"?>
<Relationships xmlns="http://schemas.openxmlformats.org/package/2006/relationships"><Relationship Id="rId2" Type="http://schemas.openxmlformats.org/officeDocument/2006/relationships/notesSlide" Target="../notesSlides/notesSlide529.xml"/><Relationship Id="rId1" Type="http://schemas.openxmlformats.org/officeDocument/2006/relationships/slideLayout" Target="../slideLayouts/slideLayout1.xml"/></Relationships>
</file>

<file path=ppt/slides/_rels/slide530.xml.rels><?xml version="1.0" encoding="UTF-8" standalone="yes"?>
<Relationships xmlns="http://schemas.openxmlformats.org/package/2006/relationships"><Relationship Id="rId2" Type="http://schemas.openxmlformats.org/officeDocument/2006/relationships/notesSlide" Target="../notesSlides/notesSlide530.xml"/><Relationship Id="rId1" Type="http://schemas.openxmlformats.org/officeDocument/2006/relationships/slideLayout" Target="../slideLayouts/slideLayout1.xml"/></Relationships>
</file>

<file path=ppt/slides/_rels/slide531.xml.rels><?xml version="1.0" encoding="UTF-8" standalone="yes"?>
<Relationships xmlns="http://schemas.openxmlformats.org/package/2006/relationships"><Relationship Id="rId2" Type="http://schemas.openxmlformats.org/officeDocument/2006/relationships/notesSlide" Target="../notesSlides/notesSlide531.xml"/><Relationship Id="rId1" Type="http://schemas.openxmlformats.org/officeDocument/2006/relationships/slideLayout" Target="../slideLayouts/slideLayout1.xml"/></Relationships>
</file>

<file path=ppt/slides/_rels/slide532.xml.rels><?xml version="1.0" encoding="UTF-8" standalone="yes"?>
<Relationships xmlns="http://schemas.openxmlformats.org/package/2006/relationships"><Relationship Id="rId2" Type="http://schemas.openxmlformats.org/officeDocument/2006/relationships/notesSlide" Target="../notesSlides/notesSlide532.xml"/><Relationship Id="rId1" Type="http://schemas.openxmlformats.org/officeDocument/2006/relationships/slideLayout" Target="../slideLayouts/slideLayout1.xml"/></Relationships>
</file>

<file path=ppt/slides/_rels/slide533.xml.rels><?xml version="1.0" encoding="UTF-8" standalone="yes"?>
<Relationships xmlns="http://schemas.openxmlformats.org/package/2006/relationships"><Relationship Id="rId2" Type="http://schemas.openxmlformats.org/officeDocument/2006/relationships/notesSlide" Target="../notesSlides/notesSlide533.xml"/><Relationship Id="rId1" Type="http://schemas.openxmlformats.org/officeDocument/2006/relationships/slideLayout" Target="../slideLayouts/slideLayout1.xml"/></Relationships>
</file>

<file path=ppt/slides/_rels/slide534.xml.rels><?xml version="1.0" encoding="UTF-8" standalone="yes"?>
<Relationships xmlns="http://schemas.openxmlformats.org/package/2006/relationships"><Relationship Id="rId2" Type="http://schemas.openxmlformats.org/officeDocument/2006/relationships/notesSlide" Target="../notesSlides/notesSlide534.xml"/><Relationship Id="rId1" Type="http://schemas.openxmlformats.org/officeDocument/2006/relationships/slideLayout" Target="../slideLayouts/slideLayout1.xml"/></Relationships>
</file>

<file path=ppt/slides/_rels/slide535.xml.rels><?xml version="1.0" encoding="UTF-8" standalone="yes"?>
<Relationships xmlns="http://schemas.openxmlformats.org/package/2006/relationships"><Relationship Id="rId2" Type="http://schemas.openxmlformats.org/officeDocument/2006/relationships/notesSlide" Target="../notesSlides/notesSlide535.xml"/><Relationship Id="rId1" Type="http://schemas.openxmlformats.org/officeDocument/2006/relationships/slideLayout" Target="../slideLayouts/slideLayout1.xml"/></Relationships>
</file>

<file path=ppt/slides/_rels/slide536.xml.rels><?xml version="1.0" encoding="UTF-8" standalone="yes"?>
<Relationships xmlns="http://schemas.openxmlformats.org/package/2006/relationships"><Relationship Id="rId2" Type="http://schemas.openxmlformats.org/officeDocument/2006/relationships/notesSlide" Target="../notesSlides/notesSlide536.xml"/><Relationship Id="rId1" Type="http://schemas.openxmlformats.org/officeDocument/2006/relationships/slideLayout" Target="../slideLayouts/slideLayout1.xml"/></Relationships>
</file>

<file path=ppt/slides/_rels/slide537.xml.rels><?xml version="1.0" encoding="UTF-8" standalone="yes"?>
<Relationships xmlns="http://schemas.openxmlformats.org/package/2006/relationships"><Relationship Id="rId2" Type="http://schemas.openxmlformats.org/officeDocument/2006/relationships/notesSlide" Target="../notesSlides/notesSlide537.xml"/><Relationship Id="rId1" Type="http://schemas.openxmlformats.org/officeDocument/2006/relationships/slideLayout" Target="../slideLayouts/slideLayout1.xml"/></Relationships>
</file>

<file path=ppt/slides/_rels/slide538.xml.rels><?xml version="1.0" encoding="UTF-8" standalone="yes"?>
<Relationships xmlns="http://schemas.openxmlformats.org/package/2006/relationships"><Relationship Id="rId2" Type="http://schemas.openxmlformats.org/officeDocument/2006/relationships/notesSlide" Target="../notesSlides/notesSlide538.xml"/><Relationship Id="rId1" Type="http://schemas.openxmlformats.org/officeDocument/2006/relationships/slideLayout" Target="../slideLayouts/slideLayout1.xml"/></Relationships>
</file>

<file path=ppt/slides/_rels/slide539.xml.rels><?xml version="1.0" encoding="UTF-8" standalone="yes"?>
<Relationships xmlns="http://schemas.openxmlformats.org/package/2006/relationships"><Relationship Id="rId2" Type="http://schemas.openxmlformats.org/officeDocument/2006/relationships/notesSlide" Target="../notesSlides/notesSlide539.xml"/><Relationship Id="rId1" Type="http://schemas.openxmlformats.org/officeDocument/2006/relationships/slideLayout" Target="../slideLayouts/slideLayout1.xml"/></Relationships>
</file>

<file path=ppt/slides/_rels/slide540.xml.rels><?xml version="1.0" encoding="UTF-8" standalone="yes"?>
<Relationships xmlns="http://schemas.openxmlformats.org/package/2006/relationships"><Relationship Id="rId2" Type="http://schemas.openxmlformats.org/officeDocument/2006/relationships/notesSlide" Target="../notesSlides/notesSlide540.xml"/><Relationship Id="rId1" Type="http://schemas.openxmlformats.org/officeDocument/2006/relationships/slideLayout" Target="../slideLayouts/slideLayout1.xml"/></Relationships>
</file>

<file path=ppt/slides/_rels/slide541.xml.rels><?xml version="1.0" encoding="UTF-8" standalone="yes"?>
<Relationships xmlns="http://schemas.openxmlformats.org/package/2006/relationships"><Relationship Id="rId2" Type="http://schemas.openxmlformats.org/officeDocument/2006/relationships/notesSlide" Target="../notesSlides/notesSlide541.xml"/><Relationship Id="rId1" Type="http://schemas.openxmlformats.org/officeDocument/2006/relationships/slideLayout" Target="../slideLayouts/slideLayout1.xml"/></Relationships>
</file>

<file path=ppt/slides/_rels/slide542.xml.rels><?xml version="1.0" encoding="UTF-8" standalone="yes"?>
<Relationships xmlns="http://schemas.openxmlformats.org/package/2006/relationships"><Relationship Id="rId2" Type="http://schemas.openxmlformats.org/officeDocument/2006/relationships/notesSlide" Target="../notesSlides/notesSlide542.xml"/><Relationship Id="rId1" Type="http://schemas.openxmlformats.org/officeDocument/2006/relationships/slideLayout" Target="../slideLayouts/slideLayout1.xml"/></Relationships>
</file>

<file path=ppt/slides/_rels/slide543.xml.rels><?xml version="1.0" encoding="UTF-8" standalone="yes"?>
<Relationships xmlns="http://schemas.openxmlformats.org/package/2006/relationships"><Relationship Id="rId2" Type="http://schemas.openxmlformats.org/officeDocument/2006/relationships/notesSlide" Target="../notesSlides/notesSlide543.xml"/><Relationship Id="rId1" Type="http://schemas.openxmlformats.org/officeDocument/2006/relationships/slideLayout" Target="../slideLayouts/slideLayout1.xml"/></Relationships>
</file>

<file path=ppt/slides/_rels/slide544.xml.rels><?xml version="1.0" encoding="UTF-8" standalone="yes"?>
<Relationships xmlns="http://schemas.openxmlformats.org/package/2006/relationships"><Relationship Id="rId2" Type="http://schemas.openxmlformats.org/officeDocument/2006/relationships/notesSlide" Target="../notesSlides/notesSlide544.xml"/><Relationship Id="rId1" Type="http://schemas.openxmlformats.org/officeDocument/2006/relationships/slideLayout" Target="../slideLayouts/slideLayout1.xml"/></Relationships>
</file>

<file path=ppt/slides/_rels/slide545.xml.rels><?xml version="1.0" encoding="UTF-8" standalone="yes"?>
<Relationships xmlns="http://schemas.openxmlformats.org/package/2006/relationships"><Relationship Id="rId2" Type="http://schemas.openxmlformats.org/officeDocument/2006/relationships/notesSlide" Target="../notesSlides/notesSlide545.xml"/><Relationship Id="rId1" Type="http://schemas.openxmlformats.org/officeDocument/2006/relationships/slideLayout" Target="../slideLayouts/slideLayout1.xml"/></Relationships>
</file>

<file path=ppt/slides/_rels/slide546.xml.rels><?xml version="1.0" encoding="UTF-8" standalone="yes"?>
<Relationships xmlns="http://schemas.openxmlformats.org/package/2006/relationships"><Relationship Id="rId2" Type="http://schemas.openxmlformats.org/officeDocument/2006/relationships/notesSlide" Target="../notesSlides/notesSlide546.xml"/><Relationship Id="rId1" Type="http://schemas.openxmlformats.org/officeDocument/2006/relationships/slideLayout" Target="../slideLayouts/slideLayout1.xml"/></Relationships>
</file>

<file path=ppt/slides/_rels/slide547.xml.rels><?xml version="1.0" encoding="UTF-8" standalone="yes"?>
<Relationships xmlns="http://schemas.openxmlformats.org/package/2006/relationships"><Relationship Id="rId2" Type="http://schemas.openxmlformats.org/officeDocument/2006/relationships/notesSlide" Target="../notesSlides/notesSlide547.xml"/><Relationship Id="rId1" Type="http://schemas.openxmlformats.org/officeDocument/2006/relationships/slideLayout" Target="../slideLayouts/slideLayout1.xml"/></Relationships>
</file>

<file path=ppt/slides/_rels/slide548.xml.rels><?xml version="1.0" encoding="UTF-8" standalone="yes"?>
<Relationships xmlns="http://schemas.openxmlformats.org/package/2006/relationships"><Relationship Id="rId2" Type="http://schemas.openxmlformats.org/officeDocument/2006/relationships/notesSlide" Target="../notesSlides/notesSlide548.xml"/><Relationship Id="rId1" Type="http://schemas.openxmlformats.org/officeDocument/2006/relationships/slideLayout" Target="../slideLayouts/slideLayout1.xml"/></Relationships>
</file>

<file path=ppt/slides/_rels/slide549.xml.rels><?xml version="1.0" encoding="UTF-8" standalone="yes"?>
<Relationships xmlns="http://schemas.openxmlformats.org/package/2006/relationships"><Relationship Id="rId2" Type="http://schemas.openxmlformats.org/officeDocument/2006/relationships/notesSlide" Target="../notesSlides/notesSlide549.xml"/><Relationship Id="rId1" Type="http://schemas.openxmlformats.org/officeDocument/2006/relationships/slideLayout" Target="../slideLayouts/slideLayout1.xml"/></Relationships>
</file>

<file path=ppt/slides/_rels/slide550.xml.rels><?xml version="1.0" encoding="UTF-8" standalone="yes"?>
<Relationships xmlns="http://schemas.openxmlformats.org/package/2006/relationships"><Relationship Id="rId2" Type="http://schemas.openxmlformats.org/officeDocument/2006/relationships/notesSlide" Target="../notesSlides/notesSlide550.xml"/><Relationship Id="rId1" Type="http://schemas.openxmlformats.org/officeDocument/2006/relationships/slideLayout" Target="../slideLayouts/slideLayout1.xml"/></Relationships>
</file>

<file path=ppt/slides/_rels/slide551.xml.rels><?xml version="1.0" encoding="UTF-8" standalone="yes"?>
<Relationships xmlns="http://schemas.openxmlformats.org/package/2006/relationships"><Relationship Id="rId2" Type="http://schemas.openxmlformats.org/officeDocument/2006/relationships/notesSlide" Target="../notesSlides/notesSlide551.xml"/><Relationship Id="rId1" Type="http://schemas.openxmlformats.org/officeDocument/2006/relationships/slideLayout" Target="../slideLayouts/slideLayout1.xml"/></Relationships>
</file>

<file path=ppt/slides/_rels/slide552.xml.rels><?xml version="1.0" encoding="UTF-8" standalone="yes"?>
<Relationships xmlns="http://schemas.openxmlformats.org/package/2006/relationships"><Relationship Id="rId2" Type="http://schemas.openxmlformats.org/officeDocument/2006/relationships/notesSlide" Target="../notesSlides/notesSlide552.xml"/><Relationship Id="rId1" Type="http://schemas.openxmlformats.org/officeDocument/2006/relationships/slideLayout" Target="../slideLayouts/slideLayout1.xml"/></Relationships>
</file>

<file path=ppt/slides/_rels/slide553.xml.rels><?xml version="1.0" encoding="UTF-8" standalone="yes"?>
<Relationships xmlns="http://schemas.openxmlformats.org/package/2006/relationships"><Relationship Id="rId2" Type="http://schemas.openxmlformats.org/officeDocument/2006/relationships/notesSlide" Target="../notesSlides/notesSlide553.xml"/><Relationship Id="rId1" Type="http://schemas.openxmlformats.org/officeDocument/2006/relationships/slideLayout" Target="../slideLayouts/slideLayout1.xml"/></Relationships>
</file>

<file path=ppt/slides/_rels/slide554.xml.rels><?xml version="1.0" encoding="UTF-8" standalone="yes"?>
<Relationships xmlns="http://schemas.openxmlformats.org/package/2006/relationships"><Relationship Id="rId2" Type="http://schemas.openxmlformats.org/officeDocument/2006/relationships/notesSlide" Target="../notesSlides/notesSlide554.xml"/><Relationship Id="rId1" Type="http://schemas.openxmlformats.org/officeDocument/2006/relationships/slideLayout" Target="../slideLayouts/slideLayout1.xml"/></Relationships>
</file>

<file path=ppt/slides/_rels/slide555.xml.rels><?xml version="1.0" encoding="UTF-8" standalone="yes"?>
<Relationships xmlns="http://schemas.openxmlformats.org/package/2006/relationships"><Relationship Id="rId2" Type="http://schemas.openxmlformats.org/officeDocument/2006/relationships/notesSlide" Target="../notesSlides/notesSlide555.xml"/><Relationship Id="rId1" Type="http://schemas.openxmlformats.org/officeDocument/2006/relationships/slideLayout" Target="../slideLayouts/slideLayout1.xml"/></Relationships>
</file>

<file path=ppt/slides/_rels/slide556.xml.rels><?xml version="1.0" encoding="UTF-8" standalone="yes"?>
<Relationships xmlns="http://schemas.openxmlformats.org/package/2006/relationships"><Relationship Id="rId2" Type="http://schemas.openxmlformats.org/officeDocument/2006/relationships/notesSlide" Target="../notesSlides/notesSlide556.xml"/><Relationship Id="rId1" Type="http://schemas.openxmlformats.org/officeDocument/2006/relationships/slideLayout" Target="../slideLayouts/slideLayout1.xml"/></Relationships>
</file>

<file path=ppt/slides/_rels/slide557.xml.rels><?xml version="1.0" encoding="UTF-8" standalone="yes"?>
<Relationships xmlns="http://schemas.openxmlformats.org/package/2006/relationships"><Relationship Id="rId2" Type="http://schemas.openxmlformats.org/officeDocument/2006/relationships/notesSlide" Target="../notesSlides/notesSlide557.xml"/><Relationship Id="rId1" Type="http://schemas.openxmlformats.org/officeDocument/2006/relationships/slideLayout" Target="../slideLayouts/slideLayout1.xml"/></Relationships>
</file>

<file path=ppt/slides/_rels/slide558.xml.rels><?xml version="1.0" encoding="UTF-8" standalone="yes"?>
<Relationships xmlns="http://schemas.openxmlformats.org/package/2006/relationships"><Relationship Id="rId2" Type="http://schemas.openxmlformats.org/officeDocument/2006/relationships/notesSlide" Target="../notesSlides/notesSlide558.xml"/><Relationship Id="rId1" Type="http://schemas.openxmlformats.org/officeDocument/2006/relationships/slideLayout" Target="../slideLayouts/slideLayout1.xml"/></Relationships>
</file>

<file path=ppt/slides/_rels/slide559.xml.rels><?xml version="1.0" encoding="UTF-8" standalone="yes"?>
<Relationships xmlns="http://schemas.openxmlformats.org/package/2006/relationships"><Relationship Id="rId2" Type="http://schemas.openxmlformats.org/officeDocument/2006/relationships/notesSlide" Target="../notesSlides/notesSlide559.xml"/><Relationship Id="rId1" Type="http://schemas.openxmlformats.org/officeDocument/2006/relationships/slideLayout" Target="../slideLayouts/slideLayout1.xml"/></Relationships>
</file>

<file path=ppt/slides/_rels/slide560.xml.rels><?xml version="1.0" encoding="UTF-8" standalone="yes"?>
<Relationships xmlns="http://schemas.openxmlformats.org/package/2006/relationships"><Relationship Id="rId2" Type="http://schemas.openxmlformats.org/officeDocument/2006/relationships/notesSlide" Target="../notesSlides/notesSlide560.xml"/><Relationship Id="rId1" Type="http://schemas.openxmlformats.org/officeDocument/2006/relationships/slideLayout" Target="../slideLayouts/slideLayout1.xml"/></Relationships>
</file>

<file path=ppt/slides/_rels/slide561.xml.rels><?xml version="1.0" encoding="UTF-8" standalone="yes"?>
<Relationships xmlns="http://schemas.openxmlformats.org/package/2006/relationships"><Relationship Id="rId2" Type="http://schemas.openxmlformats.org/officeDocument/2006/relationships/notesSlide" Target="../notesSlides/notesSlide561.xml"/><Relationship Id="rId1" Type="http://schemas.openxmlformats.org/officeDocument/2006/relationships/slideLayout" Target="../slideLayouts/slideLayout1.xml"/></Relationships>
</file>

<file path=ppt/slides/_rels/slide562.xml.rels><?xml version="1.0" encoding="UTF-8" standalone="yes"?>
<Relationships xmlns="http://schemas.openxmlformats.org/package/2006/relationships"><Relationship Id="rId2" Type="http://schemas.openxmlformats.org/officeDocument/2006/relationships/notesSlide" Target="../notesSlides/notesSlide562.xml"/><Relationship Id="rId1" Type="http://schemas.openxmlformats.org/officeDocument/2006/relationships/slideLayout" Target="../slideLayouts/slideLayout1.xml"/></Relationships>
</file>

<file path=ppt/slides/_rels/slide563.xml.rels><?xml version="1.0" encoding="UTF-8" standalone="yes"?>
<Relationships xmlns="http://schemas.openxmlformats.org/package/2006/relationships"><Relationship Id="rId2" Type="http://schemas.openxmlformats.org/officeDocument/2006/relationships/notesSlide" Target="../notesSlides/notesSlide563.xml"/><Relationship Id="rId1" Type="http://schemas.openxmlformats.org/officeDocument/2006/relationships/slideLayout" Target="../slideLayouts/slideLayout1.xml"/></Relationships>
</file>

<file path=ppt/slides/_rels/slide564.xml.rels><?xml version="1.0" encoding="UTF-8" standalone="yes"?>
<Relationships xmlns="http://schemas.openxmlformats.org/package/2006/relationships"><Relationship Id="rId2" Type="http://schemas.openxmlformats.org/officeDocument/2006/relationships/notesSlide" Target="../notesSlides/notesSlide564.xml"/><Relationship Id="rId1" Type="http://schemas.openxmlformats.org/officeDocument/2006/relationships/slideLayout" Target="../slideLayouts/slideLayout1.xml"/></Relationships>
</file>

<file path=ppt/slides/_rels/slide565.xml.rels><?xml version="1.0" encoding="UTF-8" standalone="yes"?>
<Relationships xmlns="http://schemas.openxmlformats.org/package/2006/relationships"><Relationship Id="rId2" Type="http://schemas.openxmlformats.org/officeDocument/2006/relationships/notesSlide" Target="../notesSlides/notesSlide565.xml"/><Relationship Id="rId1" Type="http://schemas.openxmlformats.org/officeDocument/2006/relationships/slideLayout" Target="../slideLayouts/slideLayout1.xml"/></Relationships>
</file>

<file path=ppt/slides/_rels/slide566.xml.rels><?xml version="1.0" encoding="UTF-8" standalone="yes"?>
<Relationships xmlns="http://schemas.openxmlformats.org/package/2006/relationships"><Relationship Id="rId2" Type="http://schemas.openxmlformats.org/officeDocument/2006/relationships/notesSlide" Target="../notesSlides/notesSlide566.xml"/><Relationship Id="rId1" Type="http://schemas.openxmlformats.org/officeDocument/2006/relationships/slideLayout" Target="../slideLayouts/slideLayout1.xml"/></Relationships>
</file>

<file path=ppt/slides/_rels/slide567.xml.rels><?xml version="1.0" encoding="UTF-8" standalone="yes"?>
<Relationships xmlns="http://schemas.openxmlformats.org/package/2006/relationships"><Relationship Id="rId2" Type="http://schemas.openxmlformats.org/officeDocument/2006/relationships/notesSlide" Target="../notesSlides/notesSlide567.xml"/><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name="Slide 1">
    <p:bg>
      <p:bgPr>
        <a:solidFill>
          <a:srgbClr val="12324A"/>
        </a:solidFill>
        <a:effectLst/>
      </p:bgPr>
    </p:bg>
    <p:spTree>
      <p:nvGrpSpPr>
        <p:cNvPr id="1" name=""/>
        <p:cNvGrpSpPr/>
        <p:nvPr/>
      </p:nvGrpSpPr>
      <p:grpSpPr>
        <a:xfrm>
          <a:off x="0" y="0"/>
          <a:ext cx="0" cy="0"/>
          <a:chOff x="0" y="0"/>
          <a:chExt cx="0" cy="0"/>
        </a:xfrm>
      </p:grpSpPr>
      <p:sp>
        <p:nvSpPr>
          <p:cNvPr id="2" name="Shape 0"/>
          <p:cNvSpPr/>
          <p:nvPr/>
        </p:nvSpPr>
        <p:spPr>
          <a:xfrm>
            <a:off x="0" y="0"/>
            <a:ext cx="152396" cy="6858000"/>
          </a:xfrm>
          <a:prstGeom prst="rect">
            <a:avLst/>
          </a:prstGeom>
          <a:solidFill>
            <a:srgbClr val="E3AE2E"/>
          </a:solidFill>
          <a:ln w="12700">
            <a:solidFill>
              <a:srgbClr val="E3AE2E"/>
            </a:solidFill>
            <a:prstDash val="solid"/>
          </a:ln>
        </p:spPr>
        <p:txBody>
          <a:bodyPr/>
          <a:lstStyle/>
          <a:p>
            <a:endParaRPr lang="fr-FR"/>
          </a:p>
        </p:txBody>
      </p:sp>
      <p:sp>
        <p:nvSpPr>
          <p:cNvPr id="3" name="Text 1"/>
          <p:cNvSpPr/>
          <p:nvPr/>
        </p:nvSpPr>
        <p:spPr>
          <a:xfrm>
            <a:off x="812780" y="812800"/>
            <a:ext cx="10159746" cy="317500"/>
          </a:xfrm>
          <a:prstGeom prst="rect">
            <a:avLst/>
          </a:prstGeom>
          <a:noFill/>
          <a:ln/>
        </p:spPr>
        <p:txBody>
          <a:bodyPr wrap="square" rtlCol="0" anchor="ctr"/>
          <a:lstStyle/>
          <a:p>
            <a:pPr marL="0" indent="0">
              <a:buNone/>
            </a:pPr>
            <a:r>
              <a:rPr lang="en-US" sz="1400" b="1" kern="0" spc="300" dirty="0">
                <a:solidFill>
                  <a:srgbClr val="E3AE2E"/>
                </a:solidFill>
                <a:latin typeface="Segoe UI" pitchFamily="34" charset="0"/>
                <a:ea typeface="Segoe UI" pitchFamily="34" charset="-122"/>
                <a:cs typeface="Segoe UI" pitchFamily="34" charset="-120"/>
              </a:rPr>
              <a:t>COMMISSION NATIONALE DES MARCHÉS · DOSSIER DE RECETTE</a:t>
            </a:r>
            <a:endParaRPr lang="en-US" sz="1400" dirty="0"/>
          </a:p>
        </p:txBody>
      </p:sp>
      <p:sp>
        <p:nvSpPr>
          <p:cNvPr id="4" name="Text 2"/>
          <p:cNvSpPr/>
          <p:nvPr/>
        </p:nvSpPr>
        <p:spPr>
          <a:xfrm>
            <a:off x="812780" y="1206500"/>
            <a:ext cx="10477238" cy="1270000"/>
          </a:xfrm>
          <a:prstGeom prst="rect">
            <a:avLst/>
          </a:prstGeom>
          <a:noFill/>
          <a:ln/>
        </p:spPr>
        <p:txBody>
          <a:bodyPr wrap="square" rtlCol="0" anchor="t">
            <a:normAutofit/>
          </a:bodyPr>
          <a:lstStyle/>
          <a:p>
            <a:pPr marL="0" indent="0">
              <a:buNone/>
            </a:pPr>
            <a:r>
              <a:rPr lang="en-US" sz="4400" b="1" dirty="0">
                <a:solidFill>
                  <a:srgbClr val="FCFCFA"/>
                </a:solidFill>
                <a:latin typeface="Segoe UI" pitchFamily="34" charset="0"/>
                <a:ea typeface="Segoe UI" pitchFamily="34" charset="-122"/>
                <a:cs typeface="Segoe UI" pitchFamily="34" charset="-120"/>
              </a:rPr>
              <a:t>PRS 2.0 — L’application de bout en bout</a:t>
            </a:r>
            <a:endParaRPr lang="en-US" sz="4400" dirty="0"/>
          </a:p>
        </p:txBody>
      </p:sp>
      <p:sp>
        <p:nvSpPr>
          <p:cNvPr id="5" name="Text 3"/>
          <p:cNvSpPr/>
          <p:nvPr/>
        </p:nvSpPr>
        <p:spPr>
          <a:xfrm>
            <a:off x="812780" y="2730500"/>
            <a:ext cx="9524762" cy="1079500"/>
          </a:xfrm>
          <a:prstGeom prst="rect">
            <a:avLst/>
          </a:prstGeom>
          <a:noFill/>
          <a:ln/>
        </p:spPr>
        <p:txBody>
          <a:bodyPr wrap="square" rtlCol="0" anchor="t"/>
          <a:lstStyle/>
          <a:p>
            <a:pPr marL="0" indent="0">
              <a:buNone/>
            </a:pPr>
            <a:r>
              <a:rPr lang="en-US" sz="2200" dirty="0">
                <a:solidFill>
                  <a:srgbClr val="C9D6E2"/>
                </a:solidFill>
                <a:latin typeface="Segoe UI" pitchFamily="34" charset="0"/>
                <a:ea typeface="Segoe UI" pitchFamily="34" charset="-122"/>
                <a:cs typeface="Segoe UI" pitchFamily="34" charset="-120"/>
              </a:rPr>
              <a:t>Du plan de passation au marché notifié : chaque étape, chaque écran, qui y agit, et ce que l’application garantit à la Commission nationale des marchés.</a:t>
            </a:r>
            <a:endParaRPr lang="en-US" sz="2200" dirty="0"/>
          </a:p>
        </p:txBody>
      </p:sp>
      <p:sp>
        <p:nvSpPr>
          <p:cNvPr id="6" name="Text 4"/>
          <p:cNvSpPr/>
          <p:nvPr/>
        </p:nvSpPr>
        <p:spPr>
          <a:xfrm>
            <a:off x="812780" y="5270500"/>
            <a:ext cx="9842254" cy="762000"/>
          </a:xfrm>
          <a:prstGeom prst="rect">
            <a:avLst/>
          </a:prstGeom>
          <a:noFill/>
          <a:ln/>
        </p:spPr>
        <p:txBody>
          <a:bodyPr wrap="square" rtlCol="0" anchor="t"/>
          <a:lstStyle/>
          <a:p>
            <a:pPr marL="0" indent="0">
              <a:buNone/>
            </a:pPr>
            <a:r>
              <a:rPr lang="en-US" sz="1400" dirty="0">
                <a:solidFill>
                  <a:srgbClr val="8FA6BB"/>
                </a:solidFill>
                <a:latin typeface="Segoe UI" pitchFamily="34" charset="0"/>
                <a:ea typeface="Segoe UI" pitchFamily="34" charset="-122"/>
                <a:cs typeface="Segoe UI" pitchFamily="34" charset="-120"/>
              </a:rPr>
              <a:t>Pour l’équipe projet et recette : codes de règles sous chaque écran, provenance en note, annexes A (règles), B (données), C (recette)</a:t>
            </a:r>
            <a:endParaRPr lang="en-US" sz="1400" dirty="0"/>
          </a:p>
          <a:p>
            <a:pPr marL="0" indent="0">
              <a:buNone/>
            </a:pPr>
            <a:r>
              <a:rPr lang="en-US" sz="1400" dirty="0">
                <a:solidFill>
                  <a:srgbClr val="8FA6BB"/>
                </a:solidFill>
                <a:latin typeface="Segoe UI" pitchFamily="34" charset="0"/>
                <a:ea typeface="Segoe UI" pitchFamily="34" charset="-122"/>
                <a:cs typeface="Segoe UI" pitchFamily="34" charset="-120"/>
              </a:rPr>
              <a:t>Captures de l’application réelle sur des dossiers de démonstration (14 octobre 2026) · noms de personnes remplacés par leur rôle</a:t>
            </a:r>
            <a:endParaRPr lang="en-US" sz="1400" dirty="0"/>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name="Slide 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POUR LA DIRECTION</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Ce que PRS 2.0 change pour la Commission</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Six changements de fond, que chaque partie détaille écran par écran.</a:t>
            </a:r>
            <a:endParaRPr lang="en-US" sz="1300" dirty="0"/>
          </a:p>
        </p:txBody>
      </p:sp>
      <p:sp>
        <p:nvSpPr>
          <p:cNvPr id="5" name="Shape 3"/>
          <p:cNvSpPr/>
          <p:nvPr/>
        </p:nvSpPr>
        <p:spPr>
          <a:xfrm>
            <a:off x="812780" y="1651000"/>
            <a:ext cx="3420448" cy="2159000"/>
          </a:xfrm>
          <a:prstGeom prst="rect">
            <a:avLst/>
          </a:prstGeom>
          <a:solidFill>
            <a:srgbClr val="FCFCFA"/>
          </a:solidFill>
          <a:ln w="9525">
            <a:solidFill>
              <a:srgbClr val="D5DCE4"/>
            </a:solidFill>
            <a:prstDash val="solid"/>
          </a:ln>
        </p:spPr>
        <p:txBody>
          <a:bodyPr/>
          <a:lstStyle/>
          <a:p>
            <a:endParaRPr lang="fr-FR"/>
          </a:p>
        </p:txBody>
      </p:sp>
      <p:sp>
        <p:nvSpPr>
          <p:cNvPr id="6" name="Shape 4"/>
          <p:cNvSpPr/>
          <p:nvPr/>
        </p:nvSpPr>
        <p:spPr>
          <a:xfrm>
            <a:off x="812780" y="1651000"/>
            <a:ext cx="3420448" cy="38100"/>
          </a:xfrm>
          <a:prstGeom prst="rect">
            <a:avLst/>
          </a:prstGeom>
          <a:solidFill>
            <a:srgbClr val="1B6FA8"/>
          </a:solidFill>
          <a:ln/>
        </p:spPr>
        <p:txBody>
          <a:bodyPr/>
          <a:lstStyle/>
          <a:p>
            <a:endParaRPr lang="fr-FR"/>
          </a:p>
        </p:txBody>
      </p:sp>
      <p:sp>
        <p:nvSpPr>
          <p:cNvPr id="7" name="Text 5"/>
          <p:cNvSpPr/>
          <p:nvPr/>
        </p:nvSpPr>
        <p:spPr>
          <a:xfrm>
            <a:off x="952476" y="17526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Un seul circuit, entièrement en ligne</a:t>
            </a:r>
            <a:endParaRPr lang="en-US" sz="1500" dirty="0"/>
          </a:p>
        </p:txBody>
      </p:sp>
      <p:sp>
        <p:nvSpPr>
          <p:cNvPr id="8" name="Text 6"/>
          <p:cNvSpPr/>
          <p:nvPr/>
        </p:nvSpPr>
        <p:spPr>
          <a:xfrm>
            <a:off x="952476" y="22098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Du plan de passation au marché signé, chaque dossier suit le même circuit tracé : </a:t>
            </a:r>
            <a:r>
              <a:rPr lang="en-US" sz="1200" b="1" dirty="0">
                <a:solidFill>
                  <a:srgbClr val="1B2A3A"/>
                </a:solidFill>
                <a:latin typeface="Segoe UI" pitchFamily="34" charset="0"/>
                <a:ea typeface="Segoe UI" pitchFamily="34" charset="-122"/>
                <a:cs typeface="Segoe UI" pitchFamily="34" charset="-120"/>
              </a:rPr>
              <a:t>réception, dispatch, examen, PV, visa, signature, vérification</a:t>
            </a:r>
            <a:r>
              <a:rPr lang="en-US" sz="1200" dirty="0">
                <a:solidFill>
                  <a:srgbClr val="465568"/>
                </a:solidFill>
                <a:latin typeface="Segoe UI" pitchFamily="34" charset="0"/>
                <a:ea typeface="Segoe UI" pitchFamily="34" charset="-122"/>
                <a:cs typeface="Segoe UI" pitchFamily="34" charset="-120"/>
              </a:rPr>
              <a:t>. Plus de dossier papier qui circule.</a:t>
            </a:r>
            <a:endParaRPr lang="en-US" sz="1200" dirty="0"/>
          </a:p>
        </p:txBody>
      </p:sp>
      <p:sp>
        <p:nvSpPr>
          <p:cNvPr id="9" name="Shape 7"/>
          <p:cNvSpPr/>
          <p:nvPr/>
        </p:nvSpPr>
        <p:spPr>
          <a:xfrm>
            <a:off x="4385624" y="1651000"/>
            <a:ext cx="3420448" cy="2159000"/>
          </a:xfrm>
          <a:prstGeom prst="rect">
            <a:avLst/>
          </a:prstGeom>
          <a:solidFill>
            <a:srgbClr val="FCFCFA"/>
          </a:solidFill>
          <a:ln w="9525">
            <a:solidFill>
              <a:srgbClr val="D5DCE4"/>
            </a:solidFill>
            <a:prstDash val="solid"/>
          </a:ln>
        </p:spPr>
        <p:txBody>
          <a:bodyPr/>
          <a:lstStyle/>
          <a:p>
            <a:endParaRPr lang="fr-FR"/>
          </a:p>
        </p:txBody>
      </p:sp>
      <p:sp>
        <p:nvSpPr>
          <p:cNvPr id="10" name="Shape 8"/>
          <p:cNvSpPr/>
          <p:nvPr/>
        </p:nvSpPr>
        <p:spPr>
          <a:xfrm>
            <a:off x="4385624" y="1651000"/>
            <a:ext cx="3420448" cy="38100"/>
          </a:xfrm>
          <a:prstGeom prst="rect">
            <a:avLst/>
          </a:prstGeom>
          <a:solidFill>
            <a:srgbClr val="2E8B57"/>
          </a:solidFill>
          <a:ln/>
        </p:spPr>
        <p:txBody>
          <a:bodyPr/>
          <a:lstStyle/>
          <a:p>
            <a:endParaRPr lang="fr-FR"/>
          </a:p>
        </p:txBody>
      </p:sp>
      <p:sp>
        <p:nvSpPr>
          <p:cNvPr id="11" name="Text 9"/>
          <p:cNvSpPr/>
          <p:nvPr/>
        </p:nvSpPr>
        <p:spPr>
          <a:xfrm>
            <a:off x="4525320" y="17526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Le contrôle porte sur les données</a:t>
            </a:r>
            <a:endParaRPr lang="en-US" sz="1500" dirty="0"/>
          </a:p>
        </p:txBody>
      </p:sp>
      <p:sp>
        <p:nvSpPr>
          <p:cNvPr id="12" name="Text 10"/>
          <p:cNvSpPr/>
          <p:nvPr/>
        </p:nvSpPr>
        <p:spPr>
          <a:xfrm>
            <a:off x="4525320" y="22098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Les informations saisies une fois dans l’application — plan, fiche du DAO, offres, évaluation — sont </a:t>
            </a:r>
            <a:r>
              <a:rPr lang="en-US" sz="1200" b="1" dirty="0">
                <a:solidFill>
                  <a:srgbClr val="1B2A3A"/>
                </a:solidFill>
                <a:latin typeface="Segoe UI" pitchFamily="34" charset="0"/>
                <a:ea typeface="Segoe UI" pitchFamily="34" charset="-122"/>
                <a:cs typeface="Segoe UI" pitchFamily="34" charset="-120"/>
              </a:rPr>
              <a:t>figées à la soumission</a:t>
            </a:r>
            <a:r>
              <a:rPr lang="en-US" sz="1200" dirty="0">
                <a:solidFill>
                  <a:srgbClr val="465568"/>
                </a:solidFill>
                <a:latin typeface="Segoe UI" pitchFamily="34" charset="0"/>
                <a:ea typeface="Segoe UI" pitchFamily="34" charset="-122"/>
                <a:cs typeface="Segoe UI" pitchFamily="34" charset="-120"/>
              </a:rPr>
              <a:t> et contrôlées telles quelles, à la place des copies scannées.</a:t>
            </a:r>
            <a:endParaRPr lang="en-US" sz="1200" dirty="0"/>
          </a:p>
        </p:txBody>
      </p:sp>
      <p:sp>
        <p:nvSpPr>
          <p:cNvPr id="13" name="Shape 11"/>
          <p:cNvSpPr/>
          <p:nvPr/>
        </p:nvSpPr>
        <p:spPr>
          <a:xfrm>
            <a:off x="7958468" y="1651000"/>
            <a:ext cx="3420448" cy="2159000"/>
          </a:xfrm>
          <a:prstGeom prst="rect">
            <a:avLst/>
          </a:prstGeom>
          <a:solidFill>
            <a:srgbClr val="FCFCFA"/>
          </a:solidFill>
          <a:ln w="9525">
            <a:solidFill>
              <a:srgbClr val="D5DCE4"/>
            </a:solidFill>
            <a:prstDash val="solid"/>
          </a:ln>
        </p:spPr>
        <p:txBody>
          <a:bodyPr/>
          <a:lstStyle/>
          <a:p>
            <a:endParaRPr lang="fr-FR"/>
          </a:p>
        </p:txBody>
      </p:sp>
      <p:sp>
        <p:nvSpPr>
          <p:cNvPr id="14" name="Shape 12"/>
          <p:cNvSpPr/>
          <p:nvPr/>
        </p:nvSpPr>
        <p:spPr>
          <a:xfrm>
            <a:off x="7958468" y="1651000"/>
            <a:ext cx="3420448" cy="38100"/>
          </a:xfrm>
          <a:prstGeom prst="rect">
            <a:avLst/>
          </a:prstGeom>
          <a:solidFill>
            <a:srgbClr val="E3AE2E"/>
          </a:solidFill>
          <a:ln/>
        </p:spPr>
        <p:txBody>
          <a:bodyPr/>
          <a:lstStyle/>
          <a:p>
            <a:endParaRPr lang="fr-FR"/>
          </a:p>
        </p:txBody>
      </p:sp>
      <p:sp>
        <p:nvSpPr>
          <p:cNvPr id="15" name="Text 13"/>
          <p:cNvSpPr/>
          <p:nvPr/>
        </p:nvSpPr>
        <p:spPr>
          <a:xfrm>
            <a:off x="8098164" y="17526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Des délais légaux tenus par l’application</a:t>
            </a:r>
            <a:endParaRPr lang="en-US" sz="1500" dirty="0"/>
          </a:p>
        </p:txBody>
      </p:sp>
      <p:sp>
        <p:nvSpPr>
          <p:cNvPr id="16" name="Text 14"/>
          <p:cNvSpPr/>
          <p:nvPr/>
        </p:nvSpPr>
        <p:spPr>
          <a:xfrm>
            <a:off x="8098164" y="22098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Délai d’attente, publicité, pièces de l’attributaire, examen : l’application </a:t>
            </a:r>
            <a:r>
              <a:rPr lang="en-US" sz="1200" b="1" dirty="0">
                <a:solidFill>
                  <a:srgbClr val="1B2A3A"/>
                </a:solidFill>
                <a:latin typeface="Segoe UI" pitchFamily="34" charset="0"/>
                <a:ea typeface="Segoe UI" pitchFamily="34" charset="-122"/>
                <a:cs typeface="Segoe UI" pitchFamily="34" charset="-120"/>
              </a:rPr>
              <a:t>compte les délais du code</a:t>
            </a:r>
            <a:r>
              <a:rPr lang="en-US" sz="1200" dirty="0">
                <a:solidFill>
                  <a:srgbClr val="465568"/>
                </a:solidFill>
                <a:latin typeface="Segoe UI" pitchFamily="34" charset="0"/>
                <a:ea typeface="Segoe UI" pitchFamily="34" charset="-122"/>
                <a:cs typeface="Segoe UI" pitchFamily="34" charset="-120"/>
              </a:rPr>
              <a:t>, bloque le geste prématuré et signale le retard.</a:t>
            </a:r>
            <a:endParaRPr lang="en-US" sz="1200" dirty="0"/>
          </a:p>
        </p:txBody>
      </p:sp>
      <p:sp>
        <p:nvSpPr>
          <p:cNvPr id="17" name="Shape 15"/>
          <p:cNvSpPr/>
          <p:nvPr/>
        </p:nvSpPr>
        <p:spPr>
          <a:xfrm>
            <a:off x="812780" y="3962400"/>
            <a:ext cx="3420448" cy="2159000"/>
          </a:xfrm>
          <a:prstGeom prst="rect">
            <a:avLst/>
          </a:prstGeom>
          <a:solidFill>
            <a:srgbClr val="FCFCFA"/>
          </a:solidFill>
          <a:ln w="9525">
            <a:solidFill>
              <a:srgbClr val="D5DCE4"/>
            </a:solidFill>
            <a:prstDash val="solid"/>
          </a:ln>
        </p:spPr>
        <p:txBody>
          <a:bodyPr/>
          <a:lstStyle/>
          <a:p>
            <a:endParaRPr lang="fr-FR"/>
          </a:p>
        </p:txBody>
      </p:sp>
      <p:sp>
        <p:nvSpPr>
          <p:cNvPr id="18" name="Shape 16"/>
          <p:cNvSpPr/>
          <p:nvPr/>
        </p:nvSpPr>
        <p:spPr>
          <a:xfrm>
            <a:off x="812780" y="3962400"/>
            <a:ext cx="3420448" cy="38100"/>
          </a:xfrm>
          <a:prstGeom prst="rect">
            <a:avLst/>
          </a:prstGeom>
          <a:solidFill>
            <a:srgbClr val="12324A"/>
          </a:solidFill>
          <a:ln/>
        </p:spPr>
        <p:txBody>
          <a:bodyPr/>
          <a:lstStyle/>
          <a:p>
            <a:endParaRPr lang="fr-FR"/>
          </a:p>
        </p:txBody>
      </p:sp>
      <p:sp>
        <p:nvSpPr>
          <p:cNvPr id="19" name="Text 17"/>
          <p:cNvSpPr/>
          <p:nvPr/>
        </p:nvSpPr>
        <p:spPr>
          <a:xfrm>
            <a:off x="952476" y="40640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Des offres déposées en ligne, scellées</a:t>
            </a:r>
            <a:endParaRPr lang="en-US" sz="1500" dirty="0"/>
          </a:p>
        </p:txBody>
      </p:sp>
      <p:sp>
        <p:nvSpPr>
          <p:cNvPr id="20" name="Text 18"/>
          <p:cNvSpPr/>
          <p:nvPr/>
        </p:nvSpPr>
        <p:spPr>
          <a:xfrm>
            <a:off x="952476" y="45212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Les entreprises remplissent et déposent leur offre en ligne ; elle reste </a:t>
            </a:r>
            <a:r>
              <a:rPr lang="en-US" sz="1200" b="1" dirty="0">
                <a:solidFill>
                  <a:srgbClr val="1B2A3A"/>
                </a:solidFill>
                <a:latin typeface="Segoe UI" pitchFamily="34" charset="0"/>
                <a:ea typeface="Segoe UI" pitchFamily="34" charset="-122"/>
                <a:cs typeface="Segoe UI" pitchFamily="34" charset="-120"/>
              </a:rPr>
              <a:t>illisible de tous</a:t>
            </a:r>
            <a:r>
              <a:rPr lang="en-US" sz="1200" dirty="0">
                <a:solidFill>
                  <a:srgbClr val="465568"/>
                </a:solidFill>
                <a:latin typeface="Segoe UI" pitchFamily="34" charset="0"/>
                <a:ea typeface="Segoe UI" pitchFamily="34" charset="-122"/>
                <a:cs typeface="Segoe UI" pitchFamily="34" charset="-120"/>
              </a:rPr>
              <a:t> jusqu’à l’ouverture en séance, au quorum des membres de la commission.</a:t>
            </a:r>
            <a:endParaRPr lang="en-US" sz="1200" dirty="0"/>
          </a:p>
        </p:txBody>
      </p:sp>
      <p:sp>
        <p:nvSpPr>
          <p:cNvPr id="21" name="Shape 19"/>
          <p:cNvSpPr/>
          <p:nvPr/>
        </p:nvSpPr>
        <p:spPr>
          <a:xfrm>
            <a:off x="4385624" y="3962400"/>
            <a:ext cx="3420448" cy="2159000"/>
          </a:xfrm>
          <a:prstGeom prst="rect">
            <a:avLst/>
          </a:prstGeom>
          <a:solidFill>
            <a:srgbClr val="FCFCFA"/>
          </a:solidFill>
          <a:ln w="9525">
            <a:solidFill>
              <a:srgbClr val="D5DCE4"/>
            </a:solidFill>
            <a:prstDash val="solid"/>
          </a:ln>
        </p:spPr>
        <p:txBody>
          <a:bodyPr/>
          <a:lstStyle/>
          <a:p>
            <a:endParaRPr lang="fr-FR"/>
          </a:p>
        </p:txBody>
      </p:sp>
      <p:sp>
        <p:nvSpPr>
          <p:cNvPr id="22" name="Shape 20"/>
          <p:cNvSpPr/>
          <p:nvPr/>
        </p:nvSpPr>
        <p:spPr>
          <a:xfrm>
            <a:off x="4385624" y="3962400"/>
            <a:ext cx="3420448" cy="38100"/>
          </a:xfrm>
          <a:prstGeom prst="rect">
            <a:avLst/>
          </a:prstGeom>
          <a:solidFill>
            <a:srgbClr val="1B6FA8"/>
          </a:solidFill>
          <a:ln/>
        </p:spPr>
        <p:txBody>
          <a:bodyPr/>
          <a:lstStyle/>
          <a:p>
            <a:endParaRPr lang="fr-FR"/>
          </a:p>
        </p:txBody>
      </p:sp>
      <p:sp>
        <p:nvSpPr>
          <p:cNvPr id="23" name="Text 21"/>
          <p:cNvSpPr/>
          <p:nvPr/>
        </p:nvSpPr>
        <p:spPr>
          <a:xfrm>
            <a:off x="4525320" y="4064000"/>
            <a:ext cx="3141055"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Une traçabilité complète</a:t>
            </a:r>
            <a:endParaRPr lang="en-US" sz="1500" dirty="0"/>
          </a:p>
        </p:txBody>
      </p:sp>
      <p:sp>
        <p:nvSpPr>
          <p:cNvPr id="24" name="Text 22"/>
          <p:cNvSpPr/>
          <p:nvPr/>
        </p:nvSpPr>
        <p:spPr>
          <a:xfrm>
            <a:off x="4525320" y="4349750"/>
            <a:ext cx="3141055"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Chaque geste est horodaté et attribué à son auteur ; ce que la Commission contrôle est </a:t>
            </a:r>
            <a:r>
              <a:rPr lang="en-US" sz="1200" b="1" dirty="0">
                <a:solidFill>
                  <a:srgbClr val="1B2A3A"/>
                </a:solidFill>
                <a:latin typeface="Segoe UI" pitchFamily="34" charset="0"/>
                <a:ea typeface="Segoe UI" pitchFamily="34" charset="-122"/>
                <a:cs typeface="Segoe UI" pitchFamily="34" charset="-120"/>
              </a:rPr>
              <a:t>figé à la soumission</a:t>
            </a:r>
            <a:r>
              <a:rPr lang="en-US" sz="1200" dirty="0">
                <a:solidFill>
                  <a:srgbClr val="465568"/>
                </a:solidFill>
                <a:latin typeface="Segoe UI" pitchFamily="34" charset="0"/>
                <a:ea typeface="Segoe UI" pitchFamily="34" charset="-122"/>
                <a:cs typeface="Segoe UI" pitchFamily="34" charset="-120"/>
              </a:rPr>
              <a:t>, avec une empreinte qui atteste qu’il n’a pas été modifié depuis.</a:t>
            </a:r>
            <a:endParaRPr lang="en-US" sz="1200" dirty="0"/>
          </a:p>
        </p:txBody>
      </p:sp>
      <p:sp>
        <p:nvSpPr>
          <p:cNvPr id="25" name="Shape 23"/>
          <p:cNvSpPr/>
          <p:nvPr/>
        </p:nvSpPr>
        <p:spPr>
          <a:xfrm>
            <a:off x="7958468" y="3962400"/>
            <a:ext cx="3420448" cy="2159000"/>
          </a:xfrm>
          <a:prstGeom prst="rect">
            <a:avLst/>
          </a:prstGeom>
          <a:solidFill>
            <a:srgbClr val="FCFCFA"/>
          </a:solidFill>
          <a:ln w="9525">
            <a:solidFill>
              <a:srgbClr val="D5DCE4"/>
            </a:solidFill>
            <a:prstDash val="solid"/>
          </a:ln>
        </p:spPr>
        <p:txBody>
          <a:bodyPr/>
          <a:lstStyle/>
          <a:p>
            <a:endParaRPr lang="fr-FR"/>
          </a:p>
        </p:txBody>
      </p:sp>
      <p:sp>
        <p:nvSpPr>
          <p:cNvPr id="26" name="Shape 24"/>
          <p:cNvSpPr/>
          <p:nvPr/>
        </p:nvSpPr>
        <p:spPr>
          <a:xfrm>
            <a:off x="7958468" y="3962400"/>
            <a:ext cx="3420448" cy="38100"/>
          </a:xfrm>
          <a:prstGeom prst="rect">
            <a:avLst/>
          </a:prstGeom>
          <a:solidFill>
            <a:srgbClr val="2E8B57"/>
          </a:solidFill>
          <a:ln/>
        </p:spPr>
        <p:txBody>
          <a:bodyPr/>
          <a:lstStyle/>
          <a:p>
            <a:endParaRPr lang="fr-FR"/>
          </a:p>
        </p:txBody>
      </p:sp>
      <p:sp>
        <p:nvSpPr>
          <p:cNvPr id="27" name="Text 25"/>
          <p:cNvSpPr/>
          <p:nvPr/>
        </p:nvSpPr>
        <p:spPr>
          <a:xfrm>
            <a:off x="8098164" y="40640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Des règles paramétrées par l’Administrateur</a:t>
            </a:r>
            <a:endParaRPr lang="en-US" sz="1500" dirty="0"/>
          </a:p>
        </p:txBody>
      </p:sp>
      <p:sp>
        <p:nvSpPr>
          <p:cNvPr id="28" name="Text 26"/>
          <p:cNvSpPr/>
          <p:nvPr/>
        </p:nvSpPr>
        <p:spPr>
          <a:xfrm>
            <a:off x="8098164" y="45212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Seuils, délais, quorum, recours suspensifs, points de contrôle : les règles évoluent </a:t>
            </a:r>
            <a:r>
              <a:rPr lang="en-US" sz="1200" b="1" dirty="0">
                <a:solidFill>
                  <a:srgbClr val="1B2A3A"/>
                </a:solidFill>
                <a:latin typeface="Segoe UI" pitchFamily="34" charset="0"/>
                <a:ea typeface="Segoe UI" pitchFamily="34" charset="-122"/>
                <a:cs typeface="Segoe UI" pitchFamily="34" charset="-120"/>
              </a:rPr>
              <a:t>sans redéveloppement</a:t>
            </a:r>
            <a:r>
              <a:rPr lang="en-US" sz="1200" dirty="0">
                <a:solidFill>
                  <a:srgbClr val="465568"/>
                </a:solidFill>
                <a:latin typeface="Segoe UI" pitchFamily="34" charset="0"/>
                <a:ea typeface="Segoe UI" pitchFamily="34" charset="-122"/>
                <a:cs typeface="Segoe UI" pitchFamily="34" charset="-120"/>
              </a:rPr>
              <a:t>, et chaque changement est journalisé.</a:t>
            </a:r>
            <a:endParaRPr lang="en-US" sz="1200" dirty="0"/>
          </a:p>
        </p:txBody>
      </p:sp>
      <p:sp>
        <p:nvSpPr>
          <p:cNvPr id="29" name="Text 27"/>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a:t>
            </a:r>
            <a:endParaRPr lang="en-US" sz="1100" dirty="0"/>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name="Slide 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VUE D’ENSEMBLE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Du plan de passation au marché notifié</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Un marché inscrit au plan traverse deux contrôles de la Commission : celui du plan, puis celui de son dossier de consultation — et, après l’évaluation des offres, celui du dossier de marché.</a:t>
            </a:r>
            <a:endParaRPr lang="en-US" sz="1300" dirty="0"/>
          </a:p>
        </p:txBody>
      </p:sp>
      <p:sp>
        <p:nvSpPr>
          <p:cNvPr id="5" name="Shape 3"/>
          <p:cNvSpPr/>
          <p:nvPr/>
        </p:nvSpPr>
        <p:spPr>
          <a:xfrm>
            <a:off x="812780"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6" name="Text 4"/>
          <p:cNvSpPr/>
          <p:nvPr/>
        </p:nvSpPr>
        <p:spPr>
          <a:xfrm>
            <a:off x="901677"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02</a:t>
            </a:r>
            <a:endParaRPr lang="en-US" sz="1000" dirty="0"/>
          </a:p>
        </p:txBody>
      </p:sp>
      <p:sp>
        <p:nvSpPr>
          <p:cNvPr id="7" name="Text 5"/>
          <p:cNvSpPr/>
          <p:nvPr/>
        </p:nvSpPr>
        <p:spPr>
          <a:xfrm>
            <a:off x="901677"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Planifier</a:t>
            </a:r>
            <a:endParaRPr lang="en-US" sz="1400" dirty="0"/>
          </a:p>
        </p:txBody>
      </p:sp>
      <p:sp>
        <p:nvSpPr>
          <p:cNvPr id="8" name="Text 6"/>
          <p:cNvSpPr/>
          <p:nvPr/>
        </p:nvSpPr>
        <p:spPr>
          <a:xfrm>
            <a:off x="901677"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La PRMP saisit et soumet son plan de passation.</a:t>
            </a:r>
            <a:endParaRPr lang="en-US" sz="1150" dirty="0"/>
          </a:p>
        </p:txBody>
      </p:sp>
      <p:sp>
        <p:nvSpPr>
          <p:cNvPr id="9" name="Text 7"/>
          <p:cNvSpPr/>
          <p:nvPr/>
        </p:nvSpPr>
        <p:spPr>
          <a:xfrm>
            <a:off x="2444689"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10" name="Shape 8"/>
          <p:cNvSpPr/>
          <p:nvPr/>
        </p:nvSpPr>
        <p:spPr>
          <a:xfrm>
            <a:off x="2597085"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11" name="Text 9"/>
          <p:cNvSpPr/>
          <p:nvPr/>
        </p:nvSpPr>
        <p:spPr>
          <a:xfrm>
            <a:off x="2685983"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03</a:t>
            </a:r>
            <a:endParaRPr lang="en-US" sz="1000" dirty="0"/>
          </a:p>
        </p:txBody>
      </p:sp>
      <p:sp>
        <p:nvSpPr>
          <p:cNvPr id="12" name="Text 10"/>
          <p:cNvSpPr/>
          <p:nvPr/>
        </p:nvSpPr>
        <p:spPr>
          <a:xfrm>
            <a:off x="2685983"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Contrôler</a:t>
            </a:r>
            <a:endParaRPr lang="en-US" sz="1400" dirty="0"/>
          </a:p>
        </p:txBody>
      </p:sp>
      <p:sp>
        <p:nvSpPr>
          <p:cNvPr id="13" name="Text 11"/>
          <p:cNvSpPr/>
          <p:nvPr/>
        </p:nvSpPr>
        <p:spPr>
          <a:xfrm>
            <a:off x="2685983"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La Commission examine ; le PV est visé et signé.</a:t>
            </a:r>
            <a:endParaRPr lang="en-US" sz="1150" dirty="0"/>
          </a:p>
        </p:txBody>
      </p:sp>
      <p:sp>
        <p:nvSpPr>
          <p:cNvPr id="14" name="Text 12"/>
          <p:cNvSpPr/>
          <p:nvPr/>
        </p:nvSpPr>
        <p:spPr>
          <a:xfrm>
            <a:off x="4228994"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15" name="Shape 13"/>
          <p:cNvSpPr/>
          <p:nvPr/>
        </p:nvSpPr>
        <p:spPr>
          <a:xfrm>
            <a:off x="4381390"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16" name="Text 14"/>
          <p:cNvSpPr/>
          <p:nvPr/>
        </p:nvSpPr>
        <p:spPr>
          <a:xfrm>
            <a:off x="4470288"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04 · 05</a:t>
            </a:r>
            <a:endParaRPr lang="en-US" sz="1000" dirty="0"/>
          </a:p>
        </p:txBody>
      </p:sp>
      <p:sp>
        <p:nvSpPr>
          <p:cNvPr id="17" name="Text 15"/>
          <p:cNvSpPr/>
          <p:nvPr/>
        </p:nvSpPr>
        <p:spPr>
          <a:xfrm>
            <a:off x="4470288"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Préparer</a:t>
            </a:r>
            <a:endParaRPr lang="en-US" sz="1400" dirty="0"/>
          </a:p>
        </p:txBody>
      </p:sp>
      <p:sp>
        <p:nvSpPr>
          <p:cNvPr id="18" name="Text 16"/>
          <p:cNvSpPr/>
          <p:nvPr/>
        </p:nvSpPr>
        <p:spPr>
          <a:xfrm>
            <a:off x="4470288"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La fiche du DAO produit le dossier d’appel d’offres.</a:t>
            </a:r>
            <a:endParaRPr lang="en-US" sz="1150" dirty="0"/>
          </a:p>
        </p:txBody>
      </p:sp>
      <p:sp>
        <p:nvSpPr>
          <p:cNvPr id="19" name="Text 17"/>
          <p:cNvSpPr/>
          <p:nvPr/>
        </p:nvSpPr>
        <p:spPr>
          <a:xfrm>
            <a:off x="6013300"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20" name="Shape 18"/>
          <p:cNvSpPr/>
          <p:nvPr/>
        </p:nvSpPr>
        <p:spPr>
          <a:xfrm>
            <a:off x="6165696"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21" name="Text 19"/>
          <p:cNvSpPr/>
          <p:nvPr/>
        </p:nvSpPr>
        <p:spPr>
          <a:xfrm>
            <a:off x="6254594"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06 · 07</a:t>
            </a:r>
            <a:endParaRPr lang="en-US" sz="1000" dirty="0"/>
          </a:p>
        </p:txBody>
      </p:sp>
      <p:sp>
        <p:nvSpPr>
          <p:cNvPr id="22" name="Text 20"/>
          <p:cNvSpPr/>
          <p:nvPr/>
        </p:nvSpPr>
        <p:spPr>
          <a:xfrm>
            <a:off x="6254594"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Consulter</a:t>
            </a:r>
            <a:endParaRPr lang="en-US" sz="1400" dirty="0"/>
          </a:p>
        </p:txBody>
      </p:sp>
      <p:sp>
        <p:nvSpPr>
          <p:cNvPr id="23" name="Text 21"/>
          <p:cNvSpPr/>
          <p:nvPr/>
        </p:nvSpPr>
        <p:spPr>
          <a:xfrm>
            <a:off x="6254594"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Les offres arrivent en ligne, scellées, puis s’ouvrent en séance.</a:t>
            </a:r>
            <a:endParaRPr lang="en-US" sz="1150" dirty="0"/>
          </a:p>
        </p:txBody>
      </p:sp>
      <p:sp>
        <p:nvSpPr>
          <p:cNvPr id="24" name="Text 22"/>
          <p:cNvSpPr/>
          <p:nvPr/>
        </p:nvSpPr>
        <p:spPr>
          <a:xfrm>
            <a:off x="7797605"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25" name="Shape 23"/>
          <p:cNvSpPr/>
          <p:nvPr/>
        </p:nvSpPr>
        <p:spPr>
          <a:xfrm>
            <a:off x="7950001"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26" name="Text 24"/>
          <p:cNvSpPr/>
          <p:nvPr/>
        </p:nvSpPr>
        <p:spPr>
          <a:xfrm>
            <a:off x="8038899"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08</a:t>
            </a:r>
            <a:endParaRPr lang="en-US" sz="1000" dirty="0"/>
          </a:p>
        </p:txBody>
      </p:sp>
      <p:sp>
        <p:nvSpPr>
          <p:cNvPr id="27" name="Text 25"/>
          <p:cNvSpPr/>
          <p:nvPr/>
        </p:nvSpPr>
        <p:spPr>
          <a:xfrm>
            <a:off x="8038899"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Évaluer</a:t>
            </a:r>
            <a:endParaRPr lang="en-US" sz="1400" dirty="0"/>
          </a:p>
        </p:txBody>
      </p:sp>
      <p:sp>
        <p:nvSpPr>
          <p:cNvPr id="28" name="Text 26"/>
          <p:cNvSpPr/>
          <p:nvPr/>
        </p:nvSpPr>
        <p:spPr>
          <a:xfrm>
            <a:off x="8038899"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La commission d’appel d’offres évalue et propose l’attributaire.</a:t>
            </a:r>
            <a:endParaRPr lang="en-US" sz="1150" dirty="0"/>
          </a:p>
        </p:txBody>
      </p:sp>
      <p:sp>
        <p:nvSpPr>
          <p:cNvPr id="29" name="Text 27"/>
          <p:cNvSpPr/>
          <p:nvPr/>
        </p:nvSpPr>
        <p:spPr>
          <a:xfrm>
            <a:off x="9581910"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30" name="Shape 28"/>
          <p:cNvSpPr/>
          <p:nvPr/>
        </p:nvSpPr>
        <p:spPr>
          <a:xfrm>
            <a:off x="9734307" y="1778000"/>
            <a:ext cx="1644609" cy="1905000"/>
          </a:xfrm>
          <a:prstGeom prst="roundRect">
            <a:avLst>
              <a:gd name="adj" fmla="val 3336"/>
            </a:avLst>
          </a:prstGeom>
          <a:solidFill>
            <a:srgbClr val="12324A"/>
          </a:solidFill>
          <a:ln w="19050">
            <a:solidFill>
              <a:srgbClr val="12324A"/>
            </a:solidFill>
            <a:prstDash val="solid"/>
          </a:ln>
        </p:spPr>
        <p:txBody>
          <a:bodyPr/>
          <a:lstStyle/>
          <a:p>
            <a:endParaRPr lang="fr-FR"/>
          </a:p>
        </p:txBody>
      </p:sp>
      <p:sp>
        <p:nvSpPr>
          <p:cNvPr id="31" name="Text 29"/>
          <p:cNvSpPr/>
          <p:nvPr/>
        </p:nvSpPr>
        <p:spPr>
          <a:xfrm>
            <a:off x="9823204" y="1866900"/>
            <a:ext cx="1466813" cy="215900"/>
          </a:xfrm>
          <a:prstGeom prst="rect">
            <a:avLst/>
          </a:prstGeom>
          <a:noFill/>
          <a:ln/>
        </p:spPr>
        <p:txBody>
          <a:bodyPr wrap="square" rtlCol="0" anchor="ctr">
            <a:normAutofit/>
          </a:bodyPr>
          <a:lstStyle/>
          <a:p>
            <a:pPr marL="0" indent="0">
              <a:buNone/>
            </a:pPr>
            <a:r>
              <a:rPr lang="en-US" sz="1000" b="1" dirty="0">
                <a:solidFill>
                  <a:srgbClr val="E3AE2E"/>
                </a:solidFill>
                <a:latin typeface="Segoe UI" pitchFamily="34" charset="0"/>
                <a:ea typeface="Segoe UI" pitchFamily="34" charset="-122"/>
                <a:cs typeface="Segoe UI" pitchFamily="34" charset="-120"/>
              </a:rPr>
              <a:t>09</a:t>
            </a:r>
            <a:endParaRPr lang="en-US" sz="1000" dirty="0"/>
          </a:p>
        </p:txBody>
      </p:sp>
      <p:sp>
        <p:nvSpPr>
          <p:cNvPr id="32" name="Text 30"/>
          <p:cNvSpPr/>
          <p:nvPr/>
        </p:nvSpPr>
        <p:spPr>
          <a:xfrm>
            <a:off x="9823204" y="2095500"/>
            <a:ext cx="1466813" cy="508000"/>
          </a:xfrm>
          <a:prstGeom prst="rect">
            <a:avLst/>
          </a:prstGeom>
          <a:noFill/>
          <a:ln/>
        </p:spPr>
        <p:txBody>
          <a:bodyPr wrap="square" rtlCol="0" anchor="t">
            <a:normAutofit/>
          </a:bodyPr>
          <a:lstStyle/>
          <a:p>
            <a:pPr marL="0" indent="0">
              <a:buNone/>
            </a:pPr>
            <a:r>
              <a:rPr lang="en-US" sz="1400" b="1" dirty="0">
                <a:solidFill>
                  <a:srgbClr val="FCFCFA"/>
                </a:solidFill>
                <a:latin typeface="Segoe UI" pitchFamily="34" charset="0"/>
                <a:ea typeface="Segoe UI" pitchFamily="34" charset="-122"/>
                <a:cs typeface="Segoe UI" pitchFamily="34" charset="-120"/>
              </a:rPr>
              <a:t>Attribuer</a:t>
            </a:r>
            <a:endParaRPr lang="en-US" sz="1400" dirty="0"/>
          </a:p>
        </p:txBody>
      </p:sp>
      <p:sp>
        <p:nvSpPr>
          <p:cNvPr id="33" name="Text 31"/>
          <p:cNvSpPr/>
          <p:nvPr/>
        </p:nvSpPr>
        <p:spPr>
          <a:xfrm>
            <a:off x="9823204" y="2603500"/>
            <a:ext cx="1466813" cy="1016000"/>
          </a:xfrm>
          <a:prstGeom prst="rect">
            <a:avLst/>
          </a:prstGeom>
          <a:noFill/>
          <a:ln/>
        </p:spPr>
        <p:txBody>
          <a:bodyPr wrap="square" rtlCol="0" anchor="t">
            <a:normAutofit/>
          </a:bodyPr>
          <a:lstStyle/>
          <a:p>
            <a:pPr marL="0" indent="0">
              <a:buNone/>
            </a:pPr>
            <a:r>
              <a:rPr lang="en-US" sz="1150" dirty="0">
                <a:solidFill>
                  <a:srgbClr val="C9D6E2"/>
                </a:solidFill>
                <a:latin typeface="Segoe UI" pitchFamily="34" charset="0"/>
                <a:ea typeface="Segoe UI" pitchFamily="34" charset="-122"/>
                <a:cs typeface="Segoe UI" pitchFamily="34" charset="-120"/>
              </a:rPr>
              <a:t>Le marché est contrôlé, signé, notifié et publié.</a:t>
            </a:r>
            <a:endParaRPr lang="en-US" sz="1150" dirty="0"/>
          </a:p>
        </p:txBody>
      </p:sp>
      <p:sp>
        <p:nvSpPr>
          <p:cNvPr id="34" name="Text 32"/>
          <p:cNvSpPr/>
          <p:nvPr/>
        </p:nvSpPr>
        <p:spPr>
          <a:xfrm>
            <a:off x="812780" y="3937000"/>
            <a:ext cx="10566136" cy="762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Autour de la chaîne : l’</a:t>
            </a:r>
            <a:r>
              <a:rPr lang="en-US" sz="1300" b="1" dirty="0">
                <a:solidFill>
                  <a:srgbClr val="1B2A3A"/>
                </a:solidFill>
                <a:latin typeface="Segoe UI" pitchFamily="34" charset="0"/>
                <a:ea typeface="Segoe UI" pitchFamily="34" charset="-122"/>
                <a:cs typeface="Segoe UI" pitchFamily="34" charset="-120"/>
              </a:rPr>
              <a:t>entrée</a:t>
            </a:r>
            <a:r>
              <a:rPr lang="en-US" sz="1300" dirty="0">
                <a:solidFill>
                  <a:srgbClr val="465568"/>
                </a:solidFill>
                <a:latin typeface="Segoe UI" pitchFamily="34" charset="0"/>
                <a:ea typeface="Segoe UI" pitchFamily="34" charset="-122"/>
                <a:cs typeface="Segoe UI" pitchFamily="34" charset="-120"/>
              </a:rPr>
              <a:t> dans l’application (01), l’</a:t>
            </a:r>
            <a:r>
              <a:rPr lang="en-US" sz="1300" b="1" dirty="0">
                <a:solidFill>
                  <a:srgbClr val="1B2A3A"/>
                </a:solidFill>
                <a:latin typeface="Segoe UI" pitchFamily="34" charset="0"/>
                <a:ea typeface="Segoe UI" pitchFamily="34" charset="-122"/>
                <a:cs typeface="Segoe UI" pitchFamily="34" charset="-120"/>
              </a:rPr>
              <a:t>intérim</a:t>
            </a:r>
            <a:r>
              <a:rPr lang="en-US" sz="1300" dirty="0">
                <a:solidFill>
                  <a:srgbClr val="465568"/>
                </a:solidFill>
                <a:latin typeface="Segoe UI" pitchFamily="34" charset="0"/>
                <a:ea typeface="Segoe UI" pitchFamily="34" charset="-122"/>
                <a:cs typeface="Segoe UI" pitchFamily="34" charset="-120"/>
              </a:rPr>
              <a:t> et les mandats (10), l’</a:t>
            </a:r>
            <a:r>
              <a:rPr lang="en-US" sz="1300" b="1" dirty="0">
                <a:solidFill>
                  <a:srgbClr val="1B2A3A"/>
                </a:solidFill>
                <a:latin typeface="Segoe UI" pitchFamily="34" charset="0"/>
                <a:ea typeface="Segoe UI" pitchFamily="34" charset="-122"/>
                <a:cs typeface="Segoe UI" pitchFamily="34" charset="-120"/>
              </a:rPr>
              <a:t>administration</a:t>
            </a:r>
            <a:r>
              <a:rPr lang="en-US" sz="1300" dirty="0">
                <a:solidFill>
                  <a:srgbClr val="465568"/>
                </a:solidFill>
                <a:latin typeface="Segoe UI" pitchFamily="34" charset="0"/>
                <a:ea typeface="Segoe UI" pitchFamily="34" charset="-122"/>
                <a:cs typeface="Segoe UI" pitchFamily="34" charset="-120"/>
              </a:rPr>
              <a:t> (11), le </a:t>
            </a:r>
            <a:r>
              <a:rPr lang="en-US" sz="1300" b="1" dirty="0">
                <a:solidFill>
                  <a:srgbClr val="1B2A3A"/>
                </a:solidFill>
                <a:latin typeface="Segoe UI" pitchFamily="34" charset="0"/>
                <a:ea typeface="Segoe UI" pitchFamily="34" charset="-122"/>
                <a:cs typeface="Segoe UI" pitchFamily="34" charset="-120"/>
              </a:rPr>
              <a:t>pilotage</a:t>
            </a:r>
            <a:r>
              <a:rPr lang="en-US" sz="1300" dirty="0">
                <a:solidFill>
                  <a:srgbClr val="465568"/>
                </a:solidFill>
                <a:latin typeface="Segoe UI" pitchFamily="34" charset="0"/>
                <a:ea typeface="Segoe UI" pitchFamily="34" charset="-122"/>
                <a:cs typeface="Segoe UI" pitchFamily="34" charset="-120"/>
              </a:rPr>
              <a:t> et la publication (12).</a:t>
            </a:r>
            <a:endParaRPr lang="en-US" sz="1300" dirty="0"/>
          </a:p>
        </p:txBody>
      </p:sp>
      <p:sp>
        <p:nvSpPr>
          <p:cNvPr id="35" name="Text 3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a:t>
            </a:r>
            <a:endParaRPr lang="en-US" sz="1100" dirty="0"/>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name="Slide 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LES ACTEURS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Qui intervient, et dans quel espace</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L’espace interne réunit la PRMP, son unité de gestion et les profils de la Commission ; les entreprises, la commission d’appel d’offres et le dépositaire de la clé de secours ont chacun un espace à part.</a:t>
            </a:r>
            <a:endParaRPr lang="en-US" sz="1300" dirty="0"/>
          </a:p>
        </p:txBody>
      </p:sp>
      <p:sp>
        <p:nvSpPr>
          <p:cNvPr id="5" name="Shape 3"/>
          <p:cNvSpPr/>
          <p:nvPr/>
        </p:nvSpPr>
        <p:spPr>
          <a:xfrm>
            <a:off x="812780" y="1651000"/>
            <a:ext cx="2527237" cy="2159000"/>
          </a:xfrm>
          <a:prstGeom prst="rect">
            <a:avLst/>
          </a:prstGeom>
          <a:solidFill>
            <a:srgbClr val="FCFCFA"/>
          </a:solidFill>
          <a:ln w="9525">
            <a:solidFill>
              <a:srgbClr val="D5DCE4"/>
            </a:solidFill>
            <a:prstDash val="solid"/>
          </a:ln>
        </p:spPr>
        <p:txBody>
          <a:bodyPr/>
          <a:lstStyle/>
          <a:p>
            <a:endParaRPr lang="fr-FR"/>
          </a:p>
        </p:txBody>
      </p:sp>
      <p:sp>
        <p:nvSpPr>
          <p:cNvPr id="6" name="Shape 4"/>
          <p:cNvSpPr/>
          <p:nvPr/>
        </p:nvSpPr>
        <p:spPr>
          <a:xfrm>
            <a:off x="812780" y="1651000"/>
            <a:ext cx="2527237" cy="38100"/>
          </a:xfrm>
          <a:prstGeom prst="rect">
            <a:avLst/>
          </a:prstGeom>
          <a:solidFill>
            <a:srgbClr val="1B6FA8"/>
          </a:solidFill>
          <a:ln/>
        </p:spPr>
        <p:txBody>
          <a:bodyPr/>
          <a:lstStyle/>
          <a:p>
            <a:endParaRPr lang="fr-FR"/>
          </a:p>
        </p:txBody>
      </p:sp>
      <p:sp>
        <p:nvSpPr>
          <p:cNvPr id="7" name="Text 5"/>
          <p:cNvSpPr/>
          <p:nvPr/>
        </p:nvSpPr>
        <p:spPr>
          <a:xfrm>
            <a:off x="952476" y="1752600"/>
            <a:ext cx="2247844"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PRMP et UGPM</a:t>
            </a:r>
            <a:endParaRPr lang="en-US" sz="1500" dirty="0"/>
          </a:p>
        </p:txBody>
      </p:sp>
      <p:sp>
        <p:nvSpPr>
          <p:cNvPr id="8" name="Text 6"/>
          <p:cNvSpPr/>
          <p:nvPr/>
        </p:nvSpPr>
        <p:spPr>
          <a:xfrm>
            <a:off x="952476" y="2038350"/>
            <a:ext cx="2247844"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La personne responsable des marchés publics prépare, soumet, attribue et signe ; son unité de gestion prépare avec elle.</a:t>
            </a:r>
            <a:endParaRPr lang="en-US" sz="1200" dirty="0"/>
          </a:p>
        </p:txBody>
      </p:sp>
      <p:sp>
        <p:nvSpPr>
          <p:cNvPr id="9" name="Shape 7"/>
          <p:cNvSpPr/>
          <p:nvPr/>
        </p:nvSpPr>
        <p:spPr>
          <a:xfrm>
            <a:off x="3492413" y="1651000"/>
            <a:ext cx="2527237" cy="2159000"/>
          </a:xfrm>
          <a:prstGeom prst="rect">
            <a:avLst/>
          </a:prstGeom>
          <a:solidFill>
            <a:srgbClr val="FCFCFA"/>
          </a:solidFill>
          <a:ln w="9525">
            <a:solidFill>
              <a:srgbClr val="D5DCE4"/>
            </a:solidFill>
            <a:prstDash val="solid"/>
          </a:ln>
        </p:spPr>
        <p:txBody>
          <a:bodyPr/>
          <a:lstStyle/>
          <a:p>
            <a:endParaRPr lang="fr-FR"/>
          </a:p>
        </p:txBody>
      </p:sp>
      <p:sp>
        <p:nvSpPr>
          <p:cNvPr id="10" name="Shape 8"/>
          <p:cNvSpPr/>
          <p:nvPr/>
        </p:nvSpPr>
        <p:spPr>
          <a:xfrm>
            <a:off x="3492413" y="1651000"/>
            <a:ext cx="2527237" cy="38100"/>
          </a:xfrm>
          <a:prstGeom prst="rect">
            <a:avLst/>
          </a:prstGeom>
          <a:solidFill>
            <a:srgbClr val="2E8B57"/>
          </a:solidFill>
          <a:ln/>
        </p:spPr>
        <p:txBody>
          <a:bodyPr/>
          <a:lstStyle/>
          <a:p>
            <a:endParaRPr lang="fr-FR"/>
          </a:p>
        </p:txBody>
      </p:sp>
      <p:sp>
        <p:nvSpPr>
          <p:cNvPr id="11" name="Text 9"/>
          <p:cNvSpPr/>
          <p:nvPr/>
        </p:nvSpPr>
        <p:spPr>
          <a:xfrm>
            <a:off x="3632109" y="1752600"/>
            <a:ext cx="2247844"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Secrétaire</a:t>
            </a:r>
            <a:endParaRPr lang="en-US" sz="1500" dirty="0"/>
          </a:p>
        </p:txBody>
      </p:sp>
      <p:sp>
        <p:nvSpPr>
          <p:cNvPr id="12" name="Text 10"/>
          <p:cNvSpPr/>
          <p:nvPr/>
        </p:nvSpPr>
        <p:spPr>
          <a:xfrm>
            <a:off x="3632109" y="2038350"/>
            <a:ext cx="2247844"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Reçoit les dossiers et contrôle leur recevabilité pièce par pièce.</a:t>
            </a:r>
            <a:endParaRPr lang="en-US" sz="1200" dirty="0"/>
          </a:p>
        </p:txBody>
      </p:sp>
      <p:sp>
        <p:nvSpPr>
          <p:cNvPr id="13" name="Shape 11"/>
          <p:cNvSpPr/>
          <p:nvPr/>
        </p:nvSpPr>
        <p:spPr>
          <a:xfrm>
            <a:off x="6172046" y="1651000"/>
            <a:ext cx="2527237" cy="2159000"/>
          </a:xfrm>
          <a:prstGeom prst="rect">
            <a:avLst/>
          </a:prstGeom>
          <a:solidFill>
            <a:srgbClr val="FCFCFA"/>
          </a:solidFill>
          <a:ln w="9525">
            <a:solidFill>
              <a:srgbClr val="D5DCE4"/>
            </a:solidFill>
            <a:prstDash val="solid"/>
          </a:ln>
        </p:spPr>
        <p:txBody>
          <a:bodyPr/>
          <a:lstStyle/>
          <a:p>
            <a:endParaRPr lang="fr-FR"/>
          </a:p>
        </p:txBody>
      </p:sp>
      <p:sp>
        <p:nvSpPr>
          <p:cNvPr id="14" name="Shape 12"/>
          <p:cNvSpPr/>
          <p:nvPr/>
        </p:nvSpPr>
        <p:spPr>
          <a:xfrm>
            <a:off x="6172046" y="1651000"/>
            <a:ext cx="2527237" cy="38100"/>
          </a:xfrm>
          <a:prstGeom prst="rect">
            <a:avLst/>
          </a:prstGeom>
          <a:solidFill>
            <a:srgbClr val="E3AE2E"/>
          </a:solidFill>
          <a:ln/>
        </p:spPr>
        <p:txBody>
          <a:bodyPr/>
          <a:lstStyle/>
          <a:p>
            <a:endParaRPr lang="fr-FR"/>
          </a:p>
        </p:txBody>
      </p:sp>
      <p:sp>
        <p:nvSpPr>
          <p:cNvPr id="15" name="Text 13"/>
          <p:cNvSpPr/>
          <p:nvPr/>
        </p:nvSpPr>
        <p:spPr>
          <a:xfrm>
            <a:off x="6311742" y="1752600"/>
            <a:ext cx="2247844"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Président et Chef de commission</a:t>
            </a:r>
            <a:endParaRPr lang="en-US" sz="1500" dirty="0"/>
          </a:p>
        </p:txBody>
      </p:sp>
      <p:sp>
        <p:nvSpPr>
          <p:cNvPr id="16" name="Text 14"/>
          <p:cNvSpPr/>
          <p:nvPr/>
        </p:nvSpPr>
        <p:spPr>
          <a:xfrm>
            <a:off x="6311742" y="2209800"/>
            <a:ext cx="2247844"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Dispatchent les dossiers, visent les PV, désignent le co-signataire ; peuvent être suppléés par intérim.</a:t>
            </a:r>
            <a:endParaRPr lang="en-US" sz="1200" dirty="0"/>
          </a:p>
        </p:txBody>
      </p:sp>
      <p:sp>
        <p:nvSpPr>
          <p:cNvPr id="17" name="Shape 15"/>
          <p:cNvSpPr/>
          <p:nvPr/>
        </p:nvSpPr>
        <p:spPr>
          <a:xfrm>
            <a:off x="8851679" y="1651000"/>
            <a:ext cx="2527237" cy="2159000"/>
          </a:xfrm>
          <a:prstGeom prst="rect">
            <a:avLst/>
          </a:prstGeom>
          <a:solidFill>
            <a:srgbClr val="FCFCFA"/>
          </a:solidFill>
          <a:ln w="9525">
            <a:solidFill>
              <a:srgbClr val="D5DCE4"/>
            </a:solidFill>
            <a:prstDash val="solid"/>
          </a:ln>
        </p:spPr>
        <p:txBody>
          <a:bodyPr/>
          <a:lstStyle/>
          <a:p>
            <a:endParaRPr lang="fr-FR"/>
          </a:p>
        </p:txBody>
      </p:sp>
      <p:sp>
        <p:nvSpPr>
          <p:cNvPr id="18" name="Shape 16"/>
          <p:cNvSpPr/>
          <p:nvPr/>
        </p:nvSpPr>
        <p:spPr>
          <a:xfrm>
            <a:off x="8851679" y="1651000"/>
            <a:ext cx="2527237" cy="38100"/>
          </a:xfrm>
          <a:prstGeom prst="rect">
            <a:avLst/>
          </a:prstGeom>
          <a:solidFill>
            <a:srgbClr val="12324A"/>
          </a:solidFill>
          <a:ln/>
        </p:spPr>
        <p:txBody>
          <a:bodyPr/>
          <a:lstStyle/>
          <a:p>
            <a:endParaRPr lang="fr-FR"/>
          </a:p>
        </p:txBody>
      </p:sp>
      <p:sp>
        <p:nvSpPr>
          <p:cNvPr id="19" name="Text 17"/>
          <p:cNvSpPr/>
          <p:nvPr/>
        </p:nvSpPr>
        <p:spPr>
          <a:xfrm>
            <a:off x="8991375" y="1752600"/>
            <a:ext cx="2247844"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Membre</a:t>
            </a:r>
            <a:endParaRPr lang="en-US" sz="1500" dirty="0"/>
          </a:p>
        </p:txBody>
      </p:sp>
      <p:sp>
        <p:nvSpPr>
          <p:cNvPr id="20" name="Text 18"/>
          <p:cNvSpPr/>
          <p:nvPr/>
        </p:nvSpPr>
        <p:spPr>
          <a:xfrm>
            <a:off x="8991375" y="2038350"/>
            <a:ext cx="2247844"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Examine le dossier, émet l’avis et signe le PV.</a:t>
            </a:r>
            <a:endParaRPr lang="en-US" sz="1200" dirty="0"/>
          </a:p>
        </p:txBody>
      </p:sp>
      <p:sp>
        <p:nvSpPr>
          <p:cNvPr id="21" name="Shape 19"/>
          <p:cNvSpPr/>
          <p:nvPr/>
        </p:nvSpPr>
        <p:spPr>
          <a:xfrm>
            <a:off x="812780" y="3962400"/>
            <a:ext cx="2527237" cy="2159000"/>
          </a:xfrm>
          <a:prstGeom prst="rect">
            <a:avLst/>
          </a:prstGeom>
          <a:solidFill>
            <a:srgbClr val="FCFCFA"/>
          </a:solidFill>
          <a:ln w="9525">
            <a:solidFill>
              <a:srgbClr val="D5DCE4"/>
            </a:solidFill>
            <a:prstDash val="solid"/>
          </a:ln>
        </p:spPr>
        <p:txBody>
          <a:bodyPr/>
          <a:lstStyle/>
          <a:p>
            <a:endParaRPr lang="fr-FR"/>
          </a:p>
        </p:txBody>
      </p:sp>
      <p:sp>
        <p:nvSpPr>
          <p:cNvPr id="22" name="Shape 20"/>
          <p:cNvSpPr/>
          <p:nvPr/>
        </p:nvSpPr>
        <p:spPr>
          <a:xfrm>
            <a:off x="812780" y="3962400"/>
            <a:ext cx="2527237" cy="38100"/>
          </a:xfrm>
          <a:prstGeom prst="rect">
            <a:avLst/>
          </a:prstGeom>
          <a:solidFill>
            <a:srgbClr val="1B6FA8"/>
          </a:solidFill>
          <a:ln/>
        </p:spPr>
        <p:txBody>
          <a:bodyPr/>
          <a:lstStyle/>
          <a:p>
            <a:endParaRPr lang="fr-FR"/>
          </a:p>
        </p:txBody>
      </p:sp>
      <p:sp>
        <p:nvSpPr>
          <p:cNvPr id="23" name="Text 21"/>
          <p:cNvSpPr/>
          <p:nvPr/>
        </p:nvSpPr>
        <p:spPr>
          <a:xfrm>
            <a:off x="952476" y="4064000"/>
            <a:ext cx="2247844"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Vérificateur et Assistant</a:t>
            </a:r>
            <a:endParaRPr lang="en-US" sz="1500" dirty="0"/>
          </a:p>
        </p:txBody>
      </p:sp>
      <p:sp>
        <p:nvSpPr>
          <p:cNvPr id="24" name="Text 22"/>
          <p:cNvSpPr/>
          <p:nvPr/>
        </p:nvSpPr>
        <p:spPr>
          <a:xfrm>
            <a:off x="952476" y="4521200"/>
            <a:ext cx="2247844"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Vérifient la levée des observations, transmettent la décision ; l’Assistant archive.</a:t>
            </a:r>
            <a:endParaRPr lang="en-US" sz="1200" dirty="0"/>
          </a:p>
        </p:txBody>
      </p:sp>
      <p:sp>
        <p:nvSpPr>
          <p:cNvPr id="25" name="Shape 23"/>
          <p:cNvSpPr/>
          <p:nvPr/>
        </p:nvSpPr>
        <p:spPr>
          <a:xfrm>
            <a:off x="3492413" y="3962400"/>
            <a:ext cx="2527237" cy="2159000"/>
          </a:xfrm>
          <a:prstGeom prst="rect">
            <a:avLst/>
          </a:prstGeom>
          <a:solidFill>
            <a:srgbClr val="FCFCFA"/>
          </a:solidFill>
          <a:ln w="9525">
            <a:solidFill>
              <a:srgbClr val="D5DCE4"/>
            </a:solidFill>
            <a:prstDash val="solid"/>
          </a:ln>
        </p:spPr>
        <p:txBody>
          <a:bodyPr/>
          <a:lstStyle/>
          <a:p>
            <a:endParaRPr lang="fr-FR"/>
          </a:p>
        </p:txBody>
      </p:sp>
      <p:sp>
        <p:nvSpPr>
          <p:cNvPr id="26" name="Shape 24"/>
          <p:cNvSpPr/>
          <p:nvPr/>
        </p:nvSpPr>
        <p:spPr>
          <a:xfrm>
            <a:off x="3492413" y="3962400"/>
            <a:ext cx="2527237" cy="38100"/>
          </a:xfrm>
          <a:prstGeom prst="rect">
            <a:avLst/>
          </a:prstGeom>
          <a:solidFill>
            <a:srgbClr val="2E8B57"/>
          </a:solidFill>
          <a:ln/>
        </p:spPr>
        <p:txBody>
          <a:bodyPr/>
          <a:lstStyle/>
          <a:p>
            <a:endParaRPr lang="fr-FR"/>
          </a:p>
        </p:txBody>
      </p:sp>
      <p:sp>
        <p:nvSpPr>
          <p:cNvPr id="27" name="Text 25"/>
          <p:cNvSpPr/>
          <p:nvPr/>
        </p:nvSpPr>
        <p:spPr>
          <a:xfrm>
            <a:off x="3632109" y="4064000"/>
            <a:ext cx="2247844"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Chargé de publication et Administrateur</a:t>
            </a:r>
            <a:endParaRPr lang="en-US" sz="1500" dirty="0"/>
          </a:p>
        </p:txBody>
      </p:sp>
      <p:sp>
        <p:nvSpPr>
          <p:cNvPr id="28" name="Text 26"/>
          <p:cNvSpPr/>
          <p:nvPr/>
        </p:nvSpPr>
        <p:spPr>
          <a:xfrm>
            <a:off x="3632109" y="4521200"/>
            <a:ext cx="2247844"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Publie les décisions ; administre les comptes, les référentiels et les paramètres.</a:t>
            </a:r>
            <a:endParaRPr lang="en-US" sz="1200" dirty="0"/>
          </a:p>
        </p:txBody>
      </p:sp>
      <p:sp>
        <p:nvSpPr>
          <p:cNvPr id="29" name="Shape 27"/>
          <p:cNvSpPr/>
          <p:nvPr/>
        </p:nvSpPr>
        <p:spPr>
          <a:xfrm>
            <a:off x="6172046" y="3962400"/>
            <a:ext cx="2527237" cy="2159000"/>
          </a:xfrm>
          <a:prstGeom prst="rect">
            <a:avLst/>
          </a:prstGeom>
          <a:solidFill>
            <a:srgbClr val="FCFCFA"/>
          </a:solidFill>
          <a:ln w="9525">
            <a:solidFill>
              <a:srgbClr val="D5DCE4"/>
            </a:solidFill>
            <a:prstDash val="solid"/>
          </a:ln>
        </p:spPr>
        <p:txBody>
          <a:bodyPr/>
          <a:lstStyle/>
          <a:p>
            <a:endParaRPr lang="fr-FR"/>
          </a:p>
        </p:txBody>
      </p:sp>
      <p:sp>
        <p:nvSpPr>
          <p:cNvPr id="30" name="Shape 28"/>
          <p:cNvSpPr/>
          <p:nvPr/>
        </p:nvSpPr>
        <p:spPr>
          <a:xfrm>
            <a:off x="6172046" y="3962400"/>
            <a:ext cx="2527237" cy="38100"/>
          </a:xfrm>
          <a:prstGeom prst="rect">
            <a:avLst/>
          </a:prstGeom>
          <a:solidFill>
            <a:srgbClr val="E3AE2E"/>
          </a:solidFill>
          <a:ln/>
        </p:spPr>
        <p:txBody>
          <a:bodyPr/>
          <a:lstStyle/>
          <a:p>
            <a:endParaRPr lang="fr-FR"/>
          </a:p>
        </p:txBody>
      </p:sp>
      <p:sp>
        <p:nvSpPr>
          <p:cNvPr id="31" name="Text 29"/>
          <p:cNvSpPr/>
          <p:nvPr/>
        </p:nvSpPr>
        <p:spPr>
          <a:xfrm>
            <a:off x="6311742" y="4064000"/>
            <a:ext cx="2247844"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Commission d’appel d’offres</a:t>
            </a:r>
            <a:endParaRPr lang="en-US" sz="1500" dirty="0"/>
          </a:p>
        </p:txBody>
      </p:sp>
      <p:sp>
        <p:nvSpPr>
          <p:cNvPr id="32" name="Text 30"/>
          <p:cNvSpPr/>
          <p:nvPr/>
        </p:nvSpPr>
        <p:spPr>
          <a:xfrm>
            <a:off x="6311742" y="4521200"/>
            <a:ext cx="2247844"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Ses membres ouvrent les offres en séance, les évaluent et signent leurs rapports, dans leur propre espace.</a:t>
            </a:r>
            <a:endParaRPr lang="en-US" sz="1200" dirty="0"/>
          </a:p>
        </p:txBody>
      </p:sp>
      <p:sp>
        <p:nvSpPr>
          <p:cNvPr id="33" name="Shape 31"/>
          <p:cNvSpPr/>
          <p:nvPr/>
        </p:nvSpPr>
        <p:spPr>
          <a:xfrm>
            <a:off x="8851679" y="3962400"/>
            <a:ext cx="2527237" cy="2159000"/>
          </a:xfrm>
          <a:prstGeom prst="rect">
            <a:avLst/>
          </a:prstGeom>
          <a:solidFill>
            <a:srgbClr val="FCFCFA"/>
          </a:solidFill>
          <a:ln w="9525">
            <a:solidFill>
              <a:srgbClr val="D5DCE4"/>
            </a:solidFill>
            <a:prstDash val="solid"/>
          </a:ln>
        </p:spPr>
        <p:txBody>
          <a:bodyPr/>
          <a:lstStyle/>
          <a:p>
            <a:endParaRPr lang="fr-FR"/>
          </a:p>
        </p:txBody>
      </p:sp>
      <p:sp>
        <p:nvSpPr>
          <p:cNvPr id="34" name="Shape 32"/>
          <p:cNvSpPr/>
          <p:nvPr/>
        </p:nvSpPr>
        <p:spPr>
          <a:xfrm>
            <a:off x="8851679" y="3962400"/>
            <a:ext cx="2527237" cy="38100"/>
          </a:xfrm>
          <a:prstGeom prst="rect">
            <a:avLst/>
          </a:prstGeom>
          <a:solidFill>
            <a:srgbClr val="12324A"/>
          </a:solidFill>
          <a:ln/>
        </p:spPr>
        <p:txBody>
          <a:bodyPr/>
          <a:lstStyle/>
          <a:p>
            <a:endParaRPr lang="fr-FR"/>
          </a:p>
        </p:txBody>
      </p:sp>
      <p:sp>
        <p:nvSpPr>
          <p:cNvPr id="35" name="Text 33"/>
          <p:cNvSpPr/>
          <p:nvPr/>
        </p:nvSpPr>
        <p:spPr>
          <a:xfrm>
            <a:off x="8991375" y="4064000"/>
            <a:ext cx="2247844"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Entreprises et dépositaire</a:t>
            </a:r>
            <a:endParaRPr lang="en-US" sz="1500" dirty="0"/>
          </a:p>
        </p:txBody>
      </p:sp>
      <p:sp>
        <p:nvSpPr>
          <p:cNvPr id="36" name="Text 34"/>
          <p:cNvSpPr/>
          <p:nvPr/>
        </p:nvSpPr>
        <p:spPr>
          <a:xfrm>
            <a:off x="8991375" y="4521200"/>
            <a:ext cx="2247844"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Les entreprises retirent le dossier, déposent leur offre et suivent leur résultat ; le dépositaire garde la part de secours de la clé.</a:t>
            </a:r>
            <a:endParaRPr lang="en-US" sz="1200" dirty="0"/>
          </a:p>
        </p:txBody>
      </p:sp>
      <p:sp>
        <p:nvSpPr>
          <p:cNvPr id="37" name="Text 35"/>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a:t>
            </a:r>
            <a:endParaRPr lang="en-US" sz="1100" dirty="0"/>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name="Slide 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SOMMAIRE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Douze parties, une seule chaîne</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Chaque partie : ce qu’elle change, son parcours, ses écrans (règles appliquées, provenance en note), ce que l’application garantit. Puis les annexes.</a:t>
            </a:r>
            <a:endParaRPr lang="en-US" sz="1300" dirty="0"/>
          </a:p>
        </p:txBody>
      </p:sp>
      <p:sp>
        <p:nvSpPr>
          <p:cNvPr id="5" name="Shape 3"/>
          <p:cNvSpPr/>
          <p:nvPr/>
        </p:nvSpPr>
        <p:spPr>
          <a:xfrm>
            <a:off x="812780" y="1651000"/>
            <a:ext cx="2527237" cy="1044575"/>
          </a:xfrm>
          <a:prstGeom prst="rect">
            <a:avLst/>
          </a:prstGeom>
          <a:solidFill>
            <a:srgbClr val="FCFCFA"/>
          </a:solidFill>
          <a:ln w="9525">
            <a:solidFill>
              <a:srgbClr val="D5DCE4"/>
            </a:solidFill>
            <a:prstDash val="solid"/>
          </a:ln>
        </p:spPr>
        <p:txBody>
          <a:bodyPr/>
          <a:lstStyle/>
          <a:p>
            <a:endParaRPr lang="fr-FR"/>
          </a:p>
        </p:txBody>
      </p:sp>
      <p:sp>
        <p:nvSpPr>
          <p:cNvPr id="6" name="Shape 4"/>
          <p:cNvSpPr/>
          <p:nvPr/>
        </p:nvSpPr>
        <p:spPr>
          <a:xfrm>
            <a:off x="812780" y="1651000"/>
            <a:ext cx="2527237" cy="38100"/>
          </a:xfrm>
          <a:prstGeom prst="rect">
            <a:avLst/>
          </a:prstGeom>
          <a:solidFill>
            <a:srgbClr val="1B6FA8"/>
          </a:solidFill>
          <a:ln/>
        </p:spPr>
        <p:txBody>
          <a:bodyPr/>
          <a:lstStyle/>
          <a:p>
            <a:endParaRPr lang="fr-FR"/>
          </a:p>
        </p:txBody>
      </p:sp>
      <p:sp>
        <p:nvSpPr>
          <p:cNvPr id="7" name="Text 5"/>
          <p:cNvSpPr/>
          <p:nvPr/>
        </p:nvSpPr>
        <p:spPr>
          <a:xfrm>
            <a:off x="952476" y="1752600"/>
            <a:ext cx="2247844"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01 · Entrer</a:t>
            </a:r>
            <a:endParaRPr lang="en-US" sz="1500" dirty="0"/>
          </a:p>
        </p:txBody>
      </p:sp>
      <p:sp>
        <p:nvSpPr>
          <p:cNvPr id="8" name="Text 6"/>
          <p:cNvSpPr/>
          <p:nvPr/>
        </p:nvSpPr>
        <p:spPr>
          <a:xfrm>
            <a:off x="952476" y="2038350"/>
            <a:ext cx="2247844" cy="593725"/>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De la porte d’entrée au premier geste</a:t>
            </a:r>
            <a:endParaRPr lang="en-US" sz="1200" dirty="0"/>
          </a:p>
        </p:txBody>
      </p:sp>
      <p:sp>
        <p:nvSpPr>
          <p:cNvPr id="9" name="Shape 7"/>
          <p:cNvSpPr/>
          <p:nvPr/>
        </p:nvSpPr>
        <p:spPr>
          <a:xfrm>
            <a:off x="3492413" y="1651000"/>
            <a:ext cx="2527237" cy="1044575"/>
          </a:xfrm>
          <a:prstGeom prst="rect">
            <a:avLst/>
          </a:prstGeom>
          <a:solidFill>
            <a:srgbClr val="FCFCFA"/>
          </a:solidFill>
          <a:ln w="9525">
            <a:solidFill>
              <a:srgbClr val="D5DCE4"/>
            </a:solidFill>
            <a:prstDash val="solid"/>
          </a:ln>
        </p:spPr>
        <p:txBody>
          <a:bodyPr/>
          <a:lstStyle/>
          <a:p>
            <a:endParaRPr lang="fr-FR"/>
          </a:p>
        </p:txBody>
      </p:sp>
      <p:sp>
        <p:nvSpPr>
          <p:cNvPr id="10" name="Shape 8"/>
          <p:cNvSpPr/>
          <p:nvPr/>
        </p:nvSpPr>
        <p:spPr>
          <a:xfrm>
            <a:off x="3492413" y="1651000"/>
            <a:ext cx="2527237" cy="38100"/>
          </a:xfrm>
          <a:prstGeom prst="rect">
            <a:avLst/>
          </a:prstGeom>
          <a:solidFill>
            <a:srgbClr val="2E8B57"/>
          </a:solidFill>
          <a:ln/>
        </p:spPr>
        <p:txBody>
          <a:bodyPr/>
          <a:lstStyle/>
          <a:p>
            <a:endParaRPr lang="fr-FR"/>
          </a:p>
        </p:txBody>
      </p:sp>
      <p:sp>
        <p:nvSpPr>
          <p:cNvPr id="11" name="Text 9"/>
          <p:cNvSpPr/>
          <p:nvPr/>
        </p:nvSpPr>
        <p:spPr>
          <a:xfrm>
            <a:off x="3632109" y="1752600"/>
            <a:ext cx="2247844"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02 · Planifier</a:t>
            </a:r>
            <a:endParaRPr lang="en-US" sz="1500" dirty="0"/>
          </a:p>
        </p:txBody>
      </p:sp>
      <p:sp>
        <p:nvSpPr>
          <p:cNvPr id="12" name="Text 10"/>
          <p:cNvSpPr/>
          <p:nvPr/>
        </p:nvSpPr>
        <p:spPr>
          <a:xfrm>
            <a:off x="3632109" y="2038350"/>
            <a:ext cx="2247844" cy="593725"/>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Du plan saisi au plan contrôlé</a:t>
            </a:r>
            <a:endParaRPr lang="en-US" sz="1200" dirty="0"/>
          </a:p>
        </p:txBody>
      </p:sp>
      <p:sp>
        <p:nvSpPr>
          <p:cNvPr id="13" name="Shape 11"/>
          <p:cNvSpPr/>
          <p:nvPr/>
        </p:nvSpPr>
        <p:spPr>
          <a:xfrm>
            <a:off x="6172046" y="1651000"/>
            <a:ext cx="2527237" cy="1044575"/>
          </a:xfrm>
          <a:prstGeom prst="rect">
            <a:avLst/>
          </a:prstGeom>
          <a:solidFill>
            <a:srgbClr val="FCFCFA"/>
          </a:solidFill>
          <a:ln w="9525">
            <a:solidFill>
              <a:srgbClr val="D5DCE4"/>
            </a:solidFill>
            <a:prstDash val="solid"/>
          </a:ln>
        </p:spPr>
        <p:txBody>
          <a:bodyPr/>
          <a:lstStyle/>
          <a:p>
            <a:endParaRPr lang="fr-FR"/>
          </a:p>
        </p:txBody>
      </p:sp>
      <p:sp>
        <p:nvSpPr>
          <p:cNvPr id="14" name="Shape 12"/>
          <p:cNvSpPr/>
          <p:nvPr/>
        </p:nvSpPr>
        <p:spPr>
          <a:xfrm>
            <a:off x="6172046" y="1651000"/>
            <a:ext cx="2527237" cy="38100"/>
          </a:xfrm>
          <a:prstGeom prst="rect">
            <a:avLst/>
          </a:prstGeom>
          <a:solidFill>
            <a:srgbClr val="E3AE2E"/>
          </a:solidFill>
          <a:ln/>
        </p:spPr>
        <p:txBody>
          <a:bodyPr/>
          <a:lstStyle/>
          <a:p>
            <a:endParaRPr lang="fr-FR"/>
          </a:p>
        </p:txBody>
      </p:sp>
      <p:sp>
        <p:nvSpPr>
          <p:cNvPr id="15" name="Text 13"/>
          <p:cNvSpPr/>
          <p:nvPr/>
        </p:nvSpPr>
        <p:spPr>
          <a:xfrm>
            <a:off x="6311742" y="1752600"/>
            <a:ext cx="2247844"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03 · Contrôler</a:t>
            </a:r>
            <a:endParaRPr lang="en-US" sz="1500" dirty="0"/>
          </a:p>
        </p:txBody>
      </p:sp>
      <p:sp>
        <p:nvSpPr>
          <p:cNvPr id="16" name="Text 14"/>
          <p:cNvSpPr/>
          <p:nvPr/>
        </p:nvSpPr>
        <p:spPr>
          <a:xfrm>
            <a:off x="6311742" y="2038350"/>
            <a:ext cx="2247844" cy="593725"/>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Le circuit de contrôle d’un dossier</a:t>
            </a:r>
            <a:endParaRPr lang="en-US" sz="1200" dirty="0"/>
          </a:p>
        </p:txBody>
      </p:sp>
      <p:sp>
        <p:nvSpPr>
          <p:cNvPr id="17" name="Shape 15"/>
          <p:cNvSpPr/>
          <p:nvPr/>
        </p:nvSpPr>
        <p:spPr>
          <a:xfrm>
            <a:off x="8851679" y="1651000"/>
            <a:ext cx="2527237" cy="1044575"/>
          </a:xfrm>
          <a:prstGeom prst="rect">
            <a:avLst/>
          </a:prstGeom>
          <a:solidFill>
            <a:srgbClr val="FCFCFA"/>
          </a:solidFill>
          <a:ln w="9525">
            <a:solidFill>
              <a:srgbClr val="D5DCE4"/>
            </a:solidFill>
            <a:prstDash val="solid"/>
          </a:ln>
        </p:spPr>
        <p:txBody>
          <a:bodyPr/>
          <a:lstStyle/>
          <a:p>
            <a:endParaRPr lang="fr-FR"/>
          </a:p>
        </p:txBody>
      </p:sp>
      <p:sp>
        <p:nvSpPr>
          <p:cNvPr id="18" name="Shape 16"/>
          <p:cNvSpPr/>
          <p:nvPr/>
        </p:nvSpPr>
        <p:spPr>
          <a:xfrm>
            <a:off x="8851679" y="1651000"/>
            <a:ext cx="2527237" cy="38100"/>
          </a:xfrm>
          <a:prstGeom prst="rect">
            <a:avLst/>
          </a:prstGeom>
          <a:solidFill>
            <a:srgbClr val="12324A"/>
          </a:solidFill>
          <a:ln/>
        </p:spPr>
        <p:txBody>
          <a:bodyPr/>
          <a:lstStyle/>
          <a:p>
            <a:endParaRPr lang="fr-FR"/>
          </a:p>
        </p:txBody>
      </p:sp>
      <p:sp>
        <p:nvSpPr>
          <p:cNvPr id="19" name="Text 17"/>
          <p:cNvSpPr/>
          <p:nvPr/>
        </p:nvSpPr>
        <p:spPr>
          <a:xfrm>
            <a:off x="8991375" y="1752600"/>
            <a:ext cx="2247844"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04 · Préparer le DAO</a:t>
            </a:r>
            <a:endParaRPr lang="en-US" sz="1500" dirty="0"/>
          </a:p>
        </p:txBody>
      </p:sp>
      <p:sp>
        <p:nvSpPr>
          <p:cNvPr id="20" name="Text 18"/>
          <p:cNvSpPr/>
          <p:nvPr/>
        </p:nvSpPr>
        <p:spPr>
          <a:xfrm>
            <a:off x="8991375" y="2038350"/>
            <a:ext cx="2247844" cy="593725"/>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De la ligne du plan au DAO publié</a:t>
            </a:r>
            <a:endParaRPr lang="en-US" sz="1200" dirty="0"/>
          </a:p>
        </p:txBody>
      </p:sp>
      <p:sp>
        <p:nvSpPr>
          <p:cNvPr id="21" name="Shape 19"/>
          <p:cNvSpPr/>
          <p:nvPr/>
        </p:nvSpPr>
        <p:spPr>
          <a:xfrm>
            <a:off x="812780" y="2847975"/>
            <a:ext cx="2527237" cy="1044575"/>
          </a:xfrm>
          <a:prstGeom prst="rect">
            <a:avLst/>
          </a:prstGeom>
          <a:solidFill>
            <a:srgbClr val="FCFCFA"/>
          </a:solidFill>
          <a:ln w="9525">
            <a:solidFill>
              <a:srgbClr val="D5DCE4"/>
            </a:solidFill>
            <a:prstDash val="solid"/>
          </a:ln>
        </p:spPr>
        <p:txBody>
          <a:bodyPr/>
          <a:lstStyle/>
          <a:p>
            <a:endParaRPr lang="fr-FR"/>
          </a:p>
        </p:txBody>
      </p:sp>
      <p:sp>
        <p:nvSpPr>
          <p:cNvPr id="22" name="Shape 20"/>
          <p:cNvSpPr/>
          <p:nvPr/>
        </p:nvSpPr>
        <p:spPr>
          <a:xfrm>
            <a:off x="812780" y="2847975"/>
            <a:ext cx="2527237" cy="38100"/>
          </a:xfrm>
          <a:prstGeom prst="rect">
            <a:avLst/>
          </a:prstGeom>
          <a:solidFill>
            <a:srgbClr val="1B6FA8"/>
          </a:solidFill>
          <a:ln/>
        </p:spPr>
        <p:txBody>
          <a:bodyPr/>
          <a:lstStyle/>
          <a:p>
            <a:endParaRPr lang="fr-FR"/>
          </a:p>
        </p:txBody>
      </p:sp>
      <p:sp>
        <p:nvSpPr>
          <p:cNvPr id="23" name="Text 21"/>
          <p:cNvSpPr/>
          <p:nvPr/>
        </p:nvSpPr>
        <p:spPr>
          <a:xfrm>
            <a:off x="952476" y="2949575"/>
            <a:ext cx="2247844" cy="5905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05 · L’appel à manifestation d’intérêt</a:t>
            </a:r>
            <a:endParaRPr lang="en-US" sz="1500" dirty="0"/>
          </a:p>
        </p:txBody>
      </p:sp>
      <p:sp>
        <p:nvSpPr>
          <p:cNvPr id="24" name="Text 22"/>
          <p:cNvSpPr/>
          <p:nvPr/>
        </p:nvSpPr>
        <p:spPr>
          <a:xfrm>
            <a:off x="952476" y="3578225"/>
            <a:ext cx="2247844" cy="250825"/>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De la ligne du plan à la liste restreinte</a:t>
            </a:r>
            <a:endParaRPr lang="en-US" sz="1200" dirty="0"/>
          </a:p>
        </p:txBody>
      </p:sp>
      <p:sp>
        <p:nvSpPr>
          <p:cNvPr id="25" name="Shape 23"/>
          <p:cNvSpPr/>
          <p:nvPr/>
        </p:nvSpPr>
        <p:spPr>
          <a:xfrm>
            <a:off x="3492413" y="2847975"/>
            <a:ext cx="2527237" cy="1044575"/>
          </a:xfrm>
          <a:prstGeom prst="rect">
            <a:avLst/>
          </a:prstGeom>
          <a:solidFill>
            <a:srgbClr val="FCFCFA"/>
          </a:solidFill>
          <a:ln w="9525">
            <a:solidFill>
              <a:srgbClr val="D5DCE4"/>
            </a:solidFill>
            <a:prstDash val="solid"/>
          </a:ln>
        </p:spPr>
        <p:txBody>
          <a:bodyPr/>
          <a:lstStyle/>
          <a:p>
            <a:endParaRPr lang="fr-FR"/>
          </a:p>
        </p:txBody>
      </p:sp>
      <p:sp>
        <p:nvSpPr>
          <p:cNvPr id="26" name="Shape 24"/>
          <p:cNvSpPr/>
          <p:nvPr/>
        </p:nvSpPr>
        <p:spPr>
          <a:xfrm>
            <a:off x="3492413" y="2847975"/>
            <a:ext cx="2527237" cy="38100"/>
          </a:xfrm>
          <a:prstGeom prst="rect">
            <a:avLst/>
          </a:prstGeom>
          <a:solidFill>
            <a:srgbClr val="2E8B57"/>
          </a:solidFill>
          <a:ln/>
        </p:spPr>
        <p:txBody>
          <a:bodyPr/>
          <a:lstStyle/>
          <a:p>
            <a:endParaRPr lang="fr-FR"/>
          </a:p>
        </p:txBody>
      </p:sp>
      <p:sp>
        <p:nvSpPr>
          <p:cNvPr id="27" name="Text 25"/>
          <p:cNvSpPr/>
          <p:nvPr/>
        </p:nvSpPr>
        <p:spPr>
          <a:xfrm>
            <a:off x="3632109" y="2949575"/>
            <a:ext cx="2247844"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06 · Recevoir les offres en ligne</a:t>
            </a:r>
            <a:endParaRPr lang="en-US" sz="1500" dirty="0"/>
          </a:p>
        </p:txBody>
      </p:sp>
      <p:sp>
        <p:nvSpPr>
          <p:cNvPr id="28" name="Text 26"/>
          <p:cNvSpPr/>
          <p:nvPr/>
        </p:nvSpPr>
        <p:spPr>
          <a:xfrm>
            <a:off x="3632109" y="3406775"/>
            <a:ext cx="2247844" cy="422275"/>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De l’avis publié à l’offre scellée</a:t>
            </a:r>
            <a:endParaRPr lang="en-US" sz="1200" dirty="0"/>
          </a:p>
        </p:txBody>
      </p:sp>
      <p:sp>
        <p:nvSpPr>
          <p:cNvPr id="29" name="Shape 27"/>
          <p:cNvSpPr/>
          <p:nvPr/>
        </p:nvSpPr>
        <p:spPr>
          <a:xfrm>
            <a:off x="6172046" y="2847975"/>
            <a:ext cx="2527237" cy="1044575"/>
          </a:xfrm>
          <a:prstGeom prst="rect">
            <a:avLst/>
          </a:prstGeom>
          <a:solidFill>
            <a:srgbClr val="FCFCFA"/>
          </a:solidFill>
          <a:ln w="9525">
            <a:solidFill>
              <a:srgbClr val="D5DCE4"/>
            </a:solidFill>
            <a:prstDash val="solid"/>
          </a:ln>
        </p:spPr>
        <p:txBody>
          <a:bodyPr/>
          <a:lstStyle/>
          <a:p>
            <a:endParaRPr lang="fr-FR"/>
          </a:p>
        </p:txBody>
      </p:sp>
      <p:sp>
        <p:nvSpPr>
          <p:cNvPr id="30" name="Shape 28"/>
          <p:cNvSpPr/>
          <p:nvPr/>
        </p:nvSpPr>
        <p:spPr>
          <a:xfrm>
            <a:off x="6172046" y="2847975"/>
            <a:ext cx="2527237" cy="38100"/>
          </a:xfrm>
          <a:prstGeom prst="rect">
            <a:avLst/>
          </a:prstGeom>
          <a:solidFill>
            <a:srgbClr val="E3AE2E"/>
          </a:solidFill>
          <a:ln/>
        </p:spPr>
        <p:txBody>
          <a:bodyPr/>
          <a:lstStyle/>
          <a:p>
            <a:endParaRPr lang="fr-FR"/>
          </a:p>
        </p:txBody>
      </p:sp>
      <p:sp>
        <p:nvSpPr>
          <p:cNvPr id="31" name="Text 29"/>
          <p:cNvSpPr/>
          <p:nvPr/>
        </p:nvSpPr>
        <p:spPr>
          <a:xfrm>
            <a:off x="6311742" y="2949575"/>
            <a:ext cx="2247844"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07 · La séance d’ouverture</a:t>
            </a:r>
            <a:endParaRPr lang="en-US" sz="1500" dirty="0"/>
          </a:p>
        </p:txBody>
      </p:sp>
      <p:sp>
        <p:nvSpPr>
          <p:cNvPr id="32" name="Text 30"/>
          <p:cNvSpPr/>
          <p:nvPr/>
        </p:nvSpPr>
        <p:spPr>
          <a:xfrm>
            <a:off x="6311742" y="3406775"/>
            <a:ext cx="2247844" cy="422275"/>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De la date limite au PV signé</a:t>
            </a:r>
            <a:endParaRPr lang="en-US" sz="1200" dirty="0"/>
          </a:p>
        </p:txBody>
      </p:sp>
      <p:sp>
        <p:nvSpPr>
          <p:cNvPr id="33" name="Shape 31"/>
          <p:cNvSpPr/>
          <p:nvPr/>
        </p:nvSpPr>
        <p:spPr>
          <a:xfrm>
            <a:off x="8851679" y="2847975"/>
            <a:ext cx="2527237" cy="1044575"/>
          </a:xfrm>
          <a:prstGeom prst="rect">
            <a:avLst/>
          </a:prstGeom>
          <a:solidFill>
            <a:srgbClr val="FCFCFA"/>
          </a:solidFill>
          <a:ln w="9525">
            <a:solidFill>
              <a:srgbClr val="D5DCE4"/>
            </a:solidFill>
            <a:prstDash val="solid"/>
          </a:ln>
        </p:spPr>
        <p:txBody>
          <a:bodyPr/>
          <a:lstStyle/>
          <a:p>
            <a:endParaRPr lang="fr-FR"/>
          </a:p>
        </p:txBody>
      </p:sp>
      <p:sp>
        <p:nvSpPr>
          <p:cNvPr id="34" name="Shape 32"/>
          <p:cNvSpPr/>
          <p:nvPr/>
        </p:nvSpPr>
        <p:spPr>
          <a:xfrm>
            <a:off x="8851679" y="2847975"/>
            <a:ext cx="2527237" cy="38100"/>
          </a:xfrm>
          <a:prstGeom prst="rect">
            <a:avLst/>
          </a:prstGeom>
          <a:solidFill>
            <a:srgbClr val="12324A"/>
          </a:solidFill>
          <a:ln/>
        </p:spPr>
        <p:txBody>
          <a:bodyPr/>
          <a:lstStyle/>
          <a:p>
            <a:endParaRPr lang="fr-FR"/>
          </a:p>
        </p:txBody>
      </p:sp>
      <p:sp>
        <p:nvSpPr>
          <p:cNvPr id="35" name="Text 33"/>
          <p:cNvSpPr/>
          <p:nvPr/>
        </p:nvSpPr>
        <p:spPr>
          <a:xfrm>
            <a:off x="8991375" y="2949575"/>
            <a:ext cx="2247844"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08 · Évaluer les offres</a:t>
            </a:r>
            <a:endParaRPr lang="en-US" sz="1500" dirty="0"/>
          </a:p>
        </p:txBody>
      </p:sp>
      <p:sp>
        <p:nvSpPr>
          <p:cNvPr id="36" name="Text 34"/>
          <p:cNvSpPr/>
          <p:nvPr/>
        </p:nvSpPr>
        <p:spPr>
          <a:xfrm>
            <a:off x="8991375" y="3406775"/>
            <a:ext cx="2247844" cy="422275"/>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Du PV d’ouverture signé au rapport d’évaluation</a:t>
            </a:r>
            <a:endParaRPr lang="en-US" sz="1200" dirty="0"/>
          </a:p>
        </p:txBody>
      </p:sp>
      <p:sp>
        <p:nvSpPr>
          <p:cNvPr id="37" name="Shape 35"/>
          <p:cNvSpPr/>
          <p:nvPr/>
        </p:nvSpPr>
        <p:spPr>
          <a:xfrm>
            <a:off x="812780" y="4044950"/>
            <a:ext cx="2527237" cy="1044575"/>
          </a:xfrm>
          <a:prstGeom prst="rect">
            <a:avLst/>
          </a:prstGeom>
          <a:solidFill>
            <a:srgbClr val="FCFCFA"/>
          </a:solidFill>
          <a:ln w="9525">
            <a:solidFill>
              <a:srgbClr val="D5DCE4"/>
            </a:solidFill>
            <a:prstDash val="solid"/>
          </a:ln>
        </p:spPr>
        <p:txBody>
          <a:bodyPr/>
          <a:lstStyle/>
          <a:p>
            <a:endParaRPr lang="fr-FR"/>
          </a:p>
        </p:txBody>
      </p:sp>
      <p:sp>
        <p:nvSpPr>
          <p:cNvPr id="38" name="Shape 36"/>
          <p:cNvSpPr/>
          <p:nvPr/>
        </p:nvSpPr>
        <p:spPr>
          <a:xfrm>
            <a:off x="812780" y="4044950"/>
            <a:ext cx="2527237" cy="38100"/>
          </a:xfrm>
          <a:prstGeom prst="rect">
            <a:avLst/>
          </a:prstGeom>
          <a:solidFill>
            <a:srgbClr val="1B6FA8"/>
          </a:solidFill>
          <a:ln/>
        </p:spPr>
        <p:txBody>
          <a:bodyPr/>
          <a:lstStyle/>
          <a:p>
            <a:endParaRPr lang="fr-FR"/>
          </a:p>
        </p:txBody>
      </p:sp>
      <p:sp>
        <p:nvSpPr>
          <p:cNvPr id="39" name="Text 37"/>
          <p:cNvSpPr/>
          <p:nvPr/>
        </p:nvSpPr>
        <p:spPr>
          <a:xfrm>
            <a:off x="952476" y="4146550"/>
            <a:ext cx="2247844"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09 · Attribuer et notifier</a:t>
            </a:r>
            <a:endParaRPr lang="en-US" sz="1500" dirty="0"/>
          </a:p>
        </p:txBody>
      </p:sp>
      <p:sp>
        <p:nvSpPr>
          <p:cNvPr id="40" name="Text 38"/>
          <p:cNvSpPr/>
          <p:nvPr/>
        </p:nvSpPr>
        <p:spPr>
          <a:xfrm>
            <a:off x="952476" y="4603750"/>
            <a:ext cx="2247844" cy="422275"/>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Du rapport signé au marché notifié</a:t>
            </a:r>
            <a:endParaRPr lang="en-US" sz="1200" dirty="0"/>
          </a:p>
        </p:txBody>
      </p:sp>
      <p:sp>
        <p:nvSpPr>
          <p:cNvPr id="41" name="Shape 39"/>
          <p:cNvSpPr/>
          <p:nvPr/>
        </p:nvSpPr>
        <p:spPr>
          <a:xfrm>
            <a:off x="3492413" y="4044950"/>
            <a:ext cx="2527237" cy="1044575"/>
          </a:xfrm>
          <a:prstGeom prst="rect">
            <a:avLst/>
          </a:prstGeom>
          <a:solidFill>
            <a:srgbClr val="FCFCFA"/>
          </a:solidFill>
          <a:ln w="9525">
            <a:solidFill>
              <a:srgbClr val="D5DCE4"/>
            </a:solidFill>
            <a:prstDash val="solid"/>
          </a:ln>
        </p:spPr>
        <p:txBody>
          <a:bodyPr/>
          <a:lstStyle/>
          <a:p>
            <a:endParaRPr lang="fr-FR"/>
          </a:p>
        </p:txBody>
      </p:sp>
      <p:sp>
        <p:nvSpPr>
          <p:cNvPr id="42" name="Shape 40"/>
          <p:cNvSpPr/>
          <p:nvPr/>
        </p:nvSpPr>
        <p:spPr>
          <a:xfrm>
            <a:off x="3492413" y="4044950"/>
            <a:ext cx="2527237" cy="38100"/>
          </a:xfrm>
          <a:prstGeom prst="rect">
            <a:avLst/>
          </a:prstGeom>
          <a:solidFill>
            <a:srgbClr val="2E8B57"/>
          </a:solidFill>
          <a:ln/>
        </p:spPr>
        <p:txBody>
          <a:bodyPr/>
          <a:lstStyle/>
          <a:p>
            <a:endParaRPr lang="fr-FR"/>
          </a:p>
        </p:txBody>
      </p:sp>
      <p:sp>
        <p:nvSpPr>
          <p:cNvPr id="43" name="Text 41"/>
          <p:cNvSpPr/>
          <p:nvPr/>
        </p:nvSpPr>
        <p:spPr>
          <a:xfrm>
            <a:off x="3632109" y="4146550"/>
            <a:ext cx="2247844"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10 · Intérim et mandats</a:t>
            </a:r>
            <a:endParaRPr lang="en-US" sz="1500" dirty="0"/>
          </a:p>
        </p:txBody>
      </p:sp>
      <p:sp>
        <p:nvSpPr>
          <p:cNvPr id="44" name="Text 42"/>
          <p:cNvSpPr/>
          <p:nvPr/>
        </p:nvSpPr>
        <p:spPr>
          <a:xfrm>
            <a:off x="3632109" y="4603750"/>
            <a:ext cx="2247844" cy="422275"/>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De l’absence déclarée à la reprise</a:t>
            </a:r>
            <a:endParaRPr lang="en-US" sz="1200" dirty="0"/>
          </a:p>
        </p:txBody>
      </p:sp>
      <p:sp>
        <p:nvSpPr>
          <p:cNvPr id="45" name="Shape 43"/>
          <p:cNvSpPr/>
          <p:nvPr/>
        </p:nvSpPr>
        <p:spPr>
          <a:xfrm>
            <a:off x="6172046" y="4044950"/>
            <a:ext cx="2527237" cy="1044575"/>
          </a:xfrm>
          <a:prstGeom prst="rect">
            <a:avLst/>
          </a:prstGeom>
          <a:solidFill>
            <a:srgbClr val="FCFCFA"/>
          </a:solidFill>
          <a:ln w="9525">
            <a:solidFill>
              <a:srgbClr val="D5DCE4"/>
            </a:solidFill>
            <a:prstDash val="solid"/>
          </a:ln>
        </p:spPr>
        <p:txBody>
          <a:bodyPr/>
          <a:lstStyle/>
          <a:p>
            <a:endParaRPr lang="fr-FR"/>
          </a:p>
        </p:txBody>
      </p:sp>
      <p:sp>
        <p:nvSpPr>
          <p:cNvPr id="46" name="Shape 44"/>
          <p:cNvSpPr/>
          <p:nvPr/>
        </p:nvSpPr>
        <p:spPr>
          <a:xfrm>
            <a:off x="6172046" y="4044950"/>
            <a:ext cx="2527237" cy="38100"/>
          </a:xfrm>
          <a:prstGeom prst="rect">
            <a:avLst/>
          </a:prstGeom>
          <a:solidFill>
            <a:srgbClr val="E3AE2E"/>
          </a:solidFill>
          <a:ln/>
        </p:spPr>
        <p:txBody>
          <a:bodyPr/>
          <a:lstStyle/>
          <a:p>
            <a:endParaRPr lang="fr-FR"/>
          </a:p>
        </p:txBody>
      </p:sp>
      <p:sp>
        <p:nvSpPr>
          <p:cNvPr id="47" name="Text 45"/>
          <p:cNvSpPr/>
          <p:nvPr/>
        </p:nvSpPr>
        <p:spPr>
          <a:xfrm>
            <a:off x="6311742" y="4146550"/>
            <a:ext cx="2247844"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11 · Administrer</a:t>
            </a:r>
            <a:endParaRPr lang="en-US" sz="1500" dirty="0"/>
          </a:p>
        </p:txBody>
      </p:sp>
      <p:sp>
        <p:nvSpPr>
          <p:cNvPr id="48" name="Text 46"/>
          <p:cNvSpPr/>
          <p:nvPr/>
        </p:nvSpPr>
        <p:spPr>
          <a:xfrm>
            <a:off x="6311742" y="4432300"/>
            <a:ext cx="2247844" cy="593725"/>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La journée de l’Administrateur</a:t>
            </a:r>
            <a:endParaRPr lang="en-US" sz="1200" dirty="0"/>
          </a:p>
        </p:txBody>
      </p:sp>
      <p:sp>
        <p:nvSpPr>
          <p:cNvPr id="49" name="Shape 47"/>
          <p:cNvSpPr/>
          <p:nvPr/>
        </p:nvSpPr>
        <p:spPr>
          <a:xfrm>
            <a:off x="8851679" y="4044950"/>
            <a:ext cx="2527237" cy="1044575"/>
          </a:xfrm>
          <a:prstGeom prst="rect">
            <a:avLst/>
          </a:prstGeom>
          <a:solidFill>
            <a:srgbClr val="FCFCFA"/>
          </a:solidFill>
          <a:ln w="9525">
            <a:solidFill>
              <a:srgbClr val="D5DCE4"/>
            </a:solidFill>
            <a:prstDash val="solid"/>
          </a:ln>
        </p:spPr>
        <p:txBody>
          <a:bodyPr/>
          <a:lstStyle/>
          <a:p>
            <a:endParaRPr lang="fr-FR"/>
          </a:p>
        </p:txBody>
      </p:sp>
      <p:sp>
        <p:nvSpPr>
          <p:cNvPr id="50" name="Shape 48"/>
          <p:cNvSpPr/>
          <p:nvPr/>
        </p:nvSpPr>
        <p:spPr>
          <a:xfrm>
            <a:off x="8851679" y="4044950"/>
            <a:ext cx="2527237" cy="38100"/>
          </a:xfrm>
          <a:prstGeom prst="rect">
            <a:avLst/>
          </a:prstGeom>
          <a:solidFill>
            <a:srgbClr val="12324A"/>
          </a:solidFill>
          <a:ln/>
        </p:spPr>
        <p:txBody>
          <a:bodyPr/>
          <a:lstStyle/>
          <a:p>
            <a:endParaRPr lang="fr-FR"/>
          </a:p>
        </p:txBody>
      </p:sp>
      <p:sp>
        <p:nvSpPr>
          <p:cNvPr id="51" name="Text 49"/>
          <p:cNvSpPr/>
          <p:nvPr/>
        </p:nvSpPr>
        <p:spPr>
          <a:xfrm>
            <a:off x="8991375" y="4146550"/>
            <a:ext cx="2247844"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12 · Piloter et publier</a:t>
            </a:r>
            <a:endParaRPr lang="en-US" sz="1500" dirty="0"/>
          </a:p>
        </p:txBody>
      </p:sp>
      <p:sp>
        <p:nvSpPr>
          <p:cNvPr id="52" name="Text 50"/>
          <p:cNvSpPr/>
          <p:nvPr/>
        </p:nvSpPr>
        <p:spPr>
          <a:xfrm>
            <a:off x="8991375" y="4603750"/>
            <a:ext cx="2247844" cy="422275"/>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Du dossier suivi à la décision publiée</a:t>
            </a:r>
            <a:endParaRPr lang="en-US" sz="1200" dirty="0"/>
          </a:p>
        </p:txBody>
      </p:sp>
      <p:sp>
        <p:nvSpPr>
          <p:cNvPr id="53" name="Shape 51"/>
          <p:cNvSpPr/>
          <p:nvPr/>
        </p:nvSpPr>
        <p:spPr>
          <a:xfrm>
            <a:off x="812780" y="5241925"/>
            <a:ext cx="2527237" cy="1044575"/>
          </a:xfrm>
          <a:prstGeom prst="rect">
            <a:avLst/>
          </a:prstGeom>
          <a:solidFill>
            <a:srgbClr val="FCFCFA"/>
          </a:solidFill>
          <a:ln w="9525">
            <a:solidFill>
              <a:srgbClr val="D5DCE4"/>
            </a:solidFill>
            <a:prstDash val="solid"/>
          </a:ln>
        </p:spPr>
        <p:txBody>
          <a:bodyPr/>
          <a:lstStyle/>
          <a:p>
            <a:endParaRPr lang="fr-FR"/>
          </a:p>
        </p:txBody>
      </p:sp>
      <p:sp>
        <p:nvSpPr>
          <p:cNvPr id="54" name="Shape 52"/>
          <p:cNvSpPr/>
          <p:nvPr/>
        </p:nvSpPr>
        <p:spPr>
          <a:xfrm>
            <a:off x="812780" y="5241925"/>
            <a:ext cx="2527237" cy="38100"/>
          </a:xfrm>
          <a:prstGeom prst="rect">
            <a:avLst/>
          </a:prstGeom>
          <a:solidFill>
            <a:srgbClr val="E3AE2E"/>
          </a:solidFill>
          <a:ln/>
        </p:spPr>
        <p:txBody>
          <a:bodyPr/>
          <a:lstStyle/>
          <a:p>
            <a:endParaRPr lang="fr-FR"/>
          </a:p>
        </p:txBody>
      </p:sp>
      <p:sp>
        <p:nvSpPr>
          <p:cNvPr id="55" name="Text 53"/>
          <p:cNvSpPr/>
          <p:nvPr/>
        </p:nvSpPr>
        <p:spPr>
          <a:xfrm>
            <a:off x="952476" y="5343525"/>
            <a:ext cx="2247844"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Annexes</a:t>
            </a:r>
            <a:endParaRPr lang="en-US" sz="1500" dirty="0"/>
          </a:p>
        </p:txBody>
      </p:sp>
      <p:sp>
        <p:nvSpPr>
          <p:cNvPr id="56" name="Text 54"/>
          <p:cNvSpPr/>
          <p:nvPr/>
        </p:nvSpPr>
        <p:spPr>
          <a:xfrm>
            <a:off x="952476" y="5629275"/>
            <a:ext cx="2247844" cy="593725"/>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A — Règles de gestion. B — Référence des données. C — Dossier de recette.</a:t>
            </a:r>
            <a:endParaRPr lang="en-US" sz="1200" dirty="0"/>
          </a:p>
        </p:txBody>
      </p:sp>
      <p:sp>
        <p:nvSpPr>
          <p:cNvPr id="57" name="Text 55"/>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a:t>
            </a:r>
            <a:endParaRPr lang="en-US" sz="1100" dirty="0"/>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name="Slide 6">
    <p:bg>
      <p:bgPr>
        <a:solidFill>
          <a:srgbClr val="12324A"/>
        </a:solidFill>
        <a:effectLst/>
      </p:bgPr>
    </p:bg>
    <p:spTree>
      <p:nvGrpSpPr>
        <p:cNvPr id="1" name=""/>
        <p:cNvGrpSpPr/>
        <p:nvPr/>
      </p:nvGrpSpPr>
      <p:grpSpPr>
        <a:xfrm>
          <a:off x="0" y="0"/>
          <a:ext cx="0" cy="0"/>
          <a:chOff x="0" y="0"/>
          <a:chExt cx="0" cy="0"/>
        </a:xfrm>
      </p:grpSpPr>
      <p:sp>
        <p:nvSpPr>
          <p:cNvPr id="2" name="Shape 0"/>
          <p:cNvSpPr/>
          <p:nvPr/>
        </p:nvSpPr>
        <p:spPr>
          <a:xfrm>
            <a:off x="0" y="0"/>
            <a:ext cx="152396" cy="6858000"/>
          </a:xfrm>
          <a:prstGeom prst="rect">
            <a:avLst/>
          </a:prstGeom>
          <a:solidFill>
            <a:srgbClr val="E3AE2E"/>
          </a:solidFill>
          <a:ln w="12700">
            <a:solidFill>
              <a:srgbClr val="E3AE2E"/>
            </a:solidFill>
            <a:prstDash val="solid"/>
          </a:ln>
        </p:spPr>
        <p:txBody>
          <a:bodyPr/>
          <a:lstStyle/>
          <a:p>
            <a:endParaRPr lang="fr-FR"/>
          </a:p>
        </p:txBody>
      </p:sp>
      <p:sp>
        <p:nvSpPr>
          <p:cNvPr id="3" name="Text 1"/>
          <p:cNvSpPr/>
          <p:nvPr/>
        </p:nvSpPr>
        <p:spPr>
          <a:xfrm>
            <a:off x="812780" y="698500"/>
            <a:ext cx="3809905" cy="952500"/>
          </a:xfrm>
          <a:prstGeom prst="rect">
            <a:avLst/>
          </a:prstGeom>
          <a:noFill/>
          <a:ln/>
        </p:spPr>
        <p:txBody>
          <a:bodyPr wrap="square" rtlCol="0" anchor="ctr"/>
          <a:lstStyle/>
          <a:p>
            <a:pPr marL="0" indent="0">
              <a:buNone/>
            </a:pPr>
            <a:r>
              <a:rPr lang="en-US" sz="7200" b="1" dirty="0">
                <a:solidFill>
                  <a:srgbClr val="E3AE2E"/>
                </a:solidFill>
                <a:latin typeface="Segoe UI" pitchFamily="34" charset="0"/>
                <a:ea typeface="Segoe UI" pitchFamily="34" charset="-122"/>
                <a:cs typeface="Segoe UI" pitchFamily="34" charset="-120"/>
              </a:rPr>
              <a:t>01</a:t>
            </a:r>
            <a:endParaRPr lang="en-US" sz="7200" dirty="0"/>
          </a:p>
        </p:txBody>
      </p:sp>
      <p:sp>
        <p:nvSpPr>
          <p:cNvPr id="4" name="Text 2"/>
          <p:cNvSpPr/>
          <p:nvPr/>
        </p:nvSpPr>
        <p:spPr>
          <a:xfrm>
            <a:off x="812780" y="1714500"/>
            <a:ext cx="10477238" cy="635000"/>
          </a:xfrm>
          <a:prstGeom prst="rect">
            <a:avLst/>
          </a:prstGeom>
          <a:noFill/>
          <a:ln/>
        </p:spPr>
        <p:txBody>
          <a:bodyPr wrap="square" rtlCol="0" anchor="ctr">
            <a:normAutofit/>
          </a:bodyPr>
          <a:lstStyle/>
          <a:p>
            <a:pPr marL="0" indent="0">
              <a:buNone/>
            </a:pPr>
            <a:r>
              <a:rPr lang="en-US" sz="4000" b="1" dirty="0">
                <a:solidFill>
                  <a:srgbClr val="FCFCFA"/>
                </a:solidFill>
                <a:latin typeface="Segoe UI" pitchFamily="34" charset="0"/>
                <a:ea typeface="Segoe UI" pitchFamily="34" charset="-122"/>
                <a:cs typeface="Segoe UI" pitchFamily="34" charset="-120"/>
              </a:rPr>
              <a:t>Entrer</a:t>
            </a:r>
            <a:endParaRPr lang="en-US" sz="4000" dirty="0"/>
          </a:p>
        </p:txBody>
      </p:sp>
      <p:sp>
        <p:nvSpPr>
          <p:cNvPr id="5" name="Text 3"/>
          <p:cNvSpPr/>
          <p:nvPr/>
        </p:nvSpPr>
        <p:spPr>
          <a:xfrm>
            <a:off x="812780" y="2413000"/>
            <a:ext cx="10159746" cy="698500"/>
          </a:xfrm>
          <a:prstGeom prst="rect">
            <a:avLst/>
          </a:prstGeom>
          <a:noFill/>
          <a:ln/>
        </p:spPr>
        <p:txBody>
          <a:bodyPr wrap="square" rtlCol="0" anchor="t">
            <a:normAutofit/>
          </a:bodyPr>
          <a:lstStyle/>
          <a:p>
            <a:pPr marL="0" indent="0">
              <a:buNone/>
            </a:pPr>
            <a:r>
              <a:rPr lang="en-US" sz="1700" dirty="0">
                <a:solidFill>
                  <a:srgbClr val="C9D6E2"/>
                </a:solidFill>
                <a:latin typeface="Segoe UI" pitchFamily="34" charset="0"/>
                <a:ea typeface="Segoe UI" pitchFamily="34" charset="-122"/>
                <a:cs typeface="Segoe UI" pitchFamily="34" charset="-120"/>
              </a:rPr>
              <a:t>Chacun entre par la porte de son public, se connecte, et trouve à l’accueil ce que le circuit attend de lui, par ordre d’urgence.</a:t>
            </a:r>
            <a:endParaRPr lang="en-US" sz="1700" dirty="0"/>
          </a:p>
        </p:txBody>
      </p:sp>
      <p:sp>
        <p:nvSpPr>
          <p:cNvPr id="6" name="Text 4"/>
          <p:cNvSpPr/>
          <p:nvPr/>
        </p:nvSpPr>
        <p:spPr>
          <a:xfrm>
            <a:off x="812780" y="3429000"/>
            <a:ext cx="5079873" cy="228600"/>
          </a:xfrm>
          <a:prstGeom prst="rect">
            <a:avLst/>
          </a:prstGeom>
          <a:noFill/>
          <a:ln/>
        </p:spPr>
        <p:txBody>
          <a:bodyPr wrap="square" rtlCol="0" anchor="ctr"/>
          <a:lstStyle/>
          <a:p>
            <a:pPr marL="0" indent="0">
              <a:buNone/>
            </a:pPr>
            <a:r>
              <a:rPr lang="en-US" sz="1200" b="1" kern="0" spc="200" dirty="0">
                <a:solidFill>
                  <a:srgbClr val="E3AE2E"/>
                </a:solidFill>
                <a:latin typeface="Segoe UI" pitchFamily="34" charset="0"/>
                <a:ea typeface="Segoe UI" pitchFamily="34" charset="-122"/>
                <a:cs typeface="Segoe UI" pitchFamily="34" charset="-120"/>
              </a:rPr>
              <a:t>CE QUE CELA CHANGE</a:t>
            </a:r>
            <a:endParaRPr lang="en-US" sz="1200" dirty="0"/>
          </a:p>
        </p:txBody>
      </p:sp>
      <p:sp>
        <p:nvSpPr>
          <p:cNvPr id="7" name="Text 5"/>
          <p:cNvSpPr/>
          <p:nvPr/>
        </p:nvSpPr>
        <p:spPr>
          <a:xfrm>
            <a:off x="812780" y="3714750"/>
            <a:ext cx="10286743" cy="2413000"/>
          </a:xfrm>
          <a:prstGeom prst="rect">
            <a:avLst/>
          </a:prstGeom>
          <a:noFill/>
          <a:ln/>
        </p:spPr>
        <p:txBody>
          <a:bodyPr wrap="square" rtlCol="0" anchor="t">
            <a:normAutofit/>
          </a:bodyPr>
          <a:lstStyle/>
          <a:p>
            <a:pPr marL="203200" indent="-203200">
              <a:spcAft>
                <a:spcPts val="800"/>
              </a:spcAft>
              <a:buSzPct val="100000"/>
              <a:buChar char="•"/>
            </a:pPr>
            <a:r>
              <a:rPr lang="en-US" sz="1500" dirty="0">
                <a:solidFill>
                  <a:srgbClr val="FCFCFA"/>
                </a:solidFill>
                <a:latin typeface="Segoe UI" pitchFamily="34" charset="0"/>
                <a:ea typeface="Segoe UI" pitchFamily="34" charset="-122"/>
                <a:cs typeface="Segoe UI" pitchFamily="34" charset="-120"/>
              </a:rPr>
              <a:t>Une seule adresse pour trois publics — les autorités contractantes, la Commission, les entreprises — avec, pour chacun, ce qu’il peut y faire.</a:t>
            </a:r>
            <a:endParaRPr lang="en-US" sz="1500" dirty="0"/>
          </a:p>
          <a:p>
            <a:pPr marL="203200" indent="-203200">
              <a:spcAft>
                <a:spcPts val="800"/>
              </a:spcAft>
              <a:buSzPct val="100000"/>
              <a:buChar char="•"/>
            </a:pPr>
            <a:r>
              <a:rPr lang="en-US" sz="1500" dirty="0">
                <a:solidFill>
                  <a:srgbClr val="FCFCFA"/>
                </a:solidFill>
                <a:latin typeface="Segoe UI" pitchFamily="34" charset="0"/>
                <a:ea typeface="Segoe UI" pitchFamily="34" charset="-122"/>
                <a:cs typeface="Segoe UI" pitchFamily="34" charset="-120"/>
              </a:rPr>
              <a:t>Personne ne cherche son travail : à la connexion, l’écran « À faire » présente les dossiers qui attendent un geste, avec le délai qui court.</a:t>
            </a:r>
            <a:endParaRPr lang="en-US" sz="1500" dirty="0"/>
          </a:p>
          <a:p>
            <a:pPr marL="203200" indent="-203200">
              <a:spcAft>
                <a:spcPts val="800"/>
              </a:spcAft>
              <a:buSzPct val="100000"/>
              <a:buChar char="•"/>
            </a:pPr>
            <a:r>
              <a:rPr lang="en-US" sz="1500" dirty="0">
                <a:solidFill>
                  <a:srgbClr val="FCFCFA"/>
                </a:solidFill>
                <a:latin typeface="Segoe UI" pitchFamily="34" charset="0"/>
                <a:ea typeface="Segoe UI" pitchFamily="34" charset="-122"/>
                <a:cs typeface="Segoe UI" pitchFamily="34" charset="-120"/>
              </a:rPr>
              <a:t>Les comptes des autorités contractantes ne s’ouvrent qu’après vérification de l’arrêté de nomination par l’Administrateur ; chaque connexion est tracée.</a:t>
            </a:r>
            <a:endParaRPr lang="en-US" sz="1500" dirty="0"/>
          </a:p>
        </p:txBody>
      </p:sp>
      <p:sp>
        <p:nvSpPr>
          <p:cNvPr id="8"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8FA6BB"/>
                </a:solidFill>
                <a:latin typeface="Segoe UI" pitchFamily="34" charset="0"/>
                <a:ea typeface="Segoe UI" pitchFamily="34" charset="-122"/>
                <a:cs typeface="Segoe UI" pitchFamily="34" charset="-120"/>
              </a:rPr>
              <a:t>PRS 2.0 · L’application de bout en bout · dossier de recette · 6</a:t>
            </a:r>
            <a:endParaRPr lang="en-US" sz="1100" dirty="0"/>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name="Slide 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ENTRER · LE PARCOURS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De la porte d’entrée au premier geste</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Un visiteur arrive sur le portail public ; un utilisateur connecté arrive directement sur son travail du jour.</a:t>
            </a:r>
            <a:endParaRPr lang="en-US" sz="1300" dirty="0"/>
          </a:p>
        </p:txBody>
      </p:sp>
      <p:sp>
        <p:nvSpPr>
          <p:cNvPr id="5" name="Shape 3"/>
          <p:cNvSpPr/>
          <p:nvPr/>
        </p:nvSpPr>
        <p:spPr>
          <a:xfrm>
            <a:off x="812780"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6" name="Text 4"/>
          <p:cNvSpPr/>
          <p:nvPr/>
        </p:nvSpPr>
        <p:spPr>
          <a:xfrm>
            <a:off x="901677"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TOUT VISITEUR</a:t>
            </a:r>
            <a:endParaRPr lang="en-US" sz="1000" dirty="0"/>
          </a:p>
        </p:txBody>
      </p:sp>
      <p:sp>
        <p:nvSpPr>
          <p:cNvPr id="7" name="Text 5"/>
          <p:cNvSpPr/>
          <p:nvPr/>
        </p:nvSpPr>
        <p:spPr>
          <a:xfrm>
            <a:off x="901677"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Choisir son entrée</a:t>
            </a:r>
            <a:endParaRPr lang="en-US" sz="1400" dirty="0"/>
          </a:p>
        </p:txBody>
      </p:sp>
      <p:sp>
        <p:nvSpPr>
          <p:cNvPr id="8" name="Text 6"/>
          <p:cNvSpPr/>
          <p:nvPr/>
        </p:nvSpPr>
        <p:spPr>
          <a:xfrm>
            <a:off x="901677"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Le portail public présente l’application à la PRMP, à la Commission ou à l’entreprise.</a:t>
            </a:r>
            <a:endParaRPr lang="en-US" sz="1150" dirty="0"/>
          </a:p>
        </p:txBody>
      </p:sp>
      <p:sp>
        <p:nvSpPr>
          <p:cNvPr id="9" name="Text 7"/>
          <p:cNvSpPr/>
          <p:nvPr/>
        </p:nvSpPr>
        <p:spPr>
          <a:xfrm>
            <a:off x="2444689"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10" name="Shape 8"/>
          <p:cNvSpPr/>
          <p:nvPr/>
        </p:nvSpPr>
        <p:spPr>
          <a:xfrm>
            <a:off x="2597085"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11" name="Text 9"/>
          <p:cNvSpPr/>
          <p:nvPr/>
        </p:nvSpPr>
        <p:spPr>
          <a:xfrm>
            <a:off x="2685983"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PRMP</a:t>
            </a:r>
            <a:endParaRPr lang="en-US" sz="1000" dirty="0"/>
          </a:p>
        </p:txBody>
      </p:sp>
      <p:sp>
        <p:nvSpPr>
          <p:cNvPr id="12" name="Text 10"/>
          <p:cNvSpPr/>
          <p:nvPr/>
        </p:nvSpPr>
        <p:spPr>
          <a:xfrm>
            <a:off x="2685983"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Demander un compte</a:t>
            </a:r>
            <a:endParaRPr lang="en-US" sz="1400" dirty="0"/>
          </a:p>
        </p:txBody>
      </p:sp>
      <p:sp>
        <p:nvSpPr>
          <p:cNvPr id="13" name="Text 11"/>
          <p:cNvSpPr/>
          <p:nvPr/>
        </p:nvSpPr>
        <p:spPr>
          <a:xfrm>
            <a:off x="2685983"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La PRMP s’inscrit avec son arrêté de nomination ; elle crée ensuite le compte de son UGPM.</a:t>
            </a:r>
            <a:endParaRPr lang="en-US" sz="1150" dirty="0"/>
          </a:p>
        </p:txBody>
      </p:sp>
      <p:sp>
        <p:nvSpPr>
          <p:cNvPr id="14" name="Text 12"/>
          <p:cNvSpPr/>
          <p:nvPr/>
        </p:nvSpPr>
        <p:spPr>
          <a:xfrm>
            <a:off x="4228994"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15" name="Shape 13"/>
          <p:cNvSpPr/>
          <p:nvPr/>
        </p:nvSpPr>
        <p:spPr>
          <a:xfrm>
            <a:off x="4381390"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16" name="Text 14"/>
          <p:cNvSpPr/>
          <p:nvPr/>
        </p:nvSpPr>
        <p:spPr>
          <a:xfrm>
            <a:off x="4470288"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ADMINISTRATEUR</a:t>
            </a:r>
            <a:endParaRPr lang="en-US" sz="1000" dirty="0"/>
          </a:p>
        </p:txBody>
      </p:sp>
      <p:sp>
        <p:nvSpPr>
          <p:cNvPr id="17" name="Text 15"/>
          <p:cNvSpPr/>
          <p:nvPr/>
        </p:nvSpPr>
        <p:spPr>
          <a:xfrm>
            <a:off x="4470288"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Valider le compte</a:t>
            </a:r>
            <a:endParaRPr lang="en-US" sz="1400" dirty="0"/>
          </a:p>
        </p:txBody>
      </p:sp>
      <p:sp>
        <p:nvSpPr>
          <p:cNvPr id="18" name="Text 16"/>
          <p:cNvSpPr/>
          <p:nvPr/>
        </p:nvSpPr>
        <p:spPr>
          <a:xfrm>
            <a:off x="4470288"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L’Administrateur vérifie l’arrêté et rattache les entités contractantes.</a:t>
            </a:r>
            <a:endParaRPr lang="en-US" sz="1150" dirty="0"/>
          </a:p>
        </p:txBody>
      </p:sp>
      <p:sp>
        <p:nvSpPr>
          <p:cNvPr id="19" name="Text 17"/>
          <p:cNvSpPr/>
          <p:nvPr/>
        </p:nvSpPr>
        <p:spPr>
          <a:xfrm>
            <a:off x="6013300"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20" name="Shape 18"/>
          <p:cNvSpPr/>
          <p:nvPr/>
        </p:nvSpPr>
        <p:spPr>
          <a:xfrm>
            <a:off x="6165696"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21" name="Text 19"/>
          <p:cNvSpPr/>
          <p:nvPr/>
        </p:nvSpPr>
        <p:spPr>
          <a:xfrm>
            <a:off x="6254594"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TOUS LES PROFILS</a:t>
            </a:r>
            <a:endParaRPr lang="en-US" sz="1000" dirty="0"/>
          </a:p>
        </p:txBody>
      </p:sp>
      <p:sp>
        <p:nvSpPr>
          <p:cNvPr id="22" name="Text 20"/>
          <p:cNvSpPr/>
          <p:nvPr/>
        </p:nvSpPr>
        <p:spPr>
          <a:xfrm>
            <a:off x="6254594"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Se connecter</a:t>
            </a:r>
            <a:endParaRPr lang="en-US" sz="1400" dirty="0"/>
          </a:p>
        </p:txBody>
      </p:sp>
      <p:sp>
        <p:nvSpPr>
          <p:cNvPr id="23" name="Text 21"/>
          <p:cNvSpPr/>
          <p:nvPr/>
        </p:nvSpPr>
        <p:spPr>
          <a:xfrm>
            <a:off x="6254594"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Identifiant et mot de passe ; la session est protégée et chaque tentative journalisée.</a:t>
            </a:r>
            <a:endParaRPr lang="en-US" sz="1150" dirty="0"/>
          </a:p>
        </p:txBody>
      </p:sp>
      <p:sp>
        <p:nvSpPr>
          <p:cNvPr id="24" name="Text 22"/>
          <p:cNvSpPr/>
          <p:nvPr/>
        </p:nvSpPr>
        <p:spPr>
          <a:xfrm>
            <a:off x="7797605"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25" name="Shape 23"/>
          <p:cNvSpPr/>
          <p:nvPr/>
        </p:nvSpPr>
        <p:spPr>
          <a:xfrm>
            <a:off x="7950001"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26" name="Text 24"/>
          <p:cNvSpPr/>
          <p:nvPr/>
        </p:nvSpPr>
        <p:spPr>
          <a:xfrm>
            <a:off x="8038899"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PROFILS DU CIRCUIT</a:t>
            </a:r>
            <a:endParaRPr lang="en-US" sz="1000" dirty="0"/>
          </a:p>
        </p:txBody>
      </p:sp>
      <p:sp>
        <p:nvSpPr>
          <p:cNvPr id="27" name="Text 25"/>
          <p:cNvSpPr/>
          <p:nvPr/>
        </p:nvSpPr>
        <p:spPr>
          <a:xfrm>
            <a:off x="8038899"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Lire l’accueil « À faire »</a:t>
            </a:r>
            <a:endParaRPr lang="en-US" sz="1400" dirty="0"/>
          </a:p>
        </p:txBody>
      </p:sp>
      <p:sp>
        <p:nvSpPr>
          <p:cNvPr id="28" name="Text 26"/>
          <p:cNvSpPr/>
          <p:nvPr/>
        </p:nvSpPr>
        <p:spPr>
          <a:xfrm>
            <a:off x="8038899"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Les dossiers qui attendent un geste, triés par urgence, avec le délai restant.</a:t>
            </a:r>
            <a:endParaRPr lang="en-US" sz="1150" dirty="0"/>
          </a:p>
        </p:txBody>
      </p:sp>
      <p:sp>
        <p:nvSpPr>
          <p:cNvPr id="29" name="Text 27"/>
          <p:cNvSpPr/>
          <p:nvPr/>
        </p:nvSpPr>
        <p:spPr>
          <a:xfrm>
            <a:off x="9581910"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30" name="Shape 28"/>
          <p:cNvSpPr/>
          <p:nvPr/>
        </p:nvSpPr>
        <p:spPr>
          <a:xfrm>
            <a:off x="9734307" y="1778000"/>
            <a:ext cx="1644609" cy="1905000"/>
          </a:xfrm>
          <a:prstGeom prst="roundRect">
            <a:avLst>
              <a:gd name="adj" fmla="val 3336"/>
            </a:avLst>
          </a:prstGeom>
          <a:solidFill>
            <a:srgbClr val="12324A"/>
          </a:solidFill>
          <a:ln w="19050">
            <a:solidFill>
              <a:srgbClr val="12324A"/>
            </a:solidFill>
            <a:prstDash val="solid"/>
          </a:ln>
        </p:spPr>
        <p:txBody>
          <a:bodyPr/>
          <a:lstStyle/>
          <a:p>
            <a:endParaRPr lang="fr-FR"/>
          </a:p>
        </p:txBody>
      </p:sp>
      <p:sp>
        <p:nvSpPr>
          <p:cNvPr id="31" name="Text 29"/>
          <p:cNvSpPr/>
          <p:nvPr/>
        </p:nvSpPr>
        <p:spPr>
          <a:xfrm>
            <a:off x="9823204" y="1866900"/>
            <a:ext cx="1466813" cy="215900"/>
          </a:xfrm>
          <a:prstGeom prst="rect">
            <a:avLst/>
          </a:prstGeom>
          <a:noFill/>
          <a:ln/>
        </p:spPr>
        <p:txBody>
          <a:bodyPr wrap="square" rtlCol="0" anchor="ctr">
            <a:normAutofit/>
          </a:bodyPr>
          <a:lstStyle/>
          <a:p>
            <a:pPr marL="0" indent="0">
              <a:buNone/>
            </a:pPr>
            <a:r>
              <a:rPr lang="en-US" sz="1000" b="1" dirty="0">
                <a:solidFill>
                  <a:srgbClr val="E3AE2E"/>
                </a:solidFill>
                <a:latin typeface="Segoe UI" pitchFamily="34" charset="0"/>
                <a:ea typeface="Segoe UI" pitchFamily="34" charset="-122"/>
                <a:cs typeface="Segoe UI" pitchFamily="34" charset="-120"/>
              </a:rPr>
              <a:t>TOUS LES PROFILS</a:t>
            </a:r>
            <a:endParaRPr lang="en-US" sz="1000" dirty="0"/>
          </a:p>
        </p:txBody>
      </p:sp>
      <p:sp>
        <p:nvSpPr>
          <p:cNvPr id="32" name="Text 30"/>
          <p:cNvSpPr/>
          <p:nvPr/>
        </p:nvSpPr>
        <p:spPr>
          <a:xfrm>
            <a:off x="9823204" y="2095500"/>
            <a:ext cx="1466813" cy="508000"/>
          </a:xfrm>
          <a:prstGeom prst="rect">
            <a:avLst/>
          </a:prstGeom>
          <a:noFill/>
          <a:ln/>
        </p:spPr>
        <p:txBody>
          <a:bodyPr wrap="square" rtlCol="0" anchor="t">
            <a:normAutofit/>
          </a:bodyPr>
          <a:lstStyle/>
          <a:p>
            <a:pPr marL="0" indent="0">
              <a:buNone/>
            </a:pPr>
            <a:r>
              <a:rPr lang="en-US" sz="1400" b="1" dirty="0">
                <a:solidFill>
                  <a:srgbClr val="FCFCFA"/>
                </a:solidFill>
                <a:latin typeface="Segoe UI" pitchFamily="34" charset="0"/>
                <a:ea typeface="Segoe UI" pitchFamily="34" charset="-122"/>
                <a:cs typeface="Segoe UI" pitchFamily="34" charset="-120"/>
              </a:rPr>
              <a:t>Agir depuis l’accueil ou une notification</a:t>
            </a:r>
            <a:endParaRPr lang="en-US" sz="1400" dirty="0"/>
          </a:p>
        </p:txBody>
      </p:sp>
      <p:sp>
        <p:nvSpPr>
          <p:cNvPr id="33" name="Text 31"/>
          <p:cNvSpPr/>
          <p:nvPr/>
        </p:nvSpPr>
        <p:spPr>
          <a:xfrm>
            <a:off x="9823204" y="2603500"/>
            <a:ext cx="1466813" cy="1016000"/>
          </a:xfrm>
          <a:prstGeom prst="rect">
            <a:avLst/>
          </a:prstGeom>
          <a:noFill/>
          <a:ln/>
        </p:spPr>
        <p:txBody>
          <a:bodyPr wrap="square" rtlCol="0" anchor="t">
            <a:normAutofit/>
          </a:bodyPr>
          <a:lstStyle/>
          <a:p>
            <a:pPr marL="0" indent="0">
              <a:buNone/>
            </a:pPr>
            <a:r>
              <a:rPr lang="en-US" sz="1150" dirty="0">
                <a:solidFill>
                  <a:srgbClr val="C9D6E2"/>
                </a:solidFill>
                <a:latin typeface="Segoe UI" pitchFamily="34" charset="0"/>
                <a:ea typeface="Segoe UI" pitchFamily="34" charset="-122"/>
                <a:cs typeface="Segoe UI" pitchFamily="34" charset="-120"/>
              </a:rPr>
              <a:t>Un clic mène au dossier et au geste attendu.</a:t>
            </a:r>
            <a:endParaRPr lang="en-US" sz="1150" dirty="0"/>
          </a:p>
        </p:txBody>
      </p:sp>
      <p:sp>
        <p:nvSpPr>
          <p:cNvPr id="34" name="Text 3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7</a:t>
            </a:r>
            <a:endParaRPr lang="en-US" sz="1100" dirty="0"/>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name="Slide 8">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ENTRER</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Une entrée publique par public</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Avant toute connexion, le portail explique à chacun ce que l’application lui permet. La racine du site y mène ; un utilisateur déjà connecté est renvoyé directement à son travail.</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8</a:t>
            </a:r>
            <a:endParaRPr lang="en-US" sz="1100" dirty="0"/>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name="Slide 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PUBLIC · PRMP ET UGPM</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portail public : PRMP et UGPM</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 portail public : PRMP et UGPM"/>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Toute autorité contractante, sans compte.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Trois gestes et rien d’autre : </a:t>
            </a:r>
            <a:r>
              <a:rPr lang="en-US" sz="1200" b="1" dirty="0">
                <a:solidFill>
                  <a:srgbClr val="1B2A3A"/>
                </a:solidFill>
                <a:latin typeface="Segoe UI" pitchFamily="34" charset="0"/>
                <a:ea typeface="Segoe UI" pitchFamily="34" charset="-122"/>
                <a:cs typeface="Segoe UI" pitchFamily="34" charset="-120"/>
              </a:rPr>
              <a:t>déposer</a:t>
            </a:r>
            <a:r>
              <a:rPr lang="en-US" sz="1200" dirty="0">
                <a:solidFill>
                  <a:srgbClr val="1B2A3A"/>
                </a:solidFill>
                <a:latin typeface="Segoe UI" pitchFamily="34" charset="0"/>
                <a:ea typeface="Segoe UI" pitchFamily="34" charset="-122"/>
                <a:cs typeface="Segoe UI" pitchFamily="34" charset="-120"/>
              </a:rPr>
              <a:t> son plan de passation, </a:t>
            </a:r>
            <a:r>
              <a:rPr lang="en-US" sz="1200" b="1" dirty="0">
                <a:solidFill>
                  <a:srgbClr val="1B2A3A"/>
                </a:solidFill>
                <a:latin typeface="Segoe UI" pitchFamily="34" charset="0"/>
                <a:ea typeface="Segoe UI" pitchFamily="34" charset="-122"/>
                <a:cs typeface="Segoe UI" pitchFamily="34" charset="-120"/>
              </a:rPr>
              <a:t>suivre</a:t>
            </a:r>
            <a:r>
              <a:rPr lang="en-US" sz="1200" dirty="0">
                <a:solidFill>
                  <a:srgbClr val="1B2A3A"/>
                </a:solidFill>
                <a:latin typeface="Segoe UI" pitchFamily="34" charset="0"/>
                <a:ea typeface="Segoe UI" pitchFamily="34" charset="-122"/>
                <a:cs typeface="Segoe UI" pitchFamily="34" charset="-120"/>
              </a:rPr>
              <a:t> son contrôle, </a:t>
            </a:r>
            <a:r>
              <a:rPr lang="en-US" sz="1200" b="1" dirty="0">
                <a:solidFill>
                  <a:srgbClr val="1B2A3A"/>
                </a:solidFill>
                <a:latin typeface="Segoe UI" pitchFamily="34" charset="0"/>
                <a:ea typeface="Segoe UI" pitchFamily="34" charset="-122"/>
                <a:cs typeface="Segoe UI" pitchFamily="34" charset="-120"/>
              </a:rPr>
              <a:t>consulter</a:t>
            </a:r>
            <a:r>
              <a:rPr lang="en-US" sz="1200" dirty="0">
                <a:solidFill>
                  <a:srgbClr val="1B2A3A"/>
                </a:solidFill>
                <a:latin typeface="Segoe UI" pitchFamily="34" charset="0"/>
                <a:ea typeface="Segoe UI" pitchFamily="34" charset="-122"/>
                <a:cs typeface="Segoe UI" pitchFamily="34" charset="-120"/>
              </a:rPr>
              <a:t> les PV définitifs.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chiffres clés : sept étapes suivies, une version par mise à jour, aucun papier pour les PV et les lettres de renvoi.</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 Se connecter » ou « Créer un compte PRMP » ; les mots soulignés mènent à l’écran qu’ils nomment.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RG-ENT-05 · RG-ENT-08 · RG-ENT-09 · RG-ENT-10 · RG-ENT-14 · RG-ENT-26</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9</a:t>
            </a:r>
            <a:endParaRPr lang="en-US" sz="1100" dirty="0"/>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name="Slide 1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PUBLIC · COMMISSION</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portail public : la Commission</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 portail public : la Commission"/>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Les membres de la Commission, avant connexion.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 Votre travail du jour, sans rien chercher » : l’accueil « À faire » et la page guidée de chaque dossier.</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circuit en trois temps : </a:t>
            </a:r>
            <a:r>
              <a:rPr lang="en-US" sz="1200" b="1" dirty="0">
                <a:solidFill>
                  <a:srgbClr val="1B2A3A"/>
                </a:solidFill>
                <a:latin typeface="Segoe UI" pitchFamily="34" charset="0"/>
                <a:ea typeface="Segoe UI" pitchFamily="34" charset="-122"/>
                <a:cs typeface="Segoe UI" pitchFamily="34" charset="-120"/>
              </a:rPr>
              <a:t>recevoir et dispatcher</a:t>
            </a:r>
            <a:r>
              <a:rPr lang="en-US" sz="1200" dirty="0">
                <a:solidFill>
                  <a:srgbClr val="1B2A3A"/>
                </a:solidFill>
                <a:latin typeface="Segoe UI" pitchFamily="34" charset="0"/>
                <a:ea typeface="Segoe UI" pitchFamily="34" charset="-122"/>
                <a:cs typeface="Segoe UI" pitchFamily="34" charset="-120"/>
              </a:rPr>
              <a:t>, </a:t>
            </a:r>
            <a:r>
              <a:rPr lang="en-US" sz="1200" b="1" dirty="0">
                <a:solidFill>
                  <a:srgbClr val="1B2A3A"/>
                </a:solidFill>
                <a:latin typeface="Segoe UI" pitchFamily="34" charset="0"/>
                <a:ea typeface="Segoe UI" pitchFamily="34" charset="-122"/>
                <a:cs typeface="Segoe UI" pitchFamily="34" charset="-120"/>
              </a:rPr>
              <a:t>examiner et viser</a:t>
            </a:r>
            <a:r>
              <a:rPr lang="en-US" sz="1200" dirty="0">
                <a:solidFill>
                  <a:srgbClr val="1B2A3A"/>
                </a:solidFill>
                <a:latin typeface="Segoe UI" pitchFamily="34" charset="0"/>
                <a:ea typeface="Segoe UI" pitchFamily="34" charset="-122"/>
                <a:cs typeface="Segoe UI" pitchFamily="34" charset="-120"/>
              </a:rPr>
              <a:t>, </a:t>
            </a:r>
            <a:r>
              <a:rPr lang="en-US" sz="1200" b="1" dirty="0">
                <a:solidFill>
                  <a:srgbClr val="1B2A3A"/>
                </a:solidFill>
                <a:latin typeface="Segoe UI" pitchFamily="34" charset="0"/>
                <a:ea typeface="Segoe UI" pitchFamily="34" charset="-122"/>
                <a:cs typeface="Segoe UI" pitchFamily="34" charset="-120"/>
              </a:rPr>
              <a:t>vérifier et clore</a:t>
            </a:r>
            <a:r>
              <a:rPr lang="en-US" sz="1200" dirty="0">
                <a:solidFill>
                  <a:srgbClr val="1B2A3A"/>
                </a:solidFill>
                <a:latin typeface="Segoe UI" pitchFamily="34" charset="0"/>
                <a:ea typeface="Segoe UI" pitchFamily="34" charset="-122"/>
                <a:cs typeface="Segoe UI" pitchFamily="34" charset="-120"/>
              </a:rPr>
              <a: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Dix profils, une page par dossier pour tous, et deux personnes distinctes pour signer chaque PV.</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RG-ENT-12 · RG-ENT-13 · RG-ENT-26</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10</a:t>
            </a:r>
            <a:endParaRPr lang="en-US" sz="1100" dirty="0"/>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name="Slide 1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PUBLIC · ENTREPRISES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portail public : les entreprises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 portail public : les entreprise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Les entreprises candidates.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procédures ouvertes se consultent </a:t>
            </a:r>
            <a:r>
              <a:rPr lang="en-US" sz="1200" b="1" dirty="0">
                <a:solidFill>
                  <a:srgbClr val="1B2A3A"/>
                </a:solidFill>
                <a:latin typeface="Segoe UI" pitchFamily="34" charset="0"/>
                <a:ea typeface="Segoe UI" pitchFamily="34" charset="-122"/>
                <a:cs typeface="Segoe UI" pitchFamily="34" charset="-120"/>
              </a:rPr>
              <a:t>sans compte</a:t>
            </a:r>
            <a:r>
              <a:rPr lang="en-US" sz="1200" dirty="0">
                <a:solidFill>
                  <a:srgbClr val="1B2A3A"/>
                </a:solidFill>
                <a:latin typeface="Segoe UI" pitchFamily="34" charset="0"/>
                <a:ea typeface="Segoe UI" pitchFamily="34" charset="-122"/>
                <a:cs typeface="Segoe UI" pitchFamily="34" charset="-120"/>
              </a:rPr>
              <a:t> ; un compte confirmé permet de retirer le dossier d’appel d’offres.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 compte par entreprise (un NIF, un STAT, un RCS), confirmé par un code reçu par courriel.</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L’offre, chiffrée sur le poste du candidat, ne s’ouvre qu’en séance, à l’heure prévue (voir la partie 06).</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RG-ENT-26</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11</a:t>
            </a:r>
            <a:endParaRPr lang="en-US" sz="1100" dirty="0"/>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name="Slide 12">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ENTRER</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Des comptes vérifiés, une session protégée</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Le compte d’une PRMP ne s’ouvre qu’après contrôle de son acte de nomination ; la connexion et le mot de passe obéissent à des règles uniformes.</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12</a:t>
            </a:r>
            <a:endParaRPr lang="en-US" sz="1100" dirty="0"/>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name="Slide 1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PUBLIC</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connexion</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a connexion"/>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Tous les profils.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Identifiant (ou adresse électronique) et mot de passe. La session est portée par un </a:t>
            </a:r>
            <a:r>
              <a:rPr lang="en-US" sz="1200" b="1" dirty="0">
                <a:solidFill>
                  <a:srgbClr val="1B2A3A"/>
                </a:solidFill>
                <a:latin typeface="Segoe UI" pitchFamily="34" charset="0"/>
                <a:ea typeface="Segoe UI" pitchFamily="34" charset="-122"/>
                <a:cs typeface="Segoe UI" pitchFamily="34" charset="-120"/>
              </a:rPr>
              <a:t>témoin sécurisé</a:t>
            </a:r>
            <a:r>
              <a:rPr lang="en-US" sz="1200" dirty="0">
                <a:solidFill>
                  <a:srgbClr val="1B2A3A"/>
                </a:solidFill>
                <a:latin typeface="Segoe UI" pitchFamily="34" charset="0"/>
                <a:ea typeface="Segoe UI" pitchFamily="34" charset="-122"/>
                <a:cs typeface="Segoe UI" pitchFamily="34" charset="-120"/>
              </a:rPr>
              <a:t> : rien n’est conservé dans le navigateur qui permettrait de la dérober.</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tentatives répétées sont freinées, et chacune est inscrite au journal des connexions.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Liens vers l’inscription d’une PRMP, l’inscription d’un candidat et le portail public.</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RG-ENT-01 · RG-ENT-02 · RG-ENT-03 · RG-ENT-04 · RG-ENT-27</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13</a:t>
            </a:r>
            <a:endParaRPr lang="en-US" sz="1100" dirty="0"/>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name="Slide 1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PUBLIC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L’inscription d’une PRMP</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inscription d’une PRMP"/>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elle-même.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Identité, référence et date de l’</a:t>
            </a:r>
            <a:r>
              <a:rPr lang="en-US" sz="1200" b="1" dirty="0">
                <a:solidFill>
                  <a:srgbClr val="1B2A3A"/>
                </a:solidFill>
                <a:latin typeface="Segoe UI" pitchFamily="34" charset="0"/>
                <a:ea typeface="Segoe UI" pitchFamily="34" charset="-122"/>
                <a:cs typeface="Segoe UI" pitchFamily="34" charset="-120"/>
              </a:rPr>
              <a:t>arrêté de nomination</a:t>
            </a:r>
            <a:r>
              <a:rPr lang="en-US" sz="1200" dirty="0">
                <a:solidFill>
                  <a:srgbClr val="1B2A3A"/>
                </a:solidFill>
                <a:latin typeface="Segoe UI" pitchFamily="34" charset="0"/>
                <a:ea typeface="Segoe UI" pitchFamily="34" charset="-122"/>
                <a:cs typeface="Segoe UI" pitchFamily="34" charset="-120"/>
              </a:rPr>
              <a:t>, CIN ; l’arrêté (10 Mo au plus) et la CIN sont joints en PDF, JPEG ou PNG.</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entités contractantes sont choisies dans la liste, ou proposées si elles n’y figurent pas.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compte naît </a:t>
            </a:r>
            <a:r>
              <a:rPr lang="en-US" sz="1200" b="1" dirty="0">
                <a:solidFill>
                  <a:srgbClr val="1B2A3A"/>
                </a:solidFill>
                <a:latin typeface="Segoe UI" pitchFamily="34" charset="0"/>
                <a:ea typeface="Segoe UI" pitchFamily="34" charset="-122"/>
                <a:cs typeface="Segoe UI" pitchFamily="34" charset="-120"/>
              </a:rPr>
              <a:t>en attente</a:t>
            </a:r>
            <a:r>
              <a:rPr lang="en-US" sz="1200" dirty="0">
                <a:solidFill>
                  <a:srgbClr val="1B2A3A"/>
                </a:solidFill>
                <a:latin typeface="Segoe UI" pitchFamily="34" charset="0"/>
                <a:ea typeface="Segoe UI" pitchFamily="34" charset="-122"/>
                <a:cs typeface="Segoe UI" pitchFamily="34" charset="-120"/>
              </a:rPr>
              <a:t> : l’Administrateur le valide dans « Demandes d’accès ».</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RG-ENT-02 · RG-ENT-03 · RG-ENT-05 · RG-ENT-06 · RG-ENT-07 · RG-ENT-08</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14</a:t>
            </a:r>
            <a:endParaRPr lang="en-US" sz="1100" dirty="0"/>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name="Slide 1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COMPTES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Créer le compte de son UGPM</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Créer le compte de son UGPM"/>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depuis son espace.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L’UGPM est créée </a:t>
            </a:r>
            <a:r>
              <a:rPr lang="en-US" sz="1200" b="1" dirty="0">
                <a:solidFill>
                  <a:srgbClr val="1B2A3A"/>
                </a:solidFill>
                <a:latin typeface="Segoe UI" pitchFamily="34" charset="0"/>
                <a:ea typeface="Segoe UI" pitchFamily="34" charset="-122"/>
                <a:cs typeface="Segoe UI" pitchFamily="34" charset="-120"/>
              </a:rPr>
              <a:t>sous sa PRMP de tutelle</a:t>
            </a:r>
            <a:r>
              <a:rPr lang="en-US" sz="1200" dirty="0">
                <a:solidFill>
                  <a:srgbClr val="1B2A3A"/>
                </a:solidFill>
                <a:latin typeface="Segoe UI" pitchFamily="34" charset="0"/>
                <a:ea typeface="Segoe UI" pitchFamily="34" charset="-122"/>
                <a:cs typeface="Segoe UI" pitchFamily="34" charset="-120"/>
              </a:rPr>
              <a:t> : identité, CIN jointe, photo facultative.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Son compte reste en attente jusqu’à la validation de l’Administrateur.</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L’UGPM prépare les dossiers ; la PRMP seule les engage.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RG-ENT-09 · RG-ENT-10</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15</a:t>
            </a:r>
            <a:endParaRPr lang="en-US" sz="1100" dirty="0"/>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name="Slide 1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COMPTES · TOUS LES PROFILS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Changer son mot de passe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Changer son mot de pass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Tout utilisateur connecté, depuis la barre du haut.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L’ancien mot de passe est exigé ; le nouveau compte au moins </a:t>
            </a:r>
            <a:r>
              <a:rPr lang="en-US" sz="1200" b="1" dirty="0">
                <a:solidFill>
                  <a:srgbClr val="1B2A3A"/>
                </a:solidFill>
                <a:latin typeface="Segoe UI" pitchFamily="34" charset="0"/>
                <a:ea typeface="Segoe UI" pitchFamily="34" charset="-122"/>
                <a:cs typeface="Segoe UI" pitchFamily="34" charset="-120"/>
              </a:rPr>
              <a:t>8 caractères</a:t>
            </a:r>
            <a:r>
              <a:rPr lang="en-US" sz="1200" dirty="0">
                <a:solidFill>
                  <a:srgbClr val="1B2A3A"/>
                </a:solidFill>
                <a:latin typeface="Segoe UI" pitchFamily="34" charset="0"/>
                <a:ea typeface="Segoe UI" pitchFamily="34" charset="-122"/>
                <a:cs typeface="Segoe UI" pitchFamily="34" charset="-120"/>
              </a:rPr>
              <a:t>, dont une lettre et un chiffre, et se saisit deux fois.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fenêtre se ferme par « Annuler », par sa croix ou par Échap.</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Mot de passe oublié : l’Administrateur le réinitialise.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RG-ENT-03 · RG-ENT-27</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16</a:t>
            </a:r>
            <a:endParaRPr lang="en-US" sz="1100" dirty="0"/>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name="Slide 17">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ENTRER</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L’accueil « À faire » : le travail du jour</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Chaque profil du circuit arrive sur la même page : les gestes qui l’attendent, classés par urgence, et à droite le dossier choisi avec sa frise et son geste principal.</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17</a:t>
            </a:r>
            <a:endParaRPr lang="en-US" sz="1100" dirty="0"/>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name="Slide 1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ACCUEIL · TOUS LES PROFILS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Une actualité à l’ouverture</a:t>
            </a:r>
            <a:endParaRPr lang="en-US" sz="2600" dirty="0"/>
          </a:p>
        </p:txBody>
      </p:sp>
      <p:sp>
        <p:nvSpPr>
          <p:cNvPr id="4" name="Shape 2"/>
          <p:cNvSpPr/>
          <p:nvPr/>
        </p:nvSpPr>
        <p:spPr>
          <a:xfrm>
            <a:off x="800080" y="1193800"/>
            <a:ext cx="7327717" cy="4589463"/>
          </a:xfrm>
          <a:prstGeom prst="rect">
            <a:avLst/>
          </a:prstGeom>
          <a:solidFill>
            <a:srgbClr val="FCFCFA"/>
          </a:solidFill>
          <a:ln w="9525">
            <a:solidFill>
              <a:srgbClr val="D5DCE4"/>
            </a:solidFill>
            <a:prstDash val="solid"/>
          </a:ln>
        </p:spPr>
        <p:txBody>
          <a:bodyPr/>
          <a:lstStyle/>
          <a:p>
            <a:endParaRPr lang="fr-FR"/>
          </a:p>
        </p:txBody>
      </p:sp>
      <p:pic>
        <p:nvPicPr>
          <p:cNvPr id="5" name="Image 0" descr="Une actualité à l’ouverture"/>
          <p:cNvPicPr>
            <a:picLocks noChangeAspect="1"/>
          </p:cNvPicPr>
          <p:nvPr/>
        </p:nvPicPr>
        <p:blipFill>
          <a:blip r:embed="rId3"/>
          <a:stretch>
            <a:fillRect/>
          </a:stretch>
        </p:blipFill>
        <p:spPr>
          <a:xfrm>
            <a:off x="812780" y="1206500"/>
            <a:ext cx="7302317" cy="4564063"/>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Les profils ciblés par l’Administrateur.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L’Administrateur publie des </a:t>
            </a:r>
            <a:r>
              <a:rPr lang="en-US" sz="1200" b="1" dirty="0">
                <a:solidFill>
                  <a:srgbClr val="1B2A3A"/>
                </a:solidFill>
                <a:latin typeface="Segoe UI" pitchFamily="34" charset="0"/>
                <a:ea typeface="Segoe UI" pitchFamily="34" charset="-122"/>
                <a:cs typeface="Segoe UI" pitchFamily="34" charset="-120"/>
              </a:rPr>
              <a:t>actualités ciblées par profil</a:t>
            </a:r>
            <a:r>
              <a:rPr lang="en-US" sz="1200" dirty="0">
                <a:solidFill>
                  <a:srgbClr val="1B2A3A"/>
                </a:solidFill>
                <a:latin typeface="Segoe UI" pitchFamily="34" charset="0"/>
                <a:ea typeface="Segoe UI" pitchFamily="34" charset="-122"/>
                <a:cs typeface="Segoe UI" pitchFamily="34" charset="-120"/>
              </a:rPr>
              <a:t> : rappel de règles, consignes de dépôt, fermeture technique.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Ici, ce que la Commission attend d’un dossier de planification.</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fenêtre se ferme par sa croix ou par Échap.</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RG-ENT-21</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18</a:t>
            </a:r>
            <a:endParaRPr lang="en-US" sz="1100" dirty="0"/>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name="Slide 1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ACCUEIL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L’accueil « À faire » de la PRMP</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accueil « À faire » de la PRMP"/>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(et son UGPM).</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En tête, ses </a:t>
            </a:r>
            <a:r>
              <a:rPr lang="en-US" sz="1200" b="1" dirty="0">
                <a:solidFill>
                  <a:srgbClr val="1B2A3A"/>
                </a:solidFill>
                <a:latin typeface="Segoe UI" pitchFamily="34" charset="0"/>
                <a:ea typeface="Segoe UI" pitchFamily="34" charset="-122"/>
                <a:cs typeface="Segoe UI" pitchFamily="34" charset="-120"/>
              </a:rPr>
              <a:t>brouillons à soumettre</a:t>
            </a:r>
            <a:r>
              <a:rPr lang="en-US" sz="1200" dirty="0">
                <a:solidFill>
                  <a:srgbClr val="1B2A3A"/>
                </a:solidFill>
                <a:latin typeface="Segoe UI" pitchFamily="34" charset="0"/>
                <a:ea typeface="Segoe UI" pitchFamily="34" charset="-122"/>
                <a:cs typeface="Segoe UI" pitchFamily="34" charset="-120"/>
              </a:rPr>
              <a:t> ; en dessous, ses dossiers </a:t>
            </a:r>
            <a:r>
              <a:rPr lang="en-US" sz="1200" b="1" dirty="0">
                <a:solidFill>
                  <a:srgbClr val="1B2A3A"/>
                </a:solidFill>
                <a:latin typeface="Segoe UI" pitchFamily="34" charset="0"/>
                <a:ea typeface="Segoe UI" pitchFamily="34" charset="-122"/>
                <a:cs typeface="Segoe UI" pitchFamily="34" charset="-120"/>
              </a:rPr>
              <a:t>en cours à la Commission</a:t>
            </a:r>
            <a:r>
              <a:rPr lang="en-US" sz="1200" dirty="0">
                <a:solidFill>
                  <a:srgbClr val="1B2A3A"/>
                </a:solidFill>
                <a:latin typeface="Segoe UI" pitchFamily="34" charset="0"/>
                <a:ea typeface="Segoe UI" pitchFamily="34" charset="-122"/>
                <a:cs typeface="Segoe UI" pitchFamily="34" charset="-120"/>
              </a:rPr>
              <a:t>, avec leur étape et leur fin prévue.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dossier choisi montre sa frise et son geste : ici, « Soumettre le dossier ».</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Rien d’interne à la Commission n’apparaît : ni acteurs, ni consignes.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RG-ENT-10 · RG-ENT-11 · RG-ENT-14 · RG-ENT-16 · RG-ENT-17 · RG-ENT-19 · RG-ENT-20</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19</a:t>
            </a:r>
            <a:endParaRPr lang="en-US" sz="1100" dirty="0"/>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name="Slide 2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ACCUEIL · SECRÉTAIRE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L’accueil « À faire » du Secrétaire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accueil « À faire » du Secrétair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Secrétaire.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dépôts </a:t>
            </a:r>
            <a:r>
              <a:rPr lang="en-US" sz="1200" b="1" dirty="0">
                <a:solidFill>
                  <a:srgbClr val="1B2A3A"/>
                </a:solidFill>
                <a:latin typeface="Segoe UI" pitchFamily="34" charset="0"/>
                <a:ea typeface="Segoe UI" pitchFamily="34" charset="-122"/>
                <a:cs typeface="Segoe UI" pitchFamily="34" charset="-120"/>
              </a:rPr>
              <a:t>à réceptionner et numéroter</a:t>
            </a:r>
            <a:r>
              <a:rPr lang="en-US" sz="1200" dirty="0">
                <a:solidFill>
                  <a:srgbClr val="1B2A3A"/>
                </a:solidFill>
                <a:latin typeface="Segoe UI" pitchFamily="34" charset="0"/>
                <a:ea typeface="Segoe UI" pitchFamily="34" charset="-122"/>
                <a:cs typeface="Segoe UI" pitchFamily="34" charset="-120"/>
              </a:rPr>
              <a:t>, avec leur délai standard de huit heures.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Ici, un dépôt en retard de dix-huit heures : la barre rouge et l’échéance le disent.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geste « Numéroter le dépôt » s’ouvre depuis le panneau du dossier.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RG-ENT-13 · RG-ENT-16 · RG-ENT-17 · RG-ENT-19</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20</a:t>
            </a:r>
            <a:endParaRPr lang="en-US" sz="1100" dirty="0"/>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name="Slide 2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ACCUEIL · PRÉSIDENT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L’accueil « À faire » du Président</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accueil « À faire » du Président"/>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Président (le Chef de commission voit la même page pour sa localité).</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Rien ne l’attend en propre aujourd’hui ; tous les dossiers de son périmètre restent consultables.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tâches qu’il </a:t>
            </a:r>
            <a:r>
              <a:rPr lang="en-US" sz="1200" b="1" dirty="0">
                <a:solidFill>
                  <a:srgbClr val="1B2A3A"/>
                </a:solidFill>
                <a:latin typeface="Segoe UI" pitchFamily="34" charset="0"/>
                <a:ea typeface="Segoe UI" pitchFamily="34" charset="-122"/>
                <a:cs typeface="Segoe UI" pitchFamily="34" charset="-120"/>
              </a:rPr>
              <a:t>pourrait</a:t>
            </a:r>
            <a:r>
              <a:rPr lang="en-US" sz="1200" dirty="0">
                <a:solidFill>
                  <a:srgbClr val="1B2A3A"/>
                </a:solidFill>
                <a:latin typeface="Segoe UI" pitchFamily="34" charset="0"/>
                <a:ea typeface="Segoe UI" pitchFamily="34" charset="-122"/>
                <a:cs typeface="Segoe UI" pitchFamily="34" charset="-120"/>
              </a:rPr>
              <a:t> prendre à un autre titre (délégation, intérim, suppléance) sont repliées à part, hors compteurs.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Son menu porte le pilotage (répartition, chaînes de contrôle, intérim) et ce qu’il exerce par délégation.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RG-ENT-12 · RG-ENT-16 · RG-ENT-17 · RG-ENT-18 · RG-ENT-19</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21</a:t>
            </a:r>
            <a:endParaRPr lang="en-US" sz="1100" dirty="0"/>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name="Slide 2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ACCUEIL · MEMBRE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L’accueil « À faire » du Membre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accueil « À faire » du Membr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Membre.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dossiers </a:t>
            </a:r>
            <a:r>
              <a:rPr lang="en-US" sz="1200" b="1" dirty="0">
                <a:solidFill>
                  <a:srgbClr val="1B2A3A"/>
                </a:solidFill>
                <a:latin typeface="Segoe UI" pitchFamily="34" charset="0"/>
                <a:ea typeface="Segoe UI" pitchFamily="34" charset="-122"/>
                <a:cs typeface="Segoe UI" pitchFamily="34" charset="-120"/>
              </a:rPr>
              <a:t>à examiner</a:t>
            </a:r>
            <a:r>
              <a:rPr lang="en-US" sz="1200" dirty="0">
                <a:solidFill>
                  <a:srgbClr val="1B2A3A"/>
                </a:solidFill>
                <a:latin typeface="Segoe UI" pitchFamily="34" charset="0"/>
                <a:ea typeface="Segoe UI" pitchFamily="34" charset="-122"/>
                <a:cs typeface="Segoe UI" pitchFamily="34" charset="-120"/>
              </a:rPr>
              <a:t>, avec le délai standard de quarante heures et le temps déjà écoulé.</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panneau rappelle la </a:t>
            </a:r>
            <a:r>
              <a:rPr lang="en-US" sz="1200" b="1" dirty="0">
                <a:solidFill>
                  <a:srgbClr val="1B2A3A"/>
                </a:solidFill>
                <a:latin typeface="Segoe UI" pitchFamily="34" charset="0"/>
                <a:ea typeface="Segoe UI" pitchFamily="34" charset="-122"/>
                <a:cs typeface="Segoe UI" pitchFamily="34" charset="-120"/>
              </a:rPr>
              <a:t>consigne</a:t>
            </a:r>
            <a:r>
              <a:rPr lang="en-US" sz="1200" dirty="0">
                <a:solidFill>
                  <a:srgbClr val="1B2A3A"/>
                </a:solidFill>
                <a:latin typeface="Segoe UI" pitchFamily="34" charset="0"/>
                <a:ea typeface="Segoe UI" pitchFamily="34" charset="-122"/>
                <a:cs typeface="Segoe UI" pitchFamily="34" charset="-120"/>
              </a:rPr>
              <a:t> du dispatch et ouvre l’examen d’un clic.</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Trois classements : par urgence, par étape, par localité.</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RG-ENT-13 · RG-ENT-15 · RG-ENT-16 · RG-ENT-17 · RG-ENT-19</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22</a:t>
            </a:r>
            <a:endParaRPr lang="en-US" sz="1100" dirty="0"/>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name="Slide 2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ACCUEIL · VÉRIFICATEUR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L’accueil « À faire » du Vérificateur</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accueil « À faire » du Vérificateur"/>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Contrôleur vérificateur.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PV signés à vérifier, avec leur avis et leur retard : dix sur treize sont ici en retard.</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Sur un avis favorable, le geste est de </a:t>
            </a:r>
            <a:r>
              <a:rPr lang="en-US" sz="1200" b="1" dirty="0">
                <a:solidFill>
                  <a:srgbClr val="1B2A3A"/>
                </a:solidFill>
                <a:latin typeface="Segoe UI" pitchFamily="34" charset="0"/>
                <a:ea typeface="Segoe UI" pitchFamily="34" charset="-122"/>
                <a:cs typeface="Segoe UI" pitchFamily="34" charset="-120"/>
              </a:rPr>
              <a:t>transmettre la décision à SIGMP</a:t>
            </a:r>
            <a:r>
              <a:rPr lang="en-US" sz="1200" dirty="0">
                <a:solidFill>
                  <a:srgbClr val="1B2A3A"/>
                </a:solidFill>
                <a:latin typeface="Segoe UI" pitchFamily="34" charset="0"/>
                <a:ea typeface="Segoe UI" pitchFamily="34" charset="-122"/>
                <a:cs typeface="Segoe UI" pitchFamily="34" charset="-120"/>
              </a:rPr>
              <a:t> ; sur réserves, de suivre leur levée.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frise du dossier nomme qui a franchi chaque étape et à quelle date.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RG-ENT-13 · RG-ENT-15 · RG-ENT-16 · RG-ENT-17 · RG-ENT-18 · RG-ENT-19</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23</a:t>
            </a:r>
            <a:endParaRPr lang="en-US" sz="1100" dirty="0"/>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name="Slide 24">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ENTRER</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Être averti au bon moment</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Chaque transmission avise le responsable de l’étape suivante ; la notification mène à l’écran où l’action attendue s’accomplit.</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24</a:t>
            </a:r>
            <a:endParaRPr lang="en-US" sz="1100" dirty="0"/>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name="Slide 2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NOTIFICATIONS · TOUS LES PROFILS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L’écran des notifications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écran des notification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Tous les profils, chacun pour ses seules notifications.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Tout ce que le circuit a signalé, </a:t>
            </a:r>
            <a:r>
              <a:rPr lang="en-US" sz="1200" b="1" dirty="0">
                <a:solidFill>
                  <a:srgbClr val="1B2A3A"/>
                </a:solidFill>
                <a:latin typeface="Segoe UI" pitchFamily="34" charset="0"/>
                <a:ea typeface="Segoe UI" pitchFamily="34" charset="-122"/>
                <a:cs typeface="Segoe UI" pitchFamily="34" charset="-120"/>
              </a:rPr>
              <a:t>par date</a:t>
            </a:r>
            <a:r>
              <a:rPr lang="en-US" sz="1200" dirty="0">
                <a:solidFill>
                  <a:srgbClr val="1B2A3A"/>
                </a:solidFill>
                <a:latin typeface="Segoe UI" pitchFamily="34" charset="0"/>
                <a:ea typeface="Segoe UI" pitchFamily="34" charset="-122"/>
                <a:cs typeface="Segoe UI" pitchFamily="34" charset="-120"/>
              </a:rPr>
              <a:t> ; une notification non lue reste en gras.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Filtres : toutes ou non lues, et par type d’événement ; « Tout marquer lu » en un geste.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Ici, pour la PRMP : rapport d’évaluation signé, dépôts clos, pièce de l’attributaire déposée.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RG-ENT-22 · RG-ENT-23</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25</a:t>
            </a:r>
            <a:endParaRPr lang="en-US" sz="1100" dirty="0"/>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name="Slide 2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NOTIFICATIONS · TOUS LES PROFILS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cloche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a cloch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Tous les profils, dans la barre du haut.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dernières notifications et leur </a:t>
            </a:r>
            <a:r>
              <a:rPr lang="en-US" sz="1200" b="1" dirty="0">
                <a:solidFill>
                  <a:srgbClr val="1B2A3A"/>
                </a:solidFill>
                <a:latin typeface="Segoe UI" pitchFamily="34" charset="0"/>
                <a:ea typeface="Segoe UI" pitchFamily="34" charset="-122"/>
                <a:cs typeface="Segoe UI" pitchFamily="34" charset="-120"/>
              </a:rPr>
              <a:t>compteur</a:t>
            </a:r>
            <a:r>
              <a:rPr lang="en-US" sz="1200" dirty="0">
                <a:solidFill>
                  <a:srgbClr val="1B2A3A"/>
                </a:solidFill>
                <a:latin typeface="Segoe UI" pitchFamily="34" charset="0"/>
                <a:ea typeface="Segoe UI" pitchFamily="34" charset="-122"/>
                <a:cs typeface="Segoe UI" pitchFamily="34" charset="-120"/>
              </a:rPr>
              <a:t>, sans quitter l’écran en cours.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compteur est tenu par le serveur et suivi en temps réel.</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RG-ENT-22 · RG-ENT-23</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26</a:t>
            </a:r>
            <a:endParaRPr lang="en-US" sz="1100" dirty="0"/>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name="Slide 2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ENTRER · EN RÉSUMÉ</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Ce que l’application garantit</a:t>
            </a:r>
            <a:endParaRPr lang="en-US" sz="2600" dirty="0"/>
          </a:p>
        </p:txBody>
      </p:sp>
      <p:sp>
        <p:nvSpPr>
          <p:cNvPr id="4" name="Shape 2"/>
          <p:cNvSpPr/>
          <p:nvPr/>
        </p:nvSpPr>
        <p:spPr>
          <a:xfrm>
            <a:off x="812780" y="1206500"/>
            <a:ext cx="3420448" cy="2159000"/>
          </a:xfrm>
          <a:prstGeom prst="rect">
            <a:avLst/>
          </a:prstGeom>
          <a:solidFill>
            <a:srgbClr val="FCFCFA"/>
          </a:solidFill>
          <a:ln w="9525">
            <a:solidFill>
              <a:srgbClr val="D5DCE4"/>
            </a:solidFill>
            <a:prstDash val="solid"/>
          </a:ln>
        </p:spPr>
        <p:txBody>
          <a:bodyPr/>
          <a:lstStyle/>
          <a:p>
            <a:endParaRPr lang="fr-FR"/>
          </a:p>
        </p:txBody>
      </p:sp>
      <p:sp>
        <p:nvSpPr>
          <p:cNvPr id="5" name="Shape 3"/>
          <p:cNvSpPr/>
          <p:nvPr/>
        </p:nvSpPr>
        <p:spPr>
          <a:xfrm>
            <a:off x="812780" y="1206500"/>
            <a:ext cx="3420448" cy="38100"/>
          </a:xfrm>
          <a:prstGeom prst="rect">
            <a:avLst/>
          </a:prstGeom>
          <a:solidFill>
            <a:srgbClr val="1B6FA8"/>
          </a:solidFill>
          <a:ln/>
        </p:spPr>
        <p:txBody>
          <a:bodyPr/>
          <a:lstStyle/>
          <a:p>
            <a:endParaRPr lang="fr-FR"/>
          </a:p>
        </p:txBody>
      </p:sp>
      <p:sp>
        <p:nvSpPr>
          <p:cNvPr id="6" name="Text 4"/>
          <p:cNvSpPr/>
          <p:nvPr/>
        </p:nvSpPr>
        <p:spPr>
          <a:xfrm>
            <a:off x="952476" y="1308100"/>
            <a:ext cx="3141055"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Des comptes vérifiés</a:t>
            </a:r>
            <a:endParaRPr lang="en-US" sz="1500" dirty="0"/>
          </a:p>
        </p:txBody>
      </p:sp>
      <p:sp>
        <p:nvSpPr>
          <p:cNvPr id="7" name="Text 5"/>
          <p:cNvSpPr/>
          <p:nvPr/>
        </p:nvSpPr>
        <p:spPr>
          <a:xfrm>
            <a:off x="952476" y="1593850"/>
            <a:ext cx="3141055"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Aucun compte de PRMP ne s’ouvre sans contrôle humain de son arrêté de nomination ; une entité contractante n’a qu’une seule PRMP active.</a:t>
            </a:r>
            <a:endParaRPr lang="en-US" sz="1200" dirty="0"/>
          </a:p>
        </p:txBody>
      </p:sp>
      <p:sp>
        <p:nvSpPr>
          <p:cNvPr id="8" name="Shape 6"/>
          <p:cNvSpPr/>
          <p:nvPr/>
        </p:nvSpPr>
        <p:spPr>
          <a:xfrm>
            <a:off x="4385624" y="1206500"/>
            <a:ext cx="3420448" cy="2159000"/>
          </a:xfrm>
          <a:prstGeom prst="rect">
            <a:avLst/>
          </a:prstGeom>
          <a:solidFill>
            <a:srgbClr val="FCFCFA"/>
          </a:solidFill>
          <a:ln w="9525">
            <a:solidFill>
              <a:srgbClr val="D5DCE4"/>
            </a:solidFill>
            <a:prstDash val="solid"/>
          </a:ln>
        </p:spPr>
        <p:txBody>
          <a:bodyPr/>
          <a:lstStyle/>
          <a:p>
            <a:endParaRPr lang="fr-FR"/>
          </a:p>
        </p:txBody>
      </p:sp>
      <p:sp>
        <p:nvSpPr>
          <p:cNvPr id="9" name="Shape 7"/>
          <p:cNvSpPr/>
          <p:nvPr/>
        </p:nvSpPr>
        <p:spPr>
          <a:xfrm>
            <a:off x="4385624" y="1206500"/>
            <a:ext cx="3420448" cy="38100"/>
          </a:xfrm>
          <a:prstGeom prst="rect">
            <a:avLst/>
          </a:prstGeom>
          <a:solidFill>
            <a:srgbClr val="2E8B57"/>
          </a:solidFill>
          <a:ln/>
        </p:spPr>
        <p:txBody>
          <a:bodyPr/>
          <a:lstStyle/>
          <a:p>
            <a:endParaRPr lang="fr-FR"/>
          </a:p>
        </p:txBody>
      </p:sp>
      <p:sp>
        <p:nvSpPr>
          <p:cNvPr id="10" name="Text 8"/>
          <p:cNvSpPr/>
          <p:nvPr/>
        </p:nvSpPr>
        <p:spPr>
          <a:xfrm>
            <a:off x="4525320" y="1308100"/>
            <a:ext cx="3141055"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Une session protégée</a:t>
            </a:r>
            <a:endParaRPr lang="en-US" sz="1500" dirty="0"/>
          </a:p>
        </p:txBody>
      </p:sp>
      <p:sp>
        <p:nvSpPr>
          <p:cNvPr id="11" name="Text 9"/>
          <p:cNvSpPr/>
          <p:nvPr/>
        </p:nvSpPr>
        <p:spPr>
          <a:xfrm>
            <a:off x="4525320" y="1593850"/>
            <a:ext cx="3141055"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La session vit dans un témoin que les scripts de la page ne lisent pas ; aucun jeton n’est remis au navigateur, la déconnexion est faite par le serveur.</a:t>
            </a:r>
            <a:endParaRPr lang="en-US" sz="1200" dirty="0"/>
          </a:p>
        </p:txBody>
      </p:sp>
      <p:sp>
        <p:nvSpPr>
          <p:cNvPr id="12" name="Shape 10"/>
          <p:cNvSpPr/>
          <p:nvPr/>
        </p:nvSpPr>
        <p:spPr>
          <a:xfrm>
            <a:off x="7958468" y="1206500"/>
            <a:ext cx="3420448" cy="2159000"/>
          </a:xfrm>
          <a:prstGeom prst="rect">
            <a:avLst/>
          </a:prstGeom>
          <a:solidFill>
            <a:srgbClr val="FCFCFA"/>
          </a:solidFill>
          <a:ln w="9525">
            <a:solidFill>
              <a:srgbClr val="D5DCE4"/>
            </a:solidFill>
            <a:prstDash val="solid"/>
          </a:ln>
        </p:spPr>
        <p:txBody>
          <a:bodyPr/>
          <a:lstStyle/>
          <a:p>
            <a:endParaRPr lang="fr-FR"/>
          </a:p>
        </p:txBody>
      </p:sp>
      <p:sp>
        <p:nvSpPr>
          <p:cNvPr id="13" name="Shape 11"/>
          <p:cNvSpPr/>
          <p:nvPr/>
        </p:nvSpPr>
        <p:spPr>
          <a:xfrm>
            <a:off x="7958468" y="1206500"/>
            <a:ext cx="3420448" cy="38100"/>
          </a:xfrm>
          <a:prstGeom prst="rect">
            <a:avLst/>
          </a:prstGeom>
          <a:solidFill>
            <a:srgbClr val="E3AE2E"/>
          </a:solidFill>
          <a:ln/>
        </p:spPr>
        <p:txBody>
          <a:bodyPr/>
          <a:lstStyle/>
          <a:p>
            <a:endParaRPr lang="fr-FR"/>
          </a:p>
        </p:txBody>
      </p:sp>
      <p:sp>
        <p:nvSpPr>
          <p:cNvPr id="14" name="Text 12"/>
          <p:cNvSpPr/>
          <p:nvPr/>
        </p:nvSpPr>
        <p:spPr>
          <a:xfrm>
            <a:off x="8098164" y="13081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Des tentatives freinées et tracées</a:t>
            </a:r>
            <a:endParaRPr lang="en-US" sz="1500" dirty="0"/>
          </a:p>
        </p:txBody>
      </p:sp>
      <p:sp>
        <p:nvSpPr>
          <p:cNvPr id="15" name="Text 13"/>
          <p:cNvSpPr/>
          <p:nvPr/>
        </p:nvSpPr>
        <p:spPr>
          <a:xfrm>
            <a:off x="8098164" y="17653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Cinq échecs en quinze minutes verrouillent l’identifiant depuis un même poste ; chaque tentative, réussie ou non, est inscrite au journal des connexions.</a:t>
            </a:r>
            <a:endParaRPr lang="en-US" sz="1200" dirty="0"/>
          </a:p>
        </p:txBody>
      </p:sp>
      <p:sp>
        <p:nvSpPr>
          <p:cNvPr id="16" name="Shape 14"/>
          <p:cNvSpPr/>
          <p:nvPr/>
        </p:nvSpPr>
        <p:spPr>
          <a:xfrm>
            <a:off x="812780" y="3517900"/>
            <a:ext cx="3420448" cy="2159000"/>
          </a:xfrm>
          <a:prstGeom prst="rect">
            <a:avLst/>
          </a:prstGeom>
          <a:solidFill>
            <a:srgbClr val="FCFCFA"/>
          </a:solidFill>
          <a:ln w="9525">
            <a:solidFill>
              <a:srgbClr val="D5DCE4"/>
            </a:solidFill>
            <a:prstDash val="solid"/>
          </a:ln>
        </p:spPr>
        <p:txBody>
          <a:bodyPr/>
          <a:lstStyle/>
          <a:p>
            <a:endParaRPr lang="fr-FR"/>
          </a:p>
        </p:txBody>
      </p:sp>
      <p:sp>
        <p:nvSpPr>
          <p:cNvPr id="17" name="Shape 15"/>
          <p:cNvSpPr/>
          <p:nvPr/>
        </p:nvSpPr>
        <p:spPr>
          <a:xfrm>
            <a:off x="812780" y="3517900"/>
            <a:ext cx="3420448" cy="38100"/>
          </a:xfrm>
          <a:prstGeom prst="rect">
            <a:avLst/>
          </a:prstGeom>
          <a:solidFill>
            <a:srgbClr val="12324A"/>
          </a:solidFill>
          <a:ln/>
        </p:spPr>
        <p:txBody>
          <a:bodyPr/>
          <a:lstStyle/>
          <a:p>
            <a:endParaRPr lang="fr-FR"/>
          </a:p>
        </p:txBody>
      </p:sp>
      <p:sp>
        <p:nvSpPr>
          <p:cNvPr id="18" name="Text 16"/>
          <p:cNvSpPr/>
          <p:nvPr/>
        </p:nvSpPr>
        <p:spPr>
          <a:xfrm>
            <a:off x="952476" y="36195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Un accueil qui ne promet rien d’impossible</a:t>
            </a:r>
            <a:endParaRPr lang="en-US" sz="1500" dirty="0"/>
          </a:p>
        </p:txBody>
      </p:sp>
      <p:sp>
        <p:nvSpPr>
          <p:cNvPr id="19" name="Text 17"/>
          <p:cNvSpPr/>
          <p:nvPr/>
        </p:nvSpPr>
        <p:spPr>
          <a:xfrm>
            <a:off x="952476" y="40767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Un geste n’est proposé à l’accueil que si le serveur l’accepterait au moment de l’exécuter.</a:t>
            </a:r>
            <a:endParaRPr lang="en-US" sz="1200" dirty="0"/>
          </a:p>
        </p:txBody>
      </p:sp>
      <p:sp>
        <p:nvSpPr>
          <p:cNvPr id="20" name="Shape 18"/>
          <p:cNvSpPr/>
          <p:nvPr/>
        </p:nvSpPr>
        <p:spPr>
          <a:xfrm>
            <a:off x="4385624" y="3517900"/>
            <a:ext cx="3420448" cy="2159000"/>
          </a:xfrm>
          <a:prstGeom prst="rect">
            <a:avLst/>
          </a:prstGeom>
          <a:solidFill>
            <a:srgbClr val="FCFCFA"/>
          </a:solidFill>
          <a:ln w="9525">
            <a:solidFill>
              <a:srgbClr val="D5DCE4"/>
            </a:solidFill>
            <a:prstDash val="solid"/>
          </a:ln>
        </p:spPr>
        <p:txBody>
          <a:bodyPr/>
          <a:lstStyle/>
          <a:p>
            <a:endParaRPr lang="fr-FR"/>
          </a:p>
        </p:txBody>
      </p:sp>
      <p:sp>
        <p:nvSpPr>
          <p:cNvPr id="21" name="Shape 19"/>
          <p:cNvSpPr/>
          <p:nvPr/>
        </p:nvSpPr>
        <p:spPr>
          <a:xfrm>
            <a:off x="4385624" y="3517900"/>
            <a:ext cx="3420448" cy="38100"/>
          </a:xfrm>
          <a:prstGeom prst="rect">
            <a:avLst/>
          </a:prstGeom>
          <a:solidFill>
            <a:srgbClr val="1B6FA8"/>
          </a:solidFill>
          <a:ln/>
        </p:spPr>
        <p:txBody>
          <a:bodyPr/>
          <a:lstStyle/>
          <a:p>
            <a:endParaRPr lang="fr-FR"/>
          </a:p>
        </p:txBody>
      </p:sp>
      <p:sp>
        <p:nvSpPr>
          <p:cNvPr id="22" name="Text 20"/>
          <p:cNvSpPr/>
          <p:nvPr/>
        </p:nvSpPr>
        <p:spPr>
          <a:xfrm>
            <a:off x="4525320" y="36195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Une urgence mesurée, jamais inventée</a:t>
            </a:r>
            <a:endParaRPr lang="en-US" sz="1500" dirty="0"/>
          </a:p>
        </p:txBody>
      </p:sp>
      <p:sp>
        <p:nvSpPr>
          <p:cNvPr id="23" name="Text 21"/>
          <p:cNvSpPr/>
          <p:nvPr/>
        </p:nvSpPr>
        <p:spPr>
          <a:xfrm>
            <a:off x="4525320" y="40767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Retard, échéance proche ou délai tenu sont calculés sur le délai standard de l’étape ; sans point de départ connu, le dossier reste « sans délai ».</a:t>
            </a:r>
            <a:endParaRPr lang="en-US" sz="1200" dirty="0"/>
          </a:p>
        </p:txBody>
      </p:sp>
      <p:sp>
        <p:nvSpPr>
          <p:cNvPr id="24" name="Shape 22"/>
          <p:cNvSpPr/>
          <p:nvPr/>
        </p:nvSpPr>
        <p:spPr>
          <a:xfrm>
            <a:off x="7958468" y="3517900"/>
            <a:ext cx="3420448" cy="2159000"/>
          </a:xfrm>
          <a:prstGeom prst="rect">
            <a:avLst/>
          </a:prstGeom>
          <a:solidFill>
            <a:srgbClr val="FCFCFA"/>
          </a:solidFill>
          <a:ln w="9525">
            <a:solidFill>
              <a:srgbClr val="D5DCE4"/>
            </a:solidFill>
            <a:prstDash val="solid"/>
          </a:ln>
        </p:spPr>
        <p:txBody>
          <a:bodyPr/>
          <a:lstStyle/>
          <a:p>
            <a:endParaRPr lang="fr-FR"/>
          </a:p>
        </p:txBody>
      </p:sp>
      <p:sp>
        <p:nvSpPr>
          <p:cNvPr id="25" name="Shape 23"/>
          <p:cNvSpPr/>
          <p:nvPr/>
        </p:nvSpPr>
        <p:spPr>
          <a:xfrm>
            <a:off x="7958468" y="3517900"/>
            <a:ext cx="3420448" cy="38100"/>
          </a:xfrm>
          <a:prstGeom prst="rect">
            <a:avLst/>
          </a:prstGeom>
          <a:solidFill>
            <a:srgbClr val="2E8B57"/>
          </a:solidFill>
          <a:ln/>
        </p:spPr>
        <p:txBody>
          <a:bodyPr/>
          <a:lstStyle/>
          <a:p>
            <a:endParaRPr lang="fr-FR"/>
          </a:p>
        </p:txBody>
      </p:sp>
      <p:sp>
        <p:nvSpPr>
          <p:cNvPr id="26" name="Text 24"/>
          <p:cNvSpPr/>
          <p:nvPr/>
        </p:nvSpPr>
        <p:spPr>
          <a:xfrm>
            <a:off x="8098164" y="36195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Chacun ne voit que son périmètre</a:t>
            </a:r>
            <a:endParaRPr lang="en-US" sz="1500" dirty="0"/>
          </a:p>
        </p:txBody>
      </p:sp>
      <p:sp>
        <p:nvSpPr>
          <p:cNvPr id="27" name="Text 25"/>
          <p:cNvSpPr/>
          <p:nvPr/>
        </p:nvSpPr>
        <p:spPr>
          <a:xfrm>
            <a:off x="8098164" y="40767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La PRMP ne voit que ses dossiers et rien d’interne à la Commission ; les contrôleurs sont bornés à leur localité, le Président voit tout.</a:t>
            </a:r>
            <a:endParaRPr lang="en-US" sz="1200" dirty="0"/>
          </a:p>
        </p:txBody>
      </p:sp>
      <p:sp>
        <p:nvSpPr>
          <p:cNvPr id="28" name="Text 2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27</a:t>
            </a:r>
            <a:endParaRPr lang="en-US" sz="1100" dirty="0"/>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name="Slide 28">
    <p:bg>
      <p:bgPr>
        <a:solidFill>
          <a:srgbClr val="12324A"/>
        </a:solidFill>
        <a:effectLst/>
      </p:bgPr>
    </p:bg>
    <p:spTree>
      <p:nvGrpSpPr>
        <p:cNvPr id="1" name=""/>
        <p:cNvGrpSpPr/>
        <p:nvPr/>
      </p:nvGrpSpPr>
      <p:grpSpPr>
        <a:xfrm>
          <a:off x="0" y="0"/>
          <a:ext cx="0" cy="0"/>
          <a:chOff x="0" y="0"/>
          <a:chExt cx="0" cy="0"/>
        </a:xfrm>
      </p:grpSpPr>
      <p:sp>
        <p:nvSpPr>
          <p:cNvPr id="2" name="Shape 0"/>
          <p:cNvSpPr/>
          <p:nvPr/>
        </p:nvSpPr>
        <p:spPr>
          <a:xfrm>
            <a:off x="0" y="0"/>
            <a:ext cx="152396" cy="6858000"/>
          </a:xfrm>
          <a:prstGeom prst="rect">
            <a:avLst/>
          </a:prstGeom>
          <a:solidFill>
            <a:srgbClr val="E3AE2E"/>
          </a:solidFill>
          <a:ln w="12700">
            <a:solidFill>
              <a:srgbClr val="E3AE2E"/>
            </a:solidFill>
            <a:prstDash val="solid"/>
          </a:ln>
        </p:spPr>
        <p:txBody>
          <a:bodyPr/>
          <a:lstStyle/>
          <a:p>
            <a:endParaRPr lang="fr-FR"/>
          </a:p>
        </p:txBody>
      </p:sp>
      <p:sp>
        <p:nvSpPr>
          <p:cNvPr id="3" name="Text 1"/>
          <p:cNvSpPr/>
          <p:nvPr/>
        </p:nvSpPr>
        <p:spPr>
          <a:xfrm>
            <a:off x="812780" y="698500"/>
            <a:ext cx="3809905" cy="952500"/>
          </a:xfrm>
          <a:prstGeom prst="rect">
            <a:avLst/>
          </a:prstGeom>
          <a:noFill/>
          <a:ln/>
        </p:spPr>
        <p:txBody>
          <a:bodyPr wrap="square" rtlCol="0" anchor="ctr"/>
          <a:lstStyle/>
          <a:p>
            <a:pPr marL="0" indent="0">
              <a:buNone/>
            </a:pPr>
            <a:r>
              <a:rPr lang="en-US" sz="7200" b="1" dirty="0">
                <a:solidFill>
                  <a:srgbClr val="E3AE2E"/>
                </a:solidFill>
                <a:latin typeface="Segoe UI" pitchFamily="34" charset="0"/>
                <a:ea typeface="Segoe UI" pitchFamily="34" charset="-122"/>
                <a:cs typeface="Segoe UI" pitchFamily="34" charset="-120"/>
              </a:rPr>
              <a:t>02</a:t>
            </a:r>
            <a:endParaRPr lang="en-US" sz="7200" dirty="0"/>
          </a:p>
        </p:txBody>
      </p:sp>
      <p:sp>
        <p:nvSpPr>
          <p:cNvPr id="4" name="Text 2"/>
          <p:cNvSpPr/>
          <p:nvPr/>
        </p:nvSpPr>
        <p:spPr>
          <a:xfrm>
            <a:off x="812780" y="1714500"/>
            <a:ext cx="10477238" cy="635000"/>
          </a:xfrm>
          <a:prstGeom prst="rect">
            <a:avLst/>
          </a:prstGeom>
          <a:noFill/>
          <a:ln/>
        </p:spPr>
        <p:txBody>
          <a:bodyPr wrap="square" rtlCol="0" anchor="ctr">
            <a:normAutofit/>
          </a:bodyPr>
          <a:lstStyle/>
          <a:p>
            <a:pPr marL="0" indent="0">
              <a:buNone/>
            </a:pPr>
            <a:r>
              <a:rPr lang="en-US" sz="4000" b="1" dirty="0">
                <a:solidFill>
                  <a:srgbClr val="FCFCFA"/>
                </a:solidFill>
                <a:latin typeface="Segoe UI" pitchFamily="34" charset="0"/>
                <a:ea typeface="Segoe UI" pitchFamily="34" charset="-122"/>
                <a:cs typeface="Segoe UI" pitchFamily="34" charset="-120"/>
              </a:rPr>
              <a:t>Planifier</a:t>
            </a:r>
            <a:endParaRPr lang="en-US" sz="4000" dirty="0"/>
          </a:p>
        </p:txBody>
      </p:sp>
      <p:sp>
        <p:nvSpPr>
          <p:cNvPr id="5" name="Text 3"/>
          <p:cNvSpPr/>
          <p:nvPr/>
        </p:nvSpPr>
        <p:spPr>
          <a:xfrm>
            <a:off x="812780" y="2413000"/>
            <a:ext cx="10159746" cy="698500"/>
          </a:xfrm>
          <a:prstGeom prst="rect">
            <a:avLst/>
          </a:prstGeom>
          <a:noFill/>
          <a:ln/>
        </p:spPr>
        <p:txBody>
          <a:bodyPr wrap="square" rtlCol="0" anchor="t">
            <a:normAutofit/>
          </a:bodyPr>
          <a:lstStyle/>
          <a:p>
            <a:pPr marL="0" indent="0">
              <a:buNone/>
            </a:pPr>
            <a:r>
              <a:rPr lang="en-US" sz="1700" dirty="0">
                <a:solidFill>
                  <a:srgbClr val="C9D6E2"/>
                </a:solidFill>
                <a:latin typeface="Segoe UI" pitchFamily="34" charset="0"/>
                <a:ea typeface="Segoe UI" pitchFamily="34" charset="-122"/>
                <a:cs typeface="Segoe UI" pitchFamily="34" charset="-120"/>
              </a:rPr>
              <a:t>La PRMP saisit ou importe son plan de passation, le vérifie avant de le soumettre, puis en suit le contrôle étape par étape jusqu’à la clôture.</a:t>
            </a:r>
            <a:endParaRPr lang="en-US" sz="1700" dirty="0"/>
          </a:p>
        </p:txBody>
      </p:sp>
      <p:sp>
        <p:nvSpPr>
          <p:cNvPr id="6" name="Text 4"/>
          <p:cNvSpPr/>
          <p:nvPr/>
        </p:nvSpPr>
        <p:spPr>
          <a:xfrm>
            <a:off x="812780" y="3429000"/>
            <a:ext cx="5079873" cy="228600"/>
          </a:xfrm>
          <a:prstGeom prst="rect">
            <a:avLst/>
          </a:prstGeom>
          <a:noFill/>
          <a:ln/>
        </p:spPr>
        <p:txBody>
          <a:bodyPr wrap="square" rtlCol="0" anchor="ctr"/>
          <a:lstStyle/>
          <a:p>
            <a:pPr marL="0" indent="0">
              <a:buNone/>
            </a:pPr>
            <a:r>
              <a:rPr lang="en-US" sz="1200" b="1" kern="0" spc="200" dirty="0">
                <a:solidFill>
                  <a:srgbClr val="E3AE2E"/>
                </a:solidFill>
                <a:latin typeface="Segoe UI" pitchFamily="34" charset="0"/>
                <a:ea typeface="Segoe UI" pitchFamily="34" charset="-122"/>
                <a:cs typeface="Segoe UI" pitchFamily="34" charset="-120"/>
              </a:rPr>
              <a:t>CE QUE CELA CHANGE</a:t>
            </a:r>
            <a:endParaRPr lang="en-US" sz="1200" dirty="0"/>
          </a:p>
        </p:txBody>
      </p:sp>
      <p:sp>
        <p:nvSpPr>
          <p:cNvPr id="7" name="Text 5"/>
          <p:cNvSpPr/>
          <p:nvPr/>
        </p:nvSpPr>
        <p:spPr>
          <a:xfrm>
            <a:off x="812780" y="3714750"/>
            <a:ext cx="10286743" cy="2413000"/>
          </a:xfrm>
          <a:prstGeom prst="rect">
            <a:avLst/>
          </a:prstGeom>
          <a:noFill/>
          <a:ln/>
        </p:spPr>
        <p:txBody>
          <a:bodyPr wrap="square" rtlCol="0" anchor="t">
            <a:normAutofit/>
          </a:bodyPr>
          <a:lstStyle/>
          <a:p>
            <a:pPr marL="203200" indent="-203200">
              <a:spcAft>
                <a:spcPts val="800"/>
              </a:spcAft>
              <a:buSzPct val="100000"/>
              <a:buChar char="•"/>
            </a:pPr>
            <a:r>
              <a:rPr lang="en-US" sz="1500" dirty="0">
                <a:solidFill>
                  <a:srgbClr val="FCFCFA"/>
                </a:solidFill>
                <a:latin typeface="Segoe UI" pitchFamily="34" charset="0"/>
                <a:ea typeface="Segoe UI" pitchFamily="34" charset="-122"/>
                <a:cs typeface="Segoe UI" pitchFamily="34" charset="-120"/>
              </a:rPr>
              <a:t>Le plan de passation arrive à la Commission sous forme de données, ligne par ligne, et non plus comme un document à ressaisir.</a:t>
            </a:r>
            <a:endParaRPr lang="en-US" sz="1500" dirty="0"/>
          </a:p>
          <a:p>
            <a:pPr marL="203200" indent="-203200">
              <a:spcAft>
                <a:spcPts val="800"/>
              </a:spcAft>
              <a:buSzPct val="100000"/>
              <a:buChar char="•"/>
            </a:pPr>
            <a:r>
              <a:rPr lang="en-US" sz="1500" dirty="0">
                <a:solidFill>
                  <a:srgbClr val="FCFCFA"/>
                </a:solidFill>
                <a:latin typeface="Segoe UI" pitchFamily="34" charset="0"/>
                <a:ea typeface="Segoe UI" pitchFamily="34" charset="-122"/>
                <a:cs typeface="Segoe UI" pitchFamily="34" charset="-120"/>
              </a:rPr>
              <a:t>Avant même la soumission, la PRMP voit les points que le contrôleur regardera, avec l’article de l’arrêté qui les fonde.</a:t>
            </a:r>
            <a:endParaRPr lang="en-US" sz="1500" dirty="0"/>
          </a:p>
          <a:p>
            <a:pPr marL="203200" indent="-203200">
              <a:spcAft>
                <a:spcPts val="800"/>
              </a:spcAft>
              <a:buSzPct val="100000"/>
              <a:buChar char="•"/>
            </a:pPr>
            <a:r>
              <a:rPr lang="en-US" sz="1500" dirty="0">
                <a:solidFill>
                  <a:srgbClr val="FCFCFA"/>
                </a:solidFill>
                <a:latin typeface="Segoe UI" pitchFamily="34" charset="0"/>
                <a:ea typeface="Segoe UI" pitchFamily="34" charset="-122"/>
                <a:cs typeface="Segoe UI" pitchFamily="34" charset="-120"/>
              </a:rPr>
              <a:t>Un plan validé ne se modifie jamais en place : toute mise à jour est une nouvelle version, et l’écart entre versions est conservé.</a:t>
            </a:r>
            <a:endParaRPr lang="en-US" sz="1500" dirty="0"/>
          </a:p>
        </p:txBody>
      </p:sp>
      <p:sp>
        <p:nvSpPr>
          <p:cNvPr id="8"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8FA6BB"/>
                </a:solidFill>
                <a:latin typeface="Segoe UI" pitchFamily="34" charset="0"/>
                <a:ea typeface="Segoe UI" pitchFamily="34" charset="-122"/>
                <a:cs typeface="Segoe UI" pitchFamily="34" charset="-120"/>
              </a:rPr>
              <a:t>PRS 2.0 · L’application de bout en bout · dossier de recette · 28</a:t>
            </a:r>
            <a:endParaRPr lang="en-US" sz="1100" dirty="0"/>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name="Slide 2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PLANIFIER · LE PARCOURS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Du plan saisi au plan contrôlé</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Le dossier de planification naît en brouillon chez la PRMP ; il n’est visible de la Commission qu’à sa soumission.</a:t>
            </a:r>
            <a:endParaRPr lang="en-US" sz="1300" dirty="0"/>
          </a:p>
        </p:txBody>
      </p:sp>
      <p:sp>
        <p:nvSpPr>
          <p:cNvPr id="5" name="Shape 3"/>
          <p:cNvSpPr/>
          <p:nvPr/>
        </p:nvSpPr>
        <p:spPr>
          <a:xfrm>
            <a:off x="812780"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6" name="Text 4"/>
          <p:cNvSpPr/>
          <p:nvPr/>
        </p:nvSpPr>
        <p:spPr>
          <a:xfrm>
            <a:off x="901677"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PRMP OU UGPM</a:t>
            </a:r>
            <a:endParaRPr lang="en-US" sz="1000" dirty="0"/>
          </a:p>
        </p:txBody>
      </p:sp>
      <p:sp>
        <p:nvSpPr>
          <p:cNvPr id="7" name="Text 5"/>
          <p:cNvSpPr/>
          <p:nvPr/>
        </p:nvSpPr>
        <p:spPr>
          <a:xfrm>
            <a:off x="901677"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Saisir ou importer le plan</a:t>
            </a:r>
            <a:endParaRPr lang="en-US" sz="1400" dirty="0"/>
          </a:p>
        </p:txBody>
      </p:sp>
      <p:sp>
        <p:nvSpPr>
          <p:cNvPr id="8" name="Text 6"/>
          <p:cNvSpPr/>
          <p:nvPr/>
        </p:nvSpPr>
        <p:spPr>
          <a:xfrm>
            <a:off x="901677" y="2603500"/>
            <a:ext cx="1466813" cy="1016000"/>
          </a:xfrm>
          <a:prstGeom prst="rect">
            <a:avLst/>
          </a:prstGeom>
          <a:noFill/>
          <a:ln/>
        </p:spPr>
        <p:txBody>
          <a:bodyPr wrap="square" rtlCol="0" anchor="t">
            <a:normAutofit fontScale="85000" lnSpcReduction="10000"/>
          </a:bodyPr>
          <a:lstStyle/>
          <a:p>
            <a:pPr marL="0" indent="0">
              <a:buNone/>
            </a:pPr>
            <a:r>
              <a:rPr lang="en-US" sz="1150" dirty="0">
                <a:solidFill>
                  <a:srgbClr val="465568"/>
                </a:solidFill>
                <a:latin typeface="Segoe UI" pitchFamily="34" charset="0"/>
                <a:ea typeface="Segoe UI" pitchFamily="34" charset="-122"/>
                <a:cs typeface="Segoe UI" pitchFamily="34" charset="-120"/>
              </a:rPr>
              <a:t>En-tête, lignes de marché, bénéficiaires, calendrier prévisionnel, lots — ou import du PPM officiel en PDF.</a:t>
            </a:r>
            <a:endParaRPr lang="en-US" sz="1150" dirty="0"/>
          </a:p>
        </p:txBody>
      </p:sp>
      <p:sp>
        <p:nvSpPr>
          <p:cNvPr id="9" name="Text 7"/>
          <p:cNvSpPr/>
          <p:nvPr/>
        </p:nvSpPr>
        <p:spPr>
          <a:xfrm>
            <a:off x="2444689"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10" name="Shape 8"/>
          <p:cNvSpPr/>
          <p:nvPr/>
        </p:nvSpPr>
        <p:spPr>
          <a:xfrm>
            <a:off x="2597085"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11" name="Text 9"/>
          <p:cNvSpPr/>
          <p:nvPr/>
        </p:nvSpPr>
        <p:spPr>
          <a:xfrm>
            <a:off x="2685983"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PRMP OU UGPM</a:t>
            </a:r>
            <a:endParaRPr lang="en-US" sz="1000" dirty="0"/>
          </a:p>
        </p:txBody>
      </p:sp>
      <p:sp>
        <p:nvSpPr>
          <p:cNvPr id="12" name="Text 10"/>
          <p:cNvSpPr/>
          <p:nvPr/>
        </p:nvSpPr>
        <p:spPr>
          <a:xfrm>
            <a:off x="2685983"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Relire l’aperçu</a:t>
            </a:r>
            <a:endParaRPr lang="en-US" sz="1400" dirty="0"/>
          </a:p>
        </p:txBody>
      </p:sp>
      <p:sp>
        <p:nvSpPr>
          <p:cNvPr id="13" name="Text 11"/>
          <p:cNvSpPr/>
          <p:nvPr/>
        </p:nvSpPr>
        <p:spPr>
          <a:xfrm>
            <a:off x="2685983"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La fiche de présentation, le plan et le projet d’AGPM, tels que la Commission les lira.</a:t>
            </a:r>
            <a:endParaRPr lang="en-US" sz="1150" dirty="0"/>
          </a:p>
        </p:txBody>
      </p:sp>
      <p:sp>
        <p:nvSpPr>
          <p:cNvPr id="14" name="Text 12"/>
          <p:cNvSpPr/>
          <p:nvPr/>
        </p:nvSpPr>
        <p:spPr>
          <a:xfrm>
            <a:off x="4228994"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15" name="Shape 13"/>
          <p:cNvSpPr/>
          <p:nvPr/>
        </p:nvSpPr>
        <p:spPr>
          <a:xfrm>
            <a:off x="4381390"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16" name="Text 14"/>
          <p:cNvSpPr/>
          <p:nvPr/>
        </p:nvSpPr>
        <p:spPr>
          <a:xfrm>
            <a:off x="4470288"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PRMP</a:t>
            </a:r>
            <a:endParaRPr lang="en-US" sz="1000" dirty="0"/>
          </a:p>
        </p:txBody>
      </p:sp>
      <p:sp>
        <p:nvSpPr>
          <p:cNvPr id="17" name="Text 15"/>
          <p:cNvSpPr/>
          <p:nvPr/>
        </p:nvSpPr>
        <p:spPr>
          <a:xfrm>
            <a:off x="4470288"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Vérifier le plan</a:t>
            </a:r>
            <a:endParaRPr lang="en-US" sz="1400" dirty="0"/>
          </a:p>
        </p:txBody>
      </p:sp>
      <p:sp>
        <p:nvSpPr>
          <p:cNvPr id="18" name="Text 16"/>
          <p:cNvSpPr/>
          <p:nvPr/>
        </p:nvSpPr>
        <p:spPr>
          <a:xfrm>
            <a:off x="4470288"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Le pré-contrôle signale les écarts aux seuils ; chacun se corrige ou s’écarte avec un motif.</a:t>
            </a:r>
            <a:endParaRPr lang="en-US" sz="1150" dirty="0"/>
          </a:p>
        </p:txBody>
      </p:sp>
      <p:sp>
        <p:nvSpPr>
          <p:cNvPr id="19" name="Text 17"/>
          <p:cNvSpPr/>
          <p:nvPr/>
        </p:nvSpPr>
        <p:spPr>
          <a:xfrm>
            <a:off x="6013300"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20" name="Shape 18"/>
          <p:cNvSpPr/>
          <p:nvPr/>
        </p:nvSpPr>
        <p:spPr>
          <a:xfrm>
            <a:off x="6165696"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21" name="Text 19"/>
          <p:cNvSpPr/>
          <p:nvPr/>
        </p:nvSpPr>
        <p:spPr>
          <a:xfrm>
            <a:off x="6254594"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PRMP SEULE</a:t>
            </a:r>
            <a:endParaRPr lang="en-US" sz="1000" dirty="0"/>
          </a:p>
        </p:txBody>
      </p:sp>
      <p:sp>
        <p:nvSpPr>
          <p:cNvPr id="22" name="Text 20"/>
          <p:cNvSpPr/>
          <p:nvPr/>
        </p:nvSpPr>
        <p:spPr>
          <a:xfrm>
            <a:off x="6254594"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Soumettre</a:t>
            </a:r>
            <a:endParaRPr lang="en-US" sz="1400" dirty="0"/>
          </a:p>
        </p:txBody>
      </p:sp>
      <p:sp>
        <p:nvSpPr>
          <p:cNvPr id="23" name="Text 21"/>
          <p:cNvSpPr/>
          <p:nvPr/>
        </p:nvSpPr>
        <p:spPr>
          <a:xfrm>
            <a:off x="6254594"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Le dossier reçoit sa référence et sa date de fin de traitement prévue.</a:t>
            </a:r>
            <a:endParaRPr lang="en-US" sz="1150" dirty="0"/>
          </a:p>
        </p:txBody>
      </p:sp>
      <p:sp>
        <p:nvSpPr>
          <p:cNvPr id="24" name="Text 22"/>
          <p:cNvSpPr/>
          <p:nvPr/>
        </p:nvSpPr>
        <p:spPr>
          <a:xfrm>
            <a:off x="7797605"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25" name="Shape 23"/>
          <p:cNvSpPr/>
          <p:nvPr/>
        </p:nvSpPr>
        <p:spPr>
          <a:xfrm>
            <a:off x="7950001"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26" name="Text 24"/>
          <p:cNvSpPr/>
          <p:nvPr/>
        </p:nvSpPr>
        <p:spPr>
          <a:xfrm>
            <a:off x="8038899"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PRMP</a:t>
            </a:r>
            <a:endParaRPr lang="en-US" sz="1000" dirty="0"/>
          </a:p>
        </p:txBody>
      </p:sp>
      <p:sp>
        <p:nvSpPr>
          <p:cNvPr id="27" name="Text 25"/>
          <p:cNvSpPr/>
          <p:nvPr/>
        </p:nvSpPr>
        <p:spPr>
          <a:xfrm>
            <a:off x="8038899"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Suivre le contrôle</a:t>
            </a:r>
            <a:endParaRPr lang="en-US" sz="1400" dirty="0"/>
          </a:p>
        </p:txBody>
      </p:sp>
      <p:sp>
        <p:nvSpPr>
          <p:cNvPr id="28" name="Text 26"/>
          <p:cNvSpPr/>
          <p:nvPr/>
        </p:nvSpPr>
        <p:spPr>
          <a:xfrm>
            <a:off x="8038899"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La frise des sept étapes, les jalons du calendrier, la demande de retrait si nécessaire.</a:t>
            </a:r>
            <a:endParaRPr lang="en-US" sz="1150" dirty="0"/>
          </a:p>
        </p:txBody>
      </p:sp>
      <p:sp>
        <p:nvSpPr>
          <p:cNvPr id="29" name="Text 27"/>
          <p:cNvSpPr/>
          <p:nvPr/>
        </p:nvSpPr>
        <p:spPr>
          <a:xfrm>
            <a:off x="9581910"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30" name="Shape 28"/>
          <p:cNvSpPr/>
          <p:nvPr/>
        </p:nvSpPr>
        <p:spPr>
          <a:xfrm>
            <a:off x="9734307" y="1778000"/>
            <a:ext cx="1644609" cy="1905000"/>
          </a:xfrm>
          <a:prstGeom prst="roundRect">
            <a:avLst>
              <a:gd name="adj" fmla="val 3336"/>
            </a:avLst>
          </a:prstGeom>
          <a:solidFill>
            <a:srgbClr val="12324A"/>
          </a:solidFill>
          <a:ln w="19050">
            <a:solidFill>
              <a:srgbClr val="12324A"/>
            </a:solidFill>
            <a:prstDash val="solid"/>
          </a:ln>
        </p:spPr>
        <p:txBody>
          <a:bodyPr/>
          <a:lstStyle/>
          <a:p>
            <a:endParaRPr lang="fr-FR"/>
          </a:p>
        </p:txBody>
      </p:sp>
      <p:sp>
        <p:nvSpPr>
          <p:cNvPr id="31" name="Text 29"/>
          <p:cNvSpPr/>
          <p:nvPr/>
        </p:nvSpPr>
        <p:spPr>
          <a:xfrm>
            <a:off x="9823204" y="1866900"/>
            <a:ext cx="1466813" cy="215900"/>
          </a:xfrm>
          <a:prstGeom prst="rect">
            <a:avLst/>
          </a:prstGeom>
          <a:noFill/>
          <a:ln/>
        </p:spPr>
        <p:txBody>
          <a:bodyPr wrap="square" rtlCol="0" anchor="ctr">
            <a:normAutofit/>
          </a:bodyPr>
          <a:lstStyle/>
          <a:p>
            <a:pPr marL="0" indent="0">
              <a:buNone/>
            </a:pPr>
            <a:r>
              <a:rPr lang="en-US" sz="1000" b="1" dirty="0">
                <a:solidFill>
                  <a:srgbClr val="E3AE2E"/>
                </a:solidFill>
                <a:latin typeface="Segoe UI" pitchFamily="34" charset="0"/>
                <a:ea typeface="Segoe UI" pitchFamily="34" charset="-122"/>
                <a:cs typeface="Segoe UI" pitchFamily="34" charset="-120"/>
              </a:rPr>
              <a:t>PRMP</a:t>
            </a:r>
            <a:endParaRPr lang="en-US" sz="1000" dirty="0"/>
          </a:p>
        </p:txBody>
      </p:sp>
      <p:sp>
        <p:nvSpPr>
          <p:cNvPr id="32" name="Text 30"/>
          <p:cNvSpPr/>
          <p:nvPr/>
        </p:nvSpPr>
        <p:spPr>
          <a:xfrm>
            <a:off x="9823204" y="2095500"/>
            <a:ext cx="1466813" cy="508000"/>
          </a:xfrm>
          <a:prstGeom prst="rect">
            <a:avLst/>
          </a:prstGeom>
          <a:noFill/>
          <a:ln/>
        </p:spPr>
        <p:txBody>
          <a:bodyPr wrap="square" rtlCol="0" anchor="t">
            <a:normAutofit/>
          </a:bodyPr>
          <a:lstStyle/>
          <a:p>
            <a:pPr marL="0" indent="0">
              <a:buNone/>
            </a:pPr>
            <a:r>
              <a:rPr lang="en-US" sz="1400" b="1" dirty="0">
                <a:solidFill>
                  <a:srgbClr val="FCFCFA"/>
                </a:solidFill>
                <a:latin typeface="Segoe UI" pitchFamily="34" charset="0"/>
                <a:ea typeface="Segoe UI" pitchFamily="34" charset="-122"/>
                <a:cs typeface="Segoe UI" pitchFamily="34" charset="-120"/>
              </a:rPr>
              <a:t>Plan contrôlé, puis mis à jour</a:t>
            </a:r>
            <a:endParaRPr lang="en-US" sz="1400" dirty="0"/>
          </a:p>
        </p:txBody>
      </p:sp>
      <p:sp>
        <p:nvSpPr>
          <p:cNvPr id="33" name="Text 31"/>
          <p:cNvSpPr/>
          <p:nvPr/>
        </p:nvSpPr>
        <p:spPr>
          <a:xfrm>
            <a:off x="9823204" y="2603500"/>
            <a:ext cx="1466813" cy="1016000"/>
          </a:xfrm>
          <a:prstGeom prst="rect">
            <a:avLst/>
          </a:prstGeom>
          <a:noFill/>
          <a:ln/>
        </p:spPr>
        <p:txBody>
          <a:bodyPr wrap="square" rtlCol="0" anchor="t">
            <a:normAutofit/>
          </a:bodyPr>
          <a:lstStyle/>
          <a:p>
            <a:pPr marL="0" indent="0">
              <a:buNone/>
            </a:pPr>
            <a:r>
              <a:rPr lang="en-US" sz="1150" dirty="0">
                <a:solidFill>
                  <a:srgbClr val="C9D6E2"/>
                </a:solidFill>
                <a:latin typeface="Segoe UI" pitchFamily="34" charset="0"/>
                <a:ea typeface="Segoe UI" pitchFamily="34" charset="-122"/>
                <a:cs typeface="Segoe UI" pitchFamily="34" charset="-120"/>
              </a:rPr>
              <a:t>Le circuit clos, le plan vit : chaque mise à jour en fait une nouvelle version.</a:t>
            </a:r>
            <a:endParaRPr lang="en-US" sz="1150" dirty="0"/>
          </a:p>
        </p:txBody>
      </p:sp>
      <p:sp>
        <p:nvSpPr>
          <p:cNvPr id="34" name="Text 3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29</a:t>
            </a:r>
            <a:endParaRPr lang="en-US" sz="1100" dirty="0"/>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name="Slide 30">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PLANIFIER</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Saisir le plan, ou l’importer</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La PRMP choisit le type de dossier, puis saisit son plan de passation ou l’importe depuis le PDF officiel. Rien ne part tant qu’elle ne l’a pas soumis.</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30</a:t>
            </a:r>
            <a:endParaRPr lang="en-US" sz="1100" dirty="0"/>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name="Slide 3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PLANIFICATION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Créer un dossier : choisir son type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Créer un dossier : choisir son typ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ou son UGPM.</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b="1" dirty="0">
                <a:solidFill>
                  <a:srgbClr val="1B2A3A"/>
                </a:solidFill>
                <a:latin typeface="Segoe UI" pitchFamily="34" charset="0"/>
                <a:ea typeface="Segoe UI" pitchFamily="34" charset="-122"/>
                <a:cs typeface="Segoe UI" pitchFamily="34" charset="-120"/>
              </a:rPr>
              <a:t>Dossier de planification</a:t>
            </a:r>
            <a:r>
              <a:rPr lang="en-US" sz="1200" dirty="0">
                <a:solidFill>
                  <a:srgbClr val="1B2A3A"/>
                </a:solidFill>
                <a:latin typeface="Segoe UI" pitchFamily="34" charset="0"/>
                <a:ea typeface="Segoe UI" pitchFamily="34" charset="-122"/>
                <a:cs typeface="Segoe UI" pitchFamily="34" charset="-120"/>
              </a:rPr>
              <a:t> (le plan de passation), dossier de mise en concurrence, ou dossier de marché.</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 Saisir » crée un </a:t>
            </a:r>
            <a:r>
              <a:rPr lang="en-US" sz="1200" b="1" dirty="0">
                <a:solidFill>
                  <a:srgbClr val="1B2A3A"/>
                </a:solidFill>
                <a:latin typeface="Segoe UI" pitchFamily="34" charset="0"/>
                <a:ea typeface="Segoe UI" pitchFamily="34" charset="-122"/>
                <a:cs typeface="Segoe UI" pitchFamily="34" charset="-120"/>
              </a:rPr>
              <a:t>brouillon</a:t>
            </a:r>
            <a:r>
              <a:rPr lang="en-US" sz="1200" dirty="0">
                <a:solidFill>
                  <a:srgbClr val="1B2A3A"/>
                </a:solidFill>
                <a:latin typeface="Segoe UI" pitchFamily="34" charset="0"/>
                <a:ea typeface="Segoe UI" pitchFamily="34" charset="-122"/>
                <a:cs typeface="Segoe UI" pitchFamily="34" charset="-120"/>
              </a:rPr>
              <a:t>, invisible des contrôleurs jusqu’à la soumission.</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L’appel d’offres, lui, se prépare dans sa fiche (partie 04).</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RG-PLA-01 · RG-PLA-02</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31</a:t>
            </a:r>
            <a:endParaRPr lang="en-US" sz="1100" dirty="0"/>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name="Slide 3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PLANIFICATION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L’en-tête du plan, et l’import PDF</a:t>
            </a:r>
            <a:endParaRPr lang="en-US" sz="2600" dirty="0"/>
          </a:p>
        </p:txBody>
      </p:sp>
      <p:sp>
        <p:nvSpPr>
          <p:cNvPr id="4" name="Shape 2"/>
          <p:cNvSpPr/>
          <p:nvPr/>
        </p:nvSpPr>
        <p:spPr>
          <a:xfrm>
            <a:off x="800080" y="1193800"/>
            <a:ext cx="7327717" cy="4589463"/>
          </a:xfrm>
          <a:prstGeom prst="rect">
            <a:avLst/>
          </a:prstGeom>
          <a:solidFill>
            <a:srgbClr val="FCFCFA"/>
          </a:solidFill>
          <a:ln w="9525">
            <a:solidFill>
              <a:srgbClr val="D5DCE4"/>
            </a:solidFill>
            <a:prstDash val="solid"/>
          </a:ln>
        </p:spPr>
        <p:txBody>
          <a:bodyPr/>
          <a:lstStyle/>
          <a:p>
            <a:endParaRPr lang="fr-FR"/>
          </a:p>
        </p:txBody>
      </p:sp>
      <p:pic>
        <p:nvPicPr>
          <p:cNvPr id="5" name="Image 0" descr="L’en-tête du plan, et l’import PDF"/>
          <p:cNvPicPr>
            <a:picLocks noChangeAspect="1"/>
          </p:cNvPicPr>
          <p:nvPr/>
        </p:nvPicPr>
        <p:blipFill>
          <a:blip r:embed="rId3"/>
          <a:stretch>
            <a:fillRect/>
          </a:stretch>
        </p:blipFill>
        <p:spPr>
          <a:xfrm>
            <a:off x="812780" y="1206500"/>
            <a:ext cx="7302317" cy="4564063"/>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ou son UGPM.</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b="1" dirty="0">
                <a:solidFill>
                  <a:srgbClr val="1B2A3A"/>
                </a:solidFill>
                <a:latin typeface="Segoe UI" pitchFamily="34" charset="0"/>
                <a:ea typeface="Segoe UI" pitchFamily="34" charset="-122"/>
                <a:cs typeface="Segoe UI" pitchFamily="34" charset="-120"/>
              </a:rPr>
              <a:t>Importer un PPM (PDF)</a:t>
            </a:r>
            <a:r>
              <a:rPr lang="en-US" sz="1200" dirty="0">
                <a:solidFill>
                  <a:srgbClr val="1B2A3A"/>
                </a:solidFill>
                <a:latin typeface="Segoe UI" pitchFamily="34" charset="0"/>
                <a:ea typeface="Segoe UI" pitchFamily="34" charset="-122"/>
                <a:cs typeface="Segoe UI" pitchFamily="34" charset="-120"/>
              </a:rPr>
              <a:t> pré-remplit tout depuis le plan officiel — à vérifier ligne par ligne avant création.</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Sinon la saisie : l’entité contractante (parmi celles de la PRMP), l’exercice, la date de signature.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localité et le signataire se déduisent seuls.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RG-PLA-02 · RG-PLA-10</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32</a:t>
            </a:r>
            <a:endParaRPr lang="en-US" sz="1100" dirty="0"/>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name="Slide 3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PLANIFICATION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Une ligne de marché</a:t>
            </a:r>
            <a:endParaRPr lang="en-US" sz="2600" dirty="0"/>
          </a:p>
        </p:txBody>
      </p:sp>
      <p:sp>
        <p:nvSpPr>
          <p:cNvPr id="4" name="Shape 2"/>
          <p:cNvSpPr/>
          <p:nvPr/>
        </p:nvSpPr>
        <p:spPr>
          <a:xfrm>
            <a:off x="800080" y="1193800"/>
            <a:ext cx="7327717" cy="4589463"/>
          </a:xfrm>
          <a:prstGeom prst="rect">
            <a:avLst/>
          </a:prstGeom>
          <a:solidFill>
            <a:srgbClr val="FCFCFA"/>
          </a:solidFill>
          <a:ln w="9525">
            <a:solidFill>
              <a:srgbClr val="D5DCE4"/>
            </a:solidFill>
            <a:prstDash val="solid"/>
          </a:ln>
        </p:spPr>
        <p:txBody>
          <a:bodyPr/>
          <a:lstStyle/>
          <a:p>
            <a:endParaRPr lang="fr-FR"/>
          </a:p>
        </p:txBody>
      </p:sp>
      <p:pic>
        <p:nvPicPr>
          <p:cNvPr id="5" name="Image 0" descr="Une ligne de marché"/>
          <p:cNvPicPr>
            <a:picLocks noChangeAspect="1"/>
          </p:cNvPicPr>
          <p:nvPr/>
        </p:nvPicPr>
        <p:blipFill>
          <a:blip r:embed="rId3"/>
          <a:stretch>
            <a:fillRect/>
          </a:stretch>
        </p:blipFill>
        <p:spPr>
          <a:xfrm>
            <a:off x="812780" y="1206500"/>
            <a:ext cx="7302317" cy="4564063"/>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ou son UGPM.</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Nature, objet, montant estimatif hors taxes, </a:t>
            </a:r>
            <a:r>
              <a:rPr lang="en-US" sz="1200" b="1" dirty="0">
                <a:solidFill>
                  <a:srgbClr val="1B2A3A"/>
                </a:solidFill>
                <a:latin typeface="Segoe UI" pitchFamily="34" charset="0"/>
                <a:ea typeface="Segoe UI" pitchFamily="34" charset="-122"/>
                <a:cs typeface="Segoe UI" pitchFamily="34" charset="-120"/>
              </a:rPr>
              <a:t>mode de passation</a:t>
            </a:r>
            <a:r>
              <a:rPr lang="en-US" sz="1200" dirty="0">
                <a:solidFill>
                  <a:srgbClr val="1B2A3A"/>
                </a:solidFill>
                <a:latin typeface="Segoe UI" pitchFamily="34" charset="0"/>
                <a:ea typeface="Segoe UI" pitchFamily="34" charset="-122"/>
                <a:cs typeface="Segoe UI" pitchFamily="34" charset="-120"/>
              </a:rPr>
              <a:t>, forme, financement, statut.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Par ligne : les bénéficiaires, les lots et le calendrier prévisionnel ; l’écran signale les dates manquantes.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Ici : des travaux de réhabilitation, en appel d’offres ouvert.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RG-PLA-03 · RG-PLA-04 · RG-PLA-05 · RG-PLA-06 · RG-PLA-26</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33</a:t>
            </a:r>
            <a:endParaRPr lang="en-US" sz="1100" dirty="0"/>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name="Slide 3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PLANIFICATION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calendrier prévisionnel (CAPM)</a:t>
            </a:r>
            <a:endParaRPr lang="en-US" sz="2600" dirty="0"/>
          </a:p>
        </p:txBody>
      </p:sp>
      <p:sp>
        <p:nvSpPr>
          <p:cNvPr id="4" name="Shape 2"/>
          <p:cNvSpPr/>
          <p:nvPr/>
        </p:nvSpPr>
        <p:spPr>
          <a:xfrm>
            <a:off x="800080" y="1193800"/>
            <a:ext cx="5443931" cy="5105400"/>
          </a:xfrm>
          <a:prstGeom prst="rect">
            <a:avLst/>
          </a:prstGeom>
          <a:solidFill>
            <a:srgbClr val="FCFCFA"/>
          </a:solidFill>
          <a:ln w="9525">
            <a:solidFill>
              <a:srgbClr val="D5DCE4"/>
            </a:solidFill>
            <a:prstDash val="solid"/>
          </a:ln>
        </p:spPr>
        <p:txBody>
          <a:bodyPr/>
          <a:lstStyle/>
          <a:p>
            <a:endParaRPr lang="fr-FR"/>
          </a:p>
        </p:txBody>
      </p:sp>
      <p:pic>
        <p:nvPicPr>
          <p:cNvPr id="5" name="Image 0" descr="Le calendrier prévisionnel (CAPM)"/>
          <p:cNvPicPr>
            <a:picLocks noChangeAspect="1"/>
          </p:cNvPicPr>
          <p:nvPr/>
        </p:nvPicPr>
        <p:blipFill>
          <a:blip r:embed="rId3"/>
          <a:stretch>
            <a:fillRect/>
          </a:stretch>
        </p:blipFill>
        <p:spPr>
          <a:xfrm>
            <a:off x="812780" y="1206500"/>
            <a:ext cx="5418531" cy="5080000"/>
          </a:xfrm>
          <a:prstGeom prst="rect">
            <a:avLst/>
          </a:prstGeom>
        </p:spPr>
      </p:pic>
      <p:sp>
        <p:nvSpPr>
          <p:cNvPr id="6" name="Shape 3"/>
          <p:cNvSpPr/>
          <p:nvPr/>
        </p:nvSpPr>
        <p:spPr>
          <a:xfrm>
            <a:off x="6409106" y="1206500"/>
            <a:ext cx="4969809"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6409106" y="1206500"/>
            <a:ext cx="38099" cy="5080000"/>
          </a:xfrm>
          <a:prstGeom prst="rect">
            <a:avLst/>
          </a:prstGeom>
          <a:solidFill>
            <a:srgbClr val="1B6FA8"/>
          </a:solidFill>
          <a:ln/>
        </p:spPr>
        <p:txBody>
          <a:bodyPr/>
          <a:lstStyle/>
          <a:p>
            <a:endParaRPr lang="fr-FR"/>
          </a:p>
        </p:txBody>
      </p:sp>
      <p:sp>
        <p:nvSpPr>
          <p:cNvPr id="8" name="Text 5"/>
          <p:cNvSpPr/>
          <p:nvPr/>
        </p:nvSpPr>
        <p:spPr>
          <a:xfrm>
            <a:off x="6574202" y="1308100"/>
            <a:ext cx="4677716"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ou son UGPM.</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processus du mode de passation, groupés par phase, chacun avec sa date de début et, au besoin, de fin.</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Au moins un processus daté ; la date de fin est proposée à la veille du processus suivant.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chronologie est contrôlée ; un délai aménagé appelle une </a:t>
            </a:r>
            <a:r>
              <a:rPr lang="en-US" sz="1200" b="1" dirty="0">
                <a:solidFill>
                  <a:srgbClr val="1B2A3A"/>
                </a:solidFill>
                <a:latin typeface="Segoe UI" pitchFamily="34" charset="0"/>
                <a:ea typeface="Segoe UI" pitchFamily="34" charset="-122"/>
                <a:cs typeface="Segoe UI" pitchFamily="34" charset="-120"/>
              </a:rPr>
              <a:t>justification</a:t>
            </a:r>
            <a:r>
              <a:rPr lang="en-US" sz="1200" dirty="0">
                <a:solidFill>
                  <a:srgbClr val="1B2A3A"/>
                </a:solidFill>
                <a:latin typeface="Segoe UI" pitchFamily="34" charset="0"/>
                <a:ea typeface="Segoe UI" pitchFamily="34" charset="-122"/>
                <a:cs typeface="Segoe UI" pitchFamily="34" charset="-120"/>
              </a:rPr>
              <a: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RG-PLA-07 · RG-PLA-08</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34</a:t>
            </a:r>
            <a:endParaRPr lang="en-US" sz="1100" dirty="0"/>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name="Slide 3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PLANIFICATION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pièces jointes et le projet d’AGPM</a:t>
            </a:r>
            <a:endParaRPr lang="en-US" sz="2600" dirty="0"/>
          </a:p>
        </p:txBody>
      </p:sp>
      <p:sp>
        <p:nvSpPr>
          <p:cNvPr id="4" name="Shape 2"/>
          <p:cNvSpPr/>
          <p:nvPr/>
        </p:nvSpPr>
        <p:spPr>
          <a:xfrm>
            <a:off x="800080" y="1193800"/>
            <a:ext cx="7327717" cy="4589463"/>
          </a:xfrm>
          <a:prstGeom prst="rect">
            <a:avLst/>
          </a:prstGeom>
          <a:solidFill>
            <a:srgbClr val="FCFCFA"/>
          </a:solidFill>
          <a:ln w="9525">
            <a:solidFill>
              <a:srgbClr val="D5DCE4"/>
            </a:solidFill>
            <a:prstDash val="solid"/>
          </a:ln>
        </p:spPr>
        <p:txBody>
          <a:bodyPr/>
          <a:lstStyle/>
          <a:p>
            <a:endParaRPr lang="fr-FR"/>
          </a:p>
        </p:txBody>
      </p:sp>
      <p:pic>
        <p:nvPicPr>
          <p:cNvPr id="5" name="Image 0" descr="Les pièces jointes et le projet d’AGPM"/>
          <p:cNvPicPr>
            <a:picLocks noChangeAspect="1"/>
          </p:cNvPicPr>
          <p:nvPr/>
        </p:nvPicPr>
        <p:blipFill>
          <a:blip r:embed="rId3"/>
          <a:stretch>
            <a:fillRect/>
          </a:stretch>
        </p:blipFill>
        <p:spPr>
          <a:xfrm>
            <a:off x="812780" y="1206500"/>
            <a:ext cx="7302317" cy="4564063"/>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ou son UGPM.</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pièces exigées dépendent du type de dossier, fixées dans les référentiels de l’Administrateur ; ici, aucune n’est exigée.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Formats acceptés : PDF, JPEG, PNG ; chaque fichier est contrôlé.</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 marché en appel d’offres ouvert fait naître le </a:t>
            </a:r>
            <a:r>
              <a:rPr lang="en-US" sz="1200" b="1" dirty="0">
                <a:solidFill>
                  <a:srgbClr val="1B2A3A"/>
                </a:solidFill>
                <a:latin typeface="Segoe UI" pitchFamily="34" charset="0"/>
                <a:ea typeface="Segoe UI" pitchFamily="34" charset="-122"/>
                <a:cs typeface="Segoe UI" pitchFamily="34" charset="-120"/>
              </a:rPr>
              <a:t>projet d’AGPM</a:t>
            </a:r>
            <a:r>
              <a:rPr lang="en-US" sz="1200" dirty="0">
                <a:solidFill>
                  <a:srgbClr val="1B2A3A"/>
                </a:solidFill>
                <a:latin typeface="Segoe UI" pitchFamily="34" charset="0"/>
                <a:ea typeface="Segoe UI" pitchFamily="34" charset="-122"/>
                <a:cs typeface="Segoe UI" pitchFamily="34" charset="-120"/>
              </a:rPr>
              <a:t>, dérivé du plan et visible dans l’aperçu.</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RG-PLA-04 · RG-PLA-09</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35</a:t>
            </a:r>
            <a:endParaRPr lang="en-US" sz="1100" dirty="0"/>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name="Slide 3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PLANIFICATION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L’aperçu avant création</a:t>
            </a:r>
            <a:endParaRPr lang="en-US" sz="2600" dirty="0"/>
          </a:p>
        </p:txBody>
      </p:sp>
      <p:sp>
        <p:nvSpPr>
          <p:cNvPr id="4" name="Shape 2"/>
          <p:cNvSpPr/>
          <p:nvPr/>
        </p:nvSpPr>
        <p:spPr>
          <a:xfrm>
            <a:off x="800080" y="1193800"/>
            <a:ext cx="7327717" cy="4589463"/>
          </a:xfrm>
          <a:prstGeom prst="rect">
            <a:avLst/>
          </a:prstGeom>
          <a:solidFill>
            <a:srgbClr val="FCFCFA"/>
          </a:solidFill>
          <a:ln w="9525">
            <a:solidFill>
              <a:srgbClr val="D5DCE4"/>
            </a:solidFill>
            <a:prstDash val="solid"/>
          </a:ln>
        </p:spPr>
        <p:txBody>
          <a:bodyPr/>
          <a:lstStyle/>
          <a:p>
            <a:endParaRPr lang="fr-FR"/>
          </a:p>
        </p:txBody>
      </p:sp>
      <p:pic>
        <p:nvPicPr>
          <p:cNvPr id="5" name="Image 0" descr="L’aperçu avant création"/>
          <p:cNvPicPr>
            <a:picLocks noChangeAspect="1"/>
          </p:cNvPicPr>
          <p:nvPr/>
        </p:nvPicPr>
        <p:blipFill>
          <a:blip r:embed="rId3"/>
          <a:stretch>
            <a:fillRect/>
          </a:stretch>
        </p:blipFill>
        <p:spPr>
          <a:xfrm>
            <a:off x="812780" y="1206500"/>
            <a:ext cx="7302317" cy="4564063"/>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ou son UGPM.</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a:t>
            </a:r>
            <a:r>
              <a:rPr lang="en-US" sz="1200" b="1" dirty="0">
                <a:solidFill>
                  <a:srgbClr val="1B2A3A"/>
                </a:solidFill>
                <a:latin typeface="Segoe UI" pitchFamily="34" charset="0"/>
                <a:ea typeface="Segoe UI" pitchFamily="34" charset="-122"/>
                <a:cs typeface="Segoe UI" pitchFamily="34" charset="-120"/>
              </a:rPr>
              <a:t>fiche de présentation</a:t>
            </a:r>
            <a:r>
              <a:rPr lang="en-US" sz="1200" dirty="0">
                <a:solidFill>
                  <a:srgbClr val="1B2A3A"/>
                </a:solidFill>
                <a:latin typeface="Segoe UI" pitchFamily="34" charset="0"/>
                <a:ea typeface="Segoe UI" pitchFamily="34" charset="-122"/>
                <a:cs typeface="Segoe UI" pitchFamily="34" charset="-120"/>
              </a:rPr>
              <a:t>, le </a:t>
            </a:r>
            <a:r>
              <a:rPr lang="en-US" sz="1200" b="1" dirty="0">
                <a:solidFill>
                  <a:srgbClr val="1B2A3A"/>
                </a:solidFill>
                <a:latin typeface="Segoe UI" pitchFamily="34" charset="0"/>
                <a:ea typeface="Segoe UI" pitchFamily="34" charset="-122"/>
                <a:cs typeface="Segoe UI" pitchFamily="34" charset="-120"/>
              </a:rPr>
              <a:t>plan de passation</a:t>
            </a:r>
            <a:r>
              <a:rPr lang="en-US" sz="1200" dirty="0">
                <a:solidFill>
                  <a:srgbClr val="1B2A3A"/>
                </a:solidFill>
                <a:latin typeface="Segoe UI" pitchFamily="34" charset="0"/>
                <a:ea typeface="Segoe UI" pitchFamily="34" charset="-122"/>
                <a:cs typeface="Segoe UI" pitchFamily="34" charset="-120"/>
              </a:rPr>
              <a:t> et le projet d’AGPM, tels que la Commission les lira.</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Rien ne part tant que le dossier n’est pas créé, puis soumis.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RG-PLA-02 · RG-PLA-06 · RG-PLA-10</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36</a:t>
            </a:r>
            <a:endParaRPr lang="en-US" sz="1100" dirty="0"/>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name="Slide 37">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PLANIFIER</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Vérifier avant de soumettre</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Le brouillon se reprend autant qu’il le faut. Avant de soumettre, la PRMP lance le pré-contrôle : il signale, il ne décide jamais.</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37</a:t>
            </a:r>
            <a:endParaRPr lang="en-US" sz="1100" dirty="0"/>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name="Slide 3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PLANIFICATION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Mes brouillons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Mes brouillon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 l’UGPM complète les brouillons sans les soumettre.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dossiers commencés et pas encore soumis : </a:t>
            </a:r>
            <a:r>
              <a:rPr lang="en-US" sz="1200" b="1" dirty="0">
                <a:solidFill>
                  <a:srgbClr val="1B2A3A"/>
                </a:solidFill>
                <a:latin typeface="Segoe UI" pitchFamily="34" charset="0"/>
                <a:ea typeface="Segoe UI" pitchFamily="34" charset="-122"/>
                <a:cs typeface="Segoe UI" pitchFamily="34" charset="-120"/>
              </a:rPr>
              <a:t>ouvrir</a:t>
            </a:r>
            <a:r>
              <a:rPr lang="en-US" sz="1200" dirty="0">
                <a:solidFill>
                  <a:srgbClr val="1B2A3A"/>
                </a:solidFill>
                <a:latin typeface="Segoe UI" pitchFamily="34" charset="0"/>
                <a:ea typeface="Segoe UI" pitchFamily="34" charset="-122"/>
                <a:cs typeface="Segoe UI" pitchFamily="34" charset="-120"/>
              </a:rPr>
              <a:t>, </a:t>
            </a:r>
            <a:r>
              <a:rPr lang="en-US" sz="1200" b="1" dirty="0">
                <a:solidFill>
                  <a:srgbClr val="1B2A3A"/>
                </a:solidFill>
                <a:latin typeface="Segoe UI" pitchFamily="34" charset="0"/>
                <a:ea typeface="Segoe UI" pitchFamily="34" charset="-122"/>
                <a:cs typeface="Segoe UI" pitchFamily="34" charset="-120"/>
              </a:rPr>
              <a:t>vérifier</a:t>
            </a:r>
            <a:r>
              <a:rPr lang="en-US" sz="1200" dirty="0">
                <a:solidFill>
                  <a:srgbClr val="1B2A3A"/>
                </a:solidFill>
                <a:latin typeface="Segoe UI" pitchFamily="34" charset="0"/>
                <a:ea typeface="Segoe UI" pitchFamily="34" charset="-122"/>
                <a:cs typeface="Segoe UI" pitchFamily="34" charset="-120"/>
              </a:rPr>
              <a:t>, </a:t>
            </a:r>
            <a:r>
              <a:rPr lang="en-US" sz="1200" b="1" dirty="0">
                <a:solidFill>
                  <a:srgbClr val="1B2A3A"/>
                </a:solidFill>
                <a:latin typeface="Segoe UI" pitchFamily="34" charset="0"/>
                <a:ea typeface="Segoe UI" pitchFamily="34" charset="-122"/>
                <a:cs typeface="Segoe UI" pitchFamily="34" charset="-120"/>
              </a:rPr>
              <a:t>soumettre</a:t>
            </a:r>
            <a:r>
              <a:rPr lang="en-US" sz="1200" dirty="0">
                <a:solidFill>
                  <a:srgbClr val="1B2A3A"/>
                </a:solidFill>
                <a:latin typeface="Segoe UI" pitchFamily="34" charset="0"/>
                <a:ea typeface="Segoe UI" pitchFamily="34" charset="-122"/>
                <a:cs typeface="Segoe UI" pitchFamily="34" charset="-120"/>
              </a:rPr>
              <a:t> ou </a:t>
            </a:r>
            <a:r>
              <a:rPr lang="en-US" sz="1200" b="1" dirty="0">
                <a:solidFill>
                  <a:srgbClr val="1B2A3A"/>
                </a:solidFill>
                <a:latin typeface="Segoe UI" pitchFamily="34" charset="0"/>
                <a:ea typeface="Segoe UI" pitchFamily="34" charset="-122"/>
                <a:cs typeface="Segoe UI" pitchFamily="34" charset="-120"/>
              </a:rPr>
              <a:t>supprimer</a:t>
            </a:r>
            <a:r>
              <a:rPr lang="en-US" sz="1200" dirty="0">
                <a:solidFill>
                  <a:srgbClr val="1B2A3A"/>
                </a:solidFill>
                <a:latin typeface="Segoe UI" pitchFamily="34" charset="0"/>
                <a:ea typeface="Segoe UI" pitchFamily="34" charset="-122"/>
                <a:cs typeface="Segoe UI" pitchFamily="34" charset="-120"/>
              </a:rPr>
              <a: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 brouillon n’a pas encore de référence : elle lui est attribuée à la soumission.</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Rien ne part à la Commission avant la soumission.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RG-PLA-02 · RG-PLA-16 · RG-PLA-17</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38</a:t>
            </a:r>
            <a:endParaRPr lang="en-US" sz="1100" dirty="0"/>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name="Slide 3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PLANIFICATION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Vérifier son plan avant de le soumettre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Vérifier son plan avant de le soumettr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points que le contrôleur de la CNM regardera, avec leur </a:t>
            </a:r>
            <a:r>
              <a:rPr lang="en-US" sz="1200" b="1" dirty="0">
                <a:solidFill>
                  <a:srgbClr val="1B2A3A"/>
                </a:solidFill>
                <a:latin typeface="Segoe UI" pitchFamily="34" charset="0"/>
                <a:ea typeface="Segoe UI" pitchFamily="34" charset="-122"/>
                <a:cs typeface="Segoe UI" pitchFamily="34" charset="-120"/>
              </a:rPr>
              <a:t>fondement</a:t>
            </a:r>
            <a:r>
              <a:rPr lang="en-US" sz="1200" dirty="0">
                <a:solidFill>
                  <a:srgbClr val="1B2A3A"/>
                </a:solidFill>
                <a:latin typeface="Segoe UI" pitchFamily="34" charset="0"/>
                <a:ea typeface="Segoe UI" pitchFamily="34" charset="-122"/>
                <a:cs typeface="Segoe UI" pitchFamily="34" charset="-120"/>
              </a:rPr>
              <a:t> : ici, la catégorie de seuil à préciser (arrêté n° 13 156/2019-MEF, art. 2).</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Chaque point se corrige — une correction est proposée — ou s’écarte avec un </a:t>
            </a:r>
            <a:r>
              <a:rPr lang="en-US" sz="1200" b="1" dirty="0">
                <a:solidFill>
                  <a:srgbClr val="1B2A3A"/>
                </a:solidFill>
                <a:latin typeface="Segoe UI" pitchFamily="34" charset="0"/>
                <a:ea typeface="Segoe UI" pitchFamily="34" charset="-122"/>
                <a:cs typeface="Segoe UI" pitchFamily="34" charset="-120"/>
              </a:rPr>
              <a:t>motif visible du contrôleur</a:t>
            </a:r>
            <a:r>
              <a:rPr lang="en-US" sz="1200" dirty="0">
                <a:solidFill>
                  <a:srgbClr val="1B2A3A"/>
                </a:solidFill>
                <a:latin typeface="Segoe UI" pitchFamily="34" charset="0"/>
                <a:ea typeface="Segoe UI" pitchFamily="34" charset="-122"/>
                <a:cs typeface="Segoe UI" pitchFamily="34" charset="-120"/>
              </a:rPr>
              <a: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 Demander une piste à l’assistant » ouvre des pistes, présentées à part des constats. Rien ici n’empêche de soumettre.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RG-PLA-11 · RG-PLA-12 · RG-PLA-13 · RG-PLA-14 · RG-PLA-15</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39</a:t>
            </a:r>
            <a:endParaRPr lang="en-US" sz="1100" dirty="0"/>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name="Slide 40">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PLANIFIER</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Suivre le contrôle</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Dès la soumission, le dossier porte sa fin de traitement prévue. La PRMP voit l’avancement, jamais les coulisses.</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40</a:t>
            </a:r>
            <a:endParaRPr lang="en-US" sz="1100" dirty="0"/>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name="Slide 4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PLANIFICATION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suivi des dossiers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 suivi des dossier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et son UGPM.</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Chaque dossier avec son type, son entité, sa </a:t>
            </a:r>
            <a:r>
              <a:rPr lang="en-US" sz="1200" b="1" dirty="0">
                <a:solidFill>
                  <a:srgbClr val="1B2A3A"/>
                </a:solidFill>
                <a:latin typeface="Segoe UI" pitchFamily="34" charset="0"/>
                <a:ea typeface="Segoe UI" pitchFamily="34" charset="-122"/>
                <a:cs typeface="Segoe UI" pitchFamily="34" charset="-120"/>
              </a:rPr>
              <a:t>date de dépôt</a:t>
            </a:r>
            <a:r>
              <a:rPr lang="en-US" sz="1200" dirty="0">
                <a:solidFill>
                  <a:srgbClr val="1B2A3A"/>
                </a:solidFill>
                <a:latin typeface="Segoe UI" pitchFamily="34" charset="0"/>
                <a:ea typeface="Segoe UI" pitchFamily="34" charset="-122"/>
                <a:cs typeface="Segoe UI" pitchFamily="34" charset="-120"/>
              </a:rPr>
              <a:t>, sa </a:t>
            </a:r>
            <a:r>
              <a:rPr lang="en-US" sz="1200" b="1" dirty="0">
                <a:solidFill>
                  <a:srgbClr val="1B2A3A"/>
                </a:solidFill>
                <a:latin typeface="Segoe UI" pitchFamily="34" charset="0"/>
                <a:ea typeface="Segoe UI" pitchFamily="34" charset="-122"/>
                <a:cs typeface="Segoe UI" pitchFamily="34" charset="-120"/>
              </a:rPr>
              <a:t>fin de traitement prévue</a:t>
            </a:r>
            <a:r>
              <a:rPr lang="en-US" sz="1200" dirty="0">
                <a:solidFill>
                  <a:srgbClr val="1B2A3A"/>
                </a:solidFill>
                <a:latin typeface="Segoe UI" pitchFamily="34" charset="0"/>
                <a:ea typeface="Segoe UI" pitchFamily="34" charset="-122"/>
                <a:cs typeface="Segoe UI" pitchFamily="34" charset="-120"/>
              </a:rPr>
              <a:t> et son statut.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 dépôt pas encore numéroté par le Secrétaire n’a pas encore de référence ni de fin prévue.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RG-PLA-18 · RG-PLA-19</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41</a:t>
            </a:r>
            <a:endParaRPr lang="en-US" sz="1100" dirty="0"/>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name="Slide 4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PLANIFICATION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page du dossier : la frise des sept étapes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a page du dossier : la frise des sept étape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 et, sur la même page, chaque profil avec son geste.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Réception, dispatch, examen, projet de PV, PV signé, vérification, clôture : chaque étape franchie est </a:t>
            </a:r>
            <a:r>
              <a:rPr lang="en-US" sz="1200" b="1" dirty="0">
                <a:solidFill>
                  <a:srgbClr val="1B2A3A"/>
                </a:solidFill>
                <a:latin typeface="Segoe UI" pitchFamily="34" charset="0"/>
                <a:ea typeface="Segoe UI" pitchFamily="34" charset="-122"/>
                <a:cs typeface="Segoe UI" pitchFamily="34" charset="-120"/>
              </a:rPr>
              <a:t>datée</a:t>
            </a:r>
            <a:r>
              <a:rPr lang="en-US" sz="1200" dirty="0">
                <a:solidFill>
                  <a:srgbClr val="1B2A3A"/>
                </a:solidFill>
                <a:latin typeface="Segoe UI" pitchFamily="34" charset="0"/>
                <a:ea typeface="Segoe UI" pitchFamily="34" charset="-122"/>
                <a:cs typeface="Segoe UI" pitchFamily="34" charset="-120"/>
              </a:rPr>
              <a: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Ici, un plan de 233 lignes en vérification, fin prévue le 14/10 ; le plan lui-même se lit en dessous.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 Résumer ce dossier » : une synthèse rédigée à la demande, qui ne remplace ni les pièces ni l’examen.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RG-PLA-18 · RG-PLA-19 · RG-PLA-27</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42</a:t>
            </a:r>
            <a:endParaRPr lang="en-US" sz="1100" dirty="0"/>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name="Slide 4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PLANIFICATION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Un plan clôturé, ses lignes suivies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Un plan clôturé, ses lignes suivie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circuit est terminé : les sept étapes sont franchies et datées.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Chaque ligne porte son </a:t>
            </a:r>
            <a:r>
              <a:rPr lang="en-US" sz="1200" b="1" dirty="0">
                <a:solidFill>
                  <a:srgbClr val="1B2A3A"/>
                </a:solidFill>
                <a:latin typeface="Segoe UI" pitchFamily="34" charset="0"/>
                <a:ea typeface="Segoe UI" pitchFamily="34" charset="-122"/>
                <a:cs typeface="Segoe UI" pitchFamily="34" charset="-120"/>
              </a:rPr>
              <a:t>statut de marché</a:t>
            </a:r>
            <a:r>
              <a:rPr lang="en-US" sz="1200" dirty="0">
                <a:solidFill>
                  <a:srgbClr val="1B2A3A"/>
                </a:solidFill>
                <a:latin typeface="Segoe UI" pitchFamily="34" charset="0"/>
                <a:ea typeface="Segoe UI" pitchFamily="34" charset="-122"/>
                <a:cs typeface="Segoe UI" pitchFamily="34" charset="-120"/>
              </a:rPr>
              <a:t> : « Lancé » dès que la mise en concurrence est ouverte.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RG-PLA-18 · RG-PLA-26</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43</a:t>
            </a:r>
            <a:endParaRPr lang="en-US" sz="1100" dirty="0"/>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name="Slide 4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PLANIFICATION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Mes plans et leurs marchés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Mes plans et leurs marché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et son UGPM.</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Chaque plan, son exercice, son nombre de marchés et, parmi eux, ceux en </a:t>
            </a:r>
            <a:r>
              <a:rPr lang="en-US" sz="1200" b="1" dirty="0">
                <a:solidFill>
                  <a:srgbClr val="1B2A3A"/>
                </a:solidFill>
                <a:latin typeface="Segoe UI" pitchFamily="34" charset="0"/>
                <a:ea typeface="Segoe UI" pitchFamily="34" charset="-122"/>
                <a:cs typeface="Segoe UI" pitchFamily="34" charset="-120"/>
              </a:rPr>
              <a:t>appel d’offres</a:t>
            </a:r>
            <a:r>
              <a:rPr lang="en-US" sz="1200" dirty="0">
                <a:solidFill>
                  <a:srgbClr val="1B2A3A"/>
                </a:solidFill>
                <a:latin typeface="Segoe UI" pitchFamily="34" charset="0"/>
                <a:ea typeface="Segoe UI" pitchFamily="34" charset="-122"/>
                <a:cs typeface="Segoe UI" pitchFamily="34" charset="-120"/>
              </a:rPr>
              <a: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 Détails » ouvre le plan sans quitter l’écran.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RG-PLA-04 · RG-PLA-20</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44</a:t>
            </a:r>
            <a:endParaRPr lang="en-US" sz="1100" dirty="0"/>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name="Slide 4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PLANIFICATION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détail d’un plan</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 détail d’un plan"/>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et son UGPM.</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plan actif en quatre onglets : fiche de présentation, plan de passation, projet d’AGPM, pièces jointes.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Chaque ligne : montants, mode, financement, bénéficiaire, dates prévisionnelles et statut.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RG-PLA-05 · RG-PLA-26</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45</a:t>
            </a:r>
            <a:endParaRPr lang="en-US" sz="1100" dirty="0"/>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name="Slide 46">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PLANIFIER</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Faire évoluer le plan</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Un plan contrôlé se met à jour par une nouvelle version ; un dossier soumis peut être retiré tant que son PV n’est pas signé ; les jalons du plan sont surveillés.</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46</a:t>
            </a:r>
            <a:endParaRPr lang="en-US" sz="1100" dirty="0"/>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name="Slide 4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PLANIFICATION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Mettre à jour un PPM</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Mettre à jour un PPM"/>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Seule la </a:t>
            </a:r>
            <a:r>
              <a:rPr lang="en-US" sz="1200" b="1" dirty="0">
                <a:solidFill>
                  <a:srgbClr val="1B2A3A"/>
                </a:solidFill>
                <a:latin typeface="Segoe UI" pitchFamily="34" charset="0"/>
                <a:ea typeface="Segoe UI" pitchFamily="34" charset="-122"/>
                <a:cs typeface="Segoe UI" pitchFamily="34" charset="-120"/>
              </a:rPr>
              <a:t>dernière version</a:t>
            </a:r>
            <a:r>
              <a:rPr lang="en-US" sz="1200" dirty="0">
                <a:solidFill>
                  <a:srgbClr val="1B2A3A"/>
                </a:solidFill>
                <a:latin typeface="Segoe UI" pitchFamily="34" charset="0"/>
                <a:ea typeface="Segoe UI" pitchFamily="34" charset="-122"/>
                <a:cs typeface="Segoe UI" pitchFamily="34" charset="-120"/>
              </a:rPr>
              <a:t> de chaque plan dont la décision est transmise ou le dossier clôturé.</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 Mettre à jour » ouvre une </a:t>
            </a:r>
            <a:r>
              <a:rPr lang="en-US" sz="1200" b="1" dirty="0">
                <a:solidFill>
                  <a:srgbClr val="1B2A3A"/>
                </a:solidFill>
                <a:latin typeface="Segoe UI" pitchFamily="34" charset="0"/>
                <a:ea typeface="Segoe UI" pitchFamily="34" charset="-122"/>
                <a:cs typeface="Segoe UI" pitchFamily="34" charset="-120"/>
              </a:rPr>
              <a:t>nouvelle version</a:t>
            </a:r>
            <a:r>
              <a:rPr lang="en-US" sz="1200" dirty="0">
                <a:solidFill>
                  <a:srgbClr val="1B2A3A"/>
                </a:solidFill>
                <a:latin typeface="Segoe UI" pitchFamily="34" charset="0"/>
                <a:ea typeface="Segoe UI" pitchFamily="34" charset="-122"/>
                <a:cs typeface="Segoe UI" pitchFamily="34" charset="-120"/>
              </a:rPr>
              <a:t> : un plan validé ne se modifie jamais en place.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RG-PLA-20 · RG-PLA-21 · RG-PLA-22</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47</a:t>
            </a:r>
            <a:endParaRPr lang="en-US" sz="1100" dirty="0"/>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name="Slide 4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PLANIFICATION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Demander le retrait d’un dossier</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Demander le retrait d’un dossier"/>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 le Président ou le Chef de commission statue.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dossier, le </a:t>
            </a:r>
            <a:r>
              <a:rPr lang="en-US" sz="1200" b="1" dirty="0">
                <a:solidFill>
                  <a:srgbClr val="1B2A3A"/>
                </a:solidFill>
                <a:latin typeface="Segoe UI" pitchFamily="34" charset="0"/>
                <a:ea typeface="Segoe UI" pitchFamily="34" charset="-122"/>
                <a:cs typeface="Segoe UI" pitchFamily="34" charset="-120"/>
              </a:rPr>
              <a:t>motif</a:t>
            </a:r>
            <a:r>
              <a:rPr lang="en-US" sz="1200" dirty="0">
                <a:solidFill>
                  <a:srgbClr val="1B2A3A"/>
                </a:solidFill>
                <a:latin typeface="Segoe UI" pitchFamily="34" charset="0"/>
                <a:ea typeface="Segoe UI" pitchFamily="34" charset="-122"/>
                <a:cs typeface="Segoe UI" pitchFamily="34" charset="-120"/>
              </a:rPr>
              <a:t> et la lettre datée et signée (PDF de 10 Mo au plus).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Seuls les dossiers dont le PV n’est pas signé sont proposés.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 Mes demandes » suit leur statut et, le cas échéant, le motif du refus.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RG-PLA-23 · RG-PLA-24</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48</a:t>
            </a:r>
            <a:endParaRPr lang="en-US" sz="1100" dirty="0"/>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name="Slide 4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PLANIFICATION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calendrier des jalons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 calendrier des jalon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Pour chaque ligne des plans : la date </a:t>
            </a:r>
            <a:r>
              <a:rPr lang="en-US" sz="1200" b="1" dirty="0">
                <a:solidFill>
                  <a:srgbClr val="1B2A3A"/>
                </a:solidFill>
                <a:latin typeface="Segoe UI" pitchFamily="34" charset="0"/>
                <a:ea typeface="Segoe UI" pitchFamily="34" charset="-122"/>
                <a:cs typeface="Segoe UI" pitchFamily="34" charset="-120"/>
              </a:rPr>
              <a:t>prévue</a:t>
            </a:r>
            <a:r>
              <a:rPr lang="en-US" sz="1200" dirty="0">
                <a:solidFill>
                  <a:srgbClr val="1B2A3A"/>
                </a:solidFill>
                <a:latin typeface="Segoe UI" pitchFamily="34" charset="0"/>
                <a:ea typeface="Segoe UI" pitchFamily="34" charset="-122"/>
                <a:cs typeface="Segoe UI" pitchFamily="34" charset="-120"/>
              </a:rPr>
              <a:t> et la date </a:t>
            </a:r>
            <a:r>
              <a:rPr lang="en-US" sz="1200" b="1" dirty="0">
                <a:solidFill>
                  <a:srgbClr val="1B2A3A"/>
                </a:solidFill>
                <a:latin typeface="Segoe UI" pitchFamily="34" charset="0"/>
                <a:ea typeface="Segoe UI" pitchFamily="34" charset="-122"/>
                <a:cs typeface="Segoe UI" pitchFamily="34" charset="-120"/>
              </a:rPr>
              <a:t>réelle</a:t>
            </a:r>
            <a:r>
              <a:rPr lang="en-US" sz="1200" dirty="0">
                <a:solidFill>
                  <a:srgbClr val="1B2A3A"/>
                </a:solidFill>
                <a:latin typeface="Segoe UI" pitchFamily="34" charset="0"/>
                <a:ea typeface="Segoe UI" pitchFamily="34" charset="-122"/>
                <a:cs typeface="Segoe UI" pitchFamily="34" charset="-120"/>
              </a:rPr>
              <a:t> de chaque processus du calendrier prévisionnel.</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Une alerte quand un jalon est </a:t>
            </a:r>
            <a:r>
              <a:rPr lang="en-US" sz="1200" b="1" dirty="0">
                <a:solidFill>
                  <a:srgbClr val="1B2A3A"/>
                </a:solidFill>
                <a:latin typeface="Segoe UI" pitchFamily="34" charset="0"/>
                <a:ea typeface="Segoe UI" pitchFamily="34" charset="-122"/>
                <a:cs typeface="Segoe UI" pitchFamily="34" charset="-120"/>
              </a:rPr>
              <a:t>imminent</a:t>
            </a:r>
            <a:r>
              <a:rPr lang="en-US" sz="1200" dirty="0">
                <a:solidFill>
                  <a:srgbClr val="1B2A3A"/>
                </a:solidFill>
                <a:latin typeface="Segoe UI" pitchFamily="34" charset="0"/>
                <a:ea typeface="Segoe UI" pitchFamily="34" charset="-122"/>
                <a:cs typeface="Segoe UI" pitchFamily="34" charset="-120"/>
              </a:rPr>
              <a:t> ou </a:t>
            </a:r>
            <a:r>
              <a:rPr lang="en-US" sz="1200" b="1" dirty="0">
                <a:solidFill>
                  <a:srgbClr val="1B2A3A"/>
                </a:solidFill>
                <a:latin typeface="Segoe UI" pitchFamily="34" charset="0"/>
                <a:ea typeface="Segoe UI" pitchFamily="34" charset="-122"/>
                <a:cs typeface="Segoe UI" pitchFamily="34" charset="-120"/>
              </a:rPr>
              <a:t>en retard</a:t>
            </a:r>
            <a:r>
              <a:rPr lang="en-US" sz="1200" dirty="0">
                <a:solidFill>
                  <a:srgbClr val="1B2A3A"/>
                </a:solidFill>
                <a:latin typeface="Segoe UI" pitchFamily="34" charset="0"/>
                <a:ea typeface="Segoe UI" pitchFamily="34" charset="-122"/>
                <a:cs typeface="Segoe UI" pitchFamily="34" charset="-120"/>
              </a:rPr>
              <a:t> : ici, des lancements prévus en avril et jamais réalisés.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dates prévues se corrigent dans le dossier, pas ici.</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RG-PLA-25</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49</a:t>
            </a:r>
            <a:endParaRPr lang="en-US" sz="1100" dirty="0"/>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name="Slide 5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PLANIFIER · EN RÉSUMÉ</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Ce que l’application garantit</a:t>
            </a:r>
            <a:endParaRPr lang="en-US" sz="2600" dirty="0"/>
          </a:p>
        </p:txBody>
      </p:sp>
      <p:sp>
        <p:nvSpPr>
          <p:cNvPr id="4" name="Shape 2"/>
          <p:cNvSpPr/>
          <p:nvPr/>
        </p:nvSpPr>
        <p:spPr>
          <a:xfrm>
            <a:off x="812780" y="1206500"/>
            <a:ext cx="3420448" cy="2159000"/>
          </a:xfrm>
          <a:prstGeom prst="rect">
            <a:avLst/>
          </a:prstGeom>
          <a:solidFill>
            <a:srgbClr val="FCFCFA"/>
          </a:solidFill>
          <a:ln w="9525">
            <a:solidFill>
              <a:srgbClr val="D5DCE4"/>
            </a:solidFill>
            <a:prstDash val="solid"/>
          </a:ln>
        </p:spPr>
        <p:txBody>
          <a:bodyPr/>
          <a:lstStyle/>
          <a:p>
            <a:endParaRPr lang="fr-FR"/>
          </a:p>
        </p:txBody>
      </p:sp>
      <p:sp>
        <p:nvSpPr>
          <p:cNvPr id="5" name="Shape 3"/>
          <p:cNvSpPr/>
          <p:nvPr/>
        </p:nvSpPr>
        <p:spPr>
          <a:xfrm>
            <a:off x="812780" y="1206500"/>
            <a:ext cx="3420448" cy="38100"/>
          </a:xfrm>
          <a:prstGeom prst="rect">
            <a:avLst/>
          </a:prstGeom>
          <a:solidFill>
            <a:srgbClr val="1B6FA8"/>
          </a:solidFill>
          <a:ln/>
        </p:spPr>
        <p:txBody>
          <a:bodyPr/>
          <a:lstStyle/>
          <a:p>
            <a:endParaRPr lang="fr-FR"/>
          </a:p>
        </p:txBody>
      </p:sp>
      <p:sp>
        <p:nvSpPr>
          <p:cNvPr id="6" name="Text 4"/>
          <p:cNvSpPr/>
          <p:nvPr/>
        </p:nvSpPr>
        <p:spPr>
          <a:xfrm>
            <a:off x="952476" y="13081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Le mode de passation reste à la PRMP</a:t>
            </a:r>
            <a:endParaRPr lang="en-US" sz="1500" dirty="0"/>
          </a:p>
        </p:txBody>
      </p:sp>
      <p:sp>
        <p:nvSpPr>
          <p:cNvPr id="7" name="Text 5"/>
          <p:cNvSpPr/>
          <p:nvPr/>
        </p:nvSpPr>
        <p:spPr>
          <a:xfrm>
            <a:off x="952476" y="17653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L’application ne détermine ni ne corrige jamais un mode de passation : elle le conserve tel que saisi et le confronte aux seuils de l’arrêté.</a:t>
            </a:r>
            <a:endParaRPr lang="en-US" sz="1200" dirty="0"/>
          </a:p>
        </p:txBody>
      </p:sp>
      <p:sp>
        <p:nvSpPr>
          <p:cNvPr id="8" name="Shape 6"/>
          <p:cNvSpPr/>
          <p:nvPr/>
        </p:nvSpPr>
        <p:spPr>
          <a:xfrm>
            <a:off x="4385624" y="1206500"/>
            <a:ext cx="3420448" cy="2159000"/>
          </a:xfrm>
          <a:prstGeom prst="rect">
            <a:avLst/>
          </a:prstGeom>
          <a:solidFill>
            <a:srgbClr val="FCFCFA"/>
          </a:solidFill>
          <a:ln w="9525">
            <a:solidFill>
              <a:srgbClr val="D5DCE4"/>
            </a:solidFill>
            <a:prstDash val="solid"/>
          </a:ln>
        </p:spPr>
        <p:txBody>
          <a:bodyPr/>
          <a:lstStyle/>
          <a:p>
            <a:endParaRPr lang="fr-FR"/>
          </a:p>
        </p:txBody>
      </p:sp>
      <p:sp>
        <p:nvSpPr>
          <p:cNvPr id="9" name="Shape 7"/>
          <p:cNvSpPr/>
          <p:nvPr/>
        </p:nvSpPr>
        <p:spPr>
          <a:xfrm>
            <a:off x="4385624" y="1206500"/>
            <a:ext cx="3420448" cy="38100"/>
          </a:xfrm>
          <a:prstGeom prst="rect">
            <a:avLst/>
          </a:prstGeom>
          <a:solidFill>
            <a:srgbClr val="2E8B57"/>
          </a:solidFill>
          <a:ln/>
        </p:spPr>
        <p:txBody>
          <a:bodyPr/>
          <a:lstStyle/>
          <a:p>
            <a:endParaRPr lang="fr-FR"/>
          </a:p>
        </p:txBody>
      </p:sp>
      <p:sp>
        <p:nvSpPr>
          <p:cNvPr id="10" name="Text 8"/>
          <p:cNvSpPr/>
          <p:nvPr/>
        </p:nvSpPr>
        <p:spPr>
          <a:xfrm>
            <a:off x="4525320" y="13081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Un pré-contrôle qui signale sans bloquer</a:t>
            </a:r>
            <a:endParaRPr lang="en-US" sz="1500" dirty="0"/>
          </a:p>
        </p:txBody>
      </p:sp>
      <p:sp>
        <p:nvSpPr>
          <p:cNvPr id="11" name="Text 9"/>
          <p:cNvSpPr/>
          <p:nvPr/>
        </p:nvSpPr>
        <p:spPr>
          <a:xfrm>
            <a:off x="4525320" y="17653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Aucun signalement n’empêche une soumission, et une panne du pré-contrôle non plus ; un écart non pertinent s’écarte, avec un motif.</a:t>
            </a:r>
            <a:endParaRPr lang="en-US" sz="1200" dirty="0"/>
          </a:p>
        </p:txBody>
      </p:sp>
      <p:sp>
        <p:nvSpPr>
          <p:cNvPr id="12" name="Shape 10"/>
          <p:cNvSpPr/>
          <p:nvPr/>
        </p:nvSpPr>
        <p:spPr>
          <a:xfrm>
            <a:off x="7958468" y="1206500"/>
            <a:ext cx="3420448" cy="2159000"/>
          </a:xfrm>
          <a:prstGeom prst="rect">
            <a:avLst/>
          </a:prstGeom>
          <a:solidFill>
            <a:srgbClr val="FCFCFA"/>
          </a:solidFill>
          <a:ln w="9525">
            <a:solidFill>
              <a:srgbClr val="D5DCE4"/>
            </a:solidFill>
            <a:prstDash val="solid"/>
          </a:ln>
        </p:spPr>
        <p:txBody>
          <a:bodyPr/>
          <a:lstStyle/>
          <a:p>
            <a:endParaRPr lang="fr-FR"/>
          </a:p>
        </p:txBody>
      </p:sp>
      <p:sp>
        <p:nvSpPr>
          <p:cNvPr id="13" name="Shape 11"/>
          <p:cNvSpPr/>
          <p:nvPr/>
        </p:nvSpPr>
        <p:spPr>
          <a:xfrm>
            <a:off x="7958468" y="1206500"/>
            <a:ext cx="3420448" cy="38100"/>
          </a:xfrm>
          <a:prstGeom prst="rect">
            <a:avLst/>
          </a:prstGeom>
          <a:solidFill>
            <a:srgbClr val="E3AE2E"/>
          </a:solidFill>
          <a:ln/>
        </p:spPr>
        <p:txBody>
          <a:bodyPr/>
          <a:lstStyle/>
          <a:p>
            <a:endParaRPr lang="fr-FR"/>
          </a:p>
        </p:txBody>
      </p:sp>
      <p:sp>
        <p:nvSpPr>
          <p:cNvPr id="14" name="Text 12"/>
          <p:cNvSpPr/>
          <p:nvPr/>
        </p:nvSpPr>
        <p:spPr>
          <a:xfrm>
            <a:off x="8098164" y="13081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Des écartements figés et visibles</a:t>
            </a:r>
            <a:endParaRPr lang="en-US" sz="1500" dirty="0"/>
          </a:p>
        </p:txBody>
      </p:sp>
      <p:sp>
        <p:nvSpPr>
          <p:cNvPr id="15" name="Text 13"/>
          <p:cNvSpPr/>
          <p:nvPr/>
        </p:nvSpPr>
        <p:spPr>
          <a:xfrm>
            <a:off x="8098164" y="17653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Le motif d’un écartement est vu par le contrôleur ; il est figé à la soumission et ne s’efface jamais.</a:t>
            </a:r>
            <a:endParaRPr lang="en-US" sz="1200" dirty="0"/>
          </a:p>
        </p:txBody>
      </p:sp>
      <p:sp>
        <p:nvSpPr>
          <p:cNvPr id="16" name="Shape 14"/>
          <p:cNvSpPr/>
          <p:nvPr/>
        </p:nvSpPr>
        <p:spPr>
          <a:xfrm>
            <a:off x="812780" y="3517900"/>
            <a:ext cx="3420448" cy="2159000"/>
          </a:xfrm>
          <a:prstGeom prst="rect">
            <a:avLst/>
          </a:prstGeom>
          <a:solidFill>
            <a:srgbClr val="FCFCFA"/>
          </a:solidFill>
          <a:ln w="9525">
            <a:solidFill>
              <a:srgbClr val="D5DCE4"/>
            </a:solidFill>
            <a:prstDash val="solid"/>
          </a:ln>
        </p:spPr>
        <p:txBody>
          <a:bodyPr/>
          <a:lstStyle/>
          <a:p>
            <a:endParaRPr lang="fr-FR"/>
          </a:p>
        </p:txBody>
      </p:sp>
      <p:sp>
        <p:nvSpPr>
          <p:cNvPr id="17" name="Shape 15"/>
          <p:cNvSpPr/>
          <p:nvPr/>
        </p:nvSpPr>
        <p:spPr>
          <a:xfrm>
            <a:off x="812780" y="3517900"/>
            <a:ext cx="3420448" cy="38100"/>
          </a:xfrm>
          <a:prstGeom prst="rect">
            <a:avLst/>
          </a:prstGeom>
          <a:solidFill>
            <a:srgbClr val="12324A"/>
          </a:solidFill>
          <a:ln/>
        </p:spPr>
        <p:txBody>
          <a:bodyPr/>
          <a:lstStyle/>
          <a:p>
            <a:endParaRPr lang="fr-FR"/>
          </a:p>
        </p:txBody>
      </p:sp>
      <p:sp>
        <p:nvSpPr>
          <p:cNvPr id="18" name="Text 16"/>
          <p:cNvSpPr/>
          <p:nvPr/>
        </p:nvSpPr>
        <p:spPr>
          <a:xfrm>
            <a:off x="952476" y="36195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Une seule personne engage l’entité</a:t>
            </a:r>
            <a:endParaRPr lang="en-US" sz="1500" dirty="0"/>
          </a:p>
        </p:txBody>
      </p:sp>
      <p:sp>
        <p:nvSpPr>
          <p:cNvPr id="19" name="Text 17"/>
          <p:cNvSpPr/>
          <p:nvPr/>
        </p:nvSpPr>
        <p:spPr>
          <a:xfrm>
            <a:off x="952476" y="40767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Seule la PRMP soumet, retire ou complète ; l’UGPM prépare, et chaque acte porte son auteur.</a:t>
            </a:r>
            <a:endParaRPr lang="en-US" sz="1200" dirty="0"/>
          </a:p>
        </p:txBody>
      </p:sp>
      <p:sp>
        <p:nvSpPr>
          <p:cNvPr id="20" name="Shape 18"/>
          <p:cNvSpPr/>
          <p:nvPr/>
        </p:nvSpPr>
        <p:spPr>
          <a:xfrm>
            <a:off x="4385624" y="3517900"/>
            <a:ext cx="3420448" cy="2159000"/>
          </a:xfrm>
          <a:prstGeom prst="rect">
            <a:avLst/>
          </a:prstGeom>
          <a:solidFill>
            <a:srgbClr val="FCFCFA"/>
          </a:solidFill>
          <a:ln w="9525">
            <a:solidFill>
              <a:srgbClr val="D5DCE4"/>
            </a:solidFill>
            <a:prstDash val="solid"/>
          </a:ln>
        </p:spPr>
        <p:txBody>
          <a:bodyPr/>
          <a:lstStyle/>
          <a:p>
            <a:endParaRPr lang="fr-FR"/>
          </a:p>
        </p:txBody>
      </p:sp>
      <p:sp>
        <p:nvSpPr>
          <p:cNvPr id="21" name="Shape 19"/>
          <p:cNvSpPr/>
          <p:nvPr/>
        </p:nvSpPr>
        <p:spPr>
          <a:xfrm>
            <a:off x="4385624" y="3517900"/>
            <a:ext cx="3420448" cy="38100"/>
          </a:xfrm>
          <a:prstGeom prst="rect">
            <a:avLst/>
          </a:prstGeom>
          <a:solidFill>
            <a:srgbClr val="1B6FA8"/>
          </a:solidFill>
          <a:ln/>
        </p:spPr>
        <p:txBody>
          <a:bodyPr/>
          <a:lstStyle/>
          <a:p>
            <a:endParaRPr lang="fr-FR"/>
          </a:p>
        </p:txBody>
      </p:sp>
      <p:sp>
        <p:nvSpPr>
          <p:cNvPr id="22" name="Text 20"/>
          <p:cNvSpPr/>
          <p:nvPr/>
        </p:nvSpPr>
        <p:spPr>
          <a:xfrm>
            <a:off x="4525320" y="36195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Un plan validé ne s’écrase jamais</a:t>
            </a:r>
            <a:endParaRPr lang="en-US" sz="1500" dirty="0"/>
          </a:p>
        </p:txBody>
      </p:sp>
      <p:sp>
        <p:nvSpPr>
          <p:cNvPr id="23" name="Text 21"/>
          <p:cNvSpPr/>
          <p:nvPr/>
        </p:nvSpPr>
        <p:spPr>
          <a:xfrm>
            <a:off x="4525320" y="40767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Toute mise à jour est une nouvelle version, avec un motif ; l’écart entre versions est figé, et l’examen porte sur les lignes changées.</a:t>
            </a:r>
            <a:endParaRPr lang="en-US" sz="1200" dirty="0"/>
          </a:p>
        </p:txBody>
      </p:sp>
      <p:sp>
        <p:nvSpPr>
          <p:cNvPr id="24" name="Shape 22"/>
          <p:cNvSpPr/>
          <p:nvPr/>
        </p:nvSpPr>
        <p:spPr>
          <a:xfrm>
            <a:off x="7958468" y="3517900"/>
            <a:ext cx="3420448" cy="2159000"/>
          </a:xfrm>
          <a:prstGeom prst="rect">
            <a:avLst/>
          </a:prstGeom>
          <a:solidFill>
            <a:srgbClr val="FCFCFA"/>
          </a:solidFill>
          <a:ln w="9525">
            <a:solidFill>
              <a:srgbClr val="D5DCE4"/>
            </a:solidFill>
            <a:prstDash val="solid"/>
          </a:ln>
        </p:spPr>
        <p:txBody>
          <a:bodyPr/>
          <a:lstStyle/>
          <a:p>
            <a:endParaRPr lang="fr-FR"/>
          </a:p>
        </p:txBody>
      </p:sp>
      <p:sp>
        <p:nvSpPr>
          <p:cNvPr id="25" name="Shape 23"/>
          <p:cNvSpPr/>
          <p:nvPr/>
        </p:nvSpPr>
        <p:spPr>
          <a:xfrm>
            <a:off x="7958468" y="3517900"/>
            <a:ext cx="3420448" cy="38100"/>
          </a:xfrm>
          <a:prstGeom prst="rect">
            <a:avLst/>
          </a:prstGeom>
          <a:solidFill>
            <a:srgbClr val="2E8B57"/>
          </a:solidFill>
          <a:ln/>
        </p:spPr>
        <p:txBody>
          <a:bodyPr/>
          <a:lstStyle/>
          <a:p>
            <a:endParaRPr lang="fr-FR"/>
          </a:p>
        </p:txBody>
      </p:sp>
      <p:sp>
        <p:nvSpPr>
          <p:cNvPr id="26" name="Text 24"/>
          <p:cNvSpPr/>
          <p:nvPr/>
        </p:nvSpPr>
        <p:spPr>
          <a:xfrm>
            <a:off x="8098164" y="36195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Une fin de traitement annoncée dès le dépôt</a:t>
            </a:r>
            <a:endParaRPr lang="en-US" sz="1500" dirty="0"/>
          </a:p>
        </p:txBody>
      </p:sp>
      <p:sp>
        <p:nvSpPr>
          <p:cNvPr id="27" name="Text 25"/>
          <p:cNvSpPr/>
          <p:nvPr/>
        </p:nvSpPr>
        <p:spPr>
          <a:xfrm>
            <a:off x="8098164" y="40767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La date prévisionnelle de fin est calculée en jours ouvrés et chaque étape franchie est datée sur la frise.</a:t>
            </a:r>
            <a:endParaRPr lang="en-US" sz="1200" dirty="0"/>
          </a:p>
        </p:txBody>
      </p:sp>
      <p:sp>
        <p:nvSpPr>
          <p:cNvPr id="28" name="Text 2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50</a:t>
            </a:r>
            <a:endParaRPr lang="en-US" sz="1100" dirty="0"/>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name="Slide 51">
    <p:bg>
      <p:bgPr>
        <a:solidFill>
          <a:srgbClr val="12324A"/>
        </a:solidFill>
        <a:effectLst/>
      </p:bgPr>
    </p:bg>
    <p:spTree>
      <p:nvGrpSpPr>
        <p:cNvPr id="1" name=""/>
        <p:cNvGrpSpPr/>
        <p:nvPr/>
      </p:nvGrpSpPr>
      <p:grpSpPr>
        <a:xfrm>
          <a:off x="0" y="0"/>
          <a:ext cx="0" cy="0"/>
          <a:chOff x="0" y="0"/>
          <a:chExt cx="0" cy="0"/>
        </a:xfrm>
      </p:grpSpPr>
      <p:sp>
        <p:nvSpPr>
          <p:cNvPr id="2" name="Shape 0"/>
          <p:cNvSpPr/>
          <p:nvPr/>
        </p:nvSpPr>
        <p:spPr>
          <a:xfrm>
            <a:off x="0" y="0"/>
            <a:ext cx="152396" cy="6858000"/>
          </a:xfrm>
          <a:prstGeom prst="rect">
            <a:avLst/>
          </a:prstGeom>
          <a:solidFill>
            <a:srgbClr val="E3AE2E"/>
          </a:solidFill>
          <a:ln w="12700">
            <a:solidFill>
              <a:srgbClr val="E3AE2E"/>
            </a:solidFill>
            <a:prstDash val="solid"/>
          </a:ln>
        </p:spPr>
        <p:txBody>
          <a:bodyPr/>
          <a:lstStyle/>
          <a:p>
            <a:endParaRPr lang="fr-FR"/>
          </a:p>
        </p:txBody>
      </p:sp>
      <p:sp>
        <p:nvSpPr>
          <p:cNvPr id="3" name="Text 1"/>
          <p:cNvSpPr/>
          <p:nvPr/>
        </p:nvSpPr>
        <p:spPr>
          <a:xfrm>
            <a:off x="812780" y="698500"/>
            <a:ext cx="3809905" cy="952500"/>
          </a:xfrm>
          <a:prstGeom prst="rect">
            <a:avLst/>
          </a:prstGeom>
          <a:noFill/>
          <a:ln/>
        </p:spPr>
        <p:txBody>
          <a:bodyPr wrap="square" rtlCol="0" anchor="ctr"/>
          <a:lstStyle/>
          <a:p>
            <a:pPr marL="0" indent="0">
              <a:buNone/>
            </a:pPr>
            <a:r>
              <a:rPr lang="en-US" sz="7200" b="1" dirty="0">
                <a:solidFill>
                  <a:srgbClr val="E3AE2E"/>
                </a:solidFill>
                <a:latin typeface="Segoe UI" pitchFamily="34" charset="0"/>
                <a:ea typeface="Segoe UI" pitchFamily="34" charset="-122"/>
                <a:cs typeface="Segoe UI" pitchFamily="34" charset="-120"/>
              </a:rPr>
              <a:t>03</a:t>
            </a:r>
            <a:endParaRPr lang="en-US" sz="7200" dirty="0"/>
          </a:p>
        </p:txBody>
      </p:sp>
      <p:sp>
        <p:nvSpPr>
          <p:cNvPr id="4" name="Text 2"/>
          <p:cNvSpPr/>
          <p:nvPr/>
        </p:nvSpPr>
        <p:spPr>
          <a:xfrm>
            <a:off x="812780" y="1714500"/>
            <a:ext cx="10477238" cy="635000"/>
          </a:xfrm>
          <a:prstGeom prst="rect">
            <a:avLst/>
          </a:prstGeom>
          <a:noFill/>
          <a:ln/>
        </p:spPr>
        <p:txBody>
          <a:bodyPr wrap="square" rtlCol="0" anchor="ctr">
            <a:normAutofit/>
          </a:bodyPr>
          <a:lstStyle/>
          <a:p>
            <a:pPr marL="0" indent="0">
              <a:buNone/>
            </a:pPr>
            <a:r>
              <a:rPr lang="en-US" sz="4000" b="1" dirty="0">
                <a:solidFill>
                  <a:srgbClr val="FCFCFA"/>
                </a:solidFill>
                <a:latin typeface="Segoe UI" pitchFamily="34" charset="0"/>
                <a:ea typeface="Segoe UI" pitchFamily="34" charset="-122"/>
                <a:cs typeface="Segoe UI" pitchFamily="34" charset="-120"/>
              </a:rPr>
              <a:t>Contrôler</a:t>
            </a:r>
            <a:endParaRPr lang="en-US" sz="4000" dirty="0"/>
          </a:p>
        </p:txBody>
      </p:sp>
      <p:sp>
        <p:nvSpPr>
          <p:cNvPr id="5" name="Text 3"/>
          <p:cNvSpPr/>
          <p:nvPr/>
        </p:nvSpPr>
        <p:spPr>
          <a:xfrm>
            <a:off x="812780" y="2413000"/>
            <a:ext cx="10159746" cy="698500"/>
          </a:xfrm>
          <a:prstGeom prst="rect">
            <a:avLst/>
          </a:prstGeom>
          <a:noFill/>
          <a:ln/>
        </p:spPr>
        <p:txBody>
          <a:bodyPr wrap="square" rtlCol="0" anchor="t">
            <a:normAutofit/>
          </a:bodyPr>
          <a:lstStyle/>
          <a:p>
            <a:pPr marL="0" indent="0">
              <a:buNone/>
            </a:pPr>
            <a:r>
              <a:rPr lang="en-US" sz="1700" dirty="0">
                <a:solidFill>
                  <a:srgbClr val="C9D6E2"/>
                </a:solidFill>
                <a:latin typeface="Segoe UI" pitchFamily="34" charset="0"/>
                <a:ea typeface="Segoe UI" pitchFamily="34" charset="-122"/>
                <a:cs typeface="Segoe UI" pitchFamily="34" charset="-120"/>
              </a:rPr>
              <a:t>Le dossier soumis par la PRMP est reçu, attribué, examiné et conclu par un PV signé de la Commission, puis vérifié, transmis au SIGMP et archivé — et le contrôle porte désormais sur les données elles-mêmes.</a:t>
            </a:r>
            <a:endParaRPr lang="en-US" sz="1700" dirty="0"/>
          </a:p>
        </p:txBody>
      </p:sp>
      <p:sp>
        <p:nvSpPr>
          <p:cNvPr id="6" name="Text 4"/>
          <p:cNvSpPr/>
          <p:nvPr/>
        </p:nvSpPr>
        <p:spPr>
          <a:xfrm>
            <a:off x="812780" y="3429000"/>
            <a:ext cx="5079873" cy="228600"/>
          </a:xfrm>
          <a:prstGeom prst="rect">
            <a:avLst/>
          </a:prstGeom>
          <a:noFill/>
          <a:ln/>
        </p:spPr>
        <p:txBody>
          <a:bodyPr wrap="square" rtlCol="0" anchor="ctr"/>
          <a:lstStyle/>
          <a:p>
            <a:pPr marL="0" indent="0">
              <a:buNone/>
            </a:pPr>
            <a:r>
              <a:rPr lang="en-US" sz="1200" b="1" kern="0" spc="200" dirty="0">
                <a:solidFill>
                  <a:srgbClr val="E3AE2E"/>
                </a:solidFill>
                <a:latin typeface="Segoe UI" pitchFamily="34" charset="0"/>
                <a:ea typeface="Segoe UI" pitchFamily="34" charset="-122"/>
                <a:cs typeface="Segoe UI" pitchFamily="34" charset="-120"/>
              </a:rPr>
              <a:t>CE QUE CELA CHANGE</a:t>
            </a:r>
            <a:endParaRPr lang="en-US" sz="1200" dirty="0"/>
          </a:p>
        </p:txBody>
      </p:sp>
      <p:sp>
        <p:nvSpPr>
          <p:cNvPr id="7" name="Text 5"/>
          <p:cNvSpPr/>
          <p:nvPr/>
        </p:nvSpPr>
        <p:spPr>
          <a:xfrm>
            <a:off x="812780" y="3714750"/>
            <a:ext cx="10286743" cy="2413000"/>
          </a:xfrm>
          <a:prstGeom prst="rect">
            <a:avLst/>
          </a:prstGeom>
          <a:noFill/>
          <a:ln/>
        </p:spPr>
        <p:txBody>
          <a:bodyPr wrap="square" rtlCol="0" anchor="t">
            <a:normAutofit/>
          </a:bodyPr>
          <a:lstStyle/>
          <a:p>
            <a:pPr marL="203200" indent="-203200">
              <a:spcAft>
                <a:spcPts val="800"/>
              </a:spcAft>
              <a:buSzPct val="100000"/>
              <a:buChar char="•"/>
            </a:pPr>
            <a:r>
              <a:rPr lang="en-US" sz="1500" dirty="0">
                <a:solidFill>
                  <a:srgbClr val="FCFCFA"/>
                </a:solidFill>
                <a:latin typeface="Segoe UI" pitchFamily="34" charset="0"/>
                <a:ea typeface="Segoe UI" pitchFamily="34" charset="-122"/>
                <a:cs typeface="Segoe UI" pitchFamily="34" charset="-120"/>
              </a:rPr>
              <a:t>Chaque dossier suit un circuit unique en sept étapes, visible de tous ses acteurs sur une même frise, du dépôt à la clôture.</a:t>
            </a:r>
            <a:endParaRPr lang="en-US" sz="1500" dirty="0"/>
          </a:p>
          <a:p>
            <a:pPr marL="203200" indent="-203200">
              <a:spcAft>
                <a:spcPts val="800"/>
              </a:spcAft>
              <a:buSzPct val="100000"/>
              <a:buChar char="•"/>
            </a:pPr>
            <a:r>
              <a:rPr lang="en-US" sz="1500" dirty="0">
                <a:solidFill>
                  <a:srgbClr val="FCFCFA"/>
                </a:solidFill>
                <a:latin typeface="Segoe UI" pitchFamily="34" charset="0"/>
                <a:ea typeface="Segoe UI" pitchFamily="34" charset="-122"/>
                <a:cs typeface="Segoe UI" pitchFamily="34" charset="-120"/>
              </a:rPr>
              <a:t>Chaque geste a son auteur, sa date et sa durée : les délais de la Commission se mesurent sans saisie, en heures ouvrées.</a:t>
            </a:r>
            <a:endParaRPr lang="en-US" sz="1500" dirty="0"/>
          </a:p>
          <a:p>
            <a:pPr marL="203200" indent="-203200">
              <a:spcAft>
                <a:spcPts val="800"/>
              </a:spcAft>
              <a:buSzPct val="100000"/>
              <a:buChar char="•"/>
            </a:pPr>
            <a:r>
              <a:rPr lang="en-US" sz="1500" dirty="0">
                <a:solidFill>
                  <a:srgbClr val="FCFCFA"/>
                </a:solidFill>
                <a:latin typeface="Segoe UI" pitchFamily="34" charset="0"/>
                <a:ea typeface="Segoe UI" pitchFamily="34" charset="-122"/>
                <a:cs typeface="Segoe UI" pitchFamily="34" charset="-120"/>
              </a:rPr>
              <a:t>Pour une procédure conduite dans l’application, la Commission ne juge plus des pièces recopiées : elle lit les écrans figés à la soumission, avec leur empreinte, et les contrôles automatiques nomment ce qui ne va pas.</a:t>
            </a:r>
            <a:endParaRPr lang="en-US" sz="1500" dirty="0"/>
          </a:p>
        </p:txBody>
      </p:sp>
      <p:sp>
        <p:nvSpPr>
          <p:cNvPr id="8"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8FA6BB"/>
                </a:solidFill>
                <a:latin typeface="Segoe UI" pitchFamily="34" charset="0"/>
                <a:ea typeface="Segoe UI" pitchFamily="34" charset="-122"/>
                <a:cs typeface="Segoe UI" pitchFamily="34" charset="-120"/>
              </a:rPr>
              <a:t>PRS 2.0 · L’application de bout en bout · dossier de recette · 51</a:t>
            </a:r>
            <a:endParaRPr lang="en-US" sz="1100" dirty="0"/>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name="Slide 5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CONTRÔLER · LE PARCOURS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circuit de contrôle d’un dossier</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Du dépôt par la PRMP à la clôture, sept étapes : réception, dispatch, examen, projet de PV, PV signé, vérification, clôture. Chacune a son responsable et son délai.</a:t>
            </a:r>
            <a:endParaRPr lang="en-US" sz="1300" dirty="0"/>
          </a:p>
        </p:txBody>
      </p:sp>
      <p:sp>
        <p:nvSpPr>
          <p:cNvPr id="5" name="Shape 3"/>
          <p:cNvSpPr/>
          <p:nvPr/>
        </p:nvSpPr>
        <p:spPr>
          <a:xfrm>
            <a:off x="812780"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6" name="Text 4"/>
          <p:cNvSpPr/>
          <p:nvPr/>
        </p:nvSpPr>
        <p:spPr>
          <a:xfrm>
            <a:off x="901677"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LE SECRÉTAIRE</a:t>
            </a:r>
            <a:endParaRPr lang="en-US" sz="1000" dirty="0"/>
          </a:p>
        </p:txBody>
      </p:sp>
      <p:sp>
        <p:nvSpPr>
          <p:cNvPr id="7" name="Text 5"/>
          <p:cNvSpPr/>
          <p:nvPr/>
        </p:nvSpPr>
        <p:spPr>
          <a:xfrm>
            <a:off x="901677"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Recevoir</a:t>
            </a:r>
            <a:endParaRPr lang="en-US" sz="1400" dirty="0"/>
          </a:p>
        </p:txBody>
      </p:sp>
      <p:sp>
        <p:nvSpPr>
          <p:cNvPr id="8" name="Text 6"/>
          <p:cNvSpPr/>
          <p:nvPr/>
        </p:nvSpPr>
        <p:spPr>
          <a:xfrm>
            <a:off x="901677"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Le Secrétaire contrôle les pièces une à une, puis numérote le dossier.</a:t>
            </a:r>
            <a:endParaRPr lang="en-US" sz="1150" dirty="0"/>
          </a:p>
        </p:txBody>
      </p:sp>
      <p:sp>
        <p:nvSpPr>
          <p:cNvPr id="9" name="Text 7"/>
          <p:cNvSpPr/>
          <p:nvPr/>
        </p:nvSpPr>
        <p:spPr>
          <a:xfrm>
            <a:off x="2444689"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10" name="Shape 8"/>
          <p:cNvSpPr/>
          <p:nvPr/>
        </p:nvSpPr>
        <p:spPr>
          <a:xfrm>
            <a:off x="2597085"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11" name="Text 9"/>
          <p:cNvSpPr/>
          <p:nvPr/>
        </p:nvSpPr>
        <p:spPr>
          <a:xfrm>
            <a:off x="2685983"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LE PRÉSIDENT OU LE CHEF DE COMMISSION</a:t>
            </a:r>
            <a:endParaRPr lang="en-US" sz="1000" dirty="0"/>
          </a:p>
        </p:txBody>
      </p:sp>
      <p:sp>
        <p:nvSpPr>
          <p:cNvPr id="12" name="Text 10"/>
          <p:cNvSpPr/>
          <p:nvPr/>
        </p:nvSpPr>
        <p:spPr>
          <a:xfrm>
            <a:off x="2685983"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Dispatcher</a:t>
            </a:r>
            <a:endParaRPr lang="en-US" sz="1400" dirty="0"/>
          </a:p>
        </p:txBody>
      </p:sp>
      <p:sp>
        <p:nvSpPr>
          <p:cNvPr id="13" name="Text 11"/>
          <p:cNvSpPr/>
          <p:nvPr/>
        </p:nvSpPr>
        <p:spPr>
          <a:xfrm>
            <a:off x="2685983"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Le dossier est attribué à un Membre, avec une consigne facultative.</a:t>
            </a:r>
            <a:endParaRPr lang="en-US" sz="1150" dirty="0"/>
          </a:p>
        </p:txBody>
      </p:sp>
      <p:sp>
        <p:nvSpPr>
          <p:cNvPr id="14" name="Text 12"/>
          <p:cNvSpPr/>
          <p:nvPr/>
        </p:nvSpPr>
        <p:spPr>
          <a:xfrm>
            <a:off x="4228994"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15" name="Shape 13"/>
          <p:cNvSpPr/>
          <p:nvPr/>
        </p:nvSpPr>
        <p:spPr>
          <a:xfrm>
            <a:off x="4381390"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16" name="Text 14"/>
          <p:cNvSpPr/>
          <p:nvPr/>
        </p:nvSpPr>
        <p:spPr>
          <a:xfrm>
            <a:off x="4470288"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LE MEMBRE ATTRIBUTAIRE</a:t>
            </a:r>
            <a:endParaRPr lang="en-US" sz="1000" dirty="0"/>
          </a:p>
        </p:txBody>
      </p:sp>
      <p:sp>
        <p:nvSpPr>
          <p:cNvPr id="17" name="Text 15"/>
          <p:cNvSpPr/>
          <p:nvPr/>
        </p:nvSpPr>
        <p:spPr>
          <a:xfrm>
            <a:off x="4470288"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Examiner</a:t>
            </a:r>
            <a:endParaRPr lang="en-US" sz="1400" dirty="0"/>
          </a:p>
        </p:txBody>
      </p:sp>
      <p:sp>
        <p:nvSpPr>
          <p:cNvPr id="18" name="Text 16"/>
          <p:cNvSpPr/>
          <p:nvPr/>
        </p:nvSpPr>
        <p:spPr>
          <a:xfrm>
            <a:off x="4470288"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Le Membre statue chaque pièce et chaque point de contrôle, lit les contrôles automatiques, puis rend son avis.</a:t>
            </a:r>
            <a:endParaRPr lang="en-US" sz="1150" dirty="0"/>
          </a:p>
        </p:txBody>
      </p:sp>
      <p:sp>
        <p:nvSpPr>
          <p:cNvPr id="19" name="Text 17"/>
          <p:cNvSpPr/>
          <p:nvPr/>
        </p:nvSpPr>
        <p:spPr>
          <a:xfrm>
            <a:off x="6013300"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20" name="Shape 18"/>
          <p:cNvSpPr/>
          <p:nvPr/>
        </p:nvSpPr>
        <p:spPr>
          <a:xfrm>
            <a:off x="6165696"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21" name="Text 19"/>
          <p:cNvSpPr/>
          <p:nvPr/>
        </p:nvSpPr>
        <p:spPr>
          <a:xfrm>
            <a:off x="6254594"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LE PRÉSIDENT OU LE CHEF DE COMMISSION, ET LE CO-SIGNATAIRE DÉSIGNÉ</a:t>
            </a:r>
            <a:endParaRPr lang="en-US" sz="1000" dirty="0"/>
          </a:p>
        </p:txBody>
      </p:sp>
      <p:sp>
        <p:nvSpPr>
          <p:cNvPr id="22" name="Text 20"/>
          <p:cNvSpPr/>
          <p:nvPr/>
        </p:nvSpPr>
        <p:spPr>
          <a:xfrm>
            <a:off x="6254594"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Viser et signer</a:t>
            </a:r>
            <a:endParaRPr lang="en-US" sz="1400" dirty="0"/>
          </a:p>
        </p:txBody>
      </p:sp>
      <p:sp>
        <p:nvSpPr>
          <p:cNvPr id="23" name="Text 21"/>
          <p:cNvSpPr/>
          <p:nvPr/>
        </p:nvSpPr>
        <p:spPr>
          <a:xfrm>
            <a:off x="6254594"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Le projet de PV circule, est visé, puis signé par deux personnes distinctes au moins.</a:t>
            </a:r>
            <a:endParaRPr lang="en-US" sz="1150" dirty="0"/>
          </a:p>
        </p:txBody>
      </p:sp>
      <p:sp>
        <p:nvSpPr>
          <p:cNvPr id="24" name="Text 22"/>
          <p:cNvSpPr/>
          <p:nvPr/>
        </p:nvSpPr>
        <p:spPr>
          <a:xfrm>
            <a:off x="7797605"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25" name="Shape 23"/>
          <p:cNvSpPr/>
          <p:nvPr/>
        </p:nvSpPr>
        <p:spPr>
          <a:xfrm>
            <a:off x="7950001"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26" name="Text 24"/>
          <p:cNvSpPr/>
          <p:nvPr/>
        </p:nvSpPr>
        <p:spPr>
          <a:xfrm>
            <a:off x="8038899"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LE VÉRIFICATEUR</a:t>
            </a:r>
            <a:endParaRPr lang="en-US" sz="1000" dirty="0"/>
          </a:p>
        </p:txBody>
      </p:sp>
      <p:sp>
        <p:nvSpPr>
          <p:cNvPr id="27" name="Text 25"/>
          <p:cNvSpPr/>
          <p:nvPr/>
        </p:nvSpPr>
        <p:spPr>
          <a:xfrm>
            <a:off x="8038899"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Vérifier et transmettre</a:t>
            </a:r>
            <a:endParaRPr lang="en-US" sz="1400" dirty="0"/>
          </a:p>
        </p:txBody>
      </p:sp>
      <p:sp>
        <p:nvSpPr>
          <p:cNvPr id="28" name="Text 26"/>
          <p:cNvSpPr/>
          <p:nvPr/>
        </p:nvSpPr>
        <p:spPr>
          <a:xfrm>
            <a:off x="8038899"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Les réserves sont levées une à une ; le sens de la décision part au SIGMP.</a:t>
            </a:r>
            <a:endParaRPr lang="en-US" sz="1150" dirty="0"/>
          </a:p>
        </p:txBody>
      </p:sp>
      <p:sp>
        <p:nvSpPr>
          <p:cNvPr id="29" name="Text 27"/>
          <p:cNvSpPr/>
          <p:nvPr/>
        </p:nvSpPr>
        <p:spPr>
          <a:xfrm>
            <a:off x="9581910"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30" name="Shape 28"/>
          <p:cNvSpPr/>
          <p:nvPr/>
        </p:nvSpPr>
        <p:spPr>
          <a:xfrm>
            <a:off x="9734307" y="1778000"/>
            <a:ext cx="1644609" cy="1905000"/>
          </a:xfrm>
          <a:prstGeom prst="roundRect">
            <a:avLst>
              <a:gd name="adj" fmla="val 3336"/>
            </a:avLst>
          </a:prstGeom>
          <a:solidFill>
            <a:srgbClr val="12324A"/>
          </a:solidFill>
          <a:ln w="19050">
            <a:solidFill>
              <a:srgbClr val="12324A"/>
            </a:solidFill>
            <a:prstDash val="solid"/>
          </a:ln>
        </p:spPr>
        <p:txBody>
          <a:bodyPr/>
          <a:lstStyle/>
          <a:p>
            <a:endParaRPr lang="fr-FR"/>
          </a:p>
        </p:txBody>
      </p:sp>
      <p:sp>
        <p:nvSpPr>
          <p:cNvPr id="31" name="Text 29"/>
          <p:cNvSpPr/>
          <p:nvPr/>
        </p:nvSpPr>
        <p:spPr>
          <a:xfrm>
            <a:off x="9823204" y="1866900"/>
            <a:ext cx="1466813" cy="215900"/>
          </a:xfrm>
          <a:prstGeom prst="rect">
            <a:avLst/>
          </a:prstGeom>
          <a:noFill/>
          <a:ln/>
        </p:spPr>
        <p:txBody>
          <a:bodyPr wrap="square" rtlCol="0" anchor="ctr">
            <a:normAutofit/>
          </a:bodyPr>
          <a:lstStyle/>
          <a:p>
            <a:pPr marL="0" indent="0">
              <a:buNone/>
            </a:pPr>
            <a:r>
              <a:rPr lang="en-US" sz="1000" b="1" dirty="0">
                <a:solidFill>
                  <a:srgbClr val="E3AE2E"/>
                </a:solidFill>
                <a:latin typeface="Segoe UI" pitchFamily="34" charset="0"/>
                <a:ea typeface="Segoe UI" pitchFamily="34" charset="-122"/>
                <a:cs typeface="Segoe UI" pitchFamily="34" charset="-120"/>
              </a:rPr>
              <a:t>L’ASSISTANT</a:t>
            </a:r>
            <a:endParaRPr lang="en-US" sz="1000" dirty="0"/>
          </a:p>
        </p:txBody>
      </p:sp>
      <p:sp>
        <p:nvSpPr>
          <p:cNvPr id="32" name="Text 30"/>
          <p:cNvSpPr/>
          <p:nvPr/>
        </p:nvSpPr>
        <p:spPr>
          <a:xfrm>
            <a:off x="9823204" y="2095500"/>
            <a:ext cx="1466813" cy="508000"/>
          </a:xfrm>
          <a:prstGeom prst="rect">
            <a:avLst/>
          </a:prstGeom>
          <a:noFill/>
          <a:ln/>
        </p:spPr>
        <p:txBody>
          <a:bodyPr wrap="square" rtlCol="0" anchor="t">
            <a:normAutofit/>
          </a:bodyPr>
          <a:lstStyle/>
          <a:p>
            <a:pPr marL="0" indent="0">
              <a:buNone/>
            </a:pPr>
            <a:r>
              <a:rPr lang="en-US" sz="1400" b="1" dirty="0">
                <a:solidFill>
                  <a:srgbClr val="FCFCFA"/>
                </a:solidFill>
                <a:latin typeface="Segoe UI" pitchFamily="34" charset="0"/>
                <a:ea typeface="Segoe UI" pitchFamily="34" charset="-122"/>
                <a:cs typeface="Segoe UI" pitchFamily="34" charset="-120"/>
              </a:rPr>
              <a:t>Archiver</a:t>
            </a:r>
            <a:endParaRPr lang="en-US" sz="1400" dirty="0"/>
          </a:p>
        </p:txBody>
      </p:sp>
      <p:sp>
        <p:nvSpPr>
          <p:cNvPr id="33" name="Text 31"/>
          <p:cNvSpPr/>
          <p:nvPr/>
        </p:nvSpPr>
        <p:spPr>
          <a:xfrm>
            <a:off x="9823204" y="2603500"/>
            <a:ext cx="1466813" cy="1016000"/>
          </a:xfrm>
          <a:prstGeom prst="rect">
            <a:avLst/>
          </a:prstGeom>
          <a:noFill/>
          <a:ln/>
        </p:spPr>
        <p:txBody>
          <a:bodyPr wrap="square" rtlCol="0" anchor="t">
            <a:normAutofit/>
          </a:bodyPr>
          <a:lstStyle/>
          <a:p>
            <a:pPr marL="0" indent="0">
              <a:buNone/>
            </a:pPr>
            <a:r>
              <a:rPr lang="en-US" sz="1150" dirty="0">
                <a:solidFill>
                  <a:srgbClr val="C9D6E2"/>
                </a:solidFill>
                <a:latin typeface="Segoe UI" pitchFamily="34" charset="0"/>
                <a:ea typeface="Segoe UI" pitchFamily="34" charset="-122"/>
                <a:cs typeface="Segoe UI" pitchFamily="34" charset="-120"/>
              </a:rPr>
              <a:t>L’archivage du PV clôt le dossier.</a:t>
            </a:r>
            <a:endParaRPr lang="en-US" sz="1150" dirty="0"/>
          </a:p>
        </p:txBody>
      </p:sp>
      <p:sp>
        <p:nvSpPr>
          <p:cNvPr id="34" name="Text 3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52</a:t>
            </a:r>
            <a:endParaRPr lang="en-US" sz="1100" dirty="0"/>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name="Slide 53">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CONTRÔLER</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Recevoir le dossier</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Le dossier soumis par la PRMP arrive chez le Secrétaire de sa localité. Rien n’est reçu tant que les pièces obligatoires ne sont pas déclarées conformes.</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53</a:t>
            </a:r>
            <a:endParaRPr lang="en-US" sz="1100" dirty="0"/>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name="Slide 5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CONTRÔLE · SECRÉTAIRE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Tous les dossiers, vus du Secrétaire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Tous les dossiers, vus du Secrétair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Secrétaire.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dossiers de son périmètre, chacun avec sa </a:t>
            </a:r>
            <a:r>
              <a:rPr lang="en-US" sz="1200" b="1" dirty="0">
                <a:solidFill>
                  <a:srgbClr val="1B2A3A"/>
                </a:solidFill>
                <a:latin typeface="Segoe UI" pitchFamily="34" charset="0"/>
                <a:ea typeface="Segoe UI" pitchFamily="34" charset="-122"/>
                <a:cs typeface="Segoe UI" pitchFamily="34" charset="-120"/>
              </a:rPr>
              <a:t>frise</a:t>
            </a:r>
            <a:r>
              <a:rPr lang="en-US" sz="1200" dirty="0">
                <a:solidFill>
                  <a:srgbClr val="1B2A3A"/>
                </a:solidFill>
                <a:latin typeface="Segoe UI" pitchFamily="34" charset="0"/>
                <a:ea typeface="Segoe UI" pitchFamily="34" charset="-122"/>
                <a:cs typeface="Segoe UI" pitchFamily="34" charset="-120"/>
              </a:rPr>
              <a:t> en sept étapes et la date de chaque étape franchie.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Une vue en frise ou en tableau ; le statut du dossier à côté de sa référence.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RG-CTL-04 · RG-CTL-05 · RG-CTL-42</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54</a:t>
            </a:r>
            <a:endParaRPr lang="en-US" sz="1100" dirty="0"/>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name="Slide 5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CONTRÔLE · SECRÉTAIRE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dépôt arrive chez le Secrétaire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 dépôt arrive chez le Secrétair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Secrétaire.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 Étape 1 sur 7 · à vous » : le dépôt, sa date et son heure, le nombre de pièces jointes.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délai de l’étape est affiché ; un </a:t>
            </a:r>
            <a:r>
              <a:rPr lang="en-US" sz="1200" b="1" dirty="0">
                <a:solidFill>
                  <a:srgbClr val="1B2A3A"/>
                </a:solidFill>
                <a:latin typeface="Segoe UI" pitchFamily="34" charset="0"/>
                <a:ea typeface="Segoe UI" pitchFamily="34" charset="-122"/>
                <a:cs typeface="Segoe UI" pitchFamily="34" charset="-120"/>
              </a:rPr>
              <a:t>retard</a:t>
            </a:r>
            <a:r>
              <a:rPr lang="en-US" sz="1200" dirty="0">
                <a:solidFill>
                  <a:srgbClr val="1B2A3A"/>
                </a:solidFill>
                <a:latin typeface="Segoe UI" pitchFamily="34" charset="0"/>
                <a:ea typeface="Segoe UI" pitchFamily="34" charset="-122"/>
                <a:cs typeface="Segoe UI" pitchFamily="34" charset="-120"/>
              </a:rPr>
              <a:t> s’affiche en rouge (ici, 18 h).</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Ici un avenant n° 1, rattaché à son marché : la page renvoie au dossier du marché et donne le montant.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RG-CTL-01 · RG-CTL-05 · RG-CTL-42</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55</a:t>
            </a:r>
            <a:endParaRPr lang="en-US" sz="1100" dirty="0"/>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name="Slide 5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CONTRÔLE · SECRÉTAIRE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Recevabilité et réception</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Recevabilité et réception"/>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Secrétaire.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a:t>
            </a:r>
            <a:r>
              <a:rPr lang="en-US" sz="1200" b="1" dirty="0">
                <a:solidFill>
                  <a:srgbClr val="1B2A3A"/>
                </a:solidFill>
                <a:latin typeface="Segoe UI" pitchFamily="34" charset="0"/>
                <a:ea typeface="Segoe UI" pitchFamily="34" charset="-122"/>
                <a:cs typeface="Segoe UI" pitchFamily="34" charset="-120"/>
              </a:rPr>
              <a:t>contrôle de complétude</a:t>
            </a:r>
            <a:r>
              <a:rPr lang="en-US" sz="1200" dirty="0">
                <a:solidFill>
                  <a:srgbClr val="1B2A3A"/>
                </a:solidFill>
                <a:latin typeface="Segoe UI" pitchFamily="34" charset="0"/>
                <a:ea typeface="Segoe UI" pitchFamily="34" charset="-122"/>
                <a:cs typeface="Segoe UI" pitchFamily="34" charset="-120"/>
              </a:rPr>
              <a:t>, pièce par pièce : ouvrir, déclarer conforme ou non conforme, motiver.</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pièces exigées sont celles du </a:t>
            </a:r>
            <a:r>
              <a:rPr lang="en-US" sz="1200" b="1" dirty="0">
                <a:solidFill>
                  <a:srgbClr val="1B2A3A"/>
                </a:solidFill>
                <a:latin typeface="Segoe UI" pitchFamily="34" charset="0"/>
                <a:ea typeface="Segoe UI" pitchFamily="34" charset="-122"/>
                <a:cs typeface="Segoe UI" pitchFamily="34" charset="-120"/>
              </a:rPr>
              <a:t>type de dossier</a:t>
            </a:r>
            <a:r>
              <a:rPr lang="en-US" sz="1200" dirty="0">
                <a:solidFill>
                  <a:srgbClr val="1B2A3A"/>
                </a:solidFill>
                <a:latin typeface="Segoe UI" pitchFamily="34" charset="0"/>
                <a:ea typeface="Segoe UI" pitchFamily="34" charset="-122"/>
                <a:cs typeface="Segoe UI" pitchFamily="34" charset="-120"/>
              </a:rPr>
              <a:t> : ici les quatre pièces obligatoires d’un avenant.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Tant qu’une pièce obligatoire n’est pas déclarée conforme, l’enregistrement est </a:t>
            </a:r>
            <a:r>
              <a:rPr lang="en-US" sz="1200" b="1" dirty="0">
                <a:solidFill>
                  <a:srgbClr val="1B2A3A"/>
                </a:solidFill>
                <a:latin typeface="Segoe UI" pitchFamily="34" charset="0"/>
                <a:ea typeface="Segoe UI" pitchFamily="34" charset="-122"/>
                <a:cs typeface="Segoe UI" pitchFamily="34" charset="-120"/>
              </a:rPr>
              <a:t>bloqué</a:t>
            </a:r>
            <a:r>
              <a:rPr lang="en-US" sz="1200" dirty="0">
                <a:solidFill>
                  <a:srgbClr val="1B2A3A"/>
                </a:solidFill>
                <a:latin typeface="Segoe UI" pitchFamily="34" charset="0"/>
                <a:ea typeface="Segoe UI" pitchFamily="34" charset="-122"/>
                <a:cs typeface="Segoe UI" pitchFamily="34" charset="-120"/>
              </a:rPr>
              <a:t> et les pièces en cause sont nommées.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RG-CTL-01 · RG-CTL-02 · RG-CTL-03 · RG-CTL-04 · RG-CTL-47</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56</a:t>
            </a:r>
            <a:endParaRPr lang="en-US" sz="1100" dirty="0"/>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name="Slide 57">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CONTRÔLER</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Attribuer le dossier</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Le Président, ou le Chef de commission pour sa localité, confie le dossier à un Membre. La charge de chacun et les chaînes de contrôle guident ce choix.</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57</a:t>
            </a:r>
            <a:endParaRPr lang="en-US" sz="1100" dirty="0"/>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name="Slide 5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CONTRÔLE · PRÉSIDENT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Tous les dossiers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Tous les dossier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Président (le Chef de commission, pour sa localité).</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Tous les types de dossiers confondus, chacun avec sa </a:t>
            </a:r>
            <a:r>
              <a:rPr lang="en-US" sz="1200" b="1" dirty="0">
                <a:solidFill>
                  <a:srgbClr val="1B2A3A"/>
                </a:solidFill>
                <a:latin typeface="Segoe UI" pitchFamily="34" charset="0"/>
                <a:ea typeface="Segoe UI" pitchFamily="34" charset="-122"/>
                <a:cs typeface="Segoe UI" pitchFamily="34" charset="-120"/>
              </a:rPr>
              <a:t>frise</a:t>
            </a:r>
            <a:r>
              <a:rPr lang="en-US" sz="1200" dirty="0">
                <a:solidFill>
                  <a:srgbClr val="1B2A3A"/>
                </a:solidFill>
                <a:latin typeface="Segoe UI" pitchFamily="34" charset="0"/>
                <a:ea typeface="Segoe UI" pitchFamily="34" charset="-122"/>
                <a:cs typeface="Segoe UI" pitchFamily="34" charset="-120"/>
              </a:rPr>
              <a:t> et son statut.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actions se font depuis la ligne, selon les délégations : ici « Vérifier » sur les dossiers en vérification.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RG-CTL-10 · RG-CTL-42 · RG-CTL-45</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58</a:t>
            </a:r>
            <a:endParaRPr lang="en-US" sz="1100" dirty="0"/>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name="Slide 5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CONTRÔLE · PRÉSIDENT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Dispatcher à un Membre</a:t>
            </a:r>
            <a:endParaRPr lang="en-US" sz="2600" dirty="0"/>
          </a:p>
        </p:txBody>
      </p:sp>
      <p:sp>
        <p:nvSpPr>
          <p:cNvPr id="4" name="Shape 2"/>
          <p:cNvSpPr/>
          <p:nvPr/>
        </p:nvSpPr>
        <p:spPr>
          <a:xfrm>
            <a:off x="800080" y="1193800"/>
            <a:ext cx="7327717" cy="4589463"/>
          </a:xfrm>
          <a:prstGeom prst="rect">
            <a:avLst/>
          </a:prstGeom>
          <a:solidFill>
            <a:srgbClr val="FCFCFA"/>
          </a:solidFill>
          <a:ln w="9525">
            <a:solidFill>
              <a:srgbClr val="D5DCE4"/>
            </a:solidFill>
            <a:prstDash val="solid"/>
          </a:ln>
        </p:spPr>
        <p:txBody>
          <a:bodyPr/>
          <a:lstStyle/>
          <a:p>
            <a:endParaRPr lang="fr-FR"/>
          </a:p>
        </p:txBody>
      </p:sp>
      <p:pic>
        <p:nvPicPr>
          <p:cNvPr id="5" name="Image 0" descr="Dispatcher à un Membre"/>
          <p:cNvPicPr>
            <a:picLocks noChangeAspect="1"/>
          </p:cNvPicPr>
          <p:nvPr/>
        </p:nvPicPr>
        <p:blipFill>
          <a:blip r:embed="rId3"/>
          <a:stretch>
            <a:fillRect/>
          </a:stretch>
        </p:blipFill>
        <p:spPr>
          <a:xfrm>
            <a:off x="812780" y="1206500"/>
            <a:ext cx="7302317" cy="4564063"/>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Président ou le Chef de commission.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a:t>
            </a:r>
            <a:r>
              <a:rPr lang="en-US" sz="1200" b="1" dirty="0">
                <a:solidFill>
                  <a:srgbClr val="1B2A3A"/>
                </a:solidFill>
                <a:latin typeface="Segoe UI" pitchFamily="34" charset="0"/>
                <a:ea typeface="Segoe UI" pitchFamily="34" charset="-122"/>
                <a:cs typeface="Segoe UI" pitchFamily="34" charset="-120"/>
              </a:rPr>
              <a:t>Membre assigné</a:t>
            </a:r>
            <a:r>
              <a:rPr lang="en-US" sz="1200" dirty="0">
                <a:solidFill>
                  <a:srgbClr val="1B2A3A"/>
                </a:solidFill>
                <a:latin typeface="Segoe UI" pitchFamily="34" charset="0"/>
                <a:ea typeface="Segoe UI" pitchFamily="34" charset="-122"/>
                <a:cs typeface="Segoe UI" pitchFamily="34" charset="-120"/>
              </a:rPr>
              <a:t>, avec le nombre de dossiers qu’il a en cours pour équilibrer la charge.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Chef de commission est associé d’office : il reçoit copie du dispatch et suit le circuit.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Une date de dispatch et des instructions facultatives pour le Membre.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RG-CTL-06 · RG-CTL-07 · RG-CTL-08 · RG-CTL-09 · RG-CTL-11</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59</a:t>
            </a:r>
            <a:endParaRPr lang="en-US" sz="1100" dirty="0"/>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name="Slide 6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CONTRÔLE · PRÉSIDENT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répartition du dispatch</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a répartition du dispatch"/>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Président.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dossiers dispatchés, par contrôleur et par type : chaque dossier compte </a:t>
            </a:r>
            <a:r>
              <a:rPr lang="en-US" sz="1200" b="1" dirty="0">
                <a:solidFill>
                  <a:srgbClr val="1B2A3A"/>
                </a:solidFill>
                <a:latin typeface="Segoe UI" pitchFamily="34" charset="0"/>
                <a:ea typeface="Segoe UI" pitchFamily="34" charset="-122"/>
                <a:cs typeface="Segoe UI" pitchFamily="34" charset="-120"/>
              </a:rPr>
              <a:t>une seule fois</a:t>
            </a:r>
            <a:r>
              <a:rPr lang="en-US" sz="1200" dirty="0">
                <a:solidFill>
                  <a:srgbClr val="1B2A3A"/>
                </a:solidFill>
                <a:latin typeface="Segoe UI" pitchFamily="34" charset="0"/>
                <a:ea typeface="Segoe UI" pitchFamily="34" charset="-122"/>
                <a:cs typeface="Segoe UI" pitchFamily="34" charset="-120"/>
              </a:rPr>
              <a: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 dossier sort de la statistique dès que son PV définitif est signé.</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RG-CTL-07 · RG-CTL-11 · RG-CTL-12</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60</a:t>
            </a:r>
            <a:endParaRPr lang="en-US" sz="1100" dirty="0"/>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name="Slide 6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CONTRÔLE · PRÉSIDENT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chaînes de contrôle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chaînes de contrôl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 le Président, le Chef de commission pour sa localité.</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Chaque Membre rattaché à un Vérificateur, chaque Vérificateur à un Assistant.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rattachement </a:t>
            </a:r>
            <a:r>
              <a:rPr lang="en-US" sz="1200" b="1" dirty="0">
                <a:solidFill>
                  <a:srgbClr val="1B2A3A"/>
                </a:solidFill>
                <a:latin typeface="Segoe UI" pitchFamily="34" charset="0"/>
                <a:ea typeface="Segoe UI" pitchFamily="34" charset="-122"/>
                <a:cs typeface="Segoe UI" pitchFamily="34" charset="-120"/>
              </a:rPr>
              <a:t>oriente</a:t>
            </a:r>
            <a:r>
              <a:rPr lang="en-US" sz="1200" dirty="0">
                <a:solidFill>
                  <a:srgbClr val="1B2A3A"/>
                </a:solidFill>
                <a:latin typeface="Segoe UI" pitchFamily="34" charset="0"/>
                <a:ea typeface="Segoe UI" pitchFamily="34" charset="-122"/>
                <a:cs typeface="Segoe UI" pitchFamily="34" charset="-120"/>
              </a:rPr>
              <a:t> la vérification et l’archivage ; il n’interdit rien. Une chaîne incomplète n’est pas bloquante : tout porteur du rôle dans la localité reste compétent (« repli localité »).</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RG-CTL-13</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61</a:t>
            </a:r>
            <a:endParaRPr lang="en-US" sz="1100" dirty="0"/>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name="Slide 6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CONTRÔLE · PRÉSIDENT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dossier, vu du Président</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 dossier, vu du Président"/>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Président.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frise nomme qui a agi : « Réceptionné par le Secrétaire », « Attribué à un Membre ».</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L’étape en cours dit chez qui se trouve le dossier et son délai : ici l’examen, </a:t>
            </a:r>
            <a:r>
              <a:rPr lang="en-US" sz="1200" b="1" dirty="0">
                <a:solidFill>
                  <a:srgbClr val="1B2A3A"/>
                </a:solidFill>
                <a:latin typeface="Segoe UI" pitchFamily="34" charset="0"/>
                <a:ea typeface="Segoe UI" pitchFamily="34" charset="-122"/>
                <a:cs typeface="Segoe UI" pitchFamily="34" charset="-120"/>
              </a:rPr>
              <a:t>3 h de retard</a:t>
            </a:r>
            <a:r>
              <a:rPr lang="en-US" sz="1200" dirty="0">
                <a:solidFill>
                  <a:srgbClr val="1B2A3A"/>
                </a:solidFill>
                <a:latin typeface="Segoe UI" pitchFamily="34" charset="0"/>
                <a:ea typeface="Segoe UI" pitchFamily="34" charset="-122"/>
                <a:cs typeface="Segoe UI" pitchFamily="34" charset="-120"/>
              </a:rPr>
              <a: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fiche DAO validée et les pièces du dossier, consultables par la Commission ; le journal et les délais en haut de page.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RG-CTL-42 · RG-CTL-44 · RG-CTL-45</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62</a:t>
            </a:r>
            <a:endParaRPr lang="en-US" sz="1100" dirty="0"/>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name="Slide 63">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CONTRÔLER</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Examiner et conclure</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Seul le Membre attributaire examine. Son examen produit le projet de PV, qui circule jusqu’au visa et aux signatures.</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63</a:t>
            </a:r>
            <a:endParaRPr lang="en-US" sz="1100" dirty="0"/>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name="Slide 6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CONTRÔLE · MEMBRE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dossiers de la localité, vus du Membre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dossiers de la localité, vus du Membr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Membre.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dossiers de sa localité avec leur frise ; le bouton « Examiner » sur celui qui lui est attribué.</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RG-CTL-14</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64</a:t>
            </a:r>
            <a:endParaRPr lang="en-US" sz="1100" dirty="0"/>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name="Slide 6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CONTRÔLE · MEMBRE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L’examen séquentiel</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xamen séquentiel"/>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Membre attributaire.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 examen par étapes, dans l’ordre : ici les </a:t>
            </a:r>
            <a:r>
              <a:rPr lang="en-US" sz="1200" b="1" dirty="0">
                <a:solidFill>
                  <a:srgbClr val="1B2A3A"/>
                </a:solidFill>
                <a:latin typeface="Segoe UI" pitchFamily="34" charset="0"/>
                <a:ea typeface="Segoe UI" pitchFamily="34" charset="-122"/>
                <a:cs typeface="Segoe UI" pitchFamily="34" charset="-120"/>
              </a:rPr>
              <a:t>pièces jointes</a:t>
            </a:r>
            <a:r>
              <a:rPr lang="en-US" sz="1200" dirty="0">
                <a:solidFill>
                  <a:srgbClr val="1B2A3A"/>
                </a:solidFill>
                <a:latin typeface="Segoe UI" pitchFamily="34" charset="0"/>
                <a:ea typeface="Segoe UI" pitchFamily="34" charset="-122"/>
                <a:cs typeface="Segoe UI" pitchFamily="34" charset="-120"/>
              </a:rPr>
              <a:t>, puis les </a:t>
            </a:r>
            <a:r>
              <a:rPr lang="en-US" sz="1200" b="1" dirty="0">
                <a:solidFill>
                  <a:srgbClr val="1B2A3A"/>
                </a:solidFill>
                <a:latin typeface="Segoe UI" pitchFamily="34" charset="0"/>
                <a:ea typeface="Segoe UI" pitchFamily="34" charset="-122"/>
                <a:cs typeface="Segoe UI" pitchFamily="34" charset="-120"/>
              </a:rPr>
              <a:t>contrôles du dossier</a:t>
            </a:r>
            <a:r>
              <a:rPr lang="en-US" sz="1200" dirty="0">
                <a:solidFill>
                  <a:srgbClr val="1B2A3A"/>
                </a:solidFill>
                <a:latin typeface="Segoe UI" pitchFamily="34" charset="0"/>
                <a:ea typeface="Segoe UI" pitchFamily="34" charset="-122"/>
                <a:cs typeface="Segoe UI" pitchFamily="34" charset="-120"/>
              </a:rPr>
              <a:t>, puis la </a:t>
            </a:r>
            <a:r>
              <a:rPr lang="en-US" sz="1200" b="1" dirty="0">
                <a:solidFill>
                  <a:srgbClr val="1B2A3A"/>
                </a:solidFill>
                <a:latin typeface="Segoe UI" pitchFamily="34" charset="0"/>
                <a:ea typeface="Segoe UI" pitchFamily="34" charset="-122"/>
                <a:cs typeface="Segoe UI" pitchFamily="34" charset="-120"/>
              </a:rPr>
              <a:t>synthèse et l’avis</a:t>
            </a:r>
            <a:r>
              <a:rPr lang="en-US" sz="1200" dirty="0">
                <a:solidFill>
                  <a:srgbClr val="1B2A3A"/>
                </a:solidFill>
                <a:latin typeface="Segoe UI" pitchFamily="34" charset="0"/>
                <a:ea typeface="Segoe UI" pitchFamily="34" charset="-122"/>
                <a:cs typeface="Segoe UI" pitchFamily="34" charset="-120"/>
              </a:rPr>
              <a: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Chaque pièce est lue à l’écran puis déclarée « RAS » ou porte une </a:t>
            </a:r>
            <a:r>
              <a:rPr lang="en-US" sz="1200" b="1" dirty="0">
                <a:solidFill>
                  <a:srgbClr val="1B2A3A"/>
                </a:solidFill>
                <a:latin typeface="Segoe UI" pitchFamily="34" charset="0"/>
                <a:ea typeface="Segoe UI" pitchFamily="34" charset="-122"/>
                <a:cs typeface="Segoe UI" pitchFamily="34" charset="-120"/>
              </a:rPr>
              <a:t>observation</a:t>
            </a:r>
            <a:r>
              <a:rPr lang="en-US" sz="1200" dirty="0">
                <a:solidFill>
                  <a:srgbClr val="1B2A3A"/>
                </a:solidFill>
                <a:latin typeface="Segoe UI" pitchFamily="34" charset="0"/>
                <a:ea typeface="Segoe UI" pitchFamily="34" charset="-122"/>
                <a:cs typeface="Segoe UI" pitchFamily="34" charset="-120"/>
              </a:rPr>
              <a:t> ; on ne passe pas à la suivante sans l’avoir statuée.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En tête : la consigne du dispatch, le temps restant, et le compte des contrôles non conformes.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 Réinitialiser » efface l’examen tant qu’aucun projet de PV n’existe.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RG-CTL-14 · RG-CTL-15 · RG-CTL-17 · RG-CTL-18 · RG-CTL-48</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65</a:t>
            </a:r>
            <a:endParaRPr lang="en-US" sz="1100" dirty="0"/>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name="Slide 6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CONTRÔLE · ADMINISTRATEUR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motifs-types de la conclusion</a:t>
            </a:r>
            <a:endParaRPr lang="en-US" sz="2600" dirty="0"/>
          </a:p>
        </p:txBody>
      </p:sp>
      <p:sp>
        <p:nvSpPr>
          <p:cNvPr id="4" name="Shape 2"/>
          <p:cNvSpPr/>
          <p:nvPr/>
        </p:nvSpPr>
        <p:spPr>
          <a:xfrm>
            <a:off x="800080" y="1193800"/>
            <a:ext cx="7327717" cy="4589463"/>
          </a:xfrm>
          <a:prstGeom prst="rect">
            <a:avLst/>
          </a:prstGeom>
          <a:solidFill>
            <a:srgbClr val="FCFCFA"/>
          </a:solidFill>
          <a:ln w="9525">
            <a:solidFill>
              <a:srgbClr val="D5DCE4"/>
            </a:solidFill>
            <a:prstDash val="solid"/>
          </a:ln>
        </p:spPr>
        <p:txBody>
          <a:bodyPr/>
          <a:lstStyle/>
          <a:p>
            <a:endParaRPr lang="fr-FR"/>
          </a:p>
        </p:txBody>
      </p:sp>
      <p:pic>
        <p:nvPicPr>
          <p:cNvPr id="5" name="Image 0" descr="Les motifs-types de la conclusion"/>
          <p:cNvPicPr>
            <a:picLocks noChangeAspect="1"/>
          </p:cNvPicPr>
          <p:nvPr/>
        </p:nvPicPr>
        <p:blipFill>
          <a:blip r:embed="rId3"/>
          <a:stretch>
            <a:fillRect/>
          </a:stretch>
        </p:blipFill>
        <p:spPr>
          <a:xfrm>
            <a:off x="812780" y="1206500"/>
            <a:ext cx="7302317" cy="4564063"/>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 tient le référentiel ; le Membre, le Président et le Chef de commission s’en servent.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formulations du manuel : motifs de </a:t>
            </a:r>
            <a:r>
              <a:rPr lang="en-US" sz="1200" b="1" dirty="0">
                <a:solidFill>
                  <a:srgbClr val="1B2A3A"/>
                </a:solidFill>
                <a:latin typeface="Segoe UI" pitchFamily="34" charset="0"/>
                <a:ea typeface="Segoe UI" pitchFamily="34" charset="-122"/>
                <a:cs typeface="Segoe UI" pitchFamily="34" charset="-120"/>
              </a:rPr>
              <a:t>renvoi</a:t>
            </a:r>
            <a:r>
              <a:rPr lang="en-US" sz="1200" dirty="0">
                <a:solidFill>
                  <a:srgbClr val="1B2A3A"/>
                </a:solidFill>
                <a:latin typeface="Segoe UI" pitchFamily="34" charset="0"/>
                <a:ea typeface="Segoe UI" pitchFamily="34" charset="-122"/>
                <a:cs typeface="Segoe UI" pitchFamily="34" charset="-120"/>
              </a:rPr>
              <a:t> (lettre de renvoi) et d’</a:t>
            </a:r>
            <a:r>
              <a:rPr lang="en-US" sz="1200" b="1" dirty="0">
                <a:solidFill>
                  <a:srgbClr val="1B2A3A"/>
                </a:solidFill>
                <a:latin typeface="Segoe UI" pitchFamily="34" charset="0"/>
                <a:ea typeface="Segoe UI" pitchFamily="34" charset="-122"/>
                <a:cs typeface="Segoe UI" pitchFamily="34" charset="-120"/>
              </a:rPr>
              <a:t>avis défavorable</a:t>
            </a:r>
            <a:r>
              <a:rPr lang="en-US" sz="1200" dirty="0">
                <a:solidFill>
                  <a:srgbClr val="1B2A3A"/>
                </a:solidFill>
                <a:latin typeface="Segoe UI" pitchFamily="34" charset="0"/>
                <a:ea typeface="Segoe UI" pitchFamily="34" charset="-122"/>
                <a:cs typeface="Segoe UI" pitchFamily="34" charset="-120"/>
              </a:rPr>
              <a:t> (projet de PV), par type de dossier et, au besoin, par catégorie.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contrôleur insère le texte puis le complète : le motif n’engage rien par lui-même. Un motif se désactive plutôt que de se supprimer.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RG-CTL-49</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66</a:t>
            </a:r>
            <a:endParaRPr lang="en-US" sz="1100" dirty="0"/>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name="Slide 6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CONTRÔLE · MEMBRE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projet de PV</a:t>
            </a:r>
            <a:endParaRPr lang="en-US" sz="2600" dirty="0"/>
          </a:p>
        </p:txBody>
      </p:sp>
      <p:sp>
        <p:nvSpPr>
          <p:cNvPr id="4" name="Shape 2"/>
          <p:cNvSpPr/>
          <p:nvPr/>
        </p:nvSpPr>
        <p:spPr>
          <a:xfrm>
            <a:off x="800080" y="1193800"/>
            <a:ext cx="7327717" cy="4589463"/>
          </a:xfrm>
          <a:prstGeom prst="rect">
            <a:avLst/>
          </a:prstGeom>
          <a:solidFill>
            <a:srgbClr val="FCFCFA"/>
          </a:solidFill>
          <a:ln w="9525">
            <a:solidFill>
              <a:srgbClr val="D5DCE4"/>
            </a:solidFill>
            <a:prstDash val="solid"/>
          </a:ln>
        </p:spPr>
        <p:txBody>
          <a:bodyPr/>
          <a:lstStyle/>
          <a:p>
            <a:endParaRPr lang="fr-FR"/>
          </a:p>
        </p:txBody>
      </p:sp>
      <p:pic>
        <p:nvPicPr>
          <p:cNvPr id="5" name="Image 0" descr="Le projet de PV"/>
          <p:cNvPicPr>
            <a:picLocks noChangeAspect="1"/>
          </p:cNvPicPr>
          <p:nvPr/>
        </p:nvPicPr>
        <p:blipFill>
          <a:blip r:embed="rId3"/>
          <a:stretch>
            <a:fillRect/>
          </a:stretch>
        </p:blipFill>
        <p:spPr>
          <a:xfrm>
            <a:off x="812780" y="1206500"/>
            <a:ext cx="7302317" cy="4564063"/>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Membre.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L’examen terminé produit le </a:t>
            </a:r>
            <a:r>
              <a:rPr lang="en-US" sz="1200" b="1" dirty="0">
                <a:solidFill>
                  <a:srgbClr val="1B2A3A"/>
                </a:solidFill>
                <a:latin typeface="Segoe UI" pitchFamily="34" charset="0"/>
                <a:ea typeface="Segoe UI" pitchFamily="34" charset="-122"/>
                <a:cs typeface="Segoe UI" pitchFamily="34" charset="-120"/>
              </a:rPr>
              <a:t>projet de PV</a:t>
            </a:r>
            <a:r>
              <a:rPr lang="en-US" sz="1200" dirty="0">
                <a:solidFill>
                  <a:srgbClr val="1B2A3A"/>
                </a:solidFill>
                <a:latin typeface="Segoe UI" pitchFamily="34" charset="0"/>
                <a:ea typeface="Segoe UI" pitchFamily="34" charset="-122"/>
                <a:cs typeface="Segoe UI" pitchFamily="34" charset="-120"/>
              </a:rPr>
              <a:t> : l’avis du Membre et ses observations.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Membre le soumet au Président ou au Chef de commission qui l’a dispatché.</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RG-CTL-19 · RG-CTL-20 · RG-CTL-21</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67</a:t>
            </a:r>
            <a:endParaRPr lang="en-US" sz="1100" dirty="0"/>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name="Slide 6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CONTRÔLE · PRÉSIDENT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visa du Président</a:t>
            </a:r>
            <a:endParaRPr lang="en-US" sz="2600" dirty="0"/>
          </a:p>
        </p:txBody>
      </p:sp>
      <p:sp>
        <p:nvSpPr>
          <p:cNvPr id="4" name="Shape 2"/>
          <p:cNvSpPr/>
          <p:nvPr/>
        </p:nvSpPr>
        <p:spPr>
          <a:xfrm>
            <a:off x="800080" y="1193800"/>
            <a:ext cx="7327717" cy="4589463"/>
          </a:xfrm>
          <a:prstGeom prst="rect">
            <a:avLst/>
          </a:prstGeom>
          <a:solidFill>
            <a:srgbClr val="FCFCFA"/>
          </a:solidFill>
          <a:ln w="9525">
            <a:solidFill>
              <a:srgbClr val="D5DCE4"/>
            </a:solidFill>
            <a:prstDash val="solid"/>
          </a:ln>
        </p:spPr>
        <p:txBody>
          <a:bodyPr/>
          <a:lstStyle/>
          <a:p>
            <a:endParaRPr lang="fr-FR"/>
          </a:p>
        </p:txBody>
      </p:sp>
      <p:pic>
        <p:nvPicPr>
          <p:cNvPr id="5" name="Image 0" descr="Le visa du Président"/>
          <p:cNvPicPr>
            <a:picLocks noChangeAspect="1"/>
          </p:cNvPicPr>
          <p:nvPr/>
        </p:nvPicPr>
        <p:blipFill>
          <a:blip r:embed="rId3"/>
          <a:stretch>
            <a:fillRect/>
          </a:stretch>
        </p:blipFill>
        <p:spPr>
          <a:xfrm>
            <a:off x="812780" y="1206500"/>
            <a:ext cx="7302317" cy="4564063"/>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Président ou le Chef de commission qui a dispatché.</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visa clôt la navette en un geste : il arrête l’</a:t>
            </a:r>
            <a:r>
              <a:rPr lang="en-US" sz="1200" b="1" dirty="0">
                <a:solidFill>
                  <a:srgbClr val="1B2A3A"/>
                </a:solidFill>
                <a:latin typeface="Segoe UI" pitchFamily="34" charset="0"/>
                <a:ea typeface="Segoe UI" pitchFamily="34" charset="-122"/>
                <a:cs typeface="Segoe UI" pitchFamily="34" charset="-120"/>
              </a:rPr>
              <a:t>avis global</a:t>
            </a:r>
            <a:r>
              <a:rPr lang="en-US" sz="1200" dirty="0">
                <a:solidFill>
                  <a:srgbClr val="1B2A3A"/>
                </a:solidFill>
                <a:latin typeface="Segoe UI" pitchFamily="34" charset="0"/>
                <a:ea typeface="Segoe UI" pitchFamily="34" charset="-122"/>
                <a:cs typeface="Segoe UI" pitchFamily="34" charset="-120"/>
              </a:rPr>
              <a:t>, désigne le </a:t>
            </a:r>
            <a:r>
              <a:rPr lang="en-US" sz="1200" b="1" dirty="0">
                <a:solidFill>
                  <a:srgbClr val="1B2A3A"/>
                </a:solidFill>
                <a:latin typeface="Segoe UI" pitchFamily="34" charset="0"/>
                <a:ea typeface="Segoe UI" pitchFamily="34" charset="-122"/>
                <a:cs typeface="Segoe UI" pitchFamily="34" charset="-120"/>
              </a:rPr>
              <a:t>co-signataire</a:t>
            </a:r>
            <a:r>
              <a:rPr lang="en-US" sz="1200" dirty="0">
                <a:solidFill>
                  <a:srgbClr val="1B2A3A"/>
                </a:solidFill>
                <a:latin typeface="Segoe UI" pitchFamily="34" charset="0"/>
                <a:ea typeface="Segoe UI" pitchFamily="34" charset="-122"/>
                <a:cs typeface="Segoe UI" pitchFamily="34" charset="-120"/>
              </a:rPr>
              <a:t> et pose sa propre signature.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L’avis est pré-rempli avec celui du Membre ; le changer ici le remplace.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À la place, il peut retourner le projet au Membre, avec un commentaire, ou établir une lettre de renvoi.</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RG-CTL-21 · RG-CTL-22 · RG-CTL-23 · RG-CTL-24 · RG-CTL-25 · RG-CTL-26 · RG-CTL-28</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68</a:t>
            </a:r>
            <a:endParaRPr lang="en-US" sz="1100" dirty="0"/>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name="Slide 6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CONTRÔLE · MEMBRE CO-SIGNATAIRE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seconde signature</a:t>
            </a:r>
            <a:endParaRPr lang="en-US" sz="2600" dirty="0"/>
          </a:p>
        </p:txBody>
      </p:sp>
      <p:sp>
        <p:nvSpPr>
          <p:cNvPr id="4" name="Shape 2"/>
          <p:cNvSpPr/>
          <p:nvPr/>
        </p:nvSpPr>
        <p:spPr>
          <a:xfrm>
            <a:off x="800080" y="1193800"/>
            <a:ext cx="7327717" cy="4589463"/>
          </a:xfrm>
          <a:prstGeom prst="rect">
            <a:avLst/>
          </a:prstGeom>
          <a:solidFill>
            <a:srgbClr val="FCFCFA"/>
          </a:solidFill>
          <a:ln w="9525">
            <a:solidFill>
              <a:srgbClr val="D5DCE4"/>
            </a:solidFill>
            <a:prstDash val="solid"/>
          </a:ln>
        </p:spPr>
        <p:txBody>
          <a:bodyPr/>
          <a:lstStyle/>
          <a:p>
            <a:endParaRPr lang="fr-FR"/>
          </a:p>
        </p:txBody>
      </p:sp>
      <p:pic>
        <p:nvPicPr>
          <p:cNvPr id="5" name="Image 0" descr="La seconde signature"/>
          <p:cNvPicPr>
            <a:picLocks noChangeAspect="1"/>
          </p:cNvPicPr>
          <p:nvPr/>
        </p:nvPicPr>
        <p:blipFill>
          <a:blip r:embed="rId3"/>
          <a:stretch>
            <a:fillRect/>
          </a:stretch>
        </p:blipFill>
        <p:spPr>
          <a:xfrm>
            <a:off x="812780" y="1206500"/>
            <a:ext cx="7302317" cy="4564063"/>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Membre désigné co-signataire.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PV visé attend les parts de signature des désignés ; le PV est signé par </a:t>
            </a:r>
            <a:r>
              <a:rPr lang="en-US" sz="1200" b="1" dirty="0">
                <a:solidFill>
                  <a:srgbClr val="1B2A3A"/>
                </a:solidFill>
                <a:latin typeface="Segoe UI" pitchFamily="34" charset="0"/>
                <a:ea typeface="Segoe UI" pitchFamily="34" charset="-122"/>
                <a:cs typeface="Segoe UI" pitchFamily="34" charset="-120"/>
              </a:rPr>
              <a:t>deux personnes distinctes</a:t>
            </a:r>
            <a:r>
              <a:rPr lang="en-US" sz="1200" dirty="0">
                <a:solidFill>
                  <a:srgbClr val="1B2A3A"/>
                </a:solidFill>
                <a:latin typeface="Segoe UI" pitchFamily="34" charset="0"/>
                <a:ea typeface="Segoe UI" pitchFamily="34" charset="-122"/>
                <a:cs typeface="Segoe UI" pitchFamily="34" charset="-120"/>
              </a:rPr>
              <a:t> au moins.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dernière signature rend le PV définitif.</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RG-CTL-26 · RG-CTL-27</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69</a:t>
            </a:r>
            <a:endParaRPr lang="en-US" sz="1100" dirty="0"/>
          </a:p>
        </p:txBody>
      </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name="Slide 7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CONTRÔLE · PRÉSIDENT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L’examen de dossiers : trois productions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xamen de dossiers : trois production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Président (de même le Chef de commission).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Trois cartes : </a:t>
            </a:r>
            <a:r>
              <a:rPr lang="en-US" sz="1200" b="1" dirty="0">
                <a:solidFill>
                  <a:srgbClr val="1B2A3A"/>
                </a:solidFill>
                <a:latin typeface="Segoe UI" pitchFamily="34" charset="0"/>
                <a:ea typeface="Segoe UI" pitchFamily="34" charset="-122"/>
                <a:cs typeface="Segoe UI" pitchFamily="34" charset="-120"/>
              </a:rPr>
              <a:t>projets de PV</a:t>
            </a:r>
            <a:r>
              <a:rPr lang="en-US" sz="1200" dirty="0">
                <a:solidFill>
                  <a:srgbClr val="1B2A3A"/>
                </a:solidFill>
                <a:latin typeface="Segoe UI" pitchFamily="34" charset="0"/>
                <a:ea typeface="Segoe UI" pitchFamily="34" charset="-122"/>
                <a:cs typeface="Segoe UI" pitchFamily="34" charset="-120"/>
              </a:rPr>
              <a:t> en navette, </a:t>
            </a:r>
            <a:r>
              <a:rPr lang="en-US" sz="1200" b="1" dirty="0">
                <a:solidFill>
                  <a:srgbClr val="1B2A3A"/>
                </a:solidFill>
                <a:latin typeface="Segoe UI" pitchFamily="34" charset="0"/>
                <a:ea typeface="Segoe UI" pitchFamily="34" charset="-122"/>
                <a:cs typeface="Segoe UI" pitchFamily="34" charset="-120"/>
              </a:rPr>
              <a:t>PV définitifs</a:t>
            </a:r>
            <a:r>
              <a:rPr lang="en-US" sz="1200" dirty="0">
                <a:solidFill>
                  <a:srgbClr val="1B2A3A"/>
                </a:solidFill>
                <a:latin typeface="Segoe UI" pitchFamily="34" charset="0"/>
                <a:ea typeface="Segoe UI" pitchFamily="34" charset="-122"/>
                <a:cs typeface="Segoe UI" pitchFamily="34" charset="-120"/>
              </a:rPr>
              <a:t> signés, </a:t>
            </a:r>
            <a:r>
              <a:rPr lang="en-US" sz="1200" b="1" dirty="0">
                <a:solidFill>
                  <a:srgbClr val="1B2A3A"/>
                </a:solidFill>
                <a:latin typeface="Segoe UI" pitchFamily="34" charset="0"/>
                <a:ea typeface="Segoe UI" pitchFamily="34" charset="-122"/>
                <a:cs typeface="Segoe UI" pitchFamily="34" charset="-120"/>
              </a:rPr>
              <a:t>lettres de renvoi</a:t>
            </a:r>
            <a:r>
              <a:rPr lang="en-US" sz="1200" dirty="0">
                <a:solidFill>
                  <a:srgbClr val="1B2A3A"/>
                </a:solidFill>
                <a:latin typeface="Segoe UI" pitchFamily="34" charset="0"/>
                <a:ea typeface="Segoe UI" pitchFamily="34" charset="-122"/>
                <a:cs typeface="Segoe UI" pitchFamily="34" charset="-120"/>
              </a:rPr>
              <a:t> et leur suivi.</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liste de chaque production s’ouvre sous sa carte.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RG-CTL-21 · RG-CTL-25 · RG-CTL-36</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70</a:t>
            </a:r>
            <a:endParaRPr lang="en-US" sz="1100" dirty="0"/>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name="Slide 7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CONTRÔLE · MEMBRE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PV et lettres de renvoi, vus du Membre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PV et lettres de renvoi, vus du Membr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Membre.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même regroupement : ses projets de PV à gérer et soumettre, les PV définitifs (ici quinze), les projets de lettre de renvoi.</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RG-CTL-36 · RG-CTL-37</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71</a:t>
            </a:r>
            <a:endParaRPr lang="en-US" sz="1100" dirty="0"/>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name="Slide 72">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CONTRÔLER</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Vérifier, transmettre, archiver</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Aucun avis ne clôt le dossier à la signature : le PV part au Vérificateur, qui transmet la décision au SIGMP, puis à l’Assistant, qui archive.</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72</a:t>
            </a:r>
            <a:endParaRPr lang="en-US" sz="1100" dirty="0"/>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name="Slide 7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CONTRÔLE · VÉRIFICATEUR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dossiers à vérifier</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dossiers à vérifier"/>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Vérificateur.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dossiers dont le PV est signé, « à vérifier par vous » quand la chaîne de contrôle le désigne.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Pour chacun : le PV définitif et le geste « Transmettre la décision ».</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RG-CTL-29 · RG-CTL-30 · RG-CTL-31 · RG-CTL-32 · RG-CTL-33</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73</a:t>
            </a:r>
            <a:endParaRPr lang="en-US" sz="1100" dirty="0"/>
          </a:p>
        </p:txBody>
      </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name="Slide 7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CONTRÔLE · VÉRIFICATEUR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Transmettre la décision à SIGMP</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Transmettre la décision à SIGMP"/>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Vérificateur.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pièces du dossier, son contexte, l’avis du PV et les observations du PV à portée de main.</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a:t>
            </a:r>
            <a:r>
              <a:rPr lang="en-US" sz="1200" b="1" dirty="0">
                <a:solidFill>
                  <a:srgbClr val="1B2A3A"/>
                </a:solidFill>
                <a:latin typeface="Segoe UI" pitchFamily="34" charset="0"/>
                <a:ea typeface="Segoe UI" pitchFamily="34" charset="-122"/>
                <a:cs typeface="Segoe UI" pitchFamily="34" charset="-120"/>
              </a:rPr>
              <a:t>sens à transmettre</a:t>
            </a:r>
            <a:r>
              <a:rPr lang="en-US" sz="1200" dirty="0">
                <a:solidFill>
                  <a:srgbClr val="1B2A3A"/>
                </a:solidFill>
                <a:latin typeface="Segoe UI" pitchFamily="34" charset="0"/>
                <a:ea typeface="Segoe UI" pitchFamily="34" charset="-122"/>
                <a:cs typeface="Segoe UI" pitchFamily="34" charset="-120"/>
              </a:rPr>
              <a:t> se déduit de l’avis : ici « Favorable » donne « Approuvé ».</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Après la transmission, le PV part de lui-même chez l’Assistant pour archivage.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RG-CTL-29 · RG-CTL-34</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74</a:t>
            </a:r>
            <a:endParaRPr lang="en-US" sz="1100" dirty="0"/>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name="Slide 7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CONTRÔLE · VÉRIFICATEUR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dossiers vérifiés et clôturés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dossiers vérifiés et clôturé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Vérificateur.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L’historique de ses vérifications : « Décision transmise à SIGMP », puis « Clôturé » après l’archivage, avec la fin de traitement à la Commission.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RG-CTL-34 · RG-CTL-35</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75</a:t>
            </a:r>
            <a:endParaRPr lang="en-US" sz="1100" dirty="0"/>
          </a:p>
        </p:txBody>
      </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name="Slide 7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CONTRÔLE · ASSISTANT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PV reçus pour archivage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PV reçus pour archivag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L’Assistant (ici le Président, qui exerce cette tâche par délégation).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PV définitifs transmis à l’archivage, avec leur avis et leur date de signature.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Chaque PV dit qui doit l’archiver (« à archiver par l’Assistant ») ou quand il l’a été.</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RG-CTL-10 · RG-CTL-35</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76</a:t>
            </a:r>
            <a:endParaRPr lang="en-US" sz="1100" dirty="0"/>
          </a:p>
        </p:txBody>
      </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name="Slide 7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CONTRÔLE · ASSISTANT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L’archivage du PV</a:t>
            </a:r>
            <a:endParaRPr lang="en-US" sz="2600" dirty="0"/>
          </a:p>
        </p:txBody>
      </p:sp>
      <p:sp>
        <p:nvSpPr>
          <p:cNvPr id="4" name="Shape 2"/>
          <p:cNvSpPr/>
          <p:nvPr/>
        </p:nvSpPr>
        <p:spPr>
          <a:xfrm>
            <a:off x="800080" y="1193800"/>
            <a:ext cx="7327717" cy="4589463"/>
          </a:xfrm>
          <a:prstGeom prst="rect">
            <a:avLst/>
          </a:prstGeom>
          <a:solidFill>
            <a:srgbClr val="FCFCFA"/>
          </a:solidFill>
          <a:ln w="9525">
            <a:solidFill>
              <a:srgbClr val="D5DCE4"/>
            </a:solidFill>
            <a:prstDash val="solid"/>
          </a:ln>
        </p:spPr>
        <p:txBody>
          <a:bodyPr/>
          <a:lstStyle/>
          <a:p>
            <a:endParaRPr lang="fr-FR"/>
          </a:p>
        </p:txBody>
      </p:sp>
      <p:pic>
        <p:nvPicPr>
          <p:cNvPr id="5" name="Image 0" descr="L’archivage du PV"/>
          <p:cNvPicPr>
            <a:picLocks noChangeAspect="1"/>
          </p:cNvPicPr>
          <p:nvPr/>
        </p:nvPicPr>
        <p:blipFill>
          <a:blip r:embed="rId3"/>
          <a:stretch>
            <a:fillRect/>
          </a:stretch>
        </p:blipFill>
        <p:spPr>
          <a:xfrm>
            <a:off x="812780" y="1206500"/>
            <a:ext cx="7302317" cy="4564063"/>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L’Assistant.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 Dernière étape avant la clôture » : la décision est transmise au SIGMP.</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 Archiver le PV » clôt le dossier.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RG-CTL-35</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77</a:t>
            </a:r>
            <a:endParaRPr lang="en-US" sz="1100" dirty="0"/>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name="Slide 7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CONTRÔLE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Ce que voit la PRMP</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Ce que voit la PRMP"/>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même frise que la Commission : chaque étape franchie est datée ; ici une déclaration sans suite en vérification.</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date de </a:t>
            </a:r>
            <a:r>
              <a:rPr lang="en-US" sz="1200" b="1" dirty="0">
                <a:solidFill>
                  <a:srgbClr val="1B2A3A"/>
                </a:solidFill>
                <a:latin typeface="Segoe UI" pitchFamily="34" charset="0"/>
                <a:ea typeface="Segoe UI" pitchFamily="34" charset="-122"/>
                <a:cs typeface="Segoe UI" pitchFamily="34" charset="-120"/>
              </a:rPr>
              <a:t>fin de traitement prévue</a:t>
            </a:r>
            <a:r>
              <a:rPr lang="en-US" sz="1200" dirty="0">
                <a:solidFill>
                  <a:srgbClr val="1B2A3A"/>
                </a:solidFill>
                <a:latin typeface="Segoe UI" pitchFamily="34" charset="0"/>
                <a:ea typeface="Segoe UI" pitchFamily="34" charset="-122"/>
                <a:cs typeface="Segoe UI" pitchFamily="34" charset="-120"/>
              </a:rPr>
              <a:t> lui est annoncée dès le dépôt.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pièces de son dossier : ici celles qu’exige une déclaration sans suite (motifs, projet de décision, justificatifs…).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RG-CTL-29 · RG-CTL-43 · RG-CTL-44 · RG-CTL-47</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78</a:t>
            </a:r>
            <a:endParaRPr lang="en-US" sz="1100" dirty="0"/>
          </a:p>
        </p:txBody>
      </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name="Slide 7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CONTRÔLE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Ses PV définitifs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Ses PV définitif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PV signés de ses dossiers, avec leurs co-signataires, à afficher ; la base d’une rectification selon les observations.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À côté, ses lettres de renvoi : les pièces complémentaires à transmettre.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RG-CTL-29 · RG-CTL-30 · RG-CTL-36 · RG-CTL-37</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79</a:t>
            </a:r>
            <a:endParaRPr lang="en-US" sz="1100" dirty="0"/>
          </a:p>
        </p:txBody>
      </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name="Slide 8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CONTRÔLE · PRÉSIDENT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Statuer sur les demandes de retrait</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Statuer sur les demandes de retrait"/>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Président ou le Chef de commission de la localité.</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demandes de retrait des PRMP, à valider, et leur historique.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Accepter renvoie le dossier en </a:t>
            </a:r>
            <a:r>
              <a:rPr lang="en-US" sz="1200" b="1" dirty="0">
                <a:solidFill>
                  <a:srgbClr val="1B2A3A"/>
                </a:solidFill>
                <a:latin typeface="Segoe UI" pitchFamily="34" charset="0"/>
                <a:ea typeface="Segoe UI" pitchFamily="34" charset="-122"/>
                <a:cs typeface="Segoe UI" pitchFamily="34" charset="-120"/>
              </a:rPr>
              <a:t>brouillon</a:t>
            </a:r>
            <a:r>
              <a:rPr lang="en-US" sz="1200" dirty="0">
                <a:solidFill>
                  <a:srgbClr val="1B2A3A"/>
                </a:solidFill>
                <a:latin typeface="Segoe UI" pitchFamily="34" charset="0"/>
                <a:ea typeface="Segoe UI" pitchFamily="34" charset="-122"/>
                <a:cs typeface="Segoe UI" pitchFamily="34" charset="-120"/>
              </a:rPr>
              <a:t> ; refuser le laisse dans le circuit ; chaque décision est motivée.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RG-CTL-39 · RG-CTL-40 · RG-CTL-41</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80</a:t>
            </a:r>
            <a:endParaRPr lang="en-US" sz="1100" dirty="0"/>
          </a:p>
        </p:txBody>
      </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name="Slide 81">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CONTRÔLER</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Le contrôle porte sur les données</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Le manuel de contrôle révisé (lot 1, livré le 13/10) s’applique aux procédures conduites dans l’application : les pièces que l’application produit ne sont plus demandées, la Commission lit les écrans figés à la soumission, l’application joue les contrôles automatiques et le Membre pose les siens.</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81</a:t>
            </a:r>
            <a:endParaRPr lang="en-US" sz="1100" dirty="0"/>
          </a:p>
        </p:txBody>
      </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name="Slide 8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MANUEL RÉVISÉ · COMMISSION</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écrans figés à la soumission</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écrans figés à la soumission"/>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Les profils de la Commission, en lecture seule ; la PRMP.</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À chaque soumission, l’application </a:t>
            </a:r>
            <a:r>
              <a:rPr lang="en-US" sz="1200" b="1" dirty="0">
                <a:solidFill>
                  <a:srgbClr val="1B2A3A"/>
                </a:solidFill>
                <a:latin typeface="Segoe UI" pitchFamily="34" charset="0"/>
                <a:ea typeface="Segoe UI" pitchFamily="34" charset="-122"/>
                <a:cs typeface="Segoe UI" pitchFamily="34" charset="-120"/>
              </a:rPr>
              <a:t>fige</a:t>
            </a:r>
            <a:r>
              <a:rPr lang="en-US" sz="1200" dirty="0">
                <a:solidFill>
                  <a:srgbClr val="1B2A3A"/>
                </a:solidFill>
                <a:latin typeface="Segoe UI" pitchFamily="34" charset="0"/>
                <a:ea typeface="Segoe UI" pitchFamily="34" charset="-122"/>
                <a:cs typeface="Segoe UI" pitchFamily="34" charset="-120"/>
              </a:rPr>
              <a:t> les écrans de la procédure tels qu’ils étaient : ici la ligne du plan, les avis et lettres, la commission d’appel d’offres.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Chaque écran figé porte le numéro de la soumission, sa date, son auteur et une </a:t>
            </a:r>
            <a:r>
              <a:rPr lang="en-US" sz="1200" b="1" dirty="0">
                <a:solidFill>
                  <a:srgbClr val="1B2A3A"/>
                </a:solidFill>
                <a:latin typeface="Segoe UI" pitchFamily="34" charset="0"/>
                <a:ea typeface="Segoe UI" pitchFamily="34" charset="-122"/>
                <a:cs typeface="Segoe UI" pitchFamily="34" charset="-120"/>
              </a:rPr>
              <a:t>empreinte</a:t>
            </a:r>
            <a:r>
              <a:rPr lang="en-US" sz="1200" dirty="0">
                <a:solidFill>
                  <a:srgbClr val="1B2A3A"/>
                </a:solidFill>
                <a:latin typeface="Segoe UI" pitchFamily="34" charset="0"/>
                <a:ea typeface="Segoe UI" pitchFamily="34" charset="-122"/>
                <a:cs typeface="Segoe UI" pitchFamily="34" charset="-120"/>
              </a:rPr>
              <a:t> qui atteste qu’il n’a pas changé.</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Commission les lit à la place des pièces qui ne sont plus jointes, et peut les exporter en PDF pour l’archivage avec le PV.</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RG-CTL-52 · RG-CTL-51</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82</a:t>
            </a:r>
            <a:endParaRPr lang="en-US" sz="1100" dirty="0"/>
          </a:p>
        </p:txBody>
      </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name="Slide 8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MANUEL RÉVISÉ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contrôles du dossier, vus de la PRMP</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contrôles du dossier, vus de la PRMP"/>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et tous ceux qui lisent le dossier.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L’onglet « Contrôles » : chaque contrôle avec sa référence au manuel, son résultat, le constat, son auteur et sa date.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compteurs </a:t>
            </a:r>
            <a:r>
              <a:rPr lang="en-US" sz="1200" b="1" dirty="0">
                <a:solidFill>
                  <a:srgbClr val="1B2A3A"/>
                </a:solidFill>
                <a:latin typeface="Segoe UI" pitchFamily="34" charset="0"/>
                <a:ea typeface="Segoe UI" pitchFamily="34" charset="-122"/>
                <a:cs typeface="Segoe UI" pitchFamily="34" charset="-120"/>
              </a:rPr>
              <a:t>conformes / non conformes / sans objet</a:t>
            </a:r>
            <a:r>
              <a:rPr lang="en-US" sz="1200" dirty="0">
                <a:solidFill>
                  <a:srgbClr val="1B2A3A"/>
                </a:solidFill>
                <a:latin typeface="Segoe UI" pitchFamily="34" charset="0"/>
                <a:ea typeface="Segoe UI" pitchFamily="34" charset="-122"/>
                <a:cs typeface="Segoe UI" pitchFamily="34" charset="-120"/>
              </a:rPr>
              <a:t> ; l’historique complet sous un volet ; l’export en PDF.</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Sur la même page, le </a:t>
            </a:r>
            <a:r>
              <a:rPr lang="en-US" sz="1200" b="1" dirty="0">
                <a:solidFill>
                  <a:srgbClr val="1B2A3A"/>
                </a:solidFill>
                <a:latin typeface="Segoe UI" pitchFamily="34" charset="0"/>
                <a:ea typeface="Segoe UI" pitchFamily="34" charset="-122"/>
                <a:cs typeface="Segoe UI" pitchFamily="34" charset="-120"/>
              </a:rPr>
              <a:t>projet d’avis spécifique</a:t>
            </a:r>
            <a:r>
              <a:rPr lang="en-US" sz="1200" dirty="0">
                <a:solidFill>
                  <a:srgbClr val="1B2A3A"/>
                </a:solidFill>
                <a:latin typeface="Segoe UI" pitchFamily="34" charset="0"/>
                <a:ea typeface="Segoe UI" pitchFamily="34" charset="-122"/>
                <a:cs typeface="Segoe UI" pitchFamily="34" charset="-120"/>
              </a:rPr>
              <a:t> (PDF ou Word, filigrane « PROJET ») produit depuis la fiche validée : il ne lance rien.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RG-CTL-53 · RG-CTL-54 · RG-CTL-56</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83</a:t>
            </a:r>
            <a:endParaRPr lang="en-US" sz="1100" dirty="0"/>
          </a:p>
        </p:txBody>
      </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name="Slide 8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MANUEL RÉVISÉ · MEMBRE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Lever ou ajouter un contrôle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ver ou ajouter un contrôl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Membre attributaire.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contrôles </a:t>
            </a:r>
            <a:r>
              <a:rPr lang="en-US" sz="1200" b="1" dirty="0">
                <a:solidFill>
                  <a:srgbClr val="1B2A3A"/>
                </a:solidFill>
                <a:latin typeface="Segoe UI" pitchFamily="34" charset="0"/>
                <a:ea typeface="Segoe UI" pitchFamily="34" charset="-122"/>
                <a:cs typeface="Segoe UI" pitchFamily="34" charset="-120"/>
              </a:rPr>
              <a:t>automatiques</a:t>
            </a:r>
            <a:r>
              <a:rPr lang="en-US" sz="1200" dirty="0">
                <a:solidFill>
                  <a:srgbClr val="1B2A3A"/>
                </a:solidFill>
                <a:latin typeface="Segoe UI" pitchFamily="34" charset="0"/>
                <a:ea typeface="Segoe UI" pitchFamily="34" charset="-122"/>
                <a:cs typeface="Segoe UI" pitchFamily="34" charset="-120"/>
              </a:rPr>
              <a:t> sont joués par l’application à la soumission ; le Membre pose les siens pendant l’examen.</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dernier résultat posé fait foi : une non-conformité se </a:t>
            </a:r>
            <a:r>
              <a:rPr lang="en-US" sz="1200" b="1" dirty="0">
                <a:solidFill>
                  <a:srgbClr val="1B2A3A"/>
                </a:solidFill>
                <a:latin typeface="Segoe UI" pitchFamily="34" charset="0"/>
                <a:ea typeface="Segoe UI" pitchFamily="34" charset="-122"/>
                <a:cs typeface="Segoe UI" pitchFamily="34" charset="-120"/>
              </a:rPr>
              <a:t>lève</a:t>
            </a:r>
            <a:r>
              <a:rPr lang="en-US" sz="1200" dirty="0">
                <a:solidFill>
                  <a:srgbClr val="1B2A3A"/>
                </a:solidFill>
                <a:latin typeface="Segoe UI" pitchFamily="34" charset="0"/>
                <a:ea typeface="Segoe UI" pitchFamily="34" charset="-122"/>
                <a:cs typeface="Segoe UI" pitchFamily="34" charset="-120"/>
              </a:rPr>
              <a:t> en posant « Conforme » ou « Sans objet », avec une observation.</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Une non-conformité non levée </a:t>
            </a:r>
            <a:r>
              <a:rPr lang="en-US" sz="1200" b="1" dirty="0">
                <a:solidFill>
                  <a:srgbClr val="1B2A3A"/>
                </a:solidFill>
                <a:latin typeface="Segoe UI" pitchFamily="34" charset="0"/>
                <a:ea typeface="Segoe UI" pitchFamily="34" charset="-122"/>
                <a:cs typeface="Segoe UI" pitchFamily="34" charset="-120"/>
              </a:rPr>
              <a:t>interdit l’avis « Favorable »</a:t>
            </a:r>
            <a:r>
              <a:rPr lang="en-US" sz="1200" dirty="0">
                <a:solidFill>
                  <a:srgbClr val="1B2A3A"/>
                </a:solidFill>
                <a:latin typeface="Segoe UI" pitchFamily="34" charset="0"/>
                <a:ea typeface="Segoe UI" pitchFamily="34" charset="-122"/>
                <a:cs typeface="Segoe UI" pitchFamily="34" charset="-120"/>
              </a:rPr>
              <a:t> sans réserve.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RG-CTL-53 · RG-CTL-54 · RG-CTL-19</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84</a:t>
            </a:r>
            <a:endParaRPr lang="en-US" sz="1100" dirty="0"/>
          </a:p>
        </p:txBody>
      </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name="Slide 8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MANUEL RÉVISÉ · ADMINISTRATEUR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points de contrôle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points de contrôl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grille d’examen : chaque point porte sa famille de dossier et, au besoin, un </a:t>
            </a:r>
            <a:r>
              <a:rPr lang="en-US" sz="1200" b="1" dirty="0">
                <a:solidFill>
                  <a:srgbClr val="1B2A3A"/>
                </a:solidFill>
                <a:latin typeface="Segoe UI" pitchFamily="34" charset="0"/>
                <a:ea typeface="Segoe UI" pitchFamily="34" charset="-122"/>
                <a:cs typeface="Segoe UI" pitchFamily="34" charset="-120"/>
              </a:rPr>
              <a:t>sous-type</a:t>
            </a:r>
            <a:r>
              <a:rPr lang="en-US" sz="1200" dirty="0">
                <a:solidFill>
                  <a:srgbClr val="1B2A3A"/>
                </a:solidFill>
                <a:latin typeface="Segoe UI" pitchFamily="34" charset="0"/>
                <a:ea typeface="Segoe UI" pitchFamily="34" charset="-122"/>
                <a:cs typeface="Segoe UI" pitchFamily="34" charset="-120"/>
              </a:rPr>
              <a:t>, une catégorie ou une forme de marché.</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portée range le point : par ligne de marché, une fois pour le dossier, la fiche de présentation ou le projet d’AGPM.</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points des dossiers d’appel d’offres renvoient aux informations de la fiche DAO qu’ils vérifient.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RG-CTL-48 · RG-CTL-46</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85</a:t>
            </a:r>
            <a:endParaRPr lang="en-US" sz="1100" dirty="0"/>
          </a:p>
        </p:txBody>
      </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name="Slide 8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MANUEL RÉVISÉ · ADMINISTRATEUR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taux d’écartement des règles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 taux d’écartement des règle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Pour chaque règle du pré-contrôle des plans : signalements ouverts, écartés, levés, et le </a:t>
            </a:r>
            <a:r>
              <a:rPr lang="en-US" sz="1200" b="1" dirty="0">
                <a:solidFill>
                  <a:srgbClr val="1B2A3A"/>
                </a:solidFill>
                <a:latin typeface="Segoe UI" pitchFamily="34" charset="0"/>
                <a:ea typeface="Segoe UI" pitchFamily="34" charset="-122"/>
                <a:cs typeface="Segoe UI" pitchFamily="34" charset="-120"/>
              </a:rPr>
              <a:t>taux d’écartement</a:t>
            </a:r>
            <a:r>
              <a:rPr lang="en-US" sz="1200" dirty="0">
                <a:solidFill>
                  <a:srgbClr val="1B2A3A"/>
                </a:solidFill>
                <a:latin typeface="Segoe UI" pitchFamily="34" charset="0"/>
                <a:ea typeface="Segoe UI" pitchFamily="34" charset="-122"/>
                <a:cs typeface="Segoe UI" pitchFamily="34" charset="-120"/>
              </a:rPr>
              <a: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Une règle écartée presque à chaque fois s’éteint, sans rien perdre : les signalements écartés gardent leur motif.</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 règles » (faits établis) sont distinguées des « pistes » de l’assistant (suggestions).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RG-CTL-57</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86</a:t>
            </a:r>
            <a:endParaRPr lang="en-US" sz="1100" dirty="0"/>
          </a:p>
        </p:txBody>
      </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name="Slide 8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MANUEL RÉVISÉ · ADMINISTRATEUR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délais standards du circuit</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délais standards du circuit"/>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délai de chaque étape de la Commission, en </a:t>
            </a:r>
            <a:r>
              <a:rPr lang="en-US" sz="1200" b="1" dirty="0">
                <a:solidFill>
                  <a:srgbClr val="1B2A3A"/>
                </a:solidFill>
                <a:latin typeface="Segoe UI" pitchFamily="34" charset="0"/>
                <a:ea typeface="Segoe UI" pitchFamily="34" charset="-122"/>
                <a:cs typeface="Segoe UI" pitchFamily="34" charset="-120"/>
              </a:rPr>
              <a:t>heures ouvrées</a:t>
            </a:r>
            <a:r>
              <a:rPr lang="en-US" sz="1200" dirty="0">
                <a:solidFill>
                  <a:srgbClr val="1B2A3A"/>
                </a:solidFill>
                <a:latin typeface="Segoe UI" pitchFamily="34" charset="0"/>
                <a:ea typeface="Segoe UI" pitchFamily="34" charset="-122"/>
                <a:cs typeface="Segoe UI" pitchFamily="34" charset="-120"/>
              </a:rPr>
              <a:t> (8 h = 1 jour ouvré) : il alimente la date de fin annoncée à la PRMP.</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Plus bas, les neuf délais de la loi n° 2016-055, en lecture : ils ne se règlent pas (voir la partie 09).</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RG-CTL-42 · RG-CTL-44 · RG-CTL-50</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87</a:t>
            </a:r>
            <a:endParaRPr lang="en-US" sz="1100" dirty="0"/>
          </a:p>
        </p:txBody>
      </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name="Slide 8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MANUEL RÉVISÉ · ADMINISTRATEUR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délais par sous-type</a:t>
            </a:r>
            <a:endParaRPr lang="en-US" sz="2600" dirty="0"/>
          </a:p>
        </p:txBody>
      </p:sp>
      <p:sp>
        <p:nvSpPr>
          <p:cNvPr id="4" name="Shape 2"/>
          <p:cNvSpPr/>
          <p:nvPr/>
        </p:nvSpPr>
        <p:spPr>
          <a:xfrm>
            <a:off x="800080" y="1193800"/>
            <a:ext cx="7327717" cy="4589463"/>
          </a:xfrm>
          <a:prstGeom prst="rect">
            <a:avLst/>
          </a:prstGeom>
          <a:solidFill>
            <a:srgbClr val="FCFCFA"/>
          </a:solidFill>
          <a:ln w="9525">
            <a:solidFill>
              <a:srgbClr val="D5DCE4"/>
            </a:solidFill>
            <a:prstDash val="solid"/>
          </a:ln>
        </p:spPr>
        <p:txBody>
          <a:bodyPr/>
          <a:lstStyle/>
          <a:p>
            <a:endParaRPr lang="fr-FR"/>
          </a:p>
        </p:txBody>
      </p:sp>
      <p:pic>
        <p:nvPicPr>
          <p:cNvPr id="5" name="Image 0" descr="Les délais par sous-type"/>
          <p:cNvPicPr>
            <a:picLocks noChangeAspect="1"/>
          </p:cNvPicPr>
          <p:nvPr/>
        </p:nvPicPr>
        <p:blipFill>
          <a:blip r:embed="rId3"/>
          <a:stretch>
            <a:fillRect/>
          </a:stretch>
        </p:blipFill>
        <p:spPr>
          <a:xfrm>
            <a:off x="812780" y="1206500"/>
            <a:ext cx="7302317" cy="4564063"/>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Pour un sous-type, un délai propre à une étape (ici 24 h pour la réception d’une déclaration sans suite), ou « Revenir au standard ».</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L’alerte d’examen, au-delà de cinq jours ouvrés, ne dépend pas de ces réglages.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RG-CTL-50</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88</a:t>
            </a:r>
            <a:endParaRPr lang="en-US" sz="1100" dirty="0"/>
          </a:p>
        </p:txBody>
      </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name="Slide 8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CONTRÔLER · EN RÉSUMÉ</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Ce que l’application garantit</a:t>
            </a:r>
            <a:endParaRPr lang="en-US" sz="2600" dirty="0"/>
          </a:p>
        </p:txBody>
      </p:sp>
      <p:sp>
        <p:nvSpPr>
          <p:cNvPr id="4" name="Shape 2"/>
          <p:cNvSpPr/>
          <p:nvPr/>
        </p:nvSpPr>
        <p:spPr>
          <a:xfrm>
            <a:off x="812780" y="1206500"/>
            <a:ext cx="3420448" cy="2159000"/>
          </a:xfrm>
          <a:prstGeom prst="rect">
            <a:avLst/>
          </a:prstGeom>
          <a:solidFill>
            <a:srgbClr val="FCFCFA"/>
          </a:solidFill>
          <a:ln w="9525">
            <a:solidFill>
              <a:srgbClr val="D5DCE4"/>
            </a:solidFill>
            <a:prstDash val="solid"/>
          </a:ln>
        </p:spPr>
        <p:txBody>
          <a:bodyPr/>
          <a:lstStyle/>
          <a:p>
            <a:endParaRPr lang="fr-FR"/>
          </a:p>
        </p:txBody>
      </p:sp>
      <p:sp>
        <p:nvSpPr>
          <p:cNvPr id="5" name="Shape 3"/>
          <p:cNvSpPr/>
          <p:nvPr/>
        </p:nvSpPr>
        <p:spPr>
          <a:xfrm>
            <a:off x="812780" y="1206500"/>
            <a:ext cx="3420448" cy="38100"/>
          </a:xfrm>
          <a:prstGeom prst="rect">
            <a:avLst/>
          </a:prstGeom>
          <a:solidFill>
            <a:srgbClr val="1B6FA8"/>
          </a:solidFill>
          <a:ln/>
        </p:spPr>
        <p:txBody>
          <a:bodyPr/>
          <a:lstStyle/>
          <a:p>
            <a:endParaRPr lang="fr-FR"/>
          </a:p>
        </p:txBody>
      </p:sp>
      <p:sp>
        <p:nvSpPr>
          <p:cNvPr id="6" name="Text 4"/>
          <p:cNvSpPr/>
          <p:nvPr/>
        </p:nvSpPr>
        <p:spPr>
          <a:xfrm>
            <a:off x="952476" y="1308100"/>
            <a:ext cx="3141055"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Rien n’est reçu incomplet</a:t>
            </a:r>
            <a:endParaRPr lang="en-US" sz="1500" dirty="0"/>
          </a:p>
        </p:txBody>
      </p:sp>
      <p:sp>
        <p:nvSpPr>
          <p:cNvPr id="7" name="Text 5"/>
          <p:cNvSpPr/>
          <p:nvPr/>
        </p:nvSpPr>
        <p:spPr>
          <a:xfrm>
            <a:off x="952476" y="1593850"/>
            <a:ext cx="3141055"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La réception est bloquée tant qu’une pièce obligatoire n’est pas déclarée conforme, et les pièces en cause sont nommées.</a:t>
            </a:r>
            <a:endParaRPr lang="en-US" sz="1200" dirty="0"/>
          </a:p>
        </p:txBody>
      </p:sp>
      <p:sp>
        <p:nvSpPr>
          <p:cNvPr id="8" name="Shape 6"/>
          <p:cNvSpPr/>
          <p:nvPr/>
        </p:nvSpPr>
        <p:spPr>
          <a:xfrm>
            <a:off x="4385624" y="1206500"/>
            <a:ext cx="3420448" cy="2159000"/>
          </a:xfrm>
          <a:prstGeom prst="rect">
            <a:avLst/>
          </a:prstGeom>
          <a:solidFill>
            <a:srgbClr val="FCFCFA"/>
          </a:solidFill>
          <a:ln w="9525">
            <a:solidFill>
              <a:srgbClr val="D5DCE4"/>
            </a:solidFill>
            <a:prstDash val="solid"/>
          </a:ln>
        </p:spPr>
        <p:txBody>
          <a:bodyPr/>
          <a:lstStyle/>
          <a:p>
            <a:endParaRPr lang="fr-FR"/>
          </a:p>
        </p:txBody>
      </p:sp>
      <p:sp>
        <p:nvSpPr>
          <p:cNvPr id="9" name="Shape 7"/>
          <p:cNvSpPr/>
          <p:nvPr/>
        </p:nvSpPr>
        <p:spPr>
          <a:xfrm>
            <a:off x="4385624" y="1206500"/>
            <a:ext cx="3420448" cy="38100"/>
          </a:xfrm>
          <a:prstGeom prst="rect">
            <a:avLst/>
          </a:prstGeom>
          <a:solidFill>
            <a:srgbClr val="2E8B57"/>
          </a:solidFill>
          <a:ln/>
        </p:spPr>
        <p:txBody>
          <a:bodyPr/>
          <a:lstStyle/>
          <a:p>
            <a:endParaRPr lang="fr-FR"/>
          </a:p>
        </p:txBody>
      </p:sp>
      <p:sp>
        <p:nvSpPr>
          <p:cNvPr id="10" name="Text 8"/>
          <p:cNvSpPr/>
          <p:nvPr/>
        </p:nvSpPr>
        <p:spPr>
          <a:xfrm>
            <a:off x="4525320" y="13081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Un seul examinateur, un PV à deux signatures</a:t>
            </a:r>
            <a:endParaRPr lang="en-US" sz="1500" dirty="0"/>
          </a:p>
        </p:txBody>
      </p:sp>
      <p:sp>
        <p:nvSpPr>
          <p:cNvPr id="11" name="Text 9"/>
          <p:cNvSpPr/>
          <p:nvPr/>
        </p:nvSpPr>
        <p:spPr>
          <a:xfrm>
            <a:off x="4525320" y="17653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Seul le Membre attributaire examine ; le PV n’est définitif que signé par deux personnes distinctes au moins, dont le viseur.</a:t>
            </a:r>
            <a:endParaRPr lang="en-US" sz="1200" dirty="0"/>
          </a:p>
        </p:txBody>
      </p:sp>
      <p:sp>
        <p:nvSpPr>
          <p:cNvPr id="12" name="Shape 10"/>
          <p:cNvSpPr/>
          <p:nvPr/>
        </p:nvSpPr>
        <p:spPr>
          <a:xfrm>
            <a:off x="7958468" y="1206500"/>
            <a:ext cx="3420448" cy="2159000"/>
          </a:xfrm>
          <a:prstGeom prst="rect">
            <a:avLst/>
          </a:prstGeom>
          <a:solidFill>
            <a:srgbClr val="FCFCFA"/>
          </a:solidFill>
          <a:ln w="9525">
            <a:solidFill>
              <a:srgbClr val="D5DCE4"/>
            </a:solidFill>
            <a:prstDash val="solid"/>
          </a:ln>
        </p:spPr>
        <p:txBody>
          <a:bodyPr/>
          <a:lstStyle/>
          <a:p>
            <a:endParaRPr lang="fr-FR"/>
          </a:p>
        </p:txBody>
      </p:sp>
      <p:sp>
        <p:nvSpPr>
          <p:cNvPr id="13" name="Shape 11"/>
          <p:cNvSpPr/>
          <p:nvPr/>
        </p:nvSpPr>
        <p:spPr>
          <a:xfrm>
            <a:off x="7958468" y="1206500"/>
            <a:ext cx="3420448" cy="38100"/>
          </a:xfrm>
          <a:prstGeom prst="rect">
            <a:avLst/>
          </a:prstGeom>
          <a:solidFill>
            <a:srgbClr val="E3AE2E"/>
          </a:solidFill>
          <a:ln/>
        </p:spPr>
        <p:txBody>
          <a:bodyPr/>
          <a:lstStyle/>
          <a:p>
            <a:endParaRPr lang="fr-FR"/>
          </a:p>
        </p:txBody>
      </p:sp>
      <p:sp>
        <p:nvSpPr>
          <p:cNvPr id="14" name="Text 12"/>
          <p:cNvSpPr/>
          <p:nvPr/>
        </p:nvSpPr>
        <p:spPr>
          <a:xfrm>
            <a:off x="8098164" y="13081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La Commission statue sur ce qu’elle a reçu</a:t>
            </a:r>
            <a:endParaRPr lang="en-US" sz="1500" dirty="0"/>
          </a:p>
        </p:txBody>
      </p:sp>
      <p:sp>
        <p:nvSpPr>
          <p:cNvPr id="15" name="Text 13"/>
          <p:cNvSpPr/>
          <p:nvPr/>
        </p:nvSpPr>
        <p:spPr>
          <a:xfrm>
            <a:off x="8098164" y="17653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Les écrans de la procédure sont figés à chaque soumission, immuables, avec leur empreinte : ce qui change ensuite ne touche pas ce que la Commission a examiné.</a:t>
            </a:r>
            <a:endParaRPr lang="en-US" sz="1200" dirty="0"/>
          </a:p>
        </p:txBody>
      </p:sp>
      <p:sp>
        <p:nvSpPr>
          <p:cNvPr id="16" name="Shape 14"/>
          <p:cNvSpPr/>
          <p:nvPr/>
        </p:nvSpPr>
        <p:spPr>
          <a:xfrm>
            <a:off x="812780" y="3517900"/>
            <a:ext cx="3420448" cy="2159000"/>
          </a:xfrm>
          <a:prstGeom prst="rect">
            <a:avLst/>
          </a:prstGeom>
          <a:solidFill>
            <a:srgbClr val="FCFCFA"/>
          </a:solidFill>
          <a:ln w="9525">
            <a:solidFill>
              <a:srgbClr val="D5DCE4"/>
            </a:solidFill>
            <a:prstDash val="solid"/>
          </a:ln>
        </p:spPr>
        <p:txBody>
          <a:bodyPr/>
          <a:lstStyle/>
          <a:p>
            <a:endParaRPr lang="fr-FR"/>
          </a:p>
        </p:txBody>
      </p:sp>
      <p:sp>
        <p:nvSpPr>
          <p:cNvPr id="17" name="Shape 15"/>
          <p:cNvSpPr/>
          <p:nvPr/>
        </p:nvSpPr>
        <p:spPr>
          <a:xfrm>
            <a:off x="812780" y="3517900"/>
            <a:ext cx="3420448" cy="38100"/>
          </a:xfrm>
          <a:prstGeom prst="rect">
            <a:avLst/>
          </a:prstGeom>
          <a:solidFill>
            <a:srgbClr val="12324A"/>
          </a:solidFill>
          <a:ln/>
        </p:spPr>
        <p:txBody>
          <a:bodyPr/>
          <a:lstStyle/>
          <a:p>
            <a:endParaRPr lang="fr-FR"/>
          </a:p>
        </p:txBody>
      </p:sp>
      <p:sp>
        <p:nvSpPr>
          <p:cNvPr id="18" name="Text 16"/>
          <p:cNvSpPr/>
          <p:nvPr/>
        </p:nvSpPr>
        <p:spPr>
          <a:xfrm>
            <a:off x="952476" y="36195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Des contrôles automatiques et opposables</a:t>
            </a:r>
            <a:endParaRPr lang="en-US" sz="1500" dirty="0"/>
          </a:p>
        </p:txBody>
      </p:sp>
      <p:sp>
        <p:nvSpPr>
          <p:cNvPr id="19" name="Text 17"/>
          <p:cNvSpPr/>
          <p:nvPr/>
        </p:nvSpPr>
        <p:spPr>
          <a:xfrm>
            <a:off x="952476" y="40767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L’application joue les contrôles du manuel à la soumission ; une non-conformité bloquante refuse le dossier en disant pourquoi, une non-conformité non levée interdit l’avis favorable sans réserve.</a:t>
            </a:r>
            <a:endParaRPr lang="en-US" sz="1200" dirty="0"/>
          </a:p>
        </p:txBody>
      </p:sp>
      <p:sp>
        <p:nvSpPr>
          <p:cNvPr id="20" name="Shape 18"/>
          <p:cNvSpPr/>
          <p:nvPr/>
        </p:nvSpPr>
        <p:spPr>
          <a:xfrm>
            <a:off x="4385624" y="3517900"/>
            <a:ext cx="3420448" cy="2159000"/>
          </a:xfrm>
          <a:prstGeom prst="rect">
            <a:avLst/>
          </a:prstGeom>
          <a:solidFill>
            <a:srgbClr val="FCFCFA"/>
          </a:solidFill>
          <a:ln w="9525">
            <a:solidFill>
              <a:srgbClr val="D5DCE4"/>
            </a:solidFill>
            <a:prstDash val="solid"/>
          </a:ln>
        </p:spPr>
        <p:txBody>
          <a:bodyPr/>
          <a:lstStyle/>
          <a:p>
            <a:endParaRPr lang="fr-FR"/>
          </a:p>
        </p:txBody>
      </p:sp>
      <p:sp>
        <p:nvSpPr>
          <p:cNvPr id="21" name="Shape 19"/>
          <p:cNvSpPr/>
          <p:nvPr/>
        </p:nvSpPr>
        <p:spPr>
          <a:xfrm>
            <a:off x="4385624" y="3517900"/>
            <a:ext cx="3420448" cy="38100"/>
          </a:xfrm>
          <a:prstGeom prst="rect">
            <a:avLst/>
          </a:prstGeom>
          <a:solidFill>
            <a:srgbClr val="1B6FA8"/>
          </a:solidFill>
          <a:ln/>
        </p:spPr>
        <p:txBody>
          <a:bodyPr/>
          <a:lstStyle/>
          <a:p>
            <a:endParaRPr lang="fr-FR"/>
          </a:p>
        </p:txBody>
      </p:sp>
      <p:sp>
        <p:nvSpPr>
          <p:cNvPr id="22" name="Text 20"/>
          <p:cNvSpPr/>
          <p:nvPr/>
        </p:nvSpPr>
        <p:spPr>
          <a:xfrm>
            <a:off x="4525320" y="36195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Des délais mesurés, pas déclarés</a:t>
            </a:r>
            <a:endParaRPr lang="en-US" sz="1500" dirty="0"/>
          </a:p>
        </p:txBody>
      </p:sp>
      <p:sp>
        <p:nvSpPr>
          <p:cNvPr id="23" name="Text 21"/>
          <p:cNvSpPr/>
          <p:nvPr/>
        </p:nvSpPr>
        <p:spPr>
          <a:xfrm>
            <a:off x="4525320" y="40767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Chaque étape est chronométrée en heures ouvrées et imputée à son auteur ; la PRMP connaît dès le dépôt la date de fin prévue.</a:t>
            </a:r>
            <a:endParaRPr lang="en-US" sz="1200" dirty="0"/>
          </a:p>
        </p:txBody>
      </p:sp>
      <p:sp>
        <p:nvSpPr>
          <p:cNvPr id="24" name="Shape 22"/>
          <p:cNvSpPr/>
          <p:nvPr/>
        </p:nvSpPr>
        <p:spPr>
          <a:xfrm>
            <a:off x="7958468" y="3517900"/>
            <a:ext cx="3420448" cy="2159000"/>
          </a:xfrm>
          <a:prstGeom prst="rect">
            <a:avLst/>
          </a:prstGeom>
          <a:solidFill>
            <a:srgbClr val="FCFCFA"/>
          </a:solidFill>
          <a:ln w="9525">
            <a:solidFill>
              <a:srgbClr val="D5DCE4"/>
            </a:solidFill>
            <a:prstDash val="solid"/>
          </a:ln>
        </p:spPr>
        <p:txBody>
          <a:bodyPr/>
          <a:lstStyle/>
          <a:p>
            <a:endParaRPr lang="fr-FR"/>
          </a:p>
        </p:txBody>
      </p:sp>
      <p:sp>
        <p:nvSpPr>
          <p:cNvPr id="25" name="Shape 23"/>
          <p:cNvSpPr/>
          <p:nvPr/>
        </p:nvSpPr>
        <p:spPr>
          <a:xfrm>
            <a:off x="7958468" y="3517900"/>
            <a:ext cx="3420448" cy="38100"/>
          </a:xfrm>
          <a:prstGeom prst="rect">
            <a:avLst/>
          </a:prstGeom>
          <a:solidFill>
            <a:srgbClr val="2E8B57"/>
          </a:solidFill>
          <a:ln/>
        </p:spPr>
        <p:txBody>
          <a:bodyPr/>
          <a:lstStyle/>
          <a:p>
            <a:endParaRPr lang="fr-FR"/>
          </a:p>
        </p:txBody>
      </p:sp>
      <p:sp>
        <p:nvSpPr>
          <p:cNvPr id="26" name="Text 24"/>
          <p:cNvSpPr/>
          <p:nvPr/>
        </p:nvSpPr>
        <p:spPr>
          <a:xfrm>
            <a:off x="8098164" y="3619500"/>
            <a:ext cx="3141055"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Une traçabilité complète</a:t>
            </a:r>
            <a:endParaRPr lang="en-US" sz="1500" dirty="0"/>
          </a:p>
        </p:txBody>
      </p:sp>
      <p:sp>
        <p:nvSpPr>
          <p:cNvPr id="27" name="Text 25"/>
          <p:cNvSpPr/>
          <p:nvPr/>
        </p:nvSpPr>
        <p:spPr>
          <a:xfrm>
            <a:off x="8098164" y="3905250"/>
            <a:ext cx="3141055"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Chaque geste, chaque décision de pièce, chaque contrôle porte son auteur et sa date ; le journal du dossier les garde, retrait compris.</a:t>
            </a:r>
            <a:endParaRPr lang="en-US" sz="1200" dirty="0"/>
          </a:p>
        </p:txBody>
      </p:sp>
      <p:sp>
        <p:nvSpPr>
          <p:cNvPr id="28" name="Text 2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89</a:t>
            </a:r>
            <a:endParaRPr lang="en-US" sz="1100" dirty="0"/>
          </a:p>
        </p:txBody>
      </p:sp>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name="Slide 90">
    <p:bg>
      <p:bgPr>
        <a:solidFill>
          <a:srgbClr val="12324A"/>
        </a:solidFill>
        <a:effectLst/>
      </p:bgPr>
    </p:bg>
    <p:spTree>
      <p:nvGrpSpPr>
        <p:cNvPr id="1" name=""/>
        <p:cNvGrpSpPr/>
        <p:nvPr/>
      </p:nvGrpSpPr>
      <p:grpSpPr>
        <a:xfrm>
          <a:off x="0" y="0"/>
          <a:ext cx="0" cy="0"/>
          <a:chOff x="0" y="0"/>
          <a:chExt cx="0" cy="0"/>
        </a:xfrm>
      </p:grpSpPr>
      <p:sp>
        <p:nvSpPr>
          <p:cNvPr id="2" name="Shape 0"/>
          <p:cNvSpPr/>
          <p:nvPr/>
        </p:nvSpPr>
        <p:spPr>
          <a:xfrm>
            <a:off x="0" y="0"/>
            <a:ext cx="152396" cy="6858000"/>
          </a:xfrm>
          <a:prstGeom prst="rect">
            <a:avLst/>
          </a:prstGeom>
          <a:solidFill>
            <a:srgbClr val="E3AE2E"/>
          </a:solidFill>
          <a:ln w="12700">
            <a:solidFill>
              <a:srgbClr val="E3AE2E"/>
            </a:solidFill>
            <a:prstDash val="solid"/>
          </a:ln>
        </p:spPr>
        <p:txBody>
          <a:bodyPr/>
          <a:lstStyle/>
          <a:p>
            <a:endParaRPr lang="fr-FR"/>
          </a:p>
        </p:txBody>
      </p:sp>
      <p:sp>
        <p:nvSpPr>
          <p:cNvPr id="3" name="Text 1"/>
          <p:cNvSpPr/>
          <p:nvPr/>
        </p:nvSpPr>
        <p:spPr>
          <a:xfrm>
            <a:off x="812780" y="698500"/>
            <a:ext cx="3809905" cy="952500"/>
          </a:xfrm>
          <a:prstGeom prst="rect">
            <a:avLst/>
          </a:prstGeom>
          <a:noFill/>
          <a:ln/>
        </p:spPr>
        <p:txBody>
          <a:bodyPr wrap="square" rtlCol="0" anchor="ctr"/>
          <a:lstStyle/>
          <a:p>
            <a:pPr marL="0" indent="0">
              <a:buNone/>
            </a:pPr>
            <a:r>
              <a:rPr lang="en-US" sz="7200" b="1" dirty="0">
                <a:solidFill>
                  <a:srgbClr val="E3AE2E"/>
                </a:solidFill>
                <a:latin typeface="Segoe UI" pitchFamily="34" charset="0"/>
                <a:ea typeface="Segoe UI" pitchFamily="34" charset="-122"/>
                <a:cs typeface="Segoe UI" pitchFamily="34" charset="-120"/>
              </a:rPr>
              <a:t>04</a:t>
            </a:r>
            <a:endParaRPr lang="en-US" sz="7200" dirty="0"/>
          </a:p>
        </p:txBody>
      </p:sp>
      <p:sp>
        <p:nvSpPr>
          <p:cNvPr id="4" name="Text 2"/>
          <p:cNvSpPr/>
          <p:nvPr/>
        </p:nvSpPr>
        <p:spPr>
          <a:xfrm>
            <a:off x="812780" y="1714500"/>
            <a:ext cx="10477238" cy="635000"/>
          </a:xfrm>
          <a:prstGeom prst="rect">
            <a:avLst/>
          </a:prstGeom>
          <a:noFill/>
          <a:ln/>
        </p:spPr>
        <p:txBody>
          <a:bodyPr wrap="square" rtlCol="0" anchor="ctr">
            <a:normAutofit/>
          </a:bodyPr>
          <a:lstStyle/>
          <a:p>
            <a:pPr marL="0" indent="0">
              <a:buNone/>
            </a:pPr>
            <a:r>
              <a:rPr lang="en-US" sz="4000" b="1" dirty="0">
                <a:solidFill>
                  <a:srgbClr val="FCFCFA"/>
                </a:solidFill>
                <a:latin typeface="Segoe UI" pitchFamily="34" charset="0"/>
                <a:ea typeface="Segoe UI" pitchFamily="34" charset="-122"/>
                <a:cs typeface="Segoe UI" pitchFamily="34" charset="-120"/>
              </a:rPr>
              <a:t>Préparer le DAO</a:t>
            </a:r>
            <a:endParaRPr lang="en-US" sz="4000" dirty="0"/>
          </a:p>
        </p:txBody>
      </p:sp>
      <p:sp>
        <p:nvSpPr>
          <p:cNvPr id="5" name="Text 3"/>
          <p:cNvSpPr/>
          <p:nvPr/>
        </p:nvSpPr>
        <p:spPr>
          <a:xfrm>
            <a:off x="812780" y="2413000"/>
            <a:ext cx="10159746" cy="698500"/>
          </a:xfrm>
          <a:prstGeom prst="rect">
            <a:avLst/>
          </a:prstGeom>
          <a:noFill/>
          <a:ln/>
        </p:spPr>
        <p:txBody>
          <a:bodyPr wrap="square" rtlCol="0" anchor="t">
            <a:normAutofit/>
          </a:bodyPr>
          <a:lstStyle/>
          <a:p>
            <a:pPr marL="0" indent="0">
              <a:buNone/>
            </a:pPr>
            <a:r>
              <a:rPr lang="en-US" sz="1700" dirty="0">
                <a:solidFill>
                  <a:srgbClr val="C9D6E2"/>
                </a:solidFill>
                <a:latin typeface="Segoe UI" pitchFamily="34" charset="0"/>
                <a:ea typeface="Segoe UI" pitchFamily="34" charset="-122"/>
                <a:cs typeface="Segoe UI" pitchFamily="34" charset="-120"/>
              </a:rPr>
              <a:t>La PRMP prépare le dossier d’appel d’offres dans un formulaire, à partir de la ligne du plan : l’application en tire le DAO complet, sur les documents types de l’ARMP, et prépare la procédure en ligne.</a:t>
            </a:r>
            <a:endParaRPr lang="en-US" sz="1700" dirty="0"/>
          </a:p>
        </p:txBody>
      </p:sp>
      <p:sp>
        <p:nvSpPr>
          <p:cNvPr id="6" name="Text 4"/>
          <p:cNvSpPr/>
          <p:nvPr/>
        </p:nvSpPr>
        <p:spPr>
          <a:xfrm>
            <a:off x="812780" y="3429000"/>
            <a:ext cx="5079873" cy="228600"/>
          </a:xfrm>
          <a:prstGeom prst="rect">
            <a:avLst/>
          </a:prstGeom>
          <a:noFill/>
          <a:ln/>
        </p:spPr>
        <p:txBody>
          <a:bodyPr wrap="square" rtlCol="0" anchor="ctr"/>
          <a:lstStyle/>
          <a:p>
            <a:pPr marL="0" indent="0">
              <a:buNone/>
            </a:pPr>
            <a:r>
              <a:rPr lang="en-US" sz="1200" b="1" kern="0" spc="200" dirty="0">
                <a:solidFill>
                  <a:srgbClr val="E3AE2E"/>
                </a:solidFill>
                <a:latin typeface="Segoe UI" pitchFamily="34" charset="0"/>
                <a:ea typeface="Segoe UI" pitchFamily="34" charset="-122"/>
                <a:cs typeface="Segoe UI" pitchFamily="34" charset="-120"/>
              </a:rPr>
              <a:t>CE QUE CELA CHANGE</a:t>
            </a:r>
            <a:endParaRPr lang="en-US" sz="1200" dirty="0"/>
          </a:p>
        </p:txBody>
      </p:sp>
      <p:sp>
        <p:nvSpPr>
          <p:cNvPr id="7" name="Text 5"/>
          <p:cNvSpPr/>
          <p:nvPr/>
        </p:nvSpPr>
        <p:spPr>
          <a:xfrm>
            <a:off x="812780" y="3714750"/>
            <a:ext cx="10286743" cy="2413000"/>
          </a:xfrm>
          <a:prstGeom prst="rect">
            <a:avLst/>
          </a:prstGeom>
          <a:noFill/>
          <a:ln/>
        </p:spPr>
        <p:txBody>
          <a:bodyPr wrap="square" rtlCol="0" anchor="t">
            <a:normAutofit/>
          </a:bodyPr>
          <a:lstStyle/>
          <a:p>
            <a:pPr marL="203200" indent="-203200">
              <a:spcAft>
                <a:spcPts val="800"/>
              </a:spcAft>
              <a:buSzPct val="100000"/>
              <a:buChar char="•"/>
            </a:pPr>
            <a:r>
              <a:rPr lang="en-US" sz="1500" dirty="0">
                <a:solidFill>
                  <a:srgbClr val="FCFCFA"/>
                </a:solidFill>
                <a:latin typeface="Segoe UI" pitchFamily="34" charset="0"/>
                <a:ea typeface="Segoe UI" pitchFamily="34" charset="-122"/>
                <a:cs typeface="Segoe UI" pitchFamily="34" charset="-120"/>
              </a:rPr>
              <a:t>Une information se saisit une seule fois et se reporte dans tous les documents qui l’utilisent : ce qui vient du plan de passation n’est jamais ressaisi, ni contredit.</a:t>
            </a:r>
            <a:endParaRPr lang="en-US" sz="1500" dirty="0"/>
          </a:p>
          <a:p>
            <a:pPr marL="203200" indent="-203200">
              <a:spcAft>
                <a:spcPts val="800"/>
              </a:spcAft>
              <a:buSzPct val="100000"/>
              <a:buChar char="•"/>
            </a:pPr>
            <a:r>
              <a:rPr lang="en-US" sz="1500" dirty="0">
                <a:solidFill>
                  <a:srgbClr val="FCFCFA"/>
                </a:solidFill>
                <a:latin typeface="Segoe UI" pitchFamily="34" charset="0"/>
                <a:ea typeface="Segoe UI" pitchFamily="34" charset="-122"/>
                <a:cs typeface="Segoe UI" pitchFamily="34" charset="-120"/>
              </a:rPr>
              <a:t>La fiche est contrôlée avant d’être validée, puis figée et versionnée : la Commission examine exactement ce que les candidats retireront, et rien ne se régénère après coup.</a:t>
            </a:r>
            <a:endParaRPr lang="en-US" sz="1500" dirty="0"/>
          </a:p>
          <a:p>
            <a:pPr marL="203200" indent="-203200">
              <a:spcAft>
                <a:spcPts val="800"/>
              </a:spcAft>
              <a:buSzPct val="100000"/>
              <a:buChar char="•"/>
            </a:pPr>
            <a:r>
              <a:rPr lang="en-US" sz="1500" dirty="0">
                <a:solidFill>
                  <a:srgbClr val="FCFCFA"/>
                </a:solidFill>
                <a:latin typeface="Segoe UI" pitchFamily="34" charset="0"/>
                <a:ea typeface="Segoe UI" pitchFamily="34" charset="-122"/>
                <a:cs typeface="Segoe UI" pitchFamily="34" charset="-120"/>
              </a:rPr>
              <a:t>Le manuel révisé est appliqué : le mode de remise ne change plus après la première validation, sauf migration motivée par l’Administrateur ; les questions des candidats et leurs réponses sont diffusées à tous ; le dépôt scellé vaut signature de l’offre.</a:t>
            </a:r>
            <a:endParaRPr lang="en-US" sz="1500" dirty="0"/>
          </a:p>
        </p:txBody>
      </p:sp>
      <p:sp>
        <p:nvSpPr>
          <p:cNvPr id="8"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8FA6BB"/>
                </a:solidFill>
                <a:latin typeface="Segoe UI" pitchFamily="34" charset="0"/>
                <a:ea typeface="Segoe UI" pitchFamily="34" charset="-122"/>
                <a:cs typeface="Segoe UI" pitchFamily="34" charset="-120"/>
              </a:rPr>
              <a:t>PRS 2.0 · L’application de bout en bout · dossier de recette · 90</a:t>
            </a:r>
            <a:endParaRPr lang="en-US" sz="1100" dirty="0"/>
          </a:p>
        </p:txBody>
      </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name="Slide 9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PRÉPARER LE DAO · LE PARCOURS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De la ligne du plan au DAO publié</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La PRMP, aidée de son UGPM, prépare et valide la fiche ; l’Administrateur désigne le responsable de la procédure en ligne ; la Commission examine le DAO ; les candidats le retirent et posent leurs questions.</a:t>
            </a:r>
            <a:endParaRPr lang="en-US" sz="1300" dirty="0"/>
          </a:p>
        </p:txBody>
      </p:sp>
      <p:sp>
        <p:nvSpPr>
          <p:cNvPr id="5" name="Shape 3"/>
          <p:cNvSpPr/>
          <p:nvPr/>
        </p:nvSpPr>
        <p:spPr>
          <a:xfrm>
            <a:off x="812780" y="1778000"/>
            <a:ext cx="1389708" cy="1905000"/>
          </a:xfrm>
          <a:prstGeom prst="roundRect">
            <a:avLst>
              <a:gd name="adj" fmla="val 3948"/>
            </a:avLst>
          </a:prstGeom>
          <a:solidFill>
            <a:srgbClr val="FCFCFA"/>
          </a:solidFill>
          <a:ln w="19050">
            <a:solidFill>
              <a:srgbClr val="12324A"/>
            </a:solidFill>
            <a:prstDash val="solid"/>
          </a:ln>
        </p:spPr>
        <p:txBody>
          <a:bodyPr/>
          <a:lstStyle/>
          <a:p>
            <a:endParaRPr lang="fr-FR"/>
          </a:p>
        </p:txBody>
      </p:sp>
      <p:sp>
        <p:nvSpPr>
          <p:cNvPr id="6" name="Text 4"/>
          <p:cNvSpPr/>
          <p:nvPr/>
        </p:nvSpPr>
        <p:spPr>
          <a:xfrm>
            <a:off x="901677" y="1866900"/>
            <a:ext cx="12119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PRMP OU UGPM</a:t>
            </a:r>
            <a:endParaRPr lang="en-US" sz="1000" dirty="0"/>
          </a:p>
        </p:txBody>
      </p:sp>
      <p:sp>
        <p:nvSpPr>
          <p:cNvPr id="7" name="Text 5"/>
          <p:cNvSpPr/>
          <p:nvPr/>
        </p:nvSpPr>
        <p:spPr>
          <a:xfrm>
            <a:off x="901677" y="2095500"/>
            <a:ext cx="12119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Choisir la ligne</a:t>
            </a:r>
            <a:endParaRPr lang="en-US" sz="1400" dirty="0"/>
          </a:p>
        </p:txBody>
      </p:sp>
      <p:sp>
        <p:nvSpPr>
          <p:cNvPr id="8" name="Text 6"/>
          <p:cNvSpPr/>
          <p:nvPr/>
        </p:nvSpPr>
        <p:spPr>
          <a:xfrm>
            <a:off x="901677" y="2603500"/>
            <a:ext cx="12119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Une ligne d’un plan au PV signé favorable, dont le mode de passation appelle un DAO : 23 informations en sont reprises.</a:t>
            </a:r>
            <a:endParaRPr lang="en-US" sz="1150" dirty="0"/>
          </a:p>
        </p:txBody>
      </p:sp>
      <p:sp>
        <p:nvSpPr>
          <p:cNvPr id="9" name="Text 7"/>
          <p:cNvSpPr/>
          <p:nvPr/>
        </p:nvSpPr>
        <p:spPr>
          <a:xfrm>
            <a:off x="2189788"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10" name="Shape 8"/>
          <p:cNvSpPr/>
          <p:nvPr/>
        </p:nvSpPr>
        <p:spPr>
          <a:xfrm>
            <a:off x="2342184" y="1778000"/>
            <a:ext cx="1389708" cy="1905000"/>
          </a:xfrm>
          <a:prstGeom prst="roundRect">
            <a:avLst>
              <a:gd name="adj" fmla="val 3948"/>
            </a:avLst>
          </a:prstGeom>
          <a:solidFill>
            <a:srgbClr val="FCFCFA"/>
          </a:solidFill>
          <a:ln w="19050">
            <a:solidFill>
              <a:srgbClr val="12324A"/>
            </a:solidFill>
            <a:prstDash val="solid"/>
          </a:ln>
        </p:spPr>
        <p:txBody>
          <a:bodyPr/>
          <a:lstStyle/>
          <a:p>
            <a:endParaRPr lang="fr-FR"/>
          </a:p>
        </p:txBody>
      </p:sp>
      <p:sp>
        <p:nvSpPr>
          <p:cNvPr id="11" name="Text 9"/>
          <p:cNvSpPr/>
          <p:nvPr/>
        </p:nvSpPr>
        <p:spPr>
          <a:xfrm>
            <a:off x="2431082" y="1866900"/>
            <a:ext cx="12119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PRMP OU UGPM</a:t>
            </a:r>
            <a:endParaRPr lang="en-US" sz="1000" dirty="0"/>
          </a:p>
        </p:txBody>
      </p:sp>
      <p:sp>
        <p:nvSpPr>
          <p:cNvPr id="12" name="Text 10"/>
          <p:cNvSpPr/>
          <p:nvPr/>
        </p:nvSpPr>
        <p:spPr>
          <a:xfrm>
            <a:off x="2431082" y="2095500"/>
            <a:ext cx="12119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Cadrer</a:t>
            </a:r>
            <a:endParaRPr lang="en-US" sz="1400" dirty="0"/>
          </a:p>
        </p:txBody>
      </p:sp>
      <p:sp>
        <p:nvSpPr>
          <p:cNvPr id="13" name="Text 11"/>
          <p:cNvSpPr/>
          <p:nvPr/>
        </p:nvSpPr>
        <p:spPr>
          <a:xfrm>
            <a:off x="2431082" y="2603500"/>
            <a:ext cx="12119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Dix questions (lots, prix, garantie, avance, mode de remise…) ouvrent ou ferment les rubriques du dossier.</a:t>
            </a:r>
            <a:endParaRPr lang="en-US" sz="1150" dirty="0"/>
          </a:p>
        </p:txBody>
      </p:sp>
      <p:sp>
        <p:nvSpPr>
          <p:cNvPr id="14" name="Text 12"/>
          <p:cNvSpPr/>
          <p:nvPr/>
        </p:nvSpPr>
        <p:spPr>
          <a:xfrm>
            <a:off x="3719193"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15" name="Shape 13"/>
          <p:cNvSpPr/>
          <p:nvPr/>
        </p:nvSpPr>
        <p:spPr>
          <a:xfrm>
            <a:off x="3871589" y="1778000"/>
            <a:ext cx="1389708" cy="1905000"/>
          </a:xfrm>
          <a:prstGeom prst="roundRect">
            <a:avLst>
              <a:gd name="adj" fmla="val 3948"/>
            </a:avLst>
          </a:prstGeom>
          <a:solidFill>
            <a:srgbClr val="FCFCFA"/>
          </a:solidFill>
          <a:ln w="19050">
            <a:solidFill>
              <a:srgbClr val="12324A"/>
            </a:solidFill>
            <a:prstDash val="solid"/>
          </a:ln>
        </p:spPr>
        <p:txBody>
          <a:bodyPr/>
          <a:lstStyle/>
          <a:p>
            <a:endParaRPr lang="fr-FR"/>
          </a:p>
        </p:txBody>
      </p:sp>
      <p:sp>
        <p:nvSpPr>
          <p:cNvPr id="16" name="Text 14"/>
          <p:cNvSpPr/>
          <p:nvPr/>
        </p:nvSpPr>
        <p:spPr>
          <a:xfrm>
            <a:off x="3960487" y="1866900"/>
            <a:ext cx="12119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PRMP OU UGPM</a:t>
            </a:r>
            <a:endParaRPr lang="en-US" sz="1000" dirty="0"/>
          </a:p>
        </p:txBody>
      </p:sp>
      <p:sp>
        <p:nvSpPr>
          <p:cNvPr id="17" name="Text 15"/>
          <p:cNvSpPr/>
          <p:nvPr/>
        </p:nvSpPr>
        <p:spPr>
          <a:xfrm>
            <a:off x="3960487" y="2095500"/>
            <a:ext cx="12119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Saisir une fois</a:t>
            </a:r>
            <a:endParaRPr lang="en-US" sz="1400" dirty="0"/>
          </a:p>
        </p:txBody>
      </p:sp>
      <p:sp>
        <p:nvSpPr>
          <p:cNvPr id="18" name="Text 16"/>
          <p:cNvSpPr/>
          <p:nvPr/>
        </p:nvSpPr>
        <p:spPr>
          <a:xfrm>
            <a:off x="3960487" y="2603500"/>
            <a:ext cx="12119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Bloc par bloc, lot par lot ; le besoin, les pièces de l’offre, les spécifications techniques.</a:t>
            </a:r>
            <a:endParaRPr lang="en-US" sz="1150" dirty="0"/>
          </a:p>
        </p:txBody>
      </p:sp>
      <p:sp>
        <p:nvSpPr>
          <p:cNvPr id="19" name="Text 17"/>
          <p:cNvSpPr/>
          <p:nvPr/>
        </p:nvSpPr>
        <p:spPr>
          <a:xfrm>
            <a:off x="5248597"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20" name="Shape 18"/>
          <p:cNvSpPr/>
          <p:nvPr/>
        </p:nvSpPr>
        <p:spPr>
          <a:xfrm>
            <a:off x="5400994" y="1778000"/>
            <a:ext cx="1389708" cy="1905000"/>
          </a:xfrm>
          <a:prstGeom prst="roundRect">
            <a:avLst>
              <a:gd name="adj" fmla="val 3948"/>
            </a:avLst>
          </a:prstGeom>
          <a:solidFill>
            <a:srgbClr val="FCFCFA"/>
          </a:solidFill>
          <a:ln w="19050">
            <a:solidFill>
              <a:srgbClr val="12324A"/>
            </a:solidFill>
            <a:prstDash val="solid"/>
          </a:ln>
        </p:spPr>
        <p:txBody>
          <a:bodyPr/>
          <a:lstStyle/>
          <a:p>
            <a:endParaRPr lang="fr-FR"/>
          </a:p>
        </p:txBody>
      </p:sp>
      <p:sp>
        <p:nvSpPr>
          <p:cNvPr id="21" name="Text 19"/>
          <p:cNvSpPr/>
          <p:nvPr/>
        </p:nvSpPr>
        <p:spPr>
          <a:xfrm>
            <a:off x="5489891" y="1866900"/>
            <a:ext cx="12119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PRMP</a:t>
            </a:r>
            <a:endParaRPr lang="en-US" sz="1000" dirty="0"/>
          </a:p>
        </p:txBody>
      </p:sp>
      <p:sp>
        <p:nvSpPr>
          <p:cNvPr id="22" name="Text 20"/>
          <p:cNvSpPr/>
          <p:nvPr/>
        </p:nvSpPr>
        <p:spPr>
          <a:xfrm>
            <a:off x="5489891" y="2095500"/>
            <a:ext cx="12119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Contrôler, valider</a:t>
            </a:r>
            <a:endParaRPr lang="en-US" sz="1400" dirty="0"/>
          </a:p>
        </p:txBody>
      </p:sp>
      <p:sp>
        <p:nvSpPr>
          <p:cNvPr id="23" name="Text 21"/>
          <p:cNvSpPr/>
          <p:nvPr/>
        </p:nvSpPr>
        <p:spPr>
          <a:xfrm>
            <a:off x="5489891" y="2603500"/>
            <a:ext cx="12119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Les contrôles bloquants levés, la PRMP valide : la version est figée et les documents produits.</a:t>
            </a:r>
            <a:endParaRPr lang="en-US" sz="1150" dirty="0"/>
          </a:p>
        </p:txBody>
      </p:sp>
      <p:sp>
        <p:nvSpPr>
          <p:cNvPr id="24" name="Text 22"/>
          <p:cNvSpPr/>
          <p:nvPr/>
        </p:nvSpPr>
        <p:spPr>
          <a:xfrm>
            <a:off x="6778002"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25" name="Shape 23"/>
          <p:cNvSpPr/>
          <p:nvPr/>
        </p:nvSpPr>
        <p:spPr>
          <a:xfrm>
            <a:off x="6930398" y="1778000"/>
            <a:ext cx="1389708" cy="1905000"/>
          </a:xfrm>
          <a:prstGeom prst="roundRect">
            <a:avLst>
              <a:gd name="adj" fmla="val 3948"/>
            </a:avLst>
          </a:prstGeom>
          <a:solidFill>
            <a:srgbClr val="FCFCFA"/>
          </a:solidFill>
          <a:ln w="19050">
            <a:solidFill>
              <a:srgbClr val="12324A"/>
            </a:solidFill>
            <a:prstDash val="solid"/>
          </a:ln>
        </p:spPr>
        <p:txBody>
          <a:bodyPr/>
          <a:lstStyle/>
          <a:p>
            <a:endParaRPr lang="fr-FR"/>
          </a:p>
        </p:txBody>
      </p:sp>
      <p:sp>
        <p:nvSpPr>
          <p:cNvPr id="26" name="Text 24"/>
          <p:cNvSpPr/>
          <p:nvPr/>
        </p:nvSpPr>
        <p:spPr>
          <a:xfrm>
            <a:off x="7019296" y="1866900"/>
            <a:ext cx="12119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PRMP, ADMINISTRATEUR, RESPONSABLE DE LA PROCÉDURE</a:t>
            </a:r>
            <a:endParaRPr lang="en-US" sz="1000" dirty="0"/>
          </a:p>
        </p:txBody>
      </p:sp>
      <p:sp>
        <p:nvSpPr>
          <p:cNvPr id="27" name="Text 25"/>
          <p:cNvSpPr/>
          <p:nvPr/>
        </p:nvSpPr>
        <p:spPr>
          <a:xfrm>
            <a:off x="7019296" y="2095500"/>
            <a:ext cx="12119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Préparer la procédure en ligne</a:t>
            </a:r>
            <a:endParaRPr lang="en-US" sz="1400" dirty="0"/>
          </a:p>
        </p:txBody>
      </p:sp>
      <p:sp>
        <p:nvSpPr>
          <p:cNvPr id="28" name="Text 26"/>
          <p:cNvSpPr/>
          <p:nvPr/>
        </p:nvSpPr>
        <p:spPr>
          <a:xfrm>
            <a:off x="7019296" y="2603500"/>
            <a:ext cx="12119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La commission d’appel d’offres, le responsable, les paramètres internes et la cérémonie des clés.</a:t>
            </a:r>
            <a:endParaRPr lang="en-US" sz="1150" dirty="0"/>
          </a:p>
        </p:txBody>
      </p:sp>
      <p:sp>
        <p:nvSpPr>
          <p:cNvPr id="29" name="Text 27"/>
          <p:cNvSpPr/>
          <p:nvPr/>
        </p:nvSpPr>
        <p:spPr>
          <a:xfrm>
            <a:off x="8307407"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30" name="Shape 28"/>
          <p:cNvSpPr/>
          <p:nvPr/>
        </p:nvSpPr>
        <p:spPr>
          <a:xfrm>
            <a:off x="8459803" y="1778000"/>
            <a:ext cx="1389708" cy="1905000"/>
          </a:xfrm>
          <a:prstGeom prst="roundRect">
            <a:avLst>
              <a:gd name="adj" fmla="val 3948"/>
            </a:avLst>
          </a:prstGeom>
          <a:solidFill>
            <a:srgbClr val="FCFCFA"/>
          </a:solidFill>
          <a:ln w="19050">
            <a:solidFill>
              <a:srgbClr val="12324A"/>
            </a:solidFill>
            <a:prstDash val="solid"/>
          </a:ln>
        </p:spPr>
        <p:txBody>
          <a:bodyPr/>
          <a:lstStyle/>
          <a:p>
            <a:endParaRPr lang="fr-FR"/>
          </a:p>
        </p:txBody>
      </p:sp>
      <p:sp>
        <p:nvSpPr>
          <p:cNvPr id="31" name="Text 29"/>
          <p:cNvSpPr/>
          <p:nvPr/>
        </p:nvSpPr>
        <p:spPr>
          <a:xfrm>
            <a:off x="8548701" y="1866900"/>
            <a:ext cx="12119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PRMP, MEMBRE DE LA COMMISSION</a:t>
            </a:r>
            <a:endParaRPr lang="en-US" sz="1000" dirty="0"/>
          </a:p>
        </p:txBody>
      </p:sp>
      <p:sp>
        <p:nvSpPr>
          <p:cNvPr id="32" name="Text 30"/>
          <p:cNvSpPr/>
          <p:nvPr/>
        </p:nvSpPr>
        <p:spPr>
          <a:xfrm>
            <a:off x="8548701" y="2095500"/>
            <a:ext cx="12119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Faire examiner</a:t>
            </a:r>
            <a:endParaRPr lang="en-US" sz="1400" dirty="0"/>
          </a:p>
        </p:txBody>
      </p:sp>
      <p:sp>
        <p:nvSpPr>
          <p:cNvPr id="33" name="Text 31"/>
          <p:cNvSpPr/>
          <p:nvPr/>
        </p:nvSpPr>
        <p:spPr>
          <a:xfrm>
            <a:off x="8548701" y="2603500"/>
            <a:ext cx="12119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Le dossier créé depuis la fiche part à la Commission, qui lit la fiche et le DAO complet.</a:t>
            </a:r>
            <a:endParaRPr lang="en-US" sz="1150" dirty="0"/>
          </a:p>
        </p:txBody>
      </p:sp>
      <p:sp>
        <p:nvSpPr>
          <p:cNvPr id="34" name="Text 32"/>
          <p:cNvSpPr/>
          <p:nvPr/>
        </p:nvSpPr>
        <p:spPr>
          <a:xfrm>
            <a:off x="9836811"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35" name="Shape 33"/>
          <p:cNvSpPr/>
          <p:nvPr/>
        </p:nvSpPr>
        <p:spPr>
          <a:xfrm>
            <a:off x="9989207" y="1778000"/>
            <a:ext cx="1389708" cy="1905000"/>
          </a:xfrm>
          <a:prstGeom prst="roundRect">
            <a:avLst>
              <a:gd name="adj" fmla="val 3948"/>
            </a:avLst>
          </a:prstGeom>
          <a:solidFill>
            <a:srgbClr val="12324A"/>
          </a:solidFill>
          <a:ln w="19050">
            <a:solidFill>
              <a:srgbClr val="12324A"/>
            </a:solidFill>
            <a:prstDash val="solid"/>
          </a:ln>
        </p:spPr>
        <p:txBody>
          <a:bodyPr/>
          <a:lstStyle/>
          <a:p>
            <a:endParaRPr lang="fr-FR"/>
          </a:p>
        </p:txBody>
      </p:sp>
      <p:sp>
        <p:nvSpPr>
          <p:cNvPr id="36" name="Text 34"/>
          <p:cNvSpPr/>
          <p:nvPr/>
        </p:nvSpPr>
        <p:spPr>
          <a:xfrm>
            <a:off x="10078105" y="1866900"/>
            <a:ext cx="1211913" cy="215900"/>
          </a:xfrm>
          <a:prstGeom prst="rect">
            <a:avLst/>
          </a:prstGeom>
          <a:noFill/>
          <a:ln/>
        </p:spPr>
        <p:txBody>
          <a:bodyPr wrap="square" rtlCol="0" anchor="ctr">
            <a:normAutofit/>
          </a:bodyPr>
          <a:lstStyle/>
          <a:p>
            <a:pPr marL="0" indent="0">
              <a:buNone/>
            </a:pPr>
            <a:r>
              <a:rPr lang="en-US" sz="1000" b="1" dirty="0">
                <a:solidFill>
                  <a:srgbClr val="E3AE2E"/>
                </a:solidFill>
                <a:latin typeface="Segoe UI" pitchFamily="34" charset="0"/>
                <a:ea typeface="Segoe UI" pitchFamily="34" charset="-122"/>
                <a:cs typeface="Segoe UI" pitchFamily="34" charset="-120"/>
              </a:rPr>
              <a:t>PRMP, CANDIDATS</a:t>
            </a:r>
            <a:endParaRPr lang="en-US" sz="1000" dirty="0"/>
          </a:p>
        </p:txBody>
      </p:sp>
      <p:sp>
        <p:nvSpPr>
          <p:cNvPr id="37" name="Text 35"/>
          <p:cNvSpPr/>
          <p:nvPr/>
        </p:nvSpPr>
        <p:spPr>
          <a:xfrm>
            <a:off x="10078105" y="2095500"/>
            <a:ext cx="1211913" cy="508000"/>
          </a:xfrm>
          <a:prstGeom prst="rect">
            <a:avLst/>
          </a:prstGeom>
          <a:noFill/>
          <a:ln/>
        </p:spPr>
        <p:txBody>
          <a:bodyPr wrap="square" rtlCol="0" anchor="t">
            <a:normAutofit/>
          </a:bodyPr>
          <a:lstStyle/>
          <a:p>
            <a:pPr marL="0" indent="0">
              <a:buNone/>
            </a:pPr>
            <a:r>
              <a:rPr lang="en-US" sz="1400" b="1" dirty="0">
                <a:solidFill>
                  <a:srgbClr val="FCFCFA"/>
                </a:solidFill>
                <a:latin typeface="Segoe UI" pitchFamily="34" charset="0"/>
                <a:ea typeface="Segoe UI" pitchFamily="34" charset="-122"/>
                <a:cs typeface="Segoe UI" pitchFamily="34" charset="-120"/>
              </a:rPr>
              <a:t>Publier et répondre</a:t>
            </a:r>
            <a:endParaRPr lang="en-US" sz="1400" dirty="0"/>
          </a:p>
        </p:txBody>
      </p:sp>
      <p:sp>
        <p:nvSpPr>
          <p:cNvPr id="38" name="Text 36"/>
          <p:cNvSpPr/>
          <p:nvPr/>
        </p:nvSpPr>
        <p:spPr>
          <a:xfrm>
            <a:off x="10078105" y="2603500"/>
            <a:ext cx="1211913" cy="1016000"/>
          </a:xfrm>
          <a:prstGeom prst="rect">
            <a:avLst/>
          </a:prstGeom>
          <a:noFill/>
          <a:ln/>
        </p:spPr>
        <p:txBody>
          <a:bodyPr wrap="square" rtlCol="0" anchor="t">
            <a:normAutofit/>
          </a:bodyPr>
          <a:lstStyle/>
          <a:p>
            <a:pPr marL="0" indent="0">
              <a:buNone/>
            </a:pPr>
            <a:r>
              <a:rPr lang="en-US" sz="1150" dirty="0">
                <a:solidFill>
                  <a:srgbClr val="C9D6E2"/>
                </a:solidFill>
                <a:latin typeface="Segoe UI" pitchFamily="34" charset="0"/>
                <a:ea typeface="Segoe UI" pitchFamily="34" charset="-122"/>
                <a:cs typeface="Segoe UI" pitchFamily="34" charset="-120"/>
              </a:rPr>
              <a:t>Après le PV favorable, l’avis s’imprime ; les candidats paient, retirent le DAO et posent leurs questions.</a:t>
            </a:r>
            <a:endParaRPr lang="en-US" sz="1150" dirty="0"/>
          </a:p>
        </p:txBody>
      </p:sp>
      <p:sp>
        <p:nvSpPr>
          <p:cNvPr id="39" name="Text 37"/>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91</a:t>
            </a:r>
            <a:endParaRPr lang="en-US" sz="1100" dirty="0"/>
          </a:p>
        </p:txBody>
      </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name="Slide 92">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PRÉPARER LE DAO</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Une fiche par ligne du plan</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Le DAO ne commence pas par un fichier : il commence par une ligne du plan de passation déjà contrôlé. Tout ce que le plan dit est repris, verrouillé, et ne se corrige que dans le plan.</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92</a:t>
            </a:r>
            <a:endParaRPr lang="en-US" sz="1100" dirty="0"/>
          </a:p>
        </p:txBody>
      </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name="Slide 9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DAO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appels d’offres de la PRMP</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appels d’offres de la PRMP"/>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et son UGPM.</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lignes des plans au </a:t>
            </a:r>
            <a:r>
              <a:rPr lang="en-US" sz="1200" b="1" dirty="0">
                <a:solidFill>
                  <a:srgbClr val="1B2A3A"/>
                </a:solidFill>
                <a:latin typeface="Segoe UI" pitchFamily="34" charset="0"/>
                <a:ea typeface="Segoe UI" pitchFamily="34" charset="-122"/>
                <a:cs typeface="Segoe UI" pitchFamily="34" charset="-120"/>
              </a:rPr>
              <a:t>PV signé favorable</a:t>
            </a:r>
            <a:r>
              <a:rPr lang="en-US" sz="1200" dirty="0">
                <a:solidFill>
                  <a:srgbClr val="1B2A3A"/>
                </a:solidFill>
                <a:latin typeface="Segoe UI" pitchFamily="34" charset="0"/>
                <a:ea typeface="Segoe UI" pitchFamily="34" charset="-122"/>
                <a:cs typeface="Segoe UI" pitchFamily="34" charset="-120"/>
              </a:rPr>
              <a:t> dont le mode de passation appelle un DAO : référence du plan, nature, forme, objet, mode, montant.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 </a:t>
            </a:r>
            <a:r>
              <a:rPr lang="en-US" sz="1200" b="1" dirty="0">
                <a:solidFill>
                  <a:srgbClr val="1B2A3A"/>
                </a:solidFill>
                <a:latin typeface="Segoe UI" pitchFamily="34" charset="0"/>
                <a:ea typeface="Segoe UI" pitchFamily="34" charset="-122"/>
                <a:cs typeface="Segoe UI" pitchFamily="34" charset="-120"/>
              </a:rPr>
              <a:t>Préparer l’appel d’offres</a:t>
            </a:r>
            <a:r>
              <a:rPr lang="en-US" sz="1200" dirty="0">
                <a:solidFill>
                  <a:srgbClr val="1B2A3A"/>
                </a:solidFill>
                <a:latin typeface="Segoe UI" pitchFamily="34" charset="0"/>
                <a:ea typeface="Segoe UI" pitchFamily="34" charset="-122"/>
                <a:cs typeface="Segoe UI" pitchFamily="34" charset="-120"/>
              </a:rPr>
              <a:t> » ouvre une fiche ; « </a:t>
            </a:r>
            <a:r>
              <a:rPr lang="en-US" sz="1200" b="1" dirty="0">
                <a:solidFill>
                  <a:srgbClr val="1B2A3A"/>
                </a:solidFill>
                <a:latin typeface="Segoe UI" pitchFamily="34" charset="0"/>
                <a:ea typeface="Segoe UI" pitchFamily="34" charset="-122"/>
                <a:cs typeface="Segoe UI" pitchFamily="34" charset="-120"/>
              </a:rPr>
              <a:t>Reprendre la fiche</a:t>
            </a:r>
            <a:r>
              <a:rPr lang="en-US" sz="1200" dirty="0">
                <a:solidFill>
                  <a:srgbClr val="1B2A3A"/>
                </a:solidFill>
                <a:latin typeface="Segoe UI" pitchFamily="34" charset="0"/>
                <a:ea typeface="Segoe UI" pitchFamily="34" charset="-122"/>
                <a:cs typeface="Segoe UI" pitchFamily="34" charset="-120"/>
              </a:rPr>
              <a:t> » la poursuit. Sous la fiche, le nombre d’offres déposées.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lignes en appel à manifestation d’intérêt (prestations intellectuelles) y figurent aussi.</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RG-DAO-02 · RG-DAO-03 · RG-DAO-04 · RG-DAO-05 · RG-DAO-07 · RG-DAO-08</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93</a:t>
            </a:r>
            <a:endParaRPr lang="en-US" sz="1100" dirty="0"/>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name="Slide 94">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PRÉPARER LE DAO</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Cadrer, saisir, contrôler</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La fiche avance en sept étapes visibles à gauche de l’écran ; les contrôles se tiennent à droite, en continu, et disent ce qui reste à lever.</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94</a:t>
            </a:r>
            <a:endParaRPr lang="en-US" sz="1100" dirty="0"/>
          </a:p>
        </p:txBody>
      </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name="Slide 9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DAO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Étape 2 : le cadrage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Étape 2 : le cadrag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ou son UGPM.</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Des questions qui </a:t>
            </a:r>
            <a:r>
              <a:rPr lang="en-US" sz="1200" b="1" dirty="0">
                <a:solidFill>
                  <a:srgbClr val="1B2A3A"/>
                </a:solidFill>
                <a:latin typeface="Segoe UI" pitchFamily="34" charset="0"/>
                <a:ea typeface="Segoe UI" pitchFamily="34" charset="-122"/>
                <a:cs typeface="Segoe UI" pitchFamily="34" charset="-120"/>
              </a:rPr>
              <a:t>ouvrent ou ferment des rubriques</a:t>
            </a:r>
            <a:r>
              <a:rPr lang="en-US" sz="1200" dirty="0">
                <a:solidFill>
                  <a:srgbClr val="1B2A3A"/>
                </a:solidFill>
                <a:latin typeface="Segoe UI" pitchFamily="34" charset="0"/>
                <a:ea typeface="Segoe UI" pitchFamily="34" charset="-122"/>
                <a:cs typeface="Segoe UI" pitchFamily="34" charset="-120"/>
              </a:rPr>
              <a:t> : allotissement, tranches, variantes, groupement, type et révision des prix, garantie, avance, pénalités.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Chaque question dit dans quel document elle joue (DPAO, acte d’engagement, CCAP).</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Et le </a:t>
            </a:r>
            <a:r>
              <a:rPr lang="en-US" sz="1200" b="1" dirty="0">
                <a:solidFill>
                  <a:srgbClr val="1B2A3A"/>
                </a:solidFill>
                <a:latin typeface="Segoe UI" pitchFamily="34" charset="0"/>
                <a:ea typeface="Segoe UI" pitchFamily="34" charset="-122"/>
                <a:cs typeface="Segoe UI" pitchFamily="34" charset="-120"/>
              </a:rPr>
              <a:t>mode de remise des offres</a:t>
            </a:r>
            <a:r>
              <a:rPr lang="en-US" sz="1200" dirty="0">
                <a:solidFill>
                  <a:srgbClr val="1B2A3A"/>
                </a:solidFill>
                <a:latin typeface="Segoe UI" pitchFamily="34" charset="0"/>
                <a:ea typeface="Segoe UI" pitchFamily="34" charset="-122"/>
                <a:cs typeface="Segoe UI" pitchFamily="34" charset="-120"/>
              </a:rPr>
              <a:t> : papier ou électronique, jamais mixte.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RG-DAO-12 · RG-DAO-46</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95</a:t>
            </a:r>
            <a:endParaRPr lang="en-US" sz="1100" dirty="0"/>
          </a:p>
        </p:txBody>
      </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name="Slide 9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DAO · PRMP · MANUEL RÉVISÉ</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mode de remise, figé</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 mode de remise, figé"/>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sur une fiche déjà validée en remise papier.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question porte la mention « </a:t>
            </a:r>
            <a:r>
              <a:rPr lang="en-US" sz="1200" b="1" dirty="0">
                <a:solidFill>
                  <a:srgbClr val="1B2A3A"/>
                </a:solidFill>
                <a:latin typeface="Segoe UI" pitchFamily="34" charset="0"/>
                <a:ea typeface="Segoe UI" pitchFamily="34" charset="-122"/>
                <a:cs typeface="Segoe UI" pitchFamily="34" charset="-120"/>
              </a:rPr>
              <a:t>figé depuis la première validation</a:t>
            </a:r>
            <a:r>
              <a:rPr lang="en-US" sz="1200" dirty="0">
                <a:solidFill>
                  <a:srgbClr val="1B2A3A"/>
                </a:solidFill>
                <a:latin typeface="Segoe UI" pitchFamily="34" charset="0"/>
                <a:ea typeface="Segoe UI" pitchFamily="34" charset="-122"/>
                <a:cs typeface="Segoe UI" pitchFamily="34" charset="-120"/>
              </a:rPr>
              <a:t> » : une procédure commencée sur papier s’achève sur papier, et inversement.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L’écran explique la seule exception : une </a:t>
            </a:r>
            <a:r>
              <a:rPr lang="en-US" sz="1200" b="1" dirty="0">
                <a:solidFill>
                  <a:srgbClr val="1B2A3A"/>
                </a:solidFill>
                <a:latin typeface="Segoe UI" pitchFamily="34" charset="0"/>
                <a:ea typeface="Segoe UI" pitchFamily="34" charset="-122"/>
                <a:cs typeface="Segoe UI" pitchFamily="34" charset="-120"/>
              </a:rPr>
              <a:t>migration motivée par l’Administrateur</a:t>
            </a:r>
            <a:r>
              <a:rPr lang="en-US" sz="1200" dirty="0">
                <a:solidFill>
                  <a:srgbClr val="1B2A3A"/>
                </a:solidFill>
                <a:latin typeface="Segoe UI" pitchFamily="34" charset="0"/>
                <a:ea typeface="Segoe UI" pitchFamily="34" charset="-122"/>
                <a:cs typeface="Segoe UI" pitchFamily="34" charset="-120"/>
              </a:rPr>
              <a:t>, tant qu’aucune offre n’est déposée en ligne, que la cérémonie des clés n’est pas close et qu’aucun lot n’est attribué.</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Plus bas, les 23 informations reprises du plan, verrouillées.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RG-DAO-46 · RG-DAO-47 · RG-DAO-48</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96</a:t>
            </a:r>
            <a:endParaRPr lang="en-US" sz="1100" dirty="0"/>
          </a:p>
        </p:txBody>
      </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name="Slide 9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DAO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Étape 3 : la saisie par bloc</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Étape 3 : la saisie par bloc"/>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ou son UGPM.</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Onze blocs en travaux ; chaque information porte les documents où elle est </a:t>
            </a:r>
            <a:r>
              <a:rPr lang="en-US" sz="1200" b="1" dirty="0">
                <a:solidFill>
                  <a:srgbClr val="1B2A3A"/>
                </a:solidFill>
                <a:latin typeface="Segoe UI" pitchFamily="34" charset="0"/>
                <a:ea typeface="Segoe UI" pitchFamily="34" charset="-122"/>
                <a:cs typeface="Segoe UI" pitchFamily="34" charset="-120"/>
              </a:rPr>
              <a:t>reprise</a:t>
            </a:r>
            <a:r>
              <a:rPr lang="en-US" sz="1200" dirty="0">
                <a:solidFill>
                  <a:srgbClr val="1B2A3A"/>
                </a:solidFill>
                <a:latin typeface="Segoe UI" pitchFamily="34" charset="0"/>
                <a:ea typeface="Segoe UI" pitchFamily="34" charset="-122"/>
                <a:cs typeface="Segoe UI" pitchFamily="34" charset="-120"/>
              </a:rPr>
              <a:t> (acte d’engagement, CCAP).</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Ce qui vient du plan ou du cadrage est marqué « repris », et ne se ressaisit pas ; une information conditionnelle dit sa condition (« alloti = OUI »).</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Une fiche validée se lit en </a:t>
            </a:r>
            <a:r>
              <a:rPr lang="en-US" sz="1200" b="1" dirty="0">
                <a:solidFill>
                  <a:srgbClr val="1B2A3A"/>
                </a:solidFill>
                <a:latin typeface="Segoe UI" pitchFamily="34" charset="0"/>
                <a:ea typeface="Segoe UI" pitchFamily="34" charset="-122"/>
                <a:cs typeface="Segoe UI" pitchFamily="34" charset="-120"/>
              </a:rPr>
              <a:t>lecture seule</a:t>
            </a:r>
            <a:r>
              <a:rPr lang="en-US" sz="1200" dirty="0">
                <a:solidFill>
                  <a:srgbClr val="1B2A3A"/>
                </a:solidFill>
                <a:latin typeface="Segoe UI" pitchFamily="34" charset="0"/>
                <a:ea typeface="Segoe UI" pitchFamily="34" charset="-122"/>
                <a:cs typeface="Segoe UI" pitchFamily="34" charset="-120"/>
              </a:rPr>
              <a:t> ; le compteur dit combien d’informations sont saisies (124 sur 170).</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RG-DAO-13 · RG-DAO-15 · RG-DAO-18 · RG-DAO-19 · RG-DAO-26</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97</a:t>
            </a:r>
            <a:endParaRPr lang="en-US" sz="1100" dirty="0"/>
          </a:p>
        </p:txBody>
      </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name="Slide 9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DAO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Fournitures à commande : la même fiche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Fournitures à commande : la même fich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ou son UGPM.</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même fiche pour les trois catégories ; ses blocs et ses questions suivent la </a:t>
            </a:r>
            <a:r>
              <a:rPr lang="en-US" sz="1200" b="1" dirty="0">
                <a:solidFill>
                  <a:srgbClr val="1B2A3A"/>
                </a:solidFill>
                <a:latin typeface="Segoe UI" pitchFamily="34" charset="0"/>
                <a:ea typeface="Segoe UI" pitchFamily="34" charset="-122"/>
                <a:cs typeface="Segoe UI" pitchFamily="34" charset="-120"/>
              </a:rPr>
              <a:t>catégorie</a:t>
            </a:r>
            <a:r>
              <a:rPr lang="en-US" sz="1200" dirty="0">
                <a:solidFill>
                  <a:srgbClr val="1B2A3A"/>
                </a:solidFill>
                <a:latin typeface="Segoe UI" pitchFamily="34" charset="0"/>
                <a:ea typeface="Segoe UI" pitchFamily="34" charset="-122"/>
                <a:cs typeface="Segoe UI" pitchFamily="34" charset="-120"/>
              </a:rPr>
              <a:t> et la </a:t>
            </a:r>
            <a:r>
              <a:rPr lang="en-US" sz="1200" b="1" dirty="0">
                <a:solidFill>
                  <a:srgbClr val="1B2A3A"/>
                </a:solidFill>
                <a:latin typeface="Segoe UI" pitchFamily="34" charset="0"/>
                <a:ea typeface="Segoe UI" pitchFamily="34" charset="-122"/>
                <a:cs typeface="Segoe UI" pitchFamily="34" charset="-120"/>
              </a:rPr>
              <a:t>forme</a:t>
            </a:r>
            <a:r>
              <a:rPr lang="en-US" sz="1200" dirty="0">
                <a:solidFill>
                  <a:srgbClr val="1B2A3A"/>
                </a:solidFill>
                <a:latin typeface="Segoe UI" pitchFamily="34" charset="0"/>
                <a:ea typeface="Segoe UI" pitchFamily="34" charset="-122"/>
                <a:cs typeface="Segoe UI" pitchFamily="34" charset="-120"/>
              </a:rPr>
              <a:t> lues sur la ligne du plan (ici fournitures, à commande : dix blocs).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informations propres à la forme apparaissent d’elles-mêmes, comme la durée de validité du marché à commandes.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RG-DAO-07 · RG-DAO-08 · RG-DAO-11 · RG-DAO-15</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98</a:t>
            </a:r>
            <a:endParaRPr lang="en-US" sz="1100" dirty="0"/>
          </a:p>
        </p:txBody>
      </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name="Slide 9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DAO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besoin, lot par lot</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 besoin, lot par lot"/>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ou son UGPM.</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En travaux, le </a:t>
            </a:r>
            <a:r>
              <a:rPr lang="en-US" sz="1200" b="1" dirty="0">
                <a:solidFill>
                  <a:srgbClr val="1B2A3A"/>
                </a:solidFill>
                <a:latin typeface="Segoe UI" pitchFamily="34" charset="0"/>
                <a:ea typeface="Segoe UI" pitchFamily="34" charset="-122"/>
                <a:cs typeface="Segoe UI" pitchFamily="34" charset="-120"/>
              </a:rPr>
              <a:t>détail quantitatif et estimatif</a:t>
            </a:r>
            <a:r>
              <a:rPr lang="en-US" sz="1200" dirty="0">
                <a:solidFill>
                  <a:srgbClr val="1B2A3A"/>
                </a:solidFill>
                <a:latin typeface="Segoe UI" pitchFamily="34" charset="0"/>
                <a:ea typeface="Segoe UI" pitchFamily="34" charset="-122"/>
                <a:cs typeface="Segoe UI" pitchFamily="34" charset="-120"/>
              </a:rPr>
              <a:t> de chaque lot, par séries : n° de prix, désignation, libellé au bordereau, unité, quantité, plafond.</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C’est lui que le candidat remplira de ses prix ; il produit le bordereau des prix de chaque lot.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RG-DAO-18 · RG-DAO-21 · RG-DAO-22</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99</a:t>
            </a:r>
            <a:endParaRPr lang="en-US" sz="1100" dirty="0"/>
          </a:p>
        </p:txBody>
      </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name="Slide 10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DAO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pièces de l’offre, listées une à une</a:t>
            </a:r>
            <a:endParaRPr lang="en-US" sz="2600" dirty="0"/>
          </a:p>
        </p:txBody>
      </p:sp>
      <p:sp>
        <p:nvSpPr>
          <p:cNvPr id="4" name="Shape 2"/>
          <p:cNvSpPr/>
          <p:nvPr/>
        </p:nvSpPr>
        <p:spPr>
          <a:xfrm>
            <a:off x="1393256" y="1193800"/>
            <a:ext cx="9405183" cy="3327400"/>
          </a:xfrm>
          <a:prstGeom prst="rect">
            <a:avLst/>
          </a:prstGeom>
          <a:solidFill>
            <a:srgbClr val="FCFCFA"/>
          </a:solidFill>
          <a:ln w="9525">
            <a:solidFill>
              <a:srgbClr val="D5DCE4"/>
            </a:solidFill>
            <a:prstDash val="solid"/>
          </a:ln>
        </p:spPr>
        <p:txBody>
          <a:bodyPr/>
          <a:lstStyle/>
          <a:p>
            <a:endParaRPr lang="fr-FR"/>
          </a:p>
        </p:txBody>
      </p:sp>
      <p:pic>
        <p:nvPicPr>
          <p:cNvPr id="5" name="Image 0" descr="Les pièces de l’offre, listées une à une"/>
          <p:cNvPicPr>
            <a:picLocks noChangeAspect="1"/>
          </p:cNvPicPr>
          <p:nvPr/>
        </p:nvPicPr>
        <p:blipFill>
          <a:blip r:embed="rId3"/>
          <a:stretch>
            <a:fillRect/>
          </a:stretch>
        </p:blipFill>
        <p:spPr>
          <a:xfrm>
            <a:off x="1405956" y="1206500"/>
            <a:ext cx="9379783" cy="3302000"/>
          </a:xfrm>
          <a:prstGeom prst="rect">
            <a:avLst/>
          </a:prstGeom>
        </p:spPr>
      </p:pic>
      <p:sp>
        <p:nvSpPr>
          <p:cNvPr id="6" name="Shape 3"/>
          <p:cNvSpPr/>
          <p:nvPr/>
        </p:nvSpPr>
        <p:spPr>
          <a:xfrm>
            <a:off x="812780" y="4660900"/>
            <a:ext cx="10566136" cy="16256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12780" y="4660900"/>
            <a:ext cx="38099" cy="1625600"/>
          </a:xfrm>
          <a:prstGeom prst="rect">
            <a:avLst/>
          </a:prstGeom>
          <a:solidFill>
            <a:srgbClr val="1B6FA8"/>
          </a:solidFill>
          <a:ln/>
        </p:spPr>
        <p:txBody>
          <a:bodyPr/>
          <a:lstStyle/>
          <a:p>
            <a:endParaRPr lang="fr-FR"/>
          </a:p>
        </p:txBody>
      </p:sp>
      <p:sp>
        <p:nvSpPr>
          <p:cNvPr id="8" name="Text 5"/>
          <p:cNvSpPr/>
          <p:nvPr/>
        </p:nvSpPr>
        <p:spPr>
          <a:xfrm>
            <a:off x="977876" y="4762500"/>
            <a:ext cx="10274043" cy="14351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ou son UGPM, sur une fiche en préparation.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En remise électronique, chaque pièce exigée est une ligne : le candidat joindra </a:t>
            </a:r>
            <a:r>
              <a:rPr lang="en-US" sz="1200" b="1" dirty="0">
                <a:solidFill>
                  <a:srgbClr val="1B2A3A"/>
                </a:solidFill>
                <a:latin typeface="Segoe UI" pitchFamily="34" charset="0"/>
                <a:ea typeface="Segoe UI" pitchFamily="34" charset="-122"/>
                <a:cs typeface="Segoe UI" pitchFamily="34" charset="-120"/>
              </a:rPr>
              <a:t>un fichier par pièce</a:t>
            </a:r>
            <a:r>
              <a:rPr lang="en-US" sz="1200" dirty="0">
                <a:solidFill>
                  <a:srgbClr val="1B2A3A"/>
                </a:solidFill>
                <a:latin typeface="Segoe UI" pitchFamily="34" charset="0"/>
                <a:ea typeface="Segoe UI" pitchFamily="34" charset="-122"/>
                <a:cs typeface="Segoe UI" pitchFamily="34" charset="-120"/>
              </a:rPr>
              <a: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liste se reprend du document type, se colle, s’ajoute pièce par pièce, ou se </a:t>
            </a:r>
            <a:r>
              <a:rPr lang="en-US" sz="1200" b="1" dirty="0">
                <a:solidFill>
                  <a:srgbClr val="1B2A3A"/>
                </a:solidFill>
                <a:latin typeface="Segoe UI" pitchFamily="34" charset="0"/>
                <a:ea typeface="Segoe UI" pitchFamily="34" charset="-122"/>
                <a:cs typeface="Segoe UI" pitchFamily="34" charset="-120"/>
              </a:rPr>
              <a:t>propose à partir du texte</a:t>
            </a:r>
            <a:r>
              <a:rPr lang="en-US" sz="1200" dirty="0">
                <a:solidFill>
                  <a:srgbClr val="1B2A3A"/>
                </a:solidFill>
                <a:latin typeface="Segoe UI" pitchFamily="34" charset="0"/>
                <a:ea typeface="Segoe UI" pitchFamily="34" charset="-122"/>
                <a:cs typeface="Segoe UI" pitchFamily="34" charset="-120"/>
              </a:rPr>
              <a:t> du DAO.</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RG-DAO-15 · RG-DAO-35</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100</a:t>
            </a:r>
            <a:endParaRPr lang="en-US" sz="1100" dirty="0"/>
          </a:p>
        </p:txBody>
      </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name="Slide 10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DAO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texte découpé, à relire</a:t>
            </a:r>
            <a:endParaRPr lang="en-US" sz="2600" dirty="0"/>
          </a:p>
        </p:txBody>
      </p:sp>
      <p:sp>
        <p:nvSpPr>
          <p:cNvPr id="4" name="Shape 2"/>
          <p:cNvSpPr/>
          <p:nvPr/>
        </p:nvSpPr>
        <p:spPr>
          <a:xfrm>
            <a:off x="800080" y="1193800"/>
            <a:ext cx="6894410" cy="5105400"/>
          </a:xfrm>
          <a:prstGeom prst="rect">
            <a:avLst/>
          </a:prstGeom>
          <a:solidFill>
            <a:srgbClr val="FCFCFA"/>
          </a:solidFill>
          <a:ln w="9525">
            <a:solidFill>
              <a:srgbClr val="D5DCE4"/>
            </a:solidFill>
            <a:prstDash val="solid"/>
          </a:ln>
        </p:spPr>
        <p:txBody>
          <a:bodyPr/>
          <a:lstStyle/>
          <a:p>
            <a:endParaRPr lang="fr-FR"/>
          </a:p>
        </p:txBody>
      </p:sp>
      <p:pic>
        <p:nvPicPr>
          <p:cNvPr id="5" name="Image 0" descr="Le texte découpé, à relire"/>
          <p:cNvPicPr>
            <a:picLocks noChangeAspect="1"/>
          </p:cNvPicPr>
          <p:nvPr/>
        </p:nvPicPr>
        <p:blipFill>
          <a:blip r:embed="rId3"/>
          <a:stretch>
            <a:fillRect/>
          </a:stretch>
        </p:blipFill>
        <p:spPr>
          <a:xfrm>
            <a:off x="812780" y="1206500"/>
            <a:ext cx="6869011" cy="5080000"/>
          </a:xfrm>
          <a:prstGeom prst="rect">
            <a:avLst/>
          </a:prstGeom>
        </p:spPr>
      </p:pic>
      <p:sp>
        <p:nvSpPr>
          <p:cNvPr id="6" name="Shape 3"/>
          <p:cNvSpPr/>
          <p:nvPr/>
        </p:nvSpPr>
        <p:spPr>
          <a:xfrm>
            <a:off x="7859586" y="1206500"/>
            <a:ext cx="3519330"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7859586" y="1206500"/>
            <a:ext cx="38099" cy="5080000"/>
          </a:xfrm>
          <a:prstGeom prst="rect">
            <a:avLst/>
          </a:prstGeom>
          <a:solidFill>
            <a:srgbClr val="1B6FA8"/>
          </a:solidFill>
          <a:ln/>
        </p:spPr>
        <p:txBody>
          <a:bodyPr/>
          <a:lstStyle/>
          <a:p>
            <a:endParaRPr lang="fr-FR"/>
          </a:p>
        </p:txBody>
      </p:sp>
      <p:sp>
        <p:nvSpPr>
          <p:cNvPr id="8" name="Text 5"/>
          <p:cNvSpPr/>
          <p:nvPr/>
        </p:nvSpPr>
        <p:spPr>
          <a:xfrm>
            <a:off x="8024682" y="1308100"/>
            <a:ext cx="3227237"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ou son UGPM.</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texte est découpé en une pièce par ligne ; la PRMP relit, corrige, complète, puis enregistre. Rien n’est retenu sans elle.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RG-DAO-35</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101</a:t>
            </a:r>
            <a:endParaRPr lang="en-US" sz="1100" dirty="0"/>
          </a:p>
        </p:txBody>
      </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name="Slide 10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DAO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spécifications techniques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spécifications technique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ou son UGPM.</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Au dernier bloc, les pièces de l’offre et les </a:t>
            </a:r>
            <a:r>
              <a:rPr lang="en-US" sz="1200" b="1" dirty="0">
                <a:solidFill>
                  <a:srgbClr val="1B2A3A"/>
                </a:solidFill>
                <a:latin typeface="Segoe UI" pitchFamily="34" charset="0"/>
                <a:ea typeface="Segoe UI" pitchFamily="34" charset="-122"/>
                <a:cs typeface="Segoe UI" pitchFamily="34" charset="-120"/>
              </a:rPr>
              <a:t>spécifications techniques</a:t>
            </a:r>
            <a:r>
              <a:rPr lang="en-US" sz="1200" dirty="0">
                <a:solidFill>
                  <a:srgbClr val="1B2A3A"/>
                </a:solidFill>
                <a:latin typeface="Segoe UI" pitchFamily="34" charset="0"/>
                <a:ea typeface="Segoe UI" pitchFamily="34" charset="-122"/>
                <a:cs typeface="Segoe UI" pitchFamily="34" charset="-120"/>
              </a:rPr>
              <a:t> : le devis descriptif, les prescriptions et les plans, en un document Word de 20 Mo au plus.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Il est inséré tel quel dans le DAO complet, entre le CCAP et le CCAG. Sans fichier, la partie n’existe pas, et l’écran le dit.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RG-DAO-34 · RG-DAO-35</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102</a:t>
            </a:r>
            <a:endParaRPr lang="en-US" sz="1100" dirty="0"/>
          </a:p>
        </p:txBody>
      </p:sp>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name="Slide 10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DAO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Étape 4 : les reprises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Étape 4 : les reprise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ou son UGPM, en lecture.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Tout champ repris est rempli depuis son </a:t>
            </a:r>
            <a:r>
              <a:rPr lang="en-US" sz="1200" b="1" dirty="0">
                <a:solidFill>
                  <a:srgbClr val="1B2A3A"/>
                </a:solidFill>
                <a:latin typeface="Segoe UI" pitchFamily="34" charset="0"/>
                <a:ea typeface="Segoe UI" pitchFamily="34" charset="-122"/>
                <a:cs typeface="Segoe UI" pitchFamily="34" charset="-120"/>
              </a:rPr>
              <a:t>document maître</a:t>
            </a:r>
            <a:r>
              <a:rPr lang="en-US" sz="1200" dirty="0">
                <a:solidFill>
                  <a:srgbClr val="1B2A3A"/>
                </a:solidFill>
                <a:latin typeface="Segoe UI" pitchFamily="34" charset="0"/>
                <a:ea typeface="Segoe UI" pitchFamily="34" charset="-122"/>
                <a:cs typeface="Segoe UI" pitchFamily="34" charset="-120"/>
              </a:rPr>
              <a:t>, jamais ressaisi : autorité contractante, montant, source de financement, objet, délai de validité des offres…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Chaque ligne dit d’où vient l’information et dans quels documents elle est reportée.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RG-DAO-01 · RG-DAO-26</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103</a:t>
            </a:r>
            <a:endParaRPr lang="en-US" sz="1100" dirty="0"/>
          </a:p>
        </p:txBody>
      </p: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name="Slide 10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DAO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Étape 5 : les contrôles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Étape 5 : les contrôle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ou son UGPM.</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bilan, recalculé à chaque lecture : informations manquantes, ordre des dates, </a:t>
            </a:r>
            <a:r>
              <a:rPr lang="en-US" sz="1200" b="1" dirty="0">
                <a:solidFill>
                  <a:srgbClr val="1B2A3A"/>
                </a:solidFill>
                <a:latin typeface="Segoe UI" pitchFamily="34" charset="0"/>
                <a:ea typeface="Segoe UI" pitchFamily="34" charset="-122"/>
                <a:cs typeface="Segoe UI" pitchFamily="34" charset="-120"/>
              </a:rPr>
              <a:t>délai de publicité de la loi</a:t>
            </a:r>
            <a:r>
              <a:rPr lang="en-US" sz="1200" dirty="0">
                <a:solidFill>
                  <a:srgbClr val="1B2A3A"/>
                </a:solidFill>
                <a:latin typeface="Segoe UI" pitchFamily="34" charset="0"/>
                <a:ea typeface="Segoe UI" pitchFamily="34" charset="-122"/>
                <a:cs typeface="Segoe UI" pitchFamily="34" charset="-120"/>
              </a:rPr>
              <a:t> (30 jours pour l’appel d’offres ouvert national, art. 35-II).</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En remise électronique, la liste des pièces de l’offre et la marge du quorum de déchiffrement ; les spécifications techniques absentes.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En </a:t>
            </a:r>
            <a:r>
              <a:rPr lang="en-US" sz="1200" b="1" dirty="0">
                <a:solidFill>
                  <a:srgbClr val="1B2A3A"/>
                </a:solidFill>
                <a:latin typeface="Segoe UI" pitchFamily="34" charset="0"/>
                <a:ea typeface="Segoe UI" pitchFamily="34" charset="-122"/>
                <a:cs typeface="Segoe UI" pitchFamily="34" charset="-120"/>
              </a:rPr>
              <a:t>rouge</a:t>
            </a:r>
            <a:r>
              <a:rPr lang="en-US" sz="1200" dirty="0">
                <a:solidFill>
                  <a:srgbClr val="1B2A3A"/>
                </a:solidFill>
                <a:latin typeface="Segoe UI" pitchFamily="34" charset="0"/>
                <a:ea typeface="Segoe UI" pitchFamily="34" charset="-122"/>
                <a:cs typeface="Segoe UI" pitchFamily="34" charset="-120"/>
              </a:rPr>
              <a:t>, ce qui bloque la validation ; en orange, un avertissement. Chaque contrôle mène au bloc à corriger.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RG-DAO-14 · RG-DAO-17 · RG-DAO-34 · RG-DAO-52</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104</a:t>
            </a:r>
            <a:endParaRPr lang="en-US" sz="1100" dirty="0"/>
          </a:p>
        </p:txBody>
      </p:sp>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name="Slide 10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DAO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Étape 6 : la validation</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Étape 6 : la validation"/>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seule.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En tête, les repères de la procédure (paramètres internes, commission, cérémonie, offres) et ses écrans : séance, évaluation, dépôts, commission, retraits, reçus, questions.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fiche validée est </a:t>
            </a:r>
            <a:r>
              <a:rPr lang="en-US" sz="1200" b="1" dirty="0">
                <a:solidFill>
                  <a:srgbClr val="1B2A3A"/>
                </a:solidFill>
                <a:latin typeface="Segoe UI" pitchFamily="34" charset="0"/>
                <a:ea typeface="Segoe UI" pitchFamily="34" charset="-122"/>
                <a:cs typeface="Segoe UI" pitchFamily="34" charset="-120"/>
              </a:rPr>
              <a:t>figée et versionnée</a:t>
            </a:r>
            <a:r>
              <a:rPr lang="en-US" sz="1200" dirty="0">
                <a:solidFill>
                  <a:srgbClr val="1B2A3A"/>
                </a:solidFill>
                <a:latin typeface="Segoe UI" pitchFamily="34" charset="0"/>
                <a:ea typeface="Segoe UI" pitchFamily="34" charset="-122"/>
                <a:cs typeface="Segoe UI" pitchFamily="34" charset="-120"/>
              </a:rPr>
              <a:t> : chaque version garde sa date, son auteur et ses documents.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Une fiche validée ne se supprime pas : « Ouvrir une nouvelle version » la révise.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RG-DAO-06 · RG-DAO-16 · RG-DAO-24 · RG-DAO-25</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105</a:t>
            </a:r>
            <a:endParaRPr lang="en-US" sz="1100" dirty="0"/>
          </a:p>
        </p:txBody>
      </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name="Slide 106">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PRÉPARER LE DAO</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Le DAO complet</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À la validation, l’application assemble un seul document, comme un DAO réel : page de garde, sommaire général, deux parties, dans la numérotation de l’ARMP. Il est servi en PDF et en Word.</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106</a:t>
            </a:r>
            <a:endParaRPr lang="en-US" sz="1100" dirty="0"/>
          </a:p>
        </p:txBody>
      </p:sp>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name="Slide 10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DAO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Étape 7 : le DAO complet et les bordereaux</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Étape 7 : le DAO complet et les bordereaux"/>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En tête, le </a:t>
            </a:r>
            <a:r>
              <a:rPr lang="en-US" sz="1200" b="1" dirty="0">
                <a:solidFill>
                  <a:srgbClr val="1B2A3A"/>
                </a:solidFill>
                <a:latin typeface="Segoe UI" pitchFamily="34" charset="0"/>
                <a:ea typeface="Segoe UI" pitchFamily="34" charset="-122"/>
                <a:cs typeface="Segoe UI" pitchFamily="34" charset="-120"/>
              </a:rPr>
              <a:t>dossier d’appel d’offres complet</a:t>
            </a:r>
            <a:r>
              <a:rPr lang="en-US" sz="1200" dirty="0">
                <a:solidFill>
                  <a:srgbClr val="1B2A3A"/>
                </a:solidFill>
                <a:latin typeface="Segoe UI" pitchFamily="34" charset="0"/>
                <a:ea typeface="Segoe UI" pitchFamily="34" charset="-122"/>
                <a:cs typeface="Segoe UI" pitchFamily="34" charset="-120"/>
              </a:rPr>
              <a:t> : l’ouvrir, l’enregistrer en PDF ou en Word.</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Puis, lot par lot, le bordereau des prix et détail quantitatif et estimatif, en Excel.</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a:t>
            </a:r>
            <a:r>
              <a:rPr lang="en-US" sz="1200" b="1" dirty="0">
                <a:solidFill>
                  <a:srgbClr val="1B2A3A"/>
                </a:solidFill>
                <a:latin typeface="Segoe UI" pitchFamily="34" charset="0"/>
                <a:ea typeface="Segoe UI" pitchFamily="34" charset="-122"/>
                <a:cs typeface="Segoe UI" pitchFamily="34" charset="-120"/>
              </a:rPr>
              <a:t>dossier à soumettre</a:t>
            </a:r>
            <a:r>
              <a:rPr lang="en-US" sz="1200" dirty="0">
                <a:solidFill>
                  <a:srgbClr val="1B2A3A"/>
                </a:solidFill>
                <a:latin typeface="Segoe UI" pitchFamily="34" charset="0"/>
                <a:ea typeface="Segoe UI" pitchFamily="34" charset="-122"/>
                <a:cs typeface="Segoe UI" pitchFamily="34" charset="-120"/>
              </a:rPr>
              <a:t> est créé depuis la fiche ; il reste à y joindre l’estimation du coût et la garantie de soumission.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RG-DAO-27 · RG-DAO-30 · RG-DAO-32 · RG-DAO-33 · RG-DAO-36</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107</a:t>
            </a:r>
            <a:endParaRPr lang="en-US" sz="1100" dirty="0"/>
          </a:p>
        </p:txBody>
      </p:sp>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name="Slide 10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DAO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En fournitures : le tableau de conformité</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En fournitures : le tableau de conformité"/>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Pour des fournitures, le DAO complet s’accompagne du bordereau des prix et du </a:t>
            </a:r>
            <a:r>
              <a:rPr lang="en-US" sz="1200" b="1" dirty="0">
                <a:solidFill>
                  <a:srgbClr val="1B2A3A"/>
                </a:solidFill>
                <a:latin typeface="Segoe UI" pitchFamily="34" charset="0"/>
                <a:ea typeface="Segoe UI" pitchFamily="34" charset="-122"/>
                <a:cs typeface="Segoe UI" pitchFamily="34" charset="-120"/>
              </a:rPr>
              <a:t>tableau de conformité</a:t>
            </a:r>
            <a:r>
              <a:rPr lang="en-US" sz="1200" dirty="0">
                <a:solidFill>
                  <a:srgbClr val="1B2A3A"/>
                </a:solidFill>
                <a:latin typeface="Segoe UI" pitchFamily="34" charset="0"/>
                <a:ea typeface="Segoe UI" pitchFamily="34" charset="-122"/>
                <a:cs typeface="Segoe UI" pitchFamily="34" charset="-120"/>
              </a:rPr>
              <a:t> aux spécifications techniques.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noms de fichier portent la référence du plan, la ligne et la version de la fiche.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RG-DAO-22 · RG-DAO-33</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108</a:t>
            </a:r>
            <a:endParaRPr lang="en-US" sz="1100" dirty="0"/>
          </a:p>
        </p:txBody>
      </p:sp>
    </p:spTree>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name="Slide 10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DAO · DOCUMENT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page de garde</a:t>
            </a:r>
            <a:endParaRPr lang="en-US" sz="2600" dirty="0"/>
          </a:p>
        </p:txBody>
      </p:sp>
      <p:sp>
        <p:nvSpPr>
          <p:cNvPr id="4" name="Shape 2"/>
          <p:cNvSpPr/>
          <p:nvPr/>
        </p:nvSpPr>
        <p:spPr>
          <a:xfrm>
            <a:off x="800080" y="1193800"/>
            <a:ext cx="3616625" cy="5105400"/>
          </a:xfrm>
          <a:prstGeom prst="rect">
            <a:avLst/>
          </a:prstGeom>
          <a:solidFill>
            <a:srgbClr val="FCFCFA"/>
          </a:solidFill>
          <a:ln w="9525">
            <a:solidFill>
              <a:srgbClr val="D5DCE4"/>
            </a:solidFill>
            <a:prstDash val="solid"/>
          </a:ln>
        </p:spPr>
        <p:txBody>
          <a:bodyPr/>
          <a:lstStyle/>
          <a:p>
            <a:endParaRPr lang="fr-FR"/>
          </a:p>
        </p:txBody>
      </p:sp>
      <p:pic>
        <p:nvPicPr>
          <p:cNvPr id="5" name="Image 0" descr="La page de garde"/>
          <p:cNvPicPr>
            <a:picLocks noChangeAspect="1"/>
          </p:cNvPicPr>
          <p:nvPr/>
        </p:nvPicPr>
        <p:blipFill>
          <a:blip r:embed="rId3"/>
          <a:stretch>
            <a:fillRect/>
          </a:stretch>
        </p:blipFill>
        <p:spPr>
          <a:xfrm>
            <a:off x="812780" y="1206500"/>
            <a:ext cx="3591226" cy="5080000"/>
          </a:xfrm>
          <a:prstGeom prst="rect">
            <a:avLst/>
          </a:prstGeom>
        </p:spPr>
      </p:pic>
      <p:sp>
        <p:nvSpPr>
          <p:cNvPr id="6" name="Shape 3"/>
          <p:cNvSpPr/>
          <p:nvPr/>
        </p:nvSpPr>
        <p:spPr>
          <a:xfrm>
            <a:off x="4581801" y="1206500"/>
            <a:ext cx="6797115"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4581801" y="1206500"/>
            <a:ext cx="38099" cy="5080000"/>
          </a:xfrm>
          <a:prstGeom prst="rect">
            <a:avLst/>
          </a:prstGeom>
          <a:solidFill>
            <a:srgbClr val="1B6FA8"/>
          </a:solidFill>
          <a:ln/>
        </p:spPr>
        <p:txBody>
          <a:bodyPr/>
          <a:lstStyle/>
          <a:p>
            <a:endParaRPr lang="fr-FR"/>
          </a:p>
        </p:txBody>
      </p:sp>
      <p:sp>
        <p:nvSpPr>
          <p:cNvPr id="8" name="Text 5"/>
          <p:cNvSpPr/>
          <p:nvPr/>
        </p:nvSpPr>
        <p:spPr>
          <a:xfrm>
            <a:off x="4746897" y="1308100"/>
            <a:ext cx="6505022"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document produit.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Celle des DAO réels : l’emblème, le ministère, la PRMP et l’UGPM, l’intitulé qui porte le mode de passation.</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numéro du DAO, l’objet, « Lancé le … » à compléter, le financement, l’imputation administrative et le compte, </a:t>
            </a:r>
            <a:r>
              <a:rPr lang="en-US" sz="1200" b="1" dirty="0">
                <a:solidFill>
                  <a:srgbClr val="1B2A3A"/>
                </a:solidFill>
                <a:latin typeface="Segoe UI" pitchFamily="34" charset="0"/>
                <a:ea typeface="Segoe UI" pitchFamily="34" charset="-122"/>
                <a:cs typeface="Segoe UI" pitchFamily="34" charset="-120"/>
              </a:rPr>
              <a:t>lus sur le plan</a:t>
            </a:r>
            <a:r>
              <a:rPr lang="en-US" sz="1200" dirty="0">
                <a:solidFill>
                  <a:srgbClr val="1B2A3A"/>
                </a:solidFill>
                <a:latin typeface="Segoe UI" pitchFamily="34" charset="0"/>
                <a:ea typeface="Segoe UI" pitchFamily="34" charset="-122"/>
                <a:cs typeface="Segoe UI" pitchFamily="34" charset="-120"/>
              </a:rPr>
              <a: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RG-DAO-30 · RG-DAO-31</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109</a:t>
            </a:r>
            <a:endParaRPr lang="en-US" sz="1100" dirty="0"/>
          </a:p>
        </p:txBody>
      </p:sp>
    </p:spTree>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name="Slide 11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DAO · DOCUMENT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sommaire général</a:t>
            </a:r>
            <a:endParaRPr lang="en-US" sz="2600" dirty="0"/>
          </a:p>
        </p:txBody>
      </p:sp>
      <p:sp>
        <p:nvSpPr>
          <p:cNvPr id="4" name="Shape 2"/>
          <p:cNvSpPr/>
          <p:nvPr/>
        </p:nvSpPr>
        <p:spPr>
          <a:xfrm>
            <a:off x="800080" y="1193800"/>
            <a:ext cx="3616625" cy="5105400"/>
          </a:xfrm>
          <a:prstGeom prst="rect">
            <a:avLst/>
          </a:prstGeom>
          <a:solidFill>
            <a:srgbClr val="FCFCFA"/>
          </a:solidFill>
          <a:ln w="9525">
            <a:solidFill>
              <a:srgbClr val="D5DCE4"/>
            </a:solidFill>
            <a:prstDash val="solid"/>
          </a:ln>
        </p:spPr>
        <p:txBody>
          <a:bodyPr/>
          <a:lstStyle/>
          <a:p>
            <a:endParaRPr lang="fr-FR"/>
          </a:p>
        </p:txBody>
      </p:sp>
      <p:pic>
        <p:nvPicPr>
          <p:cNvPr id="5" name="Image 0" descr="Le sommaire général"/>
          <p:cNvPicPr>
            <a:picLocks noChangeAspect="1"/>
          </p:cNvPicPr>
          <p:nvPr/>
        </p:nvPicPr>
        <p:blipFill>
          <a:blip r:embed="rId3"/>
          <a:stretch>
            <a:fillRect/>
          </a:stretch>
        </p:blipFill>
        <p:spPr>
          <a:xfrm>
            <a:off x="812780" y="1206500"/>
            <a:ext cx="3591226" cy="5080000"/>
          </a:xfrm>
          <a:prstGeom prst="rect">
            <a:avLst/>
          </a:prstGeom>
        </p:spPr>
      </p:pic>
      <p:sp>
        <p:nvSpPr>
          <p:cNvPr id="6" name="Shape 3"/>
          <p:cNvSpPr/>
          <p:nvPr/>
        </p:nvSpPr>
        <p:spPr>
          <a:xfrm>
            <a:off x="4581801" y="1206500"/>
            <a:ext cx="6797115"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4581801" y="1206500"/>
            <a:ext cx="38099" cy="5080000"/>
          </a:xfrm>
          <a:prstGeom prst="rect">
            <a:avLst/>
          </a:prstGeom>
          <a:solidFill>
            <a:srgbClr val="1B6FA8"/>
          </a:solidFill>
          <a:ln/>
        </p:spPr>
        <p:txBody>
          <a:bodyPr/>
          <a:lstStyle/>
          <a:p>
            <a:endParaRPr lang="fr-FR"/>
          </a:p>
        </p:txBody>
      </p:sp>
      <p:sp>
        <p:nvSpPr>
          <p:cNvPr id="8" name="Text 5"/>
          <p:cNvSpPr/>
          <p:nvPr/>
        </p:nvSpPr>
        <p:spPr>
          <a:xfrm>
            <a:off x="4746897" y="1308100"/>
            <a:ext cx="6505022"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document produit.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deux parties et leurs sous-parties, dans la </a:t>
            </a:r>
            <a:r>
              <a:rPr lang="en-US" sz="1200" b="1" dirty="0">
                <a:solidFill>
                  <a:srgbClr val="1B2A3A"/>
                </a:solidFill>
                <a:latin typeface="Segoe UI" pitchFamily="34" charset="0"/>
                <a:ea typeface="Segoe UI" pitchFamily="34" charset="-122"/>
                <a:cs typeface="Segoe UI" pitchFamily="34" charset="-120"/>
              </a:rPr>
              <a:t>numérotation de l’ARMP</a:t>
            </a:r>
            <a:r>
              <a:rPr lang="en-US" sz="1200" dirty="0">
                <a:solidFill>
                  <a:srgbClr val="1B2A3A"/>
                </a:solidFill>
                <a:latin typeface="Segoe UI" pitchFamily="34" charset="0"/>
                <a:ea typeface="Segoe UI" pitchFamily="34" charset="-122"/>
                <a:cs typeface="Segoe UI" pitchFamily="34" charset="-120"/>
              </a:rPr>
              <a:t>, avec les numéros de page.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Dans le Word, c’est une table des matières, mise à jour à l’ouverture.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RG-DAO-30 · RG-DAO-31</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110</a:t>
            </a:r>
            <a:endParaRPr lang="en-US" sz="1100" dirty="0"/>
          </a:p>
        </p:txBody>
      </p:sp>
    </p:spTree>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name="Slide 111">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PRÉPARER LE DAO</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La procédure en remise électronique</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Quand les offres seront remises en ligne, la fiche prépare aussi ceux qui ouvriront les offres : la commission d’appel d’offres, le responsable de la procédure et la cérémonie des clés.</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111</a:t>
            </a:r>
            <a:endParaRPr lang="en-US" sz="1100" dirty="0"/>
          </a:p>
        </p:txBody>
      </p:sp>
    </p:spTree>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name="Slide 11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DAO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commission d’appel d’offres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a commission d’appel d’offre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ou son UGPM pour elle.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a:t>
            </a:r>
            <a:r>
              <a:rPr lang="en-US" sz="1200" b="1" dirty="0">
                <a:solidFill>
                  <a:srgbClr val="1B2A3A"/>
                </a:solidFill>
                <a:latin typeface="Segoe UI" pitchFamily="34" charset="0"/>
                <a:ea typeface="Segoe UI" pitchFamily="34" charset="-122"/>
                <a:cs typeface="Segoe UI" pitchFamily="34" charset="-120"/>
              </a:rPr>
              <a:t>décision de nomination</a:t>
            </a:r>
            <a:r>
              <a:rPr lang="en-US" sz="1200" dirty="0">
                <a:solidFill>
                  <a:srgbClr val="1B2A3A"/>
                </a:solidFill>
                <a:latin typeface="Segoe UI" pitchFamily="34" charset="0"/>
                <a:ea typeface="Segoe UI" pitchFamily="34" charset="-122"/>
                <a:cs typeface="Segoe UI" pitchFamily="34" charset="-120"/>
              </a:rPr>
              <a:t> (référence, date) et les membres : des agents de l’entité, au plus un expert de l’objet, un seul président.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Chaque membre reçoit par courriel une invitation à activer son compte, puis publie sa part de la clé qui ouvrira les offres.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décision signée se joint en PDF ; sans elle, la commission porte un avertissement.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RG-DAO-55</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112</a:t>
            </a:r>
            <a:endParaRPr lang="en-US" sz="1100" dirty="0"/>
          </a:p>
        </p:txBody>
      </p:sp>
    </p:spTree>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name="Slide 11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ADMINISTRATEUR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procédures en ligne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procédures en lign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 sur le Poste d’administration.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Toutes les procédures en remise électronique, </a:t>
            </a:r>
            <a:r>
              <a:rPr lang="en-US" sz="1200" b="1" dirty="0">
                <a:solidFill>
                  <a:srgbClr val="1B2A3A"/>
                </a:solidFill>
                <a:latin typeface="Segoe UI" pitchFamily="34" charset="0"/>
                <a:ea typeface="Segoe UI" pitchFamily="34" charset="-122"/>
                <a:cs typeface="Segoe UI" pitchFamily="34" charset="-120"/>
              </a:rPr>
              <a:t>à traiter d’abord</a:t>
            </a:r>
            <a:r>
              <a:rPr lang="en-US" sz="1200" dirty="0">
                <a:solidFill>
                  <a:srgbClr val="1B2A3A"/>
                </a:solidFill>
                <a:latin typeface="Segoe UI" pitchFamily="34" charset="0"/>
                <a:ea typeface="Segoe UI" pitchFamily="34" charset="-122"/>
                <a:cs typeface="Segoe UI" pitchFamily="34" charset="-120"/>
              </a:rPr>
              <a:t> : celles sans responsable, celles dont le PV est à signer.</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Pour chacune : l’état, le calendrier (avis, date limite, ouverture), la commission et la cérémonie, la séance, le responsable.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responsable se désigne depuis la fiche.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RG-DAO-57</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113</a:t>
            </a:r>
            <a:endParaRPr lang="en-US" sz="1100" dirty="0"/>
          </a:p>
        </p:txBody>
      </p:sp>
    </p:spTree>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name="Slide 11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DAO · RESPONSABLE DE LA PROCÉDURE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paramètres internes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paramètres interne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responsable de la procédure, seul.</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Ce que la plateforme sait de la procédure </a:t>
            </a:r>
            <a:r>
              <a:rPr lang="en-US" sz="1200" b="1" dirty="0">
                <a:solidFill>
                  <a:srgbClr val="1B2A3A"/>
                </a:solidFill>
                <a:latin typeface="Segoe UI" pitchFamily="34" charset="0"/>
                <a:ea typeface="Segoe UI" pitchFamily="34" charset="-122"/>
                <a:cs typeface="Segoe UI" pitchFamily="34" charset="-120"/>
              </a:rPr>
              <a:t>sans jamais l’imprimer</a:t>
            </a:r>
            <a:r>
              <a:rPr lang="en-US" sz="1200" dirty="0">
                <a:solidFill>
                  <a:srgbClr val="1B2A3A"/>
                </a:solidFill>
                <a:latin typeface="Segoe UI" pitchFamily="34" charset="0"/>
                <a:ea typeface="Segoe UI" pitchFamily="34" charset="-122"/>
                <a:cs typeface="Segoe UI" pitchFamily="34" charset="-120"/>
              </a:rPr>
              <a:t> : les membres détenteurs d’une part de clé, le nombre de parts, le quorum de déchiffrement, la date de la cérémonie, le dépositaire de la part de secours.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membres se lisent ici, ils ne se choisissent pas : ils viennent de la décision de la PRMP.</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 avertissement quand le quorum égale le nombre de membres : une seule part perdue rendrait les offres illisibles.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RG-DAO-56 · RG-DAO-58</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114</a:t>
            </a:r>
            <a:endParaRPr lang="en-US" sz="1100" dirty="0"/>
          </a:p>
        </p:txBody>
      </p:sp>
    </p:spTree>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name="Slide 11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DAO · RESPONSABLE DE LA PROCÉDURE · MANUEL RÉVISÉ</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signature de l’offre et la cérémonie des clés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a signature de l’offre et la cérémonie des clé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responsable de la procédure.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 </a:t>
            </a:r>
            <a:r>
              <a:rPr lang="en-US" sz="1200" b="1" dirty="0">
                <a:solidFill>
                  <a:srgbClr val="1B2A3A"/>
                </a:solidFill>
                <a:latin typeface="Segoe UI" pitchFamily="34" charset="0"/>
                <a:ea typeface="Segoe UI" pitchFamily="34" charset="-122"/>
                <a:cs typeface="Segoe UI" pitchFamily="34" charset="-120"/>
              </a:rPr>
              <a:t>Signature de l’offre</a:t>
            </a:r>
            <a:r>
              <a:rPr lang="en-US" sz="1200" dirty="0">
                <a:solidFill>
                  <a:srgbClr val="1B2A3A"/>
                </a:solidFill>
                <a:latin typeface="Segoe UI" pitchFamily="34" charset="0"/>
                <a:ea typeface="Segoe UI" pitchFamily="34" charset="-122"/>
                <a:cs typeface="Segoe UI" pitchFamily="34" charset="-120"/>
              </a:rPr>
              <a:t> » : le dépôt scellé vaut signature pendant la procédure ; l’attributaire remet ensuite l’</a:t>
            </a:r>
            <a:r>
              <a:rPr lang="en-US" sz="1200" b="1" dirty="0">
                <a:solidFill>
                  <a:srgbClr val="1B2A3A"/>
                </a:solidFill>
                <a:latin typeface="Segoe UI" pitchFamily="34" charset="0"/>
                <a:ea typeface="Segoe UI" pitchFamily="34" charset="-122"/>
                <a:cs typeface="Segoe UI" pitchFamily="34" charset="-120"/>
              </a:rPr>
              <a:t>original signé</a:t>
            </a:r>
            <a:r>
              <a:rPr lang="en-US" sz="1200" dirty="0">
                <a:solidFill>
                  <a:srgbClr val="1B2A3A"/>
                </a:solidFill>
                <a:latin typeface="Segoe UI" pitchFamily="34" charset="0"/>
                <a:ea typeface="Segoe UI" pitchFamily="34" charset="-122"/>
                <a:cs typeface="Segoe UI" pitchFamily="34" charset="-120"/>
              </a:rPr>
              <a:t> de son acte d’engagement avant la signature du marché.</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signature électronique certifiée est réservée : elle n’est pas encore en service.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Plus bas, la cérémonie des clés close (3 parts, quorum 2), et l’empreinte de chaque clé publiée.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RG-DAO-51 · RG-DAO-58</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115</a:t>
            </a:r>
            <a:endParaRPr lang="en-US" sz="1100" dirty="0"/>
          </a:p>
        </p:txBody>
      </p:sp>
    </p:spTree>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name="Slide 11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ADMINISTRATEUR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fiche vue par l’Administrateur</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a fiche vue par l’Administrateur"/>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 en lecture.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fiche du dossier, en lecture : cadrage, informations, reprises, contrôles, versions figées (ici sept versions, en remise papier).</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Deux gestes qui lui sont propres : </a:t>
            </a:r>
            <a:r>
              <a:rPr lang="en-US" sz="1200" b="1" dirty="0">
                <a:solidFill>
                  <a:srgbClr val="1B2A3A"/>
                </a:solidFill>
                <a:latin typeface="Segoe UI" pitchFamily="34" charset="0"/>
                <a:ea typeface="Segoe UI" pitchFamily="34" charset="-122"/>
                <a:cs typeface="Segoe UI" pitchFamily="34" charset="-120"/>
              </a:rPr>
              <a:t>désigner le responsable</a:t>
            </a:r>
            <a:r>
              <a:rPr lang="en-US" sz="1200" dirty="0">
                <a:solidFill>
                  <a:srgbClr val="1B2A3A"/>
                </a:solidFill>
                <a:latin typeface="Segoe UI" pitchFamily="34" charset="0"/>
                <a:ea typeface="Segoe UI" pitchFamily="34" charset="-122"/>
                <a:cs typeface="Segoe UI" pitchFamily="34" charset="-120"/>
              </a:rPr>
              <a:t> de la procédure et </a:t>
            </a:r>
            <a:r>
              <a:rPr lang="en-US" sz="1200" b="1" dirty="0">
                <a:solidFill>
                  <a:srgbClr val="1B2A3A"/>
                </a:solidFill>
                <a:latin typeface="Segoe UI" pitchFamily="34" charset="0"/>
                <a:ea typeface="Segoe UI" pitchFamily="34" charset="-122"/>
                <a:cs typeface="Segoe UI" pitchFamily="34" charset="-120"/>
              </a:rPr>
              <a:t>migrer le mode de remise</a:t>
            </a:r>
            <a:r>
              <a:rPr lang="en-US" sz="1200" dirty="0">
                <a:solidFill>
                  <a:srgbClr val="1B2A3A"/>
                </a:solidFill>
                <a:latin typeface="Segoe UI" pitchFamily="34" charset="0"/>
                <a:ea typeface="Segoe UI" pitchFamily="34" charset="-122"/>
                <a:cs typeface="Segoe UI" pitchFamily="34" charset="-120"/>
              </a:rPr>
              <a: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RG-DAO-47 · RG-DAO-57</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116</a:t>
            </a:r>
            <a:endParaRPr lang="en-US" sz="1100" dirty="0"/>
          </a:p>
        </p:txBody>
      </p:sp>
    </p:spTree>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name="Slide 11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ADMINISTRATEUR · MANUEL RÉVISÉ</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Migrer le mode de remise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Migrer le mode de remis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 seul.</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migration fait passer une fiche figée en papier à la remise électronique : elle </a:t>
            </a:r>
            <a:r>
              <a:rPr lang="en-US" sz="1200" b="1" dirty="0">
                <a:solidFill>
                  <a:srgbClr val="1B2A3A"/>
                </a:solidFill>
                <a:latin typeface="Segoe UI" pitchFamily="34" charset="0"/>
                <a:ea typeface="Segoe UI" pitchFamily="34" charset="-122"/>
                <a:cs typeface="Segoe UI" pitchFamily="34" charset="-120"/>
              </a:rPr>
              <a:t>ouvre une révision</a:t>
            </a:r>
            <a:r>
              <a:rPr lang="en-US" sz="1200" dirty="0">
                <a:solidFill>
                  <a:srgbClr val="1B2A3A"/>
                </a:solidFill>
                <a:latin typeface="Segoe UI" pitchFamily="34" charset="0"/>
                <a:ea typeface="Segoe UI" pitchFamily="34" charset="-122"/>
                <a:cs typeface="Segoe UI" pitchFamily="34" charset="-120"/>
              </a:rPr>
              <a:t>, la version validée reste intacte.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 </a:t>
            </a:r>
            <a:r>
              <a:rPr lang="en-US" sz="1200" b="1" dirty="0">
                <a:solidFill>
                  <a:srgbClr val="1B2A3A"/>
                </a:solidFill>
                <a:latin typeface="Segoe UI" pitchFamily="34" charset="0"/>
                <a:ea typeface="Segoe UI" pitchFamily="34" charset="-122"/>
                <a:cs typeface="Segoe UI" pitchFamily="34" charset="-120"/>
              </a:rPr>
              <a:t>motif est obligatoire</a:t>
            </a:r>
            <a:r>
              <a:rPr lang="en-US" sz="1200" dirty="0">
                <a:solidFill>
                  <a:srgbClr val="1B2A3A"/>
                </a:solidFill>
                <a:latin typeface="Segoe UI" pitchFamily="34" charset="0"/>
                <a:ea typeface="Segoe UI" pitchFamily="34" charset="-122"/>
                <a:cs typeface="Segoe UI" pitchFamily="34" charset="-120"/>
              </a:rPr>
              <a:t> ; la migration est tracée au journal du plan et du dossier.</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PRMP complète ensuite ce que le nouveau mode exige, puis valide la nouvelle version.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RG-DAO-47 · RG-DAO-48</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117</a:t>
            </a:r>
            <a:endParaRPr lang="en-US" sz="1100" dirty="0"/>
          </a:p>
        </p:txBody>
      </p:sp>
    </p:spTree>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name="Slide 118">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PRÉPARER LE DAO</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Examiner, publier, répondre</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La Commission examine le dossier créé depuis la fiche. Après son avis favorable, l’avis se publie ; les candidats paient, retirent le DAO et posent leurs questions, sous le regard de la PRMP.</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118</a:t>
            </a:r>
            <a:endParaRPr lang="en-US" sz="1100" dirty="0"/>
          </a:p>
        </p:txBody>
      </p:sp>
    </p:spTree>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name="Slide 11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DAO · MEMBRE DE LA COMMISSION</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Commission lit la fiche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a Commission lit la fich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Membre de la Commission qui examine le dossier.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fiche marché du dossier examiné, </a:t>
            </a:r>
            <a:r>
              <a:rPr lang="en-US" sz="1200" b="1" dirty="0">
                <a:solidFill>
                  <a:srgbClr val="1B2A3A"/>
                </a:solidFill>
                <a:latin typeface="Segoe UI" pitchFamily="34" charset="0"/>
                <a:ea typeface="Segoe UI" pitchFamily="34" charset="-122"/>
                <a:cs typeface="Segoe UI" pitchFamily="34" charset="-120"/>
              </a:rPr>
              <a:t>en lecture</a:t>
            </a:r>
            <a:r>
              <a:rPr lang="en-US" sz="1200" dirty="0">
                <a:solidFill>
                  <a:srgbClr val="1B2A3A"/>
                </a:solidFill>
                <a:latin typeface="Segoe UI" pitchFamily="34" charset="0"/>
                <a:ea typeface="Segoe UI" pitchFamily="34" charset="-122"/>
                <a:cs typeface="Segoe UI" pitchFamily="34" charset="-120"/>
              </a:rPr>
              <a:t> : le cadrage, les informations saisies par la PRMP, les reprises, le bilan des contrôles et les documents produits.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versions figées, avec leur date : la Commission sait quelle version elle examine.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RG-DAO-36 · RG-DAO-37</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119</a:t>
            </a:r>
            <a:endParaRPr lang="en-US" sz="1100" dirty="0"/>
          </a:p>
        </p:txBody>
      </p:sp>
    </p:spTree>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name="Slide 12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DAO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L’avis spécifique et son projet</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avis spécifique et son projet"/>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PV signé avec un avis </a:t>
            </a:r>
            <a:r>
              <a:rPr lang="en-US" sz="1200" b="1" dirty="0">
                <a:solidFill>
                  <a:srgbClr val="1B2A3A"/>
                </a:solidFill>
                <a:latin typeface="Segoe UI" pitchFamily="34" charset="0"/>
                <a:ea typeface="Segoe UI" pitchFamily="34" charset="-122"/>
                <a:cs typeface="Segoe UI" pitchFamily="34" charset="-120"/>
              </a:rPr>
              <a:t>favorable</a:t>
            </a:r>
            <a:r>
              <a:rPr lang="en-US" sz="1200" dirty="0">
                <a:solidFill>
                  <a:srgbClr val="1B2A3A"/>
                </a:solidFill>
                <a:latin typeface="Segoe UI" pitchFamily="34" charset="0"/>
                <a:ea typeface="Segoe UI" pitchFamily="34" charset="-122"/>
                <a:cs typeface="Segoe UI" pitchFamily="34" charset="-120"/>
              </a:rPr>
              <a:t>, l’avis à publier s’imprime ; il reprend la dernière version validée de la fiche. Chaque impression est conservée.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Avant cela, le </a:t>
            </a:r>
            <a:r>
              <a:rPr lang="en-US" sz="1200" b="1" dirty="0">
                <a:solidFill>
                  <a:srgbClr val="1B2A3A"/>
                </a:solidFill>
                <a:latin typeface="Segoe UI" pitchFamily="34" charset="0"/>
                <a:ea typeface="Segoe UI" pitchFamily="34" charset="-122"/>
                <a:cs typeface="Segoe UI" pitchFamily="34" charset="-120"/>
              </a:rPr>
              <a:t>projet d’avis</a:t>
            </a:r>
            <a:r>
              <a:rPr lang="en-US" sz="1200" dirty="0">
                <a:solidFill>
                  <a:srgbClr val="1B2A3A"/>
                </a:solidFill>
                <a:latin typeface="Segoe UI" pitchFamily="34" charset="0"/>
                <a:ea typeface="Segoe UI" pitchFamily="34" charset="-122"/>
                <a:cs typeface="Segoe UI" pitchFamily="34" charset="-120"/>
              </a:rPr>
              <a:t> (PDF, Word) se lit dès la validation, en filigrane « PROJET » : il ne lance rien.</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relecture des mentions du modèle type ; la déclaration sans suite se demande depuis la même page.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RG-DAO-38 · RG-DAO-53 · RG-DAO-54</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120</a:t>
            </a:r>
            <a:endParaRPr lang="en-US" sz="1100" dirty="0"/>
          </a:p>
        </p:txBody>
      </p:sp>
    </p:spTree>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name="Slide 12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DAO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reçus des frais de dossier</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reçus des frais de dossier"/>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ou son UGPM.</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Chaque entreprise dépose le reçu de son versement sur le compte de l’ARMP ; elle ne retire le dossier qu’une fois le reçu </a:t>
            </a:r>
            <a:r>
              <a:rPr lang="en-US" sz="1200" b="1" dirty="0">
                <a:solidFill>
                  <a:srgbClr val="1B2A3A"/>
                </a:solidFill>
                <a:latin typeface="Segoe UI" pitchFamily="34" charset="0"/>
                <a:ea typeface="Segoe UI" pitchFamily="34" charset="-122"/>
                <a:cs typeface="Segoe UI" pitchFamily="34" charset="-120"/>
              </a:rPr>
              <a:t>validé</a:t>
            </a:r>
            <a:r>
              <a:rPr lang="en-US" sz="1200" dirty="0">
                <a:solidFill>
                  <a:srgbClr val="1B2A3A"/>
                </a:solidFill>
                <a:latin typeface="Segoe UI" pitchFamily="34" charset="0"/>
                <a:ea typeface="Segoe UI" pitchFamily="34" charset="-122"/>
                <a:cs typeface="Segoe UI" pitchFamily="34" charset="-120"/>
              </a:rPr>
              <a: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 montant inférieur aux frais est signalé ; un refus porte son motif, et l’entreprise dépose un nouveau reçu.</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Une décision </a:t>
            </a:r>
            <a:r>
              <a:rPr lang="en-US" sz="1200" b="1" dirty="0">
                <a:solidFill>
                  <a:srgbClr val="1B2A3A"/>
                </a:solidFill>
                <a:latin typeface="Segoe UI" pitchFamily="34" charset="0"/>
                <a:ea typeface="Segoe UI" pitchFamily="34" charset="-122"/>
                <a:cs typeface="Segoe UI" pitchFamily="34" charset="-120"/>
              </a:rPr>
              <a:t>ne se reprend pas</a:t>
            </a:r>
            <a:r>
              <a:rPr lang="en-US" sz="1200" dirty="0">
                <a:solidFill>
                  <a:srgbClr val="1B2A3A"/>
                </a:solidFill>
                <a:latin typeface="Segoe UI" pitchFamily="34" charset="0"/>
                <a:ea typeface="Segoe UI" pitchFamily="34" charset="-122"/>
                <a:cs typeface="Segoe UI" pitchFamily="34" charset="-120"/>
              </a:rPr>
              <a:t> : l’écran invite à comparer au relevé de l’ARMP avant de décider.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RG-DAO-59</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121</a:t>
            </a:r>
            <a:endParaRPr lang="en-US" sz="1100" dirty="0"/>
          </a:p>
        </p:txBody>
      </p:sp>
    </p:spTree>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name="Slide 12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DAO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registre des retraits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 registre des retrait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candidats qui ont retiré le dossier en ligne, du plus ancien au plus récent : date, compte, entreprise, NIF, document, version, reçu des frais.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C’est ce registre qui ouvre le droit de poser une question.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RG-DAO-60 · RG-DAO-49</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122</a:t>
            </a:r>
            <a:endParaRPr lang="en-US" sz="1100" dirty="0"/>
          </a:p>
        </p:txBody>
      </p:sp>
    </p:spTree>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name="Slide 12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DAO · PRMP · MANUEL RÉVISÉ</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questions des candidats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questions des candidat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 l’UGPM lit sans répondre.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candidats ayant retiré le dossier posent leurs questions jusqu’à </a:t>
            </a:r>
            <a:r>
              <a:rPr lang="en-US" sz="1200" b="1" dirty="0">
                <a:solidFill>
                  <a:srgbClr val="1B2A3A"/>
                </a:solidFill>
                <a:latin typeface="Segoe UI" pitchFamily="34" charset="0"/>
                <a:ea typeface="Segoe UI" pitchFamily="34" charset="-122"/>
                <a:cs typeface="Segoe UI" pitchFamily="34" charset="-120"/>
              </a:rPr>
              <a:t>dix jours avant la date limite</a:t>
            </a:r>
            <a:r>
              <a:rPr lang="en-US" sz="1200" dirty="0">
                <a:solidFill>
                  <a:srgbClr val="1B2A3A"/>
                </a:solidFill>
                <a:latin typeface="Segoe UI" pitchFamily="34" charset="0"/>
                <a:ea typeface="Segoe UI" pitchFamily="34" charset="-122"/>
                <a:cs typeface="Segoe UI" pitchFamily="34" charset="-120"/>
              </a:rPr>
              <a:t> (art. 35-II) ; l’écran dit quand elles sont closes.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réponse est </a:t>
            </a:r>
            <a:r>
              <a:rPr lang="en-US" sz="1200" b="1" dirty="0">
                <a:solidFill>
                  <a:srgbClr val="1B2A3A"/>
                </a:solidFill>
                <a:latin typeface="Segoe UI" pitchFamily="34" charset="0"/>
                <a:ea typeface="Segoe UI" pitchFamily="34" charset="-122"/>
                <a:cs typeface="Segoe UI" pitchFamily="34" charset="-120"/>
              </a:rPr>
              <a:t>diffusée dès son enregistrement</a:t>
            </a:r>
            <a:r>
              <a:rPr lang="en-US" sz="1200" dirty="0">
                <a:solidFill>
                  <a:srgbClr val="1B2A3A"/>
                </a:solidFill>
                <a:latin typeface="Segoe UI" pitchFamily="34" charset="0"/>
                <a:ea typeface="Segoe UI" pitchFamily="34" charset="-122"/>
                <a:cs typeface="Segoe UI" pitchFamily="34" charset="-120"/>
              </a:rPr>
              <a:t> : sur la page publique de la procédure, sans le nom de l’auteur, et à chaque candidat ayant retiré le dossier.</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Sur cette procédure de démonstration, aucune question n’a été posée.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RG-DAO-49 · RG-DAO-50</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123</a:t>
            </a:r>
            <a:endParaRPr lang="en-US" sz="1100" dirty="0"/>
          </a:p>
        </p:txBody>
      </p:sp>
    </p:spTree>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name="Slide 12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PRÉPARER LE DAO · EN RÉSUMÉ</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Ce que l’application garantit</a:t>
            </a:r>
            <a:endParaRPr lang="en-US" sz="2600" dirty="0"/>
          </a:p>
        </p:txBody>
      </p:sp>
      <p:sp>
        <p:nvSpPr>
          <p:cNvPr id="4" name="Shape 2"/>
          <p:cNvSpPr/>
          <p:nvPr/>
        </p:nvSpPr>
        <p:spPr>
          <a:xfrm>
            <a:off x="812780" y="1206500"/>
            <a:ext cx="3420448" cy="2159000"/>
          </a:xfrm>
          <a:prstGeom prst="rect">
            <a:avLst/>
          </a:prstGeom>
          <a:solidFill>
            <a:srgbClr val="FCFCFA"/>
          </a:solidFill>
          <a:ln w="9525">
            <a:solidFill>
              <a:srgbClr val="D5DCE4"/>
            </a:solidFill>
            <a:prstDash val="solid"/>
          </a:ln>
        </p:spPr>
        <p:txBody>
          <a:bodyPr/>
          <a:lstStyle/>
          <a:p>
            <a:endParaRPr lang="fr-FR"/>
          </a:p>
        </p:txBody>
      </p:sp>
      <p:sp>
        <p:nvSpPr>
          <p:cNvPr id="5" name="Shape 3"/>
          <p:cNvSpPr/>
          <p:nvPr/>
        </p:nvSpPr>
        <p:spPr>
          <a:xfrm>
            <a:off x="812780" y="1206500"/>
            <a:ext cx="3420448" cy="38100"/>
          </a:xfrm>
          <a:prstGeom prst="rect">
            <a:avLst/>
          </a:prstGeom>
          <a:solidFill>
            <a:srgbClr val="1B6FA8"/>
          </a:solidFill>
          <a:ln/>
        </p:spPr>
        <p:txBody>
          <a:bodyPr/>
          <a:lstStyle/>
          <a:p>
            <a:endParaRPr lang="fr-FR"/>
          </a:p>
        </p:txBody>
      </p:sp>
      <p:sp>
        <p:nvSpPr>
          <p:cNvPr id="6" name="Text 4"/>
          <p:cNvSpPr/>
          <p:nvPr/>
        </p:nvSpPr>
        <p:spPr>
          <a:xfrm>
            <a:off x="952476" y="13081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Une seule saisie, aucune contradiction</a:t>
            </a:r>
            <a:endParaRPr lang="en-US" sz="1500" dirty="0"/>
          </a:p>
        </p:txBody>
      </p:sp>
      <p:sp>
        <p:nvSpPr>
          <p:cNvPr id="7" name="Text 5"/>
          <p:cNvSpPr/>
          <p:nvPr/>
        </p:nvSpPr>
        <p:spPr>
          <a:xfrm>
            <a:off x="952476" y="17653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Ce que le plan de passation dit est repris et verrouillé ; une information saisie dans la fiche se reporte dans tous les documents qui l’utilisent.</a:t>
            </a:r>
            <a:endParaRPr lang="en-US" sz="1200" dirty="0"/>
          </a:p>
        </p:txBody>
      </p:sp>
      <p:sp>
        <p:nvSpPr>
          <p:cNvPr id="8" name="Shape 6"/>
          <p:cNvSpPr/>
          <p:nvPr/>
        </p:nvSpPr>
        <p:spPr>
          <a:xfrm>
            <a:off x="4385624" y="1206500"/>
            <a:ext cx="3420448" cy="2159000"/>
          </a:xfrm>
          <a:prstGeom prst="rect">
            <a:avLst/>
          </a:prstGeom>
          <a:solidFill>
            <a:srgbClr val="FCFCFA"/>
          </a:solidFill>
          <a:ln w="9525">
            <a:solidFill>
              <a:srgbClr val="D5DCE4"/>
            </a:solidFill>
            <a:prstDash val="solid"/>
          </a:ln>
        </p:spPr>
        <p:txBody>
          <a:bodyPr/>
          <a:lstStyle/>
          <a:p>
            <a:endParaRPr lang="fr-FR"/>
          </a:p>
        </p:txBody>
      </p:sp>
      <p:sp>
        <p:nvSpPr>
          <p:cNvPr id="9" name="Shape 7"/>
          <p:cNvSpPr/>
          <p:nvPr/>
        </p:nvSpPr>
        <p:spPr>
          <a:xfrm>
            <a:off x="4385624" y="1206500"/>
            <a:ext cx="3420448" cy="38100"/>
          </a:xfrm>
          <a:prstGeom prst="rect">
            <a:avLst/>
          </a:prstGeom>
          <a:solidFill>
            <a:srgbClr val="2E8B57"/>
          </a:solidFill>
          <a:ln/>
        </p:spPr>
        <p:txBody>
          <a:bodyPr/>
          <a:lstStyle/>
          <a:p>
            <a:endParaRPr lang="fr-FR"/>
          </a:p>
        </p:txBody>
      </p:sp>
      <p:sp>
        <p:nvSpPr>
          <p:cNvPr id="10" name="Text 8"/>
          <p:cNvSpPr/>
          <p:nvPr/>
        </p:nvSpPr>
        <p:spPr>
          <a:xfrm>
            <a:off x="4525320" y="1308100"/>
            <a:ext cx="3141055"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Les documents types de l’ARMP</a:t>
            </a:r>
            <a:endParaRPr lang="en-US" sz="1500" dirty="0"/>
          </a:p>
        </p:txBody>
      </p:sp>
      <p:sp>
        <p:nvSpPr>
          <p:cNvPr id="11" name="Text 9"/>
          <p:cNvSpPr/>
          <p:nvPr/>
        </p:nvSpPr>
        <p:spPr>
          <a:xfrm>
            <a:off x="4525320" y="1593850"/>
            <a:ext cx="3141055"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Le texte officiel est repris tel quel ; seuls les blancs sont remplis. Un modèle illisible arrête la production : un document ne sort jamais faux en silence.</a:t>
            </a:r>
            <a:endParaRPr lang="en-US" sz="1200" dirty="0"/>
          </a:p>
        </p:txBody>
      </p:sp>
      <p:sp>
        <p:nvSpPr>
          <p:cNvPr id="12" name="Shape 10"/>
          <p:cNvSpPr/>
          <p:nvPr/>
        </p:nvSpPr>
        <p:spPr>
          <a:xfrm>
            <a:off x="7958468" y="1206500"/>
            <a:ext cx="3420448" cy="2159000"/>
          </a:xfrm>
          <a:prstGeom prst="rect">
            <a:avLst/>
          </a:prstGeom>
          <a:solidFill>
            <a:srgbClr val="FCFCFA"/>
          </a:solidFill>
          <a:ln w="9525">
            <a:solidFill>
              <a:srgbClr val="D5DCE4"/>
            </a:solidFill>
            <a:prstDash val="solid"/>
          </a:ln>
        </p:spPr>
        <p:txBody>
          <a:bodyPr/>
          <a:lstStyle/>
          <a:p>
            <a:endParaRPr lang="fr-FR"/>
          </a:p>
        </p:txBody>
      </p:sp>
      <p:sp>
        <p:nvSpPr>
          <p:cNvPr id="13" name="Shape 11"/>
          <p:cNvSpPr/>
          <p:nvPr/>
        </p:nvSpPr>
        <p:spPr>
          <a:xfrm>
            <a:off x="7958468" y="1206500"/>
            <a:ext cx="3420448" cy="38100"/>
          </a:xfrm>
          <a:prstGeom prst="rect">
            <a:avLst/>
          </a:prstGeom>
          <a:solidFill>
            <a:srgbClr val="E3AE2E"/>
          </a:solidFill>
          <a:ln/>
        </p:spPr>
        <p:txBody>
          <a:bodyPr/>
          <a:lstStyle/>
          <a:p>
            <a:endParaRPr lang="fr-FR"/>
          </a:p>
        </p:txBody>
      </p:sp>
      <p:sp>
        <p:nvSpPr>
          <p:cNvPr id="14" name="Text 12"/>
          <p:cNvSpPr/>
          <p:nvPr/>
        </p:nvSpPr>
        <p:spPr>
          <a:xfrm>
            <a:off x="8098164" y="13081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Ce qui est examiné est ce qui est retiré</a:t>
            </a:r>
            <a:endParaRPr lang="en-US" sz="1500" dirty="0"/>
          </a:p>
        </p:txBody>
      </p:sp>
      <p:sp>
        <p:nvSpPr>
          <p:cNvPr id="15" name="Text 13"/>
          <p:cNvSpPr/>
          <p:nvPr/>
        </p:nvSpPr>
        <p:spPr>
          <a:xfrm>
            <a:off x="8098164" y="17653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La version validée est figée ; ses documents ne sont jamais régénérés. Toute correction passe par une nouvelle version, tracée.</a:t>
            </a:r>
            <a:endParaRPr lang="en-US" sz="1200" dirty="0"/>
          </a:p>
        </p:txBody>
      </p:sp>
      <p:sp>
        <p:nvSpPr>
          <p:cNvPr id="16" name="Shape 14"/>
          <p:cNvSpPr/>
          <p:nvPr/>
        </p:nvSpPr>
        <p:spPr>
          <a:xfrm>
            <a:off x="812780" y="3517900"/>
            <a:ext cx="3420448" cy="2159000"/>
          </a:xfrm>
          <a:prstGeom prst="rect">
            <a:avLst/>
          </a:prstGeom>
          <a:solidFill>
            <a:srgbClr val="FCFCFA"/>
          </a:solidFill>
          <a:ln w="9525">
            <a:solidFill>
              <a:srgbClr val="D5DCE4"/>
            </a:solidFill>
            <a:prstDash val="solid"/>
          </a:ln>
        </p:spPr>
        <p:txBody>
          <a:bodyPr/>
          <a:lstStyle/>
          <a:p>
            <a:endParaRPr lang="fr-FR"/>
          </a:p>
        </p:txBody>
      </p:sp>
      <p:sp>
        <p:nvSpPr>
          <p:cNvPr id="17" name="Shape 15"/>
          <p:cNvSpPr/>
          <p:nvPr/>
        </p:nvSpPr>
        <p:spPr>
          <a:xfrm>
            <a:off x="812780" y="3517900"/>
            <a:ext cx="3420448" cy="38100"/>
          </a:xfrm>
          <a:prstGeom prst="rect">
            <a:avLst/>
          </a:prstGeom>
          <a:solidFill>
            <a:srgbClr val="12324A"/>
          </a:solidFill>
          <a:ln/>
        </p:spPr>
        <p:txBody>
          <a:bodyPr/>
          <a:lstStyle/>
          <a:p>
            <a:endParaRPr lang="fr-FR"/>
          </a:p>
        </p:txBody>
      </p:sp>
      <p:sp>
        <p:nvSpPr>
          <p:cNvPr id="18" name="Text 16"/>
          <p:cNvSpPr/>
          <p:nvPr/>
        </p:nvSpPr>
        <p:spPr>
          <a:xfrm>
            <a:off x="952476" y="3619500"/>
            <a:ext cx="3141055"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Les délais de la loi vérifiés</a:t>
            </a:r>
            <a:endParaRPr lang="en-US" sz="1500" dirty="0"/>
          </a:p>
        </p:txBody>
      </p:sp>
      <p:sp>
        <p:nvSpPr>
          <p:cNvPr id="19" name="Text 17"/>
          <p:cNvSpPr/>
          <p:nvPr/>
        </p:nvSpPr>
        <p:spPr>
          <a:xfrm>
            <a:off x="952476" y="3905250"/>
            <a:ext cx="3141055"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Le délai de publicité (art. 35-II) est contrôlé à la validation de la fiche et à l’impression de l’avis ; l’avis ne s’imprime pas sans DAO complet (art. 31).</a:t>
            </a:r>
            <a:endParaRPr lang="en-US" sz="1200" dirty="0"/>
          </a:p>
        </p:txBody>
      </p:sp>
      <p:sp>
        <p:nvSpPr>
          <p:cNvPr id="20" name="Shape 18"/>
          <p:cNvSpPr/>
          <p:nvPr/>
        </p:nvSpPr>
        <p:spPr>
          <a:xfrm>
            <a:off x="4385624" y="3517900"/>
            <a:ext cx="3420448" cy="2159000"/>
          </a:xfrm>
          <a:prstGeom prst="rect">
            <a:avLst/>
          </a:prstGeom>
          <a:solidFill>
            <a:srgbClr val="FCFCFA"/>
          </a:solidFill>
          <a:ln w="9525">
            <a:solidFill>
              <a:srgbClr val="D5DCE4"/>
            </a:solidFill>
            <a:prstDash val="solid"/>
          </a:ln>
        </p:spPr>
        <p:txBody>
          <a:bodyPr/>
          <a:lstStyle/>
          <a:p>
            <a:endParaRPr lang="fr-FR"/>
          </a:p>
        </p:txBody>
      </p:sp>
      <p:sp>
        <p:nvSpPr>
          <p:cNvPr id="21" name="Shape 19"/>
          <p:cNvSpPr/>
          <p:nvPr/>
        </p:nvSpPr>
        <p:spPr>
          <a:xfrm>
            <a:off x="4385624" y="3517900"/>
            <a:ext cx="3420448" cy="38100"/>
          </a:xfrm>
          <a:prstGeom prst="rect">
            <a:avLst/>
          </a:prstGeom>
          <a:solidFill>
            <a:srgbClr val="1B6FA8"/>
          </a:solidFill>
          <a:ln/>
        </p:spPr>
        <p:txBody>
          <a:bodyPr/>
          <a:lstStyle/>
          <a:p>
            <a:endParaRPr lang="fr-FR"/>
          </a:p>
        </p:txBody>
      </p:sp>
      <p:sp>
        <p:nvSpPr>
          <p:cNvPr id="22" name="Text 20"/>
          <p:cNvSpPr/>
          <p:nvPr/>
        </p:nvSpPr>
        <p:spPr>
          <a:xfrm>
            <a:off x="4525320" y="36195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Un mode de remise qui ne bouge plus</a:t>
            </a:r>
            <a:endParaRPr lang="en-US" sz="1500" dirty="0"/>
          </a:p>
        </p:txBody>
      </p:sp>
      <p:sp>
        <p:nvSpPr>
          <p:cNvPr id="23" name="Text 21"/>
          <p:cNvSpPr/>
          <p:nvPr/>
        </p:nvSpPr>
        <p:spPr>
          <a:xfrm>
            <a:off x="4525320" y="40767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Papier ou électronique, le mode est fixé dès la première validation ; seule une migration motivée de l’Administrateur le change, avant tout dépôt en ligne.</a:t>
            </a:r>
            <a:endParaRPr lang="en-US" sz="1200" dirty="0"/>
          </a:p>
        </p:txBody>
      </p:sp>
      <p:sp>
        <p:nvSpPr>
          <p:cNvPr id="24" name="Shape 22"/>
          <p:cNvSpPr/>
          <p:nvPr/>
        </p:nvSpPr>
        <p:spPr>
          <a:xfrm>
            <a:off x="7958468" y="3517900"/>
            <a:ext cx="3420448" cy="2159000"/>
          </a:xfrm>
          <a:prstGeom prst="rect">
            <a:avLst/>
          </a:prstGeom>
          <a:solidFill>
            <a:srgbClr val="FCFCFA"/>
          </a:solidFill>
          <a:ln w="9525">
            <a:solidFill>
              <a:srgbClr val="D5DCE4"/>
            </a:solidFill>
            <a:prstDash val="solid"/>
          </a:ln>
        </p:spPr>
        <p:txBody>
          <a:bodyPr/>
          <a:lstStyle/>
          <a:p>
            <a:endParaRPr lang="fr-FR"/>
          </a:p>
        </p:txBody>
      </p:sp>
      <p:sp>
        <p:nvSpPr>
          <p:cNvPr id="25" name="Shape 23"/>
          <p:cNvSpPr/>
          <p:nvPr/>
        </p:nvSpPr>
        <p:spPr>
          <a:xfrm>
            <a:off x="7958468" y="3517900"/>
            <a:ext cx="3420448" cy="38100"/>
          </a:xfrm>
          <a:prstGeom prst="rect">
            <a:avLst/>
          </a:prstGeom>
          <a:solidFill>
            <a:srgbClr val="2E8B57"/>
          </a:solidFill>
          <a:ln/>
        </p:spPr>
        <p:txBody>
          <a:bodyPr/>
          <a:lstStyle/>
          <a:p>
            <a:endParaRPr lang="fr-FR"/>
          </a:p>
        </p:txBody>
      </p:sp>
      <p:sp>
        <p:nvSpPr>
          <p:cNvPr id="26" name="Text 24"/>
          <p:cNvSpPr/>
          <p:nvPr/>
        </p:nvSpPr>
        <p:spPr>
          <a:xfrm>
            <a:off x="8098164" y="3619500"/>
            <a:ext cx="3141055"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L’égalité entre candidats</a:t>
            </a:r>
            <a:endParaRPr lang="en-US" sz="1500" dirty="0"/>
          </a:p>
        </p:txBody>
      </p:sp>
      <p:sp>
        <p:nvSpPr>
          <p:cNvPr id="27" name="Text 25"/>
          <p:cNvSpPr/>
          <p:nvPr/>
        </p:nvSpPr>
        <p:spPr>
          <a:xfrm>
            <a:off x="8098164" y="3905250"/>
            <a:ext cx="3141055"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Retrait après paiement vérifié, registre des retraits, questions ouvertes jusqu’à J−10 et réponses diffusées à tous, sans nom d’auteur.</a:t>
            </a:r>
            <a:endParaRPr lang="en-US" sz="1200" dirty="0"/>
          </a:p>
        </p:txBody>
      </p:sp>
      <p:sp>
        <p:nvSpPr>
          <p:cNvPr id="28" name="Text 2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124</a:t>
            </a:r>
            <a:endParaRPr lang="en-US" sz="1100" dirty="0"/>
          </a:p>
        </p:txBody>
      </p:sp>
    </p:spTree>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name="Slide 125">
    <p:bg>
      <p:bgPr>
        <a:solidFill>
          <a:srgbClr val="12324A"/>
        </a:solidFill>
        <a:effectLst/>
      </p:bgPr>
    </p:bg>
    <p:spTree>
      <p:nvGrpSpPr>
        <p:cNvPr id="1" name=""/>
        <p:cNvGrpSpPr/>
        <p:nvPr/>
      </p:nvGrpSpPr>
      <p:grpSpPr>
        <a:xfrm>
          <a:off x="0" y="0"/>
          <a:ext cx="0" cy="0"/>
          <a:chOff x="0" y="0"/>
          <a:chExt cx="0" cy="0"/>
        </a:xfrm>
      </p:grpSpPr>
      <p:sp>
        <p:nvSpPr>
          <p:cNvPr id="2" name="Shape 0"/>
          <p:cNvSpPr/>
          <p:nvPr/>
        </p:nvSpPr>
        <p:spPr>
          <a:xfrm>
            <a:off x="0" y="0"/>
            <a:ext cx="152396" cy="6858000"/>
          </a:xfrm>
          <a:prstGeom prst="rect">
            <a:avLst/>
          </a:prstGeom>
          <a:solidFill>
            <a:srgbClr val="E3AE2E"/>
          </a:solidFill>
          <a:ln w="12700">
            <a:solidFill>
              <a:srgbClr val="E3AE2E"/>
            </a:solidFill>
            <a:prstDash val="solid"/>
          </a:ln>
        </p:spPr>
        <p:txBody>
          <a:bodyPr/>
          <a:lstStyle/>
          <a:p>
            <a:endParaRPr lang="fr-FR"/>
          </a:p>
        </p:txBody>
      </p:sp>
      <p:sp>
        <p:nvSpPr>
          <p:cNvPr id="3" name="Text 1"/>
          <p:cNvSpPr/>
          <p:nvPr/>
        </p:nvSpPr>
        <p:spPr>
          <a:xfrm>
            <a:off x="812780" y="698500"/>
            <a:ext cx="3809905" cy="952500"/>
          </a:xfrm>
          <a:prstGeom prst="rect">
            <a:avLst/>
          </a:prstGeom>
          <a:noFill/>
          <a:ln/>
        </p:spPr>
        <p:txBody>
          <a:bodyPr wrap="square" rtlCol="0" anchor="ctr"/>
          <a:lstStyle/>
          <a:p>
            <a:pPr marL="0" indent="0">
              <a:buNone/>
            </a:pPr>
            <a:r>
              <a:rPr lang="en-US" sz="7200" b="1" dirty="0">
                <a:solidFill>
                  <a:srgbClr val="E3AE2E"/>
                </a:solidFill>
                <a:latin typeface="Segoe UI" pitchFamily="34" charset="0"/>
                <a:ea typeface="Segoe UI" pitchFamily="34" charset="-122"/>
                <a:cs typeface="Segoe UI" pitchFamily="34" charset="-120"/>
              </a:rPr>
              <a:t>05</a:t>
            </a:r>
            <a:endParaRPr lang="en-US" sz="7200" dirty="0"/>
          </a:p>
        </p:txBody>
      </p:sp>
      <p:sp>
        <p:nvSpPr>
          <p:cNvPr id="4" name="Text 2"/>
          <p:cNvSpPr/>
          <p:nvPr/>
        </p:nvSpPr>
        <p:spPr>
          <a:xfrm>
            <a:off x="812780" y="1714500"/>
            <a:ext cx="10477238" cy="635000"/>
          </a:xfrm>
          <a:prstGeom prst="rect">
            <a:avLst/>
          </a:prstGeom>
          <a:noFill/>
          <a:ln/>
        </p:spPr>
        <p:txBody>
          <a:bodyPr wrap="square" rtlCol="0" anchor="ctr">
            <a:normAutofit/>
          </a:bodyPr>
          <a:lstStyle/>
          <a:p>
            <a:pPr marL="0" indent="0">
              <a:buNone/>
            </a:pPr>
            <a:r>
              <a:rPr lang="en-US" sz="4000" b="1" dirty="0">
                <a:solidFill>
                  <a:srgbClr val="FCFCFA"/>
                </a:solidFill>
                <a:latin typeface="Segoe UI" pitchFamily="34" charset="0"/>
                <a:ea typeface="Segoe UI" pitchFamily="34" charset="-122"/>
                <a:cs typeface="Segoe UI" pitchFamily="34" charset="-120"/>
              </a:rPr>
              <a:t>L’appel à manifestation d’intérêt</a:t>
            </a:r>
            <a:endParaRPr lang="en-US" sz="4000" dirty="0"/>
          </a:p>
        </p:txBody>
      </p:sp>
      <p:sp>
        <p:nvSpPr>
          <p:cNvPr id="5" name="Text 3"/>
          <p:cNvSpPr/>
          <p:nvPr/>
        </p:nvSpPr>
        <p:spPr>
          <a:xfrm>
            <a:off x="812780" y="2413000"/>
            <a:ext cx="10159746" cy="698500"/>
          </a:xfrm>
          <a:prstGeom prst="rect">
            <a:avLst/>
          </a:prstGeom>
          <a:noFill/>
          <a:ln/>
        </p:spPr>
        <p:txBody>
          <a:bodyPr wrap="square" rtlCol="0" anchor="t">
            <a:normAutofit/>
          </a:bodyPr>
          <a:lstStyle/>
          <a:p>
            <a:pPr marL="0" indent="0">
              <a:buNone/>
            </a:pPr>
            <a:r>
              <a:rPr lang="en-US" sz="1700" dirty="0">
                <a:solidFill>
                  <a:srgbClr val="C9D6E2"/>
                </a:solidFill>
                <a:latin typeface="Segoe UI" pitchFamily="34" charset="0"/>
                <a:ea typeface="Segoe UI" pitchFamily="34" charset="-122"/>
                <a:cs typeface="Segoe UI" pitchFamily="34" charset="-120"/>
              </a:rPr>
              <a:t>Pour les prestations intellectuelles, la liste restreinte des consultants naît d’un appel à manifestation d’intérêt mené dans l’application : publié, reçu en ligne, noté par la commission, arrêté dans un rapport signé (art. 42-II).</a:t>
            </a:r>
            <a:endParaRPr lang="en-US" sz="1700" dirty="0"/>
          </a:p>
        </p:txBody>
      </p:sp>
      <p:sp>
        <p:nvSpPr>
          <p:cNvPr id="6" name="Text 4"/>
          <p:cNvSpPr/>
          <p:nvPr/>
        </p:nvSpPr>
        <p:spPr>
          <a:xfrm>
            <a:off x="812780" y="3429000"/>
            <a:ext cx="5079873" cy="228600"/>
          </a:xfrm>
          <a:prstGeom prst="rect">
            <a:avLst/>
          </a:prstGeom>
          <a:noFill/>
          <a:ln/>
        </p:spPr>
        <p:txBody>
          <a:bodyPr wrap="square" rtlCol="0" anchor="ctr"/>
          <a:lstStyle/>
          <a:p>
            <a:pPr marL="0" indent="0">
              <a:buNone/>
            </a:pPr>
            <a:r>
              <a:rPr lang="en-US" sz="1200" b="1" kern="0" spc="200" dirty="0">
                <a:solidFill>
                  <a:srgbClr val="E3AE2E"/>
                </a:solidFill>
                <a:latin typeface="Segoe UI" pitchFamily="34" charset="0"/>
                <a:ea typeface="Segoe UI" pitchFamily="34" charset="-122"/>
                <a:cs typeface="Segoe UI" pitchFamily="34" charset="-120"/>
              </a:rPr>
              <a:t>CE QUE CELA CHANGE</a:t>
            </a:r>
            <a:endParaRPr lang="en-US" sz="1200" dirty="0"/>
          </a:p>
        </p:txBody>
      </p:sp>
      <p:sp>
        <p:nvSpPr>
          <p:cNvPr id="7" name="Text 5"/>
          <p:cNvSpPr/>
          <p:nvPr/>
        </p:nvSpPr>
        <p:spPr>
          <a:xfrm>
            <a:off x="812780" y="3714750"/>
            <a:ext cx="10286743" cy="2413000"/>
          </a:xfrm>
          <a:prstGeom prst="rect">
            <a:avLst/>
          </a:prstGeom>
          <a:noFill/>
          <a:ln/>
        </p:spPr>
        <p:txBody>
          <a:bodyPr wrap="square" rtlCol="0" anchor="t">
            <a:normAutofit/>
          </a:bodyPr>
          <a:lstStyle/>
          <a:p>
            <a:pPr marL="203200" indent="-203200">
              <a:spcAft>
                <a:spcPts val="800"/>
              </a:spcAft>
              <a:buSzPct val="100000"/>
              <a:buChar char="•"/>
            </a:pPr>
            <a:r>
              <a:rPr lang="en-US" sz="1500" dirty="0">
                <a:solidFill>
                  <a:srgbClr val="FCFCFA"/>
                </a:solidFill>
                <a:latin typeface="Segoe UI" pitchFamily="34" charset="0"/>
                <a:ea typeface="Segoe UI" pitchFamily="34" charset="-122"/>
                <a:cs typeface="Segoe UI" pitchFamily="34" charset="-120"/>
              </a:rPr>
              <a:t>La liste restreinte n’est plus une liste saisie : elle résulte d’une notation collégiale, critère par critère, chaque note portant son motif.</a:t>
            </a:r>
            <a:endParaRPr lang="en-US" sz="1500" dirty="0"/>
          </a:p>
          <a:p>
            <a:pPr marL="203200" indent="-203200">
              <a:spcAft>
                <a:spcPts val="800"/>
              </a:spcAft>
              <a:buSzPct val="100000"/>
              <a:buChar char="•"/>
            </a:pPr>
            <a:r>
              <a:rPr lang="en-US" sz="1500" dirty="0">
                <a:solidFill>
                  <a:srgbClr val="FCFCFA"/>
                </a:solidFill>
                <a:latin typeface="Segoe UI" pitchFamily="34" charset="0"/>
                <a:ea typeface="Segoe UI" pitchFamily="34" charset="-122"/>
                <a:cs typeface="Segoe UI" pitchFamily="34" charset="-120"/>
              </a:rPr>
              <a:t>Personne ne lit les expressions d’intérêt avant la date limite : jusque-là, l’administration n’en connaît que le nombre.</a:t>
            </a:r>
            <a:endParaRPr lang="en-US" sz="1500" dirty="0"/>
          </a:p>
          <a:p>
            <a:pPr marL="203200" indent="-203200">
              <a:spcAft>
                <a:spcPts val="800"/>
              </a:spcAft>
              <a:buSzPct val="100000"/>
              <a:buChar char="•"/>
            </a:pPr>
            <a:r>
              <a:rPr lang="en-US" sz="1500" dirty="0">
                <a:solidFill>
                  <a:srgbClr val="FCFCFA"/>
                </a:solidFill>
                <a:latin typeface="Segoe UI" pitchFamily="34" charset="0"/>
                <a:ea typeface="Segoe UI" pitchFamily="34" charset="-122"/>
                <a:cs typeface="Segoe UI" pitchFamily="34" charset="-120"/>
              </a:rPr>
              <a:t>Le rapport de présélection, signé des membres au quorum, vaut procès-verbal ; la liste définitive est publiée, notifiée à chaque candidat, et alimente d’office les lettres d’invitation.</a:t>
            </a:r>
            <a:endParaRPr lang="en-US" sz="1500" dirty="0"/>
          </a:p>
        </p:txBody>
      </p:sp>
      <p:sp>
        <p:nvSpPr>
          <p:cNvPr id="8"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8FA6BB"/>
                </a:solidFill>
                <a:latin typeface="Segoe UI" pitchFamily="34" charset="0"/>
                <a:ea typeface="Segoe UI" pitchFamily="34" charset="-122"/>
                <a:cs typeface="Segoe UI" pitchFamily="34" charset="-120"/>
              </a:rPr>
              <a:t>PRS 2.0 · L’application de bout en bout · dossier de recette · 125</a:t>
            </a:r>
            <a:endParaRPr lang="en-US" sz="1100" dirty="0"/>
          </a:p>
        </p:txBody>
      </p:sp>
    </p:spTree>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name="Slide 12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L’APPEL À MANIFESTATION D’INTÉRÊT · LE PARCOURS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De la ligne du plan à la liste restreinte</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La PRMP, aidée de son UGPM, prépare et publie l’appel ; les consultants déposent en ligne ; la commission d’appel d’offres note, son président arrête la liste, ses membres signent le rapport.</a:t>
            </a:r>
            <a:endParaRPr lang="en-US" sz="1300" dirty="0"/>
          </a:p>
        </p:txBody>
      </p:sp>
      <p:sp>
        <p:nvSpPr>
          <p:cNvPr id="5" name="Shape 3"/>
          <p:cNvSpPr/>
          <p:nvPr/>
        </p:nvSpPr>
        <p:spPr>
          <a:xfrm>
            <a:off x="812780" y="1778000"/>
            <a:ext cx="1389708" cy="1905000"/>
          </a:xfrm>
          <a:prstGeom prst="roundRect">
            <a:avLst>
              <a:gd name="adj" fmla="val 3948"/>
            </a:avLst>
          </a:prstGeom>
          <a:solidFill>
            <a:srgbClr val="FCFCFA"/>
          </a:solidFill>
          <a:ln w="19050">
            <a:solidFill>
              <a:srgbClr val="12324A"/>
            </a:solidFill>
            <a:prstDash val="solid"/>
          </a:ln>
        </p:spPr>
        <p:txBody>
          <a:bodyPr/>
          <a:lstStyle/>
          <a:p>
            <a:endParaRPr lang="fr-FR"/>
          </a:p>
        </p:txBody>
      </p:sp>
      <p:sp>
        <p:nvSpPr>
          <p:cNvPr id="6" name="Text 4"/>
          <p:cNvSpPr/>
          <p:nvPr/>
        </p:nvSpPr>
        <p:spPr>
          <a:xfrm>
            <a:off x="901677" y="1866900"/>
            <a:ext cx="12119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PRMP OU UGPM</a:t>
            </a:r>
            <a:endParaRPr lang="en-US" sz="1000" dirty="0"/>
          </a:p>
        </p:txBody>
      </p:sp>
      <p:sp>
        <p:nvSpPr>
          <p:cNvPr id="7" name="Text 5"/>
          <p:cNvSpPr/>
          <p:nvPr/>
        </p:nvSpPr>
        <p:spPr>
          <a:xfrm>
            <a:off x="901677" y="2095500"/>
            <a:ext cx="12119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Ouvrir la fiche</a:t>
            </a:r>
            <a:endParaRPr lang="en-US" sz="1400" dirty="0"/>
          </a:p>
        </p:txBody>
      </p:sp>
      <p:sp>
        <p:nvSpPr>
          <p:cNvPr id="8" name="Text 6"/>
          <p:cNvSpPr/>
          <p:nvPr/>
        </p:nvSpPr>
        <p:spPr>
          <a:xfrm>
            <a:off x="901677" y="2603500"/>
            <a:ext cx="12119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La ligne de prestations intellectuelles, en mode « Appel à manifestation d’intérêt », ouvre sa fiche comme un appel d’offres.</a:t>
            </a:r>
            <a:endParaRPr lang="en-US" sz="1150" dirty="0"/>
          </a:p>
        </p:txBody>
      </p:sp>
      <p:sp>
        <p:nvSpPr>
          <p:cNvPr id="9" name="Text 7"/>
          <p:cNvSpPr/>
          <p:nvPr/>
        </p:nvSpPr>
        <p:spPr>
          <a:xfrm>
            <a:off x="2189788"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10" name="Shape 8"/>
          <p:cNvSpPr/>
          <p:nvPr/>
        </p:nvSpPr>
        <p:spPr>
          <a:xfrm>
            <a:off x="2342184" y="1778000"/>
            <a:ext cx="1389708" cy="1905000"/>
          </a:xfrm>
          <a:prstGeom prst="roundRect">
            <a:avLst>
              <a:gd name="adj" fmla="val 3948"/>
            </a:avLst>
          </a:prstGeom>
          <a:solidFill>
            <a:srgbClr val="FCFCFA"/>
          </a:solidFill>
          <a:ln w="19050">
            <a:solidFill>
              <a:srgbClr val="12324A"/>
            </a:solidFill>
            <a:prstDash val="solid"/>
          </a:ln>
        </p:spPr>
        <p:txBody>
          <a:bodyPr/>
          <a:lstStyle/>
          <a:p>
            <a:endParaRPr lang="fr-FR"/>
          </a:p>
        </p:txBody>
      </p:sp>
      <p:sp>
        <p:nvSpPr>
          <p:cNvPr id="11" name="Text 9"/>
          <p:cNvSpPr/>
          <p:nvPr/>
        </p:nvSpPr>
        <p:spPr>
          <a:xfrm>
            <a:off x="2431082" y="1866900"/>
            <a:ext cx="12119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PRMP OU UGPM</a:t>
            </a:r>
            <a:endParaRPr lang="en-US" sz="1000" dirty="0"/>
          </a:p>
        </p:txBody>
      </p:sp>
      <p:sp>
        <p:nvSpPr>
          <p:cNvPr id="12" name="Text 10"/>
          <p:cNvSpPr/>
          <p:nvPr/>
        </p:nvSpPr>
        <p:spPr>
          <a:xfrm>
            <a:off x="2431082" y="2095500"/>
            <a:ext cx="12119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Préparer l’appel</a:t>
            </a:r>
            <a:endParaRPr lang="en-US" sz="1400" dirty="0"/>
          </a:p>
        </p:txBody>
      </p:sp>
      <p:sp>
        <p:nvSpPr>
          <p:cNvPr id="13" name="Text 11"/>
          <p:cNvSpPr/>
          <p:nvPr/>
        </p:nvSpPr>
        <p:spPr>
          <a:xfrm>
            <a:off x="2431082" y="2603500"/>
            <a:ext cx="12119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Critères pondérés sur 100, pièces attendues, note minimale, nombre de candidats retenus, date limite.</a:t>
            </a:r>
            <a:endParaRPr lang="en-US" sz="1150" dirty="0"/>
          </a:p>
        </p:txBody>
      </p:sp>
      <p:sp>
        <p:nvSpPr>
          <p:cNvPr id="14" name="Text 12"/>
          <p:cNvSpPr/>
          <p:nvPr/>
        </p:nvSpPr>
        <p:spPr>
          <a:xfrm>
            <a:off x="3719193"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15" name="Shape 13"/>
          <p:cNvSpPr/>
          <p:nvPr/>
        </p:nvSpPr>
        <p:spPr>
          <a:xfrm>
            <a:off x="3871589" y="1778000"/>
            <a:ext cx="1389708" cy="1905000"/>
          </a:xfrm>
          <a:prstGeom prst="roundRect">
            <a:avLst>
              <a:gd name="adj" fmla="val 3948"/>
            </a:avLst>
          </a:prstGeom>
          <a:solidFill>
            <a:srgbClr val="FCFCFA"/>
          </a:solidFill>
          <a:ln w="19050">
            <a:solidFill>
              <a:srgbClr val="12324A"/>
            </a:solidFill>
            <a:prstDash val="solid"/>
          </a:ln>
        </p:spPr>
        <p:txBody>
          <a:bodyPr/>
          <a:lstStyle/>
          <a:p>
            <a:endParaRPr lang="fr-FR"/>
          </a:p>
        </p:txBody>
      </p:sp>
      <p:sp>
        <p:nvSpPr>
          <p:cNvPr id="16" name="Text 14"/>
          <p:cNvSpPr/>
          <p:nvPr/>
        </p:nvSpPr>
        <p:spPr>
          <a:xfrm>
            <a:off x="3960487" y="1866900"/>
            <a:ext cx="12119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PRMP</a:t>
            </a:r>
            <a:endParaRPr lang="en-US" sz="1000" dirty="0"/>
          </a:p>
        </p:txBody>
      </p:sp>
      <p:sp>
        <p:nvSpPr>
          <p:cNvPr id="17" name="Text 15"/>
          <p:cNvSpPr/>
          <p:nvPr/>
        </p:nvSpPr>
        <p:spPr>
          <a:xfrm>
            <a:off x="3960487" y="2095500"/>
            <a:ext cx="12119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Publier</a:t>
            </a:r>
            <a:endParaRPr lang="en-US" sz="1400" dirty="0"/>
          </a:p>
        </p:txBody>
      </p:sp>
      <p:sp>
        <p:nvSpPr>
          <p:cNvPr id="18" name="Text 16"/>
          <p:cNvSpPr/>
          <p:nvPr/>
        </p:nvSpPr>
        <p:spPr>
          <a:xfrm>
            <a:off x="3960487" y="2603500"/>
            <a:ext cx="12119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Les supports déclarés, l’avis signé électroniquement : l’appel est figé et le dépôt s’ouvre.</a:t>
            </a:r>
            <a:endParaRPr lang="en-US" sz="1150" dirty="0"/>
          </a:p>
        </p:txBody>
      </p:sp>
      <p:sp>
        <p:nvSpPr>
          <p:cNvPr id="19" name="Text 17"/>
          <p:cNvSpPr/>
          <p:nvPr/>
        </p:nvSpPr>
        <p:spPr>
          <a:xfrm>
            <a:off x="5248597"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20" name="Shape 18"/>
          <p:cNvSpPr/>
          <p:nvPr/>
        </p:nvSpPr>
        <p:spPr>
          <a:xfrm>
            <a:off x="5400994" y="1778000"/>
            <a:ext cx="1389708" cy="1905000"/>
          </a:xfrm>
          <a:prstGeom prst="roundRect">
            <a:avLst>
              <a:gd name="adj" fmla="val 3948"/>
            </a:avLst>
          </a:prstGeom>
          <a:solidFill>
            <a:srgbClr val="FCFCFA"/>
          </a:solidFill>
          <a:ln w="19050">
            <a:solidFill>
              <a:srgbClr val="12324A"/>
            </a:solidFill>
            <a:prstDash val="solid"/>
          </a:ln>
        </p:spPr>
        <p:txBody>
          <a:bodyPr/>
          <a:lstStyle/>
          <a:p>
            <a:endParaRPr lang="fr-FR"/>
          </a:p>
        </p:txBody>
      </p:sp>
      <p:sp>
        <p:nvSpPr>
          <p:cNvPr id="21" name="Text 19"/>
          <p:cNvSpPr/>
          <p:nvPr/>
        </p:nvSpPr>
        <p:spPr>
          <a:xfrm>
            <a:off x="5489891" y="1866900"/>
            <a:ext cx="12119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CANDIDATS</a:t>
            </a:r>
            <a:endParaRPr lang="en-US" sz="1000" dirty="0"/>
          </a:p>
        </p:txBody>
      </p:sp>
      <p:sp>
        <p:nvSpPr>
          <p:cNvPr id="22" name="Text 20"/>
          <p:cNvSpPr/>
          <p:nvPr/>
        </p:nvSpPr>
        <p:spPr>
          <a:xfrm>
            <a:off x="5489891" y="2095500"/>
            <a:ext cx="12119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Recevoir les expressions</a:t>
            </a:r>
            <a:endParaRPr lang="en-US" sz="1400" dirty="0"/>
          </a:p>
        </p:txBody>
      </p:sp>
      <p:sp>
        <p:nvSpPr>
          <p:cNvPr id="23" name="Text 21"/>
          <p:cNvSpPr/>
          <p:nvPr/>
        </p:nvSpPr>
        <p:spPr>
          <a:xfrm>
            <a:off x="5489891" y="2603500"/>
            <a:ext cx="12119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Les consultants déposent en ligne ; on n’en voit que le nombre jusqu’à la date limite.</a:t>
            </a:r>
            <a:endParaRPr lang="en-US" sz="1150" dirty="0"/>
          </a:p>
        </p:txBody>
      </p:sp>
      <p:sp>
        <p:nvSpPr>
          <p:cNvPr id="24" name="Text 22"/>
          <p:cNvSpPr/>
          <p:nvPr/>
        </p:nvSpPr>
        <p:spPr>
          <a:xfrm>
            <a:off x="6778002"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25" name="Shape 23"/>
          <p:cNvSpPr/>
          <p:nvPr/>
        </p:nvSpPr>
        <p:spPr>
          <a:xfrm>
            <a:off x="6930398" y="1778000"/>
            <a:ext cx="1389708" cy="1905000"/>
          </a:xfrm>
          <a:prstGeom prst="roundRect">
            <a:avLst>
              <a:gd name="adj" fmla="val 3948"/>
            </a:avLst>
          </a:prstGeom>
          <a:solidFill>
            <a:srgbClr val="FCFCFA"/>
          </a:solidFill>
          <a:ln w="19050">
            <a:solidFill>
              <a:srgbClr val="12324A"/>
            </a:solidFill>
            <a:prstDash val="solid"/>
          </a:ln>
        </p:spPr>
        <p:txBody>
          <a:bodyPr/>
          <a:lstStyle/>
          <a:p>
            <a:endParaRPr lang="fr-FR"/>
          </a:p>
        </p:txBody>
      </p:sp>
      <p:sp>
        <p:nvSpPr>
          <p:cNvPr id="26" name="Text 24"/>
          <p:cNvSpPr/>
          <p:nvPr/>
        </p:nvSpPr>
        <p:spPr>
          <a:xfrm>
            <a:off x="7019296" y="1866900"/>
            <a:ext cx="12119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MEMBRES DE LA COMMISSION</a:t>
            </a:r>
            <a:endParaRPr lang="en-US" sz="1000" dirty="0"/>
          </a:p>
        </p:txBody>
      </p:sp>
      <p:sp>
        <p:nvSpPr>
          <p:cNvPr id="27" name="Text 25"/>
          <p:cNvSpPr/>
          <p:nvPr/>
        </p:nvSpPr>
        <p:spPr>
          <a:xfrm>
            <a:off x="7019296" y="2095500"/>
            <a:ext cx="12119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Déclarer, puis noter</a:t>
            </a:r>
            <a:endParaRPr lang="en-US" sz="1400" dirty="0"/>
          </a:p>
        </p:txBody>
      </p:sp>
      <p:sp>
        <p:nvSpPr>
          <p:cNvPr id="28" name="Text 26"/>
          <p:cNvSpPr/>
          <p:nvPr/>
        </p:nvSpPr>
        <p:spPr>
          <a:xfrm>
            <a:off x="7019296" y="2603500"/>
            <a:ext cx="12119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Chaque membre signe sa déclaration d’intérêts, puis note chaque expression, critère par critère, avec un motif.</a:t>
            </a:r>
            <a:endParaRPr lang="en-US" sz="1150" dirty="0"/>
          </a:p>
        </p:txBody>
      </p:sp>
      <p:sp>
        <p:nvSpPr>
          <p:cNvPr id="29" name="Text 27"/>
          <p:cNvSpPr/>
          <p:nvPr/>
        </p:nvSpPr>
        <p:spPr>
          <a:xfrm>
            <a:off x="8307407"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30" name="Shape 28"/>
          <p:cNvSpPr/>
          <p:nvPr/>
        </p:nvSpPr>
        <p:spPr>
          <a:xfrm>
            <a:off x="8459803" y="1778000"/>
            <a:ext cx="1389708" cy="1905000"/>
          </a:xfrm>
          <a:prstGeom prst="roundRect">
            <a:avLst>
              <a:gd name="adj" fmla="val 3948"/>
            </a:avLst>
          </a:prstGeom>
          <a:solidFill>
            <a:srgbClr val="FCFCFA"/>
          </a:solidFill>
          <a:ln w="19050">
            <a:solidFill>
              <a:srgbClr val="12324A"/>
            </a:solidFill>
            <a:prstDash val="solid"/>
          </a:ln>
        </p:spPr>
        <p:txBody>
          <a:bodyPr/>
          <a:lstStyle/>
          <a:p>
            <a:endParaRPr lang="fr-FR"/>
          </a:p>
        </p:txBody>
      </p:sp>
      <p:sp>
        <p:nvSpPr>
          <p:cNvPr id="31" name="Text 29"/>
          <p:cNvSpPr/>
          <p:nvPr/>
        </p:nvSpPr>
        <p:spPr>
          <a:xfrm>
            <a:off x="8548701" y="1866900"/>
            <a:ext cx="12119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PRÉSIDENT ET MEMBRES DE LA COMMISSION</a:t>
            </a:r>
            <a:endParaRPr lang="en-US" sz="1000" dirty="0"/>
          </a:p>
        </p:txBody>
      </p:sp>
      <p:sp>
        <p:nvSpPr>
          <p:cNvPr id="32" name="Text 30"/>
          <p:cNvSpPr/>
          <p:nvPr/>
        </p:nvSpPr>
        <p:spPr>
          <a:xfrm>
            <a:off x="8548701" y="2095500"/>
            <a:ext cx="12119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Arrêter la liste, signer le rapport</a:t>
            </a:r>
            <a:endParaRPr lang="en-US" sz="1400" dirty="0"/>
          </a:p>
        </p:txBody>
      </p:sp>
      <p:sp>
        <p:nvSpPr>
          <p:cNvPr id="33" name="Text 31"/>
          <p:cNvSpPr/>
          <p:nvPr/>
        </p:nvSpPr>
        <p:spPr>
          <a:xfrm>
            <a:off x="8548701" y="2603500"/>
            <a:ext cx="12119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Le président arrête la liste des premières qualifiées ; le rapport est signé des membres, au quorum.</a:t>
            </a:r>
            <a:endParaRPr lang="en-US" sz="1150" dirty="0"/>
          </a:p>
        </p:txBody>
      </p:sp>
      <p:sp>
        <p:nvSpPr>
          <p:cNvPr id="34" name="Text 32"/>
          <p:cNvSpPr/>
          <p:nvPr/>
        </p:nvSpPr>
        <p:spPr>
          <a:xfrm>
            <a:off x="9836811"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35" name="Shape 33"/>
          <p:cNvSpPr/>
          <p:nvPr/>
        </p:nvSpPr>
        <p:spPr>
          <a:xfrm>
            <a:off x="9989207" y="1778000"/>
            <a:ext cx="1389708" cy="1905000"/>
          </a:xfrm>
          <a:prstGeom prst="roundRect">
            <a:avLst>
              <a:gd name="adj" fmla="val 3948"/>
            </a:avLst>
          </a:prstGeom>
          <a:solidFill>
            <a:srgbClr val="12324A"/>
          </a:solidFill>
          <a:ln w="19050">
            <a:solidFill>
              <a:srgbClr val="12324A"/>
            </a:solidFill>
            <a:prstDash val="solid"/>
          </a:ln>
        </p:spPr>
        <p:txBody>
          <a:bodyPr/>
          <a:lstStyle/>
          <a:p>
            <a:endParaRPr lang="fr-FR"/>
          </a:p>
        </p:txBody>
      </p:sp>
      <p:sp>
        <p:nvSpPr>
          <p:cNvPr id="36" name="Text 34"/>
          <p:cNvSpPr/>
          <p:nvPr/>
        </p:nvSpPr>
        <p:spPr>
          <a:xfrm>
            <a:off x="10078105" y="1866900"/>
            <a:ext cx="1211913" cy="215900"/>
          </a:xfrm>
          <a:prstGeom prst="rect">
            <a:avLst/>
          </a:prstGeom>
          <a:noFill/>
          <a:ln/>
        </p:spPr>
        <p:txBody>
          <a:bodyPr wrap="square" rtlCol="0" anchor="ctr">
            <a:normAutofit/>
          </a:bodyPr>
          <a:lstStyle/>
          <a:p>
            <a:pPr marL="0" indent="0">
              <a:buNone/>
            </a:pPr>
            <a:r>
              <a:rPr lang="en-US" sz="1000" b="1" dirty="0">
                <a:solidFill>
                  <a:srgbClr val="E3AE2E"/>
                </a:solidFill>
                <a:latin typeface="Segoe UI" pitchFamily="34" charset="0"/>
                <a:ea typeface="Segoe UI" pitchFamily="34" charset="-122"/>
                <a:cs typeface="Segoe UI" pitchFamily="34" charset="-120"/>
              </a:rPr>
              <a:t>PRMP</a:t>
            </a:r>
            <a:endParaRPr lang="en-US" sz="1000" dirty="0"/>
          </a:p>
        </p:txBody>
      </p:sp>
      <p:sp>
        <p:nvSpPr>
          <p:cNvPr id="37" name="Text 35"/>
          <p:cNvSpPr/>
          <p:nvPr/>
        </p:nvSpPr>
        <p:spPr>
          <a:xfrm>
            <a:off x="10078105" y="2095500"/>
            <a:ext cx="1211913" cy="508000"/>
          </a:xfrm>
          <a:prstGeom prst="rect">
            <a:avLst/>
          </a:prstGeom>
          <a:noFill/>
          <a:ln/>
        </p:spPr>
        <p:txBody>
          <a:bodyPr wrap="square" rtlCol="0" anchor="t">
            <a:normAutofit/>
          </a:bodyPr>
          <a:lstStyle/>
          <a:p>
            <a:pPr marL="0" indent="0">
              <a:buNone/>
            </a:pPr>
            <a:r>
              <a:rPr lang="en-US" sz="1400" b="1" dirty="0">
                <a:solidFill>
                  <a:srgbClr val="FCFCFA"/>
                </a:solidFill>
                <a:latin typeface="Segoe UI" pitchFamily="34" charset="0"/>
                <a:ea typeface="Segoe UI" pitchFamily="34" charset="-122"/>
                <a:cs typeface="Segoe UI" pitchFamily="34" charset="-120"/>
              </a:rPr>
              <a:t>La liste définitive</a:t>
            </a:r>
            <a:endParaRPr lang="en-US" sz="1400" dirty="0"/>
          </a:p>
        </p:txBody>
      </p:sp>
      <p:sp>
        <p:nvSpPr>
          <p:cNvPr id="38" name="Text 36"/>
          <p:cNvSpPr/>
          <p:nvPr/>
        </p:nvSpPr>
        <p:spPr>
          <a:xfrm>
            <a:off x="10078105" y="2603500"/>
            <a:ext cx="1211913" cy="1016000"/>
          </a:xfrm>
          <a:prstGeom prst="rect">
            <a:avLst/>
          </a:prstGeom>
          <a:noFill/>
          <a:ln/>
        </p:spPr>
        <p:txBody>
          <a:bodyPr wrap="square" rtlCol="0" anchor="t">
            <a:normAutofit/>
          </a:bodyPr>
          <a:lstStyle/>
          <a:p>
            <a:pPr marL="0" indent="0">
              <a:buNone/>
            </a:pPr>
            <a:r>
              <a:rPr lang="en-US" sz="1150" dirty="0">
                <a:solidFill>
                  <a:srgbClr val="C9D6E2"/>
                </a:solidFill>
                <a:latin typeface="Segoe UI" pitchFamily="34" charset="0"/>
                <a:ea typeface="Segoe UI" pitchFamily="34" charset="-122"/>
                <a:cs typeface="Segoe UI" pitchFamily="34" charset="-120"/>
              </a:rPr>
              <a:t>Publiée et notifiée ; les lettres d’invitation et la demande de propositions peuvent suivre.</a:t>
            </a:r>
            <a:endParaRPr lang="en-US" sz="1150" dirty="0"/>
          </a:p>
        </p:txBody>
      </p:sp>
      <p:sp>
        <p:nvSpPr>
          <p:cNvPr id="39" name="Text 37"/>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126</a:t>
            </a:r>
            <a:endParaRPr lang="en-US" sz="1100" dirty="0"/>
          </a:p>
        </p:txBody>
      </p:sp>
    </p:spTree>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name="Slide 127">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L’APPEL À MANIFESTATION D’INTÉRÊT</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Préparer et publier l’appel</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L’appel naît sur la fiche de la ligne du plan, comme un appel d’offres. La PRMP en fixe les critères, puis le publie : à partir de là, plus rien ne change.</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127</a:t>
            </a:r>
            <a:endParaRPr lang="en-US" sz="1100" dirty="0"/>
          </a:p>
        </p:txBody>
      </p:sp>
    </p:spTree>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name="Slide 12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AMI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Une fiche de prestations intellectuelles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Une fiche de prestations intellectuelle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ou son UGPM.</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ligne du plan, en mode </a:t>
            </a:r>
            <a:r>
              <a:rPr lang="en-US" sz="1200" b="1" dirty="0">
                <a:solidFill>
                  <a:srgbClr val="1B2A3A"/>
                </a:solidFill>
                <a:latin typeface="Segoe UI" pitchFamily="34" charset="0"/>
                <a:ea typeface="Segoe UI" pitchFamily="34" charset="-122"/>
                <a:cs typeface="Segoe UI" pitchFamily="34" charset="-120"/>
              </a:rPr>
              <a:t>« Appel à manifestation d’intérêt »</a:t>
            </a:r>
            <a:r>
              <a:rPr lang="en-US" sz="1200" dirty="0">
                <a:solidFill>
                  <a:srgbClr val="1B2A3A"/>
                </a:solidFill>
                <a:latin typeface="Segoe UI" pitchFamily="34" charset="0"/>
                <a:ea typeface="Segoe UI" pitchFamily="34" charset="-122"/>
                <a:cs typeface="Segoe UI" pitchFamily="34" charset="-120"/>
              </a:rPr>
              <a:t>, ouvre sa fiche comme les autres ; l’en-tête porte le lien vers l’appel.</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fiche prépare ensuite la demande de propositions : données particulières, acte d’engagement, CCAP.</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Ce que le plan dit est repris : il annonce un lot, le marché est donc non alloti.</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RG-AMI-01 · RG-AMI-02</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128</a:t>
            </a:r>
            <a:endParaRPr lang="en-US" sz="1100" dirty="0"/>
          </a:p>
        </p:txBody>
      </p:sp>
    </p:spTree>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name="Slide 12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AMI · PRMP OU UGPM</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Préparer l’appel</a:t>
            </a:r>
            <a:endParaRPr lang="en-US" sz="2600" dirty="0"/>
          </a:p>
        </p:txBody>
      </p:sp>
      <p:sp>
        <p:nvSpPr>
          <p:cNvPr id="4" name="Shape 2"/>
          <p:cNvSpPr/>
          <p:nvPr/>
        </p:nvSpPr>
        <p:spPr>
          <a:xfrm>
            <a:off x="800080" y="1193800"/>
            <a:ext cx="7327717" cy="4589463"/>
          </a:xfrm>
          <a:prstGeom prst="rect">
            <a:avLst/>
          </a:prstGeom>
          <a:solidFill>
            <a:srgbClr val="FCFCFA"/>
          </a:solidFill>
          <a:ln w="9525">
            <a:solidFill>
              <a:srgbClr val="D5DCE4"/>
            </a:solidFill>
            <a:prstDash val="solid"/>
          </a:ln>
        </p:spPr>
        <p:txBody>
          <a:bodyPr/>
          <a:lstStyle/>
          <a:p>
            <a:endParaRPr lang="fr-FR"/>
          </a:p>
        </p:txBody>
      </p:sp>
      <p:pic>
        <p:nvPicPr>
          <p:cNvPr id="5" name="Image 0" descr="Préparer l’appel"/>
          <p:cNvPicPr>
            <a:picLocks noChangeAspect="1"/>
          </p:cNvPicPr>
          <p:nvPr/>
        </p:nvPicPr>
        <p:blipFill>
          <a:blip r:embed="rId3"/>
          <a:stretch>
            <a:fillRect/>
          </a:stretch>
        </p:blipFill>
        <p:spPr>
          <a:xfrm>
            <a:off x="812780" y="1206500"/>
            <a:ext cx="7302317" cy="4564063"/>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ou son UGPM, avant la publication.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date limite de dépôt et les </a:t>
            </a:r>
            <a:r>
              <a:rPr lang="en-US" sz="1200" b="1" dirty="0">
                <a:solidFill>
                  <a:srgbClr val="1B2A3A"/>
                </a:solidFill>
                <a:latin typeface="Segoe UI" pitchFamily="34" charset="0"/>
                <a:ea typeface="Segoe UI" pitchFamily="34" charset="-122"/>
                <a:cs typeface="Segoe UI" pitchFamily="34" charset="-120"/>
              </a:rPr>
              <a:t>critères de sélection</a:t>
            </a:r>
            <a:r>
              <a:rPr lang="en-US" sz="1200" dirty="0">
                <a:solidFill>
                  <a:srgbClr val="1B2A3A"/>
                </a:solidFill>
                <a:latin typeface="Segoe UI" pitchFamily="34" charset="0"/>
                <a:ea typeface="Segoe UI" pitchFamily="34" charset="-122"/>
                <a:cs typeface="Segoe UI" pitchFamily="34" charset="-120"/>
              </a:rPr>
              <a:t>, chacun avec ses points : le total sur 100 est affiché.</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pièces attendues, exigées au dépôt une par une, en PDF ou en image.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RG-AMI-03 · RG-AMI-04 · RG-AMI-05</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129</a:t>
            </a:r>
            <a:endParaRPr lang="en-US" sz="1100" dirty="0"/>
          </a:p>
        </p:txBody>
      </p:sp>
    </p:spTree>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name="Slide 13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AMI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Publier l’appel</a:t>
            </a:r>
            <a:endParaRPr lang="en-US" sz="2600" dirty="0"/>
          </a:p>
        </p:txBody>
      </p:sp>
      <p:sp>
        <p:nvSpPr>
          <p:cNvPr id="4" name="Shape 2"/>
          <p:cNvSpPr/>
          <p:nvPr/>
        </p:nvSpPr>
        <p:spPr>
          <a:xfrm>
            <a:off x="800080" y="1193800"/>
            <a:ext cx="7327717" cy="4589463"/>
          </a:xfrm>
          <a:prstGeom prst="rect">
            <a:avLst/>
          </a:prstGeom>
          <a:solidFill>
            <a:srgbClr val="FCFCFA"/>
          </a:solidFill>
          <a:ln w="9525">
            <a:solidFill>
              <a:srgbClr val="D5DCE4"/>
            </a:solidFill>
            <a:prstDash val="solid"/>
          </a:ln>
        </p:spPr>
        <p:txBody>
          <a:bodyPr/>
          <a:lstStyle/>
          <a:p>
            <a:endParaRPr lang="fr-FR"/>
          </a:p>
        </p:txBody>
      </p:sp>
      <p:pic>
        <p:nvPicPr>
          <p:cNvPr id="5" name="Image 0" descr="Publier l’appel"/>
          <p:cNvPicPr>
            <a:picLocks noChangeAspect="1"/>
          </p:cNvPicPr>
          <p:nvPr/>
        </p:nvPicPr>
        <p:blipFill>
          <a:blip r:embed="rId3"/>
          <a:stretch>
            <a:fillRect/>
          </a:stretch>
        </p:blipFill>
        <p:spPr>
          <a:xfrm>
            <a:off x="812780" y="1206500"/>
            <a:ext cx="7302317" cy="4564063"/>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seule.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note minimale (facultative) et le nombre de candidats retenus sur la liste restreinte : </a:t>
            </a:r>
            <a:r>
              <a:rPr lang="en-US" sz="1200" b="1" dirty="0">
                <a:solidFill>
                  <a:srgbClr val="1B2A3A"/>
                </a:solidFill>
                <a:latin typeface="Segoe UI" pitchFamily="34" charset="0"/>
                <a:ea typeface="Segoe UI" pitchFamily="34" charset="-122"/>
                <a:cs typeface="Segoe UI" pitchFamily="34" charset="-120"/>
              </a:rPr>
              <a:t>six</a:t>
            </a:r>
            <a:r>
              <a:rPr lang="en-US" sz="1200" dirty="0">
                <a:solidFill>
                  <a:srgbClr val="1B2A3A"/>
                </a:solidFill>
                <a:latin typeface="Segoe UI" pitchFamily="34" charset="0"/>
                <a:ea typeface="Segoe UI" pitchFamily="34" charset="-122"/>
                <a:cs typeface="Segoe UI" pitchFamily="34" charset="-120"/>
              </a:rPr>
              <a:t> par défaut.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a:t>
            </a:r>
            <a:r>
              <a:rPr lang="en-US" sz="1200" b="1" dirty="0">
                <a:solidFill>
                  <a:srgbClr val="1B2A3A"/>
                </a:solidFill>
                <a:latin typeface="Segoe UI" pitchFamily="34" charset="0"/>
                <a:ea typeface="Segoe UI" pitchFamily="34" charset="-122"/>
                <a:cs typeface="Segoe UI" pitchFamily="34" charset="-120"/>
              </a:rPr>
              <a:t>projet d’avis</a:t>
            </a:r>
            <a:r>
              <a:rPr lang="en-US" sz="1200" dirty="0">
                <a:solidFill>
                  <a:srgbClr val="1B2A3A"/>
                </a:solidFill>
                <a:latin typeface="Segoe UI" pitchFamily="34" charset="0"/>
                <a:ea typeface="Segoe UI" pitchFamily="34" charset="-122"/>
                <a:cs typeface="Segoe UI" pitchFamily="34" charset="-120"/>
              </a:rPr>
              <a:t> suit chaque enregistrement ; il se fige à la publication.</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 Publier » : la PRMP déclare où l’avis paraît (journal des marchés publics, journal national…) ; la publication fige l’appel et ouvre le dépôt en ligne.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RG-AMI-04 · RG-AMI-05 · RG-AMI-06 · RG-AMI-07</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130</a:t>
            </a:r>
            <a:endParaRPr lang="en-US" sz="1100" dirty="0"/>
          </a:p>
        </p:txBody>
      </p:sp>
    </p:spTree>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name="Slide 13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AMI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L’appel publié, avant la date limite</a:t>
            </a:r>
            <a:endParaRPr lang="en-US" sz="2600" dirty="0"/>
          </a:p>
        </p:txBody>
      </p:sp>
      <p:sp>
        <p:nvSpPr>
          <p:cNvPr id="4" name="Shape 2"/>
          <p:cNvSpPr/>
          <p:nvPr/>
        </p:nvSpPr>
        <p:spPr>
          <a:xfrm>
            <a:off x="800080" y="1193800"/>
            <a:ext cx="7327717" cy="4589463"/>
          </a:xfrm>
          <a:prstGeom prst="rect">
            <a:avLst/>
          </a:prstGeom>
          <a:solidFill>
            <a:srgbClr val="FCFCFA"/>
          </a:solidFill>
          <a:ln w="9525">
            <a:solidFill>
              <a:srgbClr val="D5DCE4"/>
            </a:solidFill>
            <a:prstDash val="solid"/>
          </a:ln>
        </p:spPr>
        <p:txBody>
          <a:bodyPr/>
          <a:lstStyle/>
          <a:p>
            <a:endParaRPr lang="fr-FR"/>
          </a:p>
        </p:txBody>
      </p:sp>
      <p:pic>
        <p:nvPicPr>
          <p:cNvPr id="5" name="Image 0" descr="L’appel publié, avant la date limite"/>
          <p:cNvPicPr>
            <a:picLocks noChangeAspect="1"/>
          </p:cNvPicPr>
          <p:nvPr/>
        </p:nvPicPr>
        <p:blipFill>
          <a:blip r:embed="rId3"/>
          <a:stretch>
            <a:fillRect/>
          </a:stretch>
        </p:blipFill>
        <p:spPr>
          <a:xfrm>
            <a:off x="812780" y="1206500"/>
            <a:ext cx="7302317" cy="4564063"/>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et son UGPM.</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L’appel est figé : date limite, note minimale, candidats retenus, critères, pièces, publication.</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L’avis, </a:t>
            </a:r>
            <a:r>
              <a:rPr lang="en-US" sz="1200" b="1" dirty="0">
                <a:solidFill>
                  <a:srgbClr val="1B2A3A"/>
                </a:solidFill>
                <a:latin typeface="Segoe UI" pitchFamily="34" charset="0"/>
                <a:ea typeface="Segoe UI" pitchFamily="34" charset="-122"/>
                <a:cs typeface="Segoe UI" pitchFamily="34" charset="-120"/>
              </a:rPr>
              <a:t>signé électroniquement</a:t>
            </a:r>
            <a:r>
              <a:rPr lang="en-US" sz="1200" dirty="0">
                <a:solidFill>
                  <a:srgbClr val="1B2A3A"/>
                </a:solidFill>
                <a:latin typeface="Segoe UI" pitchFamily="34" charset="0"/>
                <a:ea typeface="Segoe UI" pitchFamily="34" charset="-122"/>
                <a:cs typeface="Segoe UI" pitchFamily="34" charset="-120"/>
              </a:rPr>
              <a:t> à la publication, se lit en PDF et en Word.</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Avant la date limite, seul le </a:t>
            </a:r>
            <a:r>
              <a:rPr lang="en-US" sz="1200" b="1" dirty="0">
                <a:solidFill>
                  <a:srgbClr val="1B2A3A"/>
                </a:solidFill>
                <a:latin typeface="Segoe UI" pitchFamily="34" charset="0"/>
                <a:ea typeface="Segoe UI" pitchFamily="34" charset="-122"/>
                <a:cs typeface="Segoe UI" pitchFamily="34" charset="-120"/>
              </a:rPr>
              <a:t>nombre</a:t>
            </a:r>
            <a:r>
              <a:rPr lang="en-US" sz="1200" dirty="0">
                <a:solidFill>
                  <a:srgbClr val="1B2A3A"/>
                </a:solidFill>
                <a:latin typeface="Segoe UI" pitchFamily="34" charset="0"/>
                <a:ea typeface="Segoe UI" pitchFamily="34" charset="-122"/>
                <a:cs typeface="Segoe UI" pitchFamily="34" charset="-120"/>
              </a:rPr>
              <a:t> d’expressions reçues est connu (ici : 0).</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RG-AMI-06 · RG-AMI-10</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131</a:t>
            </a:r>
            <a:endParaRPr lang="en-US" sz="1100" dirty="0"/>
          </a:p>
        </p:txBody>
      </p:sp>
    </p:spTree>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name="Slide 132">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L’APPEL À MANIFESTATION D’INTÉRÊT</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Recevoir et lire les expressions</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Les consultants déposent leur expression d’intérêt en ligne, avant la date limite. Les expressions ne sont pas scellées, mais elles restent fermées à tous jusqu’à cette date.</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132</a:t>
            </a:r>
            <a:endParaRPr lang="en-US" sz="1100" dirty="0"/>
          </a:p>
        </p:txBody>
      </p:sp>
    </p:spTree>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name="Slide 13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AMI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L’appel et ses expressions d’intérêt</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appel et ses expressions d’intérêt"/>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après la date limite.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Publié le 08/10/2026 ; une expression déposée, par la </a:t>
            </a:r>
            <a:r>
              <a:rPr lang="en-US" sz="1200" b="1" dirty="0">
                <a:solidFill>
                  <a:srgbClr val="1B2A3A"/>
                </a:solidFill>
                <a:latin typeface="Segoe UI" pitchFamily="34" charset="0"/>
                <a:ea typeface="Segoe UI" pitchFamily="34" charset="-122"/>
                <a:cs typeface="Segoe UI" pitchFamily="34" charset="-120"/>
              </a:rPr>
              <a:t>Société de démonstration SARL</a:t>
            </a:r>
            <a:r>
              <a:rPr lang="en-US" sz="1200" dirty="0">
                <a:solidFill>
                  <a:srgbClr val="1B2A3A"/>
                </a:solidFill>
                <a:latin typeface="Segoe UI" pitchFamily="34" charset="0"/>
                <a:ea typeface="Segoe UI" pitchFamily="34" charset="-122"/>
                <a:cs typeface="Segoe UI" pitchFamily="34" charset="-120"/>
              </a:rPr>
              <a:t>, datée à la minute.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critères (50, 30 et 20 points), la pièce attendue, le support de publication.</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 </a:t>
            </a:r>
            <a:r>
              <a:rPr lang="en-US" sz="1200" b="1" dirty="0">
                <a:solidFill>
                  <a:srgbClr val="1B2A3A"/>
                </a:solidFill>
                <a:latin typeface="Segoe UI" pitchFamily="34" charset="0"/>
                <a:ea typeface="Segoe UI" pitchFamily="34" charset="-122"/>
                <a:cs typeface="Segoe UI" pitchFamily="34" charset="-120"/>
              </a:rPr>
              <a:t>Présélection, liste restreinte et rapport</a:t>
            </a:r>
            <a:r>
              <a:rPr lang="en-US" sz="1200" dirty="0">
                <a:solidFill>
                  <a:srgbClr val="1B2A3A"/>
                </a:solidFill>
                <a:latin typeface="Segoe UI" pitchFamily="34" charset="0"/>
                <a:ea typeface="Segoe UI" pitchFamily="34" charset="-122"/>
                <a:cs typeface="Segoe UI" pitchFamily="34" charset="-120"/>
              </a:rPr>
              <a:t> » mène à l’écran de la commission.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RG-AMI-08 · RG-AMI-09 · RG-AMI-10</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133</a:t>
            </a:r>
            <a:endParaRPr lang="en-US" sz="1100" dirty="0"/>
          </a:p>
        </p:txBody>
      </p:sp>
    </p:spTree>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name="Slide 134">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L’APPEL À MANIFESTATION D’INTÉRÊT</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La présélection par la commission</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Les membres de la commission d’appel d’offres déclarent d’abord leurs intérêts, puis notent ; l’application totalise et classe ; le président arrête la liste ; les membres signent le rapport.</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134</a:t>
            </a:r>
            <a:endParaRPr lang="en-US" sz="1100" dirty="0"/>
          </a:p>
        </p:txBody>
      </p:sp>
    </p:spTree>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name="Slide 13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AMI · PRÉSIDENT DE LA COMMISSION</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déclarations des membres</a:t>
            </a:r>
            <a:endParaRPr lang="en-US" sz="2600" dirty="0"/>
          </a:p>
        </p:txBody>
      </p:sp>
      <p:sp>
        <p:nvSpPr>
          <p:cNvPr id="4" name="Shape 2"/>
          <p:cNvSpPr/>
          <p:nvPr/>
        </p:nvSpPr>
        <p:spPr>
          <a:xfrm>
            <a:off x="800080" y="1193800"/>
            <a:ext cx="7327717" cy="4589463"/>
          </a:xfrm>
          <a:prstGeom prst="rect">
            <a:avLst/>
          </a:prstGeom>
          <a:solidFill>
            <a:srgbClr val="FCFCFA"/>
          </a:solidFill>
          <a:ln w="9525">
            <a:solidFill>
              <a:srgbClr val="D5DCE4"/>
            </a:solidFill>
            <a:prstDash val="solid"/>
          </a:ln>
        </p:spPr>
        <p:txBody>
          <a:bodyPr/>
          <a:lstStyle/>
          <a:p>
            <a:endParaRPr lang="fr-FR"/>
          </a:p>
        </p:txBody>
      </p:sp>
      <p:pic>
        <p:nvPicPr>
          <p:cNvPr id="5" name="Image 0" descr="Les déclarations des membres"/>
          <p:cNvPicPr>
            <a:picLocks noChangeAspect="1"/>
          </p:cNvPicPr>
          <p:nvPr/>
        </p:nvPicPr>
        <p:blipFill>
          <a:blip r:embed="rId3"/>
          <a:stretch>
            <a:fillRect/>
          </a:stretch>
        </p:blipFill>
        <p:spPr>
          <a:xfrm>
            <a:off x="812780" y="1206500"/>
            <a:ext cx="7302317" cy="4564063"/>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Chaque membre de la commission, depuis son espace.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Avant toute décision, chaque membre signe sa </a:t>
            </a:r>
            <a:r>
              <a:rPr lang="en-US" sz="1200" b="1" dirty="0">
                <a:solidFill>
                  <a:srgbClr val="1B2A3A"/>
                </a:solidFill>
                <a:latin typeface="Segoe UI" pitchFamily="34" charset="0"/>
                <a:ea typeface="Segoe UI" pitchFamily="34" charset="-122"/>
                <a:cs typeface="Segoe UI" pitchFamily="34" charset="-120"/>
              </a:rPr>
              <a:t>déclaration</a:t>
            </a:r>
            <a:r>
              <a:rPr lang="en-US" sz="1200" dirty="0">
                <a:solidFill>
                  <a:srgbClr val="1B2A3A"/>
                </a:solidFill>
                <a:latin typeface="Segoe UI" pitchFamily="34" charset="0"/>
                <a:ea typeface="Segoe UI" pitchFamily="34" charset="-122"/>
                <a:cs typeface="Segoe UI" pitchFamily="34" charset="-120"/>
              </a:rPr>
              <a:t> : aucun intérêt dans un candidat, ou un conflit d’intérêts déclaré.</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déclaration </a:t>
            </a:r>
            <a:r>
              <a:rPr lang="en-US" sz="1200" b="1" dirty="0">
                <a:solidFill>
                  <a:srgbClr val="1B2A3A"/>
                </a:solidFill>
                <a:latin typeface="Segoe UI" pitchFamily="34" charset="0"/>
                <a:ea typeface="Segoe UI" pitchFamily="34" charset="-122"/>
                <a:cs typeface="Segoe UI" pitchFamily="34" charset="-120"/>
              </a:rPr>
              <a:t>ne se reprend pas</a:t>
            </a:r>
            <a:r>
              <a:rPr lang="en-US" sz="1200" dirty="0">
                <a:solidFill>
                  <a:srgbClr val="1B2A3A"/>
                </a:solidFill>
                <a:latin typeface="Segoe UI" pitchFamily="34" charset="0"/>
                <a:ea typeface="Segoe UI" pitchFamily="34" charset="-122"/>
                <a:cs typeface="Segoe UI" pitchFamily="34" charset="-120"/>
              </a:rPr>
              <a:t> ; un membre en conflit lit la présélection sans y décider.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RG-AMI-11</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135</a:t>
            </a:r>
            <a:endParaRPr lang="en-US" sz="1100" dirty="0"/>
          </a:p>
        </p:txBody>
      </p:sp>
    </p:spTree>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name="Slide 13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AMI · MEMBRE DE LA COMMISSION</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notation, critère par critère</a:t>
            </a:r>
            <a:endParaRPr lang="en-US" sz="2600" dirty="0"/>
          </a:p>
        </p:txBody>
      </p:sp>
      <p:sp>
        <p:nvSpPr>
          <p:cNvPr id="4" name="Shape 2"/>
          <p:cNvSpPr/>
          <p:nvPr/>
        </p:nvSpPr>
        <p:spPr>
          <a:xfrm>
            <a:off x="800080" y="1193800"/>
            <a:ext cx="7327717" cy="4589463"/>
          </a:xfrm>
          <a:prstGeom prst="rect">
            <a:avLst/>
          </a:prstGeom>
          <a:solidFill>
            <a:srgbClr val="FCFCFA"/>
          </a:solidFill>
          <a:ln w="9525">
            <a:solidFill>
              <a:srgbClr val="D5DCE4"/>
            </a:solidFill>
            <a:prstDash val="solid"/>
          </a:ln>
        </p:spPr>
        <p:txBody>
          <a:bodyPr/>
          <a:lstStyle/>
          <a:p>
            <a:endParaRPr lang="fr-FR"/>
          </a:p>
        </p:txBody>
      </p:sp>
      <p:pic>
        <p:nvPicPr>
          <p:cNvPr id="5" name="Image 0" descr="La notation, critère par critère"/>
          <p:cNvPicPr>
            <a:picLocks noChangeAspect="1"/>
          </p:cNvPicPr>
          <p:nvPr/>
        </p:nvPicPr>
        <p:blipFill>
          <a:blip r:embed="rId3"/>
          <a:stretch>
            <a:fillRect/>
          </a:stretch>
        </p:blipFill>
        <p:spPr>
          <a:xfrm>
            <a:off x="812780" y="1206500"/>
            <a:ext cx="7302317" cy="4564063"/>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Un membre de la commission, déclaré sans conflit.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Une note par critère, de zéro aux points du critère, et toujours un </a:t>
            </a:r>
            <a:r>
              <a:rPr lang="en-US" sz="1200" b="1" dirty="0">
                <a:solidFill>
                  <a:srgbClr val="1B2A3A"/>
                </a:solidFill>
                <a:latin typeface="Segoe UI" pitchFamily="34" charset="0"/>
                <a:ea typeface="Segoe UI" pitchFamily="34" charset="-122"/>
                <a:cs typeface="Segoe UI" pitchFamily="34" charset="-120"/>
              </a:rPr>
              <a:t>motif</a:t>
            </a:r>
            <a:r>
              <a:rPr lang="en-US" sz="1200" dirty="0">
                <a:solidFill>
                  <a:srgbClr val="1B2A3A"/>
                </a:solidFill>
                <a:latin typeface="Segoe UI" pitchFamily="34" charset="0"/>
                <a:ea typeface="Segoe UI" pitchFamily="34" charset="-122"/>
                <a:cs typeface="Segoe UI" pitchFamily="34" charset="-120"/>
              </a:rPr>
              <a: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dernière saisie fait foi ; le journal garde chaque saisie.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RG-AMI-12 · RG-AMI-13</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136</a:t>
            </a:r>
            <a:endParaRPr lang="en-US" sz="1100" dirty="0"/>
          </a:p>
        </p:txBody>
      </p:sp>
    </p:spTree>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name="Slide 13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AMI · PRÉSIDENT DE LA COMMISSION</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classement et le détail des notes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 classement et le détail des note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président de la commission, depuis l’espace de la commission.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Est </a:t>
            </a:r>
            <a:r>
              <a:rPr lang="en-US" sz="1200" b="1" dirty="0">
                <a:solidFill>
                  <a:srgbClr val="1B2A3A"/>
                </a:solidFill>
                <a:latin typeface="Segoe UI" pitchFamily="34" charset="0"/>
                <a:ea typeface="Segoe UI" pitchFamily="34" charset="-122"/>
                <a:cs typeface="Segoe UI" pitchFamily="34" charset="-120"/>
              </a:rPr>
              <a:t>qualifiée</a:t>
            </a:r>
            <a:r>
              <a:rPr lang="en-US" sz="1200" dirty="0">
                <a:solidFill>
                  <a:srgbClr val="1B2A3A"/>
                </a:solidFill>
                <a:latin typeface="Segoe UI" pitchFamily="34" charset="0"/>
                <a:ea typeface="Segoe UI" pitchFamily="34" charset="-122"/>
                <a:cs typeface="Segoe UI" pitchFamily="34" charset="-120"/>
              </a:rPr>
              <a:t> une expression notée sur tous les critères, non écartée, qui atteint la note minimale ; le classement suit le total sur 100.</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détail des notes : chaque note, son motif et le membre qui l’a donnée (ici 42/50, 24/30, 14/20, soit 80/100).</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liste restreinte définitive et son </a:t>
            </a:r>
            <a:r>
              <a:rPr lang="en-US" sz="1200" b="1" dirty="0">
                <a:solidFill>
                  <a:srgbClr val="1B2A3A"/>
                </a:solidFill>
                <a:latin typeface="Segoe UI" pitchFamily="34" charset="0"/>
                <a:ea typeface="Segoe UI" pitchFamily="34" charset="-122"/>
                <a:cs typeface="Segoe UI" pitchFamily="34" charset="-120"/>
              </a:rPr>
              <a:t>motif du nombre</a:t>
            </a:r>
            <a:r>
              <a:rPr lang="en-US" sz="1200" dirty="0">
                <a:solidFill>
                  <a:srgbClr val="1B2A3A"/>
                </a:solidFill>
                <a:latin typeface="Segoe UI" pitchFamily="34" charset="0"/>
                <a:ea typeface="Segoe UI" pitchFamily="34" charset="-122"/>
                <a:cs typeface="Segoe UI" pitchFamily="34" charset="-120"/>
              </a:rPr>
              <a:t> : une seule expression reçue et qualifiée (art. 42-II).</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RG-AMI-14 · RG-AMI-16</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137</a:t>
            </a:r>
            <a:endParaRPr lang="en-US" sz="1100" dirty="0"/>
          </a:p>
        </p:txBody>
      </p:sp>
    </p:spTree>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name="Slide 13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AMI · PRÉSIDENT DE LA COMMISSION</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Arrêter la liste restreinte</a:t>
            </a:r>
            <a:endParaRPr lang="en-US" sz="2600" dirty="0"/>
          </a:p>
        </p:txBody>
      </p:sp>
      <p:sp>
        <p:nvSpPr>
          <p:cNvPr id="4" name="Shape 2"/>
          <p:cNvSpPr/>
          <p:nvPr/>
        </p:nvSpPr>
        <p:spPr>
          <a:xfrm>
            <a:off x="800080" y="1193800"/>
            <a:ext cx="7327717" cy="4589463"/>
          </a:xfrm>
          <a:prstGeom prst="rect">
            <a:avLst/>
          </a:prstGeom>
          <a:solidFill>
            <a:srgbClr val="FCFCFA"/>
          </a:solidFill>
          <a:ln w="9525">
            <a:solidFill>
              <a:srgbClr val="D5DCE4"/>
            </a:solidFill>
            <a:prstDash val="solid"/>
          </a:ln>
        </p:spPr>
        <p:txBody>
          <a:bodyPr/>
          <a:lstStyle/>
          <a:p>
            <a:endParaRPr lang="fr-FR"/>
          </a:p>
        </p:txBody>
      </p:sp>
      <p:pic>
        <p:nvPicPr>
          <p:cNvPr id="5" name="Image 0" descr="Arrêter la liste restreinte"/>
          <p:cNvPicPr>
            <a:picLocks noChangeAspect="1"/>
          </p:cNvPicPr>
          <p:nvPr/>
        </p:nvPicPr>
        <p:blipFill>
          <a:blip r:embed="rId3"/>
          <a:stretch>
            <a:fillRect/>
          </a:stretch>
        </p:blipFill>
        <p:spPr>
          <a:xfrm>
            <a:off x="812780" y="1206500"/>
            <a:ext cx="7302317" cy="4564063"/>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président de la commission.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Une expression peut être </a:t>
            </a:r>
            <a:r>
              <a:rPr lang="en-US" sz="1200" b="1" dirty="0">
                <a:solidFill>
                  <a:srgbClr val="1B2A3A"/>
                </a:solidFill>
                <a:latin typeface="Segoe UI" pitchFamily="34" charset="0"/>
                <a:ea typeface="Segoe UI" pitchFamily="34" charset="-122"/>
                <a:cs typeface="Segoe UI" pitchFamily="34" charset="-120"/>
              </a:rPr>
              <a:t>écartée</a:t>
            </a:r>
            <a:r>
              <a:rPr lang="en-US" sz="1200" dirty="0">
                <a:solidFill>
                  <a:srgbClr val="1B2A3A"/>
                </a:solidFill>
                <a:latin typeface="Segoe UI" pitchFamily="34" charset="0"/>
                <a:ea typeface="Segoe UI" pitchFamily="34" charset="-122"/>
                <a:cs typeface="Segoe UI" pitchFamily="34" charset="-120"/>
              </a:rPr>
              <a:t>, avec un motif, ou rétablie.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liste prend les premières qualifiées. Moins de qualifiées que de places : le nombre retenu se </a:t>
            </a:r>
            <a:r>
              <a:rPr lang="en-US" sz="1200" b="1" dirty="0">
                <a:solidFill>
                  <a:srgbClr val="1B2A3A"/>
                </a:solidFill>
                <a:latin typeface="Segoe UI" pitchFamily="34" charset="0"/>
                <a:ea typeface="Segoe UI" pitchFamily="34" charset="-122"/>
                <a:cs typeface="Segoe UI" pitchFamily="34" charset="-120"/>
              </a:rPr>
              <a:t>motive</a:t>
            </a:r>
            <a:r>
              <a:rPr lang="en-US" sz="1200" dirty="0">
                <a:solidFill>
                  <a:srgbClr val="1B2A3A"/>
                </a:solidFill>
                <a:latin typeface="Segoe UI" pitchFamily="34" charset="0"/>
                <a:ea typeface="Segoe UI" pitchFamily="34" charset="-122"/>
                <a:cs typeface="Segoe UI" pitchFamily="34" charset="-120"/>
              </a:rPr>
              <a:t> ; le rapport de présélection est alors produit et se signe.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RG-AMI-13 · RG-AMI-15 · RG-AMI-16 · RG-AMI-24</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138</a:t>
            </a:r>
            <a:endParaRPr lang="en-US" sz="1100" dirty="0"/>
          </a:p>
        </p:txBody>
      </p:sp>
    </p:spTree>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name="Slide 13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AMI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liste définitive et le rapport signé</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a liste définitive et le rapport signé"/>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en lecture.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 </a:t>
            </a:r>
            <a:r>
              <a:rPr lang="en-US" sz="1200" b="1" dirty="0">
                <a:solidFill>
                  <a:srgbClr val="1B2A3A"/>
                </a:solidFill>
                <a:latin typeface="Segoe UI" pitchFamily="34" charset="0"/>
                <a:ea typeface="Segoe UI" pitchFamily="34" charset="-122"/>
                <a:cs typeface="Segoe UI" pitchFamily="34" charset="-120"/>
              </a:rPr>
              <a:t>Liste définitive</a:t>
            </a:r>
            <a:r>
              <a:rPr lang="en-US" sz="1200" dirty="0">
                <a:solidFill>
                  <a:srgbClr val="1B2A3A"/>
                </a:solidFill>
                <a:latin typeface="Segoe UI" pitchFamily="34" charset="0"/>
                <a:ea typeface="Segoe UI" pitchFamily="34" charset="-122"/>
                <a:cs typeface="Segoe UI" pitchFamily="34" charset="-120"/>
              </a:rPr>
              <a:t> » : publiée sur la page de l’appel et notifiée à chaque candidat.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a:t>
            </a:r>
            <a:r>
              <a:rPr lang="en-US" sz="1200" b="1" dirty="0">
                <a:solidFill>
                  <a:srgbClr val="1B2A3A"/>
                </a:solidFill>
                <a:latin typeface="Segoe UI" pitchFamily="34" charset="0"/>
                <a:ea typeface="Segoe UI" pitchFamily="34" charset="-122"/>
                <a:cs typeface="Segoe UI" pitchFamily="34" charset="-120"/>
              </a:rPr>
              <a:t>rapport de présélection</a:t>
            </a:r>
            <a:r>
              <a:rPr lang="en-US" sz="1200" dirty="0">
                <a:solidFill>
                  <a:srgbClr val="1B2A3A"/>
                </a:solidFill>
                <a:latin typeface="Segoe UI" pitchFamily="34" charset="0"/>
                <a:ea typeface="Segoe UI" pitchFamily="34" charset="-122"/>
                <a:cs typeface="Segoe UI" pitchFamily="34" charset="-120"/>
              </a:rPr>
              <a:t>, produit et signé de tous le 08/10/2026, se lit en PDF et en Word ; le quorum de la commission y est constaté.</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lettres d’invitation vont désormais aux candidats de cette liste ; le dossier de la demande de propositions peut être créé, le rapport signé y est joint d’office.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RG-AMI-17 · RG-AMI-18 · RG-AMI-19 · RG-AMI-20 · RG-AMI-24</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139</a:t>
            </a:r>
            <a:endParaRPr lang="en-US" sz="1100" dirty="0"/>
          </a:p>
        </p:txBody>
      </p:sp>
    </p:spTree>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name="Slide 14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L’APPEL À MANIFESTATION D’INTÉRÊT · EN RÉSUMÉ</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Ce que l’application garantit</a:t>
            </a:r>
            <a:endParaRPr lang="en-US" sz="2600" dirty="0"/>
          </a:p>
        </p:txBody>
      </p:sp>
      <p:sp>
        <p:nvSpPr>
          <p:cNvPr id="4" name="Shape 2"/>
          <p:cNvSpPr/>
          <p:nvPr/>
        </p:nvSpPr>
        <p:spPr>
          <a:xfrm>
            <a:off x="812780" y="1206500"/>
            <a:ext cx="3420448" cy="2159000"/>
          </a:xfrm>
          <a:prstGeom prst="rect">
            <a:avLst/>
          </a:prstGeom>
          <a:solidFill>
            <a:srgbClr val="FCFCFA"/>
          </a:solidFill>
          <a:ln w="9525">
            <a:solidFill>
              <a:srgbClr val="D5DCE4"/>
            </a:solidFill>
            <a:prstDash val="solid"/>
          </a:ln>
        </p:spPr>
        <p:txBody>
          <a:bodyPr/>
          <a:lstStyle/>
          <a:p>
            <a:endParaRPr lang="fr-FR"/>
          </a:p>
        </p:txBody>
      </p:sp>
      <p:sp>
        <p:nvSpPr>
          <p:cNvPr id="5" name="Shape 3"/>
          <p:cNvSpPr/>
          <p:nvPr/>
        </p:nvSpPr>
        <p:spPr>
          <a:xfrm>
            <a:off x="812780" y="1206500"/>
            <a:ext cx="3420448" cy="38100"/>
          </a:xfrm>
          <a:prstGeom prst="rect">
            <a:avLst/>
          </a:prstGeom>
          <a:solidFill>
            <a:srgbClr val="1B6FA8"/>
          </a:solidFill>
          <a:ln/>
        </p:spPr>
        <p:txBody>
          <a:bodyPr/>
          <a:lstStyle/>
          <a:p>
            <a:endParaRPr lang="fr-FR"/>
          </a:p>
        </p:txBody>
      </p:sp>
      <p:sp>
        <p:nvSpPr>
          <p:cNvPr id="6" name="Text 4"/>
          <p:cNvSpPr/>
          <p:nvPr/>
        </p:nvSpPr>
        <p:spPr>
          <a:xfrm>
            <a:off x="952476" y="1308100"/>
            <a:ext cx="3141055"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Des critères connus d’avance</a:t>
            </a:r>
            <a:endParaRPr lang="en-US" sz="1500" dirty="0"/>
          </a:p>
        </p:txBody>
      </p:sp>
      <p:sp>
        <p:nvSpPr>
          <p:cNvPr id="7" name="Text 5"/>
          <p:cNvSpPr/>
          <p:nvPr/>
        </p:nvSpPr>
        <p:spPr>
          <a:xfrm>
            <a:off x="952476" y="1593850"/>
            <a:ext cx="3141055"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Les critères et leurs points, qui totalisent 100, sont publiés avec l’avis et figés à la publication : la commission note sur ce qui a été annoncé.</a:t>
            </a:r>
            <a:endParaRPr lang="en-US" sz="1200" dirty="0"/>
          </a:p>
        </p:txBody>
      </p:sp>
      <p:sp>
        <p:nvSpPr>
          <p:cNvPr id="8" name="Shape 6"/>
          <p:cNvSpPr/>
          <p:nvPr/>
        </p:nvSpPr>
        <p:spPr>
          <a:xfrm>
            <a:off x="4385624" y="1206500"/>
            <a:ext cx="3420448" cy="2159000"/>
          </a:xfrm>
          <a:prstGeom prst="rect">
            <a:avLst/>
          </a:prstGeom>
          <a:solidFill>
            <a:srgbClr val="FCFCFA"/>
          </a:solidFill>
          <a:ln w="9525">
            <a:solidFill>
              <a:srgbClr val="D5DCE4"/>
            </a:solidFill>
            <a:prstDash val="solid"/>
          </a:ln>
        </p:spPr>
        <p:txBody>
          <a:bodyPr/>
          <a:lstStyle/>
          <a:p>
            <a:endParaRPr lang="fr-FR"/>
          </a:p>
        </p:txBody>
      </p:sp>
      <p:sp>
        <p:nvSpPr>
          <p:cNvPr id="9" name="Shape 7"/>
          <p:cNvSpPr/>
          <p:nvPr/>
        </p:nvSpPr>
        <p:spPr>
          <a:xfrm>
            <a:off x="4385624" y="1206500"/>
            <a:ext cx="3420448" cy="38100"/>
          </a:xfrm>
          <a:prstGeom prst="rect">
            <a:avLst/>
          </a:prstGeom>
          <a:solidFill>
            <a:srgbClr val="2E8B57"/>
          </a:solidFill>
          <a:ln/>
        </p:spPr>
        <p:txBody>
          <a:bodyPr/>
          <a:lstStyle/>
          <a:p>
            <a:endParaRPr lang="fr-FR"/>
          </a:p>
        </p:txBody>
      </p:sp>
      <p:sp>
        <p:nvSpPr>
          <p:cNvPr id="10" name="Text 8"/>
          <p:cNvSpPr/>
          <p:nvPr/>
        </p:nvSpPr>
        <p:spPr>
          <a:xfrm>
            <a:off x="4525320" y="1308100"/>
            <a:ext cx="3141055"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Aucune lecture anticipée</a:t>
            </a:r>
            <a:endParaRPr lang="en-US" sz="1500" dirty="0"/>
          </a:p>
        </p:txBody>
      </p:sp>
      <p:sp>
        <p:nvSpPr>
          <p:cNvPr id="11" name="Text 9"/>
          <p:cNvSpPr/>
          <p:nvPr/>
        </p:nvSpPr>
        <p:spPr>
          <a:xfrm>
            <a:off x="4525320" y="1593850"/>
            <a:ext cx="3141055"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Avant la date limite, personne ne lit une expression d’intérêt : l’administration n’en voit que le nombre.</a:t>
            </a:r>
            <a:endParaRPr lang="en-US" sz="1200" dirty="0"/>
          </a:p>
        </p:txBody>
      </p:sp>
      <p:sp>
        <p:nvSpPr>
          <p:cNvPr id="12" name="Shape 10"/>
          <p:cNvSpPr/>
          <p:nvPr/>
        </p:nvSpPr>
        <p:spPr>
          <a:xfrm>
            <a:off x="7958468" y="1206500"/>
            <a:ext cx="3420448" cy="2159000"/>
          </a:xfrm>
          <a:prstGeom prst="rect">
            <a:avLst/>
          </a:prstGeom>
          <a:solidFill>
            <a:srgbClr val="FCFCFA"/>
          </a:solidFill>
          <a:ln w="9525">
            <a:solidFill>
              <a:srgbClr val="D5DCE4"/>
            </a:solidFill>
            <a:prstDash val="solid"/>
          </a:ln>
        </p:spPr>
        <p:txBody>
          <a:bodyPr/>
          <a:lstStyle/>
          <a:p>
            <a:endParaRPr lang="fr-FR"/>
          </a:p>
        </p:txBody>
      </p:sp>
      <p:sp>
        <p:nvSpPr>
          <p:cNvPr id="13" name="Shape 11"/>
          <p:cNvSpPr/>
          <p:nvPr/>
        </p:nvSpPr>
        <p:spPr>
          <a:xfrm>
            <a:off x="7958468" y="1206500"/>
            <a:ext cx="3420448" cy="38100"/>
          </a:xfrm>
          <a:prstGeom prst="rect">
            <a:avLst/>
          </a:prstGeom>
          <a:solidFill>
            <a:srgbClr val="E3AE2E"/>
          </a:solidFill>
          <a:ln/>
        </p:spPr>
        <p:txBody>
          <a:bodyPr/>
          <a:lstStyle/>
          <a:p>
            <a:endParaRPr lang="fr-FR"/>
          </a:p>
        </p:txBody>
      </p:sp>
      <p:sp>
        <p:nvSpPr>
          <p:cNvPr id="14" name="Text 12"/>
          <p:cNvSpPr/>
          <p:nvPr/>
        </p:nvSpPr>
        <p:spPr>
          <a:xfrm>
            <a:off x="8098164" y="1308100"/>
            <a:ext cx="3141055"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L’impartialité déclarée</a:t>
            </a:r>
            <a:endParaRPr lang="en-US" sz="1500" dirty="0"/>
          </a:p>
        </p:txBody>
      </p:sp>
      <p:sp>
        <p:nvSpPr>
          <p:cNvPr id="15" name="Text 13"/>
          <p:cNvSpPr/>
          <p:nvPr/>
        </p:nvSpPr>
        <p:spPr>
          <a:xfrm>
            <a:off x="8098164" y="1593850"/>
            <a:ext cx="3141055"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Chaque membre signe sa déclaration avant toute décision ; un membre en conflit d’intérêts ne note pas, ne décide pas, ne signe pas le rapport.</a:t>
            </a:r>
            <a:endParaRPr lang="en-US" sz="1200" dirty="0"/>
          </a:p>
        </p:txBody>
      </p:sp>
      <p:sp>
        <p:nvSpPr>
          <p:cNvPr id="16" name="Shape 14"/>
          <p:cNvSpPr/>
          <p:nvPr/>
        </p:nvSpPr>
        <p:spPr>
          <a:xfrm>
            <a:off x="812780" y="3517900"/>
            <a:ext cx="3420448" cy="2159000"/>
          </a:xfrm>
          <a:prstGeom prst="rect">
            <a:avLst/>
          </a:prstGeom>
          <a:solidFill>
            <a:srgbClr val="FCFCFA"/>
          </a:solidFill>
          <a:ln w="9525">
            <a:solidFill>
              <a:srgbClr val="D5DCE4"/>
            </a:solidFill>
            <a:prstDash val="solid"/>
          </a:ln>
        </p:spPr>
        <p:txBody>
          <a:bodyPr/>
          <a:lstStyle/>
          <a:p>
            <a:endParaRPr lang="fr-FR"/>
          </a:p>
        </p:txBody>
      </p:sp>
      <p:sp>
        <p:nvSpPr>
          <p:cNvPr id="17" name="Shape 15"/>
          <p:cNvSpPr/>
          <p:nvPr/>
        </p:nvSpPr>
        <p:spPr>
          <a:xfrm>
            <a:off x="812780" y="3517900"/>
            <a:ext cx="3420448" cy="38100"/>
          </a:xfrm>
          <a:prstGeom prst="rect">
            <a:avLst/>
          </a:prstGeom>
          <a:solidFill>
            <a:srgbClr val="12324A"/>
          </a:solidFill>
          <a:ln/>
        </p:spPr>
        <p:txBody>
          <a:bodyPr/>
          <a:lstStyle/>
          <a:p>
            <a:endParaRPr lang="fr-FR"/>
          </a:p>
        </p:txBody>
      </p:sp>
      <p:sp>
        <p:nvSpPr>
          <p:cNvPr id="18" name="Text 16"/>
          <p:cNvSpPr/>
          <p:nvPr/>
        </p:nvSpPr>
        <p:spPr>
          <a:xfrm>
            <a:off x="952476" y="36195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Une notation motivée et tracée</a:t>
            </a:r>
            <a:endParaRPr lang="en-US" sz="1500" dirty="0"/>
          </a:p>
        </p:txBody>
      </p:sp>
      <p:sp>
        <p:nvSpPr>
          <p:cNvPr id="19" name="Text 17"/>
          <p:cNvSpPr/>
          <p:nvPr/>
        </p:nvSpPr>
        <p:spPr>
          <a:xfrm>
            <a:off x="952476" y="40767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Chaque note porte son motif et son auteur ; chaque écartement aussi ; le journal garde toutes les saisies.</a:t>
            </a:r>
            <a:endParaRPr lang="en-US" sz="1200" dirty="0"/>
          </a:p>
        </p:txBody>
      </p:sp>
      <p:sp>
        <p:nvSpPr>
          <p:cNvPr id="20" name="Shape 18"/>
          <p:cNvSpPr/>
          <p:nvPr/>
        </p:nvSpPr>
        <p:spPr>
          <a:xfrm>
            <a:off x="4385624" y="3517900"/>
            <a:ext cx="3420448" cy="2159000"/>
          </a:xfrm>
          <a:prstGeom prst="rect">
            <a:avLst/>
          </a:prstGeom>
          <a:solidFill>
            <a:srgbClr val="FCFCFA"/>
          </a:solidFill>
          <a:ln w="9525">
            <a:solidFill>
              <a:srgbClr val="D5DCE4"/>
            </a:solidFill>
            <a:prstDash val="solid"/>
          </a:ln>
        </p:spPr>
        <p:txBody>
          <a:bodyPr/>
          <a:lstStyle/>
          <a:p>
            <a:endParaRPr lang="fr-FR"/>
          </a:p>
        </p:txBody>
      </p:sp>
      <p:sp>
        <p:nvSpPr>
          <p:cNvPr id="21" name="Shape 19"/>
          <p:cNvSpPr/>
          <p:nvPr/>
        </p:nvSpPr>
        <p:spPr>
          <a:xfrm>
            <a:off x="4385624" y="3517900"/>
            <a:ext cx="3420448" cy="38100"/>
          </a:xfrm>
          <a:prstGeom prst="rect">
            <a:avLst/>
          </a:prstGeom>
          <a:solidFill>
            <a:srgbClr val="1B6FA8"/>
          </a:solidFill>
          <a:ln/>
        </p:spPr>
        <p:txBody>
          <a:bodyPr/>
          <a:lstStyle/>
          <a:p>
            <a:endParaRPr lang="fr-FR"/>
          </a:p>
        </p:txBody>
      </p:sp>
      <p:sp>
        <p:nvSpPr>
          <p:cNvPr id="22" name="Text 20"/>
          <p:cNvSpPr/>
          <p:nvPr/>
        </p:nvSpPr>
        <p:spPr>
          <a:xfrm>
            <a:off x="4525320" y="3619500"/>
            <a:ext cx="3141055"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Un rapport au quorum</a:t>
            </a:r>
            <a:endParaRPr lang="en-US" sz="1500" dirty="0"/>
          </a:p>
        </p:txBody>
      </p:sp>
      <p:sp>
        <p:nvSpPr>
          <p:cNvPr id="23" name="Text 21"/>
          <p:cNvSpPr/>
          <p:nvPr/>
        </p:nvSpPr>
        <p:spPr>
          <a:xfrm>
            <a:off x="4525320" y="3905250"/>
            <a:ext cx="3141055"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La liste ne s’arrête et le rapport ne vaut procès-verbal qu’au quorum de la commission, président ou son représentant compris.</a:t>
            </a:r>
            <a:endParaRPr lang="en-US" sz="1200" dirty="0"/>
          </a:p>
        </p:txBody>
      </p:sp>
      <p:sp>
        <p:nvSpPr>
          <p:cNvPr id="24" name="Shape 22"/>
          <p:cNvSpPr/>
          <p:nvPr/>
        </p:nvSpPr>
        <p:spPr>
          <a:xfrm>
            <a:off x="7958468" y="3517900"/>
            <a:ext cx="3420448" cy="2159000"/>
          </a:xfrm>
          <a:prstGeom prst="rect">
            <a:avLst/>
          </a:prstGeom>
          <a:solidFill>
            <a:srgbClr val="FCFCFA"/>
          </a:solidFill>
          <a:ln w="9525">
            <a:solidFill>
              <a:srgbClr val="D5DCE4"/>
            </a:solidFill>
            <a:prstDash val="solid"/>
          </a:ln>
        </p:spPr>
        <p:txBody>
          <a:bodyPr/>
          <a:lstStyle/>
          <a:p>
            <a:endParaRPr lang="fr-FR"/>
          </a:p>
        </p:txBody>
      </p:sp>
      <p:sp>
        <p:nvSpPr>
          <p:cNvPr id="25" name="Shape 23"/>
          <p:cNvSpPr/>
          <p:nvPr/>
        </p:nvSpPr>
        <p:spPr>
          <a:xfrm>
            <a:off x="7958468" y="3517900"/>
            <a:ext cx="3420448" cy="38100"/>
          </a:xfrm>
          <a:prstGeom prst="rect">
            <a:avLst/>
          </a:prstGeom>
          <a:solidFill>
            <a:srgbClr val="2E8B57"/>
          </a:solidFill>
          <a:ln/>
        </p:spPr>
        <p:txBody>
          <a:bodyPr/>
          <a:lstStyle/>
          <a:p>
            <a:endParaRPr lang="fr-FR"/>
          </a:p>
        </p:txBody>
      </p:sp>
      <p:sp>
        <p:nvSpPr>
          <p:cNvPr id="26" name="Text 24"/>
          <p:cNvSpPr/>
          <p:nvPr/>
        </p:nvSpPr>
        <p:spPr>
          <a:xfrm>
            <a:off x="8098164" y="3619500"/>
            <a:ext cx="3141055"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Une liste opposable</a:t>
            </a:r>
            <a:endParaRPr lang="en-US" sz="1500" dirty="0"/>
          </a:p>
        </p:txBody>
      </p:sp>
      <p:sp>
        <p:nvSpPr>
          <p:cNvPr id="27" name="Text 25"/>
          <p:cNvSpPr/>
          <p:nvPr/>
        </p:nvSpPr>
        <p:spPr>
          <a:xfrm>
            <a:off x="8098164" y="3905250"/>
            <a:ext cx="3141055"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La liste définitive est publiée et notifiée, les non-retenus avec leur motif ; elle seule alimente les invitations, et l’AMI se fige dès que le dossier part à la Commission.</a:t>
            </a:r>
            <a:endParaRPr lang="en-US" sz="1200" dirty="0"/>
          </a:p>
        </p:txBody>
      </p:sp>
      <p:sp>
        <p:nvSpPr>
          <p:cNvPr id="28" name="Text 2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140</a:t>
            </a:r>
            <a:endParaRPr lang="en-US" sz="1100" dirty="0"/>
          </a:p>
        </p:txBody>
      </p:sp>
    </p:spTree>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name="Slide 141">
    <p:bg>
      <p:bgPr>
        <a:solidFill>
          <a:srgbClr val="12324A"/>
        </a:solidFill>
        <a:effectLst/>
      </p:bgPr>
    </p:bg>
    <p:spTree>
      <p:nvGrpSpPr>
        <p:cNvPr id="1" name=""/>
        <p:cNvGrpSpPr/>
        <p:nvPr/>
      </p:nvGrpSpPr>
      <p:grpSpPr>
        <a:xfrm>
          <a:off x="0" y="0"/>
          <a:ext cx="0" cy="0"/>
          <a:chOff x="0" y="0"/>
          <a:chExt cx="0" cy="0"/>
        </a:xfrm>
      </p:grpSpPr>
      <p:sp>
        <p:nvSpPr>
          <p:cNvPr id="2" name="Shape 0"/>
          <p:cNvSpPr/>
          <p:nvPr/>
        </p:nvSpPr>
        <p:spPr>
          <a:xfrm>
            <a:off x="0" y="0"/>
            <a:ext cx="152396" cy="6858000"/>
          </a:xfrm>
          <a:prstGeom prst="rect">
            <a:avLst/>
          </a:prstGeom>
          <a:solidFill>
            <a:srgbClr val="E3AE2E"/>
          </a:solidFill>
          <a:ln w="12700">
            <a:solidFill>
              <a:srgbClr val="E3AE2E"/>
            </a:solidFill>
            <a:prstDash val="solid"/>
          </a:ln>
        </p:spPr>
        <p:txBody>
          <a:bodyPr/>
          <a:lstStyle/>
          <a:p>
            <a:endParaRPr lang="fr-FR"/>
          </a:p>
        </p:txBody>
      </p:sp>
      <p:sp>
        <p:nvSpPr>
          <p:cNvPr id="3" name="Text 1"/>
          <p:cNvSpPr/>
          <p:nvPr/>
        </p:nvSpPr>
        <p:spPr>
          <a:xfrm>
            <a:off x="812780" y="698500"/>
            <a:ext cx="3809905" cy="952500"/>
          </a:xfrm>
          <a:prstGeom prst="rect">
            <a:avLst/>
          </a:prstGeom>
          <a:noFill/>
          <a:ln/>
        </p:spPr>
        <p:txBody>
          <a:bodyPr wrap="square" rtlCol="0" anchor="ctr"/>
          <a:lstStyle/>
          <a:p>
            <a:pPr marL="0" indent="0">
              <a:buNone/>
            </a:pPr>
            <a:r>
              <a:rPr lang="en-US" sz="7200" b="1" dirty="0">
                <a:solidFill>
                  <a:srgbClr val="E3AE2E"/>
                </a:solidFill>
                <a:latin typeface="Segoe UI" pitchFamily="34" charset="0"/>
                <a:ea typeface="Segoe UI" pitchFamily="34" charset="-122"/>
                <a:cs typeface="Segoe UI" pitchFamily="34" charset="-120"/>
              </a:rPr>
              <a:t>06</a:t>
            </a:r>
            <a:endParaRPr lang="en-US" sz="7200" dirty="0"/>
          </a:p>
        </p:txBody>
      </p:sp>
      <p:sp>
        <p:nvSpPr>
          <p:cNvPr id="4" name="Text 2"/>
          <p:cNvSpPr/>
          <p:nvPr/>
        </p:nvSpPr>
        <p:spPr>
          <a:xfrm>
            <a:off x="812780" y="1714500"/>
            <a:ext cx="10477238" cy="635000"/>
          </a:xfrm>
          <a:prstGeom prst="rect">
            <a:avLst/>
          </a:prstGeom>
          <a:noFill/>
          <a:ln/>
        </p:spPr>
        <p:txBody>
          <a:bodyPr wrap="square" rtlCol="0" anchor="ctr">
            <a:normAutofit/>
          </a:bodyPr>
          <a:lstStyle/>
          <a:p>
            <a:pPr marL="0" indent="0">
              <a:buNone/>
            </a:pPr>
            <a:r>
              <a:rPr lang="en-US" sz="4000" b="1" dirty="0">
                <a:solidFill>
                  <a:srgbClr val="FCFCFA"/>
                </a:solidFill>
                <a:latin typeface="Segoe UI" pitchFamily="34" charset="0"/>
                <a:ea typeface="Segoe UI" pitchFamily="34" charset="-122"/>
                <a:cs typeface="Segoe UI" pitchFamily="34" charset="-120"/>
              </a:rPr>
              <a:t>Recevoir les offres en ligne</a:t>
            </a:r>
            <a:endParaRPr lang="en-US" sz="4000" dirty="0"/>
          </a:p>
        </p:txBody>
      </p:sp>
      <p:sp>
        <p:nvSpPr>
          <p:cNvPr id="5" name="Text 3"/>
          <p:cNvSpPr/>
          <p:nvPr/>
        </p:nvSpPr>
        <p:spPr>
          <a:xfrm>
            <a:off x="812780" y="2413000"/>
            <a:ext cx="10159746" cy="698500"/>
          </a:xfrm>
          <a:prstGeom prst="rect">
            <a:avLst/>
          </a:prstGeom>
          <a:noFill/>
          <a:ln/>
        </p:spPr>
        <p:txBody>
          <a:bodyPr wrap="square" rtlCol="0" anchor="t">
            <a:normAutofit/>
          </a:bodyPr>
          <a:lstStyle/>
          <a:p>
            <a:pPr marL="0" indent="0">
              <a:buNone/>
            </a:pPr>
            <a:r>
              <a:rPr lang="en-US" sz="1700" dirty="0">
                <a:solidFill>
                  <a:srgbClr val="C9D6E2"/>
                </a:solidFill>
                <a:latin typeface="Segoe UI" pitchFamily="34" charset="0"/>
                <a:ea typeface="Segoe UI" pitchFamily="34" charset="-122"/>
                <a:cs typeface="Segoe UI" pitchFamily="34" charset="-120"/>
              </a:rPr>
              <a:t>Les entreprises retirent le dossier, posent leurs questions, remplissent et déposent leur offre en ligne ; l’offre est scellée sur leur poste et personne ne peut la lire avant la séance d’ouverture.</a:t>
            </a:r>
            <a:endParaRPr lang="en-US" sz="1700" dirty="0"/>
          </a:p>
        </p:txBody>
      </p:sp>
      <p:sp>
        <p:nvSpPr>
          <p:cNvPr id="6" name="Text 4"/>
          <p:cNvSpPr/>
          <p:nvPr/>
        </p:nvSpPr>
        <p:spPr>
          <a:xfrm>
            <a:off x="812780" y="3429000"/>
            <a:ext cx="5079873" cy="228600"/>
          </a:xfrm>
          <a:prstGeom prst="rect">
            <a:avLst/>
          </a:prstGeom>
          <a:noFill/>
          <a:ln/>
        </p:spPr>
        <p:txBody>
          <a:bodyPr wrap="square" rtlCol="0" anchor="ctr"/>
          <a:lstStyle/>
          <a:p>
            <a:pPr marL="0" indent="0">
              <a:buNone/>
            </a:pPr>
            <a:r>
              <a:rPr lang="en-US" sz="1200" b="1" kern="0" spc="200" dirty="0">
                <a:solidFill>
                  <a:srgbClr val="E3AE2E"/>
                </a:solidFill>
                <a:latin typeface="Segoe UI" pitchFamily="34" charset="0"/>
                <a:ea typeface="Segoe UI" pitchFamily="34" charset="-122"/>
                <a:cs typeface="Segoe UI" pitchFamily="34" charset="-120"/>
              </a:rPr>
              <a:t>CE QUE CELA CHANGE</a:t>
            </a:r>
            <a:endParaRPr lang="en-US" sz="1200" dirty="0"/>
          </a:p>
        </p:txBody>
      </p:sp>
      <p:sp>
        <p:nvSpPr>
          <p:cNvPr id="7" name="Text 5"/>
          <p:cNvSpPr/>
          <p:nvPr/>
        </p:nvSpPr>
        <p:spPr>
          <a:xfrm>
            <a:off x="812780" y="3714750"/>
            <a:ext cx="10286743" cy="2413000"/>
          </a:xfrm>
          <a:prstGeom prst="rect">
            <a:avLst/>
          </a:prstGeom>
          <a:noFill/>
          <a:ln/>
        </p:spPr>
        <p:txBody>
          <a:bodyPr wrap="square" rtlCol="0" anchor="t">
            <a:normAutofit/>
          </a:bodyPr>
          <a:lstStyle/>
          <a:p>
            <a:pPr marL="203200" indent="-203200">
              <a:spcAft>
                <a:spcPts val="800"/>
              </a:spcAft>
              <a:buSzPct val="100000"/>
              <a:buChar char="•"/>
            </a:pPr>
            <a:r>
              <a:rPr lang="en-US" sz="1500" dirty="0">
                <a:solidFill>
                  <a:srgbClr val="FCFCFA"/>
                </a:solidFill>
                <a:latin typeface="Segoe UI" pitchFamily="34" charset="0"/>
                <a:ea typeface="Segoe UI" pitchFamily="34" charset="-122"/>
                <a:cs typeface="Segoe UI" pitchFamily="34" charset="-120"/>
              </a:rPr>
              <a:t>Une offre déposée en ligne est scellée sur le poste de l’entreprise : jusqu’à la séance, ni la PRMP, ni l’Administrateur, ni la plateforme ne peuvent en lire le contenu ou le prix.</a:t>
            </a:r>
            <a:endParaRPr lang="en-US" sz="1500" dirty="0"/>
          </a:p>
          <a:p>
            <a:pPr marL="203200" indent="-203200">
              <a:spcAft>
                <a:spcPts val="800"/>
              </a:spcAft>
              <a:buSzPct val="100000"/>
              <a:buChar char="•"/>
            </a:pPr>
            <a:r>
              <a:rPr lang="en-US" sz="1500" dirty="0">
                <a:solidFill>
                  <a:srgbClr val="FCFCFA"/>
                </a:solidFill>
                <a:latin typeface="Segoe UI" pitchFamily="34" charset="0"/>
                <a:ea typeface="Segoe UI" pitchFamily="34" charset="-122"/>
                <a:cs typeface="Segoe UI" pitchFamily="34" charset="-120"/>
              </a:rPr>
              <a:t>Chaque geste est daté par l’horloge du serveur et prouvé : accusé de dépôt avec empreinte, registre des retraits, registre des dépôts, et désormais toute tentative de dépôt refusée hors délai (art. 44).</a:t>
            </a:r>
            <a:endParaRPr lang="en-US" sz="1500" dirty="0"/>
          </a:p>
          <a:p>
            <a:pPr marL="203200" indent="-203200">
              <a:spcAft>
                <a:spcPts val="800"/>
              </a:spcAft>
              <a:buSzPct val="100000"/>
              <a:buChar char="•"/>
            </a:pPr>
            <a:r>
              <a:rPr lang="en-US" sz="1500" dirty="0">
                <a:solidFill>
                  <a:srgbClr val="FCFCFA"/>
                </a:solidFill>
                <a:latin typeface="Segoe UI" pitchFamily="34" charset="0"/>
                <a:ea typeface="Segoe UI" pitchFamily="34" charset="-122"/>
                <a:cs typeface="Segoe UI" pitchFamily="34" charset="-120"/>
              </a:rPr>
              <a:t>Les questions des candidats et leurs réponses sont publiées pour tous, sans nom d’auteur, jusqu’à dix jours avant la date limite (art. 35-II), puis jointes au dossier soumis à la Commission.</a:t>
            </a:r>
            <a:endParaRPr lang="en-US" sz="1500" dirty="0"/>
          </a:p>
        </p:txBody>
      </p:sp>
      <p:sp>
        <p:nvSpPr>
          <p:cNvPr id="8"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8FA6BB"/>
                </a:solidFill>
                <a:latin typeface="Segoe UI" pitchFamily="34" charset="0"/>
                <a:ea typeface="Segoe UI" pitchFamily="34" charset="-122"/>
                <a:cs typeface="Segoe UI" pitchFamily="34" charset="-120"/>
              </a:rPr>
              <a:t>PRS 2.0 · L’application de bout en bout · dossier de recette · 141</a:t>
            </a:r>
            <a:endParaRPr lang="en-US" sz="1100" dirty="0"/>
          </a:p>
        </p:txBody>
      </p:sp>
    </p:spTree>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name="Slide 14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RECEVOIR LES OFFRES EN LIGNE · LE PARCOURS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De l’avis publié à l’offre scellée</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L’entreprise agit seule, depuis son espace candidat ; la PRMP valide les frais de dossier et suit les registres ; la commission d’appel d’offres et le dépositaire détiennent les clés qui ouvriront les offres.</a:t>
            </a:r>
            <a:endParaRPr lang="en-US" sz="1300" dirty="0"/>
          </a:p>
        </p:txBody>
      </p:sp>
      <p:sp>
        <p:nvSpPr>
          <p:cNvPr id="5" name="Shape 3"/>
          <p:cNvSpPr/>
          <p:nvPr/>
        </p:nvSpPr>
        <p:spPr>
          <a:xfrm>
            <a:off x="812780" y="1778000"/>
            <a:ext cx="1389708" cy="1905000"/>
          </a:xfrm>
          <a:prstGeom prst="roundRect">
            <a:avLst>
              <a:gd name="adj" fmla="val 3948"/>
            </a:avLst>
          </a:prstGeom>
          <a:solidFill>
            <a:srgbClr val="FCFCFA"/>
          </a:solidFill>
          <a:ln w="19050">
            <a:solidFill>
              <a:srgbClr val="12324A"/>
            </a:solidFill>
            <a:prstDash val="solid"/>
          </a:ln>
        </p:spPr>
        <p:txBody>
          <a:bodyPr/>
          <a:lstStyle/>
          <a:p>
            <a:endParaRPr lang="fr-FR"/>
          </a:p>
        </p:txBody>
      </p:sp>
      <p:sp>
        <p:nvSpPr>
          <p:cNvPr id="6" name="Text 4"/>
          <p:cNvSpPr/>
          <p:nvPr/>
        </p:nvSpPr>
        <p:spPr>
          <a:xfrm>
            <a:off x="901677" y="1866900"/>
            <a:ext cx="12119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COMMISSION D’APPEL D’OFFRES, DÉPOSITAIRE</a:t>
            </a:r>
            <a:endParaRPr lang="en-US" sz="1000" dirty="0"/>
          </a:p>
        </p:txBody>
      </p:sp>
      <p:sp>
        <p:nvSpPr>
          <p:cNvPr id="7" name="Text 5"/>
          <p:cNvSpPr/>
          <p:nvPr/>
        </p:nvSpPr>
        <p:spPr>
          <a:xfrm>
            <a:off x="901677" y="2095500"/>
            <a:ext cx="12119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Les clés en place</a:t>
            </a:r>
            <a:endParaRPr lang="en-US" sz="1400" dirty="0"/>
          </a:p>
        </p:txBody>
      </p:sp>
      <p:sp>
        <p:nvSpPr>
          <p:cNvPr id="8" name="Text 6"/>
          <p:cNvSpPr/>
          <p:nvPr/>
        </p:nvSpPr>
        <p:spPr>
          <a:xfrm>
            <a:off x="901677" y="2603500"/>
            <a:ext cx="12119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Les membres de la commission et le dépositaire publient leur clé : sans cérémonie close, l’avis ne paraît pas.</a:t>
            </a:r>
            <a:endParaRPr lang="en-US" sz="1150" dirty="0"/>
          </a:p>
        </p:txBody>
      </p:sp>
      <p:sp>
        <p:nvSpPr>
          <p:cNvPr id="9" name="Text 7"/>
          <p:cNvSpPr/>
          <p:nvPr/>
        </p:nvSpPr>
        <p:spPr>
          <a:xfrm>
            <a:off x="2189788"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10" name="Shape 8"/>
          <p:cNvSpPr/>
          <p:nvPr/>
        </p:nvSpPr>
        <p:spPr>
          <a:xfrm>
            <a:off x="2342184" y="1778000"/>
            <a:ext cx="1389708" cy="1905000"/>
          </a:xfrm>
          <a:prstGeom prst="roundRect">
            <a:avLst>
              <a:gd name="adj" fmla="val 3948"/>
            </a:avLst>
          </a:prstGeom>
          <a:solidFill>
            <a:srgbClr val="FCFCFA"/>
          </a:solidFill>
          <a:ln w="19050">
            <a:solidFill>
              <a:srgbClr val="12324A"/>
            </a:solidFill>
            <a:prstDash val="solid"/>
          </a:ln>
        </p:spPr>
        <p:txBody>
          <a:bodyPr/>
          <a:lstStyle/>
          <a:p>
            <a:endParaRPr lang="fr-FR"/>
          </a:p>
        </p:txBody>
      </p:sp>
      <p:sp>
        <p:nvSpPr>
          <p:cNvPr id="11" name="Text 9"/>
          <p:cNvSpPr/>
          <p:nvPr/>
        </p:nvSpPr>
        <p:spPr>
          <a:xfrm>
            <a:off x="2431082" y="1866900"/>
            <a:ext cx="12119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CANDIDAT</a:t>
            </a:r>
            <a:endParaRPr lang="en-US" sz="1000" dirty="0"/>
          </a:p>
        </p:txBody>
      </p:sp>
      <p:sp>
        <p:nvSpPr>
          <p:cNvPr id="12" name="Text 10"/>
          <p:cNvSpPr/>
          <p:nvPr/>
        </p:nvSpPr>
        <p:spPr>
          <a:xfrm>
            <a:off x="2431082" y="2095500"/>
            <a:ext cx="12119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S’inscrire, déclarer son entreprise</a:t>
            </a:r>
            <a:endParaRPr lang="en-US" sz="1400" dirty="0"/>
          </a:p>
        </p:txBody>
      </p:sp>
      <p:sp>
        <p:nvSpPr>
          <p:cNvPr id="13" name="Text 11"/>
          <p:cNvSpPr/>
          <p:nvPr/>
        </p:nvSpPr>
        <p:spPr>
          <a:xfrm>
            <a:off x="2431082" y="2603500"/>
            <a:ext cx="12119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Un compte confirmé par un code reçu par courriel, puis l’entreprise déclarée une fois pour toutes (NIF, STAT, RCS).</a:t>
            </a:r>
            <a:endParaRPr lang="en-US" sz="1150" dirty="0"/>
          </a:p>
        </p:txBody>
      </p:sp>
      <p:sp>
        <p:nvSpPr>
          <p:cNvPr id="14" name="Text 12"/>
          <p:cNvSpPr/>
          <p:nvPr/>
        </p:nvSpPr>
        <p:spPr>
          <a:xfrm>
            <a:off x="3719193"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15" name="Shape 13"/>
          <p:cNvSpPr/>
          <p:nvPr/>
        </p:nvSpPr>
        <p:spPr>
          <a:xfrm>
            <a:off x="3871589" y="1778000"/>
            <a:ext cx="1389708" cy="1905000"/>
          </a:xfrm>
          <a:prstGeom prst="roundRect">
            <a:avLst>
              <a:gd name="adj" fmla="val 3948"/>
            </a:avLst>
          </a:prstGeom>
          <a:solidFill>
            <a:srgbClr val="FCFCFA"/>
          </a:solidFill>
          <a:ln w="19050">
            <a:solidFill>
              <a:srgbClr val="12324A"/>
            </a:solidFill>
            <a:prstDash val="solid"/>
          </a:ln>
        </p:spPr>
        <p:txBody>
          <a:bodyPr/>
          <a:lstStyle/>
          <a:p>
            <a:endParaRPr lang="fr-FR"/>
          </a:p>
        </p:txBody>
      </p:sp>
      <p:sp>
        <p:nvSpPr>
          <p:cNvPr id="16" name="Text 14"/>
          <p:cNvSpPr/>
          <p:nvPr/>
        </p:nvSpPr>
        <p:spPr>
          <a:xfrm>
            <a:off x="3960487" y="1866900"/>
            <a:ext cx="12119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CANDIDAT, PRMP</a:t>
            </a:r>
            <a:endParaRPr lang="en-US" sz="1000" dirty="0"/>
          </a:p>
        </p:txBody>
      </p:sp>
      <p:sp>
        <p:nvSpPr>
          <p:cNvPr id="17" name="Text 15"/>
          <p:cNvSpPr/>
          <p:nvPr/>
        </p:nvSpPr>
        <p:spPr>
          <a:xfrm>
            <a:off x="3960487" y="2095500"/>
            <a:ext cx="12119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Payer, puis retirer le dossier</a:t>
            </a:r>
            <a:endParaRPr lang="en-US" sz="1400" dirty="0"/>
          </a:p>
        </p:txBody>
      </p:sp>
      <p:sp>
        <p:nvSpPr>
          <p:cNvPr id="18" name="Text 16"/>
          <p:cNvSpPr/>
          <p:nvPr/>
        </p:nvSpPr>
        <p:spPr>
          <a:xfrm>
            <a:off x="3960487" y="2603500"/>
            <a:ext cx="12119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Le reçu du versement est déposé ; une fois validé, le dossier se retire et chaque retrait est inscrit au registre.</a:t>
            </a:r>
            <a:endParaRPr lang="en-US" sz="1150" dirty="0"/>
          </a:p>
        </p:txBody>
      </p:sp>
      <p:sp>
        <p:nvSpPr>
          <p:cNvPr id="19" name="Text 17"/>
          <p:cNvSpPr/>
          <p:nvPr/>
        </p:nvSpPr>
        <p:spPr>
          <a:xfrm>
            <a:off x="5248597"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20" name="Shape 18"/>
          <p:cNvSpPr/>
          <p:nvPr/>
        </p:nvSpPr>
        <p:spPr>
          <a:xfrm>
            <a:off x="5400994" y="1778000"/>
            <a:ext cx="1389708" cy="1905000"/>
          </a:xfrm>
          <a:prstGeom prst="roundRect">
            <a:avLst>
              <a:gd name="adj" fmla="val 3948"/>
            </a:avLst>
          </a:prstGeom>
          <a:solidFill>
            <a:srgbClr val="FCFCFA"/>
          </a:solidFill>
          <a:ln w="19050">
            <a:solidFill>
              <a:srgbClr val="12324A"/>
            </a:solidFill>
            <a:prstDash val="solid"/>
          </a:ln>
        </p:spPr>
        <p:txBody>
          <a:bodyPr/>
          <a:lstStyle/>
          <a:p>
            <a:endParaRPr lang="fr-FR"/>
          </a:p>
        </p:txBody>
      </p:sp>
      <p:sp>
        <p:nvSpPr>
          <p:cNvPr id="21" name="Text 19"/>
          <p:cNvSpPr/>
          <p:nvPr/>
        </p:nvSpPr>
        <p:spPr>
          <a:xfrm>
            <a:off x="5489891" y="1866900"/>
            <a:ext cx="12119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CANDIDAT, PRMP</a:t>
            </a:r>
            <a:endParaRPr lang="en-US" sz="1000" dirty="0"/>
          </a:p>
        </p:txBody>
      </p:sp>
      <p:sp>
        <p:nvSpPr>
          <p:cNvPr id="22" name="Text 20"/>
          <p:cNvSpPr/>
          <p:nvPr/>
        </p:nvSpPr>
        <p:spPr>
          <a:xfrm>
            <a:off x="5489891" y="2095500"/>
            <a:ext cx="12119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Poser ses questions</a:t>
            </a:r>
            <a:endParaRPr lang="en-US" sz="1400" dirty="0"/>
          </a:p>
        </p:txBody>
      </p:sp>
      <p:sp>
        <p:nvSpPr>
          <p:cNvPr id="23" name="Text 21"/>
          <p:cNvSpPr/>
          <p:nvPr/>
        </p:nvSpPr>
        <p:spPr>
          <a:xfrm>
            <a:off x="5489891" y="2603500"/>
            <a:ext cx="12119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Jusqu’à dix jours avant la date limite ; la réponse est diffusée à tous les candidats.</a:t>
            </a:r>
            <a:endParaRPr lang="en-US" sz="1150" dirty="0"/>
          </a:p>
        </p:txBody>
      </p:sp>
      <p:sp>
        <p:nvSpPr>
          <p:cNvPr id="24" name="Text 22"/>
          <p:cNvSpPr/>
          <p:nvPr/>
        </p:nvSpPr>
        <p:spPr>
          <a:xfrm>
            <a:off x="6778002"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25" name="Shape 23"/>
          <p:cNvSpPr/>
          <p:nvPr/>
        </p:nvSpPr>
        <p:spPr>
          <a:xfrm>
            <a:off x="6930398" y="1778000"/>
            <a:ext cx="1389708" cy="1905000"/>
          </a:xfrm>
          <a:prstGeom prst="roundRect">
            <a:avLst>
              <a:gd name="adj" fmla="val 3948"/>
            </a:avLst>
          </a:prstGeom>
          <a:solidFill>
            <a:srgbClr val="FCFCFA"/>
          </a:solidFill>
          <a:ln w="19050">
            <a:solidFill>
              <a:srgbClr val="12324A"/>
            </a:solidFill>
            <a:prstDash val="solid"/>
          </a:ln>
        </p:spPr>
        <p:txBody>
          <a:bodyPr/>
          <a:lstStyle/>
          <a:p>
            <a:endParaRPr lang="fr-FR"/>
          </a:p>
        </p:txBody>
      </p:sp>
      <p:sp>
        <p:nvSpPr>
          <p:cNvPr id="26" name="Text 24"/>
          <p:cNvSpPr/>
          <p:nvPr/>
        </p:nvSpPr>
        <p:spPr>
          <a:xfrm>
            <a:off x="7019296" y="1866900"/>
            <a:ext cx="12119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CANDIDAT</a:t>
            </a:r>
            <a:endParaRPr lang="en-US" sz="1000" dirty="0"/>
          </a:p>
        </p:txBody>
      </p:sp>
      <p:sp>
        <p:nvSpPr>
          <p:cNvPr id="27" name="Text 25"/>
          <p:cNvSpPr/>
          <p:nvPr/>
        </p:nvSpPr>
        <p:spPr>
          <a:xfrm>
            <a:off x="7019296" y="2095500"/>
            <a:ext cx="12119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Remplir l’offre en ligne</a:t>
            </a:r>
            <a:endParaRPr lang="en-US" sz="1400" dirty="0"/>
          </a:p>
        </p:txBody>
      </p:sp>
      <p:sp>
        <p:nvSpPr>
          <p:cNvPr id="28" name="Text 26"/>
          <p:cNvSpPr/>
          <p:nvPr/>
        </p:nvSpPr>
        <p:spPr>
          <a:xfrm>
            <a:off x="7019296" y="2603500"/>
            <a:ext cx="12119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Bordereau ou devis quantitatif, conformité, capacités, personnel, matériel : l’acte d’engagement se calcule.</a:t>
            </a:r>
            <a:endParaRPr lang="en-US" sz="1150" dirty="0"/>
          </a:p>
        </p:txBody>
      </p:sp>
      <p:sp>
        <p:nvSpPr>
          <p:cNvPr id="29" name="Text 27"/>
          <p:cNvSpPr/>
          <p:nvPr/>
        </p:nvSpPr>
        <p:spPr>
          <a:xfrm>
            <a:off x="8307407"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30" name="Shape 28"/>
          <p:cNvSpPr/>
          <p:nvPr/>
        </p:nvSpPr>
        <p:spPr>
          <a:xfrm>
            <a:off x="8459803" y="1778000"/>
            <a:ext cx="1389708" cy="1905000"/>
          </a:xfrm>
          <a:prstGeom prst="roundRect">
            <a:avLst>
              <a:gd name="adj" fmla="val 3948"/>
            </a:avLst>
          </a:prstGeom>
          <a:solidFill>
            <a:srgbClr val="FCFCFA"/>
          </a:solidFill>
          <a:ln w="19050">
            <a:solidFill>
              <a:srgbClr val="12324A"/>
            </a:solidFill>
            <a:prstDash val="solid"/>
          </a:ln>
        </p:spPr>
        <p:txBody>
          <a:bodyPr/>
          <a:lstStyle/>
          <a:p>
            <a:endParaRPr lang="fr-FR"/>
          </a:p>
        </p:txBody>
      </p:sp>
      <p:sp>
        <p:nvSpPr>
          <p:cNvPr id="31" name="Text 29"/>
          <p:cNvSpPr/>
          <p:nvPr/>
        </p:nvSpPr>
        <p:spPr>
          <a:xfrm>
            <a:off x="8548701" y="1866900"/>
            <a:ext cx="12119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CANDIDAT</a:t>
            </a:r>
            <a:endParaRPr lang="en-US" sz="1000" dirty="0"/>
          </a:p>
        </p:txBody>
      </p:sp>
      <p:sp>
        <p:nvSpPr>
          <p:cNvPr id="32" name="Text 30"/>
          <p:cNvSpPr/>
          <p:nvPr/>
        </p:nvSpPr>
        <p:spPr>
          <a:xfrm>
            <a:off x="8548701" y="2095500"/>
            <a:ext cx="12119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Sceller et déposer</a:t>
            </a:r>
            <a:endParaRPr lang="en-US" sz="1400" dirty="0"/>
          </a:p>
        </p:txBody>
      </p:sp>
      <p:sp>
        <p:nvSpPr>
          <p:cNvPr id="33" name="Text 31"/>
          <p:cNvSpPr/>
          <p:nvPr/>
        </p:nvSpPr>
        <p:spPr>
          <a:xfrm>
            <a:off x="8548701" y="2603500"/>
            <a:ext cx="12119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L’offre est chiffrée sur le poste de l’entreprise ; un accusé portant son empreinte est délivré.</a:t>
            </a:r>
            <a:endParaRPr lang="en-US" sz="1150" dirty="0"/>
          </a:p>
        </p:txBody>
      </p:sp>
      <p:sp>
        <p:nvSpPr>
          <p:cNvPr id="34" name="Text 32"/>
          <p:cNvSpPr/>
          <p:nvPr/>
        </p:nvSpPr>
        <p:spPr>
          <a:xfrm>
            <a:off x="9836811"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35" name="Shape 33"/>
          <p:cNvSpPr/>
          <p:nvPr/>
        </p:nvSpPr>
        <p:spPr>
          <a:xfrm>
            <a:off x="9989207" y="1778000"/>
            <a:ext cx="1389708" cy="1905000"/>
          </a:xfrm>
          <a:prstGeom prst="roundRect">
            <a:avLst>
              <a:gd name="adj" fmla="val 3948"/>
            </a:avLst>
          </a:prstGeom>
          <a:solidFill>
            <a:srgbClr val="12324A"/>
          </a:solidFill>
          <a:ln w="19050">
            <a:solidFill>
              <a:srgbClr val="12324A"/>
            </a:solidFill>
            <a:prstDash val="solid"/>
          </a:ln>
        </p:spPr>
        <p:txBody>
          <a:bodyPr/>
          <a:lstStyle/>
          <a:p>
            <a:endParaRPr lang="fr-FR"/>
          </a:p>
        </p:txBody>
      </p:sp>
      <p:sp>
        <p:nvSpPr>
          <p:cNvPr id="36" name="Text 34"/>
          <p:cNvSpPr/>
          <p:nvPr/>
        </p:nvSpPr>
        <p:spPr>
          <a:xfrm>
            <a:off x="10078105" y="1866900"/>
            <a:ext cx="1211913" cy="215900"/>
          </a:xfrm>
          <a:prstGeom prst="rect">
            <a:avLst/>
          </a:prstGeom>
          <a:noFill/>
          <a:ln/>
        </p:spPr>
        <p:txBody>
          <a:bodyPr wrap="square" rtlCol="0" anchor="ctr">
            <a:normAutofit/>
          </a:bodyPr>
          <a:lstStyle/>
          <a:p>
            <a:pPr marL="0" indent="0">
              <a:buNone/>
            </a:pPr>
            <a:r>
              <a:rPr lang="en-US" sz="1000" b="1" dirty="0">
                <a:solidFill>
                  <a:srgbClr val="E3AE2E"/>
                </a:solidFill>
                <a:latin typeface="Segoe UI" pitchFamily="34" charset="0"/>
                <a:ea typeface="Segoe UI" pitchFamily="34" charset="-122"/>
                <a:cs typeface="Segoe UI" pitchFamily="34" charset="-120"/>
              </a:rPr>
              <a:t>PRMP</a:t>
            </a:r>
            <a:endParaRPr lang="en-US" sz="1000" dirty="0"/>
          </a:p>
        </p:txBody>
      </p:sp>
      <p:sp>
        <p:nvSpPr>
          <p:cNvPr id="37" name="Text 35"/>
          <p:cNvSpPr/>
          <p:nvPr/>
        </p:nvSpPr>
        <p:spPr>
          <a:xfrm>
            <a:off x="10078105" y="2095500"/>
            <a:ext cx="1211913" cy="508000"/>
          </a:xfrm>
          <a:prstGeom prst="rect">
            <a:avLst/>
          </a:prstGeom>
          <a:noFill/>
          <a:ln/>
        </p:spPr>
        <p:txBody>
          <a:bodyPr wrap="square" rtlCol="0" anchor="t">
            <a:normAutofit/>
          </a:bodyPr>
          <a:lstStyle/>
          <a:p>
            <a:pPr marL="0" indent="0">
              <a:buNone/>
            </a:pPr>
            <a:r>
              <a:rPr lang="en-US" sz="1400" b="1" dirty="0">
                <a:solidFill>
                  <a:srgbClr val="FCFCFA"/>
                </a:solidFill>
                <a:latin typeface="Segoe UI" pitchFamily="34" charset="0"/>
                <a:ea typeface="Segoe UI" pitchFamily="34" charset="-122"/>
                <a:cs typeface="Segoe UI" pitchFamily="34" charset="-120"/>
              </a:rPr>
              <a:t>Les dépôts clos</a:t>
            </a:r>
            <a:endParaRPr lang="en-US" sz="1400" dirty="0"/>
          </a:p>
        </p:txBody>
      </p:sp>
      <p:sp>
        <p:nvSpPr>
          <p:cNvPr id="38" name="Text 36"/>
          <p:cNvSpPr/>
          <p:nvPr/>
        </p:nvSpPr>
        <p:spPr>
          <a:xfrm>
            <a:off x="10078105" y="2603500"/>
            <a:ext cx="1211913" cy="1016000"/>
          </a:xfrm>
          <a:prstGeom prst="rect">
            <a:avLst/>
          </a:prstGeom>
          <a:noFill/>
          <a:ln/>
        </p:spPr>
        <p:txBody>
          <a:bodyPr wrap="square" rtlCol="0" anchor="t">
            <a:normAutofit/>
          </a:bodyPr>
          <a:lstStyle/>
          <a:p>
            <a:pPr marL="0" indent="0">
              <a:buNone/>
            </a:pPr>
            <a:r>
              <a:rPr lang="en-US" sz="1150" dirty="0">
                <a:solidFill>
                  <a:srgbClr val="C9D6E2"/>
                </a:solidFill>
                <a:latin typeface="Segoe UI" pitchFamily="34" charset="0"/>
                <a:ea typeface="Segoe UI" pitchFamily="34" charset="-122"/>
                <a:cs typeface="Segoe UI" pitchFamily="34" charset="-120"/>
              </a:rPr>
              <a:t>À la date limite, la PRMP lit le registre complet ; toute tentative tardive est refusée et consignée.</a:t>
            </a:r>
            <a:endParaRPr lang="en-US" sz="1150" dirty="0"/>
          </a:p>
        </p:txBody>
      </p:sp>
      <p:sp>
        <p:nvSpPr>
          <p:cNvPr id="39" name="Text 37"/>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142</a:t>
            </a:r>
            <a:endParaRPr lang="en-US" sz="1100" dirty="0"/>
          </a:p>
        </p:txBody>
      </p:sp>
    </p:spTree>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name="Slide 143">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RECEVOIR LES OFFRES EN LIGNE</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Ceux qui ouvriront les offres</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Avant même la publication de l’avis, chaque membre de la commission d’appel d’offres et un dépositaire indépendant génèrent leur clé sur leur propre poste. Ce sont ces clés qui scellent les offres.</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143</a:t>
            </a:r>
            <a:endParaRPr lang="en-US" sz="1100" dirty="0"/>
          </a:p>
        </p:txBody>
      </p:sp>
    </p:spTree>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name="Slide 14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COMMISSION D’APPEL D’OFFRES · MEMBRE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procédures du membre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procédures du membr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Un membre de la commission d’appel d’offres, ici son président.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appels d’offres où il siège, avec sa qualité (</a:t>
            </a:r>
            <a:r>
              <a:rPr lang="en-US" sz="1200" b="1" dirty="0">
                <a:solidFill>
                  <a:srgbClr val="1B2A3A"/>
                </a:solidFill>
                <a:latin typeface="Segoe UI" pitchFamily="34" charset="0"/>
                <a:ea typeface="Segoe UI" pitchFamily="34" charset="-122"/>
                <a:cs typeface="Segoe UI" pitchFamily="34" charset="-120"/>
              </a:rPr>
              <a:t>président</a:t>
            </a:r>
            <a:r>
              <a:rPr lang="en-US" sz="1200" dirty="0">
                <a:solidFill>
                  <a:srgbClr val="1B2A3A"/>
                </a:solidFill>
                <a:latin typeface="Segoe UI" pitchFamily="34" charset="0"/>
                <a:ea typeface="Segoe UI" pitchFamily="34" charset="-122"/>
                <a:cs typeface="Segoe UI" pitchFamily="34" charset="-120"/>
              </a:rPr>
              <a:t>) et la date limite des offres.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Pour chacun, l’état de sa clé (« Clé publiée ») et celui de la cérémonie des clés (« Cérémonie close — clés publiées »).</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RG-OFF-25 · RG-OFF-27</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144</a:t>
            </a:r>
            <a:endParaRPr lang="en-US" sz="1100" dirty="0"/>
          </a:p>
        </p:txBody>
      </p:sp>
    </p:spTree>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name="Slide 14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COMMISSION D’APPEL D’OFFRES · MEMBRE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Sa part de clé</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Sa part de clé"/>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membre de la commission.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cérémonie : </a:t>
            </a:r>
            <a:r>
              <a:rPr lang="en-US" sz="1200" b="1" dirty="0">
                <a:solidFill>
                  <a:srgbClr val="1B2A3A"/>
                </a:solidFill>
                <a:latin typeface="Segoe UI" pitchFamily="34" charset="0"/>
                <a:ea typeface="Segoe UI" pitchFamily="34" charset="-122"/>
                <a:cs typeface="Segoe UI" pitchFamily="34" charset="-120"/>
              </a:rPr>
              <a:t>3 parts, quorum 2</a:t>
            </a:r>
            <a:r>
              <a:rPr lang="en-US" sz="1200" dirty="0">
                <a:solidFill>
                  <a:srgbClr val="1B2A3A"/>
                </a:solidFill>
                <a:latin typeface="Segoe UI" pitchFamily="34" charset="0"/>
                <a:ea typeface="Segoe UI" pitchFamily="34" charset="-122"/>
                <a:cs typeface="Segoe UI" pitchFamily="34" charset="-120"/>
              </a:rPr>
              <a:t>, close avant la publication de l’avis.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L’empreinte de sa clé publiée ; il peut </a:t>
            </a:r>
            <a:r>
              <a:rPr lang="en-US" sz="1200" b="1" dirty="0">
                <a:solidFill>
                  <a:srgbClr val="1B2A3A"/>
                </a:solidFill>
                <a:latin typeface="Segoe UI" pitchFamily="34" charset="0"/>
                <a:ea typeface="Segoe UI" pitchFamily="34" charset="-122"/>
                <a:cs typeface="Segoe UI" pitchFamily="34" charset="-120"/>
              </a:rPr>
              <a:t>vérifier sa part</a:t>
            </a:r>
            <a:r>
              <a:rPr lang="en-US" sz="1200" dirty="0">
                <a:solidFill>
                  <a:srgbClr val="1B2A3A"/>
                </a:solidFill>
                <a:latin typeface="Segoe UI" pitchFamily="34" charset="0"/>
                <a:ea typeface="Segoe UI" pitchFamily="34" charset="-122"/>
                <a:cs typeface="Segoe UI" pitchFamily="34" charset="-120"/>
              </a:rPr>
              <a:t>, en garder une copie, la remplacer ou la déclarer perdue.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L’écran avertit quand la marge est épuisée : une part de plus perdue rendrait les offres illisibles.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RG-OFF-27 · RG-OFF-28</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145</a:t>
            </a:r>
            <a:endParaRPr lang="en-US" sz="1100" dirty="0"/>
          </a:p>
        </p:txBody>
      </p:sp>
    </p:spTree>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name="Slide 14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DÉPOSITAIRE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L’espace du dépositaire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pace du dépositair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dépositaire de la part de secours.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Il génère sa clé </a:t>
            </a:r>
            <a:r>
              <a:rPr lang="en-US" sz="1200" b="1" dirty="0">
                <a:solidFill>
                  <a:srgbClr val="1B2A3A"/>
                </a:solidFill>
                <a:latin typeface="Segoe UI" pitchFamily="34" charset="0"/>
                <a:ea typeface="Segoe UI" pitchFamily="34" charset="-122"/>
                <a:cs typeface="Segoe UI" pitchFamily="34" charset="-120"/>
              </a:rPr>
              <a:t>sur son propre poste</a:t>
            </a:r>
            <a:r>
              <a:rPr lang="en-US" sz="1200" dirty="0">
                <a:solidFill>
                  <a:srgbClr val="1B2A3A"/>
                </a:solidFill>
                <a:latin typeface="Segoe UI" pitchFamily="34" charset="0"/>
                <a:ea typeface="Segoe UI" pitchFamily="34" charset="-122"/>
                <a:cs typeface="Segoe UI" pitchFamily="34" charset="-120"/>
              </a:rPr>
              <a:t> et garde seul la phrase qui la protège.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Il ne voit que l’état de sa part, de la cérémonie et de la séance : jamais les offres ni leurs pièces.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RG-OFF-29 · RG-OFF-30</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146</a:t>
            </a:r>
            <a:endParaRPr lang="en-US" sz="1100" dirty="0"/>
          </a:p>
        </p:txBody>
      </p:sp>
    </p:spTree>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name="Slide 147">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RECEVOIR LES OFFRES EN LIGNE</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L’entreprise entre dans la procédure</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Les procédures se consultent sans compte. Pour retirer le dossier et déposer une offre, l’entreprise ouvre un compte et se déclare une fois pour toutes.</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147</a:t>
            </a:r>
            <a:endParaRPr lang="en-US" sz="1100" dirty="0"/>
          </a:p>
        </p:txBody>
      </p:sp>
    </p:spTree>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name="Slide 14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CANDIDAT · PUBLIC</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procédures ouvertes</a:t>
            </a:r>
            <a:endParaRPr lang="en-US" sz="2600" dirty="0"/>
          </a:p>
        </p:txBody>
      </p:sp>
      <p:sp>
        <p:nvSpPr>
          <p:cNvPr id="4" name="Shape 2"/>
          <p:cNvSpPr/>
          <p:nvPr/>
        </p:nvSpPr>
        <p:spPr>
          <a:xfrm>
            <a:off x="800080" y="1193800"/>
            <a:ext cx="7327717" cy="4589463"/>
          </a:xfrm>
          <a:prstGeom prst="rect">
            <a:avLst/>
          </a:prstGeom>
          <a:solidFill>
            <a:srgbClr val="FCFCFA"/>
          </a:solidFill>
          <a:ln w="9525">
            <a:solidFill>
              <a:srgbClr val="D5DCE4"/>
            </a:solidFill>
            <a:prstDash val="solid"/>
          </a:ln>
        </p:spPr>
        <p:txBody>
          <a:bodyPr/>
          <a:lstStyle/>
          <a:p>
            <a:endParaRPr lang="fr-FR"/>
          </a:p>
        </p:txBody>
      </p:sp>
      <p:pic>
        <p:nvPicPr>
          <p:cNvPr id="5" name="Image 0" descr="Les procédures ouvertes"/>
          <p:cNvPicPr>
            <a:picLocks noChangeAspect="1"/>
          </p:cNvPicPr>
          <p:nvPr/>
        </p:nvPicPr>
        <p:blipFill>
          <a:blip r:embed="rId3"/>
          <a:stretch>
            <a:fillRect/>
          </a:stretch>
        </p:blipFill>
        <p:spPr>
          <a:xfrm>
            <a:off x="812780" y="1206500"/>
            <a:ext cx="7302317" cy="4564063"/>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Toute entreprise, sans compte.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Référence, objet, lots, date limite et heure de référence de chaque procédure en remise électronique.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date limite la plus proche d’abord. (Capture du 08/10 : toutes les procédures de démonstration sont closes aujourd’hui, la liste est vide.)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RG-OFF-06</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148</a:t>
            </a:r>
            <a:endParaRPr lang="en-US" sz="1100" dirty="0"/>
          </a:p>
        </p:txBody>
      </p:sp>
    </p:spTree>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name="Slide 14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CANDIDAT · PUBLIC</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détail d’une procédure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 détail d’une procédur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Toute entreprise, sans compte.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calendrier à l’</a:t>
            </a:r>
            <a:r>
              <a:rPr lang="en-US" sz="1200" b="1" dirty="0">
                <a:solidFill>
                  <a:srgbClr val="1B2A3A"/>
                </a:solidFill>
                <a:latin typeface="Segoe UI" pitchFamily="34" charset="0"/>
                <a:ea typeface="Segoe UI" pitchFamily="34" charset="-122"/>
                <a:cs typeface="Segoe UI" pitchFamily="34" charset="-120"/>
              </a:rPr>
              <a:t>heure du serveur</a:t>
            </a:r>
            <a:r>
              <a:rPr lang="en-US" sz="1200" dirty="0">
                <a:solidFill>
                  <a:srgbClr val="1B2A3A"/>
                </a:solidFill>
                <a:latin typeface="Segoe UI" pitchFamily="34" charset="0"/>
                <a:ea typeface="Segoe UI" pitchFamily="34" charset="-122"/>
                <a:cs typeface="Segoe UI" pitchFamily="34" charset="-120"/>
              </a:rPr>
              <a:t>, les lots, les règles de la remise électronique (signature simple, formats, tailles) et l’assistance.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Après la séance : le PV d’ouverture publié, puis le résultat de l’appel d’offres.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dossier se retire avec un compte ; les questions des candidats et les réponses diffusées se lisent ici.</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RG-OFF-06 · RG-OFF-07 · RG-OFF-34</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149</a:t>
            </a:r>
            <a:endParaRPr lang="en-US" sz="1100" dirty="0"/>
          </a:p>
        </p:txBody>
      </p:sp>
    </p:spTree>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name="Slide 15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CANDIDAT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Créer un compte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Créer un compt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personne qui représente l’entreprise.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 compte par entreprise : nom, adresse électronique (l’identifiant), téléphone, mot de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 </a:t>
            </a:r>
            <a:r>
              <a:rPr lang="en-US" sz="1200" b="1" dirty="0">
                <a:solidFill>
                  <a:srgbClr val="1B2A3A"/>
                </a:solidFill>
                <a:latin typeface="Segoe UI" pitchFamily="34" charset="0"/>
                <a:ea typeface="Segoe UI" pitchFamily="34" charset="-122"/>
                <a:cs typeface="Segoe UI" pitchFamily="34" charset="-120"/>
              </a:rPr>
              <a:t>code</a:t>
            </a:r>
            <a:r>
              <a:rPr lang="en-US" sz="1200" dirty="0">
                <a:solidFill>
                  <a:srgbClr val="1B2A3A"/>
                </a:solidFill>
                <a:latin typeface="Segoe UI" pitchFamily="34" charset="0"/>
                <a:ea typeface="Segoe UI" pitchFamily="34" charset="-122"/>
                <a:cs typeface="Segoe UI" pitchFamily="34" charset="-120"/>
              </a:rPr>
              <a:t> reçu par courriel confirme le compte.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RG-OFF-01</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150</a:t>
            </a:r>
            <a:endParaRPr lang="en-US" sz="1100" dirty="0"/>
          </a:p>
        </p:txBody>
      </p:sp>
    </p:spTree>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name="Slide 15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CANDIDAT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Son entreprise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Son entrepris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candidat.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Raison sociale, NIF, STAT, RCS, adresse et représentant, déclarés une fois ; un NIF, un STAT ou un RCS n’appartient qu’à une seule entreprise.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carte fiscale téléversée permet à l’Administrateur de </a:t>
            </a:r>
            <a:r>
              <a:rPr lang="en-US" sz="1200" b="1" dirty="0">
                <a:solidFill>
                  <a:srgbClr val="1B2A3A"/>
                </a:solidFill>
                <a:latin typeface="Segoe UI" pitchFamily="34" charset="0"/>
                <a:ea typeface="Segoe UI" pitchFamily="34" charset="-122"/>
                <a:cs typeface="Segoe UI" pitchFamily="34" charset="-120"/>
              </a:rPr>
              <a:t>vérifier le NIF</a:t>
            </a:r>
            <a:r>
              <a:rPr lang="en-US" sz="1200" dirty="0">
                <a:solidFill>
                  <a:srgbClr val="1B2A3A"/>
                </a:solidFill>
                <a:latin typeface="Segoe UI" pitchFamily="34" charset="0"/>
                <a:ea typeface="Segoe UI" pitchFamily="34" charset="-122"/>
                <a:cs typeface="Segoe UI" pitchFamily="34" charset="-120"/>
              </a:rPr>
              <a:t> ; la vérification ne bloque aucun dépôt, la commission en lit l’état à l’ouverture.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RG-OFF-02 · RG-OFF-03 · RG-OFF-04</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151</a:t>
            </a:r>
            <a:endParaRPr lang="en-US" sz="1100" dirty="0"/>
          </a:p>
        </p:txBody>
      </p:sp>
    </p:spTree>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name="Slide 152">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RECEVOIR LES OFFRES EN LIGNE</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Les frais de dossier, puis le retrait</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Quand la fiche fixe des frais, l’entreprise dépose le reçu de son versement ; la PRMP le valide ou le refuse avec un motif. La plateforme n’encaisse rien.</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152</a:t>
            </a:r>
            <a:endParaRPr lang="en-US" sz="1100" dirty="0"/>
          </a:p>
        </p:txBody>
      </p:sp>
    </p:spTree>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name="Slide 15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CANDIDAT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retrait attend le reçu</a:t>
            </a:r>
            <a:endParaRPr lang="en-US" sz="2600" dirty="0"/>
          </a:p>
        </p:txBody>
      </p:sp>
      <p:sp>
        <p:nvSpPr>
          <p:cNvPr id="4" name="Shape 2"/>
          <p:cNvSpPr/>
          <p:nvPr/>
        </p:nvSpPr>
        <p:spPr>
          <a:xfrm>
            <a:off x="1583090" y="1193800"/>
            <a:ext cx="9025515" cy="3327400"/>
          </a:xfrm>
          <a:prstGeom prst="rect">
            <a:avLst/>
          </a:prstGeom>
          <a:solidFill>
            <a:srgbClr val="FCFCFA"/>
          </a:solidFill>
          <a:ln w="9525">
            <a:solidFill>
              <a:srgbClr val="D5DCE4"/>
            </a:solidFill>
            <a:prstDash val="solid"/>
          </a:ln>
        </p:spPr>
        <p:txBody>
          <a:bodyPr/>
          <a:lstStyle/>
          <a:p>
            <a:endParaRPr lang="fr-FR"/>
          </a:p>
        </p:txBody>
      </p:sp>
      <p:pic>
        <p:nvPicPr>
          <p:cNvPr id="5" name="Image 0" descr="Le retrait attend le reçu"/>
          <p:cNvPicPr>
            <a:picLocks noChangeAspect="1"/>
          </p:cNvPicPr>
          <p:nvPr/>
        </p:nvPicPr>
        <p:blipFill>
          <a:blip r:embed="rId3"/>
          <a:stretch>
            <a:fillRect/>
          </a:stretch>
        </p:blipFill>
        <p:spPr>
          <a:xfrm>
            <a:off x="1595790" y="1206500"/>
            <a:ext cx="9000116" cy="3302000"/>
          </a:xfrm>
          <a:prstGeom prst="rect">
            <a:avLst/>
          </a:prstGeom>
        </p:spPr>
      </p:pic>
      <p:sp>
        <p:nvSpPr>
          <p:cNvPr id="6" name="Shape 3"/>
          <p:cNvSpPr/>
          <p:nvPr/>
        </p:nvSpPr>
        <p:spPr>
          <a:xfrm>
            <a:off x="812780" y="4660900"/>
            <a:ext cx="10566136" cy="16256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12780" y="4660900"/>
            <a:ext cx="38099" cy="1625600"/>
          </a:xfrm>
          <a:prstGeom prst="rect">
            <a:avLst/>
          </a:prstGeom>
          <a:solidFill>
            <a:srgbClr val="1B6FA8"/>
          </a:solidFill>
          <a:ln/>
        </p:spPr>
        <p:txBody>
          <a:bodyPr/>
          <a:lstStyle/>
          <a:p>
            <a:endParaRPr lang="fr-FR"/>
          </a:p>
        </p:txBody>
      </p:sp>
      <p:sp>
        <p:nvSpPr>
          <p:cNvPr id="8" name="Text 5"/>
          <p:cNvSpPr/>
          <p:nvPr/>
        </p:nvSpPr>
        <p:spPr>
          <a:xfrm>
            <a:off x="977876" y="4762500"/>
            <a:ext cx="10274043" cy="14351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candidat connecté.</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frais du dossier sont affichés ; les boutons « Retirer » restent inactifs et l’écran dit pourquoi.</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RG-OFF-09</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153</a:t>
            </a:r>
            <a:endParaRPr lang="en-US" sz="1100" dirty="0"/>
          </a:p>
        </p:txBody>
      </p:sp>
    </p:spTree>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name="Slide 15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CANDIDAT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Déposer le reçu du versement</a:t>
            </a:r>
            <a:endParaRPr lang="en-US" sz="2600" dirty="0"/>
          </a:p>
        </p:txBody>
      </p:sp>
      <p:sp>
        <p:nvSpPr>
          <p:cNvPr id="4" name="Shape 2"/>
          <p:cNvSpPr/>
          <p:nvPr/>
        </p:nvSpPr>
        <p:spPr>
          <a:xfrm>
            <a:off x="800080" y="1193800"/>
            <a:ext cx="10591535" cy="3083142"/>
          </a:xfrm>
          <a:prstGeom prst="rect">
            <a:avLst/>
          </a:prstGeom>
          <a:solidFill>
            <a:srgbClr val="FCFCFA"/>
          </a:solidFill>
          <a:ln w="9525">
            <a:solidFill>
              <a:srgbClr val="D5DCE4"/>
            </a:solidFill>
            <a:prstDash val="solid"/>
          </a:ln>
        </p:spPr>
        <p:txBody>
          <a:bodyPr/>
          <a:lstStyle/>
          <a:p>
            <a:endParaRPr lang="fr-FR"/>
          </a:p>
        </p:txBody>
      </p:sp>
      <p:pic>
        <p:nvPicPr>
          <p:cNvPr id="5" name="Image 0" descr="Déposer le reçu du versement"/>
          <p:cNvPicPr>
            <a:picLocks noChangeAspect="1"/>
          </p:cNvPicPr>
          <p:nvPr/>
        </p:nvPicPr>
        <p:blipFill>
          <a:blip r:embed="rId3"/>
          <a:stretch>
            <a:fillRect/>
          </a:stretch>
        </p:blipFill>
        <p:spPr>
          <a:xfrm>
            <a:off x="812780" y="1206500"/>
            <a:ext cx="10566136" cy="3057742"/>
          </a:xfrm>
          <a:prstGeom prst="rect">
            <a:avLst/>
          </a:prstGeom>
        </p:spPr>
      </p:pic>
      <p:sp>
        <p:nvSpPr>
          <p:cNvPr id="6" name="Shape 3"/>
          <p:cNvSpPr/>
          <p:nvPr/>
        </p:nvSpPr>
        <p:spPr>
          <a:xfrm>
            <a:off x="812780" y="4416642"/>
            <a:ext cx="10566136" cy="17907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12780" y="4416642"/>
            <a:ext cx="38099" cy="1790700"/>
          </a:xfrm>
          <a:prstGeom prst="rect">
            <a:avLst/>
          </a:prstGeom>
          <a:solidFill>
            <a:srgbClr val="1B6FA8"/>
          </a:solidFill>
          <a:ln/>
        </p:spPr>
        <p:txBody>
          <a:bodyPr/>
          <a:lstStyle/>
          <a:p>
            <a:endParaRPr lang="fr-FR"/>
          </a:p>
        </p:txBody>
      </p:sp>
      <p:sp>
        <p:nvSpPr>
          <p:cNvPr id="8" name="Text 5"/>
          <p:cNvSpPr/>
          <p:nvPr/>
        </p:nvSpPr>
        <p:spPr>
          <a:xfrm>
            <a:off x="977876" y="4518242"/>
            <a:ext cx="10274043" cy="16002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candidat.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Montant, référence, date, banque, lots couverts, et le reçu (PDF ou image).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RG-OFF-09 · RG-OFF-10</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154</a:t>
            </a:r>
            <a:endParaRPr lang="en-US" sz="1100" dirty="0"/>
          </a:p>
        </p:txBody>
      </p:sp>
    </p:spTree>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name="Slide 15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CANDIDAT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reçu attend la décision</a:t>
            </a:r>
            <a:endParaRPr lang="en-US" sz="2600" dirty="0"/>
          </a:p>
        </p:txBody>
      </p:sp>
      <p:sp>
        <p:nvSpPr>
          <p:cNvPr id="4" name="Shape 2"/>
          <p:cNvSpPr/>
          <p:nvPr/>
        </p:nvSpPr>
        <p:spPr>
          <a:xfrm>
            <a:off x="800080" y="1193800"/>
            <a:ext cx="10591535" cy="1509038"/>
          </a:xfrm>
          <a:prstGeom prst="rect">
            <a:avLst/>
          </a:prstGeom>
          <a:solidFill>
            <a:srgbClr val="FCFCFA"/>
          </a:solidFill>
          <a:ln w="9525">
            <a:solidFill>
              <a:srgbClr val="D5DCE4"/>
            </a:solidFill>
            <a:prstDash val="solid"/>
          </a:ln>
        </p:spPr>
        <p:txBody>
          <a:bodyPr/>
          <a:lstStyle/>
          <a:p>
            <a:endParaRPr lang="fr-FR"/>
          </a:p>
        </p:txBody>
      </p:sp>
      <p:pic>
        <p:nvPicPr>
          <p:cNvPr id="5" name="Image 0" descr="Le reçu attend la décision"/>
          <p:cNvPicPr>
            <a:picLocks noChangeAspect="1"/>
          </p:cNvPicPr>
          <p:nvPr/>
        </p:nvPicPr>
        <p:blipFill>
          <a:blip r:embed="rId3"/>
          <a:stretch>
            <a:fillRect/>
          </a:stretch>
        </p:blipFill>
        <p:spPr>
          <a:xfrm>
            <a:off x="812780" y="1206500"/>
            <a:ext cx="10566136" cy="1483638"/>
          </a:xfrm>
          <a:prstGeom prst="rect">
            <a:avLst/>
          </a:prstGeom>
        </p:spPr>
      </p:pic>
      <p:sp>
        <p:nvSpPr>
          <p:cNvPr id="6" name="Shape 3"/>
          <p:cNvSpPr/>
          <p:nvPr/>
        </p:nvSpPr>
        <p:spPr>
          <a:xfrm>
            <a:off x="812780" y="2842538"/>
            <a:ext cx="10566136" cy="17907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12780" y="2842538"/>
            <a:ext cx="38099" cy="1790700"/>
          </a:xfrm>
          <a:prstGeom prst="rect">
            <a:avLst/>
          </a:prstGeom>
          <a:solidFill>
            <a:srgbClr val="1B6FA8"/>
          </a:solidFill>
          <a:ln/>
        </p:spPr>
        <p:txBody>
          <a:bodyPr/>
          <a:lstStyle/>
          <a:p>
            <a:endParaRPr lang="fr-FR"/>
          </a:p>
        </p:txBody>
      </p:sp>
      <p:sp>
        <p:nvSpPr>
          <p:cNvPr id="8" name="Text 5"/>
          <p:cNvSpPr/>
          <p:nvPr/>
        </p:nvSpPr>
        <p:spPr>
          <a:xfrm>
            <a:off x="977876" y="2944138"/>
            <a:ext cx="10274043" cy="16002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candidat.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L’état du reçu et son document ; tant qu’il n’est pas validé, le dossier ne se retire pas.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RG-OFF-09 · RG-OFF-12</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155</a:t>
            </a:r>
            <a:endParaRPr lang="en-US" sz="1100" dirty="0"/>
          </a:p>
        </p:txBody>
      </p:sp>
    </p:spTree>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name="Slide 15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Refuser un reçu, avec un motif</a:t>
            </a:r>
            <a:endParaRPr lang="en-US" sz="2600" dirty="0"/>
          </a:p>
        </p:txBody>
      </p:sp>
      <p:sp>
        <p:nvSpPr>
          <p:cNvPr id="4" name="Shape 2"/>
          <p:cNvSpPr/>
          <p:nvPr/>
        </p:nvSpPr>
        <p:spPr>
          <a:xfrm>
            <a:off x="1765256" y="1193800"/>
            <a:ext cx="8661183" cy="3327400"/>
          </a:xfrm>
          <a:prstGeom prst="rect">
            <a:avLst/>
          </a:prstGeom>
          <a:solidFill>
            <a:srgbClr val="FCFCFA"/>
          </a:solidFill>
          <a:ln w="9525">
            <a:solidFill>
              <a:srgbClr val="D5DCE4"/>
            </a:solidFill>
            <a:prstDash val="solid"/>
          </a:ln>
        </p:spPr>
        <p:txBody>
          <a:bodyPr/>
          <a:lstStyle/>
          <a:p>
            <a:endParaRPr lang="fr-FR"/>
          </a:p>
        </p:txBody>
      </p:sp>
      <p:pic>
        <p:nvPicPr>
          <p:cNvPr id="5" name="Image 0" descr="Refuser un reçu, avec un motif"/>
          <p:cNvPicPr>
            <a:picLocks noChangeAspect="1"/>
          </p:cNvPicPr>
          <p:nvPr/>
        </p:nvPicPr>
        <p:blipFill>
          <a:blip r:embed="rId3"/>
          <a:stretch>
            <a:fillRect/>
          </a:stretch>
        </p:blipFill>
        <p:spPr>
          <a:xfrm>
            <a:off x="1777956" y="1206500"/>
            <a:ext cx="8635784" cy="3302000"/>
          </a:xfrm>
          <a:prstGeom prst="rect">
            <a:avLst/>
          </a:prstGeom>
        </p:spPr>
      </p:pic>
      <p:sp>
        <p:nvSpPr>
          <p:cNvPr id="6" name="Shape 3"/>
          <p:cNvSpPr/>
          <p:nvPr/>
        </p:nvSpPr>
        <p:spPr>
          <a:xfrm>
            <a:off x="812780" y="4660900"/>
            <a:ext cx="10566136" cy="16256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12780" y="4660900"/>
            <a:ext cx="38099" cy="1625600"/>
          </a:xfrm>
          <a:prstGeom prst="rect">
            <a:avLst/>
          </a:prstGeom>
          <a:solidFill>
            <a:srgbClr val="1B6FA8"/>
          </a:solidFill>
          <a:ln/>
        </p:spPr>
        <p:txBody>
          <a:bodyPr/>
          <a:lstStyle/>
          <a:p>
            <a:endParaRPr lang="fr-FR"/>
          </a:p>
        </p:txBody>
      </p:sp>
      <p:sp>
        <p:nvSpPr>
          <p:cNvPr id="8" name="Text 5"/>
          <p:cNvSpPr/>
          <p:nvPr/>
        </p:nvSpPr>
        <p:spPr>
          <a:xfrm>
            <a:off x="977876" y="4762500"/>
            <a:ext cx="10274043" cy="14351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ou son UGPM.</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refus exige un </a:t>
            </a:r>
            <a:r>
              <a:rPr lang="en-US" sz="1200" b="1" dirty="0">
                <a:solidFill>
                  <a:srgbClr val="1B2A3A"/>
                </a:solidFill>
                <a:latin typeface="Segoe UI" pitchFamily="34" charset="0"/>
                <a:ea typeface="Segoe UI" pitchFamily="34" charset="-122"/>
                <a:cs typeface="Segoe UI" pitchFamily="34" charset="-120"/>
              </a:rPr>
              <a:t>motif</a:t>
            </a:r>
            <a:r>
              <a:rPr lang="en-US" sz="1200" dirty="0">
                <a:solidFill>
                  <a:srgbClr val="1B2A3A"/>
                </a:solidFill>
                <a:latin typeface="Segoe UI" pitchFamily="34" charset="0"/>
                <a:ea typeface="Segoe UI" pitchFamily="34" charset="-122"/>
                <a:cs typeface="Segoe UI" pitchFamily="34" charset="-120"/>
              </a:rPr>
              <a:t>, transmis par courriel ; l’entreprise dépose un nouveau reçu.</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Une décision ne se reprend pas. La liste des reçus de la PRMP est présentée avec la préparation du DAO (partie 04).</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RG-OFF-11</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156</a:t>
            </a:r>
            <a:endParaRPr lang="en-US" sz="1100" dirty="0"/>
          </a:p>
        </p:txBody>
      </p:sp>
    </p:spTree>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name="Slide 15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CANDIDAT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Reçu refusé : le motif</a:t>
            </a:r>
            <a:endParaRPr lang="en-US" sz="2600" dirty="0"/>
          </a:p>
        </p:txBody>
      </p:sp>
      <p:sp>
        <p:nvSpPr>
          <p:cNvPr id="4" name="Shape 2"/>
          <p:cNvSpPr/>
          <p:nvPr/>
        </p:nvSpPr>
        <p:spPr>
          <a:xfrm>
            <a:off x="800080" y="1193800"/>
            <a:ext cx="10591535" cy="2359416"/>
          </a:xfrm>
          <a:prstGeom prst="rect">
            <a:avLst/>
          </a:prstGeom>
          <a:solidFill>
            <a:srgbClr val="FCFCFA"/>
          </a:solidFill>
          <a:ln w="9525">
            <a:solidFill>
              <a:srgbClr val="D5DCE4"/>
            </a:solidFill>
            <a:prstDash val="solid"/>
          </a:ln>
        </p:spPr>
        <p:txBody>
          <a:bodyPr/>
          <a:lstStyle/>
          <a:p>
            <a:endParaRPr lang="fr-FR"/>
          </a:p>
        </p:txBody>
      </p:sp>
      <p:pic>
        <p:nvPicPr>
          <p:cNvPr id="5" name="Image 0" descr="Reçu refusé : le motif"/>
          <p:cNvPicPr>
            <a:picLocks noChangeAspect="1"/>
          </p:cNvPicPr>
          <p:nvPr/>
        </p:nvPicPr>
        <p:blipFill>
          <a:blip r:embed="rId3"/>
          <a:stretch>
            <a:fillRect/>
          </a:stretch>
        </p:blipFill>
        <p:spPr>
          <a:xfrm>
            <a:off x="812780" y="1206500"/>
            <a:ext cx="10566136" cy="2334016"/>
          </a:xfrm>
          <a:prstGeom prst="rect">
            <a:avLst/>
          </a:prstGeom>
        </p:spPr>
      </p:pic>
      <p:sp>
        <p:nvSpPr>
          <p:cNvPr id="6" name="Shape 3"/>
          <p:cNvSpPr/>
          <p:nvPr/>
        </p:nvSpPr>
        <p:spPr>
          <a:xfrm>
            <a:off x="812780" y="3692916"/>
            <a:ext cx="10566136" cy="17907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12780" y="3692916"/>
            <a:ext cx="38099" cy="1790700"/>
          </a:xfrm>
          <a:prstGeom prst="rect">
            <a:avLst/>
          </a:prstGeom>
          <a:solidFill>
            <a:srgbClr val="1B6FA8"/>
          </a:solidFill>
          <a:ln/>
        </p:spPr>
        <p:txBody>
          <a:bodyPr/>
          <a:lstStyle/>
          <a:p>
            <a:endParaRPr lang="fr-FR"/>
          </a:p>
        </p:txBody>
      </p:sp>
      <p:sp>
        <p:nvSpPr>
          <p:cNvPr id="8" name="Text 5"/>
          <p:cNvSpPr/>
          <p:nvPr/>
        </p:nvSpPr>
        <p:spPr>
          <a:xfrm>
            <a:off x="977876" y="3794516"/>
            <a:ext cx="10274043" cy="16002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candidat.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L’ancien reçu et son motif restent visibles ; un nouveau dépôt est proposé.</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RG-OFF-11</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157</a:t>
            </a:r>
            <a:endParaRPr lang="en-US" sz="1100" dirty="0"/>
          </a:p>
        </p:txBody>
      </p:sp>
    </p:spTree>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name="Slide 15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CANDIDAT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Reçu validé : le dossier se retire</a:t>
            </a:r>
            <a:endParaRPr lang="en-US" sz="2600" dirty="0"/>
          </a:p>
        </p:txBody>
      </p:sp>
      <p:sp>
        <p:nvSpPr>
          <p:cNvPr id="4" name="Shape 2"/>
          <p:cNvSpPr/>
          <p:nvPr/>
        </p:nvSpPr>
        <p:spPr>
          <a:xfrm>
            <a:off x="800080" y="1193800"/>
            <a:ext cx="10591535" cy="1509038"/>
          </a:xfrm>
          <a:prstGeom prst="rect">
            <a:avLst/>
          </a:prstGeom>
          <a:solidFill>
            <a:srgbClr val="FCFCFA"/>
          </a:solidFill>
          <a:ln w="9525">
            <a:solidFill>
              <a:srgbClr val="D5DCE4"/>
            </a:solidFill>
            <a:prstDash val="solid"/>
          </a:ln>
        </p:spPr>
        <p:txBody>
          <a:bodyPr/>
          <a:lstStyle/>
          <a:p>
            <a:endParaRPr lang="fr-FR"/>
          </a:p>
        </p:txBody>
      </p:sp>
      <p:pic>
        <p:nvPicPr>
          <p:cNvPr id="5" name="Image 0" descr="Reçu validé : le dossier se retire"/>
          <p:cNvPicPr>
            <a:picLocks noChangeAspect="1"/>
          </p:cNvPicPr>
          <p:nvPr/>
        </p:nvPicPr>
        <p:blipFill>
          <a:blip r:embed="rId3"/>
          <a:stretch>
            <a:fillRect/>
          </a:stretch>
        </p:blipFill>
        <p:spPr>
          <a:xfrm>
            <a:off x="812780" y="1206500"/>
            <a:ext cx="10566136" cy="1483638"/>
          </a:xfrm>
          <a:prstGeom prst="rect">
            <a:avLst/>
          </a:prstGeom>
        </p:spPr>
      </p:pic>
      <p:sp>
        <p:nvSpPr>
          <p:cNvPr id="6" name="Shape 3"/>
          <p:cNvSpPr/>
          <p:nvPr/>
        </p:nvSpPr>
        <p:spPr>
          <a:xfrm>
            <a:off x="812780" y="2842538"/>
            <a:ext cx="10566136" cy="17907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12780" y="2842538"/>
            <a:ext cx="38099" cy="1790700"/>
          </a:xfrm>
          <a:prstGeom prst="rect">
            <a:avLst/>
          </a:prstGeom>
          <a:solidFill>
            <a:srgbClr val="1B6FA8"/>
          </a:solidFill>
          <a:ln/>
        </p:spPr>
        <p:txBody>
          <a:bodyPr/>
          <a:lstStyle/>
          <a:p>
            <a:endParaRPr lang="fr-FR"/>
          </a:p>
        </p:txBody>
      </p:sp>
      <p:sp>
        <p:nvSpPr>
          <p:cNvPr id="8" name="Text 5"/>
          <p:cNvSpPr/>
          <p:nvPr/>
        </p:nvSpPr>
        <p:spPr>
          <a:xfrm>
            <a:off x="977876" y="2944138"/>
            <a:ext cx="10274043" cy="16002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candidat.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boutons « Retirer » s’ouvrent, ainsi que « Déposer une offre ».</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RG-OFF-09 · RG-OFF-13</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158</a:t>
            </a:r>
            <a:endParaRPr lang="en-US" sz="1100" dirty="0"/>
          </a:p>
        </p:txBody>
      </p:sp>
    </p:spTree>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name="Slide 15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CANDIDAT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dossier à retirer</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 dossier à retirer"/>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candidat connecté.</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a:t>
            </a:r>
            <a:r>
              <a:rPr lang="en-US" sz="1200" b="1" dirty="0">
                <a:solidFill>
                  <a:srgbClr val="1B2A3A"/>
                </a:solidFill>
                <a:latin typeface="Segoe UI" pitchFamily="34" charset="0"/>
                <a:ea typeface="Segoe UI" pitchFamily="34" charset="-122"/>
                <a:cs typeface="Segoe UI" pitchFamily="34" charset="-120"/>
              </a:rPr>
              <a:t>dossier d’appel d’offres complet</a:t>
            </a:r>
            <a:r>
              <a:rPr lang="en-US" sz="1200" dirty="0">
                <a:solidFill>
                  <a:srgbClr val="1B2A3A"/>
                </a:solidFill>
                <a:latin typeface="Segoe UI" pitchFamily="34" charset="0"/>
                <a:ea typeface="Segoe UI" pitchFamily="34" charset="-122"/>
                <a:cs typeface="Segoe UI" pitchFamily="34" charset="-120"/>
              </a:rPr>
              <a:t> en Word et en PDF, le bordereau des prix et le tableau de conformité.</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Chaque retrait est inscrit au </a:t>
            </a:r>
            <a:r>
              <a:rPr lang="en-US" sz="1200" b="1" dirty="0">
                <a:solidFill>
                  <a:srgbClr val="1B2A3A"/>
                </a:solidFill>
                <a:latin typeface="Segoe UI" pitchFamily="34" charset="0"/>
                <a:ea typeface="Segoe UI" pitchFamily="34" charset="-122"/>
                <a:cs typeface="Segoe UI" pitchFamily="34" charset="-120"/>
              </a:rPr>
              <a:t>registre</a:t>
            </a:r>
            <a:r>
              <a:rPr lang="en-US" sz="1200" dirty="0">
                <a:solidFill>
                  <a:srgbClr val="1B2A3A"/>
                </a:solidFill>
                <a:latin typeface="Segoe UI" pitchFamily="34" charset="0"/>
                <a:ea typeface="Segoe UI" pitchFamily="34" charset="-122"/>
                <a:cs typeface="Segoe UI" pitchFamily="34" charset="-120"/>
              </a:rPr>
              <a:t> de la PRMP, avec le compte et l’entreprise (registre présenté en partie 04).</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RG-OFF-08</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159</a:t>
            </a:r>
            <a:endParaRPr lang="en-US" sz="1100" dirty="0"/>
          </a:p>
        </p:txBody>
      </p:sp>
    </p:spTree>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name="Slide 16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CANDIDAT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Sans reçu validé, pas de dépôt</a:t>
            </a:r>
            <a:endParaRPr lang="en-US" sz="2600" dirty="0"/>
          </a:p>
        </p:txBody>
      </p:sp>
      <p:sp>
        <p:nvSpPr>
          <p:cNvPr id="4" name="Shape 2"/>
          <p:cNvSpPr/>
          <p:nvPr/>
        </p:nvSpPr>
        <p:spPr>
          <a:xfrm>
            <a:off x="800080" y="1193800"/>
            <a:ext cx="10591535" cy="2300111"/>
          </a:xfrm>
          <a:prstGeom prst="rect">
            <a:avLst/>
          </a:prstGeom>
          <a:solidFill>
            <a:srgbClr val="FCFCFA"/>
          </a:solidFill>
          <a:ln w="9525">
            <a:solidFill>
              <a:srgbClr val="D5DCE4"/>
            </a:solidFill>
            <a:prstDash val="solid"/>
          </a:ln>
        </p:spPr>
        <p:txBody>
          <a:bodyPr/>
          <a:lstStyle/>
          <a:p>
            <a:endParaRPr lang="fr-FR"/>
          </a:p>
        </p:txBody>
      </p:sp>
      <p:pic>
        <p:nvPicPr>
          <p:cNvPr id="5" name="Image 0" descr="Sans reçu validé, pas de dépôt"/>
          <p:cNvPicPr>
            <a:picLocks noChangeAspect="1"/>
          </p:cNvPicPr>
          <p:nvPr/>
        </p:nvPicPr>
        <p:blipFill>
          <a:blip r:embed="rId3"/>
          <a:stretch>
            <a:fillRect/>
          </a:stretch>
        </p:blipFill>
        <p:spPr>
          <a:xfrm>
            <a:off x="812780" y="1206500"/>
            <a:ext cx="10566136" cy="2274711"/>
          </a:xfrm>
          <a:prstGeom prst="rect">
            <a:avLst/>
          </a:prstGeom>
        </p:spPr>
      </p:pic>
      <p:sp>
        <p:nvSpPr>
          <p:cNvPr id="6" name="Shape 3"/>
          <p:cNvSpPr/>
          <p:nvPr/>
        </p:nvSpPr>
        <p:spPr>
          <a:xfrm>
            <a:off x="812780" y="3633611"/>
            <a:ext cx="10566136" cy="17907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12780" y="3633611"/>
            <a:ext cx="38099" cy="1790700"/>
          </a:xfrm>
          <a:prstGeom prst="rect">
            <a:avLst/>
          </a:prstGeom>
          <a:solidFill>
            <a:srgbClr val="1B6FA8"/>
          </a:solidFill>
          <a:ln/>
        </p:spPr>
        <p:txBody>
          <a:bodyPr/>
          <a:lstStyle/>
          <a:p>
            <a:endParaRPr lang="fr-FR"/>
          </a:p>
        </p:txBody>
      </p:sp>
      <p:sp>
        <p:nvSpPr>
          <p:cNvPr id="8" name="Text 5"/>
          <p:cNvSpPr/>
          <p:nvPr/>
        </p:nvSpPr>
        <p:spPr>
          <a:xfrm>
            <a:off x="977876" y="3735211"/>
            <a:ext cx="10274043" cy="16002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candidat.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L’écran de dépôt ne s’ouvre pas et renvoie aux frais de dossier ; les formulaires de l’offre ne sont pas servis.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RG-OFF-12</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160</a:t>
            </a:r>
            <a:endParaRPr lang="en-US" sz="1100" dirty="0"/>
          </a:p>
        </p:txBody>
      </p:sp>
    </p:spTree>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name="Slide 16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PRESTATIONS INTELLECTUELLES · CANDIDAT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Mes invitations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Mes invitation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Un candidat invité à une consultation restreinte.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consultation restreinte n’est pas publiée : seule la lettre d’invitation y donne accès.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Son rang sur la liste restreinte, la date d’invitation, la date limite et la </a:t>
            </a:r>
            <a:r>
              <a:rPr lang="en-US" sz="1200" b="1" dirty="0">
                <a:solidFill>
                  <a:srgbClr val="1B2A3A"/>
                </a:solidFill>
                <a:latin typeface="Segoe UI" pitchFamily="34" charset="0"/>
                <a:ea typeface="Segoe UI" pitchFamily="34" charset="-122"/>
                <a:cs typeface="Segoe UI" pitchFamily="34" charset="-120"/>
              </a:rPr>
              <a:t>lettre d’invitation</a:t>
            </a:r>
            <a:r>
              <a:rPr lang="en-US" sz="1200" dirty="0">
                <a:solidFill>
                  <a:srgbClr val="1B2A3A"/>
                </a:solidFill>
                <a:latin typeface="Segoe UI" pitchFamily="34" charset="0"/>
                <a:ea typeface="Segoe UI" pitchFamily="34" charset="-122"/>
                <a:cs typeface="Segoe UI" pitchFamily="34" charset="-120"/>
              </a:rPr>
              <a:t> en PDF.</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RG-OFF-31</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161</a:t>
            </a:r>
            <a:endParaRPr lang="en-US" sz="1100" dirty="0"/>
          </a:p>
        </p:txBody>
      </p:sp>
    </p:spTree>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name="Slide 162">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RECEVOIR LES OFFRES EN LIGNE</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L’offre remplie en ligne</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Pour les fournitures et les travaux, l’entreprise remplit son offre dans des formulaires pré-remplis depuis la fiche DAO. Les captures sont celles des recettes du 05 au 08/10 : une offre en cours de saisie ne se reproduit plus sur des procédures closes.</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162</a:t>
            </a:r>
            <a:endParaRPr lang="en-US" sz="1100" dirty="0"/>
          </a:p>
        </p:txBody>
      </p:sp>
    </p:spTree>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name="Slide 16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CANDIDAT · FOURNITURES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bordereau des prix et le calendrier de livraison</a:t>
            </a:r>
            <a:endParaRPr lang="en-US" sz="2600" dirty="0"/>
          </a:p>
        </p:txBody>
      </p:sp>
      <p:sp>
        <p:nvSpPr>
          <p:cNvPr id="4" name="Shape 2"/>
          <p:cNvSpPr/>
          <p:nvPr/>
        </p:nvSpPr>
        <p:spPr>
          <a:xfrm>
            <a:off x="1536618" y="1193800"/>
            <a:ext cx="9118459" cy="3327400"/>
          </a:xfrm>
          <a:prstGeom prst="rect">
            <a:avLst/>
          </a:prstGeom>
          <a:solidFill>
            <a:srgbClr val="FCFCFA"/>
          </a:solidFill>
          <a:ln w="9525">
            <a:solidFill>
              <a:srgbClr val="D5DCE4"/>
            </a:solidFill>
            <a:prstDash val="solid"/>
          </a:ln>
        </p:spPr>
        <p:txBody>
          <a:bodyPr/>
          <a:lstStyle/>
          <a:p>
            <a:endParaRPr lang="fr-FR"/>
          </a:p>
        </p:txBody>
      </p:sp>
      <p:pic>
        <p:nvPicPr>
          <p:cNvPr id="5" name="Image 0" descr="Le bordereau des prix et le calendrier de livraison"/>
          <p:cNvPicPr>
            <a:picLocks noChangeAspect="1"/>
          </p:cNvPicPr>
          <p:nvPr/>
        </p:nvPicPr>
        <p:blipFill>
          <a:blip r:embed="rId3"/>
          <a:stretch>
            <a:fillRect/>
          </a:stretch>
        </p:blipFill>
        <p:spPr>
          <a:xfrm>
            <a:off x="1549318" y="1206500"/>
            <a:ext cx="9093060" cy="3302000"/>
          </a:xfrm>
          <a:prstGeom prst="rect">
            <a:avLst/>
          </a:prstGeom>
        </p:spPr>
      </p:pic>
      <p:sp>
        <p:nvSpPr>
          <p:cNvPr id="6" name="Shape 3"/>
          <p:cNvSpPr/>
          <p:nvPr/>
        </p:nvSpPr>
        <p:spPr>
          <a:xfrm>
            <a:off x="812780" y="4660900"/>
            <a:ext cx="10566136" cy="16256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12780" y="4660900"/>
            <a:ext cx="38099" cy="1625600"/>
          </a:xfrm>
          <a:prstGeom prst="rect">
            <a:avLst/>
          </a:prstGeom>
          <a:solidFill>
            <a:srgbClr val="1B6FA8"/>
          </a:solidFill>
          <a:ln/>
        </p:spPr>
        <p:txBody>
          <a:bodyPr/>
          <a:lstStyle/>
          <a:p>
            <a:endParaRPr lang="fr-FR"/>
          </a:p>
        </p:txBody>
      </p:sp>
      <p:sp>
        <p:nvSpPr>
          <p:cNvPr id="8" name="Text 5"/>
          <p:cNvSpPr/>
          <p:nvPr/>
        </p:nvSpPr>
        <p:spPr>
          <a:xfrm>
            <a:off x="977876" y="4762500"/>
            <a:ext cx="10274043" cy="14351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candidat.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prix unitaire et la date de livraison de chaque article ; pour un marché à commande, aux quantités minimales et maximales.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RG-OFF-14</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163</a:t>
            </a:r>
            <a:endParaRPr lang="en-US" sz="1100" dirty="0"/>
          </a:p>
        </p:txBody>
      </p:sp>
    </p:spTree>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name="Slide 16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CANDIDAT · FOURNITURES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conformité technique</a:t>
            </a:r>
            <a:endParaRPr lang="en-US" sz="2600" dirty="0"/>
          </a:p>
        </p:txBody>
      </p:sp>
      <p:sp>
        <p:nvSpPr>
          <p:cNvPr id="4" name="Shape 2"/>
          <p:cNvSpPr/>
          <p:nvPr/>
        </p:nvSpPr>
        <p:spPr>
          <a:xfrm>
            <a:off x="800080" y="1193800"/>
            <a:ext cx="7327717" cy="4420592"/>
          </a:xfrm>
          <a:prstGeom prst="rect">
            <a:avLst/>
          </a:prstGeom>
          <a:solidFill>
            <a:srgbClr val="FCFCFA"/>
          </a:solidFill>
          <a:ln w="9525">
            <a:solidFill>
              <a:srgbClr val="D5DCE4"/>
            </a:solidFill>
            <a:prstDash val="solid"/>
          </a:ln>
        </p:spPr>
        <p:txBody>
          <a:bodyPr/>
          <a:lstStyle/>
          <a:p>
            <a:endParaRPr lang="fr-FR"/>
          </a:p>
        </p:txBody>
      </p:sp>
      <p:pic>
        <p:nvPicPr>
          <p:cNvPr id="5" name="Image 0" descr="La conformité technique"/>
          <p:cNvPicPr>
            <a:picLocks noChangeAspect="1"/>
          </p:cNvPicPr>
          <p:nvPr/>
        </p:nvPicPr>
        <p:blipFill>
          <a:blip r:embed="rId3"/>
          <a:stretch>
            <a:fillRect/>
          </a:stretch>
        </p:blipFill>
        <p:spPr>
          <a:xfrm>
            <a:off x="812780" y="1206500"/>
            <a:ext cx="7302317" cy="4395192"/>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candidat.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Marque, modèle et, pour chaque caractéristique exigée, ce qui est proposé et s’il est conforme.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RG-OFF-14</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164</a:t>
            </a:r>
            <a:endParaRPr lang="en-US" sz="1100" dirty="0"/>
          </a:p>
        </p:txBody>
      </p:sp>
    </p:spTree>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name="Slide 16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CANDIDAT · FOURNITURES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avertissements, avant de déposer</a:t>
            </a:r>
            <a:endParaRPr lang="en-US" sz="2600" dirty="0"/>
          </a:p>
        </p:txBody>
      </p:sp>
      <p:sp>
        <p:nvSpPr>
          <p:cNvPr id="4" name="Shape 2"/>
          <p:cNvSpPr/>
          <p:nvPr/>
        </p:nvSpPr>
        <p:spPr>
          <a:xfrm>
            <a:off x="800080" y="1193800"/>
            <a:ext cx="10591535" cy="3314192"/>
          </a:xfrm>
          <a:prstGeom prst="rect">
            <a:avLst/>
          </a:prstGeom>
          <a:solidFill>
            <a:srgbClr val="FCFCFA"/>
          </a:solidFill>
          <a:ln w="9525">
            <a:solidFill>
              <a:srgbClr val="D5DCE4"/>
            </a:solidFill>
            <a:prstDash val="solid"/>
          </a:ln>
        </p:spPr>
        <p:txBody>
          <a:bodyPr/>
          <a:lstStyle/>
          <a:p>
            <a:endParaRPr lang="fr-FR"/>
          </a:p>
        </p:txBody>
      </p:sp>
      <p:pic>
        <p:nvPicPr>
          <p:cNvPr id="5" name="Image 0" descr="Les avertissements, avant de déposer"/>
          <p:cNvPicPr>
            <a:picLocks noChangeAspect="1"/>
          </p:cNvPicPr>
          <p:nvPr/>
        </p:nvPicPr>
        <p:blipFill>
          <a:blip r:embed="rId3"/>
          <a:stretch>
            <a:fillRect/>
          </a:stretch>
        </p:blipFill>
        <p:spPr>
          <a:xfrm>
            <a:off x="812780" y="1206500"/>
            <a:ext cx="10566136" cy="3288792"/>
          </a:xfrm>
          <a:prstGeom prst="rect">
            <a:avLst/>
          </a:prstGeom>
        </p:spPr>
      </p:pic>
      <p:sp>
        <p:nvSpPr>
          <p:cNvPr id="6" name="Shape 3"/>
          <p:cNvSpPr/>
          <p:nvPr/>
        </p:nvSpPr>
        <p:spPr>
          <a:xfrm>
            <a:off x="812780" y="4647692"/>
            <a:ext cx="10566136" cy="1638808"/>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12780" y="4647692"/>
            <a:ext cx="38099" cy="1638808"/>
          </a:xfrm>
          <a:prstGeom prst="rect">
            <a:avLst/>
          </a:prstGeom>
          <a:solidFill>
            <a:srgbClr val="1B6FA8"/>
          </a:solidFill>
          <a:ln/>
        </p:spPr>
        <p:txBody>
          <a:bodyPr/>
          <a:lstStyle/>
          <a:p>
            <a:endParaRPr lang="fr-FR"/>
          </a:p>
        </p:txBody>
      </p:sp>
      <p:sp>
        <p:nvSpPr>
          <p:cNvPr id="8" name="Text 5"/>
          <p:cNvSpPr/>
          <p:nvPr/>
        </p:nvSpPr>
        <p:spPr>
          <a:xfrm>
            <a:off x="977876" y="4749292"/>
            <a:ext cx="10274043" cy="1448308"/>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candidat.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Une non-conformité déclarée ou une livraison au-delà du délai : le candidat est averti, il peut déposer.</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mêmes contrôles seront rejoués en séance, en alertes pour la commission.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RG-OFF-18</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165</a:t>
            </a:r>
            <a:endParaRPr lang="en-US" sz="1100" dirty="0"/>
          </a:p>
        </p:txBody>
      </p:sp>
    </p:spTree>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name="Slide 16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CANDIDAT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L’acte d’engagement, calculé</a:t>
            </a:r>
            <a:endParaRPr lang="en-US" sz="2600" dirty="0"/>
          </a:p>
        </p:txBody>
      </p:sp>
      <p:sp>
        <p:nvSpPr>
          <p:cNvPr id="4" name="Shape 2"/>
          <p:cNvSpPr/>
          <p:nvPr/>
        </p:nvSpPr>
        <p:spPr>
          <a:xfrm>
            <a:off x="800080" y="1193800"/>
            <a:ext cx="10591535" cy="2594356"/>
          </a:xfrm>
          <a:prstGeom prst="rect">
            <a:avLst/>
          </a:prstGeom>
          <a:solidFill>
            <a:srgbClr val="FCFCFA"/>
          </a:solidFill>
          <a:ln w="9525">
            <a:solidFill>
              <a:srgbClr val="D5DCE4"/>
            </a:solidFill>
            <a:prstDash val="solid"/>
          </a:ln>
        </p:spPr>
        <p:txBody>
          <a:bodyPr/>
          <a:lstStyle/>
          <a:p>
            <a:endParaRPr lang="fr-FR"/>
          </a:p>
        </p:txBody>
      </p:sp>
      <p:pic>
        <p:nvPicPr>
          <p:cNvPr id="5" name="Image 0" descr="L’acte d’engagement, calculé"/>
          <p:cNvPicPr>
            <a:picLocks noChangeAspect="1"/>
          </p:cNvPicPr>
          <p:nvPr/>
        </p:nvPicPr>
        <p:blipFill>
          <a:blip r:embed="rId3"/>
          <a:stretch>
            <a:fillRect/>
          </a:stretch>
        </p:blipFill>
        <p:spPr>
          <a:xfrm>
            <a:off x="812780" y="1206500"/>
            <a:ext cx="10566136" cy="2568956"/>
          </a:xfrm>
          <a:prstGeom prst="rect">
            <a:avLst/>
          </a:prstGeom>
        </p:spPr>
      </p:pic>
      <p:sp>
        <p:nvSpPr>
          <p:cNvPr id="6" name="Shape 3"/>
          <p:cNvSpPr/>
          <p:nvPr/>
        </p:nvSpPr>
        <p:spPr>
          <a:xfrm>
            <a:off x="812780" y="3927856"/>
            <a:ext cx="10566136" cy="19939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12780" y="3927856"/>
            <a:ext cx="38099" cy="1993900"/>
          </a:xfrm>
          <a:prstGeom prst="rect">
            <a:avLst/>
          </a:prstGeom>
          <a:solidFill>
            <a:srgbClr val="1B6FA8"/>
          </a:solidFill>
          <a:ln/>
        </p:spPr>
        <p:txBody>
          <a:bodyPr/>
          <a:lstStyle/>
          <a:p>
            <a:endParaRPr lang="fr-FR"/>
          </a:p>
        </p:txBody>
      </p:sp>
      <p:sp>
        <p:nvSpPr>
          <p:cNvPr id="8" name="Text 5"/>
          <p:cNvSpPr/>
          <p:nvPr/>
        </p:nvSpPr>
        <p:spPr>
          <a:xfrm>
            <a:off x="977876" y="4029456"/>
            <a:ext cx="10274043" cy="18034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candidat.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montants ne se saisissent pas : ce sont ceux du bordereau.</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Restent le délai, la validité et le </a:t>
            </a:r>
            <a:r>
              <a:rPr lang="en-US" sz="1200" b="1" dirty="0">
                <a:solidFill>
                  <a:srgbClr val="1B2A3A"/>
                </a:solidFill>
                <a:latin typeface="Segoe UI" pitchFamily="34" charset="0"/>
                <a:ea typeface="Segoe UI" pitchFamily="34" charset="-122"/>
                <a:cs typeface="Segoe UI" pitchFamily="34" charset="-120"/>
              </a:rPr>
              <a:t>rabais</a:t>
            </a:r>
            <a:r>
              <a:rPr lang="en-US" sz="1200" dirty="0">
                <a:solidFill>
                  <a:srgbClr val="1B2A3A"/>
                </a:solidFill>
                <a:latin typeface="Segoe UI" pitchFamily="34" charset="0"/>
                <a:ea typeface="Segoe UI" pitchFamily="34" charset="-122"/>
                <a:cs typeface="Segoe UI" pitchFamily="34" charset="-120"/>
              </a:rPr>
              <a:t>, déclaré en pourcentage ou en montant, avec ou sans condition.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RG-OFF-16 · RG-OFF-17</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166</a:t>
            </a:r>
            <a:endParaRPr lang="en-US" sz="1100" dirty="0"/>
          </a:p>
        </p:txBody>
      </p:sp>
    </p:spTree>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name="Slide 16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CANDIDAT · TRAVAUX</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devis quantitatif et les prix en lettres</a:t>
            </a:r>
            <a:endParaRPr lang="en-US" sz="2600" dirty="0"/>
          </a:p>
        </p:txBody>
      </p:sp>
      <p:sp>
        <p:nvSpPr>
          <p:cNvPr id="4" name="Shape 2"/>
          <p:cNvSpPr/>
          <p:nvPr/>
        </p:nvSpPr>
        <p:spPr>
          <a:xfrm>
            <a:off x="2265902" y="1193800"/>
            <a:ext cx="7659891" cy="3327400"/>
          </a:xfrm>
          <a:prstGeom prst="rect">
            <a:avLst/>
          </a:prstGeom>
          <a:solidFill>
            <a:srgbClr val="FCFCFA"/>
          </a:solidFill>
          <a:ln w="9525">
            <a:solidFill>
              <a:srgbClr val="D5DCE4"/>
            </a:solidFill>
            <a:prstDash val="solid"/>
          </a:ln>
        </p:spPr>
        <p:txBody>
          <a:bodyPr/>
          <a:lstStyle/>
          <a:p>
            <a:endParaRPr lang="fr-FR"/>
          </a:p>
        </p:txBody>
      </p:sp>
      <p:pic>
        <p:nvPicPr>
          <p:cNvPr id="5" name="Image 0" descr="Le devis quantitatif et les prix en lettres"/>
          <p:cNvPicPr>
            <a:picLocks noChangeAspect="1"/>
          </p:cNvPicPr>
          <p:nvPr/>
        </p:nvPicPr>
        <p:blipFill>
          <a:blip r:embed="rId3"/>
          <a:stretch>
            <a:fillRect/>
          </a:stretch>
        </p:blipFill>
        <p:spPr>
          <a:xfrm>
            <a:off x="2278602" y="1206500"/>
            <a:ext cx="7634491" cy="3302000"/>
          </a:xfrm>
          <a:prstGeom prst="rect">
            <a:avLst/>
          </a:prstGeom>
        </p:spPr>
      </p:pic>
      <p:sp>
        <p:nvSpPr>
          <p:cNvPr id="6" name="Shape 3"/>
          <p:cNvSpPr/>
          <p:nvPr/>
        </p:nvSpPr>
        <p:spPr>
          <a:xfrm>
            <a:off x="812780" y="4660900"/>
            <a:ext cx="10566136" cy="16256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12780" y="4660900"/>
            <a:ext cx="38099" cy="1625600"/>
          </a:xfrm>
          <a:prstGeom prst="rect">
            <a:avLst/>
          </a:prstGeom>
          <a:solidFill>
            <a:srgbClr val="1B6FA8"/>
          </a:solidFill>
          <a:ln/>
        </p:spPr>
        <p:txBody>
          <a:bodyPr/>
          <a:lstStyle/>
          <a:p>
            <a:endParaRPr lang="fr-FR"/>
          </a:p>
        </p:txBody>
      </p:sp>
      <p:sp>
        <p:nvSpPr>
          <p:cNvPr id="8" name="Text 5"/>
          <p:cNvSpPr/>
          <p:nvPr/>
        </p:nvSpPr>
        <p:spPr>
          <a:xfrm>
            <a:off x="977876" y="4762500"/>
            <a:ext cx="10274043" cy="14351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candidat.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prix par série ; chaque prix s’écrit aussi </a:t>
            </a:r>
            <a:r>
              <a:rPr lang="en-US" sz="1200" b="1" dirty="0">
                <a:solidFill>
                  <a:srgbClr val="1B2A3A"/>
                </a:solidFill>
                <a:latin typeface="Segoe UI" pitchFamily="34" charset="0"/>
                <a:ea typeface="Segoe UI" pitchFamily="34" charset="-122"/>
                <a:cs typeface="Segoe UI" pitchFamily="34" charset="-120"/>
              </a:rPr>
              <a:t>en lettres</a:t>
            </a:r>
            <a:r>
              <a:rPr lang="en-US" sz="1200" dirty="0">
                <a:solidFill>
                  <a:srgbClr val="1B2A3A"/>
                </a:solidFill>
                <a:latin typeface="Segoe UI" pitchFamily="34" charset="0"/>
                <a:ea typeface="Segoe UI" pitchFamily="34" charset="-122"/>
                <a:cs typeface="Segoe UI" pitchFamily="34" charset="-120"/>
              </a:rPr>
              <a:t>, qui font foi.</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RG-OFF-14</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167</a:t>
            </a:r>
            <a:endParaRPr lang="en-US" sz="1100" dirty="0"/>
          </a:p>
        </p:txBody>
      </p:sp>
    </p:spTree>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name="Slide 16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CANDIDAT · TRAVAUX</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coefficient K1</a:t>
            </a:r>
            <a:endParaRPr lang="en-US" sz="2600" dirty="0"/>
          </a:p>
        </p:txBody>
      </p:sp>
      <p:sp>
        <p:nvSpPr>
          <p:cNvPr id="4" name="Shape 2"/>
          <p:cNvSpPr/>
          <p:nvPr/>
        </p:nvSpPr>
        <p:spPr>
          <a:xfrm>
            <a:off x="800080" y="1193800"/>
            <a:ext cx="7327717" cy="4370388"/>
          </a:xfrm>
          <a:prstGeom prst="rect">
            <a:avLst/>
          </a:prstGeom>
          <a:solidFill>
            <a:srgbClr val="FCFCFA"/>
          </a:solidFill>
          <a:ln w="9525">
            <a:solidFill>
              <a:srgbClr val="D5DCE4"/>
            </a:solidFill>
            <a:prstDash val="solid"/>
          </a:ln>
        </p:spPr>
        <p:txBody>
          <a:bodyPr/>
          <a:lstStyle/>
          <a:p>
            <a:endParaRPr lang="fr-FR"/>
          </a:p>
        </p:txBody>
      </p:sp>
      <p:pic>
        <p:nvPicPr>
          <p:cNvPr id="5" name="Image 0" descr="Le coefficient K1"/>
          <p:cNvPicPr>
            <a:picLocks noChangeAspect="1"/>
          </p:cNvPicPr>
          <p:nvPr/>
        </p:nvPicPr>
        <p:blipFill>
          <a:blip r:embed="rId3"/>
          <a:stretch>
            <a:fillRect/>
          </a:stretch>
        </p:blipFill>
        <p:spPr>
          <a:xfrm>
            <a:off x="812780" y="1206500"/>
            <a:ext cx="7302317" cy="4344988"/>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candidat.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neuf frais de l’annexe 2 de l’acte d’engagement ; le siège à Madagascar ou à l’étranger.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RG-OFF-15</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168</a:t>
            </a:r>
            <a:endParaRPr lang="en-US" sz="1100" dirty="0"/>
          </a:p>
        </p:txBody>
      </p:sp>
    </p:spTree>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name="Slide 16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CANDIDAT · TRAVAUX</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sous-détail d’un prix</a:t>
            </a:r>
            <a:endParaRPr lang="en-US" sz="2600" dirty="0"/>
          </a:p>
        </p:txBody>
      </p:sp>
      <p:sp>
        <p:nvSpPr>
          <p:cNvPr id="4" name="Shape 2"/>
          <p:cNvSpPr/>
          <p:nvPr/>
        </p:nvSpPr>
        <p:spPr>
          <a:xfrm>
            <a:off x="1209469" y="1193800"/>
            <a:ext cx="9772757" cy="3327400"/>
          </a:xfrm>
          <a:prstGeom prst="rect">
            <a:avLst/>
          </a:prstGeom>
          <a:solidFill>
            <a:srgbClr val="FCFCFA"/>
          </a:solidFill>
          <a:ln w="9525">
            <a:solidFill>
              <a:srgbClr val="D5DCE4"/>
            </a:solidFill>
            <a:prstDash val="solid"/>
          </a:ln>
        </p:spPr>
        <p:txBody>
          <a:bodyPr/>
          <a:lstStyle/>
          <a:p>
            <a:endParaRPr lang="fr-FR"/>
          </a:p>
        </p:txBody>
      </p:sp>
      <p:pic>
        <p:nvPicPr>
          <p:cNvPr id="5" name="Image 0" descr="Le sous-détail d’un prix"/>
          <p:cNvPicPr>
            <a:picLocks noChangeAspect="1"/>
          </p:cNvPicPr>
          <p:nvPr/>
        </p:nvPicPr>
        <p:blipFill>
          <a:blip r:embed="rId3"/>
          <a:stretch>
            <a:fillRect/>
          </a:stretch>
        </p:blipFill>
        <p:spPr>
          <a:xfrm>
            <a:off x="1222169" y="1206500"/>
            <a:ext cx="9747358" cy="3302000"/>
          </a:xfrm>
          <a:prstGeom prst="rect">
            <a:avLst/>
          </a:prstGeom>
        </p:spPr>
      </p:pic>
      <p:sp>
        <p:nvSpPr>
          <p:cNvPr id="6" name="Shape 3"/>
          <p:cNvSpPr/>
          <p:nvPr/>
        </p:nvSpPr>
        <p:spPr>
          <a:xfrm>
            <a:off x="812780" y="4660900"/>
            <a:ext cx="10566136" cy="16256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12780" y="4660900"/>
            <a:ext cx="38099" cy="1625600"/>
          </a:xfrm>
          <a:prstGeom prst="rect">
            <a:avLst/>
          </a:prstGeom>
          <a:solidFill>
            <a:srgbClr val="1B6FA8"/>
          </a:solidFill>
          <a:ln/>
        </p:spPr>
        <p:txBody>
          <a:bodyPr/>
          <a:lstStyle/>
          <a:p>
            <a:endParaRPr lang="fr-FR"/>
          </a:p>
        </p:txBody>
      </p:sp>
      <p:sp>
        <p:nvSpPr>
          <p:cNvPr id="8" name="Text 5"/>
          <p:cNvSpPr/>
          <p:nvPr/>
        </p:nvSpPr>
        <p:spPr>
          <a:xfrm>
            <a:off x="977876" y="4762500"/>
            <a:ext cx="10274043" cy="14351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candidat.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déboursés secs et le rendement ; le prix calculé est comparé au bordereau, un écart de plus de 1 % est signalé.</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RG-OFF-15</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169</a:t>
            </a:r>
            <a:endParaRPr lang="en-US" sz="1100" dirty="0"/>
          </a:p>
        </p:txBody>
      </p:sp>
    </p:spTree>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name="Slide 17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CANDIDAT · TRAVAUX</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capacités financières et techniques</a:t>
            </a:r>
            <a:endParaRPr lang="en-US" sz="2600" dirty="0"/>
          </a:p>
        </p:txBody>
      </p:sp>
      <p:sp>
        <p:nvSpPr>
          <p:cNvPr id="4" name="Shape 2"/>
          <p:cNvSpPr/>
          <p:nvPr/>
        </p:nvSpPr>
        <p:spPr>
          <a:xfrm>
            <a:off x="2459645" y="1193800"/>
            <a:ext cx="7272406" cy="3327400"/>
          </a:xfrm>
          <a:prstGeom prst="rect">
            <a:avLst/>
          </a:prstGeom>
          <a:solidFill>
            <a:srgbClr val="FCFCFA"/>
          </a:solidFill>
          <a:ln w="9525">
            <a:solidFill>
              <a:srgbClr val="D5DCE4"/>
            </a:solidFill>
            <a:prstDash val="solid"/>
          </a:ln>
        </p:spPr>
        <p:txBody>
          <a:bodyPr/>
          <a:lstStyle/>
          <a:p>
            <a:endParaRPr lang="fr-FR"/>
          </a:p>
        </p:txBody>
      </p:sp>
      <p:pic>
        <p:nvPicPr>
          <p:cNvPr id="5" name="Image 0" descr="Les capacités financières et techniques"/>
          <p:cNvPicPr>
            <a:picLocks noChangeAspect="1"/>
          </p:cNvPicPr>
          <p:nvPr/>
        </p:nvPicPr>
        <p:blipFill>
          <a:blip r:embed="rId3"/>
          <a:stretch>
            <a:fillRect/>
          </a:stretch>
        </p:blipFill>
        <p:spPr>
          <a:xfrm>
            <a:off x="2472344" y="1206500"/>
            <a:ext cx="7247007" cy="3302000"/>
          </a:xfrm>
          <a:prstGeom prst="rect">
            <a:avLst/>
          </a:prstGeom>
        </p:spPr>
      </p:pic>
      <p:sp>
        <p:nvSpPr>
          <p:cNvPr id="6" name="Shape 3"/>
          <p:cNvSpPr/>
          <p:nvPr/>
        </p:nvSpPr>
        <p:spPr>
          <a:xfrm>
            <a:off x="812780" y="4660900"/>
            <a:ext cx="10566136" cy="16256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12780" y="4660900"/>
            <a:ext cx="38099" cy="1625600"/>
          </a:xfrm>
          <a:prstGeom prst="rect">
            <a:avLst/>
          </a:prstGeom>
          <a:solidFill>
            <a:srgbClr val="1B6FA8"/>
          </a:solidFill>
          <a:ln/>
        </p:spPr>
        <p:txBody>
          <a:bodyPr/>
          <a:lstStyle/>
          <a:p>
            <a:endParaRPr lang="fr-FR"/>
          </a:p>
        </p:txBody>
      </p:sp>
      <p:sp>
        <p:nvSpPr>
          <p:cNvPr id="8" name="Text 5"/>
          <p:cNvSpPr/>
          <p:nvPr/>
        </p:nvSpPr>
        <p:spPr>
          <a:xfrm>
            <a:off x="977876" y="4762500"/>
            <a:ext cx="10274043" cy="14351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candidat.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Chiffre d’affaires et moyenne des meilleures années, liquidité face au seuil exigé, références de la période.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RG-OFF-15</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170</a:t>
            </a:r>
            <a:endParaRPr lang="en-US" sz="1100" dirty="0"/>
          </a:p>
        </p:txBody>
      </p:sp>
    </p:spTree>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name="Slide 17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CANDIDAT · TRAVAUX</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personnel proposé</a:t>
            </a:r>
            <a:endParaRPr lang="en-US" sz="2600" dirty="0"/>
          </a:p>
        </p:txBody>
      </p:sp>
      <p:sp>
        <p:nvSpPr>
          <p:cNvPr id="4" name="Shape 2"/>
          <p:cNvSpPr/>
          <p:nvPr/>
        </p:nvSpPr>
        <p:spPr>
          <a:xfrm>
            <a:off x="800080" y="1193800"/>
            <a:ext cx="10591535" cy="3089656"/>
          </a:xfrm>
          <a:prstGeom prst="rect">
            <a:avLst/>
          </a:prstGeom>
          <a:solidFill>
            <a:srgbClr val="FCFCFA"/>
          </a:solidFill>
          <a:ln w="9525">
            <a:solidFill>
              <a:srgbClr val="D5DCE4"/>
            </a:solidFill>
            <a:prstDash val="solid"/>
          </a:ln>
        </p:spPr>
        <p:txBody>
          <a:bodyPr/>
          <a:lstStyle/>
          <a:p>
            <a:endParaRPr lang="fr-FR"/>
          </a:p>
        </p:txBody>
      </p:sp>
      <p:pic>
        <p:nvPicPr>
          <p:cNvPr id="5" name="Image 0" descr="Le personnel proposé"/>
          <p:cNvPicPr>
            <a:picLocks noChangeAspect="1"/>
          </p:cNvPicPr>
          <p:nvPr/>
        </p:nvPicPr>
        <p:blipFill>
          <a:blip r:embed="rId3"/>
          <a:stretch>
            <a:fillRect/>
          </a:stretch>
        </p:blipFill>
        <p:spPr>
          <a:xfrm>
            <a:off x="812780" y="1206500"/>
            <a:ext cx="10566136" cy="3064256"/>
          </a:xfrm>
          <a:prstGeom prst="rect">
            <a:avLst/>
          </a:prstGeom>
        </p:spPr>
      </p:pic>
      <p:sp>
        <p:nvSpPr>
          <p:cNvPr id="6" name="Shape 3"/>
          <p:cNvSpPr/>
          <p:nvPr/>
        </p:nvSpPr>
        <p:spPr>
          <a:xfrm>
            <a:off x="812780" y="4423156"/>
            <a:ext cx="10566136" cy="17907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12780" y="4423156"/>
            <a:ext cx="38099" cy="1790700"/>
          </a:xfrm>
          <a:prstGeom prst="rect">
            <a:avLst/>
          </a:prstGeom>
          <a:solidFill>
            <a:srgbClr val="1B6FA8"/>
          </a:solidFill>
          <a:ln/>
        </p:spPr>
        <p:txBody>
          <a:bodyPr/>
          <a:lstStyle/>
          <a:p>
            <a:endParaRPr lang="fr-FR"/>
          </a:p>
        </p:txBody>
      </p:sp>
      <p:sp>
        <p:nvSpPr>
          <p:cNvPr id="8" name="Text 5"/>
          <p:cNvSpPr/>
          <p:nvPr/>
        </p:nvSpPr>
        <p:spPr>
          <a:xfrm>
            <a:off x="977876" y="4524756"/>
            <a:ext cx="10274043" cy="16002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candidat.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Une ligne par personne exigée par la fiche ; les CV et diplômes restent à joindre.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RG-OFF-15</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171</a:t>
            </a:r>
            <a:endParaRPr lang="en-US" sz="1100" dirty="0"/>
          </a:p>
        </p:txBody>
      </p:sp>
    </p:spTree>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name="Slide 17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CANDIDAT · TRAVAUX</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matériel proposé</a:t>
            </a:r>
            <a:endParaRPr lang="en-US" sz="2600" dirty="0"/>
          </a:p>
        </p:txBody>
      </p:sp>
      <p:sp>
        <p:nvSpPr>
          <p:cNvPr id="4" name="Shape 2"/>
          <p:cNvSpPr/>
          <p:nvPr/>
        </p:nvSpPr>
        <p:spPr>
          <a:xfrm>
            <a:off x="800080" y="1193800"/>
            <a:ext cx="7327717" cy="4187825"/>
          </a:xfrm>
          <a:prstGeom prst="rect">
            <a:avLst/>
          </a:prstGeom>
          <a:solidFill>
            <a:srgbClr val="FCFCFA"/>
          </a:solidFill>
          <a:ln w="9525">
            <a:solidFill>
              <a:srgbClr val="D5DCE4"/>
            </a:solidFill>
            <a:prstDash val="solid"/>
          </a:ln>
        </p:spPr>
        <p:txBody>
          <a:bodyPr/>
          <a:lstStyle/>
          <a:p>
            <a:endParaRPr lang="fr-FR"/>
          </a:p>
        </p:txBody>
      </p:sp>
      <p:pic>
        <p:nvPicPr>
          <p:cNvPr id="5" name="Image 0" descr="Le matériel proposé"/>
          <p:cNvPicPr>
            <a:picLocks noChangeAspect="1"/>
          </p:cNvPicPr>
          <p:nvPr/>
        </p:nvPicPr>
        <p:blipFill>
          <a:blip r:embed="rId3"/>
          <a:stretch>
            <a:fillRect/>
          </a:stretch>
        </p:blipFill>
        <p:spPr>
          <a:xfrm>
            <a:off x="812780" y="1206500"/>
            <a:ext cx="7302317" cy="416242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candidat.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Pour chaque matériel exigé, le nombre proposé, et combien en propre.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RG-OFF-15</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172</a:t>
            </a:r>
            <a:endParaRPr lang="en-US" sz="1100" dirty="0"/>
          </a:p>
        </p:txBody>
      </p:sp>
    </p:spTree>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name="Slide 17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CANDIDAT · TRAVAUX</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avertissements des travaux</a:t>
            </a:r>
            <a:endParaRPr lang="en-US" sz="2600" dirty="0"/>
          </a:p>
        </p:txBody>
      </p:sp>
      <p:sp>
        <p:nvSpPr>
          <p:cNvPr id="4" name="Shape 2"/>
          <p:cNvSpPr/>
          <p:nvPr/>
        </p:nvSpPr>
        <p:spPr>
          <a:xfrm>
            <a:off x="800080" y="1193800"/>
            <a:ext cx="10591535" cy="1965529"/>
          </a:xfrm>
          <a:prstGeom prst="rect">
            <a:avLst/>
          </a:prstGeom>
          <a:solidFill>
            <a:srgbClr val="FCFCFA"/>
          </a:solidFill>
          <a:ln w="9525">
            <a:solidFill>
              <a:srgbClr val="D5DCE4"/>
            </a:solidFill>
            <a:prstDash val="solid"/>
          </a:ln>
        </p:spPr>
        <p:txBody>
          <a:bodyPr/>
          <a:lstStyle/>
          <a:p>
            <a:endParaRPr lang="fr-FR"/>
          </a:p>
        </p:txBody>
      </p:sp>
      <p:pic>
        <p:nvPicPr>
          <p:cNvPr id="5" name="Image 0" descr="Les avertissements des travaux"/>
          <p:cNvPicPr>
            <a:picLocks noChangeAspect="1"/>
          </p:cNvPicPr>
          <p:nvPr/>
        </p:nvPicPr>
        <p:blipFill>
          <a:blip r:embed="rId3"/>
          <a:stretch>
            <a:fillRect/>
          </a:stretch>
        </p:blipFill>
        <p:spPr>
          <a:xfrm>
            <a:off x="812780" y="1206500"/>
            <a:ext cx="10566136" cy="1940129"/>
          </a:xfrm>
          <a:prstGeom prst="rect">
            <a:avLst/>
          </a:prstGeom>
        </p:spPr>
      </p:pic>
      <p:sp>
        <p:nvSpPr>
          <p:cNvPr id="6" name="Shape 3"/>
          <p:cNvSpPr/>
          <p:nvPr/>
        </p:nvSpPr>
        <p:spPr>
          <a:xfrm>
            <a:off x="812780" y="3299029"/>
            <a:ext cx="10566136" cy="17907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12780" y="3299029"/>
            <a:ext cx="38099" cy="1790700"/>
          </a:xfrm>
          <a:prstGeom prst="rect">
            <a:avLst/>
          </a:prstGeom>
          <a:solidFill>
            <a:srgbClr val="1B6FA8"/>
          </a:solidFill>
          <a:ln/>
        </p:spPr>
        <p:txBody>
          <a:bodyPr/>
          <a:lstStyle/>
          <a:p>
            <a:endParaRPr lang="fr-FR"/>
          </a:p>
        </p:txBody>
      </p:sp>
      <p:sp>
        <p:nvSpPr>
          <p:cNvPr id="8" name="Text 5"/>
          <p:cNvSpPr/>
          <p:nvPr/>
        </p:nvSpPr>
        <p:spPr>
          <a:xfrm>
            <a:off x="977876" y="3400629"/>
            <a:ext cx="10274043" cy="16002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candidat.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Chaque écart aux exigences est dit, chiffres à l’appui ; ce sont des avertissements, jamais un refus.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RG-OFF-18</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173</a:t>
            </a:r>
            <a:endParaRPr lang="en-US" sz="1100" dirty="0"/>
          </a:p>
        </p:txBody>
      </p:sp>
    </p:spTree>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name="Slide 17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CANDIDAT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Une saisie jamais perdue</a:t>
            </a:r>
            <a:endParaRPr lang="en-US" sz="2600" dirty="0"/>
          </a:p>
        </p:txBody>
      </p:sp>
      <p:sp>
        <p:nvSpPr>
          <p:cNvPr id="4" name="Shape 2"/>
          <p:cNvSpPr/>
          <p:nvPr/>
        </p:nvSpPr>
        <p:spPr>
          <a:xfrm>
            <a:off x="800080" y="1193800"/>
            <a:ext cx="10591535" cy="798068"/>
          </a:xfrm>
          <a:prstGeom prst="rect">
            <a:avLst/>
          </a:prstGeom>
          <a:solidFill>
            <a:srgbClr val="FCFCFA"/>
          </a:solidFill>
          <a:ln w="9525">
            <a:solidFill>
              <a:srgbClr val="D5DCE4"/>
            </a:solidFill>
            <a:prstDash val="solid"/>
          </a:ln>
        </p:spPr>
        <p:txBody>
          <a:bodyPr/>
          <a:lstStyle/>
          <a:p>
            <a:endParaRPr lang="fr-FR"/>
          </a:p>
        </p:txBody>
      </p:sp>
      <p:pic>
        <p:nvPicPr>
          <p:cNvPr id="5" name="Image 0" descr="Une saisie jamais perdue"/>
          <p:cNvPicPr>
            <a:picLocks noChangeAspect="1"/>
          </p:cNvPicPr>
          <p:nvPr/>
        </p:nvPicPr>
        <p:blipFill>
          <a:blip r:embed="rId3"/>
          <a:stretch>
            <a:fillRect/>
          </a:stretch>
        </p:blipFill>
        <p:spPr>
          <a:xfrm>
            <a:off x="812780" y="1206500"/>
            <a:ext cx="10566136" cy="772668"/>
          </a:xfrm>
          <a:prstGeom prst="rect">
            <a:avLst/>
          </a:prstGeom>
        </p:spPr>
      </p:pic>
      <p:sp>
        <p:nvSpPr>
          <p:cNvPr id="6" name="Shape 3"/>
          <p:cNvSpPr/>
          <p:nvPr/>
        </p:nvSpPr>
        <p:spPr>
          <a:xfrm>
            <a:off x="812780" y="2131568"/>
            <a:ext cx="10566136" cy="151765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12780" y="2131568"/>
            <a:ext cx="38099" cy="1517650"/>
          </a:xfrm>
          <a:prstGeom prst="rect">
            <a:avLst/>
          </a:prstGeom>
          <a:solidFill>
            <a:srgbClr val="1B6FA8"/>
          </a:solidFill>
          <a:ln/>
        </p:spPr>
        <p:txBody>
          <a:bodyPr/>
          <a:lstStyle/>
          <a:p>
            <a:endParaRPr lang="fr-FR"/>
          </a:p>
        </p:txBody>
      </p:sp>
      <p:sp>
        <p:nvSpPr>
          <p:cNvPr id="8" name="Text 5"/>
          <p:cNvSpPr/>
          <p:nvPr/>
        </p:nvSpPr>
        <p:spPr>
          <a:xfrm>
            <a:off x="977876" y="2233168"/>
            <a:ext cx="10274043" cy="132715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candidat.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Page fermée ou rechargée : la saisie est reprise.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Elle est gardée sur le poste du candidat seulement, jamais envoyée, et effacée au dépôt.</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174</a:t>
            </a:r>
            <a:endParaRPr lang="en-US" sz="1100" dirty="0"/>
          </a:p>
        </p:txBody>
      </p:sp>
    </p:spTree>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name="Slide 175">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RECEVOIR LES OFFRES EN LIGNE</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Le dépôt scellé</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L’offre est chiffrée dans le navigateur de l’entreprise avec les clés de la commission. La plateforme sait qui a déposé, quand et pour quel lot ; jamais un prix.</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175</a:t>
            </a:r>
            <a:endParaRPr lang="en-US" sz="1100" dirty="0"/>
          </a:p>
        </p:txBody>
      </p:sp>
    </p:spTree>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name="Slide 17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CANDIDAT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pièces remplies en ligne</a:t>
            </a:r>
            <a:endParaRPr lang="en-US" sz="2600" dirty="0"/>
          </a:p>
        </p:txBody>
      </p:sp>
      <p:sp>
        <p:nvSpPr>
          <p:cNvPr id="4" name="Shape 2"/>
          <p:cNvSpPr/>
          <p:nvPr/>
        </p:nvSpPr>
        <p:spPr>
          <a:xfrm>
            <a:off x="1856694" y="1193800"/>
            <a:ext cx="8478308" cy="3327400"/>
          </a:xfrm>
          <a:prstGeom prst="rect">
            <a:avLst/>
          </a:prstGeom>
          <a:solidFill>
            <a:srgbClr val="FCFCFA"/>
          </a:solidFill>
          <a:ln w="9525">
            <a:solidFill>
              <a:srgbClr val="D5DCE4"/>
            </a:solidFill>
            <a:prstDash val="solid"/>
          </a:ln>
        </p:spPr>
        <p:txBody>
          <a:bodyPr/>
          <a:lstStyle/>
          <a:p>
            <a:endParaRPr lang="fr-FR"/>
          </a:p>
        </p:txBody>
      </p:sp>
      <p:pic>
        <p:nvPicPr>
          <p:cNvPr id="5" name="Image 0" descr="Les pièces remplies en ligne"/>
          <p:cNvPicPr>
            <a:picLocks noChangeAspect="1"/>
          </p:cNvPicPr>
          <p:nvPr/>
        </p:nvPicPr>
        <p:blipFill>
          <a:blip r:embed="rId3"/>
          <a:stretch>
            <a:fillRect/>
          </a:stretch>
        </p:blipFill>
        <p:spPr>
          <a:xfrm>
            <a:off x="1869393" y="1206500"/>
            <a:ext cx="8452909" cy="3302000"/>
          </a:xfrm>
          <a:prstGeom prst="rect">
            <a:avLst/>
          </a:prstGeom>
        </p:spPr>
      </p:pic>
      <p:sp>
        <p:nvSpPr>
          <p:cNvPr id="6" name="Shape 3"/>
          <p:cNvSpPr/>
          <p:nvPr/>
        </p:nvSpPr>
        <p:spPr>
          <a:xfrm>
            <a:off x="812780" y="4660900"/>
            <a:ext cx="10566136" cy="16256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12780" y="4660900"/>
            <a:ext cx="38099" cy="1625600"/>
          </a:xfrm>
          <a:prstGeom prst="rect">
            <a:avLst/>
          </a:prstGeom>
          <a:solidFill>
            <a:srgbClr val="1B6FA8"/>
          </a:solidFill>
          <a:ln/>
        </p:spPr>
        <p:txBody>
          <a:bodyPr/>
          <a:lstStyle/>
          <a:p>
            <a:endParaRPr lang="fr-FR"/>
          </a:p>
        </p:txBody>
      </p:sp>
      <p:sp>
        <p:nvSpPr>
          <p:cNvPr id="8" name="Text 5"/>
          <p:cNvSpPr/>
          <p:nvPr/>
        </p:nvSpPr>
        <p:spPr>
          <a:xfrm>
            <a:off x="977876" y="4762500"/>
            <a:ext cx="10274043" cy="14351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candidat.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bordereau, la conformité et le calendrier sont marqués « Remplie en ligne » ; les autres pièces se joignent.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reçu des frais déjà validé n’est pas redemandé.</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RG-OFF-13 · RG-OFF-14</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176</a:t>
            </a:r>
            <a:endParaRPr lang="en-US" sz="1100" dirty="0"/>
          </a:p>
        </p:txBody>
      </p:sp>
    </p:spTree>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name="Slide 17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CANDIDAT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dépôt sans formulaires</a:t>
            </a:r>
            <a:endParaRPr lang="en-US" sz="2600" dirty="0"/>
          </a:p>
        </p:txBody>
      </p:sp>
      <p:sp>
        <p:nvSpPr>
          <p:cNvPr id="4" name="Shape 2"/>
          <p:cNvSpPr/>
          <p:nvPr/>
        </p:nvSpPr>
        <p:spPr>
          <a:xfrm>
            <a:off x="800080" y="1193800"/>
            <a:ext cx="7327717" cy="4589463"/>
          </a:xfrm>
          <a:prstGeom prst="rect">
            <a:avLst/>
          </a:prstGeom>
          <a:solidFill>
            <a:srgbClr val="FCFCFA"/>
          </a:solidFill>
          <a:ln w="9525">
            <a:solidFill>
              <a:srgbClr val="D5DCE4"/>
            </a:solidFill>
            <a:prstDash val="solid"/>
          </a:ln>
        </p:spPr>
        <p:txBody>
          <a:bodyPr/>
          <a:lstStyle/>
          <a:p>
            <a:endParaRPr lang="fr-FR"/>
          </a:p>
        </p:txBody>
      </p:sp>
      <p:pic>
        <p:nvPicPr>
          <p:cNvPr id="5" name="Image 0" descr="Le dépôt sans formulaires"/>
          <p:cNvPicPr>
            <a:picLocks noChangeAspect="1"/>
          </p:cNvPicPr>
          <p:nvPr/>
        </p:nvPicPr>
        <p:blipFill>
          <a:blip r:embed="rId3"/>
          <a:stretch>
            <a:fillRect/>
          </a:stretch>
        </p:blipFill>
        <p:spPr>
          <a:xfrm>
            <a:off x="812780" y="1206500"/>
            <a:ext cx="7302317" cy="4564063"/>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candidat.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Une procédure sans formulaires : les montants de l’acte d’engagement se saisissent.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temps restant s’affiche à l’horloge du serveur.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RG-OFF-16</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177</a:t>
            </a:r>
            <a:endParaRPr lang="en-US" sz="1100" dirty="0"/>
          </a:p>
        </p:txBody>
      </p:sp>
    </p:spTree>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name="Slide 17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CANDIDAT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pièces, puis le scellement</a:t>
            </a:r>
            <a:endParaRPr lang="en-US" sz="2600" dirty="0"/>
          </a:p>
        </p:txBody>
      </p:sp>
      <p:sp>
        <p:nvSpPr>
          <p:cNvPr id="4" name="Shape 2"/>
          <p:cNvSpPr/>
          <p:nvPr/>
        </p:nvSpPr>
        <p:spPr>
          <a:xfrm>
            <a:off x="800080" y="1193800"/>
            <a:ext cx="7327717" cy="4589463"/>
          </a:xfrm>
          <a:prstGeom prst="rect">
            <a:avLst/>
          </a:prstGeom>
          <a:solidFill>
            <a:srgbClr val="FCFCFA"/>
          </a:solidFill>
          <a:ln w="9525">
            <a:solidFill>
              <a:srgbClr val="D5DCE4"/>
            </a:solidFill>
            <a:prstDash val="solid"/>
          </a:ln>
        </p:spPr>
        <p:txBody>
          <a:bodyPr/>
          <a:lstStyle/>
          <a:p>
            <a:endParaRPr lang="fr-FR"/>
          </a:p>
        </p:txBody>
      </p:sp>
      <p:pic>
        <p:nvPicPr>
          <p:cNvPr id="5" name="Image 0" descr="Les pièces, puis le scellement"/>
          <p:cNvPicPr>
            <a:picLocks noChangeAspect="1"/>
          </p:cNvPicPr>
          <p:nvPr/>
        </p:nvPicPr>
        <p:blipFill>
          <a:blip r:embed="rId3"/>
          <a:stretch>
            <a:fillRect/>
          </a:stretch>
        </p:blipFill>
        <p:spPr>
          <a:xfrm>
            <a:off x="812780" y="1206500"/>
            <a:ext cx="7302317" cy="4564063"/>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candidat.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Chaque pièce attendue est contrôlée (type, taille) ; puis « </a:t>
            </a:r>
            <a:r>
              <a:rPr lang="en-US" sz="1200" b="1" dirty="0">
                <a:solidFill>
                  <a:srgbClr val="1B2A3A"/>
                </a:solidFill>
                <a:latin typeface="Segoe UI" pitchFamily="34" charset="0"/>
                <a:ea typeface="Segoe UI" pitchFamily="34" charset="-122"/>
                <a:cs typeface="Segoe UI" pitchFamily="34" charset="-120"/>
              </a:rPr>
              <a:t>Sceller et déposer</a:t>
            </a:r>
            <a:r>
              <a:rPr lang="en-US" sz="1200" dirty="0">
                <a:solidFill>
                  <a:srgbClr val="1B2A3A"/>
                </a:solidFill>
                <a:latin typeface="Segoe UI" pitchFamily="34" charset="0"/>
                <a:ea typeface="Segoe UI" pitchFamily="34" charset="-122"/>
                <a:cs typeface="Segoe UI" pitchFamily="34" charset="-120"/>
              </a:rPr>
              <a:t> » : l’offre est chiffrée sur le poste, pour les détenteurs des clés de la procédure.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RG-OFF-19 · RG-OFF-20</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178</a:t>
            </a:r>
            <a:endParaRPr lang="en-US" sz="1100" dirty="0"/>
          </a:p>
        </p:txBody>
      </p:sp>
    </p:spTree>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name="Slide 17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CANDIDAT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L’accusé de dépôt</a:t>
            </a:r>
            <a:endParaRPr lang="en-US" sz="2600" dirty="0"/>
          </a:p>
        </p:txBody>
      </p:sp>
      <p:sp>
        <p:nvSpPr>
          <p:cNvPr id="4" name="Shape 2"/>
          <p:cNvSpPr/>
          <p:nvPr/>
        </p:nvSpPr>
        <p:spPr>
          <a:xfrm>
            <a:off x="800080" y="1193800"/>
            <a:ext cx="7327717" cy="4589463"/>
          </a:xfrm>
          <a:prstGeom prst="rect">
            <a:avLst/>
          </a:prstGeom>
          <a:solidFill>
            <a:srgbClr val="FCFCFA"/>
          </a:solidFill>
          <a:ln w="9525">
            <a:solidFill>
              <a:srgbClr val="D5DCE4"/>
            </a:solidFill>
            <a:prstDash val="solid"/>
          </a:ln>
        </p:spPr>
        <p:txBody>
          <a:bodyPr/>
          <a:lstStyle/>
          <a:p>
            <a:endParaRPr lang="fr-FR"/>
          </a:p>
        </p:txBody>
      </p:sp>
      <p:pic>
        <p:nvPicPr>
          <p:cNvPr id="5" name="Image 0" descr="L’accusé de dépôt"/>
          <p:cNvPicPr>
            <a:picLocks noChangeAspect="1"/>
          </p:cNvPicPr>
          <p:nvPr/>
        </p:nvPicPr>
        <p:blipFill>
          <a:blip r:embed="rId3"/>
          <a:stretch>
            <a:fillRect/>
          </a:stretch>
        </p:blipFill>
        <p:spPr>
          <a:xfrm>
            <a:off x="812780" y="1206500"/>
            <a:ext cx="7302317" cy="4564063"/>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candidat.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L’heure du dépôt, le numéro d’arrivée et l’</a:t>
            </a:r>
            <a:r>
              <a:rPr lang="en-US" sz="1200" b="1" dirty="0">
                <a:solidFill>
                  <a:srgbClr val="1B2A3A"/>
                </a:solidFill>
                <a:latin typeface="Segoe UI" pitchFamily="34" charset="0"/>
                <a:ea typeface="Segoe UI" pitchFamily="34" charset="-122"/>
                <a:cs typeface="Segoe UI" pitchFamily="34" charset="-120"/>
              </a:rPr>
              <a:t>empreinte</a:t>
            </a:r>
            <a:r>
              <a:rPr lang="en-US" sz="1200" dirty="0">
                <a:solidFill>
                  <a:srgbClr val="1B2A3A"/>
                </a:solidFill>
                <a:latin typeface="Segoe UI" pitchFamily="34" charset="0"/>
                <a:ea typeface="Segoe UI" pitchFamily="34" charset="-122"/>
                <a:cs typeface="Segoe UI" pitchFamily="34" charset="-120"/>
              </a:rPr>
              <a:t> de l’offre ; l’accusé en PDF.</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Personne ne peut lire l’offre avant la séance.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RG-OFF-22</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179</a:t>
            </a:r>
            <a:endParaRPr lang="en-US" sz="1100" dirty="0"/>
          </a:p>
        </p:txBody>
      </p:sp>
    </p:spTree>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name="Slide 18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PRESTATIONS INTELLECTUELLES · CANDIDAT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Déposer l’enveloppe technique</a:t>
            </a:r>
            <a:endParaRPr lang="en-US" sz="2600" dirty="0"/>
          </a:p>
        </p:txBody>
      </p:sp>
      <p:sp>
        <p:nvSpPr>
          <p:cNvPr id="4" name="Shape 2"/>
          <p:cNvSpPr/>
          <p:nvPr/>
        </p:nvSpPr>
        <p:spPr>
          <a:xfrm>
            <a:off x="800080" y="1193800"/>
            <a:ext cx="3699441" cy="5105400"/>
          </a:xfrm>
          <a:prstGeom prst="rect">
            <a:avLst/>
          </a:prstGeom>
          <a:solidFill>
            <a:srgbClr val="FCFCFA"/>
          </a:solidFill>
          <a:ln w="9525">
            <a:solidFill>
              <a:srgbClr val="D5DCE4"/>
            </a:solidFill>
            <a:prstDash val="solid"/>
          </a:ln>
        </p:spPr>
        <p:txBody>
          <a:bodyPr/>
          <a:lstStyle/>
          <a:p>
            <a:endParaRPr lang="fr-FR"/>
          </a:p>
        </p:txBody>
      </p:sp>
      <p:pic>
        <p:nvPicPr>
          <p:cNvPr id="5" name="Image 0" descr="Déposer l’enveloppe technique"/>
          <p:cNvPicPr>
            <a:picLocks noChangeAspect="1"/>
          </p:cNvPicPr>
          <p:nvPr/>
        </p:nvPicPr>
        <p:blipFill>
          <a:blip r:embed="rId3"/>
          <a:stretch>
            <a:fillRect/>
          </a:stretch>
        </p:blipFill>
        <p:spPr>
          <a:xfrm>
            <a:off x="812780" y="1206500"/>
            <a:ext cx="3674042" cy="5080000"/>
          </a:xfrm>
          <a:prstGeom prst="rect">
            <a:avLst/>
          </a:prstGeom>
        </p:spPr>
      </p:pic>
      <p:sp>
        <p:nvSpPr>
          <p:cNvPr id="6" name="Shape 3"/>
          <p:cNvSpPr/>
          <p:nvPr/>
        </p:nvSpPr>
        <p:spPr>
          <a:xfrm>
            <a:off x="4664617" y="1206500"/>
            <a:ext cx="6714299"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4664617" y="1206500"/>
            <a:ext cx="38099" cy="5080000"/>
          </a:xfrm>
          <a:prstGeom prst="rect">
            <a:avLst/>
          </a:prstGeom>
          <a:solidFill>
            <a:srgbClr val="1B6FA8"/>
          </a:solidFill>
          <a:ln/>
        </p:spPr>
        <p:txBody>
          <a:bodyPr/>
          <a:lstStyle/>
          <a:p>
            <a:endParaRPr lang="fr-FR"/>
          </a:p>
        </p:txBody>
      </p:sp>
      <p:sp>
        <p:nvSpPr>
          <p:cNvPr id="8" name="Text 5"/>
          <p:cNvSpPr/>
          <p:nvPr/>
        </p:nvSpPr>
        <p:spPr>
          <a:xfrm>
            <a:off x="4829713" y="1308100"/>
            <a:ext cx="6422206"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candidat invité.</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Deux enveloppes, déposées l’une après l’autre : la </a:t>
            </a:r>
            <a:r>
              <a:rPr lang="en-US" sz="1200" b="1" dirty="0">
                <a:solidFill>
                  <a:srgbClr val="1B2A3A"/>
                </a:solidFill>
                <a:latin typeface="Segoe UI" pitchFamily="34" charset="0"/>
                <a:ea typeface="Segoe UI" pitchFamily="34" charset="-122"/>
                <a:cs typeface="Segoe UI" pitchFamily="34" charset="-120"/>
              </a:rPr>
              <a:t>technique</a:t>
            </a:r>
            <a:r>
              <a:rPr lang="en-US" sz="1200" dirty="0">
                <a:solidFill>
                  <a:srgbClr val="1B2A3A"/>
                </a:solidFill>
                <a:latin typeface="Segoe UI" pitchFamily="34" charset="0"/>
                <a:ea typeface="Segoe UI" pitchFamily="34" charset="-122"/>
                <a:cs typeface="Segoe UI" pitchFamily="34" charset="-120"/>
              </a:rPr>
              <a:t> ne demande ni ne scelle aucun montant, l’écran le rappelle.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RG-OFF-32</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180</a:t>
            </a:r>
            <a:endParaRPr lang="en-US" sz="1100" dirty="0"/>
          </a:p>
        </p:txBody>
      </p:sp>
    </p:spTree>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name="Slide 18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PRESTATIONS INTELLECTUELLES · CANDIDAT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L’accusé d’une proposition complète</a:t>
            </a:r>
            <a:endParaRPr lang="en-US" sz="2600" dirty="0"/>
          </a:p>
        </p:txBody>
      </p:sp>
      <p:sp>
        <p:nvSpPr>
          <p:cNvPr id="4" name="Shape 2"/>
          <p:cNvSpPr/>
          <p:nvPr/>
        </p:nvSpPr>
        <p:spPr>
          <a:xfrm>
            <a:off x="800080" y="1193800"/>
            <a:ext cx="7327717" cy="4589463"/>
          </a:xfrm>
          <a:prstGeom prst="rect">
            <a:avLst/>
          </a:prstGeom>
          <a:solidFill>
            <a:srgbClr val="FCFCFA"/>
          </a:solidFill>
          <a:ln w="9525">
            <a:solidFill>
              <a:srgbClr val="D5DCE4"/>
            </a:solidFill>
            <a:prstDash val="solid"/>
          </a:ln>
        </p:spPr>
        <p:txBody>
          <a:bodyPr/>
          <a:lstStyle/>
          <a:p>
            <a:endParaRPr lang="fr-FR"/>
          </a:p>
        </p:txBody>
      </p:sp>
      <p:pic>
        <p:nvPicPr>
          <p:cNvPr id="5" name="Image 0" descr="L’accusé d’une proposition complète"/>
          <p:cNvPicPr>
            <a:picLocks noChangeAspect="1"/>
          </p:cNvPicPr>
          <p:nvPr/>
        </p:nvPicPr>
        <p:blipFill>
          <a:blip r:embed="rId3"/>
          <a:stretch>
            <a:fillRect/>
          </a:stretch>
        </p:blipFill>
        <p:spPr>
          <a:xfrm>
            <a:off x="812780" y="1206500"/>
            <a:ext cx="7302317" cy="4564063"/>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candidat invité.</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L’accusé de l’enveloppe financière porte l’empreinte de l’enveloppe technique : la proposition est complète.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RG-OFF-32</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181</a:t>
            </a:r>
            <a:endParaRPr lang="en-US" sz="1100" dirty="0"/>
          </a:p>
        </p:txBody>
      </p:sp>
    </p:spTree>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name="Slide 18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CANDIDAT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Mes offres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Mes offre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candidat.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Chaque offre déposée avec sa date, son numéro d’arrivée, sa taille, son </a:t>
            </a:r>
            <a:r>
              <a:rPr lang="en-US" sz="1200" b="1" dirty="0">
                <a:solidFill>
                  <a:srgbClr val="1B2A3A"/>
                </a:solidFill>
                <a:latin typeface="Segoe UI" pitchFamily="34" charset="0"/>
                <a:ea typeface="Segoe UI" pitchFamily="34" charset="-122"/>
                <a:cs typeface="Segoe UI" pitchFamily="34" charset="-120"/>
              </a:rPr>
              <a:t>empreinte</a:t>
            </a:r>
            <a:r>
              <a:rPr lang="en-US" sz="1200" dirty="0">
                <a:solidFill>
                  <a:srgbClr val="1B2A3A"/>
                </a:solidFill>
                <a:latin typeface="Segoe UI" pitchFamily="34" charset="0"/>
                <a:ea typeface="Segoe UI" pitchFamily="34" charset="-122"/>
                <a:cs typeface="Segoe UI" pitchFamily="34" charset="-120"/>
              </a:rPr>
              <a:t> et son accusé en PDF ; une proposition de prestations intellectuelles en deux enveloppes.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Avant la date limite, et si la fiche le permet : </a:t>
            </a:r>
            <a:r>
              <a:rPr lang="en-US" sz="1200" b="1" dirty="0">
                <a:solidFill>
                  <a:srgbClr val="1B2A3A"/>
                </a:solidFill>
                <a:latin typeface="Segoe UI" pitchFamily="34" charset="0"/>
                <a:ea typeface="Segoe UI" pitchFamily="34" charset="-122"/>
                <a:cs typeface="Segoe UI" pitchFamily="34" charset="-120"/>
              </a:rPr>
              <a:t>remplacer</a:t>
            </a:r>
            <a:r>
              <a:rPr lang="en-US" sz="1200" dirty="0">
                <a:solidFill>
                  <a:srgbClr val="1B2A3A"/>
                </a:solidFill>
                <a:latin typeface="Segoe UI" pitchFamily="34" charset="0"/>
                <a:ea typeface="Segoe UI" pitchFamily="34" charset="-122"/>
                <a:cs typeface="Segoe UI" pitchFamily="34" charset="-120"/>
              </a:rPr>
              <a:t> ou </a:t>
            </a:r>
            <a:r>
              <a:rPr lang="en-US" sz="1200" b="1" dirty="0">
                <a:solidFill>
                  <a:srgbClr val="1B2A3A"/>
                </a:solidFill>
                <a:latin typeface="Segoe UI" pitchFamily="34" charset="0"/>
                <a:ea typeface="Segoe UI" pitchFamily="34" charset="-122"/>
                <a:cs typeface="Segoe UI" pitchFamily="34" charset="-120"/>
              </a:rPr>
              <a:t>retirer</a:t>
            </a:r>
            <a:r>
              <a:rPr lang="en-US" sz="1200" dirty="0">
                <a:solidFill>
                  <a:srgbClr val="1B2A3A"/>
                </a:solidFill>
                <a:latin typeface="Segoe UI" pitchFamily="34" charset="0"/>
                <a:ea typeface="Segoe UI" pitchFamily="34" charset="-122"/>
                <a:cs typeface="Segoe UI" pitchFamily="34" charset="-120"/>
              </a:rPr>
              <a:t> son offre.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Plus bas, les demandes reçues pendant l’évaluation et le résultat (parties 08 et 09).</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RG-OFF-21 · RG-OFF-22 · RG-OFF-23 · RG-OFF-32</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182</a:t>
            </a:r>
            <a:endParaRPr lang="en-US" sz="1100" dirty="0"/>
          </a:p>
        </p:txBody>
      </p:sp>
    </p:spTree>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name="Slide 183">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RECEVOIR LES OFFRES EN LIGNE</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Les registres de la PRMP</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La PRMP suit les dépôts sans jamais en connaître le contenu. Depuis le 14/10, les tentatives de dépôt après l’échéance sont refusées et consignées (art. 44).</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183</a:t>
            </a:r>
            <a:endParaRPr lang="en-US" sz="1100" dirty="0"/>
          </a:p>
        </p:txBody>
      </p:sp>
    </p:spTree>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name="Slide 18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registre, avant l’échéance</a:t>
            </a:r>
            <a:endParaRPr lang="en-US" sz="2600" dirty="0"/>
          </a:p>
        </p:txBody>
      </p:sp>
      <p:sp>
        <p:nvSpPr>
          <p:cNvPr id="4" name="Shape 2"/>
          <p:cNvSpPr/>
          <p:nvPr/>
        </p:nvSpPr>
        <p:spPr>
          <a:xfrm>
            <a:off x="800080" y="1193800"/>
            <a:ext cx="7327717" cy="4589463"/>
          </a:xfrm>
          <a:prstGeom prst="rect">
            <a:avLst/>
          </a:prstGeom>
          <a:solidFill>
            <a:srgbClr val="FCFCFA"/>
          </a:solidFill>
          <a:ln w="9525">
            <a:solidFill>
              <a:srgbClr val="D5DCE4"/>
            </a:solidFill>
            <a:prstDash val="solid"/>
          </a:ln>
        </p:spPr>
        <p:txBody>
          <a:bodyPr/>
          <a:lstStyle/>
          <a:p>
            <a:endParaRPr lang="fr-FR"/>
          </a:p>
        </p:txBody>
      </p:sp>
      <p:pic>
        <p:nvPicPr>
          <p:cNvPr id="5" name="Image 0" descr="Le registre, avant l’échéance"/>
          <p:cNvPicPr>
            <a:picLocks noChangeAspect="1"/>
          </p:cNvPicPr>
          <p:nvPr/>
        </p:nvPicPr>
        <p:blipFill>
          <a:blip r:embed="rId3"/>
          <a:stretch>
            <a:fillRect/>
          </a:stretch>
        </p:blipFill>
        <p:spPr>
          <a:xfrm>
            <a:off x="812780" y="1206500"/>
            <a:ext cx="7302317" cy="4564063"/>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Avant la date limite, la PRMP ne connaît que le </a:t>
            </a:r>
            <a:r>
              <a:rPr lang="en-US" sz="1200" b="1" dirty="0">
                <a:solidFill>
                  <a:srgbClr val="1B2A3A"/>
                </a:solidFill>
                <a:latin typeface="Segoe UI" pitchFamily="34" charset="0"/>
                <a:ea typeface="Segoe UI" pitchFamily="34" charset="-122"/>
                <a:cs typeface="Segoe UI" pitchFamily="34" charset="-120"/>
              </a:rPr>
              <a:t>nombre</a:t>
            </a:r>
            <a:r>
              <a:rPr lang="en-US" sz="1200" dirty="0">
                <a:solidFill>
                  <a:srgbClr val="1B2A3A"/>
                </a:solidFill>
                <a:latin typeface="Segoe UI" pitchFamily="34" charset="0"/>
                <a:ea typeface="Segoe UI" pitchFamily="34" charset="-122"/>
                <a:cs typeface="Segoe UI" pitchFamily="34" charset="-120"/>
              </a:rPr>
              <a:t> d’offres déposées. (Capture du 08/10 : aucune procédure n’est plus ouverte aujourd’hui.)</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RG-OFF-24</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184</a:t>
            </a:r>
            <a:endParaRPr lang="en-US" sz="1100" dirty="0"/>
          </a:p>
        </p:txBody>
      </p:sp>
    </p:spTree>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name="Slide 18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registre complet, après l’échéance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 registre complet, après l’échéanc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dépôts par numéro d’arrivée : entreprise, NIF, lot, date de dépôt (ou de retrait), état et empreinte.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Une offre </a:t>
            </a:r>
            <a:r>
              <a:rPr lang="en-US" sz="1200" b="1" dirty="0">
                <a:solidFill>
                  <a:srgbClr val="1B2A3A"/>
                </a:solidFill>
                <a:latin typeface="Segoe UI" pitchFamily="34" charset="0"/>
                <a:ea typeface="Segoe UI" pitchFamily="34" charset="-122"/>
                <a:cs typeface="Segoe UI" pitchFamily="34" charset="-120"/>
              </a:rPr>
              <a:t>remplacée</a:t>
            </a:r>
            <a:r>
              <a:rPr lang="en-US" sz="1200" dirty="0">
                <a:solidFill>
                  <a:srgbClr val="1B2A3A"/>
                </a:solidFill>
                <a:latin typeface="Segoe UI" pitchFamily="34" charset="0"/>
                <a:ea typeface="Segoe UI" pitchFamily="34" charset="-122"/>
                <a:cs typeface="Segoe UI" pitchFamily="34" charset="-120"/>
              </a:rPr>
              <a:t> ou </a:t>
            </a:r>
            <a:r>
              <a:rPr lang="en-US" sz="1200" b="1" dirty="0">
                <a:solidFill>
                  <a:srgbClr val="1B2A3A"/>
                </a:solidFill>
                <a:latin typeface="Segoe UI" pitchFamily="34" charset="0"/>
                <a:ea typeface="Segoe UI" pitchFamily="34" charset="-122"/>
                <a:cs typeface="Segoe UI" pitchFamily="34" charset="-120"/>
              </a:rPr>
              <a:t>retirée</a:t>
            </a:r>
            <a:r>
              <a:rPr lang="en-US" sz="1200" dirty="0">
                <a:solidFill>
                  <a:srgbClr val="1B2A3A"/>
                </a:solidFill>
                <a:latin typeface="Segoe UI" pitchFamily="34" charset="0"/>
                <a:ea typeface="Segoe UI" pitchFamily="34" charset="-122"/>
                <a:cs typeface="Segoe UI" pitchFamily="34" charset="-120"/>
              </a:rPr>
              <a:t> reste au registre ; elle ne sera jamais ouverte.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RG-OFF-23 · RG-OFF-24</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185</a:t>
            </a:r>
            <a:endParaRPr lang="en-US" sz="1100" dirty="0"/>
          </a:p>
        </p:txBody>
      </p:sp>
    </p:spTree>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name="Slide 18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tentatives refusées hors délai</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tentatives refusées hors délai"/>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Sous le registre, la rubrique « </a:t>
            </a:r>
            <a:r>
              <a:rPr lang="en-US" sz="1200" b="1" dirty="0">
                <a:solidFill>
                  <a:srgbClr val="1B2A3A"/>
                </a:solidFill>
                <a:latin typeface="Segoe UI" pitchFamily="34" charset="0"/>
                <a:ea typeface="Segoe UI" pitchFamily="34" charset="-122"/>
                <a:cs typeface="Segoe UI" pitchFamily="34" charset="-120"/>
              </a:rPr>
              <a:t>Tentatives de dépôt refusées hors délai</a:t>
            </a:r>
            <a:r>
              <a:rPr lang="en-US" sz="1200" dirty="0">
                <a:solidFill>
                  <a:srgbClr val="1B2A3A"/>
                </a:solidFill>
                <a:latin typeface="Segoe UI" pitchFamily="34" charset="0"/>
                <a:ea typeface="Segoe UI" pitchFamily="34" charset="-122"/>
                <a:cs typeface="Segoe UI" pitchFamily="34" charset="-120"/>
              </a:rPr>
              <a:t> » : chaque tentative après la date limite, datée à la seconde par le serveur, avec l’entreprise, le NIF, le lot et le geste refusé.</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Ici, aucune tentative : « Aucune tentative après la date limite. » Les mêmes tentatives sont énumérées au PV d’ouverture.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RG-OFF-33</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186</a:t>
            </a:r>
            <a:endParaRPr lang="en-US" sz="1100" dirty="0"/>
          </a:p>
        </p:txBody>
      </p:sp>
    </p:spTree>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name="Slide 18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RECEVOIR LES OFFRES EN LIGNE · EN RÉSUMÉ</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Ce que l’application garantit</a:t>
            </a:r>
            <a:endParaRPr lang="en-US" sz="2600" dirty="0"/>
          </a:p>
        </p:txBody>
      </p:sp>
      <p:sp>
        <p:nvSpPr>
          <p:cNvPr id="4" name="Shape 2"/>
          <p:cNvSpPr/>
          <p:nvPr/>
        </p:nvSpPr>
        <p:spPr>
          <a:xfrm>
            <a:off x="812780" y="1206500"/>
            <a:ext cx="3420448" cy="2159000"/>
          </a:xfrm>
          <a:prstGeom prst="rect">
            <a:avLst/>
          </a:prstGeom>
          <a:solidFill>
            <a:srgbClr val="FCFCFA"/>
          </a:solidFill>
          <a:ln w="9525">
            <a:solidFill>
              <a:srgbClr val="D5DCE4"/>
            </a:solidFill>
            <a:prstDash val="solid"/>
          </a:ln>
        </p:spPr>
        <p:txBody>
          <a:bodyPr/>
          <a:lstStyle/>
          <a:p>
            <a:endParaRPr lang="fr-FR"/>
          </a:p>
        </p:txBody>
      </p:sp>
      <p:sp>
        <p:nvSpPr>
          <p:cNvPr id="5" name="Shape 3"/>
          <p:cNvSpPr/>
          <p:nvPr/>
        </p:nvSpPr>
        <p:spPr>
          <a:xfrm>
            <a:off x="812780" y="1206500"/>
            <a:ext cx="3420448" cy="38100"/>
          </a:xfrm>
          <a:prstGeom prst="rect">
            <a:avLst/>
          </a:prstGeom>
          <a:solidFill>
            <a:srgbClr val="1B6FA8"/>
          </a:solidFill>
          <a:ln/>
        </p:spPr>
        <p:txBody>
          <a:bodyPr/>
          <a:lstStyle/>
          <a:p>
            <a:endParaRPr lang="fr-FR"/>
          </a:p>
        </p:txBody>
      </p:sp>
      <p:sp>
        <p:nvSpPr>
          <p:cNvPr id="6" name="Text 4"/>
          <p:cNvSpPr/>
          <p:nvPr/>
        </p:nvSpPr>
        <p:spPr>
          <a:xfrm>
            <a:off x="952476" y="13081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Une offre illisible jusqu’à la séance</a:t>
            </a:r>
            <a:endParaRPr lang="en-US" sz="1500" dirty="0"/>
          </a:p>
        </p:txBody>
      </p:sp>
      <p:sp>
        <p:nvSpPr>
          <p:cNvPr id="7" name="Text 5"/>
          <p:cNvSpPr/>
          <p:nvPr/>
        </p:nvSpPr>
        <p:spPr>
          <a:xfrm>
            <a:off x="952476" y="17653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L’offre est scellée sur le poste de l’entreprise avec les clés de la commission : la plateforme ne voit jamais un prix.</a:t>
            </a:r>
            <a:endParaRPr lang="en-US" sz="1200" dirty="0"/>
          </a:p>
        </p:txBody>
      </p:sp>
      <p:sp>
        <p:nvSpPr>
          <p:cNvPr id="8" name="Shape 6"/>
          <p:cNvSpPr/>
          <p:nvPr/>
        </p:nvSpPr>
        <p:spPr>
          <a:xfrm>
            <a:off x="4385624" y="1206500"/>
            <a:ext cx="3420448" cy="2159000"/>
          </a:xfrm>
          <a:prstGeom prst="rect">
            <a:avLst/>
          </a:prstGeom>
          <a:solidFill>
            <a:srgbClr val="FCFCFA"/>
          </a:solidFill>
          <a:ln w="9525">
            <a:solidFill>
              <a:srgbClr val="D5DCE4"/>
            </a:solidFill>
            <a:prstDash val="solid"/>
          </a:ln>
        </p:spPr>
        <p:txBody>
          <a:bodyPr/>
          <a:lstStyle/>
          <a:p>
            <a:endParaRPr lang="fr-FR"/>
          </a:p>
        </p:txBody>
      </p:sp>
      <p:sp>
        <p:nvSpPr>
          <p:cNvPr id="9" name="Shape 7"/>
          <p:cNvSpPr/>
          <p:nvPr/>
        </p:nvSpPr>
        <p:spPr>
          <a:xfrm>
            <a:off x="4385624" y="1206500"/>
            <a:ext cx="3420448" cy="38100"/>
          </a:xfrm>
          <a:prstGeom prst="rect">
            <a:avLst/>
          </a:prstGeom>
          <a:solidFill>
            <a:srgbClr val="2E8B57"/>
          </a:solidFill>
          <a:ln/>
        </p:spPr>
        <p:txBody>
          <a:bodyPr/>
          <a:lstStyle/>
          <a:p>
            <a:endParaRPr lang="fr-FR"/>
          </a:p>
        </p:txBody>
      </p:sp>
      <p:sp>
        <p:nvSpPr>
          <p:cNvPr id="10" name="Text 8"/>
          <p:cNvSpPr/>
          <p:nvPr/>
        </p:nvSpPr>
        <p:spPr>
          <a:xfrm>
            <a:off x="4525320" y="1308100"/>
            <a:ext cx="3141055"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Le temps du serveur fait foi</a:t>
            </a:r>
            <a:endParaRPr lang="en-US" sz="1500" dirty="0"/>
          </a:p>
        </p:txBody>
      </p:sp>
      <p:sp>
        <p:nvSpPr>
          <p:cNvPr id="11" name="Text 9"/>
          <p:cNvSpPr/>
          <p:nvPr/>
        </p:nvSpPr>
        <p:spPr>
          <a:xfrm>
            <a:off x="4525320" y="1593850"/>
            <a:ext cx="3141055"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Ouverture des dépôts, date limite, dépôt, retrait : tout est daté par l’horloge du serveur, affichée au candidat.</a:t>
            </a:r>
            <a:endParaRPr lang="en-US" sz="1200" dirty="0"/>
          </a:p>
        </p:txBody>
      </p:sp>
      <p:sp>
        <p:nvSpPr>
          <p:cNvPr id="12" name="Shape 10"/>
          <p:cNvSpPr/>
          <p:nvPr/>
        </p:nvSpPr>
        <p:spPr>
          <a:xfrm>
            <a:off x="7958468" y="1206500"/>
            <a:ext cx="3420448" cy="2159000"/>
          </a:xfrm>
          <a:prstGeom prst="rect">
            <a:avLst/>
          </a:prstGeom>
          <a:solidFill>
            <a:srgbClr val="FCFCFA"/>
          </a:solidFill>
          <a:ln w="9525">
            <a:solidFill>
              <a:srgbClr val="D5DCE4"/>
            </a:solidFill>
            <a:prstDash val="solid"/>
          </a:ln>
        </p:spPr>
        <p:txBody>
          <a:bodyPr/>
          <a:lstStyle/>
          <a:p>
            <a:endParaRPr lang="fr-FR"/>
          </a:p>
        </p:txBody>
      </p:sp>
      <p:sp>
        <p:nvSpPr>
          <p:cNvPr id="13" name="Shape 11"/>
          <p:cNvSpPr/>
          <p:nvPr/>
        </p:nvSpPr>
        <p:spPr>
          <a:xfrm>
            <a:off x="7958468" y="1206500"/>
            <a:ext cx="3420448" cy="38100"/>
          </a:xfrm>
          <a:prstGeom prst="rect">
            <a:avLst/>
          </a:prstGeom>
          <a:solidFill>
            <a:srgbClr val="E3AE2E"/>
          </a:solidFill>
          <a:ln/>
        </p:spPr>
        <p:txBody>
          <a:bodyPr/>
          <a:lstStyle/>
          <a:p>
            <a:endParaRPr lang="fr-FR"/>
          </a:p>
        </p:txBody>
      </p:sp>
      <p:sp>
        <p:nvSpPr>
          <p:cNvPr id="14" name="Text 12"/>
          <p:cNvSpPr/>
          <p:nvPr/>
        </p:nvSpPr>
        <p:spPr>
          <a:xfrm>
            <a:off x="8098164" y="1308100"/>
            <a:ext cx="3141055"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Aucun dépôt après l’échéance</a:t>
            </a:r>
            <a:endParaRPr lang="en-US" sz="1500" dirty="0"/>
          </a:p>
        </p:txBody>
      </p:sp>
      <p:sp>
        <p:nvSpPr>
          <p:cNvPr id="15" name="Text 13"/>
          <p:cNvSpPr/>
          <p:nvPr/>
        </p:nvSpPr>
        <p:spPr>
          <a:xfrm>
            <a:off x="8098164" y="1593850"/>
            <a:ext cx="3141055"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Toute tentative tardive est refusée, datée et consignée ; le registre et le PV d’ouverture les énumèrent (art. 44).</a:t>
            </a:r>
            <a:endParaRPr lang="en-US" sz="1200" dirty="0"/>
          </a:p>
        </p:txBody>
      </p:sp>
      <p:sp>
        <p:nvSpPr>
          <p:cNvPr id="16" name="Shape 14"/>
          <p:cNvSpPr/>
          <p:nvPr/>
        </p:nvSpPr>
        <p:spPr>
          <a:xfrm>
            <a:off x="812780" y="3517900"/>
            <a:ext cx="3420448" cy="2159000"/>
          </a:xfrm>
          <a:prstGeom prst="rect">
            <a:avLst/>
          </a:prstGeom>
          <a:solidFill>
            <a:srgbClr val="FCFCFA"/>
          </a:solidFill>
          <a:ln w="9525">
            <a:solidFill>
              <a:srgbClr val="D5DCE4"/>
            </a:solidFill>
            <a:prstDash val="solid"/>
          </a:ln>
        </p:spPr>
        <p:txBody>
          <a:bodyPr/>
          <a:lstStyle/>
          <a:p>
            <a:endParaRPr lang="fr-FR"/>
          </a:p>
        </p:txBody>
      </p:sp>
      <p:sp>
        <p:nvSpPr>
          <p:cNvPr id="17" name="Shape 15"/>
          <p:cNvSpPr/>
          <p:nvPr/>
        </p:nvSpPr>
        <p:spPr>
          <a:xfrm>
            <a:off x="812780" y="3517900"/>
            <a:ext cx="3420448" cy="38100"/>
          </a:xfrm>
          <a:prstGeom prst="rect">
            <a:avLst/>
          </a:prstGeom>
          <a:solidFill>
            <a:srgbClr val="12324A"/>
          </a:solidFill>
          <a:ln/>
        </p:spPr>
        <p:txBody>
          <a:bodyPr/>
          <a:lstStyle/>
          <a:p>
            <a:endParaRPr lang="fr-FR"/>
          </a:p>
        </p:txBody>
      </p:sp>
      <p:sp>
        <p:nvSpPr>
          <p:cNvPr id="18" name="Text 16"/>
          <p:cNvSpPr/>
          <p:nvPr/>
        </p:nvSpPr>
        <p:spPr>
          <a:xfrm>
            <a:off x="952476" y="3619500"/>
            <a:ext cx="3141055"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Une preuve pour chaque geste</a:t>
            </a:r>
            <a:endParaRPr lang="en-US" sz="1500" dirty="0"/>
          </a:p>
        </p:txBody>
      </p:sp>
      <p:sp>
        <p:nvSpPr>
          <p:cNvPr id="19" name="Text 17"/>
          <p:cNvSpPr/>
          <p:nvPr/>
        </p:nvSpPr>
        <p:spPr>
          <a:xfrm>
            <a:off x="952476" y="3905250"/>
            <a:ext cx="3141055"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Accusé portant l’empreinte de l’offre, registre des retraits, registre des dépôts avec les offres remplacées et retirées.</a:t>
            </a:r>
            <a:endParaRPr lang="en-US" sz="1200" dirty="0"/>
          </a:p>
        </p:txBody>
      </p:sp>
      <p:sp>
        <p:nvSpPr>
          <p:cNvPr id="20" name="Shape 18"/>
          <p:cNvSpPr/>
          <p:nvPr/>
        </p:nvSpPr>
        <p:spPr>
          <a:xfrm>
            <a:off x="4385624" y="3517900"/>
            <a:ext cx="3420448" cy="2159000"/>
          </a:xfrm>
          <a:prstGeom prst="rect">
            <a:avLst/>
          </a:prstGeom>
          <a:solidFill>
            <a:srgbClr val="FCFCFA"/>
          </a:solidFill>
          <a:ln w="9525">
            <a:solidFill>
              <a:srgbClr val="D5DCE4"/>
            </a:solidFill>
            <a:prstDash val="solid"/>
          </a:ln>
        </p:spPr>
        <p:txBody>
          <a:bodyPr/>
          <a:lstStyle/>
          <a:p>
            <a:endParaRPr lang="fr-FR"/>
          </a:p>
        </p:txBody>
      </p:sp>
      <p:sp>
        <p:nvSpPr>
          <p:cNvPr id="21" name="Shape 19"/>
          <p:cNvSpPr/>
          <p:nvPr/>
        </p:nvSpPr>
        <p:spPr>
          <a:xfrm>
            <a:off x="4385624" y="3517900"/>
            <a:ext cx="3420448" cy="38100"/>
          </a:xfrm>
          <a:prstGeom prst="rect">
            <a:avLst/>
          </a:prstGeom>
          <a:solidFill>
            <a:srgbClr val="1B6FA8"/>
          </a:solidFill>
          <a:ln/>
        </p:spPr>
        <p:txBody>
          <a:bodyPr/>
          <a:lstStyle/>
          <a:p>
            <a:endParaRPr lang="fr-FR"/>
          </a:p>
        </p:txBody>
      </p:sp>
      <p:sp>
        <p:nvSpPr>
          <p:cNvPr id="22" name="Text 20"/>
          <p:cNvSpPr/>
          <p:nvPr/>
        </p:nvSpPr>
        <p:spPr>
          <a:xfrm>
            <a:off x="4525320" y="3619500"/>
            <a:ext cx="3141055"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L’égalité d’information</a:t>
            </a:r>
            <a:endParaRPr lang="en-US" sz="1500" dirty="0"/>
          </a:p>
        </p:txBody>
      </p:sp>
      <p:sp>
        <p:nvSpPr>
          <p:cNvPr id="23" name="Text 21"/>
          <p:cNvSpPr/>
          <p:nvPr/>
        </p:nvSpPr>
        <p:spPr>
          <a:xfrm>
            <a:off x="4525320" y="3905250"/>
            <a:ext cx="3141055"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Les réponses aux questions sont diffusées à tous les candidats qui ont retiré le dossier, sans le nom de l’auteur (art. 35-II).</a:t>
            </a:r>
            <a:endParaRPr lang="en-US" sz="1200" dirty="0"/>
          </a:p>
        </p:txBody>
      </p:sp>
      <p:sp>
        <p:nvSpPr>
          <p:cNvPr id="24" name="Shape 22"/>
          <p:cNvSpPr/>
          <p:nvPr/>
        </p:nvSpPr>
        <p:spPr>
          <a:xfrm>
            <a:off x="7958468" y="3517900"/>
            <a:ext cx="3420448" cy="2159000"/>
          </a:xfrm>
          <a:prstGeom prst="rect">
            <a:avLst/>
          </a:prstGeom>
          <a:solidFill>
            <a:srgbClr val="FCFCFA"/>
          </a:solidFill>
          <a:ln w="9525">
            <a:solidFill>
              <a:srgbClr val="D5DCE4"/>
            </a:solidFill>
            <a:prstDash val="solid"/>
          </a:ln>
        </p:spPr>
        <p:txBody>
          <a:bodyPr/>
          <a:lstStyle/>
          <a:p>
            <a:endParaRPr lang="fr-FR"/>
          </a:p>
        </p:txBody>
      </p:sp>
      <p:sp>
        <p:nvSpPr>
          <p:cNvPr id="25" name="Shape 23"/>
          <p:cNvSpPr/>
          <p:nvPr/>
        </p:nvSpPr>
        <p:spPr>
          <a:xfrm>
            <a:off x="7958468" y="3517900"/>
            <a:ext cx="3420448" cy="38100"/>
          </a:xfrm>
          <a:prstGeom prst="rect">
            <a:avLst/>
          </a:prstGeom>
          <a:solidFill>
            <a:srgbClr val="2E8B57"/>
          </a:solidFill>
          <a:ln/>
        </p:spPr>
        <p:txBody>
          <a:bodyPr/>
          <a:lstStyle/>
          <a:p>
            <a:endParaRPr lang="fr-FR"/>
          </a:p>
        </p:txBody>
      </p:sp>
      <p:sp>
        <p:nvSpPr>
          <p:cNvPr id="26" name="Text 24"/>
          <p:cNvSpPr/>
          <p:nvPr/>
        </p:nvSpPr>
        <p:spPr>
          <a:xfrm>
            <a:off x="8098164" y="36195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Les frais de dossier contrôlés</a:t>
            </a:r>
            <a:endParaRPr lang="en-US" sz="1500" dirty="0"/>
          </a:p>
        </p:txBody>
      </p:sp>
      <p:sp>
        <p:nvSpPr>
          <p:cNvPr id="27" name="Text 25"/>
          <p:cNvSpPr/>
          <p:nvPr/>
        </p:nvSpPr>
        <p:spPr>
          <a:xfrm>
            <a:off x="8098164" y="40767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Pas de retrait ni de dépôt sans reçu validé par la PRMP ; tout refus est motivé et notifié.</a:t>
            </a:r>
            <a:endParaRPr lang="en-US" sz="1200" dirty="0"/>
          </a:p>
        </p:txBody>
      </p:sp>
      <p:sp>
        <p:nvSpPr>
          <p:cNvPr id="28" name="Text 2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187</a:t>
            </a:r>
            <a:endParaRPr lang="en-US" sz="1100" dirty="0"/>
          </a:p>
        </p:txBody>
      </p:sp>
    </p:spTree>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name="Slide 188">
    <p:bg>
      <p:bgPr>
        <a:solidFill>
          <a:srgbClr val="12324A"/>
        </a:solidFill>
        <a:effectLst/>
      </p:bgPr>
    </p:bg>
    <p:spTree>
      <p:nvGrpSpPr>
        <p:cNvPr id="1" name=""/>
        <p:cNvGrpSpPr/>
        <p:nvPr/>
      </p:nvGrpSpPr>
      <p:grpSpPr>
        <a:xfrm>
          <a:off x="0" y="0"/>
          <a:ext cx="0" cy="0"/>
          <a:chOff x="0" y="0"/>
          <a:chExt cx="0" cy="0"/>
        </a:xfrm>
      </p:grpSpPr>
      <p:sp>
        <p:nvSpPr>
          <p:cNvPr id="2" name="Shape 0"/>
          <p:cNvSpPr/>
          <p:nvPr/>
        </p:nvSpPr>
        <p:spPr>
          <a:xfrm>
            <a:off x="0" y="0"/>
            <a:ext cx="152396" cy="6858000"/>
          </a:xfrm>
          <a:prstGeom prst="rect">
            <a:avLst/>
          </a:prstGeom>
          <a:solidFill>
            <a:srgbClr val="E3AE2E"/>
          </a:solidFill>
          <a:ln w="12700">
            <a:solidFill>
              <a:srgbClr val="E3AE2E"/>
            </a:solidFill>
            <a:prstDash val="solid"/>
          </a:ln>
        </p:spPr>
        <p:txBody>
          <a:bodyPr/>
          <a:lstStyle/>
          <a:p>
            <a:endParaRPr lang="fr-FR"/>
          </a:p>
        </p:txBody>
      </p:sp>
      <p:sp>
        <p:nvSpPr>
          <p:cNvPr id="3" name="Text 1"/>
          <p:cNvSpPr/>
          <p:nvPr/>
        </p:nvSpPr>
        <p:spPr>
          <a:xfrm>
            <a:off x="812780" y="698500"/>
            <a:ext cx="3809905" cy="952500"/>
          </a:xfrm>
          <a:prstGeom prst="rect">
            <a:avLst/>
          </a:prstGeom>
          <a:noFill/>
          <a:ln/>
        </p:spPr>
        <p:txBody>
          <a:bodyPr wrap="square" rtlCol="0" anchor="ctr"/>
          <a:lstStyle/>
          <a:p>
            <a:pPr marL="0" indent="0">
              <a:buNone/>
            </a:pPr>
            <a:r>
              <a:rPr lang="en-US" sz="7200" b="1" dirty="0">
                <a:solidFill>
                  <a:srgbClr val="E3AE2E"/>
                </a:solidFill>
                <a:latin typeface="Segoe UI" pitchFamily="34" charset="0"/>
                <a:ea typeface="Segoe UI" pitchFamily="34" charset="-122"/>
                <a:cs typeface="Segoe UI" pitchFamily="34" charset="-120"/>
              </a:rPr>
              <a:t>07</a:t>
            </a:r>
            <a:endParaRPr lang="en-US" sz="7200" dirty="0"/>
          </a:p>
        </p:txBody>
      </p:sp>
      <p:sp>
        <p:nvSpPr>
          <p:cNvPr id="4" name="Text 2"/>
          <p:cNvSpPr/>
          <p:nvPr/>
        </p:nvSpPr>
        <p:spPr>
          <a:xfrm>
            <a:off x="812780" y="1714500"/>
            <a:ext cx="10477238" cy="635000"/>
          </a:xfrm>
          <a:prstGeom prst="rect">
            <a:avLst/>
          </a:prstGeom>
          <a:noFill/>
          <a:ln/>
        </p:spPr>
        <p:txBody>
          <a:bodyPr wrap="square" rtlCol="0" anchor="ctr">
            <a:normAutofit/>
          </a:bodyPr>
          <a:lstStyle/>
          <a:p>
            <a:pPr marL="0" indent="0">
              <a:buNone/>
            </a:pPr>
            <a:r>
              <a:rPr lang="en-US" sz="4000" b="1" dirty="0">
                <a:solidFill>
                  <a:srgbClr val="FCFCFA"/>
                </a:solidFill>
                <a:latin typeface="Segoe UI" pitchFamily="34" charset="0"/>
                <a:ea typeface="Segoe UI" pitchFamily="34" charset="-122"/>
                <a:cs typeface="Segoe UI" pitchFamily="34" charset="-120"/>
              </a:rPr>
              <a:t>La séance d’ouverture</a:t>
            </a:r>
            <a:endParaRPr lang="en-US" sz="4000" dirty="0"/>
          </a:p>
        </p:txBody>
      </p:sp>
      <p:sp>
        <p:nvSpPr>
          <p:cNvPr id="5" name="Text 3"/>
          <p:cNvSpPr/>
          <p:nvPr/>
        </p:nvSpPr>
        <p:spPr>
          <a:xfrm>
            <a:off x="812780" y="2413000"/>
            <a:ext cx="10159746" cy="698500"/>
          </a:xfrm>
          <a:prstGeom prst="rect">
            <a:avLst/>
          </a:prstGeom>
          <a:noFill/>
          <a:ln/>
        </p:spPr>
        <p:txBody>
          <a:bodyPr wrap="square" rtlCol="0" anchor="t">
            <a:normAutofit/>
          </a:bodyPr>
          <a:lstStyle/>
          <a:p>
            <a:pPr marL="0" indent="0">
              <a:buNone/>
            </a:pPr>
            <a:r>
              <a:rPr lang="en-US" sz="1700" dirty="0">
                <a:solidFill>
                  <a:srgbClr val="C9D6E2"/>
                </a:solidFill>
                <a:latin typeface="Segoe UI" pitchFamily="34" charset="0"/>
                <a:ea typeface="Segoe UI" pitchFamily="34" charset="-122"/>
                <a:cs typeface="Segoe UI" pitchFamily="34" charset="-120"/>
              </a:rPr>
              <a:t>Après la date limite, la commission d’appel d’offres réunit ses parts de clé : toutes les offres s’ouvrent ensemble, sont lues, et le PV d’ouverture est signé en ligne au quorum de la commission.</a:t>
            </a:r>
            <a:endParaRPr lang="en-US" sz="1700" dirty="0"/>
          </a:p>
        </p:txBody>
      </p:sp>
      <p:sp>
        <p:nvSpPr>
          <p:cNvPr id="6" name="Text 4"/>
          <p:cNvSpPr/>
          <p:nvPr/>
        </p:nvSpPr>
        <p:spPr>
          <a:xfrm>
            <a:off x="812780" y="3429000"/>
            <a:ext cx="5079873" cy="228600"/>
          </a:xfrm>
          <a:prstGeom prst="rect">
            <a:avLst/>
          </a:prstGeom>
          <a:noFill/>
          <a:ln/>
        </p:spPr>
        <p:txBody>
          <a:bodyPr wrap="square" rtlCol="0" anchor="ctr"/>
          <a:lstStyle/>
          <a:p>
            <a:pPr marL="0" indent="0">
              <a:buNone/>
            </a:pPr>
            <a:r>
              <a:rPr lang="en-US" sz="1200" b="1" kern="0" spc="200" dirty="0">
                <a:solidFill>
                  <a:srgbClr val="E3AE2E"/>
                </a:solidFill>
                <a:latin typeface="Segoe UI" pitchFamily="34" charset="0"/>
                <a:ea typeface="Segoe UI" pitchFamily="34" charset="-122"/>
                <a:cs typeface="Segoe UI" pitchFamily="34" charset="-120"/>
              </a:rPr>
              <a:t>CE QUE CELA CHANGE</a:t>
            </a:r>
            <a:endParaRPr lang="en-US" sz="1200" dirty="0"/>
          </a:p>
        </p:txBody>
      </p:sp>
      <p:sp>
        <p:nvSpPr>
          <p:cNvPr id="7" name="Text 5"/>
          <p:cNvSpPr/>
          <p:nvPr/>
        </p:nvSpPr>
        <p:spPr>
          <a:xfrm>
            <a:off x="812780" y="3714750"/>
            <a:ext cx="10286743" cy="2413000"/>
          </a:xfrm>
          <a:prstGeom prst="rect">
            <a:avLst/>
          </a:prstGeom>
          <a:noFill/>
          <a:ln/>
        </p:spPr>
        <p:txBody>
          <a:bodyPr wrap="square" rtlCol="0" anchor="t">
            <a:normAutofit/>
          </a:bodyPr>
          <a:lstStyle/>
          <a:p>
            <a:pPr marL="203200" indent="-203200">
              <a:spcAft>
                <a:spcPts val="800"/>
              </a:spcAft>
              <a:buSzPct val="100000"/>
              <a:buChar char="•"/>
            </a:pPr>
            <a:r>
              <a:rPr lang="en-US" sz="1500" dirty="0">
                <a:solidFill>
                  <a:srgbClr val="FCFCFA"/>
                </a:solidFill>
                <a:latin typeface="Segoe UI" pitchFamily="34" charset="0"/>
                <a:ea typeface="Segoe UI" pitchFamily="34" charset="-122"/>
                <a:cs typeface="Segoe UI" pitchFamily="34" charset="-120"/>
              </a:rPr>
              <a:t>Aucune offre ne peut être ouverte avant l’heure, ni seule : il faut le quorum des parts de clé, et toutes les offres s’ouvrent ensemble, dans un même geste.</a:t>
            </a:r>
            <a:endParaRPr lang="en-US" sz="1500" dirty="0"/>
          </a:p>
          <a:p>
            <a:pPr marL="203200" indent="-203200">
              <a:spcAft>
                <a:spcPts val="800"/>
              </a:spcAft>
              <a:buSzPct val="100000"/>
              <a:buChar char="•"/>
            </a:pPr>
            <a:r>
              <a:rPr lang="en-US" sz="1500" dirty="0">
                <a:solidFill>
                  <a:srgbClr val="FCFCFA"/>
                </a:solidFill>
                <a:latin typeface="Segoe UI" pitchFamily="34" charset="0"/>
                <a:ea typeface="Segoe UI" pitchFamily="34" charset="-122"/>
                <a:cs typeface="Segoe UI" pitchFamily="34" charset="-120"/>
              </a:rPr>
              <a:t>La lecture est faite par l’application et la même pour tous : montants recalculés, garantie, frais de dossier, pièces manquantes, alertes — une information pour la commission, jamais un rejet automatique.</a:t>
            </a:r>
            <a:endParaRPr lang="en-US" sz="1500" dirty="0"/>
          </a:p>
          <a:p>
            <a:pPr marL="203200" indent="-203200">
              <a:spcAft>
                <a:spcPts val="800"/>
              </a:spcAft>
              <a:buSzPct val="100000"/>
              <a:buChar char="•"/>
            </a:pPr>
            <a:r>
              <a:rPr lang="en-US" sz="1500" dirty="0">
                <a:solidFill>
                  <a:srgbClr val="FCFCFA"/>
                </a:solidFill>
                <a:latin typeface="Segoe UI" pitchFamily="34" charset="0"/>
                <a:ea typeface="Segoe UI" pitchFamily="34" charset="-122"/>
                <a:cs typeface="Segoe UI" pitchFamily="34" charset="-120"/>
              </a:rPr>
              <a:t>Depuis le 10/10, la commission ne délibère qu’à son quorum, président ou représentant compris : un PV d’ouverture ne se clôt pas sans lui, et le quorum constaté est imprimé au PV.</a:t>
            </a:r>
            <a:endParaRPr lang="en-US" sz="1500" dirty="0"/>
          </a:p>
        </p:txBody>
      </p:sp>
      <p:sp>
        <p:nvSpPr>
          <p:cNvPr id="8"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8FA6BB"/>
                </a:solidFill>
                <a:latin typeface="Segoe UI" pitchFamily="34" charset="0"/>
                <a:ea typeface="Segoe UI" pitchFamily="34" charset="-122"/>
                <a:cs typeface="Segoe UI" pitchFamily="34" charset="-120"/>
              </a:rPr>
              <a:t>PRS 2.0 · L’application de bout en bout · dossier de recette · 188</a:t>
            </a:r>
            <a:endParaRPr lang="en-US" sz="1100" dirty="0"/>
          </a:p>
        </p:txBody>
      </p:sp>
    </p:spTree>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name="Slide 18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LA SÉANCE D’OUVERTURE · LE PARCOURS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De la date limite au PV signé</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Le responsable de la procédure conduit la séance ; les membres de la commission apportent leurs parts depuis leur poste ; la PRMP suit la lecture sans ouvrir aucune pièce.</a:t>
            </a:r>
            <a:endParaRPr lang="en-US" sz="1300" dirty="0"/>
          </a:p>
        </p:txBody>
      </p:sp>
      <p:sp>
        <p:nvSpPr>
          <p:cNvPr id="5" name="Shape 3"/>
          <p:cNvSpPr/>
          <p:nvPr/>
        </p:nvSpPr>
        <p:spPr>
          <a:xfrm>
            <a:off x="812780"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6" name="Text 4"/>
          <p:cNvSpPr/>
          <p:nvPr/>
        </p:nvSpPr>
        <p:spPr>
          <a:xfrm>
            <a:off x="901677"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RESPONSABLE DE LA PROCÉDURE</a:t>
            </a:r>
            <a:endParaRPr lang="en-US" sz="1000" dirty="0"/>
          </a:p>
        </p:txBody>
      </p:sp>
      <p:sp>
        <p:nvSpPr>
          <p:cNvPr id="7" name="Text 5"/>
          <p:cNvSpPr/>
          <p:nvPr/>
        </p:nvSpPr>
        <p:spPr>
          <a:xfrm>
            <a:off x="901677"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Attendre l’heure</a:t>
            </a:r>
            <a:endParaRPr lang="en-US" sz="1400" dirty="0"/>
          </a:p>
        </p:txBody>
      </p:sp>
      <p:sp>
        <p:nvSpPr>
          <p:cNvPr id="8" name="Text 6"/>
          <p:cNvSpPr/>
          <p:nvPr/>
        </p:nvSpPr>
        <p:spPr>
          <a:xfrm>
            <a:off x="901677"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La séance ne s’ouvre qu’à l’heure d’ouverture fixée par la fiche, une fois la date limite passée.</a:t>
            </a:r>
            <a:endParaRPr lang="en-US" sz="1150" dirty="0"/>
          </a:p>
        </p:txBody>
      </p:sp>
      <p:sp>
        <p:nvSpPr>
          <p:cNvPr id="9" name="Text 7"/>
          <p:cNvSpPr/>
          <p:nvPr/>
        </p:nvSpPr>
        <p:spPr>
          <a:xfrm>
            <a:off x="2444689"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10" name="Shape 8"/>
          <p:cNvSpPr/>
          <p:nvPr/>
        </p:nvSpPr>
        <p:spPr>
          <a:xfrm>
            <a:off x="2597085"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11" name="Text 9"/>
          <p:cNvSpPr/>
          <p:nvPr/>
        </p:nvSpPr>
        <p:spPr>
          <a:xfrm>
            <a:off x="2685983"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RESPONSABLE DE LA PROCÉDURE</a:t>
            </a:r>
            <a:endParaRPr lang="en-US" sz="1000" dirty="0"/>
          </a:p>
        </p:txBody>
      </p:sp>
      <p:sp>
        <p:nvSpPr>
          <p:cNvPr id="12" name="Text 10"/>
          <p:cNvSpPr/>
          <p:nvPr/>
        </p:nvSpPr>
        <p:spPr>
          <a:xfrm>
            <a:off x="2685983"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Ouvrir et consigner les présents</a:t>
            </a:r>
            <a:endParaRPr lang="en-US" sz="1400" dirty="0"/>
          </a:p>
        </p:txBody>
      </p:sp>
      <p:sp>
        <p:nvSpPr>
          <p:cNvPr id="13" name="Text 11"/>
          <p:cNvSpPr/>
          <p:nvPr/>
        </p:nvSpPr>
        <p:spPr>
          <a:xfrm>
            <a:off x="2685983"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Le responsable ouvre la séance et enregistre les membres et les autres présents.</a:t>
            </a:r>
            <a:endParaRPr lang="en-US" sz="1150" dirty="0"/>
          </a:p>
        </p:txBody>
      </p:sp>
      <p:sp>
        <p:nvSpPr>
          <p:cNvPr id="14" name="Text 12"/>
          <p:cNvSpPr/>
          <p:nvPr/>
        </p:nvSpPr>
        <p:spPr>
          <a:xfrm>
            <a:off x="4228994"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15" name="Shape 13"/>
          <p:cNvSpPr/>
          <p:nvPr/>
        </p:nvSpPr>
        <p:spPr>
          <a:xfrm>
            <a:off x="4381390"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16" name="Text 14"/>
          <p:cNvSpPr/>
          <p:nvPr/>
        </p:nvSpPr>
        <p:spPr>
          <a:xfrm>
            <a:off x="4470288"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MEMBRES, DÉPOSITAIRE</a:t>
            </a:r>
            <a:endParaRPr lang="en-US" sz="1000" dirty="0"/>
          </a:p>
        </p:txBody>
      </p:sp>
      <p:sp>
        <p:nvSpPr>
          <p:cNvPr id="17" name="Text 15"/>
          <p:cNvSpPr/>
          <p:nvPr/>
        </p:nvSpPr>
        <p:spPr>
          <a:xfrm>
            <a:off x="4470288"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Apporter les parts</a:t>
            </a:r>
            <a:endParaRPr lang="en-US" sz="1400" dirty="0"/>
          </a:p>
        </p:txBody>
      </p:sp>
      <p:sp>
        <p:nvSpPr>
          <p:cNvPr id="18" name="Text 16"/>
          <p:cNvSpPr/>
          <p:nvPr/>
        </p:nvSpPr>
        <p:spPr>
          <a:xfrm>
            <a:off x="4470288"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Chaque membre déverrouille sa clé sur son poste ; la part de secours supplée, sur demande motivée.</a:t>
            </a:r>
            <a:endParaRPr lang="en-US" sz="1150" dirty="0"/>
          </a:p>
        </p:txBody>
      </p:sp>
      <p:sp>
        <p:nvSpPr>
          <p:cNvPr id="19" name="Text 17"/>
          <p:cNvSpPr/>
          <p:nvPr/>
        </p:nvSpPr>
        <p:spPr>
          <a:xfrm>
            <a:off x="6013300"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20" name="Shape 18"/>
          <p:cNvSpPr/>
          <p:nvPr/>
        </p:nvSpPr>
        <p:spPr>
          <a:xfrm>
            <a:off x="6165696"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21" name="Text 19"/>
          <p:cNvSpPr/>
          <p:nvPr/>
        </p:nvSpPr>
        <p:spPr>
          <a:xfrm>
            <a:off x="6254594"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APPLICATION</a:t>
            </a:r>
            <a:endParaRPr lang="en-US" sz="1000" dirty="0"/>
          </a:p>
        </p:txBody>
      </p:sp>
      <p:sp>
        <p:nvSpPr>
          <p:cNvPr id="22" name="Text 20"/>
          <p:cNvSpPr/>
          <p:nvPr/>
        </p:nvSpPr>
        <p:spPr>
          <a:xfrm>
            <a:off x="6254594"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Ouvrir ensemble</a:t>
            </a:r>
            <a:endParaRPr lang="en-US" sz="1400" dirty="0"/>
          </a:p>
        </p:txBody>
      </p:sp>
      <p:sp>
        <p:nvSpPr>
          <p:cNvPr id="23" name="Text 21"/>
          <p:cNvSpPr/>
          <p:nvPr/>
        </p:nvSpPr>
        <p:spPr>
          <a:xfrm>
            <a:off x="6254594"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Au quorum des parts, toutes les offres s’ouvrent, leur intégrité est vérifiée.</a:t>
            </a:r>
            <a:endParaRPr lang="en-US" sz="1150" dirty="0"/>
          </a:p>
        </p:txBody>
      </p:sp>
      <p:sp>
        <p:nvSpPr>
          <p:cNvPr id="24" name="Text 22"/>
          <p:cNvSpPr/>
          <p:nvPr/>
        </p:nvSpPr>
        <p:spPr>
          <a:xfrm>
            <a:off x="7797605"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25" name="Shape 23"/>
          <p:cNvSpPr/>
          <p:nvPr/>
        </p:nvSpPr>
        <p:spPr>
          <a:xfrm>
            <a:off x="7950001"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26" name="Text 24"/>
          <p:cNvSpPr/>
          <p:nvPr/>
        </p:nvSpPr>
        <p:spPr>
          <a:xfrm>
            <a:off x="8038899"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COMMISSION</a:t>
            </a:r>
            <a:endParaRPr lang="en-US" sz="1000" dirty="0"/>
          </a:p>
        </p:txBody>
      </p:sp>
      <p:sp>
        <p:nvSpPr>
          <p:cNvPr id="27" name="Text 25"/>
          <p:cNvSpPr/>
          <p:nvPr/>
        </p:nvSpPr>
        <p:spPr>
          <a:xfrm>
            <a:off x="8038899"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Lire les offres</a:t>
            </a:r>
            <a:endParaRPr lang="en-US" sz="1400" dirty="0"/>
          </a:p>
        </p:txBody>
      </p:sp>
      <p:sp>
        <p:nvSpPr>
          <p:cNvPr id="28" name="Text 26"/>
          <p:cNvSpPr/>
          <p:nvPr/>
        </p:nvSpPr>
        <p:spPr>
          <a:xfrm>
            <a:off x="8038899"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Montants, délai, validité, garantie, rabais, frais de dossier, alertes, offre par offre.</a:t>
            </a:r>
            <a:endParaRPr lang="en-US" sz="1150" dirty="0"/>
          </a:p>
        </p:txBody>
      </p:sp>
      <p:sp>
        <p:nvSpPr>
          <p:cNvPr id="29" name="Text 27"/>
          <p:cNvSpPr/>
          <p:nvPr/>
        </p:nvSpPr>
        <p:spPr>
          <a:xfrm>
            <a:off x="9581910"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30" name="Shape 28"/>
          <p:cNvSpPr/>
          <p:nvPr/>
        </p:nvSpPr>
        <p:spPr>
          <a:xfrm>
            <a:off x="9734307" y="1778000"/>
            <a:ext cx="1644609" cy="1905000"/>
          </a:xfrm>
          <a:prstGeom prst="roundRect">
            <a:avLst>
              <a:gd name="adj" fmla="val 3336"/>
            </a:avLst>
          </a:prstGeom>
          <a:solidFill>
            <a:srgbClr val="12324A"/>
          </a:solidFill>
          <a:ln w="19050">
            <a:solidFill>
              <a:srgbClr val="12324A"/>
            </a:solidFill>
            <a:prstDash val="solid"/>
          </a:ln>
        </p:spPr>
        <p:txBody>
          <a:bodyPr/>
          <a:lstStyle/>
          <a:p>
            <a:endParaRPr lang="fr-FR"/>
          </a:p>
        </p:txBody>
      </p:sp>
      <p:sp>
        <p:nvSpPr>
          <p:cNvPr id="31" name="Text 29"/>
          <p:cNvSpPr/>
          <p:nvPr/>
        </p:nvSpPr>
        <p:spPr>
          <a:xfrm>
            <a:off x="9823204" y="1866900"/>
            <a:ext cx="1466813" cy="215900"/>
          </a:xfrm>
          <a:prstGeom prst="rect">
            <a:avLst/>
          </a:prstGeom>
          <a:noFill/>
          <a:ln/>
        </p:spPr>
        <p:txBody>
          <a:bodyPr wrap="square" rtlCol="0" anchor="ctr">
            <a:normAutofit/>
          </a:bodyPr>
          <a:lstStyle/>
          <a:p>
            <a:pPr marL="0" indent="0">
              <a:buNone/>
            </a:pPr>
            <a:r>
              <a:rPr lang="en-US" sz="1000" b="1" dirty="0">
                <a:solidFill>
                  <a:srgbClr val="E3AE2E"/>
                </a:solidFill>
                <a:latin typeface="Segoe UI" pitchFamily="34" charset="0"/>
                <a:ea typeface="Segoe UI" pitchFamily="34" charset="-122"/>
                <a:cs typeface="Segoe UI" pitchFamily="34" charset="-120"/>
              </a:rPr>
              <a:t>MEMBRES, PRÉSIDENT</a:t>
            </a:r>
            <a:endParaRPr lang="en-US" sz="1000" dirty="0"/>
          </a:p>
        </p:txBody>
      </p:sp>
      <p:sp>
        <p:nvSpPr>
          <p:cNvPr id="32" name="Text 30"/>
          <p:cNvSpPr/>
          <p:nvPr/>
        </p:nvSpPr>
        <p:spPr>
          <a:xfrm>
            <a:off x="9823204" y="2095500"/>
            <a:ext cx="1466813" cy="508000"/>
          </a:xfrm>
          <a:prstGeom prst="rect">
            <a:avLst/>
          </a:prstGeom>
          <a:noFill/>
          <a:ln/>
        </p:spPr>
        <p:txBody>
          <a:bodyPr wrap="square" rtlCol="0" anchor="t">
            <a:normAutofit/>
          </a:bodyPr>
          <a:lstStyle/>
          <a:p>
            <a:pPr marL="0" indent="0">
              <a:buNone/>
            </a:pPr>
            <a:r>
              <a:rPr lang="en-US" sz="1400" b="1" dirty="0">
                <a:solidFill>
                  <a:srgbClr val="FCFCFA"/>
                </a:solidFill>
                <a:latin typeface="Segoe UI" pitchFamily="34" charset="0"/>
                <a:ea typeface="Segoe UI" pitchFamily="34" charset="-122"/>
                <a:cs typeface="Segoe UI" pitchFamily="34" charset="-120"/>
              </a:rPr>
              <a:t>Signer le PV</a:t>
            </a:r>
            <a:endParaRPr lang="en-US" sz="1400" dirty="0"/>
          </a:p>
        </p:txBody>
      </p:sp>
      <p:sp>
        <p:nvSpPr>
          <p:cNvPr id="33" name="Text 31"/>
          <p:cNvSpPr/>
          <p:nvPr/>
        </p:nvSpPr>
        <p:spPr>
          <a:xfrm>
            <a:off x="9823204" y="2603500"/>
            <a:ext cx="1466813" cy="1016000"/>
          </a:xfrm>
          <a:prstGeom prst="rect">
            <a:avLst/>
          </a:prstGeom>
          <a:noFill/>
          <a:ln/>
        </p:spPr>
        <p:txBody>
          <a:bodyPr wrap="square" rtlCol="0" anchor="t">
            <a:normAutofit/>
          </a:bodyPr>
          <a:lstStyle/>
          <a:p>
            <a:pPr marL="0" indent="0">
              <a:buNone/>
            </a:pPr>
            <a:r>
              <a:rPr lang="en-US" sz="1150" dirty="0">
                <a:solidFill>
                  <a:srgbClr val="C9D6E2"/>
                </a:solidFill>
                <a:latin typeface="Segoe UI" pitchFamily="34" charset="0"/>
                <a:ea typeface="Segoe UI" pitchFamily="34" charset="-122"/>
                <a:cs typeface="Segoe UI" pitchFamily="34" charset="-120"/>
              </a:rPr>
              <a:t>Chaque membre présent signe en ligne ; la séance se clôt au quorum de la commission et l’extrait est publié.</a:t>
            </a:r>
            <a:endParaRPr lang="en-US" sz="1150" dirty="0"/>
          </a:p>
        </p:txBody>
      </p:sp>
      <p:sp>
        <p:nvSpPr>
          <p:cNvPr id="34" name="Text 3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189</a:t>
            </a:r>
            <a:endParaRPr lang="en-US" sz="1100" dirty="0"/>
          </a:p>
        </p:txBody>
      </p:sp>
    </p:spTree>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name="Slide 190">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LA SÉANCE D’OUVERTURE</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Avant l’heure</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Les captures de la séance en direct sont celles des recettes du 05 au 09/10 : toutes les séances sont closes aujourd’hui, l’ouverture et l’apport des parts ne se reproduisent plus.</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190</a:t>
            </a:r>
            <a:endParaRPr lang="en-US" sz="1100" dirty="0"/>
          </a:p>
        </p:txBody>
      </p:sp>
    </p:spTree>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name="Slide 19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SÉANCE · RESPONSABLE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séance, avant l’heure</a:t>
            </a:r>
            <a:endParaRPr lang="en-US" sz="2600" dirty="0"/>
          </a:p>
        </p:txBody>
      </p:sp>
      <p:sp>
        <p:nvSpPr>
          <p:cNvPr id="4" name="Shape 2"/>
          <p:cNvSpPr/>
          <p:nvPr/>
        </p:nvSpPr>
        <p:spPr>
          <a:xfrm>
            <a:off x="800080" y="1193800"/>
            <a:ext cx="7327717" cy="4589463"/>
          </a:xfrm>
          <a:prstGeom prst="rect">
            <a:avLst/>
          </a:prstGeom>
          <a:solidFill>
            <a:srgbClr val="FCFCFA"/>
          </a:solidFill>
          <a:ln w="9525">
            <a:solidFill>
              <a:srgbClr val="D5DCE4"/>
            </a:solidFill>
            <a:prstDash val="solid"/>
          </a:ln>
        </p:spPr>
        <p:txBody>
          <a:bodyPr/>
          <a:lstStyle/>
          <a:p>
            <a:endParaRPr lang="fr-FR"/>
          </a:p>
        </p:txBody>
      </p:sp>
      <p:pic>
        <p:nvPicPr>
          <p:cNvPr id="5" name="Image 0" descr="La séance, avant l’heure"/>
          <p:cNvPicPr>
            <a:picLocks noChangeAspect="1"/>
          </p:cNvPicPr>
          <p:nvPr/>
        </p:nvPicPr>
        <p:blipFill>
          <a:blip r:embed="rId3"/>
          <a:stretch>
            <a:fillRect/>
          </a:stretch>
        </p:blipFill>
        <p:spPr>
          <a:xfrm>
            <a:off x="812780" y="1206500"/>
            <a:ext cx="7302317" cy="4564063"/>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responsable de la procédure.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séance ne s’ouvre qu’</a:t>
            </a:r>
            <a:r>
              <a:rPr lang="en-US" sz="1200" b="1" dirty="0">
                <a:solidFill>
                  <a:srgbClr val="1B2A3A"/>
                </a:solidFill>
                <a:latin typeface="Segoe UI" pitchFamily="34" charset="0"/>
                <a:ea typeface="Segoe UI" pitchFamily="34" charset="-122"/>
                <a:cs typeface="Segoe UI" pitchFamily="34" charset="-120"/>
              </a:rPr>
              <a:t>après la date limite</a:t>
            </a:r>
            <a:r>
              <a:rPr lang="en-US" sz="1200" dirty="0">
                <a:solidFill>
                  <a:srgbClr val="1B2A3A"/>
                </a:solidFill>
                <a:latin typeface="Segoe UI" pitchFamily="34" charset="0"/>
                <a:ea typeface="Segoe UI" pitchFamily="34" charset="-122"/>
                <a:cs typeface="Segoe UI" pitchFamily="34" charset="-120"/>
              </a:rPr>
              <a:t>, à l’heure d’ouverture fixée par la fiche : le serveur refuse avant.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 rappel est envoyé la veille, puis une heure avant.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RG-SEA-01 · RG-SEA-02</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191</a:t>
            </a:r>
            <a:endParaRPr lang="en-US" sz="1100" dirty="0"/>
          </a:p>
        </p:txBody>
      </p:sp>
    </p:spTree>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name="Slide 19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SÉANCE · MEMBRE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membre attend l’ouverture</a:t>
            </a:r>
            <a:endParaRPr lang="en-US" sz="2600" dirty="0"/>
          </a:p>
        </p:txBody>
      </p:sp>
      <p:sp>
        <p:nvSpPr>
          <p:cNvPr id="4" name="Shape 2"/>
          <p:cNvSpPr/>
          <p:nvPr/>
        </p:nvSpPr>
        <p:spPr>
          <a:xfrm>
            <a:off x="800080" y="1193800"/>
            <a:ext cx="7327717" cy="4589463"/>
          </a:xfrm>
          <a:prstGeom prst="rect">
            <a:avLst/>
          </a:prstGeom>
          <a:solidFill>
            <a:srgbClr val="FCFCFA"/>
          </a:solidFill>
          <a:ln w="9525">
            <a:solidFill>
              <a:srgbClr val="D5DCE4"/>
            </a:solidFill>
            <a:prstDash val="solid"/>
          </a:ln>
        </p:spPr>
        <p:txBody>
          <a:bodyPr/>
          <a:lstStyle/>
          <a:p>
            <a:endParaRPr lang="fr-FR"/>
          </a:p>
        </p:txBody>
      </p:sp>
      <p:pic>
        <p:nvPicPr>
          <p:cNvPr id="5" name="Image 0" descr="Le membre attend l’ouverture"/>
          <p:cNvPicPr>
            <a:picLocks noChangeAspect="1"/>
          </p:cNvPicPr>
          <p:nvPr/>
        </p:nvPicPr>
        <p:blipFill>
          <a:blip r:embed="rId3"/>
          <a:stretch>
            <a:fillRect/>
          </a:stretch>
        </p:blipFill>
        <p:spPr>
          <a:xfrm>
            <a:off x="812780" y="1206500"/>
            <a:ext cx="7302317" cy="4564063"/>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Un membre de la commission d’appel d’offres.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Il apportera ses parts depuis son espace, avec sa phrase secrète.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RG-SEA-01 · RG-SEA-02</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192</a:t>
            </a:r>
            <a:endParaRPr lang="en-US" sz="1100" dirty="0"/>
          </a:p>
        </p:txBody>
      </p:sp>
    </p:spTree>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name="Slide 19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COMMISSION D’APPEL D’OFFRES · PRÉSIDENT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commission et le représentant du président</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a commission et le représentant du président"/>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président de la commission.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commission telle que la PRMP l’a désignée : sa décision, ses membres, leur origine et leur fonction.</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président peut </a:t>
            </a:r>
            <a:r>
              <a:rPr lang="en-US" sz="1200" b="1" dirty="0">
                <a:solidFill>
                  <a:srgbClr val="1B2A3A"/>
                </a:solidFill>
                <a:latin typeface="Segoe UI" pitchFamily="34" charset="0"/>
                <a:ea typeface="Segoe UI" pitchFamily="34" charset="-122"/>
                <a:cs typeface="Segoe UI" pitchFamily="34" charset="-120"/>
              </a:rPr>
              <a:t>désigner son représentant</a:t>
            </a:r>
            <a:r>
              <a:rPr lang="en-US" sz="1200" dirty="0">
                <a:solidFill>
                  <a:srgbClr val="1B2A3A"/>
                </a:solidFill>
                <a:latin typeface="Segoe UI" pitchFamily="34" charset="0"/>
                <a:ea typeface="Segoe UI" pitchFamily="34" charset="-122"/>
                <a:cs typeface="Segoe UI" pitchFamily="34" charset="-120"/>
              </a:rPr>
              <a:t> pour un contexte précis (séance d’ouverture, rapport d’évaluation…) : le quorum exige le président ou son représentant ; sans désignation, il est lui-même requis.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RG-SEA-29 · RG-SEA-30</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193</a:t>
            </a:r>
            <a:endParaRPr lang="en-US" sz="1100" dirty="0"/>
          </a:p>
        </p:txBody>
      </p:sp>
    </p:spTree>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name="Slide 194">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LA SÉANCE D’OUVERTURE</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L’ouverture au quorum des parts</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Aucune offre ne s’ouvre seule : il faut le nombre de parts fixé à la cérémonie des clés.</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194</a:t>
            </a:r>
            <a:endParaRPr lang="en-US" sz="1100" dirty="0"/>
          </a:p>
        </p:txBody>
      </p:sp>
    </p:spTree>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name="Slide 19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SÉANCE · RESPONSABLE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L’ouverture et les présences</a:t>
            </a:r>
            <a:endParaRPr lang="en-US" sz="2600" dirty="0"/>
          </a:p>
        </p:txBody>
      </p:sp>
      <p:sp>
        <p:nvSpPr>
          <p:cNvPr id="4" name="Shape 2"/>
          <p:cNvSpPr/>
          <p:nvPr/>
        </p:nvSpPr>
        <p:spPr>
          <a:xfrm>
            <a:off x="800080" y="1193800"/>
            <a:ext cx="7327717" cy="4589463"/>
          </a:xfrm>
          <a:prstGeom prst="rect">
            <a:avLst/>
          </a:prstGeom>
          <a:solidFill>
            <a:srgbClr val="FCFCFA"/>
          </a:solidFill>
          <a:ln w="9525">
            <a:solidFill>
              <a:srgbClr val="D5DCE4"/>
            </a:solidFill>
            <a:prstDash val="solid"/>
          </a:ln>
        </p:spPr>
        <p:txBody>
          <a:bodyPr/>
          <a:lstStyle/>
          <a:p>
            <a:endParaRPr lang="fr-FR"/>
          </a:p>
        </p:txBody>
      </p:sp>
      <p:pic>
        <p:nvPicPr>
          <p:cNvPr id="5" name="Image 0" descr="L’ouverture et les présences"/>
          <p:cNvPicPr>
            <a:picLocks noChangeAspect="1"/>
          </p:cNvPicPr>
          <p:nvPr/>
        </p:nvPicPr>
        <p:blipFill>
          <a:blip r:embed="rId3"/>
          <a:stretch>
            <a:fillRect/>
          </a:stretch>
        </p:blipFill>
        <p:spPr>
          <a:xfrm>
            <a:off x="812780" y="1206500"/>
            <a:ext cx="7302317" cy="4564063"/>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responsable de la procédure.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responsable ouvre la séance, coche les présents et ajoute les autres présents avec leur qualité.</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RG-SEA-01 · RG-SEA-03</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195</a:t>
            </a:r>
            <a:endParaRPr lang="en-US" sz="1100" dirty="0"/>
          </a:p>
        </p:txBody>
      </p:sp>
    </p:spTree>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name="Slide 19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SÉANCE · MEMBRE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Apporter ses parts</a:t>
            </a:r>
            <a:endParaRPr lang="en-US" sz="2600" dirty="0"/>
          </a:p>
        </p:txBody>
      </p:sp>
      <p:sp>
        <p:nvSpPr>
          <p:cNvPr id="4" name="Shape 2"/>
          <p:cNvSpPr/>
          <p:nvPr/>
        </p:nvSpPr>
        <p:spPr>
          <a:xfrm>
            <a:off x="800080" y="1193800"/>
            <a:ext cx="10591535" cy="1997553"/>
          </a:xfrm>
          <a:prstGeom prst="rect">
            <a:avLst/>
          </a:prstGeom>
          <a:solidFill>
            <a:srgbClr val="FCFCFA"/>
          </a:solidFill>
          <a:ln w="9525">
            <a:solidFill>
              <a:srgbClr val="D5DCE4"/>
            </a:solidFill>
            <a:prstDash val="solid"/>
          </a:ln>
        </p:spPr>
        <p:txBody>
          <a:bodyPr/>
          <a:lstStyle/>
          <a:p>
            <a:endParaRPr lang="fr-FR"/>
          </a:p>
        </p:txBody>
      </p:sp>
      <p:pic>
        <p:nvPicPr>
          <p:cNvPr id="5" name="Image 0" descr="Apporter ses parts"/>
          <p:cNvPicPr>
            <a:picLocks noChangeAspect="1"/>
          </p:cNvPicPr>
          <p:nvPr/>
        </p:nvPicPr>
        <p:blipFill>
          <a:blip r:embed="rId3"/>
          <a:stretch>
            <a:fillRect/>
          </a:stretch>
        </p:blipFill>
        <p:spPr>
          <a:xfrm>
            <a:off x="812780" y="1206500"/>
            <a:ext cx="10566136" cy="1972153"/>
          </a:xfrm>
          <a:prstGeom prst="rect">
            <a:avLst/>
          </a:prstGeom>
        </p:spPr>
      </p:pic>
      <p:sp>
        <p:nvSpPr>
          <p:cNvPr id="6" name="Shape 3"/>
          <p:cNvSpPr/>
          <p:nvPr/>
        </p:nvSpPr>
        <p:spPr>
          <a:xfrm>
            <a:off x="812780" y="3331053"/>
            <a:ext cx="10566136" cy="19939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12780" y="3331053"/>
            <a:ext cx="38099" cy="1993900"/>
          </a:xfrm>
          <a:prstGeom prst="rect">
            <a:avLst/>
          </a:prstGeom>
          <a:solidFill>
            <a:srgbClr val="1B6FA8"/>
          </a:solidFill>
          <a:ln/>
        </p:spPr>
        <p:txBody>
          <a:bodyPr/>
          <a:lstStyle/>
          <a:p>
            <a:endParaRPr lang="fr-FR"/>
          </a:p>
        </p:txBody>
      </p:sp>
      <p:sp>
        <p:nvSpPr>
          <p:cNvPr id="8" name="Text 5"/>
          <p:cNvSpPr/>
          <p:nvPr/>
        </p:nvSpPr>
        <p:spPr>
          <a:xfrm>
            <a:off x="977876" y="3432653"/>
            <a:ext cx="10274043" cy="18034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membre de la commission.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Sa phrase déverrouille sa clé </a:t>
            </a:r>
            <a:r>
              <a:rPr lang="en-US" sz="1200" b="1" dirty="0">
                <a:solidFill>
                  <a:srgbClr val="1B2A3A"/>
                </a:solidFill>
                <a:latin typeface="Segoe UI" pitchFamily="34" charset="0"/>
                <a:ea typeface="Segoe UI" pitchFamily="34" charset="-122"/>
                <a:cs typeface="Segoe UI" pitchFamily="34" charset="-120"/>
              </a:rPr>
              <a:t>sur son poste</a:t>
            </a:r>
            <a:r>
              <a:rPr lang="en-US" sz="1200" dirty="0">
                <a:solidFill>
                  <a:srgbClr val="1B2A3A"/>
                </a:solidFill>
                <a:latin typeface="Segoe UI" pitchFamily="34" charset="0"/>
                <a:ea typeface="Segoe UI" pitchFamily="34" charset="-122"/>
                <a:cs typeface="Segoe UI" pitchFamily="34" charset="-120"/>
              </a:rPr>
              <a:t>, qui déchiffre sa part de chaque offre ; seules ces parts partent vers le serveur.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RG-SEA-05 · RG-SEA-06</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196</a:t>
            </a:r>
            <a:endParaRPr lang="en-US" sz="1100" dirty="0"/>
          </a:p>
        </p:txBody>
      </p:sp>
    </p:spTree>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name="Slide 19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SÉANCE · MEMBRE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quorum des parts se remplit</a:t>
            </a:r>
            <a:endParaRPr lang="en-US" sz="2600" dirty="0"/>
          </a:p>
        </p:txBody>
      </p:sp>
      <p:sp>
        <p:nvSpPr>
          <p:cNvPr id="4" name="Shape 2"/>
          <p:cNvSpPr/>
          <p:nvPr/>
        </p:nvSpPr>
        <p:spPr>
          <a:xfrm>
            <a:off x="800080" y="1193800"/>
            <a:ext cx="10591535" cy="1065756"/>
          </a:xfrm>
          <a:prstGeom prst="rect">
            <a:avLst/>
          </a:prstGeom>
          <a:solidFill>
            <a:srgbClr val="FCFCFA"/>
          </a:solidFill>
          <a:ln w="9525">
            <a:solidFill>
              <a:srgbClr val="D5DCE4"/>
            </a:solidFill>
            <a:prstDash val="solid"/>
          </a:ln>
        </p:spPr>
        <p:txBody>
          <a:bodyPr/>
          <a:lstStyle/>
          <a:p>
            <a:endParaRPr lang="fr-FR"/>
          </a:p>
        </p:txBody>
      </p:sp>
      <p:pic>
        <p:nvPicPr>
          <p:cNvPr id="5" name="Image 0" descr="Le quorum des parts se remplit"/>
          <p:cNvPicPr>
            <a:picLocks noChangeAspect="1"/>
          </p:cNvPicPr>
          <p:nvPr/>
        </p:nvPicPr>
        <p:blipFill>
          <a:blip r:embed="rId3"/>
          <a:stretch>
            <a:fillRect/>
          </a:stretch>
        </p:blipFill>
        <p:spPr>
          <a:xfrm>
            <a:off x="812780" y="1206500"/>
            <a:ext cx="10566136" cy="1040356"/>
          </a:xfrm>
          <a:prstGeom prst="rect">
            <a:avLst/>
          </a:prstGeom>
        </p:spPr>
      </p:pic>
      <p:sp>
        <p:nvSpPr>
          <p:cNvPr id="6" name="Shape 3"/>
          <p:cNvSpPr/>
          <p:nvPr/>
        </p:nvSpPr>
        <p:spPr>
          <a:xfrm>
            <a:off x="812780" y="2399256"/>
            <a:ext cx="10566136" cy="19939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12780" y="2399256"/>
            <a:ext cx="38099" cy="1993900"/>
          </a:xfrm>
          <a:prstGeom prst="rect">
            <a:avLst/>
          </a:prstGeom>
          <a:solidFill>
            <a:srgbClr val="1B6FA8"/>
          </a:solidFill>
          <a:ln/>
        </p:spPr>
        <p:txBody>
          <a:bodyPr/>
          <a:lstStyle/>
          <a:p>
            <a:endParaRPr lang="fr-FR"/>
          </a:p>
        </p:txBody>
      </p:sp>
      <p:sp>
        <p:nvSpPr>
          <p:cNvPr id="8" name="Text 5"/>
          <p:cNvSpPr/>
          <p:nvPr/>
        </p:nvSpPr>
        <p:spPr>
          <a:xfrm>
            <a:off x="977876" y="2500856"/>
            <a:ext cx="10274043" cy="18034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membre de la commission.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 Quorum : 1 / 2 » : les offres s’ouvriront dès que le quorum des parts sera atteint.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 membre absent peut être suppléé par la part de secours, apportée par le dépositaire.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RG-SEA-07 · RG-SEA-08</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197</a:t>
            </a:r>
            <a:endParaRPr lang="en-US" sz="1100" dirty="0"/>
          </a:p>
        </p:txBody>
      </p:sp>
    </p:spTree>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name="Slide 19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SÉANCE · RESPONSABLE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offres s’ouvrent ensemble</a:t>
            </a:r>
            <a:endParaRPr lang="en-US" sz="2600" dirty="0"/>
          </a:p>
        </p:txBody>
      </p:sp>
      <p:sp>
        <p:nvSpPr>
          <p:cNvPr id="4" name="Shape 2"/>
          <p:cNvSpPr/>
          <p:nvPr/>
        </p:nvSpPr>
        <p:spPr>
          <a:xfrm>
            <a:off x="800080" y="1193800"/>
            <a:ext cx="7327717" cy="4589463"/>
          </a:xfrm>
          <a:prstGeom prst="rect">
            <a:avLst/>
          </a:prstGeom>
          <a:solidFill>
            <a:srgbClr val="FCFCFA"/>
          </a:solidFill>
          <a:ln w="9525">
            <a:solidFill>
              <a:srgbClr val="D5DCE4"/>
            </a:solidFill>
            <a:prstDash val="solid"/>
          </a:ln>
        </p:spPr>
        <p:txBody>
          <a:bodyPr/>
          <a:lstStyle/>
          <a:p>
            <a:endParaRPr lang="fr-FR"/>
          </a:p>
        </p:txBody>
      </p:sp>
      <p:pic>
        <p:nvPicPr>
          <p:cNvPr id="5" name="Image 0" descr="Toutes les offres s’ouvrent ensemble"/>
          <p:cNvPicPr>
            <a:picLocks noChangeAspect="1"/>
          </p:cNvPicPr>
          <p:nvPr/>
        </p:nvPicPr>
        <p:blipFill>
          <a:blip r:embed="rId3"/>
          <a:stretch>
            <a:fillRect/>
          </a:stretch>
        </p:blipFill>
        <p:spPr>
          <a:xfrm>
            <a:off x="812780" y="1206500"/>
            <a:ext cx="7302317" cy="4564063"/>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responsable de la procédure.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Au quorum, chaque offre est vérifiée par son empreinte, déchiffrée et comparée aux pièces attendues.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offres retirées ou remplacées ne s’ouvrent jamais.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RG-SEA-08 · RG-SEA-10 · RG-SEA-11</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198</a:t>
            </a:r>
            <a:endParaRPr lang="en-US" sz="1100" dirty="0"/>
          </a:p>
        </p:txBody>
      </p:sp>
    </p:spTree>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name="Slide 199">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LA SÉANCE D’OUVERTURE</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La lecture des offres</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L’application lit chaque offre de la même manière ; ce qu’elle relève est une alerte pour la commission, jamais un rejet.</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199</a:t>
            </a:r>
            <a:endParaRPr lang="en-US" sz="1100" dirty="0"/>
          </a:p>
        </p:txBody>
      </p:sp>
    </p:spTree>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name="Slide 20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SÉANCE · MEMBRE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lecture d’une offre remplie : fournitures</a:t>
            </a:r>
            <a:endParaRPr lang="en-US" sz="2600" dirty="0"/>
          </a:p>
        </p:txBody>
      </p:sp>
      <p:sp>
        <p:nvSpPr>
          <p:cNvPr id="4" name="Shape 2"/>
          <p:cNvSpPr/>
          <p:nvPr/>
        </p:nvSpPr>
        <p:spPr>
          <a:xfrm>
            <a:off x="1687917" y="1193800"/>
            <a:ext cx="8815862" cy="3327400"/>
          </a:xfrm>
          <a:prstGeom prst="rect">
            <a:avLst/>
          </a:prstGeom>
          <a:solidFill>
            <a:srgbClr val="FCFCFA"/>
          </a:solidFill>
          <a:ln w="9525">
            <a:solidFill>
              <a:srgbClr val="D5DCE4"/>
            </a:solidFill>
            <a:prstDash val="solid"/>
          </a:ln>
        </p:spPr>
        <p:txBody>
          <a:bodyPr/>
          <a:lstStyle/>
          <a:p>
            <a:endParaRPr lang="fr-FR"/>
          </a:p>
        </p:txBody>
      </p:sp>
      <p:pic>
        <p:nvPicPr>
          <p:cNvPr id="5" name="Image 0" descr="La lecture d’une offre remplie : fournitures"/>
          <p:cNvPicPr>
            <a:picLocks noChangeAspect="1"/>
          </p:cNvPicPr>
          <p:nvPr/>
        </p:nvPicPr>
        <p:blipFill>
          <a:blip r:embed="rId3"/>
          <a:stretch>
            <a:fillRect/>
          </a:stretch>
        </p:blipFill>
        <p:spPr>
          <a:xfrm>
            <a:off x="1700616" y="1206500"/>
            <a:ext cx="8790462" cy="3302000"/>
          </a:xfrm>
          <a:prstGeom prst="rect">
            <a:avLst/>
          </a:prstGeom>
        </p:spPr>
      </p:pic>
      <p:sp>
        <p:nvSpPr>
          <p:cNvPr id="6" name="Shape 3"/>
          <p:cNvSpPr/>
          <p:nvPr/>
        </p:nvSpPr>
        <p:spPr>
          <a:xfrm>
            <a:off x="812780" y="4660900"/>
            <a:ext cx="10566136" cy="16256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12780" y="4660900"/>
            <a:ext cx="38099" cy="1625600"/>
          </a:xfrm>
          <a:prstGeom prst="rect">
            <a:avLst/>
          </a:prstGeom>
          <a:solidFill>
            <a:srgbClr val="1B6FA8"/>
          </a:solidFill>
          <a:ln/>
        </p:spPr>
        <p:txBody>
          <a:bodyPr/>
          <a:lstStyle/>
          <a:p>
            <a:endParaRPr lang="fr-FR"/>
          </a:p>
        </p:txBody>
      </p:sp>
      <p:sp>
        <p:nvSpPr>
          <p:cNvPr id="8" name="Text 5"/>
          <p:cNvSpPr/>
          <p:nvPr/>
        </p:nvSpPr>
        <p:spPr>
          <a:xfrm>
            <a:off x="977876" y="4762500"/>
            <a:ext cx="10274043" cy="14351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Les membres de la commission.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totaux </a:t>
            </a:r>
            <a:r>
              <a:rPr lang="en-US" sz="1200" b="1" dirty="0">
                <a:solidFill>
                  <a:srgbClr val="1B2A3A"/>
                </a:solidFill>
                <a:latin typeface="Segoe UI" pitchFamily="34" charset="0"/>
                <a:ea typeface="Segoe UI" pitchFamily="34" charset="-122"/>
                <a:cs typeface="Segoe UI" pitchFamily="34" charset="-120"/>
              </a:rPr>
              <a:t>recalculés</a:t>
            </a:r>
            <a:r>
              <a:rPr lang="en-US" sz="1200" dirty="0">
                <a:solidFill>
                  <a:srgbClr val="1B2A3A"/>
                </a:solidFill>
                <a:latin typeface="Segoe UI" pitchFamily="34" charset="0"/>
                <a:ea typeface="Segoe UI" pitchFamily="34" charset="-122"/>
                <a:cs typeface="Segoe UI" pitchFamily="34" charset="-120"/>
              </a:rPr>
              <a:t> par le serveur ; les alertes (non-conformité, livraison hors délai) ; le bordereau et la conformité remplis, en PDF.</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RG-SEA-12 · RG-SEA-13</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200</a:t>
            </a:r>
            <a:endParaRPr lang="en-US" sz="1100" dirty="0"/>
          </a:p>
        </p:txBody>
      </p:sp>
    </p:spTree>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name="Slide 20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SÉANCE · MEMBRE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lecture d’une offre remplie : travaux</a:t>
            </a:r>
            <a:endParaRPr lang="en-US" sz="2600" dirty="0"/>
          </a:p>
        </p:txBody>
      </p:sp>
      <p:sp>
        <p:nvSpPr>
          <p:cNvPr id="4" name="Shape 2"/>
          <p:cNvSpPr/>
          <p:nvPr/>
        </p:nvSpPr>
        <p:spPr>
          <a:xfrm>
            <a:off x="800080" y="1193800"/>
            <a:ext cx="7327717" cy="4644231"/>
          </a:xfrm>
          <a:prstGeom prst="rect">
            <a:avLst/>
          </a:prstGeom>
          <a:solidFill>
            <a:srgbClr val="FCFCFA"/>
          </a:solidFill>
          <a:ln w="9525">
            <a:solidFill>
              <a:srgbClr val="D5DCE4"/>
            </a:solidFill>
            <a:prstDash val="solid"/>
          </a:ln>
        </p:spPr>
        <p:txBody>
          <a:bodyPr/>
          <a:lstStyle/>
          <a:p>
            <a:endParaRPr lang="fr-FR"/>
          </a:p>
        </p:txBody>
      </p:sp>
      <p:pic>
        <p:nvPicPr>
          <p:cNvPr id="5" name="Image 0" descr="La lecture d’une offre remplie : travaux"/>
          <p:cNvPicPr>
            <a:picLocks noChangeAspect="1"/>
          </p:cNvPicPr>
          <p:nvPr/>
        </p:nvPicPr>
        <p:blipFill>
          <a:blip r:embed="rId3"/>
          <a:stretch>
            <a:fillRect/>
          </a:stretch>
        </p:blipFill>
        <p:spPr>
          <a:xfrm>
            <a:off x="812780" y="1206500"/>
            <a:ext cx="7302317" cy="4618831"/>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Les membres de la commission.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Une offre en défaut : chiffre d’affaires, liquidité, références, personnel, matériel, sous-détail — des alertes, jamais un rejet.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RG-SEA-12 · RG-SEA-14</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201</a:t>
            </a:r>
            <a:endParaRPr lang="en-US" sz="1100" dirty="0"/>
          </a:p>
        </p:txBody>
      </p:sp>
    </p:spTree>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name="Slide 20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SÉANCE · MEMBRE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frais de dossier, lus en séance</a:t>
            </a:r>
            <a:endParaRPr lang="en-US" sz="2600" dirty="0"/>
          </a:p>
        </p:txBody>
      </p:sp>
      <p:sp>
        <p:nvSpPr>
          <p:cNvPr id="4" name="Shape 2"/>
          <p:cNvSpPr/>
          <p:nvPr/>
        </p:nvSpPr>
        <p:spPr>
          <a:xfrm>
            <a:off x="1731362" y="1193800"/>
            <a:ext cx="8728971" cy="3327400"/>
          </a:xfrm>
          <a:prstGeom prst="rect">
            <a:avLst/>
          </a:prstGeom>
          <a:solidFill>
            <a:srgbClr val="FCFCFA"/>
          </a:solidFill>
          <a:ln w="9525">
            <a:solidFill>
              <a:srgbClr val="D5DCE4"/>
            </a:solidFill>
            <a:prstDash val="solid"/>
          </a:ln>
        </p:spPr>
        <p:txBody>
          <a:bodyPr/>
          <a:lstStyle/>
          <a:p>
            <a:endParaRPr lang="fr-FR"/>
          </a:p>
        </p:txBody>
      </p:sp>
      <p:pic>
        <p:nvPicPr>
          <p:cNvPr id="5" name="Image 0" descr="Les frais de dossier, lus en séance"/>
          <p:cNvPicPr>
            <a:picLocks noChangeAspect="1"/>
          </p:cNvPicPr>
          <p:nvPr/>
        </p:nvPicPr>
        <p:blipFill>
          <a:blip r:embed="rId3"/>
          <a:stretch>
            <a:fillRect/>
          </a:stretch>
        </p:blipFill>
        <p:spPr>
          <a:xfrm>
            <a:off x="1744062" y="1206500"/>
            <a:ext cx="8703572" cy="3302000"/>
          </a:xfrm>
          <a:prstGeom prst="rect">
            <a:avLst/>
          </a:prstGeom>
        </p:spPr>
      </p:pic>
      <p:sp>
        <p:nvSpPr>
          <p:cNvPr id="6" name="Shape 3"/>
          <p:cNvSpPr/>
          <p:nvPr/>
        </p:nvSpPr>
        <p:spPr>
          <a:xfrm>
            <a:off x="812780" y="4660900"/>
            <a:ext cx="10566136" cy="16256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12780" y="4660900"/>
            <a:ext cx="38099" cy="1625600"/>
          </a:xfrm>
          <a:prstGeom prst="rect">
            <a:avLst/>
          </a:prstGeom>
          <a:solidFill>
            <a:srgbClr val="1B6FA8"/>
          </a:solidFill>
          <a:ln/>
        </p:spPr>
        <p:txBody>
          <a:bodyPr/>
          <a:lstStyle/>
          <a:p>
            <a:endParaRPr lang="fr-FR"/>
          </a:p>
        </p:txBody>
      </p:sp>
      <p:sp>
        <p:nvSpPr>
          <p:cNvPr id="8" name="Text 5"/>
          <p:cNvSpPr/>
          <p:nvPr/>
        </p:nvSpPr>
        <p:spPr>
          <a:xfrm>
            <a:off x="977876" y="4762500"/>
            <a:ext cx="10274043" cy="14351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Les membres de la commission.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ligne « Frais de dossier » de chaque offre ; sans reçu validé, l’alerte « Frais de dossier non réglés ».</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RG-SEA-16</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202</a:t>
            </a:r>
            <a:endParaRPr lang="en-US" sz="1100" dirty="0"/>
          </a:p>
        </p:txBody>
      </p:sp>
    </p:spTree>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name="Slide 20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SÉANCE · RESPONSABLE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lecture, projetée</a:t>
            </a:r>
            <a:endParaRPr lang="en-US" sz="2600" dirty="0"/>
          </a:p>
        </p:txBody>
      </p:sp>
      <p:sp>
        <p:nvSpPr>
          <p:cNvPr id="4" name="Shape 2"/>
          <p:cNvSpPr/>
          <p:nvPr/>
        </p:nvSpPr>
        <p:spPr>
          <a:xfrm>
            <a:off x="800080" y="1193800"/>
            <a:ext cx="7327717" cy="4589463"/>
          </a:xfrm>
          <a:prstGeom prst="rect">
            <a:avLst/>
          </a:prstGeom>
          <a:solidFill>
            <a:srgbClr val="FCFCFA"/>
          </a:solidFill>
          <a:ln w="9525">
            <a:solidFill>
              <a:srgbClr val="D5DCE4"/>
            </a:solidFill>
            <a:prstDash val="solid"/>
          </a:ln>
        </p:spPr>
        <p:txBody>
          <a:bodyPr/>
          <a:lstStyle/>
          <a:p>
            <a:endParaRPr lang="fr-FR"/>
          </a:p>
        </p:txBody>
      </p:sp>
      <p:pic>
        <p:nvPicPr>
          <p:cNvPr id="5" name="Image 0" descr="La lecture, projetée"/>
          <p:cNvPicPr>
            <a:picLocks noChangeAspect="1"/>
          </p:cNvPicPr>
          <p:nvPr/>
        </p:nvPicPr>
        <p:blipFill>
          <a:blip r:embed="rId3"/>
          <a:stretch>
            <a:fillRect/>
          </a:stretch>
        </p:blipFill>
        <p:spPr>
          <a:xfrm>
            <a:off x="812780" y="1206500"/>
            <a:ext cx="7302317" cy="4564063"/>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responsable de la procédure, pour la salle.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Offre par offre : soumissionnaire, montants, délai, garantie, pièces manquantes, alertes — en grand pour la salle.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RG-SEA-12 · RG-SEA-15 · RG-SEA-17</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203</a:t>
            </a:r>
            <a:endParaRPr lang="en-US" sz="1100" dirty="0"/>
          </a:p>
        </p:txBody>
      </p:sp>
    </p:spTree>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name="Slide 20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COMMISSION D’APPEL D’OFFRES · MEMBRE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pièces, pour la commission seule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pièces, pour la commission seul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Un membre de la commission.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lecture de chaque offre ouverte : NIF et état de sa vérification, montants hors taxes et toutes taxes, délai, validité, rabais, garantie.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Seuls les </a:t>
            </a:r>
            <a:r>
              <a:rPr lang="en-US" sz="1200" b="1" dirty="0">
                <a:solidFill>
                  <a:srgbClr val="1B2A3A"/>
                </a:solidFill>
                <a:latin typeface="Segoe UI" pitchFamily="34" charset="0"/>
                <a:ea typeface="Segoe UI" pitchFamily="34" charset="-122"/>
                <a:cs typeface="Segoe UI" pitchFamily="34" charset="-120"/>
              </a:rPr>
              <a:t>membres</a:t>
            </a:r>
            <a:r>
              <a:rPr lang="en-US" sz="1200" dirty="0">
                <a:solidFill>
                  <a:srgbClr val="1B2A3A"/>
                </a:solidFill>
                <a:latin typeface="Segoe UI" pitchFamily="34" charset="0"/>
                <a:ea typeface="Segoe UI" pitchFamily="34" charset="-122"/>
                <a:cs typeface="Segoe UI" pitchFamily="34" charset="-120"/>
              </a:rPr>
              <a:t> ouvrent les pièces : acte d’engagement signé, reçu des frais de dossier, garantie de soumission.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RG-SEA-12 · RG-SEA-18</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204</a:t>
            </a:r>
            <a:endParaRPr lang="en-US" sz="1100" dirty="0"/>
          </a:p>
        </p:txBody>
      </p:sp>
    </p:spTree>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name="Slide 20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SÉANCE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séance close, vue par la PRMP</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a séance close, vue par la PRMP"/>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en lecture.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L’heure d’ouverture, le quorum des parts atteint, </a:t>
            </a:r>
            <a:r>
              <a:rPr lang="en-US" sz="1200" b="1" dirty="0">
                <a:solidFill>
                  <a:srgbClr val="1B2A3A"/>
                </a:solidFill>
                <a:latin typeface="Segoe UI" pitchFamily="34" charset="0"/>
                <a:ea typeface="Segoe UI" pitchFamily="34" charset="-122"/>
                <a:cs typeface="Segoe UI" pitchFamily="34" charset="-120"/>
              </a:rPr>
              <a:t>part de secours employée</a:t>
            </a:r>
            <a:r>
              <a:rPr lang="en-US" sz="1200" dirty="0">
                <a:solidFill>
                  <a:srgbClr val="1B2A3A"/>
                </a:solidFill>
                <a:latin typeface="Segoe UI" pitchFamily="34" charset="0"/>
                <a:ea typeface="Segoe UI" pitchFamily="34" charset="-122"/>
                <a:cs typeface="Segoe UI" pitchFamily="34" charset="-120"/>
              </a:rPr>
              <a:t> ; les membres présents et l’observateur de la PRMP ; les quatre offres reçues et leur état.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garantie lue avec son montant et son émetteur : </a:t>
            </a:r>
            <a:r>
              <a:rPr lang="en-US" sz="1200" b="1" dirty="0">
                <a:solidFill>
                  <a:srgbClr val="1B2A3A"/>
                </a:solidFill>
                <a:latin typeface="Segoe UI" pitchFamily="34" charset="0"/>
                <a:ea typeface="Segoe UI" pitchFamily="34" charset="-122"/>
                <a:cs typeface="Segoe UI" pitchFamily="34" charset="-120"/>
              </a:rPr>
              <a:t>« Garantie insuffisante »</a:t>
            </a:r>
            <a:r>
              <a:rPr lang="en-US" sz="1200" dirty="0">
                <a:solidFill>
                  <a:srgbClr val="1B2A3A"/>
                </a:solidFill>
                <a:latin typeface="Segoe UI" pitchFamily="34" charset="0"/>
                <a:ea typeface="Segoe UI" pitchFamily="34" charset="-122"/>
                <a:cs typeface="Segoe UI" pitchFamily="34" charset="-120"/>
              </a:rPr>
              <a:t> pour 800 000 Ar face au minimum de 1 600 000 Ar fixé par la fiche — une alerte, pas un rejet.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 dossier de marché étant soumis à la Commission, l’étape est close : la séance ne se modifie plus (partie 08).</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RG-SEA-07 · RG-SEA-15 · RG-SEA-18</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205</a:t>
            </a:r>
            <a:endParaRPr lang="en-US" sz="1100" dirty="0"/>
          </a:p>
        </p:txBody>
      </p:sp>
    </p:spTree>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name="Slide 206">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LA SÉANCE D’OUVERTURE</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Le PV d’ouverture, signé au quorum de la commission</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Le PV est signé en ligne par chaque membre présent. Depuis le 10/10 (manuel révisé), la séance ne se clôt qu’au quorum de la commission, président ou représentant compris.</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206</a:t>
            </a:r>
            <a:endParaRPr lang="en-US" sz="1100" dirty="0"/>
          </a:p>
        </p:txBody>
      </p:sp>
    </p:spTree>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name="Slide 20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SÉANCE · RESPONSABLE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PV d’ouverture, à signer</a:t>
            </a:r>
            <a:endParaRPr lang="en-US" sz="2600" dirty="0"/>
          </a:p>
        </p:txBody>
      </p:sp>
      <p:sp>
        <p:nvSpPr>
          <p:cNvPr id="4" name="Shape 2"/>
          <p:cNvSpPr/>
          <p:nvPr/>
        </p:nvSpPr>
        <p:spPr>
          <a:xfrm>
            <a:off x="800080" y="1193800"/>
            <a:ext cx="7327717" cy="4589463"/>
          </a:xfrm>
          <a:prstGeom prst="rect">
            <a:avLst/>
          </a:prstGeom>
          <a:solidFill>
            <a:srgbClr val="FCFCFA"/>
          </a:solidFill>
          <a:ln w="9525">
            <a:solidFill>
              <a:srgbClr val="D5DCE4"/>
            </a:solidFill>
            <a:prstDash val="solid"/>
          </a:ln>
        </p:spPr>
        <p:txBody>
          <a:bodyPr/>
          <a:lstStyle/>
          <a:p>
            <a:endParaRPr lang="fr-FR"/>
          </a:p>
        </p:txBody>
      </p:sp>
      <p:pic>
        <p:nvPicPr>
          <p:cNvPr id="5" name="Image 0" descr="Le PV d’ouverture, à signer"/>
          <p:cNvPicPr>
            <a:picLocks noChangeAspect="1"/>
          </p:cNvPicPr>
          <p:nvPr/>
        </p:nvPicPr>
        <p:blipFill>
          <a:blip r:embed="rId3"/>
          <a:stretch>
            <a:fillRect/>
          </a:stretch>
        </p:blipFill>
        <p:spPr>
          <a:xfrm>
            <a:off x="812780" y="1206500"/>
            <a:ext cx="7302317" cy="4564063"/>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responsable de la procédure.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responsable produit le PV ; il attend la signature de chaque membre présent.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Capture du 09/10 : l’écran porte aujourd’hui, en plus, le quorum de la commission (voir ci-après).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RG-SEA-20 · RG-SEA-31</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207</a:t>
            </a:r>
            <a:endParaRPr lang="en-US" sz="1100" dirty="0"/>
          </a:p>
        </p:txBody>
      </p:sp>
    </p:spTree>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name="Slide 20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SÉANCE · MEMBRE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Signer le PV en ligne</a:t>
            </a:r>
            <a:endParaRPr lang="en-US" sz="2600" dirty="0"/>
          </a:p>
        </p:txBody>
      </p:sp>
      <p:sp>
        <p:nvSpPr>
          <p:cNvPr id="4" name="Shape 2"/>
          <p:cNvSpPr/>
          <p:nvPr/>
        </p:nvSpPr>
        <p:spPr>
          <a:xfrm>
            <a:off x="800080" y="1193800"/>
            <a:ext cx="10591535" cy="1500216"/>
          </a:xfrm>
          <a:prstGeom prst="rect">
            <a:avLst/>
          </a:prstGeom>
          <a:solidFill>
            <a:srgbClr val="FCFCFA"/>
          </a:solidFill>
          <a:ln w="9525">
            <a:solidFill>
              <a:srgbClr val="D5DCE4"/>
            </a:solidFill>
            <a:prstDash val="solid"/>
          </a:ln>
        </p:spPr>
        <p:txBody>
          <a:bodyPr/>
          <a:lstStyle/>
          <a:p>
            <a:endParaRPr lang="fr-FR"/>
          </a:p>
        </p:txBody>
      </p:sp>
      <p:pic>
        <p:nvPicPr>
          <p:cNvPr id="5" name="Image 0" descr="Signer le PV en ligne"/>
          <p:cNvPicPr>
            <a:picLocks noChangeAspect="1"/>
          </p:cNvPicPr>
          <p:nvPr/>
        </p:nvPicPr>
        <p:blipFill>
          <a:blip r:embed="rId3"/>
          <a:stretch>
            <a:fillRect/>
          </a:stretch>
        </p:blipFill>
        <p:spPr>
          <a:xfrm>
            <a:off x="812780" y="1206500"/>
            <a:ext cx="10566136" cy="1474816"/>
          </a:xfrm>
          <a:prstGeom prst="rect">
            <a:avLst/>
          </a:prstGeom>
        </p:spPr>
      </p:pic>
      <p:sp>
        <p:nvSpPr>
          <p:cNvPr id="6" name="Shape 3"/>
          <p:cNvSpPr/>
          <p:nvPr/>
        </p:nvSpPr>
        <p:spPr>
          <a:xfrm>
            <a:off x="812780" y="2833716"/>
            <a:ext cx="10566136" cy="19939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12780" y="2833716"/>
            <a:ext cx="38099" cy="1993900"/>
          </a:xfrm>
          <a:prstGeom prst="rect">
            <a:avLst/>
          </a:prstGeom>
          <a:solidFill>
            <a:srgbClr val="1B6FA8"/>
          </a:solidFill>
          <a:ln/>
        </p:spPr>
        <p:txBody>
          <a:bodyPr/>
          <a:lstStyle/>
          <a:p>
            <a:endParaRPr lang="fr-FR"/>
          </a:p>
        </p:txBody>
      </p:sp>
      <p:sp>
        <p:nvSpPr>
          <p:cNvPr id="8" name="Text 5"/>
          <p:cNvSpPr/>
          <p:nvPr/>
        </p:nvSpPr>
        <p:spPr>
          <a:xfrm>
            <a:off x="977876" y="2935316"/>
            <a:ext cx="10274043" cy="18034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membre de la commission.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Relire le PV, puis signer : la signature est horodatée et imprimée au PV.</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président peut constater l’empêchement d’un membre, avec un motif, tant que le quorum reste atteignable.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RG-SEA-21 · RG-SEA-22</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208</a:t>
            </a:r>
            <a:endParaRPr lang="en-US" sz="1100" dirty="0"/>
          </a:p>
        </p:txBody>
      </p:sp>
    </p:spTree>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name="Slide 20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PRESTATIONS INTELLECTUELLES · RESPONSABLE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PV signé, quorum atteint</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 PV signé, quorum atteint"/>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responsable de la procédure.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séance des </a:t>
            </a:r>
            <a:r>
              <a:rPr lang="en-US" sz="1200" b="1" dirty="0">
                <a:solidFill>
                  <a:srgbClr val="1B2A3A"/>
                </a:solidFill>
                <a:latin typeface="Segoe UI" pitchFamily="34" charset="0"/>
                <a:ea typeface="Segoe UI" pitchFamily="34" charset="-122"/>
                <a:cs typeface="Segoe UI" pitchFamily="34" charset="-120"/>
              </a:rPr>
              <a:t>enveloppes techniques</a:t>
            </a:r>
            <a:r>
              <a:rPr lang="en-US" sz="1200" dirty="0">
                <a:solidFill>
                  <a:srgbClr val="1B2A3A"/>
                </a:solidFill>
                <a:latin typeface="Segoe UI" pitchFamily="34" charset="0"/>
                <a:ea typeface="Segoe UI" pitchFamily="34" charset="-122"/>
                <a:cs typeface="Segoe UI" pitchFamily="34" charset="-120"/>
              </a:rPr>
              <a:t> d’une consultation de prestations intellectuelles : les offres sont lues sans aucun montant.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 </a:t>
            </a:r>
            <a:r>
              <a:rPr lang="en-US" sz="1200" b="1" dirty="0">
                <a:solidFill>
                  <a:srgbClr val="1B2A3A"/>
                </a:solidFill>
                <a:latin typeface="Segoe UI" pitchFamily="34" charset="0"/>
                <a:ea typeface="Segoe UI" pitchFamily="34" charset="-122"/>
                <a:cs typeface="Segoe UI" pitchFamily="34" charset="-120"/>
              </a:rPr>
              <a:t>Quorum atteint</a:t>
            </a:r>
            <a:r>
              <a:rPr lang="en-US" sz="1200" dirty="0">
                <a:solidFill>
                  <a:srgbClr val="1B2A3A"/>
                </a:solidFill>
                <a:latin typeface="Segoe UI" pitchFamily="34" charset="0"/>
                <a:ea typeface="Segoe UI" pitchFamily="34" charset="-122"/>
                <a:cs typeface="Segoe UI" pitchFamily="34" charset="-120"/>
              </a:rPr>
              <a:t> — 2 sur 2 requis (majorité des membres désignés) · président signataire » ; chaque signature électronique datée.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PV s’enregistre en PDF ; l’évaluation des offres s’ouvre.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RG-SEA-23 · RG-SEA-27 · RG-SEA-29</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209</a:t>
            </a:r>
            <a:endParaRPr lang="en-US" sz="1100" dirty="0"/>
          </a:p>
        </p:txBody>
      </p:sp>
    </p:spTree>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name="Slide 21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PRESTATIONS INTELLECTUELLES · RESPONSABLE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seconde séance : les enveloppes financières</a:t>
            </a:r>
            <a:endParaRPr lang="en-US" sz="2600" dirty="0"/>
          </a:p>
        </p:txBody>
      </p:sp>
      <p:sp>
        <p:nvSpPr>
          <p:cNvPr id="4" name="Shape 2"/>
          <p:cNvSpPr/>
          <p:nvPr/>
        </p:nvSpPr>
        <p:spPr>
          <a:xfrm>
            <a:off x="2274656" y="1193800"/>
            <a:ext cx="7642382" cy="3327400"/>
          </a:xfrm>
          <a:prstGeom prst="rect">
            <a:avLst/>
          </a:prstGeom>
          <a:solidFill>
            <a:srgbClr val="FCFCFA"/>
          </a:solidFill>
          <a:ln w="9525">
            <a:solidFill>
              <a:srgbClr val="D5DCE4"/>
            </a:solidFill>
            <a:prstDash val="solid"/>
          </a:ln>
        </p:spPr>
        <p:txBody>
          <a:bodyPr/>
          <a:lstStyle/>
          <a:p>
            <a:endParaRPr lang="fr-FR"/>
          </a:p>
        </p:txBody>
      </p:sp>
      <p:pic>
        <p:nvPicPr>
          <p:cNvPr id="5" name="Image 0" descr="La seconde séance : les enveloppes financières"/>
          <p:cNvPicPr>
            <a:picLocks noChangeAspect="1"/>
          </p:cNvPicPr>
          <p:nvPr/>
        </p:nvPicPr>
        <p:blipFill>
          <a:blip r:embed="rId3"/>
          <a:stretch>
            <a:fillRect/>
          </a:stretch>
        </p:blipFill>
        <p:spPr>
          <a:xfrm>
            <a:off x="2287356" y="1206500"/>
            <a:ext cx="7616983" cy="3302000"/>
          </a:xfrm>
          <a:prstGeom prst="rect">
            <a:avLst/>
          </a:prstGeom>
        </p:spPr>
      </p:pic>
      <p:sp>
        <p:nvSpPr>
          <p:cNvPr id="6" name="Shape 3"/>
          <p:cNvSpPr/>
          <p:nvPr/>
        </p:nvSpPr>
        <p:spPr>
          <a:xfrm>
            <a:off x="812780" y="4660900"/>
            <a:ext cx="10566136" cy="16256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12780" y="4660900"/>
            <a:ext cx="38099" cy="1625600"/>
          </a:xfrm>
          <a:prstGeom prst="rect">
            <a:avLst/>
          </a:prstGeom>
          <a:solidFill>
            <a:srgbClr val="1B6FA8"/>
          </a:solidFill>
          <a:ln/>
        </p:spPr>
        <p:txBody>
          <a:bodyPr/>
          <a:lstStyle/>
          <a:p>
            <a:endParaRPr lang="fr-FR"/>
          </a:p>
        </p:txBody>
      </p:sp>
      <p:sp>
        <p:nvSpPr>
          <p:cNvPr id="8" name="Text 5"/>
          <p:cNvSpPr/>
          <p:nvPr/>
        </p:nvSpPr>
        <p:spPr>
          <a:xfrm>
            <a:off x="977876" y="4762500"/>
            <a:ext cx="10274043" cy="14351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responsable de la procédure.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Après l’arrêt de l’évaluation technique, seules s’ouvrent les enveloppes financières des propositions qualifiées, avec les mêmes clés ; les autres restent scellées, avec leur motif.</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Montants lus, présents, observations ; le PV se signe comme celui de la première séance.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RG-SEA-28 · RG-SEA-29</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210</a:t>
            </a:r>
            <a:endParaRPr lang="en-US" sz="1100" dirty="0"/>
          </a:p>
        </p:txBody>
      </p:sp>
    </p:spTree>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name="Slide 21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CANDIDAT · PUBLIC</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procédure publique, après la séance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a procédure publique, après la séanc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Toute entreprise, sans compte.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procédure passe à « close » : les dépôts sont clos.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Quand la fiche le prévoit, l’</a:t>
            </a:r>
            <a:r>
              <a:rPr lang="en-US" sz="1200" b="1" dirty="0">
                <a:solidFill>
                  <a:srgbClr val="1B2A3A"/>
                </a:solidFill>
                <a:latin typeface="Segoe UI" pitchFamily="34" charset="0"/>
                <a:ea typeface="Segoe UI" pitchFamily="34" charset="-122"/>
                <a:cs typeface="Segoe UI" pitchFamily="34" charset="-120"/>
              </a:rPr>
              <a:t>extrait du PV d’ouverture</a:t>
            </a:r>
            <a:r>
              <a:rPr lang="en-US" sz="1200" dirty="0">
                <a:solidFill>
                  <a:srgbClr val="1B2A3A"/>
                </a:solidFill>
                <a:latin typeface="Segoe UI" pitchFamily="34" charset="0"/>
                <a:ea typeface="Segoe UI" pitchFamily="34" charset="-122"/>
                <a:cs typeface="Segoe UI" pitchFamily="34" charset="-120"/>
              </a:rPr>
              <a:t> (sans les alertes) se lit ici dès la dernière signature, puis le résultat de l’appel d’offres.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RG-SEA-23 · RG-SEA-24</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211</a:t>
            </a:r>
            <a:endParaRPr lang="en-US" sz="1100" dirty="0"/>
          </a:p>
        </p:txBody>
      </p:sp>
    </p:spTree>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name="Slide 21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LA SÉANCE D’OUVERTURE · EN RÉSUMÉ</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Ce que l’application garantit</a:t>
            </a:r>
            <a:endParaRPr lang="en-US" sz="2600" dirty="0"/>
          </a:p>
        </p:txBody>
      </p:sp>
      <p:sp>
        <p:nvSpPr>
          <p:cNvPr id="4" name="Shape 2"/>
          <p:cNvSpPr/>
          <p:nvPr/>
        </p:nvSpPr>
        <p:spPr>
          <a:xfrm>
            <a:off x="812780" y="1206500"/>
            <a:ext cx="3420448" cy="2159000"/>
          </a:xfrm>
          <a:prstGeom prst="rect">
            <a:avLst/>
          </a:prstGeom>
          <a:solidFill>
            <a:srgbClr val="FCFCFA"/>
          </a:solidFill>
          <a:ln w="9525">
            <a:solidFill>
              <a:srgbClr val="D5DCE4"/>
            </a:solidFill>
            <a:prstDash val="solid"/>
          </a:ln>
        </p:spPr>
        <p:txBody>
          <a:bodyPr/>
          <a:lstStyle/>
          <a:p>
            <a:endParaRPr lang="fr-FR"/>
          </a:p>
        </p:txBody>
      </p:sp>
      <p:sp>
        <p:nvSpPr>
          <p:cNvPr id="5" name="Shape 3"/>
          <p:cNvSpPr/>
          <p:nvPr/>
        </p:nvSpPr>
        <p:spPr>
          <a:xfrm>
            <a:off x="812780" y="1206500"/>
            <a:ext cx="3420448" cy="38100"/>
          </a:xfrm>
          <a:prstGeom prst="rect">
            <a:avLst/>
          </a:prstGeom>
          <a:solidFill>
            <a:srgbClr val="1B6FA8"/>
          </a:solidFill>
          <a:ln/>
        </p:spPr>
        <p:txBody>
          <a:bodyPr/>
          <a:lstStyle/>
          <a:p>
            <a:endParaRPr lang="fr-FR"/>
          </a:p>
        </p:txBody>
      </p:sp>
      <p:sp>
        <p:nvSpPr>
          <p:cNvPr id="6" name="Text 4"/>
          <p:cNvSpPr/>
          <p:nvPr/>
        </p:nvSpPr>
        <p:spPr>
          <a:xfrm>
            <a:off x="952476" y="1308100"/>
            <a:ext cx="3141055"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Pas d’ouverture avant l’heure</a:t>
            </a:r>
            <a:endParaRPr lang="en-US" sz="1500" dirty="0"/>
          </a:p>
        </p:txBody>
      </p:sp>
      <p:sp>
        <p:nvSpPr>
          <p:cNvPr id="7" name="Text 5"/>
          <p:cNvSpPr/>
          <p:nvPr/>
        </p:nvSpPr>
        <p:spPr>
          <a:xfrm>
            <a:off x="952476" y="1593850"/>
            <a:ext cx="3141055"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Avant l’heure d’ouverture et la date limite, personne ne reçoit rien, pas même les parts chiffrées.</a:t>
            </a:r>
            <a:endParaRPr lang="en-US" sz="1200" dirty="0"/>
          </a:p>
        </p:txBody>
      </p:sp>
      <p:sp>
        <p:nvSpPr>
          <p:cNvPr id="8" name="Shape 6"/>
          <p:cNvSpPr/>
          <p:nvPr/>
        </p:nvSpPr>
        <p:spPr>
          <a:xfrm>
            <a:off x="4385624" y="1206500"/>
            <a:ext cx="3420448" cy="2159000"/>
          </a:xfrm>
          <a:prstGeom prst="rect">
            <a:avLst/>
          </a:prstGeom>
          <a:solidFill>
            <a:srgbClr val="FCFCFA"/>
          </a:solidFill>
          <a:ln w="9525">
            <a:solidFill>
              <a:srgbClr val="D5DCE4"/>
            </a:solidFill>
            <a:prstDash val="solid"/>
          </a:ln>
        </p:spPr>
        <p:txBody>
          <a:bodyPr/>
          <a:lstStyle/>
          <a:p>
            <a:endParaRPr lang="fr-FR"/>
          </a:p>
        </p:txBody>
      </p:sp>
      <p:sp>
        <p:nvSpPr>
          <p:cNvPr id="9" name="Shape 7"/>
          <p:cNvSpPr/>
          <p:nvPr/>
        </p:nvSpPr>
        <p:spPr>
          <a:xfrm>
            <a:off x="4385624" y="1206500"/>
            <a:ext cx="3420448" cy="38100"/>
          </a:xfrm>
          <a:prstGeom prst="rect">
            <a:avLst/>
          </a:prstGeom>
          <a:solidFill>
            <a:srgbClr val="2E8B57"/>
          </a:solidFill>
          <a:ln/>
        </p:spPr>
        <p:txBody>
          <a:bodyPr/>
          <a:lstStyle/>
          <a:p>
            <a:endParaRPr lang="fr-FR"/>
          </a:p>
        </p:txBody>
      </p:sp>
      <p:sp>
        <p:nvSpPr>
          <p:cNvPr id="10" name="Text 8"/>
          <p:cNvSpPr/>
          <p:nvPr/>
        </p:nvSpPr>
        <p:spPr>
          <a:xfrm>
            <a:off x="4525320" y="1308100"/>
            <a:ext cx="3141055"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Toutes ensemble, ou aucune</a:t>
            </a:r>
            <a:endParaRPr lang="en-US" sz="1500" dirty="0"/>
          </a:p>
        </p:txBody>
      </p:sp>
      <p:sp>
        <p:nvSpPr>
          <p:cNvPr id="11" name="Text 9"/>
          <p:cNvSpPr/>
          <p:nvPr/>
        </p:nvSpPr>
        <p:spPr>
          <a:xfrm>
            <a:off x="4525320" y="1593850"/>
            <a:ext cx="3141055"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Au quorum des parts de clé, toutes les offres s’ouvrent dans un même geste ; aucune ne s’ouvre avant les autres.</a:t>
            </a:r>
            <a:endParaRPr lang="en-US" sz="1200" dirty="0"/>
          </a:p>
        </p:txBody>
      </p:sp>
      <p:sp>
        <p:nvSpPr>
          <p:cNvPr id="12" name="Shape 10"/>
          <p:cNvSpPr/>
          <p:nvPr/>
        </p:nvSpPr>
        <p:spPr>
          <a:xfrm>
            <a:off x="7958468" y="1206500"/>
            <a:ext cx="3420448" cy="2159000"/>
          </a:xfrm>
          <a:prstGeom prst="rect">
            <a:avLst/>
          </a:prstGeom>
          <a:solidFill>
            <a:srgbClr val="FCFCFA"/>
          </a:solidFill>
          <a:ln w="9525">
            <a:solidFill>
              <a:srgbClr val="D5DCE4"/>
            </a:solidFill>
            <a:prstDash val="solid"/>
          </a:ln>
        </p:spPr>
        <p:txBody>
          <a:bodyPr/>
          <a:lstStyle/>
          <a:p>
            <a:endParaRPr lang="fr-FR"/>
          </a:p>
        </p:txBody>
      </p:sp>
      <p:sp>
        <p:nvSpPr>
          <p:cNvPr id="13" name="Shape 11"/>
          <p:cNvSpPr/>
          <p:nvPr/>
        </p:nvSpPr>
        <p:spPr>
          <a:xfrm>
            <a:off x="7958468" y="1206500"/>
            <a:ext cx="3420448" cy="38100"/>
          </a:xfrm>
          <a:prstGeom prst="rect">
            <a:avLst/>
          </a:prstGeom>
          <a:solidFill>
            <a:srgbClr val="E3AE2E"/>
          </a:solidFill>
          <a:ln/>
        </p:spPr>
        <p:txBody>
          <a:bodyPr/>
          <a:lstStyle/>
          <a:p>
            <a:endParaRPr lang="fr-FR"/>
          </a:p>
        </p:txBody>
      </p:sp>
      <p:sp>
        <p:nvSpPr>
          <p:cNvPr id="14" name="Text 12"/>
          <p:cNvSpPr/>
          <p:nvPr/>
        </p:nvSpPr>
        <p:spPr>
          <a:xfrm>
            <a:off x="8098164" y="1308100"/>
            <a:ext cx="3141055"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L’intégrité vérifiée</a:t>
            </a:r>
            <a:endParaRPr lang="en-US" sz="1500" dirty="0"/>
          </a:p>
        </p:txBody>
      </p:sp>
      <p:sp>
        <p:nvSpPr>
          <p:cNvPr id="15" name="Text 13"/>
          <p:cNvSpPr/>
          <p:nvPr/>
        </p:nvSpPr>
        <p:spPr>
          <a:xfrm>
            <a:off x="8098164" y="1593850"/>
            <a:ext cx="3141055"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L’empreinte de chaque offre est recalculée ; une offre altérée est signalée, une offre retirée ou remplacée ne s’ouvre jamais.</a:t>
            </a:r>
            <a:endParaRPr lang="en-US" sz="1200" dirty="0"/>
          </a:p>
        </p:txBody>
      </p:sp>
      <p:sp>
        <p:nvSpPr>
          <p:cNvPr id="16" name="Shape 14"/>
          <p:cNvSpPr/>
          <p:nvPr/>
        </p:nvSpPr>
        <p:spPr>
          <a:xfrm>
            <a:off x="812780" y="3517900"/>
            <a:ext cx="3420448" cy="2159000"/>
          </a:xfrm>
          <a:prstGeom prst="rect">
            <a:avLst/>
          </a:prstGeom>
          <a:solidFill>
            <a:srgbClr val="FCFCFA"/>
          </a:solidFill>
          <a:ln w="9525">
            <a:solidFill>
              <a:srgbClr val="D5DCE4"/>
            </a:solidFill>
            <a:prstDash val="solid"/>
          </a:ln>
        </p:spPr>
        <p:txBody>
          <a:bodyPr/>
          <a:lstStyle/>
          <a:p>
            <a:endParaRPr lang="fr-FR"/>
          </a:p>
        </p:txBody>
      </p:sp>
      <p:sp>
        <p:nvSpPr>
          <p:cNvPr id="17" name="Shape 15"/>
          <p:cNvSpPr/>
          <p:nvPr/>
        </p:nvSpPr>
        <p:spPr>
          <a:xfrm>
            <a:off x="812780" y="3517900"/>
            <a:ext cx="3420448" cy="38100"/>
          </a:xfrm>
          <a:prstGeom prst="rect">
            <a:avLst/>
          </a:prstGeom>
          <a:solidFill>
            <a:srgbClr val="12324A"/>
          </a:solidFill>
          <a:ln/>
        </p:spPr>
        <p:txBody>
          <a:bodyPr/>
          <a:lstStyle/>
          <a:p>
            <a:endParaRPr lang="fr-FR"/>
          </a:p>
        </p:txBody>
      </p:sp>
      <p:sp>
        <p:nvSpPr>
          <p:cNvPr id="18" name="Text 16"/>
          <p:cNvSpPr/>
          <p:nvPr/>
        </p:nvSpPr>
        <p:spPr>
          <a:xfrm>
            <a:off x="952476" y="36195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Une lecture identique pour tous</a:t>
            </a:r>
            <a:endParaRPr lang="en-US" sz="1500" dirty="0"/>
          </a:p>
        </p:txBody>
      </p:sp>
      <p:sp>
        <p:nvSpPr>
          <p:cNvPr id="19" name="Text 17"/>
          <p:cNvSpPr/>
          <p:nvPr/>
        </p:nvSpPr>
        <p:spPr>
          <a:xfrm>
            <a:off x="952476" y="40767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Montants recalculés, garantie, frais, pièces : relevés par l’application, en alertes pour la commission, jamais en rejet.</a:t>
            </a:r>
            <a:endParaRPr lang="en-US" sz="1200" dirty="0"/>
          </a:p>
        </p:txBody>
      </p:sp>
      <p:sp>
        <p:nvSpPr>
          <p:cNvPr id="20" name="Shape 18"/>
          <p:cNvSpPr/>
          <p:nvPr/>
        </p:nvSpPr>
        <p:spPr>
          <a:xfrm>
            <a:off x="4385624" y="3517900"/>
            <a:ext cx="3420448" cy="2159000"/>
          </a:xfrm>
          <a:prstGeom prst="rect">
            <a:avLst/>
          </a:prstGeom>
          <a:solidFill>
            <a:srgbClr val="FCFCFA"/>
          </a:solidFill>
          <a:ln w="9525">
            <a:solidFill>
              <a:srgbClr val="D5DCE4"/>
            </a:solidFill>
            <a:prstDash val="solid"/>
          </a:ln>
        </p:spPr>
        <p:txBody>
          <a:bodyPr/>
          <a:lstStyle/>
          <a:p>
            <a:endParaRPr lang="fr-FR"/>
          </a:p>
        </p:txBody>
      </p:sp>
      <p:sp>
        <p:nvSpPr>
          <p:cNvPr id="21" name="Shape 19"/>
          <p:cNvSpPr/>
          <p:nvPr/>
        </p:nvSpPr>
        <p:spPr>
          <a:xfrm>
            <a:off x="4385624" y="3517900"/>
            <a:ext cx="3420448" cy="38100"/>
          </a:xfrm>
          <a:prstGeom prst="rect">
            <a:avLst/>
          </a:prstGeom>
          <a:solidFill>
            <a:srgbClr val="1B6FA8"/>
          </a:solidFill>
          <a:ln/>
        </p:spPr>
        <p:txBody>
          <a:bodyPr/>
          <a:lstStyle/>
          <a:p>
            <a:endParaRPr lang="fr-FR"/>
          </a:p>
        </p:txBody>
      </p:sp>
      <p:sp>
        <p:nvSpPr>
          <p:cNvPr id="22" name="Text 20"/>
          <p:cNvSpPr/>
          <p:nvPr/>
        </p:nvSpPr>
        <p:spPr>
          <a:xfrm>
            <a:off x="4525320" y="36195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Les pièces réservées à la commission</a:t>
            </a:r>
            <a:endParaRPr lang="en-US" sz="1500" dirty="0"/>
          </a:p>
        </p:txBody>
      </p:sp>
      <p:sp>
        <p:nvSpPr>
          <p:cNvPr id="23" name="Text 21"/>
          <p:cNvSpPr/>
          <p:nvPr/>
        </p:nvSpPr>
        <p:spPr>
          <a:xfrm>
            <a:off x="4525320" y="40767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Seuls les membres ouvrent les pièces ; la PRMP et le responsable lisent ce qui est lu en séance.</a:t>
            </a:r>
            <a:endParaRPr lang="en-US" sz="1200" dirty="0"/>
          </a:p>
        </p:txBody>
      </p:sp>
      <p:sp>
        <p:nvSpPr>
          <p:cNvPr id="24" name="Shape 22"/>
          <p:cNvSpPr/>
          <p:nvPr/>
        </p:nvSpPr>
        <p:spPr>
          <a:xfrm>
            <a:off x="7958468" y="3517900"/>
            <a:ext cx="3420448" cy="2159000"/>
          </a:xfrm>
          <a:prstGeom prst="rect">
            <a:avLst/>
          </a:prstGeom>
          <a:solidFill>
            <a:srgbClr val="FCFCFA"/>
          </a:solidFill>
          <a:ln w="9525">
            <a:solidFill>
              <a:srgbClr val="D5DCE4"/>
            </a:solidFill>
            <a:prstDash val="solid"/>
          </a:ln>
        </p:spPr>
        <p:txBody>
          <a:bodyPr/>
          <a:lstStyle/>
          <a:p>
            <a:endParaRPr lang="fr-FR"/>
          </a:p>
        </p:txBody>
      </p:sp>
      <p:sp>
        <p:nvSpPr>
          <p:cNvPr id="25" name="Shape 23"/>
          <p:cNvSpPr/>
          <p:nvPr/>
        </p:nvSpPr>
        <p:spPr>
          <a:xfrm>
            <a:off x="7958468" y="3517900"/>
            <a:ext cx="3420448" cy="38100"/>
          </a:xfrm>
          <a:prstGeom prst="rect">
            <a:avLst/>
          </a:prstGeom>
          <a:solidFill>
            <a:srgbClr val="2E8B57"/>
          </a:solidFill>
          <a:ln/>
        </p:spPr>
        <p:txBody>
          <a:bodyPr/>
          <a:lstStyle/>
          <a:p>
            <a:endParaRPr lang="fr-FR"/>
          </a:p>
        </p:txBody>
      </p:sp>
      <p:sp>
        <p:nvSpPr>
          <p:cNvPr id="26" name="Text 24"/>
          <p:cNvSpPr/>
          <p:nvPr/>
        </p:nvSpPr>
        <p:spPr>
          <a:xfrm>
            <a:off x="8098164" y="36195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Un PV au quorum de la commission</a:t>
            </a:r>
            <a:endParaRPr lang="en-US" sz="1500" dirty="0"/>
          </a:p>
        </p:txBody>
      </p:sp>
      <p:sp>
        <p:nvSpPr>
          <p:cNvPr id="27" name="Text 25"/>
          <p:cNvSpPr/>
          <p:nvPr/>
        </p:nvSpPr>
        <p:spPr>
          <a:xfrm>
            <a:off x="8098164" y="40767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Signatures électroniques datées, empêchements motivés, quorum constaté imprimé au PV ; extrait publié à la dernière signature.</a:t>
            </a:r>
            <a:endParaRPr lang="en-US" sz="1200" dirty="0"/>
          </a:p>
        </p:txBody>
      </p:sp>
      <p:sp>
        <p:nvSpPr>
          <p:cNvPr id="28" name="Text 2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212</a:t>
            </a:r>
            <a:endParaRPr lang="en-US" sz="1100" dirty="0"/>
          </a:p>
        </p:txBody>
      </p:sp>
    </p:spTree>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name="Slide 213">
    <p:bg>
      <p:bgPr>
        <a:solidFill>
          <a:srgbClr val="12324A"/>
        </a:solidFill>
        <a:effectLst/>
      </p:bgPr>
    </p:bg>
    <p:spTree>
      <p:nvGrpSpPr>
        <p:cNvPr id="1" name=""/>
        <p:cNvGrpSpPr/>
        <p:nvPr/>
      </p:nvGrpSpPr>
      <p:grpSpPr>
        <a:xfrm>
          <a:off x="0" y="0"/>
          <a:ext cx="0" cy="0"/>
          <a:chOff x="0" y="0"/>
          <a:chExt cx="0" cy="0"/>
        </a:xfrm>
      </p:grpSpPr>
      <p:sp>
        <p:nvSpPr>
          <p:cNvPr id="2" name="Shape 0"/>
          <p:cNvSpPr/>
          <p:nvPr/>
        </p:nvSpPr>
        <p:spPr>
          <a:xfrm>
            <a:off x="0" y="0"/>
            <a:ext cx="152396" cy="6858000"/>
          </a:xfrm>
          <a:prstGeom prst="rect">
            <a:avLst/>
          </a:prstGeom>
          <a:solidFill>
            <a:srgbClr val="E3AE2E"/>
          </a:solidFill>
          <a:ln w="12700">
            <a:solidFill>
              <a:srgbClr val="E3AE2E"/>
            </a:solidFill>
            <a:prstDash val="solid"/>
          </a:ln>
        </p:spPr>
        <p:txBody>
          <a:bodyPr/>
          <a:lstStyle/>
          <a:p>
            <a:endParaRPr lang="fr-FR"/>
          </a:p>
        </p:txBody>
      </p:sp>
      <p:sp>
        <p:nvSpPr>
          <p:cNvPr id="3" name="Text 1"/>
          <p:cNvSpPr/>
          <p:nvPr/>
        </p:nvSpPr>
        <p:spPr>
          <a:xfrm>
            <a:off x="812780" y="698500"/>
            <a:ext cx="3809905" cy="952500"/>
          </a:xfrm>
          <a:prstGeom prst="rect">
            <a:avLst/>
          </a:prstGeom>
          <a:noFill/>
          <a:ln/>
        </p:spPr>
        <p:txBody>
          <a:bodyPr wrap="square" rtlCol="0" anchor="ctr"/>
          <a:lstStyle/>
          <a:p>
            <a:pPr marL="0" indent="0">
              <a:buNone/>
            </a:pPr>
            <a:r>
              <a:rPr lang="en-US" sz="7200" b="1" dirty="0">
                <a:solidFill>
                  <a:srgbClr val="E3AE2E"/>
                </a:solidFill>
                <a:latin typeface="Segoe UI" pitchFamily="34" charset="0"/>
                <a:ea typeface="Segoe UI" pitchFamily="34" charset="-122"/>
                <a:cs typeface="Segoe UI" pitchFamily="34" charset="-120"/>
              </a:rPr>
              <a:t>08</a:t>
            </a:r>
            <a:endParaRPr lang="en-US" sz="7200" dirty="0"/>
          </a:p>
        </p:txBody>
      </p:sp>
      <p:sp>
        <p:nvSpPr>
          <p:cNvPr id="4" name="Text 2"/>
          <p:cNvSpPr/>
          <p:nvPr/>
        </p:nvSpPr>
        <p:spPr>
          <a:xfrm>
            <a:off x="812780" y="1714500"/>
            <a:ext cx="10477238" cy="635000"/>
          </a:xfrm>
          <a:prstGeom prst="rect">
            <a:avLst/>
          </a:prstGeom>
          <a:noFill/>
          <a:ln/>
        </p:spPr>
        <p:txBody>
          <a:bodyPr wrap="square" rtlCol="0" anchor="ctr">
            <a:normAutofit/>
          </a:bodyPr>
          <a:lstStyle/>
          <a:p>
            <a:pPr marL="0" indent="0">
              <a:buNone/>
            </a:pPr>
            <a:r>
              <a:rPr lang="en-US" sz="4000" b="1" dirty="0">
                <a:solidFill>
                  <a:srgbClr val="FCFCFA"/>
                </a:solidFill>
                <a:latin typeface="Segoe UI" pitchFamily="34" charset="0"/>
                <a:ea typeface="Segoe UI" pitchFamily="34" charset="-122"/>
                <a:cs typeface="Segoe UI" pitchFamily="34" charset="-120"/>
              </a:rPr>
              <a:t>Évaluer les offres</a:t>
            </a:r>
            <a:endParaRPr lang="en-US" sz="4000" dirty="0"/>
          </a:p>
        </p:txBody>
      </p:sp>
      <p:sp>
        <p:nvSpPr>
          <p:cNvPr id="5" name="Text 3"/>
          <p:cNvSpPr/>
          <p:nvPr/>
        </p:nvSpPr>
        <p:spPr>
          <a:xfrm>
            <a:off x="812780" y="2413000"/>
            <a:ext cx="10159746" cy="698500"/>
          </a:xfrm>
          <a:prstGeom prst="rect">
            <a:avLst/>
          </a:prstGeom>
          <a:noFill/>
          <a:ln/>
        </p:spPr>
        <p:txBody>
          <a:bodyPr wrap="square" rtlCol="0" anchor="t">
            <a:normAutofit/>
          </a:bodyPr>
          <a:lstStyle/>
          <a:p>
            <a:pPr marL="0" indent="0">
              <a:buNone/>
            </a:pPr>
            <a:r>
              <a:rPr lang="en-US" sz="1700" dirty="0">
                <a:solidFill>
                  <a:srgbClr val="C9D6E2"/>
                </a:solidFill>
                <a:latin typeface="Segoe UI" pitchFamily="34" charset="0"/>
                <a:ea typeface="Segoe UI" pitchFamily="34" charset="-122"/>
                <a:cs typeface="Segoe UI" pitchFamily="34" charset="-120"/>
              </a:rPr>
              <a:t>La commission d’appel d’offres évalue les offres en ligne, lot par lot et étape par étape, selon le guide d’évaluation : chaque décision est motivée et signée, le calcul est fait par l’application, et le rapport ne se produit qu’au quorum.</a:t>
            </a:r>
            <a:endParaRPr lang="en-US" sz="1700" dirty="0"/>
          </a:p>
        </p:txBody>
      </p:sp>
      <p:sp>
        <p:nvSpPr>
          <p:cNvPr id="6" name="Text 4"/>
          <p:cNvSpPr/>
          <p:nvPr/>
        </p:nvSpPr>
        <p:spPr>
          <a:xfrm>
            <a:off x="812780" y="3429000"/>
            <a:ext cx="5079873" cy="228600"/>
          </a:xfrm>
          <a:prstGeom prst="rect">
            <a:avLst/>
          </a:prstGeom>
          <a:noFill/>
          <a:ln/>
        </p:spPr>
        <p:txBody>
          <a:bodyPr wrap="square" rtlCol="0" anchor="ctr"/>
          <a:lstStyle/>
          <a:p>
            <a:pPr marL="0" indent="0">
              <a:buNone/>
            </a:pPr>
            <a:r>
              <a:rPr lang="en-US" sz="1200" b="1" kern="0" spc="200" dirty="0">
                <a:solidFill>
                  <a:srgbClr val="E3AE2E"/>
                </a:solidFill>
                <a:latin typeface="Segoe UI" pitchFamily="34" charset="0"/>
                <a:ea typeface="Segoe UI" pitchFamily="34" charset="-122"/>
                <a:cs typeface="Segoe UI" pitchFamily="34" charset="-120"/>
              </a:rPr>
              <a:t>CE QUE CELA CHANGE</a:t>
            </a:r>
            <a:endParaRPr lang="en-US" sz="1200" dirty="0"/>
          </a:p>
        </p:txBody>
      </p:sp>
      <p:sp>
        <p:nvSpPr>
          <p:cNvPr id="7" name="Text 5"/>
          <p:cNvSpPr/>
          <p:nvPr/>
        </p:nvSpPr>
        <p:spPr>
          <a:xfrm>
            <a:off x="812780" y="3714750"/>
            <a:ext cx="10286743" cy="2413000"/>
          </a:xfrm>
          <a:prstGeom prst="rect">
            <a:avLst/>
          </a:prstGeom>
          <a:noFill/>
          <a:ln/>
        </p:spPr>
        <p:txBody>
          <a:bodyPr wrap="square" rtlCol="0" anchor="t">
            <a:normAutofit/>
          </a:bodyPr>
          <a:lstStyle/>
          <a:p>
            <a:pPr marL="203200" indent="-203200">
              <a:spcAft>
                <a:spcPts val="800"/>
              </a:spcAft>
              <a:buSzPct val="100000"/>
              <a:buChar char="•"/>
            </a:pPr>
            <a:r>
              <a:rPr lang="en-US" sz="1500" dirty="0">
                <a:solidFill>
                  <a:srgbClr val="FCFCFA"/>
                </a:solidFill>
                <a:latin typeface="Segoe UI" pitchFamily="34" charset="0"/>
                <a:ea typeface="Segoe UI" pitchFamily="34" charset="-122"/>
                <a:cs typeface="Segoe UI" pitchFamily="34" charset="-120"/>
              </a:rPr>
              <a:t>L’évaluation se conduit dans l’application, sur les offres scellées elles-mêmes : la commission confirme ou corrige ce que la séance a établi, elle ne ressaisit rien.</a:t>
            </a:r>
            <a:endParaRPr lang="en-US" sz="1500" dirty="0"/>
          </a:p>
          <a:p>
            <a:pPr marL="203200" indent="-203200">
              <a:spcAft>
                <a:spcPts val="800"/>
              </a:spcAft>
              <a:buSzPct val="100000"/>
              <a:buChar char="•"/>
            </a:pPr>
            <a:r>
              <a:rPr lang="en-US" sz="1500" dirty="0">
                <a:solidFill>
                  <a:srgbClr val="FCFCFA"/>
                </a:solidFill>
                <a:latin typeface="Segoe UI" pitchFamily="34" charset="0"/>
                <a:ea typeface="Segoe UI" pitchFamily="34" charset="-122"/>
                <a:cs typeface="Segoe UI" pitchFamily="34" charset="-120"/>
              </a:rPr>
              <a:t>Le montant évalué n’est jamais saisi à la main : l’application le calcule, hors taxes ; une correction qui sort de son calcul doit être motivée et elle est signalée au contrôle de la Commission.</a:t>
            </a:r>
            <a:endParaRPr lang="en-US" sz="1500" dirty="0"/>
          </a:p>
          <a:p>
            <a:pPr marL="203200" indent="-203200">
              <a:spcAft>
                <a:spcPts val="800"/>
              </a:spcAft>
              <a:buSzPct val="100000"/>
              <a:buChar char="•"/>
            </a:pPr>
            <a:r>
              <a:rPr lang="en-US" sz="1500" dirty="0">
                <a:solidFill>
                  <a:srgbClr val="FCFCFA"/>
                </a:solidFill>
                <a:latin typeface="Segoe UI" pitchFamily="34" charset="0"/>
                <a:ea typeface="Segoe UI" pitchFamily="34" charset="-122"/>
                <a:cs typeface="Segoe UI" pitchFamily="34" charset="-120"/>
              </a:rPr>
              <a:t>Dès que le dossier de marché est soumis à la Commission, l’évaluation est close : ce que la Commission examine ne peut plus changer, sauf reprise motivée et tracée.</a:t>
            </a:r>
            <a:endParaRPr lang="en-US" sz="1500" dirty="0"/>
          </a:p>
        </p:txBody>
      </p:sp>
      <p:sp>
        <p:nvSpPr>
          <p:cNvPr id="8"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8FA6BB"/>
                </a:solidFill>
                <a:latin typeface="Segoe UI" pitchFamily="34" charset="0"/>
                <a:ea typeface="Segoe UI" pitchFamily="34" charset="-122"/>
                <a:cs typeface="Segoe UI" pitchFamily="34" charset="-120"/>
              </a:rPr>
              <a:t>PRS 2.0 · L’application de bout en bout · dossier de recette · 213</a:t>
            </a:r>
            <a:endParaRPr lang="en-US" sz="1100" dirty="0"/>
          </a:p>
        </p:txBody>
      </p:sp>
    </p:spTree>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name="Slide 21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ÉVALUER LES OFFRES · LE PARCOURS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Du PV d’ouverture signé au rapport d’évaluation</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Chaque lot traverse quatre étapes, que le président de la commission arrête l’une après l’autre ; le rapport réunit tous les lots. En prestations intellectuelles, l’évaluation technique, la seconde séance et la négociation prennent la place du montant évalué et de la post-qualification.</a:t>
            </a:r>
            <a:endParaRPr lang="en-US" sz="1300" dirty="0"/>
          </a:p>
        </p:txBody>
      </p:sp>
      <p:sp>
        <p:nvSpPr>
          <p:cNvPr id="5" name="Shape 3"/>
          <p:cNvSpPr/>
          <p:nvPr/>
        </p:nvSpPr>
        <p:spPr>
          <a:xfrm>
            <a:off x="812780"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6" name="Text 4"/>
          <p:cNvSpPr/>
          <p:nvPr/>
        </p:nvSpPr>
        <p:spPr>
          <a:xfrm>
            <a:off x="901677"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LE RESPONSABLE DE LA PROCÉDURE, LES MEMBRES</a:t>
            </a:r>
            <a:endParaRPr lang="en-US" sz="1000" dirty="0"/>
          </a:p>
        </p:txBody>
      </p:sp>
      <p:sp>
        <p:nvSpPr>
          <p:cNvPr id="7" name="Text 5"/>
          <p:cNvSpPr/>
          <p:nvPr/>
        </p:nvSpPr>
        <p:spPr>
          <a:xfrm>
            <a:off x="901677"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Ouvrir et déclarer</a:t>
            </a:r>
            <a:endParaRPr lang="en-US" sz="1400" dirty="0"/>
          </a:p>
        </p:txBody>
      </p:sp>
      <p:sp>
        <p:nvSpPr>
          <p:cNvPr id="8" name="Text 6"/>
          <p:cNvSpPr/>
          <p:nvPr/>
        </p:nvSpPr>
        <p:spPr>
          <a:xfrm>
            <a:off x="901677"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L’évaluation s’ouvre une fois le PV d’ouverture signé ; chaque membre déclare d’abord n’avoir aucun conflit d’intérêts.</a:t>
            </a:r>
            <a:endParaRPr lang="en-US" sz="1150" dirty="0"/>
          </a:p>
        </p:txBody>
      </p:sp>
      <p:sp>
        <p:nvSpPr>
          <p:cNvPr id="9" name="Text 7"/>
          <p:cNvSpPr/>
          <p:nvPr/>
        </p:nvSpPr>
        <p:spPr>
          <a:xfrm>
            <a:off x="2444689"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10" name="Shape 8"/>
          <p:cNvSpPr/>
          <p:nvPr/>
        </p:nvSpPr>
        <p:spPr>
          <a:xfrm>
            <a:off x="2597085"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11" name="Text 9"/>
          <p:cNvSpPr/>
          <p:nvPr/>
        </p:nvSpPr>
        <p:spPr>
          <a:xfrm>
            <a:off x="2685983"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LA COMMISSION ; LA PRMP POUR LES PRÉCISIONS</a:t>
            </a:r>
            <a:endParaRPr lang="en-US" sz="1000" dirty="0"/>
          </a:p>
        </p:txBody>
      </p:sp>
      <p:sp>
        <p:nvSpPr>
          <p:cNvPr id="12" name="Text 10"/>
          <p:cNvSpPr/>
          <p:nvPr/>
        </p:nvSpPr>
        <p:spPr>
          <a:xfrm>
            <a:off x="2685983"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Examen préliminaire</a:t>
            </a:r>
            <a:endParaRPr lang="en-US" sz="1400" dirty="0"/>
          </a:p>
        </p:txBody>
      </p:sp>
      <p:sp>
        <p:nvSpPr>
          <p:cNvPr id="13" name="Text 11"/>
          <p:cNvSpPr/>
          <p:nvPr/>
        </p:nvSpPr>
        <p:spPr>
          <a:xfrm>
            <a:off x="2685983"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Une grille de neuf vérifications par offre, pré-remplie depuis la séance ; la commission retient ou écarte, avec motif et clause du DAO.</a:t>
            </a:r>
            <a:endParaRPr lang="en-US" sz="1150" dirty="0"/>
          </a:p>
        </p:txBody>
      </p:sp>
      <p:sp>
        <p:nvSpPr>
          <p:cNvPr id="14" name="Text 12"/>
          <p:cNvSpPr/>
          <p:nvPr/>
        </p:nvSpPr>
        <p:spPr>
          <a:xfrm>
            <a:off x="4228994"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15" name="Shape 13"/>
          <p:cNvSpPr/>
          <p:nvPr/>
        </p:nvSpPr>
        <p:spPr>
          <a:xfrm>
            <a:off x="4381390"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16" name="Text 14"/>
          <p:cNvSpPr/>
          <p:nvPr/>
        </p:nvSpPr>
        <p:spPr>
          <a:xfrm>
            <a:off x="4470288"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LA COMMISSION</a:t>
            </a:r>
            <a:endParaRPr lang="en-US" sz="1000" dirty="0"/>
          </a:p>
        </p:txBody>
      </p:sp>
      <p:sp>
        <p:nvSpPr>
          <p:cNvPr id="17" name="Text 15"/>
          <p:cNvSpPr/>
          <p:nvPr/>
        </p:nvSpPr>
        <p:spPr>
          <a:xfrm>
            <a:off x="4470288"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Montant évalué et classement</a:t>
            </a:r>
            <a:endParaRPr lang="en-US" sz="1400" dirty="0"/>
          </a:p>
        </p:txBody>
      </p:sp>
      <p:sp>
        <p:nvSpPr>
          <p:cNvPr id="18" name="Text 16"/>
          <p:cNvSpPr/>
          <p:nvPr/>
        </p:nvSpPr>
        <p:spPr>
          <a:xfrm>
            <a:off x="4470288"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Corrections, rabais, préférence et critères du DAO : l’application calcule le montant hors taxes et classe.</a:t>
            </a:r>
            <a:endParaRPr lang="en-US" sz="1150" dirty="0"/>
          </a:p>
        </p:txBody>
      </p:sp>
      <p:sp>
        <p:nvSpPr>
          <p:cNvPr id="19" name="Text 17"/>
          <p:cNvSpPr/>
          <p:nvPr/>
        </p:nvSpPr>
        <p:spPr>
          <a:xfrm>
            <a:off x="6013300"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20" name="Shape 18"/>
          <p:cNvSpPr/>
          <p:nvPr/>
        </p:nvSpPr>
        <p:spPr>
          <a:xfrm>
            <a:off x="6165696"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21" name="Text 19"/>
          <p:cNvSpPr/>
          <p:nvPr/>
        </p:nvSpPr>
        <p:spPr>
          <a:xfrm>
            <a:off x="6254594"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LA COMMISSION ; LA PRMP POUR LA DEMANDE</a:t>
            </a:r>
            <a:endParaRPr lang="en-US" sz="1000" dirty="0"/>
          </a:p>
        </p:txBody>
      </p:sp>
      <p:sp>
        <p:nvSpPr>
          <p:cNvPr id="22" name="Text 20"/>
          <p:cNvSpPr/>
          <p:nvPr/>
        </p:nvSpPr>
        <p:spPr>
          <a:xfrm>
            <a:off x="6254594"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Offres anormales</a:t>
            </a:r>
            <a:endParaRPr lang="en-US" sz="1400" dirty="0"/>
          </a:p>
        </p:txBody>
      </p:sp>
      <p:sp>
        <p:nvSpPr>
          <p:cNvPr id="23" name="Text 21"/>
          <p:cNvSpPr/>
          <p:nvPr/>
        </p:nvSpPr>
        <p:spPr>
          <a:xfrm>
            <a:off x="6254594"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Des indicateurs de prix ; aucun rejet sans demande écrite de justification.</a:t>
            </a:r>
            <a:endParaRPr lang="en-US" sz="1150" dirty="0"/>
          </a:p>
        </p:txBody>
      </p:sp>
      <p:sp>
        <p:nvSpPr>
          <p:cNvPr id="24" name="Text 22"/>
          <p:cNvSpPr/>
          <p:nvPr/>
        </p:nvSpPr>
        <p:spPr>
          <a:xfrm>
            <a:off x="7797605"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25" name="Shape 23"/>
          <p:cNvSpPr/>
          <p:nvPr/>
        </p:nvSpPr>
        <p:spPr>
          <a:xfrm>
            <a:off x="7950001"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26" name="Text 24"/>
          <p:cNvSpPr/>
          <p:nvPr/>
        </p:nvSpPr>
        <p:spPr>
          <a:xfrm>
            <a:off x="8038899"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LA COMMISSION</a:t>
            </a:r>
            <a:endParaRPr lang="en-US" sz="1000" dirty="0"/>
          </a:p>
        </p:txBody>
      </p:sp>
      <p:sp>
        <p:nvSpPr>
          <p:cNvPr id="27" name="Text 25"/>
          <p:cNvSpPr/>
          <p:nvPr/>
        </p:nvSpPr>
        <p:spPr>
          <a:xfrm>
            <a:off x="8038899"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Post-qualification</a:t>
            </a:r>
            <a:endParaRPr lang="en-US" sz="1400" dirty="0"/>
          </a:p>
        </p:txBody>
      </p:sp>
      <p:sp>
        <p:nvSpPr>
          <p:cNvPr id="28" name="Text 26"/>
          <p:cNvSpPr/>
          <p:nvPr/>
        </p:nvSpPr>
        <p:spPr>
          <a:xfrm>
            <a:off x="8038899"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Le premier classé, critère par critère ; s’il échoue, le suivant ; le lot reçoit sa proposition d’attribution.</a:t>
            </a:r>
            <a:endParaRPr lang="en-US" sz="1150" dirty="0"/>
          </a:p>
        </p:txBody>
      </p:sp>
      <p:sp>
        <p:nvSpPr>
          <p:cNvPr id="29" name="Text 27"/>
          <p:cNvSpPr/>
          <p:nvPr/>
        </p:nvSpPr>
        <p:spPr>
          <a:xfrm>
            <a:off x="9581910"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30" name="Shape 28"/>
          <p:cNvSpPr/>
          <p:nvPr/>
        </p:nvSpPr>
        <p:spPr>
          <a:xfrm>
            <a:off x="9734307" y="1778000"/>
            <a:ext cx="1644609" cy="1905000"/>
          </a:xfrm>
          <a:prstGeom prst="roundRect">
            <a:avLst>
              <a:gd name="adj" fmla="val 3336"/>
            </a:avLst>
          </a:prstGeom>
          <a:solidFill>
            <a:srgbClr val="12324A"/>
          </a:solidFill>
          <a:ln w="19050">
            <a:solidFill>
              <a:srgbClr val="12324A"/>
            </a:solidFill>
            <a:prstDash val="solid"/>
          </a:ln>
        </p:spPr>
        <p:txBody>
          <a:bodyPr/>
          <a:lstStyle/>
          <a:p>
            <a:endParaRPr lang="fr-FR"/>
          </a:p>
        </p:txBody>
      </p:sp>
      <p:sp>
        <p:nvSpPr>
          <p:cNvPr id="31" name="Text 29"/>
          <p:cNvSpPr/>
          <p:nvPr/>
        </p:nvSpPr>
        <p:spPr>
          <a:xfrm>
            <a:off x="9823204" y="1866900"/>
            <a:ext cx="1466813" cy="215900"/>
          </a:xfrm>
          <a:prstGeom prst="rect">
            <a:avLst/>
          </a:prstGeom>
          <a:noFill/>
          <a:ln/>
        </p:spPr>
        <p:txBody>
          <a:bodyPr wrap="square" rtlCol="0" anchor="ctr">
            <a:normAutofit/>
          </a:bodyPr>
          <a:lstStyle/>
          <a:p>
            <a:pPr marL="0" indent="0">
              <a:buNone/>
            </a:pPr>
            <a:r>
              <a:rPr lang="en-US" sz="1000" b="1" dirty="0">
                <a:solidFill>
                  <a:srgbClr val="E3AE2E"/>
                </a:solidFill>
                <a:latin typeface="Segoe UI" pitchFamily="34" charset="0"/>
                <a:ea typeface="Segoe UI" pitchFamily="34" charset="-122"/>
                <a:cs typeface="Segoe UI" pitchFamily="34" charset="-120"/>
              </a:rPr>
              <a:t>LE RESPONSABLE, LES MEMBRES</a:t>
            </a:r>
            <a:endParaRPr lang="en-US" sz="1000" dirty="0"/>
          </a:p>
        </p:txBody>
      </p:sp>
      <p:sp>
        <p:nvSpPr>
          <p:cNvPr id="32" name="Text 30"/>
          <p:cNvSpPr/>
          <p:nvPr/>
        </p:nvSpPr>
        <p:spPr>
          <a:xfrm>
            <a:off x="9823204" y="2095500"/>
            <a:ext cx="1466813" cy="508000"/>
          </a:xfrm>
          <a:prstGeom prst="rect">
            <a:avLst/>
          </a:prstGeom>
          <a:noFill/>
          <a:ln/>
        </p:spPr>
        <p:txBody>
          <a:bodyPr wrap="square" rtlCol="0" anchor="t">
            <a:normAutofit/>
          </a:bodyPr>
          <a:lstStyle/>
          <a:p>
            <a:pPr marL="0" indent="0">
              <a:buNone/>
            </a:pPr>
            <a:r>
              <a:rPr lang="en-US" sz="1400" b="1" dirty="0">
                <a:solidFill>
                  <a:srgbClr val="FCFCFA"/>
                </a:solidFill>
                <a:latin typeface="Segoe UI" pitchFamily="34" charset="0"/>
                <a:ea typeface="Segoe UI" pitchFamily="34" charset="-122"/>
                <a:cs typeface="Segoe UI" pitchFamily="34" charset="-120"/>
              </a:rPr>
              <a:t>Rapport signé</a:t>
            </a:r>
            <a:endParaRPr lang="en-US" sz="1400" dirty="0"/>
          </a:p>
        </p:txBody>
      </p:sp>
      <p:sp>
        <p:nvSpPr>
          <p:cNvPr id="33" name="Text 31"/>
          <p:cNvSpPr/>
          <p:nvPr/>
        </p:nvSpPr>
        <p:spPr>
          <a:xfrm>
            <a:off x="9823204" y="2603500"/>
            <a:ext cx="1466813" cy="1016000"/>
          </a:xfrm>
          <a:prstGeom prst="rect">
            <a:avLst/>
          </a:prstGeom>
          <a:noFill/>
          <a:ln/>
        </p:spPr>
        <p:txBody>
          <a:bodyPr wrap="square" rtlCol="0" anchor="t">
            <a:normAutofit/>
          </a:bodyPr>
          <a:lstStyle/>
          <a:p>
            <a:pPr marL="0" indent="0">
              <a:buNone/>
            </a:pPr>
            <a:r>
              <a:rPr lang="en-US" sz="1150" dirty="0">
                <a:solidFill>
                  <a:srgbClr val="C9D6E2"/>
                </a:solidFill>
                <a:latin typeface="Segoe UI" pitchFamily="34" charset="0"/>
                <a:ea typeface="Segoe UI" pitchFamily="34" charset="-122"/>
                <a:cs typeface="Segoe UI" pitchFamily="34" charset="-120"/>
              </a:rPr>
              <a:t>Le rapport, produit quand tout est arrêté, est signé par les membres au quorum : l’évaluation est close.</a:t>
            </a:r>
            <a:endParaRPr lang="en-US" sz="1150" dirty="0"/>
          </a:p>
        </p:txBody>
      </p:sp>
      <p:sp>
        <p:nvSpPr>
          <p:cNvPr id="34" name="Text 3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214</a:t>
            </a:r>
            <a:endParaRPr lang="en-US" sz="1100" dirty="0"/>
          </a:p>
        </p:txBody>
      </p:sp>
    </p:spTree>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name="Slide 215">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ÉVALUER LES OFFRES</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Ouvrir l’évaluation</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L’évaluation ne commence qu’une fois le PV d’ouverture signé de tous. Chaque membre s’engage d’abord, une fois pour toutes, sur l’absence de conflit d’intérêts et sur la confidentialité.</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215</a:t>
            </a:r>
            <a:endParaRPr lang="en-US" sz="1100" dirty="0"/>
          </a:p>
        </p:txBody>
      </p:sp>
    </p:spTree>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name="Slide 21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OUVRIR · RESPONSABLE DE LA PROCÉDURE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L’évaluation, avant son ouverture</a:t>
            </a:r>
            <a:endParaRPr lang="en-US" sz="2600" dirty="0"/>
          </a:p>
        </p:txBody>
      </p:sp>
      <p:sp>
        <p:nvSpPr>
          <p:cNvPr id="4" name="Shape 2"/>
          <p:cNvSpPr/>
          <p:nvPr/>
        </p:nvSpPr>
        <p:spPr>
          <a:xfrm>
            <a:off x="800080" y="1193800"/>
            <a:ext cx="7327717" cy="4589463"/>
          </a:xfrm>
          <a:prstGeom prst="rect">
            <a:avLst/>
          </a:prstGeom>
          <a:solidFill>
            <a:srgbClr val="FCFCFA"/>
          </a:solidFill>
          <a:ln w="9525">
            <a:solidFill>
              <a:srgbClr val="D5DCE4"/>
            </a:solidFill>
            <a:prstDash val="solid"/>
          </a:ln>
        </p:spPr>
        <p:txBody>
          <a:bodyPr/>
          <a:lstStyle/>
          <a:p>
            <a:endParaRPr lang="fr-FR"/>
          </a:p>
        </p:txBody>
      </p:sp>
      <p:pic>
        <p:nvPicPr>
          <p:cNvPr id="5" name="Image 0" descr="L’évaluation, avant son ouverture"/>
          <p:cNvPicPr>
            <a:picLocks noChangeAspect="1"/>
          </p:cNvPicPr>
          <p:nvPr/>
        </p:nvPicPr>
        <p:blipFill>
          <a:blip r:embed="rId3"/>
          <a:stretch>
            <a:fillRect/>
          </a:stretch>
        </p:blipFill>
        <p:spPr>
          <a:xfrm>
            <a:off x="812780" y="1206500"/>
            <a:ext cx="7302317" cy="4564063"/>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responsable de la procédure.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Elle s’ouvre quand le PV d’ouverture est </a:t>
            </a:r>
            <a:r>
              <a:rPr lang="en-US" sz="1200" b="1" dirty="0">
                <a:solidFill>
                  <a:srgbClr val="1B2A3A"/>
                </a:solidFill>
                <a:latin typeface="Segoe UI" pitchFamily="34" charset="0"/>
                <a:ea typeface="Segoe UI" pitchFamily="34" charset="-122"/>
                <a:cs typeface="Segoe UI" pitchFamily="34" charset="-120"/>
              </a:rPr>
              <a:t>signé de tous</a:t>
            </a:r>
            <a:r>
              <a:rPr lang="en-US" sz="1200" dirty="0">
                <a:solidFill>
                  <a:srgbClr val="1B2A3A"/>
                </a:solidFill>
                <a:latin typeface="Segoe UI" pitchFamily="34" charset="0"/>
                <a:ea typeface="Segoe UI" pitchFamily="34" charset="-122"/>
                <a:cs typeface="Segoe UI" pitchFamily="34" charset="-120"/>
              </a:rPr>
              <a:t> ; avant, l’application le refuse et l’écran le dit.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Une fois ouverte, les membres de la commission et la PRMP en sont avertis.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RG-EVA-01 · RG-EVA-02</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216</a:t>
            </a:r>
            <a:endParaRPr lang="en-US" sz="1100" dirty="0"/>
          </a:p>
        </p:txBody>
      </p:sp>
    </p:spTree>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name="Slide 21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OUVRIR · MEMBRE DE LA COMMISSION</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L’entrée depuis l’espace de la commission</a:t>
            </a:r>
            <a:endParaRPr lang="en-US" sz="2600" dirty="0"/>
          </a:p>
        </p:txBody>
      </p:sp>
      <p:sp>
        <p:nvSpPr>
          <p:cNvPr id="4" name="Shape 2"/>
          <p:cNvSpPr/>
          <p:nvPr/>
        </p:nvSpPr>
        <p:spPr>
          <a:xfrm>
            <a:off x="800080" y="1193800"/>
            <a:ext cx="10591535" cy="1060328"/>
          </a:xfrm>
          <a:prstGeom prst="rect">
            <a:avLst/>
          </a:prstGeom>
          <a:solidFill>
            <a:srgbClr val="FCFCFA"/>
          </a:solidFill>
          <a:ln w="9525">
            <a:solidFill>
              <a:srgbClr val="D5DCE4"/>
            </a:solidFill>
            <a:prstDash val="solid"/>
          </a:ln>
        </p:spPr>
        <p:txBody>
          <a:bodyPr/>
          <a:lstStyle/>
          <a:p>
            <a:endParaRPr lang="fr-FR"/>
          </a:p>
        </p:txBody>
      </p:sp>
      <p:pic>
        <p:nvPicPr>
          <p:cNvPr id="5" name="Image 0" descr="L’entrée depuis l’espace de la commission"/>
          <p:cNvPicPr>
            <a:picLocks noChangeAspect="1"/>
          </p:cNvPicPr>
          <p:nvPr/>
        </p:nvPicPr>
        <p:blipFill>
          <a:blip r:embed="rId3"/>
          <a:stretch>
            <a:fillRect/>
          </a:stretch>
        </p:blipFill>
        <p:spPr>
          <a:xfrm>
            <a:off x="812780" y="1206500"/>
            <a:ext cx="10566136" cy="1034928"/>
          </a:xfrm>
          <a:prstGeom prst="rect">
            <a:avLst/>
          </a:prstGeom>
        </p:spPr>
      </p:pic>
      <p:sp>
        <p:nvSpPr>
          <p:cNvPr id="6" name="Shape 3"/>
          <p:cNvSpPr/>
          <p:nvPr/>
        </p:nvSpPr>
        <p:spPr>
          <a:xfrm>
            <a:off x="812780" y="2393828"/>
            <a:ext cx="10566136" cy="19939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12780" y="2393828"/>
            <a:ext cx="38099" cy="1993900"/>
          </a:xfrm>
          <a:prstGeom prst="rect">
            <a:avLst/>
          </a:prstGeom>
          <a:solidFill>
            <a:srgbClr val="1B6FA8"/>
          </a:solidFill>
          <a:ln/>
        </p:spPr>
        <p:txBody>
          <a:bodyPr/>
          <a:lstStyle/>
          <a:p>
            <a:endParaRPr lang="fr-FR"/>
          </a:p>
        </p:txBody>
      </p:sp>
      <p:sp>
        <p:nvSpPr>
          <p:cNvPr id="8" name="Text 5"/>
          <p:cNvSpPr/>
          <p:nvPr/>
        </p:nvSpPr>
        <p:spPr>
          <a:xfrm>
            <a:off x="977876" y="2495428"/>
            <a:ext cx="10274043" cy="18034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Les membres de la commission d’appel d’offres.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Sur la page de la procédure, « Ouvrir l’évaluation » conduit à l’écran de travail de la commission.</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 Mes procédures » compte les évaluations en cours et les rapports à signer.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RG-EVA-02 · RG-EVA-04</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217</a:t>
            </a:r>
            <a:endParaRPr lang="en-US" sz="1100" dirty="0"/>
          </a:p>
        </p:txBody>
      </p:sp>
    </p:spTree>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name="Slide 21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OUVRIR · MEMBRE DE LA COMMISSION</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déclaration préalable</a:t>
            </a:r>
            <a:endParaRPr lang="en-US" sz="2600" dirty="0"/>
          </a:p>
        </p:txBody>
      </p:sp>
      <p:sp>
        <p:nvSpPr>
          <p:cNvPr id="4" name="Shape 2"/>
          <p:cNvSpPr/>
          <p:nvPr/>
        </p:nvSpPr>
        <p:spPr>
          <a:xfrm>
            <a:off x="800080" y="1193800"/>
            <a:ext cx="7327717" cy="4589463"/>
          </a:xfrm>
          <a:prstGeom prst="rect">
            <a:avLst/>
          </a:prstGeom>
          <a:solidFill>
            <a:srgbClr val="FCFCFA"/>
          </a:solidFill>
          <a:ln w="9525">
            <a:solidFill>
              <a:srgbClr val="D5DCE4"/>
            </a:solidFill>
            <a:prstDash val="solid"/>
          </a:ln>
        </p:spPr>
        <p:txBody>
          <a:bodyPr/>
          <a:lstStyle/>
          <a:p>
            <a:endParaRPr lang="fr-FR"/>
          </a:p>
        </p:txBody>
      </p:sp>
      <p:pic>
        <p:nvPicPr>
          <p:cNvPr id="5" name="Image 0" descr="La déclaration préalable"/>
          <p:cNvPicPr>
            <a:picLocks noChangeAspect="1"/>
          </p:cNvPicPr>
          <p:nvPr/>
        </p:nvPicPr>
        <p:blipFill>
          <a:blip r:embed="rId3"/>
          <a:stretch>
            <a:fillRect/>
          </a:stretch>
        </p:blipFill>
        <p:spPr>
          <a:xfrm>
            <a:off x="812780" y="1206500"/>
            <a:ext cx="7302317" cy="4564063"/>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Chaque membre, président compris.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Absence de conflit d’intérêts (art. 21-d) et engagement de confidentialité (art. 12-V) : </a:t>
            </a:r>
            <a:r>
              <a:rPr lang="en-US" sz="1200" b="1" dirty="0">
                <a:solidFill>
                  <a:srgbClr val="1B2A3A"/>
                </a:solidFill>
                <a:latin typeface="Segoe UI" pitchFamily="34" charset="0"/>
                <a:ea typeface="Segoe UI" pitchFamily="34" charset="-122"/>
                <a:cs typeface="Segoe UI" pitchFamily="34" charset="-120"/>
              </a:rPr>
              <a:t>avant toute décision</a:t>
            </a:r>
            <a:r>
              <a:rPr lang="en-US" sz="1200" dirty="0">
                <a:solidFill>
                  <a:srgbClr val="1B2A3A"/>
                </a:solidFill>
                <a:latin typeface="Segoe UI" pitchFamily="34" charset="0"/>
                <a:ea typeface="Segoe UI" pitchFamily="34" charset="-122"/>
                <a:cs typeface="Segoe UI" pitchFamily="34" charset="-120"/>
              </a:rPr>
              <a:t>, et elle ne se reprend pas.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 membre qui déclare un conflit lit l’évaluation, mais n’y décide rien.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RG-EVA-03</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218</a:t>
            </a:r>
            <a:endParaRPr lang="en-US" sz="1100" dirty="0"/>
          </a:p>
        </p:txBody>
      </p:sp>
    </p:spTree>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name="Slide 21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OUVRIR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L’évaluation vue par la PRMP</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évaluation vue par la PRMP"/>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qui lit l’évaluation de sa procédure.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déclarations datées des membres, puis un onglet par lot et ses étapes, « arrêtée » ou en cours.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offres </a:t>
            </a:r>
            <a:r>
              <a:rPr lang="en-US" sz="1200" b="1" dirty="0">
                <a:solidFill>
                  <a:srgbClr val="1B2A3A"/>
                </a:solidFill>
                <a:latin typeface="Segoe UI" pitchFamily="34" charset="0"/>
                <a:ea typeface="Segoe UI" pitchFamily="34" charset="-122"/>
                <a:cs typeface="Segoe UI" pitchFamily="34" charset="-120"/>
              </a:rPr>
              <a:t>non évaluées</a:t>
            </a:r>
            <a:r>
              <a:rPr lang="en-US" sz="1200" dirty="0">
                <a:solidFill>
                  <a:srgbClr val="1B2A3A"/>
                </a:solidFill>
                <a:latin typeface="Segoe UI" pitchFamily="34" charset="0"/>
                <a:ea typeface="Segoe UI" pitchFamily="34" charset="-122"/>
                <a:cs typeface="Segoe UI" pitchFamily="34" charset="-120"/>
              </a:rPr>
              <a:t> sont nommées avec leur raison : remplacée par une offre ultérieure, ou retirée par le soumissionnaire.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tout reste </a:t>
            </a:r>
            <a:r>
              <a:rPr lang="en-US" sz="1200" b="1" dirty="0">
                <a:solidFill>
                  <a:srgbClr val="1B2A3A"/>
                </a:solidFill>
                <a:latin typeface="Segoe UI" pitchFamily="34" charset="0"/>
                <a:ea typeface="Segoe UI" pitchFamily="34" charset="-122"/>
                <a:cs typeface="Segoe UI" pitchFamily="34" charset="-120"/>
              </a:rPr>
              <a:t>confidentiel</a:t>
            </a:r>
            <a:r>
              <a:rPr lang="en-US" sz="1200" dirty="0">
                <a:solidFill>
                  <a:srgbClr val="1B2A3A"/>
                </a:solidFill>
                <a:latin typeface="Segoe UI" pitchFamily="34" charset="0"/>
                <a:ea typeface="Segoe UI" pitchFamily="34" charset="-122"/>
                <a:cs typeface="Segoe UI" pitchFamily="34" charset="-120"/>
              </a:rPr>
              <a:t> jusqu’à l’information des candidats (art. 12-V, 35-V).</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RG-EVA-01 · RG-EVA-04 · RG-EVA-07</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219</a:t>
            </a:r>
            <a:endParaRPr lang="en-US" sz="1100" dirty="0"/>
          </a:p>
        </p:txBody>
      </p:sp>
    </p:spTree>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name="Slide 220">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ÉVALUER LES OFFRES</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L’examen préliminaire</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Recevabilité, éligibilité et conformité pour l’essentiel (art. 43 et 46). L’application prépare la grille à partir de ce que la séance a constaté ; la commission décide, offre par offre.</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220</a:t>
            </a:r>
            <a:endParaRPr lang="en-US" sz="1100" dirty="0"/>
          </a:p>
        </p:txBody>
      </p:sp>
    </p:spTree>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name="Slide 22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EXAMEN PRÉLIMINAIRE · COMMISSION</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grille de l’offre, et sa décision</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a grille de l’offre, et sa décision"/>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Les membres de la commission ; le président arrête l’étape.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Neuf vérifications, chacune avec « ce que la séance a établi » et une proposition ; la commission confirme ou corrige.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Ici, l’offre n° 2 est </a:t>
            </a:r>
            <a:r>
              <a:rPr lang="en-US" sz="1200" b="1" dirty="0">
                <a:solidFill>
                  <a:srgbClr val="1B2A3A"/>
                </a:solidFill>
                <a:latin typeface="Segoe UI" pitchFamily="34" charset="0"/>
                <a:ea typeface="Segoe UI" pitchFamily="34" charset="-122"/>
                <a:cs typeface="Segoe UI" pitchFamily="34" charset="-120"/>
              </a:rPr>
              <a:t>écartée — non conforme</a:t>
            </a:r>
            <a:r>
              <a:rPr lang="en-US" sz="1200" dirty="0">
                <a:solidFill>
                  <a:srgbClr val="1B2A3A"/>
                </a:solidFill>
                <a:latin typeface="Segoe UI" pitchFamily="34" charset="0"/>
                <a:ea typeface="Segoe UI" pitchFamily="34" charset="-122"/>
                <a:cs typeface="Segoe UI" pitchFamily="34" charset="-120"/>
              </a:rPr>
              <a:t> : garantie de 800 000 Ar pour un minimum de 1 600 000 Ar, avec la clause du DAO visée (DPAO 6.6).</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Chaque décision porte son auteur et son heure ; l’étape arrêtée porte celui qui l’a arrêtée.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RG-EVA-05 · RG-EVA-08 · RG-EVA-09 · RG-EVA-10 · RG-EVA-11</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221</a:t>
            </a:r>
            <a:endParaRPr lang="en-US" sz="1100" dirty="0"/>
          </a:p>
        </p:txBody>
      </p:sp>
    </p:spTree>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name="Slide 22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EXAMEN PRÉLIMINAIRE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Demander une précision au candidat</a:t>
            </a:r>
            <a:endParaRPr lang="en-US" sz="2600" dirty="0"/>
          </a:p>
        </p:txBody>
      </p:sp>
      <p:sp>
        <p:nvSpPr>
          <p:cNvPr id="4" name="Shape 2"/>
          <p:cNvSpPr/>
          <p:nvPr/>
        </p:nvSpPr>
        <p:spPr>
          <a:xfrm>
            <a:off x="800080" y="1193800"/>
            <a:ext cx="10591535" cy="1892706"/>
          </a:xfrm>
          <a:prstGeom prst="rect">
            <a:avLst/>
          </a:prstGeom>
          <a:solidFill>
            <a:srgbClr val="FCFCFA"/>
          </a:solidFill>
          <a:ln w="9525">
            <a:solidFill>
              <a:srgbClr val="D5DCE4"/>
            </a:solidFill>
            <a:prstDash val="solid"/>
          </a:ln>
        </p:spPr>
        <p:txBody>
          <a:bodyPr/>
          <a:lstStyle/>
          <a:p>
            <a:endParaRPr lang="fr-FR"/>
          </a:p>
        </p:txBody>
      </p:sp>
      <p:pic>
        <p:nvPicPr>
          <p:cNvPr id="5" name="Image 0" descr="Demander une précision au candidat"/>
          <p:cNvPicPr>
            <a:picLocks noChangeAspect="1"/>
          </p:cNvPicPr>
          <p:nvPr/>
        </p:nvPicPr>
        <p:blipFill>
          <a:blip r:embed="rId3"/>
          <a:stretch>
            <a:fillRect/>
          </a:stretch>
        </p:blipFill>
        <p:spPr>
          <a:xfrm>
            <a:off x="812780" y="1206500"/>
            <a:ext cx="10566136" cy="1867306"/>
          </a:xfrm>
          <a:prstGeom prst="rect">
            <a:avLst/>
          </a:prstGeom>
        </p:spPr>
      </p:pic>
      <p:sp>
        <p:nvSpPr>
          <p:cNvPr id="6" name="Shape 3"/>
          <p:cNvSpPr/>
          <p:nvPr/>
        </p:nvSpPr>
        <p:spPr>
          <a:xfrm>
            <a:off x="812780" y="3226206"/>
            <a:ext cx="10566136" cy="19939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12780" y="3226206"/>
            <a:ext cx="38099" cy="1993900"/>
          </a:xfrm>
          <a:prstGeom prst="rect">
            <a:avLst/>
          </a:prstGeom>
          <a:solidFill>
            <a:srgbClr val="1B6FA8"/>
          </a:solidFill>
          <a:ln/>
        </p:spPr>
        <p:txBody>
          <a:bodyPr/>
          <a:lstStyle/>
          <a:p>
            <a:endParaRPr lang="fr-FR"/>
          </a:p>
        </p:txBody>
      </p:sp>
      <p:sp>
        <p:nvSpPr>
          <p:cNvPr id="8" name="Text 5"/>
          <p:cNvSpPr/>
          <p:nvPr/>
        </p:nvSpPr>
        <p:spPr>
          <a:xfrm>
            <a:off x="977876" y="3327806"/>
            <a:ext cx="10274043" cy="18034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Art. 35-VI : la PRMP pose sa question par écrit, avec un délai (celui de la fiche par défaut).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Une précision ne sert </a:t>
            </a:r>
            <a:r>
              <a:rPr lang="en-US" sz="1200" b="1" dirty="0">
                <a:solidFill>
                  <a:srgbClr val="1B2A3A"/>
                </a:solidFill>
                <a:latin typeface="Segoe UI" pitchFamily="34" charset="0"/>
                <a:ea typeface="Segoe UI" pitchFamily="34" charset="-122"/>
                <a:cs typeface="Segoe UI" pitchFamily="34" charset="-120"/>
              </a:rPr>
              <a:t>jamais</a:t>
            </a:r>
            <a:r>
              <a:rPr lang="en-US" sz="1200" dirty="0">
                <a:solidFill>
                  <a:srgbClr val="1B2A3A"/>
                </a:solidFill>
                <a:latin typeface="Segoe UI" pitchFamily="34" charset="0"/>
                <a:ea typeface="Segoe UI" pitchFamily="34" charset="-122"/>
                <a:cs typeface="Segoe UI" pitchFamily="34" charset="-120"/>
              </a:rPr>
              <a:t> à compléter une pièce essentielle ni à changer le prix.</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RG-EVA-12 · RG-EVA-13</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222</a:t>
            </a:r>
            <a:endParaRPr lang="en-US" sz="1100" dirty="0"/>
          </a:p>
        </p:txBody>
      </p:sp>
    </p:spTree>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name="Slide 22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EXAMEN PRÉLIMINAIRE · CANDIDAT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Répondre depuis « Mes offres »</a:t>
            </a:r>
            <a:endParaRPr lang="en-US" sz="2600" dirty="0"/>
          </a:p>
        </p:txBody>
      </p:sp>
      <p:sp>
        <p:nvSpPr>
          <p:cNvPr id="4" name="Shape 2"/>
          <p:cNvSpPr/>
          <p:nvPr/>
        </p:nvSpPr>
        <p:spPr>
          <a:xfrm>
            <a:off x="915246" y="1193800"/>
            <a:ext cx="10361203" cy="3327400"/>
          </a:xfrm>
          <a:prstGeom prst="rect">
            <a:avLst/>
          </a:prstGeom>
          <a:solidFill>
            <a:srgbClr val="FCFCFA"/>
          </a:solidFill>
          <a:ln w="9525">
            <a:solidFill>
              <a:srgbClr val="D5DCE4"/>
            </a:solidFill>
            <a:prstDash val="solid"/>
          </a:ln>
        </p:spPr>
        <p:txBody>
          <a:bodyPr/>
          <a:lstStyle/>
          <a:p>
            <a:endParaRPr lang="fr-FR"/>
          </a:p>
        </p:txBody>
      </p:sp>
      <p:pic>
        <p:nvPicPr>
          <p:cNvPr id="5" name="Image 0" descr="Répondre depuis « Mes offres »"/>
          <p:cNvPicPr>
            <a:picLocks noChangeAspect="1"/>
          </p:cNvPicPr>
          <p:nvPr/>
        </p:nvPicPr>
        <p:blipFill>
          <a:blip r:embed="rId3"/>
          <a:stretch>
            <a:fillRect/>
          </a:stretch>
        </p:blipFill>
        <p:spPr>
          <a:xfrm>
            <a:off x="927946" y="1206500"/>
            <a:ext cx="10335803" cy="3302000"/>
          </a:xfrm>
          <a:prstGeom prst="rect">
            <a:avLst/>
          </a:prstGeom>
        </p:spPr>
      </p:pic>
      <p:sp>
        <p:nvSpPr>
          <p:cNvPr id="6" name="Shape 3"/>
          <p:cNvSpPr/>
          <p:nvPr/>
        </p:nvSpPr>
        <p:spPr>
          <a:xfrm>
            <a:off x="812780" y="4660900"/>
            <a:ext cx="10566136" cy="16256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12780" y="4660900"/>
            <a:ext cx="38099" cy="1625600"/>
          </a:xfrm>
          <a:prstGeom prst="rect">
            <a:avLst/>
          </a:prstGeom>
          <a:solidFill>
            <a:srgbClr val="1B6FA8"/>
          </a:solidFill>
          <a:ln/>
        </p:spPr>
        <p:txBody>
          <a:bodyPr/>
          <a:lstStyle/>
          <a:p>
            <a:endParaRPr lang="fr-FR"/>
          </a:p>
        </p:txBody>
      </p:sp>
      <p:sp>
        <p:nvSpPr>
          <p:cNvPr id="8" name="Text 5"/>
          <p:cNvSpPr/>
          <p:nvPr/>
        </p:nvSpPr>
        <p:spPr>
          <a:xfrm>
            <a:off x="977876" y="4762500"/>
            <a:ext cx="10274043" cy="14351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candidat interrogé.</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demande arrive par notification et par courriel ; le candidat répond </a:t>
            </a:r>
            <a:r>
              <a:rPr lang="en-US" sz="1200" b="1" dirty="0">
                <a:solidFill>
                  <a:srgbClr val="1B2A3A"/>
                </a:solidFill>
                <a:latin typeface="Segoe UI" pitchFamily="34" charset="0"/>
                <a:ea typeface="Segoe UI" pitchFamily="34" charset="-122"/>
                <a:cs typeface="Segoe UI" pitchFamily="34" charset="-120"/>
              </a:rPr>
              <a:t>une fois</a:t>
            </a:r>
            <a:r>
              <a:rPr lang="en-US" sz="1200" dirty="0">
                <a:solidFill>
                  <a:srgbClr val="1B2A3A"/>
                </a:solidFill>
                <a:latin typeface="Segoe UI" pitchFamily="34" charset="0"/>
                <a:ea typeface="Segoe UI" pitchFamily="34" charset="-122"/>
                <a:cs typeface="Segoe UI" pitchFamily="34" charset="-120"/>
              </a:rPr>
              <a:t>, dans le délai, par un texte et, s’il le veut, une pièce.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demande et la réponse sont jointes au rapport.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RG-EVA-12</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223</a:t>
            </a:r>
            <a:endParaRPr lang="en-US" sz="1100" dirty="0"/>
          </a:p>
        </p:txBody>
      </p:sp>
    </p:spTree>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name="Slide 224">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ÉVALUER LES OFFRES</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Le montant évalué et le classement</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Les offres se comparent hors taxes, sur un montant que l’application calcule à partir du bordereau scellé. La commission retient les corrections proposées ; elle ne fixe jamais un montant à la main.</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224</a:t>
            </a:r>
            <a:endParaRPr lang="en-US" sz="1100" dirty="0"/>
          </a:p>
        </p:txBody>
      </p:sp>
    </p:spTree>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name="Slide 22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MONTANT ÉVALUÉ · COMMISSION</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montant évalué et le tableau du guide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 montant évalué et le tableau du guid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Les membres de la commission.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Pour l’offre n° 4 : prix lu 168 000 000 Ar HT, prix corrigé 167 500 000 Ar, rabais 1 500 000 Ar, </a:t>
            </a:r>
            <a:r>
              <a:rPr lang="en-US" sz="1200" b="1" dirty="0">
                <a:solidFill>
                  <a:srgbClr val="1B2A3A"/>
                </a:solidFill>
                <a:latin typeface="Segoe UI" pitchFamily="34" charset="0"/>
                <a:ea typeface="Segoe UI" pitchFamily="34" charset="-122"/>
                <a:cs typeface="Segoe UI" pitchFamily="34" charset="-120"/>
              </a:rPr>
              <a:t>montant évalué 166 000 000 Ar</a:t>
            </a:r>
            <a:r>
              <a:rPr lang="en-US" sz="1200" dirty="0">
                <a:solidFill>
                  <a:srgbClr val="1B2A3A"/>
                </a:solidFill>
                <a:latin typeface="Segoe UI" pitchFamily="34" charset="0"/>
                <a:ea typeface="Segoe UI" pitchFamily="34" charset="-122"/>
                <a:cs typeface="Segoe UI" pitchFamily="34" charset="-120"/>
              </a:rPr>
              <a:t>, rang 1.</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tableau d’évaluation du guide : une ligne par offre, du prix lu au montant évalué, au rang et à la qualification ; l’offre écartée y garde son motif.</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Tous les montants en ariary, hors taxes.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RG-EVA-16 · RG-EVA-19</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225</a:t>
            </a:r>
            <a:endParaRPr lang="en-US" sz="1100" dirty="0"/>
          </a:p>
        </p:txBody>
      </p:sp>
    </p:spTree>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name="Slide 22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MONTANT ÉVALUÉ · COMMISSION</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corrections, dont une hors calcul</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corrections, dont une hors calcul"/>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Les membres de la commission.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prix unitaire prévaut sur le total, les lettres sur les chiffres : ces corrections ne peuvent que </a:t>
            </a:r>
            <a:r>
              <a:rPr lang="en-US" sz="1200" b="1" dirty="0">
                <a:solidFill>
                  <a:srgbClr val="1B2A3A"/>
                </a:solidFill>
                <a:latin typeface="Segoe UI" pitchFamily="34" charset="0"/>
                <a:ea typeface="Segoe UI" pitchFamily="34" charset="-122"/>
                <a:cs typeface="Segoe UI" pitchFamily="34" charset="-120"/>
              </a:rPr>
              <a:t>reprendre celles que l’application a calculées</a:t>
            </a:r>
            <a:r>
              <a:rPr lang="en-US" sz="1200" dirty="0">
                <a:solidFill>
                  <a:srgbClr val="1B2A3A"/>
                </a:solidFill>
                <a:latin typeface="Segoe UI" pitchFamily="34" charset="0"/>
                <a:ea typeface="Segoe UI" pitchFamily="34" charset="-122"/>
                <a:cs typeface="Segoe UI" pitchFamily="34" charset="-120"/>
              </a:rPr>
              <a: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Une erreur de report du sous-total, que l’application ne calcule pas, se lit « </a:t>
            </a:r>
            <a:r>
              <a:rPr lang="en-US" sz="1200" b="1" dirty="0">
                <a:solidFill>
                  <a:srgbClr val="1B2A3A"/>
                </a:solidFill>
                <a:latin typeface="Segoe UI" pitchFamily="34" charset="0"/>
                <a:ea typeface="Segoe UI" pitchFamily="34" charset="-122"/>
                <a:cs typeface="Segoe UI" pitchFamily="34" charset="-120"/>
              </a:rPr>
              <a:t>Hors calcul</a:t>
            </a:r>
            <a:r>
              <a:rPr lang="en-US" sz="1200" dirty="0">
                <a:solidFill>
                  <a:srgbClr val="1B2A3A"/>
                </a:solidFill>
                <a:latin typeface="Segoe UI" pitchFamily="34" charset="0"/>
                <a:ea typeface="Segoe UI" pitchFamily="34" charset="-122"/>
                <a:cs typeface="Segoe UI" pitchFamily="34" charset="-120"/>
              </a:rPr>
              <a:t> » : elle exige un motif et sera signalée au contrôle du dossier de marché.</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Rabais lu sur l’acte d’engagement, marge de préférence et critères additionnels du DAO — eux seuls —, refus de la correction par le candidat.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RG-EVA-14 · RG-EVA-15 · RG-EVA-17 · RG-EVA-18 · RG-EVA-35</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226</a:t>
            </a:r>
            <a:endParaRPr lang="en-US" sz="1100" dirty="0"/>
          </a:p>
        </p:txBody>
      </p:sp>
    </p:spTree>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name="Slide 227">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ÉVALUER LES OFFRES</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Les offres anormales</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L’application donne des indicateurs ; la commission apprécie. Aucune offre n’est rejetée pour son prix sans demande écrite de justification.</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227</a:t>
            </a:r>
            <a:endParaRPr lang="en-US" sz="1100" dirty="0"/>
          </a:p>
        </p:txBody>
      </p:sp>
    </p:spTree>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name="Slide 22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OFFRES ANORMALES · COMMISSION</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indicateurs de prix</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indicateurs de prix"/>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Les membres de la commission.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Pour chaque offre classée : l’écart à l’estimation du plan et à la moyenne des offres ; ici </a:t>
            </a:r>
            <a:r>
              <a:rPr lang="en-US" sz="1200" b="1" dirty="0">
                <a:solidFill>
                  <a:srgbClr val="1B2A3A"/>
                </a:solidFill>
                <a:latin typeface="Segoe UI" pitchFamily="34" charset="0"/>
                <a:ea typeface="Segoe UI" pitchFamily="34" charset="-122"/>
                <a:cs typeface="Segoe UI" pitchFamily="34" charset="-120"/>
              </a:rPr>
              <a:t>+10,7 %</a:t>
            </a:r>
            <a:r>
              <a:rPr lang="en-US" sz="1200" dirty="0">
                <a:solidFill>
                  <a:srgbClr val="1B2A3A"/>
                </a:solidFill>
                <a:latin typeface="Segoe UI" pitchFamily="34" charset="0"/>
                <a:ea typeface="Segoe UI" pitchFamily="34" charset="-122"/>
                <a:cs typeface="Segoe UI" pitchFamily="34" charset="-120"/>
              </a:rPr>
              <a:t> sur une estimation de 150 000 000 Ar.</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Sans méthode fixée par le DAO, la commission motive son appréciation au cas par cas : ce sont des </a:t>
            </a:r>
            <a:r>
              <a:rPr lang="en-US" sz="1200" b="1" dirty="0">
                <a:solidFill>
                  <a:srgbClr val="1B2A3A"/>
                </a:solidFill>
                <a:latin typeface="Segoe UI" pitchFamily="34" charset="0"/>
                <a:ea typeface="Segoe UI" pitchFamily="34" charset="-122"/>
                <a:cs typeface="Segoe UI" pitchFamily="34" charset="-120"/>
              </a:rPr>
              <a:t>indicateurs</a:t>
            </a:r>
            <a:r>
              <a:rPr lang="en-US" sz="1200" dirty="0">
                <a:solidFill>
                  <a:srgbClr val="1B2A3A"/>
                </a:solidFill>
                <a:latin typeface="Segoe UI" pitchFamily="34" charset="0"/>
                <a:ea typeface="Segoe UI" pitchFamily="34" charset="-122"/>
                <a:cs typeface="Segoe UI" pitchFamily="34" charset="-120"/>
              </a:rPr>
              <a:t>, jamais une décision.</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L’offre est jugée « non suspectée ».</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RG-EVA-20 · RG-EVA-21</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228</a:t>
            </a:r>
            <a:endParaRPr lang="en-US" sz="1100" dirty="0"/>
          </a:p>
        </p:txBody>
      </p:sp>
    </p:spTree>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name="Slide 22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OFFRES ANORMALES · PRMP ET COMMISSION</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Une offre maintenue après justification</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Une offre maintenue après justification"/>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demande ; le candidat répond ; la commission décide.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méthode du DAO est rappelée en clair : moyenne de référence, seuils de 20 % au-dessus et de 10 % au-dessous.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justification demandée, son échéance, la réponse du candidat : la commission </a:t>
            </a:r>
            <a:r>
              <a:rPr lang="en-US" sz="1200" b="1" dirty="0">
                <a:solidFill>
                  <a:srgbClr val="1B2A3A"/>
                </a:solidFill>
                <a:latin typeface="Segoe UI" pitchFamily="34" charset="0"/>
                <a:ea typeface="Segoe UI" pitchFamily="34" charset="-122"/>
                <a:cs typeface="Segoe UI" pitchFamily="34" charset="-120"/>
              </a:rPr>
              <a:t>maintient</a:t>
            </a:r>
            <a:r>
              <a:rPr lang="en-US" sz="1200" dirty="0">
                <a:solidFill>
                  <a:srgbClr val="1B2A3A"/>
                </a:solidFill>
                <a:latin typeface="Segoe UI" pitchFamily="34" charset="0"/>
                <a:ea typeface="Segoe UI" pitchFamily="34" charset="-122"/>
                <a:cs typeface="Segoe UI" pitchFamily="34" charset="-120"/>
              </a:rPr>
              <a:t> l’offre, motif à l’appui.</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Faute de réponse à l’échéance, l’offre porterait la mention « </a:t>
            </a:r>
            <a:r>
              <a:rPr lang="en-US" sz="1200" b="1" dirty="0">
                <a:solidFill>
                  <a:srgbClr val="1B2A3A"/>
                </a:solidFill>
                <a:latin typeface="Segoe UI" pitchFamily="34" charset="0"/>
                <a:ea typeface="Segoe UI" pitchFamily="34" charset="-122"/>
                <a:cs typeface="Segoe UI" pitchFamily="34" charset="-120"/>
              </a:rPr>
              <a:t>Défaut de réponse</a:t>
            </a:r>
            <a:r>
              <a:rPr lang="en-US" sz="1200" dirty="0">
                <a:solidFill>
                  <a:srgbClr val="1B2A3A"/>
                </a:solidFill>
                <a:latin typeface="Segoe UI" pitchFamily="34" charset="0"/>
                <a:ea typeface="Segoe UI" pitchFamily="34" charset="-122"/>
                <a:cs typeface="Segoe UI" pitchFamily="34" charset="-120"/>
              </a:rPr>
              <a:t> » : le silence vaut refus de justifier (art. 48).</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RG-EVA-21 · RG-EVA-22 · RG-EVA-36</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229</a:t>
            </a:r>
            <a:endParaRPr lang="en-US" sz="1100" dirty="0"/>
          </a:p>
        </p:txBody>
      </p:sp>
    </p:spTree>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name="Slide 230">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ÉVALUER LES OFFRES</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La post-qualification et la proposition</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La commission vérifie que le mieux classé a les capacités exigées par le DAO, et lui seul tant qu’il n’échoue pas. Le lot reçoit alors sa proposition d’attribution.</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230</a:t>
            </a:r>
            <a:endParaRPr lang="en-US" sz="1100" dirty="0"/>
          </a:p>
        </p:txBody>
      </p:sp>
    </p:spTree>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name="Slide 23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POST-QUALIFICATION · COMMISSION</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post-qualification et la proposition</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a post-qualification et la proposition"/>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Les membres de la commission ; le président arrête l’étape.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a:t>
            </a:r>
            <a:r>
              <a:rPr lang="en-US" sz="1200" b="1" dirty="0">
                <a:solidFill>
                  <a:srgbClr val="1B2A3A"/>
                </a:solidFill>
                <a:latin typeface="Segoe UI" pitchFamily="34" charset="0"/>
                <a:ea typeface="Segoe UI" pitchFamily="34" charset="-122"/>
                <a:cs typeface="Segoe UI" pitchFamily="34" charset="-120"/>
              </a:rPr>
              <a:t>proposition d’attribution</a:t>
            </a:r>
            <a:r>
              <a:rPr lang="en-US" sz="1200" dirty="0">
                <a:solidFill>
                  <a:srgbClr val="1B2A3A"/>
                </a:solidFill>
                <a:latin typeface="Segoe UI" pitchFamily="34" charset="0"/>
                <a:ea typeface="Segoe UI" pitchFamily="34" charset="-122"/>
                <a:cs typeface="Segoe UI" pitchFamily="34" charset="-120"/>
              </a:rPr>
              <a:t> du lot : offre n° 4, 166 000 000 Ar HT (prix corrigé, rabais déduit), délai de 3 mois tiré de l’acte d’engagement.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Critère par critère : l’exigence du DAO, le constat de séance, la décision et son motif ; les capacités déclarées se lisent en PDF.</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Une offre non qualifiée est écartée avec motif et clause : le tour passe à la suivante.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RG-EVA-23 · RG-EVA-24 · RG-EVA-25 · RG-EVA-26</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231</a:t>
            </a:r>
            <a:endParaRPr lang="en-US" sz="1100" dirty="0"/>
          </a:p>
        </p:txBody>
      </p:sp>
    </p:spTree>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name="Slide 232">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ÉVALUER LES OFFRES</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Le rapport d’évaluation</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Le rapport suit le plan du guide. Il se produit quand tout est arrêté et ne vaut qu’au quorum : sa signature par les membres tient lieu de PV de validation.</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232</a:t>
            </a:r>
            <a:endParaRPr lang="en-US" sz="1100" dirty="0"/>
          </a:p>
        </p:txBody>
      </p:sp>
    </p:spTree>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name="Slide 23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RAPPORT · COMMISSION</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rapport signé, au quorum</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 rapport signé, au quorum"/>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Les membres signent ; le président est toujours requis.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 Signé de tous » : produit et signé le même jour, lisible en PDF et en Word.</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Chaque signature est datée ; un membre y porte une </a:t>
            </a:r>
            <a:r>
              <a:rPr lang="en-US" sz="1200" b="1" dirty="0">
                <a:solidFill>
                  <a:srgbClr val="1B2A3A"/>
                </a:solidFill>
                <a:latin typeface="Segoe UI" pitchFamily="34" charset="0"/>
                <a:ea typeface="Segoe UI" pitchFamily="34" charset="-122"/>
                <a:cs typeface="Segoe UI" pitchFamily="34" charset="-120"/>
              </a:rPr>
              <a:t>observation</a:t>
            </a:r>
            <a:r>
              <a:rPr lang="en-US" sz="1200" dirty="0">
                <a:solidFill>
                  <a:srgbClr val="1B2A3A"/>
                </a:solidFill>
                <a:latin typeface="Segoe UI" pitchFamily="34" charset="0"/>
                <a:ea typeface="Segoe UI" pitchFamily="34" charset="-122"/>
                <a:cs typeface="Segoe UI" pitchFamily="34" charset="-120"/>
              </a:rPr>
              <a:t> qui va au rapport.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 </a:t>
            </a:r>
            <a:r>
              <a:rPr lang="en-US" sz="1200" b="1" dirty="0">
                <a:solidFill>
                  <a:srgbClr val="1B2A3A"/>
                </a:solidFill>
                <a:latin typeface="Segoe UI" pitchFamily="34" charset="0"/>
                <a:ea typeface="Segoe UI" pitchFamily="34" charset="-122"/>
                <a:cs typeface="Segoe UI" pitchFamily="34" charset="-120"/>
              </a:rPr>
              <a:t>Quorum atteint</a:t>
            </a:r>
            <a:r>
              <a:rPr lang="en-US" sz="1200" dirty="0">
                <a:solidFill>
                  <a:srgbClr val="1B2A3A"/>
                </a:solidFill>
                <a:latin typeface="Segoe UI" pitchFamily="34" charset="0"/>
                <a:ea typeface="Segoe UI" pitchFamily="34" charset="-122"/>
                <a:cs typeface="Segoe UI" pitchFamily="34" charset="-120"/>
              </a:rPr>
              <a:t> : 2 sur 2 requis (majorité des membres désignés), président signataire ».</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RG-EVA-27 · RG-EVA-29 · RG-EVA-30 · RG-EVA-38</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233</a:t>
            </a:r>
            <a:endParaRPr lang="en-US" sz="1100" dirty="0"/>
          </a:p>
        </p:txBody>
      </p:sp>
    </p:spTree>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name="Slide 23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RAPPORT · MEMBRE DE LA COMMISSION</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Signer, avec une observation</a:t>
            </a:r>
            <a:endParaRPr lang="en-US" sz="2600" dirty="0"/>
          </a:p>
        </p:txBody>
      </p:sp>
      <p:sp>
        <p:nvSpPr>
          <p:cNvPr id="4" name="Shape 2"/>
          <p:cNvSpPr/>
          <p:nvPr/>
        </p:nvSpPr>
        <p:spPr>
          <a:xfrm>
            <a:off x="997916" y="1193800"/>
            <a:ext cx="10195862" cy="3327400"/>
          </a:xfrm>
          <a:prstGeom prst="rect">
            <a:avLst/>
          </a:prstGeom>
          <a:solidFill>
            <a:srgbClr val="FCFCFA"/>
          </a:solidFill>
          <a:ln w="9525">
            <a:solidFill>
              <a:srgbClr val="D5DCE4"/>
            </a:solidFill>
            <a:prstDash val="solid"/>
          </a:ln>
        </p:spPr>
        <p:txBody>
          <a:bodyPr/>
          <a:lstStyle/>
          <a:p>
            <a:endParaRPr lang="fr-FR"/>
          </a:p>
        </p:txBody>
      </p:sp>
      <p:pic>
        <p:nvPicPr>
          <p:cNvPr id="5" name="Image 0" descr="Signer, avec une observation"/>
          <p:cNvPicPr>
            <a:picLocks noChangeAspect="1"/>
          </p:cNvPicPr>
          <p:nvPr/>
        </p:nvPicPr>
        <p:blipFill>
          <a:blip r:embed="rId3"/>
          <a:stretch>
            <a:fillRect/>
          </a:stretch>
        </p:blipFill>
        <p:spPr>
          <a:xfrm>
            <a:off x="1010616" y="1206500"/>
            <a:ext cx="10170463" cy="3302000"/>
          </a:xfrm>
          <a:prstGeom prst="rect">
            <a:avLst/>
          </a:prstGeom>
        </p:spPr>
      </p:pic>
      <p:sp>
        <p:nvSpPr>
          <p:cNvPr id="6" name="Shape 3"/>
          <p:cNvSpPr/>
          <p:nvPr/>
        </p:nvSpPr>
        <p:spPr>
          <a:xfrm>
            <a:off x="812780" y="4660900"/>
            <a:ext cx="10566136" cy="16256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12780" y="4660900"/>
            <a:ext cx="38099" cy="1625600"/>
          </a:xfrm>
          <a:prstGeom prst="rect">
            <a:avLst/>
          </a:prstGeom>
          <a:solidFill>
            <a:srgbClr val="1B6FA8"/>
          </a:solidFill>
          <a:ln/>
        </p:spPr>
        <p:txBody>
          <a:bodyPr/>
          <a:lstStyle/>
          <a:p>
            <a:endParaRPr lang="fr-FR"/>
          </a:p>
        </p:txBody>
      </p:sp>
      <p:sp>
        <p:nvSpPr>
          <p:cNvPr id="8" name="Text 5"/>
          <p:cNvSpPr/>
          <p:nvPr/>
        </p:nvSpPr>
        <p:spPr>
          <a:xfrm>
            <a:off x="977876" y="4762500"/>
            <a:ext cx="10274043" cy="14351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Chaque membre qui n’a pas déclaré de conflit.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membre relit le rapport, puis signe : signature électronique simple, horodatée.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En désaccord, il porte son observation au rapport ; un empêchement est constaté par le président, avec un motif.</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RG-EVA-29</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234</a:t>
            </a:r>
            <a:endParaRPr lang="en-US" sz="1100" dirty="0"/>
          </a:p>
        </p:txBody>
      </p:sp>
    </p:spTree>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name="Slide 23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RAPPORT · DOCUMENT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rapport, sur le plan du guide</a:t>
            </a:r>
            <a:endParaRPr lang="en-US" sz="2600" dirty="0"/>
          </a:p>
        </p:txBody>
      </p:sp>
      <p:sp>
        <p:nvSpPr>
          <p:cNvPr id="4" name="Shape 2"/>
          <p:cNvSpPr/>
          <p:nvPr/>
        </p:nvSpPr>
        <p:spPr>
          <a:xfrm>
            <a:off x="800080" y="1193800"/>
            <a:ext cx="3616625" cy="5105400"/>
          </a:xfrm>
          <a:prstGeom prst="rect">
            <a:avLst/>
          </a:prstGeom>
          <a:solidFill>
            <a:srgbClr val="FCFCFA"/>
          </a:solidFill>
          <a:ln w="9525">
            <a:solidFill>
              <a:srgbClr val="D5DCE4"/>
            </a:solidFill>
            <a:prstDash val="solid"/>
          </a:ln>
        </p:spPr>
        <p:txBody>
          <a:bodyPr/>
          <a:lstStyle/>
          <a:p>
            <a:endParaRPr lang="fr-FR"/>
          </a:p>
        </p:txBody>
      </p:sp>
      <p:pic>
        <p:nvPicPr>
          <p:cNvPr id="5" name="Image 0" descr="Le rapport, sur le plan du guide"/>
          <p:cNvPicPr>
            <a:picLocks noChangeAspect="1"/>
          </p:cNvPicPr>
          <p:nvPr/>
        </p:nvPicPr>
        <p:blipFill>
          <a:blip r:embed="rId3"/>
          <a:stretch>
            <a:fillRect/>
          </a:stretch>
        </p:blipFill>
        <p:spPr>
          <a:xfrm>
            <a:off x="812780" y="1206500"/>
            <a:ext cx="3591226" cy="5080000"/>
          </a:xfrm>
          <a:prstGeom prst="rect">
            <a:avLst/>
          </a:prstGeom>
        </p:spPr>
      </p:pic>
      <p:sp>
        <p:nvSpPr>
          <p:cNvPr id="6" name="Shape 3"/>
          <p:cNvSpPr/>
          <p:nvPr/>
        </p:nvSpPr>
        <p:spPr>
          <a:xfrm>
            <a:off x="4581801" y="1206500"/>
            <a:ext cx="6797115"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4581801" y="1206500"/>
            <a:ext cx="38099" cy="5080000"/>
          </a:xfrm>
          <a:prstGeom prst="rect">
            <a:avLst/>
          </a:prstGeom>
          <a:solidFill>
            <a:srgbClr val="1B6FA8"/>
          </a:solidFill>
          <a:ln/>
        </p:spPr>
        <p:txBody>
          <a:bodyPr/>
          <a:lstStyle/>
          <a:p>
            <a:endParaRPr lang="fr-FR"/>
          </a:p>
        </p:txBody>
      </p:sp>
      <p:sp>
        <p:nvSpPr>
          <p:cNvPr id="8" name="Text 5"/>
          <p:cNvSpPr/>
          <p:nvPr/>
        </p:nvSpPr>
        <p:spPr>
          <a:xfrm>
            <a:off x="4746897" y="1308100"/>
            <a:ext cx="6505022"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Produit par l’application ; non public.</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Références et commission, plis reçus, puis lot par lot : examen préliminaire, corrections, montant évalué et classement, offres anormales, post-qualification, proposition d’attribution.</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Puis les signatures et les annexes : déclarations des membres, échanges avec les candidats.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RG-EVA-28</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235</a:t>
            </a:r>
            <a:endParaRPr lang="en-US" sz="1100" dirty="0"/>
          </a:p>
        </p:txBody>
      </p:sp>
    </p:spTree>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name="Slide 23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ÉTAPE CLOSE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L’étape close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étape clos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Tous les profils qui lisent l’évaluation.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 </a:t>
            </a:r>
            <a:r>
              <a:rPr lang="en-US" sz="1200" b="1" dirty="0">
                <a:solidFill>
                  <a:srgbClr val="1B2A3A"/>
                </a:solidFill>
                <a:latin typeface="Segoe UI" pitchFamily="34" charset="0"/>
                <a:ea typeface="Segoe UI" pitchFamily="34" charset="-122"/>
                <a:cs typeface="Segoe UI" pitchFamily="34" charset="-120"/>
              </a:rPr>
              <a:t>Étape close</a:t>
            </a:r>
            <a:r>
              <a:rPr lang="en-US" sz="1200" dirty="0">
                <a:solidFill>
                  <a:srgbClr val="1B2A3A"/>
                </a:solidFill>
                <a:latin typeface="Segoe UI" pitchFamily="34" charset="0"/>
                <a:ea typeface="Segoe UI" pitchFamily="34" charset="-122"/>
                <a:cs typeface="Segoe UI" pitchFamily="34" charset="-120"/>
              </a:rPr>
              <a:t> » : le dossier de marché n° 100372 (lot 1) est soumis à la Commission ; la séance, l’évaluation et l’AMI de la procédure ne se modifient plus.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Seule une reprise de l’évaluation après avis défavorable, ou une réattribution, les rouvre ; la PRMP ouvre le dossier de marché d’un clic.</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lectures restent ouvertes : rapport, PV, PDF et Word.</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RG-EVA-37</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236</a:t>
            </a:r>
            <a:endParaRPr lang="en-US" sz="1100" dirty="0"/>
          </a:p>
        </p:txBody>
      </p:sp>
    </p:spTree>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name="Slide 237">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ÉVALUER LES OFFRES</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Les prestations intellectuelles</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Pour une consultation de prestations intellectuelles, la commission note d’abord les propositions techniques ; seules les enveloppes financières des propositions retenues s’ouvrent ensuite, puis la PRMP négocie avec le premier classé.</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237</a:t>
            </a:r>
            <a:endParaRPr lang="en-US" sz="1100" dirty="0"/>
          </a:p>
        </p:txBody>
      </p:sp>
    </p:spTree>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name="Slide 23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PRESTATIONS INTELLECTUELLES · MEMBRE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grille technique d’un membre</a:t>
            </a:r>
            <a:endParaRPr lang="en-US" sz="2600" dirty="0"/>
          </a:p>
        </p:txBody>
      </p:sp>
      <p:sp>
        <p:nvSpPr>
          <p:cNvPr id="4" name="Shape 2"/>
          <p:cNvSpPr/>
          <p:nvPr/>
        </p:nvSpPr>
        <p:spPr>
          <a:xfrm>
            <a:off x="2275249" y="1193800"/>
            <a:ext cx="7641196" cy="3327400"/>
          </a:xfrm>
          <a:prstGeom prst="rect">
            <a:avLst/>
          </a:prstGeom>
          <a:solidFill>
            <a:srgbClr val="FCFCFA"/>
          </a:solidFill>
          <a:ln w="9525">
            <a:solidFill>
              <a:srgbClr val="D5DCE4"/>
            </a:solidFill>
            <a:prstDash val="solid"/>
          </a:ln>
        </p:spPr>
        <p:txBody>
          <a:bodyPr/>
          <a:lstStyle/>
          <a:p>
            <a:endParaRPr lang="fr-FR"/>
          </a:p>
        </p:txBody>
      </p:sp>
      <p:pic>
        <p:nvPicPr>
          <p:cNvPr id="5" name="Image 0" descr="La grille technique d’un membre"/>
          <p:cNvPicPr>
            <a:picLocks noChangeAspect="1"/>
          </p:cNvPicPr>
          <p:nvPr/>
        </p:nvPicPr>
        <p:blipFill>
          <a:blip r:embed="rId3"/>
          <a:stretch>
            <a:fillRect/>
          </a:stretch>
        </p:blipFill>
        <p:spPr>
          <a:xfrm>
            <a:off x="2287949" y="1206500"/>
            <a:ext cx="7615797" cy="3302000"/>
          </a:xfrm>
          <a:prstGeom prst="rect">
            <a:avLst/>
          </a:prstGeom>
        </p:spPr>
      </p:pic>
      <p:sp>
        <p:nvSpPr>
          <p:cNvPr id="6" name="Shape 3"/>
          <p:cNvSpPr/>
          <p:nvPr/>
        </p:nvSpPr>
        <p:spPr>
          <a:xfrm>
            <a:off x="812780" y="4660900"/>
            <a:ext cx="10566136" cy="16256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12780" y="4660900"/>
            <a:ext cx="38099" cy="1625600"/>
          </a:xfrm>
          <a:prstGeom prst="rect">
            <a:avLst/>
          </a:prstGeom>
          <a:solidFill>
            <a:srgbClr val="1B6FA8"/>
          </a:solidFill>
          <a:ln/>
        </p:spPr>
        <p:txBody>
          <a:bodyPr/>
          <a:lstStyle/>
          <a:p>
            <a:endParaRPr lang="fr-FR"/>
          </a:p>
        </p:txBody>
      </p:sp>
      <p:sp>
        <p:nvSpPr>
          <p:cNvPr id="8" name="Text 5"/>
          <p:cNvSpPr/>
          <p:nvPr/>
        </p:nvSpPr>
        <p:spPr>
          <a:xfrm>
            <a:off x="977876" y="4762500"/>
            <a:ext cx="10274043" cy="14351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Chaque membre sans conflit.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Chaque membre note chaque élément de la grille de la fiche et motive ; la moyenne, le minimum et le maximum s’affichent.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Une ligne est signalée quand la note la plus haute et la plus basse s’écartent de plus de 20 % du maximum.</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RG-EVA-31</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238</a:t>
            </a:r>
            <a:endParaRPr lang="en-US" sz="1100" dirty="0"/>
          </a:p>
        </p:txBody>
      </p:sp>
    </p:spTree>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name="Slide 23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PRESTATIONS INTELLECTUELLES · COMMISSION</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classement technique</a:t>
            </a:r>
            <a:endParaRPr lang="en-US" sz="2600" dirty="0"/>
          </a:p>
        </p:txBody>
      </p:sp>
      <p:sp>
        <p:nvSpPr>
          <p:cNvPr id="4" name="Shape 2"/>
          <p:cNvSpPr/>
          <p:nvPr/>
        </p:nvSpPr>
        <p:spPr>
          <a:xfrm>
            <a:off x="800080" y="1193800"/>
            <a:ext cx="10591535" cy="2855169"/>
          </a:xfrm>
          <a:prstGeom prst="rect">
            <a:avLst/>
          </a:prstGeom>
          <a:solidFill>
            <a:srgbClr val="FCFCFA"/>
          </a:solidFill>
          <a:ln w="9525">
            <a:solidFill>
              <a:srgbClr val="D5DCE4"/>
            </a:solidFill>
            <a:prstDash val="solid"/>
          </a:ln>
        </p:spPr>
        <p:txBody>
          <a:bodyPr/>
          <a:lstStyle/>
          <a:p>
            <a:endParaRPr lang="fr-FR"/>
          </a:p>
        </p:txBody>
      </p:sp>
      <p:pic>
        <p:nvPicPr>
          <p:cNvPr id="5" name="Image 0" descr="Le classement technique"/>
          <p:cNvPicPr>
            <a:picLocks noChangeAspect="1"/>
          </p:cNvPicPr>
          <p:nvPr/>
        </p:nvPicPr>
        <p:blipFill>
          <a:blip r:embed="rId3"/>
          <a:stretch>
            <a:fillRect/>
          </a:stretch>
        </p:blipFill>
        <p:spPr>
          <a:xfrm>
            <a:off x="812780" y="1206500"/>
            <a:ext cx="10566136" cy="2829769"/>
          </a:xfrm>
          <a:prstGeom prst="rect">
            <a:avLst/>
          </a:prstGeom>
        </p:spPr>
      </p:pic>
      <p:sp>
        <p:nvSpPr>
          <p:cNvPr id="6" name="Shape 3"/>
          <p:cNvSpPr/>
          <p:nvPr/>
        </p:nvSpPr>
        <p:spPr>
          <a:xfrm>
            <a:off x="812780" y="4188669"/>
            <a:ext cx="10566136" cy="19939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12780" y="4188669"/>
            <a:ext cx="38099" cy="1993900"/>
          </a:xfrm>
          <a:prstGeom prst="rect">
            <a:avLst/>
          </a:prstGeom>
          <a:solidFill>
            <a:srgbClr val="1B6FA8"/>
          </a:solidFill>
          <a:ln/>
        </p:spPr>
        <p:txBody>
          <a:bodyPr/>
          <a:lstStyle/>
          <a:p>
            <a:endParaRPr lang="fr-FR"/>
          </a:p>
        </p:txBody>
      </p:sp>
      <p:sp>
        <p:nvSpPr>
          <p:cNvPr id="8" name="Text 5"/>
          <p:cNvSpPr/>
          <p:nvPr/>
        </p:nvSpPr>
        <p:spPr>
          <a:xfrm>
            <a:off x="977876" y="4290269"/>
            <a:ext cx="10274043" cy="18034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commission ; le président arrête.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note technique, somme des moyennes ; les grilles reçues ou complètes ; le rang.</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Sous le score minimum, la proposition est </a:t>
            </a:r>
            <a:r>
              <a:rPr lang="en-US" sz="1200" b="1" dirty="0">
                <a:solidFill>
                  <a:srgbClr val="1B2A3A"/>
                </a:solidFill>
                <a:latin typeface="Segoe UI" pitchFamily="34" charset="0"/>
                <a:ea typeface="Segoe UI" pitchFamily="34" charset="-122"/>
                <a:cs typeface="Segoe UI" pitchFamily="34" charset="-120"/>
              </a:rPr>
              <a:t>éliminée</a:t>
            </a:r>
            <a:r>
              <a:rPr lang="en-US" sz="1200" dirty="0">
                <a:solidFill>
                  <a:srgbClr val="1B2A3A"/>
                </a:solidFill>
                <a:latin typeface="Segoe UI" pitchFamily="34" charset="0"/>
                <a:ea typeface="Segoe UI" pitchFamily="34" charset="-122"/>
                <a:cs typeface="Segoe UI" pitchFamily="34" charset="-120"/>
              </a:rPr>
              <a:t> : ici 67,5 points pour un minimum de 70.</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RG-EVA-31</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239</a:t>
            </a:r>
            <a:endParaRPr lang="en-US" sz="1100" dirty="0"/>
          </a:p>
        </p:txBody>
      </p:sp>
    </p:spTree>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name="Slide 24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PRESTATIONS INTELLECTUELLES · COMMISSION</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seconde séance et le classement financier</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a seconde séance et le classement financier"/>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commission.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seconde séance n’ouvre que l’enveloppe financière de la proposition retenue ; l’enveloppe éliminée à l’évaluation technique </a:t>
            </a:r>
            <a:r>
              <a:rPr lang="en-US" sz="1200" b="1" dirty="0">
                <a:solidFill>
                  <a:srgbClr val="1B2A3A"/>
                </a:solidFill>
                <a:latin typeface="Segoe UI" pitchFamily="34" charset="0"/>
                <a:ea typeface="Segoe UI" pitchFamily="34" charset="-122"/>
                <a:cs typeface="Segoe UI" pitchFamily="34" charset="-120"/>
              </a:rPr>
              <a:t>ne s’ouvre pas</a:t>
            </a:r>
            <a:r>
              <a:rPr lang="en-US" sz="1200" dirty="0">
                <a:solidFill>
                  <a:srgbClr val="1B2A3A"/>
                </a:solidFill>
                <a:latin typeface="Segoe UI" pitchFamily="34" charset="0"/>
                <a:ea typeface="Segoe UI" pitchFamily="34" charset="-122"/>
                <a:cs typeface="Segoe UI" pitchFamily="34" charset="-120"/>
              </a:rPr>
              <a:t>, et la raison est écrite.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Méthode qualité-coût, poids technique 0,8 et financier 0,2 : le classement est arrêté par le président.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RG-EVA-32</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240</a:t>
            </a:r>
            <a:endParaRPr lang="en-US" sz="1100" dirty="0"/>
          </a:p>
        </p:txBody>
      </p:sp>
    </p:spTree>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name="Slide 24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PRESTATIONS INTELLECTUELLES · MEMBRE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saisie d’une enveloppe financière</a:t>
            </a:r>
            <a:endParaRPr lang="en-US" sz="2600" dirty="0"/>
          </a:p>
        </p:txBody>
      </p:sp>
      <p:sp>
        <p:nvSpPr>
          <p:cNvPr id="4" name="Shape 2"/>
          <p:cNvSpPr/>
          <p:nvPr/>
        </p:nvSpPr>
        <p:spPr>
          <a:xfrm>
            <a:off x="1616405" y="1193800"/>
            <a:ext cx="8958885" cy="3327400"/>
          </a:xfrm>
          <a:prstGeom prst="rect">
            <a:avLst/>
          </a:prstGeom>
          <a:solidFill>
            <a:srgbClr val="FCFCFA"/>
          </a:solidFill>
          <a:ln w="9525">
            <a:solidFill>
              <a:srgbClr val="D5DCE4"/>
            </a:solidFill>
            <a:prstDash val="solid"/>
          </a:ln>
        </p:spPr>
        <p:txBody>
          <a:bodyPr/>
          <a:lstStyle/>
          <a:p>
            <a:endParaRPr lang="fr-FR"/>
          </a:p>
        </p:txBody>
      </p:sp>
      <p:pic>
        <p:nvPicPr>
          <p:cNvPr id="5" name="Image 0" descr="La saisie d’une enveloppe financière"/>
          <p:cNvPicPr>
            <a:picLocks noChangeAspect="1"/>
          </p:cNvPicPr>
          <p:nvPr/>
        </p:nvPicPr>
        <p:blipFill>
          <a:blip r:embed="rId3"/>
          <a:stretch>
            <a:fillRect/>
          </a:stretch>
        </p:blipFill>
        <p:spPr>
          <a:xfrm>
            <a:off x="1629105" y="1206500"/>
            <a:ext cx="8933486" cy="3302000"/>
          </a:xfrm>
          <a:prstGeom prst="rect">
            <a:avLst/>
          </a:prstGeom>
        </p:spPr>
      </p:pic>
      <p:sp>
        <p:nvSpPr>
          <p:cNvPr id="6" name="Shape 3"/>
          <p:cNvSpPr/>
          <p:nvPr/>
        </p:nvSpPr>
        <p:spPr>
          <a:xfrm>
            <a:off x="812780" y="4660900"/>
            <a:ext cx="10566136" cy="16256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12780" y="4660900"/>
            <a:ext cx="38099" cy="1625600"/>
          </a:xfrm>
          <a:prstGeom prst="rect">
            <a:avLst/>
          </a:prstGeom>
          <a:solidFill>
            <a:srgbClr val="1B6FA8"/>
          </a:solidFill>
          <a:ln/>
        </p:spPr>
        <p:txBody>
          <a:bodyPr/>
          <a:lstStyle/>
          <a:p>
            <a:endParaRPr lang="fr-FR"/>
          </a:p>
        </p:txBody>
      </p:sp>
      <p:sp>
        <p:nvSpPr>
          <p:cNvPr id="8" name="Text 5"/>
          <p:cNvSpPr/>
          <p:nvPr/>
        </p:nvSpPr>
        <p:spPr>
          <a:xfrm>
            <a:off x="977876" y="4762500"/>
            <a:ext cx="10274043" cy="14351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Les membres de la commission.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Corrections arithmétiques et </a:t>
            </a:r>
            <a:r>
              <a:rPr lang="en-US" sz="1200" b="1" dirty="0">
                <a:solidFill>
                  <a:srgbClr val="1B2A3A"/>
                </a:solidFill>
                <a:latin typeface="Segoe UI" pitchFamily="34" charset="0"/>
                <a:ea typeface="Segoe UI" pitchFamily="34" charset="-122"/>
                <a:cs typeface="Segoe UI" pitchFamily="34" charset="-120"/>
              </a:rPr>
              <a:t>dépenses remboursables</a:t>
            </a:r>
            <a:r>
              <a:rPr lang="en-US" sz="1200" dirty="0">
                <a:solidFill>
                  <a:srgbClr val="1B2A3A"/>
                </a:solidFill>
                <a:latin typeface="Segoe UI" pitchFamily="34" charset="0"/>
                <a:ea typeface="Segoe UI" pitchFamily="34" charset="-122"/>
                <a:cs typeface="Segoe UI" pitchFamily="34" charset="-120"/>
              </a:rPr>
              <a:t>, saisies par la commission : le montant comparé en découle.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Ces dépenses servent à comparer les propositions ; elles ne changent pas le prix du marché.</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RG-EVA-32 · RG-EVA-35</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241</a:t>
            </a:r>
            <a:endParaRPr lang="en-US" sz="1100" dirty="0"/>
          </a:p>
        </p:txBody>
      </p:sp>
    </p:spTree>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name="Slide 24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PRESTATIONS INTELLECTUELLES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négociation à conclure</a:t>
            </a:r>
            <a:endParaRPr lang="en-US" sz="2600" dirty="0"/>
          </a:p>
        </p:txBody>
      </p:sp>
      <p:sp>
        <p:nvSpPr>
          <p:cNvPr id="4" name="Shape 2"/>
          <p:cNvSpPr/>
          <p:nvPr/>
        </p:nvSpPr>
        <p:spPr>
          <a:xfrm>
            <a:off x="2841550" y="1193800"/>
            <a:ext cx="6508596" cy="3327400"/>
          </a:xfrm>
          <a:prstGeom prst="rect">
            <a:avLst/>
          </a:prstGeom>
          <a:solidFill>
            <a:srgbClr val="FCFCFA"/>
          </a:solidFill>
          <a:ln w="9525">
            <a:solidFill>
              <a:srgbClr val="D5DCE4"/>
            </a:solidFill>
            <a:prstDash val="solid"/>
          </a:ln>
        </p:spPr>
        <p:txBody>
          <a:bodyPr/>
          <a:lstStyle/>
          <a:p>
            <a:endParaRPr lang="fr-FR"/>
          </a:p>
        </p:txBody>
      </p:sp>
      <p:pic>
        <p:nvPicPr>
          <p:cNvPr id="5" name="Image 0" descr="La négociation à conclure"/>
          <p:cNvPicPr>
            <a:picLocks noChangeAspect="1"/>
          </p:cNvPicPr>
          <p:nvPr/>
        </p:nvPicPr>
        <p:blipFill>
          <a:blip r:embed="rId3"/>
          <a:stretch>
            <a:fillRect/>
          </a:stretch>
        </p:blipFill>
        <p:spPr>
          <a:xfrm>
            <a:off x="2854249" y="1206500"/>
            <a:ext cx="6483197" cy="3302000"/>
          </a:xfrm>
          <a:prstGeom prst="rect">
            <a:avLst/>
          </a:prstGeom>
        </p:spPr>
      </p:pic>
      <p:sp>
        <p:nvSpPr>
          <p:cNvPr id="6" name="Shape 3"/>
          <p:cNvSpPr/>
          <p:nvPr/>
        </p:nvSpPr>
        <p:spPr>
          <a:xfrm>
            <a:off x="812780" y="4660900"/>
            <a:ext cx="10566136" cy="16256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12780" y="4660900"/>
            <a:ext cx="38099" cy="1625600"/>
          </a:xfrm>
          <a:prstGeom prst="rect">
            <a:avLst/>
          </a:prstGeom>
          <a:solidFill>
            <a:srgbClr val="1B6FA8"/>
          </a:solidFill>
          <a:ln/>
        </p:spPr>
        <p:txBody>
          <a:bodyPr/>
          <a:lstStyle/>
          <a:p>
            <a:endParaRPr lang="fr-FR"/>
          </a:p>
        </p:txBody>
      </p:sp>
      <p:sp>
        <p:nvSpPr>
          <p:cNvPr id="8" name="Text 5"/>
          <p:cNvSpPr/>
          <p:nvPr/>
        </p:nvSpPr>
        <p:spPr>
          <a:xfrm>
            <a:off x="977876" y="4762500"/>
            <a:ext cx="10274043" cy="14351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ou son UGPM.</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négociation se tient avec le premier classé, sur des points non substantiels (art. 42-IV).</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PRMP conclut : réussie, ou échouée et motivée ; le procès-verbal dit ce qui a été négocié et convenu.</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RG-EVA-33</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242</a:t>
            </a:r>
            <a:endParaRPr lang="en-US" sz="1100" dirty="0"/>
          </a:p>
        </p:txBody>
      </p:sp>
    </p:spTree>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name="Slide 24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PRESTATIONS INTELLECTUELLES · RESPONSABLE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négociation réussie, le rapport à produire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a négociation réussie, le rapport à produir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responsable de la procédure.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Prix lu et corrigé 2 400 000 000 Ar HT, dépenses remboursables 150 000 000 Ar : montant comparé 2 250 000 000 Ar, score combiné 89,6, rang 1.</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négociation est </a:t>
            </a:r>
            <a:r>
              <a:rPr lang="en-US" sz="1200" b="1" dirty="0">
                <a:solidFill>
                  <a:srgbClr val="1B2A3A"/>
                </a:solidFill>
                <a:latin typeface="Segoe UI" pitchFamily="34" charset="0"/>
                <a:ea typeface="Segoe UI" pitchFamily="34" charset="-122"/>
                <a:cs typeface="Segoe UI" pitchFamily="34" charset="-120"/>
              </a:rPr>
              <a:t>réussie</a:t>
            </a:r>
            <a:r>
              <a:rPr lang="en-US" sz="1200" dirty="0">
                <a:solidFill>
                  <a:srgbClr val="1B2A3A"/>
                </a:solidFill>
                <a:latin typeface="Segoe UI" pitchFamily="34" charset="0"/>
                <a:ea typeface="Segoe UI" pitchFamily="34" charset="-122"/>
                <a:cs typeface="Segoe UI" pitchFamily="34" charset="-120"/>
              </a:rPr>
              <a:t> ; son PV se lit en PDF et en Word, et la proposition d’attribution en découle.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Chaque lot étant prêt, le responsable produit le rapport, avec ses observations facultatives.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RG-EVA-33 · RG-EVA-34</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243</a:t>
            </a:r>
            <a:endParaRPr lang="en-US" sz="1100" dirty="0"/>
          </a:p>
        </p:txBody>
      </p:sp>
    </p:spTree>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name="Slide 24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ÉVALUER LES OFFRES · EN RÉSUMÉ</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Ce que l’application garantit</a:t>
            </a:r>
            <a:endParaRPr lang="en-US" sz="2600" dirty="0"/>
          </a:p>
        </p:txBody>
      </p:sp>
      <p:sp>
        <p:nvSpPr>
          <p:cNvPr id="4" name="Shape 2"/>
          <p:cNvSpPr/>
          <p:nvPr/>
        </p:nvSpPr>
        <p:spPr>
          <a:xfrm>
            <a:off x="812780" y="1206500"/>
            <a:ext cx="3420448" cy="2159000"/>
          </a:xfrm>
          <a:prstGeom prst="rect">
            <a:avLst/>
          </a:prstGeom>
          <a:solidFill>
            <a:srgbClr val="FCFCFA"/>
          </a:solidFill>
          <a:ln w="9525">
            <a:solidFill>
              <a:srgbClr val="D5DCE4"/>
            </a:solidFill>
            <a:prstDash val="solid"/>
          </a:ln>
        </p:spPr>
        <p:txBody>
          <a:bodyPr/>
          <a:lstStyle/>
          <a:p>
            <a:endParaRPr lang="fr-FR"/>
          </a:p>
        </p:txBody>
      </p:sp>
      <p:sp>
        <p:nvSpPr>
          <p:cNvPr id="5" name="Shape 3"/>
          <p:cNvSpPr/>
          <p:nvPr/>
        </p:nvSpPr>
        <p:spPr>
          <a:xfrm>
            <a:off x="812780" y="1206500"/>
            <a:ext cx="3420448" cy="38100"/>
          </a:xfrm>
          <a:prstGeom prst="rect">
            <a:avLst/>
          </a:prstGeom>
          <a:solidFill>
            <a:srgbClr val="1B6FA8"/>
          </a:solidFill>
          <a:ln/>
        </p:spPr>
        <p:txBody>
          <a:bodyPr/>
          <a:lstStyle/>
          <a:p>
            <a:endParaRPr lang="fr-FR"/>
          </a:p>
        </p:txBody>
      </p:sp>
      <p:sp>
        <p:nvSpPr>
          <p:cNvPr id="6" name="Text 4"/>
          <p:cNvSpPr/>
          <p:nvPr/>
        </p:nvSpPr>
        <p:spPr>
          <a:xfrm>
            <a:off x="952476" y="13081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Une décision motivée, signée, conservée</a:t>
            </a:r>
            <a:endParaRPr lang="en-US" sz="1500" dirty="0"/>
          </a:p>
        </p:txBody>
      </p:sp>
      <p:sp>
        <p:nvSpPr>
          <p:cNvPr id="7" name="Text 5"/>
          <p:cNvSpPr/>
          <p:nvPr/>
        </p:nvSpPr>
        <p:spPr>
          <a:xfrm>
            <a:off x="952476" y="17653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Chaque décision de la commission porte son auteur, son heure et son motif ; une décision corrigée laisse la précédente au registre, et le journal de l’évaluation garde tout.</a:t>
            </a:r>
            <a:endParaRPr lang="en-US" sz="1200" dirty="0"/>
          </a:p>
        </p:txBody>
      </p:sp>
      <p:sp>
        <p:nvSpPr>
          <p:cNvPr id="8" name="Shape 6"/>
          <p:cNvSpPr/>
          <p:nvPr/>
        </p:nvSpPr>
        <p:spPr>
          <a:xfrm>
            <a:off x="4385624" y="1206500"/>
            <a:ext cx="3420448" cy="2159000"/>
          </a:xfrm>
          <a:prstGeom prst="rect">
            <a:avLst/>
          </a:prstGeom>
          <a:solidFill>
            <a:srgbClr val="FCFCFA"/>
          </a:solidFill>
          <a:ln w="9525">
            <a:solidFill>
              <a:srgbClr val="D5DCE4"/>
            </a:solidFill>
            <a:prstDash val="solid"/>
          </a:ln>
        </p:spPr>
        <p:txBody>
          <a:bodyPr/>
          <a:lstStyle/>
          <a:p>
            <a:endParaRPr lang="fr-FR"/>
          </a:p>
        </p:txBody>
      </p:sp>
      <p:sp>
        <p:nvSpPr>
          <p:cNvPr id="9" name="Shape 7"/>
          <p:cNvSpPr/>
          <p:nvPr/>
        </p:nvSpPr>
        <p:spPr>
          <a:xfrm>
            <a:off x="4385624" y="1206500"/>
            <a:ext cx="3420448" cy="38100"/>
          </a:xfrm>
          <a:prstGeom prst="rect">
            <a:avLst/>
          </a:prstGeom>
          <a:solidFill>
            <a:srgbClr val="2E8B57"/>
          </a:solidFill>
          <a:ln/>
        </p:spPr>
        <p:txBody>
          <a:bodyPr/>
          <a:lstStyle/>
          <a:p>
            <a:endParaRPr lang="fr-FR"/>
          </a:p>
        </p:txBody>
      </p:sp>
      <p:sp>
        <p:nvSpPr>
          <p:cNvPr id="10" name="Text 8"/>
          <p:cNvSpPr/>
          <p:nvPr/>
        </p:nvSpPr>
        <p:spPr>
          <a:xfrm>
            <a:off x="4525320" y="13081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Pas de conflit d’intérêts caché</a:t>
            </a:r>
            <a:endParaRPr lang="en-US" sz="1500" dirty="0"/>
          </a:p>
        </p:txBody>
      </p:sp>
      <p:sp>
        <p:nvSpPr>
          <p:cNvPr id="11" name="Text 9"/>
          <p:cNvSpPr/>
          <p:nvPr/>
        </p:nvSpPr>
        <p:spPr>
          <a:xfrm>
            <a:off x="4525320" y="17653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Aucun membre ne décide avant d’avoir déclaré n’avoir aucun conflit et accepté la confidentialité ; celui qui déclare un conflit ne décide rien.</a:t>
            </a:r>
            <a:endParaRPr lang="en-US" sz="1200" dirty="0"/>
          </a:p>
        </p:txBody>
      </p:sp>
      <p:sp>
        <p:nvSpPr>
          <p:cNvPr id="12" name="Shape 10"/>
          <p:cNvSpPr/>
          <p:nvPr/>
        </p:nvSpPr>
        <p:spPr>
          <a:xfrm>
            <a:off x="7958468" y="1206500"/>
            <a:ext cx="3420448" cy="2159000"/>
          </a:xfrm>
          <a:prstGeom prst="rect">
            <a:avLst/>
          </a:prstGeom>
          <a:solidFill>
            <a:srgbClr val="FCFCFA"/>
          </a:solidFill>
          <a:ln w="9525">
            <a:solidFill>
              <a:srgbClr val="D5DCE4"/>
            </a:solidFill>
            <a:prstDash val="solid"/>
          </a:ln>
        </p:spPr>
        <p:txBody>
          <a:bodyPr/>
          <a:lstStyle/>
          <a:p>
            <a:endParaRPr lang="fr-FR"/>
          </a:p>
        </p:txBody>
      </p:sp>
      <p:sp>
        <p:nvSpPr>
          <p:cNvPr id="13" name="Shape 11"/>
          <p:cNvSpPr/>
          <p:nvPr/>
        </p:nvSpPr>
        <p:spPr>
          <a:xfrm>
            <a:off x="7958468" y="1206500"/>
            <a:ext cx="3420448" cy="38100"/>
          </a:xfrm>
          <a:prstGeom prst="rect">
            <a:avLst/>
          </a:prstGeom>
          <a:solidFill>
            <a:srgbClr val="E3AE2E"/>
          </a:solidFill>
          <a:ln/>
        </p:spPr>
        <p:txBody>
          <a:bodyPr/>
          <a:lstStyle/>
          <a:p>
            <a:endParaRPr lang="fr-FR"/>
          </a:p>
        </p:txBody>
      </p:sp>
      <p:sp>
        <p:nvSpPr>
          <p:cNvPr id="14" name="Text 12"/>
          <p:cNvSpPr/>
          <p:nvPr/>
        </p:nvSpPr>
        <p:spPr>
          <a:xfrm>
            <a:off x="8098164" y="13081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Un montant calculé, jamais saisi</a:t>
            </a:r>
            <a:endParaRPr lang="en-US" sz="1500" dirty="0"/>
          </a:p>
        </p:txBody>
      </p:sp>
      <p:sp>
        <p:nvSpPr>
          <p:cNvPr id="15" name="Text 13"/>
          <p:cNvSpPr/>
          <p:nvPr/>
        </p:nvSpPr>
        <p:spPr>
          <a:xfrm>
            <a:off x="8098164" y="17653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Le montant évalué résulte du calcul de l’application, hors taxes ; une correction hors de ce calcul exige un motif et est signalée au contrôle de la Commission (art. 46-47).</a:t>
            </a:r>
            <a:endParaRPr lang="en-US" sz="1200" dirty="0"/>
          </a:p>
        </p:txBody>
      </p:sp>
      <p:sp>
        <p:nvSpPr>
          <p:cNvPr id="16" name="Shape 14"/>
          <p:cNvSpPr/>
          <p:nvPr/>
        </p:nvSpPr>
        <p:spPr>
          <a:xfrm>
            <a:off x="812780" y="3517900"/>
            <a:ext cx="3420448" cy="2159000"/>
          </a:xfrm>
          <a:prstGeom prst="rect">
            <a:avLst/>
          </a:prstGeom>
          <a:solidFill>
            <a:srgbClr val="FCFCFA"/>
          </a:solidFill>
          <a:ln w="9525">
            <a:solidFill>
              <a:srgbClr val="D5DCE4"/>
            </a:solidFill>
            <a:prstDash val="solid"/>
          </a:ln>
        </p:spPr>
        <p:txBody>
          <a:bodyPr/>
          <a:lstStyle/>
          <a:p>
            <a:endParaRPr lang="fr-FR"/>
          </a:p>
        </p:txBody>
      </p:sp>
      <p:sp>
        <p:nvSpPr>
          <p:cNvPr id="17" name="Shape 15"/>
          <p:cNvSpPr/>
          <p:nvPr/>
        </p:nvSpPr>
        <p:spPr>
          <a:xfrm>
            <a:off x="812780" y="3517900"/>
            <a:ext cx="3420448" cy="38100"/>
          </a:xfrm>
          <a:prstGeom prst="rect">
            <a:avLst/>
          </a:prstGeom>
          <a:solidFill>
            <a:srgbClr val="12324A"/>
          </a:solidFill>
          <a:ln/>
        </p:spPr>
        <p:txBody>
          <a:bodyPr/>
          <a:lstStyle/>
          <a:p>
            <a:endParaRPr lang="fr-FR"/>
          </a:p>
        </p:txBody>
      </p:sp>
      <p:sp>
        <p:nvSpPr>
          <p:cNvPr id="18" name="Text 16"/>
          <p:cNvSpPr/>
          <p:nvPr/>
        </p:nvSpPr>
        <p:spPr>
          <a:xfrm>
            <a:off x="952476" y="36195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Pas de rejet sans justification demandée</a:t>
            </a:r>
            <a:endParaRPr lang="en-US" sz="1500" dirty="0"/>
          </a:p>
        </p:txBody>
      </p:sp>
      <p:sp>
        <p:nvSpPr>
          <p:cNvPr id="19" name="Text 17"/>
          <p:cNvSpPr/>
          <p:nvPr/>
        </p:nvSpPr>
        <p:spPr>
          <a:xfrm>
            <a:off x="952476" y="40767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Une offre anormale n’est rejetée qu’après une demande écrite de la PRMP, et la réponse du candidat ou l’échéance ; le silence est écrit comme un refus de justifier (art. 48).</a:t>
            </a:r>
            <a:endParaRPr lang="en-US" sz="1200" dirty="0"/>
          </a:p>
        </p:txBody>
      </p:sp>
      <p:sp>
        <p:nvSpPr>
          <p:cNvPr id="20" name="Shape 18"/>
          <p:cNvSpPr/>
          <p:nvPr/>
        </p:nvSpPr>
        <p:spPr>
          <a:xfrm>
            <a:off x="4385624" y="3517900"/>
            <a:ext cx="3420448" cy="2159000"/>
          </a:xfrm>
          <a:prstGeom prst="rect">
            <a:avLst/>
          </a:prstGeom>
          <a:solidFill>
            <a:srgbClr val="FCFCFA"/>
          </a:solidFill>
          <a:ln w="9525">
            <a:solidFill>
              <a:srgbClr val="D5DCE4"/>
            </a:solidFill>
            <a:prstDash val="solid"/>
          </a:ln>
        </p:spPr>
        <p:txBody>
          <a:bodyPr/>
          <a:lstStyle/>
          <a:p>
            <a:endParaRPr lang="fr-FR"/>
          </a:p>
        </p:txBody>
      </p:sp>
      <p:sp>
        <p:nvSpPr>
          <p:cNvPr id="21" name="Shape 19"/>
          <p:cNvSpPr/>
          <p:nvPr/>
        </p:nvSpPr>
        <p:spPr>
          <a:xfrm>
            <a:off x="4385624" y="3517900"/>
            <a:ext cx="3420448" cy="38100"/>
          </a:xfrm>
          <a:prstGeom prst="rect">
            <a:avLst/>
          </a:prstGeom>
          <a:solidFill>
            <a:srgbClr val="1B6FA8"/>
          </a:solidFill>
          <a:ln/>
        </p:spPr>
        <p:txBody>
          <a:bodyPr/>
          <a:lstStyle/>
          <a:p>
            <a:endParaRPr lang="fr-FR"/>
          </a:p>
        </p:txBody>
      </p:sp>
      <p:sp>
        <p:nvSpPr>
          <p:cNvPr id="22" name="Text 20"/>
          <p:cNvSpPr/>
          <p:nvPr/>
        </p:nvSpPr>
        <p:spPr>
          <a:xfrm>
            <a:off x="4525320" y="3619500"/>
            <a:ext cx="3141055"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Un rapport au quorum</a:t>
            </a:r>
            <a:endParaRPr lang="en-US" sz="1500" dirty="0"/>
          </a:p>
        </p:txBody>
      </p:sp>
      <p:sp>
        <p:nvSpPr>
          <p:cNvPr id="23" name="Text 21"/>
          <p:cNvSpPr/>
          <p:nvPr/>
        </p:nvSpPr>
        <p:spPr>
          <a:xfrm>
            <a:off x="4525320" y="3905250"/>
            <a:ext cx="3141055"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Le rapport ne se produit et ne se clôt qu’au quorum fixé, président toujours requis ; le quorum constaté est imprimé au rapport, qui vaut PV de validation.</a:t>
            </a:r>
            <a:endParaRPr lang="en-US" sz="1200" dirty="0"/>
          </a:p>
        </p:txBody>
      </p:sp>
      <p:sp>
        <p:nvSpPr>
          <p:cNvPr id="24" name="Shape 22"/>
          <p:cNvSpPr/>
          <p:nvPr/>
        </p:nvSpPr>
        <p:spPr>
          <a:xfrm>
            <a:off x="7958468" y="3517900"/>
            <a:ext cx="3420448" cy="2159000"/>
          </a:xfrm>
          <a:prstGeom prst="rect">
            <a:avLst/>
          </a:prstGeom>
          <a:solidFill>
            <a:srgbClr val="FCFCFA"/>
          </a:solidFill>
          <a:ln w="9525">
            <a:solidFill>
              <a:srgbClr val="D5DCE4"/>
            </a:solidFill>
            <a:prstDash val="solid"/>
          </a:ln>
        </p:spPr>
        <p:txBody>
          <a:bodyPr/>
          <a:lstStyle/>
          <a:p>
            <a:endParaRPr lang="fr-FR"/>
          </a:p>
        </p:txBody>
      </p:sp>
      <p:sp>
        <p:nvSpPr>
          <p:cNvPr id="25" name="Shape 23"/>
          <p:cNvSpPr/>
          <p:nvPr/>
        </p:nvSpPr>
        <p:spPr>
          <a:xfrm>
            <a:off x="7958468" y="3517900"/>
            <a:ext cx="3420448" cy="38100"/>
          </a:xfrm>
          <a:prstGeom prst="rect">
            <a:avLst/>
          </a:prstGeom>
          <a:solidFill>
            <a:srgbClr val="2E8B57"/>
          </a:solidFill>
          <a:ln/>
        </p:spPr>
        <p:txBody>
          <a:bodyPr/>
          <a:lstStyle/>
          <a:p>
            <a:endParaRPr lang="fr-FR"/>
          </a:p>
        </p:txBody>
      </p:sp>
      <p:sp>
        <p:nvSpPr>
          <p:cNvPr id="26" name="Text 24"/>
          <p:cNvSpPr/>
          <p:nvPr/>
        </p:nvSpPr>
        <p:spPr>
          <a:xfrm>
            <a:off x="8098164" y="36195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Une évaluation figée sous contrôle</a:t>
            </a:r>
            <a:endParaRPr lang="en-US" sz="1500" dirty="0"/>
          </a:p>
        </p:txBody>
      </p:sp>
      <p:sp>
        <p:nvSpPr>
          <p:cNvPr id="27" name="Text 25"/>
          <p:cNvSpPr/>
          <p:nvPr/>
        </p:nvSpPr>
        <p:spPr>
          <a:xfrm>
            <a:off x="8098164" y="40767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Dès que le dossier de marché est soumis, la séance, l’évaluation et l’AMI ne se modifient plus ; seule une reprise ou une réattribution motivée et tracée les rouvre.</a:t>
            </a:r>
            <a:endParaRPr lang="en-US" sz="1200" dirty="0"/>
          </a:p>
        </p:txBody>
      </p:sp>
      <p:sp>
        <p:nvSpPr>
          <p:cNvPr id="28" name="Text 2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244</a:t>
            </a:r>
            <a:endParaRPr lang="en-US" sz="1100" dirty="0"/>
          </a:p>
        </p:txBody>
      </p:sp>
    </p:spTree>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name="Slide 245">
    <p:bg>
      <p:bgPr>
        <a:solidFill>
          <a:srgbClr val="12324A"/>
        </a:solidFill>
        <a:effectLst/>
      </p:bgPr>
    </p:bg>
    <p:spTree>
      <p:nvGrpSpPr>
        <p:cNvPr id="1" name=""/>
        <p:cNvGrpSpPr/>
        <p:nvPr/>
      </p:nvGrpSpPr>
      <p:grpSpPr>
        <a:xfrm>
          <a:off x="0" y="0"/>
          <a:ext cx="0" cy="0"/>
          <a:chOff x="0" y="0"/>
          <a:chExt cx="0" cy="0"/>
        </a:xfrm>
      </p:grpSpPr>
      <p:sp>
        <p:nvSpPr>
          <p:cNvPr id="2" name="Shape 0"/>
          <p:cNvSpPr/>
          <p:nvPr/>
        </p:nvSpPr>
        <p:spPr>
          <a:xfrm>
            <a:off x="0" y="0"/>
            <a:ext cx="152396" cy="6858000"/>
          </a:xfrm>
          <a:prstGeom prst="rect">
            <a:avLst/>
          </a:prstGeom>
          <a:solidFill>
            <a:srgbClr val="E3AE2E"/>
          </a:solidFill>
          <a:ln w="12700">
            <a:solidFill>
              <a:srgbClr val="E3AE2E"/>
            </a:solidFill>
            <a:prstDash val="solid"/>
          </a:ln>
        </p:spPr>
        <p:txBody>
          <a:bodyPr/>
          <a:lstStyle/>
          <a:p>
            <a:endParaRPr lang="fr-FR"/>
          </a:p>
        </p:txBody>
      </p:sp>
      <p:sp>
        <p:nvSpPr>
          <p:cNvPr id="3" name="Text 1"/>
          <p:cNvSpPr/>
          <p:nvPr/>
        </p:nvSpPr>
        <p:spPr>
          <a:xfrm>
            <a:off x="812780" y="698500"/>
            <a:ext cx="3809905" cy="952500"/>
          </a:xfrm>
          <a:prstGeom prst="rect">
            <a:avLst/>
          </a:prstGeom>
          <a:noFill/>
          <a:ln/>
        </p:spPr>
        <p:txBody>
          <a:bodyPr wrap="square" rtlCol="0" anchor="ctr"/>
          <a:lstStyle/>
          <a:p>
            <a:pPr marL="0" indent="0">
              <a:buNone/>
            </a:pPr>
            <a:r>
              <a:rPr lang="en-US" sz="7200" b="1" dirty="0">
                <a:solidFill>
                  <a:srgbClr val="E3AE2E"/>
                </a:solidFill>
                <a:latin typeface="Segoe UI" pitchFamily="34" charset="0"/>
                <a:ea typeface="Segoe UI" pitchFamily="34" charset="-122"/>
                <a:cs typeface="Segoe UI" pitchFamily="34" charset="-120"/>
              </a:rPr>
              <a:t>09</a:t>
            </a:r>
            <a:endParaRPr lang="en-US" sz="7200" dirty="0"/>
          </a:p>
        </p:txBody>
      </p:sp>
      <p:sp>
        <p:nvSpPr>
          <p:cNvPr id="4" name="Text 2"/>
          <p:cNvSpPr/>
          <p:nvPr/>
        </p:nvSpPr>
        <p:spPr>
          <a:xfrm>
            <a:off x="812780" y="1714500"/>
            <a:ext cx="10477238" cy="635000"/>
          </a:xfrm>
          <a:prstGeom prst="rect">
            <a:avLst/>
          </a:prstGeom>
          <a:noFill/>
          <a:ln/>
        </p:spPr>
        <p:txBody>
          <a:bodyPr wrap="square" rtlCol="0" anchor="ctr">
            <a:normAutofit/>
          </a:bodyPr>
          <a:lstStyle/>
          <a:p>
            <a:pPr marL="0" indent="0">
              <a:buNone/>
            </a:pPr>
            <a:r>
              <a:rPr lang="en-US" sz="4000" b="1" dirty="0">
                <a:solidFill>
                  <a:srgbClr val="FCFCFA"/>
                </a:solidFill>
                <a:latin typeface="Segoe UI" pitchFamily="34" charset="0"/>
                <a:ea typeface="Segoe UI" pitchFamily="34" charset="-122"/>
                <a:cs typeface="Segoe UI" pitchFamily="34" charset="-120"/>
              </a:rPr>
              <a:t>Attribuer et notifier</a:t>
            </a:r>
            <a:endParaRPr lang="en-US" sz="4000" dirty="0"/>
          </a:p>
        </p:txBody>
      </p:sp>
      <p:sp>
        <p:nvSpPr>
          <p:cNvPr id="5" name="Text 3"/>
          <p:cNvSpPr/>
          <p:nvPr/>
        </p:nvSpPr>
        <p:spPr>
          <a:xfrm>
            <a:off x="812780" y="2413000"/>
            <a:ext cx="10159746" cy="698500"/>
          </a:xfrm>
          <a:prstGeom prst="rect">
            <a:avLst/>
          </a:prstGeom>
          <a:noFill/>
          <a:ln/>
        </p:spPr>
        <p:txBody>
          <a:bodyPr wrap="square" rtlCol="0" anchor="t">
            <a:normAutofit/>
          </a:bodyPr>
          <a:lstStyle/>
          <a:p>
            <a:pPr marL="0" indent="0">
              <a:buNone/>
            </a:pPr>
            <a:r>
              <a:rPr lang="en-US" sz="1700" dirty="0">
                <a:solidFill>
                  <a:srgbClr val="C9D6E2"/>
                </a:solidFill>
                <a:latin typeface="Segoe UI" pitchFamily="34" charset="0"/>
                <a:ea typeface="Segoe UI" pitchFamily="34" charset="-122"/>
                <a:cs typeface="Segoe UI" pitchFamily="34" charset="-120"/>
              </a:rPr>
              <a:t>Du rapport d’évaluation au marché notifié : le dossier de marché passe au contrôle de la Commission, puis la PRMP attribue, informe, attend, vérifie, signe, fait approuver et enregistrer, notifie et publie — chaque geste n’étant ouvert qu’une fois le précédent accompli et les délais de la loi tenus.</a:t>
            </a:r>
            <a:endParaRPr lang="en-US" sz="1700" dirty="0"/>
          </a:p>
        </p:txBody>
      </p:sp>
      <p:sp>
        <p:nvSpPr>
          <p:cNvPr id="6" name="Text 4"/>
          <p:cNvSpPr/>
          <p:nvPr/>
        </p:nvSpPr>
        <p:spPr>
          <a:xfrm>
            <a:off x="812780" y="3429000"/>
            <a:ext cx="5079873" cy="228600"/>
          </a:xfrm>
          <a:prstGeom prst="rect">
            <a:avLst/>
          </a:prstGeom>
          <a:noFill/>
          <a:ln/>
        </p:spPr>
        <p:txBody>
          <a:bodyPr wrap="square" rtlCol="0" anchor="ctr"/>
          <a:lstStyle/>
          <a:p>
            <a:pPr marL="0" indent="0">
              <a:buNone/>
            </a:pPr>
            <a:r>
              <a:rPr lang="en-US" sz="1200" b="1" kern="0" spc="200" dirty="0">
                <a:solidFill>
                  <a:srgbClr val="E3AE2E"/>
                </a:solidFill>
                <a:latin typeface="Segoe UI" pitchFamily="34" charset="0"/>
                <a:ea typeface="Segoe UI" pitchFamily="34" charset="-122"/>
                <a:cs typeface="Segoe UI" pitchFamily="34" charset="-120"/>
              </a:rPr>
              <a:t>CE QUE CELA CHANGE</a:t>
            </a:r>
            <a:endParaRPr lang="en-US" sz="1200" dirty="0"/>
          </a:p>
        </p:txBody>
      </p:sp>
      <p:sp>
        <p:nvSpPr>
          <p:cNvPr id="7" name="Text 5"/>
          <p:cNvSpPr/>
          <p:nvPr/>
        </p:nvSpPr>
        <p:spPr>
          <a:xfrm>
            <a:off x="812780" y="3714750"/>
            <a:ext cx="10286743" cy="2413000"/>
          </a:xfrm>
          <a:prstGeom prst="rect">
            <a:avLst/>
          </a:prstGeom>
          <a:noFill/>
          <a:ln/>
        </p:spPr>
        <p:txBody>
          <a:bodyPr wrap="square" rtlCol="0" anchor="t">
            <a:normAutofit/>
          </a:bodyPr>
          <a:lstStyle/>
          <a:p>
            <a:pPr marL="203200" indent="-203200">
              <a:spcAft>
                <a:spcPts val="800"/>
              </a:spcAft>
              <a:buSzPct val="100000"/>
              <a:buChar char="•"/>
            </a:pPr>
            <a:r>
              <a:rPr lang="en-US" sz="1500" dirty="0">
                <a:solidFill>
                  <a:srgbClr val="FCFCFA"/>
                </a:solidFill>
                <a:latin typeface="Segoe UI" pitchFamily="34" charset="0"/>
                <a:ea typeface="Segoe UI" pitchFamily="34" charset="-122"/>
                <a:cs typeface="Segoe UI" pitchFamily="34" charset="-120"/>
              </a:rPr>
              <a:t>Aucun marché issu d’une procédure en ligne n’échappe au contrôle a priori : chaque lot attribuable devient un dossier de marché, dont l’application produit elle-même le projet.</a:t>
            </a:r>
            <a:endParaRPr lang="en-US" sz="1500" dirty="0"/>
          </a:p>
          <a:p>
            <a:pPr marL="203200" indent="-203200">
              <a:spcAft>
                <a:spcPts val="800"/>
              </a:spcAft>
              <a:buSzPct val="100000"/>
              <a:buChar char="•"/>
            </a:pPr>
            <a:r>
              <a:rPr lang="en-US" sz="1500" dirty="0">
                <a:solidFill>
                  <a:srgbClr val="FCFCFA"/>
                </a:solidFill>
                <a:latin typeface="Segoe UI" pitchFamily="34" charset="0"/>
                <a:ea typeface="Segoe UI" pitchFamily="34" charset="-122"/>
                <a:cs typeface="Segoe UI" pitchFamily="34" charset="-120"/>
              </a:rPr>
              <a:t>Les délais légaux ne dépendent plus de la vigilance de chacun : délai d’attente, recours suspensifs, pièces de l’attributaire, original de l’acte d’engagement, approbation et enregistrement ferment la signature ou la notification tant qu’ils ne sont pas satisfaits.</a:t>
            </a:r>
            <a:endParaRPr lang="en-US" sz="1500" dirty="0"/>
          </a:p>
          <a:p>
            <a:pPr marL="203200" indent="-203200">
              <a:spcAft>
                <a:spcPts val="800"/>
              </a:spcAft>
              <a:buSzPct val="100000"/>
              <a:buChar char="•"/>
            </a:pPr>
            <a:r>
              <a:rPr lang="en-US" sz="1500" dirty="0">
                <a:solidFill>
                  <a:srgbClr val="FCFCFA"/>
                </a:solidFill>
                <a:latin typeface="Segoe UI" pitchFamily="34" charset="0"/>
                <a:ea typeface="Segoe UI" pitchFamily="34" charset="-122"/>
                <a:cs typeface="Segoe UI" pitchFamily="34" charset="-120"/>
              </a:rPr>
              <a:t>Les candidats sont informés en ligne et par courriel, avec les motifs tirés du rapport ; le résultat, puis l’avis d’attribution, paraissent sur la page publique de la procédure.</a:t>
            </a:r>
            <a:endParaRPr lang="en-US" sz="1500" dirty="0"/>
          </a:p>
        </p:txBody>
      </p:sp>
      <p:sp>
        <p:nvSpPr>
          <p:cNvPr id="8"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8FA6BB"/>
                </a:solidFill>
                <a:latin typeface="Segoe UI" pitchFamily="34" charset="0"/>
                <a:ea typeface="Segoe UI" pitchFamily="34" charset="-122"/>
                <a:cs typeface="Segoe UI" pitchFamily="34" charset="-120"/>
              </a:rPr>
              <a:t>PRS 2.0 · L’application de bout en bout · dossier de recette · 245</a:t>
            </a:r>
            <a:endParaRPr lang="en-US" sz="1100" dirty="0"/>
          </a:p>
        </p:txBody>
      </p:sp>
    </p:spTree>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name="Slide 24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ATTRIBUER ET NOTIFIER · LE PARCOURS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Du rapport signé au marché notifié</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Chaque lot suit son propre chemin. Quand l’issue n’est pas l’attribution, la PRMP déclare le lot infructueux, reprend l’évaluation après un avis défavorable, réattribue après un retrait, ou demande à déclarer la procédure sans suite.</a:t>
            </a:r>
            <a:endParaRPr lang="en-US" sz="1300" dirty="0"/>
          </a:p>
        </p:txBody>
      </p:sp>
      <p:sp>
        <p:nvSpPr>
          <p:cNvPr id="5" name="Shape 3"/>
          <p:cNvSpPr/>
          <p:nvPr/>
        </p:nvSpPr>
        <p:spPr>
          <a:xfrm>
            <a:off x="812780" y="1778000"/>
            <a:ext cx="1644609" cy="24384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6" name="Text 4"/>
          <p:cNvSpPr/>
          <p:nvPr/>
        </p:nvSpPr>
        <p:spPr>
          <a:xfrm>
            <a:off x="901677"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LA PRMP OU SON UGPM</a:t>
            </a:r>
            <a:endParaRPr lang="en-US" sz="1000" dirty="0"/>
          </a:p>
        </p:txBody>
      </p:sp>
      <p:sp>
        <p:nvSpPr>
          <p:cNvPr id="7" name="Text 5"/>
          <p:cNvSpPr/>
          <p:nvPr/>
        </p:nvSpPr>
        <p:spPr>
          <a:xfrm>
            <a:off x="901677"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Le dossier de marché</a:t>
            </a:r>
            <a:endParaRPr lang="en-US" sz="1400" dirty="0"/>
          </a:p>
        </p:txBody>
      </p:sp>
      <p:sp>
        <p:nvSpPr>
          <p:cNvPr id="8" name="Text 6"/>
          <p:cNvSpPr/>
          <p:nvPr/>
        </p:nvSpPr>
        <p:spPr>
          <a:xfrm>
            <a:off x="901677"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Un dossier par lot attribuable, avec le projet de marché et les pièces jointes d’office, part au contrôle de la Commission.</a:t>
            </a:r>
            <a:endParaRPr lang="en-US" sz="1150" dirty="0"/>
          </a:p>
        </p:txBody>
      </p:sp>
      <p:sp>
        <p:nvSpPr>
          <p:cNvPr id="9" name="Text 7"/>
          <p:cNvSpPr/>
          <p:nvPr/>
        </p:nvSpPr>
        <p:spPr>
          <a:xfrm>
            <a:off x="2444689"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10" name="Shape 8"/>
          <p:cNvSpPr/>
          <p:nvPr/>
        </p:nvSpPr>
        <p:spPr>
          <a:xfrm>
            <a:off x="2597085" y="1778000"/>
            <a:ext cx="1644609" cy="24384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11" name="Text 9"/>
          <p:cNvSpPr/>
          <p:nvPr/>
        </p:nvSpPr>
        <p:spPr>
          <a:xfrm>
            <a:off x="2685983"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LA PRMP</a:t>
            </a:r>
            <a:endParaRPr lang="en-US" sz="1000" dirty="0"/>
          </a:p>
        </p:txBody>
      </p:sp>
      <p:sp>
        <p:nvSpPr>
          <p:cNvPr id="12" name="Text 10"/>
          <p:cNvSpPr/>
          <p:nvPr/>
        </p:nvSpPr>
        <p:spPr>
          <a:xfrm>
            <a:off x="2685983"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Attribuer</a:t>
            </a:r>
            <a:endParaRPr lang="en-US" sz="1400" dirty="0"/>
          </a:p>
        </p:txBody>
      </p:sp>
      <p:sp>
        <p:nvSpPr>
          <p:cNvPr id="13" name="Text 11"/>
          <p:cNvSpPr/>
          <p:nvPr/>
        </p:nvSpPr>
        <p:spPr>
          <a:xfrm>
            <a:off x="2685983"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Après l’avis favorable de la Commission, le lot va à l’offre proposée par la commission d’appel d’offres, et à elle seule.</a:t>
            </a:r>
            <a:endParaRPr lang="en-US" sz="1150" dirty="0"/>
          </a:p>
        </p:txBody>
      </p:sp>
      <p:sp>
        <p:nvSpPr>
          <p:cNvPr id="14" name="Text 12"/>
          <p:cNvSpPr/>
          <p:nvPr/>
        </p:nvSpPr>
        <p:spPr>
          <a:xfrm>
            <a:off x="4228994"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15" name="Shape 13"/>
          <p:cNvSpPr/>
          <p:nvPr/>
        </p:nvSpPr>
        <p:spPr>
          <a:xfrm>
            <a:off x="4381390" y="1778000"/>
            <a:ext cx="1644609" cy="24384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16" name="Text 14"/>
          <p:cNvSpPr/>
          <p:nvPr/>
        </p:nvSpPr>
        <p:spPr>
          <a:xfrm>
            <a:off x="4470288"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LA PRMP</a:t>
            </a:r>
            <a:endParaRPr lang="en-US" sz="1000" dirty="0"/>
          </a:p>
        </p:txBody>
      </p:sp>
      <p:sp>
        <p:nvSpPr>
          <p:cNvPr id="17" name="Text 15"/>
          <p:cNvSpPr/>
          <p:nvPr/>
        </p:nvSpPr>
        <p:spPr>
          <a:xfrm>
            <a:off x="4470288"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Informer et attendre</a:t>
            </a:r>
            <a:endParaRPr lang="en-US" sz="1400" dirty="0"/>
          </a:p>
        </p:txBody>
      </p:sp>
      <p:sp>
        <p:nvSpPr>
          <p:cNvPr id="18" name="Text 16"/>
          <p:cNvSpPr/>
          <p:nvPr/>
        </p:nvSpPr>
        <p:spPr>
          <a:xfrm>
            <a:off x="4470288"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Lettres signées électroniquement à chaque candidat évalué, affichage au siège, puis dix jours francs d’attente.</a:t>
            </a:r>
            <a:endParaRPr lang="en-US" sz="1150" dirty="0"/>
          </a:p>
        </p:txBody>
      </p:sp>
      <p:sp>
        <p:nvSpPr>
          <p:cNvPr id="19" name="Text 17"/>
          <p:cNvSpPr/>
          <p:nvPr/>
        </p:nvSpPr>
        <p:spPr>
          <a:xfrm>
            <a:off x="6013300"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20" name="Shape 18"/>
          <p:cNvSpPr/>
          <p:nvPr/>
        </p:nvSpPr>
        <p:spPr>
          <a:xfrm>
            <a:off x="6165696" y="1778000"/>
            <a:ext cx="1644609" cy="24384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21" name="Text 19"/>
          <p:cNvSpPr/>
          <p:nvPr/>
        </p:nvSpPr>
        <p:spPr>
          <a:xfrm>
            <a:off x="6254594"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L’ATTRIBUTAIRE ET LA PRMP</a:t>
            </a:r>
            <a:endParaRPr lang="en-US" sz="1000" dirty="0"/>
          </a:p>
        </p:txBody>
      </p:sp>
      <p:sp>
        <p:nvSpPr>
          <p:cNvPr id="22" name="Text 20"/>
          <p:cNvSpPr/>
          <p:nvPr/>
        </p:nvSpPr>
        <p:spPr>
          <a:xfrm>
            <a:off x="6254594"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Pièces, original et recours</a:t>
            </a:r>
            <a:endParaRPr lang="en-US" sz="1400" dirty="0"/>
          </a:p>
        </p:txBody>
      </p:sp>
      <p:sp>
        <p:nvSpPr>
          <p:cNvPr id="23" name="Text 21"/>
          <p:cNvSpPr/>
          <p:nvPr/>
        </p:nvSpPr>
        <p:spPr>
          <a:xfrm>
            <a:off x="6254594"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Attestations fiscale et sociale, original signé de l’acte d’engagement, recours déclarés et tranchés.</a:t>
            </a:r>
            <a:endParaRPr lang="en-US" sz="1150" dirty="0"/>
          </a:p>
        </p:txBody>
      </p:sp>
      <p:sp>
        <p:nvSpPr>
          <p:cNvPr id="24" name="Text 22"/>
          <p:cNvSpPr/>
          <p:nvPr/>
        </p:nvSpPr>
        <p:spPr>
          <a:xfrm>
            <a:off x="7797605"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25" name="Shape 23"/>
          <p:cNvSpPr/>
          <p:nvPr/>
        </p:nvSpPr>
        <p:spPr>
          <a:xfrm>
            <a:off x="7950001" y="1778000"/>
            <a:ext cx="1644609" cy="24384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26" name="Text 24"/>
          <p:cNvSpPr/>
          <p:nvPr/>
        </p:nvSpPr>
        <p:spPr>
          <a:xfrm>
            <a:off x="8038899"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LA PRMP</a:t>
            </a:r>
            <a:endParaRPr lang="en-US" sz="1000" dirty="0"/>
          </a:p>
        </p:txBody>
      </p:sp>
      <p:sp>
        <p:nvSpPr>
          <p:cNvPr id="27" name="Text 25"/>
          <p:cNvSpPr/>
          <p:nvPr/>
        </p:nvSpPr>
        <p:spPr>
          <a:xfrm>
            <a:off x="8038899"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Signer, approuver, enregistrer</a:t>
            </a:r>
            <a:endParaRPr lang="en-US" sz="1400" dirty="0"/>
          </a:p>
        </p:txBody>
      </p:sp>
      <p:sp>
        <p:nvSpPr>
          <p:cNvPr id="28" name="Text 26"/>
          <p:cNvSpPr/>
          <p:nvPr/>
        </p:nvSpPr>
        <p:spPr>
          <a:xfrm>
            <a:off x="8026198" y="2737449"/>
            <a:ext cx="1466813" cy="1016000"/>
          </a:xfrm>
          <a:prstGeom prst="rect">
            <a:avLst/>
          </a:prstGeom>
          <a:noFill/>
          <a:ln/>
        </p:spPr>
        <p:txBody>
          <a:bodyPr wrap="square" rtlCol="0" anchor="t">
            <a:normAutofit fontScale="92500"/>
          </a:bodyPr>
          <a:lstStyle/>
          <a:p>
            <a:pPr marL="0" indent="0">
              <a:buNone/>
            </a:pPr>
            <a:r>
              <a:rPr lang="en-US" sz="1150" dirty="0">
                <a:solidFill>
                  <a:srgbClr val="465568"/>
                </a:solidFill>
                <a:latin typeface="Segoe UI" pitchFamily="34" charset="0"/>
                <a:ea typeface="Segoe UI" pitchFamily="34" charset="-122"/>
                <a:cs typeface="Segoe UI" pitchFamily="34" charset="-120"/>
              </a:rPr>
              <a:t>La signature s’ouvre quand tout est réuni ; l’approbation et l’enregistrement suivent.</a:t>
            </a:r>
            <a:endParaRPr lang="en-US" sz="1150" dirty="0"/>
          </a:p>
        </p:txBody>
      </p:sp>
      <p:sp>
        <p:nvSpPr>
          <p:cNvPr id="29" name="Text 27"/>
          <p:cNvSpPr/>
          <p:nvPr/>
        </p:nvSpPr>
        <p:spPr>
          <a:xfrm>
            <a:off x="9581910"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30" name="Shape 28"/>
          <p:cNvSpPr/>
          <p:nvPr/>
        </p:nvSpPr>
        <p:spPr>
          <a:xfrm>
            <a:off x="9734307" y="1778000"/>
            <a:ext cx="1644609" cy="2438400"/>
          </a:xfrm>
          <a:prstGeom prst="roundRect">
            <a:avLst>
              <a:gd name="adj" fmla="val 3336"/>
            </a:avLst>
          </a:prstGeom>
          <a:solidFill>
            <a:srgbClr val="12324A"/>
          </a:solidFill>
          <a:ln w="19050">
            <a:solidFill>
              <a:srgbClr val="12324A"/>
            </a:solidFill>
            <a:prstDash val="solid"/>
          </a:ln>
        </p:spPr>
        <p:txBody>
          <a:bodyPr/>
          <a:lstStyle/>
          <a:p>
            <a:endParaRPr lang="fr-FR"/>
          </a:p>
        </p:txBody>
      </p:sp>
      <p:sp>
        <p:nvSpPr>
          <p:cNvPr id="31" name="Text 29"/>
          <p:cNvSpPr/>
          <p:nvPr/>
        </p:nvSpPr>
        <p:spPr>
          <a:xfrm>
            <a:off x="9823204" y="1866900"/>
            <a:ext cx="1466813" cy="215900"/>
          </a:xfrm>
          <a:prstGeom prst="rect">
            <a:avLst/>
          </a:prstGeom>
          <a:noFill/>
          <a:ln/>
        </p:spPr>
        <p:txBody>
          <a:bodyPr wrap="square" rtlCol="0" anchor="ctr">
            <a:normAutofit/>
          </a:bodyPr>
          <a:lstStyle/>
          <a:p>
            <a:pPr marL="0" indent="0">
              <a:buNone/>
            </a:pPr>
            <a:r>
              <a:rPr lang="en-US" sz="1000" b="1" dirty="0">
                <a:solidFill>
                  <a:srgbClr val="E3AE2E"/>
                </a:solidFill>
                <a:latin typeface="Segoe UI" pitchFamily="34" charset="0"/>
                <a:ea typeface="Segoe UI" pitchFamily="34" charset="-122"/>
                <a:cs typeface="Segoe UI" pitchFamily="34" charset="-120"/>
              </a:rPr>
              <a:t>LA PRMP</a:t>
            </a:r>
            <a:endParaRPr lang="en-US" sz="1000" dirty="0"/>
          </a:p>
        </p:txBody>
      </p:sp>
      <p:sp>
        <p:nvSpPr>
          <p:cNvPr id="32" name="Text 30"/>
          <p:cNvSpPr/>
          <p:nvPr/>
        </p:nvSpPr>
        <p:spPr>
          <a:xfrm>
            <a:off x="9823204" y="2095500"/>
            <a:ext cx="1466813" cy="508000"/>
          </a:xfrm>
          <a:prstGeom prst="rect">
            <a:avLst/>
          </a:prstGeom>
          <a:noFill/>
          <a:ln/>
        </p:spPr>
        <p:txBody>
          <a:bodyPr wrap="square" rtlCol="0" anchor="t">
            <a:normAutofit/>
          </a:bodyPr>
          <a:lstStyle/>
          <a:p>
            <a:pPr marL="0" indent="0">
              <a:buNone/>
            </a:pPr>
            <a:r>
              <a:rPr lang="en-US" sz="1400" b="1" dirty="0">
                <a:solidFill>
                  <a:srgbClr val="FCFCFA"/>
                </a:solidFill>
                <a:latin typeface="Segoe UI" pitchFamily="34" charset="0"/>
                <a:ea typeface="Segoe UI" pitchFamily="34" charset="-122"/>
                <a:cs typeface="Segoe UI" pitchFamily="34" charset="-120"/>
              </a:rPr>
              <a:t>Notifier et publier</a:t>
            </a:r>
            <a:endParaRPr lang="en-US" sz="1400" dirty="0"/>
          </a:p>
        </p:txBody>
      </p:sp>
      <p:sp>
        <p:nvSpPr>
          <p:cNvPr id="33" name="Text 31"/>
          <p:cNvSpPr/>
          <p:nvPr/>
        </p:nvSpPr>
        <p:spPr>
          <a:xfrm>
            <a:off x="9823204" y="2603500"/>
            <a:ext cx="1466813" cy="1016000"/>
          </a:xfrm>
          <a:prstGeom prst="rect">
            <a:avLst/>
          </a:prstGeom>
          <a:noFill/>
          <a:ln/>
        </p:spPr>
        <p:txBody>
          <a:bodyPr wrap="square" rtlCol="0" anchor="t">
            <a:normAutofit/>
          </a:bodyPr>
          <a:lstStyle/>
          <a:p>
            <a:pPr marL="0" indent="0">
              <a:buNone/>
            </a:pPr>
            <a:r>
              <a:rPr lang="en-US" sz="1150" dirty="0">
                <a:solidFill>
                  <a:srgbClr val="C9D6E2"/>
                </a:solidFill>
                <a:latin typeface="Segoe UI" pitchFamily="34" charset="0"/>
                <a:ea typeface="Segoe UI" pitchFamily="34" charset="-122"/>
                <a:cs typeface="Segoe UI" pitchFamily="34" charset="-120"/>
              </a:rPr>
              <a:t>Le marché notifié prend effet à sa réception ; l’avis d’attribution paraît dans les trente jours.</a:t>
            </a:r>
            <a:endParaRPr lang="en-US" sz="1150" dirty="0"/>
          </a:p>
        </p:txBody>
      </p:sp>
      <p:sp>
        <p:nvSpPr>
          <p:cNvPr id="34" name="Text 3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246</a:t>
            </a:r>
            <a:endParaRPr lang="en-US" sz="1100" dirty="0"/>
          </a:p>
        </p:txBody>
      </p:sp>
    </p:spTree>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name="Slide 247">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ATTRIBUER ET NOTIFIER</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Le dossier de marché au contrôle</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Le rapport signé, la PRMP crée un dossier de marché par lot attribuable. Il suit le circuit ordinaire de la Commission, qui l’examine sur une grille tirée du guide.</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247</a:t>
            </a:r>
            <a:endParaRPr lang="en-US" sz="1100" dirty="0"/>
          </a:p>
        </p:txBody>
      </p:sp>
    </p:spTree>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name="Slide 24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DOSSIER DE MARCHÉ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L’attribution, lot par lot</a:t>
            </a:r>
            <a:endParaRPr lang="en-US" sz="2600" dirty="0"/>
          </a:p>
        </p:txBody>
      </p:sp>
      <p:sp>
        <p:nvSpPr>
          <p:cNvPr id="4" name="Shape 2"/>
          <p:cNvSpPr/>
          <p:nvPr/>
        </p:nvSpPr>
        <p:spPr>
          <a:xfrm>
            <a:off x="800080" y="1193800"/>
            <a:ext cx="10591535" cy="1926041"/>
          </a:xfrm>
          <a:prstGeom prst="rect">
            <a:avLst/>
          </a:prstGeom>
          <a:solidFill>
            <a:srgbClr val="FCFCFA"/>
          </a:solidFill>
          <a:ln w="9525">
            <a:solidFill>
              <a:srgbClr val="D5DCE4"/>
            </a:solidFill>
            <a:prstDash val="solid"/>
          </a:ln>
        </p:spPr>
        <p:txBody>
          <a:bodyPr/>
          <a:lstStyle/>
          <a:p>
            <a:endParaRPr lang="fr-FR"/>
          </a:p>
        </p:txBody>
      </p:sp>
      <p:pic>
        <p:nvPicPr>
          <p:cNvPr id="5" name="Image 0" descr="L’attribution, lot par lot"/>
          <p:cNvPicPr>
            <a:picLocks noChangeAspect="1"/>
          </p:cNvPicPr>
          <p:nvPr/>
        </p:nvPicPr>
        <p:blipFill>
          <a:blip r:embed="rId3"/>
          <a:stretch>
            <a:fillRect/>
          </a:stretch>
        </p:blipFill>
        <p:spPr>
          <a:xfrm>
            <a:off x="812780" y="1206500"/>
            <a:ext cx="10566136" cy="1900641"/>
          </a:xfrm>
          <a:prstGeom prst="rect">
            <a:avLst/>
          </a:prstGeom>
        </p:spPr>
      </p:pic>
      <p:sp>
        <p:nvSpPr>
          <p:cNvPr id="6" name="Shape 3"/>
          <p:cNvSpPr/>
          <p:nvPr/>
        </p:nvSpPr>
        <p:spPr>
          <a:xfrm>
            <a:off x="812780" y="3259541"/>
            <a:ext cx="10566136" cy="21971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12780" y="3259541"/>
            <a:ext cx="38099" cy="2197100"/>
          </a:xfrm>
          <a:prstGeom prst="rect">
            <a:avLst/>
          </a:prstGeom>
          <a:solidFill>
            <a:srgbClr val="1B6FA8"/>
          </a:solidFill>
          <a:ln/>
        </p:spPr>
        <p:txBody>
          <a:bodyPr/>
          <a:lstStyle/>
          <a:p>
            <a:endParaRPr lang="fr-FR"/>
          </a:p>
        </p:txBody>
      </p:sp>
      <p:sp>
        <p:nvSpPr>
          <p:cNvPr id="8" name="Text 5"/>
          <p:cNvSpPr/>
          <p:nvPr/>
        </p:nvSpPr>
        <p:spPr>
          <a:xfrm>
            <a:off x="977876" y="3361141"/>
            <a:ext cx="10274043" cy="20066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et son UGPM.</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L’état du lot et la proposition du rapport : l’offre, le candidat, le montant hors taxes et le délai.</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 Créer le dossier de marché » : l’application y joint d’office le projet de marché, le DAO complet, le devis de l’offre, le PV d’ouverture et le rapport.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RG-ATT-01 · RG-ATT-02 · RG-ATT-03</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248</a:t>
            </a:r>
            <a:endParaRPr lang="en-US" sz="1100" dirty="0"/>
          </a:p>
        </p:txBody>
      </p:sp>
    </p:spTree>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name="Slide 24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DOSSIER DE MARCHÉ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Deux lots, deux issues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Deux lots, deux issue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Lot 1 : le dossier de marché est créé ; le projet de marché se lit en PDF ou en Word, et se </a:t>
            </a:r>
            <a:r>
              <a:rPr lang="en-US" sz="1200" b="1" dirty="0">
                <a:solidFill>
                  <a:srgbClr val="1B2A3A"/>
                </a:solidFill>
                <a:latin typeface="Segoe UI" pitchFamily="34" charset="0"/>
                <a:ea typeface="Segoe UI" pitchFamily="34" charset="-122"/>
                <a:cs typeface="Segoe UI" pitchFamily="34" charset="-120"/>
              </a:rPr>
              <a:t>refait</a:t>
            </a:r>
            <a:r>
              <a:rPr lang="en-US" sz="1200" dirty="0">
                <a:solidFill>
                  <a:srgbClr val="1B2A3A"/>
                </a:solidFill>
                <a:latin typeface="Segoe UI" pitchFamily="34" charset="0"/>
                <a:ea typeface="Segoe UI" pitchFamily="34" charset="-122"/>
                <a:cs typeface="Segoe UI" pitchFamily="34" charset="-120"/>
              </a:rPr>
              <a:t> tant que le marché n’est pas signé.</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Lot 2 : aucune offre qualifiée, le rapport proposait l’infructuosité ; la PRMP l’a </a:t>
            </a:r>
            <a:r>
              <a:rPr lang="en-US" sz="1200" b="1" dirty="0">
                <a:solidFill>
                  <a:srgbClr val="1B2A3A"/>
                </a:solidFill>
                <a:latin typeface="Segoe UI" pitchFamily="34" charset="0"/>
                <a:ea typeface="Segoe UI" pitchFamily="34" charset="-122"/>
                <a:cs typeface="Segoe UI" pitchFamily="34" charset="-120"/>
              </a:rPr>
              <a:t>déclarée</a:t>
            </a:r>
            <a:r>
              <a:rPr lang="en-US" sz="1200" dirty="0">
                <a:solidFill>
                  <a:srgbClr val="1B2A3A"/>
                </a:solidFill>
                <a:latin typeface="Segoe UI" pitchFamily="34" charset="0"/>
                <a:ea typeface="Segoe UI" pitchFamily="34" charset="-122"/>
                <a:cs typeface="Segoe UI" pitchFamily="34" charset="-120"/>
              </a:rPr>
              <a:t> : motif, référence et date de sa décision, suite annoncée (relance de la procédure).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demande de déclaration sans suite reste accessible sous les lots.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RG-ATT-02 · RG-ATT-04 · RG-ATT-25 · RG-ATT-29</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249</a:t>
            </a:r>
            <a:endParaRPr lang="en-US" sz="1100" dirty="0"/>
          </a:p>
        </p:txBody>
      </p:sp>
    </p:spTree>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name="Slide 25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DOSSIER DE MARCHÉ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dossier de marché, au contrôle de la Commission</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 dossier de marché, au contrôle de la Commission"/>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suit ; la Commission examine.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 dossier de marché de prestations intellectuelles (sous-type MPI) à l’étape de vérification, avec sa fin de traitement prévue.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pièces jointes d’office : projet de marché, cahier des charges (DAO complet), PV d’ouverture, rapport d’analyse des offres, puis les pièces exigées du sous-type.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actes de gestion ne s’y déposent qu’une fois le marché contrôlé favorablement.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RG-ATT-03 · RG-ATT-05 · RG-ATT-06 · RG-ATT-32</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250</a:t>
            </a:r>
            <a:endParaRPr lang="en-US" sz="1100" dirty="0"/>
          </a:p>
        </p:txBody>
      </p:sp>
    </p:spTree>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name="Slide 251">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ATTRIBUER ET NOTIFIER</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Attribuer et informer</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L’avis favorable de la Commission ouvre l’attribution. La PRMP informe alors tous les candidats évalués ; le délai d’attente court depuis la réception présumée de cette information.</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251</a:t>
            </a:r>
            <a:endParaRPr lang="en-US" sz="1100" dirty="0"/>
          </a:p>
        </p:txBody>
      </p:sp>
    </p:spTree>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name="Slide 25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ATTRIBUER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lot, après l’avis favorable de la Commission</a:t>
            </a:r>
            <a:endParaRPr lang="en-US" sz="2600" dirty="0"/>
          </a:p>
        </p:txBody>
      </p:sp>
      <p:sp>
        <p:nvSpPr>
          <p:cNvPr id="4" name="Shape 2"/>
          <p:cNvSpPr/>
          <p:nvPr/>
        </p:nvSpPr>
        <p:spPr>
          <a:xfrm>
            <a:off x="800080" y="1193800"/>
            <a:ext cx="10591535" cy="2646974"/>
          </a:xfrm>
          <a:prstGeom prst="rect">
            <a:avLst/>
          </a:prstGeom>
          <a:solidFill>
            <a:srgbClr val="FCFCFA"/>
          </a:solidFill>
          <a:ln w="9525">
            <a:solidFill>
              <a:srgbClr val="D5DCE4"/>
            </a:solidFill>
            <a:prstDash val="solid"/>
          </a:ln>
        </p:spPr>
        <p:txBody>
          <a:bodyPr/>
          <a:lstStyle/>
          <a:p>
            <a:endParaRPr lang="fr-FR"/>
          </a:p>
        </p:txBody>
      </p:sp>
      <p:pic>
        <p:nvPicPr>
          <p:cNvPr id="5" name="Image 0" descr="Le lot, après l’avis favorable de la Commission"/>
          <p:cNvPicPr>
            <a:picLocks noChangeAspect="1"/>
          </p:cNvPicPr>
          <p:nvPr/>
        </p:nvPicPr>
        <p:blipFill>
          <a:blip r:embed="rId3"/>
          <a:stretch>
            <a:fillRect/>
          </a:stretch>
        </p:blipFill>
        <p:spPr>
          <a:xfrm>
            <a:off x="812780" y="1206500"/>
            <a:ext cx="10566136" cy="2621574"/>
          </a:xfrm>
          <a:prstGeom prst="rect">
            <a:avLst/>
          </a:prstGeom>
        </p:spPr>
      </p:pic>
      <p:sp>
        <p:nvSpPr>
          <p:cNvPr id="6" name="Shape 3"/>
          <p:cNvSpPr/>
          <p:nvPr/>
        </p:nvSpPr>
        <p:spPr>
          <a:xfrm>
            <a:off x="812780" y="3980474"/>
            <a:ext cx="10566136" cy="19939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12780" y="3980474"/>
            <a:ext cx="38099" cy="1993900"/>
          </a:xfrm>
          <a:prstGeom prst="rect">
            <a:avLst/>
          </a:prstGeom>
          <a:solidFill>
            <a:srgbClr val="1B6FA8"/>
          </a:solidFill>
          <a:ln/>
        </p:spPr>
        <p:txBody>
          <a:bodyPr/>
          <a:lstStyle/>
          <a:p>
            <a:endParaRPr lang="fr-FR"/>
          </a:p>
        </p:txBody>
      </p:sp>
      <p:sp>
        <p:nvSpPr>
          <p:cNvPr id="8" name="Text 5"/>
          <p:cNvSpPr/>
          <p:nvPr/>
        </p:nvSpPr>
        <p:spPr>
          <a:xfrm>
            <a:off x="977876" y="4082074"/>
            <a:ext cx="10274043" cy="18034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et elle seule.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dossier de marché a reçu l’</a:t>
            </a:r>
            <a:r>
              <a:rPr lang="en-US" sz="1200" b="1" dirty="0">
                <a:solidFill>
                  <a:srgbClr val="1B2A3A"/>
                </a:solidFill>
                <a:latin typeface="Segoe UI" pitchFamily="34" charset="0"/>
                <a:ea typeface="Segoe UI" pitchFamily="34" charset="-122"/>
                <a:cs typeface="Segoe UI" pitchFamily="34" charset="-120"/>
              </a:rPr>
              <a:t>avis favorable</a:t>
            </a:r>
            <a:r>
              <a:rPr lang="en-US" sz="1200" dirty="0">
                <a:solidFill>
                  <a:srgbClr val="1B2A3A"/>
                </a:solidFill>
                <a:latin typeface="Segoe UI" pitchFamily="34" charset="0"/>
                <a:ea typeface="Segoe UI" pitchFamily="34" charset="-122"/>
                <a:cs typeface="Segoe UI" pitchFamily="34" charset="-120"/>
              </a:rPr>
              <a:t> de la Commission : le lot peut être attribué.</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 Attribuer à l’offre proposée » : seule l’offre proposée par la commission d’appel d’offres peut l’être (art. 35-VII).</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RG-ATT-07 · RG-ATT-08</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252</a:t>
            </a:r>
            <a:endParaRPr lang="en-US" sz="1100" dirty="0"/>
          </a:p>
        </p:txBody>
      </p:sp>
    </p:spTree>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name="Slide 25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INFORMER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Informer les candidats</a:t>
            </a:r>
            <a:endParaRPr lang="en-US" sz="2600" dirty="0"/>
          </a:p>
        </p:txBody>
      </p:sp>
      <p:sp>
        <p:nvSpPr>
          <p:cNvPr id="4" name="Shape 2"/>
          <p:cNvSpPr/>
          <p:nvPr/>
        </p:nvSpPr>
        <p:spPr>
          <a:xfrm>
            <a:off x="800080" y="1193800"/>
            <a:ext cx="10591535" cy="2183381"/>
          </a:xfrm>
          <a:prstGeom prst="rect">
            <a:avLst/>
          </a:prstGeom>
          <a:solidFill>
            <a:srgbClr val="FCFCFA"/>
          </a:solidFill>
          <a:ln w="9525">
            <a:solidFill>
              <a:srgbClr val="D5DCE4"/>
            </a:solidFill>
            <a:prstDash val="solid"/>
          </a:ln>
        </p:spPr>
        <p:txBody>
          <a:bodyPr/>
          <a:lstStyle/>
          <a:p>
            <a:endParaRPr lang="fr-FR"/>
          </a:p>
        </p:txBody>
      </p:sp>
      <p:pic>
        <p:nvPicPr>
          <p:cNvPr id="5" name="Image 0" descr="Informer les candidats"/>
          <p:cNvPicPr>
            <a:picLocks noChangeAspect="1"/>
          </p:cNvPicPr>
          <p:nvPr/>
        </p:nvPicPr>
        <p:blipFill>
          <a:blip r:embed="rId3"/>
          <a:stretch>
            <a:fillRect/>
          </a:stretch>
        </p:blipFill>
        <p:spPr>
          <a:xfrm>
            <a:off x="812780" y="1206500"/>
            <a:ext cx="10566136" cy="2157981"/>
          </a:xfrm>
          <a:prstGeom prst="rect">
            <a:avLst/>
          </a:prstGeom>
        </p:spPr>
      </p:pic>
      <p:sp>
        <p:nvSpPr>
          <p:cNvPr id="6" name="Shape 3"/>
          <p:cNvSpPr/>
          <p:nvPr/>
        </p:nvSpPr>
        <p:spPr>
          <a:xfrm>
            <a:off x="812780" y="3516881"/>
            <a:ext cx="10566136" cy="21971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12780" y="3516881"/>
            <a:ext cx="38099" cy="2197100"/>
          </a:xfrm>
          <a:prstGeom prst="rect">
            <a:avLst/>
          </a:prstGeom>
          <a:solidFill>
            <a:srgbClr val="1B6FA8"/>
          </a:solidFill>
          <a:ln/>
        </p:spPr>
        <p:txBody>
          <a:bodyPr/>
          <a:lstStyle/>
          <a:p>
            <a:endParaRPr lang="fr-FR"/>
          </a:p>
        </p:txBody>
      </p:sp>
      <p:sp>
        <p:nvSpPr>
          <p:cNvPr id="8" name="Text 5"/>
          <p:cNvSpPr/>
          <p:nvPr/>
        </p:nvSpPr>
        <p:spPr>
          <a:xfrm>
            <a:off x="977876" y="3618481"/>
            <a:ext cx="10274043" cy="20066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date d’</a:t>
            </a:r>
            <a:r>
              <a:rPr lang="en-US" sz="1200" b="1" dirty="0">
                <a:solidFill>
                  <a:srgbClr val="1B2A3A"/>
                </a:solidFill>
                <a:latin typeface="Segoe UI" pitchFamily="34" charset="0"/>
                <a:ea typeface="Segoe UI" pitchFamily="34" charset="-122"/>
                <a:cs typeface="Segoe UI" pitchFamily="34" charset="-120"/>
              </a:rPr>
              <a:t>affichage</a:t>
            </a:r>
            <a:r>
              <a:rPr lang="en-US" sz="1200" dirty="0">
                <a:solidFill>
                  <a:srgbClr val="1B2A3A"/>
                </a:solidFill>
                <a:latin typeface="Segoe UI" pitchFamily="34" charset="0"/>
                <a:ea typeface="Segoe UI" pitchFamily="34" charset="-122"/>
                <a:cs typeface="Segoe UI" pitchFamily="34" charset="-120"/>
              </a:rPr>
              <a:t> du résultat au siège, puis « Signer et envoyer les lettres » : une lettre par offre évaluée (art. 52).</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motifs de rejet sont tirés du rapport d’évaluation.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RG-ATT-09 · RG-ATT-10 · RG-ATT-11 · RG-ATT-14</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253</a:t>
            </a:r>
            <a:endParaRPr lang="en-US" sz="1100" dirty="0"/>
          </a:p>
        </p:txBody>
      </p:sp>
    </p:spTree>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name="Slide 25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INFORMER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Attribué, puis informé</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Attribué, puis informé"/>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dossier de marché porte l’</a:t>
            </a:r>
            <a:r>
              <a:rPr lang="en-US" sz="1200" b="1" dirty="0">
                <a:solidFill>
                  <a:srgbClr val="1B2A3A"/>
                </a:solidFill>
                <a:latin typeface="Segoe UI" pitchFamily="34" charset="0"/>
                <a:ea typeface="Segoe UI" pitchFamily="34" charset="-122"/>
                <a:cs typeface="Segoe UI" pitchFamily="34" charset="-120"/>
              </a:rPr>
              <a:t>avis favorable</a:t>
            </a:r>
            <a:r>
              <a:rPr lang="en-US" sz="1200" dirty="0">
                <a:solidFill>
                  <a:srgbClr val="1B2A3A"/>
                </a:solidFill>
                <a:latin typeface="Segoe UI" pitchFamily="34" charset="0"/>
                <a:ea typeface="Segoe UI" pitchFamily="34" charset="-122"/>
                <a:cs typeface="Segoe UI" pitchFamily="34" charset="-120"/>
              </a:rPr>
              <a:t> de la Commission ; le lot est attribué à l’offre n° 4 pour 166 000 000 Ar HT, délai 3 mois.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lettres sont signées électroniquement, l’affichage au siège est déclaré ; pour chaque candidat, l’heure du courriel et celle de la </a:t>
            </a:r>
            <a:r>
              <a:rPr lang="en-US" sz="1200" b="1" dirty="0">
                <a:solidFill>
                  <a:srgbClr val="1B2A3A"/>
                </a:solidFill>
                <a:latin typeface="Segoe UI" pitchFamily="34" charset="0"/>
                <a:ea typeface="Segoe UI" pitchFamily="34" charset="-122"/>
                <a:cs typeface="Segoe UI" pitchFamily="34" charset="-120"/>
              </a:rPr>
              <a:t>première lecture</a:t>
            </a:r>
            <a:r>
              <a:rPr lang="en-US" sz="1200" dirty="0">
                <a:solidFill>
                  <a:srgbClr val="1B2A3A"/>
                </a:solidFill>
                <a:latin typeface="Segoe UI" pitchFamily="34" charset="0"/>
                <a:ea typeface="Segoe UI" pitchFamily="34" charset="-122"/>
                <a:cs typeface="Segoe UI" pitchFamily="34" charset="-120"/>
              </a:rPr>
              <a:t> sur la plateforme, qui vaut accusé de réception.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RG-ATT-07 · RG-ATT-09 · RG-ATT-10 · RG-ATT-11</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254</a:t>
            </a:r>
            <a:endParaRPr lang="en-US" sz="1100" dirty="0"/>
          </a:p>
        </p:txBody>
      </p:sp>
    </p:spTree>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name="Slide 25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INFORMER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Délai d’attente, explications et recours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Délai d’attente, explications et recour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 10 jours francs à compter du 10/10/2026 » : la </a:t>
            </a:r>
            <a:r>
              <a:rPr lang="en-US" sz="1200" b="1" dirty="0">
                <a:solidFill>
                  <a:srgbClr val="1B2A3A"/>
                </a:solidFill>
                <a:latin typeface="Segoe UI" pitchFamily="34" charset="0"/>
                <a:ea typeface="Segoe UI" pitchFamily="34" charset="-122"/>
                <a:cs typeface="Segoe UI" pitchFamily="34" charset="-120"/>
              </a:rPr>
              <a:t>réception présumée</a:t>
            </a:r>
            <a:r>
              <a:rPr lang="en-US" sz="1200" dirty="0">
                <a:solidFill>
                  <a:srgbClr val="1B2A3A"/>
                </a:solidFill>
                <a:latin typeface="Segoe UI" pitchFamily="34" charset="0"/>
                <a:ea typeface="Segoe UI" pitchFamily="34" charset="-122"/>
                <a:cs typeface="Segoe UI" pitchFamily="34" charset="-120"/>
              </a:rPr>
              <a:t> de l’information, 3 jours après l’envoi (ou l’affichage s’il est plus tardif) ; signature possible à partir du 21/10/2026.</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demande d’explication d’un candidat écarté et la réponse écrite de la PRMP.</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Une demande en révision auprès de l’ARMP (art. 80) : « </a:t>
            </a:r>
            <a:r>
              <a:rPr lang="en-US" sz="1200" b="1" dirty="0">
                <a:solidFill>
                  <a:srgbClr val="1B2A3A"/>
                </a:solidFill>
                <a:latin typeface="Segoe UI" pitchFamily="34" charset="0"/>
                <a:ea typeface="Segoe UI" pitchFamily="34" charset="-122"/>
                <a:cs typeface="Segoe UI" pitchFamily="34" charset="-120"/>
              </a:rPr>
              <a:t>Signature suspendue</a:t>
            </a:r>
            <a:r>
              <a:rPr lang="en-US" sz="1200" dirty="0">
                <a:solidFill>
                  <a:srgbClr val="1B2A3A"/>
                </a:solidFill>
                <a:latin typeface="Segoe UI" pitchFamily="34" charset="0"/>
                <a:ea typeface="Segoe UI" pitchFamily="34" charset="-122"/>
                <a:cs typeface="Segoe UI" pitchFamily="34" charset="-120"/>
              </a:rPr>
              <a:t> jusqu’à la décision, au plus tard le 27/10/2026 » ; la décision se déclare avec son issue et son motif.</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RG-ATT-12 · RG-ATT-13 · RG-ATT-15 · RG-ATT-16 · RG-ATT-17 · RG-ATT-35</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255</a:t>
            </a:r>
            <a:endParaRPr lang="en-US" sz="1100" dirty="0"/>
          </a:p>
        </p:txBody>
      </p:sp>
    </p:spTree>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name="Slide 25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INFORMER · CANDIDAT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candidat écarté : résultat et motif</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 candidat écarté : résultat et motif"/>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candidat non retenu, dans « Mes offres ».</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 Offre non retenue », avec son </a:t>
            </a:r>
            <a:r>
              <a:rPr lang="en-US" sz="1200" b="1" dirty="0">
                <a:solidFill>
                  <a:srgbClr val="1B2A3A"/>
                </a:solidFill>
                <a:latin typeface="Segoe UI" pitchFamily="34" charset="0"/>
                <a:ea typeface="Segoe UI" pitchFamily="34" charset="-122"/>
                <a:cs typeface="Segoe UI" pitchFamily="34" charset="-120"/>
              </a:rPr>
              <a:t>motif</a:t>
            </a:r>
            <a:r>
              <a:rPr lang="en-US" sz="1200" dirty="0">
                <a:solidFill>
                  <a:srgbClr val="1B2A3A"/>
                </a:solidFill>
                <a:latin typeface="Segoe UI" pitchFamily="34" charset="0"/>
                <a:ea typeface="Segoe UI" pitchFamily="34" charset="-122"/>
                <a:cs typeface="Segoe UI" pitchFamily="34" charset="-120"/>
              </a:rPr>
              <a:t> : écartée à l’examen préliminaire pour une garantie insuffisante (DPAO 6.6).</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L’attributaire et le montant, les dates d’information, d’affichage et de signature possible ; la lettre à lire en PDF ou en Word.</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Sa demande d’explication et la réponse de la PRMP, sous le résultat.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RG-ATT-09 · RG-ATT-10 · RG-ATT-13</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256</a:t>
            </a:r>
            <a:endParaRPr lang="en-US" sz="1100" dirty="0"/>
          </a:p>
        </p:txBody>
      </p:sp>
    </p:spTree>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name="Slide 25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INFORMER · PUBLIC</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résultat public de la procédure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 résultat public de la procédur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Tout visiteur, sans compte.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Sur la page publique de la procédure : le résultat par lot — attributaire et montant hors taxes —, avec les dates de communication et d’affichage.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L’extrait du PV d’ouverture et les questions des candidats y restent lisibles ; l’avis d’attribution y paraîtra une fois publié.</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RG-ATT-11 · RG-ATT-24</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257</a:t>
            </a:r>
            <a:endParaRPr lang="en-US" sz="1100" dirty="0"/>
          </a:p>
        </p:txBody>
      </p:sp>
    </p:spTree>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name="Slide 258">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ATTRIBUER ET NOTIFIER</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Les pièces de l’attributaire et la signature</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La signature du marché ne s’ouvre que lorsque tout est réuni : le délai d’attente écoulé, aucun recours suspensif en cours, les pièces reconnues conformes et, en remise électronique, l’original signé de l’acte d’engagement.</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258</a:t>
            </a:r>
            <a:endParaRPr lang="en-US" sz="1100" dirty="0"/>
          </a:p>
        </p:txBody>
      </p:sp>
    </p:spTree>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name="Slide 25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PIÈCES · CANDIDAT ATTRIBUTAIRE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L’attributaire dépose ses pièces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attributaire dépose ses pièce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candidat attributaire, dans « Mes offres ».</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 Votre offre est retenue » ; la lettre d’attribution se lit en PDF ou en Word.</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pièces fiscale et sociale à déposer avant le 22/10/2026 (art. 20-I) : « Sans elles, le marché vous est retiré » ; chacune se lit ensuite « conforme ».</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Offre déposée et scellée en ligne : il remet aussi l’</a:t>
            </a:r>
            <a:r>
              <a:rPr lang="en-US" sz="1200" b="1" dirty="0">
                <a:solidFill>
                  <a:srgbClr val="1B2A3A"/>
                </a:solidFill>
                <a:latin typeface="Segoe UI" pitchFamily="34" charset="0"/>
                <a:ea typeface="Segoe UI" pitchFamily="34" charset="-122"/>
                <a:cs typeface="Segoe UI" pitchFamily="34" charset="-120"/>
              </a:rPr>
              <a:t>original signé de son acte d’engagement</a:t>
            </a:r>
            <a:r>
              <a:rPr lang="en-US" sz="1200" dirty="0">
                <a:solidFill>
                  <a:srgbClr val="1B2A3A"/>
                </a:solidFill>
                <a:latin typeface="Segoe UI" pitchFamily="34" charset="0"/>
                <a:ea typeface="Segoe UI" pitchFamily="34" charset="-122"/>
                <a:cs typeface="Segoe UI" pitchFamily="34" charset="-120"/>
              </a:rPr>
              <a:t>, et en dépose le scan ici, sans l’échéance des quinze jours.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RG-ATT-18 · RG-ATT-19 · RG-ATT-34</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259</a:t>
            </a:r>
            <a:endParaRPr lang="en-US" sz="1100" dirty="0"/>
          </a:p>
        </p:txBody>
      </p:sp>
    </p:spTree>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name="Slide 26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PIÈCES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pièces vérifiées, l’original attendu</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pièces vérifiées, l’original attendu"/>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L’échéance des pièces, et les </a:t>
            </a:r>
            <a:r>
              <a:rPr lang="en-US" sz="1200" b="1" dirty="0">
                <a:solidFill>
                  <a:srgbClr val="1B2A3A"/>
                </a:solidFill>
                <a:latin typeface="Segoe UI" pitchFamily="34" charset="0"/>
                <a:ea typeface="Segoe UI" pitchFamily="34" charset="-122"/>
                <a:cs typeface="Segoe UI" pitchFamily="34" charset="-120"/>
              </a:rPr>
              <a:t>dates de délivrance les plus anciennes admises</a:t>
            </a:r>
            <a:r>
              <a:rPr lang="en-US" sz="1200" dirty="0">
                <a:solidFill>
                  <a:srgbClr val="1B2A3A"/>
                </a:solidFill>
                <a:latin typeface="Segoe UI" pitchFamily="34" charset="0"/>
                <a:ea typeface="Segoe UI" pitchFamily="34" charset="-122"/>
                <a:cs typeface="Segoe UI" pitchFamily="34" charset="-120"/>
              </a:rPr>
              <a:t> (07/04/2026 pour la fiscale, 07/07/2026 pour la sociale) : une pièce plus ancienne ne peut être reconnue conforme.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Chaque pièce : sa date de délivrance, son dépôt, son fichier et son état.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L’original de l’acte d’engagement est annoncé « à déposer » ; la PRMP qui l’a reçu l’enregistre (date de remise facultative, scan) puis le vérifie.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RG-ATT-18 · RG-ATT-19 · RG-ATT-34</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260</a:t>
            </a:r>
            <a:endParaRPr lang="en-US" sz="1100" dirty="0"/>
          </a:p>
        </p:txBody>
      </p:sp>
    </p:spTree>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name="Slide 26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SIGNATURE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Mise au point et signature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Mise au point et signatur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a:t>
            </a:r>
            <a:r>
              <a:rPr lang="en-US" sz="1200" b="1" dirty="0">
                <a:solidFill>
                  <a:srgbClr val="1B2A3A"/>
                </a:solidFill>
                <a:latin typeface="Segoe UI" pitchFamily="34" charset="0"/>
                <a:ea typeface="Segoe UI" pitchFamily="34" charset="-122"/>
                <a:cs typeface="Segoe UI" pitchFamily="34" charset="-120"/>
              </a:rPr>
              <a:t>mise au point</a:t>
            </a:r>
            <a:r>
              <a:rPr lang="en-US" sz="1200" dirty="0">
                <a:solidFill>
                  <a:srgbClr val="1B2A3A"/>
                </a:solidFill>
                <a:latin typeface="Segoe UI" pitchFamily="34" charset="0"/>
                <a:ea typeface="Segoe UI" pitchFamily="34" charset="-122"/>
                <a:cs typeface="Segoe UI" pitchFamily="34" charset="-120"/>
              </a:rPr>
              <a:t> avec l’attributaire : calendrier de démarrage précisé, sans modification du prix ni des prestations.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 Signer le marché » est ouvert quand le délai d’attente est écoulé, sans recours suspensif, les deux pièces conformes </a:t>
            </a:r>
            <a:r>
              <a:rPr lang="en-US" sz="1200" b="1" dirty="0">
                <a:solidFill>
                  <a:srgbClr val="1B2A3A"/>
                </a:solidFill>
                <a:latin typeface="Segoe UI" pitchFamily="34" charset="0"/>
                <a:ea typeface="Segoe UI" pitchFamily="34" charset="-122"/>
                <a:cs typeface="Segoe UI" pitchFamily="34" charset="-120"/>
              </a:rPr>
              <a:t>et</a:t>
            </a:r>
            <a:r>
              <a:rPr lang="en-US" sz="1200" dirty="0">
                <a:solidFill>
                  <a:srgbClr val="1B2A3A"/>
                </a:solidFill>
                <a:latin typeface="Segoe UI" pitchFamily="34" charset="0"/>
                <a:ea typeface="Segoe UI" pitchFamily="34" charset="-122"/>
                <a:cs typeface="Segoe UI" pitchFamily="34" charset="-120"/>
              </a:rPr>
              <a:t> l’original de l’acte d’engagement reconnu conforme ; le bouton reste fermé ici.</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Viennent ensuite l’approbation, l’enregistrement, la notification et l’avis d’attribution (sans capture : aucun lot de la base n’a encore atteint ces états).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RG-ATT-20 · RG-ATT-21 · RG-ATT-22 · RG-ATT-33</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261</a:t>
            </a:r>
            <a:endParaRPr lang="en-US" sz="1100" dirty="0"/>
          </a:p>
        </p:txBody>
      </p:sp>
    </p:spTree>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name="Slide 262">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ATTRIBUER ET NOTIFIER</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Quand le lot n’est pas attribué</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Un avis défavorable, un retrait du marché ou un motif d’intérêt général ouvrent d’autres issues, toujours motivées et soumises à la Commission quand la loi le veut.</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262</a:t>
            </a:r>
            <a:endParaRPr lang="en-US" sz="1100" dirty="0"/>
          </a:p>
        </p:txBody>
      </p:sp>
    </p:spTree>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name="Slide 26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APRÈS UN AVIS DÉFAVORABLE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Après un avis défavorable : infructuosité ou reprise</a:t>
            </a:r>
            <a:endParaRPr lang="en-US" sz="2600" dirty="0"/>
          </a:p>
        </p:txBody>
      </p:sp>
      <p:sp>
        <p:nvSpPr>
          <p:cNvPr id="4" name="Shape 2"/>
          <p:cNvSpPr/>
          <p:nvPr/>
        </p:nvSpPr>
        <p:spPr>
          <a:xfrm>
            <a:off x="2894620" y="1193800"/>
            <a:ext cx="6402454" cy="3327400"/>
          </a:xfrm>
          <a:prstGeom prst="rect">
            <a:avLst/>
          </a:prstGeom>
          <a:solidFill>
            <a:srgbClr val="FCFCFA"/>
          </a:solidFill>
          <a:ln w="9525">
            <a:solidFill>
              <a:srgbClr val="D5DCE4"/>
            </a:solidFill>
            <a:prstDash val="solid"/>
          </a:ln>
        </p:spPr>
        <p:txBody>
          <a:bodyPr/>
          <a:lstStyle/>
          <a:p>
            <a:endParaRPr lang="fr-FR"/>
          </a:p>
        </p:txBody>
      </p:sp>
      <p:pic>
        <p:nvPicPr>
          <p:cNvPr id="5" name="Image 0" descr="Après un avis défavorable : infructuosité ou reprise"/>
          <p:cNvPicPr>
            <a:picLocks noChangeAspect="1"/>
          </p:cNvPicPr>
          <p:nvPr/>
        </p:nvPicPr>
        <p:blipFill>
          <a:blip r:embed="rId3"/>
          <a:stretch>
            <a:fillRect/>
          </a:stretch>
        </p:blipFill>
        <p:spPr>
          <a:xfrm>
            <a:off x="2907320" y="1206500"/>
            <a:ext cx="6377055" cy="3302000"/>
          </a:xfrm>
          <a:prstGeom prst="rect">
            <a:avLst/>
          </a:prstGeom>
        </p:spPr>
      </p:pic>
      <p:sp>
        <p:nvSpPr>
          <p:cNvPr id="6" name="Shape 3"/>
          <p:cNvSpPr/>
          <p:nvPr/>
        </p:nvSpPr>
        <p:spPr>
          <a:xfrm>
            <a:off x="812780" y="4660900"/>
            <a:ext cx="10566136" cy="16256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12780" y="4660900"/>
            <a:ext cx="38099" cy="1625600"/>
          </a:xfrm>
          <a:prstGeom prst="rect">
            <a:avLst/>
          </a:prstGeom>
          <a:solidFill>
            <a:srgbClr val="1B6FA8"/>
          </a:solidFill>
          <a:ln/>
        </p:spPr>
        <p:txBody>
          <a:bodyPr/>
          <a:lstStyle/>
          <a:p>
            <a:endParaRPr lang="fr-FR"/>
          </a:p>
        </p:txBody>
      </p:sp>
      <p:sp>
        <p:nvSpPr>
          <p:cNvPr id="8" name="Text 5"/>
          <p:cNvSpPr/>
          <p:nvPr/>
        </p:nvSpPr>
        <p:spPr>
          <a:xfrm>
            <a:off x="977876" y="4762500"/>
            <a:ext cx="10274043" cy="14351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dossier de marché a reçu un avis défavorable : la PRMP déclare le lot </a:t>
            </a:r>
            <a:r>
              <a:rPr lang="en-US" sz="1200" b="1" dirty="0">
                <a:solidFill>
                  <a:srgbClr val="1B2A3A"/>
                </a:solidFill>
                <a:latin typeface="Segoe UI" pitchFamily="34" charset="0"/>
                <a:ea typeface="Segoe UI" pitchFamily="34" charset="-122"/>
                <a:cs typeface="Segoe UI" pitchFamily="34" charset="-120"/>
              </a:rPr>
              <a:t>infructueux</a:t>
            </a:r>
            <a:r>
              <a:rPr lang="en-US" sz="1200" dirty="0">
                <a:solidFill>
                  <a:srgbClr val="1B2A3A"/>
                </a:solidFill>
                <a:latin typeface="Segoe UI" pitchFamily="34" charset="0"/>
                <a:ea typeface="Segoe UI" pitchFamily="34" charset="-122"/>
                <a:cs typeface="Segoe UI" pitchFamily="34" charset="-120"/>
              </a:rPr>
              <a:t> (motif, référence et date de sa décision, suite envisagée), ou </a:t>
            </a:r>
            <a:r>
              <a:rPr lang="en-US" sz="1200" b="1" dirty="0">
                <a:solidFill>
                  <a:srgbClr val="1B2A3A"/>
                </a:solidFill>
                <a:latin typeface="Segoe UI" pitchFamily="34" charset="0"/>
                <a:ea typeface="Segoe UI" pitchFamily="34" charset="-122"/>
                <a:cs typeface="Segoe UI" pitchFamily="34" charset="-120"/>
              </a:rPr>
              <a:t>reprend l’évaluation</a:t>
            </a:r>
            <a:r>
              <a:rPr lang="en-US" sz="1200" dirty="0">
                <a:solidFill>
                  <a:srgbClr val="1B2A3A"/>
                </a:solidFill>
                <a:latin typeface="Segoe UI" pitchFamily="34" charset="0"/>
                <a:ea typeface="Segoe UI" pitchFamily="34" charset="-122"/>
                <a:cs typeface="Segoe UI" pitchFamily="34" charset="-120"/>
              </a:rPr>
              <a:t>, avec un motif.</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RG-ATT-29 · RG-ATT-30</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263</a:t>
            </a:r>
            <a:endParaRPr lang="en-US" sz="1100" dirty="0"/>
          </a:p>
        </p:txBody>
      </p:sp>
    </p:spTree>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name="Slide 26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APRÈS UN AVIS DÉFAVORABLE · RESPONSABLE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L’évaluation reprise, le rapport archivé</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évaluation reprise, le rapport archivé"/>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reprend ; la commission refait le rapport.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 Reprise après avis défavorable », datée et motivée : le rapport est repris pour corriger le calendrier de mobilisation.</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rapport signé précédent est </a:t>
            </a:r>
            <a:r>
              <a:rPr lang="en-US" sz="1200" b="1" dirty="0">
                <a:solidFill>
                  <a:srgbClr val="1B2A3A"/>
                </a:solidFill>
                <a:latin typeface="Segoe UI" pitchFamily="34" charset="0"/>
                <a:ea typeface="Segoe UI" pitchFamily="34" charset="-122"/>
                <a:cs typeface="Segoe UI" pitchFamily="34" charset="-120"/>
              </a:rPr>
              <a:t>archivé</a:t>
            </a:r>
            <a:r>
              <a:rPr lang="en-US" sz="1200" dirty="0">
                <a:solidFill>
                  <a:srgbClr val="1B2A3A"/>
                </a:solidFill>
                <a:latin typeface="Segoe UI" pitchFamily="34" charset="0"/>
                <a:ea typeface="Segoe UI" pitchFamily="34" charset="-122"/>
                <a:cs typeface="Segoe UI" pitchFamily="34" charset="-120"/>
              </a:rPr>
              <a:t>, lisible en PDF et en Word ; le lot revient « Évaluation en cours ».</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 nouveau rapport, puis un nouveau dossier de marché suivront.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RG-ATT-30</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264</a:t>
            </a:r>
            <a:endParaRPr lang="en-US" sz="1100" dirty="0"/>
          </a:p>
        </p:txBody>
      </p:sp>
    </p:spTree>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name="Slide 26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SANS SUITE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demande de déclaration sans suite</a:t>
            </a:r>
            <a:endParaRPr lang="en-US" sz="2600" dirty="0"/>
          </a:p>
        </p:txBody>
      </p:sp>
      <p:sp>
        <p:nvSpPr>
          <p:cNvPr id="4" name="Shape 2"/>
          <p:cNvSpPr/>
          <p:nvPr/>
        </p:nvSpPr>
        <p:spPr>
          <a:xfrm>
            <a:off x="1420550" y="1193800"/>
            <a:ext cx="9350595" cy="3327400"/>
          </a:xfrm>
          <a:prstGeom prst="rect">
            <a:avLst/>
          </a:prstGeom>
          <a:solidFill>
            <a:srgbClr val="FCFCFA"/>
          </a:solidFill>
          <a:ln w="9525">
            <a:solidFill>
              <a:srgbClr val="D5DCE4"/>
            </a:solidFill>
            <a:prstDash val="solid"/>
          </a:ln>
        </p:spPr>
        <p:txBody>
          <a:bodyPr/>
          <a:lstStyle/>
          <a:p>
            <a:endParaRPr lang="fr-FR"/>
          </a:p>
        </p:txBody>
      </p:sp>
      <p:pic>
        <p:nvPicPr>
          <p:cNvPr id="5" name="Image 0" descr="La demande de déclaration sans suite"/>
          <p:cNvPicPr>
            <a:picLocks noChangeAspect="1"/>
          </p:cNvPicPr>
          <p:nvPr/>
        </p:nvPicPr>
        <p:blipFill>
          <a:blip r:embed="rId3"/>
          <a:stretch>
            <a:fillRect/>
          </a:stretch>
        </p:blipFill>
        <p:spPr>
          <a:xfrm>
            <a:off x="1433250" y="1206500"/>
            <a:ext cx="9325195" cy="3302000"/>
          </a:xfrm>
          <a:prstGeom prst="rect">
            <a:avLst/>
          </a:prstGeom>
        </p:spPr>
      </p:pic>
      <p:sp>
        <p:nvSpPr>
          <p:cNvPr id="6" name="Shape 3"/>
          <p:cNvSpPr/>
          <p:nvPr/>
        </p:nvSpPr>
        <p:spPr>
          <a:xfrm>
            <a:off x="812780" y="4660900"/>
            <a:ext cx="10566136" cy="16256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12780" y="4660900"/>
            <a:ext cx="38099" cy="1625600"/>
          </a:xfrm>
          <a:prstGeom prst="rect">
            <a:avLst/>
          </a:prstGeom>
          <a:solidFill>
            <a:srgbClr val="1B6FA8"/>
          </a:solidFill>
          <a:ln/>
        </p:spPr>
        <p:txBody>
          <a:bodyPr/>
          <a:lstStyle/>
          <a:p>
            <a:endParaRPr lang="fr-FR"/>
          </a:p>
        </p:txBody>
      </p:sp>
      <p:sp>
        <p:nvSpPr>
          <p:cNvPr id="8" name="Text 5"/>
          <p:cNvSpPr/>
          <p:nvPr/>
        </p:nvSpPr>
        <p:spPr>
          <a:xfrm>
            <a:off x="977876" y="4762500"/>
            <a:ext cx="10274043" cy="14351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À tout moment avant la signature d’un marché de la procédure, la PRMP demande, </a:t>
            </a:r>
            <a:r>
              <a:rPr lang="en-US" sz="1200" b="1" dirty="0">
                <a:solidFill>
                  <a:srgbClr val="1B2A3A"/>
                </a:solidFill>
                <a:latin typeface="Segoe UI" pitchFamily="34" charset="0"/>
                <a:ea typeface="Segoe UI" pitchFamily="34" charset="-122"/>
                <a:cs typeface="Segoe UI" pitchFamily="34" charset="-120"/>
              </a:rPr>
              <a:t>motifs</a:t>
            </a:r>
            <a:r>
              <a:rPr lang="en-US" sz="1200" dirty="0">
                <a:solidFill>
                  <a:srgbClr val="1B2A3A"/>
                </a:solidFill>
                <a:latin typeface="Segoe UI" pitchFamily="34" charset="0"/>
                <a:ea typeface="Segoe UI" pitchFamily="34" charset="-122"/>
                <a:cs typeface="Segoe UI" pitchFamily="34" charset="-120"/>
              </a:rPr>
              <a:t> à l’appui.</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motifs forment une pièce du dossier soumis à la Commission, qui rend un avis favorable ou défavorable sous cinq jours de la réception.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RG-ATT-31</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265</a:t>
            </a:r>
            <a:endParaRPr lang="en-US" sz="1100" dirty="0"/>
          </a:p>
        </p:txBody>
      </p:sp>
    </p:spTree>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name="Slide 26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SANS SUITE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dossier de déclaration sans suite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 dossier de déclaration sans suit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suit ; la Commission examine.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 dossier « Déclaration sans suite » suit le circuit ordinaire, ici à l’étape de vérification.</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motifs de la déclaration, en tête des pièces, puis la fiche de présentation, le plan contrôlé, le projet de décision et les justificatifs.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RG-ATT-31</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266</a:t>
            </a:r>
            <a:endParaRPr lang="en-US" sz="1100" dirty="0"/>
          </a:p>
        </p:txBody>
      </p:sp>
    </p:spTree>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name="Slide 26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SANS SUITE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L’avis favorable : la PRMP déclare</a:t>
            </a:r>
            <a:endParaRPr lang="en-US" sz="2600" dirty="0"/>
          </a:p>
        </p:txBody>
      </p:sp>
      <p:sp>
        <p:nvSpPr>
          <p:cNvPr id="4" name="Shape 2"/>
          <p:cNvSpPr/>
          <p:nvPr/>
        </p:nvSpPr>
        <p:spPr>
          <a:xfrm>
            <a:off x="1016922" y="1193800"/>
            <a:ext cx="10157851" cy="3327400"/>
          </a:xfrm>
          <a:prstGeom prst="rect">
            <a:avLst/>
          </a:prstGeom>
          <a:solidFill>
            <a:srgbClr val="FCFCFA"/>
          </a:solidFill>
          <a:ln w="9525">
            <a:solidFill>
              <a:srgbClr val="D5DCE4"/>
            </a:solidFill>
            <a:prstDash val="solid"/>
          </a:ln>
        </p:spPr>
        <p:txBody>
          <a:bodyPr/>
          <a:lstStyle/>
          <a:p>
            <a:endParaRPr lang="fr-FR"/>
          </a:p>
        </p:txBody>
      </p:sp>
      <p:pic>
        <p:nvPicPr>
          <p:cNvPr id="5" name="Image 0" descr="L’avis favorable : la PRMP déclare"/>
          <p:cNvPicPr>
            <a:picLocks noChangeAspect="1"/>
          </p:cNvPicPr>
          <p:nvPr/>
        </p:nvPicPr>
        <p:blipFill>
          <a:blip r:embed="rId3"/>
          <a:stretch>
            <a:fillRect/>
          </a:stretch>
        </p:blipFill>
        <p:spPr>
          <a:xfrm>
            <a:off x="1029622" y="1206500"/>
            <a:ext cx="10132451" cy="3302000"/>
          </a:xfrm>
          <a:prstGeom prst="rect">
            <a:avLst/>
          </a:prstGeom>
        </p:spPr>
      </p:pic>
      <p:sp>
        <p:nvSpPr>
          <p:cNvPr id="6" name="Shape 3"/>
          <p:cNvSpPr/>
          <p:nvPr/>
        </p:nvSpPr>
        <p:spPr>
          <a:xfrm>
            <a:off x="812780" y="4660900"/>
            <a:ext cx="10566136" cy="16256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12780" y="4660900"/>
            <a:ext cx="38099" cy="1625600"/>
          </a:xfrm>
          <a:prstGeom prst="rect">
            <a:avLst/>
          </a:prstGeom>
          <a:solidFill>
            <a:srgbClr val="1B6FA8"/>
          </a:solidFill>
          <a:ln/>
        </p:spPr>
        <p:txBody>
          <a:bodyPr/>
          <a:lstStyle/>
          <a:p>
            <a:endParaRPr lang="fr-FR"/>
          </a:p>
        </p:txBody>
      </p:sp>
      <p:sp>
        <p:nvSpPr>
          <p:cNvPr id="8" name="Text 5"/>
          <p:cNvSpPr/>
          <p:nvPr/>
        </p:nvSpPr>
        <p:spPr>
          <a:xfrm>
            <a:off x="977876" y="4762500"/>
            <a:ext cx="10274043" cy="14351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L’avis </a:t>
            </a:r>
            <a:r>
              <a:rPr lang="en-US" sz="1200" b="1" dirty="0">
                <a:solidFill>
                  <a:srgbClr val="1B2A3A"/>
                </a:solidFill>
                <a:latin typeface="Segoe UI" pitchFamily="34" charset="0"/>
                <a:ea typeface="Segoe UI" pitchFamily="34" charset="-122"/>
                <a:cs typeface="Segoe UI" pitchFamily="34" charset="-120"/>
              </a:rPr>
              <a:t>favorable</a:t>
            </a:r>
            <a:r>
              <a:rPr lang="en-US" sz="1200" dirty="0">
                <a:solidFill>
                  <a:srgbClr val="1B2A3A"/>
                </a:solidFill>
                <a:latin typeface="Segoe UI" pitchFamily="34" charset="0"/>
                <a:ea typeface="Segoe UI" pitchFamily="34" charset="-122"/>
                <a:cs typeface="Segoe UI" pitchFamily="34" charset="-120"/>
              </a:rPr>
              <a:t> rendu, la PRMP déclare le sans suite : la référence et la date de sa décision.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RG-ATT-31</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267</a:t>
            </a:r>
            <a:endParaRPr lang="en-US" sz="1100" dirty="0"/>
          </a:p>
        </p:txBody>
      </p:sp>
    </p:spTree>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name="Slide 26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SANS SUITE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procédure déclarée sans suite</a:t>
            </a:r>
            <a:endParaRPr lang="en-US" sz="2600" dirty="0"/>
          </a:p>
        </p:txBody>
      </p:sp>
      <p:sp>
        <p:nvSpPr>
          <p:cNvPr id="4" name="Shape 2"/>
          <p:cNvSpPr/>
          <p:nvPr/>
        </p:nvSpPr>
        <p:spPr>
          <a:xfrm>
            <a:off x="800080" y="1193800"/>
            <a:ext cx="10591535" cy="2451149"/>
          </a:xfrm>
          <a:prstGeom prst="rect">
            <a:avLst/>
          </a:prstGeom>
          <a:solidFill>
            <a:srgbClr val="FCFCFA"/>
          </a:solidFill>
          <a:ln w="9525">
            <a:solidFill>
              <a:srgbClr val="D5DCE4"/>
            </a:solidFill>
            <a:prstDash val="solid"/>
          </a:ln>
        </p:spPr>
        <p:txBody>
          <a:bodyPr/>
          <a:lstStyle/>
          <a:p>
            <a:endParaRPr lang="fr-FR"/>
          </a:p>
        </p:txBody>
      </p:sp>
      <p:pic>
        <p:nvPicPr>
          <p:cNvPr id="5" name="Image 0" descr="La procédure déclarée sans suite"/>
          <p:cNvPicPr>
            <a:picLocks noChangeAspect="1"/>
          </p:cNvPicPr>
          <p:nvPr/>
        </p:nvPicPr>
        <p:blipFill>
          <a:blip r:embed="rId3"/>
          <a:stretch>
            <a:fillRect/>
          </a:stretch>
        </p:blipFill>
        <p:spPr>
          <a:xfrm>
            <a:off x="812780" y="1206500"/>
            <a:ext cx="10566136" cy="2425749"/>
          </a:xfrm>
          <a:prstGeom prst="rect">
            <a:avLst/>
          </a:prstGeom>
        </p:spPr>
      </p:pic>
      <p:sp>
        <p:nvSpPr>
          <p:cNvPr id="6" name="Shape 3"/>
          <p:cNvSpPr/>
          <p:nvPr/>
        </p:nvSpPr>
        <p:spPr>
          <a:xfrm>
            <a:off x="812780" y="3784649"/>
            <a:ext cx="10566136" cy="19939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12780" y="3784649"/>
            <a:ext cx="38099" cy="1993900"/>
          </a:xfrm>
          <a:prstGeom prst="rect">
            <a:avLst/>
          </a:prstGeom>
          <a:solidFill>
            <a:srgbClr val="1B6FA8"/>
          </a:solidFill>
          <a:ln/>
        </p:spPr>
        <p:txBody>
          <a:bodyPr/>
          <a:lstStyle/>
          <a:p>
            <a:endParaRPr lang="fr-FR"/>
          </a:p>
        </p:txBody>
      </p:sp>
      <p:sp>
        <p:nvSpPr>
          <p:cNvPr id="8" name="Text 5"/>
          <p:cNvSpPr/>
          <p:nvPr/>
        </p:nvSpPr>
        <p:spPr>
          <a:xfrm>
            <a:off x="977876" y="3886249"/>
            <a:ext cx="10274043" cy="18034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procédure est close </a:t>
            </a:r>
            <a:r>
              <a:rPr lang="en-US" sz="1200" b="1" dirty="0">
                <a:solidFill>
                  <a:srgbClr val="1B2A3A"/>
                </a:solidFill>
                <a:latin typeface="Segoe UI" pitchFamily="34" charset="0"/>
                <a:ea typeface="Segoe UI" pitchFamily="34" charset="-122"/>
                <a:cs typeface="Segoe UI" pitchFamily="34" charset="-120"/>
              </a:rPr>
              <a:t>sans suite</a:t>
            </a:r>
            <a:r>
              <a:rPr lang="en-US" sz="1200" dirty="0">
                <a:solidFill>
                  <a:srgbClr val="1B2A3A"/>
                </a:solidFill>
                <a:latin typeface="Segoe UI" pitchFamily="34" charset="0"/>
                <a:ea typeface="Segoe UI" pitchFamily="34" charset="-122"/>
                <a:cs typeface="Segoe UI" pitchFamily="34" charset="-120"/>
              </a:rPr>
              <a:t> ; les candidats en sont informés, avec les motifs.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Plus aucun geste d’attribution n’est possible.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RG-ATT-31</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268</a:t>
            </a:r>
            <a:endParaRPr lang="en-US" sz="1100" dirty="0"/>
          </a:p>
        </p:txBody>
      </p:sp>
    </p:spTree>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name="Slide 269">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ATTRIBUER ET NOTIFIER</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Les actes de gestion du marché</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Une fois le marché contrôlé favorablement, ses avenants, résiliations, indemnités, remises de pénalités et sursis se déposent depuis son dossier, et reviennent au contrôle de la Commission.</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269</a:t>
            </a:r>
            <a:endParaRPr lang="en-US" sz="1100" dirty="0"/>
          </a:p>
        </p:txBody>
      </p:sp>
    </p:spTree>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name="Slide 27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ACTES DE GESTION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marché et ses actes de gestion</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 marché et ses actes de gestion"/>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montant initial (166 000 000 Ar HT) et la catégorie ; les avenants cumulés face au </a:t>
            </a:r>
            <a:r>
              <a:rPr lang="en-US" sz="1200" b="1" dirty="0">
                <a:solidFill>
                  <a:srgbClr val="1B2A3A"/>
                </a:solidFill>
                <a:latin typeface="Segoe UI" pitchFamily="34" charset="0"/>
                <a:ea typeface="Segoe UI" pitchFamily="34" charset="-122"/>
                <a:cs typeface="Segoe UI" pitchFamily="34" charset="-120"/>
              </a:rPr>
              <a:t>plafond du tiers</a:t>
            </a:r>
            <a:r>
              <a:rPr lang="en-US" sz="1200" dirty="0">
                <a:solidFill>
                  <a:srgbClr val="1B2A3A"/>
                </a:solidFill>
                <a:latin typeface="Segoe UI" pitchFamily="34" charset="0"/>
                <a:ea typeface="Segoe UI" pitchFamily="34" charset="-122"/>
                <a:cs typeface="Segoe UI" pitchFamily="34" charset="-120"/>
              </a:rPr>
              <a:t> : 20 000 000 Ar sur 55 333 333,33 Ar.</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L’avenant n° 1 soumis, une remise de pénalités en brouillon ; « Déposer un acte de gestion ».</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pièces jointes d’office au dossier de marché : projet de marché, cahier des charges, PV d’ouverture, rapport d’analyse, devis.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RG-ATT-03 · RG-ATT-27 · RG-ATT-28</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270</a:t>
            </a:r>
            <a:endParaRPr lang="en-US" sz="1100" dirty="0"/>
          </a:p>
        </p:txBody>
      </p:sp>
    </p:spTree>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name="Slide 27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ACTES DE GESTION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Déposer un avenant</a:t>
            </a:r>
            <a:endParaRPr lang="en-US" sz="2600" dirty="0"/>
          </a:p>
        </p:txBody>
      </p:sp>
      <p:sp>
        <p:nvSpPr>
          <p:cNvPr id="4" name="Shape 2"/>
          <p:cNvSpPr/>
          <p:nvPr/>
        </p:nvSpPr>
        <p:spPr>
          <a:xfrm>
            <a:off x="800080" y="1193800"/>
            <a:ext cx="7327717" cy="4571206"/>
          </a:xfrm>
          <a:prstGeom prst="rect">
            <a:avLst/>
          </a:prstGeom>
          <a:solidFill>
            <a:srgbClr val="FCFCFA"/>
          </a:solidFill>
          <a:ln w="9525">
            <a:solidFill>
              <a:srgbClr val="D5DCE4"/>
            </a:solidFill>
            <a:prstDash val="solid"/>
          </a:ln>
        </p:spPr>
        <p:txBody>
          <a:bodyPr/>
          <a:lstStyle/>
          <a:p>
            <a:endParaRPr lang="fr-FR"/>
          </a:p>
        </p:txBody>
      </p:sp>
      <p:pic>
        <p:nvPicPr>
          <p:cNvPr id="5" name="Image 0" descr="Déposer un avenant"/>
          <p:cNvPicPr>
            <a:picLocks noChangeAspect="1"/>
          </p:cNvPicPr>
          <p:nvPr/>
        </p:nvPicPr>
        <p:blipFill>
          <a:blip r:embed="rId3"/>
          <a:stretch>
            <a:fillRect/>
          </a:stretch>
        </p:blipFill>
        <p:spPr>
          <a:xfrm>
            <a:off x="812780" y="1206500"/>
            <a:ext cx="7302317" cy="4545806"/>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L’acte (avenant, résiliation, indemnité, pénalités, sursis), le montant hors taxes de l’avenant, les faits du marché (réceptions, solde) ; la projection du cumul s’affiche avant le dépôt.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RG-ATT-28</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271</a:t>
            </a:r>
            <a:endParaRPr lang="en-US" sz="1100" dirty="0"/>
          </a:p>
        </p:txBody>
      </p:sp>
    </p:spTree>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name="Slide 27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ACTES DE GESTION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L’acte en brouillon : pièces et soumission</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acte en brouillon : pièces et soumission"/>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Une remise de pénalités née du marché, en brouillon : ses déclarations, les pièces exigées de son sous-type, un lien vers le dossier du marché.</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Quand toutes les pièces obligatoires sont jointes, l’acte se soumet à la Commission.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RG-ATT-27</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272</a:t>
            </a:r>
            <a:endParaRPr lang="en-US" sz="1100" dirty="0"/>
          </a:p>
        </p:txBody>
      </p:sp>
    </p:spTree>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name="Slide 27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ACTES DE GESTION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L’avenant soumis à la Commission</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avenant soumis à la Commission"/>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 suit ; la Commission examine.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L’avenant n° 1 (20 000 000 Ar HT), déposé le 09/10, est en réception à la Commission, avec sa fin de traitement prévue.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Ses six pièces : fiche de présentation, projet d’avenant, marché initial signé et approuvé, PV de la Commission sur le marché, accord des parties, élément déclencheur.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RG-ATT-27 · RG-ATT-28</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273</a:t>
            </a:r>
            <a:endParaRPr lang="en-US" sz="1100" dirty="0"/>
          </a:p>
        </p:txBody>
      </p:sp>
    </p:spTree>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name="Slide 27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ATTRIBUER ET NOTIFIER · EN RÉSUMÉ</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Ce que l’application garantit</a:t>
            </a:r>
            <a:endParaRPr lang="en-US" sz="2600" dirty="0"/>
          </a:p>
        </p:txBody>
      </p:sp>
      <p:sp>
        <p:nvSpPr>
          <p:cNvPr id="4" name="Shape 2"/>
          <p:cNvSpPr/>
          <p:nvPr/>
        </p:nvSpPr>
        <p:spPr>
          <a:xfrm>
            <a:off x="812780" y="1206500"/>
            <a:ext cx="3420448" cy="2159000"/>
          </a:xfrm>
          <a:prstGeom prst="rect">
            <a:avLst/>
          </a:prstGeom>
          <a:solidFill>
            <a:srgbClr val="FCFCFA"/>
          </a:solidFill>
          <a:ln w="9525">
            <a:solidFill>
              <a:srgbClr val="D5DCE4"/>
            </a:solidFill>
            <a:prstDash val="solid"/>
          </a:ln>
        </p:spPr>
        <p:txBody>
          <a:bodyPr/>
          <a:lstStyle/>
          <a:p>
            <a:endParaRPr lang="fr-FR"/>
          </a:p>
        </p:txBody>
      </p:sp>
      <p:sp>
        <p:nvSpPr>
          <p:cNvPr id="5" name="Shape 3"/>
          <p:cNvSpPr/>
          <p:nvPr/>
        </p:nvSpPr>
        <p:spPr>
          <a:xfrm>
            <a:off x="812780" y="1206500"/>
            <a:ext cx="3420448" cy="38100"/>
          </a:xfrm>
          <a:prstGeom prst="rect">
            <a:avLst/>
          </a:prstGeom>
          <a:solidFill>
            <a:srgbClr val="1B6FA8"/>
          </a:solidFill>
          <a:ln/>
        </p:spPr>
        <p:txBody>
          <a:bodyPr/>
          <a:lstStyle/>
          <a:p>
            <a:endParaRPr lang="fr-FR"/>
          </a:p>
        </p:txBody>
      </p:sp>
      <p:sp>
        <p:nvSpPr>
          <p:cNvPr id="6" name="Text 4"/>
          <p:cNvSpPr/>
          <p:nvPr/>
        </p:nvSpPr>
        <p:spPr>
          <a:xfrm>
            <a:off x="952476" y="1308100"/>
            <a:ext cx="3141055"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Un contrôle sans exception</a:t>
            </a:r>
            <a:endParaRPr lang="en-US" sz="1500" dirty="0"/>
          </a:p>
        </p:txBody>
      </p:sp>
      <p:sp>
        <p:nvSpPr>
          <p:cNvPr id="7" name="Text 5"/>
          <p:cNvSpPr/>
          <p:nvPr/>
        </p:nvSpPr>
        <p:spPr>
          <a:xfrm>
            <a:off x="952476" y="1593850"/>
            <a:ext cx="3141055"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Chaque marché issu d’une procédure en ligne passe au contrôle a priori de la Commission, sans seuil, et il n’est attribué qu’à l’offre proposée par la commission d’appel d’offres.</a:t>
            </a:r>
            <a:endParaRPr lang="en-US" sz="1200" dirty="0"/>
          </a:p>
        </p:txBody>
      </p:sp>
      <p:sp>
        <p:nvSpPr>
          <p:cNvPr id="8" name="Shape 6"/>
          <p:cNvSpPr/>
          <p:nvPr/>
        </p:nvSpPr>
        <p:spPr>
          <a:xfrm>
            <a:off x="4385624" y="1206500"/>
            <a:ext cx="3420448" cy="2159000"/>
          </a:xfrm>
          <a:prstGeom prst="rect">
            <a:avLst/>
          </a:prstGeom>
          <a:solidFill>
            <a:srgbClr val="FCFCFA"/>
          </a:solidFill>
          <a:ln w="9525">
            <a:solidFill>
              <a:srgbClr val="D5DCE4"/>
            </a:solidFill>
            <a:prstDash val="solid"/>
          </a:ln>
        </p:spPr>
        <p:txBody>
          <a:bodyPr/>
          <a:lstStyle/>
          <a:p>
            <a:endParaRPr lang="fr-FR"/>
          </a:p>
        </p:txBody>
      </p:sp>
      <p:sp>
        <p:nvSpPr>
          <p:cNvPr id="9" name="Shape 7"/>
          <p:cNvSpPr/>
          <p:nvPr/>
        </p:nvSpPr>
        <p:spPr>
          <a:xfrm>
            <a:off x="4385624" y="1206500"/>
            <a:ext cx="3420448" cy="38100"/>
          </a:xfrm>
          <a:prstGeom prst="rect">
            <a:avLst/>
          </a:prstGeom>
          <a:solidFill>
            <a:srgbClr val="2E8B57"/>
          </a:solidFill>
          <a:ln/>
        </p:spPr>
        <p:txBody>
          <a:bodyPr/>
          <a:lstStyle/>
          <a:p>
            <a:endParaRPr lang="fr-FR"/>
          </a:p>
        </p:txBody>
      </p:sp>
      <p:sp>
        <p:nvSpPr>
          <p:cNvPr id="10" name="Text 8"/>
          <p:cNvSpPr/>
          <p:nvPr/>
        </p:nvSpPr>
        <p:spPr>
          <a:xfrm>
            <a:off x="4525320" y="13081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Un délai d’attente qui protège les candidats</a:t>
            </a:r>
            <a:endParaRPr lang="en-US" sz="1500" dirty="0"/>
          </a:p>
        </p:txBody>
      </p:sp>
      <p:sp>
        <p:nvSpPr>
          <p:cNvPr id="11" name="Text 9"/>
          <p:cNvSpPr/>
          <p:nvPr/>
        </p:nvSpPr>
        <p:spPr>
          <a:xfrm>
            <a:off x="4525320" y="17653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Dix jours francs depuis la réception présumée de l’information (ou l’affichage, s’il est plus tardif) : avant, la signature est refusée et la date « signature possible » est affichée (art. 78).</a:t>
            </a:r>
            <a:endParaRPr lang="en-US" sz="1200" dirty="0"/>
          </a:p>
        </p:txBody>
      </p:sp>
      <p:sp>
        <p:nvSpPr>
          <p:cNvPr id="12" name="Shape 10"/>
          <p:cNvSpPr/>
          <p:nvPr/>
        </p:nvSpPr>
        <p:spPr>
          <a:xfrm>
            <a:off x="7958468" y="1206500"/>
            <a:ext cx="3420448" cy="2159000"/>
          </a:xfrm>
          <a:prstGeom prst="rect">
            <a:avLst/>
          </a:prstGeom>
          <a:solidFill>
            <a:srgbClr val="FCFCFA"/>
          </a:solidFill>
          <a:ln w="9525">
            <a:solidFill>
              <a:srgbClr val="D5DCE4"/>
            </a:solidFill>
            <a:prstDash val="solid"/>
          </a:ln>
        </p:spPr>
        <p:txBody>
          <a:bodyPr/>
          <a:lstStyle/>
          <a:p>
            <a:endParaRPr lang="fr-FR"/>
          </a:p>
        </p:txBody>
      </p:sp>
      <p:sp>
        <p:nvSpPr>
          <p:cNvPr id="13" name="Shape 11"/>
          <p:cNvSpPr/>
          <p:nvPr/>
        </p:nvSpPr>
        <p:spPr>
          <a:xfrm>
            <a:off x="7958468" y="1206500"/>
            <a:ext cx="3420448" cy="38100"/>
          </a:xfrm>
          <a:prstGeom prst="rect">
            <a:avLst/>
          </a:prstGeom>
          <a:solidFill>
            <a:srgbClr val="E3AE2E"/>
          </a:solidFill>
          <a:ln/>
        </p:spPr>
        <p:txBody>
          <a:bodyPr/>
          <a:lstStyle/>
          <a:p>
            <a:endParaRPr lang="fr-FR"/>
          </a:p>
        </p:txBody>
      </p:sp>
      <p:sp>
        <p:nvSpPr>
          <p:cNvPr id="14" name="Text 12"/>
          <p:cNvSpPr/>
          <p:nvPr/>
        </p:nvSpPr>
        <p:spPr>
          <a:xfrm>
            <a:off x="8098164" y="13081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Des recours qui suspendent vraiment</a:t>
            </a:r>
            <a:endParaRPr lang="en-US" sz="1500" dirty="0"/>
          </a:p>
        </p:txBody>
      </p:sp>
      <p:sp>
        <p:nvSpPr>
          <p:cNvPr id="15" name="Text 13"/>
          <p:cNvSpPr/>
          <p:nvPr/>
        </p:nvSpPr>
        <p:spPr>
          <a:xfrm>
            <a:off x="8098164" y="17653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Les types de recours suspensifs sont réglés par l’Administrateur (par défaut la révision par l’ARMP et le référé) ; tant qu’un tel recours attend sa décision, ou qu’une demande de sans suite attend l’avis de la Commission, aucun marché ne se signe.</a:t>
            </a:r>
            <a:endParaRPr lang="en-US" sz="1200" dirty="0"/>
          </a:p>
        </p:txBody>
      </p:sp>
      <p:sp>
        <p:nvSpPr>
          <p:cNvPr id="16" name="Shape 14"/>
          <p:cNvSpPr/>
          <p:nvPr/>
        </p:nvSpPr>
        <p:spPr>
          <a:xfrm>
            <a:off x="812780" y="3517900"/>
            <a:ext cx="3420448" cy="2159000"/>
          </a:xfrm>
          <a:prstGeom prst="rect">
            <a:avLst/>
          </a:prstGeom>
          <a:solidFill>
            <a:srgbClr val="FCFCFA"/>
          </a:solidFill>
          <a:ln w="9525">
            <a:solidFill>
              <a:srgbClr val="D5DCE4"/>
            </a:solidFill>
            <a:prstDash val="solid"/>
          </a:ln>
        </p:spPr>
        <p:txBody>
          <a:bodyPr/>
          <a:lstStyle/>
          <a:p>
            <a:endParaRPr lang="fr-FR"/>
          </a:p>
        </p:txBody>
      </p:sp>
      <p:sp>
        <p:nvSpPr>
          <p:cNvPr id="17" name="Shape 15"/>
          <p:cNvSpPr/>
          <p:nvPr/>
        </p:nvSpPr>
        <p:spPr>
          <a:xfrm>
            <a:off x="812780" y="3517900"/>
            <a:ext cx="3420448" cy="38100"/>
          </a:xfrm>
          <a:prstGeom prst="rect">
            <a:avLst/>
          </a:prstGeom>
          <a:solidFill>
            <a:srgbClr val="12324A"/>
          </a:solidFill>
          <a:ln/>
        </p:spPr>
        <p:txBody>
          <a:bodyPr/>
          <a:lstStyle/>
          <a:p>
            <a:endParaRPr lang="fr-FR"/>
          </a:p>
        </p:txBody>
      </p:sp>
      <p:sp>
        <p:nvSpPr>
          <p:cNvPr id="18" name="Text 16"/>
          <p:cNvSpPr/>
          <p:nvPr/>
        </p:nvSpPr>
        <p:spPr>
          <a:xfrm>
            <a:off x="952476" y="3619500"/>
            <a:ext cx="3141055"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Un attributaire en règle</a:t>
            </a:r>
            <a:endParaRPr lang="en-US" sz="1500" dirty="0"/>
          </a:p>
        </p:txBody>
      </p:sp>
      <p:sp>
        <p:nvSpPr>
          <p:cNvPr id="19" name="Text 17"/>
          <p:cNvSpPr/>
          <p:nvPr/>
        </p:nvSpPr>
        <p:spPr>
          <a:xfrm>
            <a:off x="952476" y="3905250"/>
            <a:ext cx="3141055"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Pièces fiscale et sociale déposées dans les quinze jours et assez récentes à la notification de l’attribution, original signé de l’acte d’engagement remis en remise électronique : sans elles, la signature reste fermée, et le marché peut être retiré.</a:t>
            </a:r>
            <a:endParaRPr lang="en-US" sz="1200" dirty="0"/>
          </a:p>
        </p:txBody>
      </p:sp>
      <p:sp>
        <p:nvSpPr>
          <p:cNvPr id="20" name="Shape 18"/>
          <p:cNvSpPr/>
          <p:nvPr/>
        </p:nvSpPr>
        <p:spPr>
          <a:xfrm>
            <a:off x="4385624" y="3517900"/>
            <a:ext cx="3420448" cy="2159000"/>
          </a:xfrm>
          <a:prstGeom prst="rect">
            <a:avLst/>
          </a:prstGeom>
          <a:solidFill>
            <a:srgbClr val="FCFCFA"/>
          </a:solidFill>
          <a:ln w="9525">
            <a:solidFill>
              <a:srgbClr val="D5DCE4"/>
            </a:solidFill>
            <a:prstDash val="solid"/>
          </a:ln>
        </p:spPr>
        <p:txBody>
          <a:bodyPr/>
          <a:lstStyle/>
          <a:p>
            <a:endParaRPr lang="fr-FR"/>
          </a:p>
        </p:txBody>
      </p:sp>
      <p:sp>
        <p:nvSpPr>
          <p:cNvPr id="21" name="Shape 19"/>
          <p:cNvSpPr/>
          <p:nvPr/>
        </p:nvSpPr>
        <p:spPr>
          <a:xfrm>
            <a:off x="4385624" y="3517900"/>
            <a:ext cx="3420448" cy="38100"/>
          </a:xfrm>
          <a:prstGeom prst="rect">
            <a:avLst/>
          </a:prstGeom>
          <a:solidFill>
            <a:srgbClr val="1B6FA8"/>
          </a:solidFill>
          <a:ln/>
        </p:spPr>
        <p:txBody>
          <a:bodyPr/>
          <a:lstStyle/>
          <a:p>
            <a:endParaRPr lang="fr-FR"/>
          </a:p>
        </p:txBody>
      </p:sp>
      <p:sp>
        <p:nvSpPr>
          <p:cNvPr id="22" name="Text 20"/>
          <p:cNvSpPr/>
          <p:nvPr/>
        </p:nvSpPr>
        <p:spPr>
          <a:xfrm>
            <a:off x="4525320" y="36195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Approuvé et enregistré avant d’être notifié</a:t>
            </a:r>
            <a:endParaRPr lang="en-US" sz="1500" dirty="0"/>
          </a:p>
        </p:txBody>
      </p:sp>
      <p:sp>
        <p:nvSpPr>
          <p:cNvPr id="23" name="Text 21"/>
          <p:cNvSpPr/>
          <p:nvPr/>
        </p:nvSpPr>
        <p:spPr>
          <a:xfrm>
            <a:off x="4525320" y="40767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Après la signature, la PRMP déclare l’approbation par l’autorité compétente et l’enregistrement, pièces jointes ; la notification ne s’ouvre qu’ensuite, à une date qui ne les précède pas (art. 54). Le marché prend effet à sa réception par l’attributaire.</a:t>
            </a:r>
            <a:endParaRPr lang="en-US" sz="1200" dirty="0"/>
          </a:p>
        </p:txBody>
      </p:sp>
      <p:sp>
        <p:nvSpPr>
          <p:cNvPr id="24" name="Shape 22"/>
          <p:cNvSpPr/>
          <p:nvPr/>
        </p:nvSpPr>
        <p:spPr>
          <a:xfrm>
            <a:off x="7958468" y="3517900"/>
            <a:ext cx="3420448" cy="2159000"/>
          </a:xfrm>
          <a:prstGeom prst="rect">
            <a:avLst/>
          </a:prstGeom>
          <a:solidFill>
            <a:srgbClr val="FCFCFA"/>
          </a:solidFill>
          <a:ln w="9525">
            <a:solidFill>
              <a:srgbClr val="D5DCE4"/>
            </a:solidFill>
            <a:prstDash val="solid"/>
          </a:ln>
        </p:spPr>
        <p:txBody>
          <a:bodyPr/>
          <a:lstStyle/>
          <a:p>
            <a:endParaRPr lang="fr-FR"/>
          </a:p>
        </p:txBody>
      </p:sp>
      <p:sp>
        <p:nvSpPr>
          <p:cNvPr id="25" name="Shape 23"/>
          <p:cNvSpPr/>
          <p:nvPr/>
        </p:nvSpPr>
        <p:spPr>
          <a:xfrm>
            <a:off x="7958468" y="3517900"/>
            <a:ext cx="3420448" cy="38100"/>
          </a:xfrm>
          <a:prstGeom prst="rect">
            <a:avLst/>
          </a:prstGeom>
          <a:solidFill>
            <a:srgbClr val="2E8B57"/>
          </a:solidFill>
          <a:ln/>
        </p:spPr>
        <p:txBody>
          <a:bodyPr/>
          <a:lstStyle/>
          <a:p>
            <a:endParaRPr lang="fr-FR"/>
          </a:p>
        </p:txBody>
      </p:sp>
      <p:sp>
        <p:nvSpPr>
          <p:cNvPr id="26" name="Text 24"/>
          <p:cNvSpPr/>
          <p:nvPr/>
        </p:nvSpPr>
        <p:spPr>
          <a:xfrm>
            <a:off x="8098164" y="3619500"/>
            <a:ext cx="3141055"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Un avis d’attribution suivi</a:t>
            </a:r>
            <a:endParaRPr lang="en-US" sz="1500" dirty="0"/>
          </a:p>
        </p:txBody>
      </p:sp>
      <p:sp>
        <p:nvSpPr>
          <p:cNvPr id="27" name="Text 25"/>
          <p:cNvSpPr/>
          <p:nvPr/>
        </p:nvSpPr>
        <p:spPr>
          <a:xfrm>
            <a:off x="8098164" y="3905250"/>
            <a:ext cx="3141055"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L’avis se publie dans les trente jours de la réception de la notification par le titulaire ; la PRMP est alertée au vingtième jour, un avis en retard est signalé sur ses écrans.</a:t>
            </a:r>
            <a:endParaRPr lang="en-US" sz="1200" dirty="0"/>
          </a:p>
        </p:txBody>
      </p:sp>
      <p:sp>
        <p:nvSpPr>
          <p:cNvPr id="28" name="Text 2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274</a:t>
            </a:r>
            <a:endParaRPr lang="en-US" sz="1100" dirty="0"/>
          </a:p>
        </p:txBody>
      </p:sp>
    </p:spTree>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name="Slide 275">
    <p:bg>
      <p:bgPr>
        <a:solidFill>
          <a:srgbClr val="12324A"/>
        </a:solidFill>
        <a:effectLst/>
      </p:bgPr>
    </p:bg>
    <p:spTree>
      <p:nvGrpSpPr>
        <p:cNvPr id="1" name=""/>
        <p:cNvGrpSpPr/>
        <p:nvPr/>
      </p:nvGrpSpPr>
      <p:grpSpPr>
        <a:xfrm>
          <a:off x="0" y="0"/>
          <a:ext cx="0" cy="0"/>
          <a:chOff x="0" y="0"/>
          <a:chExt cx="0" cy="0"/>
        </a:xfrm>
      </p:grpSpPr>
      <p:sp>
        <p:nvSpPr>
          <p:cNvPr id="2" name="Shape 0"/>
          <p:cNvSpPr/>
          <p:nvPr/>
        </p:nvSpPr>
        <p:spPr>
          <a:xfrm>
            <a:off x="0" y="0"/>
            <a:ext cx="152396" cy="6858000"/>
          </a:xfrm>
          <a:prstGeom prst="rect">
            <a:avLst/>
          </a:prstGeom>
          <a:solidFill>
            <a:srgbClr val="E3AE2E"/>
          </a:solidFill>
          <a:ln w="12700">
            <a:solidFill>
              <a:srgbClr val="E3AE2E"/>
            </a:solidFill>
            <a:prstDash val="solid"/>
          </a:ln>
        </p:spPr>
        <p:txBody>
          <a:bodyPr/>
          <a:lstStyle/>
          <a:p>
            <a:endParaRPr lang="fr-FR"/>
          </a:p>
        </p:txBody>
      </p:sp>
      <p:sp>
        <p:nvSpPr>
          <p:cNvPr id="3" name="Text 1"/>
          <p:cNvSpPr/>
          <p:nvPr/>
        </p:nvSpPr>
        <p:spPr>
          <a:xfrm>
            <a:off x="812780" y="698500"/>
            <a:ext cx="3809905" cy="952500"/>
          </a:xfrm>
          <a:prstGeom prst="rect">
            <a:avLst/>
          </a:prstGeom>
          <a:noFill/>
          <a:ln/>
        </p:spPr>
        <p:txBody>
          <a:bodyPr wrap="square" rtlCol="0" anchor="ctr"/>
          <a:lstStyle/>
          <a:p>
            <a:pPr marL="0" indent="0">
              <a:buNone/>
            </a:pPr>
            <a:r>
              <a:rPr lang="en-US" sz="7200" b="1" dirty="0">
                <a:solidFill>
                  <a:srgbClr val="E3AE2E"/>
                </a:solidFill>
                <a:latin typeface="Segoe UI" pitchFamily="34" charset="0"/>
                <a:ea typeface="Segoe UI" pitchFamily="34" charset="-122"/>
                <a:cs typeface="Segoe UI" pitchFamily="34" charset="-120"/>
              </a:rPr>
              <a:t>10</a:t>
            </a:r>
            <a:endParaRPr lang="en-US" sz="7200" dirty="0"/>
          </a:p>
        </p:txBody>
      </p:sp>
      <p:sp>
        <p:nvSpPr>
          <p:cNvPr id="4" name="Text 2"/>
          <p:cNvSpPr/>
          <p:nvPr/>
        </p:nvSpPr>
        <p:spPr>
          <a:xfrm>
            <a:off x="812780" y="1714500"/>
            <a:ext cx="10477238" cy="635000"/>
          </a:xfrm>
          <a:prstGeom prst="rect">
            <a:avLst/>
          </a:prstGeom>
          <a:noFill/>
          <a:ln/>
        </p:spPr>
        <p:txBody>
          <a:bodyPr wrap="square" rtlCol="0" anchor="ctr">
            <a:normAutofit/>
          </a:bodyPr>
          <a:lstStyle/>
          <a:p>
            <a:pPr marL="0" indent="0">
              <a:buNone/>
            </a:pPr>
            <a:r>
              <a:rPr lang="en-US" sz="4000" b="1" dirty="0">
                <a:solidFill>
                  <a:srgbClr val="FCFCFA"/>
                </a:solidFill>
                <a:latin typeface="Segoe UI" pitchFamily="34" charset="0"/>
                <a:ea typeface="Segoe UI" pitchFamily="34" charset="-122"/>
                <a:cs typeface="Segoe UI" pitchFamily="34" charset="-120"/>
              </a:rPr>
              <a:t>Intérim et mandats</a:t>
            </a:r>
            <a:endParaRPr lang="en-US" sz="4000" dirty="0"/>
          </a:p>
        </p:txBody>
      </p:sp>
      <p:sp>
        <p:nvSpPr>
          <p:cNvPr id="5" name="Text 3"/>
          <p:cNvSpPr/>
          <p:nvPr/>
        </p:nvSpPr>
        <p:spPr>
          <a:xfrm>
            <a:off x="812780" y="2413000"/>
            <a:ext cx="10159746" cy="698500"/>
          </a:xfrm>
          <a:prstGeom prst="rect">
            <a:avLst/>
          </a:prstGeom>
          <a:noFill/>
          <a:ln/>
        </p:spPr>
        <p:txBody>
          <a:bodyPr wrap="square" rtlCol="0" anchor="t">
            <a:normAutofit/>
          </a:bodyPr>
          <a:lstStyle/>
          <a:p>
            <a:pPr marL="0" indent="0">
              <a:buNone/>
            </a:pPr>
            <a:r>
              <a:rPr lang="en-US" sz="1700" dirty="0">
                <a:solidFill>
                  <a:srgbClr val="C9D6E2"/>
                </a:solidFill>
                <a:latin typeface="Segoe UI" pitchFamily="34" charset="0"/>
                <a:ea typeface="Segoe UI" pitchFamily="34" charset="-122"/>
                <a:cs typeface="Segoe UI" pitchFamily="34" charset="-120"/>
              </a:rPr>
              <a:t>Qui agit quand un titulaire est absent, et jusqu’à quand une PRMP est en fonction : deux continuités tenues par l’application, sur pièce et avec des dates.</a:t>
            </a:r>
            <a:endParaRPr lang="en-US" sz="1700" dirty="0"/>
          </a:p>
        </p:txBody>
      </p:sp>
      <p:sp>
        <p:nvSpPr>
          <p:cNvPr id="6" name="Text 4"/>
          <p:cNvSpPr/>
          <p:nvPr/>
        </p:nvSpPr>
        <p:spPr>
          <a:xfrm>
            <a:off x="812780" y="3429000"/>
            <a:ext cx="5079873" cy="228600"/>
          </a:xfrm>
          <a:prstGeom prst="rect">
            <a:avLst/>
          </a:prstGeom>
          <a:noFill/>
          <a:ln/>
        </p:spPr>
        <p:txBody>
          <a:bodyPr wrap="square" rtlCol="0" anchor="ctr"/>
          <a:lstStyle/>
          <a:p>
            <a:pPr marL="0" indent="0">
              <a:buNone/>
            </a:pPr>
            <a:r>
              <a:rPr lang="en-US" sz="1200" b="1" kern="0" spc="200" dirty="0">
                <a:solidFill>
                  <a:srgbClr val="E3AE2E"/>
                </a:solidFill>
                <a:latin typeface="Segoe UI" pitchFamily="34" charset="0"/>
                <a:ea typeface="Segoe UI" pitchFamily="34" charset="-122"/>
                <a:cs typeface="Segoe UI" pitchFamily="34" charset="-120"/>
              </a:rPr>
              <a:t>CE QUE CELA CHANGE</a:t>
            </a:r>
            <a:endParaRPr lang="en-US" sz="1200" dirty="0"/>
          </a:p>
        </p:txBody>
      </p:sp>
      <p:sp>
        <p:nvSpPr>
          <p:cNvPr id="7" name="Text 5"/>
          <p:cNvSpPr/>
          <p:nvPr/>
        </p:nvSpPr>
        <p:spPr>
          <a:xfrm>
            <a:off x="812780" y="3714750"/>
            <a:ext cx="10286743" cy="2413000"/>
          </a:xfrm>
          <a:prstGeom prst="rect">
            <a:avLst/>
          </a:prstGeom>
          <a:noFill/>
          <a:ln/>
        </p:spPr>
        <p:txBody>
          <a:bodyPr wrap="square" rtlCol="0" anchor="t">
            <a:normAutofit/>
          </a:bodyPr>
          <a:lstStyle/>
          <a:p>
            <a:pPr marL="203200" indent="-203200">
              <a:spcAft>
                <a:spcPts val="800"/>
              </a:spcAft>
              <a:buSzPct val="100000"/>
              <a:buChar char="•"/>
            </a:pPr>
            <a:r>
              <a:rPr lang="en-US" sz="1500" dirty="0">
                <a:solidFill>
                  <a:srgbClr val="FCFCFA"/>
                </a:solidFill>
                <a:latin typeface="Segoe UI" pitchFamily="34" charset="0"/>
                <a:ea typeface="Segoe UI" pitchFamily="34" charset="-122"/>
                <a:cs typeface="Segoe UI" pitchFamily="34" charset="-120"/>
              </a:rPr>
              <a:t>Le Président et le Chef de commission ne sont plus des points uniques de défaillance : leur absence est couverte d’avance, par un intérimaire nommé, sur note de service.</a:t>
            </a:r>
            <a:endParaRPr lang="en-US" sz="1500" dirty="0"/>
          </a:p>
          <a:p>
            <a:pPr marL="203200" indent="-203200">
              <a:spcAft>
                <a:spcPts val="800"/>
              </a:spcAft>
              <a:buSzPct val="100000"/>
              <a:buChar char="•"/>
            </a:pPr>
            <a:r>
              <a:rPr lang="en-US" sz="1500" dirty="0">
                <a:solidFill>
                  <a:srgbClr val="FCFCFA"/>
                </a:solidFill>
                <a:latin typeface="Segoe UI" pitchFamily="34" charset="0"/>
                <a:ea typeface="Segoe UI" pitchFamily="34" charset="-122"/>
                <a:cs typeface="Segoe UI" pitchFamily="34" charset="-120"/>
              </a:rPr>
              <a:t>Chaque acte posé par intérim reste au nom de celui qui l’a posé, avec la mention « par intérim de » : la responsabilité ne se dilue jamais.</a:t>
            </a:r>
            <a:endParaRPr lang="en-US" sz="1500" dirty="0"/>
          </a:p>
          <a:p>
            <a:pPr marL="203200" indent="-203200">
              <a:spcAft>
                <a:spcPts val="800"/>
              </a:spcAft>
              <a:buSzPct val="100000"/>
              <a:buChar char="•"/>
            </a:pPr>
            <a:r>
              <a:rPr lang="en-US" sz="1500" dirty="0">
                <a:solidFill>
                  <a:srgbClr val="FCFCFA"/>
                </a:solidFill>
                <a:latin typeface="Segoe UI" pitchFamily="34" charset="0"/>
                <a:ea typeface="Segoe UI" pitchFamily="34" charset="-122"/>
                <a:cs typeface="Segoe UI" pitchFamily="34" charset="-120"/>
              </a:rPr>
              <a:t>Le mandat de chaque PRMP est tenu à jour avec son arrêté : une PRMP sans mandat en cours ne peut plus faire avancer ses dossiers, et la Commission, elle, n’est jamais arrêtée.</a:t>
            </a:r>
            <a:endParaRPr lang="en-US" sz="1500" dirty="0"/>
          </a:p>
        </p:txBody>
      </p:sp>
      <p:sp>
        <p:nvSpPr>
          <p:cNvPr id="8"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8FA6BB"/>
                </a:solidFill>
                <a:latin typeface="Segoe UI" pitchFamily="34" charset="0"/>
                <a:ea typeface="Segoe UI" pitchFamily="34" charset="-122"/>
                <a:cs typeface="Segoe UI" pitchFamily="34" charset="-120"/>
              </a:rPr>
              <a:t>PRS 2.0 · L’application de bout en bout · dossier de recette · 275</a:t>
            </a:r>
            <a:endParaRPr lang="en-US" sz="1100" dirty="0"/>
          </a:p>
        </p:txBody>
      </p:sp>
    </p:spTree>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name="Slide 27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INTÉRIM ET MANDATS · LE PARCOURS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De l’absence déclarée à la reprise</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L’intérim couvre l’absence d’un contrôleur qui dirige le circuit ; le mandat encadre la durée de fonction d’une PRMP. Les deux se lisent dans des historiques qui ne s’effacent pas.</a:t>
            </a:r>
            <a:endParaRPr lang="en-US" sz="1300" dirty="0"/>
          </a:p>
        </p:txBody>
      </p:sp>
      <p:sp>
        <p:nvSpPr>
          <p:cNvPr id="5" name="Shape 3"/>
          <p:cNvSpPr/>
          <p:nvPr/>
        </p:nvSpPr>
        <p:spPr>
          <a:xfrm>
            <a:off x="812780"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6" name="Text 4"/>
          <p:cNvSpPr/>
          <p:nvPr/>
        </p:nvSpPr>
        <p:spPr>
          <a:xfrm>
            <a:off x="901677"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LE PRÉSIDENT OU LE CHEF DE COMMISSION</a:t>
            </a:r>
            <a:endParaRPr lang="en-US" sz="1000" dirty="0"/>
          </a:p>
        </p:txBody>
      </p:sp>
      <p:sp>
        <p:nvSpPr>
          <p:cNvPr id="7" name="Text 5"/>
          <p:cNvSpPr/>
          <p:nvPr/>
        </p:nvSpPr>
        <p:spPr>
          <a:xfrm>
            <a:off x="901677"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Déclarer son absence</a:t>
            </a:r>
            <a:endParaRPr lang="en-US" sz="1400" dirty="0"/>
          </a:p>
        </p:txBody>
      </p:sp>
      <p:sp>
        <p:nvSpPr>
          <p:cNvPr id="8" name="Text 6"/>
          <p:cNvSpPr/>
          <p:nvPr/>
        </p:nvSpPr>
        <p:spPr>
          <a:xfrm>
            <a:off x="901677"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Le titulaire désigne lui-même son intérimaire, pour une période, avec la note de service en PDF.</a:t>
            </a:r>
            <a:endParaRPr lang="en-US" sz="1150" dirty="0"/>
          </a:p>
        </p:txBody>
      </p:sp>
      <p:sp>
        <p:nvSpPr>
          <p:cNvPr id="9" name="Text 7"/>
          <p:cNvSpPr/>
          <p:nvPr/>
        </p:nvSpPr>
        <p:spPr>
          <a:xfrm>
            <a:off x="2444689"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10" name="Shape 8"/>
          <p:cNvSpPr/>
          <p:nvPr/>
        </p:nvSpPr>
        <p:spPr>
          <a:xfrm>
            <a:off x="2597085"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11" name="Text 9"/>
          <p:cNvSpPr/>
          <p:nvPr/>
        </p:nvSpPr>
        <p:spPr>
          <a:xfrm>
            <a:off x="2685983"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L’ADMINISTRATEUR</a:t>
            </a:r>
            <a:endParaRPr lang="en-US" sz="1000" dirty="0"/>
          </a:p>
        </p:txBody>
      </p:sp>
      <p:sp>
        <p:nvSpPr>
          <p:cNvPr id="12" name="Text 10"/>
          <p:cNvSpPr/>
          <p:nvPr/>
        </p:nvSpPr>
        <p:spPr>
          <a:xfrm>
            <a:off x="2685983"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Désigner en repli</a:t>
            </a:r>
            <a:endParaRPr lang="en-US" sz="1400" dirty="0"/>
          </a:p>
        </p:txBody>
      </p:sp>
      <p:sp>
        <p:nvSpPr>
          <p:cNvPr id="13" name="Text 11"/>
          <p:cNvSpPr/>
          <p:nvPr/>
        </p:nvSpPr>
        <p:spPr>
          <a:xfrm>
            <a:off x="2685983"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Si l’absent n’a rien déclaré, l’Administrateur désigne ou révoque à sa place.</a:t>
            </a:r>
            <a:endParaRPr lang="en-US" sz="1150" dirty="0"/>
          </a:p>
        </p:txBody>
      </p:sp>
      <p:sp>
        <p:nvSpPr>
          <p:cNvPr id="14" name="Text 12"/>
          <p:cNvSpPr/>
          <p:nvPr/>
        </p:nvSpPr>
        <p:spPr>
          <a:xfrm>
            <a:off x="4228994"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15" name="Shape 13"/>
          <p:cNvSpPr/>
          <p:nvPr/>
        </p:nvSpPr>
        <p:spPr>
          <a:xfrm>
            <a:off x="4381390"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16" name="Text 14"/>
          <p:cNvSpPr/>
          <p:nvPr/>
        </p:nvSpPr>
        <p:spPr>
          <a:xfrm>
            <a:off x="4470288"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L’INTÉRIMAIRE</a:t>
            </a:r>
            <a:endParaRPr lang="en-US" sz="1000" dirty="0"/>
          </a:p>
        </p:txBody>
      </p:sp>
      <p:sp>
        <p:nvSpPr>
          <p:cNvPr id="17" name="Text 15"/>
          <p:cNvSpPr/>
          <p:nvPr/>
        </p:nvSpPr>
        <p:spPr>
          <a:xfrm>
            <a:off x="4470288"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Agir par intérim</a:t>
            </a:r>
            <a:endParaRPr lang="en-US" sz="1400" dirty="0"/>
          </a:p>
        </p:txBody>
      </p:sp>
      <p:sp>
        <p:nvSpPr>
          <p:cNvPr id="18" name="Text 16"/>
          <p:cNvSpPr/>
          <p:nvPr/>
        </p:nvSpPr>
        <p:spPr>
          <a:xfrm>
            <a:off x="4470288"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L’intérimaire dispatche, vise, retourne et signe sa part dans le périmètre du titulaire, sous son propre nom.</a:t>
            </a:r>
            <a:endParaRPr lang="en-US" sz="1150" dirty="0"/>
          </a:p>
        </p:txBody>
      </p:sp>
      <p:sp>
        <p:nvSpPr>
          <p:cNvPr id="19" name="Text 17"/>
          <p:cNvSpPr/>
          <p:nvPr/>
        </p:nvSpPr>
        <p:spPr>
          <a:xfrm>
            <a:off x="6013300"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20" name="Shape 18"/>
          <p:cNvSpPr/>
          <p:nvPr/>
        </p:nvSpPr>
        <p:spPr>
          <a:xfrm>
            <a:off x="6165696"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21" name="Text 19"/>
          <p:cNvSpPr/>
          <p:nvPr/>
        </p:nvSpPr>
        <p:spPr>
          <a:xfrm>
            <a:off x="6254594"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L’ADMINISTRATEUR</a:t>
            </a:r>
            <a:endParaRPr lang="en-US" sz="1000" dirty="0"/>
          </a:p>
        </p:txBody>
      </p:sp>
      <p:sp>
        <p:nvSpPr>
          <p:cNvPr id="22" name="Text 20"/>
          <p:cNvSpPr/>
          <p:nvPr/>
        </p:nvSpPr>
        <p:spPr>
          <a:xfrm>
            <a:off x="6254594"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Nommer la PRMP</a:t>
            </a:r>
            <a:endParaRPr lang="en-US" sz="1400" dirty="0"/>
          </a:p>
        </p:txBody>
      </p:sp>
      <p:sp>
        <p:nvSpPr>
          <p:cNvPr id="23" name="Text 21"/>
          <p:cNvSpPr/>
          <p:nvPr/>
        </p:nvSpPr>
        <p:spPr>
          <a:xfrm>
            <a:off x="6254594"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L’Administrateur déclare le mandat de trois ans à partir de l’arrêté de nomination.</a:t>
            </a:r>
            <a:endParaRPr lang="en-US" sz="1150" dirty="0"/>
          </a:p>
        </p:txBody>
      </p:sp>
      <p:sp>
        <p:nvSpPr>
          <p:cNvPr id="24" name="Text 22"/>
          <p:cNvSpPr/>
          <p:nvPr/>
        </p:nvSpPr>
        <p:spPr>
          <a:xfrm>
            <a:off x="7797605"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25" name="Shape 23"/>
          <p:cNvSpPr/>
          <p:nvPr/>
        </p:nvSpPr>
        <p:spPr>
          <a:xfrm>
            <a:off x="7950001"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26" name="Text 24"/>
          <p:cNvSpPr/>
          <p:nvPr/>
        </p:nvSpPr>
        <p:spPr>
          <a:xfrm>
            <a:off x="8038899"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L’ADMINISTRATEUR</a:t>
            </a:r>
            <a:endParaRPr lang="en-US" sz="1000" dirty="0"/>
          </a:p>
        </p:txBody>
      </p:sp>
      <p:sp>
        <p:nvSpPr>
          <p:cNvPr id="27" name="Text 25"/>
          <p:cNvSpPr/>
          <p:nvPr/>
        </p:nvSpPr>
        <p:spPr>
          <a:xfrm>
            <a:off x="8038899"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Reconduire une fois</a:t>
            </a:r>
            <a:endParaRPr lang="en-US" sz="1400" dirty="0"/>
          </a:p>
        </p:txBody>
      </p:sp>
      <p:sp>
        <p:nvSpPr>
          <p:cNvPr id="28" name="Text 26"/>
          <p:cNvSpPr/>
          <p:nvPr/>
        </p:nvSpPr>
        <p:spPr>
          <a:xfrm>
            <a:off x="8038899"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Une reconduction est un nouveau mandat, avec un nouvel arrêté ; jamais une prolongation.</a:t>
            </a:r>
            <a:endParaRPr lang="en-US" sz="1150" dirty="0"/>
          </a:p>
        </p:txBody>
      </p:sp>
      <p:sp>
        <p:nvSpPr>
          <p:cNvPr id="29" name="Text 27"/>
          <p:cNvSpPr/>
          <p:nvPr/>
        </p:nvSpPr>
        <p:spPr>
          <a:xfrm>
            <a:off x="9581910"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30" name="Shape 28"/>
          <p:cNvSpPr/>
          <p:nvPr/>
        </p:nvSpPr>
        <p:spPr>
          <a:xfrm>
            <a:off x="9734307" y="1778000"/>
            <a:ext cx="1644609" cy="1905000"/>
          </a:xfrm>
          <a:prstGeom prst="roundRect">
            <a:avLst>
              <a:gd name="adj" fmla="val 3336"/>
            </a:avLst>
          </a:prstGeom>
          <a:solidFill>
            <a:srgbClr val="12324A"/>
          </a:solidFill>
          <a:ln w="19050">
            <a:solidFill>
              <a:srgbClr val="12324A"/>
            </a:solidFill>
            <a:prstDash val="solid"/>
          </a:ln>
        </p:spPr>
        <p:txBody>
          <a:bodyPr/>
          <a:lstStyle/>
          <a:p>
            <a:endParaRPr lang="fr-FR"/>
          </a:p>
        </p:txBody>
      </p:sp>
      <p:sp>
        <p:nvSpPr>
          <p:cNvPr id="31" name="Text 29"/>
          <p:cNvSpPr/>
          <p:nvPr/>
        </p:nvSpPr>
        <p:spPr>
          <a:xfrm>
            <a:off x="9823204" y="1866900"/>
            <a:ext cx="1466813" cy="215900"/>
          </a:xfrm>
          <a:prstGeom prst="rect">
            <a:avLst/>
          </a:prstGeom>
          <a:noFill/>
          <a:ln/>
        </p:spPr>
        <p:txBody>
          <a:bodyPr wrap="square" rtlCol="0" anchor="ctr">
            <a:normAutofit/>
          </a:bodyPr>
          <a:lstStyle/>
          <a:p>
            <a:pPr marL="0" indent="0">
              <a:buNone/>
            </a:pPr>
            <a:r>
              <a:rPr lang="en-US" sz="1000" b="1" dirty="0">
                <a:solidFill>
                  <a:srgbClr val="E3AE2E"/>
                </a:solidFill>
                <a:latin typeface="Segoe UI" pitchFamily="34" charset="0"/>
                <a:ea typeface="Segoe UI" pitchFamily="34" charset="-122"/>
                <a:cs typeface="Segoe UI" pitchFamily="34" charset="-120"/>
              </a:rPr>
              <a:t>LE TITULAIRE</a:t>
            </a:r>
            <a:endParaRPr lang="en-US" sz="1000" dirty="0"/>
          </a:p>
        </p:txBody>
      </p:sp>
      <p:sp>
        <p:nvSpPr>
          <p:cNvPr id="32" name="Text 30"/>
          <p:cNvSpPr/>
          <p:nvPr/>
        </p:nvSpPr>
        <p:spPr>
          <a:xfrm>
            <a:off x="9823204" y="2095500"/>
            <a:ext cx="1466813" cy="508000"/>
          </a:xfrm>
          <a:prstGeom prst="rect">
            <a:avLst/>
          </a:prstGeom>
          <a:noFill/>
          <a:ln/>
        </p:spPr>
        <p:txBody>
          <a:bodyPr wrap="square" rtlCol="0" anchor="t">
            <a:normAutofit/>
          </a:bodyPr>
          <a:lstStyle/>
          <a:p>
            <a:pPr marL="0" indent="0">
              <a:buNone/>
            </a:pPr>
            <a:r>
              <a:rPr lang="en-US" sz="1400" b="1" dirty="0">
                <a:solidFill>
                  <a:srgbClr val="FCFCFA"/>
                </a:solidFill>
                <a:latin typeface="Segoe UI" pitchFamily="34" charset="0"/>
                <a:ea typeface="Segoe UI" pitchFamily="34" charset="-122"/>
                <a:cs typeface="Segoe UI" pitchFamily="34" charset="-120"/>
              </a:rPr>
              <a:t>Reprendre sans perte</a:t>
            </a:r>
            <a:endParaRPr lang="en-US" sz="1400" dirty="0"/>
          </a:p>
        </p:txBody>
      </p:sp>
      <p:sp>
        <p:nvSpPr>
          <p:cNvPr id="33" name="Text 31"/>
          <p:cNvSpPr/>
          <p:nvPr/>
        </p:nvSpPr>
        <p:spPr>
          <a:xfrm>
            <a:off x="9823204" y="2603500"/>
            <a:ext cx="1466813" cy="1016000"/>
          </a:xfrm>
          <a:prstGeom prst="rect">
            <a:avLst/>
          </a:prstGeom>
          <a:noFill/>
          <a:ln/>
        </p:spPr>
        <p:txBody>
          <a:bodyPr wrap="square" rtlCol="0" anchor="t">
            <a:normAutofit/>
          </a:bodyPr>
          <a:lstStyle/>
          <a:p>
            <a:pPr marL="0" indent="0">
              <a:buNone/>
            </a:pPr>
            <a:r>
              <a:rPr lang="en-US" sz="1150" dirty="0">
                <a:solidFill>
                  <a:srgbClr val="C9D6E2"/>
                </a:solidFill>
                <a:latin typeface="Segoe UI" pitchFamily="34" charset="0"/>
                <a:ea typeface="Segoe UI" pitchFamily="34" charset="-122"/>
                <a:cs typeface="Segoe UI" pitchFamily="34" charset="-120"/>
              </a:rPr>
              <a:t>À la fin de l’absence ou de la vacance, le titulaire retrouve ses dossiers ; rien n’a été réattribué.</a:t>
            </a:r>
            <a:endParaRPr lang="en-US" sz="1150" dirty="0"/>
          </a:p>
        </p:txBody>
      </p:sp>
      <p:sp>
        <p:nvSpPr>
          <p:cNvPr id="34" name="Text 3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276</a:t>
            </a:r>
            <a:endParaRPr lang="en-US" sz="1100" dirty="0"/>
          </a:p>
        </p:txBody>
      </p:sp>
    </p:spTree>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name="Slide 277">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INTÉRIM ET MANDATS</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L’intérim des contrôleurs qui dirigent le circuit</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Le Président et le Chef de commission désignent d’avance qui agit à leur place pendant une absence. L’intérim est un acte daté, appuyé sur une pièce, qui ne se modifie jamais.</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277</a:t>
            </a:r>
            <a:endParaRPr lang="en-US" sz="1100" dirty="0"/>
          </a:p>
        </p:txBody>
      </p:sp>
    </p:spTree>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name="Slide 27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INTÉRIM · CHEF DE COMMISSION</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Mon intérim</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Mon intérim"/>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Président et le Chef de commission, chacun pour sa propre absence.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L’écran rappelle l’engagement : les dossiers et les actions du titulaire sont ouverts à l’intérimaire, </a:t>
            </a:r>
            <a:r>
              <a:rPr lang="en-US" sz="1200" b="1" dirty="0">
                <a:solidFill>
                  <a:srgbClr val="1B2A3A"/>
                </a:solidFill>
                <a:latin typeface="Segoe UI" pitchFamily="34" charset="0"/>
                <a:ea typeface="Segoe UI" pitchFamily="34" charset="-122"/>
                <a:cs typeface="Segoe UI" pitchFamily="34" charset="-120"/>
              </a:rPr>
              <a:t>sous son nom</a:t>
            </a:r>
            <a:r>
              <a:rPr lang="en-US" sz="1200" dirty="0">
                <a:solidFill>
                  <a:srgbClr val="1B2A3A"/>
                </a:solidFill>
                <a:latin typeface="Segoe UI" pitchFamily="34" charset="0"/>
                <a:ea typeface="Segoe UI" pitchFamily="34" charset="-122"/>
                <a:cs typeface="Segoe UI" pitchFamily="34" charset="-120"/>
              </a:rPr>
              <a:t>, tracés « par intérim de vous ».</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titulaire garde ses propres dossiers ; ses notifications sont </a:t>
            </a:r>
            <a:r>
              <a:rPr lang="en-US" sz="1200" b="1" dirty="0">
                <a:solidFill>
                  <a:srgbClr val="1B2A3A"/>
                </a:solidFill>
                <a:latin typeface="Segoe UI" pitchFamily="34" charset="0"/>
                <a:ea typeface="Segoe UI" pitchFamily="34" charset="-122"/>
                <a:cs typeface="Segoe UI" pitchFamily="34" charset="-120"/>
              </a:rPr>
              <a:t>copiées</a:t>
            </a:r>
            <a:r>
              <a:rPr lang="en-US" sz="1200" dirty="0">
                <a:solidFill>
                  <a:srgbClr val="1B2A3A"/>
                </a:solidFill>
                <a:latin typeface="Segoe UI" pitchFamily="34" charset="0"/>
                <a:ea typeface="Segoe UI" pitchFamily="34" charset="-122"/>
                <a:cs typeface="Segoe UI" pitchFamily="34" charset="-120"/>
              </a:rPr>
              <a:t> à l’intérimaire.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L’historique montre chaque intérim avec sa période, son motif, sa référence, sa pièce et son statut — ici un intérim </a:t>
            </a:r>
            <a:r>
              <a:rPr lang="en-US" sz="1200" b="1" dirty="0">
                <a:solidFill>
                  <a:srgbClr val="1B2A3A"/>
                </a:solidFill>
                <a:latin typeface="Segoe UI" pitchFamily="34" charset="0"/>
                <a:ea typeface="Segoe UI" pitchFamily="34" charset="-122"/>
                <a:cs typeface="Segoe UI" pitchFamily="34" charset="-120"/>
              </a:rPr>
              <a:t>révoqué</a:t>
            </a:r>
            <a:r>
              <a:rPr lang="en-US" sz="1200" dirty="0">
                <a:solidFill>
                  <a:srgbClr val="1B2A3A"/>
                </a:solidFill>
                <a:latin typeface="Segoe UI" pitchFamily="34" charset="0"/>
                <a:ea typeface="Segoe UI" pitchFamily="34" charset="-122"/>
                <a:cs typeface="Segoe UI" pitchFamily="34" charset="-120"/>
              </a:rPr>
              <a:t> avant terme, avec la date et la raison.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RG-INT-01 · RG-INT-03 · RG-INT-05 · RG-INT-06 · RG-INT-07 · RG-INT-10</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278</a:t>
            </a:r>
            <a:endParaRPr lang="en-US" sz="1100" dirty="0"/>
          </a:p>
        </p:txBody>
      </p:sp>
    </p:spTree>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name="Slide 27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INTÉRIM · CHEF DE COMMISSION</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Désigner un intérimaire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Désigner un intérimair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titulaire absent.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liste ne propose que les personnes </a:t>
            </a:r>
            <a:r>
              <a:rPr lang="en-US" sz="1200" b="1" dirty="0">
                <a:solidFill>
                  <a:srgbClr val="1B2A3A"/>
                </a:solidFill>
                <a:latin typeface="Segoe UI" pitchFamily="34" charset="0"/>
                <a:ea typeface="Segoe UI" pitchFamily="34" charset="-122"/>
                <a:cs typeface="Segoe UI" pitchFamily="34" charset="-120"/>
              </a:rPr>
              <a:t>admissibles</a:t>
            </a:r>
            <a:r>
              <a:rPr lang="en-US" sz="1200" dirty="0">
                <a:solidFill>
                  <a:srgbClr val="1B2A3A"/>
                </a:solidFill>
                <a:latin typeface="Segoe UI" pitchFamily="34" charset="0"/>
                <a:ea typeface="Segoe UI" pitchFamily="34" charset="-122"/>
                <a:cs typeface="Segoe UI" pitchFamily="34" charset="-120"/>
              </a:rPr>
              <a:t> : pour un Chef de commission, un autre Chef de commission ou un Membre de sa localité.</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Période, motif (congé, mission, maladie, vacance de poste, autre) et référence de la note de service sont exigés.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note de service ou la décision est jointe en PDF ; elle reste </a:t>
            </a:r>
            <a:r>
              <a:rPr lang="en-US" sz="1200" b="1" dirty="0">
                <a:solidFill>
                  <a:srgbClr val="1B2A3A"/>
                </a:solidFill>
                <a:latin typeface="Segoe UI" pitchFamily="34" charset="0"/>
                <a:ea typeface="Segoe UI" pitchFamily="34" charset="-122"/>
                <a:cs typeface="Segoe UI" pitchFamily="34" charset="-120"/>
              </a:rPr>
              <a:t>consultable par la Commission</a:t>
            </a:r>
            <a:r>
              <a:rPr lang="en-US" sz="1200" dirty="0">
                <a:solidFill>
                  <a:srgbClr val="1B2A3A"/>
                </a:solidFill>
                <a:latin typeface="Segoe UI" pitchFamily="34" charset="0"/>
                <a:ea typeface="Segoe UI" pitchFamily="34" charset="-122"/>
                <a:cs typeface="Segoe UI" pitchFamily="34" charset="-120"/>
              </a:rPr>
              <a: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RG-INT-01 · RG-INT-02 · RG-INT-04</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279</a:t>
            </a:r>
            <a:endParaRPr lang="en-US" sz="1100" dirty="0"/>
          </a:p>
        </p:txBody>
      </p:sp>
    </p:spTree>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name="Slide 28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INTÉRIM · ADMINISTRATEUR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intérims des contrôleurs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intérims des contrôleur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Tous les intérims de la Commission en une liste : titulaire, intérimaire, période, motif, référence, statut et auteur de la désignation.</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L’Administrateur désigne </a:t>
            </a:r>
            <a:r>
              <a:rPr lang="en-US" sz="1200" b="1" dirty="0">
                <a:solidFill>
                  <a:srgbClr val="1B2A3A"/>
                </a:solidFill>
                <a:latin typeface="Segoe UI" pitchFamily="34" charset="0"/>
                <a:ea typeface="Segoe UI" pitchFamily="34" charset="-122"/>
                <a:cs typeface="Segoe UI" pitchFamily="34" charset="-120"/>
              </a:rPr>
              <a:t>en repli</a:t>
            </a:r>
            <a:r>
              <a:rPr lang="en-US" sz="1200" dirty="0">
                <a:solidFill>
                  <a:srgbClr val="1B2A3A"/>
                </a:solidFill>
                <a:latin typeface="Segoe UI" pitchFamily="34" charset="0"/>
                <a:ea typeface="Segoe UI" pitchFamily="34" charset="-122"/>
                <a:cs typeface="Segoe UI" pitchFamily="34" charset="-120"/>
              </a:rPr>
              <a:t>, pour un absent qui n’a rien déclaré, et peut révoquer.</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Une fin avant terme est une révocation, une prolongation un nouvel intérim : l’historique reste complet.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RG-INT-01 · RG-INT-03 · RG-INT-04 · RG-INT-05 · RG-INT-06</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280</a:t>
            </a:r>
            <a:endParaRPr lang="en-US" sz="1100" dirty="0"/>
          </a:p>
        </p:txBody>
      </p:sp>
    </p:spTree>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name="Slide 281">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INTÉRIM ET MANDATS</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Le mandat de la PRMP</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La PRMP agit en vertu d’un arrêté de nomination. L’application tient le registre de ses mandats et en tire les conséquences, sans intervention manuelle.</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281</a:t>
            </a:r>
            <a:endParaRPr lang="en-US" sz="1100" dirty="0"/>
          </a:p>
        </p:txBody>
      </p:sp>
    </p:spTree>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name="Slide 28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MANDATS · ADMINISTRATEUR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mandats des PRMP</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mandats des PRMP"/>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Chaque mandat : PRMP, titulaire, numéro, début à la date de l’arrêté, fin, référence de l’arrêté, statut.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 mandat dure </a:t>
            </a:r>
            <a:r>
              <a:rPr lang="en-US" sz="1200" b="1" dirty="0">
                <a:solidFill>
                  <a:srgbClr val="1B2A3A"/>
                </a:solidFill>
                <a:latin typeface="Segoe UI" pitchFamily="34" charset="0"/>
                <a:ea typeface="Segoe UI" pitchFamily="34" charset="-122"/>
                <a:cs typeface="Segoe UI" pitchFamily="34" charset="-120"/>
              </a:rPr>
              <a:t>trois ans</a:t>
            </a:r>
            <a:r>
              <a:rPr lang="en-US" sz="1200" dirty="0">
                <a:solidFill>
                  <a:srgbClr val="1B2A3A"/>
                </a:solidFill>
                <a:latin typeface="Segoe UI" pitchFamily="34" charset="0"/>
                <a:ea typeface="Segoe UI" pitchFamily="34" charset="-122"/>
                <a:cs typeface="Segoe UI" pitchFamily="34" charset="-120"/>
              </a:rPr>
              <a:t> et ne se renouvelle </a:t>
            </a:r>
            <a:r>
              <a:rPr lang="en-US" sz="1200" b="1" dirty="0">
                <a:solidFill>
                  <a:srgbClr val="1B2A3A"/>
                </a:solidFill>
                <a:latin typeface="Segoe UI" pitchFamily="34" charset="0"/>
                <a:ea typeface="Segoe UI" pitchFamily="34" charset="-122"/>
                <a:cs typeface="Segoe UI" pitchFamily="34" charset="-120"/>
              </a:rPr>
              <a:t>qu’une fois</a:t>
            </a:r>
            <a:r>
              <a:rPr lang="en-US" sz="1200" dirty="0">
                <a:solidFill>
                  <a:srgbClr val="1B2A3A"/>
                </a:solidFill>
                <a:latin typeface="Segoe UI" pitchFamily="34" charset="0"/>
                <a:ea typeface="Segoe UI" pitchFamily="34" charset="-122"/>
                <a:cs typeface="Segoe UI" pitchFamily="34" charset="-120"/>
              </a:rPr>
              <a:t> ; la reconduction exige un nouvel arrêté.</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Une PRMP saisie avant ce registre reçoit un mandat </a:t>
            </a:r>
            <a:r>
              <a:rPr lang="en-US" sz="1200" b="1" dirty="0">
                <a:solidFill>
                  <a:srgbClr val="1B2A3A"/>
                </a:solidFill>
                <a:latin typeface="Segoe UI" pitchFamily="34" charset="0"/>
                <a:ea typeface="Segoe UI" pitchFamily="34" charset="-122"/>
                <a:cs typeface="Segoe UI" pitchFamily="34" charset="-120"/>
              </a:rPr>
              <a:t>implicite</a:t>
            </a:r>
            <a:r>
              <a:rPr lang="en-US" sz="1200" dirty="0">
                <a:solidFill>
                  <a:srgbClr val="1B2A3A"/>
                </a:solidFill>
                <a:latin typeface="Segoe UI" pitchFamily="34" charset="0"/>
                <a:ea typeface="Segoe UI" pitchFamily="34" charset="-122"/>
                <a:cs typeface="Segoe UI" pitchFamily="34" charset="-120"/>
              </a:rPr>
              <a:t>, reconstitué depuis sa fiche, jusqu’à la déclaration du mandat initial.</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RG-INT-11 · RG-INT-12 · RG-INT-13 · RG-INT-16</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282</a:t>
            </a:r>
            <a:endParaRPr lang="en-US" sz="1100" dirty="0"/>
          </a:p>
        </p:txBody>
      </p:sp>
    </p:spTree>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name="Slide 28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MANDATS · ADMINISTRATEUR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Nommer ou reconduire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Nommer ou reconduir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Une nomination ou une reconduction se déclare avec la référence d’un </a:t>
            </a:r>
            <a:r>
              <a:rPr lang="en-US" sz="1200" b="1" dirty="0">
                <a:solidFill>
                  <a:srgbClr val="1B2A3A"/>
                </a:solidFill>
                <a:latin typeface="Segoe UI" pitchFamily="34" charset="0"/>
                <a:ea typeface="Segoe UI" pitchFamily="34" charset="-122"/>
                <a:cs typeface="Segoe UI" pitchFamily="34" charset="-120"/>
              </a:rPr>
              <a:t>nouvel arrêté</a:t>
            </a:r>
            <a:r>
              <a:rPr lang="en-US" sz="1200" dirty="0">
                <a:solidFill>
                  <a:srgbClr val="1B2A3A"/>
                </a:solidFill>
                <a:latin typeface="Segoe UI" pitchFamily="34" charset="0"/>
                <a:ea typeface="Segoe UI" pitchFamily="34" charset="-122"/>
                <a:cs typeface="Segoe UI" pitchFamily="34" charset="-120"/>
              </a:rPr>
              <a:t> : un arrêté n’est jamais réutilisé, même pour la même personne.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fin se propose d’office : date de l’arrêté plus trois ans, moins un jour ; elle ne peut pas aller au-delà.</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 nouveau mandat en cours rouvre le compte de la PRMP reconduite et lève l’attente de ses dossiers.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RG-INT-11 · RG-INT-12 · RG-INT-14 · RG-INT-15</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283</a:t>
            </a:r>
            <a:endParaRPr lang="en-US" sz="1100" dirty="0"/>
          </a:p>
        </p:txBody>
      </p:sp>
    </p:spTree>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name="Slide 28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INTÉRIM ET MANDATS · EN RÉSUMÉ</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Ce que l’application garantit</a:t>
            </a:r>
            <a:endParaRPr lang="en-US" sz="2600" dirty="0"/>
          </a:p>
        </p:txBody>
      </p:sp>
      <p:sp>
        <p:nvSpPr>
          <p:cNvPr id="4" name="Shape 2"/>
          <p:cNvSpPr/>
          <p:nvPr/>
        </p:nvSpPr>
        <p:spPr>
          <a:xfrm>
            <a:off x="812780" y="1206500"/>
            <a:ext cx="3420448" cy="2159000"/>
          </a:xfrm>
          <a:prstGeom prst="rect">
            <a:avLst/>
          </a:prstGeom>
          <a:solidFill>
            <a:srgbClr val="FCFCFA"/>
          </a:solidFill>
          <a:ln w="9525">
            <a:solidFill>
              <a:srgbClr val="D5DCE4"/>
            </a:solidFill>
            <a:prstDash val="solid"/>
          </a:ln>
        </p:spPr>
        <p:txBody>
          <a:bodyPr/>
          <a:lstStyle/>
          <a:p>
            <a:endParaRPr lang="fr-FR"/>
          </a:p>
        </p:txBody>
      </p:sp>
      <p:sp>
        <p:nvSpPr>
          <p:cNvPr id="5" name="Shape 3"/>
          <p:cNvSpPr/>
          <p:nvPr/>
        </p:nvSpPr>
        <p:spPr>
          <a:xfrm>
            <a:off x="812780" y="1206500"/>
            <a:ext cx="3420448" cy="38100"/>
          </a:xfrm>
          <a:prstGeom prst="rect">
            <a:avLst/>
          </a:prstGeom>
          <a:solidFill>
            <a:srgbClr val="1B6FA8"/>
          </a:solidFill>
          <a:ln/>
        </p:spPr>
        <p:txBody>
          <a:bodyPr/>
          <a:lstStyle/>
          <a:p>
            <a:endParaRPr lang="fr-FR"/>
          </a:p>
        </p:txBody>
      </p:sp>
      <p:sp>
        <p:nvSpPr>
          <p:cNvPr id="6" name="Text 4"/>
          <p:cNvSpPr/>
          <p:nvPr/>
        </p:nvSpPr>
        <p:spPr>
          <a:xfrm>
            <a:off x="952476" y="13081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Aucun vide à la tête du circuit</a:t>
            </a:r>
            <a:endParaRPr lang="en-US" sz="1500" dirty="0"/>
          </a:p>
        </p:txBody>
      </p:sp>
      <p:sp>
        <p:nvSpPr>
          <p:cNvPr id="7" name="Text 5"/>
          <p:cNvSpPr/>
          <p:nvPr/>
        </p:nvSpPr>
        <p:spPr>
          <a:xfrm>
            <a:off x="952476" y="17653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Le Président et chaque Chef de commission peuvent être suppléés d’avance, pour une période connue de tous.</a:t>
            </a:r>
            <a:endParaRPr lang="en-US" sz="1200" dirty="0"/>
          </a:p>
        </p:txBody>
      </p:sp>
      <p:sp>
        <p:nvSpPr>
          <p:cNvPr id="8" name="Shape 6"/>
          <p:cNvSpPr/>
          <p:nvPr/>
        </p:nvSpPr>
        <p:spPr>
          <a:xfrm>
            <a:off x="4385624" y="1206500"/>
            <a:ext cx="3420448" cy="2159000"/>
          </a:xfrm>
          <a:prstGeom prst="rect">
            <a:avLst/>
          </a:prstGeom>
          <a:solidFill>
            <a:srgbClr val="FCFCFA"/>
          </a:solidFill>
          <a:ln w="9525">
            <a:solidFill>
              <a:srgbClr val="D5DCE4"/>
            </a:solidFill>
            <a:prstDash val="solid"/>
          </a:ln>
        </p:spPr>
        <p:txBody>
          <a:bodyPr/>
          <a:lstStyle/>
          <a:p>
            <a:endParaRPr lang="fr-FR"/>
          </a:p>
        </p:txBody>
      </p:sp>
      <p:sp>
        <p:nvSpPr>
          <p:cNvPr id="9" name="Shape 7"/>
          <p:cNvSpPr/>
          <p:nvPr/>
        </p:nvSpPr>
        <p:spPr>
          <a:xfrm>
            <a:off x="4385624" y="1206500"/>
            <a:ext cx="3420448" cy="38100"/>
          </a:xfrm>
          <a:prstGeom prst="rect">
            <a:avLst/>
          </a:prstGeom>
          <a:solidFill>
            <a:srgbClr val="2E8B57"/>
          </a:solidFill>
          <a:ln/>
        </p:spPr>
        <p:txBody>
          <a:bodyPr/>
          <a:lstStyle/>
          <a:p>
            <a:endParaRPr lang="fr-FR"/>
          </a:p>
        </p:txBody>
      </p:sp>
      <p:sp>
        <p:nvSpPr>
          <p:cNvPr id="10" name="Text 8"/>
          <p:cNvSpPr/>
          <p:nvPr/>
        </p:nvSpPr>
        <p:spPr>
          <a:xfrm>
            <a:off x="4525320" y="1308100"/>
            <a:ext cx="3141055"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Chaque acte a son auteur</a:t>
            </a:r>
            <a:endParaRPr lang="en-US" sz="1500" dirty="0"/>
          </a:p>
        </p:txBody>
      </p:sp>
      <p:sp>
        <p:nvSpPr>
          <p:cNvPr id="11" name="Text 9"/>
          <p:cNvSpPr/>
          <p:nvPr/>
        </p:nvSpPr>
        <p:spPr>
          <a:xfrm>
            <a:off x="4525320" y="1593850"/>
            <a:ext cx="3141055"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L’intérimaire agit sous sa propre identité ; le journal et le chronométrage portent la mention « par intérim de ».</a:t>
            </a:r>
            <a:endParaRPr lang="en-US" sz="1200" dirty="0"/>
          </a:p>
        </p:txBody>
      </p:sp>
      <p:sp>
        <p:nvSpPr>
          <p:cNvPr id="12" name="Shape 10"/>
          <p:cNvSpPr/>
          <p:nvPr/>
        </p:nvSpPr>
        <p:spPr>
          <a:xfrm>
            <a:off x="7958468" y="1206500"/>
            <a:ext cx="3420448" cy="2159000"/>
          </a:xfrm>
          <a:prstGeom prst="rect">
            <a:avLst/>
          </a:prstGeom>
          <a:solidFill>
            <a:srgbClr val="FCFCFA"/>
          </a:solidFill>
          <a:ln w="9525">
            <a:solidFill>
              <a:srgbClr val="D5DCE4"/>
            </a:solidFill>
            <a:prstDash val="solid"/>
          </a:ln>
        </p:spPr>
        <p:txBody>
          <a:bodyPr/>
          <a:lstStyle/>
          <a:p>
            <a:endParaRPr lang="fr-FR"/>
          </a:p>
        </p:txBody>
      </p:sp>
      <p:sp>
        <p:nvSpPr>
          <p:cNvPr id="13" name="Shape 11"/>
          <p:cNvSpPr/>
          <p:nvPr/>
        </p:nvSpPr>
        <p:spPr>
          <a:xfrm>
            <a:off x="7958468" y="1206500"/>
            <a:ext cx="3420448" cy="38100"/>
          </a:xfrm>
          <a:prstGeom prst="rect">
            <a:avLst/>
          </a:prstGeom>
          <a:solidFill>
            <a:srgbClr val="E3AE2E"/>
          </a:solidFill>
          <a:ln/>
        </p:spPr>
        <p:txBody>
          <a:bodyPr/>
          <a:lstStyle/>
          <a:p>
            <a:endParaRPr lang="fr-FR"/>
          </a:p>
        </p:txBody>
      </p:sp>
      <p:sp>
        <p:nvSpPr>
          <p:cNvPr id="14" name="Text 12"/>
          <p:cNvSpPr/>
          <p:nvPr/>
        </p:nvSpPr>
        <p:spPr>
          <a:xfrm>
            <a:off x="8098164" y="1308100"/>
            <a:ext cx="3141055"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Un acte appuyé sur une pièce</a:t>
            </a:r>
            <a:endParaRPr lang="en-US" sz="1500" dirty="0"/>
          </a:p>
        </p:txBody>
      </p:sp>
      <p:sp>
        <p:nvSpPr>
          <p:cNvPr id="15" name="Text 13"/>
          <p:cNvSpPr/>
          <p:nvPr/>
        </p:nvSpPr>
        <p:spPr>
          <a:xfrm>
            <a:off x="8098164" y="1593850"/>
            <a:ext cx="3141055"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Pas d’intérim sans note de service ou décision jointe ; elle reste consultable par la Commission.</a:t>
            </a:r>
            <a:endParaRPr lang="en-US" sz="1200" dirty="0"/>
          </a:p>
        </p:txBody>
      </p:sp>
      <p:sp>
        <p:nvSpPr>
          <p:cNvPr id="16" name="Shape 14"/>
          <p:cNvSpPr/>
          <p:nvPr/>
        </p:nvSpPr>
        <p:spPr>
          <a:xfrm>
            <a:off x="812780" y="3517900"/>
            <a:ext cx="3420448" cy="2159000"/>
          </a:xfrm>
          <a:prstGeom prst="rect">
            <a:avLst/>
          </a:prstGeom>
          <a:solidFill>
            <a:srgbClr val="FCFCFA"/>
          </a:solidFill>
          <a:ln w="9525">
            <a:solidFill>
              <a:srgbClr val="D5DCE4"/>
            </a:solidFill>
            <a:prstDash val="solid"/>
          </a:ln>
        </p:spPr>
        <p:txBody>
          <a:bodyPr/>
          <a:lstStyle/>
          <a:p>
            <a:endParaRPr lang="fr-FR"/>
          </a:p>
        </p:txBody>
      </p:sp>
      <p:sp>
        <p:nvSpPr>
          <p:cNvPr id="17" name="Shape 15"/>
          <p:cNvSpPr/>
          <p:nvPr/>
        </p:nvSpPr>
        <p:spPr>
          <a:xfrm>
            <a:off x="812780" y="3517900"/>
            <a:ext cx="3420448" cy="38100"/>
          </a:xfrm>
          <a:prstGeom prst="rect">
            <a:avLst/>
          </a:prstGeom>
          <a:solidFill>
            <a:srgbClr val="12324A"/>
          </a:solidFill>
          <a:ln/>
        </p:spPr>
        <p:txBody>
          <a:bodyPr/>
          <a:lstStyle/>
          <a:p>
            <a:endParaRPr lang="fr-FR"/>
          </a:p>
        </p:txBody>
      </p:sp>
      <p:sp>
        <p:nvSpPr>
          <p:cNvPr id="18" name="Text 16"/>
          <p:cNvSpPr/>
          <p:nvPr/>
        </p:nvSpPr>
        <p:spPr>
          <a:xfrm>
            <a:off x="952476" y="3619500"/>
            <a:ext cx="3141055"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Rien ne s’efface</a:t>
            </a:r>
            <a:endParaRPr lang="en-US" sz="1500" dirty="0"/>
          </a:p>
        </p:txBody>
      </p:sp>
      <p:sp>
        <p:nvSpPr>
          <p:cNvPr id="19" name="Text 17"/>
          <p:cNvSpPr/>
          <p:nvPr/>
        </p:nvSpPr>
        <p:spPr>
          <a:xfrm>
            <a:off x="952476" y="3905250"/>
            <a:ext cx="3141055"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Intérims et mandats ne se modifient pas : une révocation, une abrogation ou une reconduction s’ajoute à l’historique.</a:t>
            </a:r>
            <a:endParaRPr lang="en-US" sz="1200" dirty="0"/>
          </a:p>
        </p:txBody>
      </p:sp>
      <p:sp>
        <p:nvSpPr>
          <p:cNvPr id="20" name="Shape 18"/>
          <p:cNvSpPr/>
          <p:nvPr/>
        </p:nvSpPr>
        <p:spPr>
          <a:xfrm>
            <a:off x="4385624" y="3517900"/>
            <a:ext cx="3420448" cy="2159000"/>
          </a:xfrm>
          <a:prstGeom prst="rect">
            <a:avLst/>
          </a:prstGeom>
          <a:solidFill>
            <a:srgbClr val="FCFCFA"/>
          </a:solidFill>
          <a:ln w="9525">
            <a:solidFill>
              <a:srgbClr val="D5DCE4"/>
            </a:solidFill>
            <a:prstDash val="solid"/>
          </a:ln>
        </p:spPr>
        <p:txBody>
          <a:bodyPr/>
          <a:lstStyle/>
          <a:p>
            <a:endParaRPr lang="fr-FR"/>
          </a:p>
        </p:txBody>
      </p:sp>
      <p:sp>
        <p:nvSpPr>
          <p:cNvPr id="21" name="Shape 19"/>
          <p:cNvSpPr/>
          <p:nvPr/>
        </p:nvSpPr>
        <p:spPr>
          <a:xfrm>
            <a:off x="4385624" y="3517900"/>
            <a:ext cx="3420448" cy="38100"/>
          </a:xfrm>
          <a:prstGeom prst="rect">
            <a:avLst/>
          </a:prstGeom>
          <a:solidFill>
            <a:srgbClr val="1B6FA8"/>
          </a:solidFill>
          <a:ln/>
        </p:spPr>
        <p:txBody>
          <a:bodyPr/>
          <a:lstStyle/>
          <a:p>
            <a:endParaRPr lang="fr-FR"/>
          </a:p>
        </p:txBody>
      </p:sp>
      <p:sp>
        <p:nvSpPr>
          <p:cNvPr id="22" name="Text 20"/>
          <p:cNvSpPr/>
          <p:nvPr/>
        </p:nvSpPr>
        <p:spPr>
          <a:xfrm>
            <a:off x="4525320" y="36195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La loi sur la durée des mandats</a:t>
            </a:r>
            <a:endParaRPr lang="en-US" sz="1500" dirty="0"/>
          </a:p>
        </p:txBody>
      </p:sp>
      <p:sp>
        <p:nvSpPr>
          <p:cNvPr id="23" name="Text 21"/>
          <p:cNvSpPr/>
          <p:nvPr/>
        </p:nvSpPr>
        <p:spPr>
          <a:xfrm>
            <a:off x="4525320" y="40767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Trois ans au plus, une seule reconduction, un nouvel arrêté à chaque fois : l’application refuse le reste.</a:t>
            </a:r>
            <a:endParaRPr lang="en-US" sz="1200" dirty="0"/>
          </a:p>
        </p:txBody>
      </p:sp>
      <p:sp>
        <p:nvSpPr>
          <p:cNvPr id="24" name="Shape 22"/>
          <p:cNvSpPr/>
          <p:nvPr/>
        </p:nvSpPr>
        <p:spPr>
          <a:xfrm>
            <a:off x="7958468" y="3517900"/>
            <a:ext cx="3420448" cy="2159000"/>
          </a:xfrm>
          <a:prstGeom prst="rect">
            <a:avLst/>
          </a:prstGeom>
          <a:solidFill>
            <a:srgbClr val="FCFCFA"/>
          </a:solidFill>
          <a:ln w="9525">
            <a:solidFill>
              <a:srgbClr val="D5DCE4"/>
            </a:solidFill>
            <a:prstDash val="solid"/>
          </a:ln>
        </p:spPr>
        <p:txBody>
          <a:bodyPr/>
          <a:lstStyle/>
          <a:p>
            <a:endParaRPr lang="fr-FR"/>
          </a:p>
        </p:txBody>
      </p:sp>
      <p:sp>
        <p:nvSpPr>
          <p:cNvPr id="25" name="Shape 23"/>
          <p:cNvSpPr/>
          <p:nvPr/>
        </p:nvSpPr>
        <p:spPr>
          <a:xfrm>
            <a:off x="7958468" y="3517900"/>
            <a:ext cx="3420448" cy="38100"/>
          </a:xfrm>
          <a:prstGeom prst="rect">
            <a:avLst/>
          </a:prstGeom>
          <a:solidFill>
            <a:srgbClr val="2E8B57"/>
          </a:solidFill>
          <a:ln/>
        </p:spPr>
        <p:txBody>
          <a:bodyPr/>
          <a:lstStyle/>
          <a:p>
            <a:endParaRPr lang="fr-FR"/>
          </a:p>
        </p:txBody>
      </p:sp>
      <p:sp>
        <p:nvSpPr>
          <p:cNvPr id="26" name="Text 24"/>
          <p:cNvSpPr/>
          <p:nvPr/>
        </p:nvSpPr>
        <p:spPr>
          <a:xfrm>
            <a:off x="8098164" y="36195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La Commission n’est jamais suspendue</a:t>
            </a:r>
            <a:endParaRPr lang="en-US" sz="1500" dirty="0"/>
          </a:p>
        </p:txBody>
      </p:sp>
      <p:sp>
        <p:nvSpPr>
          <p:cNvPr id="27" name="Text 25"/>
          <p:cNvSpPr/>
          <p:nvPr/>
        </p:nvSpPr>
        <p:spPr>
          <a:xfrm>
            <a:off x="8098164" y="40767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La vacance d’une PRMP met ses propres gestes en attente ; le contrôle de la Commission, lui, continue.</a:t>
            </a:r>
            <a:endParaRPr lang="en-US" sz="1200" dirty="0"/>
          </a:p>
        </p:txBody>
      </p:sp>
      <p:sp>
        <p:nvSpPr>
          <p:cNvPr id="28" name="Text 2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284</a:t>
            </a:r>
            <a:endParaRPr lang="en-US" sz="1100" dirty="0"/>
          </a:p>
        </p:txBody>
      </p:sp>
    </p:spTree>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name="Slide 285">
    <p:bg>
      <p:bgPr>
        <a:solidFill>
          <a:srgbClr val="12324A"/>
        </a:solidFill>
        <a:effectLst/>
      </p:bgPr>
    </p:bg>
    <p:spTree>
      <p:nvGrpSpPr>
        <p:cNvPr id="1" name=""/>
        <p:cNvGrpSpPr/>
        <p:nvPr/>
      </p:nvGrpSpPr>
      <p:grpSpPr>
        <a:xfrm>
          <a:off x="0" y="0"/>
          <a:ext cx="0" cy="0"/>
          <a:chOff x="0" y="0"/>
          <a:chExt cx="0" cy="0"/>
        </a:xfrm>
      </p:grpSpPr>
      <p:sp>
        <p:nvSpPr>
          <p:cNvPr id="2" name="Shape 0"/>
          <p:cNvSpPr/>
          <p:nvPr/>
        </p:nvSpPr>
        <p:spPr>
          <a:xfrm>
            <a:off x="0" y="0"/>
            <a:ext cx="152396" cy="6858000"/>
          </a:xfrm>
          <a:prstGeom prst="rect">
            <a:avLst/>
          </a:prstGeom>
          <a:solidFill>
            <a:srgbClr val="E3AE2E"/>
          </a:solidFill>
          <a:ln w="12700">
            <a:solidFill>
              <a:srgbClr val="E3AE2E"/>
            </a:solidFill>
            <a:prstDash val="solid"/>
          </a:ln>
        </p:spPr>
        <p:txBody>
          <a:bodyPr/>
          <a:lstStyle/>
          <a:p>
            <a:endParaRPr lang="fr-FR"/>
          </a:p>
        </p:txBody>
      </p:sp>
      <p:sp>
        <p:nvSpPr>
          <p:cNvPr id="3" name="Text 1"/>
          <p:cNvSpPr/>
          <p:nvPr/>
        </p:nvSpPr>
        <p:spPr>
          <a:xfrm>
            <a:off x="812780" y="698500"/>
            <a:ext cx="3809905" cy="952500"/>
          </a:xfrm>
          <a:prstGeom prst="rect">
            <a:avLst/>
          </a:prstGeom>
          <a:noFill/>
          <a:ln/>
        </p:spPr>
        <p:txBody>
          <a:bodyPr wrap="square" rtlCol="0" anchor="ctr"/>
          <a:lstStyle/>
          <a:p>
            <a:pPr marL="0" indent="0">
              <a:buNone/>
            </a:pPr>
            <a:r>
              <a:rPr lang="en-US" sz="7200" b="1" dirty="0">
                <a:solidFill>
                  <a:srgbClr val="E3AE2E"/>
                </a:solidFill>
                <a:latin typeface="Segoe UI" pitchFamily="34" charset="0"/>
                <a:ea typeface="Segoe UI" pitchFamily="34" charset="-122"/>
                <a:cs typeface="Segoe UI" pitchFamily="34" charset="-120"/>
              </a:rPr>
              <a:t>11</a:t>
            </a:r>
            <a:endParaRPr lang="en-US" sz="7200" dirty="0"/>
          </a:p>
        </p:txBody>
      </p:sp>
      <p:sp>
        <p:nvSpPr>
          <p:cNvPr id="4" name="Text 2"/>
          <p:cNvSpPr/>
          <p:nvPr/>
        </p:nvSpPr>
        <p:spPr>
          <a:xfrm>
            <a:off x="812780" y="1714500"/>
            <a:ext cx="10477238" cy="635000"/>
          </a:xfrm>
          <a:prstGeom prst="rect">
            <a:avLst/>
          </a:prstGeom>
          <a:noFill/>
          <a:ln/>
        </p:spPr>
        <p:txBody>
          <a:bodyPr wrap="square" rtlCol="0" anchor="ctr">
            <a:normAutofit/>
          </a:bodyPr>
          <a:lstStyle/>
          <a:p>
            <a:pPr marL="0" indent="0">
              <a:buNone/>
            </a:pPr>
            <a:r>
              <a:rPr lang="en-US" sz="4000" b="1" dirty="0">
                <a:solidFill>
                  <a:srgbClr val="FCFCFA"/>
                </a:solidFill>
                <a:latin typeface="Segoe UI" pitchFamily="34" charset="0"/>
                <a:ea typeface="Segoe UI" pitchFamily="34" charset="-122"/>
                <a:cs typeface="Segoe UI" pitchFamily="34" charset="-120"/>
              </a:rPr>
              <a:t>Administrer</a:t>
            </a:r>
            <a:endParaRPr lang="en-US" sz="4000" dirty="0"/>
          </a:p>
        </p:txBody>
      </p:sp>
      <p:sp>
        <p:nvSpPr>
          <p:cNvPr id="5" name="Text 3"/>
          <p:cNvSpPr/>
          <p:nvPr/>
        </p:nvSpPr>
        <p:spPr>
          <a:xfrm>
            <a:off x="812780" y="2413000"/>
            <a:ext cx="10159746" cy="698500"/>
          </a:xfrm>
          <a:prstGeom prst="rect">
            <a:avLst/>
          </a:prstGeom>
          <a:noFill/>
          <a:ln/>
        </p:spPr>
        <p:txBody>
          <a:bodyPr wrap="square" rtlCol="0" anchor="t">
            <a:normAutofit/>
          </a:bodyPr>
          <a:lstStyle/>
          <a:p>
            <a:pPr marL="0" indent="0">
              <a:buNone/>
            </a:pPr>
            <a:r>
              <a:rPr lang="en-US" sz="1700" dirty="0">
                <a:solidFill>
                  <a:srgbClr val="C9D6E2"/>
                </a:solidFill>
                <a:latin typeface="Segoe UI" pitchFamily="34" charset="0"/>
                <a:ea typeface="Segoe UI" pitchFamily="34" charset="-122"/>
                <a:cs typeface="Segoe UI" pitchFamily="34" charset="-120"/>
              </a:rPr>
              <a:t>L’Administrateur ouvre les accès, règle le moteur du contrôle et les paramètres de la commande publique, et garde la trace de tout ce qui se fait.</a:t>
            </a:r>
            <a:endParaRPr lang="en-US" sz="1700" dirty="0"/>
          </a:p>
        </p:txBody>
      </p:sp>
      <p:sp>
        <p:nvSpPr>
          <p:cNvPr id="6" name="Text 4"/>
          <p:cNvSpPr/>
          <p:nvPr/>
        </p:nvSpPr>
        <p:spPr>
          <a:xfrm>
            <a:off x="812780" y="3429000"/>
            <a:ext cx="5079873" cy="228600"/>
          </a:xfrm>
          <a:prstGeom prst="rect">
            <a:avLst/>
          </a:prstGeom>
          <a:noFill/>
          <a:ln/>
        </p:spPr>
        <p:txBody>
          <a:bodyPr wrap="square" rtlCol="0" anchor="ctr"/>
          <a:lstStyle/>
          <a:p>
            <a:pPr marL="0" indent="0">
              <a:buNone/>
            </a:pPr>
            <a:r>
              <a:rPr lang="en-US" sz="1200" b="1" kern="0" spc="200" dirty="0">
                <a:solidFill>
                  <a:srgbClr val="E3AE2E"/>
                </a:solidFill>
                <a:latin typeface="Segoe UI" pitchFamily="34" charset="0"/>
                <a:ea typeface="Segoe UI" pitchFamily="34" charset="-122"/>
                <a:cs typeface="Segoe UI" pitchFamily="34" charset="-120"/>
              </a:rPr>
              <a:t>CE QUE CELA CHANGE</a:t>
            </a:r>
            <a:endParaRPr lang="en-US" sz="1200" dirty="0"/>
          </a:p>
        </p:txBody>
      </p:sp>
      <p:sp>
        <p:nvSpPr>
          <p:cNvPr id="7" name="Text 5"/>
          <p:cNvSpPr/>
          <p:nvPr/>
        </p:nvSpPr>
        <p:spPr>
          <a:xfrm>
            <a:off x="812780" y="3714750"/>
            <a:ext cx="10286743" cy="2413000"/>
          </a:xfrm>
          <a:prstGeom prst="rect">
            <a:avLst/>
          </a:prstGeom>
          <a:noFill/>
          <a:ln/>
        </p:spPr>
        <p:txBody>
          <a:bodyPr wrap="square" rtlCol="0" anchor="t">
            <a:normAutofit/>
          </a:bodyPr>
          <a:lstStyle/>
          <a:p>
            <a:pPr marL="203200" indent="-203200">
              <a:spcAft>
                <a:spcPts val="800"/>
              </a:spcAft>
              <a:buSzPct val="100000"/>
              <a:buChar char="•"/>
            </a:pPr>
            <a:r>
              <a:rPr lang="en-US" sz="1500" dirty="0">
                <a:solidFill>
                  <a:srgbClr val="FCFCFA"/>
                </a:solidFill>
                <a:latin typeface="Segoe UI" pitchFamily="34" charset="0"/>
                <a:ea typeface="Segoe UI" pitchFamily="34" charset="-122"/>
                <a:cs typeface="Segoe UI" pitchFamily="34" charset="-120"/>
              </a:rPr>
              <a:t>Les règles de la CNM ne sont plus figées dans le logiciel : délais, quorum, recours suspensifs, grilles de contrôle et référentiels se règlent à l’écran, sans redéploiement, et chaque changement est daté et signé.</a:t>
            </a:r>
            <a:endParaRPr lang="en-US" sz="1500" dirty="0"/>
          </a:p>
          <a:p>
            <a:pPr marL="203200" indent="-203200">
              <a:spcAft>
                <a:spcPts val="800"/>
              </a:spcAft>
              <a:buSzPct val="100000"/>
              <a:buChar char="•"/>
            </a:pPr>
            <a:r>
              <a:rPr lang="en-US" sz="1500" dirty="0">
                <a:solidFill>
                  <a:srgbClr val="FCFCFA"/>
                </a:solidFill>
                <a:latin typeface="Segoe UI" pitchFamily="34" charset="0"/>
                <a:ea typeface="Segoe UI" pitchFamily="34" charset="-122"/>
                <a:cs typeface="Segoe UI" pitchFamily="34" charset="-120"/>
              </a:rPr>
              <a:t>Les délais de la loi n° 2016-055 sont inscrits dans l’application et ne se règlent pas : ceux qui sont bloquants refusent le geste qui les enfreindrait.</a:t>
            </a:r>
            <a:endParaRPr lang="en-US" sz="1500" dirty="0"/>
          </a:p>
          <a:p>
            <a:pPr marL="203200" indent="-203200">
              <a:spcAft>
                <a:spcPts val="800"/>
              </a:spcAft>
              <a:buSzPct val="100000"/>
              <a:buChar char="•"/>
            </a:pPr>
            <a:r>
              <a:rPr lang="en-US" sz="1500" dirty="0">
                <a:solidFill>
                  <a:srgbClr val="FCFCFA"/>
                </a:solidFill>
                <a:latin typeface="Segoe UI" pitchFamily="34" charset="0"/>
                <a:ea typeface="Segoe UI" pitchFamily="34" charset="-122"/>
                <a:cs typeface="Segoe UI" pitchFamily="34" charset="-120"/>
              </a:rPr>
              <a:t>Chaque accès, chaque écriture et chaque connexion sont journalisés dans un journal que personne ne peut modifier : l’Administrateur sait à tout moment qui a fait quoi.</a:t>
            </a:r>
            <a:endParaRPr lang="en-US" sz="1500" dirty="0"/>
          </a:p>
        </p:txBody>
      </p:sp>
      <p:sp>
        <p:nvSpPr>
          <p:cNvPr id="8"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8FA6BB"/>
                </a:solidFill>
                <a:latin typeface="Segoe UI" pitchFamily="34" charset="0"/>
                <a:ea typeface="Segoe UI" pitchFamily="34" charset="-122"/>
                <a:cs typeface="Segoe UI" pitchFamily="34" charset="-120"/>
              </a:rPr>
              <a:t>PRS 2.0 · L’application de bout en bout · dossier de recette · 285</a:t>
            </a:r>
            <a:endParaRPr lang="en-US" sz="1100" dirty="0"/>
          </a:p>
        </p:txBody>
      </p:sp>
    </p:spTree>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name="Slide 28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ADMINISTRER · LE PARCOURS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journée de l’Administrateur</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Le poste d’administration dit d’abord ce qui bloque quelqu’un d’autre ; viennent ensuite les réglages, puis les traces.</a:t>
            </a:r>
            <a:endParaRPr lang="en-US" sz="1300" dirty="0"/>
          </a:p>
        </p:txBody>
      </p:sp>
      <p:sp>
        <p:nvSpPr>
          <p:cNvPr id="5" name="Shape 3"/>
          <p:cNvSpPr/>
          <p:nvPr/>
        </p:nvSpPr>
        <p:spPr>
          <a:xfrm>
            <a:off x="812780"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6" name="Text 4"/>
          <p:cNvSpPr/>
          <p:nvPr/>
        </p:nvSpPr>
        <p:spPr>
          <a:xfrm>
            <a:off x="901677"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L’ADMINISTRATEUR</a:t>
            </a:r>
            <a:endParaRPr lang="en-US" sz="1000" dirty="0"/>
          </a:p>
        </p:txBody>
      </p:sp>
      <p:sp>
        <p:nvSpPr>
          <p:cNvPr id="7" name="Text 5"/>
          <p:cNvSpPr/>
          <p:nvPr/>
        </p:nvSpPr>
        <p:spPr>
          <a:xfrm>
            <a:off x="901677"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Débloquer</a:t>
            </a:r>
            <a:endParaRPr lang="en-US" sz="1400" dirty="0"/>
          </a:p>
        </p:txBody>
      </p:sp>
      <p:sp>
        <p:nvSpPr>
          <p:cNvPr id="8" name="Text 6"/>
          <p:cNvSpPr/>
          <p:nvPr/>
        </p:nvSpPr>
        <p:spPr>
          <a:xfrm>
            <a:off x="901677"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Valider les inscriptions et les rattachements, désigner les responsables des procédures en ligne.</a:t>
            </a:r>
            <a:endParaRPr lang="en-US" sz="1150" dirty="0"/>
          </a:p>
        </p:txBody>
      </p:sp>
      <p:sp>
        <p:nvSpPr>
          <p:cNvPr id="9" name="Text 7"/>
          <p:cNvSpPr/>
          <p:nvPr/>
        </p:nvSpPr>
        <p:spPr>
          <a:xfrm>
            <a:off x="2444689"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10" name="Shape 8"/>
          <p:cNvSpPr/>
          <p:nvPr/>
        </p:nvSpPr>
        <p:spPr>
          <a:xfrm>
            <a:off x="2597085"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11" name="Text 9"/>
          <p:cNvSpPr/>
          <p:nvPr/>
        </p:nvSpPr>
        <p:spPr>
          <a:xfrm>
            <a:off x="2685983"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L’ADMINISTRATEUR</a:t>
            </a:r>
            <a:endParaRPr lang="en-US" sz="1000" dirty="0"/>
          </a:p>
        </p:txBody>
      </p:sp>
      <p:sp>
        <p:nvSpPr>
          <p:cNvPr id="12" name="Text 10"/>
          <p:cNvSpPr/>
          <p:nvPr/>
        </p:nvSpPr>
        <p:spPr>
          <a:xfrm>
            <a:off x="2685983"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Tenir les comptes</a:t>
            </a:r>
            <a:endParaRPr lang="en-US" sz="1400" dirty="0"/>
          </a:p>
        </p:txBody>
      </p:sp>
      <p:sp>
        <p:nvSpPr>
          <p:cNvPr id="13" name="Text 11"/>
          <p:cNvSpPr/>
          <p:nvPr/>
        </p:nvSpPr>
        <p:spPr>
          <a:xfrm>
            <a:off x="2685983"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Retrouver une personne, ses droits, sa place dans l’organisation ; créer, suspendre ou réactiver.</a:t>
            </a:r>
            <a:endParaRPr lang="en-US" sz="1150" dirty="0"/>
          </a:p>
        </p:txBody>
      </p:sp>
      <p:sp>
        <p:nvSpPr>
          <p:cNvPr id="14" name="Text 12"/>
          <p:cNvSpPr/>
          <p:nvPr/>
        </p:nvSpPr>
        <p:spPr>
          <a:xfrm>
            <a:off x="4228994"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15" name="Shape 13"/>
          <p:cNvSpPr/>
          <p:nvPr/>
        </p:nvSpPr>
        <p:spPr>
          <a:xfrm>
            <a:off x="4381390"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16" name="Text 14"/>
          <p:cNvSpPr/>
          <p:nvPr/>
        </p:nvSpPr>
        <p:spPr>
          <a:xfrm>
            <a:off x="4470288"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L’ADMINISTRATEUR</a:t>
            </a:r>
            <a:endParaRPr lang="en-US" sz="1000" dirty="0"/>
          </a:p>
        </p:txBody>
      </p:sp>
      <p:sp>
        <p:nvSpPr>
          <p:cNvPr id="17" name="Text 15"/>
          <p:cNvSpPr/>
          <p:nvPr/>
        </p:nvSpPr>
        <p:spPr>
          <a:xfrm>
            <a:off x="4470288"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Régler le contrôle</a:t>
            </a:r>
            <a:endParaRPr lang="en-US" sz="1400" dirty="0"/>
          </a:p>
        </p:txBody>
      </p:sp>
      <p:sp>
        <p:nvSpPr>
          <p:cNvPr id="18" name="Text 16"/>
          <p:cNvSpPr/>
          <p:nvPr/>
        </p:nvSpPr>
        <p:spPr>
          <a:xfrm>
            <a:off x="4470288"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Chaînes, délais, points de contrôle, seuils et alertes du circuit de la Commission.</a:t>
            </a:r>
            <a:endParaRPr lang="en-US" sz="1150" dirty="0"/>
          </a:p>
        </p:txBody>
      </p:sp>
      <p:sp>
        <p:nvSpPr>
          <p:cNvPr id="19" name="Text 17"/>
          <p:cNvSpPr/>
          <p:nvPr/>
        </p:nvSpPr>
        <p:spPr>
          <a:xfrm>
            <a:off x="6013300"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20" name="Shape 18"/>
          <p:cNvSpPr/>
          <p:nvPr/>
        </p:nvSpPr>
        <p:spPr>
          <a:xfrm>
            <a:off x="6165696"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21" name="Text 19"/>
          <p:cNvSpPr/>
          <p:nvPr/>
        </p:nvSpPr>
        <p:spPr>
          <a:xfrm>
            <a:off x="6254594"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L’ADMINISTRATEUR</a:t>
            </a:r>
            <a:endParaRPr lang="en-US" sz="1000" dirty="0"/>
          </a:p>
        </p:txBody>
      </p:sp>
      <p:sp>
        <p:nvSpPr>
          <p:cNvPr id="22" name="Text 20"/>
          <p:cNvSpPr/>
          <p:nvPr/>
        </p:nvSpPr>
        <p:spPr>
          <a:xfrm>
            <a:off x="6254594"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Régler la commande publique</a:t>
            </a:r>
            <a:endParaRPr lang="en-US" sz="1400" dirty="0"/>
          </a:p>
        </p:txBody>
      </p:sp>
      <p:sp>
        <p:nvSpPr>
          <p:cNvPr id="23" name="Text 21"/>
          <p:cNvSpPr/>
          <p:nvPr/>
        </p:nvSpPr>
        <p:spPr>
          <a:xfrm>
            <a:off x="6254594"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Quorum de la commission d’appel d’offres, recours suspensifs, transition SIGMP, remise électronique, compte de l’ARMP.</a:t>
            </a:r>
            <a:endParaRPr lang="en-US" sz="1150" dirty="0"/>
          </a:p>
        </p:txBody>
      </p:sp>
      <p:sp>
        <p:nvSpPr>
          <p:cNvPr id="24" name="Text 22"/>
          <p:cNvSpPr/>
          <p:nvPr/>
        </p:nvSpPr>
        <p:spPr>
          <a:xfrm>
            <a:off x="7797605"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25" name="Shape 23"/>
          <p:cNvSpPr/>
          <p:nvPr/>
        </p:nvSpPr>
        <p:spPr>
          <a:xfrm>
            <a:off x="7950001" y="1778000"/>
            <a:ext cx="1644609" cy="1905000"/>
          </a:xfrm>
          <a:prstGeom prst="roundRect">
            <a:avLst>
              <a:gd name="adj" fmla="val 3336"/>
            </a:avLst>
          </a:prstGeom>
          <a:solidFill>
            <a:srgbClr val="FCFCFA"/>
          </a:solidFill>
          <a:ln w="19050">
            <a:solidFill>
              <a:srgbClr val="12324A"/>
            </a:solidFill>
            <a:prstDash val="solid"/>
          </a:ln>
        </p:spPr>
        <p:txBody>
          <a:bodyPr/>
          <a:lstStyle/>
          <a:p>
            <a:endParaRPr lang="fr-FR"/>
          </a:p>
        </p:txBody>
      </p:sp>
      <p:sp>
        <p:nvSpPr>
          <p:cNvPr id="26" name="Text 24"/>
          <p:cNvSpPr/>
          <p:nvPr/>
        </p:nvSpPr>
        <p:spPr>
          <a:xfrm>
            <a:off x="8038899" y="1866900"/>
            <a:ext cx="1466813"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L’ADMINISTRATEUR</a:t>
            </a:r>
            <a:endParaRPr lang="en-US" sz="1000" dirty="0"/>
          </a:p>
        </p:txBody>
      </p:sp>
      <p:sp>
        <p:nvSpPr>
          <p:cNvPr id="27" name="Text 25"/>
          <p:cNvSpPr/>
          <p:nvPr/>
        </p:nvSpPr>
        <p:spPr>
          <a:xfrm>
            <a:off x="8038899" y="2095500"/>
            <a:ext cx="1466813"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Encadrer les candidats</a:t>
            </a:r>
            <a:endParaRPr lang="en-US" sz="1400" dirty="0"/>
          </a:p>
        </p:txBody>
      </p:sp>
      <p:sp>
        <p:nvSpPr>
          <p:cNvPr id="28" name="Text 26"/>
          <p:cNvSpPr/>
          <p:nvPr/>
        </p:nvSpPr>
        <p:spPr>
          <a:xfrm>
            <a:off x="8038899" y="2603500"/>
            <a:ext cx="1466813"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Paramètres de l’espace en ligne, vérification des NIF, exclusions de l’ARMP.</a:t>
            </a:r>
            <a:endParaRPr lang="en-US" sz="1150" dirty="0"/>
          </a:p>
        </p:txBody>
      </p:sp>
      <p:sp>
        <p:nvSpPr>
          <p:cNvPr id="29" name="Text 27"/>
          <p:cNvSpPr/>
          <p:nvPr/>
        </p:nvSpPr>
        <p:spPr>
          <a:xfrm>
            <a:off x="9581910"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30" name="Shape 28"/>
          <p:cNvSpPr/>
          <p:nvPr/>
        </p:nvSpPr>
        <p:spPr>
          <a:xfrm>
            <a:off x="9734307" y="1778000"/>
            <a:ext cx="1644609" cy="1905000"/>
          </a:xfrm>
          <a:prstGeom prst="roundRect">
            <a:avLst>
              <a:gd name="adj" fmla="val 3336"/>
            </a:avLst>
          </a:prstGeom>
          <a:solidFill>
            <a:srgbClr val="12324A"/>
          </a:solidFill>
          <a:ln w="19050">
            <a:solidFill>
              <a:srgbClr val="12324A"/>
            </a:solidFill>
            <a:prstDash val="solid"/>
          </a:ln>
        </p:spPr>
        <p:txBody>
          <a:bodyPr/>
          <a:lstStyle/>
          <a:p>
            <a:endParaRPr lang="fr-FR"/>
          </a:p>
        </p:txBody>
      </p:sp>
      <p:sp>
        <p:nvSpPr>
          <p:cNvPr id="31" name="Text 29"/>
          <p:cNvSpPr/>
          <p:nvPr/>
        </p:nvSpPr>
        <p:spPr>
          <a:xfrm>
            <a:off x="9823204" y="1866900"/>
            <a:ext cx="1466813" cy="215900"/>
          </a:xfrm>
          <a:prstGeom prst="rect">
            <a:avLst/>
          </a:prstGeom>
          <a:noFill/>
          <a:ln/>
        </p:spPr>
        <p:txBody>
          <a:bodyPr wrap="square" rtlCol="0" anchor="ctr">
            <a:normAutofit/>
          </a:bodyPr>
          <a:lstStyle/>
          <a:p>
            <a:pPr marL="0" indent="0">
              <a:buNone/>
            </a:pPr>
            <a:r>
              <a:rPr lang="en-US" sz="1000" b="1" dirty="0">
                <a:solidFill>
                  <a:srgbClr val="E3AE2E"/>
                </a:solidFill>
                <a:latin typeface="Segoe UI" pitchFamily="34" charset="0"/>
                <a:ea typeface="Segoe UI" pitchFamily="34" charset="-122"/>
                <a:cs typeface="Segoe UI" pitchFamily="34" charset="-120"/>
              </a:rPr>
              <a:t>L’ADMINISTRATEUR</a:t>
            </a:r>
            <a:endParaRPr lang="en-US" sz="1000" dirty="0"/>
          </a:p>
        </p:txBody>
      </p:sp>
      <p:sp>
        <p:nvSpPr>
          <p:cNvPr id="32" name="Text 30"/>
          <p:cNvSpPr/>
          <p:nvPr/>
        </p:nvSpPr>
        <p:spPr>
          <a:xfrm>
            <a:off x="9823204" y="2095500"/>
            <a:ext cx="1466813" cy="508000"/>
          </a:xfrm>
          <a:prstGeom prst="rect">
            <a:avLst/>
          </a:prstGeom>
          <a:noFill/>
          <a:ln/>
        </p:spPr>
        <p:txBody>
          <a:bodyPr wrap="square" rtlCol="0" anchor="t">
            <a:normAutofit/>
          </a:bodyPr>
          <a:lstStyle/>
          <a:p>
            <a:pPr marL="0" indent="0">
              <a:buNone/>
            </a:pPr>
            <a:r>
              <a:rPr lang="en-US" sz="1400" b="1" dirty="0">
                <a:solidFill>
                  <a:srgbClr val="FCFCFA"/>
                </a:solidFill>
                <a:latin typeface="Segoe UI" pitchFamily="34" charset="0"/>
                <a:ea typeface="Segoe UI" pitchFamily="34" charset="-122"/>
                <a:cs typeface="Segoe UI" pitchFamily="34" charset="-120"/>
              </a:rPr>
              <a:t>Rendre compte</a:t>
            </a:r>
            <a:endParaRPr lang="en-US" sz="1400" dirty="0"/>
          </a:p>
        </p:txBody>
      </p:sp>
      <p:sp>
        <p:nvSpPr>
          <p:cNvPr id="33" name="Text 31"/>
          <p:cNvSpPr/>
          <p:nvPr/>
        </p:nvSpPr>
        <p:spPr>
          <a:xfrm>
            <a:off x="9823204" y="2603500"/>
            <a:ext cx="1466813" cy="1016000"/>
          </a:xfrm>
          <a:prstGeom prst="rect">
            <a:avLst/>
          </a:prstGeom>
          <a:noFill/>
          <a:ln/>
        </p:spPr>
        <p:txBody>
          <a:bodyPr wrap="square" rtlCol="0" anchor="t">
            <a:normAutofit/>
          </a:bodyPr>
          <a:lstStyle/>
          <a:p>
            <a:pPr marL="0" indent="0">
              <a:buNone/>
            </a:pPr>
            <a:r>
              <a:rPr lang="en-US" sz="1150" dirty="0">
                <a:solidFill>
                  <a:srgbClr val="C9D6E2"/>
                </a:solidFill>
                <a:latin typeface="Segoe UI" pitchFamily="34" charset="0"/>
                <a:ea typeface="Segoe UI" pitchFamily="34" charset="-122"/>
                <a:cs typeface="Segoe UI" pitchFamily="34" charset="-120"/>
              </a:rPr>
              <a:t>Le journal des écritures et des connexions, les actualités diffusées à l’ouverture de session.</a:t>
            </a:r>
            <a:endParaRPr lang="en-US" sz="1150" dirty="0"/>
          </a:p>
        </p:txBody>
      </p:sp>
      <p:sp>
        <p:nvSpPr>
          <p:cNvPr id="34" name="Text 3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286</a:t>
            </a:r>
            <a:endParaRPr lang="en-US" sz="1100" dirty="0"/>
          </a:p>
        </p:txBody>
      </p:sp>
    </p:spTree>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name="Slide 287">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ADMINISTRER</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Ouvrir les accès</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Personne n’entre dans l’application sans que l’Administrateur ait vérifié son identité et son rattachement. Le poste d’administration met en tête ce qui fait attendre les autres.</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287</a:t>
            </a:r>
            <a:endParaRPr lang="en-US" sz="1100" dirty="0"/>
          </a:p>
        </p:txBody>
      </p:sp>
    </p:spTree>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name="Slide 28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ADMINISTRATION</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poste d’administration</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 poste d’administration"/>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b="1" dirty="0">
                <a:solidFill>
                  <a:srgbClr val="1B2A3A"/>
                </a:solidFill>
                <a:latin typeface="Segoe UI" pitchFamily="34" charset="0"/>
                <a:ea typeface="Segoe UI" pitchFamily="34" charset="-122"/>
                <a:cs typeface="Segoe UI" pitchFamily="34" charset="-120"/>
              </a:rPr>
              <a:t>À traiter maintenant</a:t>
            </a:r>
            <a:r>
              <a:rPr lang="en-US" sz="1200" dirty="0">
                <a:solidFill>
                  <a:srgbClr val="1B2A3A"/>
                </a:solidFill>
                <a:latin typeface="Segoe UI" pitchFamily="34" charset="0"/>
                <a:ea typeface="Segoe UI" pitchFamily="34" charset="-122"/>
                <a:cs typeface="Segoe UI" pitchFamily="34" charset="-120"/>
              </a:rPr>
              <a:t> : inscriptions de PRMP et d’UGPM, rattachements PRMP ⇄ entité, procédures en ligne sans responsable.</a:t>
            </a:r>
            <a:endParaRPr lang="en-US" sz="1050" dirty="0"/>
          </a:p>
          <a:p>
            <a:pPr marL="152400" indent="-152400">
              <a:spcAft>
                <a:spcPts val="300"/>
              </a:spcAft>
              <a:buSzPct val="100000"/>
              <a:buChar char="•"/>
            </a:pPr>
            <a:r>
              <a:rPr lang="en-US" sz="1200" b="1" dirty="0">
                <a:solidFill>
                  <a:srgbClr val="1B2A3A"/>
                </a:solidFill>
                <a:latin typeface="Segoe UI" pitchFamily="34" charset="0"/>
                <a:ea typeface="Segoe UI" pitchFamily="34" charset="-122"/>
                <a:cs typeface="Segoe UI" pitchFamily="34" charset="-120"/>
              </a:rPr>
              <a:t>Derniers changements de paramétrage</a:t>
            </a:r>
            <a:r>
              <a:rPr lang="en-US" sz="1200" dirty="0">
                <a:solidFill>
                  <a:srgbClr val="1B2A3A"/>
                </a:solidFill>
                <a:latin typeface="Segoe UI" pitchFamily="34" charset="0"/>
                <a:ea typeface="Segoe UI" pitchFamily="34" charset="-122"/>
                <a:cs typeface="Segoe UI" pitchFamily="34" charset="-120"/>
              </a:rPr>
              <a:t> : quand, qui, quel réglage — ici la transition SIGMP et les délais par sous-type.</a:t>
            </a:r>
            <a:endParaRPr lang="en-US" sz="1050" dirty="0"/>
          </a:p>
          <a:p>
            <a:pPr marL="152400" indent="-152400">
              <a:spcAft>
                <a:spcPts val="300"/>
              </a:spcAft>
              <a:buSzPct val="100000"/>
              <a:buChar char="•"/>
            </a:pPr>
            <a:r>
              <a:rPr lang="en-US" sz="1200" b="1" dirty="0">
                <a:solidFill>
                  <a:srgbClr val="1B2A3A"/>
                </a:solidFill>
                <a:latin typeface="Segoe UI" pitchFamily="34" charset="0"/>
                <a:ea typeface="Segoe UI" pitchFamily="34" charset="-122"/>
                <a:cs typeface="Segoe UI" pitchFamily="34" charset="-120"/>
              </a:rPr>
              <a:t>À surveiller</a:t>
            </a:r>
            <a:r>
              <a:rPr lang="en-US" sz="1200" dirty="0">
                <a:solidFill>
                  <a:srgbClr val="1B2A3A"/>
                </a:solidFill>
                <a:latin typeface="Segoe UI" pitchFamily="34" charset="0"/>
                <a:ea typeface="Segoe UI" pitchFamily="34" charset="-122"/>
                <a:cs typeface="Segoe UI" pitchFamily="34" charset="-120"/>
              </a:rPr>
              <a:t> : mandats de PRMP arrivant à terme dans les 30 jours, connexions refusées depuis 24 heures ; comptes actifs, suspendus et sessions ouvertes.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RG-ADM-03 · RG-ADM-05 · RG-ADM-29 · RG-ADM-35 · RG-ADM-47</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288</a:t>
            </a:r>
            <a:endParaRPr lang="en-US" sz="1100" dirty="0"/>
          </a:p>
        </p:txBody>
      </p:sp>
    </p:spTree>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name="Slide 28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ADMINISTRATION · ACCÈS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demandes d’accès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demandes d’accè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PRMP inscrites en ligne attendent la validation : l’Administrateur vérifie l’identité et les pièces, puis </a:t>
            </a:r>
            <a:r>
              <a:rPr lang="en-US" sz="1200" b="1" dirty="0">
                <a:solidFill>
                  <a:srgbClr val="1B2A3A"/>
                </a:solidFill>
                <a:latin typeface="Segoe UI" pitchFamily="34" charset="0"/>
                <a:ea typeface="Segoe UI" pitchFamily="34" charset="-122"/>
                <a:cs typeface="Segoe UI" pitchFamily="34" charset="-120"/>
              </a:rPr>
              <a:t>active ou refuse</a:t>
            </a:r>
            <a:r>
              <a:rPr lang="en-US" sz="1200" dirty="0">
                <a:solidFill>
                  <a:srgbClr val="1B2A3A"/>
                </a:solidFill>
                <a:latin typeface="Segoe UI" pitchFamily="34" charset="0"/>
                <a:ea typeface="Segoe UI" pitchFamily="34" charset="-122"/>
                <a:cs typeface="Segoe UI" pitchFamily="34" charset="-120"/>
              </a:rPr>
              <a:t> le compte.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Aucune demande n’est en attente ce jour ; le compteur du menu les signale dès qu’il y en a.</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RG-ADM-01 · RG-ADM-02 · RG-ADM-03 · RG-ADM-04</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289</a:t>
            </a:r>
            <a:endParaRPr lang="en-US" sz="1100" dirty="0"/>
          </a:p>
        </p:txBody>
      </p:sp>
    </p:spTree>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name="Slide 29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ADMINISTRATION · ACCÈS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rattachements en attente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rattachements en attent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Une entité créée à l’import d’un plan attend son approbation avant de devenir sélectionnable par la PRMP.</a:t>
            </a:r>
            <a:endParaRPr lang="en-US" sz="1050" dirty="0"/>
          </a:p>
          <a:p>
            <a:pPr marL="152400" indent="-152400">
              <a:spcAft>
                <a:spcPts val="300"/>
              </a:spcAft>
              <a:buSzPct val="100000"/>
              <a:buChar char="•"/>
            </a:pPr>
            <a:r>
              <a:rPr lang="en-US" sz="1200" b="1" dirty="0">
                <a:solidFill>
                  <a:srgbClr val="1B2A3A"/>
                </a:solidFill>
                <a:latin typeface="Segoe UI" pitchFamily="34" charset="0"/>
                <a:ea typeface="Segoe UI" pitchFamily="34" charset="-122"/>
                <a:cs typeface="Segoe UI" pitchFamily="34" charset="-120"/>
              </a:rPr>
              <a:t>Approuver</a:t>
            </a:r>
            <a:r>
              <a:rPr lang="en-US" sz="1200" dirty="0">
                <a:solidFill>
                  <a:srgbClr val="1B2A3A"/>
                </a:solidFill>
                <a:latin typeface="Segoe UI" pitchFamily="34" charset="0"/>
                <a:ea typeface="Segoe UI" pitchFamily="34" charset="-122"/>
                <a:cs typeface="Segoe UI" pitchFamily="34" charset="-120"/>
              </a:rPr>
              <a:t> rend l’entité utilisable ; </a:t>
            </a:r>
            <a:r>
              <a:rPr lang="en-US" sz="1200" b="1" dirty="0">
                <a:solidFill>
                  <a:srgbClr val="1B2A3A"/>
                </a:solidFill>
                <a:latin typeface="Segoe UI" pitchFamily="34" charset="0"/>
                <a:ea typeface="Segoe UI" pitchFamily="34" charset="-122"/>
                <a:cs typeface="Segoe UI" pitchFamily="34" charset="-120"/>
              </a:rPr>
              <a:t>rejeter</a:t>
            </a:r>
            <a:r>
              <a:rPr lang="en-US" sz="1200" dirty="0">
                <a:solidFill>
                  <a:srgbClr val="1B2A3A"/>
                </a:solidFill>
                <a:latin typeface="Segoe UI" pitchFamily="34" charset="0"/>
                <a:ea typeface="Segoe UI" pitchFamily="34" charset="-122"/>
                <a:cs typeface="Segoe UI" pitchFamily="34" charset="-120"/>
              </a:rPr>
              <a:t> retire le rattachement, l’entité restant au référentiel.</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RG-ADM-09</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290</a:t>
            </a:r>
            <a:endParaRPr lang="en-US" sz="1100" dirty="0"/>
          </a:p>
        </p:txBody>
      </p:sp>
    </p:spTree>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name="Slide 29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ADMINISTRATION · ACCÈS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Comptes et personnes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Comptes et personne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Toutes les personnes de l’application en une liste — contrôleurs, PRMP, UGPM — filtrable par type, profil, localité et état du compte.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fiche réunit l’accès (dernière connexion, échecs sur 30 jours), la place dans l’organisation (supérieur, </a:t>
            </a:r>
            <a:r>
              <a:rPr lang="en-US" sz="1200" b="1" dirty="0">
                <a:solidFill>
                  <a:srgbClr val="1B2A3A"/>
                </a:solidFill>
                <a:latin typeface="Segoe UI" pitchFamily="34" charset="0"/>
                <a:ea typeface="Segoe UI" pitchFamily="34" charset="-122"/>
                <a:cs typeface="Segoe UI" pitchFamily="34" charset="-120"/>
              </a:rPr>
              <a:t>délégations</a:t>
            </a:r>
            <a:r>
              <a:rPr lang="en-US" sz="1200" dirty="0">
                <a:solidFill>
                  <a:srgbClr val="1B2A3A"/>
                </a:solidFill>
                <a:latin typeface="Segoe UI" pitchFamily="34" charset="0"/>
                <a:ea typeface="Segoe UI" pitchFamily="34" charset="-122"/>
                <a:cs typeface="Segoe UI" pitchFamily="34" charset="-120"/>
              </a:rPr>
              <a:t>, chaîne de contrôle) et l’activité au journal.</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Depuis la fiche : réinitialiser le mot de passe, suspendre le compte, modifier la fiche, changer de chaîne.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RG-ADM-04 · RG-ADM-05 · RG-ADM-11 · RG-ADM-32</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291</a:t>
            </a:r>
            <a:endParaRPr lang="en-US" sz="1100" dirty="0"/>
          </a:p>
        </p:txBody>
      </p:sp>
    </p:spTree>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name="Slide 29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ADMINISTRATION · ACCÈS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Créer une PRMP</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Créer une PRMP"/>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fiche reprend l’arrêté de nomination (référence et date), la carte d’identité, les coordonnées et l’identifiant de connexion.</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Arrêté, carte d’identité et photo se joignent en pièces ; le compte créé ici est </a:t>
            </a:r>
            <a:r>
              <a:rPr lang="en-US" sz="1200" b="1" dirty="0">
                <a:solidFill>
                  <a:srgbClr val="1B2A3A"/>
                </a:solidFill>
                <a:latin typeface="Segoe UI" pitchFamily="34" charset="0"/>
                <a:ea typeface="Segoe UI" pitchFamily="34" charset="-122"/>
                <a:cs typeface="Segoe UI" pitchFamily="34" charset="-120"/>
              </a:rPr>
              <a:t>immédiatement</a:t>
            </a:r>
            <a:r>
              <a:rPr lang="en-US" sz="1200" dirty="0">
                <a:solidFill>
                  <a:srgbClr val="1B2A3A"/>
                </a:solidFill>
                <a:latin typeface="Segoe UI" pitchFamily="34" charset="0"/>
                <a:ea typeface="Segoe UI" pitchFamily="34" charset="-122"/>
                <a:cs typeface="Segoe UI" pitchFamily="34" charset="-120"/>
              </a:rPr>
              <a:t> utilisable.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Chaque PRMP existante se gère depuis la liste : fiche, compte, entités, pièces.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RG-ADM-06 · RG-ADM-09</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292</a:t>
            </a:r>
            <a:endParaRPr lang="en-US" sz="1100" dirty="0"/>
          </a:p>
        </p:txBody>
      </p:sp>
    </p:spTree>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name="Slide 29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ADMINISTRATION · ACCÈS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comptes des contrôleurs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comptes des contrôleur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Chaque contrôleur de la Commission : matricule, profil, localité, supérieur hiérarchique, caractère transversal.</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Douze contrôleurs sont enregistrés sur la base de démonstration, de la Centrale et de la région Atsinanana.</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RG-ADM-05 · RG-ADM-10</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293</a:t>
            </a:r>
            <a:endParaRPr lang="en-US" sz="1100" dirty="0"/>
          </a:p>
        </p:txBody>
      </p:sp>
    </p:spTree>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name="Slide 294">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ADMINISTRER</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Régler le contrôle de la Commission</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Le circuit de contrôle suit des réglages que l’Administrateur tient à jour : qui vérifie après qui, combien de temps chaque étape doit prendre, sur quels points porte l’examen.</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294</a:t>
            </a:r>
            <a:endParaRPr lang="en-US" sz="1100" dirty="0"/>
          </a:p>
        </p:txBody>
      </p:sp>
    </p:spTree>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name="Slide 29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ADMINISTRATION · CONTRÔLE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chaînes de contrôle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chaînes de contrôl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Chaque Membre a son Vérificateur, chaque Vérificateur son Assistant : la vérification des documents rectifiés et l’archivage sont </a:t>
            </a:r>
            <a:r>
              <a:rPr lang="en-US" sz="1200" b="1" dirty="0">
                <a:solidFill>
                  <a:srgbClr val="1B2A3A"/>
                </a:solidFill>
                <a:latin typeface="Segoe UI" pitchFamily="34" charset="0"/>
                <a:ea typeface="Segoe UI" pitchFamily="34" charset="-122"/>
                <a:cs typeface="Segoe UI" pitchFamily="34" charset="-120"/>
              </a:rPr>
              <a:t>adressés</a:t>
            </a:r>
            <a:r>
              <a:rPr lang="en-US" sz="1200" dirty="0">
                <a:solidFill>
                  <a:srgbClr val="1B2A3A"/>
                </a:solidFill>
                <a:latin typeface="Segoe UI" pitchFamily="34" charset="0"/>
                <a:ea typeface="Segoe UI" pitchFamily="34" charset="-122"/>
                <a:cs typeface="Segoe UI" pitchFamily="34" charset="-120"/>
              </a:rPr>
              <a:t> le long de ces chaînes.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Une chaîne incomplète ne bloque rien : tout Vérificateur ou Assistant de la localité reste compétent, et l’écran le signale « repli localité ».</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RG-ADM-10</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295</a:t>
            </a:r>
            <a:endParaRPr lang="en-US" sz="1100" dirty="0"/>
          </a:p>
        </p:txBody>
      </p:sp>
    </p:spTree>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name="Slide 29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ADMINISTRATION · CONTRÔLE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Délais standards et délais de la loi</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Délais standards et délais de la loi"/>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 règle ; tous lisent.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délai de chaque étape du circuit, en </a:t>
            </a:r>
            <a:r>
              <a:rPr lang="en-US" sz="1200" b="1" dirty="0">
                <a:solidFill>
                  <a:srgbClr val="1B2A3A"/>
                </a:solidFill>
                <a:latin typeface="Segoe UI" pitchFamily="34" charset="0"/>
                <a:ea typeface="Segoe UI" pitchFamily="34" charset="-122"/>
                <a:cs typeface="Segoe UI" pitchFamily="34" charset="-120"/>
              </a:rPr>
              <a:t>heures ouvrées</a:t>
            </a:r>
            <a:r>
              <a:rPr lang="en-US" sz="1200" dirty="0">
                <a:solidFill>
                  <a:srgbClr val="1B2A3A"/>
                </a:solidFill>
                <a:latin typeface="Segoe UI" pitchFamily="34" charset="0"/>
                <a:ea typeface="Segoe UI" pitchFamily="34" charset="-122"/>
                <a:cs typeface="Segoe UI" pitchFamily="34" charset="-120"/>
              </a:rPr>
              <a:t> (8 heures = 1 jour) : il fait la date de fin annoncée à la PRMP dès la soumission.</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a:t>
            </a:r>
            <a:r>
              <a:rPr lang="en-US" sz="1200" b="1" dirty="0">
                <a:solidFill>
                  <a:srgbClr val="1B2A3A"/>
                </a:solidFill>
                <a:latin typeface="Segoe UI" pitchFamily="34" charset="0"/>
                <a:ea typeface="Segoe UI" pitchFamily="34" charset="-122"/>
                <a:cs typeface="Segoe UI" pitchFamily="34" charset="-120"/>
              </a:rPr>
              <a:t>neuf délais de la loi n° 2016-055</a:t>
            </a:r>
            <a:r>
              <a:rPr lang="en-US" sz="1200" dirty="0">
                <a:solidFill>
                  <a:srgbClr val="1B2A3A"/>
                </a:solidFill>
                <a:latin typeface="Segoe UI" pitchFamily="34" charset="0"/>
                <a:ea typeface="Segoe UI" pitchFamily="34" charset="-122"/>
                <a:cs typeface="Segoe UI" pitchFamily="34" charset="-120"/>
              </a:rPr>
              <a:t> — publicité, questions des candidats, plan réputé approuvé, attente avant signature, pièces de l’attributaire, avis d’attribution, déclaration sans suite — avec leur article et leur effet : ils ne se règlent pas.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délais issus des décrets et du manuel sont réglables et seulement signalés ; un sous-type de dossier peut avoir ses propres délais.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RG-ADM-12 · RG-ADM-13 · RG-ADM-41 · RG-ADM-42 · RG-ADM-43</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296</a:t>
            </a:r>
            <a:endParaRPr lang="en-US" sz="1100" dirty="0"/>
          </a:p>
        </p:txBody>
      </p:sp>
    </p:spTree>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name="Slide 29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ADMINISTRATION · CONTRÔLE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points de contrôle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points de contrôl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grille d’examen du manuel de contrôle, point par point : libellé, question posée au contrôleur, ordre, caractère obligatoire.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 point vaut pour toute une famille de dossiers, ou pour un </a:t>
            </a:r>
            <a:r>
              <a:rPr lang="en-US" sz="1200" b="1" dirty="0">
                <a:solidFill>
                  <a:srgbClr val="1B2A3A"/>
                </a:solidFill>
                <a:latin typeface="Segoe UI" pitchFamily="34" charset="0"/>
                <a:ea typeface="Segoe UI" pitchFamily="34" charset="-122"/>
                <a:cs typeface="Segoe UI" pitchFamily="34" charset="-120"/>
              </a:rPr>
              <a:t>sous-type</a:t>
            </a:r>
            <a:r>
              <a:rPr lang="en-US" sz="1200" dirty="0">
                <a:solidFill>
                  <a:srgbClr val="1B2A3A"/>
                </a:solidFill>
                <a:latin typeface="Segoe UI" pitchFamily="34" charset="0"/>
                <a:ea typeface="Segoe UI" pitchFamily="34" charset="-122"/>
                <a:cs typeface="Segoe UI" pitchFamily="34" charset="-120"/>
              </a:rPr>
              <a:t> ; il peut ne viser qu’une catégorie ou une forme de marché.</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Sa portée le range dans la grille : par ligne de marché, une fois pour le dossier, sur la fiche de présentation ou sur l’avis général.</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RG-ADM-14</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297</a:t>
            </a:r>
            <a:endParaRPr lang="en-US" sz="1100" dirty="0"/>
          </a:p>
        </p:txBody>
      </p:sp>
    </p:spTree>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name="Slide 29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ADMINISTRATION · CONTRÔLE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seuil AGPM de l’AMI</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 seuil AGPM de l’AMI"/>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montant à partir duquel un marché en appel à manifestation d’intérêt rend l’avis général de passation requis, comparé </a:t>
            </a:r>
            <a:r>
              <a:rPr lang="en-US" sz="1200" b="1" dirty="0">
                <a:solidFill>
                  <a:srgbClr val="1B2A3A"/>
                </a:solidFill>
                <a:latin typeface="Segoe UI" pitchFamily="34" charset="0"/>
                <a:ea typeface="Segoe UI" pitchFamily="34" charset="-122"/>
                <a:cs typeface="Segoe UI" pitchFamily="34" charset="-120"/>
              </a:rPr>
              <a:t>marché par marché</a:t>
            </a:r>
            <a:r>
              <a:rPr lang="en-US" sz="1200" dirty="0">
                <a:solidFill>
                  <a:srgbClr val="1B2A3A"/>
                </a:solidFill>
                <a:latin typeface="Segoe UI" pitchFamily="34" charset="0"/>
                <a:ea typeface="Segoe UI" pitchFamily="34" charset="-122"/>
                <a:cs typeface="Segoe UI" pitchFamily="34" charset="-120"/>
              </a:rPr>
              <a:t>, borne incluse.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Réglé à 0 ce jour : tout marché en AMI le déclenche. Les appels d’offres le déclenchent toujours ; le gré à gré et la consultation, jamais.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RG-ADM-15</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298</a:t>
            </a:r>
            <a:endParaRPr lang="en-US" sz="1100" dirty="0"/>
          </a:p>
        </p:txBody>
      </p:sp>
    </p:spTree>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name="Slide 29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ADMINISTRATION · CONTRÔLE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règles d’alerte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règles d’alert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Une règle fixe un jalon, le nombre de jours avant l’échéance et le profil prévenu ; elle s’active ou se désactive.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Aucune règle n’est enregistrée sur la base de démonstration.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RG-ADM-16</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299</a:t>
            </a:r>
            <a:endParaRPr lang="en-US" sz="1100" dirty="0"/>
          </a:p>
        </p:txBody>
      </p:sp>
    </p:spTree>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name="Slide 30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ADMINISTRATION · PRÉ-CONTRÔLE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taux d’écartement des règles du pré-contrôle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 taux d’écartement des règles du pré-contrôl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Pour chaque règle du pré-contrôle du plan de passation : signalements observés, ouverts, </a:t>
            </a:r>
            <a:r>
              <a:rPr lang="en-US" sz="1200" b="1" dirty="0">
                <a:solidFill>
                  <a:srgbClr val="1B2A3A"/>
                </a:solidFill>
                <a:latin typeface="Segoe UI" pitchFamily="34" charset="0"/>
                <a:ea typeface="Segoe UI" pitchFamily="34" charset="-122"/>
                <a:cs typeface="Segoe UI" pitchFamily="34" charset="-120"/>
              </a:rPr>
              <a:t>écartés</a:t>
            </a:r>
            <a:r>
              <a:rPr lang="en-US" sz="1200" dirty="0">
                <a:solidFill>
                  <a:srgbClr val="1B2A3A"/>
                </a:solidFill>
                <a:latin typeface="Segoe UI" pitchFamily="34" charset="0"/>
                <a:ea typeface="Segoe UI" pitchFamily="34" charset="-122"/>
                <a:cs typeface="Segoe UI" pitchFamily="34" charset="-120"/>
              </a:rPr>
              <a:t> et levés.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Une règle écartée presque à chaque fois fatigue la PRMP et le contrôleur : elle s’éteint depuis les règles d’anomalie, sans perdre les motifs déjà saisis.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Ce jour : 68 signalements, aucun écarté.</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RG-ADM-34 · RG-ADM-35</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300</a:t>
            </a:r>
            <a:endParaRPr lang="en-US" sz="1100" dirty="0"/>
          </a:p>
        </p:txBody>
      </p:sp>
    </p:spTree>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name="Slide 301">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ADMINISTRER</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Tenir les référentiels</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Les listes que tout le monde utilise — entités, modes de passation, natures, pièces, statuts — vivent dans des nomenclatures que l’Administrateur tient à jour sans intervention technique.</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301</a:t>
            </a:r>
            <a:endParaRPr lang="en-US" sz="1100" dirty="0"/>
          </a:p>
        </p:txBody>
      </p:sp>
    </p:spTree>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name="Slide 30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ADMINISTRATION · RÉFÉRENTIELS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nomenclatures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nomenclature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sommaire de tous les référentiels : entités, localités, natures, modes de passation, types et sous-types de dossier, pièces, statuts de marché, délégations de profil…</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Il ouvre aussi les </a:t>
            </a:r>
            <a:r>
              <a:rPr lang="en-US" sz="1200" b="1" dirty="0">
                <a:solidFill>
                  <a:srgbClr val="1B2A3A"/>
                </a:solidFill>
                <a:latin typeface="Segoe UI" pitchFamily="34" charset="0"/>
                <a:ea typeface="Segoe UI" pitchFamily="34" charset="-122"/>
                <a:cs typeface="Segoe UI" pitchFamily="34" charset="-120"/>
              </a:rPr>
              <a:t>réglages de la commande publique</a:t>
            </a:r>
            <a:r>
              <a:rPr lang="en-US" sz="1200" dirty="0">
                <a:solidFill>
                  <a:srgbClr val="1B2A3A"/>
                </a:solidFill>
                <a:latin typeface="Segoe UI" pitchFamily="34" charset="0"/>
                <a:ea typeface="Segoe UI" pitchFamily="34" charset="-122"/>
                <a:cs typeface="Segoe UI" pitchFamily="34" charset="-120"/>
              </a:rPr>
              <a:t> : quorum de la commission d’appel d’offres, transition SIGMP, recours suspensifs, remise électronique, compte de l’ARMP, espace candidat, exclusions.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RG-ADM-11 · RG-ADM-17 · RG-ADM-18 · RG-ADM-20 · RG-ADM-22</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302</a:t>
            </a:r>
            <a:endParaRPr lang="en-US" sz="1100" dirty="0"/>
          </a:p>
        </p:txBody>
      </p:sp>
    </p:spTree>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name="Slide 30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ADMINISTRATION · RÉFÉRENTIELS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L’arbre des entités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arbre des entité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entités contractantes rangées par niveau : ministère, direction générale…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localité d’un dossier vient de l’entité choisie à la saisie, jamais de la PRMP.</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RG-ADM-09</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303</a:t>
            </a:r>
            <a:endParaRPr lang="en-US" sz="1100" dirty="0"/>
          </a:p>
        </p:txBody>
      </p:sp>
    </p:spTree>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name="Slide 30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ADMINISTRATION · RÉFÉRENTIELS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Mode de passation → type de dossier</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Mode de passation → type de dossier"/>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type de dossier de mise en concurrence d’un marché (DAO, dossier de consultation, bon de commande) se déduit de son </a:t>
            </a:r>
            <a:r>
              <a:rPr lang="en-US" sz="1200" b="1" dirty="0">
                <a:solidFill>
                  <a:srgbClr val="1B2A3A"/>
                </a:solidFill>
                <a:latin typeface="Segoe UI" pitchFamily="34" charset="0"/>
                <a:ea typeface="Segoe UI" pitchFamily="34" charset="-122"/>
                <a:cs typeface="Segoe UI" pitchFamily="34" charset="-120"/>
              </a:rPr>
              <a:t>mode de passation</a:t>
            </a:r>
            <a:r>
              <a:rPr lang="en-US" sz="1200" dirty="0">
                <a:solidFill>
                  <a:srgbClr val="1B2A3A"/>
                </a:solidFill>
                <a:latin typeface="Segoe UI" pitchFamily="34" charset="0"/>
                <a:ea typeface="Segoe UI" pitchFamily="34" charset="-122"/>
                <a:cs typeface="Segoe UI" pitchFamily="34" charset="-120"/>
              </a:rPr>
              <a: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modes sans rattachement sont signalés « Non mappé » : aucune fiche ne peut se créer sur leurs lignes.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RG-ADM-19</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304</a:t>
            </a:r>
            <a:endParaRPr lang="en-US" sz="1100" dirty="0"/>
          </a:p>
        </p:txBody>
      </p:sp>
    </p:spTree>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name="Slide 30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ADMINISTRATION · RÉFÉRENTIELS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champs de la fiche DAO</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champs de la fiche DAO"/>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L’écran de la fiche DAO est dessiné depuis ce référentiel : </a:t>
            </a:r>
            <a:r>
              <a:rPr lang="en-US" sz="1200" b="1" dirty="0">
                <a:solidFill>
                  <a:srgbClr val="1B2A3A"/>
                </a:solidFill>
                <a:latin typeface="Segoe UI" pitchFamily="34" charset="0"/>
                <a:ea typeface="Segoe UI" pitchFamily="34" charset="-122"/>
                <a:cs typeface="Segoe UI" pitchFamily="34" charset="-120"/>
              </a:rPr>
              <a:t>699 informations</a:t>
            </a:r>
            <a:r>
              <a:rPr lang="en-US" sz="1200" dirty="0">
                <a:solidFill>
                  <a:srgbClr val="1B2A3A"/>
                </a:solidFill>
                <a:latin typeface="Segoe UI" pitchFamily="34" charset="0"/>
                <a:ea typeface="Segoe UI" pitchFamily="34" charset="-122"/>
                <a:cs typeface="Segoe UI" pitchFamily="34" charset="-120"/>
              </a:rPr>
              <a:t>, dont 488 actives, 23 reprises du plan et 26 du cadrage.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Chaque champ dit sa source, le document où il s’imprime, les marchés concernés et sa condition d’affichage.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Ajouter une information ou changer sa condition ne demande aucune intervention technique ; un champ ne se supprime pas, il se désactive.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RG-ADM-21</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305</a:t>
            </a:r>
            <a:endParaRPr lang="en-US" sz="1100" dirty="0"/>
          </a:p>
        </p:txBody>
      </p:sp>
    </p:spTree>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name="Slide 306">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ADMINISTRER</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Les paramètres de la commande publique</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Le manuel de contrôle révisé (octobre 2026) a fait de plusieurs choix de droit des réglages de l’Administrateur : chacun vaut pour toutes les procédures dès son enregistrement.</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306</a:t>
            </a:r>
            <a:endParaRPr lang="en-US" sz="1100" dirty="0"/>
          </a:p>
        </p:txBody>
      </p:sp>
    </p:spTree>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name="Slide 30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PARAMÈTRES · MANUEL RÉVISÉ</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quorum de la commission d’appel d’offres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 quorum de la commission d’appel d’offre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Trois règles possibles : la </a:t>
            </a:r>
            <a:r>
              <a:rPr lang="en-US" sz="1200" b="1" dirty="0">
                <a:solidFill>
                  <a:srgbClr val="1B2A3A"/>
                </a:solidFill>
                <a:latin typeface="Segoe UI" pitchFamily="34" charset="0"/>
                <a:ea typeface="Segoe UI" pitchFamily="34" charset="-122"/>
                <a:cs typeface="Segoe UI" pitchFamily="34" charset="-120"/>
              </a:rPr>
              <a:t>majorité</a:t>
            </a:r>
            <a:r>
              <a:rPr lang="en-US" sz="1200" dirty="0">
                <a:solidFill>
                  <a:srgbClr val="1B2A3A"/>
                </a:solidFill>
                <a:latin typeface="Segoe UI" pitchFamily="34" charset="0"/>
                <a:ea typeface="Segoe UI" pitchFamily="34" charset="-122"/>
                <a:cs typeface="Segoe UI" pitchFamily="34" charset="-120"/>
              </a:rPr>
              <a:t> des membres désignés (par défaut), tous les membres, ou un nombre minimal.</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président de la commission, ou le représentant qu’il désigne, est toujours requis en plus du nombre.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quorum se vérifie à la clôture des séances, à la production du rapport d’évaluation et à l’arrêt de la liste de l’AMI ; un empêchement qui le rendrait inatteignable est refusé.</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RG-ADM-36 · RG-ADM-37</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307</a:t>
            </a:r>
            <a:endParaRPr lang="en-US" sz="1100" dirty="0"/>
          </a:p>
        </p:txBody>
      </p:sp>
    </p:spTree>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name="Slide 30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PARAMÈTRES · MANUEL RÉVISÉ</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recours suspensifs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recours suspensif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recours qui </a:t>
            </a:r>
            <a:r>
              <a:rPr lang="en-US" sz="1200" b="1" dirty="0">
                <a:solidFill>
                  <a:srgbClr val="1B2A3A"/>
                </a:solidFill>
                <a:latin typeface="Segoe UI" pitchFamily="34" charset="0"/>
                <a:ea typeface="Segoe UI" pitchFamily="34" charset="-122"/>
                <a:cs typeface="Segoe UI" pitchFamily="34" charset="-120"/>
              </a:rPr>
              <a:t>arrêtent la signature</a:t>
            </a:r>
            <a:r>
              <a:rPr lang="en-US" sz="1200" dirty="0">
                <a:solidFill>
                  <a:srgbClr val="1B2A3A"/>
                </a:solidFill>
                <a:latin typeface="Segoe UI" pitchFamily="34" charset="0"/>
                <a:ea typeface="Segoe UI" pitchFamily="34" charset="-122"/>
                <a:cs typeface="Segoe UI" pitchFamily="34" charset="-120"/>
              </a:rPr>
              <a:t> du marché jusqu’à leur décision, vingt jours au plus : révision auprès de l’ARMP (art. 80) et référé précontractuel (art. 78), cochés ce jour.</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demande de réexamen auprès de la PRMP (art. 79) peut être ajoutée ; la PRMP y répond sous dix jours.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réglage vaut </a:t>
            </a:r>
            <a:r>
              <a:rPr lang="en-US" sz="1200" b="1" dirty="0">
                <a:solidFill>
                  <a:srgbClr val="1B2A3A"/>
                </a:solidFill>
                <a:latin typeface="Segoe UI" pitchFamily="34" charset="0"/>
                <a:ea typeface="Segoe UI" pitchFamily="34" charset="-122"/>
                <a:cs typeface="Segoe UI" pitchFamily="34" charset="-120"/>
              </a:rPr>
              <a:t>immédiatement</a:t>
            </a:r>
            <a:r>
              <a:rPr lang="en-US" sz="1200" dirty="0">
                <a:solidFill>
                  <a:srgbClr val="1B2A3A"/>
                </a:solidFill>
                <a:latin typeface="Segoe UI" pitchFamily="34" charset="0"/>
                <a:ea typeface="Segoe UI" pitchFamily="34" charset="-122"/>
                <a:cs typeface="Segoe UI" pitchFamily="34" charset="-120"/>
              </a:rPr>
              <a:t>, y compris pour les recours déjà déclarés.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RG-ADM-38</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308</a:t>
            </a:r>
            <a:endParaRPr lang="en-US" sz="1100" dirty="0"/>
          </a:p>
        </p:txBody>
      </p:sp>
    </p:spTree>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name="Slide 30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PARAMÈTRES · MANUEL RÉVISÉ</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transition SIGMP</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a transition SIGMP"/>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L’avis spécifique, la lettre d’invitation et l’avis général produits par l’application </a:t>
            </a:r>
            <a:r>
              <a:rPr lang="en-US" sz="1200" b="1" dirty="0">
                <a:solidFill>
                  <a:srgbClr val="1B2A3A"/>
                </a:solidFill>
                <a:latin typeface="Segoe UI" pitchFamily="34" charset="0"/>
                <a:ea typeface="Segoe UI" pitchFamily="34" charset="-122"/>
                <a:cs typeface="Segoe UI" pitchFamily="34" charset="-120"/>
              </a:rPr>
              <a:t>tiennent lieu</a:t>
            </a:r>
            <a:r>
              <a:rPr lang="en-US" sz="1200" dirty="0">
                <a:solidFill>
                  <a:srgbClr val="1B2A3A"/>
                </a:solidFill>
                <a:latin typeface="Segoe UI" pitchFamily="34" charset="0"/>
                <a:ea typeface="Segoe UI" pitchFamily="34" charset="-122"/>
                <a:cs typeface="Segoe UI" pitchFamily="34" charset="-120"/>
              </a:rPr>
              <a:t> d’imprimés du SIGMP.</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Jusqu’à la date de fin de transition, l’imprimé du SIGMP reste accepté mais facultatif pour les procédures en ligne ; ensuite il n’est plus demandé. Aucune date n’est fixée ce jour.</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décision formelle d’équivalence (référence et date) s’imprime au pied de chaque document ; en attendant : « Projet — équivalence SIGMP en attente ».</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RG-ADM-39 · RG-ADM-40</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309</a:t>
            </a:r>
            <a:endParaRPr lang="en-US" sz="1100" dirty="0"/>
          </a:p>
        </p:txBody>
      </p:sp>
    </p:spTree>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name="Slide 31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PARAMÈTRES · REMISE ÉLECTRONIQUE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remise électronique : défauts et bornes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a remise électronique : défauts et borne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Ce que la fiche DAO propose d’avance en remise électronique : adresse de la plateforme, fuseau horaire, assistance aux candidats, quorum de déchiffrement proposé (3 sur 5).</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Ce que ses contrôles exigent au minimum : niveau de signature (</a:t>
            </a:r>
            <a:r>
              <a:rPr lang="en-US" sz="1200" b="1" dirty="0">
                <a:solidFill>
                  <a:srgbClr val="1B2A3A"/>
                </a:solidFill>
                <a:latin typeface="Segoe UI" pitchFamily="34" charset="0"/>
                <a:ea typeface="Segoe UI" pitchFamily="34" charset="-122"/>
                <a:cs typeface="Segoe UI" pitchFamily="34" charset="-120"/>
              </a:rPr>
              <a:t>Simple</a:t>
            </a:r>
            <a:r>
              <a:rPr lang="en-US" sz="1200" dirty="0">
                <a:solidFill>
                  <a:srgbClr val="1B2A3A"/>
                </a:solidFill>
                <a:latin typeface="Segoe UI" pitchFamily="34" charset="0"/>
                <a:ea typeface="Segoe UI" pitchFamily="34" charset="-122"/>
                <a:cs typeface="Segoe UI" pitchFamily="34" charset="-120"/>
              </a:rPr>
              <a:t> ce jour), taille maximale de la plateforme (500 Mo), délai minimal entre publication et date limite (30 jours).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rappel aux détenteurs d’une part de clé non vérifiée, 7 jours avant la date limite.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RG-ADM-23 · RG-ADM-24 · RG-ADM-46</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310</a:t>
            </a:r>
            <a:endParaRPr lang="en-US" sz="1100" dirty="0"/>
          </a:p>
        </p:txBody>
      </p:sp>
    </p:spTree>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name="Slide 31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PARAMÈTRES · REMISE ÉLECTRONIQUE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compte bancaire de l’ARMP</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 compte bancaire de l’ARMP"/>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compte unique où se verse le prix d’un dossier d’appel d’offres : banque, titulaire, numéro.</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L’avis spécifique l’imprime ; l’écran montre la phrase telle qu’elle paraîtra.</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Il n’est pas encore réglé sur la base de démonstration : les avis impriment des </a:t>
            </a:r>
            <a:r>
              <a:rPr lang="en-US" sz="1200" b="1" dirty="0">
                <a:solidFill>
                  <a:srgbClr val="1B2A3A"/>
                </a:solidFill>
                <a:latin typeface="Segoe UI" pitchFamily="34" charset="0"/>
                <a:ea typeface="Segoe UI" pitchFamily="34" charset="-122"/>
                <a:cs typeface="Segoe UI" pitchFamily="34" charset="-120"/>
              </a:rPr>
              <a:t>pointillés</a:t>
            </a:r>
            <a:r>
              <a:rPr lang="en-US" sz="1200" dirty="0">
                <a:solidFill>
                  <a:srgbClr val="1B2A3A"/>
                </a:solidFill>
                <a:latin typeface="Segoe UI" pitchFamily="34" charset="0"/>
                <a:ea typeface="Segoe UI" pitchFamily="34" charset="-122"/>
                <a:cs typeface="Segoe UI" pitchFamily="34" charset="-120"/>
              </a:rPr>
              <a:t> à sa place.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RG-ADM-25</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311</a:t>
            </a:r>
            <a:endParaRPr lang="en-US" sz="1100" dirty="0"/>
          </a:p>
        </p:txBody>
      </p:sp>
    </p:spTree>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name="Slide 312">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ADMINISTRER</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Les entreprises candidates</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L’espace en ligne des candidats a ses propres règles : inscription, vérification du NIF, nettoyage des comptes, conservation des offres, exclusions prononcées par l’ARMP.</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312</a:t>
            </a:r>
            <a:endParaRPr lang="en-US" sz="1100" dirty="0"/>
          </a:p>
        </p:txBody>
      </p:sp>
    </p:spTree>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name="Slide 31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PARAMÈTRES · ESPACE CANDIDAT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paramètres de l’espace candidat</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paramètres de l’espace candidat"/>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Vérification du NIF </a:t>
            </a:r>
            <a:r>
              <a:rPr lang="en-US" sz="1200" b="1" dirty="0">
                <a:solidFill>
                  <a:srgbClr val="1B2A3A"/>
                </a:solidFill>
                <a:latin typeface="Segoe UI" pitchFamily="34" charset="0"/>
                <a:ea typeface="Segoe UI" pitchFamily="34" charset="-122"/>
                <a:cs typeface="Segoe UI" pitchFamily="34" charset="-120"/>
              </a:rPr>
              <a:t>sur pièces</a:t>
            </a:r>
            <a:r>
              <a:rPr lang="en-US" sz="1200" dirty="0">
                <a:solidFill>
                  <a:srgbClr val="1B2A3A"/>
                </a:solidFill>
                <a:latin typeface="Segoe UI" pitchFamily="34" charset="0"/>
                <a:ea typeface="Segoe UI" pitchFamily="34" charset="-122"/>
                <a:cs typeface="Segoe UI" pitchFamily="34" charset="-120"/>
              </a:rPr>
              <a:t> ; inscriptions limitées à 5 par jour depuis un même poste ; un compte jamais confirmé est supprimé après 7 jours, un compte inactif archivé après 24 mois.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Pièces de l’entreprise limitées à 10 Mo ; la confirmation par téléphone reste désactivée.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Conservation des offres : sans durée fixée, rien n’est supprimé ; au terme, la purge reste un geste de l’Administrateur, procédure par procédure.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RG-ADM-26 · RG-ADM-30 · RG-ADM-45</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313</a:t>
            </a:r>
            <a:endParaRPr lang="en-US" sz="1100" dirty="0"/>
          </a:p>
        </p:txBody>
      </p:sp>
    </p:spTree>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name="Slide 31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ADMINISTRATION · ENTREPRISES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entreprises candidates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entreprises candidate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entreprises déclarées par les candidats, par état de vérification : non vérifié, pièces refusées, NIF vérifié sur pièces…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L’Administrateur rapproche la carte fiscale du NIF déclaré, puis décide — ici l’« Entreprise de recette BTP », non encore vérifiée.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décision ne </a:t>
            </a:r>
            <a:r>
              <a:rPr lang="en-US" sz="1200" b="1" dirty="0">
                <a:solidFill>
                  <a:srgbClr val="1B2A3A"/>
                </a:solidFill>
                <a:latin typeface="Segoe UI" pitchFamily="34" charset="0"/>
                <a:ea typeface="Segoe UI" pitchFamily="34" charset="-122"/>
                <a:cs typeface="Segoe UI" pitchFamily="34" charset="-120"/>
              </a:rPr>
              <a:t>bloque aucun dépôt</a:t>
            </a:r>
            <a:r>
              <a:rPr lang="en-US" sz="1200" dirty="0">
                <a:solidFill>
                  <a:srgbClr val="1B2A3A"/>
                </a:solidFill>
                <a:latin typeface="Segoe UI" pitchFamily="34" charset="0"/>
                <a:ea typeface="Segoe UI" pitchFamily="34" charset="-122"/>
                <a:cs typeface="Segoe UI" pitchFamily="34" charset="-120"/>
              </a:rPr>
              <a:t> : la commission la lit à l’ouverture des plis.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RG-ADM-27</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314</a:t>
            </a:r>
            <a:endParaRPr lang="en-US" sz="1100" dirty="0"/>
          </a:p>
        </p:txBody>
      </p:sp>
    </p:spTree>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name="Slide 31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ADMINISTRATION · ENTREPRISES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entreprises exclues par l’ARMP</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entreprises exclues par l’ARMP"/>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répertoire des décisions d’exclusion de l’ARMP, avec leur référence et leurs dates, rapproché par le NIF.</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Une entreprise exclue est signalée dès sa déclaration et ne peut pas déposer d’offre pendant la période.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Rien ne se supprime : on corrige, ou on avance la date de fin. Aucune exclusion n’est répertoriée ce jour.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RG-ADM-28</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315</a:t>
            </a:r>
            <a:endParaRPr lang="en-US" sz="1100" dirty="0"/>
          </a:p>
        </p:txBody>
      </p:sp>
    </p:spTree>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name="Slide 316">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ADMINISTRER</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Garder la trace et informer</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Tout ce qui s’écrit dans l’application, et toute tentative d’y entrer, laisse une trace que nul ne peut effacer.</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316</a:t>
            </a:r>
            <a:endParaRPr lang="en-US" sz="1100" dirty="0"/>
          </a:p>
        </p:txBody>
      </p:sp>
    </p:spTree>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name="Slide 31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ADMINISTRATION · TRACES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journal des écritures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 journal des écriture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Toute écriture enregistrée : date, acteur, objet, action — plus de </a:t>
            </a:r>
            <a:r>
              <a:rPr lang="en-US" sz="1200" b="1" dirty="0">
                <a:solidFill>
                  <a:srgbClr val="1B2A3A"/>
                </a:solidFill>
                <a:latin typeface="Segoe UI" pitchFamily="34" charset="0"/>
                <a:ea typeface="Segoe UI" pitchFamily="34" charset="-122"/>
                <a:cs typeface="Segoe UI" pitchFamily="34" charset="-120"/>
              </a:rPr>
              <a:t>132 000</a:t>
            </a:r>
            <a:r>
              <a:rPr lang="en-US" sz="1200" dirty="0">
                <a:solidFill>
                  <a:srgbClr val="1B2A3A"/>
                </a:solidFill>
                <a:latin typeface="Segoe UI" pitchFamily="34" charset="0"/>
                <a:ea typeface="Segoe UI" pitchFamily="34" charset="-122"/>
                <a:cs typeface="Segoe UI" pitchFamily="34" charset="-120"/>
              </a:rPr>
              <a:t> entrées sur la base de démonstration.</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Filtrable par objet, par acteur et par période, du plus récent au plus ancien ; nul ne peut y ajouter, modifier ni supprimer une entrée.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RG-ADM-31</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317</a:t>
            </a:r>
            <a:endParaRPr lang="en-US" sz="1100" dirty="0"/>
          </a:p>
        </p:txBody>
      </p:sp>
    </p:spTree>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name="Slide 31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ADMINISTRATION · TRACES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journal des connexions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 journal des connexion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Chaque connexion acceptée ou refusée : qui, quand, fin de session, durée, adresse et poste utilisés.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Une tentative sur un identifiant inconnu est journalisée sous l’identifiant tapé : c’est souvent la ligne qu’on vient chercher.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RG-ADM-32</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318</a:t>
            </a:r>
            <a:endParaRPr lang="en-US" sz="1100" dirty="0"/>
          </a:p>
        </p:txBody>
      </p:sp>
    </p:spTree>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name="Slide 31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ADMINISTRATION · TRACES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actualités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actualité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Une actualité vise un ou plusieurs profils et s’affiche à l’ouverture de session, dans sa période de publication.</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Elle s’active, se désactive ou s’archive ; un interrupteur général les arrête toutes sans rien perdre.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RG-ADM-33</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319</a:t>
            </a:r>
            <a:endParaRPr lang="en-US" sz="1100" dirty="0"/>
          </a:p>
        </p:txBody>
      </p:sp>
    </p:spTree>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name="Slide 32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ADMINISTRATION · CONSULTATION</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plans et leurs marchés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plans et leurs marché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 en lecture.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plans de passation enregistrés, par référence et exercice, avec le nombre de marchés rattachés et leur détail.</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Une consultation des données des PRMP, sans aucun geste de modification.</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320</a:t>
            </a:r>
            <a:endParaRPr lang="en-US" sz="1100" dirty="0"/>
          </a:p>
        </p:txBody>
      </p:sp>
    </p:spTree>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name="Slide 32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ADMINISTRER · EN RÉSUMÉ</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Ce que l’application garantit</a:t>
            </a:r>
            <a:endParaRPr lang="en-US" sz="2600" dirty="0"/>
          </a:p>
        </p:txBody>
      </p:sp>
      <p:sp>
        <p:nvSpPr>
          <p:cNvPr id="4" name="Shape 2"/>
          <p:cNvSpPr/>
          <p:nvPr/>
        </p:nvSpPr>
        <p:spPr>
          <a:xfrm>
            <a:off x="812780" y="1206500"/>
            <a:ext cx="3420448" cy="2159000"/>
          </a:xfrm>
          <a:prstGeom prst="rect">
            <a:avLst/>
          </a:prstGeom>
          <a:solidFill>
            <a:srgbClr val="FCFCFA"/>
          </a:solidFill>
          <a:ln w="9525">
            <a:solidFill>
              <a:srgbClr val="D5DCE4"/>
            </a:solidFill>
            <a:prstDash val="solid"/>
          </a:ln>
        </p:spPr>
        <p:txBody>
          <a:bodyPr/>
          <a:lstStyle/>
          <a:p>
            <a:endParaRPr lang="fr-FR"/>
          </a:p>
        </p:txBody>
      </p:sp>
      <p:sp>
        <p:nvSpPr>
          <p:cNvPr id="5" name="Shape 3"/>
          <p:cNvSpPr/>
          <p:nvPr/>
        </p:nvSpPr>
        <p:spPr>
          <a:xfrm>
            <a:off x="812780" y="1206500"/>
            <a:ext cx="3420448" cy="38100"/>
          </a:xfrm>
          <a:prstGeom prst="rect">
            <a:avLst/>
          </a:prstGeom>
          <a:solidFill>
            <a:srgbClr val="1B6FA8"/>
          </a:solidFill>
          <a:ln/>
        </p:spPr>
        <p:txBody>
          <a:bodyPr/>
          <a:lstStyle/>
          <a:p>
            <a:endParaRPr lang="fr-FR"/>
          </a:p>
        </p:txBody>
      </p:sp>
      <p:sp>
        <p:nvSpPr>
          <p:cNvPr id="6" name="Text 4"/>
          <p:cNvSpPr/>
          <p:nvPr/>
        </p:nvSpPr>
        <p:spPr>
          <a:xfrm>
            <a:off x="952476" y="1308100"/>
            <a:ext cx="3141055"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Des accès vérifiés</a:t>
            </a:r>
            <a:endParaRPr lang="en-US" sz="1500" dirty="0"/>
          </a:p>
        </p:txBody>
      </p:sp>
      <p:sp>
        <p:nvSpPr>
          <p:cNvPr id="7" name="Text 5"/>
          <p:cNvSpPr/>
          <p:nvPr/>
        </p:nvSpPr>
        <p:spPr>
          <a:xfrm>
            <a:off x="952476" y="1593850"/>
            <a:ext cx="3141055"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Aucun compte de PRMP ne s’ouvre sans vérification de l’arrêté et des pièces ; un refus est toujours motivé.</a:t>
            </a:r>
            <a:endParaRPr lang="en-US" sz="1200" dirty="0"/>
          </a:p>
        </p:txBody>
      </p:sp>
      <p:sp>
        <p:nvSpPr>
          <p:cNvPr id="8" name="Shape 6"/>
          <p:cNvSpPr/>
          <p:nvPr/>
        </p:nvSpPr>
        <p:spPr>
          <a:xfrm>
            <a:off x="4385624" y="1206500"/>
            <a:ext cx="3420448" cy="2159000"/>
          </a:xfrm>
          <a:prstGeom prst="rect">
            <a:avLst/>
          </a:prstGeom>
          <a:solidFill>
            <a:srgbClr val="FCFCFA"/>
          </a:solidFill>
          <a:ln w="9525">
            <a:solidFill>
              <a:srgbClr val="D5DCE4"/>
            </a:solidFill>
            <a:prstDash val="solid"/>
          </a:ln>
        </p:spPr>
        <p:txBody>
          <a:bodyPr/>
          <a:lstStyle/>
          <a:p>
            <a:endParaRPr lang="fr-FR"/>
          </a:p>
        </p:txBody>
      </p:sp>
      <p:sp>
        <p:nvSpPr>
          <p:cNvPr id="9" name="Shape 7"/>
          <p:cNvSpPr/>
          <p:nvPr/>
        </p:nvSpPr>
        <p:spPr>
          <a:xfrm>
            <a:off x="4385624" y="1206500"/>
            <a:ext cx="3420448" cy="38100"/>
          </a:xfrm>
          <a:prstGeom prst="rect">
            <a:avLst/>
          </a:prstGeom>
          <a:solidFill>
            <a:srgbClr val="2E8B57"/>
          </a:solidFill>
          <a:ln/>
        </p:spPr>
        <p:txBody>
          <a:bodyPr/>
          <a:lstStyle/>
          <a:p>
            <a:endParaRPr lang="fr-FR"/>
          </a:p>
        </p:txBody>
      </p:sp>
      <p:sp>
        <p:nvSpPr>
          <p:cNvPr id="10" name="Text 8"/>
          <p:cNvSpPr/>
          <p:nvPr/>
        </p:nvSpPr>
        <p:spPr>
          <a:xfrm>
            <a:off x="4525320" y="1308100"/>
            <a:ext cx="3141055"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Des réglages tracés</a:t>
            </a:r>
            <a:endParaRPr lang="en-US" sz="1500" dirty="0"/>
          </a:p>
        </p:txBody>
      </p:sp>
      <p:sp>
        <p:nvSpPr>
          <p:cNvPr id="11" name="Text 9"/>
          <p:cNvSpPr/>
          <p:nvPr/>
        </p:nvSpPr>
        <p:spPr>
          <a:xfrm>
            <a:off x="4525320" y="1593850"/>
            <a:ext cx="3141055"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Chaque changement de paramètre est daté et signé de son auteur, et remonte au poste d’administration.</a:t>
            </a:r>
            <a:endParaRPr lang="en-US" sz="1200" dirty="0"/>
          </a:p>
        </p:txBody>
      </p:sp>
      <p:sp>
        <p:nvSpPr>
          <p:cNvPr id="12" name="Shape 10"/>
          <p:cNvSpPr/>
          <p:nvPr/>
        </p:nvSpPr>
        <p:spPr>
          <a:xfrm>
            <a:off x="7958468" y="1206500"/>
            <a:ext cx="3420448" cy="2159000"/>
          </a:xfrm>
          <a:prstGeom prst="rect">
            <a:avLst/>
          </a:prstGeom>
          <a:solidFill>
            <a:srgbClr val="FCFCFA"/>
          </a:solidFill>
          <a:ln w="9525">
            <a:solidFill>
              <a:srgbClr val="D5DCE4"/>
            </a:solidFill>
            <a:prstDash val="solid"/>
          </a:ln>
        </p:spPr>
        <p:txBody>
          <a:bodyPr/>
          <a:lstStyle/>
          <a:p>
            <a:endParaRPr lang="fr-FR"/>
          </a:p>
        </p:txBody>
      </p:sp>
      <p:sp>
        <p:nvSpPr>
          <p:cNvPr id="13" name="Shape 11"/>
          <p:cNvSpPr/>
          <p:nvPr/>
        </p:nvSpPr>
        <p:spPr>
          <a:xfrm>
            <a:off x="7958468" y="1206500"/>
            <a:ext cx="3420448" cy="38100"/>
          </a:xfrm>
          <a:prstGeom prst="rect">
            <a:avLst/>
          </a:prstGeom>
          <a:solidFill>
            <a:srgbClr val="E3AE2E"/>
          </a:solidFill>
          <a:ln/>
        </p:spPr>
        <p:txBody>
          <a:bodyPr/>
          <a:lstStyle/>
          <a:p>
            <a:endParaRPr lang="fr-FR"/>
          </a:p>
        </p:txBody>
      </p:sp>
      <p:sp>
        <p:nvSpPr>
          <p:cNvPr id="14" name="Text 12"/>
          <p:cNvSpPr/>
          <p:nvPr/>
        </p:nvSpPr>
        <p:spPr>
          <a:xfrm>
            <a:off x="8098164" y="1308100"/>
            <a:ext cx="3141055"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La loi n’est pas un réglage</a:t>
            </a:r>
            <a:endParaRPr lang="en-US" sz="1500" dirty="0"/>
          </a:p>
        </p:txBody>
      </p:sp>
      <p:sp>
        <p:nvSpPr>
          <p:cNvPr id="15" name="Text 13"/>
          <p:cNvSpPr/>
          <p:nvPr/>
        </p:nvSpPr>
        <p:spPr>
          <a:xfrm>
            <a:off x="8098164" y="1593850"/>
            <a:ext cx="3141055"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Les neuf délais de la loi n° 2016-055 sont fixés dans l’application ; les délais bloquants refusent le geste qui les enfreint.</a:t>
            </a:r>
            <a:endParaRPr lang="en-US" sz="1200" dirty="0"/>
          </a:p>
        </p:txBody>
      </p:sp>
      <p:sp>
        <p:nvSpPr>
          <p:cNvPr id="16" name="Shape 14"/>
          <p:cNvSpPr/>
          <p:nvPr/>
        </p:nvSpPr>
        <p:spPr>
          <a:xfrm>
            <a:off x="812780" y="3517900"/>
            <a:ext cx="3420448" cy="2159000"/>
          </a:xfrm>
          <a:prstGeom prst="rect">
            <a:avLst/>
          </a:prstGeom>
          <a:solidFill>
            <a:srgbClr val="FCFCFA"/>
          </a:solidFill>
          <a:ln w="9525">
            <a:solidFill>
              <a:srgbClr val="D5DCE4"/>
            </a:solidFill>
            <a:prstDash val="solid"/>
          </a:ln>
        </p:spPr>
        <p:txBody>
          <a:bodyPr/>
          <a:lstStyle/>
          <a:p>
            <a:endParaRPr lang="fr-FR"/>
          </a:p>
        </p:txBody>
      </p:sp>
      <p:sp>
        <p:nvSpPr>
          <p:cNvPr id="17" name="Shape 15"/>
          <p:cNvSpPr/>
          <p:nvPr/>
        </p:nvSpPr>
        <p:spPr>
          <a:xfrm>
            <a:off x="812780" y="3517900"/>
            <a:ext cx="3420448" cy="38100"/>
          </a:xfrm>
          <a:prstGeom prst="rect">
            <a:avLst/>
          </a:prstGeom>
          <a:solidFill>
            <a:srgbClr val="12324A"/>
          </a:solidFill>
          <a:ln/>
        </p:spPr>
        <p:txBody>
          <a:bodyPr/>
          <a:lstStyle/>
          <a:p>
            <a:endParaRPr lang="fr-FR"/>
          </a:p>
        </p:txBody>
      </p:sp>
      <p:sp>
        <p:nvSpPr>
          <p:cNvPr id="18" name="Text 16"/>
          <p:cNvSpPr/>
          <p:nvPr/>
        </p:nvSpPr>
        <p:spPr>
          <a:xfrm>
            <a:off x="952476" y="36195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Une commission qui délibère valablement</a:t>
            </a:r>
            <a:endParaRPr lang="en-US" sz="1500" dirty="0"/>
          </a:p>
        </p:txBody>
      </p:sp>
      <p:sp>
        <p:nvSpPr>
          <p:cNvPr id="19" name="Text 17"/>
          <p:cNvSpPr/>
          <p:nvPr/>
        </p:nvSpPr>
        <p:spPr>
          <a:xfrm>
            <a:off x="952476" y="40767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Le quorum réglé s’impose à chaque séance et à chaque rapport, président ou représentant compris.</a:t>
            </a:r>
            <a:endParaRPr lang="en-US" sz="1200" dirty="0"/>
          </a:p>
        </p:txBody>
      </p:sp>
      <p:sp>
        <p:nvSpPr>
          <p:cNvPr id="20" name="Shape 18"/>
          <p:cNvSpPr/>
          <p:nvPr/>
        </p:nvSpPr>
        <p:spPr>
          <a:xfrm>
            <a:off x="4385624" y="3517900"/>
            <a:ext cx="3420448" cy="2159000"/>
          </a:xfrm>
          <a:prstGeom prst="rect">
            <a:avLst/>
          </a:prstGeom>
          <a:solidFill>
            <a:srgbClr val="FCFCFA"/>
          </a:solidFill>
          <a:ln w="9525">
            <a:solidFill>
              <a:srgbClr val="D5DCE4"/>
            </a:solidFill>
            <a:prstDash val="solid"/>
          </a:ln>
        </p:spPr>
        <p:txBody>
          <a:bodyPr/>
          <a:lstStyle/>
          <a:p>
            <a:endParaRPr lang="fr-FR"/>
          </a:p>
        </p:txBody>
      </p:sp>
      <p:sp>
        <p:nvSpPr>
          <p:cNvPr id="21" name="Shape 19"/>
          <p:cNvSpPr/>
          <p:nvPr/>
        </p:nvSpPr>
        <p:spPr>
          <a:xfrm>
            <a:off x="4385624" y="3517900"/>
            <a:ext cx="3420448" cy="38100"/>
          </a:xfrm>
          <a:prstGeom prst="rect">
            <a:avLst/>
          </a:prstGeom>
          <a:solidFill>
            <a:srgbClr val="1B6FA8"/>
          </a:solidFill>
          <a:ln/>
        </p:spPr>
        <p:txBody>
          <a:bodyPr/>
          <a:lstStyle/>
          <a:p>
            <a:endParaRPr lang="fr-FR"/>
          </a:p>
        </p:txBody>
      </p:sp>
      <p:sp>
        <p:nvSpPr>
          <p:cNvPr id="22" name="Text 20"/>
          <p:cNvSpPr/>
          <p:nvPr/>
        </p:nvSpPr>
        <p:spPr>
          <a:xfrm>
            <a:off x="4525320" y="36195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Des documents officiels au bon pied</a:t>
            </a:r>
            <a:endParaRPr lang="en-US" sz="1500" dirty="0"/>
          </a:p>
        </p:txBody>
      </p:sp>
      <p:sp>
        <p:nvSpPr>
          <p:cNvPr id="23" name="Text 21"/>
          <p:cNvSpPr/>
          <p:nvPr/>
        </p:nvSpPr>
        <p:spPr>
          <a:xfrm>
            <a:off x="4525320" y="40767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Le compte de l’ARMP et la décision d’équivalence SIGMP s’impriment tels que réglés ; un document déjà produit garde les valeurs du moment.</a:t>
            </a:r>
            <a:endParaRPr lang="en-US" sz="1200" dirty="0"/>
          </a:p>
        </p:txBody>
      </p:sp>
      <p:sp>
        <p:nvSpPr>
          <p:cNvPr id="24" name="Shape 22"/>
          <p:cNvSpPr/>
          <p:nvPr/>
        </p:nvSpPr>
        <p:spPr>
          <a:xfrm>
            <a:off x="7958468" y="3517900"/>
            <a:ext cx="3420448" cy="2159000"/>
          </a:xfrm>
          <a:prstGeom prst="rect">
            <a:avLst/>
          </a:prstGeom>
          <a:solidFill>
            <a:srgbClr val="FCFCFA"/>
          </a:solidFill>
          <a:ln w="9525">
            <a:solidFill>
              <a:srgbClr val="D5DCE4"/>
            </a:solidFill>
            <a:prstDash val="solid"/>
          </a:ln>
        </p:spPr>
        <p:txBody>
          <a:bodyPr/>
          <a:lstStyle/>
          <a:p>
            <a:endParaRPr lang="fr-FR"/>
          </a:p>
        </p:txBody>
      </p:sp>
      <p:sp>
        <p:nvSpPr>
          <p:cNvPr id="25" name="Shape 23"/>
          <p:cNvSpPr/>
          <p:nvPr/>
        </p:nvSpPr>
        <p:spPr>
          <a:xfrm>
            <a:off x="7958468" y="3517900"/>
            <a:ext cx="3420448" cy="38100"/>
          </a:xfrm>
          <a:prstGeom prst="rect">
            <a:avLst/>
          </a:prstGeom>
          <a:solidFill>
            <a:srgbClr val="2E8B57"/>
          </a:solidFill>
          <a:ln/>
        </p:spPr>
        <p:txBody>
          <a:bodyPr/>
          <a:lstStyle/>
          <a:p>
            <a:endParaRPr lang="fr-FR"/>
          </a:p>
        </p:txBody>
      </p:sp>
      <p:sp>
        <p:nvSpPr>
          <p:cNvPr id="26" name="Text 24"/>
          <p:cNvSpPr/>
          <p:nvPr/>
        </p:nvSpPr>
        <p:spPr>
          <a:xfrm>
            <a:off x="8098164" y="3619500"/>
            <a:ext cx="3141055"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Un journal immuable</a:t>
            </a:r>
            <a:endParaRPr lang="en-US" sz="1500" dirty="0"/>
          </a:p>
        </p:txBody>
      </p:sp>
      <p:sp>
        <p:nvSpPr>
          <p:cNvPr id="27" name="Text 25"/>
          <p:cNvSpPr/>
          <p:nvPr/>
        </p:nvSpPr>
        <p:spPr>
          <a:xfrm>
            <a:off x="8098164" y="3905250"/>
            <a:ext cx="3141055"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Écritures et connexions sont journalisées ; personne, Administrateur compris, ne peut en retirer une ligne.</a:t>
            </a:r>
            <a:endParaRPr lang="en-US" sz="1200" dirty="0"/>
          </a:p>
        </p:txBody>
      </p:sp>
      <p:sp>
        <p:nvSpPr>
          <p:cNvPr id="28" name="Text 2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321</a:t>
            </a:r>
            <a:endParaRPr lang="en-US" sz="1100" dirty="0"/>
          </a:p>
        </p:txBody>
      </p:sp>
    </p:spTree>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name="Slide 322">
    <p:bg>
      <p:bgPr>
        <a:solidFill>
          <a:srgbClr val="12324A"/>
        </a:solidFill>
        <a:effectLst/>
      </p:bgPr>
    </p:bg>
    <p:spTree>
      <p:nvGrpSpPr>
        <p:cNvPr id="1" name=""/>
        <p:cNvGrpSpPr/>
        <p:nvPr/>
      </p:nvGrpSpPr>
      <p:grpSpPr>
        <a:xfrm>
          <a:off x="0" y="0"/>
          <a:ext cx="0" cy="0"/>
          <a:chOff x="0" y="0"/>
          <a:chExt cx="0" cy="0"/>
        </a:xfrm>
      </p:grpSpPr>
      <p:sp>
        <p:nvSpPr>
          <p:cNvPr id="2" name="Shape 0"/>
          <p:cNvSpPr/>
          <p:nvPr/>
        </p:nvSpPr>
        <p:spPr>
          <a:xfrm>
            <a:off x="0" y="0"/>
            <a:ext cx="152396" cy="6858000"/>
          </a:xfrm>
          <a:prstGeom prst="rect">
            <a:avLst/>
          </a:prstGeom>
          <a:solidFill>
            <a:srgbClr val="E3AE2E"/>
          </a:solidFill>
          <a:ln w="12700">
            <a:solidFill>
              <a:srgbClr val="E3AE2E"/>
            </a:solidFill>
            <a:prstDash val="solid"/>
          </a:ln>
        </p:spPr>
        <p:txBody>
          <a:bodyPr/>
          <a:lstStyle/>
          <a:p>
            <a:endParaRPr lang="fr-FR"/>
          </a:p>
        </p:txBody>
      </p:sp>
      <p:sp>
        <p:nvSpPr>
          <p:cNvPr id="3" name="Text 1"/>
          <p:cNvSpPr/>
          <p:nvPr/>
        </p:nvSpPr>
        <p:spPr>
          <a:xfrm>
            <a:off x="812780" y="698500"/>
            <a:ext cx="3809905" cy="952500"/>
          </a:xfrm>
          <a:prstGeom prst="rect">
            <a:avLst/>
          </a:prstGeom>
          <a:noFill/>
          <a:ln/>
        </p:spPr>
        <p:txBody>
          <a:bodyPr wrap="square" rtlCol="0" anchor="ctr"/>
          <a:lstStyle/>
          <a:p>
            <a:pPr marL="0" indent="0">
              <a:buNone/>
            </a:pPr>
            <a:r>
              <a:rPr lang="en-US" sz="7200" b="1" dirty="0">
                <a:solidFill>
                  <a:srgbClr val="E3AE2E"/>
                </a:solidFill>
                <a:latin typeface="Segoe UI" pitchFamily="34" charset="0"/>
                <a:ea typeface="Segoe UI" pitchFamily="34" charset="-122"/>
                <a:cs typeface="Segoe UI" pitchFamily="34" charset="-120"/>
              </a:rPr>
              <a:t>12</a:t>
            </a:r>
            <a:endParaRPr lang="en-US" sz="7200" dirty="0"/>
          </a:p>
        </p:txBody>
      </p:sp>
      <p:sp>
        <p:nvSpPr>
          <p:cNvPr id="4" name="Text 2"/>
          <p:cNvSpPr/>
          <p:nvPr/>
        </p:nvSpPr>
        <p:spPr>
          <a:xfrm>
            <a:off x="812780" y="1714500"/>
            <a:ext cx="10477238" cy="635000"/>
          </a:xfrm>
          <a:prstGeom prst="rect">
            <a:avLst/>
          </a:prstGeom>
          <a:noFill/>
          <a:ln/>
        </p:spPr>
        <p:txBody>
          <a:bodyPr wrap="square" rtlCol="0" anchor="ctr">
            <a:normAutofit/>
          </a:bodyPr>
          <a:lstStyle/>
          <a:p>
            <a:pPr marL="0" indent="0">
              <a:buNone/>
            </a:pPr>
            <a:r>
              <a:rPr lang="en-US" sz="4000" b="1" dirty="0">
                <a:solidFill>
                  <a:srgbClr val="FCFCFA"/>
                </a:solidFill>
                <a:latin typeface="Segoe UI" pitchFamily="34" charset="0"/>
                <a:ea typeface="Segoe UI" pitchFamily="34" charset="-122"/>
                <a:cs typeface="Segoe UI" pitchFamily="34" charset="-120"/>
              </a:rPr>
              <a:t>Piloter et publier</a:t>
            </a:r>
            <a:endParaRPr lang="en-US" sz="4000" dirty="0"/>
          </a:p>
        </p:txBody>
      </p:sp>
      <p:sp>
        <p:nvSpPr>
          <p:cNvPr id="5" name="Text 3"/>
          <p:cNvSpPr/>
          <p:nvPr/>
        </p:nvSpPr>
        <p:spPr>
          <a:xfrm>
            <a:off x="812780" y="2413000"/>
            <a:ext cx="10159746" cy="698500"/>
          </a:xfrm>
          <a:prstGeom prst="rect">
            <a:avLst/>
          </a:prstGeom>
          <a:noFill/>
          <a:ln/>
        </p:spPr>
        <p:txBody>
          <a:bodyPr wrap="square" rtlCol="0" anchor="t">
            <a:normAutofit/>
          </a:bodyPr>
          <a:lstStyle/>
          <a:p>
            <a:pPr marL="0" indent="0">
              <a:buNone/>
            </a:pPr>
            <a:r>
              <a:rPr lang="en-US" sz="1700" dirty="0">
                <a:solidFill>
                  <a:srgbClr val="C9D6E2"/>
                </a:solidFill>
                <a:latin typeface="Segoe UI" pitchFamily="34" charset="0"/>
                <a:ea typeface="Segoe UI" pitchFamily="34" charset="-122"/>
                <a:cs typeface="Segoe UI" pitchFamily="34" charset="-120"/>
              </a:rPr>
              <a:t>Chacun suit ce qui le concerne — la PRMP ses dossiers, la direction l’activité de la Commission, l’Administrateur les procédures en ligne — et le public reçoit ce qui doit l’être.</a:t>
            </a:r>
            <a:endParaRPr lang="en-US" sz="1700" dirty="0"/>
          </a:p>
        </p:txBody>
      </p:sp>
      <p:sp>
        <p:nvSpPr>
          <p:cNvPr id="6" name="Text 4"/>
          <p:cNvSpPr/>
          <p:nvPr/>
        </p:nvSpPr>
        <p:spPr>
          <a:xfrm>
            <a:off x="812780" y="3429000"/>
            <a:ext cx="5079873" cy="228600"/>
          </a:xfrm>
          <a:prstGeom prst="rect">
            <a:avLst/>
          </a:prstGeom>
          <a:noFill/>
          <a:ln/>
        </p:spPr>
        <p:txBody>
          <a:bodyPr wrap="square" rtlCol="0" anchor="ctr"/>
          <a:lstStyle/>
          <a:p>
            <a:pPr marL="0" indent="0">
              <a:buNone/>
            </a:pPr>
            <a:r>
              <a:rPr lang="en-US" sz="1200" b="1" kern="0" spc="200" dirty="0">
                <a:solidFill>
                  <a:srgbClr val="E3AE2E"/>
                </a:solidFill>
                <a:latin typeface="Segoe UI" pitchFamily="34" charset="0"/>
                <a:ea typeface="Segoe UI" pitchFamily="34" charset="-122"/>
                <a:cs typeface="Segoe UI" pitchFamily="34" charset="-120"/>
              </a:rPr>
              <a:t>CE QUE CELA CHANGE</a:t>
            </a:r>
            <a:endParaRPr lang="en-US" sz="1200" dirty="0"/>
          </a:p>
        </p:txBody>
      </p:sp>
      <p:sp>
        <p:nvSpPr>
          <p:cNvPr id="7" name="Text 5"/>
          <p:cNvSpPr/>
          <p:nvPr/>
        </p:nvSpPr>
        <p:spPr>
          <a:xfrm>
            <a:off x="812780" y="3714750"/>
            <a:ext cx="10286743" cy="2413000"/>
          </a:xfrm>
          <a:prstGeom prst="rect">
            <a:avLst/>
          </a:prstGeom>
          <a:noFill/>
          <a:ln/>
        </p:spPr>
        <p:txBody>
          <a:bodyPr wrap="square" rtlCol="0" anchor="t">
            <a:normAutofit/>
          </a:bodyPr>
          <a:lstStyle/>
          <a:p>
            <a:pPr marL="203200" indent="-203200">
              <a:spcAft>
                <a:spcPts val="800"/>
              </a:spcAft>
              <a:buSzPct val="100000"/>
              <a:buChar char="•"/>
            </a:pPr>
            <a:r>
              <a:rPr lang="en-US" sz="1500" dirty="0">
                <a:solidFill>
                  <a:srgbClr val="FCFCFA"/>
                </a:solidFill>
                <a:latin typeface="Segoe UI" pitchFamily="34" charset="0"/>
                <a:ea typeface="Segoe UI" pitchFamily="34" charset="-122"/>
                <a:cs typeface="Segoe UI" pitchFamily="34" charset="-120"/>
              </a:rPr>
              <a:t>La PRMP connaît dès la soumission la date à laquelle la Commission prévoit de rendre son avis, et voit cette date bouger quand le dossier l’attend.</a:t>
            </a:r>
            <a:endParaRPr lang="en-US" sz="1500" dirty="0"/>
          </a:p>
          <a:p>
            <a:pPr marL="203200" indent="-203200">
              <a:spcAft>
                <a:spcPts val="800"/>
              </a:spcAft>
              <a:buSzPct val="100000"/>
              <a:buChar char="•"/>
            </a:pPr>
            <a:r>
              <a:rPr lang="en-US" sz="1500" dirty="0">
                <a:solidFill>
                  <a:srgbClr val="FCFCFA"/>
                </a:solidFill>
                <a:latin typeface="Segoe UI" pitchFamily="34" charset="0"/>
                <a:ea typeface="Segoe UI" pitchFamily="34" charset="-122"/>
                <a:cs typeface="Segoe UI" pitchFamily="34" charset="-120"/>
              </a:rPr>
              <a:t>La direction dispose d’indicateurs calculés sur les données réelles : dossiers déposés, taux de conformité, points de contrôle les plus souvent non conformes, rapports téléchargeables.</a:t>
            </a:r>
            <a:endParaRPr lang="en-US" sz="1500" dirty="0"/>
          </a:p>
          <a:p>
            <a:pPr marL="203200" indent="-203200">
              <a:spcAft>
                <a:spcPts val="800"/>
              </a:spcAft>
              <a:buSzPct val="100000"/>
              <a:buChar char="•"/>
            </a:pPr>
            <a:r>
              <a:rPr lang="en-US" sz="1500" dirty="0">
                <a:solidFill>
                  <a:srgbClr val="FCFCFA"/>
                </a:solidFill>
                <a:latin typeface="Segoe UI" pitchFamily="34" charset="0"/>
                <a:ea typeface="Segoe UI" pitchFamily="34" charset="-122"/>
                <a:cs typeface="Segoe UI" pitchFamily="34" charset="-120"/>
              </a:rPr>
              <a:t>La transparence est outillée : publications motivées, documents publics munis d’une empreinte qui en prouve l’intégrité.</a:t>
            </a:r>
            <a:endParaRPr lang="en-US" sz="1500" dirty="0"/>
          </a:p>
        </p:txBody>
      </p:sp>
      <p:sp>
        <p:nvSpPr>
          <p:cNvPr id="8"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8FA6BB"/>
                </a:solidFill>
                <a:latin typeface="Segoe UI" pitchFamily="34" charset="0"/>
                <a:ea typeface="Segoe UI" pitchFamily="34" charset="-122"/>
                <a:cs typeface="Segoe UI" pitchFamily="34" charset="-120"/>
              </a:rPr>
              <a:t>PRS 2.0 · L’application de bout en bout · dossier de recette · 322</a:t>
            </a:r>
            <a:endParaRPr lang="en-US" sz="1100" dirty="0"/>
          </a:p>
        </p:txBody>
      </p:sp>
    </p:spTree>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name="Slide 32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PILOTER ET PUBLIER · LE PARCOURS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Du dossier suivi à la décision publiée</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Le pilotage se lit sur les mêmes données que le travail : rien n’est ressaisi pour être compté.</a:t>
            </a:r>
            <a:endParaRPr lang="en-US" sz="1300" dirty="0"/>
          </a:p>
        </p:txBody>
      </p:sp>
      <p:sp>
        <p:nvSpPr>
          <p:cNvPr id="5" name="Shape 3"/>
          <p:cNvSpPr/>
          <p:nvPr/>
        </p:nvSpPr>
        <p:spPr>
          <a:xfrm>
            <a:off x="812780" y="1778000"/>
            <a:ext cx="2001470" cy="1905000"/>
          </a:xfrm>
          <a:prstGeom prst="roundRect">
            <a:avLst>
              <a:gd name="adj" fmla="val 2880"/>
            </a:avLst>
          </a:prstGeom>
          <a:solidFill>
            <a:srgbClr val="FCFCFA"/>
          </a:solidFill>
          <a:ln w="19050">
            <a:solidFill>
              <a:srgbClr val="12324A"/>
            </a:solidFill>
            <a:prstDash val="solid"/>
          </a:ln>
        </p:spPr>
        <p:txBody>
          <a:bodyPr/>
          <a:lstStyle/>
          <a:p>
            <a:endParaRPr lang="fr-FR"/>
          </a:p>
        </p:txBody>
      </p:sp>
      <p:sp>
        <p:nvSpPr>
          <p:cNvPr id="6" name="Text 4"/>
          <p:cNvSpPr/>
          <p:nvPr/>
        </p:nvSpPr>
        <p:spPr>
          <a:xfrm>
            <a:off x="901677" y="1866900"/>
            <a:ext cx="1823674"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LA PRMP</a:t>
            </a:r>
            <a:endParaRPr lang="en-US" sz="1000" dirty="0"/>
          </a:p>
        </p:txBody>
      </p:sp>
      <p:sp>
        <p:nvSpPr>
          <p:cNvPr id="7" name="Text 5"/>
          <p:cNvSpPr/>
          <p:nvPr/>
        </p:nvSpPr>
        <p:spPr>
          <a:xfrm>
            <a:off x="901677" y="2095500"/>
            <a:ext cx="1823674"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Suivre ses dossiers</a:t>
            </a:r>
            <a:endParaRPr lang="en-US" sz="1400" dirty="0"/>
          </a:p>
        </p:txBody>
      </p:sp>
      <p:sp>
        <p:nvSpPr>
          <p:cNvPr id="8" name="Text 6"/>
          <p:cNvSpPr/>
          <p:nvPr/>
        </p:nvSpPr>
        <p:spPr>
          <a:xfrm>
            <a:off x="901677" y="2603500"/>
            <a:ext cx="1823674"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La PRMP voit chaque dossier soumis, son statut et sa fin de traitement prévue.</a:t>
            </a:r>
            <a:endParaRPr lang="en-US" sz="1150" dirty="0"/>
          </a:p>
        </p:txBody>
      </p:sp>
      <p:sp>
        <p:nvSpPr>
          <p:cNvPr id="9" name="Text 7"/>
          <p:cNvSpPr/>
          <p:nvPr/>
        </p:nvSpPr>
        <p:spPr>
          <a:xfrm>
            <a:off x="2801550"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10" name="Shape 8"/>
          <p:cNvSpPr/>
          <p:nvPr/>
        </p:nvSpPr>
        <p:spPr>
          <a:xfrm>
            <a:off x="2953946" y="1778000"/>
            <a:ext cx="2001470" cy="1905000"/>
          </a:xfrm>
          <a:prstGeom prst="roundRect">
            <a:avLst>
              <a:gd name="adj" fmla="val 2880"/>
            </a:avLst>
          </a:prstGeom>
          <a:solidFill>
            <a:srgbClr val="FCFCFA"/>
          </a:solidFill>
          <a:ln w="19050">
            <a:solidFill>
              <a:srgbClr val="12324A"/>
            </a:solidFill>
            <a:prstDash val="solid"/>
          </a:ln>
        </p:spPr>
        <p:txBody>
          <a:bodyPr/>
          <a:lstStyle/>
          <a:p>
            <a:endParaRPr lang="fr-FR"/>
          </a:p>
        </p:txBody>
      </p:sp>
      <p:sp>
        <p:nvSpPr>
          <p:cNvPr id="11" name="Text 9"/>
          <p:cNvSpPr/>
          <p:nvPr/>
        </p:nvSpPr>
        <p:spPr>
          <a:xfrm>
            <a:off x="3042844" y="1866900"/>
            <a:ext cx="1823674"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LE PRÉSIDENT</a:t>
            </a:r>
            <a:endParaRPr lang="en-US" sz="1000" dirty="0"/>
          </a:p>
        </p:txBody>
      </p:sp>
      <p:sp>
        <p:nvSpPr>
          <p:cNvPr id="12" name="Text 10"/>
          <p:cNvSpPr/>
          <p:nvPr/>
        </p:nvSpPr>
        <p:spPr>
          <a:xfrm>
            <a:off x="3042844" y="2095500"/>
            <a:ext cx="1823674"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Mesurer l’activité</a:t>
            </a:r>
            <a:endParaRPr lang="en-US" sz="1400" dirty="0"/>
          </a:p>
        </p:txBody>
      </p:sp>
      <p:sp>
        <p:nvSpPr>
          <p:cNvPr id="13" name="Text 11"/>
          <p:cNvSpPr/>
          <p:nvPr/>
        </p:nvSpPr>
        <p:spPr>
          <a:xfrm>
            <a:off x="3042844" y="2603500"/>
            <a:ext cx="1823674"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Le tableau de bord donne les dossiers déposés, le taux de conformité et les points les plus souvent non conformes.</a:t>
            </a:r>
            <a:endParaRPr lang="en-US" sz="1150" dirty="0"/>
          </a:p>
        </p:txBody>
      </p:sp>
      <p:sp>
        <p:nvSpPr>
          <p:cNvPr id="14" name="Text 12"/>
          <p:cNvSpPr/>
          <p:nvPr/>
        </p:nvSpPr>
        <p:spPr>
          <a:xfrm>
            <a:off x="4942716"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15" name="Shape 13"/>
          <p:cNvSpPr/>
          <p:nvPr/>
        </p:nvSpPr>
        <p:spPr>
          <a:xfrm>
            <a:off x="5095113" y="1778000"/>
            <a:ext cx="2001470" cy="1905000"/>
          </a:xfrm>
          <a:prstGeom prst="roundRect">
            <a:avLst>
              <a:gd name="adj" fmla="val 2880"/>
            </a:avLst>
          </a:prstGeom>
          <a:solidFill>
            <a:srgbClr val="FCFCFA"/>
          </a:solidFill>
          <a:ln w="19050">
            <a:solidFill>
              <a:srgbClr val="12324A"/>
            </a:solidFill>
            <a:prstDash val="solid"/>
          </a:ln>
        </p:spPr>
        <p:txBody>
          <a:bodyPr/>
          <a:lstStyle/>
          <a:p>
            <a:endParaRPr lang="fr-FR"/>
          </a:p>
        </p:txBody>
      </p:sp>
      <p:sp>
        <p:nvSpPr>
          <p:cNvPr id="16" name="Text 14"/>
          <p:cNvSpPr/>
          <p:nvPr/>
        </p:nvSpPr>
        <p:spPr>
          <a:xfrm>
            <a:off x="5184010" y="1866900"/>
            <a:ext cx="1823674"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LE PRÉSIDENT, L’ADMINISTRATEUR</a:t>
            </a:r>
            <a:endParaRPr lang="en-US" sz="1000" dirty="0"/>
          </a:p>
        </p:txBody>
      </p:sp>
      <p:sp>
        <p:nvSpPr>
          <p:cNvPr id="17" name="Text 15"/>
          <p:cNvSpPr/>
          <p:nvPr/>
        </p:nvSpPr>
        <p:spPr>
          <a:xfrm>
            <a:off x="5184010" y="2095500"/>
            <a:ext cx="1823674"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Rendre compte</a:t>
            </a:r>
            <a:endParaRPr lang="en-US" sz="1400" dirty="0"/>
          </a:p>
        </p:txBody>
      </p:sp>
      <p:sp>
        <p:nvSpPr>
          <p:cNvPr id="18" name="Text 16"/>
          <p:cNvSpPr/>
          <p:nvPr/>
        </p:nvSpPr>
        <p:spPr>
          <a:xfrm>
            <a:off x="5184010" y="2603500"/>
            <a:ext cx="1823674"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Le rapport des dossiers se télécharge en PDF ou en tableur, sur une période.</a:t>
            </a:r>
            <a:endParaRPr lang="en-US" sz="1150" dirty="0"/>
          </a:p>
        </p:txBody>
      </p:sp>
      <p:sp>
        <p:nvSpPr>
          <p:cNvPr id="19" name="Text 17"/>
          <p:cNvSpPr/>
          <p:nvPr/>
        </p:nvSpPr>
        <p:spPr>
          <a:xfrm>
            <a:off x="7083883"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20" name="Shape 18"/>
          <p:cNvSpPr/>
          <p:nvPr/>
        </p:nvSpPr>
        <p:spPr>
          <a:xfrm>
            <a:off x="7236279" y="1778000"/>
            <a:ext cx="2001470" cy="1905000"/>
          </a:xfrm>
          <a:prstGeom prst="roundRect">
            <a:avLst>
              <a:gd name="adj" fmla="val 2880"/>
            </a:avLst>
          </a:prstGeom>
          <a:solidFill>
            <a:srgbClr val="FCFCFA"/>
          </a:solidFill>
          <a:ln w="19050">
            <a:solidFill>
              <a:srgbClr val="12324A"/>
            </a:solidFill>
            <a:prstDash val="solid"/>
          </a:ln>
        </p:spPr>
        <p:txBody>
          <a:bodyPr/>
          <a:lstStyle/>
          <a:p>
            <a:endParaRPr lang="fr-FR"/>
          </a:p>
        </p:txBody>
      </p:sp>
      <p:sp>
        <p:nvSpPr>
          <p:cNvPr id="21" name="Text 19"/>
          <p:cNvSpPr/>
          <p:nvPr/>
        </p:nvSpPr>
        <p:spPr>
          <a:xfrm>
            <a:off x="7325177" y="1866900"/>
            <a:ext cx="1823674" cy="215900"/>
          </a:xfrm>
          <a:prstGeom prst="rect">
            <a:avLst/>
          </a:prstGeom>
          <a:noFill/>
          <a:ln/>
        </p:spPr>
        <p:txBody>
          <a:bodyPr wrap="square" rtlCol="0" anchor="ctr">
            <a:normAutofit/>
          </a:bodyPr>
          <a:lstStyle/>
          <a:p>
            <a:pPr marL="0" indent="0">
              <a:buNone/>
            </a:pPr>
            <a:r>
              <a:rPr lang="en-US" sz="1000" b="1" dirty="0">
                <a:solidFill>
                  <a:srgbClr val="1B6FA8"/>
                </a:solidFill>
                <a:latin typeface="Segoe UI" pitchFamily="34" charset="0"/>
                <a:ea typeface="Segoe UI" pitchFamily="34" charset="-122"/>
                <a:cs typeface="Segoe UI" pitchFamily="34" charset="-120"/>
              </a:rPr>
              <a:t>L’ADMINISTRATEUR</a:t>
            </a:r>
            <a:endParaRPr lang="en-US" sz="1000" dirty="0"/>
          </a:p>
        </p:txBody>
      </p:sp>
      <p:sp>
        <p:nvSpPr>
          <p:cNvPr id="22" name="Text 20"/>
          <p:cNvSpPr/>
          <p:nvPr/>
        </p:nvSpPr>
        <p:spPr>
          <a:xfrm>
            <a:off x="7325177" y="2095500"/>
            <a:ext cx="1823674" cy="508000"/>
          </a:xfrm>
          <a:prstGeom prst="rect">
            <a:avLst/>
          </a:prstGeom>
          <a:noFill/>
          <a:ln/>
        </p:spPr>
        <p:txBody>
          <a:bodyPr wrap="square" rtlCol="0" anchor="t">
            <a:normAutofit/>
          </a:bodyPr>
          <a:lstStyle/>
          <a:p>
            <a:pPr marL="0" indent="0">
              <a:buNone/>
            </a:pPr>
            <a:r>
              <a:rPr lang="en-US" sz="1400" b="1" dirty="0">
                <a:solidFill>
                  <a:srgbClr val="1B2A3A"/>
                </a:solidFill>
                <a:latin typeface="Segoe UI" pitchFamily="34" charset="0"/>
                <a:ea typeface="Segoe UI" pitchFamily="34" charset="-122"/>
                <a:cs typeface="Segoe UI" pitchFamily="34" charset="-120"/>
              </a:rPr>
              <a:t>Tenir les procédures en ligne</a:t>
            </a:r>
            <a:endParaRPr lang="en-US" sz="1400" dirty="0"/>
          </a:p>
        </p:txBody>
      </p:sp>
      <p:sp>
        <p:nvSpPr>
          <p:cNvPr id="23" name="Text 21"/>
          <p:cNvSpPr/>
          <p:nvPr/>
        </p:nvSpPr>
        <p:spPr>
          <a:xfrm>
            <a:off x="7325177" y="2603500"/>
            <a:ext cx="1823674" cy="1016000"/>
          </a:xfrm>
          <a:prstGeom prst="rect">
            <a:avLst/>
          </a:prstGeom>
          <a:noFill/>
          <a:ln/>
        </p:spPr>
        <p:txBody>
          <a:bodyPr wrap="square" rtlCol="0" anchor="t">
            <a:normAutofit/>
          </a:bodyPr>
          <a:lstStyle/>
          <a:p>
            <a:pPr marL="0" indent="0">
              <a:buNone/>
            </a:pPr>
            <a:r>
              <a:rPr lang="en-US" sz="1150" dirty="0">
                <a:solidFill>
                  <a:srgbClr val="465568"/>
                </a:solidFill>
                <a:latin typeface="Segoe UI" pitchFamily="34" charset="0"/>
                <a:ea typeface="Segoe UI" pitchFamily="34" charset="-122"/>
                <a:cs typeface="Segoe UI" pitchFamily="34" charset="-120"/>
              </a:rPr>
              <a:t>Chaque procédure en remise électronique a son responsable, son calendrier, sa cérémonie et sa séance.</a:t>
            </a:r>
            <a:endParaRPr lang="en-US" sz="1150" dirty="0"/>
          </a:p>
        </p:txBody>
      </p:sp>
      <p:sp>
        <p:nvSpPr>
          <p:cNvPr id="24" name="Text 22"/>
          <p:cNvSpPr/>
          <p:nvPr/>
        </p:nvSpPr>
        <p:spPr>
          <a:xfrm>
            <a:off x="9225049" y="2603500"/>
            <a:ext cx="165096" cy="254000"/>
          </a:xfrm>
          <a:prstGeom prst="rect">
            <a:avLst/>
          </a:prstGeom>
          <a:noFill/>
          <a:ln/>
        </p:spPr>
        <p:txBody>
          <a:bodyPr wrap="square" rtlCol="0" anchor="ctr"/>
          <a:lstStyle/>
          <a:p>
            <a:pPr marL="0" indent="0" algn="ctr">
              <a:buNone/>
            </a:pPr>
            <a:r>
              <a:rPr lang="en-US" sz="2200" b="1" dirty="0">
                <a:solidFill>
                  <a:srgbClr val="E3AE2E"/>
                </a:solidFill>
                <a:latin typeface="Segoe UI" pitchFamily="34" charset="0"/>
                <a:ea typeface="Segoe UI" pitchFamily="34" charset="-122"/>
                <a:cs typeface="Segoe UI" pitchFamily="34" charset="-120"/>
              </a:rPr>
              <a:t>›</a:t>
            </a:r>
            <a:endParaRPr lang="en-US" sz="2200" dirty="0"/>
          </a:p>
        </p:txBody>
      </p:sp>
      <p:sp>
        <p:nvSpPr>
          <p:cNvPr id="25" name="Shape 23"/>
          <p:cNvSpPr/>
          <p:nvPr/>
        </p:nvSpPr>
        <p:spPr>
          <a:xfrm>
            <a:off x="9377446" y="1778000"/>
            <a:ext cx="2001470" cy="1905000"/>
          </a:xfrm>
          <a:prstGeom prst="roundRect">
            <a:avLst>
              <a:gd name="adj" fmla="val 2880"/>
            </a:avLst>
          </a:prstGeom>
          <a:solidFill>
            <a:srgbClr val="12324A"/>
          </a:solidFill>
          <a:ln w="19050">
            <a:solidFill>
              <a:srgbClr val="12324A"/>
            </a:solidFill>
            <a:prstDash val="solid"/>
          </a:ln>
        </p:spPr>
        <p:txBody>
          <a:bodyPr/>
          <a:lstStyle/>
          <a:p>
            <a:endParaRPr lang="fr-FR"/>
          </a:p>
        </p:txBody>
      </p:sp>
      <p:sp>
        <p:nvSpPr>
          <p:cNvPr id="26" name="Text 24"/>
          <p:cNvSpPr/>
          <p:nvPr/>
        </p:nvSpPr>
        <p:spPr>
          <a:xfrm>
            <a:off x="9466343" y="1866900"/>
            <a:ext cx="1823674" cy="215900"/>
          </a:xfrm>
          <a:prstGeom prst="rect">
            <a:avLst/>
          </a:prstGeom>
          <a:noFill/>
          <a:ln/>
        </p:spPr>
        <p:txBody>
          <a:bodyPr wrap="square" rtlCol="0" anchor="ctr">
            <a:normAutofit/>
          </a:bodyPr>
          <a:lstStyle/>
          <a:p>
            <a:pPr marL="0" indent="0">
              <a:buNone/>
            </a:pPr>
            <a:r>
              <a:rPr lang="en-US" sz="1000" b="1" dirty="0">
                <a:solidFill>
                  <a:srgbClr val="E3AE2E"/>
                </a:solidFill>
                <a:latin typeface="Segoe UI" pitchFamily="34" charset="0"/>
                <a:ea typeface="Segoe UI" pitchFamily="34" charset="-122"/>
                <a:cs typeface="Segoe UI" pitchFamily="34" charset="-120"/>
              </a:rPr>
              <a:t>LE CHARGÉ DE PUBLICATION</a:t>
            </a:r>
            <a:endParaRPr lang="en-US" sz="1000" dirty="0"/>
          </a:p>
        </p:txBody>
      </p:sp>
      <p:sp>
        <p:nvSpPr>
          <p:cNvPr id="27" name="Text 25"/>
          <p:cNvSpPr/>
          <p:nvPr/>
        </p:nvSpPr>
        <p:spPr>
          <a:xfrm>
            <a:off x="9466343" y="2095500"/>
            <a:ext cx="1823674" cy="508000"/>
          </a:xfrm>
          <a:prstGeom prst="rect">
            <a:avLst/>
          </a:prstGeom>
          <a:noFill/>
          <a:ln/>
        </p:spPr>
        <p:txBody>
          <a:bodyPr wrap="square" rtlCol="0" anchor="t">
            <a:normAutofit/>
          </a:bodyPr>
          <a:lstStyle/>
          <a:p>
            <a:pPr marL="0" indent="0">
              <a:buNone/>
            </a:pPr>
            <a:r>
              <a:rPr lang="en-US" sz="1400" b="1" dirty="0">
                <a:solidFill>
                  <a:srgbClr val="FCFCFA"/>
                </a:solidFill>
                <a:latin typeface="Segoe UI" pitchFamily="34" charset="0"/>
                <a:ea typeface="Segoe UI" pitchFamily="34" charset="-122"/>
                <a:cs typeface="Segoe UI" pitchFamily="34" charset="-120"/>
              </a:rPr>
              <a:t>Publier</a:t>
            </a:r>
            <a:endParaRPr lang="en-US" sz="1400" dirty="0"/>
          </a:p>
        </p:txBody>
      </p:sp>
      <p:sp>
        <p:nvSpPr>
          <p:cNvPr id="28" name="Text 26"/>
          <p:cNvSpPr/>
          <p:nvPr/>
        </p:nvSpPr>
        <p:spPr>
          <a:xfrm>
            <a:off x="9466343" y="2603500"/>
            <a:ext cx="1823674" cy="1016000"/>
          </a:xfrm>
          <a:prstGeom prst="rect">
            <a:avLst/>
          </a:prstGeom>
          <a:noFill/>
          <a:ln/>
        </p:spPr>
        <p:txBody>
          <a:bodyPr wrap="square" rtlCol="0" anchor="t">
            <a:normAutofit/>
          </a:bodyPr>
          <a:lstStyle/>
          <a:p>
            <a:pPr marL="0" indent="0">
              <a:buNone/>
            </a:pPr>
            <a:r>
              <a:rPr lang="en-US" sz="1150" dirty="0">
                <a:solidFill>
                  <a:srgbClr val="C9D6E2"/>
                </a:solidFill>
                <a:latin typeface="Segoe UI" pitchFamily="34" charset="0"/>
                <a:ea typeface="Segoe UI" pitchFamily="34" charset="-122"/>
                <a:cs typeface="Segoe UI" pitchFamily="34" charset="-120"/>
              </a:rPr>
              <a:t>Les décisions de la Commission et les documents publics sont mis en ligne, avec leur empreinte.</a:t>
            </a:r>
            <a:endParaRPr lang="en-US" sz="1150" dirty="0"/>
          </a:p>
        </p:txBody>
      </p:sp>
      <p:sp>
        <p:nvSpPr>
          <p:cNvPr id="29" name="Text 27"/>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323</a:t>
            </a:r>
            <a:endParaRPr lang="en-US" sz="1100" dirty="0"/>
          </a:p>
        </p:txBody>
      </p:sp>
    </p:spTree>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name="Slide 324">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PILOTER ET PUBLIER</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Suivre et mesurer</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Les indicateurs sont calculés par l’application à partir des dossiers eux-mêmes. Chaque profil n’en voit que ce qui relève de lui.</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324</a:t>
            </a:r>
            <a:endParaRPr lang="en-US" sz="1100" dirty="0"/>
          </a:p>
        </p:txBody>
      </p:sp>
    </p:spTree>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name="Slide 32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PILOTAGE · PRMP</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suivi des dossiers à la Commission</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 suivi des dossiers à la Commission"/>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 PRMP.</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Chaque dossier de la PRMP : référence, type, entité, localité, date de dépôt, </a:t>
            </a:r>
            <a:r>
              <a:rPr lang="en-US" sz="1200" b="1" dirty="0">
                <a:solidFill>
                  <a:srgbClr val="1B2A3A"/>
                </a:solidFill>
                <a:latin typeface="Segoe UI" pitchFamily="34" charset="0"/>
                <a:ea typeface="Segoe UI" pitchFamily="34" charset="-122"/>
                <a:cs typeface="Segoe UI" pitchFamily="34" charset="-120"/>
              </a:rPr>
              <a:t>fin de traitement prévue</a:t>
            </a:r>
            <a:r>
              <a:rPr lang="en-US" sz="1200" dirty="0">
                <a:solidFill>
                  <a:srgbClr val="1B2A3A"/>
                </a:solidFill>
                <a:latin typeface="Segoe UI" pitchFamily="34" charset="0"/>
                <a:ea typeface="Segoe UI" pitchFamily="34" charset="-122"/>
                <a:cs typeface="Segoe UI" pitchFamily="34" charset="-120"/>
              </a:rPr>
              <a:t> par la Commission, statut.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date prévue est calculée dès la soumission, à partir des délais standards de la Commission.</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PRMP suit l’avancement sans voir les acteurs internes de la Commission.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RG-PIL-01 · RG-PIL-02 · RG-PIL-03</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325</a:t>
            </a:r>
            <a:endParaRPr lang="en-US" sz="1100" dirty="0"/>
          </a:p>
        </p:txBody>
      </p:sp>
    </p:spTree>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name="Slide 32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PILOTAGE · PRÉSIDENT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tableau de bord</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 tableau de bord"/>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Président (toutes localités) ; le Chef de commission pour sa localité.</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Trois indicateurs : </a:t>
            </a:r>
            <a:r>
              <a:rPr lang="en-US" sz="1200" b="1" dirty="0">
                <a:solidFill>
                  <a:srgbClr val="1B2A3A"/>
                </a:solidFill>
                <a:latin typeface="Segoe UI" pitchFamily="34" charset="0"/>
                <a:ea typeface="Segoe UI" pitchFamily="34" charset="-122"/>
                <a:cs typeface="Segoe UI" pitchFamily="34" charset="-120"/>
              </a:rPr>
              <a:t>dossiers déposés</a:t>
            </a:r>
            <a:r>
              <a:rPr lang="en-US" sz="1200" dirty="0">
                <a:solidFill>
                  <a:srgbClr val="1B2A3A"/>
                </a:solidFill>
                <a:latin typeface="Segoe UI" pitchFamily="34" charset="0"/>
                <a:ea typeface="Segoe UI" pitchFamily="34" charset="-122"/>
                <a:cs typeface="Segoe UI" pitchFamily="34" charset="-120"/>
              </a:rPr>
              <a:t> (18), dossiers conformes, </a:t>
            </a:r>
            <a:r>
              <a:rPr lang="en-US" sz="1200" b="1" dirty="0">
                <a:solidFill>
                  <a:srgbClr val="1B2A3A"/>
                </a:solidFill>
                <a:latin typeface="Segoe UI" pitchFamily="34" charset="0"/>
                <a:ea typeface="Segoe UI" pitchFamily="34" charset="-122"/>
                <a:cs typeface="Segoe UI" pitchFamily="34" charset="-120"/>
              </a:rPr>
              <a:t>taux de conformité</a:t>
            </a:r>
            <a:r>
              <a:rPr lang="en-US" sz="1200" dirty="0">
                <a:solidFill>
                  <a:srgbClr val="1B2A3A"/>
                </a:solidFill>
                <a:latin typeface="Segoe UI" pitchFamily="34" charset="0"/>
                <a:ea typeface="Segoe UI" pitchFamily="34" charset="-122"/>
                <a:cs typeface="Segoe UI" pitchFamily="34" charset="-120"/>
              </a:rPr>
              <a: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nombre de dossiers à chaque statut du circuit : brouillon, dispatché, en vérification, clôturé, décision transmise au SIGMP…</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a:t>
            </a:r>
            <a:r>
              <a:rPr lang="en-US" sz="1200" b="1" dirty="0">
                <a:solidFill>
                  <a:srgbClr val="1B2A3A"/>
                </a:solidFill>
                <a:latin typeface="Segoe UI" pitchFamily="34" charset="0"/>
                <a:ea typeface="Segoe UI" pitchFamily="34" charset="-122"/>
                <a:cs typeface="Segoe UI" pitchFamily="34" charset="-120"/>
              </a:rPr>
              <a:t>cinq points de contrôle</a:t>
            </a:r>
            <a:r>
              <a:rPr lang="en-US" sz="1200" dirty="0">
                <a:solidFill>
                  <a:srgbClr val="1B2A3A"/>
                </a:solidFill>
                <a:latin typeface="Segoe UI" pitchFamily="34" charset="0"/>
                <a:ea typeface="Segoe UI" pitchFamily="34" charset="-122"/>
                <a:cs typeface="Segoe UI" pitchFamily="34" charset="-120"/>
              </a:rPr>
              <a:t> le plus souvent non conformes, avec leur taux : là où les dossiers des PRMP pèchent le plus.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RG-PIL-05 · RG-PIL-06 · RG-PIL-15</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326</a:t>
            </a:r>
            <a:endParaRPr lang="en-US" sz="1100" dirty="0"/>
          </a:p>
        </p:txBody>
      </p:sp>
    </p:spTree>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name="Slide 32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PILOTAGE · PRÉSIDENT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rapports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rapport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Président, l’Administrateur et le Chef de commission.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rapport des dossiers, en </a:t>
            </a:r>
            <a:r>
              <a:rPr lang="en-US" sz="1200" b="1" dirty="0">
                <a:solidFill>
                  <a:srgbClr val="1B2A3A"/>
                </a:solidFill>
                <a:latin typeface="Segoe UI" pitchFamily="34" charset="0"/>
                <a:ea typeface="Segoe UI" pitchFamily="34" charset="-122"/>
                <a:cs typeface="Segoe UI" pitchFamily="34" charset="-120"/>
              </a:rPr>
              <a:t>PDF</a:t>
            </a:r>
            <a:r>
              <a:rPr lang="en-US" sz="1200" dirty="0">
                <a:solidFill>
                  <a:srgbClr val="1B2A3A"/>
                </a:solidFill>
                <a:latin typeface="Segoe UI" pitchFamily="34" charset="0"/>
                <a:ea typeface="Segoe UI" pitchFamily="34" charset="-122"/>
                <a:cs typeface="Segoe UI" pitchFamily="34" charset="-120"/>
              </a:rPr>
              <a:t> ou en </a:t>
            </a:r>
            <a:r>
              <a:rPr lang="en-US" sz="1200" b="1" dirty="0">
                <a:solidFill>
                  <a:srgbClr val="1B2A3A"/>
                </a:solidFill>
                <a:latin typeface="Segoe UI" pitchFamily="34" charset="0"/>
                <a:ea typeface="Segoe UI" pitchFamily="34" charset="-122"/>
                <a:cs typeface="Segoe UI" pitchFamily="34" charset="-120"/>
              </a:rPr>
              <a:t>tableur</a:t>
            </a:r>
            <a:r>
              <a:rPr lang="en-US" sz="1200" dirty="0">
                <a:solidFill>
                  <a:srgbClr val="1B2A3A"/>
                </a:solidFill>
                <a:latin typeface="Segoe UI" pitchFamily="34" charset="0"/>
                <a:ea typeface="Segoe UI" pitchFamily="34" charset="-122"/>
                <a:cs typeface="Segoe UI" pitchFamily="34" charset="-120"/>
              </a:rPr>
              <a: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La période est facultative : sans dates, tous les dossiers sont inclus.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 Chef de commission n’obtient que sa localité.</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RG-PIL-04</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327</a:t>
            </a:r>
            <a:endParaRPr lang="en-US" sz="1100" dirty="0"/>
          </a:p>
        </p:txBody>
      </p:sp>
    </p:spTree>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name="Slide 328">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PILOTER ET PUBLIER</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Les procédures en ligne</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Les procédures conduites en remise électronique sont suivies sur une liste unique, qui place en tête ce qui demande une action.</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328</a:t>
            </a:r>
            <a:endParaRPr lang="en-US" sz="1100" dirty="0"/>
          </a:p>
        </p:txBody>
      </p:sp>
    </p:spTree>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name="Slide 32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PILOTAGE · ADMINISTRATEUR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procédures en ligne</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procédures en ligne"/>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L’Administrateur ; chaque responsable pour les siennes.</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Toutes les procédures en remise électronique — ici </a:t>
            </a:r>
            <a:r>
              <a:rPr lang="en-US" sz="1200" b="1" dirty="0">
                <a:solidFill>
                  <a:srgbClr val="1B2A3A"/>
                </a:solidFill>
                <a:latin typeface="Segoe UI" pitchFamily="34" charset="0"/>
                <a:ea typeface="Segoe UI" pitchFamily="34" charset="-122"/>
                <a:cs typeface="Segoe UI" pitchFamily="34" charset="-120"/>
              </a:rPr>
              <a:t>11</a:t>
            </a:r>
            <a:r>
              <a:rPr lang="en-US" sz="1200" dirty="0">
                <a:solidFill>
                  <a:srgbClr val="1B2A3A"/>
                </a:solidFill>
                <a:latin typeface="Segoe UI" pitchFamily="34" charset="0"/>
                <a:ea typeface="Segoe UI" pitchFamily="34" charset="-122"/>
                <a:cs typeface="Segoe UI" pitchFamily="34" charset="-120"/>
              </a:rPr>
              <a:t>, dont 4 à traiter et 1 sans responsable.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Pour chacune : état de la fiche et des dépôts, nombre d’offres, calendrier (avis, date limite, ouverture), commission constituée ou non, cérémonie des clés, séance, responsable.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 </a:t>
            </a:r>
            <a:r>
              <a:rPr lang="en-US" sz="1200" b="1" dirty="0">
                <a:solidFill>
                  <a:srgbClr val="1B2A3A"/>
                </a:solidFill>
                <a:latin typeface="Segoe UI" pitchFamily="34" charset="0"/>
                <a:ea typeface="Segoe UI" pitchFamily="34" charset="-122"/>
                <a:cs typeface="Segoe UI" pitchFamily="34" charset="-120"/>
              </a:rPr>
              <a:t>Désigner le responsable</a:t>
            </a:r>
            <a:r>
              <a:rPr lang="en-US" sz="1200" dirty="0">
                <a:solidFill>
                  <a:srgbClr val="1B2A3A"/>
                </a:solidFill>
                <a:latin typeface="Segoe UI" pitchFamily="34" charset="0"/>
                <a:ea typeface="Segoe UI" pitchFamily="34" charset="-122"/>
                <a:cs typeface="Segoe UI" pitchFamily="34" charset="-120"/>
              </a:rPr>
              <a:t> » pour celle qui n’en a pas ; sinon, accès à la fiche, aux paramètres et à la cérémonie, et à la séance.</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RG-PIL-11 · RG-PIL-12 · RG-PIL-13 · RG-PIL-14</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329</a:t>
            </a:r>
            <a:endParaRPr lang="en-US" sz="1100" dirty="0"/>
          </a:p>
        </p:txBody>
      </p:sp>
    </p:spTree>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name="Slide 330">
    <p:bg>
      <p:bgPr>
        <a:solidFill>
          <a:srgbClr val="F0F3F6"/>
        </a:solidFill>
        <a:effectLst/>
      </p:bgPr>
    </p:bg>
    <p:spTree>
      <p:nvGrpSpPr>
        <p:cNvPr id="1" name=""/>
        <p:cNvGrpSpPr/>
        <p:nvPr/>
      </p:nvGrpSpPr>
      <p:grpSpPr>
        <a:xfrm>
          <a:off x="0" y="0"/>
          <a:ext cx="0" cy="0"/>
          <a:chOff x="0" y="0"/>
          <a:chExt cx="0" cy="0"/>
        </a:xfrm>
      </p:grpSpPr>
      <p:sp>
        <p:nvSpPr>
          <p:cNvPr id="2" name="Shape 0"/>
          <p:cNvSpPr/>
          <p:nvPr/>
        </p:nvSpPr>
        <p:spPr>
          <a:xfrm>
            <a:off x="812780" y="2413000"/>
            <a:ext cx="63498" cy="1397000"/>
          </a:xfrm>
          <a:prstGeom prst="rect">
            <a:avLst/>
          </a:prstGeom>
          <a:solidFill>
            <a:srgbClr val="E3AE2E"/>
          </a:solidFill>
          <a:ln/>
        </p:spPr>
        <p:txBody>
          <a:bodyPr/>
          <a:lstStyle/>
          <a:p>
            <a:endParaRPr lang="fr-FR"/>
          </a:p>
        </p:txBody>
      </p:sp>
      <p:sp>
        <p:nvSpPr>
          <p:cNvPr id="3" name="Text 1"/>
          <p:cNvSpPr/>
          <p:nvPr/>
        </p:nvSpPr>
        <p:spPr>
          <a:xfrm>
            <a:off x="1079473" y="2413000"/>
            <a:ext cx="9524762"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PILOTER ET PUBLIER</a:t>
            </a:r>
            <a:endParaRPr lang="en-US" sz="1200" dirty="0"/>
          </a:p>
        </p:txBody>
      </p:sp>
      <p:sp>
        <p:nvSpPr>
          <p:cNvPr id="4" name="Text 2"/>
          <p:cNvSpPr/>
          <p:nvPr/>
        </p:nvSpPr>
        <p:spPr>
          <a:xfrm>
            <a:off x="1079473" y="2667000"/>
            <a:ext cx="10159746" cy="508000"/>
          </a:xfrm>
          <a:prstGeom prst="rect">
            <a:avLst/>
          </a:prstGeom>
          <a:noFill/>
          <a:ln/>
        </p:spPr>
        <p:txBody>
          <a:bodyPr wrap="square" rtlCol="0" anchor="ctr">
            <a:normAutofit/>
          </a:bodyPr>
          <a:lstStyle/>
          <a:p>
            <a:pPr marL="0" indent="0">
              <a:buNone/>
            </a:pPr>
            <a:r>
              <a:rPr lang="en-US" sz="3200" b="1" dirty="0">
                <a:solidFill>
                  <a:srgbClr val="1B2A3A"/>
                </a:solidFill>
                <a:latin typeface="Segoe UI" pitchFamily="34" charset="0"/>
                <a:ea typeface="Segoe UI" pitchFamily="34" charset="-122"/>
                <a:cs typeface="Segoe UI" pitchFamily="34" charset="-120"/>
              </a:rPr>
              <a:t>Publier</a:t>
            </a:r>
            <a:endParaRPr lang="en-US" sz="3200" dirty="0"/>
          </a:p>
        </p:txBody>
      </p:sp>
      <p:sp>
        <p:nvSpPr>
          <p:cNvPr id="5" name="Text 3"/>
          <p:cNvSpPr/>
          <p:nvPr/>
        </p:nvSpPr>
        <p:spPr>
          <a:xfrm>
            <a:off x="1079473" y="3238500"/>
            <a:ext cx="9524762" cy="889000"/>
          </a:xfrm>
          <a:prstGeom prst="rect">
            <a:avLst/>
          </a:prstGeom>
          <a:noFill/>
          <a:ln/>
        </p:spPr>
        <p:txBody>
          <a:bodyPr wrap="square" rtlCol="0" anchor="t">
            <a:normAutofit/>
          </a:bodyPr>
          <a:lstStyle/>
          <a:p>
            <a:pPr marL="0" indent="0">
              <a:buNone/>
            </a:pPr>
            <a:r>
              <a:rPr lang="en-US" sz="1600" dirty="0">
                <a:solidFill>
                  <a:srgbClr val="465568"/>
                </a:solidFill>
                <a:latin typeface="Segoe UI" pitchFamily="34" charset="0"/>
                <a:ea typeface="Segoe UI" pitchFamily="34" charset="-122"/>
                <a:cs typeface="Segoe UI" pitchFamily="34" charset="-120"/>
              </a:rPr>
              <a:t>Le Chargé de publication tient le portail de transparence, sans accès au circuit interne de la Commission.</a:t>
            </a:r>
            <a:endParaRPr lang="en-US" sz="16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330</a:t>
            </a:r>
            <a:endParaRPr lang="en-US" sz="1100" dirty="0"/>
          </a:p>
        </p:txBody>
      </p:sp>
    </p:spTree>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name="Slide 33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PUBLICATION · CHARGÉ DE PUBLICATION</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publications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publication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Chargé de publication crée et met à jour ; les PRMP et la Commission consultent.</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Chaque publication : objet, statut, nombre de consultations.</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Une publication naît en attente, se publie, puis peut être retirée — toujours avec un motif.</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Aucune publication n’est encore enregistrée sur la base de démonstration.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RG-PIL-07 · RG-PIL-08 · RG-PIL-09</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331</a:t>
            </a:r>
            <a:endParaRPr lang="en-US" sz="1100" dirty="0"/>
          </a:p>
        </p:txBody>
      </p:sp>
    </p:spTree>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name="Slide 33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PUBLICATION · CHARGÉ DE PUBLICATION</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documents publics</a:t>
            </a:r>
            <a:endParaRPr lang="en-US" sz="2600" dirty="0"/>
          </a:p>
        </p:txBody>
      </p:sp>
      <p:sp>
        <p:nvSpPr>
          <p:cNvPr id="4" name="Shape 2"/>
          <p:cNvSpPr/>
          <p:nvPr/>
        </p:nvSpPr>
        <p:spPr>
          <a:xfrm>
            <a:off x="800080" y="1193800"/>
            <a:ext cx="7327717" cy="4895255"/>
          </a:xfrm>
          <a:prstGeom prst="rect">
            <a:avLst/>
          </a:prstGeom>
          <a:solidFill>
            <a:srgbClr val="FCFCFA"/>
          </a:solidFill>
          <a:ln w="9525">
            <a:solidFill>
              <a:srgbClr val="D5DCE4"/>
            </a:solidFill>
            <a:prstDash val="solid"/>
          </a:ln>
        </p:spPr>
        <p:txBody>
          <a:bodyPr/>
          <a:lstStyle/>
          <a:p>
            <a:endParaRPr lang="fr-FR"/>
          </a:p>
        </p:txBody>
      </p:sp>
      <p:pic>
        <p:nvPicPr>
          <p:cNvPr id="5" name="Image 0" descr="Les documents publics"/>
          <p:cNvPicPr>
            <a:picLocks noChangeAspect="1"/>
          </p:cNvPicPr>
          <p:nvPr/>
        </p:nvPicPr>
        <p:blipFill>
          <a:blip r:embed="rId3"/>
          <a:stretch>
            <a:fillRect/>
          </a:stretch>
        </p:blipFill>
        <p:spPr>
          <a:xfrm>
            <a:off x="812780" y="1206500"/>
            <a:ext cx="7302317" cy="4869855"/>
          </a:xfrm>
          <a:prstGeom prst="rect">
            <a:avLst/>
          </a:prstGeom>
        </p:spPr>
      </p:pic>
      <p:sp>
        <p:nvSpPr>
          <p:cNvPr id="6" name="Shape 3"/>
          <p:cNvSpPr/>
          <p:nvPr/>
        </p:nvSpPr>
        <p:spPr>
          <a:xfrm>
            <a:off x="8292893" y="1206500"/>
            <a:ext cx="3086023" cy="5080000"/>
          </a:xfrm>
          <a:prstGeom prst="rect">
            <a:avLst/>
          </a:prstGeom>
          <a:solidFill>
            <a:srgbClr val="FCFCFA"/>
          </a:solidFill>
          <a:ln w="9525">
            <a:solidFill>
              <a:srgbClr val="D5DCE4"/>
            </a:solidFill>
            <a:prstDash val="solid"/>
          </a:ln>
        </p:spPr>
        <p:txBody>
          <a:bodyPr/>
          <a:lstStyle/>
          <a:p>
            <a:endParaRPr lang="fr-FR"/>
          </a:p>
        </p:txBody>
      </p:sp>
      <p:sp>
        <p:nvSpPr>
          <p:cNvPr id="7" name="Shape 4"/>
          <p:cNvSpPr/>
          <p:nvPr/>
        </p:nvSpPr>
        <p:spPr>
          <a:xfrm>
            <a:off x="8292893" y="1206500"/>
            <a:ext cx="38099" cy="5080000"/>
          </a:xfrm>
          <a:prstGeom prst="rect">
            <a:avLst/>
          </a:prstGeom>
          <a:solidFill>
            <a:srgbClr val="1B6FA8"/>
          </a:solidFill>
          <a:ln/>
        </p:spPr>
        <p:txBody>
          <a:bodyPr/>
          <a:lstStyle/>
          <a:p>
            <a:endParaRPr lang="fr-FR"/>
          </a:p>
        </p:txBody>
      </p:sp>
      <p:sp>
        <p:nvSpPr>
          <p:cNvPr id="8" name="Text 5"/>
          <p:cNvSpPr/>
          <p:nvPr/>
        </p:nvSpPr>
        <p:spPr>
          <a:xfrm>
            <a:off x="8457989" y="1308100"/>
            <a:ext cx="2793930" cy="4889500"/>
          </a:xfrm>
          <a:prstGeom prst="rect">
            <a:avLst/>
          </a:prstGeom>
          <a:noFill/>
          <a:ln/>
        </p:spPr>
        <p:txBody>
          <a:bodyPr wrap="square" rtlCol="0" anchor="t">
            <a:normAutofit/>
          </a:bodyPr>
          <a:lstStyle/>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QUI</a:t>
            </a:r>
            <a:endParaRPr lang="en-US" sz="1050" dirty="0"/>
          </a:p>
          <a:p>
            <a:pPr marL="0" indent="0">
              <a:spcAft>
                <a:spcPts val="300"/>
              </a:spcAft>
              <a:buNone/>
            </a:pPr>
            <a:r>
              <a:rPr lang="en-US" sz="1250" dirty="0">
                <a:solidFill>
                  <a:srgbClr val="1B2A3A"/>
                </a:solidFill>
                <a:latin typeface="Segoe UI" pitchFamily="34" charset="0"/>
                <a:ea typeface="Segoe UI" pitchFamily="34" charset="-122"/>
                <a:cs typeface="Segoe UI" pitchFamily="34" charset="-120"/>
              </a:rPr>
              <a:t>Le Chargé de publication.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CE QUI SE PASSE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Les documents mis à la disposition du public, rattachés à une publication : type, libellé, format, taille.</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Chaque document porte son </a:t>
            </a:r>
            <a:r>
              <a:rPr lang="en-US" sz="1200" b="1" dirty="0">
                <a:solidFill>
                  <a:srgbClr val="1B2A3A"/>
                </a:solidFill>
                <a:latin typeface="Segoe UI" pitchFamily="34" charset="0"/>
                <a:ea typeface="Segoe UI" pitchFamily="34" charset="-122"/>
                <a:cs typeface="Segoe UI" pitchFamily="34" charset="-120"/>
              </a:rPr>
              <a:t>empreinte numérique</a:t>
            </a:r>
            <a:r>
              <a:rPr lang="en-US" sz="1200" dirty="0">
                <a:solidFill>
                  <a:srgbClr val="1B2A3A"/>
                </a:solidFill>
                <a:latin typeface="Segoe UI" pitchFamily="34" charset="0"/>
                <a:ea typeface="Segoe UI" pitchFamily="34" charset="-122"/>
                <a:cs typeface="Segoe UI" pitchFamily="34" charset="-120"/>
              </a:rPr>
              <a:t> : l’intégrité du fichier se vérifie à tout moment.</a:t>
            </a:r>
            <a:endParaRPr lang="en-US" sz="1050" dirty="0"/>
          </a:p>
          <a:p>
            <a:pPr marL="152400" indent="-152400">
              <a:spcAft>
                <a:spcPts val="300"/>
              </a:spcAft>
              <a:buSzPct val="100000"/>
              <a:buChar char="•"/>
            </a:pPr>
            <a:r>
              <a:rPr lang="en-US" sz="1200" dirty="0">
                <a:solidFill>
                  <a:srgbClr val="1B2A3A"/>
                </a:solidFill>
                <a:latin typeface="Segoe UI" pitchFamily="34" charset="0"/>
                <a:ea typeface="Segoe UI" pitchFamily="34" charset="-122"/>
                <a:cs typeface="Segoe UI" pitchFamily="34" charset="-120"/>
              </a:rPr>
              <a:t>Aucun document n’est encore enregistré sur la base de démonstration.</a:t>
            </a:r>
            <a:endParaRPr lang="en-US" sz="1050" dirty="0"/>
          </a:p>
          <a:p>
            <a:pPr marL="0" indent="0">
              <a:spcAft>
                <a:spcPts val="300"/>
              </a:spcAft>
              <a:buNone/>
            </a:pPr>
            <a:r>
              <a:rPr lang="en-US" sz="500" dirty="0">
                <a:solidFill>
                  <a:srgbClr val="000000"/>
                </a:solidFill>
                <a:latin typeface="Segoe UI" pitchFamily="34" charset="0"/>
                <a:ea typeface="Segoe UI" pitchFamily="34" charset="-122"/>
                <a:cs typeface="Segoe UI" pitchFamily="34" charset="-120"/>
              </a:rPr>
              <a:t> </a:t>
            </a:r>
            <a:endParaRPr lang="en-US" sz="1050" dirty="0"/>
          </a:p>
          <a:p>
            <a:pPr marL="0" indent="0">
              <a:spcAft>
                <a:spcPts val="300"/>
              </a:spcAft>
              <a:buNone/>
            </a:pPr>
            <a:r>
              <a:rPr lang="en-US" sz="1050" b="1" kern="0" spc="150" dirty="0">
                <a:solidFill>
                  <a:srgbClr val="1B6FA8"/>
                </a:solidFill>
                <a:latin typeface="Segoe UI" pitchFamily="34" charset="0"/>
                <a:ea typeface="Segoe UI" pitchFamily="34" charset="-122"/>
                <a:cs typeface="Segoe UI" pitchFamily="34" charset="-120"/>
              </a:rPr>
              <a:t>RÈGLES APPLIQUÉES (annexe A)</a:t>
            </a:r>
            <a:endParaRPr lang="en-US" sz="1050" dirty="0"/>
          </a:p>
          <a:p>
            <a:pPr marL="0" indent="0">
              <a:spcAft>
                <a:spcPts val="300"/>
              </a:spcAft>
              <a:buNone/>
            </a:pPr>
            <a:r>
              <a:rPr lang="en-US" sz="1100" b="1" dirty="0">
                <a:solidFill>
                  <a:srgbClr val="12324A"/>
                </a:solidFill>
                <a:latin typeface="Consolas" pitchFamily="34" charset="0"/>
                <a:ea typeface="Consolas" pitchFamily="34" charset="-122"/>
                <a:cs typeface="Consolas" pitchFamily="34" charset="-120"/>
              </a:rPr>
              <a:t>RG-PIL-10</a:t>
            </a:r>
            <a:endParaRPr lang="en-US" sz="1050" dirty="0"/>
          </a:p>
        </p:txBody>
      </p:sp>
      <p:sp>
        <p:nvSpPr>
          <p:cNvPr id="10" name="Text 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332</a:t>
            </a:r>
            <a:endParaRPr lang="en-US" sz="1100" dirty="0"/>
          </a:p>
        </p:txBody>
      </p:sp>
    </p:spTree>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name="Slide 33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PILOTER ET PUBLIER · EN RÉSUMÉ</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Ce que l’application garantit</a:t>
            </a:r>
            <a:endParaRPr lang="en-US" sz="2600" dirty="0"/>
          </a:p>
        </p:txBody>
      </p:sp>
      <p:sp>
        <p:nvSpPr>
          <p:cNvPr id="4" name="Shape 2"/>
          <p:cNvSpPr/>
          <p:nvPr/>
        </p:nvSpPr>
        <p:spPr>
          <a:xfrm>
            <a:off x="812780" y="1206500"/>
            <a:ext cx="3420448" cy="2159000"/>
          </a:xfrm>
          <a:prstGeom prst="rect">
            <a:avLst/>
          </a:prstGeom>
          <a:solidFill>
            <a:srgbClr val="FCFCFA"/>
          </a:solidFill>
          <a:ln w="9525">
            <a:solidFill>
              <a:srgbClr val="D5DCE4"/>
            </a:solidFill>
            <a:prstDash val="solid"/>
          </a:ln>
        </p:spPr>
        <p:txBody>
          <a:bodyPr/>
          <a:lstStyle/>
          <a:p>
            <a:endParaRPr lang="fr-FR"/>
          </a:p>
        </p:txBody>
      </p:sp>
      <p:sp>
        <p:nvSpPr>
          <p:cNvPr id="5" name="Shape 3"/>
          <p:cNvSpPr/>
          <p:nvPr/>
        </p:nvSpPr>
        <p:spPr>
          <a:xfrm>
            <a:off x="812780" y="1206500"/>
            <a:ext cx="3420448" cy="38100"/>
          </a:xfrm>
          <a:prstGeom prst="rect">
            <a:avLst/>
          </a:prstGeom>
          <a:solidFill>
            <a:srgbClr val="1B6FA8"/>
          </a:solidFill>
          <a:ln/>
        </p:spPr>
        <p:txBody>
          <a:bodyPr/>
          <a:lstStyle/>
          <a:p>
            <a:endParaRPr lang="fr-FR"/>
          </a:p>
        </p:txBody>
      </p:sp>
      <p:sp>
        <p:nvSpPr>
          <p:cNvPr id="6" name="Text 4"/>
          <p:cNvSpPr/>
          <p:nvPr/>
        </p:nvSpPr>
        <p:spPr>
          <a:xfrm>
            <a:off x="952476" y="13081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Une date annoncée dès la soumission</a:t>
            </a:r>
            <a:endParaRPr lang="en-US" sz="1500" dirty="0"/>
          </a:p>
        </p:txBody>
      </p:sp>
      <p:sp>
        <p:nvSpPr>
          <p:cNvPr id="7" name="Text 5"/>
          <p:cNvSpPr/>
          <p:nvPr/>
        </p:nvSpPr>
        <p:spPr>
          <a:xfrm>
            <a:off x="952476" y="17653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La PRMP connaît la fin de traitement prévue, calculée sur les délais de la Commission, sans la demander.</a:t>
            </a:r>
            <a:endParaRPr lang="en-US" sz="1200" dirty="0"/>
          </a:p>
        </p:txBody>
      </p:sp>
      <p:sp>
        <p:nvSpPr>
          <p:cNvPr id="8" name="Shape 6"/>
          <p:cNvSpPr/>
          <p:nvPr/>
        </p:nvSpPr>
        <p:spPr>
          <a:xfrm>
            <a:off x="4385624" y="1206500"/>
            <a:ext cx="3420448" cy="2159000"/>
          </a:xfrm>
          <a:prstGeom prst="rect">
            <a:avLst/>
          </a:prstGeom>
          <a:solidFill>
            <a:srgbClr val="FCFCFA"/>
          </a:solidFill>
          <a:ln w="9525">
            <a:solidFill>
              <a:srgbClr val="D5DCE4"/>
            </a:solidFill>
            <a:prstDash val="solid"/>
          </a:ln>
        </p:spPr>
        <p:txBody>
          <a:bodyPr/>
          <a:lstStyle/>
          <a:p>
            <a:endParaRPr lang="fr-FR"/>
          </a:p>
        </p:txBody>
      </p:sp>
      <p:sp>
        <p:nvSpPr>
          <p:cNvPr id="9" name="Shape 7"/>
          <p:cNvSpPr/>
          <p:nvPr/>
        </p:nvSpPr>
        <p:spPr>
          <a:xfrm>
            <a:off x="4385624" y="1206500"/>
            <a:ext cx="3420448" cy="38100"/>
          </a:xfrm>
          <a:prstGeom prst="rect">
            <a:avLst/>
          </a:prstGeom>
          <a:solidFill>
            <a:srgbClr val="2E8B57"/>
          </a:solidFill>
          <a:ln/>
        </p:spPr>
        <p:txBody>
          <a:bodyPr/>
          <a:lstStyle/>
          <a:p>
            <a:endParaRPr lang="fr-FR"/>
          </a:p>
        </p:txBody>
      </p:sp>
      <p:sp>
        <p:nvSpPr>
          <p:cNvPr id="10" name="Text 8"/>
          <p:cNvSpPr/>
          <p:nvPr/>
        </p:nvSpPr>
        <p:spPr>
          <a:xfrm>
            <a:off x="4525320" y="1308100"/>
            <a:ext cx="3141055"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Une date honnête</a:t>
            </a:r>
            <a:endParaRPr lang="en-US" sz="1500" dirty="0"/>
          </a:p>
        </p:txBody>
      </p:sp>
      <p:sp>
        <p:nvSpPr>
          <p:cNvPr id="11" name="Text 9"/>
          <p:cNvSpPr/>
          <p:nvPr/>
        </p:nvSpPr>
        <p:spPr>
          <a:xfrm>
            <a:off x="4525320" y="1593850"/>
            <a:ext cx="3141055"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Quand le dossier attend la PRMP, la date glisse ; une étape en retard ne promet pas de rattrapage.</a:t>
            </a:r>
            <a:endParaRPr lang="en-US" sz="1200" dirty="0"/>
          </a:p>
        </p:txBody>
      </p:sp>
      <p:sp>
        <p:nvSpPr>
          <p:cNvPr id="12" name="Shape 10"/>
          <p:cNvSpPr/>
          <p:nvPr/>
        </p:nvSpPr>
        <p:spPr>
          <a:xfrm>
            <a:off x="7958468" y="1206500"/>
            <a:ext cx="3420448" cy="2159000"/>
          </a:xfrm>
          <a:prstGeom prst="rect">
            <a:avLst/>
          </a:prstGeom>
          <a:solidFill>
            <a:srgbClr val="FCFCFA"/>
          </a:solidFill>
          <a:ln w="9525">
            <a:solidFill>
              <a:srgbClr val="D5DCE4"/>
            </a:solidFill>
            <a:prstDash val="solid"/>
          </a:ln>
        </p:spPr>
        <p:txBody>
          <a:bodyPr/>
          <a:lstStyle/>
          <a:p>
            <a:endParaRPr lang="fr-FR"/>
          </a:p>
        </p:txBody>
      </p:sp>
      <p:sp>
        <p:nvSpPr>
          <p:cNvPr id="13" name="Shape 11"/>
          <p:cNvSpPr/>
          <p:nvPr/>
        </p:nvSpPr>
        <p:spPr>
          <a:xfrm>
            <a:off x="7958468" y="1206500"/>
            <a:ext cx="3420448" cy="38100"/>
          </a:xfrm>
          <a:prstGeom prst="rect">
            <a:avLst/>
          </a:prstGeom>
          <a:solidFill>
            <a:srgbClr val="E3AE2E"/>
          </a:solidFill>
          <a:ln/>
        </p:spPr>
        <p:txBody>
          <a:bodyPr/>
          <a:lstStyle/>
          <a:p>
            <a:endParaRPr lang="fr-FR"/>
          </a:p>
        </p:txBody>
      </p:sp>
      <p:sp>
        <p:nvSpPr>
          <p:cNvPr id="14" name="Text 12"/>
          <p:cNvSpPr/>
          <p:nvPr/>
        </p:nvSpPr>
        <p:spPr>
          <a:xfrm>
            <a:off x="8098164" y="13081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Des indicateurs sans ressaisie</a:t>
            </a:r>
            <a:endParaRPr lang="en-US" sz="1500" dirty="0"/>
          </a:p>
        </p:txBody>
      </p:sp>
      <p:sp>
        <p:nvSpPr>
          <p:cNvPr id="15" name="Text 13"/>
          <p:cNvSpPr/>
          <p:nvPr/>
        </p:nvSpPr>
        <p:spPr>
          <a:xfrm>
            <a:off x="8098164" y="17653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Le tableau de bord et les rapports se calculent sur les dossiers réels ; rien n’est compté à la main.</a:t>
            </a:r>
            <a:endParaRPr lang="en-US" sz="1200" dirty="0"/>
          </a:p>
        </p:txBody>
      </p:sp>
      <p:sp>
        <p:nvSpPr>
          <p:cNvPr id="16" name="Shape 14"/>
          <p:cNvSpPr/>
          <p:nvPr/>
        </p:nvSpPr>
        <p:spPr>
          <a:xfrm>
            <a:off x="812780" y="3517900"/>
            <a:ext cx="3420448" cy="2159000"/>
          </a:xfrm>
          <a:prstGeom prst="rect">
            <a:avLst/>
          </a:prstGeom>
          <a:solidFill>
            <a:srgbClr val="FCFCFA"/>
          </a:solidFill>
          <a:ln w="9525">
            <a:solidFill>
              <a:srgbClr val="D5DCE4"/>
            </a:solidFill>
            <a:prstDash val="solid"/>
          </a:ln>
        </p:spPr>
        <p:txBody>
          <a:bodyPr/>
          <a:lstStyle/>
          <a:p>
            <a:endParaRPr lang="fr-FR"/>
          </a:p>
        </p:txBody>
      </p:sp>
      <p:sp>
        <p:nvSpPr>
          <p:cNvPr id="17" name="Shape 15"/>
          <p:cNvSpPr/>
          <p:nvPr/>
        </p:nvSpPr>
        <p:spPr>
          <a:xfrm>
            <a:off x="812780" y="3517900"/>
            <a:ext cx="3420448" cy="38100"/>
          </a:xfrm>
          <a:prstGeom prst="rect">
            <a:avLst/>
          </a:prstGeom>
          <a:solidFill>
            <a:srgbClr val="12324A"/>
          </a:solidFill>
          <a:ln/>
        </p:spPr>
        <p:txBody>
          <a:bodyPr/>
          <a:lstStyle/>
          <a:p>
            <a:endParaRPr lang="fr-FR"/>
          </a:p>
        </p:txBody>
      </p:sp>
      <p:sp>
        <p:nvSpPr>
          <p:cNvPr id="18" name="Text 16"/>
          <p:cNvSpPr/>
          <p:nvPr/>
        </p:nvSpPr>
        <p:spPr>
          <a:xfrm>
            <a:off x="952476" y="3619500"/>
            <a:ext cx="3141055"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Chacun son périmètre</a:t>
            </a:r>
            <a:endParaRPr lang="en-US" sz="1500" dirty="0"/>
          </a:p>
        </p:txBody>
      </p:sp>
      <p:sp>
        <p:nvSpPr>
          <p:cNvPr id="19" name="Text 17"/>
          <p:cNvSpPr/>
          <p:nvPr/>
        </p:nvSpPr>
        <p:spPr>
          <a:xfrm>
            <a:off x="952476" y="3905250"/>
            <a:ext cx="3141055"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Le Chef de commission ne voit que sa localité ; la PRMP n’a pas accès aux statistiques de la CNM.</a:t>
            </a:r>
            <a:endParaRPr lang="en-US" sz="1200" dirty="0"/>
          </a:p>
        </p:txBody>
      </p:sp>
      <p:sp>
        <p:nvSpPr>
          <p:cNvPr id="20" name="Shape 18"/>
          <p:cNvSpPr/>
          <p:nvPr/>
        </p:nvSpPr>
        <p:spPr>
          <a:xfrm>
            <a:off x="4385624" y="3517900"/>
            <a:ext cx="3420448" cy="2159000"/>
          </a:xfrm>
          <a:prstGeom prst="rect">
            <a:avLst/>
          </a:prstGeom>
          <a:solidFill>
            <a:srgbClr val="FCFCFA"/>
          </a:solidFill>
          <a:ln w="9525">
            <a:solidFill>
              <a:srgbClr val="D5DCE4"/>
            </a:solidFill>
            <a:prstDash val="solid"/>
          </a:ln>
        </p:spPr>
        <p:txBody>
          <a:bodyPr/>
          <a:lstStyle/>
          <a:p>
            <a:endParaRPr lang="fr-FR"/>
          </a:p>
        </p:txBody>
      </p:sp>
      <p:sp>
        <p:nvSpPr>
          <p:cNvPr id="21" name="Shape 19"/>
          <p:cNvSpPr/>
          <p:nvPr/>
        </p:nvSpPr>
        <p:spPr>
          <a:xfrm>
            <a:off x="4385624" y="3517900"/>
            <a:ext cx="3420448" cy="38100"/>
          </a:xfrm>
          <a:prstGeom prst="rect">
            <a:avLst/>
          </a:prstGeom>
          <a:solidFill>
            <a:srgbClr val="1B6FA8"/>
          </a:solidFill>
          <a:ln/>
        </p:spPr>
        <p:txBody>
          <a:bodyPr/>
          <a:lstStyle/>
          <a:p>
            <a:endParaRPr lang="fr-FR"/>
          </a:p>
        </p:txBody>
      </p:sp>
      <p:sp>
        <p:nvSpPr>
          <p:cNvPr id="22" name="Text 20"/>
          <p:cNvSpPr/>
          <p:nvPr/>
        </p:nvSpPr>
        <p:spPr>
          <a:xfrm>
            <a:off x="4525320" y="3619500"/>
            <a:ext cx="3141055"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Aucune procédure orpheline</a:t>
            </a:r>
            <a:endParaRPr lang="en-US" sz="1500" dirty="0"/>
          </a:p>
        </p:txBody>
      </p:sp>
      <p:sp>
        <p:nvSpPr>
          <p:cNvPr id="23" name="Text 21"/>
          <p:cNvSpPr/>
          <p:nvPr/>
        </p:nvSpPr>
        <p:spPr>
          <a:xfrm>
            <a:off x="4525320" y="3905250"/>
            <a:ext cx="3141055"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Une procédure en ligne sans responsable remonte en tête de liste et au poste d’administration.</a:t>
            </a:r>
            <a:endParaRPr lang="en-US" sz="1200" dirty="0"/>
          </a:p>
        </p:txBody>
      </p:sp>
      <p:sp>
        <p:nvSpPr>
          <p:cNvPr id="24" name="Shape 22"/>
          <p:cNvSpPr/>
          <p:nvPr/>
        </p:nvSpPr>
        <p:spPr>
          <a:xfrm>
            <a:off x="7958468" y="3517900"/>
            <a:ext cx="3420448" cy="2159000"/>
          </a:xfrm>
          <a:prstGeom prst="rect">
            <a:avLst/>
          </a:prstGeom>
          <a:solidFill>
            <a:srgbClr val="FCFCFA"/>
          </a:solidFill>
          <a:ln w="9525">
            <a:solidFill>
              <a:srgbClr val="D5DCE4"/>
            </a:solidFill>
            <a:prstDash val="solid"/>
          </a:ln>
        </p:spPr>
        <p:txBody>
          <a:bodyPr/>
          <a:lstStyle/>
          <a:p>
            <a:endParaRPr lang="fr-FR"/>
          </a:p>
        </p:txBody>
      </p:sp>
      <p:sp>
        <p:nvSpPr>
          <p:cNvPr id="25" name="Shape 23"/>
          <p:cNvSpPr/>
          <p:nvPr/>
        </p:nvSpPr>
        <p:spPr>
          <a:xfrm>
            <a:off x="7958468" y="3517900"/>
            <a:ext cx="3420448" cy="38100"/>
          </a:xfrm>
          <a:prstGeom prst="rect">
            <a:avLst/>
          </a:prstGeom>
          <a:solidFill>
            <a:srgbClr val="2E8B57"/>
          </a:solidFill>
          <a:ln/>
        </p:spPr>
        <p:txBody>
          <a:bodyPr/>
          <a:lstStyle/>
          <a:p>
            <a:endParaRPr lang="fr-FR"/>
          </a:p>
        </p:txBody>
      </p:sp>
      <p:sp>
        <p:nvSpPr>
          <p:cNvPr id="26" name="Text 24"/>
          <p:cNvSpPr/>
          <p:nvPr/>
        </p:nvSpPr>
        <p:spPr>
          <a:xfrm>
            <a:off x="8098164" y="36195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Des documents publics vérifiables</a:t>
            </a:r>
            <a:endParaRPr lang="en-US" sz="1500" dirty="0"/>
          </a:p>
        </p:txBody>
      </p:sp>
      <p:sp>
        <p:nvSpPr>
          <p:cNvPr id="27" name="Text 25"/>
          <p:cNvSpPr/>
          <p:nvPr/>
        </p:nvSpPr>
        <p:spPr>
          <a:xfrm>
            <a:off x="8098164" y="40767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Chaque document publié porte son empreinte ; un retrait de publication est toujours motivé et daté.</a:t>
            </a:r>
            <a:endParaRPr lang="en-US" sz="1200" dirty="0"/>
          </a:p>
        </p:txBody>
      </p:sp>
      <p:sp>
        <p:nvSpPr>
          <p:cNvPr id="28" name="Text 26"/>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333</a:t>
            </a:r>
            <a:endParaRPr lang="en-US" sz="1100" dirty="0"/>
          </a:p>
        </p:txBody>
      </p:sp>
    </p:spTree>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name="Slide 334">
    <p:bg>
      <p:bgPr>
        <a:solidFill>
          <a:srgbClr val="12324A"/>
        </a:solidFill>
        <a:effectLst/>
      </p:bgPr>
    </p:bg>
    <p:spTree>
      <p:nvGrpSpPr>
        <p:cNvPr id="1" name=""/>
        <p:cNvGrpSpPr/>
        <p:nvPr/>
      </p:nvGrpSpPr>
      <p:grpSpPr>
        <a:xfrm>
          <a:off x="0" y="0"/>
          <a:ext cx="0" cy="0"/>
          <a:chOff x="0" y="0"/>
          <a:chExt cx="0" cy="0"/>
        </a:xfrm>
      </p:grpSpPr>
      <p:sp>
        <p:nvSpPr>
          <p:cNvPr id="2" name="Shape 0"/>
          <p:cNvSpPr/>
          <p:nvPr/>
        </p:nvSpPr>
        <p:spPr>
          <a:xfrm>
            <a:off x="0" y="0"/>
            <a:ext cx="152396" cy="6858000"/>
          </a:xfrm>
          <a:prstGeom prst="rect">
            <a:avLst/>
          </a:prstGeom>
          <a:solidFill>
            <a:srgbClr val="E3AE2E"/>
          </a:solidFill>
          <a:ln w="12700">
            <a:solidFill>
              <a:srgbClr val="E3AE2E"/>
            </a:solidFill>
            <a:prstDash val="solid"/>
          </a:ln>
        </p:spPr>
        <p:txBody>
          <a:bodyPr/>
          <a:lstStyle/>
          <a:p>
            <a:endParaRPr lang="fr-FR"/>
          </a:p>
        </p:txBody>
      </p:sp>
      <p:sp>
        <p:nvSpPr>
          <p:cNvPr id="3" name="Text 1"/>
          <p:cNvSpPr/>
          <p:nvPr/>
        </p:nvSpPr>
        <p:spPr>
          <a:xfrm>
            <a:off x="812780" y="698500"/>
            <a:ext cx="3809905" cy="952500"/>
          </a:xfrm>
          <a:prstGeom prst="rect">
            <a:avLst/>
          </a:prstGeom>
          <a:noFill/>
          <a:ln/>
        </p:spPr>
        <p:txBody>
          <a:bodyPr wrap="square" rtlCol="0" anchor="ctr"/>
          <a:lstStyle/>
          <a:p>
            <a:pPr marL="0" indent="0">
              <a:buNone/>
            </a:pPr>
            <a:r>
              <a:rPr lang="en-US" sz="7200" b="1" dirty="0">
                <a:solidFill>
                  <a:srgbClr val="E3AE2E"/>
                </a:solidFill>
                <a:latin typeface="Segoe UI" pitchFamily="34" charset="0"/>
                <a:ea typeface="Segoe UI" pitchFamily="34" charset="-122"/>
                <a:cs typeface="Segoe UI" pitchFamily="34" charset="-120"/>
              </a:rPr>
              <a:t>A</a:t>
            </a:r>
            <a:endParaRPr lang="en-US" sz="7200" dirty="0"/>
          </a:p>
        </p:txBody>
      </p:sp>
      <p:sp>
        <p:nvSpPr>
          <p:cNvPr id="4" name="Text 2"/>
          <p:cNvSpPr/>
          <p:nvPr/>
        </p:nvSpPr>
        <p:spPr>
          <a:xfrm>
            <a:off x="812780" y="1714500"/>
            <a:ext cx="10477238" cy="635000"/>
          </a:xfrm>
          <a:prstGeom prst="rect">
            <a:avLst/>
          </a:prstGeom>
          <a:noFill/>
          <a:ln/>
        </p:spPr>
        <p:txBody>
          <a:bodyPr wrap="square" rtlCol="0" anchor="ctr">
            <a:normAutofit/>
          </a:bodyPr>
          <a:lstStyle/>
          <a:p>
            <a:pPr marL="0" indent="0">
              <a:buNone/>
            </a:pPr>
            <a:r>
              <a:rPr lang="en-US" sz="4000" b="1" dirty="0">
                <a:solidFill>
                  <a:srgbClr val="FCFCFA"/>
                </a:solidFill>
                <a:latin typeface="Segoe UI" pitchFamily="34" charset="0"/>
                <a:ea typeface="Segoe UI" pitchFamily="34" charset="-122"/>
                <a:cs typeface="Segoe UI" pitchFamily="34" charset="-120"/>
              </a:rPr>
              <a:t>Annexe A — Les règles de gestion</a:t>
            </a:r>
            <a:endParaRPr lang="en-US" sz="4000" dirty="0"/>
          </a:p>
        </p:txBody>
      </p:sp>
      <p:sp>
        <p:nvSpPr>
          <p:cNvPr id="5" name="Text 3"/>
          <p:cNvSpPr/>
          <p:nvPr/>
        </p:nvSpPr>
        <p:spPr>
          <a:xfrm>
            <a:off x="812780" y="2413000"/>
            <a:ext cx="10159746" cy="698500"/>
          </a:xfrm>
          <a:prstGeom prst="rect">
            <a:avLst/>
          </a:prstGeom>
          <a:noFill/>
          <a:ln/>
        </p:spPr>
        <p:txBody>
          <a:bodyPr wrap="square" rtlCol="0" anchor="t">
            <a:normAutofit/>
          </a:bodyPr>
          <a:lstStyle/>
          <a:p>
            <a:pPr marL="0" indent="0">
              <a:buNone/>
            </a:pPr>
            <a:r>
              <a:rPr lang="en-US" sz="1700" dirty="0">
                <a:solidFill>
                  <a:srgbClr val="C9D6E2"/>
                </a:solidFill>
                <a:latin typeface="Segoe UI" pitchFamily="34" charset="0"/>
                <a:ea typeface="Segoe UI" pitchFamily="34" charset="-122"/>
                <a:cs typeface="Segoe UI" pitchFamily="34" charset="-120"/>
              </a:rPr>
              <a:t>Partie par partie, les règles que l’application applique : chacune cite sa source (règles de gestion du serveur, contrats, manuel de contrôle révisé) et les écrans où elle s’applique.</a:t>
            </a:r>
            <a:endParaRPr lang="en-US" sz="17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8FA6BB"/>
                </a:solidFill>
                <a:latin typeface="Segoe UI" pitchFamily="34" charset="0"/>
                <a:ea typeface="Segoe UI" pitchFamily="34" charset="-122"/>
                <a:cs typeface="Segoe UI" pitchFamily="34" charset="-120"/>
              </a:rPr>
              <a:t>PRS 2.0 · L’application de bout en bout · dossier de recette · 334</a:t>
            </a:r>
            <a:endParaRPr lang="en-US" sz="1100" dirty="0"/>
          </a:p>
        </p:txBody>
      </p:sp>
    </p:spTree>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name="Slide 33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règles de gestion, en un tableau</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b="1" dirty="0">
                <a:solidFill>
                  <a:srgbClr val="1B2A3A"/>
                </a:solidFill>
                <a:latin typeface="Segoe UI" pitchFamily="34" charset="0"/>
                <a:ea typeface="Segoe UI" pitchFamily="34" charset="-122"/>
                <a:cs typeface="Segoe UI" pitchFamily="34" charset="-120"/>
              </a:rPr>
              <a:t>416 règles</a:t>
            </a:r>
            <a:r>
              <a:rPr lang="en-US" sz="1300" dirty="0">
                <a:solidFill>
                  <a:srgbClr val="465568"/>
                </a:solidFill>
                <a:latin typeface="Segoe UI" pitchFamily="34" charset="0"/>
                <a:ea typeface="Segoe UI" pitchFamily="34" charset="-122"/>
                <a:cs typeface="Segoe UI" pitchFamily="34" charset="-120"/>
              </a:rPr>
              <a:t>, groupées par partie et par thème. Chaque écran de la présentation cite celles qu’il applique.</a:t>
            </a:r>
            <a:endParaRPr lang="en-US" sz="1300" dirty="0"/>
          </a:p>
        </p:txBody>
      </p:sp>
      <p:graphicFrame>
        <p:nvGraphicFramePr>
          <p:cNvPr id="336" name="Table 0"/>
          <p:cNvGraphicFramePr>
            <a:graphicFrameLocks noGrp="1"/>
          </p:cNvGraphicFramePr>
          <p:nvPr>
            <p:extLst>
              <p:ext uri="{D42A27DB-BD31-4B8C-83A1-F6EECF244321}">
                <p14:modId xmlns:p14="http://schemas.microsoft.com/office/powerpoint/2010/main" val="1579011935"/>
              </p:ext>
            </p:extLst>
          </p:nvPr>
        </p:nvGraphicFramePr>
        <p:xfrm>
          <a:off x="593324" y="1651000"/>
          <a:ext cx="11430000" cy="914400"/>
        </p:xfrm>
        <a:graphic>
          <a:graphicData uri="http://schemas.openxmlformats.org/drawingml/2006/table">
            <a:tbl>
              <a:tblPr/>
              <a:tblGrid>
                <a:gridCol w="2651760">
                  <a:extLst>
                    <a:ext uri="{9D8B030D-6E8A-4147-A177-3AD203B41FA5}">
                      <a16:colId xmlns:a16="http://schemas.microsoft.com/office/drawing/2014/main" val="20000"/>
                    </a:ext>
                  </a:extLst>
                </a:gridCol>
                <a:gridCol w="822960">
                  <a:extLst>
                    <a:ext uri="{9D8B030D-6E8A-4147-A177-3AD203B41FA5}">
                      <a16:colId xmlns:a16="http://schemas.microsoft.com/office/drawing/2014/main" val="20001"/>
                    </a:ext>
                  </a:extLst>
                </a:gridCol>
                <a:gridCol w="795528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Partie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Règles</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Thèmes</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1050" b="1" dirty="0">
                          <a:solidFill>
                            <a:srgbClr val="1B2A3A"/>
                          </a:solidFill>
                          <a:latin typeface="Segoe UI" pitchFamily="34" charset="0"/>
                          <a:ea typeface="Segoe UI" pitchFamily="34" charset="-122"/>
                          <a:cs typeface="Segoe UI" pitchFamily="34" charset="-120"/>
                        </a:rPr>
                        <a:t>01 · Entrer</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50" b="1" dirty="0">
                          <a:solidFill>
                            <a:srgbClr val="1B6FA8"/>
                          </a:solidFill>
                          <a:latin typeface="Segoe UI" pitchFamily="34" charset="0"/>
                          <a:ea typeface="Segoe UI" pitchFamily="34" charset="-122"/>
                          <a:cs typeface="Segoe UI" pitchFamily="34" charset="-120"/>
                        </a:rPr>
                        <a:t>27</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50" dirty="0">
                          <a:solidFill>
                            <a:srgbClr val="465568"/>
                          </a:solidFill>
                          <a:latin typeface="Segoe UI" pitchFamily="34" charset="0"/>
                          <a:ea typeface="Segoe UI" pitchFamily="34" charset="-122"/>
                          <a:cs typeface="Segoe UI" pitchFamily="34" charset="-120"/>
                        </a:rPr>
                        <a:t>Session et accès · Inscription et comptes · Profils et visibilité · L’accueil « À faire » · Actualités, notifications et assistant</a:t>
                      </a:r>
                      <a:endParaRPr lang="en-US" sz="9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1050" b="1" dirty="0">
                          <a:solidFill>
                            <a:srgbClr val="1B2A3A"/>
                          </a:solidFill>
                          <a:latin typeface="Segoe UI" pitchFamily="34" charset="0"/>
                          <a:ea typeface="Segoe UI" pitchFamily="34" charset="-122"/>
                          <a:cs typeface="Segoe UI" pitchFamily="34" charset="-120"/>
                        </a:rPr>
                        <a:t>02 · Planifier</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50" b="1" dirty="0">
                          <a:solidFill>
                            <a:srgbClr val="1B6FA8"/>
                          </a:solidFill>
                          <a:latin typeface="Segoe UI" pitchFamily="34" charset="0"/>
                          <a:ea typeface="Segoe UI" pitchFamily="34" charset="-122"/>
                          <a:cs typeface="Segoe UI" pitchFamily="34" charset="-120"/>
                        </a:rPr>
                        <a:t>27</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50" dirty="0">
                          <a:solidFill>
                            <a:srgbClr val="465568"/>
                          </a:solidFill>
                          <a:latin typeface="Segoe UI" pitchFamily="34" charset="0"/>
                          <a:ea typeface="Segoe UI" pitchFamily="34" charset="-122"/>
                          <a:cs typeface="Segoe UI" pitchFamily="34" charset="-120"/>
                        </a:rPr>
                        <a:t>Le plan et ses lignes · Calendrier et pièces · Le pré-contrôle · La soumission et le suivi · Les versions · Retrait et jalons</a:t>
                      </a:r>
                      <a:endParaRPr lang="en-US" sz="9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1050" b="1" dirty="0">
                          <a:solidFill>
                            <a:srgbClr val="1B2A3A"/>
                          </a:solidFill>
                          <a:latin typeface="Segoe UI" pitchFamily="34" charset="0"/>
                          <a:ea typeface="Segoe UI" pitchFamily="34" charset="-122"/>
                          <a:cs typeface="Segoe UI" pitchFamily="34" charset="-120"/>
                        </a:rPr>
                        <a:t>03 · Contrôler</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50" b="1" dirty="0">
                          <a:solidFill>
                            <a:srgbClr val="1B6FA8"/>
                          </a:solidFill>
                          <a:latin typeface="Segoe UI" pitchFamily="34" charset="0"/>
                          <a:ea typeface="Segoe UI" pitchFamily="34" charset="-122"/>
                          <a:cs typeface="Segoe UI" pitchFamily="34" charset="-120"/>
                        </a:rPr>
                        <a:t>57</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50" dirty="0">
                          <a:solidFill>
                            <a:srgbClr val="465568"/>
                          </a:solidFill>
                          <a:latin typeface="Segoe UI" pitchFamily="34" charset="0"/>
                          <a:ea typeface="Segoe UI" pitchFamily="34" charset="-122"/>
                          <a:cs typeface="Segoe UI" pitchFamily="34" charset="-120"/>
                        </a:rPr>
                        <a:t>Recevabilité et réception · Dispatch et délégation · Examen · Le PV : navette, visa et signature · Vérification et réserves · Renvoi et rectification · Retraits · Délais et chronométrage · Le manuel de contrôle · Le contrôle sur les données</a:t>
                      </a:r>
                      <a:endParaRPr lang="en-US" sz="9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1050" b="1" dirty="0">
                          <a:solidFill>
                            <a:srgbClr val="1B2A3A"/>
                          </a:solidFill>
                          <a:latin typeface="Segoe UI" pitchFamily="34" charset="0"/>
                          <a:ea typeface="Segoe UI" pitchFamily="34" charset="-122"/>
                          <a:cs typeface="Segoe UI" pitchFamily="34" charset="-120"/>
                        </a:rPr>
                        <a:t>04 · Préparer le DAO</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50" b="1" dirty="0">
                          <a:solidFill>
                            <a:srgbClr val="1B6FA8"/>
                          </a:solidFill>
                          <a:latin typeface="Segoe UI" pitchFamily="34" charset="0"/>
                          <a:ea typeface="Segoe UI" pitchFamily="34" charset="-122"/>
                          <a:cs typeface="Segoe UI" pitchFamily="34" charset="-120"/>
                        </a:rPr>
                        <a:t>60</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50" dirty="0">
                          <a:solidFill>
                            <a:srgbClr val="465568"/>
                          </a:solidFill>
                          <a:latin typeface="Segoe UI" pitchFamily="34" charset="0"/>
                          <a:ea typeface="Segoe UI" pitchFamily="34" charset="-122"/>
                          <a:cs typeface="Segoe UI" pitchFamily="34" charset="-120"/>
                        </a:rPr>
                        <a:t>Préparer une fiche : qui, et sur quelle ligne · Les deux axes de la fiche viennent du plan · Cadrer, saisir, contrôler · Les lots, le besoin, les formulaires du candidat · Valider, produire, réviser · Le DAO complet · Après la validation : le dossier, la rectification, la publicité · L’import du DAO · Le mode de remise (manuel révisé) · Les questions des candidats (manuel révisé) · La procédure en remise électronique · Le retrait du DAO</a:t>
                      </a:r>
                      <a:endParaRPr lang="en-US" sz="9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1050" b="1" dirty="0">
                          <a:solidFill>
                            <a:srgbClr val="1B2A3A"/>
                          </a:solidFill>
                          <a:latin typeface="Segoe UI" pitchFamily="34" charset="0"/>
                          <a:ea typeface="Segoe UI" pitchFamily="34" charset="-122"/>
                          <a:cs typeface="Segoe UI" pitchFamily="34" charset="-120"/>
                        </a:rPr>
                        <a:t>05 · L’appel à manifestation d’intérêt</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50" b="1" dirty="0">
                          <a:solidFill>
                            <a:srgbClr val="1B6FA8"/>
                          </a:solidFill>
                          <a:latin typeface="Segoe UI" pitchFamily="34" charset="0"/>
                          <a:ea typeface="Segoe UI" pitchFamily="34" charset="-122"/>
                          <a:cs typeface="Segoe UI" pitchFamily="34" charset="-120"/>
                        </a:rPr>
                        <a:t>26</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50" dirty="0">
                          <a:solidFill>
                            <a:srgbClr val="465568"/>
                          </a:solidFill>
                          <a:latin typeface="Segoe UI" pitchFamily="34" charset="0"/>
                          <a:ea typeface="Segoe UI" pitchFamily="34" charset="-122"/>
                          <a:cs typeface="Segoe UI" pitchFamily="34" charset="-120"/>
                        </a:rPr>
                        <a:t>Préparer l’appel · Publier ou dispenser · Les expressions d’intérêt · La présélection · Le rapport et la liste restreinte · La demande de propositions · Relance et infructuosité</a:t>
                      </a:r>
                      <a:endParaRPr lang="en-US" sz="9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buNone/>
                      </a:pPr>
                      <a:r>
                        <a:rPr lang="en-US" sz="1050" b="1" dirty="0">
                          <a:solidFill>
                            <a:srgbClr val="1B2A3A"/>
                          </a:solidFill>
                          <a:latin typeface="Segoe UI" pitchFamily="34" charset="0"/>
                          <a:ea typeface="Segoe UI" pitchFamily="34" charset="-122"/>
                          <a:cs typeface="Segoe UI" pitchFamily="34" charset="-120"/>
                        </a:rPr>
                        <a:t>06 · Recevoir les offres en ligne</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50" b="1" dirty="0">
                          <a:solidFill>
                            <a:srgbClr val="1B6FA8"/>
                          </a:solidFill>
                          <a:latin typeface="Segoe UI" pitchFamily="34" charset="0"/>
                          <a:ea typeface="Segoe UI" pitchFamily="34" charset="-122"/>
                          <a:cs typeface="Segoe UI" pitchFamily="34" charset="-120"/>
                        </a:rPr>
                        <a:t>35</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50" dirty="0">
                          <a:solidFill>
                            <a:srgbClr val="465568"/>
                          </a:solidFill>
                          <a:latin typeface="Segoe UI" pitchFamily="34" charset="0"/>
                          <a:ea typeface="Segoe UI" pitchFamily="34" charset="-122"/>
                          <a:cs typeface="Segoe UI" pitchFamily="34" charset="-120"/>
                        </a:rPr>
                        <a:t>Le compte et l’entreprise · Les procédures ouvertes et le retrait · Les frais de dossier · L’offre remplie en ligne · Le dépôt scellé · La commission, les clés et le dépositaire · La consultation restreinte · Les questions des candidats</a:t>
                      </a:r>
                      <a:endParaRPr lang="en-US" sz="9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buNone/>
                      </a:pPr>
                      <a:r>
                        <a:rPr lang="en-US" sz="1050" b="1" dirty="0">
                          <a:solidFill>
                            <a:srgbClr val="1B2A3A"/>
                          </a:solidFill>
                          <a:latin typeface="Segoe UI" pitchFamily="34" charset="0"/>
                          <a:ea typeface="Segoe UI" pitchFamily="34" charset="-122"/>
                          <a:cs typeface="Segoe UI" pitchFamily="34" charset="-120"/>
                        </a:rPr>
                        <a:t>07 · La séance d’ouverture</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50" b="1" dirty="0">
                          <a:solidFill>
                            <a:srgbClr val="1B6FA8"/>
                          </a:solidFill>
                          <a:latin typeface="Segoe UI" pitchFamily="34" charset="0"/>
                          <a:ea typeface="Segoe UI" pitchFamily="34" charset="-122"/>
                          <a:cs typeface="Segoe UI" pitchFamily="34" charset="-120"/>
                        </a:rPr>
                        <a:t>31</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50" dirty="0">
                          <a:solidFill>
                            <a:srgbClr val="465568"/>
                          </a:solidFill>
                          <a:latin typeface="Segoe UI" pitchFamily="34" charset="0"/>
                          <a:ea typeface="Segoe UI" pitchFamily="34" charset="-122"/>
                          <a:cs typeface="Segoe UI" pitchFamily="34" charset="-120"/>
                        </a:rPr>
                        <a:t>Ouvrir la séance · Les parts et le quorum des clés · L’ouverture des offres · La lecture et les alertes · Les pièces des offres · Le PV d’ouverture · La conservation des offres · Les prestations intellectuelles · Le quorum de la commission</a:t>
                      </a:r>
                      <a:endParaRPr lang="en-US" sz="9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buNone/>
                      </a:pPr>
                      <a:r>
                        <a:rPr lang="en-US" sz="1050" b="1" dirty="0">
                          <a:solidFill>
                            <a:srgbClr val="1B2A3A"/>
                          </a:solidFill>
                          <a:latin typeface="Segoe UI" pitchFamily="34" charset="0"/>
                          <a:ea typeface="Segoe UI" pitchFamily="34" charset="-122"/>
                          <a:cs typeface="Segoe UI" pitchFamily="34" charset="-120"/>
                        </a:rPr>
                        <a:t>08 · Évaluer les offres</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50" b="1" dirty="0">
                          <a:solidFill>
                            <a:srgbClr val="1B6FA8"/>
                          </a:solidFill>
                          <a:latin typeface="Segoe UI" pitchFamily="34" charset="0"/>
                          <a:ea typeface="Segoe UI" pitchFamily="34" charset="-122"/>
                          <a:cs typeface="Segoe UI" pitchFamily="34" charset="-120"/>
                        </a:rPr>
                        <a:t>38</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50" dirty="0">
                          <a:solidFill>
                            <a:srgbClr val="465568"/>
                          </a:solidFill>
                          <a:latin typeface="Segoe UI" pitchFamily="34" charset="0"/>
                          <a:ea typeface="Segoe UI" pitchFamily="34" charset="-122"/>
                          <a:cs typeface="Segoe UI" pitchFamily="34" charset="-120"/>
                        </a:rPr>
                        <a:t>Ouvrir l’évaluation · Arrêter et tracer · L’examen préliminaire · Montant évalué et classement · Les offres anormales · La post-qualification · Le rapport d’évaluation · Les prestations intellectuelles</a:t>
                      </a:r>
                      <a:endParaRPr lang="en-US" sz="9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buNone/>
                      </a:pPr>
                      <a:r>
                        <a:rPr lang="en-US" sz="1050" b="1" dirty="0">
                          <a:solidFill>
                            <a:srgbClr val="1B2A3A"/>
                          </a:solidFill>
                          <a:latin typeface="Segoe UI" pitchFamily="34" charset="0"/>
                          <a:ea typeface="Segoe UI" pitchFamily="34" charset="-122"/>
                          <a:cs typeface="Segoe UI" pitchFamily="34" charset="-120"/>
                        </a:rPr>
                        <a:t>09 · Attribuer et notifier</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50" b="1" dirty="0">
                          <a:solidFill>
                            <a:srgbClr val="1B6FA8"/>
                          </a:solidFill>
                          <a:latin typeface="Segoe UI" pitchFamily="34" charset="0"/>
                          <a:ea typeface="Segoe UI" pitchFamily="34" charset="-122"/>
                          <a:cs typeface="Segoe UI" pitchFamily="34" charset="-120"/>
                        </a:rPr>
                        <a:t>36</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50" dirty="0">
                          <a:solidFill>
                            <a:srgbClr val="465568"/>
                          </a:solidFill>
                          <a:latin typeface="Segoe UI" pitchFamily="34" charset="0"/>
                          <a:ea typeface="Segoe UI" pitchFamily="34" charset="-122"/>
                          <a:cs typeface="Segoe UI" pitchFamily="34" charset="-120"/>
                        </a:rPr>
                        <a:t>Le dossier de marché · Attribuer · Informer les candidats · Les recours · Les pièces de l’attributaire · Signer, approuver, enregistrer, notifier · L’infructuosité · Les actes de gestion · Après le rapport · Les prestations intellectuelles · Les délais légaux</a:t>
                      </a:r>
                      <a:endParaRPr lang="en-US" sz="9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buNone/>
                      </a:pPr>
                      <a:r>
                        <a:rPr lang="en-US" sz="1050" b="1" dirty="0">
                          <a:solidFill>
                            <a:srgbClr val="1B2A3A"/>
                          </a:solidFill>
                          <a:latin typeface="Segoe UI" pitchFamily="34" charset="0"/>
                          <a:ea typeface="Segoe UI" pitchFamily="34" charset="-122"/>
                          <a:cs typeface="Segoe UI" pitchFamily="34" charset="-120"/>
                        </a:rPr>
                        <a:t>10 · Intérim et mandats</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50" b="1" dirty="0">
                          <a:solidFill>
                            <a:srgbClr val="1B6FA8"/>
                          </a:solidFill>
                          <a:latin typeface="Segoe UI" pitchFamily="34" charset="0"/>
                          <a:ea typeface="Segoe UI" pitchFamily="34" charset="-122"/>
                          <a:cs typeface="Segoe UI" pitchFamily="34" charset="-120"/>
                        </a:rPr>
                        <a:t>17</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50" dirty="0">
                          <a:solidFill>
                            <a:srgbClr val="465568"/>
                          </a:solidFill>
                          <a:latin typeface="Segoe UI" pitchFamily="34" charset="0"/>
                          <a:ea typeface="Segoe UI" pitchFamily="34" charset="-122"/>
                          <a:cs typeface="Segoe UI" pitchFamily="34" charset="-120"/>
                        </a:rPr>
                        <a:t>L’intérim désigné · Effets de l’intérim · Mandats PRMP · Vacance et reprise</a:t>
                      </a:r>
                      <a:endParaRPr lang="en-US" sz="9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a:txBody>
                    <a:bodyPr/>
                    <a:lstStyle/>
                    <a:p>
                      <a:pPr marL="0" indent="0">
                        <a:buNone/>
                      </a:pPr>
                      <a:r>
                        <a:rPr lang="en-US" sz="1050" b="1" dirty="0">
                          <a:solidFill>
                            <a:srgbClr val="1B2A3A"/>
                          </a:solidFill>
                          <a:latin typeface="Segoe UI" pitchFamily="34" charset="0"/>
                          <a:ea typeface="Segoe UI" pitchFamily="34" charset="-122"/>
                          <a:cs typeface="Segoe UI" pitchFamily="34" charset="-120"/>
                        </a:rPr>
                        <a:t>11 · Administrer</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50" b="1" dirty="0">
                          <a:solidFill>
                            <a:srgbClr val="1B6FA8"/>
                          </a:solidFill>
                          <a:latin typeface="Segoe UI" pitchFamily="34" charset="0"/>
                          <a:ea typeface="Segoe UI" pitchFamily="34" charset="-122"/>
                          <a:cs typeface="Segoe UI" pitchFamily="34" charset="-120"/>
                        </a:rPr>
                        <a:t>47</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50" dirty="0">
                          <a:solidFill>
                            <a:srgbClr val="465568"/>
                          </a:solidFill>
                          <a:latin typeface="Segoe UI" pitchFamily="34" charset="0"/>
                          <a:ea typeface="Segoe UI" pitchFamily="34" charset="-122"/>
                          <a:cs typeface="Segoe UI" pitchFamily="34" charset="-120"/>
                        </a:rPr>
                        <a:t>Accès et comptes · Mandats et entités de la PRMP · Organisation du contrôle · Nomenclatures et fiche DAO · Remise électronique et entreprises · Traces et communication · Pré-contrôle · Paramètres du manuel révisé · Délais</a:t>
                      </a:r>
                      <a:endParaRPr lang="en-US" sz="9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buNone/>
                      </a:pPr>
                      <a:r>
                        <a:rPr lang="en-US" sz="1050" b="1" dirty="0">
                          <a:solidFill>
                            <a:srgbClr val="1B2A3A"/>
                          </a:solidFill>
                          <a:latin typeface="Segoe UI" pitchFamily="34" charset="0"/>
                          <a:ea typeface="Segoe UI" pitchFamily="34" charset="-122"/>
                          <a:cs typeface="Segoe UI" pitchFamily="34" charset="-120"/>
                        </a:rPr>
                        <a:t>12 · Piloter et publier</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50" b="1" dirty="0">
                          <a:solidFill>
                            <a:srgbClr val="1B6FA8"/>
                          </a:solidFill>
                          <a:latin typeface="Segoe UI" pitchFamily="34" charset="0"/>
                          <a:ea typeface="Segoe UI" pitchFamily="34" charset="-122"/>
                          <a:cs typeface="Segoe UI" pitchFamily="34" charset="-120"/>
                        </a:rPr>
                        <a:t>15</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50" dirty="0">
                          <a:solidFill>
                            <a:srgbClr val="465568"/>
                          </a:solidFill>
                          <a:latin typeface="Segoe UI" pitchFamily="34" charset="0"/>
                          <a:ea typeface="Segoe UI" pitchFamily="34" charset="-122"/>
                          <a:cs typeface="Segoe UI" pitchFamily="34" charset="-120"/>
                        </a:rPr>
                        <a:t>Suivi des dossiers · Rapports et tableaux de pilotage · Publication et transparence · Procédures en ligne</a:t>
                      </a:r>
                      <a:endParaRPr lang="en-US" sz="9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bl>
          </a:graphicData>
        </a:graphic>
      </p:graphicFrame>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335</a:t>
            </a:r>
            <a:endParaRPr lang="en-US" sz="1100" dirty="0"/>
          </a:p>
        </p:txBody>
      </p:sp>
    </p:spTree>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name="Slide 33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01 ENTRER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Session et accès (1/2)</a:t>
            </a:r>
            <a:endParaRPr lang="en-US" sz="2600" dirty="0"/>
          </a:p>
        </p:txBody>
      </p:sp>
      <p:graphicFrame>
        <p:nvGraphicFramePr>
          <p:cNvPr id="337"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RG-ENT-01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Une session portée par le serveur</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connexion ouvre une session portée par un </a:t>
                      </a:r>
                      <a:r>
                        <a:rPr lang="en-US" sz="1100" b="1" dirty="0">
                          <a:solidFill>
                            <a:srgbClr val="1B2A3A"/>
                          </a:solidFill>
                          <a:latin typeface="Segoe UI" pitchFamily="34" charset="0"/>
                          <a:ea typeface="Segoe UI" pitchFamily="34" charset="-122"/>
                          <a:cs typeface="Segoe UI" pitchFamily="34" charset="-120"/>
                        </a:rPr>
                        <a:t>témoin protégé</a:t>
                      </a:r>
                      <a:r>
                        <a:rPr lang="en-US" sz="1100" dirty="0">
                          <a:solidFill>
                            <a:srgbClr val="1B2A3A"/>
                          </a:solidFill>
                          <a:latin typeface="Segoe UI" pitchFamily="34" charset="0"/>
                          <a:ea typeface="Segoe UI" pitchFamily="34" charset="-122"/>
                          <a:cs typeface="Segoe UI" pitchFamily="34" charset="-120"/>
                        </a:rPr>
                        <a:t>, que les scripts de la page ne peuvent pas lire et qui n’est jamais envoyé à un autre site. Aucun jeton n’est remis à l’écran ; la déconnexion est demandée au serveur, qui efface la session.</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RG-ENT-02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Tentatives de connexion limitées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Cinq échecs en quinze minutes verrouillent l’identifiant depuis un même poste ; vingt échecs bloquent le poste. Une connexion réussie remet à zéro le compteur de l’identifiant. Les inscriptions publiques sont limitées à </a:t>
                      </a:r>
                      <a:r>
                        <a:rPr lang="en-US" sz="1100" b="1" dirty="0">
                          <a:solidFill>
                            <a:srgbClr val="1B2A3A"/>
                          </a:solidFill>
                          <a:latin typeface="Segoe UI" pitchFamily="34" charset="0"/>
                          <a:ea typeface="Segoe UI" pitchFamily="34" charset="-122"/>
                          <a:cs typeface="Segoe UI" pitchFamily="34" charset="-120"/>
                        </a:rPr>
                        <a:t>dix par heure</a:t>
                      </a:r>
                      <a:r>
                        <a:rPr lang="en-US" sz="1100" dirty="0">
                          <a:solidFill>
                            <a:srgbClr val="1B2A3A"/>
                          </a:solidFill>
                          <a:latin typeface="Segoe UI" pitchFamily="34" charset="0"/>
                          <a:ea typeface="Segoe UI" pitchFamily="34" charset="-122"/>
                          <a:cs typeface="Segoe UI" pitchFamily="34" charset="-120"/>
                        </a:rPr>
                        <a:t> et par poste.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RG-ENT-03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 mot de passe robuste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Tout nouveau mot de passe compte </a:t>
                      </a:r>
                      <a:r>
                        <a:rPr lang="en-US" sz="1100" b="1" dirty="0">
                          <a:solidFill>
                            <a:srgbClr val="1B2A3A"/>
                          </a:solidFill>
                          <a:latin typeface="Segoe UI" pitchFamily="34" charset="0"/>
                          <a:ea typeface="Segoe UI" pitchFamily="34" charset="-122"/>
                          <a:cs typeface="Segoe UI" pitchFamily="34" charset="-120"/>
                        </a:rPr>
                        <a:t>8 à 72 caractères</a:t>
                      </a:r>
                      <a:r>
                        <a:rPr lang="en-US" sz="1100" dirty="0">
                          <a:solidFill>
                            <a:srgbClr val="1B2A3A"/>
                          </a:solidFill>
                          <a:latin typeface="Segoe UI" pitchFamily="34" charset="0"/>
                          <a:ea typeface="Segoe UI" pitchFamily="34" charset="-122"/>
                          <a:cs typeface="Segoe UI" pitchFamily="34" charset="-120"/>
                        </a:rPr>
                        <a:t>, dont au moins une lettre et un chiffre : à l’inscription, à la création d’un compte, à la réinitialisation et au changement. La règle ne s’applique jamais à la connexion : un ancien mot de passe reste valable jusqu’à son prochain changement.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RG-ENT-04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Chaque tentative est journalisée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Chaque tentative de connexion, réussie ou refusée, est consignée avec l’identifiant tenté ; la déconnexion date la fin de la session. L’Administrateur consulte ce </a:t>
                      </a:r>
                      <a:r>
                        <a:rPr lang="en-US" sz="1100" b="1" dirty="0">
                          <a:solidFill>
                            <a:srgbClr val="1B2A3A"/>
                          </a:solidFill>
                          <a:latin typeface="Segoe UI" pitchFamily="34" charset="0"/>
                          <a:ea typeface="Segoe UI" pitchFamily="34" charset="-122"/>
                          <a:cs typeface="Segoe UI" pitchFamily="34" charset="-120"/>
                        </a:rPr>
                        <a:t>journal des connexions</a:t>
                      </a:r>
                      <a:r>
                        <a:rPr lang="en-US" sz="1100" dirty="0">
                          <a:solidFill>
                            <a:srgbClr val="1B2A3A"/>
                          </a:solidFill>
                          <a:latin typeface="Segoe UI" pitchFamily="34" charset="0"/>
                          <a:ea typeface="Segoe UI" pitchFamily="34" charset="-122"/>
                          <a:cs typeface="Segoe UI" pitchFamily="34" charset="-120"/>
                        </a:rPr>
                        <a:t>. Une panne du journal ne bloque jamais la connexion.</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RG-ENT-26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Une entrée publique par public</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portail public a </a:t>
                      </a:r>
                      <a:r>
                        <a:rPr lang="en-US" sz="1100" b="1" dirty="0">
                          <a:solidFill>
                            <a:srgbClr val="1B2A3A"/>
                          </a:solidFill>
                          <a:latin typeface="Segoe UI" pitchFamily="34" charset="0"/>
                          <a:ea typeface="Segoe UI" pitchFamily="34" charset="-122"/>
                          <a:cs typeface="Segoe UI" pitchFamily="34" charset="-120"/>
                        </a:rPr>
                        <a:t>trois entrées</a:t>
                      </a:r>
                      <a:r>
                        <a:rPr lang="en-US" sz="1100" dirty="0">
                          <a:solidFill>
                            <a:srgbClr val="1B2A3A"/>
                          </a:solidFill>
                          <a:latin typeface="Segoe UI" pitchFamily="34" charset="0"/>
                          <a:ea typeface="Segoe UI" pitchFamily="34" charset="-122"/>
                          <a:cs typeface="Segoe UI" pitchFamily="34" charset="-120"/>
                        </a:rPr>
                        <a:t> : PRMP et UGPM, Commission, entreprises. Hors session, la racine du site y mène ; un utilisateur connecté qui y revient est renvoyé à son accueil. Les entreprises consultent les procédures ouvertes sans compte ; les membres de commission d’appel d’offres n’ont pas d’entrée publique et arrivent par leur invitation.</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Authentification ; CLAUDE.md du front § Backend associé · regles-gestion.md § 3.8 Administrateur, Module 10 (limitation de débit) · regles-gestion.md § 3.8 Administrateur, Module 10 (politique de mot de passe) · regles-gestion.md § 3.8 Administrateur, Module 10 (journal des connexions) · Code du front : app.routes.ts (accueil public) et features/public/accueil-public-libelles.ts</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336</a:t>
            </a:r>
            <a:endParaRPr lang="en-US" sz="1100" dirty="0"/>
          </a:p>
        </p:txBody>
      </p:sp>
    </p:spTree>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name="Slide 33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01 ENTRER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Session et accès (2/2)</a:t>
            </a:r>
            <a:endParaRPr lang="en-US" sz="2600" dirty="0"/>
          </a:p>
        </p:txBody>
      </p:sp>
      <p:graphicFrame>
        <p:nvGraphicFramePr>
          <p:cNvPr id="338"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RG-ENT-27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Changer ou retrouver son mot de passe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Chacun change son mot de passe depuis la barre du haut : l’</a:t>
                      </a:r>
                      <a:r>
                        <a:rPr lang="en-US" sz="1100" b="1" dirty="0">
                          <a:solidFill>
                            <a:srgbClr val="1B2A3A"/>
                          </a:solidFill>
                          <a:latin typeface="Segoe UI" pitchFamily="34" charset="0"/>
                          <a:ea typeface="Segoe UI" pitchFamily="34" charset="-122"/>
                          <a:cs typeface="Segoe UI" pitchFamily="34" charset="-120"/>
                        </a:rPr>
                        <a:t>ancien mot de passe</a:t>
                      </a:r>
                      <a:r>
                        <a:rPr lang="en-US" sz="1100" dirty="0">
                          <a:solidFill>
                            <a:srgbClr val="1B2A3A"/>
                          </a:solidFill>
                          <a:latin typeface="Segoe UI" pitchFamily="34" charset="0"/>
                          <a:ea typeface="Segoe UI" pitchFamily="34" charset="-122"/>
                          <a:cs typeface="Segoe UI" pitchFamily="34" charset="-120"/>
                        </a:rPr>
                        <a:t> est vérifié par le serveur, et le nouveau doit en différer. Un mot de passe oublié ne se réinitialise pas en libre-service : l’utilisateur s’adresse à l’Administrateur, qui le réinitialise.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Code du front : features/auth/mon-compte/changer-mot-de-passe-modal.ts et features/auth/login ; regles-gestion.md § 3.8 Administrateur</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337</a:t>
            </a:r>
            <a:endParaRPr lang="en-US" sz="1100" dirty="0"/>
          </a:p>
        </p:txBody>
      </p:sp>
    </p:spTree>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name="Slide 33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01 ENTRER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Inscription et comptes (1/2)</a:t>
            </a:r>
            <a:endParaRPr lang="en-US" sz="2600" dirty="0"/>
          </a:p>
        </p:txBody>
      </p:sp>
      <p:graphicFrame>
        <p:nvGraphicFramePr>
          <p:cNvPr id="339"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RG-ENT-05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 PRMP s’inscrit elle-même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PRMP renseigne son identité, déclare ses entités contractantes — choisies dans le référentiel ou proposées si absentes — et joint son </a:t>
                      </a:r>
                      <a:r>
                        <a:rPr lang="en-US" sz="1100" b="1" dirty="0">
                          <a:solidFill>
                            <a:srgbClr val="1B2A3A"/>
                          </a:solidFill>
                          <a:latin typeface="Segoe UI" pitchFamily="34" charset="0"/>
                          <a:ea typeface="Segoe UI" pitchFamily="34" charset="-122"/>
                          <a:cs typeface="Segoe UI" pitchFamily="34" charset="-120"/>
                        </a:rPr>
                        <a:t>arrêté de nomination</a:t>
                      </a:r>
                      <a:r>
                        <a:rPr lang="en-US" sz="1100" dirty="0">
                          <a:solidFill>
                            <a:srgbClr val="1B2A3A"/>
                          </a:solidFill>
                          <a:latin typeface="Segoe UI" pitchFamily="34" charset="0"/>
                          <a:ea typeface="Segoe UI" pitchFamily="34" charset="-122"/>
                          <a:cs typeface="Segoe UI" pitchFamily="34" charset="-120"/>
                        </a:rPr>
                        <a:t> et sa CIN, la photo restant facultative. Le compte naît en attente et ne peut pas se connecter.</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RG-ENT-06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L’Administrateur vérifie et décide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Chaque inscription est notifiée aux Administrateurs. L’Administrateur télécharge et </a:t>
                      </a:r>
                      <a:r>
                        <a:rPr lang="en-US" sz="1100" b="1" dirty="0">
                          <a:solidFill>
                            <a:srgbClr val="1B2A3A"/>
                          </a:solidFill>
                          <a:latin typeface="Segoe UI" pitchFamily="34" charset="0"/>
                          <a:ea typeface="Segoe UI" pitchFamily="34" charset="-122"/>
                          <a:cs typeface="Segoe UI" pitchFamily="34" charset="-120"/>
                        </a:rPr>
                        <a:t>vérifie l’arrêté</a:t>
                      </a:r>
                      <a:r>
                        <a:rPr lang="en-US" sz="1100" dirty="0">
                          <a:solidFill>
                            <a:srgbClr val="1B2A3A"/>
                          </a:solidFill>
                          <a:latin typeface="Segoe UI" pitchFamily="34" charset="0"/>
                          <a:ea typeface="Segoe UI" pitchFamily="34" charset="-122"/>
                          <a:cs typeface="Segoe UI" pitchFamily="34" charset="-120"/>
                        </a:rPr>
                        <a:t>, puis valide ou refuse : la vérification n’est jamais automatique. Un refus porte un motif, notifié à la PRMP, et le compte reste non connectable.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RG-ENT-07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Une validation entité par entité</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À la validation, chaque entité disponible est rattachée ; une entité déjà tenue par une autre PRMP active est </a:t>
                      </a:r>
                      <a:r>
                        <a:rPr lang="en-US" sz="1100" b="1" dirty="0">
                          <a:solidFill>
                            <a:srgbClr val="1B2A3A"/>
                          </a:solidFill>
                          <a:latin typeface="Segoe UI" pitchFamily="34" charset="0"/>
                          <a:ea typeface="Segoe UI" pitchFamily="34" charset="-122"/>
                          <a:cs typeface="Segoe UI" pitchFamily="34" charset="-120"/>
                        </a:rPr>
                        <a:t>signalée en conflit</a:t>
                      </a:r>
                      <a:r>
                        <a:rPr lang="en-US" sz="1100" dirty="0">
                          <a:solidFill>
                            <a:srgbClr val="1B2A3A"/>
                          </a:solidFill>
                          <a:latin typeface="Segoe UI" pitchFamily="34" charset="0"/>
                          <a:ea typeface="Segoe UI" pitchFamily="34" charset="-122"/>
                          <a:cs typeface="Segoe UI" pitchFamily="34" charset="-120"/>
                        </a:rPr>
                        <a:t>, sans bloquer. Le compte devient actif dès qu’une entité est rattachée ; sinon il reste en attente.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RG-ENT-08</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Une entité, une seule PRMP</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Une PRMP gère plusieurs entités contractantes, mais chaque entité n’a qu’</a:t>
                      </a:r>
                      <a:r>
                        <a:rPr lang="en-US" sz="1100" b="1" dirty="0">
                          <a:solidFill>
                            <a:srgbClr val="1B2A3A"/>
                          </a:solidFill>
                          <a:latin typeface="Segoe UI" pitchFamily="34" charset="0"/>
                          <a:ea typeface="Segoe UI" pitchFamily="34" charset="-122"/>
                          <a:cs typeface="Segoe UI" pitchFamily="34" charset="-120"/>
                        </a:rPr>
                        <a:t>une seule PRMP active</a:t>
                      </a:r>
                      <a:r>
                        <a:rPr lang="en-US" sz="1100" dirty="0">
                          <a:solidFill>
                            <a:srgbClr val="1B2A3A"/>
                          </a:solidFill>
                          <a:latin typeface="Segoe UI" pitchFamily="34" charset="0"/>
                          <a:ea typeface="Segoe UI" pitchFamily="34" charset="-122"/>
                          <a:cs typeface="Segoe UI" pitchFamily="34" charset="-120"/>
                        </a:rPr>
                        <a:t>. La PRMP n’a pas de localité propre : celle d’un dossier vient de l’entité choisie à la saisie.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RG-ENT-09</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L’UGPM rattachée à sa tutelle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Une UGPM est rattachée à </a:t>
                      </a:r>
                      <a:r>
                        <a:rPr lang="en-US" sz="1100" b="1" dirty="0">
                          <a:solidFill>
                            <a:srgbClr val="1B2A3A"/>
                          </a:solidFill>
                          <a:latin typeface="Segoe UI" pitchFamily="34" charset="0"/>
                          <a:ea typeface="Segoe UI" pitchFamily="34" charset="-122"/>
                          <a:cs typeface="Segoe UI" pitchFamily="34" charset="-120"/>
                        </a:rPr>
                        <a:t>une seule PRMP de tutelle</a:t>
                      </a:r>
                      <a:r>
                        <a:rPr lang="en-US" sz="1100" dirty="0">
                          <a:solidFill>
                            <a:srgbClr val="1B2A3A"/>
                          </a:solidFill>
                          <a:latin typeface="Segoe UI" pitchFamily="34" charset="0"/>
                          <a:ea typeface="Segoe UI" pitchFamily="34" charset="-122"/>
                          <a:cs typeface="Segoe UI" pitchFamily="34" charset="-120"/>
                        </a:rPr>
                        <a:t>. Son compte est créé par sa PRMP depuis son espace (« Créer compte UGPM »), ou par l’Administrateur ; il porte sa CIN, sans arrêté ni entité. Dans tous les cas, il reste </a:t>
                      </a:r>
                      <a:r>
                        <a:rPr lang="en-US" sz="1100" b="1" dirty="0">
                          <a:solidFill>
                            <a:srgbClr val="1B2A3A"/>
                          </a:solidFill>
                          <a:latin typeface="Segoe UI" pitchFamily="34" charset="0"/>
                          <a:ea typeface="Segoe UI" pitchFamily="34" charset="-122"/>
                          <a:cs typeface="Segoe UI" pitchFamily="34" charset="-120"/>
                        </a:rPr>
                        <a:t>en attente</a:t>
                      </a:r>
                      <a:r>
                        <a:rPr lang="en-US" sz="1100" dirty="0">
                          <a:solidFill>
                            <a:srgbClr val="1B2A3A"/>
                          </a:solidFill>
                          <a:latin typeface="Segoe UI" pitchFamily="34" charset="0"/>
                          <a:ea typeface="Segoe UI" pitchFamily="34" charset="-122"/>
                          <a:cs typeface="Segoe UI" pitchFamily="34" charset="-120"/>
                        </a:rPr>
                        <a:t> jusqu’à la validation de l’Administrateur.</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3.1 PRMP · regles-gestion.md § 3.1 PRMP ; écran « Créer compte UGPM » (features/prmp/creer-ugpm)</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338</a:t>
            </a:r>
            <a:endParaRPr lang="en-US" sz="1100" dirty="0"/>
          </a:p>
        </p:txBody>
      </p:sp>
    </p:spTree>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name="Slide 33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01 ENTRER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Inscription et comptes (2/2)</a:t>
            </a:r>
            <a:endParaRPr lang="en-US" sz="2600" dirty="0"/>
          </a:p>
        </p:txBody>
      </p:sp>
      <p:graphicFrame>
        <p:nvGraphicFramePr>
          <p:cNvPr id="340"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RG-ENT-10</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L’UGPM saisit, la PRMP engage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L’UGPM voit tout le périmètre de sa PRMP de tutelle et prépare les dossiers en brouillon. Les actes qui engagent l’entité — </a:t>
                      </a:r>
                      <a:r>
                        <a:rPr lang="en-US" sz="1100" b="1" dirty="0">
                          <a:solidFill>
                            <a:srgbClr val="1B2A3A"/>
                          </a:solidFill>
                          <a:latin typeface="Segoe UI" pitchFamily="34" charset="0"/>
                          <a:ea typeface="Segoe UI" pitchFamily="34" charset="-122"/>
                          <a:cs typeface="Segoe UI" pitchFamily="34" charset="-120"/>
                        </a:rPr>
                        <a:t>soumission</a:t>
                      </a:r>
                      <a:r>
                        <a:rPr lang="en-US" sz="1100" dirty="0">
                          <a:solidFill>
                            <a:srgbClr val="1B2A3A"/>
                          </a:solidFill>
                          <a:latin typeface="Segoe UI" pitchFamily="34" charset="0"/>
                          <a:ea typeface="Segoe UI" pitchFamily="34" charset="-122"/>
                          <a:cs typeface="Segoe UI" pitchFamily="34" charset="-120"/>
                        </a:rPr>
                        <a:t>, resoumission, compléments, retraits — restent à la PRMP seule.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RG-ENT-11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 mandat de trois ans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mandat de la PRMP dure </a:t>
                      </a:r>
                      <a:r>
                        <a:rPr lang="en-US" sz="1100" b="1" dirty="0">
                          <a:solidFill>
                            <a:srgbClr val="1B2A3A"/>
                          </a:solidFill>
                          <a:latin typeface="Segoe UI" pitchFamily="34" charset="0"/>
                          <a:ea typeface="Segoe UI" pitchFamily="34" charset="-122"/>
                          <a:cs typeface="Segoe UI" pitchFamily="34" charset="-120"/>
                        </a:rPr>
                        <a:t>trois ans</a:t>
                      </a:r>
                      <a:r>
                        <a:rPr lang="en-US" sz="1100" dirty="0">
                          <a:solidFill>
                            <a:srgbClr val="1B2A3A"/>
                          </a:solidFill>
                          <a:latin typeface="Segoe UI" pitchFamily="34" charset="0"/>
                          <a:ea typeface="Segoe UI" pitchFamily="34" charset="-122"/>
                          <a:cs typeface="Segoe UI" pitchFamily="34" charset="-120"/>
                        </a:rPr>
                        <a:t>, reconductible une seule fois par un nouvel arrêté. Des alertes partent à J-90, J-30 et J-7 ; à l’échéance le compte est désactivé, et un nouveau mandat en cours le rouvre de lui-même.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3.1 PRMP · regles-gestion.md § 3.1 PRMP (alerte fin de mandat)</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339</a:t>
            </a:r>
            <a:endParaRPr lang="en-US" sz="1100" dirty="0"/>
          </a:p>
        </p:txBody>
      </p:sp>
    </p:spTree>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name="Slide 34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01 ENTRER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Profils et visibilité</a:t>
            </a:r>
            <a:endParaRPr lang="en-US" sz="2600" dirty="0"/>
          </a:p>
        </p:txBody>
      </p:sp>
      <p:graphicFrame>
        <p:nvGraphicFramePr>
          <p:cNvPr id="341"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RG-ENT-12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Président voit tout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Président n’est rattaché à aucune localité : il voit </a:t>
                      </a:r>
                      <a:r>
                        <a:rPr lang="en-US" sz="1100" b="1" dirty="0">
                          <a:solidFill>
                            <a:srgbClr val="1B2A3A"/>
                          </a:solidFill>
                          <a:latin typeface="Segoe UI" pitchFamily="34" charset="0"/>
                          <a:ea typeface="Segoe UI" pitchFamily="34" charset="-122"/>
                          <a:cs typeface="Segoe UI" pitchFamily="34" charset="-120"/>
                        </a:rPr>
                        <a:t>toutes les localités</a:t>
                      </a:r>
                      <a:r>
                        <a:rPr lang="en-US" sz="1100" dirty="0">
                          <a:solidFill>
                            <a:srgbClr val="1B2A3A"/>
                          </a:solidFill>
                          <a:latin typeface="Segoe UI" pitchFamily="34" charset="0"/>
                          <a:ea typeface="Segoe UI" pitchFamily="34" charset="-122"/>
                          <a:cs typeface="Segoe UI" pitchFamily="34" charset="-120"/>
                        </a:rPr>
                        <a:t> et peut exercer les tâches du Secrétaire, du Membre et du Vérificateur.</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RG-ENT-13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contrôleurs bornés à leur localité</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Chef de commission voit </a:t>
                      </a:r>
                      <a:r>
                        <a:rPr lang="en-US" sz="1100" b="1" dirty="0">
                          <a:solidFill>
                            <a:srgbClr val="1B2A3A"/>
                          </a:solidFill>
                          <a:latin typeface="Segoe UI" pitchFamily="34" charset="0"/>
                          <a:ea typeface="Segoe UI" pitchFamily="34" charset="-122"/>
                          <a:cs typeface="Segoe UI" pitchFamily="34" charset="-120"/>
                        </a:rPr>
                        <a:t>uniquement sa localité</a:t>
                      </a:r>
                      <a:r>
                        <a:rPr lang="en-US" sz="1100" dirty="0">
                          <a:solidFill>
                            <a:srgbClr val="1B2A3A"/>
                          </a:solidFill>
                          <a:latin typeface="Segoe UI" pitchFamily="34" charset="0"/>
                          <a:ea typeface="Segoe UI" pitchFamily="34" charset="-122"/>
                          <a:cs typeface="Segoe UI" pitchFamily="34" charset="-120"/>
                        </a:rPr>
                        <a:t>, avec son Secrétaire et ses Membres ; il peut exercer leurs tâches et celles du Vérificateur. Secrétaire, Membre, Vérificateur et Assistant relèvent de la même localité.</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RG-ENT-14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 PRMP voit ses seuls dossiers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PRMP, acteur externe, n’est pas bornée par une localité : elle ne voit que </a:t>
                      </a:r>
                      <a:r>
                        <a:rPr lang="en-US" sz="1100" b="1" dirty="0">
                          <a:solidFill>
                            <a:srgbClr val="1B2A3A"/>
                          </a:solidFill>
                          <a:latin typeface="Segoe UI" pitchFamily="34" charset="0"/>
                          <a:ea typeface="Segoe UI" pitchFamily="34" charset="-122"/>
                          <a:cs typeface="Segoe UI" pitchFamily="34" charset="-120"/>
                        </a:rPr>
                        <a:t>ses propres dossiers</a:t>
                      </a:r>
                      <a:r>
                        <a:rPr lang="en-US" sz="1100" dirty="0">
                          <a:solidFill>
                            <a:srgbClr val="1B2A3A"/>
                          </a:solidFill>
                          <a:latin typeface="Segoe UI" pitchFamily="34" charset="0"/>
                          <a:ea typeface="Segoe UI" pitchFamily="34" charset="-122"/>
                          <a:cs typeface="Segoe UI" pitchFamily="34" charset="-120"/>
                        </a:rPr>
                        <a:t>, ceux dont elle est propriétaire.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RG-ENT-15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 rattachement cible, sans verrouiller</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Chaque Membre peut désigner son Vérificateur, et chaque Vérificateur son Assistant. Ce lien décide </a:t>
                      </a:r>
                      <a:r>
                        <a:rPr lang="en-US" sz="1100" b="1" dirty="0">
                          <a:solidFill>
                            <a:srgbClr val="1B2A3A"/>
                          </a:solidFill>
                          <a:latin typeface="Segoe UI" pitchFamily="34" charset="0"/>
                          <a:ea typeface="Segoe UI" pitchFamily="34" charset="-122"/>
                          <a:cs typeface="Segoe UI" pitchFamily="34" charset="-120"/>
                        </a:rPr>
                        <a:t>qui est notifié</a:t>
                      </a:r>
                      <a:r>
                        <a:rPr lang="en-US" sz="1100" dirty="0">
                          <a:solidFill>
                            <a:srgbClr val="1B2A3A"/>
                          </a:solidFill>
                          <a:latin typeface="Segoe UI" pitchFamily="34" charset="0"/>
                          <a:ea typeface="Segoe UI" pitchFamily="34" charset="-122"/>
                          <a:cs typeface="Segoe UI" pitchFamily="34" charset="-120"/>
                        </a:rPr>
                        <a:t> et quel dossier paraît « le mien », jamais qui peut agir. Sans rattachement, tous les porteurs du rôle dans la localité sont avisés.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1. Hiérarchie des contrôleurs et visibilité</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340</a:t>
            </a:r>
            <a:endParaRPr lang="en-US" sz="1100" dirty="0"/>
          </a:p>
        </p:txBody>
      </p:sp>
    </p:spTree>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name="Slide 34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01 ENTRER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L’accueil « À faire »</a:t>
            </a:r>
            <a:endParaRPr lang="en-US" sz="2600" dirty="0"/>
          </a:p>
        </p:txBody>
      </p:sp>
      <p:graphicFrame>
        <p:nvGraphicFramePr>
          <p:cNvPr id="342"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RG-ENT-16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gestes qui vous attendent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Chaque profil du circuit arrive sur « À faire » : les gestes qui l’attendent, regroupés par section, </a:t>
                      </a:r>
                      <a:r>
                        <a:rPr lang="en-US" sz="1100" b="1" dirty="0">
                          <a:solidFill>
                            <a:srgbClr val="1B2A3A"/>
                          </a:solidFill>
                          <a:latin typeface="Segoe UI" pitchFamily="34" charset="0"/>
                          <a:ea typeface="Segoe UI" pitchFamily="34" charset="-122"/>
                          <a:cs typeface="Segoe UI" pitchFamily="34" charset="-120"/>
                        </a:rPr>
                        <a:t>triés par urgence</a:t>
                      </a:r>
                      <a:r>
                        <a:rPr lang="en-US" sz="1100" dirty="0">
                          <a:solidFill>
                            <a:srgbClr val="1B2A3A"/>
                          </a:solidFill>
                          <a:latin typeface="Segoe UI" pitchFamily="34" charset="0"/>
                          <a:ea typeface="Segoe UI" pitchFamily="34" charset="-122"/>
                          <a:cs typeface="Segoe UI" pitchFamily="34" charset="-120"/>
                        </a:rPr>
                        <a:t>, un geste principal par ligne avec son délai en heures ouvrées. L’Administrateur et le Chargé de publication gardent leur propre accueil.</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RG-ENT-17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 geste proposé est permis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Aucune règle du circuit n’est réécrite pour l’accueil : un geste n’est proposé que si le serveur </a:t>
                      </a:r>
                      <a:r>
                        <a:rPr lang="en-US" sz="1100" b="1" dirty="0">
                          <a:solidFill>
                            <a:srgbClr val="1B2A3A"/>
                          </a:solidFill>
                          <a:latin typeface="Segoe UI" pitchFamily="34" charset="0"/>
                          <a:ea typeface="Segoe UI" pitchFamily="34" charset="-122"/>
                          <a:cs typeface="Segoe UI" pitchFamily="34" charset="-120"/>
                        </a:rPr>
                        <a:t>l’accepterait</a:t>
                      </a:r>
                      <a:r>
                        <a:rPr lang="en-US" sz="1100" dirty="0">
                          <a:solidFill>
                            <a:srgbClr val="1B2A3A"/>
                          </a:solidFill>
                          <a:latin typeface="Segoe UI" pitchFamily="34" charset="0"/>
                          <a:ea typeface="Segoe UI" pitchFamily="34" charset="-122"/>
                          <a:cs typeface="Segoe UI" pitchFamily="34" charset="-120"/>
                        </a:rPr>
                        <a:t> à l’exécution. La page d’un dossier rejoue le même calcul, dossier par dossier.</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RG-ENT-18</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délégations à part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Les gestes faisables par délégation, intérim, collègue ou suppléance sont </a:t>
                      </a:r>
                      <a:r>
                        <a:rPr lang="en-US" sz="1100" b="1" dirty="0">
                          <a:solidFill>
                            <a:srgbClr val="1B2A3A"/>
                          </a:solidFill>
                          <a:latin typeface="Segoe UI" pitchFamily="34" charset="0"/>
                          <a:ea typeface="Segoe UI" pitchFamily="34" charset="-122"/>
                          <a:cs typeface="Segoe UI" pitchFamily="34" charset="-120"/>
                        </a:rPr>
                        <a:t>repliés</a:t>
                      </a:r>
                      <a:r>
                        <a:rPr lang="en-US" sz="1100" dirty="0">
                          <a:solidFill>
                            <a:srgbClr val="1B2A3A"/>
                          </a:solidFill>
                          <a:latin typeface="Segoe UI" pitchFamily="34" charset="0"/>
                          <a:ea typeface="Segoe UI" pitchFamily="34" charset="-122"/>
                          <a:cs typeface="Segoe UI" pitchFamily="34" charset="-120"/>
                        </a:rPr>
                        <a:t> dans un bloc séparé et ne comptent ni dans les compteurs ni dans le badge. Sans ce repli, le Président verrait toutes les réceptions et vérifications du pays.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RG-ENT-19</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Une urgence mesurée, jamais inventée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Délai dépassé : </a:t>
                      </a:r>
                      <a:r>
                        <a:rPr lang="en-US" sz="1100" b="1" dirty="0">
                          <a:solidFill>
                            <a:srgbClr val="1B2A3A"/>
                          </a:solidFill>
                          <a:latin typeface="Segoe UI" pitchFamily="34" charset="0"/>
                          <a:ea typeface="Segoe UI" pitchFamily="34" charset="-122"/>
                          <a:cs typeface="Segoe UI" pitchFamily="34" charset="-120"/>
                        </a:rPr>
                        <a:t>en retard</a:t>
                      </a:r>
                      <a:r>
                        <a:rPr lang="en-US" sz="1100" dirty="0">
                          <a:solidFill>
                            <a:srgbClr val="1B2A3A"/>
                          </a:solidFill>
                          <a:latin typeface="Segoe UI" pitchFamily="34" charset="0"/>
                          <a:ea typeface="Segoe UI" pitchFamily="34" charset="-122"/>
                          <a:cs typeface="Segoe UI" pitchFamily="34" charset="-120"/>
                        </a:rPr>
                        <a:t>. Reste inférieur ou égal à deux heures ou à 35 % du délai standard : bientôt à échéance. Au-delà : dans les délais. Un dossier sans entrée connue reste « sans délai » ; les brouillons de la PRMP sont « hors délai CNM » et ses attentes « en pause ».</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RG-ENT-20</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Rien d’interne pour la PRMP</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PRMP et l’UGPM voient leurs brouillons, les pièces à compléter, les rectifications et le suivi de leurs dossiers, mais </a:t>
                      </a:r>
                      <a:r>
                        <a:rPr lang="en-US" sz="1100" b="1" dirty="0">
                          <a:solidFill>
                            <a:srgbClr val="1B2A3A"/>
                          </a:solidFill>
                          <a:latin typeface="Segoe UI" pitchFamily="34" charset="0"/>
                          <a:ea typeface="Segoe UI" pitchFamily="34" charset="-122"/>
                          <a:cs typeface="Segoe UI" pitchFamily="34" charset="-120"/>
                        </a:rPr>
                        <a:t>rien d’interne</a:t>
                      </a:r>
                      <a:r>
                        <a:rPr lang="en-US" sz="1100" dirty="0">
                          <a:solidFill>
                            <a:srgbClr val="1B2A3A"/>
                          </a:solidFill>
                          <a:latin typeface="Segoe UI" pitchFamily="34" charset="0"/>
                          <a:ea typeface="Segoe UI" pitchFamily="34" charset="-122"/>
                          <a:cs typeface="Segoe UI" pitchFamily="34" charset="-120"/>
                        </a:rPr>
                        <a:t> à la CNM : ni acteurs, ni consignes de dispatch, ni étapes de navette.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Accueil « À faire » (transversal) · regles-gestion.md § Accueil « À faire » (urgence et seuils) · regles-gestion.md § Accueil « À faire » (règle C2)</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341</a:t>
            </a:r>
            <a:endParaRPr lang="en-US" sz="1100" dirty="0"/>
          </a:p>
        </p:txBody>
      </p:sp>
    </p:spTree>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name="Slide 34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01 ENTRER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Actualités, notifications et assistant</a:t>
            </a:r>
            <a:endParaRPr lang="en-US" sz="2600" dirty="0"/>
          </a:p>
        </p:txBody>
      </p:sp>
      <p:graphicFrame>
        <p:nvGraphicFramePr>
          <p:cNvPr id="343"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RG-ENT-21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Une actualité à l’ouverture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À chaque ouverture de session, une fenêtre présente les actualités </a:t>
                      </a:r>
                      <a:r>
                        <a:rPr lang="en-US" sz="1100" b="1" dirty="0">
                          <a:solidFill>
                            <a:srgbClr val="1B2A3A"/>
                          </a:solidFill>
                          <a:latin typeface="Segoe UI" pitchFamily="34" charset="0"/>
                          <a:ea typeface="Segoe UI" pitchFamily="34" charset="-122"/>
                          <a:cs typeface="Segoe UI" pitchFamily="34" charset="-120"/>
                        </a:rPr>
                        <a:t>ciblées sur le profil</a:t>
                      </a:r>
                      <a:r>
                        <a:rPr lang="en-US" sz="1100" dirty="0">
                          <a:solidFill>
                            <a:srgbClr val="1B2A3A"/>
                          </a:solidFill>
                          <a:latin typeface="Segoe UI" pitchFamily="34" charset="0"/>
                          <a:ea typeface="Segoe UI" pitchFamily="34" charset="-122"/>
                          <a:cs typeface="Segoe UI" pitchFamily="34" charset="-120"/>
                        </a:rPr>
                        <a:t>, actives et dans leur période de publication. L’Administrateur les rédige sans intervention technique : texte sans balise HTML, images JPEG de 10 Mo au plus ; une actualité expirée s’archive d’elle-même.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RG-ENT-22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Une notification à chaque transmission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Chaque transmission avise le ou les responsables de l’</a:t>
                      </a:r>
                      <a:r>
                        <a:rPr lang="en-US" sz="1100" b="1" dirty="0">
                          <a:solidFill>
                            <a:srgbClr val="1B2A3A"/>
                          </a:solidFill>
                          <a:latin typeface="Segoe UI" pitchFamily="34" charset="0"/>
                          <a:ea typeface="Segoe UI" pitchFamily="34" charset="-122"/>
                          <a:cs typeface="Segoe UI" pitchFamily="34" charset="-120"/>
                        </a:rPr>
                        <a:t>étape suivante</a:t>
                      </a:r>
                      <a:r>
                        <a:rPr lang="en-US" sz="1100" dirty="0">
                          <a:solidFill>
                            <a:srgbClr val="1B2A3A"/>
                          </a:solidFill>
                          <a:latin typeface="Segoe UI" pitchFamily="34" charset="0"/>
                          <a:ea typeface="Segoe UI" pitchFamily="34" charset="-122"/>
                          <a:cs typeface="Segoe UI" pitchFamily="34" charset="-120"/>
                        </a:rPr>
                        <a:t>, dans le même mouvement que l’événement. Le destinataire se déduit du rôle et de la localité du dossier, ou de l’assignation. Un rattachement manquant ne fait jamais disparaître une notification.</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RG-ENT-23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Chacun ne lit que les siennes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Chaque utilisateur ne consulte que </a:t>
                      </a:r>
                      <a:r>
                        <a:rPr lang="en-US" sz="1100" b="1" dirty="0">
                          <a:solidFill>
                            <a:srgbClr val="1B2A3A"/>
                          </a:solidFill>
                          <a:latin typeface="Segoe UI" pitchFamily="34" charset="0"/>
                          <a:ea typeface="Segoe UI" pitchFamily="34" charset="-122"/>
                          <a:cs typeface="Segoe UI" pitchFamily="34" charset="-120"/>
                        </a:rPr>
                        <a:t>ses notifications</a:t>
                      </a:r>
                      <a:r>
                        <a:rPr lang="en-US" sz="1100" dirty="0">
                          <a:solidFill>
                            <a:srgbClr val="1B2A3A"/>
                          </a:solidFill>
                          <a:latin typeface="Segoe UI" pitchFamily="34" charset="0"/>
                          <a:ea typeface="Segoe UI" pitchFamily="34" charset="-122"/>
                          <a:cs typeface="Segoe UI" pitchFamily="34" charset="-120"/>
                        </a:rPr>
                        <a:t>, les marque lues ou non lues. Le compteur de la cloche est calculé par le serveur et suivi en temps réel, avec un repli toutes les 60 secondes. La liste globale est réservée à l’Administrateur.</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RG-ENT-24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L’assistant IA cite, il ne décide pas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Ouvert aux dix profils, l’assistant répond sur les règles du contrôle et sur PRS à partir du </a:t>
                      </a:r>
                      <a:r>
                        <a:rPr lang="en-US" sz="1100" b="1" dirty="0">
                          <a:solidFill>
                            <a:srgbClr val="1B2A3A"/>
                          </a:solidFill>
                          <a:latin typeface="Segoe UI" pitchFamily="34" charset="0"/>
                          <a:ea typeface="Segoe UI" pitchFamily="34" charset="-122"/>
                          <a:cs typeface="Segoe UI" pitchFamily="34" charset="-120"/>
                        </a:rPr>
                        <a:t>manuel de contrôle</a:t>
                      </a:r>
                      <a:r>
                        <a:rPr lang="en-US" sz="1100" dirty="0">
                          <a:solidFill>
                            <a:srgbClr val="1B2A3A"/>
                          </a:solidFill>
                          <a:latin typeface="Segoe UI" pitchFamily="34" charset="0"/>
                          <a:ea typeface="Segoe UI" pitchFamily="34" charset="-122"/>
                          <a:cs typeface="Segoe UI" pitchFamily="34" charset="-120"/>
                        </a:rPr>
                        <a:t> et des règles de gestion, en citant ses extraits. Il ne donne aucun avis sur un dossier réel ; sans passage pertinent, il le dit.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RG-ENT-25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 assistant local et tracé</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modèle tourne sur les serveurs de la CNM : aucune question ne sort du réseau. L’assistant est </a:t>
                      </a:r>
                      <a:r>
                        <a:rPr lang="en-US" sz="1100" b="1" dirty="0">
                          <a:solidFill>
                            <a:srgbClr val="1B2A3A"/>
                          </a:solidFill>
                          <a:latin typeface="Segoe UI" pitchFamily="34" charset="0"/>
                          <a:ea typeface="Segoe UI" pitchFamily="34" charset="-122"/>
                          <a:cs typeface="Segoe UI" pitchFamily="34" charset="-120"/>
                        </a:rPr>
                        <a:t>désactivé par défaut</a:t>
                      </a:r>
                      <a:r>
                        <a:rPr lang="en-US" sz="1100" dirty="0">
                          <a:solidFill>
                            <a:srgbClr val="1B2A3A"/>
                          </a:solidFill>
                          <a:latin typeface="Segoe UI" pitchFamily="34" charset="0"/>
                          <a:ea typeface="Segoe UI" pitchFamily="34" charset="-122"/>
                          <a:cs typeface="Segoe UI" pitchFamily="34" charset="-120"/>
                        </a:rPr>
                        <a:t> et masqué tant qu’il l’est ; chaque échange est journalisé avec sa question, sa réponse et ses sources.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Actualités à l’ouverture de session (transversal) · regles-gestion.md § Notifications (transversal au circuit) · regles-gestion.md § Assistant IA (transversal)</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342</a:t>
            </a:r>
            <a:endParaRPr lang="en-US" sz="1100" dirty="0"/>
          </a:p>
        </p:txBody>
      </p:sp>
    </p:spTree>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p:cSld name="Slide 34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02 PLANIFIER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plan et ses lignes (1/2)</a:t>
            </a:r>
            <a:endParaRPr lang="en-US" sz="2600" dirty="0"/>
          </a:p>
        </p:txBody>
      </p:sp>
      <p:graphicFrame>
        <p:nvGraphicFramePr>
          <p:cNvPr id="344"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RG-PLA-01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Trois familles de dossier à la création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 dossier se crée dans une famille : </a:t>
                      </a:r>
                      <a:r>
                        <a:rPr lang="en-US" sz="1100" b="1" dirty="0">
                          <a:solidFill>
                            <a:srgbClr val="1B2A3A"/>
                          </a:solidFill>
                          <a:latin typeface="Segoe UI" pitchFamily="34" charset="0"/>
                          <a:ea typeface="Segoe UI" pitchFamily="34" charset="-122"/>
                          <a:cs typeface="Segoe UI" pitchFamily="34" charset="-120"/>
                        </a:rPr>
                        <a:t>planification</a:t>
                      </a:r>
                      <a:r>
                        <a:rPr lang="en-US" sz="1100" dirty="0">
                          <a:solidFill>
                            <a:srgbClr val="1B2A3A"/>
                          </a:solidFill>
                          <a:latin typeface="Segoe UI" pitchFamily="34" charset="0"/>
                          <a:ea typeface="Segoe UI" pitchFamily="34" charset="-122"/>
                          <a:cs typeface="Segoe UI" pitchFamily="34" charset="-120"/>
                        </a:rPr>
                        <a:t>, mise en concurrence ou marché. Pour la planification, le sous-type — PPM ou PPM-AGPM — est déduit par le serveur ; pour les deux autres, il est choisi parmi les sous-types du manuel de contrôle. Les actes de gestion contractuelle (avenant, résiliation…) ne se créent pas ici : ils se déposent depuis le marché qu’ils concernent.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RG-PLA-02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Saisir, c’est créer le brouillon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saisie crée le dossier au statut </a:t>
                      </a:r>
                      <a:r>
                        <a:rPr lang="en-US" sz="1100" b="1" dirty="0">
                          <a:solidFill>
                            <a:srgbClr val="1B2A3A"/>
                          </a:solidFill>
                          <a:latin typeface="Segoe UI" pitchFamily="34" charset="0"/>
                          <a:ea typeface="Segoe UI" pitchFamily="34" charset="-122"/>
                          <a:cs typeface="Segoe UI" pitchFamily="34" charset="-120"/>
                        </a:rPr>
                        <a:t>brouillon</a:t>
                      </a:r>
                      <a:r>
                        <a:rPr lang="en-US" sz="1100" dirty="0">
                          <a:solidFill>
                            <a:srgbClr val="1B2A3A"/>
                          </a:solidFill>
                          <a:latin typeface="Segoe UI" pitchFamily="34" charset="0"/>
                          <a:ea typeface="Segoe UI" pitchFamily="34" charset="-122"/>
                          <a:cs typeface="Segoe UI" pitchFamily="34" charset="-120"/>
                        </a:rPr>
                        <a:t>, propriété de la PRMP, et son contenu en une seule opération. La PRMP choisit l’entité parmi ses entités actives, et cette entité fixe la localité du dossier. Les identifiants sont attribués par le serveur.</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RG-PLA-03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 mode de passation saisi</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mode de passation est </a:t>
                      </a:r>
                      <a:r>
                        <a:rPr lang="en-US" sz="1100" b="1" dirty="0">
                          <a:solidFill>
                            <a:srgbClr val="1B2A3A"/>
                          </a:solidFill>
                          <a:latin typeface="Segoe UI" pitchFamily="34" charset="0"/>
                          <a:ea typeface="Segoe UI" pitchFamily="34" charset="-122"/>
                          <a:cs typeface="Segoe UI" pitchFamily="34" charset="-120"/>
                        </a:rPr>
                        <a:t>purement saisi</a:t>
                      </a:r>
                      <a:r>
                        <a:rPr lang="en-US" sz="1100" dirty="0">
                          <a:solidFill>
                            <a:srgbClr val="1B2A3A"/>
                          </a:solidFill>
                          <a:latin typeface="Segoe UI" pitchFamily="34" charset="0"/>
                          <a:ea typeface="Segoe UI" pitchFamily="34" charset="-122"/>
                          <a:cs typeface="Segoe UI" pitchFamily="34" charset="-120"/>
                        </a:rPr>
                        <a:t> par la PRMP ou repris de l’import, et conservé tel quel : aucune détermination automatique, aucun refus par seuil. Les montants des lignes sont saisis hors taxes.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RG-PLA-04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Tout appel d’offres appelle l’AGPM</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 plan comptant un marché en </a:t>
                      </a:r>
                      <a:r>
                        <a:rPr lang="en-US" sz="1100" b="1" dirty="0">
                          <a:solidFill>
                            <a:srgbClr val="1B2A3A"/>
                          </a:solidFill>
                          <a:latin typeface="Segoe UI" pitchFamily="34" charset="0"/>
                          <a:ea typeface="Segoe UI" pitchFamily="34" charset="-122"/>
                          <a:cs typeface="Segoe UI" pitchFamily="34" charset="-120"/>
                        </a:rPr>
                        <a:t>appel d’offres</a:t>
                      </a:r>
                      <a:r>
                        <a:rPr lang="en-US" sz="1100" dirty="0">
                          <a:solidFill>
                            <a:srgbClr val="1B2A3A"/>
                          </a:solidFill>
                          <a:latin typeface="Segoe UI" pitchFamily="34" charset="0"/>
                          <a:ea typeface="Segoe UI" pitchFamily="34" charset="-122"/>
                          <a:cs typeface="Segoe UI" pitchFamily="34" charset="-120"/>
                        </a:rPr>
                        <a:t>, quelle qu’en soit la variante, devient PPM-AGPM. L’appel à manifestation d’intérêt ne le déclenche qu’au-delà d’un seuil administrable, apprécié marché par marché. La référence du dossier suit le sous-type.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RG-PLA-05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bénéficiaires couvrent la ligne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somme des montants par service bénéficiaire doit égaler le </a:t>
                      </a:r>
                      <a:r>
                        <a:rPr lang="en-US" sz="1100" b="1" dirty="0">
                          <a:solidFill>
                            <a:srgbClr val="1B2A3A"/>
                          </a:solidFill>
                          <a:latin typeface="Segoe UI" pitchFamily="34" charset="0"/>
                          <a:ea typeface="Segoe UI" pitchFamily="34" charset="-122"/>
                          <a:cs typeface="Segoe UI" pitchFamily="34" charset="-120"/>
                        </a:rPr>
                        <a:t>montant du marché</a:t>
                      </a:r>
                      <a:r>
                        <a:rPr lang="en-US" sz="1100" dirty="0">
                          <a:solidFill>
                            <a:srgbClr val="1B2A3A"/>
                          </a:solidFill>
                          <a:latin typeface="Segoe UI" pitchFamily="34" charset="0"/>
                          <a:ea typeface="Segoe UI" pitchFamily="34" charset="-122"/>
                          <a:cs typeface="Segoe UI" pitchFamily="34" charset="-120"/>
                        </a:rPr>
                        <a:t>. La règle est vérifiée à chaque enregistrement de la grille ; un import la signale sans rejeter, et ne complète seul qu’une ligne à un unique bénéficiaire.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3.1 PRMP ; § Le dossier soumis (tranches M1 et M5a, 08-09/10) · regles-gestion.md § 3.1 PRMP (saisies) · regles-gestion.md § Référentiel des seuils de marchés publics · regles-gestion.md § 3.1 PRMP</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343</a:t>
            </a:r>
            <a:endParaRPr lang="en-US" sz="1100" dirty="0"/>
          </a:p>
        </p:txBody>
      </p:sp>
    </p:spTree>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name="Slide 34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02 PLANIFIER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plan et ses lignes (2/2)</a:t>
            </a:r>
            <a:endParaRPr lang="en-US" sz="2600" dirty="0"/>
          </a:p>
        </p:txBody>
      </p:sp>
      <p:graphicFrame>
        <p:nvGraphicFramePr>
          <p:cNvPr id="345"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RG-PLA-06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justifications de la fiche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 marché en </a:t>
                      </a:r>
                      <a:r>
                        <a:rPr lang="en-US" sz="1100" b="1" dirty="0">
                          <a:solidFill>
                            <a:srgbClr val="1B2A3A"/>
                          </a:solidFill>
                          <a:latin typeface="Segoe UI" pitchFamily="34" charset="0"/>
                          <a:ea typeface="Segoe UI" pitchFamily="34" charset="-122"/>
                          <a:cs typeface="Segoe UI" pitchFamily="34" charset="-120"/>
                        </a:rPr>
                        <a:t>mode dérogatoire</a:t>
                      </a:r>
                      <a:r>
                        <a:rPr lang="en-US" sz="1100" dirty="0">
                          <a:solidFill>
                            <a:srgbClr val="1B2A3A"/>
                          </a:solidFill>
                          <a:latin typeface="Segoe UI" pitchFamily="34" charset="0"/>
                          <a:ea typeface="Segoe UI" pitchFamily="34" charset="-122"/>
                          <a:cs typeface="Segoe UI" pitchFamily="34" charset="-120"/>
                        </a:rPr>
                        <a:t> ou à délai aménagé porte sa justification ; une justification globale couvre en outre les contrats-cadres. Elles sont exigées à la saisie et à la soumission, et le serveur reclasse lui-même les marchés concernés.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RG-PLA-26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statut de la ligne suit le fait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statut d’une ligne vient d’un référentiel tenu par l’Administrateur ; « Prévu » est la valeur par défaut et ne peut être supprimé. L’ouverture de la mise en concurrence pose d’elle-même « </a:t>
                      </a:r>
                      <a:r>
                        <a:rPr lang="en-US" sz="1100" b="1" dirty="0">
                          <a:solidFill>
                            <a:srgbClr val="1B2A3A"/>
                          </a:solidFill>
                          <a:latin typeface="Segoe UI" pitchFamily="34" charset="0"/>
                          <a:ea typeface="Segoe UI" pitchFamily="34" charset="-122"/>
                          <a:cs typeface="Segoe UI" pitchFamily="34" charset="-120"/>
                        </a:rPr>
                        <a:t>Lancé</a:t>
                      </a:r>
                      <a:r>
                        <a:rPr lang="en-US" sz="1100" dirty="0">
                          <a:solidFill>
                            <a:srgbClr val="1B2A3A"/>
                          </a:solidFill>
                          <a:latin typeface="Segoe UI" pitchFamily="34" charset="0"/>
                          <a:ea typeface="Segoe UI" pitchFamily="34" charset="-122"/>
                          <a:cs typeface="Segoe UI" pitchFamily="34" charset="-120"/>
                        </a:rPr>
                        <a:t> » ; la suppression de la fiche rend « Prévu ». Une ligne lancée ne redevient pas « Prévu » à la main ; « changement de projet » et « déclaré sans suite » restent à la PRMP.</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3.1 PRMP · regles-gestion.md § 3.8 Administrateur (statuts de marché, règle du pilote du 27/09)</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344</a:t>
            </a:r>
            <a:endParaRPr lang="en-US" sz="1100" dirty="0"/>
          </a:p>
        </p:txBody>
      </p:sp>
    </p:spTree>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name="Slide 34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02 PLANIFIER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Calendrier et pièces</a:t>
            </a:r>
            <a:endParaRPr lang="en-US" sz="2600" dirty="0"/>
          </a:p>
        </p:txBody>
      </p:sp>
      <p:graphicFrame>
        <p:nvGraphicFramePr>
          <p:cNvPr id="346"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RG-PLA-07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calendrier prévisionnel du mode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Chaque marché compte </a:t>
                      </a:r>
                      <a:r>
                        <a:rPr lang="en-US" sz="1100" b="1" dirty="0">
                          <a:solidFill>
                            <a:srgbClr val="1B2A3A"/>
                          </a:solidFill>
                          <a:latin typeface="Segoe UI" pitchFamily="34" charset="0"/>
                          <a:ea typeface="Segoe UI" pitchFamily="34" charset="-122"/>
                          <a:cs typeface="Segoe UI" pitchFamily="34" charset="-120"/>
                        </a:rPr>
                        <a:t>au moins une étape</a:t>
                      </a:r>
                      <a:r>
                        <a:rPr lang="en-US" sz="1100" dirty="0">
                          <a:solidFill>
                            <a:srgbClr val="1B2A3A"/>
                          </a:solidFill>
                          <a:latin typeface="Segoe UI" pitchFamily="34" charset="0"/>
                          <a:ea typeface="Segoe UI" pitchFamily="34" charset="-122"/>
                          <a:cs typeface="Segoe UI" pitchFamily="34" charset="-120"/>
                        </a:rPr>
                        <a:t> du calendrier prévisionnel, avec sa date de début ; la date de fin reste facultative. Les étapes proposées sont celles du mode de passation, à défaut celles de son modèle, à défaut les étapes communes.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RG-PLA-08</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Des dates qui s’enchaînent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Une date de fin suit sa date de début, et chaque étape commence </a:t>
                      </a:r>
                      <a:r>
                        <a:rPr lang="en-US" sz="1100" b="1" dirty="0">
                          <a:solidFill>
                            <a:srgbClr val="1B2A3A"/>
                          </a:solidFill>
                          <a:latin typeface="Segoe UI" pitchFamily="34" charset="0"/>
                          <a:ea typeface="Segoe UI" pitchFamily="34" charset="-122"/>
                          <a:cs typeface="Segoe UI" pitchFamily="34" charset="-120"/>
                        </a:rPr>
                        <a:t>après la fin</a:t>
                      </a:r>
                      <a:r>
                        <a:rPr lang="en-US" sz="1100" dirty="0">
                          <a:solidFill>
                            <a:srgbClr val="1B2A3A"/>
                          </a:solidFill>
                          <a:latin typeface="Segoe UI" pitchFamily="34" charset="0"/>
                          <a:ea typeface="Segoe UI" pitchFamily="34" charset="-122"/>
                          <a:cs typeface="Segoe UI" pitchFamily="34" charset="-120"/>
                        </a:rPr>
                        <a:t> de la précédente lorsque celle-ci est connue. Une date de fin absente est ouverte et ne contraint rien.</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RG-PLA-09</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Des pièces contrôlées, selon le sous-type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Les pièces sont des </a:t>
                      </a:r>
                      <a:r>
                        <a:rPr lang="en-US" sz="1100" b="1" dirty="0">
                          <a:solidFill>
                            <a:srgbClr val="1B2A3A"/>
                          </a:solidFill>
                          <a:latin typeface="Segoe UI" pitchFamily="34" charset="0"/>
                          <a:ea typeface="Segoe UI" pitchFamily="34" charset="-122"/>
                          <a:cs typeface="Segoe UI" pitchFamily="34" charset="-120"/>
                        </a:rPr>
                        <a:t>PDF, JPEG ou PNG</a:t>
                      </a:r>
                      <a:r>
                        <a:rPr lang="en-US" sz="1100" dirty="0">
                          <a:solidFill>
                            <a:srgbClr val="1B2A3A"/>
                          </a:solidFill>
                          <a:latin typeface="Segoe UI" pitchFamily="34" charset="0"/>
                          <a:ea typeface="Segoe UI" pitchFamily="34" charset="-122"/>
                          <a:cs typeface="Segoe UI" pitchFamily="34" charset="-120"/>
                        </a:rPr>
                        <a:t>, reconnus à leur contenu. Les plans de passation gardent leur liste ; les autres dossiers suivent désormais la liste </a:t>
                      </a:r>
                      <a:r>
                        <a:rPr lang="en-US" sz="1100" b="1" dirty="0">
                          <a:solidFill>
                            <a:srgbClr val="1B2A3A"/>
                          </a:solidFill>
                          <a:latin typeface="Segoe UI" pitchFamily="34" charset="0"/>
                          <a:ea typeface="Segoe UI" pitchFamily="34" charset="-122"/>
                          <a:cs typeface="Segoe UI" pitchFamily="34" charset="-120"/>
                        </a:rPr>
                        <a:t>propre à leur sous-type</a:t>
                      </a:r>
                      <a:r>
                        <a:rPr lang="en-US" sz="1100" dirty="0">
                          <a:solidFill>
                            <a:srgbClr val="1B2A3A"/>
                          </a:solidFill>
                          <a:latin typeface="Segoe UI" pitchFamily="34" charset="0"/>
                          <a:ea typeface="Segoe UI" pitchFamily="34" charset="-122"/>
                          <a:cs typeface="Segoe UI" pitchFamily="34" charset="-120"/>
                        </a:rPr>
                        <a:t>, tirée du manuel de contrôle, et la soumission est refusée s’il manque une pièce obligatoire. Le dépôt n’est ouvert qu’en brouillon, à la soumission et pendant les attentes de la PRMP.</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RG-PLA-10</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L’import PDF pré-remplit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L’import lit le plan en PDF et propose l’exercice, l’autorité contractante, les lignes, leurs étapes et leurs lots. Il </a:t>
                      </a:r>
                      <a:r>
                        <a:rPr lang="en-US" sz="1100" b="1" dirty="0">
                          <a:solidFill>
                            <a:srgbClr val="1B2A3A"/>
                          </a:solidFill>
                          <a:latin typeface="Segoe UI" pitchFamily="34" charset="0"/>
                          <a:ea typeface="Segoe UI" pitchFamily="34" charset="-122"/>
                          <a:cs typeface="Segoe UI" pitchFamily="34" charset="-120"/>
                        </a:rPr>
                        <a:t>ne crée rien</a:t>
                      </a:r>
                      <a:r>
                        <a:rPr lang="en-US" sz="1100" dirty="0">
                          <a:solidFill>
                            <a:srgbClr val="1B2A3A"/>
                          </a:solidFill>
                          <a:latin typeface="Segoe UI" pitchFamily="34" charset="0"/>
                          <a:ea typeface="Segoe UI" pitchFamily="34" charset="-122"/>
                          <a:cs typeface="Segoe UI" pitchFamily="34" charset="-120"/>
                        </a:rPr>
                        <a:t> : la PRMP vérifie, complète puis crée le dossier. Les incohérences sont signalées, ligne par ligne.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3.1 PRMP (CAPM — processus de marché) · regles-gestion.md § 3.1 PRMP (saisies) · regles-gestion.md § 3.1 PRMP ; § Le dossier soumis (tranche M2, 08/10)</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345</a:t>
            </a:r>
            <a:endParaRPr lang="en-US" sz="1100" dirty="0"/>
          </a:p>
        </p:txBody>
      </p:sp>
    </p:spTree>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name="Slide 34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02 PLANIFIER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pré-contrôle</a:t>
            </a:r>
            <a:endParaRPr lang="en-US" sz="2600" dirty="0"/>
          </a:p>
        </p:txBody>
      </p:sp>
      <p:graphicFrame>
        <p:nvGraphicFramePr>
          <p:cNvPr id="347"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RG-PLA-11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seuils signalent, sans bloquer</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 référentiel des seuils, daté et administrable, compare chaque ligne aux montants </a:t>
                      </a:r>
                      <a:r>
                        <a:rPr lang="en-US" sz="1100" b="1" dirty="0">
                          <a:solidFill>
                            <a:srgbClr val="1B2A3A"/>
                          </a:solidFill>
                          <a:latin typeface="Segoe UI" pitchFamily="34" charset="0"/>
                          <a:ea typeface="Segoe UI" pitchFamily="34" charset="-122"/>
                          <a:cs typeface="Segoe UI" pitchFamily="34" charset="-120"/>
                        </a:rPr>
                        <a:t>hors taxes</a:t>
                      </a:r>
                      <a:r>
                        <a:rPr lang="en-US" sz="1100" dirty="0">
                          <a:solidFill>
                            <a:srgbClr val="1B2A3A"/>
                          </a:solidFill>
                          <a:latin typeface="Segoe UI" pitchFamily="34" charset="0"/>
                          <a:ea typeface="Segoe UI" pitchFamily="34" charset="-122"/>
                          <a:cs typeface="Segoe UI" pitchFamily="34" charset="-120"/>
                        </a:rPr>
                        <a:t> de l’arrêté n° 13 156/2019-MEF : barème central pour la CNM, déconcentré pour une CRM. Un écart produit un signalement écartable ; aucun mode n’est imposé, aucun dossier bloqué.</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RG-PLA-12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référentiel muet se tait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Sans seuil au référentiel, </a:t>
                      </a:r>
                      <a:r>
                        <a:rPr lang="en-US" sz="1100" b="1" dirty="0">
                          <a:solidFill>
                            <a:srgbClr val="1B2A3A"/>
                          </a:solidFill>
                          <a:latin typeface="Segoe UI" pitchFamily="34" charset="0"/>
                          <a:ea typeface="Segoe UI" pitchFamily="34" charset="-122"/>
                          <a:cs typeface="Segoe UI" pitchFamily="34" charset="-120"/>
                        </a:rPr>
                        <a:t>rien n’est signalé</a:t>
                      </a:r>
                      <a:r>
                        <a:rPr lang="en-US" sz="1100" dirty="0">
                          <a:solidFill>
                            <a:srgbClr val="1B2A3A"/>
                          </a:solidFill>
                          <a:latin typeface="Segoe UI" pitchFamily="34" charset="0"/>
                          <a:ea typeface="Segoe UI" pitchFamily="34" charset="-122"/>
                          <a:cs typeface="Segoe UI" pitchFamily="34" charset="-120"/>
                        </a:rPr>
                        <a:t> : aucun montant de repli n’existe. Un mode dérogatoire n’est pas signalé par les seuils, et un mode plus ouvert que nécessaire ne l’est jamais. Une catégorie de seuil n’est demandée que si les catégories plausibles donnent des réponses différentes.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RG-PLA-13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Écarter, avec un motif</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 signalement s’écarte par un </a:t>
                      </a:r>
                      <a:r>
                        <a:rPr lang="en-US" sz="1100" b="1" dirty="0">
                          <a:solidFill>
                            <a:srgbClr val="1B2A3A"/>
                          </a:solidFill>
                          <a:latin typeface="Segoe UI" pitchFamily="34" charset="0"/>
                          <a:ea typeface="Segoe UI" pitchFamily="34" charset="-122"/>
                          <a:cs typeface="Segoe UI" pitchFamily="34" charset="-120"/>
                        </a:rPr>
                        <a:t>motif d’au moins 20 caractères</a:t>
                      </a:r>
                      <a:r>
                        <a:rPr lang="en-US" sz="1100" dirty="0">
                          <a:solidFill>
                            <a:srgbClr val="1B2A3A"/>
                          </a:solidFill>
                          <a:latin typeface="Segoe UI" pitchFamily="34" charset="0"/>
                          <a:ea typeface="Segoe UI" pitchFamily="34" charset="-122"/>
                          <a:cs typeface="Segoe UI" pitchFamily="34" charset="-120"/>
                        </a:rPr>
                        <a:t>, après l’avertissement que le contrôleur le verra. L’auteur est enregistré ; un seul écartement par signalement. Avant la soumission, son auteur peut le reprendre.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RG-PLA-14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Figé à la soumission, jamais effacé</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À la soumission, les règles tournent une dernière fois et les écartements sont </a:t>
                      </a:r>
                      <a:r>
                        <a:rPr lang="en-US" sz="1100" b="1" dirty="0">
                          <a:solidFill>
                            <a:srgbClr val="1B2A3A"/>
                          </a:solidFill>
                          <a:latin typeface="Segoe UI" pitchFamily="34" charset="0"/>
                          <a:ea typeface="Segoe UI" pitchFamily="34" charset="-122"/>
                          <a:cs typeface="Segoe UI" pitchFamily="34" charset="-120"/>
                        </a:rPr>
                        <a:t>figés</a:t>
                      </a:r>
                      <a:r>
                        <a:rPr lang="en-US" sz="1100" dirty="0">
                          <a:solidFill>
                            <a:srgbClr val="1B2A3A"/>
                          </a:solidFill>
                          <a:latin typeface="Segoe UI" pitchFamily="34" charset="0"/>
                          <a:ea typeface="Segoe UI" pitchFamily="34" charset="-122"/>
                          <a:cs typeface="Segoe UI" pitchFamily="34" charset="-120"/>
                        </a:rPr>
                        <a:t>. Un signalement que le plan corrigé ne fait plus ressortir est levé, jamais effacé. Une panne du pré-contrôle n’empêche jamais de soumettre.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RG-PLA-15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Une piste n’est pas un constat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Sur demande explicite, l’assistant propose des </a:t>
                      </a:r>
                      <a:r>
                        <a:rPr lang="en-US" sz="1100" b="1" dirty="0">
                          <a:solidFill>
                            <a:srgbClr val="1B2A3A"/>
                          </a:solidFill>
                          <a:latin typeface="Segoe UI" pitchFamily="34" charset="0"/>
                          <a:ea typeface="Segoe UI" pitchFamily="34" charset="-122"/>
                          <a:cs typeface="Segoe UI" pitchFamily="34" charset="-120"/>
                        </a:rPr>
                        <a:t>pistes</a:t>
                      </a:r>
                      <a:r>
                        <a:rPr lang="en-US" sz="1100" dirty="0">
                          <a:solidFill>
                            <a:srgbClr val="1B2A3A"/>
                          </a:solidFill>
                          <a:latin typeface="Segoe UI" pitchFamily="34" charset="0"/>
                          <a:ea typeface="Segoe UI" pitchFamily="34" charset="-122"/>
                          <a:cs typeface="Segoe UI" pitchFamily="34" charset="-120"/>
                        </a:rPr>
                        <a:t> : fractionnement déguisé, objet imprécis, nature incohérente. Présentées autrement que les constats des règles, elles s’écartent de même et ne touchent jamais aux seuils, montants ni dates.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Référentiel des seuils de marchés publics (pré-contrôle du PPM) · regles-gestion.md § Référentiel des seuils ; § Signalement du pré-contrôle · regles-gestion.md § Signalement du pré-contrôle : écartable, motivé, jamais effacé · regles-gestion.md § Signalement du pré-contrôle (les trois pistes de l’assistant)</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346</a:t>
            </a:r>
            <a:endParaRPr lang="en-US" sz="1100" dirty="0"/>
          </a:p>
        </p:txBody>
      </p:sp>
    </p:spTree>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name="Slide 34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02 PLANIFIER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soumission et le suivi</a:t>
            </a:r>
            <a:endParaRPr lang="en-US" sz="2600" dirty="0"/>
          </a:p>
        </p:txBody>
      </p:sp>
      <p:graphicFrame>
        <p:nvGraphicFramePr>
          <p:cNvPr id="348"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RG-PLA-16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Seule la PRMP soumet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soumission est l’acte de la </a:t>
                      </a:r>
                      <a:r>
                        <a:rPr lang="en-US" sz="1100" b="1" dirty="0">
                          <a:solidFill>
                            <a:srgbClr val="1B2A3A"/>
                          </a:solidFill>
                          <a:latin typeface="Segoe UI" pitchFamily="34" charset="0"/>
                          <a:ea typeface="Segoe UI" pitchFamily="34" charset="-122"/>
                          <a:cs typeface="Segoe UI" pitchFamily="34" charset="-120"/>
                        </a:rPr>
                        <a:t>PRMP seule</a:t>
                      </a:r>
                      <a:r>
                        <a:rPr lang="en-US" sz="1100" dirty="0">
                          <a:solidFill>
                            <a:srgbClr val="1B2A3A"/>
                          </a:solidFill>
                          <a:latin typeface="Segoe UI" pitchFamily="34" charset="0"/>
                          <a:ea typeface="Segoe UI" pitchFamily="34" charset="-122"/>
                          <a:cs typeface="Segoe UI" pitchFamily="34" charset="-120"/>
                        </a:rPr>
                        <a:t> : elle attribue la référence du dossier. Un plan sans aucune ligne de marché est refusé. Sans mandat en cours, toute action est suspendue « en attente de nomination ».</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RG-PLA-17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Seul le brouillon se modifie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 marché ou un plan ne se supprime qu’en </a:t>
                      </a:r>
                      <a:r>
                        <a:rPr lang="en-US" sz="1100" b="1" dirty="0">
                          <a:solidFill>
                            <a:srgbClr val="1B2A3A"/>
                          </a:solidFill>
                          <a:latin typeface="Segoe UI" pitchFamily="34" charset="0"/>
                          <a:ea typeface="Segoe UI" pitchFamily="34" charset="-122"/>
                          <a:cs typeface="Segoe UI" pitchFamily="34" charset="-120"/>
                        </a:rPr>
                        <a:t>brouillon</a:t>
                      </a:r>
                      <a:r>
                        <a:rPr lang="en-US" sz="1100" dirty="0">
                          <a:solidFill>
                            <a:srgbClr val="1B2A3A"/>
                          </a:solidFill>
                          <a:latin typeface="Segoe UI" pitchFamily="34" charset="0"/>
                          <a:ea typeface="Segoe UI" pitchFamily="34" charset="-122"/>
                          <a:cs typeface="Segoe UI" pitchFamily="34" charset="-120"/>
                        </a:rPr>
                        <a:t>, par sa PRMP, avec ses dates prévisionnelles. Après la soumission, le dossier ne se modifie plus, sauf retour officiel des observations ou retrait accepté.</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RG-PLA-18</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Une fin prévue dès le dépôt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Dès la soumission, le dossier porte sa </a:t>
                      </a:r>
                      <a:r>
                        <a:rPr lang="en-US" sz="1100" b="1" dirty="0">
                          <a:solidFill>
                            <a:srgbClr val="1B2A3A"/>
                          </a:solidFill>
                          <a:latin typeface="Segoe UI" pitchFamily="34" charset="0"/>
                          <a:ea typeface="Segoe UI" pitchFamily="34" charset="-122"/>
                          <a:cs typeface="Segoe UI" pitchFamily="34" charset="-120"/>
                        </a:rPr>
                        <a:t>date prévisionnelle de fin</a:t>
                      </a:r>
                      <a:r>
                        <a:rPr lang="en-US" sz="1100" dirty="0">
                          <a:solidFill>
                            <a:srgbClr val="1B2A3A"/>
                          </a:solidFill>
                          <a:latin typeface="Segoe UI" pitchFamily="34" charset="0"/>
                          <a:ea typeface="Segoe UI" pitchFamily="34" charset="-122"/>
                          <a:cs typeface="Segoe UI" pitchFamily="34" charset="-120"/>
                        </a:rPr>
                        <a:t>, calculée en jours ouvrés ; elle glisse tant que la main est à la PRMP. Depuis le 09/10, l’Administrateur peut régler un délai propre à un sous-type pour une étape, et la date annoncée en tient compte. La frise date chacune des sept étapes franchies.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RG-PLA-19</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L’avancement, pas les coulisses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PRMP et l’UGPM suivent l’avancement, pas </a:t>
                      </a:r>
                      <a:r>
                        <a:rPr lang="en-US" sz="1100" b="1" dirty="0">
                          <a:solidFill>
                            <a:srgbClr val="1B2A3A"/>
                          </a:solidFill>
                          <a:latin typeface="Segoe UI" pitchFamily="34" charset="0"/>
                          <a:ea typeface="Segoe UI" pitchFamily="34" charset="-122"/>
                          <a:cs typeface="Segoe UI" pitchFamily="34" charset="-120"/>
                        </a:rPr>
                        <a:t>qui traite</a:t>
                      </a:r>
                      <a:r>
                        <a:rPr lang="en-US" sz="1100" dirty="0">
                          <a:solidFill>
                            <a:srgbClr val="1B2A3A"/>
                          </a:solidFill>
                          <a:latin typeface="Segoe UI" pitchFamily="34" charset="0"/>
                          <a:ea typeface="Segoe UI" pitchFamily="34" charset="-122"/>
                          <a:cs typeface="Segoe UI" pitchFamily="34" charset="-120"/>
                        </a:rPr>
                        <a:t> : ni journal interne, ni acteurs des étapes. Du PV, elles reçoivent l’avis, la synthèse des observations et le document officiel, jamais le détail point par point.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RG-PLA-27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Une synthèse sur demande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Sur la page d’un dossier, « Résumer ce dossier » fait rédiger par l’assistant une synthèse en quatre rubriques : où en est le dossier, ce qui a été demandé à la PRMP, les délais, ce qui reste à faire. Rien ne se déclenche seul ; les </a:t>
                      </a:r>
                      <a:r>
                        <a:rPr lang="en-US" sz="1100" b="1" dirty="0">
                          <a:solidFill>
                            <a:srgbClr val="1B2A3A"/>
                          </a:solidFill>
                          <a:latin typeface="Segoe UI" pitchFamily="34" charset="0"/>
                          <a:ea typeface="Segoe UI" pitchFamily="34" charset="-122"/>
                          <a:cs typeface="Segoe UI" pitchFamily="34" charset="-120"/>
                        </a:rPr>
                        <a:t>faits viennent du serveur</a:t>
                      </a:r>
                      <a:r>
                        <a:rPr lang="en-US" sz="1100" dirty="0">
                          <a:solidFill>
                            <a:srgbClr val="1B2A3A"/>
                          </a:solidFill>
                          <a:latin typeface="Segoe UI" pitchFamily="34" charset="0"/>
                          <a:ea typeface="Segoe UI" pitchFamily="34" charset="-122"/>
                          <a:cs typeface="Segoe UI" pitchFamily="34" charset="-120"/>
                        </a:rPr>
                        <a:t>, la rédaction du modèle, et la synthèse ne remplace ni la lecture des pièces ni l’examen.</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3.1 PRMP · regles-gestion.md § 3.1 PRMP ; § Le dossier soumis (tranche M5b, 09/10) · regles-gestion.md § 3.1 PRMP ; § Accueil « À faire » (règle C2) · Code du front : features/circuit/page-dossier/synthese-dossier.ts (assistant IA, lot 2) ; regles-gestion.md § Assistant IA</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347</a:t>
            </a:r>
            <a:endParaRPr lang="en-US" sz="1100" dirty="0"/>
          </a:p>
        </p:txBody>
      </p:sp>
    </p:spTree>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name="Slide 34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02 PLANIFIER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versions</a:t>
            </a:r>
            <a:endParaRPr lang="en-US" sz="2600" dirty="0"/>
          </a:p>
        </p:txBody>
      </p:sp>
      <p:graphicFrame>
        <p:nvGraphicFramePr>
          <p:cNvPr id="349"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RG-PLA-20</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Une mise à jour, une nouvelle version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Une mise à jour ne modifie jamais le plan en place : elle ouvre un </a:t>
                      </a:r>
                      <a:r>
                        <a:rPr lang="en-US" sz="1100" b="1" dirty="0">
                          <a:solidFill>
                            <a:srgbClr val="1B2A3A"/>
                          </a:solidFill>
                          <a:latin typeface="Segoe UI" pitchFamily="34" charset="0"/>
                          <a:ea typeface="Segoe UI" pitchFamily="34" charset="-122"/>
                          <a:cs typeface="Segoe UI" pitchFamily="34" charset="-120"/>
                        </a:rPr>
                        <a:t>nouveau brouillon</a:t>
                      </a:r>
                      <a:r>
                        <a:rPr lang="en-US" sz="1100" dirty="0">
                          <a:solidFill>
                            <a:srgbClr val="1B2A3A"/>
                          </a:solidFill>
                          <a:latin typeface="Segoe UI" pitchFamily="34" charset="0"/>
                          <a:ea typeface="Segoe UI" pitchFamily="34" charset="-122"/>
                          <a:cs typeface="Segoe UI" pitchFamily="34" charset="-120"/>
                        </a:rPr>
                        <a:t>, copie complète du précédent, avec un motif obligatoire. Elle n’est possible que sur un plan dont la décision est transmise ou le dossier clôturé, et une seule à la fois.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RG-PLA-21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lignes absentes sont supprimées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mise à jour s’importe en PDF : chaque ligne est rapprochée par son contenu. Une ligne absente devient </a:t>
                      </a:r>
                      <a:r>
                        <a:rPr lang="en-US" sz="1100" b="1" dirty="0">
                          <a:solidFill>
                            <a:srgbClr val="1B2A3A"/>
                          </a:solidFill>
                          <a:latin typeface="Segoe UI" pitchFamily="34" charset="0"/>
                          <a:ea typeface="Segoe UI" pitchFamily="34" charset="-122"/>
                          <a:cs typeface="Segoe UI" pitchFamily="34" charset="-120"/>
                        </a:rPr>
                        <a:t>supprimée</a:t>
                      </a:r>
                      <a:r>
                        <a:rPr lang="en-US" sz="1100" dirty="0">
                          <a:solidFill>
                            <a:srgbClr val="1B2A3A"/>
                          </a:solidFill>
                          <a:latin typeface="Segoe UI" pitchFamily="34" charset="0"/>
                          <a:ea typeface="Segoe UI" pitchFamily="34" charset="-122"/>
                          <a:cs typeface="Segoe UI" pitchFamily="34" charset="-120"/>
                        </a:rPr>
                        <a:t>, conservée et restaurable ; une ligne inconnue est créée. L’entité contractante reste celle du plan d’origine.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RG-PLA-22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 bascule à la soumission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version précédente passe « remplacée » à la </a:t>
                      </a:r>
                      <a:r>
                        <a:rPr lang="en-US" sz="1100" b="1" dirty="0">
                          <a:solidFill>
                            <a:srgbClr val="1B2A3A"/>
                          </a:solidFill>
                          <a:latin typeface="Segoe UI" pitchFamily="34" charset="0"/>
                          <a:ea typeface="Segoe UI" pitchFamily="34" charset="-122"/>
                          <a:cs typeface="Segoe UI" pitchFamily="34" charset="-120"/>
                        </a:rPr>
                        <a:t>soumission</a:t>
                      </a:r>
                      <a:r>
                        <a:rPr lang="en-US" sz="1100" dirty="0">
                          <a:solidFill>
                            <a:srgbClr val="1B2A3A"/>
                          </a:solidFill>
                          <a:latin typeface="Segoe UI" pitchFamily="34" charset="0"/>
                          <a:ea typeface="Segoe UI" pitchFamily="34" charset="-122"/>
                          <a:cs typeface="Segoe UI" pitchFamily="34" charset="-120"/>
                        </a:rPr>
                        <a:t> de la nouvelle, pas avant : une mise à jour abandonnée se supprime sans rien neutraliser. L’écart entre versions est alors figé, et l’examen ne porte que sur les lignes changées.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3.1 PRMP (saisies)</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348</a:t>
            </a:r>
            <a:endParaRPr lang="en-US" sz="1100" dirty="0"/>
          </a:p>
        </p:txBody>
      </p:sp>
    </p:spTree>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name="Slide 34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02 PLANIFIER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Retrait et jalons</a:t>
            </a:r>
            <a:endParaRPr lang="en-US" sz="2600" dirty="0"/>
          </a:p>
        </p:txBody>
      </p:sp>
      <p:graphicFrame>
        <p:nvGraphicFramePr>
          <p:cNvPr id="350"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RG-PLA-23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 retrait jusqu’au PV signé</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PRMP demande le retrait avec un motif et sa </a:t>
                      </a:r>
                      <a:r>
                        <a:rPr lang="en-US" sz="1100" b="1" dirty="0">
                          <a:solidFill>
                            <a:srgbClr val="1B2A3A"/>
                          </a:solidFill>
                          <a:latin typeface="Segoe UI" pitchFamily="34" charset="0"/>
                          <a:ea typeface="Segoe UI" pitchFamily="34" charset="-122"/>
                          <a:cs typeface="Segoe UI" pitchFamily="34" charset="-120"/>
                        </a:rPr>
                        <a:t>lettre datée et signée</a:t>
                      </a:r>
                      <a:r>
                        <a:rPr lang="en-US" sz="1100" dirty="0">
                          <a:solidFill>
                            <a:srgbClr val="1B2A3A"/>
                          </a:solidFill>
                          <a:latin typeface="Segoe UI" pitchFamily="34" charset="0"/>
                          <a:ea typeface="Segoe UI" pitchFamily="34" charset="-122"/>
                          <a:cs typeface="Segoe UI" pitchFamily="34" charset="-120"/>
                        </a:rPr>
                        <a:t> (PDF de 10 Mo au plus), tant que le PV n’est pas signé. Une seule demande en attente par dossier ; le Chef de commission ou le Président décide, et la demande devient caduque si le PV est signé entre-temps.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RG-PLA-24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Retrait accepté, retour au brouillon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 retrait accepté remet le dossier en </a:t>
                      </a:r>
                      <a:r>
                        <a:rPr lang="en-US" sz="1100" b="1" dirty="0">
                          <a:solidFill>
                            <a:srgbClr val="1B2A3A"/>
                          </a:solidFill>
                          <a:latin typeface="Segoe UI" pitchFamily="34" charset="0"/>
                          <a:ea typeface="Segoe UI" pitchFamily="34" charset="-122"/>
                          <a:cs typeface="Segoe UI" pitchFamily="34" charset="-120"/>
                        </a:rPr>
                        <a:t>brouillon</a:t>
                      </a:r>
                      <a:r>
                        <a:rPr lang="en-US" sz="1100" dirty="0">
                          <a:solidFill>
                            <a:srgbClr val="1B2A3A"/>
                          </a:solidFill>
                          <a:latin typeface="Segoe UI" pitchFamily="34" charset="0"/>
                          <a:ea typeface="Segoe UI" pitchFamily="34" charset="-122"/>
                          <a:cs typeface="Segoe UI" pitchFamily="34" charset="-120"/>
                        </a:rPr>
                        <a:t> et efface son passage dans le circuit ; le journal et le chronométrage sont conservés. Un refus laisse le dossier inchangé. La PRMP suit le statut de sa demande, sans voir qui l’a tranchée.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RG-PLA-25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Des jalons surveillés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calendrier rapproche, pour chaque processus, la date prévue de la date réelle. À l’écran, un jalon est dit </a:t>
                      </a:r>
                      <a:r>
                        <a:rPr lang="en-US" sz="1100" b="1" dirty="0">
                          <a:solidFill>
                            <a:srgbClr val="1B2A3A"/>
                          </a:solidFill>
                          <a:latin typeface="Segoe UI" pitchFamily="34" charset="0"/>
                          <a:ea typeface="Segoe UI" pitchFamily="34" charset="-122"/>
                          <a:cs typeface="Segoe UI" pitchFamily="34" charset="-120"/>
                        </a:rPr>
                        <a:t>imminent</a:t>
                      </a:r>
                      <a:r>
                        <a:rPr lang="en-US" sz="1100" dirty="0">
                          <a:solidFill>
                            <a:srgbClr val="1B2A3A"/>
                          </a:solidFill>
                          <a:latin typeface="Segoe UI" pitchFamily="34" charset="0"/>
                          <a:ea typeface="Segoe UI" pitchFamily="34" charset="-122"/>
                          <a:cs typeface="Segoe UI" pitchFamily="34" charset="-120"/>
                        </a:rPr>
                        <a:t> dans les jours qui le précèdent (sept par défaut, ou selon la règle d’alerte réglée) et </a:t>
                      </a:r>
                      <a:r>
                        <a:rPr lang="en-US" sz="1100" b="1" dirty="0">
                          <a:solidFill>
                            <a:srgbClr val="1B2A3A"/>
                          </a:solidFill>
                          <a:latin typeface="Segoe UI" pitchFamily="34" charset="0"/>
                          <a:ea typeface="Segoe UI" pitchFamily="34" charset="-122"/>
                          <a:cs typeface="Segoe UI" pitchFamily="34" charset="-120"/>
                        </a:rPr>
                        <a:t>en retard</a:t>
                      </a:r>
                      <a:r>
                        <a:rPr lang="en-US" sz="1100" dirty="0">
                          <a:solidFill>
                            <a:srgbClr val="1B2A3A"/>
                          </a:solidFill>
                          <a:latin typeface="Segoe UI" pitchFamily="34" charset="0"/>
                          <a:ea typeface="Segoe UI" pitchFamily="34" charset="-122"/>
                          <a:cs typeface="Segoe UI" pitchFamily="34" charset="-120"/>
                        </a:rPr>
                        <a:t> une fois la date prévue dépassée sans date réelle. Les notifications, elles, ne partent qu’</a:t>
                      </a:r>
                      <a:r>
                        <a:rPr lang="en-US" sz="1100" b="1" dirty="0">
                          <a:solidFill>
                            <a:srgbClr val="1B2A3A"/>
                          </a:solidFill>
                          <a:latin typeface="Segoe UI" pitchFamily="34" charset="0"/>
                          <a:ea typeface="Segoe UI" pitchFamily="34" charset="-122"/>
                          <a:cs typeface="Segoe UI" pitchFamily="34" charset="-120"/>
                        </a:rPr>
                        <a:t>une fois</a:t>
                      </a:r>
                      <a:r>
                        <a:rPr lang="en-US" sz="1100" dirty="0">
                          <a:solidFill>
                            <a:srgbClr val="1B2A3A"/>
                          </a:solidFill>
                          <a:latin typeface="Segoe UI" pitchFamily="34" charset="0"/>
                          <a:ea typeface="Segoe UI" pitchFamily="34" charset="-122"/>
                          <a:cs typeface="Segoe UI" pitchFamily="34" charset="-120"/>
                        </a:rPr>
                        <a:t> par jalon, à son entrée dans les sept jours qui le précèdent.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3.1 PRMP · regles-gestion.md § 3.1 PRMP, Module 04 (calendrier des jalons) ; code du front features/prmp/calendrier-marches.ts</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349</a:t>
            </a:r>
            <a:endParaRPr lang="en-US" sz="1100" dirty="0"/>
          </a:p>
        </p:txBody>
      </p:sp>
    </p:spTree>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name="Slide 35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03 CONTRÔLER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Recevabilité et réception (1/2)</a:t>
            </a:r>
            <a:endParaRPr lang="en-US" sz="2600" dirty="0"/>
          </a:p>
        </p:txBody>
      </p:sp>
      <p:graphicFrame>
        <p:nvGraphicFramePr>
          <p:cNvPr id="351"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RG-CTL-01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Contrôle pièce par pièce au dépôt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Avant d’enregistrer la réception, le Secrétaire confronte chaque pièce déposée à la liste du type de dossier et la déclare </a:t>
                      </a:r>
                      <a:r>
                        <a:rPr lang="en-US" sz="1100" b="1" dirty="0">
                          <a:solidFill>
                            <a:srgbClr val="1B2A3A"/>
                          </a:solidFill>
                          <a:latin typeface="Segoe UI" pitchFamily="34" charset="0"/>
                          <a:ea typeface="Segoe UI" pitchFamily="34" charset="-122"/>
                          <a:cs typeface="Segoe UI" pitchFamily="34" charset="-120"/>
                        </a:rPr>
                        <a:t>conforme</a:t>
                      </a:r>
                      <a:r>
                        <a:rPr lang="en-US" sz="1100" dirty="0">
                          <a:solidFill>
                            <a:srgbClr val="1B2A3A"/>
                          </a:solidFill>
                          <a:latin typeface="Segoe UI" pitchFamily="34" charset="0"/>
                          <a:ea typeface="Segoe UI" pitchFamily="34" charset="-122"/>
                          <a:cs typeface="Segoe UI" pitchFamily="34" charset="-120"/>
                        </a:rPr>
                        <a:t> ou </a:t>
                      </a:r>
                      <a:r>
                        <a:rPr lang="en-US" sz="1100" b="1" dirty="0">
                          <a:solidFill>
                            <a:srgbClr val="1B2A3A"/>
                          </a:solidFill>
                          <a:latin typeface="Segoe UI" pitchFamily="34" charset="0"/>
                          <a:ea typeface="Segoe UI" pitchFamily="34" charset="-122"/>
                          <a:cs typeface="Segoe UI" pitchFamily="34" charset="-120"/>
                        </a:rPr>
                        <a:t>non conforme</a:t>
                      </a:r>
                      <a:r>
                        <a:rPr lang="en-US" sz="1100" dirty="0">
                          <a:solidFill>
                            <a:srgbClr val="1B2A3A"/>
                          </a:solidFill>
                          <a:latin typeface="Segoe UI" pitchFamily="34" charset="0"/>
                          <a:ea typeface="Segoe UI" pitchFamily="34" charset="-122"/>
                          <a:cs typeface="Segoe UI" pitchFamily="34" charset="-120"/>
                        </a:rPr>
                        <a:t>, avec une observation. Chaque décision est conservée avec son auteur et son heure.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RG-CTL-02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Pas de réception sans pièces obligatoires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réception est refusée tant qu’une pièce </a:t>
                      </a:r>
                      <a:r>
                        <a:rPr lang="en-US" sz="1100" b="1" dirty="0">
                          <a:solidFill>
                            <a:srgbClr val="1B2A3A"/>
                          </a:solidFill>
                          <a:latin typeface="Segoe UI" pitchFamily="34" charset="0"/>
                          <a:ea typeface="Segoe UI" pitchFamily="34" charset="-122"/>
                          <a:cs typeface="Segoe UI" pitchFamily="34" charset="-120"/>
                        </a:rPr>
                        <a:t>obligatoire</a:t>
                      </a:r>
                      <a:r>
                        <a:rPr lang="en-US" sz="1100" dirty="0">
                          <a:solidFill>
                            <a:srgbClr val="1B2A3A"/>
                          </a:solidFill>
                          <a:latin typeface="Segoe UI" pitchFamily="34" charset="0"/>
                          <a:ea typeface="Segoe UI" pitchFamily="34" charset="-122"/>
                          <a:cs typeface="Segoe UI" pitchFamily="34" charset="-120"/>
                        </a:rPr>
                        <a:t> n’a pas pour dernière décision « conforme » ; le message nomme les pièces en cause.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RG-CTL-03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Signalement des pièces manquantes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Secrétaire signale les pièces en défaut : la PRMP est notifiée et le dossier attend ses compléments. À la reprise, les pièces déjà conformes restent acquises ; seules les pièces en défaut sont revérifiées.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RG-CTL-04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Référence officielle donnée à la réception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réception donne au dossier sa </a:t>
                      </a:r>
                      <a:r>
                        <a:rPr lang="en-US" sz="1100" b="1" dirty="0">
                          <a:solidFill>
                            <a:srgbClr val="1B2A3A"/>
                          </a:solidFill>
                          <a:latin typeface="Segoe UI" pitchFamily="34" charset="0"/>
                          <a:ea typeface="Segoe UI" pitchFamily="34" charset="-122"/>
                          <a:cs typeface="Segoe UI" pitchFamily="34" charset="-120"/>
                        </a:rPr>
                        <a:t>référence officielle</a:t>
                      </a:r>
                      <a:r>
                        <a:rPr lang="en-US" sz="1100" dirty="0">
                          <a:solidFill>
                            <a:srgbClr val="1B2A3A"/>
                          </a:solidFill>
                          <a:latin typeface="Segoe UI" pitchFamily="34" charset="0"/>
                          <a:ea typeface="Segoe UI" pitchFamily="34" charset="-122"/>
                          <a:cs typeface="Segoe UI" pitchFamily="34" charset="-120"/>
                        </a:rPr>
                        <a:t> : numéro à cinq chiffres, type de dossier, commission (CNM ou CRM et localité), exercice. Chaque contexte a son propre compteur.</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RG-CTL-05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Réception dans sa seule localité</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Secrétaire ne réceptionne que les dossiers de sa localité. Le Président et le Chef de commission peuvent enregistrer la réception à sa place, par délégation.</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3.4 Secrétaire ; contrôle de complétude des pièces au dépôt · regles-gestion.md § 3.4 Secrétaire (réceptions) · regles-gestion.md § 3.4 Secrétaire</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350</a:t>
            </a:r>
            <a:endParaRPr lang="en-US" sz="1100" dirty="0"/>
          </a:p>
        </p:txBody>
      </p:sp>
    </p:spTree>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name="Slide 35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03 CONTRÔLER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Recevabilité et réception (2/2)</a:t>
            </a:r>
            <a:endParaRPr lang="en-US" sz="2600" dirty="0"/>
          </a:p>
        </p:txBody>
      </p:sp>
      <p:graphicFrame>
        <p:nvGraphicFramePr>
          <p:cNvPr id="352"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RG-CTL-06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Dossier complet, prêt à dispatcher</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Dès que la réception est enregistrée, le dossier est « prêt à dispatcher » et le Président et le Chef de commission de la localité sont notifiés.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3.4 Secrétaire</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351</a:t>
            </a:r>
            <a:endParaRPr lang="en-US" sz="1100" dirty="0"/>
          </a:p>
        </p:txBody>
      </p:sp>
    </p:spTree>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name="Slide 35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03 CONTRÔLER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Dispatch et délégation (1/2)</a:t>
            </a:r>
            <a:endParaRPr lang="en-US" sz="2600" dirty="0"/>
          </a:p>
        </p:txBody>
      </p:sp>
      <p:graphicFrame>
        <p:nvGraphicFramePr>
          <p:cNvPr id="353"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RG-CTL-07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dispatch : attribuer à un Membre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Président voit les dossiers prêts de toutes les localités et les attribue à un Membre, avec des instructions facultatives. Le Chef de commission dispatche les dossiers de sa localité.</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RG-CTL-08</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Centrale : dispatch réservé au Président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Pour un dossier de la Centrale, seul le Président dispatche et seul lui est notifié. Le Chef de commission n’y agit que sur un dossier que le Président lui a confié ou qu’il a lui-même réattribué.</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RG-CTL-09</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 attributaire capable d’examiner</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dossier ne s’attribue qu’à un Membre, ou à un contrôleur autorisé par délégation à la tâche de Membre. Le Président ou le Chef de commission peut ainsi se l’attribuer à lui-même : c’est le circuit court.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RG-CTL-10</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Délégation ascendante : neuf paires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Président peut exercer les tâches du Secrétaire, du Chef de commission, du Membre, du Vérificateur et de l’Assistant ; le Chef de commission celles du Secrétaire, du Membre, du Vérificateur et de l’Assistant. La délégation n’est pas transitive et n’ouvre aucun </a:t>
                      </a:r>
                      <a:r>
                        <a:rPr lang="en-US" sz="1100" b="1" dirty="0">
                          <a:solidFill>
                            <a:srgbClr val="1B2A3A"/>
                          </a:solidFill>
                          <a:latin typeface="Segoe UI" pitchFamily="34" charset="0"/>
                          <a:ea typeface="Segoe UI" pitchFamily="34" charset="-122"/>
                          <a:cs typeface="Segoe UI" pitchFamily="34" charset="-120"/>
                        </a:rPr>
                        <a:t>acte d’identité</a:t>
                      </a:r>
                      <a:r>
                        <a:rPr lang="en-US" sz="1100" dirty="0">
                          <a:solidFill>
                            <a:srgbClr val="1B2A3A"/>
                          </a:solidFill>
                          <a:latin typeface="Segoe UI" pitchFamily="34" charset="0"/>
                          <a:ea typeface="Segoe UI" pitchFamily="34" charset="-122"/>
                          <a:cs typeface="Segoe UI" pitchFamily="34" charset="-120"/>
                        </a:rPr>
                        <a: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RG-CTL-11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Réattribution par le Chef de commission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Chef de commission peut réattribuer à un Membre le dossier que le Président lui a dispatché ; le nouvel attributaire est notifié, l’ancien est prévenu. La réattribution est refusée dès qu’un examen est entamé.</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3.2 Président · regles-gestion.md § 3.3 Chef de commission · regles-gestion.md § 3.8 Administrateur</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352</a:t>
            </a:r>
            <a:endParaRPr lang="en-US" sz="1100" dirty="0"/>
          </a:p>
        </p:txBody>
      </p:sp>
    </p:spTree>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name="Slide 35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03 CONTRÔLER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Dispatch et délégation (2/2)</a:t>
            </a:r>
            <a:endParaRPr lang="en-US" sz="2600" dirty="0"/>
          </a:p>
        </p:txBody>
      </p:sp>
      <p:graphicFrame>
        <p:nvGraphicFramePr>
          <p:cNvPr id="354"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RG-CTL-12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Seul le dispatcheur retire le dispatch</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Seul celui qui a dispatché retire un dispatch. Un Chef de commission à la fois dispatcheur et attributaire ne se retire pas le dossier : c’est le Président qui le lui retire.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RG-CTL-13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Chaînes Membre, Vérificateur, Assistant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Chaque Membre peut être rattaché à un Vérificateur, et chaque Vérificateur à un Assistant, dans la même localité ; le rattachement est posé par l’Administrateur, le Président, ou le Chef de commission dans sa localité. Il </a:t>
                      </a:r>
                      <a:r>
                        <a:rPr lang="en-US" sz="1100" b="1" dirty="0">
                          <a:solidFill>
                            <a:srgbClr val="1B2A3A"/>
                          </a:solidFill>
                          <a:latin typeface="Segoe UI" pitchFamily="34" charset="0"/>
                          <a:ea typeface="Segoe UI" pitchFamily="34" charset="-122"/>
                          <a:cs typeface="Segoe UI" pitchFamily="34" charset="-120"/>
                        </a:rPr>
                        <a:t>oriente</a:t>
                      </a:r>
                      <a:r>
                        <a:rPr lang="en-US" sz="1100" dirty="0">
                          <a:solidFill>
                            <a:srgbClr val="1B2A3A"/>
                          </a:solidFill>
                          <a:latin typeface="Segoe UI" pitchFamily="34" charset="0"/>
                          <a:ea typeface="Segoe UI" pitchFamily="34" charset="-122"/>
                          <a:cs typeface="Segoe UI" pitchFamily="34" charset="-120"/>
                        </a:rPr>
                        <a:t> notifications et files sans rien verrouiller : sans chaîne, tous les porteurs du rôle de la localité restent compétents.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3.3 Chef de commission · regles-gestion.md § 1.7 Rattachement nominatif</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353</a:t>
            </a:r>
            <a:endParaRPr lang="en-US" sz="1100" dirty="0"/>
          </a:p>
        </p:txBody>
      </p:sp>
    </p:spTree>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name="Slide 35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03 CONTRÔLER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Examen (1/2)</a:t>
            </a:r>
            <a:endParaRPr lang="en-US" sz="2600" dirty="0"/>
          </a:p>
        </p:txBody>
      </p:sp>
      <p:graphicFrame>
        <p:nvGraphicFramePr>
          <p:cNvPr id="355"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RG-CTL-14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Seul l’attributaire examine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Quel que soit son profil, seul l’</a:t>
                      </a:r>
                      <a:r>
                        <a:rPr lang="en-US" sz="1100" b="1" dirty="0">
                          <a:solidFill>
                            <a:srgbClr val="1B2A3A"/>
                          </a:solidFill>
                          <a:latin typeface="Segoe UI" pitchFamily="34" charset="0"/>
                          <a:ea typeface="Segoe UI" pitchFamily="34" charset="-122"/>
                          <a:cs typeface="Segoe UI" pitchFamily="34" charset="-120"/>
                        </a:rPr>
                        <a:t>attributaire</a:t>
                      </a:r>
                      <a:r>
                        <a:rPr lang="en-US" sz="1100" dirty="0">
                          <a:solidFill>
                            <a:srgbClr val="1B2A3A"/>
                          </a:solidFill>
                          <a:latin typeface="Segoe UI" pitchFamily="34" charset="0"/>
                          <a:ea typeface="Segoe UI" pitchFamily="34" charset="-122"/>
                          <a:cs typeface="Segoe UI" pitchFamily="34" charset="-120"/>
                        </a:rPr>
                        <a:t> du dispatch crée, modifie et soumet l’examen. Ni le dispatcheur ni le Chef de commission en copie ne peuvent examiner.</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RG-CTL-15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Examen point par point, en brouillon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Membre statue chaque pièce et chaque point de contrôle, « RAS » ou observation ; il enregistre et reprend plus tard sans faire avancer le dossier. L’examen reste modifiable jusqu’à la signature du PV.</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RG-CTL-16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Observation ciblée sur une cellule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Une observation « Au lieu de / Lire » peut viser la cellule qu’elle corrige : colonne du plan, de la fiche de présentation ou du projet d’AGPM, ou information de la fiche DAO. Cette cible suit l’observation jusqu’à la PRMP.</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RG-CTL-17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On ne contrôle pas le vide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Les points de contrôle de la fiche de présentation et du projet d’AGPM ne sont exigés que si le document a du contenu. Chaque document est jugé séparément.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RG-CTL-18</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Réinitialiser un examen non soumis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L’attributaire peut </a:t>
                      </a:r>
                      <a:r>
                        <a:rPr lang="en-US" sz="1100" b="1" dirty="0">
                          <a:solidFill>
                            <a:srgbClr val="1B2A3A"/>
                          </a:solidFill>
                          <a:latin typeface="Segoe UI" pitchFamily="34" charset="0"/>
                          <a:ea typeface="Segoe UI" pitchFamily="34" charset="-122"/>
                          <a:cs typeface="Segoe UI" pitchFamily="34" charset="-120"/>
                        </a:rPr>
                        <a:t>réinitialiser</a:t>
                      </a:r>
                      <a:r>
                        <a:rPr lang="en-US" sz="1100" dirty="0">
                          <a:solidFill>
                            <a:srgbClr val="1B2A3A"/>
                          </a:solidFill>
                          <a:latin typeface="Segoe UI" pitchFamily="34" charset="0"/>
                          <a:ea typeface="Segoe UI" pitchFamily="34" charset="-122"/>
                          <a:cs typeface="Segoe UI" pitchFamily="34" charset="-120"/>
                        </a:rPr>
                        <a:t> son examen tant qu’aucun projet de PV n’existe : points, observations et résultats de pièces sont effacés d’un geste. Le temps écoulé continue de compter et l’effacement est inscrit au journal.</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3.5 Membre · regles-gestion.md § 2 Circuit de contrôle · regles-gestion.md § « On ne contrôle pas le vide » (règle du pilote, 04/09) · regles-gestion.md § Réinitialiser un examen en cours</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354</a:t>
            </a:r>
            <a:endParaRPr lang="en-US" sz="1100" dirty="0"/>
          </a:p>
        </p:txBody>
      </p:sp>
    </p:spTree>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name="Slide 35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03 CONTRÔLER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Examen (2/2)</a:t>
            </a:r>
            <a:endParaRPr lang="en-US" sz="2600" dirty="0"/>
          </a:p>
        </p:txBody>
      </p:sp>
      <p:graphicFrame>
        <p:nvGraphicFramePr>
          <p:cNvPr id="356"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RG-CTL-19</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 soumission porte l’avis du Membre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Membre soumet son examen avec son avis (favorable, favorable avec réserves, défavorable, ou sans objet) ; la soumission crée le projet de PV. L’avis doit être cohérent avec ce qui a été relevé : un avis </a:t>
                      </a:r>
                      <a:r>
                        <a:rPr lang="en-US" sz="1100" b="1" dirty="0">
                          <a:solidFill>
                            <a:srgbClr val="1B2A3A"/>
                          </a:solidFill>
                          <a:latin typeface="Segoe UI" pitchFamily="34" charset="0"/>
                          <a:ea typeface="Segoe UI" pitchFamily="34" charset="-122"/>
                          <a:cs typeface="Segoe UI" pitchFamily="34" charset="-120"/>
                        </a:rPr>
                        <a:t>favorable</a:t>
                      </a:r>
                      <a:r>
                        <a:rPr lang="en-US" sz="1100" dirty="0">
                          <a:solidFill>
                            <a:srgbClr val="1B2A3A"/>
                          </a:solidFill>
                          <a:latin typeface="Segoe UI" pitchFamily="34" charset="0"/>
                          <a:ea typeface="Segoe UI" pitchFamily="34" charset="-122"/>
                          <a:cs typeface="Segoe UI" pitchFamily="34" charset="-120"/>
                        </a:rPr>
                        <a:t> est refusé tant qu’une observation ou un </a:t>
                      </a:r>
                      <a:r>
                        <a:rPr lang="en-US" sz="1100" b="1" dirty="0">
                          <a:solidFill>
                            <a:srgbClr val="1B2A3A"/>
                          </a:solidFill>
                          <a:latin typeface="Segoe UI" pitchFamily="34" charset="0"/>
                          <a:ea typeface="Segoe UI" pitchFamily="34" charset="-122"/>
                          <a:cs typeface="Segoe UI" pitchFamily="34" charset="-120"/>
                        </a:rPr>
                        <a:t>contrôle non conforme non levé</a:t>
                      </a:r>
                      <a:r>
                        <a:rPr lang="en-US" sz="1100" dirty="0">
                          <a:solidFill>
                            <a:srgbClr val="1B2A3A"/>
                          </a:solidFill>
                          <a:latin typeface="Segoe UI" pitchFamily="34" charset="0"/>
                          <a:ea typeface="Segoe UI" pitchFamily="34" charset="-122"/>
                          <a:cs typeface="Segoe UI" pitchFamily="34" charset="-120"/>
                        </a:rPr>
                        <a:t> subsiste.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RG-CTL-20</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Soumettre engage le seul examinateur</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soumission et la re-soumission du projet de PV sont réservées à l’examinateur, même face à un supérieur agissant par délégation. Corriger le projet pour un collègue absent reste permis : seul le geste qui engage est nominatif.</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2 Circuit de contrôle ; § Le dossier soumis, encadré du 13/10 (tranche R5) · regles-gestion.md § À qui appartient un passage</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355</a:t>
            </a:r>
            <a:endParaRPr lang="en-US" sz="1100" dirty="0"/>
          </a:p>
        </p:txBody>
      </p:sp>
    </p:spTree>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name="Slide 35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03 CONTRÔLER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PV : navette, visa et signature (1/2)</a:t>
            </a:r>
            <a:endParaRPr lang="en-US" sz="2600" dirty="0"/>
          </a:p>
        </p:txBody>
      </p:sp>
      <p:graphicFrame>
        <p:nvGraphicFramePr>
          <p:cNvPr id="357"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RG-CTL-21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Navette du projet de PV</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Président ou le Chef de commission peut retourner le projet au Membre autant de fois que nécessaire, avec un commentaire obligatoire ; le Membre corrige puis resoumet. Chaque aller-retour est tracé.</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RG-CTL-22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Visa réservé au dispatcheur</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navette se clôt par le </a:t>
                      </a:r>
                      <a:r>
                        <a:rPr lang="en-US" sz="1100" b="1" dirty="0">
                          <a:solidFill>
                            <a:srgbClr val="1B2A3A"/>
                          </a:solidFill>
                          <a:latin typeface="Segoe UI" pitchFamily="34" charset="0"/>
                          <a:ea typeface="Segoe UI" pitchFamily="34" charset="-122"/>
                          <a:cs typeface="Segoe UI" pitchFamily="34" charset="-120"/>
                        </a:rPr>
                        <a:t>visa</a:t>
                      </a:r>
                      <a:r>
                        <a:rPr lang="en-US" sz="1100" dirty="0">
                          <a:solidFill>
                            <a:srgbClr val="1B2A3A"/>
                          </a:solidFill>
                          <a:latin typeface="Segoe UI" pitchFamily="34" charset="0"/>
                          <a:ea typeface="Segoe UI" pitchFamily="34" charset="-122"/>
                          <a:cs typeface="Segoe UI" pitchFamily="34" charset="-120"/>
                        </a:rPr>
                        <a:t> du Président ou du Chef de commission qui a dispatché : il arrête l’avis, désigne le co-signataire et signe sa part. Tout autre ne vise que par intérim.</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RG-CTL-23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Visa par intérim sur note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 Président ou Chef de commission non dispatcheur, compétent pour la localité, vise en joignant une note d’intérim. La mention « par intérim » ne figure que sur les PV régionaux ; la note n’est pas communiquée à la PRMP.</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RG-CTL-24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L’examinateur ne vise pas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Celui qui a examiné un dossier ne vise ni ne retourne le projet de PV, même par intérim, sauf s’il s’est dispatché le dossier à lui-même.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RG-CTL-25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Navette à deux niveaux</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Si le Président a dispatché au Chef de commission, qui a réattribué à un Membre, le Membre soumet au Chef de commission, qui retourne ou transmet au Président ; le Président retourne au Chef de commission ou vise. Rien ne saute d’étage.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3.2 Président · regles-gestion.md § 2 Circuit de contrôle · regles-gestion.md § À qui appartient un passage · regles-gestion.md § La navette du PV à deux niveaux (règle du pilote, 04/09)</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356</a:t>
            </a:r>
            <a:endParaRPr lang="en-US" sz="1100" dirty="0"/>
          </a:p>
        </p:txBody>
      </p:sp>
    </p:spTree>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name="Slide 35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03 CONTRÔLER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PV : navette, visa et signature (2/2)</a:t>
            </a:r>
            <a:endParaRPr lang="en-US" sz="2600" dirty="0"/>
          </a:p>
        </p:txBody>
      </p:sp>
      <p:graphicFrame>
        <p:nvGraphicFramePr>
          <p:cNvPr id="358"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RG-CTL-26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Deux signataires distincts au moins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viseur désigne ses co-signataires : au moins une autre personne, trois signataires au plus, un seul par rôle. Le PV n’imprime que les lignes des désignés.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RG-CTL-27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PV définitif quand toutes les parts sont signées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PV est signé quand la part du viseur et celle de chaque désigné sont posées. La part du Membre ne se délègue pas : seul le Membre désigné la signe.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RG-CTL-28</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Plus de Secrétaire de séance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PV ne désigne plus de Secrétaire de séance, ni au visa ni à la soumission de l’examen. Les PV visés avant ce retrait gardent leur mention.</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La co-signature élargie · regles-gestion.md § Le Secrétaire de séance est retiré du cycle du PV (02/09)</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357</a:t>
            </a:r>
            <a:endParaRPr lang="en-US" sz="1100" dirty="0"/>
          </a:p>
        </p:txBody>
      </p:sp>
    </p:spTree>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name="Slide 35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03 CONTRÔLER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Vérification et réserves (1/2)</a:t>
            </a:r>
            <a:endParaRPr lang="en-US" sz="2600" dirty="0"/>
          </a:p>
        </p:txBody>
      </p:sp>
      <p:graphicFrame>
        <p:nvGraphicFramePr>
          <p:cNvPr id="359"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RG-CTL-29</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Tout PV signé passe au Vérificateur</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Aucun avis ne clôt le dossier à la signature : le PV est transmis à la PRMP et le dossier part en vérification. Pour un avis favorable, défavorable ou sans objet, le Vérificateur n’a plus qu’à transmettre la décision au SIGMP.</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RG-CTL-30</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Avis avec réserves : la PRMP rectifie d’abord</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À la signature d’un PV favorable avec réserves, le PV et ses observations partent à la PRMP, qui rectifie. Sa </a:t>
                      </a:r>
                      <a:r>
                        <a:rPr lang="en-US" sz="1100" b="1" dirty="0">
                          <a:solidFill>
                            <a:srgbClr val="1B2A3A"/>
                          </a:solidFill>
                          <a:latin typeface="Segoe UI" pitchFamily="34" charset="0"/>
                          <a:ea typeface="Segoe UI" pitchFamily="34" charset="-122"/>
                          <a:cs typeface="Segoe UI" pitchFamily="34" charset="-120"/>
                        </a:rPr>
                        <a:t>resoumission</a:t>
                      </a:r>
                      <a:r>
                        <a:rPr lang="en-US" sz="1100" dirty="0">
                          <a:solidFill>
                            <a:srgbClr val="1B2A3A"/>
                          </a:solidFill>
                          <a:latin typeface="Segoe UI" pitchFamily="34" charset="0"/>
                          <a:ea typeface="Segoe UI" pitchFamily="34" charset="-122"/>
                          <a:cs typeface="Segoe UI" pitchFamily="34" charset="-120"/>
                        </a:rPr>
                        <a:t>, motivée, ouvre la vérification et notifie le Vérificateur.</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RG-CTL-31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Observations figées au PV</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Les observations suivies sont exclusivement celles arrêtées au PV signé, aux libellés figés ; aucun acteur ne peut en ajouter, et le Vérificateur ne rédige aucun texte libre.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RG-CTL-32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Lever ou maintenir chaque observation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À chaque passage, le Vérificateur statue chaque observation : levée ou maintenue, avec une précision facultative. Une levée est acquise ; une seule observation maintenue renvoie le dossier à la PRMP, et la boucle reprend.</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RG-CTL-33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Vérificateur voit la rectification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Pour statuer, le Vérificateur compare la version d’avant et celle d’après la rectification. Chaque version remplacée est archivée, en lecture seule.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2 Circuit de contrôle · regles-gestion.md § 3.6 Contrôleur vérificateur · regles-gestion.md § 3.6 Contrôleur vérificateur (vérifications)</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358</a:t>
            </a:r>
            <a:endParaRPr lang="en-US" sz="1100" dirty="0"/>
          </a:p>
        </p:txBody>
      </p:sp>
    </p:spTree>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p:cSld name="Slide 35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03 CONTRÔLER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Vérification et réserves (2/2)</a:t>
            </a:r>
            <a:endParaRPr lang="en-US" sz="2600" dirty="0"/>
          </a:p>
        </p:txBody>
      </p:sp>
      <p:graphicFrame>
        <p:nvGraphicFramePr>
          <p:cNvPr id="360"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RG-CTL-34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Transmission du sens au SIGMP</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Vérificateur transmet le sens de la décision, déduit de l’avis : favorable donne « approuvé », défavorable et sans objet « non approuvé », favorable avec réserves « approuvé » une fois toutes les observations levées. Le dossier passe alors aux « vérifiés ».</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RG-CTL-35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L’archivage clôt le dossier</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Seul l’</a:t>
                      </a:r>
                      <a:r>
                        <a:rPr lang="en-US" sz="1100" b="1" dirty="0">
                          <a:solidFill>
                            <a:srgbClr val="1B2A3A"/>
                          </a:solidFill>
                          <a:latin typeface="Segoe UI" pitchFamily="34" charset="0"/>
                          <a:ea typeface="Segoe UI" pitchFamily="34" charset="-122"/>
                          <a:cs typeface="Segoe UI" pitchFamily="34" charset="-120"/>
                        </a:rPr>
                        <a:t>archivage</a:t>
                      </a:r>
                      <a:r>
                        <a:rPr lang="en-US" sz="1100" dirty="0">
                          <a:solidFill>
                            <a:srgbClr val="1B2A3A"/>
                          </a:solidFill>
                          <a:latin typeface="Segoe UI" pitchFamily="34" charset="0"/>
                          <a:ea typeface="Segoe UI" pitchFamily="34" charset="-122"/>
                          <a:cs typeface="Segoe UI" pitchFamily="34" charset="-120"/>
                        </a:rPr>
                        <a:t> du PV par l’Assistant de la localité, ou par délégation, clôt le dossier ; il prévient le Chargé de publication. L’Assistant archive aussi les lettres de renvoi signées.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3.6 Contrôleur vérificateur · regles-gestion.md § 2 Circuit de contrôle (transmissions SIGMP)</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359</a:t>
            </a:r>
            <a:endParaRPr lang="en-US" sz="1100" dirty="0"/>
          </a:p>
        </p:txBody>
      </p:sp>
    </p:spTree>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p:cSld name="Slide 36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03 CONTRÔLER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Renvoi et rectification</a:t>
            </a:r>
            <a:endParaRPr lang="en-US" sz="2600" dirty="0"/>
          </a:p>
        </p:txBody>
      </p:sp>
      <p:graphicFrame>
        <p:nvGraphicFramePr>
          <p:cNvPr id="361"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RG-CTL-36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Lettre de renvoi signée par la Commission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Président ou le Chef de commission établit la lettre de renvoi. En Centrale, l’un ou l’autre la signe ; en région, seul le Chef de commission de la localité. Le Membre ne la signe jamais.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RG-CTL-37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Renvoi : examen suspendu, puis réexamen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À la signature de la lettre, l’examen est suspendu et la PRMP est notifiée. Après dépôt et transmission des pièces demandées, le dossier revient au Membre, qui </a:t>
                      </a:r>
                      <a:r>
                        <a:rPr lang="en-US" sz="1100" b="1" dirty="0">
                          <a:solidFill>
                            <a:srgbClr val="1B2A3A"/>
                          </a:solidFill>
                          <a:latin typeface="Segoe UI" pitchFamily="34" charset="0"/>
                          <a:ea typeface="Segoe UI" pitchFamily="34" charset="-122"/>
                          <a:cs typeface="Segoe UI" pitchFamily="34" charset="-120"/>
                        </a:rPr>
                        <a:t>réexamine</a:t>
                      </a:r>
                      <a:r>
                        <a:rPr lang="en-US" sz="1100" dirty="0">
                          <a:solidFill>
                            <a:srgbClr val="1B2A3A"/>
                          </a:solidFill>
                          <a:latin typeface="Segoe UI" pitchFamily="34" charset="0"/>
                          <a:ea typeface="Segoe UI" pitchFamily="34" charset="-122"/>
                          <a:cs typeface="Segoe UI" pitchFamily="34" charset="-120"/>
                        </a:rPr>
                        <a:t> puis resoumet le projet de PV.</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RG-CTL-38</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Rectification bornée à trois lignes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En rectification, la PRMP ajoute ou retire au plus trois lignes du plan dans chaque sens. Elle ne peut pas retirer une ligne portant une observation non levée.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2 Circuit de contrôle (lettres de renvoi) · regles-gestion.md § 2 Circuit de contrôle (transmissions SIGMP) · regles-gestion.md § 3.1 PRMP</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360</a:t>
            </a:r>
            <a:endParaRPr lang="en-US" sz="1100" dirty="0"/>
          </a:p>
        </p:txBody>
      </p:sp>
    </p:spTree>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name="Slide 36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03 CONTRÔLER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Retraits</a:t>
            </a:r>
            <a:endParaRPr lang="en-US" sz="2600" dirty="0"/>
          </a:p>
        </p:txBody>
      </p:sp>
      <p:graphicFrame>
        <p:nvGraphicFramePr>
          <p:cNvPr id="362"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RG-CTL-39</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Retrait possible jusqu’au PV signé</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PRMP demande le retrait motivé, lettre signée à l’appui, d’un dossier soumis, prêt à dispatcher, dispatché ou examiné. Dès la signature du PV, la demande est refusée.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RG-CTL-40</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Décision du Chef de commission ou du Président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Seuls le Chef de commission de la localité ou le Président statuent. Une demande devenue </a:t>
                      </a:r>
                      <a:r>
                        <a:rPr lang="en-US" sz="1100" b="1" dirty="0">
                          <a:solidFill>
                            <a:srgbClr val="1B2A3A"/>
                          </a:solidFill>
                          <a:latin typeface="Segoe UI" pitchFamily="34" charset="0"/>
                          <a:ea typeface="Segoe UI" pitchFamily="34" charset="-122"/>
                          <a:cs typeface="Segoe UI" pitchFamily="34" charset="-120"/>
                        </a:rPr>
                        <a:t>caduque</a:t>
                      </a:r>
                      <a:r>
                        <a:rPr lang="en-US" sz="1100" dirty="0">
                          <a:solidFill>
                            <a:srgbClr val="1B2A3A"/>
                          </a:solidFill>
                          <a:latin typeface="Segoe UI" pitchFamily="34" charset="0"/>
                          <a:ea typeface="Segoe UI" pitchFamily="34" charset="-122"/>
                          <a:cs typeface="Segoe UI" pitchFamily="34" charset="-120"/>
                        </a:rPr>
                        <a:t>, le PV ayant été signé entre-temps, ne peut plus qu’être refusée.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RG-CTL-41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Retrait accepté : retour au brouillon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L’acceptation ramène le dossier au brouillon et efface son circuit : dispatch, examen, PV, navettes. Le journal et le chronométrage sont conservés ; un refus laisse le dossier inchangé.</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3.1 PRMP</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361</a:t>
            </a:r>
            <a:endParaRPr lang="en-US" sz="1100" dirty="0"/>
          </a:p>
        </p:txBody>
      </p:sp>
    </p:spTree>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name="Slide 36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03 CONTRÔLER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Délais et chronométrage</a:t>
            </a:r>
            <a:endParaRPr lang="en-US" sz="2600" dirty="0"/>
          </a:p>
        </p:txBody>
      </p:sp>
      <p:graphicFrame>
        <p:nvGraphicFramePr>
          <p:cNvPr id="363"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RG-CTL-42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délai se mesure, sans saisie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Chaque étape est chronométrée sans saisie : elle commence à la fin de la précédente et s’achève au geste qui la clôt. Le calcul se fait en </a:t>
                      </a:r>
                      <a:r>
                        <a:rPr lang="en-US" sz="1100" b="1" dirty="0">
                          <a:solidFill>
                            <a:srgbClr val="1B2A3A"/>
                          </a:solidFill>
                          <a:latin typeface="Segoe UI" pitchFamily="34" charset="0"/>
                          <a:ea typeface="Segoe UI" pitchFamily="34" charset="-122"/>
                          <a:cs typeface="Segoe UI" pitchFamily="34" charset="-120"/>
                        </a:rPr>
                        <a:t>heures ouvrées</a:t>
                      </a:r>
                      <a:r>
                        <a:rPr lang="en-US" sz="1100" dirty="0">
                          <a:solidFill>
                            <a:srgbClr val="1B2A3A"/>
                          </a:solidFill>
                          <a:latin typeface="Segoe UI" pitchFamily="34" charset="0"/>
                          <a:ea typeface="Segoe UI" pitchFamily="34" charset="-122"/>
                          <a:cs typeface="Segoe UI" pitchFamily="34" charset="-120"/>
                        </a:rPr>
                        <a:t>, de 8 h à 16 h du lundi au vendredi, 8 h valant un jour.</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RG-CTL-43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L’attente de la PRMP est suspendue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compteur de la Commission se suspend pendant les attentes de la PRMP : compléments au dépôt, pièces après renvoi, rectification. Le délai propre de la PRMP est mesuré à part.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RG-CTL-44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Date prévisionnelle annoncée dès le dépôt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date annoncée à la PRMP additionne le reste de l’étape en cours et les délais standards des étapes restantes. Une étape en dépassement compte zéro : la date glisse.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RG-CTL-45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Chaque passage imputé à son auteur</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L’examen est mesuré au nom de son attributaire ; une réattribution clôt l’examen du sortant à son nom. À deux niveaux, chaque étage a sa durée, et chaque co-signataire sa part.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Chronométrage et prévision des délais · regles-gestion.md § Le délai propre de la PRMP · regles-gestion.md § À qui appartient un passage</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362</a:t>
            </a:r>
            <a:endParaRPr lang="en-US" sz="1100" dirty="0"/>
          </a:p>
        </p:txBody>
      </p:sp>
    </p:spTree>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p:cSld name="Slide 36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03 CONTRÔLER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manuel de contrôle</a:t>
            </a:r>
            <a:endParaRPr lang="en-US" sz="2600" dirty="0"/>
          </a:p>
        </p:txBody>
      </p:sp>
      <p:graphicFrame>
        <p:nvGraphicFramePr>
          <p:cNvPr id="364"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RG-CTL-46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sous-types du manuel</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Vingt-trois sous-types de dossier : </a:t>
                      </a:r>
                      <a:r>
                        <a:rPr lang="en-US" sz="1100" b="1" dirty="0">
                          <a:solidFill>
                            <a:srgbClr val="1B2A3A"/>
                          </a:solidFill>
                          <a:latin typeface="Segoe UI" pitchFamily="34" charset="0"/>
                          <a:ea typeface="Segoe UI" pitchFamily="34" charset="-122"/>
                          <a:cs typeface="Segoe UI" pitchFamily="34" charset="-120"/>
                        </a:rPr>
                        <a:t>DAOO</a:t>
                      </a:r>
                      <a:r>
                        <a:rPr lang="en-US" sz="1100" dirty="0">
                          <a:solidFill>
                            <a:srgbClr val="1B2A3A"/>
                          </a:solidFill>
                          <a:latin typeface="Segoe UI" pitchFamily="34" charset="0"/>
                          <a:ea typeface="Segoe UI" pitchFamily="34" charset="-122"/>
                          <a:cs typeface="Segoe UI" pitchFamily="34" charset="-120"/>
                        </a:rPr>
                        <a:t> (ancien « DAO »), DAOOI, DAOOPREQUAL, DPREQUAL, DAOR, DAORI, DC, DP, RJ ; MAOO… MPI, MGG ; la famille des actes de gestion contractuelle (avenant, résiliation, indemnité, remise de pénalités, sursis) ; la déclaration sans suite (DSS). Le dossier produit par une fiche prend le sous-type que dit le mode de la ligne du plan.</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RG-CTL-47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pièces exigées par sous-type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Chaque sous-type a sa propre liste de pièces ; une pièce qui dépend de la catégorie ou de la forme du marché ne s’exige que si elle s’applique à la fiche. La soumission refuse le dossier auquel manque une pièce obligatoire en nommant </a:t>
                      </a:r>
                      <a:r>
                        <a:rPr lang="en-US" sz="1100" b="1" dirty="0">
                          <a:solidFill>
                            <a:srgbClr val="1B2A3A"/>
                          </a:solidFill>
                          <a:latin typeface="Segoe UI" pitchFamily="34" charset="0"/>
                          <a:ea typeface="Segoe UI" pitchFamily="34" charset="-122"/>
                          <a:cs typeface="Segoe UI" pitchFamily="34" charset="-120"/>
                        </a:rPr>
                        <a:t>chaque</a:t>
                      </a:r>
                      <a:r>
                        <a:rPr lang="en-US" sz="1100" dirty="0">
                          <a:solidFill>
                            <a:srgbClr val="1B2A3A"/>
                          </a:solidFill>
                          <a:latin typeface="Segoe UI" pitchFamily="34" charset="0"/>
                          <a:ea typeface="Segoe UI" pitchFamily="34" charset="-122"/>
                          <a:cs typeface="Segoe UI" pitchFamily="34" charset="-120"/>
                        </a:rPr>
                        <a:t> pièce ; la réception lit la même liste. Depuis le 13/10, pour une procédure conduite dans l’application, les pièces que l’application produit ne sont plus demandées (RG-CTL-51).</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RG-CTL-48</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 grille du dossier</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grille d’un dossier réunit les points communs de sa famille (sauf grille propre : marché de prestations intellectuelles, gré à gré, dossier de consultation, rapport justificatif, pré-qualification, avenant, déclaration sans suite), ceux de la grille dont il dérive (un appel d’offres restreint reprend l’appel d’offres ouvert) et les siens, sans les points dont la catégorie ou la forme ne s’applique pas à sa fiche.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RG-CTL-49</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motifs-types de la conclusion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Les formulations du manuel (renvoi, avis défavorable) forment un référentiel tenu par l’Administrateur, qui suit l’héritage des grilles. Le contrôleur les insère dans le projet de PV ou la lettre de renvoi et les complète ; l’application n’écrit rien à sa place. Un motif désactivé n’est plus proposé.</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RG-CTL-50</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délais par sous-type et l’alerte d’examen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 sous-type peut avoir son délai par étape de la Commission ; sans réglage, il suit le délai standard. La date de fin annoncée suit ces réglages. Un examen ouvert depuis plus de </a:t>
                      </a:r>
                      <a:r>
                        <a:rPr lang="en-US" sz="1100" b="1" dirty="0">
                          <a:solidFill>
                            <a:srgbClr val="1B2A3A"/>
                          </a:solidFill>
                          <a:latin typeface="Segoe UI" pitchFamily="34" charset="0"/>
                          <a:ea typeface="Segoe UI" pitchFamily="34" charset="-122"/>
                          <a:cs typeface="Segoe UI" pitchFamily="34" charset="-120"/>
                        </a:rPr>
                        <a:t>cinq jours ouvrés</a:t>
                      </a:r>
                      <a:r>
                        <a:rPr lang="en-US" sz="1100" dirty="0">
                          <a:solidFill>
                            <a:srgbClr val="1B2A3A"/>
                          </a:solidFill>
                          <a:latin typeface="Segoe UI" pitchFamily="34" charset="0"/>
                          <a:ea typeface="Segoe UI" pitchFamily="34" charset="-122"/>
                          <a:cs typeface="Segoe UI" pitchFamily="34" charset="-120"/>
                        </a:rPr>
                        <a:t> (40 heures ouvrées) alerte le Membre, le Chef de commission et le Président, une fois par passage.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Le dossier soumis, encadré du 08/10 (tranche M1) · regles-gestion.md § Le dossier soumis, encadrés du 08/10 (M2) et du 13/10 (R2) · regles-gestion.md § Le dossier soumis, encadré du 08/10 (tranche M3) · regles-gestion.md § Le dossier soumis, encadré du 09/10 (tranche M4) · regles-gestion.md § Le dossier soumis, encadré du 09/10 (tranche M5b)</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363</a:t>
            </a:r>
            <a:endParaRPr lang="en-US" sz="1100" dirty="0"/>
          </a:p>
        </p:txBody>
      </p:sp>
    </p:spTree>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p:cSld name="Slide 36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03 CONTRÔLER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contrôle sur les données (1/2)</a:t>
            </a:r>
            <a:endParaRPr lang="en-US" sz="2600" dirty="0"/>
          </a:p>
        </p:txBody>
      </p:sp>
      <p:graphicFrame>
        <p:nvGraphicFramePr>
          <p:cNvPr id="365"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RG-CTL-51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Pièces non demandées pour une procédure en ligne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Quand la procédure est conduite dans l’application, la validation tracée vaut signature des pièces internes : fiche de présentation (sauf actes de gestion), AGPM et PPM contrôlés, PV de la Commission, PV de validation de la commission d’appel d’offres, marché initial d’un acte de gestion ne sont plus demandés à la PRMP. Le mode (papier ou électronique) est fixé à la création de la procédure ; en papier, toutes les pièces du manuel restent exigées.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RG-CTL-52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écrans figés à la soumission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À chaque soumission et resoumission d’un dossier conduit dans l’application, les écrans qui remplacent les pièces (ligne du plan, avis et lettres, commission d’appel d’offres, AMI, séance, évaluation, attribution, acte, sans suite) sont </a:t>
                      </a:r>
                      <a:r>
                        <a:rPr lang="en-US" sz="1100" b="1" dirty="0">
                          <a:solidFill>
                            <a:srgbClr val="1B2A3A"/>
                          </a:solidFill>
                          <a:latin typeface="Segoe UI" pitchFamily="34" charset="0"/>
                          <a:ea typeface="Segoe UI" pitchFamily="34" charset="-122"/>
                          <a:cs typeface="Segoe UI" pitchFamily="34" charset="-120"/>
                        </a:rPr>
                        <a:t>figés</a:t>
                      </a:r>
                      <a:r>
                        <a:rPr lang="en-US" sz="1100" dirty="0">
                          <a:solidFill>
                            <a:srgbClr val="1B2A3A"/>
                          </a:solidFill>
                          <a:latin typeface="Segoe UI" pitchFamily="34" charset="0"/>
                          <a:ea typeface="Segoe UI" pitchFamily="34" charset="-122"/>
                          <a:cs typeface="Segoe UI" pitchFamily="34" charset="-120"/>
                        </a:rPr>
                        <a:t> avec leur empreinte et le numéro de la soumission. Immuables, ils se lisent en lecture seule et s’exportent en PDF ; les écrans vivants peuvent évoluer sans changer ce que la Commission a reçu.</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RG-CTL-53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contrôles automatiques à la soumission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À la soumission et à chaque resoumission, l’application joue les contrôles du manuel classés automatiques pour la famille du dossier. Un contrôle </a:t>
                      </a:r>
                      <a:r>
                        <a:rPr lang="en-US" sz="1100" b="1" dirty="0">
                          <a:solidFill>
                            <a:srgbClr val="1B2A3A"/>
                          </a:solidFill>
                          <a:latin typeface="Segoe UI" pitchFamily="34" charset="0"/>
                          <a:ea typeface="Segoe UI" pitchFamily="34" charset="-122"/>
                          <a:cs typeface="Segoe UI" pitchFamily="34" charset="-120"/>
                        </a:rPr>
                        <a:t>bloquant</a:t>
                      </a:r>
                      <a:r>
                        <a:rPr lang="en-US" sz="1100" dirty="0">
                          <a:solidFill>
                            <a:srgbClr val="1B2A3A"/>
                          </a:solidFill>
                          <a:latin typeface="Segoe UI" pitchFamily="34" charset="0"/>
                          <a:ea typeface="Segoe UI" pitchFamily="34" charset="-122"/>
                          <a:cs typeface="Segoe UI" pitchFamily="34" charset="-120"/>
                        </a:rPr>
                        <a:t> non conforme refuse la soumission en nommant ce qui manque et les valeurs constatées ; les autres résultats sont enregistrés, lisibles par la Commission et la PRMP.</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RG-CTL-54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contrôles du Membre et la levée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Membre attributaire ajoute ses propres contrôles (point de grille ou règle, résultat, observation obligatoire s’il constate une non-conformité). Le dernier résultat posé sur une règle fait foi : il lève une non-conformité en posant « conforme » ou « sans objet », motivé. Une non-conformité non levée interdit l’avis favorable sans réserve et figure à l’annexe du PV.</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RG-CTL-55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Documents d’évaluation signés et quorum</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Premiers contrôles bloquants, sur le dossier de marché conduit dans l’application : les documents d’évaluation sont signés (PV d’ouverture, rapport — manuel 2-III-A P5) et le </a:t>
                      </a:r>
                      <a:r>
                        <a:rPr lang="en-US" sz="1100" b="1" dirty="0">
                          <a:solidFill>
                            <a:srgbClr val="1B2A3A"/>
                          </a:solidFill>
                          <a:latin typeface="Segoe UI" pitchFamily="34" charset="0"/>
                          <a:ea typeface="Segoe UI" pitchFamily="34" charset="-122"/>
                          <a:cs typeface="Segoe UI" pitchFamily="34" charset="-120"/>
                        </a:rPr>
                        <a:t>quorum</a:t>
                      </a:r>
                      <a:r>
                        <a:rPr lang="en-US" sz="1100" dirty="0">
                          <a:solidFill>
                            <a:srgbClr val="1B2A3A"/>
                          </a:solidFill>
                          <a:latin typeface="Segoe UI" pitchFamily="34" charset="0"/>
                          <a:ea typeface="Segoe UI" pitchFamily="34" charset="-122"/>
                          <a:cs typeface="Segoe UI" pitchFamily="34" charset="-120"/>
                        </a:rPr>
                        <a:t> de la commission d’appel d’offres est atteint avec son président ou son représentant (2-III-C P3 / P14). Le quorum, réglé par l’Administrateur (majorité par défaut), est imprimé au PV et au rapport.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Le dossier soumis, encadrés du 13/10 (R2, arbitrages Q2/Q14) et (R8, arbitrage Q1) · regles-gestion.md § Le dossier soumis, encadré du 13/10 (tranche R4) ; manuel révisé § 15, T4 · regles-gestion.md § Le dossier soumis, encadré du 13/10 (tranche R5) · regles-gestion.md § Le dossier soumis, encadré du 13/10 (tranche R5) ; § remise électronique, encadré du 10/10 (tranche R1, arbitrage Q5)</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364</a:t>
            </a:r>
            <a:endParaRPr lang="en-US" sz="1100" dirty="0"/>
          </a:p>
        </p:txBody>
      </p:sp>
    </p:spTree>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p:cSld name="Slide 36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03 CONTRÔLER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contrôle sur les données (2/2)</a:t>
            </a:r>
            <a:endParaRPr lang="en-US" sz="2600" dirty="0"/>
          </a:p>
        </p:txBody>
      </p:sp>
      <p:graphicFrame>
        <p:nvGraphicFramePr>
          <p:cNvPr id="366"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RG-CTL-56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projet d’avis joint d’office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À chaque validation de la fiche, l’application produit le </a:t>
                      </a:r>
                      <a:r>
                        <a:rPr lang="en-US" sz="1100" b="1" dirty="0">
                          <a:solidFill>
                            <a:srgbClr val="1B2A3A"/>
                          </a:solidFill>
                          <a:latin typeface="Segoe UI" pitchFamily="34" charset="0"/>
                          <a:ea typeface="Segoe UI" pitchFamily="34" charset="-122"/>
                          <a:cs typeface="Segoe UI" pitchFamily="34" charset="-120"/>
                        </a:rPr>
                        <a:t>projet</a:t>
                      </a:r>
                      <a:r>
                        <a:rPr lang="en-US" sz="1100" dirty="0">
                          <a:solidFill>
                            <a:srgbClr val="1B2A3A"/>
                          </a:solidFill>
                          <a:latin typeface="Segoe UI" pitchFamily="34" charset="0"/>
                          <a:ea typeface="Segoe UI" pitchFamily="34" charset="-122"/>
                          <a:cs typeface="Segoe UI" pitchFamily="34" charset="-120"/>
                        </a:rPr>
                        <a:t> d’avis spécifique (ou de lettre d’invitation), « PROJET » en filigrane, et le joint d’office au dossier. Un projet ne lance pas la ligne du plan. Pendant la transition, l’imprimé du SIGMP reste accepté en pièce facultative ; chaque document produit porte en pied la décision d’équivalence, ou « équivalence SIGMP en attente ».</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RG-CTL-57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Une règle trop écartée s’éteint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taux d’écartement de chaque règle du pré-contrôle se lit en compteurs seulement. Un signalement </a:t>
                      </a:r>
                      <a:r>
                        <a:rPr lang="en-US" sz="1100" b="1" dirty="0">
                          <a:solidFill>
                            <a:srgbClr val="1B2A3A"/>
                          </a:solidFill>
                          <a:latin typeface="Segoe UI" pitchFamily="34" charset="0"/>
                          <a:ea typeface="Segoe UI" pitchFamily="34" charset="-122"/>
                          <a:cs typeface="Segoe UI" pitchFamily="34" charset="-120"/>
                        </a:rPr>
                        <a:t>levé</a:t>
                      </a:r>
                      <a:r>
                        <a:rPr lang="en-US" sz="1100" dirty="0">
                          <a:solidFill>
                            <a:srgbClr val="1B2A3A"/>
                          </a:solidFill>
                          <a:latin typeface="Segoe UI" pitchFamily="34" charset="0"/>
                          <a:ea typeface="Segoe UI" pitchFamily="34" charset="-122"/>
                          <a:cs typeface="Segoe UI" pitchFamily="34" charset="-120"/>
                        </a:rPr>
                        <a:t> (le plan a été corrigé) est une réussite et ne compte pas dans le taux. Le taux n’est signalé qu’à partir de cinq signalements ; une règle s’éteint sans redéploiement, et les signalements écartés gardent leur motif.</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Le dossier soumis, encadrés du 13/10 (tranches R3a et R3b, arbitrage Q3) · regles-gestion.md § Signalement du pré-contrôle : écartable, motivé, jamais effacé (taux d’écartement)</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365</a:t>
            </a:r>
            <a:endParaRPr lang="en-US" sz="1100" dirty="0"/>
          </a:p>
        </p:txBody>
      </p:sp>
    </p:spTree>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p:cSld name="Slide 36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04 PRÉPARER LE DAO</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Préparer une fiche : qui, et sur quelle ligne (1/2)</a:t>
            </a:r>
            <a:endParaRPr lang="en-US" sz="2600" dirty="0"/>
          </a:p>
        </p:txBody>
      </p:sp>
      <p:graphicFrame>
        <p:nvGraphicFramePr>
          <p:cNvPr id="367"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RG-DAO-01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Une fiche par dossier, versionnée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Chaque appel d’offres a sa fiche, rattachée à une ligne du plan. Les informations reprises du plan sont </a:t>
                      </a:r>
                      <a:r>
                        <a:rPr lang="en-US" sz="1100" b="1" dirty="0">
                          <a:solidFill>
                            <a:srgbClr val="1B2A3A"/>
                          </a:solidFill>
                          <a:latin typeface="Segoe UI" pitchFamily="34" charset="0"/>
                          <a:ea typeface="Segoe UI" pitchFamily="34" charset="-122"/>
                          <a:cs typeface="Segoe UI" pitchFamily="34" charset="-120"/>
                        </a:rPr>
                        <a:t>relues à chaque ouverture</a:t>
                      </a:r>
                      <a:r>
                        <a:rPr lang="en-US" sz="1100" dirty="0">
                          <a:solidFill>
                            <a:srgbClr val="1B2A3A"/>
                          </a:solidFill>
                          <a:latin typeface="Segoe UI" pitchFamily="34" charset="0"/>
                          <a:ea typeface="Segoe UI" pitchFamily="34" charset="-122"/>
                          <a:cs typeface="Segoe UI" pitchFamily="34" charset="-120"/>
                        </a:rPr>
                        <a:t> : elles se corrigent dans le plan, jamais dans la fiche.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RG-DAO-02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Qui prépare, qui valide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a:t>
                      </a:r>
                      <a:r>
                        <a:rPr lang="en-US" sz="1100" b="1" dirty="0">
                          <a:solidFill>
                            <a:srgbClr val="1B2A3A"/>
                          </a:solidFill>
                          <a:latin typeface="Segoe UI" pitchFamily="34" charset="0"/>
                          <a:ea typeface="Segoe UI" pitchFamily="34" charset="-122"/>
                          <a:cs typeface="Segoe UI" pitchFamily="34" charset="-120"/>
                        </a:rPr>
                        <a:t>PRMP propriétaire du plan et son UGPM</a:t>
                      </a:r>
                      <a:r>
                        <a:rPr lang="en-US" sz="1100" dirty="0">
                          <a:solidFill>
                            <a:srgbClr val="1B2A3A"/>
                          </a:solidFill>
                          <a:latin typeface="Segoe UI" pitchFamily="34" charset="0"/>
                          <a:ea typeface="Segoe UI" pitchFamily="34" charset="-122"/>
                          <a:cs typeface="Segoe UI" pitchFamily="34" charset="-120"/>
                        </a:rPr>
                        <a:t> préparent. La </a:t>
                      </a:r>
                      <a:r>
                        <a:rPr lang="en-US" sz="1100" b="1" dirty="0">
                          <a:solidFill>
                            <a:srgbClr val="1B2A3A"/>
                          </a:solidFill>
                          <a:latin typeface="Segoe UI" pitchFamily="34" charset="0"/>
                          <a:ea typeface="Segoe UI" pitchFamily="34" charset="-122"/>
                          <a:cs typeface="Segoe UI" pitchFamily="34" charset="-120"/>
                        </a:rPr>
                        <a:t>PRMP seule</a:t>
                      </a:r>
                      <a:r>
                        <a:rPr lang="en-US" sz="1100" dirty="0">
                          <a:solidFill>
                            <a:srgbClr val="1B2A3A"/>
                          </a:solidFill>
                          <a:latin typeface="Segoe UI" pitchFamily="34" charset="0"/>
                          <a:ea typeface="Segoe UI" pitchFamily="34" charset="-122"/>
                          <a:cs typeface="Segoe UI" pitchFamily="34" charset="-120"/>
                        </a:rPr>
                        <a:t> valide la fiche et crée le dossier à soumettre.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RG-DAO-03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conditions pour ouvrir une fiche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ligne doit appartenir au périmètre de la PRMP (sinon elle n’apprend rien d’autre), sans vacance de son mandat ; ne pas être retirée ; appartenir à la dernière version du plan ; avoir un mode de passation qui appelle un DAO ; et le plan doit avoir un </a:t>
                      </a:r>
                      <a:r>
                        <a:rPr lang="en-US" sz="1100" b="1" dirty="0">
                          <a:solidFill>
                            <a:srgbClr val="1B2A3A"/>
                          </a:solidFill>
                          <a:latin typeface="Segoe UI" pitchFamily="34" charset="0"/>
                          <a:ea typeface="Segoe UI" pitchFamily="34" charset="-122"/>
                          <a:cs typeface="Segoe UI" pitchFamily="34" charset="-120"/>
                        </a:rPr>
                        <a:t>PV signé favorable</a:t>
                      </a:r>
                      <a:r>
                        <a:rPr lang="en-US" sz="1100" dirty="0">
                          <a:solidFill>
                            <a:srgbClr val="1B2A3A"/>
                          </a:solidFill>
                          <a:latin typeface="Segoe UI" pitchFamily="34" charset="0"/>
                          <a:ea typeface="Segoe UI" pitchFamily="34" charset="-122"/>
                          <a:cs typeface="Segoe UI" pitchFamily="34" charset="-120"/>
                        </a:rPr>
                        <a:t> (ou favorable avec réserves levées), ou être réputé approuvé (art. 26-IV). Une seule fiche par ligne.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RG-DAO-04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mode de passation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Il doit être rattaché au type « appel d’offres » par l’Administrateur. Depuis le 08/10, le mode « Appel à manifestation d’intérêt » l’est aussi : les lignes de prestations intellectuelles en AMI ouvrent leur fiche comme les autres.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RG-DAO-05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 ligne à travers les versions du plan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fiche suit sa ligne jusqu’à la </a:t>
                      </a:r>
                      <a:r>
                        <a:rPr lang="en-US" sz="1100" b="1" dirty="0">
                          <a:solidFill>
                            <a:srgbClr val="1B2A3A"/>
                          </a:solidFill>
                          <a:latin typeface="Segoe UI" pitchFamily="34" charset="0"/>
                          <a:ea typeface="Segoe UI" pitchFamily="34" charset="-122"/>
                          <a:cs typeface="Segoe UI" pitchFamily="34" charset="-120"/>
                        </a:rPr>
                        <a:t>dernière version signée</a:t>
                      </a:r>
                      <a:r>
                        <a:rPr lang="en-US" sz="1100" dirty="0">
                          <a:solidFill>
                            <a:srgbClr val="1B2A3A"/>
                          </a:solidFill>
                          <a:latin typeface="Segoe UI" pitchFamily="34" charset="0"/>
                          <a:ea typeface="Segoe UI" pitchFamily="34" charset="-122"/>
                          <a:cs typeface="Segoe UI" pitchFamily="34" charset="-120"/>
                        </a:rPr>
                        <a:t> du plan ; une mise à jour encore en instruction ne la change pas. Une ligne retirée entre-temps est signalée.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Fiche marché d’un appel d’offres (DAO), lot 1 · regles-gestion.md § Fiche marché d’un appel d’offres (DAO), lot 1 ; § Le dossier soumis — manuel révisé, lot 2, tranche R6b · regles-gestion.md § 3.8 — Le mode « Appel à manifestation d’intérêt » ouvre une fiche (2026-10-08)</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366</a:t>
            </a:r>
            <a:endParaRPr lang="en-US" sz="1100" dirty="0"/>
          </a:p>
        </p:txBody>
      </p:sp>
    </p:spTree>
  </p:cSld>
  <p:clrMapOvr>
    <a:masterClrMapping/>
  </p:clrMapOvr>
</p:sld>
</file>

<file path=ppt/slides/slide367.xml><?xml version="1.0" encoding="utf-8"?>
<p:sld xmlns:a="http://schemas.openxmlformats.org/drawingml/2006/main" xmlns:r="http://schemas.openxmlformats.org/officeDocument/2006/relationships" xmlns:p="http://schemas.openxmlformats.org/presentationml/2006/main">
  <p:cSld name="Slide 36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04 PRÉPARER LE DAO</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Préparer une fiche : qui, et sur quelle ligne (2/2)</a:t>
            </a:r>
            <a:endParaRPr lang="en-US" sz="2600" dirty="0"/>
          </a:p>
        </p:txBody>
      </p:sp>
      <p:graphicFrame>
        <p:nvGraphicFramePr>
          <p:cNvPr id="368"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RG-DAO-06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Une fiche ouverte par erreur</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Elle se </a:t>
                      </a:r>
                      <a:r>
                        <a:rPr lang="en-US" sz="1100" b="1" dirty="0">
                          <a:solidFill>
                            <a:srgbClr val="1B2A3A"/>
                          </a:solidFill>
                          <a:latin typeface="Segoe UI" pitchFamily="34" charset="0"/>
                          <a:ea typeface="Segoe UI" pitchFamily="34" charset="-122"/>
                          <a:cs typeface="Segoe UI" pitchFamily="34" charset="-120"/>
                        </a:rPr>
                        <a:t>supprime</a:t>
                      </a:r>
                      <a:r>
                        <a:rPr lang="en-US" sz="1100" dirty="0">
                          <a:solidFill>
                            <a:srgbClr val="1B2A3A"/>
                          </a:solidFill>
                          <a:latin typeface="Segoe UI" pitchFamily="34" charset="0"/>
                          <a:ea typeface="Segoe UI" pitchFamily="34" charset="-122"/>
                          <a:cs typeface="Segoe UI" pitchFamily="34" charset="-120"/>
                        </a:rPr>
                        <a:t> tant qu’elle n’a pas d’histoire (jamais validée, sans document, sans dossier) ; la ligne redevient disponible. Une fiche validée ne se supprime pas : elle se </a:t>
                      </a:r>
                      <a:r>
                        <a:rPr lang="en-US" sz="1100" b="1" dirty="0">
                          <a:solidFill>
                            <a:srgbClr val="1B2A3A"/>
                          </a:solidFill>
                          <a:latin typeface="Segoe UI" pitchFamily="34" charset="0"/>
                          <a:ea typeface="Segoe UI" pitchFamily="34" charset="-122"/>
                          <a:cs typeface="Segoe UI" pitchFamily="34" charset="-120"/>
                        </a:rPr>
                        <a:t>révise</a:t>
                      </a:r>
                      <a:r>
                        <a:rPr lang="en-US" sz="1100" dirty="0">
                          <a:solidFill>
                            <a:srgbClr val="1B2A3A"/>
                          </a:solidFill>
                          <a:latin typeface="Segoe UI" pitchFamily="34" charset="0"/>
                          <a:ea typeface="Segoe UI" pitchFamily="34" charset="-122"/>
                          <a:cs typeface="Segoe UI" pitchFamily="34" charset="-120"/>
                        </a:rPr>
                        <a: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Fiche marché d’un appel d’offres (DAO), lot 1</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367</a:t>
            </a:r>
            <a:endParaRPr lang="en-US" sz="1100" dirty="0"/>
          </a:p>
        </p:txBody>
      </p:sp>
    </p:spTree>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p:cSld name="Slide 36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04 PRÉPARER LE DAO</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deux axes de la fiche viennent du plan</a:t>
            </a:r>
            <a:endParaRPr lang="en-US" sz="2600" dirty="0"/>
          </a:p>
        </p:txBody>
      </p:sp>
      <p:graphicFrame>
        <p:nvGraphicFramePr>
          <p:cNvPr id="369"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RG-DAO-07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 catégorie = la nature de la ligne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Fournitures et services, travaux, ou prestations intellectuelles : la catégorie se déduit de la nature de la ligne, selon la correspondance que tient l’Administrateur ; ce n’est jamais une réponse du cadrage. Sans nature, ou sans correspondance, la création est refusée avec son motif.</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RG-DAO-08</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 forme = la forme de la ligne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Quantité fixe, à commandes ou contrat-cadre : la forme est lue sur la ligne courante du plan et figure parmi les informations reprises ; la question n’est plus posée au cadrage.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RG-DAO-09</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Ligne sans forme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fiche se lit, mais ne se crée ni ne s’écrit : le message nomme l’information « Forme du marché » à compléter dans le plan. Aucune valeur par défaut ne décide à la place du plan.</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RG-DAO-10</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Fiche saisie sous une autre catégorie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Si la ligne change de catégorie, un brouillon est signalé et se réaligne en reprenant son cadrage ; une version validée ne change ni de numéro ni de contenu.</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RG-DAO-11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règles de la catégorie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Chaque fiche se valide avec les règles de </a:t>
                      </a:r>
                      <a:r>
                        <a:rPr lang="en-US" sz="1100" b="1" dirty="0">
                          <a:solidFill>
                            <a:srgbClr val="1B2A3A"/>
                          </a:solidFill>
                          <a:latin typeface="Segoe UI" pitchFamily="34" charset="0"/>
                          <a:ea typeface="Segoe UI" pitchFamily="34" charset="-122"/>
                          <a:cs typeface="Segoe UI" pitchFamily="34" charset="-120"/>
                        </a:rPr>
                        <a:t>sa</a:t>
                      </a:r>
                      <a:r>
                        <a:rPr lang="en-US" sz="1100" dirty="0">
                          <a:solidFill>
                            <a:srgbClr val="1B2A3A"/>
                          </a:solidFill>
                          <a:latin typeface="Segoe UI" pitchFamily="34" charset="0"/>
                          <a:ea typeface="Segoe UI" pitchFamily="34" charset="-122"/>
                          <a:cs typeface="Segoe UI" pitchFamily="34" charset="-120"/>
                        </a:rPr>
                        <a:t> catégorie : quand deux catégories posent la même question (allotissement, forme de prix…), c’est la définition de la catégorie de la fiche qui s’applique.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Les trois catégories de fiche DAO (lot 5)</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368</a:t>
            </a:r>
            <a:endParaRPr lang="en-US" sz="1100" dirty="0"/>
          </a:p>
        </p:txBody>
      </p:sp>
    </p:spTree>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p:cSld name="Slide 36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04 PRÉPARER LE DAO</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Cadrer, saisir, contrôler (1/2)</a:t>
            </a:r>
            <a:endParaRPr lang="en-US" sz="2600" dirty="0"/>
          </a:p>
        </p:txBody>
      </p:sp>
      <p:graphicFrame>
        <p:nvGraphicFramePr>
          <p:cNvPr id="370"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RG-DAO-12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cadrage ouvre et ferme des rubriques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Une information peut dépendre d’une réponse du cadrage. Si la condition n’est pas remplie, ou si la question est sans réponse, l’information est ignorée et n’entre pas dans le bilan.</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RG-DAO-13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Enregistrer n’est pas valider</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 bloc s’enregistre </a:t>
                      </a:r>
                      <a:r>
                        <a:rPr lang="en-US" sz="1100" b="1" dirty="0">
                          <a:solidFill>
                            <a:srgbClr val="1B2A3A"/>
                          </a:solidFill>
                          <a:latin typeface="Segoe UI" pitchFamily="34" charset="0"/>
                          <a:ea typeface="Segoe UI" pitchFamily="34" charset="-122"/>
                          <a:cs typeface="Segoe UI" pitchFamily="34" charset="-120"/>
                        </a:rPr>
                        <a:t>incomplet</a:t>
                      </a:r>
                      <a:r>
                        <a:rPr lang="en-US" sz="1100" dirty="0">
                          <a:solidFill>
                            <a:srgbClr val="1B2A3A"/>
                          </a:solidFill>
                          <a:latin typeface="Segoe UI" pitchFamily="34" charset="0"/>
                          <a:ea typeface="Segoe UI" pitchFamily="34" charset="-122"/>
                          <a:cs typeface="Segoe UI" pitchFamily="34" charset="-120"/>
                        </a:rPr>
                        <a:t>. Une valeur illisible (montant négatif, option inconnue) est refusée information par information ; une information obligatoire manquante ne bloque qu’au bilan.</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RG-DAO-14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bilan des contrôles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Recalculé à chaque ouverture : informations obligatoires, montants positifs, ordre des dates, garantie valable plus longtemps que les offres, avance d’au plus 20 % et garantie de restitution au-delà de 5 %, paiement du forfait 60/40 ; s’y ajoutent des avertissements. Un contrôle bloquant ferme la validation.</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RG-DAO-15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On ne demande que ce qui sert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fiche ne demande que ce que le dossier </a:t>
                      </a:r>
                      <a:r>
                        <a:rPr lang="en-US" sz="1100" b="1" dirty="0">
                          <a:solidFill>
                            <a:srgbClr val="1B2A3A"/>
                          </a:solidFill>
                          <a:latin typeface="Segoe UI" pitchFamily="34" charset="0"/>
                          <a:ea typeface="Segoe UI" pitchFamily="34" charset="-122"/>
                          <a:cs typeface="Segoe UI" pitchFamily="34" charset="-120"/>
                        </a:rPr>
                        <a:t>imprime</a:t>
                      </a:r>
                      <a:r>
                        <a:rPr lang="en-US" sz="1100" dirty="0">
                          <a:solidFill>
                            <a:srgbClr val="1B2A3A"/>
                          </a:solidFill>
                          <a:latin typeface="Segoe UI" pitchFamily="34" charset="0"/>
                          <a:ea typeface="Segoe UI" pitchFamily="34" charset="-122"/>
                          <a:cs typeface="Segoe UI" pitchFamily="34" charset="-120"/>
                        </a:rPr>
                        <a:t> ou ce qu’un </a:t>
                      </a:r>
                      <a:r>
                        <a:rPr lang="en-US" sz="1100" b="1" dirty="0">
                          <a:solidFill>
                            <a:srgbClr val="1B2A3A"/>
                          </a:solidFill>
                          <a:latin typeface="Segoe UI" pitchFamily="34" charset="0"/>
                          <a:ea typeface="Segoe UI" pitchFamily="34" charset="-122"/>
                          <a:cs typeface="Segoe UI" pitchFamily="34" charset="-120"/>
                        </a:rPr>
                        <a:t>contrôle lit</a:t>
                      </a:r>
                      <a:r>
                        <a:rPr lang="en-US" sz="1100" dirty="0">
                          <a:solidFill>
                            <a:srgbClr val="1B2A3A"/>
                          </a:solidFill>
                          <a:latin typeface="Segoe UI" pitchFamily="34" charset="0"/>
                          <a:ea typeface="Segoe UI" pitchFamily="34" charset="-122"/>
                          <a:cs typeface="Segoe UI" pitchFamily="34" charset="-120"/>
                        </a:rPr>
                        <a:t> : 25 informations retirées en fournitures, 17 en travaux (61 en contrat-cadre de travaux), 13 en prestations intellectuelles. Rien de ce qui avait été saisi n’est perdu.</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RG-DAO-16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Une version validée n’est jamais convertie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Si le référentiel de la fiche change, l’ancienne valeur reste lisible dans sa version, n’est pas reprise à la révision suivante, et se ressaisit.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Fiche marché d’un appel d’offres (DAO), lot 1 · regles-gestion.md § Fournitures : ce que la fiche demande, le DAO l’imprime · regles-gestion.md § Le besoin et les formulaires du candidat</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369</a:t>
            </a:r>
            <a:endParaRPr lang="en-US" sz="1100" dirty="0"/>
          </a:p>
        </p:txBody>
      </p:sp>
    </p:spTree>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p:cSld name="Slide 37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04 PRÉPARER LE DAO</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Cadrer, saisir, contrôler (2/2)</a:t>
            </a:r>
            <a:endParaRPr lang="en-US" sz="2600" dirty="0"/>
          </a:p>
        </p:txBody>
      </p:sp>
      <p:graphicFrame>
        <p:nvGraphicFramePr>
          <p:cNvPr id="371"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RG-DAO-17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 garantie de soumission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Plusieurs formes peuvent être admises (au moins une si la garantie est exigée) ; le candidat choisit. Son taux, rapporté au montant de chaque lot, est comparé aux bornes réglées par l’Administrateur (référence 2 %) : un </a:t>
                      </a:r>
                      <a:r>
                        <a:rPr lang="en-US" sz="1100" b="1" dirty="0">
                          <a:solidFill>
                            <a:srgbClr val="1B2A3A"/>
                          </a:solidFill>
                          <a:latin typeface="Segoe UI" pitchFamily="34" charset="0"/>
                          <a:ea typeface="Segoe UI" pitchFamily="34" charset="-122"/>
                          <a:cs typeface="Segoe UI" pitchFamily="34" charset="-120"/>
                        </a:rPr>
                        <a:t>avertissement</a:t>
                      </a:r>
                      <a:r>
                        <a:rPr lang="en-US" sz="1100" dirty="0">
                          <a:solidFill>
                            <a:srgbClr val="1B2A3A"/>
                          </a:solidFill>
                          <a:latin typeface="Segoe UI" pitchFamily="34" charset="0"/>
                          <a:ea typeface="Segoe UI" pitchFamily="34" charset="-122"/>
                          <a:cs typeface="Segoe UI" pitchFamily="34" charset="-120"/>
                        </a:rPr>
                        <a:t>, jamais un blocage.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RG-DAO-52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délai de publicité de la loi</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Entre la publication de l’avis et la date limite de remise, la loi impose 30 jours pour l’appel d’offres ouvert national et 45 jours pour l’international (art. 35-II), le jour de départ non compté. Le délai est vérifié à la </a:t>
                      </a:r>
                      <a:r>
                        <a:rPr lang="en-US" sz="1100" b="1" dirty="0">
                          <a:solidFill>
                            <a:srgbClr val="1B2A3A"/>
                          </a:solidFill>
                          <a:latin typeface="Segoe UI" pitchFamily="34" charset="0"/>
                          <a:ea typeface="Segoe UI" pitchFamily="34" charset="-122"/>
                          <a:cs typeface="Segoe UI" pitchFamily="34" charset="-120"/>
                        </a:rPr>
                        <a:t>validation de la fiche</a:t>
                      </a:r>
                      <a:r>
                        <a:rPr lang="en-US" sz="1100" dirty="0">
                          <a:solidFill>
                            <a:srgbClr val="1B2A3A"/>
                          </a:solidFill>
                          <a:latin typeface="Segoe UI" pitchFamily="34" charset="0"/>
                          <a:ea typeface="Segoe UI" pitchFamily="34" charset="-122"/>
                          <a:cs typeface="Segoe UI" pitchFamily="34" charset="-120"/>
                        </a:rPr>
                        <a:t> et à l’</a:t>
                      </a:r>
                      <a:r>
                        <a:rPr lang="en-US" sz="1100" b="1" dirty="0">
                          <a:solidFill>
                            <a:srgbClr val="1B2A3A"/>
                          </a:solidFill>
                          <a:latin typeface="Segoe UI" pitchFamily="34" charset="0"/>
                          <a:ea typeface="Segoe UI" pitchFamily="34" charset="-122"/>
                          <a:cs typeface="Segoe UI" pitchFamily="34" charset="-120"/>
                        </a:rPr>
                        <a:t>impression de l’avis</a:t>
                      </a:r>
                      <a:r>
                        <a:rPr lang="en-US" sz="1100" dirty="0">
                          <a:solidFill>
                            <a:srgbClr val="1B2A3A"/>
                          </a:solidFill>
                          <a:latin typeface="Segoe UI" pitchFamily="34" charset="0"/>
                          <a:ea typeface="Segoe UI" pitchFamily="34" charset="-122"/>
                          <a:cs typeface="Segoe UI" pitchFamily="34" charset="-120"/>
                        </a:rPr>
                        <a:t> : non respecté, il refuse l’une et l’autre.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Fiche marché d’un appel d’offres (DAO), lot 1 · regles-gestion.md § Le dossier soumis — manuel révisé, lot 2, tranche R6a (2026-10-13)</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370</a:t>
            </a:r>
            <a:endParaRPr lang="en-US" sz="1100" dirty="0"/>
          </a:p>
        </p:txBody>
      </p:sp>
    </p:spTree>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p:cSld name="Slide 37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04 PRÉPARER LE DAO</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lots, le besoin, les formulaires du candidat (1/2)</a:t>
            </a:r>
            <a:endParaRPr lang="en-US" sz="2600" dirty="0"/>
          </a:p>
        </p:txBody>
      </p:sp>
      <p:graphicFrame>
        <p:nvGraphicFramePr>
          <p:cNvPr id="372"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RG-DAO-18</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Ce qui varie par lot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montant de la garantie de soumission, les montants minimum et maximum, le délai de livraison, le besoin… Le nombre de lots est celui du </a:t>
                      </a:r>
                      <a:r>
                        <a:rPr lang="en-US" sz="1100" b="1" dirty="0">
                          <a:solidFill>
                            <a:srgbClr val="1B2A3A"/>
                          </a:solidFill>
                          <a:latin typeface="Segoe UI" pitchFamily="34" charset="0"/>
                          <a:ea typeface="Segoe UI" pitchFamily="34" charset="-122"/>
                          <a:cs typeface="Segoe UI" pitchFamily="34" charset="-120"/>
                        </a:rPr>
                        <a:t>plan</a:t>
                      </a:r>
                      <a:r>
                        <a:rPr lang="en-US" sz="1100" dirty="0">
                          <a:solidFill>
                            <a:srgbClr val="1B2A3A"/>
                          </a:solidFill>
                          <a:latin typeface="Segoe UI" pitchFamily="34" charset="0"/>
                          <a:ea typeface="Segoe UI" pitchFamily="34" charset="-122"/>
                          <a:cs typeface="Segoe UI" pitchFamily="34" charset="-120"/>
                        </a:rPr>
                        <a:t> : la fiche n’en invente pas.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RG-DAO-19</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Obligatoire pour chaque lot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Une information obligatoire par lot l’est pour </a:t>
                      </a:r>
                      <a:r>
                        <a:rPr lang="en-US" sz="1100" b="1" dirty="0">
                          <a:solidFill>
                            <a:srgbClr val="1B2A3A"/>
                          </a:solidFill>
                          <a:latin typeface="Segoe UI" pitchFamily="34" charset="0"/>
                          <a:ea typeface="Segoe UI" pitchFamily="34" charset="-122"/>
                          <a:cs typeface="Segoe UI" pitchFamily="34" charset="-120"/>
                        </a:rPr>
                        <a:t>chaque</a:t>
                      </a:r>
                      <a:r>
                        <a:rPr lang="en-US" sz="1100" dirty="0">
                          <a:solidFill>
                            <a:srgbClr val="1B2A3A"/>
                          </a:solidFill>
                          <a:latin typeface="Segoe UI" pitchFamily="34" charset="0"/>
                          <a:ea typeface="Segoe UI" pitchFamily="34" charset="-122"/>
                          <a:cs typeface="Segoe UI" pitchFamily="34" charset="-120"/>
                        </a:rPr>
                        <a:t> lot : la fiche ne se valide pas tant qu’un lot en manque, et le bilan dit lequel.</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RG-DAO-20</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 acte d’engagement par lot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Chacun porte les montants de son lot ; les autres documents sont communs et écrivent la valeur lot par lot (« Lot n° 1 : … ; Lot n° 2 : … »).</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RG-DAO-21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besoin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Fournitures et services : article par article, lot par lot (désignation, unité, quantités, caractéristiques exigées). Travaux : le détail quantitatif et estimatif, par séries. Prestations intellectuelles : pas de besoin par article. La fiche ne se valide pas sans besoin complet.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RG-DAO-22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formulaires du candidat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Produits sur les modèles officiels, seuls les blancs remplis : fiches de renseignements une fois pour le dossier ; modèles de garantie une fois par lot, au montant du lot. Le bordereau des prix et le tableau de conformité sont générés depuis le besoin.</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Fiche marché d’un appel d’offres (DAO) · regles-gestion.md § Le besoin et les formulaires du candidat ; § La fiche DAO des travaux · regles-gestion.md § Le besoin et les formulaires du candidat</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371</a:t>
            </a:r>
            <a:endParaRPr lang="en-US" sz="1100" dirty="0"/>
          </a:p>
        </p:txBody>
      </p:sp>
    </p:spTree>
  </p:cSld>
  <p:clrMapOvr>
    <a:masterClrMapping/>
  </p:clrMapOvr>
</p:sld>
</file>

<file path=ppt/slides/slide372.xml><?xml version="1.0" encoding="utf-8"?>
<p:sld xmlns:a="http://schemas.openxmlformats.org/drawingml/2006/main" xmlns:r="http://schemas.openxmlformats.org/officeDocument/2006/relationships" xmlns:p="http://schemas.openxmlformats.org/presentationml/2006/main">
  <p:cSld name="Slide 37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04 PRÉPARER LE DAO</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lots, le besoin, les formulaires du candidat (2/2)</a:t>
            </a:r>
            <a:endParaRPr lang="en-US" sz="2600" dirty="0"/>
          </a:p>
        </p:txBody>
      </p:sp>
      <p:graphicFrame>
        <p:nvGraphicFramePr>
          <p:cNvPr id="373"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RG-DAO-23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Valeurs par défaut administrables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Les durées d’antécédents juridiques (5 ans) et financiers (3 ans) sont recopiées dans la fiche à sa création : changer le défaut ne touche pas les fiches déjà ouvertes.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Le besoin et les formulaires du candidat</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372</a:t>
            </a:r>
            <a:endParaRPr lang="en-US" sz="1100" dirty="0"/>
          </a:p>
        </p:txBody>
      </p:sp>
    </p:spTree>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p:cSld name="Slide 37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04 PRÉPARER LE DAO</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Valider, produire, réviser (1/2)</a:t>
            </a:r>
            <a:endParaRPr lang="en-US" sz="2600" dirty="0"/>
          </a:p>
        </p:txBody>
      </p:sp>
      <p:graphicFrame>
        <p:nvGraphicFramePr>
          <p:cNvPr id="374"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RG-DAO-24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Valider fige, réviser ouvre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PRMP seule valide ; un contrôle bloquant l’empêche. La version validée est figée et reste lisible ; réviser ouvre la version suivante en brouillon, copie de la précédente.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RG-DAO-25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documents naissent à la validation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Jamais sur un brouillon. Ils sont produits </a:t>
                      </a:r>
                      <a:r>
                        <a:rPr lang="en-US" sz="1100" b="1" dirty="0">
                          <a:solidFill>
                            <a:srgbClr val="1B2A3A"/>
                          </a:solidFill>
                          <a:latin typeface="Segoe UI" pitchFamily="34" charset="0"/>
                          <a:ea typeface="Segoe UI" pitchFamily="34" charset="-122"/>
                          <a:cs typeface="Segoe UI" pitchFamily="34" charset="-120"/>
                        </a:rPr>
                        <a:t>avant</a:t>
                      </a:r>
                      <a:r>
                        <a:rPr lang="en-US" sz="1100" dirty="0">
                          <a:solidFill>
                            <a:srgbClr val="1B2A3A"/>
                          </a:solidFill>
                          <a:latin typeface="Segoe UI" pitchFamily="34" charset="0"/>
                          <a:ea typeface="Segoe UI" pitchFamily="34" charset="-122"/>
                          <a:cs typeface="Segoe UI" pitchFamily="34" charset="-120"/>
                        </a:rPr>
                        <a:t> de figer la version : si la production échoue, la validation est annulée.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RG-DAO-26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document type de l’ARMP, rempli</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texte fixe est repris tel quel, les blancs remplis par la fiche ; les variantes de rédaction sont choisies par des </a:t>
                      </a:r>
                      <a:r>
                        <a:rPr lang="en-US" sz="1100" b="1" dirty="0">
                          <a:solidFill>
                            <a:srgbClr val="1B2A3A"/>
                          </a:solidFill>
                          <a:latin typeface="Segoe UI" pitchFamily="34" charset="0"/>
                          <a:ea typeface="Segoe UI" pitchFamily="34" charset="-122"/>
                          <a:cs typeface="Segoe UI" pitchFamily="34" charset="-120"/>
                        </a:rPr>
                        <a:t>conditions écrites dans le modèle</a:t>
                      </a:r>
                      <a:r>
                        <a:rPr lang="en-US" sz="1100" dirty="0">
                          <a:solidFill>
                            <a:srgbClr val="1B2A3A"/>
                          </a:solidFill>
                          <a:latin typeface="Segoe UI" pitchFamily="34" charset="0"/>
                          <a:ea typeface="Segoe UI" pitchFamily="34" charset="-122"/>
                          <a:cs typeface="Segoe UI" pitchFamily="34" charset="-120"/>
                        </a:rPr>
                        <a:t>. Ce que remplissent le candidat ou la notification reste à compléter. Un modèle illisible empêche le démarrage : un document ne sort jamais faux en silence.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RG-DAO-27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Jamais régénérés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Les documents d’une version validée sont ce que la Commission a examiné et ce que les candidats ont retiré. Une règle nouvelle des modèles ne vaut que pour les versions validées après elle ; seul l’assemblage du DAO complet peut être refait.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RG-DAO-28</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On corrige la fiche, pas son produit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Une pièce produite par la fiche ne se supprime pas à la main — Administrateur compris — et ne se double pas d’une pièce manuelle du même type.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Fiche marché d’un appel d’offres (DAO), lot 1 · regles-gestion.md § Le DAO complet sur les documents types officiels (lot D) · regles-gestion.md § Le DAO complet : un seul document · regles-gestion.md § Les documents générés (lot 2a)</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373</a:t>
            </a:r>
            <a:endParaRPr lang="en-US" sz="1100" dirty="0"/>
          </a:p>
        </p:txBody>
      </p:sp>
    </p:spTree>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p:cSld name="Slide 37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04 PRÉPARER LE DAO</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Valider, produire, réviser (2/2)</a:t>
            </a:r>
            <a:endParaRPr lang="en-US" sz="2600" dirty="0"/>
          </a:p>
        </p:txBody>
      </p:sp>
      <p:graphicFrame>
        <p:nvGraphicFramePr>
          <p:cNvPr id="375"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RG-DAO-29</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Montants en lettres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Les montants s’écrivent en lettres jusqu’aux milliards, dans la fiche comme dans les PV et les lettres.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Fiche marché d’un appel d’offres (DAO), lot 1</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374</a:t>
            </a:r>
            <a:endParaRPr lang="en-US" sz="1100" dirty="0"/>
          </a:p>
        </p:txBody>
      </p:sp>
    </p:spTree>
  </p:cSld>
  <p:clrMapOvr>
    <a:masterClrMapping/>
  </p:clrMapOvr>
</p:sld>
</file>

<file path=ppt/slides/slide375.xml><?xml version="1.0" encoding="utf-8"?>
<p:sld xmlns:a="http://schemas.openxmlformats.org/drawingml/2006/main" xmlns:r="http://schemas.openxmlformats.org/officeDocument/2006/relationships" xmlns:p="http://schemas.openxmlformats.org/presentationml/2006/main">
  <p:cSld name="Slide 37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04 PRÉPARER LE DAO</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DAO complet (1/2)</a:t>
            </a:r>
            <a:endParaRPr lang="en-US" sz="2600" dirty="0"/>
          </a:p>
        </p:txBody>
      </p:sp>
      <p:graphicFrame>
        <p:nvGraphicFramePr>
          <p:cNvPr id="376"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RG-DAO-30</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plan du document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Page de garde, sommaire général, deux parties : 1.1 instructions aux candidats, 1.2 données particulières, 1.3 formulaires ; 2.1 acte d’engagement lot par lot, 2.2 cahier des prescriptions spéciales, spécifications techniques et liste des fournitures, 2.3 CCAG. Il est produit à chaque validation, en Word et en PDF.</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RG-DAO-31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Il assemble, il ne réécrit rien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Chaque partie est le document que la fiche produit déjà. La page de garde lit sur le plan le financement, l’imputation et le compte.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RG-DAO-32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Où il est servi</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Dans les documents de la fiche ; au dossier soumis à la Commission, dont il est la </a:t>
                      </a:r>
                      <a:r>
                        <a:rPr lang="en-US" sz="1100" b="1" dirty="0">
                          <a:solidFill>
                            <a:srgbClr val="1B2A3A"/>
                          </a:solidFill>
                          <a:latin typeface="Segoe UI" pitchFamily="34" charset="0"/>
                          <a:ea typeface="Segoe UI" pitchFamily="34" charset="-122"/>
                          <a:cs typeface="Segoe UI" pitchFamily="34" charset="-120"/>
                        </a:rPr>
                        <a:t>pièce unique</a:t>
                      </a:r>
                      <a:r>
                        <a:rPr lang="en-US" sz="1100" dirty="0">
                          <a:solidFill>
                            <a:srgbClr val="1B2A3A"/>
                          </a:solidFill>
                          <a:latin typeface="Segoe UI" pitchFamily="34" charset="0"/>
                          <a:ea typeface="Segoe UI" pitchFamily="34" charset="-122"/>
                          <a:cs typeface="Segoe UI" pitchFamily="34" charset="-120"/>
                        </a:rPr>
                        <a:t> du DAO ; au retrait par les candidats, après paiement des frais.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RG-DAO-33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Ce qui reste à part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Les classeurs (bordereau des prix, détail quantitatif, tableau de conformité), l’avis spécifique et les lettres d’invitation. En prestations intellectuelles, le document s’intitule « Dossier de consultation ».</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RG-DAO-34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spécifications techniques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 document Word joint par la PRMP ou son UGPM (20 Mo au plus, sans macros), figé à la validation et recopié à la révision. Tant qu’il manque, un </a:t>
                      </a:r>
                      <a:r>
                        <a:rPr lang="en-US" sz="1100" b="1" dirty="0">
                          <a:solidFill>
                            <a:srgbClr val="1B2A3A"/>
                          </a:solidFill>
                          <a:latin typeface="Segoe UI" pitchFamily="34" charset="0"/>
                          <a:ea typeface="Segoe UI" pitchFamily="34" charset="-122"/>
                          <a:cs typeface="Segoe UI" pitchFamily="34" charset="-120"/>
                        </a:rPr>
                        <a:t>avertissement</a:t>
                      </a:r>
                      <a:r>
                        <a:rPr lang="en-US" sz="1100" dirty="0">
                          <a:solidFill>
                            <a:srgbClr val="1B2A3A"/>
                          </a:solidFill>
                          <a:latin typeface="Segoe UI" pitchFamily="34" charset="0"/>
                          <a:ea typeface="Segoe UI" pitchFamily="34" charset="-122"/>
                          <a:cs typeface="Segoe UI" pitchFamily="34" charset="-120"/>
                        </a:rPr>
                        <a:t>, non bloquant, le rappelle.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Le DAO complet : un seul document</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375</a:t>
            </a:r>
            <a:endParaRPr lang="en-US" sz="1100" dirty="0"/>
          </a:p>
        </p:txBody>
      </p:sp>
    </p:spTree>
  </p:cSld>
  <p:clrMapOvr>
    <a:masterClrMapping/>
  </p:clrMapOvr>
</p:sld>
</file>

<file path=ppt/slides/slide376.xml><?xml version="1.0" encoding="utf-8"?>
<p:sld xmlns:a="http://schemas.openxmlformats.org/drawingml/2006/main" xmlns:r="http://schemas.openxmlformats.org/officeDocument/2006/relationships" xmlns:p="http://schemas.openxmlformats.org/presentationml/2006/main">
  <p:cSld name="Slide 37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04 PRÉPARER LE DAO</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DAO complet (2/2)</a:t>
            </a:r>
            <a:endParaRPr lang="en-US" sz="2600" dirty="0"/>
          </a:p>
        </p:txBody>
      </p:sp>
      <p:graphicFrame>
        <p:nvGraphicFramePr>
          <p:cNvPr id="377"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RG-DAO-35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Une pièce ne s’imprime qu’une fois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Quand la liste des pièces de l’offre est saisie, le texte libre de la même rubrique n’est plus imprimé. En remise électronique, la liste est exigée : le candidat joint un fichier par pièce.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Le DAO complet : un seul document</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376</a:t>
            </a:r>
            <a:endParaRPr lang="en-US" sz="1100" dirty="0"/>
          </a:p>
        </p:txBody>
      </p:sp>
    </p:spTree>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p:cSld name="Slide 37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04 PRÉPARER LE DAO</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Après la validation : le dossier, la rectification, la publicité (1/2)</a:t>
            </a:r>
            <a:endParaRPr lang="en-US" sz="2600" dirty="0"/>
          </a:p>
        </p:txBody>
      </p:sp>
      <p:graphicFrame>
        <p:nvGraphicFramePr>
          <p:cNvPr id="378"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RG-DAO-36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 fiche produit le dossier</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PRMP crée le dossier depuis la dernière version validée ; un dossier par fiche. Entité, localité et PRMP viennent du plan : rien n’est redemandé. La Commission lit la fiche avec le dossier ; l’examen porte sur les pièces.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RG-DAO-37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 rectification est une révision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Jamais un nouveau dossier : la fiche ne se révise pas tant que la Commission tient le dossier ; resoumettre sans avoir revalidé est refusé ; les documents de la révision remplacent les pièces produites, l’ancienne version restant gardée.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RG-DAO-38</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L’avis spécifique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Fournitures et travaux : après un PV signé favorable, ou favorable avec réserves une fois levées ; sur la dernière version validée ; chaque impression est conservée. En remise électronique, il exige la cérémonie des clés close. Ce n’est pas une pièce du DAO.</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RG-DAO-39</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Prestations intellectuelles : l’AMI</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Pas d’avis public d’appel d’offres : la liste restreinte naît d’un appel à manifestation d’intérêt mené dans l’application (voir la partie 05).</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RG-DAO-40</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lettres et la demande de propositions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Les lettres d’invitation vont aux candidats de la liste restreinte définitive. Le dossier de la demande de propositions ne se crée qu’avec cette liste ; le rapport de présélection signé y est joint d’office.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Fiche marché d’un appel d’offres (DAO), lot 1 · regles-gestion.md § La rectification d’un dossier DAO après le PV (lot C) · regles-gestion.md § Fiche marché d’un appel d’offres (DAO) ; § La remise électronique des offres (2026-10-04) · regles-gestion.md § 3.8 — L’appel à manifestation d’intérêt en ligne · regles-gestion.md § 3.8 — La présélection et la liste restreinte</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377</a:t>
            </a:r>
            <a:endParaRPr lang="en-US" sz="1100" dirty="0"/>
          </a:p>
        </p:txBody>
      </p:sp>
    </p:spTree>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p:cSld name="Slide 37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04 PRÉPARER LE DAO</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Après la validation : le dossier, la rectification, la publicité (2/2)</a:t>
            </a:r>
            <a:endParaRPr lang="en-US" sz="2600" dirty="0"/>
          </a:p>
        </p:txBody>
      </p:sp>
      <p:graphicFrame>
        <p:nvGraphicFramePr>
          <p:cNvPr id="379"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RG-DAO-53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Pas d’avis sans DAO complet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L’avis spécifique et les lettres d’invitation ne s’impriment que si le DAO complet de la version validée existe (art. 31) ; il est assemblé à ce moment s’il manque, et l’impression est refusée s’il ne peut l’être.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RG-DAO-54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projet d’avis dès la validation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À chaque validation, l’application produit le </a:t>
                      </a:r>
                      <a:r>
                        <a:rPr lang="en-US" sz="1100" b="1" dirty="0">
                          <a:solidFill>
                            <a:srgbClr val="1B2A3A"/>
                          </a:solidFill>
                          <a:latin typeface="Segoe UI" pitchFamily="34" charset="0"/>
                          <a:ea typeface="Segoe UI" pitchFamily="34" charset="-122"/>
                          <a:cs typeface="Segoe UI" pitchFamily="34" charset="-120"/>
                        </a:rPr>
                        <a:t>projet d’avis</a:t>
                      </a:r>
                      <a:r>
                        <a:rPr lang="en-US" sz="1100" dirty="0">
                          <a:solidFill>
                            <a:srgbClr val="1B2A3A"/>
                          </a:solidFill>
                          <a:latin typeface="Segoe UI" pitchFamily="34" charset="0"/>
                          <a:ea typeface="Segoe UI" pitchFamily="34" charset="-122"/>
                          <a:cs typeface="Segoe UI" pitchFamily="34" charset="-120"/>
                        </a:rPr>
                        <a:t> (fournitures, travaux) ou le projet de lettre d’invitation (prestations intellectuelles), en filigrane « PROJET », sans publication ni destinataire, et le joint d’office au dossier. Un projet ne lance pas la ligne du plan. L’avis et la lettre doivent porter chaque mention du modèle type ; l’application les vérifie et nomme les écarts.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Le dossier soumis — manuel révisé, lot 2, tranche R9a (2026-10-14) · regles-gestion.md § Le dossier soumis — manuel révisé, lot 1, tranches R3b et R3c (2026-10-13)</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378</a:t>
            </a:r>
            <a:endParaRPr lang="en-US" sz="1100" dirty="0"/>
          </a:p>
        </p:txBody>
      </p:sp>
    </p:spTree>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p:cSld name="Slide 37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04 PRÉPARER LE DAO</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L’import du DAO</a:t>
            </a:r>
            <a:endParaRPr lang="en-US" sz="2600" dirty="0"/>
          </a:p>
        </p:txBody>
      </p:sp>
      <p:graphicFrame>
        <p:nvGraphicFramePr>
          <p:cNvPr id="380"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RG-DAO-41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 fiche reste la source de vérité</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 DAO déjà rédigé (Word, ou PDF issu d’un traitement de texte) peut être importé : ce qu’il dit est seulement </a:t>
                      </a:r>
                      <a:r>
                        <a:rPr lang="en-US" sz="1100" b="1" dirty="0">
                          <a:solidFill>
                            <a:srgbClr val="1B2A3A"/>
                          </a:solidFill>
                          <a:latin typeface="Segoe UI" pitchFamily="34" charset="0"/>
                          <a:ea typeface="Segoe UI" pitchFamily="34" charset="-122"/>
                          <a:cs typeface="Segoe UI" pitchFamily="34" charset="-120"/>
                        </a:rPr>
                        <a:t>proposé</a:t>
                      </a:r>
                      <a:r>
                        <a:rPr lang="en-US" sz="1100" dirty="0">
                          <a:solidFill>
                            <a:srgbClr val="1B2A3A"/>
                          </a:solidFill>
                          <a:latin typeface="Segoe UI" pitchFamily="34" charset="0"/>
                          <a:ea typeface="Segoe UI" pitchFamily="34" charset="-122"/>
                          <a:cs typeface="Segoe UI" pitchFamily="34" charset="-120"/>
                        </a:rPr>
                        <a:t> ; rien n’est écrit sans la PRMP.</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RG-DAO-42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Chaque proposition dit sa confiance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Haute, moyenne ou basse, avec le passage lu et la valeur déjà saisie. L’écran ne coche jamais d’office une case qui écraserait une saisie.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RG-DAO-43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plan fait foi</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Une information reprise du plan n’est jamais importée : un écart est signalé comme divergence. Les valeurs calculées, les pièces et le mode de remise ne s’importent pas.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RG-DAO-44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Rien ne contourne la saisie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Une valeur que la saisie refuserait est une anomalie ; une information fermée par le cadrage aussi. Deux lectures possibles d’un passage sont montrées, jamais tranchées.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RG-DAO-45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Une écriture d’un seul tenant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L’import ajoute sans effacer ; un seul refus, et rien n’est écrit. Il se fait sur un brouillon, par la PRMP ou son UGPM. Le fichier n’est pas conservé (son nom et son empreinte vont au journal). Un PDF scanné est refusé.</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L’import du DAO : l’import propose, la PRMP décide · regles-gestion.md § L’import du DAO ; demande-backend-2026-10-10-manuel-revise-lot2.md § B3 (✅)</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379</a:t>
            </a:r>
            <a:endParaRPr lang="en-US" sz="1100" dirty="0"/>
          </a:p>
        </p:txBody>
      </p:sp>
    </p:spTree>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p:cSld name="Slide 38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04 PRÉPARER LE DAO</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mode de remise (manuel révisé)</a:t>
            </a:r>
            <a:endParaRPr lang="en-US" sz="2600" dirty="0"/>
          </a:p>
        </p:txBody>
      </p:sp>
      <p:graphicFrame>
        <p:nvGraphicFramePr>
          <p:cNvPr id="381"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RG-DAO-46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Fixé dès la première validation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mode de remise des offres — papier ou électronique — est celui du cadrage ; dès qu’une version de la fiche est validée, il </a:t>
                      </a:r>
                      <a:r>
                        <a:rPr lang="en-US" sz="1100" b="1" dirty="0">
                          <a:solidFill>
                            <a:srgbClr val="1B2A3A"/>
                          </a:solidFill>
                          <a:latin typeface="Segoe UI" pitchFamily="34" charset="0"/>
                          <a:ea typeface="Segoe UI" pitchFamily="34" charset="-122"/>
                          <a:cs typeface="Segoe UI" pitchFamily="34" charset="-120"/>
                        </a:rPr>
                        <a:t>ne change plus</a:t>
                      </a:r>
                      <a:r>
                        <a:rPr lang="en-US" sz="1100" dirty="0">
                          <a:solidFill>
                            <a:srgbClr val="1B2A3A"/>
                          </a:solidFill>
                          <a:latin typeface="Segoe UI" pitchFamily="34" charset="0"/>
                          <a:ea typeface="Segoe UI" pitchFamily="34" charset="-122"/>
                          <a:cs typeface="Segoe UI" pitchFamily="34" charset="-120"/>
                        </a:rPr>
                        <a:t> : une procédure commencée sur papier s’achève sur papier, et inversement. La révision recopie le mode.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RG-DAO-47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 migration documentée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Seul l’</a:t>
                      </a:r>
                      <a:r>
                        <a:rPr lang="en-US" sz="1100" b="1" dirty="0">
                          <a:solidFill>
                            <a:srgbClr val="1B2A3A"/>
                          </a:solidFill>
                          <a:latin typeface="Segoe UI" pitchFamily="34" charset="0"/>
                          <a:ea typeface="Segoe UI" pitchFamily="34" charset="-122"/>
                          <a:cs typeface="Segoe UI" pitchFamily="34" charset="-120"/>
                        </a:rPr>
                        <a:t>Administrateur</a:t>
                      </a:r>
                      <a:r>
                        <a:rPr lang="en-US" sz="1100" dirty="0">
                          <a:solidFill>
                            <a:srgbClr val="1B2A3A"/>
                          </a:solidFill>
                          <a:latin typeface="Segoe UI" pitchFamily="34" charset="0"/>
                          <a:ea typeface="Segoe UI" pitchFamily="34" charset="-122"/>
                          <a:cs typeface="Segoe UI" pitchFamily="34" charset="-120"/>
                        </a:rPr>
                        <a:t> peut migrer le mode, avec un </a:t>
                      </a:r>
                      <a:r>
                        <a:rPr lang="en-US" sz="1100" b="1" dirty="0">
                          <a:solidFill>
                            <a:srgbClr val="1B2A3A"/>
                          </a:solidFill>
                          <a:latin typeface="Segoe UI" pitchFamily="34" charset="0"/>
                          <a:ea typeface="Segoe UI" pitchFamily="34" charset="-122"/>
                          <a:cs typeface="Segoe UI" pitchFamily="34" charset="-120"/>
                        </a:rPr>
                        <a:t>motif obligatoire</a:t>
                      </a:r>
                      <a:r>
                        <a:rPr lang="en-US" sz="1100" dirty="0">
                          <a:solidFill>
                            <a:srgbClr val="1B2A3A"/>
                          </a:solidFill>
                          <a:latin typeface="Segoe UI" pitchFamily="34" charset="0"/>
                          <a:ea typeface="Segoe UI" pitchFamily="34" charset="-122"/>
                          <a:cs typeface="Segoe UI" pitchFamily="34" charset="-120"/>
                        </a:rPr>
                        <a:t>. La migration ouvre une révision avec le nouveau mode (la version validée reste intacte), porte sa date, son auteur et son motif, et s’inscrit au journal ; la PRMP complète ce que le nouveau mode exige, puis valide. Elle est refusée dès qu’une offre a été déposée en ligne, qu’une cérémonie des clés est close ou qu’un lot est attribué.</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RG-DAO-48</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Ce que le mode décide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En remise électronique, les pièces que l’application produit elle-même ne sont plus exigées au dossier et les contrôles automatiques s’appliquent ; en papier, toutes les pièces du manuel restent exigées et les contrôles automatiques sont sans objet.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Le dossier soumis — manuel révisé, lot 2, tranche R8 (2026-10-13) · regles-gestion.md § Le dossier soumis — manuel révisé, lot 2, tranche R8 ; demande-backend-2026-10-10-manuel-revise-lot2.md § B3 (✅) · regles-gestion.md § Le dossier soumis — manuel révisé, lot 2, tranche R8</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380</a:t>
            </a:r>
            <a:endParaRPr lang="en-US" sz="1100" dirty="0"/>
          </a:p>
        </p:txBody>
      </p:sp>
    </p:spTree>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p:cSld name="Slide 38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04 PRÉPARER LE DAO</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questions des candidats (manuel révisé)</a:t>
            </a:r>
            <a:endParaRPr lang="en-US" sz="2600" dirty="0"/>
          </a:p>
        </p:txBody>
      </p:sp>
      <p:graphicFrame>
        <p:nvGraphicFramePr>
          <p:cNvPr id="382"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RG-DAO-49</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Jusqu’à dix jours avant la date limite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 candidat qui a </a:t>
                      </a:r>
                      <a:r>
                        <a:rPr lang="en-US" sz="1100" b="1" dirty="0">
                          <a:solidFill>
                            <a:srgbClr val="1B2A3A"/>
                          </a:solidFill>
                          <a:latin typeface="Segoe UI" pitchFamily="34" charset="0"/>
                          <a:ea typeface="Segoe UI" pitchFamily="34" charset="-122"/>
                          <a:cs typeface="Segoe UI" pitchFamily="34" charset="-120"/>
                        </a:rPr>
                        <a:t>retiré le DAO</a:t>
                      </a:r>
                      <a:r>
                        <a:rPr lang="en-US" sz="1100" dirty="0">
                          <a:solidFill>
                            <a:srgbClr val="1B2A3A"/>
                          </a:solidFill>
                          <a:latin typeface="Segoe UI" pitchFamily="34" charset="0"/>
                          <a:ea typeface="Segoe UI" pitchFamily="34" charset="-122"/>
                          <a:cs typeface="Segoe UI" pitchFamily="34" charset="-120"/>
                        </a:rPr>
                        <a:t> d’une procédure en ligne peut poser une question à la PRMP jusqu’à </a:t>
                      </a:r>
                      <a:r>
                        <a:rPr lang="en-US" sz="1100" b="1" dirty="0">
                          <a:solidFill>
                            <a:srgbClr val="1B2A3A"/>
                          </a:solidFill>
                          <a:latin typeface="Segoe UI" pitchFamily="34" charset="0"/>
                          <a:ea typeface="Segoe UI" pitchFamily="34" charset="-122"/>
                          <a:cs typeface="Segoe UI" pitchFamily="34" charset="-120"/>
                        </a:rPr>
                        <a:t>dix jours avant la date limite</a:t>
                      </a:r>
                      <a:r>
                        <a:rPr lang="en-US" sz="1100" dirty="0">
                          <a:solidFill>
                            <a:srgbClr val="1B2A3A"/>
                          </a:solidFill>
                          <a:latin typeface="Segoe UI" pitchFamily="34" charset="0"/>
                          <a:ea typeface="Segoe UI" pitchFamily="34" charset="-122"/>
                          <a:cs typeface="Segoe UI" pitchFamily="34" charset="-120"/>
                        </a:rPr>
                        <a:t> de remise des offres, ce dixième jour compris (art. 35-II) ; passé ce jour, les questions sont closes. Un candidat absent du registre des retraits ne peut pas en poser.</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RG-DAO-50</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Répondre, c’est diffuser</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PRMP répond par écrit, avec une pièce jointe si elle le souhaite ; l’UGPM lit sans répondre. La réponse est </a:t>
                      </a:r>
                      <a:r>
                        <a:rPr lang="en-US" sz="1100" b="1" dirty="0">
                          <a:solidFill>
                            <a:srgbClr val="1B2A3A"/>
                          </a:solidFill>
                          <a:latin typeface="Segoe UI" pitchFamily="34" charset="0"/>
                          <a:ea typeface="Segoe UI" pitchFamily="34" charset="-122"/>
                          <a:cs typeface="Segoe UI" pitchFamily="34" charset="-120"/>
                        </a:rPr>
                        <a:t>définitive</a:t>
                      </a:r>
                      <a:r>
                        <a:rPr lang="en-US" sz="1100" dirty="0">
                          <a:solidFill>
                            <a:srgbClr val="1B2A3A"/>
                          </a:solidFill>
                          <a:latin typeface="Segoe UI" pitchFamily="34" charset="0"/>
                          <a:ea typeface="Segoe UI" pitchFamily="34" charset="-122"/>
                          <a:cs typeface="Segoe UI" pitchFamily="34" charset="-120"/>
                        </a:rPr>
                        <a:t> et </a:t>
                      </a:r>
                      <a:r>
                        <a:rPr lang="en-US" sz="1100" b="1" dirty="0">
                          <a:solidFill>
                            <a:srgbClr val="1B2A3A"/>
                          </a:solidFill>
                          <a:latin typeface="Segoe UI" pitchFamily="34" charset="0"/>
                          <a:ea typeface="Segoe UI" pitchFamily="34" charset="-122"/>
                          <a:cs typeface="Segoe UI" pitchFamily="34" charset="-120"/>
                        </a:rPr>
                        <a:t>diffusée aussitôt</a:t>
                      </a:r>
                      <a:r>
                        <a:rPr lang="en-US" sz="1100" dirty="0">
                          <a:solidFill>
                            <a:srgbClr val="1B2A3A"/>
                          </a:solidFill>
                          <a:latin typeface="Segoe UI" pitchFamily="34" charset="0"/>
                          <a:ea typeface="Segoe UI" pitchFamily="34" charset="-122"/>
                          <a:cs typeface="Segoe UI" pitchFamily="34" charset="-120"/>
                        </a:rPr>
                        <a:t> à tous les candidats ayant retiré le dossier, et sur la page publique de la procédure, sans le nom de l’auteur. Les questions répondues sont jointes d’office au dossier soumis à la Commission ; la loi ne fixe pas de délai de réponse.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Le dossier soumis — manuel révisé, lot 2, tranche R7 (2026-10-13) · regles-gestion.md § Le dossier soumis — manuel révisé, lot 2, tranche R7 ; demande-backend-2026-10-10-manuel-revise-lot2.md § B2 (✅)</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381</a:t>
            </a:r>
            <a:endParaRPr lang="en-US" sz="1100" dirty="0"/>
          </a:p>
        </p:txBody>
      </p:sp>
    </p:spTree>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p:cSld name="Slide 38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04 PRÉPARER LE DAO</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procédure en remise électronique</a:t>
            </a:r>
            <a:endParaRPr lang="en-US" sz="2600" dirty="0"/>
          </a:p>
        </p:txBody>
      </p:sp>
      <p:graphicFrame>
        <p:nvGraphicFramePr>
          <p:cNvPr id="383"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RG-DAO-51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 signature de l’offre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Pendant une procédure en ligne, le dépôt de l’offre depuis le compte authentifié du candidat, </a:t>
                      </a:r>
                      <a:r>
                        <a:rPr lang="en-US" sz="1100" b="1" dirty="0">
                          <a:solidFill>
                            <a:srgbClr val="1B2A3A"/>
                          </a:solidFill>
                          <a:latin typeface="Segoe UI" pitchFamily="34" charset="0"/>
                          <a:ea typeface="Segoe UI" pitchFamily="34" charset="-122"/>
                          <a:cs typeface="Segoe UI" pitchFamily="34" charset="-120"/>
                        </a:rPr>
                        <a:t>scellé par la plateforme</a:t>
                      </a:r>
                      <a:r>
                        <a:rPr lang="en-US" sz="1100" dirty="0">
                          <a:solidFill>
                            <a:srgbClr val="1B2A3A"/>
                          </a:solidFill>
                          <a:latin typeface="Segoe UI" pitchFamily="34" charset="0"/>
                          <a:ea typeface="Segoe UI" pitchFamily="34" charset="-122"/>
                          <a:cs typeface="Segoe UI" pitchFamily="34" charset="-120"/>
                        </a:rPr>
                        <a:t>, vaut signature de l’offre et de l’acte d’engagement ; les données particulières du DAO le disent. L’attributaire remet ensuite l’</a:t>
                      </a:r>
                      <a:r>
                        <a:rPr lang="en-US" sz="1100" b="1" dirty="0">
                          <a:solidFill>
                            <a:srgbClr val="1B2A3A"/>
                          </a:solidFill>
                          <a:latin typeface="Segoe UI" pitchFamily="34" charset="0"/>
                          <a:ea typeface="Segoe UI" pitchFamily="34" charset="-122"/>
                          <a:cs typeface="Segoe UI" pitchFamily="34" charset="-120"/>
                        </a:rPr>
                        <a:t>original signé</a:t>
                      </a:r>
                      <a:r>
                        <a:rPr lang="en-US" sz="1100" dirty="0">
                          <a:solidFill>
                            <a:srgbClr val="1B2A3A"/>
                          </a:solidFill>
                          <a:latin typeface="Segoe UI" pitchFamily="34" charset="0"/>
                          <a:ea typeface="Segoe UI" pitchFamily="34" charset="-122"/>
                          <a:cs typeface="Segoe UI" pitchFamily="34" charset="-120"/>
                        </a:rPr>
                        <a:t> de son acte d’engagement, avant la signature du marché. La signature électronique certifiée est une option réservée, sans effet pour l’instant ; la procédure papier n’est pas concernée.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RG-DAO-55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 commission d’appel d’offres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Désignée par la </a:t>
                      </a:r>
                      <a:r>
                        <a:rPr lang="en-US" sz="1100" b="1" dirty="0">
                          <a:solidFill>
                            <a:srgbClr val="1B2A3A"/>
                          </a:solidFill>
                          <a:latin typeface="Segoe UI" pitchFamily="34" charset="0"/>
                          <a:ea typeface="Segoe UI" pitchFamily="34" charset="-122"/>
                          <a:cs typeface="Segoe UI" pitchFamily="34" charset="-120"/>
                        </a:rPr>
                        <a:t>PRMP</a:t>
                      </a:r>
                      <a:r>
                        <a:rPr lang="en-US" sz="1100" dirty="0">
                          <a:solidFill>
                            <a:srgbClr val="1B2A3A"/>
                          </a:solidFill>
                          <a:latin typeface="Segoe UI" pitchFamily="34" charset="0"/>
                          <a:ea typeface="Segoe UI" pitchFamily="34" charset="-122"/>
                          <a:cs typeface="Segoe UI" pitchFamily="34" charset="-120"/>
                        </a:rPr>
                        <a:t> par une décision, saisie par elle ou son UGPM : une commission par appel d’offres, au moins deux membres, un seul président, au plus un expert de l’objet. Ses membres détiennent chacun une part de la clé qui ouvrira les offres ; PRMP, UGPM, contrôleurs de la CNM et candidats en sont exclus.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RG-DAO-56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paramètres internes ne sortent jamais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Détenteurs des parts, quorum de déchiffrement, date de la cérémonie, dépositaire de la part de secours : ils ne s’impriment dans aucun document. Seul le </a:t>
                      </a:r>
                      <a:r>
                        <a:rPr lang="en-US" sz="1100" b="1" dirty="0">
                          <a:solidFill>
                            <a:srgbClr val="1B2A3A"/>
                          </a:solidFill>
                          <a:latin typeface="Segoe UI" pitchFamily="34" charset="0"/>
                          <a:ea typeface="Segoe UI" pitchFamily="34" charset="-122"/>
                          <a:cs typeface="Segoe UI" pitchFamily="34" charset="-120"/>
                        </a:rPr>
                        <a:t>responsable de la procédure</a:t>
                      </a:r>
                      <a:r>
                        <a:rPr lang="en-US" sz="1100" dirty="0">
                          <a:solidFill>
                            <a:srgbClr val="1B2A3A"/>
                          </a:solidFill>
                          <a:latin typeface="Segoe UI" pitchFamily="34" charset="0"/>
                          <a:ea typeface="Segoe UI" pitchFamily="34" charset="-122"/>
                          <a:cs typeface="Segoe UI" pitchFamily="34" charset="-120"/>
                        </a:rPr>
                        <a:t> les lit et les modifie ; chaque modification est journalisée avec l’ancienne et la nouvelle valeur. La fiche n’en montre à tous que l’état.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RG-DAO-57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responsable de la procédure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Une personne désignée par l’</a:t>
                      </a:r>
                      <a:r>
                        <a:rPr lang="en-US" sz="1100" b="1" dirty="0">
                          <a:solidFill>
                            <a:srgbClr val="1B2A3A"/>
                          </a:solidFill>
                          <a:latin typeface="Segoe UI" pitchFamily="34" charset="0"/>
                          <a:ea typeface="Segoe UI" pitchFamily="34" charset="-122"/>
                          <a:cs typeface="Segoe UI" pitchFamily="34" charset="-120"/>
                        </a:rPr>
                        <a:t>Administrateur</a:t>
                      </a:r>
                      <a:r>
                        <a:rPr lang="en-US" sz="1100" dirty="0">
                          <a:solidFill>
                            <a:srgbClr val="1B2A3A"/>
                          </a:solidFill>
                          <a:latin typeface="Segoe UI" pitchFamily="34" charset="0"/>
                          <a:ea typeface="Segoe UI" pitchFamily="34" charset="-122"/>
                          <a:cs typeface="Segoe UI" pitchFamily="34" charset="-120"/>
                        </a:rPr>
                        <a:t> pour cette procédure, une à la fois, jamais détentrice d’une part. En remise électronique, la fiche ne se valide pas sans lui. L’Administrateur voit toutes les procédures en ligne pour désigner les responsables et les suivre.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RG-DAO-58</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quorum et la cérémonie des clés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quorum de déchiffrement est compris entre 2 et le nombre de membres ; égal au nombre de membres, il est signalé (aucune perte tolérée). Une part de secours est générée par un </a:t>
                      </a:r>
                      <a:r>
                        <a:rPr lang="en-US" sz="1100" b="1" dirty="0">
                          <a:solidFill>
                            <a:srgbClr val="1B2A3A"/>
                          </a:solidFill>
                          <a:latin typeface="Segoe UI" pitchFamily="34" charset="0"/>
                          <a:ea typeface="Segoe UI" pitchFamily="34" charset="-122"/>
                          <a:cs typeface="Segoe UI" pitchFamily="34" charset="-120"/>
                        </a:rPr>
                        <a:t>dépositaire</a:t>
                      </a:r>
                      <a:r>
                        <a:rPr lang="en-US" sz="1100" dirty="0">
                          <a:solidFill>
                            <a:srgbClr val="1B2A3A"/>
                          </a:solidFill>
                          <a:latin typeface="Segoe UI" pitchFamily="34" charset="0"/>
                          <a:ea typeface="Segoe UI" pitchFamily="34" charset="-122"/>
                          <a:cs typeface="Segoe UI" pitchFamily="34" charset="-120"/>
                        </a:rPr>
                        <a:t> extérieur à la commission. La cérémonie des clés doit être close avant la publication de l’avis.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Le dossier soumis — manuel révisé, lot 2, tranche R10 (2026-10-14) ; demande-backend-2026-10-10-manuel-revise-lot2.md § B5 (✅) · regles-gestion.md § La remise électronique des offres (2026-10-04, lots 2a-2b et arbitrages V70) · regles-gestion.md § La remise électronique des offres · regles-gestion.md § La remise électronique des offres ; § la liste des procédures en ligne (2026-10-06) · regles-gestion.md § La remise électronique des offres (2026-10-04, V66 ; 2026-10-05, V71)</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382</a:t>
            </a:r>
            <a:endParaRPr lang="en-US" sz="1100" dirty="0"/>
          </a:p>
        </p:txBody>
      </p:sp>
    </p:spTree>
  </p:cSld>
  <p:clrMapOvr>
    <a:masterClrMapping/>
  </p:clrMapOvr>
</p:sld>
</file>

<file path=ppt/slides/slide383.xml><?xml version="1.0" encoding="utf-8"?>
<p:sld xmlns:a="http://schemas.openxmlformats.org/drawingml/2006/main" xmlns:r="http://schemas.openxmlformats.org/officeDocument/2006/relationships" xmlns:p="http://schemas.openxmlformats.org/presentationml/2006/main">
  <p:cSld name="Slide 38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04 PRÉPARER LE DAO</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retrait du DAO</a:t>
            </a:r>
            <a:endParaRPr lang="en-US" sz="2600" dirty="0"/>
          </a:p>
        </p:txBody>
      </p:sp>
      <p:graphicFrame>
        <p:nvGraphicFramePr>
          <p:cNvPr id="384"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RG-DAO-59</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Retrait après paiement vérifié</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Quand la fiche fixe des frais de dossier, le candidat ne retire le DAO qu’après avoir déposé le reçu de son versement sur le compte de l’ARMP, et que la </a:t>
                      </a:r>
                      <a:r>
                        <a:rPr lang="en-US" sz="1100" b="1" dirty="0">
                          <a:solidFill>
                            <a:srgbClr val="1B2A3A"/>
                          </a:solidFill>
                          <a:latin typeface="Segoe UI" pitchFamily="34" charset="0"/>
                          <a:ea typeface="Segoe UI" pitchFamily="34" charset="-122"/>
                          <a:cs typeface="Segoe UI" pitchFamily="34" charset="-120"/>
                        </a:rPr>
                        <a:t>PRMP ou son UGPM l’a validé</a:t>
                      </a:r>
                      <a:r>
                        <a:rPr lang="en-US" sz="1100" dirty="0">
                          <a:solidFill>
                            <a:srgbClr val="1B2A3A"/>
                          </a:solidFill>
                          <a:latin typeface="Segoe UI" pitchFamily="34" charset="0"/>
                          <a:ea typeface="Segoe UI" pitchFamily="34" charset="-122"/>
                          <a:cs typeface="Segoe UI" pitchFamily="34" charset="-120"/>
                        </a:rPr>
                        <a:t>. Un refus porte un motif. Le reçu vaut pour l’entreprise, pour un ou plusieurs lots. Une décision </a:t>
                      </a:r>
                      <a:r>
                        <a:rPr lang="en-US" sz="1100" b="1" dirty="0">
                          <a:solidFill>
                            <a:srgbClr val="1B2A3A"/>
                          </a:solidFill>
                          <a:latin typeface="Segoe UI" pitchFamily="34" charset="0"/>
                          <a:ea typeface="Segoe UI" pitchFamily="34" charset="-122"/>
                          <a:cs typeface="Segoe UI" pitchFamily="34" charset="-120"/>
                        </a:rPr>
                        <a:t>ne se reprend pas</a:t>
                      </a:r>
                      <a:r>
                        <a:rPr lang="en-US" sz="1100" dirty="0">
                          <a:solidFill>
                            <a:srgbClr val="1B2A3A"/>
                          </a:solidFill>
                          <a:latin typeface="Segoe UI" pitchFamily="34" charset="0"/>
                          <a:ea typeface="Segoe UI" pitchFamily="34" charset="-122"/>
                          <a:cs typeface="Segoe UI" pitchFamily="34" charset="-120"/>
                        </a:rPr>
                        <a: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RG-DAO-60</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registre des retraits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Chaque retrait en ligne est inscrit : date, compte, entreprise et NIF, document et version retirés, reçu des frais qui l’a ouvert. La PRMP le lit du plus ancien au plus récent.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La remise électronique — le retrait du DAO après paiement des frais (2026-10-06) · api-endpoints.md § Procédures ouvertes en ligne et retrait du DAO ; § Le retrait du DAO après paiement des frais</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383</a:t>
            </a:r>
            <a:endParaRPr lang="en-US" sz="1100" dirty="0"/>
          </a:p>
        </p:txBody>
      </p:sp>
    </p:spTree>
  </p:cSld>
  <p:clrMapOvr>
    <a:masterClrMapping/>
  </p:clrMapOvr>
</p:sld>
</file>

<file path=ppt/slides/slide384.xml><?xml version="1.0" encoding="utf-8"?>
<p:sld xmlns:a="http://schemas.openxmlformats.org/drawingml/2006/main" xmlns:r="http://schemas.openxmlformats.org/officeDocument/2006/relationships" xmlns:p="http://schemas.openxmlformats.org/presentationml/2006/main">
  <p:cSld name="Slide 38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05 L’APPEL À MANIFESTATION D’INTÉRÊT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Préparer l’appel</a:t>
            </a:r>
            <a:endParaRPr lang="en-US" sz="2600" dirty="0"/>
          </a:p>
        </p:txBody>
      </p:sp>
      <p:graphicFrame>
        <p:nvGraphicFramePr>
          <p:cNvPr id="385"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RG-AMI-01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mode AMI ouvre une fiche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mode « Appel à manifestation d’intérêt » des lignes de prestations intellectuelles est rattaché au type « appel d’offres » : la PRMP crée la fiche de la ligne, qui porte d’abord l’AMI, puis la demande de propositions.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RG-AMI-02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Préparé par la PRMP ou l’UGPM</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PRMP ou son UGPM prépare l’AMI de la procédure, sur une fiche de </a:t>
                      </a:r>
                      <a:r>
                        <a:rPr lang="en-US" sz="1100" b="1" dirty="0">
                          <a:solidFill>
                            <a:srgbClr val="1B2A3A"/>
                          </a:solidFill>
                          <a:latin typeface="Segoe UI" pitchFamily="34" charset="0"/>
                          <a:ea typeface="Segoe UI" pitchFamily="34" charset="-122"/>
                          <a:cs typeface="Segoe UI" pitchFamily="34" charset="-120"/>
                        </a:rPr>
                        <a:t>prestations intellectuelles</a:t>
                      </a:r>
                      <a:r>
                        <a:rPr lang="en-US" sz="1100" dirty="0">
                          <a:solidFill>
                            <a:srgbClr val="1B2A3A"/>
                          </a:solidFill>
                          <a:latin typeface="Segoe UI" pitchFamily="34" charset="0"/>
                          <a:ea typeface="Segoe UI" pitchFamily="34" charset="-122"/>
                          <a:cs typeface="Segoe UI" pitchFamily="34" charset="-120"/>
                        </a:rPr>
                        <a:t> seulement ; son objet est repris de la fiche.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RG-AMI-03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Des critères qui totalisent 100</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Les critères de sélection (aptitude, références, expérience…) portent chacun ses points ; les points </a:t>
                      </a:r>
                      <a:r>
                        <a:rPr lang="en-US" sz="1100" b="1" dirty="0">
                          <a:solidFill>
                            <a:srgbClr val="1B2A3A"/>
                          </a:solidFill>
                          <a:latin typeface="Segoe UI" pitchFamily="34" charset="0"/>
                          <a:ea typeface="Segoe UI" pitchFamily="34" charset="-122"/>
                          <a:cs typeface="Segoe UI" pitchFamily="34" charset="-120"/>
                        </a:rPr>
                        <a:t>totalisent 100</a:t>
                      </a:r>
                      <a:r>
                        <a:rPr lang="en-US" sz="1100" dirty="0">
                          <a:solidFill>
                            <a:srgbClr val="1B2A3A"/>
                          </a:solidFill>
                          <a:latin typeface="Segoe UI" pitchFamily="34" charset="0"/>
                          <a:ea typeface="Segoe UI" pitchFamily="34" charset="-122"/>
                          <a:cs typeface="Segoe UI" pitchFamily="34" charset="-120"/>
                        </a:rPr>
                        <a:t>. Une note minimale de qualification, sur 100, est facultative.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RG-AMI-04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Six candidats à retenir</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L’AMI fixe les pièces attendues, une date limite à venir et le nombre de candidats à retenir : </a:t>
                      </a:r>
                      <a:r>
                        <a:rPr lang="en-US" sz="1100" b="1" dirty="0">
                          <a:solidFill>
                            <a:srgbClr val="1B2A3A"/>
                          </a:solidFill>
                          <a:latin typeface="Segoe UI" pitchFamily="34" charset="0"/>
                          <a:ea typeface="Segoe UI" pitchFamily="34" charset="-122"/>
                          <a:cs typeface="Segoe UI" pitchFamily="34" charset="-120"/>
                        </a:rPr>
                        <a:t>six</a:t>
                      </a:r>
                      <a:r>
                        <a:rPr lang="en-US" sz="1100" dirty="0">
                          <a:solidFill>
                            <a:srgbClr val="1B2A3A"/>
                          </a:solidFill>
                          <a:latin typeface="Segoe UI" pitchFamily="34" charset="0"/>
                          <a:ea typeface="Segoe UI" pitchFamily="34" charset="-122"/>
                          <a:cs typeface="Segoe UI" pitchFamily="34" charset="-120"/>
                        </a:rPr>
                        <a:t> par défaut.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RG-AMI-05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Modifiable jusqu’à la publication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Tant qu’il n’est pas publié, l’AMI se modifie et son avis se lit en projet. Ses critères appartiennent à l’AMI, non à la fiche, et se figent à la publication.</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3.8 — Le mode « Appel à manifestation d’intérêt » ouvre une fiche (2026-10-08) · regles-gestion.md § 3.8 — L’appel à manifestation d’intérêt en ligne (tranche AMI-a)</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384</a:t>
            </a:r>
            <a:endParaRPr lang="en-US" sz="1100" dirty="0"/>
          </a:p>
        </p:txBody>
      </p:sp>
    </p:spTree>
  </p:cSld>
  <p:clrMapOvr>
    <a:masterClrMapping/>
  </p:clrMapOvr>
</p:sld>
</file>

<file path=ppt/slides/slide385.xml><?xml version="1.0" encoding="utf-8"?>
<p:sld xmlns:a="http://schemas.openxmlformats.org/drawingml/2006/main" xmlns:r="http://schemas.openxmlformats.org/officeDocument/2006/relationships" xmlns:p="http://schemas.openxmlformats.org/presentationml/2006/main">
  <p:cSld name="Slide 38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05 L’APPEL À MANIFESTATION D’INTÉRÊT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Publier ou dispenser</a:t>
            </a:r>
            <a:endParaRPr lang="en-US" sz="2600" dirty="0"/>
          </a:p>
        </p:txBody>
      </p:sp>
      <p:graphicFrame>
        <p:nvGraphicFramePr>
          <p:cNvPr id="386"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RG-AMI-06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 PRMP seule publie l’avis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PRMP seule publie l’AMI, en déclarant au moins un support daté (journal des marchés de l’ARMP, journal national…). L’AMI est figé ; l’avis, </a:t>
                      </a:r>
                      <a:r>
                        <a:rPr lang="en-US" sz="1100" b="1" dirty="0">
                          <a:solidFill>
                            <a:srgbClr val="1B2A3A"/>
                          </a:solidFill>
                          <a:latin typeface="Segoe UI" pitchFamily="34" charset="0"/>
                          <a:ea typeface="Segoe UI" pitchFamily="34" charset="-122"/>
                          <a:cs typeface="Segoe UI" pitchFamily="34" charset="-120"/>
                        </a:rPr>
                        <a:t>signé électroniquement</a:t>
                      </a:r>
                      <a:r>
                        <a:rPr lang="en-US" sz="1100" dirty="0">
                          <a:solidFill>
                            <a:srgbClr val="1B2A3A"/>
                          </a:solidFill>
                          <a:latin typeface="Segoe UI" pitchFamily="34" charset="0"/>
                          <a:ea typeface="Segoe UI" pitchFamily="34" charset="-122"/>
                          <a:cs typeface="Segoe UI" pitchFamily="34" charset="-120"/>
                        </a:rPr>
                        <a:t> par elle, paraît sur la liste publique des AMI.</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RG-AMI-07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 dispense de publicité motivée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PRMP peut déclarer la </a:t>
                      </a:r>
                      <a:r>
                        <a:rPr lang="en-US" sz="1100" b="1" dirty="0">
                          <a:solidFill>
                            <a:srgbClr val="1B2A3A"/>
                          </a:solidFill>
                          <a:latin typeface="Segoe UI" pitchFamily="34" charset="0"/>
                          <a:ea typeface="Segoe UI" pitchFamily="34" charset="-122"/>
                          <a:cs typeface="Segoe UI" pitchFamily="34" charset="-120"/>
                        </a:rPr>
                        <a:t>dispense de publicité</a:t>
                      </a:r>
                      <a:r>
                        <a:rPr lang="en-US" sz="1100" dirty="0">
                          <a:solidFill>
                            <a:srgbClr val="1B2A3A"/>
                          </a:solidFill>
                          <a:latin typeface="Segoe UI" pitchFamily="34" charset="0"/>
                          <a:ea typeface="Segoe UI" pitchFamily="34" charset="-122"/>
                          <a:cs typeface="Segoe UI" pitchFamily="34" charset="-120"/>
                        </a:rPr>
                        <a:t>, avec son motif : l’AMI n’a alors ni avis ni dépôt, et la liste restreinte se saisit directement pour les lettres d’invitation. Le seuil réglementaire de la dispense reste à préciser par le juriste.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3.8 — L’appel à manifestation d’intérêt en ligne (tranche AMI-a)</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385</a:t>
            </a:r>
            <a:endParaRPr lang="en-US" sz="1100" dirty="0"/>
          </a:p>
        </p:txBody>
      </p:sp>
    </p:spTree>
  </p:cSld>
  <p:clrMapOvr>
    <a:masterClrMapping/>
  </p:clrMapOvr>
</p:sld>
</file>

<file path=ppt/slides/slide386.xml><?xml version="1.0" encoding="utf-8"?>
<p:sld xmlns:a="http://schemas.openxmlformats.org/drawingml/2006/main" xmlns:r="http://schemas.openxmlformats.org/officeDocument/2006/relationships" xmlns:p="http://schemas.openxmlformats.org/presentationml/2006/main">
  <p:cSld name="Slide 38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05 L’APPEL À MANIFESTATION D’INTÉRÊT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expressions d’intérêt</a:t>
            </a:r>
            <a:endParaRPr lang="en-US" sz="2600" dirty="0"/>
          </a:p>
        </p:txBody>
      </p:sp>
      <p:graphicFrame>
        <p:nvGraphicFramePr>
          <p:cNvPr id="387"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152908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RG-AMI-08</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Déposer son expression en ligne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Tout candidat dont l’entreprise est déclarée dépose en ligne son expression d’intérêt avant la date limite : lettre, qualifications, références, groupement, et un fichier par pièce attendue.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RG-AMI-09</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Remplacer, retirer, recevoir un accusé</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candidat peut remplacer ou retirer son expression jusqu’à la date limite. Il reçoit un accusé portant le numéro, la date et l’</a:t>
                      </a:r>
                      <a:r>
                        <a:rPr lang="en-US" sz="1100" b="1" dirty="0">
                          <a:solidFill>
                            <a:srgbClr val="1B2A3A"/>
                          </a:solidFill>
                          <a:latin typeface="Segoe UI" pitchFamily="34" charset="0"/>
                          <a:ea typeface="Segoe UI" pitchFamily="34" charset="-122"/>
                          <a:cs typeface="Segoe UI" pitchFamily="34" charset="-120"/>
                        </a:rPr>
                        <a:t>empreinte</a:t>
                      </a:r>
                      <a:r>
                        <a:rPr lang="en-US" sz="1100" dirty="0">
                          <a:solidFill>
                            <a:srgbClr val="1B2A3A"/>
                          </a:solidFill>
                          <a:latin typeface="Segoe UI" pitchFamily="34" charset="0"/>
                          <a:ea typeface="Segoe UI" pitchFamily="34" charset="-122"/>
                          <a:cs typeface="Segoe UI" pitchFamily="34" charset="-120"/>
                        </a:rPr>
                        <a:t> de son dépôt.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RG-AMI-10</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Lues après la date limite seulement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Les expressions ne sont pas scellées, mais </a:t>
                      </a:r>
                      <a:r>
                        <a:rPr lang="en-US" sz="1100" b="1" dirty="0">
                          <a:solidFill>
                            <a:srgbClr val="1B2A3A"/>
                          </a:solidFill>
                          <a:latin typeface="Segoe UI" pitchFamily="34" charset="0"/>
                          <a:ea typeface="Segoe UI" pitchFamily="34" charset="-122"/>
                          <a:cs typeface="Segoe UI" pitchFamily="34" charset="-120"/>
                        </a:rPr>
                        <a:t>personne ne les lit avant la date limite</a:t>
                      </a:r>
                      <a:r>
                        <a:rPr lang="en-US" sz="1100" dirty="0">
                          <a:solidFill>
                            <a:srgbClr val="1B2A3A"/>
                          </a:solidFill>
                          <a:latin typeface="Segoe UI" pitchFamily="34" charset="0"/>
                          <a:ea typeface="Segoe UI" pitchFamily="34" charset="-122"/>
                          <a:cs typeface="Segoe UI" pitchFamily="34" charset="-120"/>
                        </a:rPr>
                        <a:t> : l’administration n’en voit que le nombre.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3.8 — L’appel à manifestation d’intérêt en ligne (tranche AMI-a) · regles-gestion.md § 3.8 — L’appel à manifestation d’intérêt en ligne ; demande-backend-2026-10-07-ami-pi.md (arbitrages du 07/10)</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386</a:t>
            </a:r>
            <a:endParaRPr lang="en-US" sz="1100" dirty="0"/>
          </a:p>
        </p:txBody>
      </p:sp>
    </p:spTree>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p:cSld name="Slide 38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05 L’APPEL À MANIFESTATION D’INTÉRÊT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présélection (1/2)</a:t>
            </a:r>
            <a:endParaRPr lang="en-US" sz="2600" dirty="0"/>
          </a:p>
        </p:txBody>
      </p:sp>
      <p:graphicFrame>
        <p:nvGraphicFramePr>
          <p:cNvPr id="388"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240284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RG-AMI-11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Une déclaration propre à l’AMI</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Chaque membre de la commission d’appel d’offres signe une déclaration propre à l’AMI, avant toute décision ; elle ne se reprend pas. Un membre en </a:t>
                      </a:r>
                      <a:r>
                        <a:rPr lang="en-US" sz="1100" b="1" dirty="0">
                          <a:solidFill>
                            <a:srgbClr val="1B2A3A"/>
                          </a:solidFill>
                          <a:latin typeface="Segoe UI" pitchFamily="34" charset="0"/>
                          <a:ea typeface="Segoe UI" pitchFamily="34" charset="-122"/>
                          <a:cs typeface="Segoe UI" pitchFamily="34" charset="-120"/>
                        </a:rPr>
                        <a:t>conflit d’intérêts</a:t>
                      </a:r>
                      <a:r>
                        <a:rPr lang="en-US" sz="1100" dirty="0">
                          <a:solidFill>
                            <a:srgbClr val="1B2A3A"/>
                          </a:solidFill>
                          <a:latin typeface="Segoe UI" pitchFamily="34" charset="0"/>
                          <a:ea typeface="Segoe UI" pitchFamily="34" charset="-122"/>
                          <a:cs typeface="Segoe UI" pitchFamily="34" charset="-120"/>
                        </a:rPr>
                        <a:t> ne décide rien et ne signe pas le rapport.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RG-AMI-12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Une notation collégiale et motivée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Tout membre déclaré sans conflit note chaque expression critère par critère, de zéro aux points du critère, toujours avec un </a:t>
                      </a:r>
                      <a:r>
                        <a:rPr lang="en-US" sz="1100" b="1" dirty="0">
                          <a:solidFill>
                            <a:srgbClr val="1B2A3A"/>
                          </a:solidFill>
                          <a:latin typeface="Segoe UI" pitchFamily="34" charset="0"/>
                          <a:ea typeface="Segoe UI" pitchFamily="34" charset="-122"/>
                          <a:cs typeface="Segoe UI" pitchFamily="34" charset="-120"/>
                        </a:rPr>
                        <a:t>motif</a:t>
                      </a:r>
                      <a:r>
                        <a:rPr lang="en-US" sz="1100" dirty="0">
                          <a:solidFill>
                            <a:srgbClr val="1B2A3A"/>
                          </a:solidFill>
                          <a:latin typeface="Segoe UI" pitchFamily="34" charset="0"/>
                          <a:ea typeface="Segoe UI" pitchFamily="34" charset="-122"/>
                          <a:cs typeface="Segoe UI" pitchFamily="34" charset="-120"/>
                        </a:rPr>
                        <a:t>. Une nouvelle note remplace la précédente ; le journal garde chaque saisie.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RG-AMI-13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Écarter une expression, avec un motif</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 membre peut écarter une expression avec un motif, ou la rétablir. Une expression écartée ne se note plus.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RG-AMI-14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Qualifiée, puis classée par total</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Est </a:t>
                      </a:r>
                      <a:r>
                        <a:rPr lang="en-US" sz="1100" b="1" dirty="0">
                          <a:solidFill>
                            <a:srgbClr val="1B2A3A"/>
                          </a:solidFill>
                          <a:latin typeface="Segoe UI" pitchFamily="34" charset="0"/>
                          <a:ea typeface="Segoe UI" pitchFamily="34" charset="-122"/>
                          <a:cs typeface="Segoe UI" pitchFamily="34" charset="-120"/>
                        </a:rPr>
                        <a:t>qualifiée</a:t>
                      </a:r>
                      <a:r>
                        <a:rPr lang="en-US" sz="1100" dirty="0">
                          <a:solidFill>
                            <a:srgbClr val="1B2A3A"/>
                          </a:solidFill>
                          <a:latin typeface="Segoe UI" pitchFamily="34" charset="0"/>
                          <a:ea typeface="Segoe UI" pitchFamily="34" charset="-122"/>
                          <a:cs typeface="Segoe UI" pitchFamily="34" charset="-120"/>
                        </a:rPr>
                        <a:t> une expression notée sur tous les critères, non écartée, qui atteint la note minimale. L’application totalise sur 100 et classe les qualifiées par total décroissant.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RG-AMI-15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président arrête la liste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Une fois toutes les expressions non écartées notées, le </a:t>
                      </a:r>
                      <a:r>
                        <a:rPr lang="en-US" sz="1100" b="1" dirty="0">
                          <a:solidFill>
                            <a:srgbClr val="1B2A3A"/>
                          </a:solidFill>
                          <a:latin typeface="Segoe UI" pitchFamily="34" charset="0"/>
                          <a:ea typeface="Segoe UI" pitchFamily="34" charset="-122"/>
                          <a:cs typeface="Segoe UI" pitchFamily="34" charset="-120"/>
                        </a:rPr>
                        <a:t>président</a:t>
                      </a:r>
                      <a:r>
                        <a:rPr lang="en-US" sz="1100" dirty="0">
                          <a:solidFill>
                            <a:srgbClr val="1B2A3A"/>
                          </a:solidFill>
                          <a:latin typeface="Segoe UI" pitchFamily="34" charset="0"/>
                          <a:ea typeface="Segoe UI" pitchFamily="34" charset="-122"/>
                          <a:cs typeface="Segoe UI" pitchFamily="34" charset="-120"/>
                        </a:rPr>
                        <a:t> arrête la liste des premières qualifiées, dans la limite du nombre fixé par l’AMI. Une égalité au seuil se départage.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3.8 — La présélection et la liste restreinte (tranche AMI-b)</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387</a:t>
            </a:r>
            <a:endParaRPr lang="en-US" sz="1100" dirty="0"/>
          </a:p>
        </p:txBody>
      </p:sp>
    </p:spTree>
  </p:cSld>
  <p:clrMapOvr>
    <a:masterClrMapping/>
  </p:clrMapOvr>
</p:sld>
</file>

<file path=ppt/slides/slide388.xml><?xml version="1.0" encoding="utf-8"?>
<p:sld xmlns:a="http://schemas.openxmlformats.org/drawingml/2006/main" xmlns:r="http://schemas.openxmlformats.org/officeDocument/2006/relationships" xmlns:p="http://schemas.openxmlformats.org/presentationml/2006/main">
  <p:cSld name="Slide 38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05 L’APPEL À MANIFESTATION D’INTÉRÊT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présélection (2/2)</a:t>
            </a:r>
            <a:endParaRPr lang="en-US" sz="2600" dirty="0"/>
          </a:p>
        </p:txBody>
      </p:sp>
      <p:graphicFrame>
        <p:nvGraphicFramePr>
          <p:cNvPr id="389"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65532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RG-AMI-16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Moins de qualifiés que de places : motiver</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S’il y a moins de qualifiées que de places, la liste s’arrête avec elles et le nombre est </a:t>
                      </a:r>
                      <a:r>
                        <a:rPr lang="en-US" sz="1100" b="1" dirty="0">
                          <a:solidFill>
                            <a:srgbClr val="1B2A3A"/>
                          </a:solidFill>
                          <a:latin typeface="Segoe UI" pitchFamily="34" charset="0"/>
                          <a:ea typeface="Segoe UI" pitchFamily="34" charset="-122"/>
                          <a:cs typeface="Segoe UI" pitchFamily="34" charset="-120"/>
                        </a:rPr>
                        <a:t>motivé</a:t>
                      </a:r>
                      <a:r>
                        <a:rPr lang="en-US" sz="1100" dirty="0">
                          <a:solidFill>
                            <a:srgbClr val="1B2A3A"/>
                          </a:solidFill>
                          <a:latin typeface="Segoe UI" pitchFamily="34" charset="0"/>
                          <a:ea typeface="Segoe UI" pitchFamily="34" charset="-122"/>
                          <a:cs typeface="Segoe UI" pitchFamily="34" charset="-120"/>
                        </a:rPr>
                        <a:t> au rapport ; la PRMP peut, à la place, relancer l’AMI.</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3.8 — La présélection et la liste restreinte ; demande-backend-2026-10-07-ami-pi.md (arbitrages du 07/10)</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388</a:t>
            </a:r>
            <a:endParaRPr lang="en-US" sz="1100" dirty="0"/>
          </a:p>
        </p:txBody>
      </p:sp>
    </p:spTree>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name="Slide 38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05 L’APPEL À MANIFESTATION D’INTÉRÊT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rapport et la liste restreinte</a:t>
            </a:r>
            <a:endParaRPr lang="en-US" sz="2600" dirty="0"/>
          </a:p>
        </p:txBody>
      </p:sp>
      <p:graphicFrame>
        <p:nvGraphicFramePr>
          <p:cNvPr id="390"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257048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RG-AMI-17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 rapport signé des membres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L’arrêt produit le rapport de présélection : commission, notes par critère et leurs motifs, écartements, liste, motif du nombre, observations. Il est signé des membres ; un empêchement est constaté par le président, avec un motif.</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RG-AMI-18</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Une liste publiée et notifiée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À la dernière signature, la liste est </a:t>
                      </a:r>
                      <a:r>
                        <a:rPr lang="en-US" sz="1100" b="1" dirty="0">
                          <a:solidFill>
                            <a:srgbClr val="1B2A3A"/>
                          </a:solidFill>
                          <a:latin typeface="Segoe UI" pitchFamily="34" charset="0"/>
                          <a:ea typeface="Segoe UI" pitchFamily="34" charset="-122"/>
                          <a:cs typeface="Segoe UI" pitchFamily="34" charset="-120"/>
                        </a:rPr>
                        <a:t>définitive</a:t>
                      </a:r>
                      <a:r>
                        <a:rPr lang="en-US" sz="1100" dirty="0">
                          <a:solidFill>
                            <a:srgbClr val="1B2A3A"/>
                          </a:solidFill>
                          <a:latin typeface="Segoe UI" pitchFamily="34" charset="0"/>
                          <a:ea typeface="Segoe UI" pitchFamily="34" charset="-122"/>
                          <a:cs typeface="Segoe UI" pitchFamily="34" charset="-120"/>
                        </a:rPr>
                        <a:t> : publiée sur la page de l’AMI et notifiée à chaque candidat, les non-retenus avec leur motif (écartement, note sous le minimum, rang au-delà des places).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RG-AMI-24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quorum de la commission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L’arrêt de la liste restreinte exige le </a:t>
                      </a:r>
                      <a:r>
                        <a:rPr lang="en-US" sz="1100" b="1" dirty="0">
                          <a:solidFill>
                            <a:srgbClr val="1B2A3A"/>
                          </a:solidFill>
                          <a:latin typeface="Segoe UI" pitchFamily="34" charset="0"/>
                          <a:ea typeface="Segoe UI" pitchFamily="34" charset="-122"/>
                          <a:cs typeface="Segoe UI" pitchFamily="34" charset="-120"/>
                        </a:rPr>
                        <a:t>quorum</a:t>
                      </a:r>
                      <a:r>
                        <a:rPr lang="en-US" sz="1100" dirty="0">
                          <a:solidFill>
                            <a:srgbClr val="1B2A3A"/>
                          </a:solidFill>
                          <a:latin typeface="Segoe UI" pitchFamily="34" charset="0"/>
                          <a:ea typeface="Segoe UI" pitchFamily="34" charset="-122"/>
                          <a:cs typeface="Segoe UI" pitchFamily="34" charset="-120"/>
                        </a:rPr>
                        <a:t> de la commission (par défaut, plus de la moitié des membres désignés), le président ou son représentant toujours requis. Le rapport signé vaut </a:t>
                      </a:r>
                      <a:r>
                        <a:rPr lang="en-US" sz="1100" b="1" dirty="0">
                          <a:solidFill>
                            <a:srgbClr val="1B2A3A"/>
                          </a:solidFill>
                          <a:latin typeface="Segoe UI" pitchFamily="34" charset="0"/>
                          <a:ea typeface="Segoe UI" pitchFamily="34" charset="-122"/>
                          <a:cs typeface="Segoe UI" pitchFamily="34" charset="-120"/>
                        </a:rPr>
                        <a:t>procès-verbal de validation</a:t>
                      </a:r>
                      <a:r>
                        <a:rPr lang="en-US" sz="1100" dirty="0">
                          <a:solidFill>
                            <a:srgbClr val="1B2A3A"/>
                          </a:solidFill>
                          <a:latin typeface="Segoe UI" pitchFamily="34" charset="0"/>
                          <a:ea typeface="Segoe UI" pitchFamily="34" charset="-122"/>
                          <a:cs typeface="Segoe UI" pitchFamily="34" charset="-120"/>
                        </a:rPr>
                        <a:t> : il porte la date de la dernière signature, les membres et leur qualité, les empêchements, les exclus pour conflit d’intérêts et le quorum constaté.</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RG-AMI-25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 AMI clos ne se modifie plus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Dès qu’un dossier de marché de la procédure est soumis à la Commission, l’AMI ne se modifie plus : la Commission examine ce qui lui a été soumis. Les gestes de la présélection se retirent de l’écran.</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RG-AMI-26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L’AMI figé à la soumission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À chaque soumission d’un dossier conduit dans l’application, l’écran de l’appel à manifestation d’intérêt est figé tel qu’il est servi à cet instant, avec son empreinte ; les profils de la CNM le lisent à la place d’une pièce et peuvent l’exporter en PDF.</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3.8 — La présélection et la liste restreinte (tranche AMI-b) · regles-gestion.md § La remise électronique — le quorum de la commission (manuel révisé, lot 1, tranche R1, 2026-10-10) · regles-gestion.md § Le dossier soumis — manuel révisé, lot 2, tranche R9c (2026-10-14) · regles-gestion.md § Le dossier soumis — manuel révisé, lot 1, tranche R4 (2026-10-13)</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389</a:t>
            </a:r>
            <a:endParaRPr lang="en-US" sz="1100" dirty="0"/>
          </a:p>
        </p:txBody>
      </p:sp>
    </p:spTree>
  </p:cSld>
  <p:clrMapOvr>
    <a:masterClrMapping/>
  </p:clrMapOvr>
</p:sld>
</file>

<file path=ppt/slides/slide390.xml><?xml version="1.0" encoding="utf-8"?>
<p:sld xmlns:a="http://schemas.openxmlformats.org/drawingml/2006/main" xmlns:r="http://schemas.openxmlformats.org/officeDocument/2006/relationships" xmlns:p="http://schemas.openxmlformats.org/presentationml/2006/main">
  <p:cSld name="Slide 39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05 L’APPEL À MANIFESTATION D’INTÉRÊT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demande de propositions</a:t>
            </a:r>
            <a:endParaRPr lang="en-US" sz="2600" dirty="0"/>
          </a:p>
        </p:txBody>
      </p:sp>
      <p:graphicFrame>
        <p:nvGraphicFramePr>
          <p:cNvPr id="391"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152908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RG-AMI-19</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Pas de dossier sans liste définitive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dossier de la demande de propositions ne se crée qu’une fois la liste définitive. Il reçoit d’office le </a:t>
                      </a:r>
                      <a:r>
                        <a:rPr lang="en-US" sz="1100" b="1" dirty="0">
                          <a:solidFill>
                            <a:srgbClr val="1B2A3A"/>
                          </a:solidFill>
                          <a:latin typeface="Segoe UI" pitchFamily="34" charset="0"/>
                          <a:ea typeface="Segoe UI" pitchFamily="34" charset="-122"/>
                          <a:cs typeface="Segoe UI" pitchFamily="34" charset="-120"/>
                        </a:rPr>
                        <a:t>rapport signé</a:t>
                      </a:r>
                      <a:r>
                        <a:rPr lang="en-US" sz="1100" dirty="0">
                          <a:solidFill>
                            <a:srgbClr val="1B2A3A"/>
                          </a:solidFill>
                          <a:latin typeface="Segoe UI" pitchFamily="34" charset="0"/>
                          <a:ea typeface="Segoe UI" pitchFamily="34" charset="-122"/>
                          <a:cs typeface="Segoe UI" pitchFamily="34" charset="-120"/>
                        </a:rPr>
                        <a:t>, que la Commission examine avec lui.</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RG-AMI-20</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invitations tirées de la liste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Avec une liste définitive, les lettres d’invitation vont aux candidats </a:t>
                      </a:r>
                      <a:r>
                        <a:rPr lang="en-US" sz="1100" b="1" dirty="0">
                          <a:solidFill>
                            <a:srgbClr val="1B2A3A"/>
                          </a:solidFill>
                          <a:latin typeface="Segoe UI" pitchFamily="34" charset="0"/>
                          <a:ea typeface="Segoe UI" pitchFamily="34" charset="-122"/>
                          <a:cs typeface="Segoe UI" pitchFamily="34" charset="-120"/>
                        </a:rPr>
                        <a:t>de la liste</a:t>
                      </a:r>
                      <a:r>
                        <a:rPr lang="en-US" sz="1100" dirty="0">
                          <a:solidFill>
                            <a:srgbClr val="1B2A3A"/>
                          </a:solidFill>
                          <a:latin typeface="Segoe UI" pitchFamily="34" charset="0"/>
                          <a:ea typeface="Segoe UI" pitchFamily="34" charset="-122"/>
                          <a:cs typeface="Segoe UI" pitchFamily="34" charset="-120"/>
                        </a:rPr>
                        <a:t>, sans autre saisie ; chacun est averti en ligne et par courriel. Sans AMI, ou après une dispense, la liste se saisit comme avant.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RG-AMI-21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invitations après l’avis favorable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Les lettres d’invitation attendent l’avis </a:t>
                      </a:r>
                      <a:r>
                        <a:rPr lang="en-US" sz="1100" b="1" dirty="0">
                          <a:solidFill>
                            <a:srgbClr val="1B2A3A"/>
                          </a:solidFill>
                          <a:latin typeface="Segoe UI" pitchFamily="34" charset="0"/>
                          <a:ea typeface="Segoe UI" pitchFamily="34" charset="-122"/>
                          <a:cs typeface="Segoe UI" pitchFamily="34" charset="-120"/>
                        </a:rPr>
                        <a:t>favorable</a:t>
                      </a:r>
                      <a:r>
                        <a:rPr lang="en-US" sz="1100" dirty="0">
                          <a:solidFill>
                            <a:srgbClr val="1B2A3A"/>
                          </a:solidFill>
                          <a:latin typeface="Segoe UI" pitchFamily="34" charset="0"/>
                          <a:ea typeface="Segoe UI" pitchFamily="34" charset="-122"/>
                          <a:cs typeface="Segoe UI" pitchFamily="34" charset="-120"/>
                        </a:rPr>
                        <a:t> de la Commission sur le dossier, réserves levées le cas échéant. Leur première impression fait passer la ligne du plan à « Lancé ».</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3.8 — La présélection et la liste restreinte (tranche AMI-b) · regles-gestion.md § 3.8 — Lettres d’invitation (2026-10-01, lot AV-4.1)</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390</a:t>
            </a:r>
            <a:endParaRPr lang="en-US" sz="1100" dirty="0"/>
          </a:p>
        </p:txBody>
      </p:sp>
    </p:spTree>
  </p:cSld>
  <p:clrMapOvr>
    <a:masterClrMapping/>
  </p:clrMapOvr>
</p:sld>
</file>

<file path=ppt/slides/slide391.xml><?xml version="1.0" encoding="utf-8"?>
<p:sld xmlns:a="http://schemas.openxmlformats.org/drawingml/2006/main" xmlns:r="http://schemas.openxmlformats.org/officeDocument/2006/relationships" xmlns:p="http://schemas.openxmlformats.org/presentationml/2006/main">
  <p:cSld name="Slide 39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05 L’APPEL À MANIFESTATION D’INTÉRÊT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Relance et infructuosité</a:t>
            </a:r>
            <a:endParaRPr lang="en-US" sz="2600" dirty="0"/>
          </a:p>
        </p:txBody>
      </p:sp>
      <p:graphicFrame>
        <p:nvGraphicFramePr>
          <p:cNvPr id="392"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RG-AMI-22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Relancer l’AMI, avec un motif</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Après la date limite et avant l’arrêt de la liste, la PRMP peut </a:t>
                      </a:r>
                      <a:r>
                        <a:rPr lang="en-US" sz="1100" b="1" dirty="0">
                          <a:solidFill>
                            <a:srgbClr val="1B2A3A"/>
                          </a:solidFill>
                          <a:latin typeface="Segoe UI" pitchFamily="34" charset="0"/>
                          <a:ea typeface="Segoe UI" pitchFamily="34" charset="-122"/>
                          <a:cs typeface="Segoe UI" pitchFamily="34" charset="-120"/>
                        </a:rPr>
                        <a:t>relancer</a:t>
                      </a:r>
                      <a:r>
                        <a:rPr lang="en-US" sz="1100" dirty="0">
                          <a:solidFill>
                            <a:srgbClr val="1B2A3A"/>
                          </a:solidFill>
                          <a:latin typeface="Segoe UI" pitchFamily="34" charset="0"/>
                          <a:ea typeface="Segoe UI" pitchFamily="34" charset="-122"/>
                          <a:cs typeface="Segoe UI" pitchFamily="34" charset="-120"/>
                        </a:rPr>
                        <a:t> l’AMI avec une nouvelle date limite et un motif : il reparaît dans la liste publique ; expressions et notes restent.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RG-AMI-23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Sans qualifié, l’AMI infructueux</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Sans aucune expression qualifiée, la PRMP déclare l’AMI </a:t>
                      </a:r>
                      <a:r>
                        <a:rPr lang="en-US" sz="1100" b="1" dirty="0">
                          <a:solidFill>
                            <a:srgbClr val="1B2A3A"/>
                          </a:solidFill>
                          <a:latin typeface="Segoe UI" pitchFamily="34" charset="0"/>
                          <a:ea typeface="Segoe UI" pitchFamily="34" charset="-122"/>
                          <a:cs typeface="Segoe UI" pitchFamily="34" charset="-120"/>
                        </a:rPr>
                        <a:t>infructueux</a:t>
                      </a:r>
                      <a:r>
                        <a:rPr lang="en-US" sz="1100" dirty="0">
                          <a:solidFill>
                            <a:srgbClr val="1B2A3A"/>
                          </a:solidFill>
                          <a:latin typeface="Segoe UI" pitchFamily="34" charset="0"/>
                          <a:ea typeface="Segoe UI" pitchFamily="34" charset="-122"/>
                          <a:cs typeface="Segoe UI" pitchFamily="34" charset="-120"/>
                        </a:rPr>
                        <a:t>, avec un motif ; la relance reste possible.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3.8 — La présélection et la liste restreinte (tranche AMI-b) · regles-gestion.md § 3.8 — La présélection et la liste restreinte ; demande-backend-2026-10-07-ami-pi.md (arbitrages du 07/10)</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391</a:t>
            </a:r>
            <a:endParaRPr lang="en-US" sz="1100" dirty="0"/>
          </a:p>
        </p:txBody>
      </p:sp>
    </p:spTree>
  </p:cSld>
  <p:clrMapOvr>
    <a:masterClrMapping/>
  </p:clrMapOvr>
</p:sld>
</file>

<file path=ppt/slides/slide392.xml><?xml version="1.0" encoding="utf-8"?>
<p:sld xmlns:a="http://schemas.openxmlformats.org/drawingml/2006/main" xmlns:r="http://schemas.openxmlformats.org/officeDocument/2006/relationships" xmlns:p="http://schemas.openxmlformats.org/presentationml/2006/main">
  <p:cSld name="Slide 39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06 RECEVOIR LES OFFRES EN LIGNE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compte et l’entreprise</a:t>
            </a:r>
            <a:endParaRPr lang="en-US" sz="2600" dirty="0"/>
          </a:p>
        </p:txBody>
      </p:sp>
      <p:graphicFrame>
        <p:nvGraphicFramePr>
          <p:cNvPr id="393"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21336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RG-OFF-01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 compte confirmé par code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candidat s’inscrit avec son adresse électronique, qui devient son identifiant. Le compte s’active par un </a:t>
                      </a:r>
                      <a:r>
                        <a:rPr lang="en-US" sz="1100" b="1" dirty="0">
                          <a:solidFill>
                            <a:srgbClr val="1B2A3A"/>
                          </a:solidFill>
                          <a:latin typeface="Segoe UI" pitchFamily="34" charset="0"/>
                          <a:ea typeface="Segoe UI" pitchFamily="34" charset="-122"/>
                          <a:cs typeface="Segoe UI" pitchFamily="34" charset="-120"/>
                        </a:rPr>
                        <a:t>code</a:t>
                      </a:r>
                      <a:r>
                        <a:rPr lang="en-US" sz="1100" dirty="0">
                          <a:solidFill>
                            <a:srgbClr val="1B2A3A"/>
                          </a:solidFill>
                          <a:latin typeface="Segoe UI" pitchFamily="34" charset="0"/>
                          <a:ea typeface="Segoe UI" pitchFamily="34" charset="-122"/>
                          <a:cs typeface="Segoe UI" pitchFamily="34" charset="-120"/>
                        </a:rPr>
                        <a:t> à six chiffres reçu par courriel, valable 15 minutes. Un compte jamais confirmé est supprimé ; un compte inactif est archivé, jamais supprimé.</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RG-OFF-02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Une entreprise par compte, NIF unique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 compte déclare une seule entreprise. Le </a:t>
                      </a:r>
                      <a:r>
                        <a:rPr lang="en-US" sz="1100" b="1" dirty="0">
                          <a:solidFill>
                            <a:srgbClr val="1B2A3A"/>
                          </a:solidFill>
                          <a:latin typeface="Segoe UI" pitchFamily="34" charset="0"/>
                          <a:ea typeface="Segoe UI" pitchFamily="34" charset="-122"/>
                          <a:cs typeface="Segoe UI" pitchFamily="34" charset="-120"/>
                        </a:rPr>
                        <a:t>NIF</a:t>
                      </a:r>
                      <a:r>
                        <a:rPr lang="en-US" sz="1100" dirty="0">
                          <a:solidFill>
                            <a:srgbClr val="1B2A3A"/>
                          </a:solidFill>
                          <a:latin typeface="Segoe UI" pitchFamily="34" charset="0"/>
                          <a:ea typeface="Segoe UI" pitchFamily="34" charset="-122"/>
                          <a:cs typeface="Segoe UI" pitchFamily="34" charset="-120"/>
                        </a:rPr>
                        <a:t>, le STAT et le RCS sont uniques sur la plateforme : un NIF déjà déclaré est refusé, avec un renvoi vers le compte qui l’a déclaré, sans le nommer.</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RG-OFF-03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Vérification du NIF, jamais bloquante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NIF se vérifie sur pièces par l’Administrateur, ou auprès de la DGI quand le raccordement existera. Un NIF nouveau ou changé redevient non vérifié. La vérification ne bloque </a:t>
                      </a:r>
                      <a:r>
                        <a:rPr lang="en-US" sz="1100" b="1" dirty="0">
                          <a:solidFill>
                            <a:srgbClr val="1B2A3A"/>
                          </a:solidFill>
                          <a:latin typeface="Segoe UI" pitchFamily="34" charset="0"/>
                          <a:ea typeface="Segoe UI" pitchFamily="34" charset="-122"/>
                          <a:cs typeface="Segoe UI" pitchFamily="34" charset="-120"/>
                        </a:rPr>
                        <a:t>jamais</a:t>
                      </a:r>
                      <a:r>
                        <a:rPr lang="en-US" sz="1100" dirty="0">
                          <a:solidFill>
                            <a:srgbClr val="1B2A3A"/>
                          </a:solidFill>
                          <a:latin typeface="Segoe UI" pitchFamily="34" charset="0"/>
                          <a:ea typeface="Segoe UI" pitchFamily="34" charset="-122"/>
                          <a:cs typeface="Segoe UI" pitchFamily="34" charset="-120"/>
                        </a:rPr>
                        <a:t> le dépôt ; la commission en lit l’état à l’ouverture.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RG-OFF-04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Exclusions de l’ARMP : refus au dépôt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L’Administrateur tient le répertoire des exclusions de l’ARMP ; une exclusion ne se supprime pas, elle se corrige. L’entreprise exclue est signalée à sa déclaration, puis </a:t>
                      </a:r>
                      <a:r>
                        <a:rPr lang="en-US" sz="1100" b="1" dirty="0">
                          <a:solidFill>
                            <a:srgbClr val="1B2A3A"/>
                          </a:solidFill>
                          <a:latin typeface="Segoe UI" pitchFamily="34" charset="0"/>
                          <a:ea typeface="Segoe UI" pitchFamily="34" charset="-122"/>
                          <a:cs typeface="Segoe UI" pitchFamily="34" charset="-120"/>
                        </a:rPr>
                        <a:t>refusée</a:t>
                      </a:r>
                      <a:r>
                        <a:rPr lang="en-US" sz="1100" dirty="0">
                          <a:solidFill>
                            <a:srgbClr val="1B2A3A"/>
                          </a:solidFill>
                          <a:latin typeface="Segoe UI" pitchFamily="34" charset="0"/>
                          <a:ea typeface="Segoe UI" pitchFamily="34" charset="-122"/>
                          <a:cs typeface="Segoe UI" pitchFamily="34" charset="-120"/>
                        </a:rPr>
                        <a:t> au dépôt du reçu et de l’offre, groupement compris.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api-endpoints.md § Comptes candidats · Entreprise du candidat, vérification du NIF, exclusions de l’ARMP</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392</a:t>
            </a:r>
            <a:endParaRPr lang="en-US" sz="1100" dirty="0"/>
          </a:p>
        </p:txBody>
      </p:sp>
    </p:spTree>
  </p:cSld>
  <p:clrMapOvr>
    <a:masterClrMapping/>
  </p:clrMapOvr>
</p:sld>
</file>

<file path=ppt/slides/slide393.xml><?xml version="1.0" encoding="utf-8"?>
<p:sld xmlns:a="http://schemas.openxmlformats.org/drawingml/2006/main" xmlns:r="http://schemas.openxmlformats.org/officeDocument/2006/relationships" xmlns:p="http://schemas.openxmlformats.org/presentationml/2006/main">
  <p:cSld name="Slide 39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06 RECEVOIR LES OFFRES EN LIGNE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procédures ouvertes et le retrait</a:t>
            </a:r>
            <a:endParaRPr lang="en-US" sz="2600" dirty="0"/>
          </a:p>
        </p:txBody>
      </p:sp>
      <p:graphicFrame>
        <p:nvGraphicFramePr>
          <p:cNvPr id="394"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230124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RG-OFF-05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Papier ou électronique, jamais mixte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mode de remise se choisit au cadrage de la fiche DAO : papier ou électronique, </a:t>
                      </a:r>
                      <a:r>
                        <a:rPr lang="en-US" sz="1100" b="1" dirty="0">
                          <a:solidFill>
                            <a:srgbClr val="1B2A3A"/>
                          </a:solidFill>
                          <a:latin typeface="Segoe UI" pitchFamily="34" charset="0"/>
                          <a:ea typeface="Segoe UI" pitchFamily="34" charset="-122"/>
                          <a:cs typeface="Segoe UI" pitchFamily="34" charset="-120"/>
                        </a:rPr>
                        <a:t>jamais mixte</a:t>
                      </a:r>
                      <a:r>
                        <a:rPr lang="en-US" sz="1100" dirty="0">
                          <a:solidFill>
                            <a:srgbClr val="1B2A3A"/>
                          </a:solidFill>
                          <a:latin typeface="Segoe UI" pitchFamily="34" charset="0"/>
                          <a:ea typeface="Segoe UI" pitchFamily="34" charset="-122"/>
                          <a:cs typeface="Segoe UI" pitchFamily="34" charset="-120"/>
                        </a:rPr>
                        <a:t>. Une fiche qui ne le porte pas est papier. Depuis le 13/10, il ne change plus une fois une version validée, sauf migration documentée par l’Administrateur (partie 04). Les règles de la remise électronique ne jouent qu’en mode électronique.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RG-OFF-06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Ce que montre la liste publique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liste publique montre, sans compte, les appels d’offres en remise électronique dont l’avis est publié et la date limite non passée, ainsi que les appels à manifestation d’intérêt en cours, la date limite la plus proche d’abord. Aucun paramètre interne n’y figure ; une procédure close sort de la liste mais reste lisible par son lien, avec son PV d’ouverture publié et son résultat.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RG-OFF-07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 signature simple seule acceptée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Tant que la liste officielle des prestataires de certification n’existe pas, seule la </a:t>
                      </a:r>
                      <a:r>
                        <a:rPr lang="en-US" sz="1100" b="1" dirty="0">
                          <a:solidFill>
                            <a:srgbClr val="1B2A3A"/>
                          </a:solidFill>
                          <a:latin typeface="Segoe UI" pitchFamily="34" charset="0"/>
                          <a:ea typeface="Segoe UI" pitchFamily="34" charset="-122"/>
                          <a:cs typeface="Segoe UI" pitchFamily="34" charset="-120"/>
                        </a:rPr>
                        <a:t>signature simple</a:t>
                      </a:r>
                      <a:r>
                        <a:rPr lang="en-US" sz="1100" dirty="0">
                          <a:solidFill>
                            <a:srgbClr val="1B2A3A"/>
                          </a:solidFill>
                          <a:latin typeface="Segoe UI" pitchFamily="34" charset="0"/>
                          <a:ea typeface="Segoe UI" pitchFamily="34" charset="-122"/>
                          <a:cs typeface="Segoe UI" pitchFamily="34" charset="-120"/>
                        </a:rPr>
                        <a:t> est acceptée : une fiche qui exige une signature avancée ou qualifiée ne peut pas paraître en ligne.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RG-OFF-08</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Chaque retrait inscrit au registre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Les documents du dossier se téléchargent par un candidat connecté. Chaque téléchargement inscrit une ligne au </a:t>
                      </a:r>
                      <a:r>
                        <a:rPr lang="en-US" sz="1100" b="1" dirty="0">
                          <a:solidFill>
                            <a:srgbClr val="1B2A3A"/>
                          </a:solidFill>
                          <a:latin typeface="Segoe UI" pitchFamily="34" charset="0"/>
                          <a:ea typeface="Segoe UI" pitchFamily="34" charset="-122"/>
                          <a:cs typeface="Segoe UI" pitchFamily="34" charset="-120"/>
                        </a:rPr>
                        <a:t>registre des retraits</a:t>
                      </a:r>
                      <a:r>
                        <a:rPr lang="en-US" sz="1100" dirty="0">
                          <a:solidFill>
                            <a:srgbClr val="1B2A3A"/>
                          </a:solidFill>
                          <a:latin typeface="Segoe UI" pitchFamily="34" charset="0"/>
                          <a:ea typeface="Segoe UI" pitchFamily="34" charset="-122"/>
                          <a:cs typeface="Segoe UI" pitchFamily="34" charset="-120"/>
                        </a:rPr>
                        <a:t> : compte, entreprise, document, version. Seule la PRMP de la fiche lit ce registre.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La remise électronique des offres ; ⚠️ 2026-10-13, tranche R8 · api-endpoints.md § Procédures ouvertes en ligne et retrait du DAO ; § AMI (relance) · Les arbitrages du pilote après le lot 4 — V70 · api-endpoints.md § Procédures ouvertes en ligne et retrait du DAO</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393</a:t>
            </a:r>
            <a:endParaRPr lang="en-US" sz="1100" dirty="0"/>
          </a:p>
        </p:txBody>
      </p:sp>
    </p:spTree>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p:cSld name="Slide 39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06 RECEVOIR LES OFFRES EN LIGNE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frais de dossier</a:t>
            </a:r>
            <a:endParaRPr lang="en-US" sz="2600" dirty="0"/>
          </a:p>
        </p:txBody>
      </p:sp>
      <p:graphicFrame>
        <p:nvGraphicFramePr>
          <p:cNvPr id="395"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240284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RG-OFF-09</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Reçu validé avant le retrait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Quand la fiche fixe des frais, le candidat ne télécharge le dossier qu’après avoir déposé le reçu de son versement sur le compte de l’ARMP, et que la PRMP ou son UGPM l’a </a:t>
                      </a:r>
                      <a:r>
                        <a:rPr lang="en-US" sz="1100" b="1" dirty="0">
                          <a:solidFill>
                            <a:srgbClr val="1B2A3A"/>
                          </a:solidFill>
                          <a:latin typeface="Segoe UI" pitchFamily="34" charset="0"/>
                          <a:ea typeface="Segoe UI" pitchFamily="34" charset="-122"/>
                          <a:cs typeface="Segoe UI" pitchFamily="34" charset="-120"/>
                        </a:rPr>
                        <a:t>validé</a:t>
                      </a:r>
                      <a:r>
                        <a:rPr lang="en-US" sz="1100" dirty="0">
                          <a:solidFill>
                            <a:srgbClr val="1B2A3A"/>
                          </a:solidFill>
                          <a:latin typeface="Segoe UI" pitchFamily="34" charset="0"/>
                          <a:ea typeface="Segoe UI" pitchFamily="34" charset="-122"/>
                          <a:cs typeface="Segoe UI" pitchFamily="34" charset="-120"/>
                        </a:rPr>
                        <a:t>. La plateforme n’encaisse rien.</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RG-OFF-10</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 reçu par entreprise, par lots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reçu vaut pour l’entreprise, identifiée par son NIF, pour un ou plusieurs lots ; un lot payé ouvre tout le dossier. Un nouveau reçu ne vaut que pour des lots non couverts. Un montant inférieur aux frais n’est pas refusé : la PRMP le voit.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RG-OFF-11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 refus motivé, une décision définitive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PRMP ou son UGPM valide ou refuse le reçu ; un refus porte un </a:t>
                      </a:r>
                      <a:r>
                        <a:rPr lang="en-US" sz="1100" b="1" dirty="0">
                          <a:solidFill>
                            <a:srgbClr val="1B2A3A"/>
                          </a:solidFill>
                          <a:latin typeface="Segoe UI" pitchFamily="34" charset="0"/>
                          <a:ea typeface="Segoe UI" pitchFamily="34" charset="-122"/>
                          <a:cs typeface="Segoe UI" pitchFamily="34" charset="-120"/>
                        </a:rPr>
                        <a:t>motif</a:t>
                      </a:r>
                      <a:r>
                        <a:rPr lang="en-US" sz="1100" dirty="0">
                          <a:solidFill>
                            <a:srgbClr val="1B2A3A"/>
                          </a:solidFill>
                          <a:latin typeface="Segoe UI" pitchFamily="34" charset="0"/>
                          <a:ea typeface="Segoe UI" pitchFamily="34" charset="-122"/>
                          <a:cs typeface="Segoe UI" pitchFamily="34" charset="-120"/>
                        </a:rPr>
                        <a:t>, et le candidat dépose un nouveau reçu. Une décision ne se reprend pas. Le candidat en est averti par courriel.</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RG-OFF-12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Sans reçu validé, pas de dépôt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Sans reçu validé, le candidat ne lit pas les formulaires pré-remplis du dossier et ne peut pas déposer d’offre pour un lot que son reçu ne couvre pas. Un reçu en attente de décision ne suffit pas.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RG-OFF-13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reçu validé vaut preuve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reçu validé est la preuve du paiement : il n’est plus redemandé dans l’offre. Un dossier gratuit, ou une procédure lancée avant cette règle, garde le </a:t>
                      </a:r>
                      <a:r>
                        <a:rPr lang="en-US" sz="1100" b="1" dirty="0">
                          <a:solidFill>
                            <a:srgbClr val="1B2A3A"/>
                          </a:solidFill>
                          <a:latin typeface="Segoe UI" pitchFamily="34" charset="0"/>
                          <a:ea typeface="Segoe UI" pitchFamily="34" charset="-122"/>
                          <a:cs typeface="Segoe UI" pitchFamily="34" charset="-120"/>
                        </a:rPr>
                        <a:t>retrait libre</a:t>
                      </a:r>
                      <a:r>
                        <a:rPr lang="en-US" sz="1100" dirty="0">
                          <a:solidFill>
                            <a:srgbClr val="1B2A3A"/>
                          </a:solidFill>
                          <a:latin typeface="Segoe UI" pitchFamily="34" charset="0"/>
                          <a:ea typeface="Segoe UI" pitchFamily="34" charset="-122"/>
                          <a:cs typeface="Segoe UI" pitchFamily="34" charset="-120"/>
                        </a:rPr>
                        <a: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Le retrait du DAO après paiement des frais — V72 · Le retrait du DAO après paiement des frais — V72 ; garde des frais au dépôt (06/10) · regles-gestion.md § La remise électronique des offres</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394</a:t>
            </a:r>
            <a:endParaRPr lang="en-US" sz="1100" dirty="0"/>
          </a:p>
        </p:txBody>
      </p:sp>
    </p:spTree>
  </p:cSld>
  <p:clrMapOvr>
    <a:masterClrMapping/>
  </p:clrMapOvr>
</p:sld>
</file>

<file path=ppt/slides/slide395.xml><?xml version="1.0" encoding="utf-8"?>
<p:sld xmlns:a="http://schemas.openxmlformats.org/drawingml/2006/main" xmlns:r="http://schemas.openxmlformats.org/officeDocument/2006/relationships" xmlns:p="http://schemas.openxmlformats.org/presentationml/2006/main">
  <p:cSld name="Slide 39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06 RECEVOIR LES OFFRES EN LIGNE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L’offre remplie en ligne</a:t>
            </a:r>
            <a:endParaRPr lang="en-US" sz="2600" dirty="0"/>
          </a:p>
        </p:txBody>
      </p:sp>
      <p:graphicFrame>
        <p:nvGraphicFramePr>
          <p:cNvPr id="396"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257048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RG-OFF-14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L’offre saisie dans des formulaires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Quand la fiche porte un besoin (fournitures, travaux), le candidat </a:t>
                      </a:r>
                      <a:r>
                        <a:rPr lang="en-US" sz="1100" b="1" dirty="0">
                          <a:solidFill>
                            <a:srgbClr val="1B2A3A"/>
                          </a:solidFill>
                          <a:latin typeface="Segoe UI" pitchFamily="34" charset="0"/>
                          <a:ea typeface="Segoe UI" pitchFamily="34" charset="-122"/>
                          <a:cs typeface="Segoe UI" pitchFamily="34" charset="-120"/>
                        </a:rPr>
                        <a:t>remplit</a:t>
                      </a:r>
                      <a:r>
                        <a:rPr lang="en-US" sz="1100" dirty="0">
                          <a:solidFill>
                            <a:srgbClr val="1B2A3A"/>
                          </a:solidFill>
                          <a:latin typeface="Segoe UI" pitchFamily="34" charset="0"/>
                          <a:ea typeface="Segoe UI" pitchFamily="34" charset="-122"/>
                          <a:cs typeface="Segoe UI" pitchFamily="34" charset="-120"/>
                        </a:rPr>
                        <a:t> son bordereau ou son devis quantitatif, sa conformité et son calendrier dans des formulaires pré-remplis depuis la fiche ; les pièces correspondantes ne sont plus exigées en fichier.</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RG-OFF-15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capacités déclarées aux travaux</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Aux travaux, le candidat déclare aussi le coefficient K1, les sous-détails de prix, ses capacités financières et techniques, son personnel et son matériel, face aux exigences de la fiche.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RG-OFF-16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L’acte d’engagement suit le bordereau</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Les montants de l’acte d’engagement sont ceux du bordereau. L’acte d’engagement signé et la garantie de soumission restent des </a:t>
                      </a:r>
                      <a:r>
                        <a:rPr lang="en-US" sz="1100" b="1" dirty="0">
                          <a:solidFill>
                            <a:srgbClr val="1B2A3A"/>
                          </a:solidFill>
                          <a:latin typeface="Segoe UI" pitchFamily="34" charset="0"/>
                          <a:ea typeface="Segoe UI" pitchFamily="34" charset="-122"/>
                          <a:cs typeface="Segoe UI" pitchFamily="34" charset="-120"/>
                        </a:rPr>
                        <a:t>pièces</a:t>
                      </a:r>
                      <a:r>
                        <a:rPr lang="en-US" sz="1100" dirty="0">
                          <a:solidFill>
                            <a:srgbClr val="1B2A3A"/>
                          </a:solidFill>
                          <a:latin typeface="Segoe UI" pitchFamily="34" charset="0"/>
                          <a:ea typeface="Segoe UI" pitchFamily="34" charset="-122"/>
                          <a:cs typeface="Segoe UI" pitchFamily="34" charset="-120"/>
                        </a:rPr>
                        <a:t> à joindre ; sans formulaires, l’offre se dépose par pièces seules et les montants de l’acte se saisissent.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RG-OFF-17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 rabais déclaré de façon structurée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candidat déclare son rabais : un pourcentage ou un montant hors taxes, sans condition ou subordonné à l’attribution de plusieurs lots. Sa cohérence est contrôlée dans le navigateur, avant le scellement.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RG-OFF-18</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Des avertissements, jamais un refus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serveur ne lit rien de l’offre avant l’ouverture : les contrôles faits avant le scellement avertissent le candidat, puis sont rejoués à l’ouverture en </a:t>
                      </a:r>
                      <a:r>
                        <a:rPr lang="en-US" sz="1100" b="1" dirty="0">
                          <a:solidFill>
                            <a:srgbClr val="1B2A3A"/>
                          </a:solidFill>
                          <a:latin typeface="Segoe UI" pitchFamily="34" charset="0"/>
                          <a:ea typeface="Segoe UI" pitchFamily="34" charset="-122"/>
                          <a:cs typeface="Segoe UI" pitchFamily="34" charset="-120"/>
                        </a:rPr>
                        <a:t>alertes</a:t>
                      </a:r>
                      <a:r>
                        <a:rPr lang="en-US" sz="1100" dirty="0">
                          <a:solidFill>
                            <a:srgbClr val="1B2A3A"/>
                          </a:solidFill>
                          <a:latin typeface="Segoe UI" pitchFamily="34" charset="0"/>
                          <a:ea typeface="Segoe UI" pitchFamily="34" charset="-122"/>
                          <a:cs typeface="Segoe UI" pitchFamily="34" charset="-120"/>
                        </a:rPr>
                        <a:t> pour la commission, jamais en refus.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La remise électronique des offres ; L’offre saisie dans des formulaires — lot 5 · L’offre saisie dans des formulaires — lot 5 · Le rabais structuré de l’offre en ligne</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395</a:t>
            </a:r>
            <a:endParaRPr lang="en-US" sz="1100" dirty="0"/>
          </a:p>
        </p:txBody>
      </p:sp>
    </p:spTree>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p:cSld name="Slide 39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06 RECEVOIR LES OFFRES EN LIGNE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dépôt scellé (1/2)</a:t>
            </a:r>
            <a:endParaRPr lang="en-US" sz="2600" dirty="0"/>
          </a:p>
        </p:txBody>
      </p:sp>
      <p:graphicFrame>
        <p:nvGraphicFramePr>
          <p:cNvPr id="397"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240284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RG-OFF-19</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L’offre scellée dans le navigateur</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candidat </a:t>
                      </a:r>
                      <a:r>
                        <a:rPr lang="en-US" sz="1100" b="1" dirty="0">
                          <a:solidFill>
                            <a:srgbClr val="1B2A3A"/>
                          </a:solidFill>
                          <a:latin typeface="Segoe UI" pitchFamily="34" charset="0"/>
                          <a:ea typeface="Segoe UI" pitchFamily="34" charset="-122"/>
                          <a:cs typeface="Segoe UI" pitchFamily="34" charset="-120"/>
                        </a:rPr>
                        <a:t>scelle</a:t>
                      </a:r>
                      <a:r>
                        <a:rPr lang="en-US" sz="1100" dirty="0">
                          <a:solidFill>
                            <a:srgbClr val="1B2A3A"/>
                          </a:solidFill>
                          <a:latin typeface="Segoe UI" pitchFamily="34" charset="0"/>
                          <a:ea typeface="Segoe UI" pitchFamily="34" charset="-122"/>
                          <a:cs typeface="Segoe UI" pitchFamily="34" charset="-120"/>
                        </a:rPr>
                        <a:t> son offre dans son navigateur, avec les clés publiques de la procédure. Le serveur reçoit un contenu qu’il ne peut pas lire : il sait qui a déposé, quand, pour quel lot et quelle taille, jamais un prix.</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RG-OFF-20</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conditions du dépôt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On dépose si la procédure est en ligne et ses dépôts ouverts à l’</a:t>
                      </a:r>
                      <a:r>
                        <a:rPr lang="en-US" sz="1100" b="1" dirty="0">
                          <a:solidFill>
                            <a:srgbClr val="1B2A3A"/>
                          </a:solidFill>
                          <a:latin typeface="Segoe UI" pitchFamily="34" charset="0"/>
                          <a:ea typeface="Segoe UI" pitchFamily="34" charset="-122"/>
                          <a:cs typeface="Segoe UI" pitchFamily="34" charset="-120"/>
                        </a:rPr>
                        <a:t>horloge du serveur</a:t>
                      </a:r>
                      <a:r>
                        <a:rPr lang="en-US" sz="1100" dirty="0">
                          <a:solidFill>
                            <a:srgbClr val="1B2A3A"/>
                          </a:solidFill>
                          <a:latin typeface="Segoe UI" pitchFamily="34" charset="0"/>
                          <a:ea typeface="Segoe UI" pitchFamily="34" charset="-122"/>
                          <a:cs typeface="Segoe UI" pitchFamily="34" charset="-120"/>
                        </a:rPr>
                        <a:t>, la cérémonie des clés close, l’entreprise déclarée et non exclue. Date limite et exclusion sont revérifiées au scellement : un dépôt non scellé à l’échéance est refusé.</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RG-OFF-21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Une offre par entreprise et par lot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Une seule offre déposée par entreprise et par lot. Un dépôt commencé et non scellé est purgé au bout de 24 heures sans envoi, ou à la date limite.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RG-OFF-22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 accusé portant l’empreinte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scellement donne un accusé de dépôt, en PDF et par courriel : numéro d’arrivée, date à l’horloge du serveur, </a:t>
                      </a:r>
                      <a:r>
                        <a:rPr lang="en-US" sz="1100" b="1" dirty="0">
                          <a:solidFill>
                            <a:srgbClr val="1B2A3A"/>
                          </a:solidFill>
                          <a:latin typeface="Segoe UI" pitchFamily="34" charset="0"/>
                          <a:ea typeface="Segoe UI" pitchFamily="34" charset="-122"/>
                          <a:cs typeface="Segoe UI" pitchFamily="34" charset="-120"/>
                        </a:rPr>
                        <a:t>empreinte</a:t>
                      </a:r>
                      <a:r>
                        <a:rPr lang="en-US" sz="1100" dirty="0">
                          <a:solidFill>
                            <a:srgbClr val="1B2A3A"/>
                          </a:solidFill>
                          <a:latin typeface="Segoe UI" pitchFamily="34" charset="0"/>
                          <a:ea typeface="Segoe UI" pitchFamily="34" charset="-122"/>
                          <a:cs typeface="Segoe UI" pitchFamily="34" charset="-120"/>
                        </a:rPr>
                        <a:t> de l’offre et empreintes des clés employées.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RG-OFF-23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Remplacer ou retirer avant l’échéance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Remplacer ou retirer une offre n’est possible qu’avant la date limite, et si la fiche l’autorise. L’ancienne offre n’est remplacée qu’au scellement de la nouvelle ; une offre retirée est conservée et ne s’ouvre jamais.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2026-10-04, lot 3 (V68) — le dépôt d’une offre · Le dépôt scellé d’une offre — V68</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396</a:t>
            </a:r>
            <a:endParaRPr lang="en-US" sz="1100" dirty="0"/>
          </a:p>
        </p:txBody>
      </p:sp>
    </p:spTree>
  </p:cSld>
  <p:clrMapOvr>
    <a:masterClrMapping/>
  </p:clrMapOvr>
</p:sld>
</file>

<file path=ppt/slides/slide397.xml><?xml version="1.0" encoding="utf-8"?>
<p:sld xmlns:a="http://schemas.openxmlformats.org/drawingml/2006/main" xmlns:r="http://schemas.openxmlformats.org/officeDocument/2006/relationships" xmlns:p="http://schemas.openxmlformats.org/presentationml/2006/main">
  <p:cSld name="Slide 39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06 RECEVOIR LES OFFRES EN LIGNE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dépôt scellé (2/2)</a:t>
            </a:r>
            <a:endParaRPr lang="en-US" sz="2600" dirty="0"/>
          </a:p>
        </p:txBody>
      </p:sp>
      <p:graphicFrame>
        <p:nvGraphicFramePr>
          <p:cNvPr id="398"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RG-OFF-24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Avant l’échéance, le nombre seul</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Avant la date limite, la PRMP ne connaît que le </a:t>
                      </a:r>
                      <a:r>
                        <a:rPr lang="en-US" sz="1100" b="1" dirty="0">
                          <a:solidFill>
                            <a:srgbClr val="1B2A3A"/>
                          </a:solidFill>
                          <a:latin typeface="Segoe UI" pitchFamily="34" charset="0"/>
                          <a:ea typeface="Segoe UI" pitchFamily="34" charset="-122"/>
                          <a:cs typeface="Segoe UI" pitchFamily="34" charset="-120"/>
                        </a:rPr>
                        <a:t>nombre</a:t>
                      </a:r>
                      <a:r>
                        <a:rPr lang="en-US" sz="1100" dirty="0">
                          <a:solidFill>
                            <a:srgbClr val="1B2A3A"/>
                          </a:solidFill>
                          <a:latin typeface="Segoe UI" pitchFamily="34" charset="0"/>
                          <a:ea typeface="Segoe UI" pitchFamily="34" charset="-122"/>
                          <a:cs typeface="Segoe UI" pitchFamily="34" charset="-120"/>
                        </a:rPr>
                        <a:t> de dépôts. Le registre (qui, quand, quel lot, empreinte) ne se lit qu’après l’échéance. L’Administrateur ne lit pas les dépôts.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RG-OFF-33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Toute tentative hors délai refusée et consignée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Toute tentative de déposer une offre après la date et l’heure limites est </a:t>
                      </a:r>
                      <a:r>
                        <a:rPr lang="en-US" sz="1100" b="1" dirty="0">
                          <a:solidFill>
                            <a:srgbClr val="1B2A3A"/>
                          </a:solidFill>
                          <a:latin typeface="Segoe UI" pitchFamily="34" charset="0"/>
                          <a:ea typeface="Segoe UI" pitchFamily="34" charset="-122"/>
                          <a:cs typeface="Segoe UI" pitchFamily="34" charset="-120"/>
                        </a:rPr>
                        <a:t>refusée</a:t>
                      </a:r>
                      <a:r>
                        <a:rPr lang="en-US" sz="1100" dirty="0">
                          <a:solidFill>
                            <a:srgbClr val="1B2A3A"/>
                          </a:solidFill>
                          <a:latin typeface="Segoe UI" pitchFamily="34" charset="0"/>
                          <a:ea typeface="Segoe UI" pitchFamily="34" charset="-122"/>
                          <a:cs typeface="Segoe UI" pitchFamily="34" charset="-120"/>
                        </a:rPr>
                        <a:t> (art. 44). Le refus est daté par le serveur et conservé, avec l’entreprise, le NIF, le lot et le geste refusé. Le registre des dépôts de la PRMP et le PV d’ouverture les énumèrent.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2026-10-04, lot 3 (V68) — le dépôt d’une offre · regles-gestion.md § ⚠️ 2026-10-14 — manuel révisé, lot 2, tranche R9b ; demande-backend-2026-10-10-manuel-revise-lot2.md B4 (✅)</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397</a:t>
            </a:r>
            <a:endParaRPr lang="en-US" sz="1100" dirty="0"/>
          </a:p>
        </p:txBody>
      </p:sp>
    </p:spTree>
  </p:cSld>
  <p:clrMapOvr>
    <a:masterClrMapping/>
  </p:clrMapOvr>
</p:sld>
</file>

<file path=ppt/slides/slide398.xml><?xml version="1.0" encoding="utf-8"?>
<p:sld xmlns:a="http://schemas.openxmlformats.org/drawingml/2006/main" xmlns:r="http://schemas.openxmlformats.org/officeDocument/2006/relationships" xmlns:p="http://schemas.openxmlformats.org/presentationml/2006/main">
  <p:cSld name="Slide 39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06 RECEVOIR LES OFFRES EN LIGNE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commission, les clés et le dépositaire (1/2)</a:t>
            </a:r>
            <a:endParaRPr lang="en-US" sz="2600" dirty="0"/>
          </a:p>
        </p:txBody>
      </p:sp>
      <p:graphicFrame>
        <p:nvGraphicFramePr>
          <p:cNvPr id="399"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3073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RG-OFF-25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 commission désignée par la PRMP</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PRMP constitue la commission d’appel d’offres par une décision, saisie par elle ou par son UGPM : au moins deux membres, un président parmi eux. Seuls les membres détiennent une part de clé. Ni la PRMP, ni l’UGPM, ni un contrôleur de la CNM, ni un candidat n’y siège.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RG-OFF-26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 responsable désigné par procédure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responsable de la procédure est désigné par l’Administrateur pour cette procédure, jamais parmi les détenteurs d’une part. Lui seul lit et modifie les </a:t>
                      </a:r>
                      <a:r>
                        <a:rPr lang="en-US" sz="1100" b="1" dirty="0">
                          <a:solidFill>
                            <a:srgbClr val="1B2A3A"/>
                          </a:solidFill>
                          <a:latin typeface="Segoe UI" pitchFamily="34" charset="0"/>
                          <a:ea typeface="Segoe UI" pitchFamily="34" charset="-122"/>
                          <a:cs typeface="Segoe UI" pitchFamily="34" charset="-120"/>
                        </a:rPr>
                        <a:t>paramètres internes</a:t>
                      </a:r>
                      <a:r>
                        <a:rPr lang="en-US" sz="1100" dirty="0">
                          <a:solidFill>
                            <a:srgbClr val="1B2A3A"/>
                          </a:solidFill>
                          <a:latin typeface="Segoe UI" pitchFamily="34" charset="0"/>
                          <a:ea typeface="Segoe UI" pitchFamily="34" charset="-122"/>
                          <a:cs typeface="Segoe UI" pitchFamily="34" charset="-120"/>
                        </a:rPr>
                        <a:t> (détenteurs, quorum, cérémonie, dépositaire), qui ne paraissent dans aucun document.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RG-OFF-27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 cérémonie des clés avant l’avis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Chaque membre de la commission génère sa clé dans son navigateur ; le serveur ne détient jamais une clé privée en clair. L’avis (ou les lettres d’invitation) ne se publie qu’une fois la </a:t>
                      </a:r>
                      <a:r>
                        <a:rPr lang="en-US" sz="1100" b="1" dirty="0">
                          <a:solidFill>
                            <a:srgbClr val="1B2A3A"/>
                          </a:solidFill>
                          <a:latin typeface="Segoe UI" pitchFamily="34" charset="0"/>
                          <a:ea typeface="Segoe UI" pitchFamily="34" charset="-122"/>
                          <a:cs typeface="Segoe UI" pitchFamily="34" charset="-120"/>
                        </a:rPr>
                        <a:t>cérémonie des clés</a:t>
                      </a:r>
                      <a:r>
                        <a:rPr lang="en-US" sz="1100" dirty="0">
                          <a:solidFill>
                            <a:srgbClr val="1B2A3A"/>
                          </a:solidFill>
                          <a:latin typeface="Segoe UI" pitchFamily="34" charset="0"/>
                          <a:ea typeface="Segoe UI" pitchFamily="34" charset="-122"/>
                          <a:cs typeface="Segoe UI" pitchFamily="34" charset="-120"/>
                        </a:rPr>
                        <a:t> close.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RG-OFF-28</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 quorum de clés entre deux et tous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nombre de parts nécessaires pour ouvrir les offres est compris entre 2 et le nombre de détenteurs. S’il l’égale, un avertissement rappelle que la perte d’une seule part rendrait les offres illisibles. Ce quorum des clés est distinct du quorum de délibération de la commission (partie 07).</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RG-OFF-29</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dépositaire génère la part de secours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dépositaire, choisi librement pour chaque procédure, génère la part de secours sur son propre poste ; lui seul en connaît la phrase secrète. Il ne peut être ni la PRMP, ni une UGPM de la fiche, ni le responsable, ni un membre de la commission, ni un candidat.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2026-10-04, lots 2a et 2b (V66-V67) ; arbitrages après le lot 4 (V70) · regles-gestion.md § La remise électronique des offres · regles-gestion.md § 2026-10-04, lots 2a et 2b (V66-V67) · regles-gestion.md § La remise électronique des offres (règles bloquantes, S1) · regles-gestion.md § 2026-10-05 — le dépositaire génère lui-même la part de secours (V71)</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398</a:t>
            </a:r>
            <a:endParaRPr lang="en-US" sz="1100" dirty="0"/>
          </a:p>
        </p:txBody>
      </p:sp>
    </p:spTree>
  </p:cSld>
  <p:clrMapOvr>
    <a:masterClrMapping/>
  </p:clrMapOvr>
</p:sld>
</file>

<file path=ppt/slides/slide399.xml><?xml version="1.0" encoding="utf-8"?>
<p:sld xmlns:a="http://schemas.openxmlformats.org/drawingml/2006/main" xmlns:r="http://schemas.openxmlformats.org/officeDocument/2006/relationships" xmlns:p="http://schemas.openxmlformats.org/presentationml/2006/main">
  <p:cSld name="Slide 39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06 RECEVOIR LES OFFRES EN LIGNE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commission, les clés et le dépositaire (2/2)</a:t>
            </a:r>
            <a:endParaRPr lang="en-US" sz="2600" dirty="0"/>
          </a:p>
        </p:txBody>
      </p:sp>
      <p:graphicFrame>
        <p:nvGraphicFramePr>
          <p:cNvPr id="400"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RG-OFF-30</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dépositaire ne voit pas les offres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dépositaire ne voit ni les offres, ni leurs pièces, ni le PV : seulement sa clé, l’état de la cérémonie et celui de la séance. Changer de dépositaire reste possible tant que les paramètres internes sont modifiables.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Le dépositaire génère lui-même la part de secours — V71</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399</a:t>
            </a:r>
            <a:endParaRPr lang="en-US" sz="1100" dirty="0"/>
          </a:p>
        </p:txBody>
      </p:sp>
    </p:spTree>
  </p:cSld>
  <p:clrMapOvr>
    <a:masterClrMapping/>
  </p:clrMapOvr>
</p:sld>
</file>

<file path=ppt/slides/slide400.xml><?xml version="1.0" encoding="utf-8"?>
<p:sld xmlns:a="http://schemas.openxmlformats.org/drawingml/2006/main" xmlns:r="http://schemas.openxmlformats.org/officeDocument/2006/relationships" xmlns:p="http://schemas.openxmlformats.org/presentationml/2006/main">
  <p:cSld name="Slide 40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06 RECEVOIR LES OFFRES EN LIGNE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consultation restreinte</a:t>
            </a:r>
            <a:endParaRPr lang="en-US" sz="2600" dirty="0"/>
          </a:p>
        </p:txBody>
      </p:sp>
      <p:graphicFrame>
        <p:nvGraphicFramePr>
          <p:cNvPr id="401"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142748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RG-OFF-31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Une procédure réservée aux invités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consultation restreinte de prestations intellectuelles naît à l’impression des lettres d’invitation ; elle n’apparaît pas parmi les procédures ouvertes et reste introuvable pour les non-invités. Les invités sont la liste de l’AMI, ou les candidats saisis avec leur adresse : le compte qui porte cette adresse est rattaché à l’invitation, même créé après.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RG-OFF-32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Deux enveloppes, une proposition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proposition se dépose en deux enveloppes scellées l’une après l’autre : la </a:t>
                      </a:r>
                      <a:r>
                        <a:rPr lang="en-US" sz="1100" b="1" dirty="0">
                          <a:solidFill>
                            <a:srgbClr val="1B2A3A"/>
                          </a:solidFill>
                          <a:latin typeface="Segoe UI" pitchFamily="34" charset="0"/>
                          <a:ea typeface="Segoe UI" pitchFamily="34" charset="-122"/>
                          <a:cs typeface="Segoe UI" pitchFamily="34" charset="-120"/>
                        </a:rPr>
                        <a:t>technique</a:t>
                      </a:r>
                      <a:r>
                        <a:rPr lang="en-US" sz="1100" dirty="0">
                          <a:solidFill>
                            <a:srgbClr val="1B2A3A"/>
                          </a:solidFill>
                          <a:latin typeface="Segoe UI" pitchFamily="34" charset="0"/>
                          <a:ea typeface="Segoe UI" pitchFamily="34" charset="-122"/>
                          <a:cs typeface="Segoe UI" pitchFamily="34" charset="-120"/>
                        </a:rPr>
                        <a:t>, sans aucun montant, et la </a:t>
                      </a:r>
                      <a:r>
                        <a:rPr lang="en-US" sz="1100" b="1" dirty="0">
                          <a:solidFill>
                            <a:srgbClr val="1B2A3A"/>
                          </a:solidFill>
                          <a:latin typeface="Segoe UI" pitchFamily="34" charset="0"/>
                          <a:ea typeface="Segoe UI" pitchFamily="34" charset="-122"/>
                          <a:cs typeface="Segoe UI" pitchFamily="34" charset="-120"/>
                        </a:rPr>
                        <a:t>financière</a:t>
                      </a:r>
                      <a:r>
                        <a:rPr lang="en-US" sz="1100" dirty="0">
                          <a:solidFill>
                            <a:srgbClr val="1B2A3A"/>
                          </a:solidFill>
                          <a:latin typeface="Segoe UI" pitchFamily="34" charset="0"/>
                          <a:ea typeface="Segoe UI" pitchFamily="34" charset="-122"/>
                          <a:cs typeface="Segoe UI" pitchFamily="34" charset="-120"/>
                        </a:rPr>
                        <a:t>, avec l’acte d’engagement et les formulaires financiers. Les deux portent le même numéro ; l’accusé de la seconde porte l’empreinte de la première ; retirer l’une retire les deux.</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Lot 3 PI : demande evaluation-pi du 07/10, tranche PI-a · Lot 3 PI : demande evaluation-pi du 07/10, tranche PI-b</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400</a:t>
            </a:r>
            <a:endParaRPr lang="en-US" sz="1100" dirty="0"/>
          </a:p>
        </p:txBody>
      </p:sp>
    </p:spTree>
  </p:cSld>
  <p:clrMapOvr>
    <a:masterClrMapping/>
  </p:clrMapOvr>
</p:sld>
</file>

<file path=ppt/slides/slide401.xml><?xml version="1.0" encoding="utf-8"?>
<p:sld xmlns:a="http://schemas.openxmlformats.org/drawingml/2006/main" xmlns:r="http://schemas.openxmlformats.org/officeDocument/2006/relationships" xmlns:p="http://schemas.openxmlformats.org/presentationml/2006/main">
  <p:cSld name="Slide 40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06 RECEVOIR LES OFFRES EN LIGNE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questions des candidats</a:t>
            </a:r>
            <a:endParaRPr lang="en-US" sz="2600" dirty="0"/>
          </a:p>
        </p:txBody>
      </p:sp>
      <p:graphicFrame>
        <p:nvGraphicFramePr>
          <p:cNvPr id="402"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142748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RG-OFF-34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Des questions jusqu’à dix jours avant la date limite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 candidat qui a retiré le dossier peut poser une question à la PRMP jusqu’à </a:t>
                      </a:r>
                      <a:r>
                        <a:rPr lang="en-US" sz="1100" b="1" dirty="0">
                          <a:solidFill>
                            <a:srgbClr val="1B2A3A"/>
                          </a:solidFill>
                          <a:latin typeface="Segoe UI" pitchFamily="34" charset="0"/>
                          <a:ea typeface="Segoe UI" pitchFamily="34" charset="-122"/>
                          <a:cs typeface="Segoe UI" pitchFamily="34" charset="-120"/>
                        </a:rPr>
                        <a:t>dix jours avant la date limite</a:t>
                      </a:r>
                      <a:r>
                        <a:rPr lang="en-US" sz="1100" dirty="0">
                          <a:solidFill>
                            <a:srgbClr val="1B2A3A"/>
                          </a:solidFill>
                          <a:latin typeface="Segoe UI" pitchFamily="34" charset="0"/>
                          <a:ea typeface="Segoe UI" pitchFamily="34" charset="-122"/>
                          <a:cs typeface="Segoe UI" pitchFamily="34" charset="-120"/>
                        </a:rPr>
                        <a:t>, ce dixième jour compris (art. 35-II) ; ensuite les questions sont closes. La PRMP répond par écrit, avec une pièce jointe si elle le souhaite ; une question n’a qu’une réponse, définitive.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RG-OFF-35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Une réponse diffusée à tous, sans auteur</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réponse est </a:t>
                      </a:r>
                      <a:r>
                        <a:rPr lang="en-US" sz="1100" b="1" dirty="0">
                          <a:solidFill>
                            <a:srgbClr val="1B2A3A"/>
                          </a:solidFill>
                          <a:latin typeface="Segoe UI" pitchFamily="34" charset="0"/>
                          <a:ea typeface="Segoe UI" pitchFamily="34" charset="-122"/>
                          <a:cs typeface="Segoe UI" pitchFamily="34" charset="-120"/>
                        </a:rPr>
                        <a:t>diffusée aussitôt</a:t>
                      </a:r>
                      <a:r>
                        <a:rPr lang="en-US" sz="1100" dirty="0">
                          <a:solidFill>
                            <a:srgbClr val="1B2A3A"/>
                          </a:solidFill>
                          <a:latin typeface="Segoe UI" pitchFamily="34" charset="0"/>
                          <a:ea typeface="Segoe UI" pitchFamily="34" charset="-122"/>
                          <a:cs typeface="Segoe UI" pitchFamily="34" charset="-120"/>
                        </a:rPr>
                        <a:t> à tous les candidats ayant retiré le dossier, par notification et sur la page publique de la procédure, sans le nom de l’auteur de la question. Les questions répondues sont jointes d’office au dossier de marché soumis à la Commission.</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 2026-10-13 — manuel révisé, lot 2, tranche R7 (V109)</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401</a:t>
            </a:r>
            <a:endParaRPr lang="en-US" sz="1100" dirty="0"/>
          </a:p>
        </p:txBody>
      </p:sp>
    </p:spTree>
  </p:cSld>
  <p:clrMapOvr>
    <a:masterClrMapping/>
  </p:clrMapOvr>
</p:sld>
</file>

<file path=ppt/slides/slide402.xml><?xml version="1.0" encoding="utf-8"?>
<p:sld xmlns:a="http://schemas.openxmlformats.org/drawingml/2006/main" xmlns:r="http://schemas.openxmlformats.org/officeDocument/2006/relationships" xmlns:p="http://schemas.openxmlformats.org/presentationml/2006/main">
  <p:cSld name="Slide 40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07 LA SÉANCE D’OUVERTURE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Ouvrir la séance</a:t>
            </a:r>
            <a:endParaRPr lang="en-US" sz="2600" dirty="0"/>
          </a:p>
        </p:txBody>
      </p:sp>
      <p:graphicFrame>
        <p:nvGraphicFramePr>
          <p:cNvPr id="403"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179832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RG-SEA-01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L’ouverture à l’heure fixée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responsable de la procédure ouvre la séance à l’</a:t>
                      </a:r>
                      <a:r>
                        <a:rPr lang="en-US" sz="1100" b="1" dirty="0">
                          <a:solidFill>
                            <a:srgbClr val="1B2A3A"/>
                          </a:solidFill>
                          <a:latin typeface="Segoe UI" pitchFamily="34" charset="0"/>
                          <a:ea typeface="Segoe UI" pitchFamily="34" charset="-122"/>
                          <a:cs typeface="Segoe UI" pitchFamily="34" charset="-120"/>
                        </a:rPr>
                        <a:t>heure d’ouverture</a:t>
                      </a:r>
                      <a:r>
                        <a:rPr lang="en-US" sz="1100" dirty="0">
                          <a:solidFill>
                            <a:srgbClr val="1B2A3A"/>
                          </a:solidFill>
                          <a:latin typeface="Segoe UI" pitchFamily="34" charset="0"/>
                          <a:ea typeface="Segoe UI" pitchFamily="34" charset="-122"/>
                          <a:cs typeface="Segoe UI" pitchFamily="34" charset="-120"/>
                        </a:rPr>
                        <a:t> fixée par la fiche, une fois la date limite passée. Avant, personne ne reçoit rien, pas même les parts chiffrées.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RG-SEA-02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Des rappels avant la séance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Les membres de la commission et le responsable reçoivent un rappel la veille, puis une heure avant l’heure d’ouverture.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RG-SEA-03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présences consignées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responsable enregistre les présents : membres de la commission et autres personnes, avec leur qualité. Un membre qui apporte ses parts est </a:t>
                      </a:r>
                      <a:r>
                        <a:rPr lang="en-US" sz="1100" b="1" dirty="0">
                          <a:solidFill>
                            <a:srgbClr val="1B2A3A"/>
                          </a:solidFill>
                          <a:latin typeface="Segoe UI" pitchFamily="34" charset="0"/>
                          <a:ea typeface="Segoe UI" pitchFamily="34" charset="-122"/>
                          <a:cs typeface="Segoe UI" pitchFamily="34" charset="-120"/>
                        </a:rPr>
                        <a:t>présent d’office</a:t>
                      </a:r>
                      <a:r>
                        <a:rPr lang="en-US" sz="1100" dirty="0">
                          <a:solidFill>
                            <a:srgbClr val="1B2A3A"/>
                          </a:solidFill>
                          <a:latin typeface="Segoe UI" pitchFamily="34" charset="0"/>
                          <a:ea typeface="Segoe UI" pitchFamily="34" charset="-122"/>
                          <a:cs typeface="Segoe UI" pitchFamily="34" charset="-120"/>
                        </a:rPr>
                        <a: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RG-SEA-04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Sans offre, un PV de carence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Sans aucune offre déposée, la séance s’ouvre directement et le PV est un </a:t>
                      </a:r>
                      <a:r>
                        <a:rPr lang="en-US" sz="1100" b="1" dirty="0">
                          <a:solidFill>
                            <a:srgbClr val="1B2A3A"/>
                          </a:solidFill>
                          <a:latin typeface="Segoe UI" pitchFamily="34" charset="0"/>
                          <a:ea typeface="Segoe UI" pitchFamily="34" charset="-122"/>
                          <a:cs typeface="Segoe UI" pitchFamily="34" charset="-120"/>
                        </a:rPr>
                        <a:t>PV de carence</a:t>
                      </a:r>
                      <a:r>
                        <a:rPr lang="en-US" sz="1100" dirty="0">
                          <a:solidFill>
                            <a:srgbClr val="1B2A3A"/>
                          </a:solidFill>
                          <a:latin typeface="Segoe UI" pitchFamily="34" charset="0"/>
                          <a:ea typeface="Segoe UI" pitchFamily="34" charset="-122"/>
                          <a:cs typeface="Segoe UI" pitchFamily="34" charset="-120"/>
                        </a:rPr>
                        <a:t>, signé selon la même règle que les autres.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2026-10-04, lot 4 (V69) — l’ouverture des plis · L’ouverture des plis en séance — V69 · regles-gestion.md § 2026-10-04, lot 4 (V69) ; arbitrages après le lot 4 (V70)</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402</a:t>
            </a:r>
            <a:endParaRPr lang="en-US" sz="1100" dirty="0"/>
          </a:p>
        </p:txBody>
      </p:sp>
    </p:spTree>
  </p:cSld>
  <p:clrMapOvr>
    <a:masterClrMapping/>
  </p:clrMapOvr>
</p:sld>
</file>

<file path=ppt/slides/slide403.xml><?xml version="1.0" encoding="utf-8"?>
<p:sld xmlns:a="http://schemas.openxmlformats.org/drawingml/2006/main" xmlns:r="http://schemas.openxmlformats.org/officeDocument/2006/relationships" xmlns:p="http://schemas.openxmlformats.org/presentationml/2006/main">
  <p:cSld name="Slide 40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07 LA SÉANCE D’OUVERTURE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parts et le quorum des clés</a:t>
            </a:r>
            <a:endParaRPr lang="en-US" sz="2600" dirty="0"/>
          </a:p>
        </p:txBody>
      </p:sp>
      <p:graphicFrame>
        <p:nvGraphicFramePr>
          <p:cNvPr id="404"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240284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RG-SEA-05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Toutes ses parts en une fois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Chaque membre déverrouille sa clé dans son navigateur et apporte </a:t>
                      </a:r>
                      <a:r>
                        <a:rPr lang="en-US" sz="1100" b="1" dirty="0">
                          <a:solidFill>
                            <a:srgbClr val="1B2A3A"/>
                          </a:solidFill>
                          <a:latin typeface="Segoe UI" pitchFamily="34" charset="0"/>
                          <a:ea typeface="Segoe UI" pitchFamily="34" charset="-122"/>
                          <a:cs typeface="Segoe UI" pitchFamily="34" charset="-120"/>
                        </a:rPr>
                        <a:t>toutes ses parts</a:t>
                      </a:r>
                      <a:r>
                        <a:rPr lang="en-US" sz="1100" dirty="0">
                          <a:solidFill>
                            <a:srgbClr val="1B2A3A"/>
                          </a:solidFill>
                          <a:latin typeface="Segoe UI" pitchFamily="34" charset="0"/>
                          <a:ea typeface="Segoe UI" pitchFamily="34" charset="-122"/>
                          <a:cs typeface="Segoe UI" pitchFamily="34" charset="-120"/>
                        </a:rPr>
                        <a:t> en une fois, une par offre. Il peut les rapporter : elles remplacent les précédentes.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RG-SEA-06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Des parts jamais conservées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Les parts apportées vivent en mémoire du serveur seulement, jamais en base ni au journal, et s’effacent au déchiffrement. Un redémarrage du serveur pendant la séance oblige les membres à les rapporter.</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RG-SEA-07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 part de secours, sur demande motivée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Si une part manque, le responsable </a:t>
                      </a:r>
                      <a:r>
                        <a:rPr lang="en-US" sz="1100" b="1" dirty="0">
                          <a:solidFill>
                            <a:srgbClr val="1B2A3A"/>
                          </a:solidFill>
                          <a:latin typeface="Segoe UI" pitchFamily="34" charset="0"/>
                          <a:ea typeface="Segoe UI" pitchFamily="34" charset="-122"/>
                          <a:cs typeface="Segoe UI" pitchFamily="34" charset="-120"/>
                        </a:rPr>
                        <a:t>demande</a:t>
                      </a:r>
                      <a:r>
                        <a:rPr lang="en-US" sz="1100" dirty="0">
                          <a:solidFill>
                            <a:srgbClr val="1B2A3A"/>
                          </a:solidFill>
                          <a:latin typeface="Segoe UI" pitchFamily="34" charset="0"/>
                          <a:ea typeface="Segoe UI" pitchFamily="34" charset="-122"/>
                          <a:cs typeface="Segoe UI" pitchFamily="34" charset="-120"/>
                        </a:rPr>
                        <a:t> la part de secours avec un motif, porté au PV ; le dépositaire l’apporte depuis son propre poste.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RG-SEA-08</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Au quorum, tout s’ouvre ensemble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Au </a:t>
                      </a:r>
                      <a:r>
                        <a:rPr lang="en-US" sz="1100" b="1" dirty="0">
                          <a:solidFill>
                            <a:srgbClr val="1B2A3A"/>
                          </a:solidFill>
                          <a:latin typeface="Segoe UI" pitchFamily="34" charset="0"/>
                          <a:ea typeface="Segoe UI" pitchFamily="34" charset="-122"/>
                          <a:cs typeface="Segoe UI" pitchFamily="34" charset="-120"/>
                        </a:rPr>
                        <a:t>quorum</a:t>
                      </a:r>
                      <a:r>
                        <a:rPr lang="en-US" sz="1100" dirty="0">
                          <a:solidFill>
                            <a:srgbClr val="1B2A3A"/>
                          </a:solidFill>
                          <a:latin typeface="Segoe UI" pitchFamily="34" charset="0"/>
                          <a:ea typeface="Segoe UI" pitchFamily="34" charset="-122"/>
                          <a:cs typeface="Segoe UI" pitchFamily="34" charset="-120"/>
                        </a:rPr>
                        <a:t> des parts, toutes les offres s’ouvrent ensemble, dans un même geste ; aucune ne s’ouvre avant les autres.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RG-SEA-09</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Quorum impossible : PV de constat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Si le quorum des parts ne peut plus être atteint, part de secours comprise, le responsable constate l’illisibilité : un PV de constat est dressé, les soumissionnaires sont avertis et la procédure est à relancer.</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2026-10-04, lot 4 (V69) — l’ouverture des plis · L’ouverture des plis en séance — V69 · regles-gestion.md § 2026-10-05 — le dépositaire génère lui-même la part de secours (V71) · regles-gestion.md § 2026-10-04, lot 4 (V69) — l’ouverture des plis (S5)</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403</a:t>
            </a:r>
            <a:endParaRPr lang="en-US" sz="1100" dirty="0"/>
          </a:p>
        </p:txBody>
      </p:sp>
    </p:spTree>
  </p:cSld>
  <p:clrMapOvr>
    <a:masterClrMapping/>
  </p:clrMapOvr>
</p:sld>
</file>

<file path=ppt/slides/slide404.xml><?xml version="1.0" encoding="utf-8"?>
<p:sld xmlns:a="http://schemas.openxmlformats.org/drawingml/2006/main" xmlns:r="http://schemas.openxmlformats.org/officeDocument/2006/relationships" xmlns:p="http://schemas.openxmlformats.org/presentationml/2006/main">
  <p:cSld name="Slide 40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07 LA SÉANCE D’OUVERTURE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L’ouverture des offres</a:t>
            </a:r>
            <a:endParaRPr lang="en-US" sz="2600" dirty="0"/>
          </a:p>
        </p:txBody>
      </p:sp>
      <p:graphicFrame>
        <p:nvGraphicFramePr>
          <p:cNvPr id="405"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10922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RG-SEA-10</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L’exclusion après dépôt écarte l’offre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Une offre dont l’entreprise, ou un membre du groupement, a été exclue par l’ARMP depuis son dépôt est </a:t>
                      </a:r>
                      <a:r>
                        <a:rPr lang="en-US" sz="1100" b="1" dirty="0">
                          <a:solidFill>
                            <a:srgbClr val="1B2A3A"/>
                          </a:solidFill>
                          <a:latin typeface="Segoe UI" pitchFamily="34" charset="0"/>
                          <a:ea typeface="Segoe UI" pitchFamily="34" charset="-122"/>
                          <a:cs typeface="Segoe UI" pitchFamily="34" charset="-120"/>
                        </a:rPr>
                        <a:t>écartée sans être ouverte</a:t>
                      </a:r>
                      <a:r>
                        <a:rPr lang="en-US" sz="1100" dirty="0">
                          <a:solidFill>
                            <a:srgbClr val="1B2A3A"/>
                          </a:solidFill>
                          <a:latin typeface="Segoe UI" pitchFamily="34" charset="0"/>
                          <a:ea typeface="Segoe UI" pitchFamily="34" charset="-122"/>
                          <a:cs typeface="Segoe UI" pitchFamily="34" charset="-120"/>
                        </a:rPr>
                        <a: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RG-SEA-11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L’intégrité de chaque offre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L’empreinte de chaque offre est recalculée : une offre altérée est signalée. Une offre qu’on ne peut pas lire ne bloque pas les autres. Les offres retirées et remplacées ne s’ouvrent jamais.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2026-10-04, lot 4 (V69) — l’ouverture des plis</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404</a:t>
            </a:r>
            <a:endParaRPr lang="en-US" sz="1100" dirty="0"/>
          </a:p>
        </p:txBody>
      </p:sp>
    </p:spTree>
  </p:cSld>
  <p:clrMapOvr>
    <a:masterClrMapping/>
  </p:clrMapOvr>
</p:sld>
</file>

<file path=ppt/slides/slide405.xml><?xml version="1.0" encoding="utf-8"?>
<p:sld xmlns:a="http://schemas.openxmlformats.org/drawingml/2006/main" xmlns:r="http://schemas.openxmlformats.org/officeDocument/2006/relationships" xmlns:p="http://schemas.openxmlformats.org/presentationml/2006/main">
  <p:cSld name="Slide 40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07 LA SÉANCE D’OUVERTURE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lecture et les alertes (1/2)</a:t>
            </a:r>
            <a:endParaRPr lang="en-US" sz="2600" dirty="0"/>
          </a:p>
        </p:txBody>
      </p:sp>
      <p:graphicFrame>
        <p:nvGraphicFramePr>
          <p:cNvPr id="406"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240284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RG-SEA-12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 lecture informe, ne refuse pas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lecture — montants, délai, validité, garantie, pièces manquantes, vérification du NIF, rapprochements entre déposants — est une information pour la commission, </a:t>
                      </a:r>
                      <a:r>
                        <a:rPr lang="en-US" sz="1100" b="1" dirty="0">
                          <a:solidFill>
                            <a:srgbClr val="1B2A3A"/>
                          </a:solidFill>
                          <a:latin typeface="Segoe UI" pitchFamily="34" charset="0"/>
                          <a:ea typeface="Segoe UI" pitchFamily="34" charset="-122"/>
                          <a:cs typeface="Segoe UI" pitchFamily="34" charset="-120"/>
                        </a:rPr>
                        <a:t>jamais un refus</a:t>
                      </a:r>
                      <a:r>
                        <a:rPr lang="en-US" sz="1100" dirty="0">
                          <a:solidFill>
                            <a:srgbClr val="1B2A3A"/>
                          </a:solidFill>
                          <a:latin typeface="Segoe UI" pitchFamily="34" charset="0"/>
                          <a:ea typeface="Segoe UI" pitchFamily="34" charset="-122"/>
                          <a:cs typeface="Segoe UI" pitchFamily="34" charset="-120"/>
                        </a:rPr>
                        <a: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RG-SEA-13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totaux recalculés à l’ouverture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Pour une offre remplie en ligne, le serveur </a:t>
                      </a:r>
                      <a:r>
                        <a:rPr lang="en-US" sz="1100" b="1" dirty="0">
                          <a:solidFill>
                            <a:srgbClr val="1B2A3A"/>
                          </a:solidFill>
                          <a:latin typeface="Segoe UI" pitchFamily="34" charset="0"/>
                          <a:ea typeface="Segoe UI" pitchFamily="34" charset="-122"/>
                          <a:cs typeface="Segoe UI" pitchFamily="34" charset="-120"/>
                        </a:rPr>
                        <a:t>recalcule les totaux</a:t>
                      </a:r>
                      <a:r>
                        <a:rPr lang="en-US" sz="1100" dirty="0">
                          <a:solidFill>
                            <a:srgbClr val="1B2A3A"/>
                          </a:solidFill>
                          <a:latin typeface="Segoe UI" pitchFamily="34" charset="0"/>
                          <a:ea typeface="Segoe UI" pitchFamily="34" charset="-122"/>
                          <a:cs typeface="Segoe UI" pitchFamily="34" charset="-120"/>
                        </a:rPr>
                        <a:t> et signale les écarts avec l’acte d’engagement, les prix manquants, les prix en lettres divergents, les plafonds dépassés, les non-conformités et les livraisons hors délai.</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RG-SEA-14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Aux travaux, capacités et prix en lettres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Aux travaux, le prix en lettres fait foi ; le serveur signale aussi les capacités, le personnel et le matériel insuffisants, ainsi que les sous-détails de prix incohérents. Le détail des prix n’est lu que par la commission.</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RG-SEA-15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 garantie lue en séance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garantie de soumission est lue en séance, montant et émetteur imprimés au PV. Un montant inférieur au minimum fixé par la fiche, par lot le cas échéant, donne une </a:t>
                      </a:r>
                      <a:r>
                        <a:rPr lang="en-US" sz="1100" b="1" dirty="0">
                          <a:solidFill>
                            <a:srgbClr val="1B2A3A"/>
                          </a:solidFill>
                          <a:latin typeface="Segoe UI" pitchFamily="34" charset="0"/>
                          <a:ea typeface="Segoe UI" pitchFamily="34" charset="-122"/>
                          <a:cs typeface="Segoe UI" pitchFamily="34" charset="-120"/>
                        </a:rPr>
                        <a:t>alerte</a:t>
                      </a:r>
                      <a:r>
                        <a:rPr lang="en-US" sz="1100" dirty="0">
                          <a:solidFill>
                            <a:srgbClr val="1B2A3A"/>
                          </a:solidFill>
                          <a:latin typeface="Segoe UI" pitchFamily="34" charset="0"/>
                          <a:ea typeface="Segoe UI" pitchFamily="34" charset="-122"/>
                          <a:cs typeface="Segoe UI" pitchFamily="34" charset="-120"/>
                        </a:rPr>
                        <a:t>, jamais un refus.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RG-SEA-16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frais de dossier lus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séance indique, offre par offre, si les frais de dossier sont réglés. Une offre sans reçu validé couvrant son lot est </a:t>
                      </a:r>
                      <a:r>
                        <a:rPr lang="en-US" sz="1100" b="1" dirty="0">
                          <a:solidFill>
                            <a:srgbClr val="1B2A3A"/>
                          </a:solidFill>
                          <a:latin typeface="Segoe UI" pitchFamily="34" charset="0"/>
                          <a:ea typeface="Segoe UI" pitchFamily="34" charset="-122"/>
                          <a:cs typeface="Segoe UI" pitchFamily="34" charset="-120"/>
                        </a:rPr>
                        <a:t>signalée</a:t>
                      </a:r>
                      <a:r>
                        <a:rPr lang="en-US" sz="1100" dirty="0">
                          <a:solidFill>
                            <a:srgbClr val="1B2A3A"/>
                          </a:solidFill>
                          <a:latin typeface="Segoe UI" pitchFamily="34" charset="0"/>
                          <a:ea typeface="Segoe UI" pitchFamily="34" charset="-122"/>
                          <a:cs typeface="Segoe UI" pitchFamily="34" charset="-120"/>
                        </a:rPr>
                        <a:t> à la commission, jamais écartée.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2026-10-04, lot 4 (V69) — l’ouverture des plis · regles-gestion.md § La remise électronique des offres (offre en formulaires) · regles-gestion.md § La remise électronique des offres (offre en formulaires, lot 5b) · regles-gestion.md § Les arbitrages du pilote après le lot 4 — V70 · regles-gestion.md § Le retrait du DAO après paiement des frais — V72</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405</a:t>
            </a:r>
            <a:endParaRPr lang="en-US" sz="1100" dirty="0"/>
          </a:p>
        </p:txBody>
      </p:sp>
    </p:spTree>
  </p:cSld>
  <p:clrMapOvr>
    <a:masterClrMapping/>
  </p:clrMapOvr>
</p:sld>
</file>

<file path=ppt/slides/slide406.xml><?xml version="1.0" encoding="utf-8"?>
<p:sld xmlns:a="http://schemas.openxmlformats.org/drawingml/2006/main" xmlns:r="http://schemas.openxmlformats.org/officeDocument/2006/relationships" xmlns:p="http://schemas.openxmlformats.org/presentationml/2006/main">
  <p:cSld name="Slide 40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07 LA SÉANCE D’OUVERTURE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lecture et les alertes (2/2)</a:t>
            </a:r>
            <a:endParaRPr lang="en-US" sz="2600" dirty="0"/>
          </a:p>
        </p:txBody>
      </p:sp>
      <p:graphicFrame>
        <p:nvGraphicFramePr>
          <p:cNvPr id="407"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65532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RG-SEA-17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rabais lu chiffré</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rabais se lit chiffré : un rabais sans condition est calculé sur le montant hors taxes lu ; un rabais lié à plusieurs lots est lu avec sa condition. Le PV et son extrait public en impriment la phrase.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Le rabais structuré de l’offre en ligne</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406</a:t>
            </a:r>
            <a:endParaRPr lang="en-US" sz="1100" dirty="0"/>
          </a:p>
        </p:txBody>
      </p:sp>
    </p:spTree>
  </p:cSld>
  <p:clrMapOvr>
    <a:masterClrMapping/>
  </p:clrMapOvr>
</p:sld>
</file>

<file path=ppt/slides/slide407.xml><?xml version="1.0" encoding="utf-8"?>
<p:sld xmlns:a="http://schemas.openxmlformats.org/drawingml/2006/main" xmlns:r="http://schemas.openxmlformats.org/officeDocument/2006/relationships" xmlns:p="http://schemas.openxmlformats.org/presentationml/2006/main">
  <p:cSld name="Slide 40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07 LA SÉANCE D’OUVERTURE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pièces des offres</a:t>
            </a:r>
            <a:endParaRPr lang="en-US" sz="2600" dirty="0"/>
          </a:p>
        </p:txBody>
      </p:sp>
      <p:graphicFrame>
        <p:nvGraphicFramePr>
          <p:cNvPr id="408"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RG-SEA-18</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pièces, pour la commission seule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Les pièces des offres ne s’ouvrent que par les </a:t>
                      </a:r>
                      <a:r>
                        <a:rPr lang="en-US" sz="1100" b="1" dirty="0">
                          <a:solidFill>
                            <a:srgbClr val="1B2A3A"/>
                          </a:solidFill>
                          <a:latin typeface="Segoe UI" pitchFamily="34" charset="0"/>
                          <a:ea typeface="Segoe UI" pitchFamily="34" charset="-122"/>
                          <a:cs typeface="Segoe UI" pitchFamily="34" charset="-120"/>
                        </a:rPr>
                        <a:t>membres de la commission</a:t>
                      </a:r>
                      <a:r>
                        <a:rPr lang="en-US" sz="1100" dirty="0">
                          <a:solidFill>
                            <a:srgbClr val="1B2A3A"/>
                          </a:solidFill>
                          <a:latin typeface="Segoe UI" pitchFamily="34" charset="0"/>
                          <a:ea typeface="Segoe UI" pitchFamily="34" charset="-122"/>
                          <a:cs typeface="Segoe UI" pitchFamily="34" charset="-120"/>
                        </a:rPr>
                        <a:t>. Le responsable, la PRMP et l’UGPM lisent ce qui est lu en séance, sans ouvrir aucun fichier ; pour montrer une pièce à la salle, un membre l’ouvre.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RG-SEA-19</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registre complet après l’échéance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Après la date limite, la PRMP lit le registre complet des dépôts : chaque offre, son entreprise, son lot, sa date de dépôt ou de retrait, son empreinte et son état, ainsi que les tentatives refusées hors délai (partie 06).</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Les arbitrages du pilote après le lot 4 — V70 · regles-gestion.md § 2026-10-04, lot 3 (V68) ; ⚠️ 2026-10-14, tranche R9b</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407</a:t>
            </a:r>
            <a:endParaRPr lang="en-US" sz="1100" dirty="0"/>
          </a:p>
        </p:txBody>
      </p:sp>
    </p:spTree>
  </p:cSld>
  <p:clrMapOvr>
    <a:masterClrMapping/>
  </p:clrMapOvr>
</p:sld>
</file>

<file path=ppt/slides/slide408.xml><?xml version="1.0" encoding="utf-8"?>
<p:sld xmlns:a="http://schemas.openxmlformats.org/drawingml/2006/main" xmlns:r="http://schemas.openxmlformats.org/officeDocument/2006/relationships" xmlns:p="http://schemas.openxmlformats.org/presentationml/2006/main">
  <p:cSld name="Slide 40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07 LA SÉANCE D’OUVERTURE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PV d’ouverture (1/2)</a:t>
            </a:r>
            <a:endParaRPr lang="en-US" sz="2600" dirty="0"/>
          </a:p>
        </p:txBody>
      </p:sp>
      <p:graphicFrame>
        <p:nvGraphicFramePr>
          <p:cNvPr id="409"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257048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RG-SEA-20</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PV produit par le responsable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responsable produit le PV : présents, emploi de la part de secours et son motif, lecture offre par offre, offres non ouvertes et pourquoi, observations. Les présences ne se modifient plus ensuite.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RG-SEA-21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Signé par chaque membre présent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Chaque membre présent signe le PV d’une </a:t>
                      </a:r>
                      <a:r>
                        <a:rPr lang="en-US" sz="1100" b="1" dirty="0">
                          <a:solidFill>
                            <a:srgbClr val="1B2A3A"/>
                          </a:solidFill>
                          <a:latin typeface="Segoe UI" pitchFamily="34" charset="0"/>
                          <a:ea typeface="Segoe UI" pitchFamily="34" charset="-122"/>
                          <a:cs typeface="Segoe UI" pitchFamily="34" charset="-120"/>
                        </a:rPr>
                        <a:t>signature électronique simple</a:t>
                      </a:r>
                      <a:r>
                        <a:rPr lang="en-US" sz="1100" dirty="0">
                          <a:solidFill>
                            <a:srgbClr val="1B2A3A"/>
                          </a:solidFill>
                          <a:latin typeface="Segoe UI" pitchFamily="34" charset="0"/>
                          <a:ea typeface="Segoe UI" pitchFamily="34" charset="-122"/>
                          <a:cs typeface="Segoe UI" pitchFamily="34" charset="-120"/>
                        </a:rPr>
                        <a:t> : l’acte authentifié du membre connecté, horodaté et journalisé.</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RG-SEA-22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L’empêchement constaté avec motif</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 membre présent qui ne peut pas signer ne bloque pas la séance : le président de la commission, ou à défaut le responsable, constate son </a:t>
                      </a:r>
                      <a:r>
                        <a:rPr lang="en-US" sz="1100" b="1" dirty="0">
                          <a:solidFill>
                            <a:srgbClr val="1B2A3A"/>
                          </a:solidFill>
                          <a:latin typeface="Segoe UI" pitchFamily="34" charset="0"/>
                          <a:ea typeface="Segoe UI" pitchFamily="34" charset="-122"/>
                          <a:cs typeface="Segoe UI" pitchFamily="34" charset="-120"/>
                        </a:rPr>
                        <a:t>empêchement</a:t>
                      </a:r>
                      <a:r>
                        <a:rPr lang="en-US" sz="1100" dirty="0">
                          <a:solidFill>
                            <a:srgbClr val="1B2A3A"/>
                          </a:solidFill>
                          <a:latin typeface="Segoe UI" pitchFamily="34" charset="0"/>
                          <a:ea typeface="Segoe UI" pitchFamily="34" charset="-122"/>
                          <a:cs typeface="Segoe UI" pitchFamily="34" charset="-120"/>
                        </a:rPr>
                        <a:t>, avec un motif porté au PV. Depuis le 10/10, un empêchement qui rendrait le quorum de la commission inatteignable est refusé.</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RG-SEA-23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Clôture à la dernière signature, au quorum</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À la dernière signature, la séance est close, l’extrait du PV est publié si la fiche le prévoit, et les intéressés sont avertis. Avant, rien n’est publié. Depuis le 10/10, la clôture exige le </a:t>
                      </a:r>
                      <a:r>
                        <a:rPr lang="en-US" sz="1100" b="1" dirty="0">
                          <a:solidFill>
                            <a:srgbClr val="1B2A3A"/>
                          </a:solidFill>
                          <a:latin typeface="Segoe UI" pitchFamily="34" charset="0"/>
                          <a:ea typeface="Segoe UI" pitchFamily="34" charset="-122"/>
                          <a:cs typeface="Segoe UI" pitchFamily="34" charset="-120"/>
                        </a:rPr>
                        <a:t>quorum de la commission</a:t>
                      </a:r>
                      <a:r>
                        <a:rPr lang="en-US" sz="1100" dirty="0">
                          <a:solidFill>
                            <a:srgbClr val="1B2A3A"/>
                          </a:solidFill>
                          <a:latin typeface="Segoe UI" pitchFamily="34" charset="0"/>
                          <a:ea typeface="Segoe UI" pitchFamily="34" charset="-122"/>
                          <a:cs typeface="Segoe UI" pitchFamily="34" charset="-120"/>
                        </a:rPr>
                        <a:t> sur les présents : une séance sans membre présent ne se clôt plus.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RG-SEA-24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L’extrait public, sans les alertes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L’extrait publié du PV ne porte ni les alertes ni la vérification des NIF : elles restent réservées à la commission.</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Les arbitrages du pilote après le lot 4 — V70 · regles-gestion.md § Les arbitrages du pilote après le lot 4 — V70 · regles-gestion.md § Les arbitrages du pilote après le lot 4 — V70 ; ⚠️ 2026-10-10, tranche R1</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408</a:t>
            </a:r>
            <a:endParaRPr lang="en-US" sz="1100" dirty="0"/>
          </a:p>
        </p:txBody>
      </p:sp>
    </p:spTree>
  </p:cSld>
  <p:clrMapOvr>
    <a:masterClrMapping/>
  </p:clrMapOvr>
</p:sld>
</file>

<file path=ppt/slides/slide409.xml><?xml version="1.0" encoding="utf-8"?>
<p:sld xmlns:a="http://schemas.openxmlformats.org/drawingml/2006/main" xmlns:r="http://schemas.openxmlformats.org/officeDocument/2006/relationships" xmlns:p="http://schemas.openxmlformats.org/presentationml/2006/main">
  <p:cSld name="Slide 40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07 LA SÉANCE D’OUVERTURE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PV d’ouverture (2/2)</a:t>
            </a:r>
            <a:endParaRPr lang="en-US" sz="2600" dirty="0"/>
          </a:p>
        </p:txBody>
      </p:sp>
      <p:graphicFrame>
        <p:nvGraphicFramePr>
          <p:cNvPr id="410"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65532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RG-SEA-31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tentatives tardives au PV</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PV d’ouverture énumère les tentatives de dépôt refusées après la date limite, datées par le serveur (art. 44), comme le registre des dépôts de la PRMP.</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 2026-10-14 — manuel révisé, lot 2, tranche R9b</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409</a:t>
            </a:r>
            <a:endParaRPr lang="en-US" sz="1100" dirty="0"/>
          </a:p>
        </p:txBody>
      </p:sp>
    </p:spTree>
  </p:cSld>
  <p:clrMapOvr>
    <a:masterClrMapping/>
  </p:clrMapOvr>
</p:sld>
</file>

<file path=ppt/slides/slide410.xml><?xml version="1.0" encoding="utf-8"?>
<p:sld xmlns:a="http://schemas.openxmlformats.org/drawingml/2006/main" xmlns:r="http://schemas.openxmlformats.org/officeDocument/2006/relationships" xmlns:p="http://schemas.openxmlformats.org/presentationml/2006/main">
  <p:cSld name="Slide 41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07 LA SÉANCE D’OUVERTURE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conservation des offres</a:t>
            </a:r>
            <a:endParaRPr lang="en-US" sz="2600" dirty="0"/>
          </a:p>
        </p:txBody>
      </p:sp>
      <p:graphicFrame>
        <p:nvGraphicFramePr>
          <p:cNvPr id="411"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10922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RG-SEA-25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Une durée fixée par l’Administrateur</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durée de conservation des offres est fixée par l’Administrateur et court depuis la clôture de la séance. Tant qu’elle ne l’est pas, </a:t>
                      </a:r>
                      <a:r>
                        <a:rPr lang="en-US" sz="1100" b="1" dirty="0">
                          <a:solidFill>
                            <a:srgbClr val="1B2A3A"/>
                          </a:solidFill>
                          <a:latin typeface="Segoe UI" pitchFamily="34" charset="0"/>
                          <a:ea typeface="Segoe UI" pitchFamily="34" charset="-122"/>
                          <a:cs typeface="Segoe UI" pitchFamily="34" charset="-120"/>
                        </a:rPr>
                        <a:t>rien n’est supprimé</a:t>
                      </a:r>
                      <a:r>
                        <a:rPr lang="en-US" sz="1100" dirty="0">
                          <a:solidFill>
                            <a:srgbClr val="1B2A3A"/>
                          </a:solidFill>
                          <a:latin typeface="Segoe UI" pitchFamily="34" charset="0"/>
                          <a:ea typeface="Segoe UI" pitchFamily="34" charset="-122"/>
                          <a:cs typeface="Segoe UI" pitchFamily="34" charset="-120"/>
                        </a:rPr>
                        <a: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RG-SEA-26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Une purge manuelle et tracée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Au terme, l’Administrateur purge les procédures échues, une à une, sans suppression automatique : le contenu des offres disparaît ; le journal, les empreintes, la lecture et le PV restent, et la purge est journalisée.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Les arbitrages du pilote après le lot 4 — V70</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410</a:t>
            </a:r>
            <a:endParaRPr lang="en-US" sz="1100" dirty="0"/>
          </a:p>
        </p:txBody>
      </p:sp>
    </p:spTree>
  </p:cSld>
  <p:clrMapOvr>
    <a:masterClrMapping/>
  </p:clrMapOvr>
</p:sld>
</file>

<file path=ppt/slides/slide411.xml><?xml version="1.0" encoding="utf-8"?>
<p:sld xmlns:a="http://schemas.openxmlformats.org/drawingml/2006/main" xmlns:r="http://schemas.openxmlformats.org/officeDocument/2006/relationships" xmlns:p="http://schemas.openxmlformats.org/presentationml/2006/main">
  <p:cSld name="Slide 41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07 LA SÉANCE D’OUVERTURE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prestations intellectuelles</a:t>
            </a:r>
            <a:endParaRPr lang="en-US" sz="2600" dirty="0"/>
          </a:p>
        </p:txBody>
      </p:sp>
      <p:graphicFrame>
        <p:nvGraphicFramePr>
          <p:cNvPr id="412"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159512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RG-SEA-27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 première séance n’ouvre que les techniques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Seules les enveloppes techniques sont listées, leurs parts demandées et ouvertes ; les financières restent scellées. Un montant trouvé dans une technique n’est pas lu (alerte « Montant dans l’enveloppe technique ») ; une proposition sans financière est signalée. Le PV ne lit aucun montant.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RG-SEA-28</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 seconde séance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Elle s’ouvre quand l’évaluation technique est arrêtée sur chaque lot, avec les mêmes clés et le même quorum des parts. Seules les financières des propositions qualifiées s’ouvrent ; les autres ne s’ouvrent jamais, avec leur motif. Après l’échec d’une négociation, une séance complémentaire ouvre celle du suivant. Depuis le 10/10, son PV se signe comme celui de la première séance.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Lot 3 PI : demande evaluation-pi du 07/10, tranche PI-b · Lot 3 PI : tranches PI-d1 et PI-d2a ; regles-gestion.md § ⚠️ 2026-10-10, tranche R1</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411</a:t>
            </a:r>
            <a:endParaRPr lang="en-US" sz="1100" dirty="0"/>
          </a:p>
        </p:txBody>
      </p:sp>
    </p:spTree>
  </p:cSld>
  <p:clrMapOvr>
    <a:masterClrMapping/>
  </p:clrMapOvr>
</p:sld>
</file>

<file path=ppt/slides/slide412.xml><?xml version="1.0" encoding="utf-8"?>
<p:sld xmlns:a="http://schemas.openxmlformats.org/drawingml/2006/main" xmlns:r="http://schemas.openxmlformats.org/officeDocument/2006/relationships" xmlns:p="http://schemas.openxmlformats.org/presentationml/2006/main">
  <p:cSld name="Slide 41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07 LA SÉANCE D’OUVERTURE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quorum de la commission</a:t>
            </a:r>
            <a:endParaRPr lang="en-US" sz="2600" dirty="0"/>
          </a:p>
        </p:txBody>
      </p:sp>
      <p:graphicFrame>
        <p:nvGraphicFramePr>
          <p:cNvPr id="413"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176276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RG-SEA-29</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 commission ne délibère qu’au quorum</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règle du quorum est réglée par l’Administrateur pour toutes les procédures — par défaut la </a:t>
                      </a:r>
                      <a:r>
                        <a:rPr lang="en-US" sz="1100" b="1" dirty="0">
                          <a:solidFill>
                            <a:srgbClr val="1B2A3A"/>
                          </a:solidFill>
                          <a:latin typeface="Segoe UI" pitchFamily="34" charset="0"/>
                          <a:ea typeface="Segoe UI" pitchFamily="34" charset="-122"/>
                          <a:cs typeface="Segoe UI" pitchFamily="34" charset="-120"/>
                        </a:rPr>
                        <a:t>majorité</a:t>
                      </a:r>
                      <a:r>
                        <a:rPr lang="en-US" sz="1100" dirty="0">
                          <a:solidFill>
                            <a:srgbClr val="1B2A3A"/>
                          </a:solidFill>
                          <a:latin typeface="Segoe UI" pitchFamily="34" charset="0"/>
                          <a:ea typeface="Segoe UI" pitchFamily="34" charset="-122"/>
                          <a:cs typeface="Segoe UI" pitchFamily="34" charset="-120"/>
                        </a:rPr>
                        <a:t> (plus de la moitié des membres désignés), ou tous, ou un nombre — et peut être surchargée procédure par procédure. Le </a:t>
                      </a:r>
                      <a:r>
                        <a:rPr lang="en-US" sz="1100" b="1" dirty="0">
                          <a:solidFill>
                            <a:srgbClr val="1B2A3A"/>
                          </a:solidFill>
                          <a:latin typeface="Segoe UI" pitchFamily="34" charset="0"/>
                          <a:ea typeface="Segoe UI" pitchFamily="34" charset="-122"/>
                          <a:cs typeface="Segoe UI" pitchFamily="34" charset="-120"/>
                        </a:rPr>
                        <a:t>président</a:t>
                      </a:r>
                      <a:r>
                        <a:rPr lang="en-US" sz="1100" dirty="0">
                          <a:solidFill>
                            <a:srgbClr val="1B2A3A"/>
                          </a:solidFill>
                          <a:latin typeface="Segoe UI" pitchFamily="34" charset="0"/>
                          <a:ea typeface="Segoe UI" pitchFamily="34" charset="-122"/>
                          <a:cs typeface="Segoe UI" pitchFamily="34" charset="-120"/>
                        </a:rPr>
                        <a:t>, ou son représentant désigné, est toujours requis en plus. Le quorum bloque la clôture de la séance d’ouverture et de la seconde séance ; le quorum constaté est imprimé au PV. Sur une commission de deux membres, la majorité vaut l’unanimité. Il est distinct du quorum des parts de clé.</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RG-SEA-30</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représentant du président, par contexte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président désigne, s’il le souhaite, le membre qui le représente pour un contexte précis : séance d’ouverture, seconde séance, rapport d’évaluation, liste de l’AMI. Sans désignation, il est lui-même requis. La désignation n’est plus possible une fois un dossier de marché de la procédure soumis à la Commission.</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 2026-10-10 — le quorum de la commission (manuel révisé, lot 1, tranche R1 ; arbitrage Q5) · regles-gestion.md § ⚠️ 2026-10-10, tranche R1 ; écran de la commission (features/cao/procedure-cao.ts, R9c)</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412</a:t>
            </a:r>
            <a:endParaRPr lang="en-US" sz="1100" dirty="0"/>
          </a:p>
        </p:txBody>
      </p:sp>
    </p:spTree>
  </p:cSld>
  <p:clrMapOvr>
    <a:masterClrMapping/>
  </p:clrMapOvr>
</p:sld>
</file>

<file path=ppt/slides/slide413.xml><?xml version="1.0" encoding="utf-8"?>
<p:sld xmlns:a="http://schemas.openxmlformats.org/drawingml/2006/main" xmlns:r="http://schemas.openxmlformats.org/officeDocument/2006/relationships" xmlns:p="http://schemas.openxmlformats.org/presentationml/2006/main">
  <p:cSld name="Slide 41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08 ÉVALUER LES OFFRES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Ouvrir l’évaluation</a:t>
            </a:r>
            <a:endParaRPr lang="en-US" sz="2600" dirty="0"/>
          </a:p>
        </p:txBody>
      </p:sp>
      <p:graphicFrame>
        <p:nvGraphicFramePr>
          <p:cNvPr id="414"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196596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RG-EVA-01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offres en ligne, lot par lot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commission évalue les offres dans l’application, lot par lot, en suivant le guide d’évaluation. Les offres papier n’y entrent pas ; les offres écartées au dépôt, retirées ou remplacées ne sont pas évaluées, et l’écran les nomme avec leur raison.</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RG-EVA-02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Ouverte après le PV signé</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responsable de la procédure ouvre l’évaluation une fois le </a:t>
                      </a:r>
                      <a:r>
                        <a:rPr lang="en-US" sz="1100" b="1" dirty="0">
                          <a:solidFill>
                            <a:srgbClr val="1B2A3A"/>
                          </a:solidFill>
                          <a:latin typeface="Segoe UI" pitchFamily="34" charset="0"/>
                          <a:ea typeface="Segoe UI" pitchFamily="34" charset="-122"/>
                          <a:cs typeface="Segoe UI" pitchFamily="34" charset="-120"/>
                        </a:rPr>
                        <a:t>PV d’ouverture signé</a:t>
                      </a:r>
                      <a:r>
                        <a:rPr lang="en-US" sz="1100" dirty="0">
                          <a:solidFill>
                            <a:srgbClr val="1B2A3A"/>
                          </a:solidFill>
                          <a:latin typeface="Segoe UI" pitchFamily="34" charset="0"/>
                          <a:ea typeface="Segoe UI" pitchFamily="34" charset="-122"/>
                          <a:cs typeface="Segoe UI" pitchFamily="34" charset="-120"/>
                        </a:rPr>
                        <a:t>. Les membres de la commission et la PRMP en sont avertis.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RG-EVA-03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 déclaration préalable de chaque membre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Chaque membre, président compris, signe d’abord une déclaration d’absence de </a:t>
                      </a:r>
                      <a:r>
                        <a:rPr lang="en-US" sz="1100" b="1" dirty="0">
                          <a:solidFill>
                            <a:srgbClr val="1B2A3A"/>
                          </a:solidFill>
                          <a:latin typeface="Segoe UI" pitchFamily="34" charset="0"/>
                          <a:ea typeface="Segoe UI" pitchFamily="34" charset="-122"/>
                          <a:cs typeface="Segoe UI" pitchFamily="34" charset="-120"/>
                        </a:rPr>
                        <a:t>conflit d’intérêts</a:t>
                      </a:r>
                      <a:r>
                        <a:rPr lang="en-US" sz="1100" dirty="0">
                          <a:solidFill>
                            <a:srgbClr val="1B2A3A"/>
                          </a:solidFill>
                          <a:latin typeface="Segoe UI" pitchFamily="34" charset="0"/>
                          <a:ea typeface="Segoe UI" pitchFamily="34" charset="-122"/>
                          <a:cs typeface="Segoe UI" pitchFamily="34" charset="-120"/>
                        </a:rPr>
                        <a:t> (art. 21-d) et de confidentialité (art. 12-V), qui ne se reprend pas. Un membre qui déclare un conflit lit tout mais ne décide rien.</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RG-EVA-04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membres décident, le président arrête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Tout membre déclaré sans conflit enregistre les décisions, visibles des autres ; le </a:t>
                      </a:r>
                      <a:r>
                        <a:rPr lang="en-US" sz="1100" b="1" dirty="0">
                          <a:solidFill>
                            <a:srgbClr val="1B2A3A"/>
                          </a:solidFill>
                          <a:latin typeface="Segoe UI" pitchFamily="34" charset="0"/>
                          <a:ea typeface="Segoe UI" pitchFamily="34" charset="-122"/>
                          <a:cs typeface="Segoe UI" pitchFamily="34" charset="-120"/>
                        </a:rPr>
                        <a:t>président</a:t>
                      </a:r>
                      <a:r>
                        <a:rPr lang="en-US" sz="1100" dirty="0">
                          <a:solidFill>
                            <a:srgbClr val="1B2A3A"/>
                          </a:solidFill>
                          <a:latin typeface="Segoe UI" pitchFamily="34" charset="0"/>
                          <a:ea typeface="Segoe UI" pitchFamily="34" charset="-122"/>
                          <a:cs typeface="Segoe UI" pitchFamily="34" charset="-120"/>
                        </a:rPr>
                        <a:t> arrête l’étape d’un lot, ce qui fige ses décisions. La PRMP demande les précisions et les justifications ; la PRMP et l’UGPM lisent.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L’évaluation des offres : l’examen préliminaire (demande front du 2026-10-07, arbitrages du pilote du 07/10) · regles-gestion.md § L’évaluation des offres : l’examen préliminaire (2026-10-07)</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413</a:t>
            </a:r>
            <a:endParaRPr lang="en-US" sz="1100" dirty="0"/>
          </a:p>
        </p:txBody>
      </p:sp>
    </p:spTree>
  </p:cSld>
  <p:clrMapOvr>
    <a:masterClrMapping/>
  </p:clrMapOvr>
</p:sld>
</file>

<file path=ppt/slides/slide414.xml><?xml version="1.0" encoding="utf-8"?>
<p:sld xmlns:a="http://schemas.openxmlformats.org/drawingml/2006/main" xmlns:r="http://schemas.openxmlformats.org/officeDocument/2006/relationships" xmlns:p="http://schemas.openxmlformats.org/presentationml/2006/main">
  <p:cSld name="Slide 41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08 ÉVALUER LES OFFRES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Arrêter et tracer</a:t>
            </a:r>
            <a:endParaRPr lang="en-US" sz="2600" dirty="0"/>
          </a:p>
        </p:txBody>
      </p:sp>
      <p:graphicFrame>
        <p:nvGraphicFramePr>
          <p:cNvPr id="415"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196596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RG-EVA-05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Une décision pour chaque offre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Une étape ne s’arrête que lorsque chaque offre du lot a sa décision, et après l’arrêt de l’étape précédente.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RG-EVA-06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Rouvrir une étape, avec un motif</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président peut </a:t>
                      </a:r>
                      <a:r>
                        <a:rPr lang="en-US" sz="1100" b="1" dirty="0">
                          <a:solidFill>
                            <a:srgbClr val="1B2A3A"/>
                          </a:solidFill>
                          <a:latin typeface="Segoe UI" pitchFamily="34" charset="0"/>
                          <a:ea typeface="Segoe UI" pitchFamily="34" charset="-122"/>
                          <a:cs typeface="Segoe UI" pitchFamily="34" charset="-120"/>
                        </a:rPr>
                        <a:t>rouvrir</a:t>
                      </a:r>
                      <a:r>
                        <a:rPr lang="en-US" sz="1100" dirty="0">
                          <a:solidFill>
                            <a:srgbClr val="1B2A3A"/>
                          </a:solidFill>
                          <a:latin typeface="Segoe UI" pitchFamily="34" charset="0"/>
                          <a:ea typeface="Segoe UI" pitchFamily="34" charset="-122"/>
                          <a:cs typeface="Segoe UI" pitchFamily="34" charset="-120"/>
                        </a:rPr>
                        <a:t> une étape avec un motif : elle et les suivantes du lot se rouvrent, et l’arrêt rouvert reste au registre. Ce n’est plus possible une fois le dossier de marché soumis (RG-EVA-37).</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RG-EVA-07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Rien ne s’efface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Une décision corrigée laisse la précédente au registre, et le journal dit qui a décidé quoi, quand, et pourquoi.</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RG-EVA-37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étapes closes ne se modifient plus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Dès qu’un dossier de marché de la procédure est </a:t>
                      </a:r>
                      <a:r>
                        <a:rPr lang="en-US" sz="1100" b="1" dirty="0">
                          <a:solidFill>
                            <a:srgbClr val="1B2A3A"/>
                          </a:solidFill>
                          <a:latin typeface="Segoe UI" pitchFamily="34" charset="0"/>
                          <a:ea typeface="Segoe UI" pitchFamily="34" charset="-122"/>
                          <a:cs typeface="Segoe UI" pitchFamily="34" charset="-120"/>
                        </a:rPr>
                        <a:t>soumis à la Commission</a:t>
                      </a:r>
                      <a:r>
                        <a:rPr lang="en-US" sz="1100" dirty="0">
                          <a:solidFill>
                            <a:srgbClr val="1B2A3A"/>
                          </a:solidFill>
                          <a:latin typeface="Segoe UI" pitchFamily="34" charset="0"/>
                          <a:ea typeface="Segoe UI" pitchFamily="34" charset="-122"/>
                          <a:cs typeface="Segoe UI" pitchFamily="34" charset="-120"/>
                        </a:rPr>
                        <a:t>, la séance d’ouverture, la seconde séance, l’évaluation et l’AMI de la procédure ne se modifient plus : la Commission examine ce qui lui a été soumis. Seules la reprise de l’évaluation après un avis défavorable et la réattribution après un retrait, motivées et tracées, les rouvrent. Les lectures restent ouvertes.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L’évaluation des offres, lot 1, tranche 1a : examen préliminaire et précisions · regles-gestion.md § L’évaluation des offres, lot 1, tranche 1a ; § l’immutabilité des étapes closes (manuel révisé, lot 2, tranche R9c) · regles-gestion.md § L’évaluation des offres : l’examen préliminaire (2026-10-07) · regles-gestion.md § l’immutabilité des étapes closes (manuel révisé, lot 2, tranche R9c, 2026-10-14) ; demande-backend-2026-10-10-manuel-revise-lot2.md, B4 n° 15, encadré ✅ Front</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414</a:t>
            </a:r>
            <a:endParaRPr lang="en-US" sz="1100" dirty="0"/>
          </a:p>
        </p:txBody>
      </p:sp>
    </p:spTree>
  </p:cSld>
  <p:clrMapOvr>
    <a:masterClrMapping/>
  </p:clrMapOvr>
</p:sld>
</file>

<file path=ppt/slides/slide415.xml><?xml version="1.0" encoding="utf-8"?>
<p:sld xmlns:a="http://schemas.openxmlformats.org/drawingml/2006/main" xmlns:r="http://schemas.openxmlformats.org/officeDocument/2006/relationships" xmlns:p="http://schemas.openxmlformats.org/presentationml/2006/main">
  <p:cSld name="Slide 41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08 ÉVALUER LES OFFRES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L’examen préliminaire (1/2)</a:t>
            </a:r>
            <a:endParaRPr lang="en-US" sz="2600" dirty="0"/>
          </a:p>
        </p:txBody>
      </p:sp>
      <p:graphicFrame>
        <p:nvGraphicFramePr>
          <p:cNvPr id="416"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RG-EVA-08</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Une grille de neuf vérifications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Pour chaque offre, l’application pré-remplit une grille de neuf vérifications : acte d’engagement et prix, garantie, offre unique par candidat et par lot, exclusion, pouvoirs, pièces, conformité technique, intégrité, frais de dossier.</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RG-EVA-09</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alertes sont des constats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Les alertes de la séance sont des constats, </a:t>
                      </a:r>
                      <a:r>
                        <a:rPr lang="en-US" sz="1100" b="1" dirty="0">
                          <a:solidFill>
                            <a:srgbClr val="1B2A3A"/>
                          </a:solidFill>
                          <a:latin typeface="Segoe UI" pitchFamily="34" charset="0"/>
                          <a:ea typeface="Segoe UI" pitchFamily="34" charset="-122"/>
                          <a:cs typeface="Segoe UI" pitchFamily="34" charset="-120"/>
                        </a:rPr>
                        <a:t>jamais des décisions</a:t>
                      </a:r>
                      <a:r>
                        <a:rPr lang="en-US" sz="1100" dirty="0">
                          <a:solidFill>
                            <a:srgbClr val="1B2A3A"/>
                          </a:solidFill>
                          <a:latin typeface="Segoe UI" pitchFamily="34" charset="0"/>
                          <a:ea typeface="Segoe UI" pitchFamily="34" charset="-122"/>
                          <a:cs typeface="Segoe UI" pitchFamily="34" charset="-120"/>
                        </a:rPr>
                        <a:t>. La commission confirme ou corrige chaque vérification, puis décide ; elle peut retenir une offre malgré une vérification non satisfaite.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RG-EVA-10</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Aucune offre écartée d’office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Une offre altérée ou illisible, ou sans frais de dossier réglés, n’est </a:t>
                      </a:r>
                      <a:r>
                        <a:rPr lang="en-US" sz="1100" b="1" dirty="0">
                          <a:solidFill>
                            <a:srgbClr val="1B2A3A"/>
                          </a:solidFill>
                          <a:latin typeface="Segoe UI" pitchFamily="34" charset="0"/>
                          <a:ea typeface="Segoe UI" pitchFamily="34" charset="-122"/>
                          <a:cs typeface="Segoe UI" pitchFamily="34" charset="-120"/>
                        </a:rPr>
                        <a:t>jamais écartée d’office</a:t>
                      </a:r>
                      <a:r>
                        <a:rPr lang="en-US" sz="1100" dirty="0">
                          <a:solidFill>
                            <a:srgbClr val="1B2A3A"/>
                          </a:solidFill>
                          <a:latin typeface="Segoe UI" pitchFamily="34" charset="0"/>
                          <a:ea typeface="Segoe UI" pitchFamily="34" charset="-122"/>
                          <a:cs typeface="Segoe UI" pitchFamily="34" charset="-120"/>
                        </a:rPr>
                        <a:t> : la vérification est proposée « non satisfaite », la commission tranche.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RG-EVA-11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Écarter : motif, clause, qualification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Écarter une offre exige un motif, la </a:t>
                      </a:r>
                      <a:r>
                        <a:rPr lang="en-US" sz="1100" b="1" dirty="0">
                          <a:solidFill>
                            <a:srgbClr val="1B2A3A"/>
                          </a:solidFill>
                          <a:latin typeface="Segoe UI" pitchFamily="34" charset="0"/>
                          <a:ea typeface="Segoe UI" pitchFamily="34" charset="-122"/>
                          <a:cs typeface="Segoe UI" pitchFamily="34" charset="-120"/>
                        </a:rPr>
                        <a:t>clause du DAO</a:t>
                      </a:r>
                      <a:r>
                        <a:rPr lang="en-US" sz="1100" dirty="0">
                          <a:solidFill>
                            <a:srgbClr val="1B2A3A"/>
                          </a:solidFill>
                          <a:latin typeface="Segoe UI" pitchFamily="34" charset="0"/>
                          <a:ea typeface="Segoe UI" pitchFamily="34" charset="-122"/>
                          <a:cs typeface="Segoe UI" pitchFamily="34" charset="-120"/>
                        </a:rPr>
                        <a:t> visée et une qualification : irrecevable, non conforme, inappropriée ou inacceptable.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RG-EVA-12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Demander une précision au candidat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PRMP pose une question au candidat d’une offre (art. 35-VI), avec un délai, celui de la fiche par défaut. Le candidat répond </a:t>
                      </a:r>
                      <a:r>
                        <a:rPr lang="en-US" sz="1100" b="1" dirty="0">
                          <a:solidFill>
                            <a:srgbClr val="1B2A3A"/>
                          </a:solidFill>
                          <a:latin typeface="Segoe UI" pitchFamily="34" charset="0"/>
                          <a:ea typeface="Segoe UI" pitchFamily="34" charset="-122"/>
                          <a:cs typeface="Segoe UI" pitchFamily="34" charset="-120"/>
                        </a:rPr>
                        <a:t>une fois</a:t>
                      </a:r>
                      <a:r>
                        <a:rPr lang="en-US" sz="1100" dirty="0">
                          <a:solidFill>
                            <a:srgbClr val="1B2A3A"/>
                          </a:solidFill>
                          <a:latin typeface="Segoe UI" pitchFamily="34" charset="0"/>
                          <a:ea typeface="Segoe UI" pitchFamily="34" charset="-122"/>
                          <a:cs typeface="Segoe UI" pitchFamily="34" charset="-120"/>
                        </a:rPr>
                        <a:t>, dans le délai, par un texte et, s’il le veut, un fichier.</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L’évaluation des offres : l’examen préliminaire (2026-10-07)</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415</a:t>
            </a:r>
            <a:endParaRPr lang="en-US" sz="1100" dirty="0"/>
          </a:p>
        </p:txBody>
      </p:sp>
    </p:spTree>
  </p:cSld>
  <p:clrMapOvr>
    <a:masterClrMapping/>
  </p:clrMapOvr>
</p:sld>
</file>

<file path=ppt/slides/slide416.xml><?xml version="1.0" encoding="utf-8"?>
<p:sld xmlns:a="http://schemas.openxmlformats.org/drawingml/2006/main" xmlns:r="http://schemas.openxmlformats.org/officeDocument/2006/relationships" xmlns:p="http://schemas.openxmlformats.org/presentationml/2006/main">
  <p:cSld name="Slide 41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08 ÉVALUER LES OFFRES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L’examen préliminaire (2/2)</a:t>
            </a:r>
            <a:endParaRPr lang="en-US" sz="2600" dirty="0"/>
          </a:p>
        </p:txBody>
      </p:sp>
      <p:graphicFrame>
        <p:nvGraphicFramePr>
          <p:cNvPr id="417"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65532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RG-EVA-13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Une précision ne change pas l’offre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Une précision ne peut changer ni le prix ni la substance de l’offre. L’application ne le contrôle pas : la demande et la réponse vont au rapport.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L’évaluation des offres : l’examen préliminaire (2026-10-07)</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416</a:t>
            </a:r>
            <a:endParaRPr lang="en-US" sz="1100" dirty="0"/>
          </a:p>
        </p:txBody>
      </p:sp>
    </p:spTree>
  </p:cSld>
  <p:clrMapOvr>
    <a:masterClrMapping/>
  </p:clrMapOvr>
</p:sld>
</file>

<file path=ppt/slides/slide417.xml><?xml version="1.0" encoding="utf-8"?>
<p:sld xmlns:a="http://schemas.openxmlformats.org/drawingml/2006/main" xmlns:r="http://schemas.openxmlformats.org/officeDocument/2006/relationships" xmlns:p="http://schemas.openxmlformats.org/presentationml/2006/main">
  <p:cSld name="Slide 41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08 ÉVALUER LES OFFRES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Montant évalué et classement (1/2)</a:t>
            </a:r>
            <a:endParaRPr lang="en-US" sz="2600" dirty="0"/>
          </a:p>
        </p:txBody>
      </p:sp>
      <p:graphicFrame>
        <p:nvGraphicFramePr>
          <p:cNvPr id="418"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273812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RG-EVA-14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Des corrections proposées, retenues ou non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L’application propose les corrections arithmétiques tirées du bordereau scellé : le prix en lettres prévaut sur les chiffres, le prix unitaire sur le total. La commission les retient ou non ; une correction de ces deux natures </a:t>
                      </a:r>
                      <a:r>
                        <a:rPr lang="en-US" sz="1100" b="1" dirty="0">
                          <a:solidFill>
                            <a:srgbClr val="1B2A3A"/>
                          </a:solidFill>
                          <a:latin typeface="Segoe UI" pitchFamily="34" charset="0"/>
                          <a:ea typeface="Segoe UI" pitchFamily="34" charset="-122"/>
                          <a:cs typeface="Segoe UI" pitchFamily="34" charset="-120"/>
                        </a:rPr>
                        <a:t>ne peut que reprendre</a:t>
                      </a:r>
                      <a:r>
                        <a:rPr lang="en-US" sz="1100" dirty="0">
                          <a:solidFill>
                            <a:srgbClr val="1B2A3A"/>
                          </a:solidFill>
                          <a:latin typeface="Segoe UI" pitchFamily="34" charset="0"/>
                          <a:ea typeface="Segoe UI" pitchFamily="34" charset="-122"/>
                          <a:cs typeface="Segoe UI" pitchFamily="34" charset="-120"/>
                        </a:rPr>
                        <a:t> celle que l’application a calculée. Toute autre correction suit RG-EVA-35.</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RG-EVA-15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refus d’une correction constaté</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 candidat qui refuse une correction voit son offre écartée si les instructions aux candidats le prévoient : la commission le constate, avec la clause.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RG-EVA-16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 montant évalué hors taxes, calculé</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Les montants se comparent </a:t>
                      </a:r>
                      <a:r>
                        <a:rPr lang="en-US" sz="1100" b="1" dirty="0">
                          <a:solidFill>
                            <a:srgbClr val="1B2A3A"/>
                          </a:solidFill>
                          <a:latin typeface="Segoe UI" pitchFamily="34" charset="0"/>
                          <a:ea typeface="Segoe UI" pitchFamily="34" charset="-122"/>
                          <a:cs typeface="Segoe UI" pitchFamily="34" charset="-120"/>
                        </a:rPr>
                        <a:t>hors taxes</a:t>
                      </a:r>
                      <a:r>
                        <a:rPr lang="en-US" sz="1100" dirty="0">
                          <a:solidFill>
                            <a:srgbClr val="1B2A3A"/>
                          </a:solidFill>
                          <a:latin typeface="Segoe UI" pitchFamily="34" charset="0"/>
                          <a:ea typeface="Segoe UI" pitchFamily="34" charset="-122"/>
                          <a:cs typeface="Segoe UI" pitchFamily="34" charset="-120"/>
                        </a:rPr>
                        <a:t> : prix lu, corrigé, diminué du rabais, plus la marge de préférence appliquée aux offres qui n’y ont pas droit, plus les critères monétisés du DAO. L’application fait le calcul ; le montant évalué n’est jamais saisi à la main (art. 46-47).</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RG-EVA-17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 préférence, si le DAO la prévoit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marge de préférence et les critères additionnels ne s’appliquent que si le DAO les prévoit. La commission marque, avec un motif, les offres éligibles ; la préférence sert à comparer, jamais au prix du marché.</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RG-EVA-18</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rabais proposé sur le prix corrigé</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rabais sans condition est proposé sur le prix corrigé ; la commission ne s’en écarte qu’avec un </a:t>
                      </a:r>
                      <a:r>
                        <a:rPr lang="en-US" sz="1100" b="1" dirty="0">
                          <a:solidFill>
                            <a:srgbClr val="1B2A3A"/>
                          </a:solidFill>
                          <a:latin typeface="Segoe UI" pitchFamily="34" charset="0"/>
                          <a:ea typeface="Segoe UI" pitchFamily="34" charset="-122"/>
                          <a:cs typeface="Segoe UI" pitchFamily="34" charset="-120"/>
                        </a:rPr>
                        <a:t>motif</a:t>
                      </a:r>
                      <a:r>
                        <a:rPr lang="en-US" sz="1100" dirty="0">
                          <a:solidFill>
                            <a:srgbClr val="1B2A3A"/>
                          </a:solidFill>
                          <a:latin typeface="Segoe UI" pitchFamily="34" charset="0"/>
                          <a:ea typeface="Segoe UI" pitchFamily="34" charset="-122"/>
                          <a:cs typeface="Segoe UI" pitchFamily="34" charset="-120"/>
                        </a:rPr>
                        <a:t>. Un rabais lié à plusieurs lots n’est pas appliqué lot par lot : il est seulement rapporté.</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L’évaluation des offres (2026-10-07) ; § trois autres bloquants (manuel révisé, lot 2, tranche R9b, 2026-10-14) · regles-gestion.md § L’évaluation des offres : l’examen préliminaire (2026-10-07) · regles-gestion.md § L’évaluation des offres (2026-10-07) ; § trois autres bloquants (tranche R9b, 2026-10-14)</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417</a:t>
            </a:r>
            <a:endParaRPr lang="en-US" sz="1100" dirty="0"/>
          </a:p>
        </p:txBody>
      </p:sp>
    </p:spTree>
  </p:cSld>
  <p:clrMapOvr>
    <a:masterClrMapping/>
  </p:clrMapOvr>
</p:sld>
</file>

<file path=ppt/slides/slide418.xml><?xml version="1.0" encoding="utf-8"?>
<p:sld xmlns:a="http://schemas.openxmlformats.org/drawingml/2006/main" xmlns:r="http://schemas.openxmlformats.org/officeDocument/2006/relationships" xmlns:p="http://schemas.openxmlformats.org/presentationml/2006/main">
  <p:cSld name="Slide 41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08 ÉVALUER LES OFFRES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Montant évalué et classement (2/2)</a:t>
            </a:r>
            <a:endParaRPr lang="en-US" sz="2600" dirty="0"/>
          </a:p>
        </p:txBody>
      </p:sp>
      <p:graphicFrame>
        <p:nvGraphicFramePr>
          <p:cNvPr id="419"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125984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RG-EVA-19</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classement, et l’égalité départagée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classement suit le montant évalué croissant. Deux offres premières à </a:t>
                      </a:r>
                      <a:r>
                        <a:rPr lang="en-US" sz="1100" b="1" dirty="0">
                          <a:solidFill>
                            <a:srgbClr val="1B2A3A"/>
                          </a:solidFill>
                          <a:latin typeface="Segoe UI" pitchFamily="34" charset="0"/>
                          <a:ea typeface="Segoe UI" pitchFamily="34" charset="-122"/>
                          <a:cs typeface="Segoe UI" pitchFamily="34" charset="-120"/>
                        </a:rPr>
                        <a:t>égalité</a:t>
                      </a:r>
                      <a:r>
                        <a:rPr lang="en-US" sz="1100" dirty="0">
                          <a:solidFill>
                            <a:srgbClr val="1B2A3A"/>
                          </a:solidFill>
                          <a:latin typeface="Segoe UI" pitchFamily="34" charset="0"/>
                          <a:ea typeface="Segoe UI" pitchFamily="34" charset="-122"/>
                          <a:cs typeface="Segoe UI" pitchFamily="34" charset="-120"/>
                        </a:rPr>
                        <a:t> sont départagées par la commission, avec un motif, avant que l’étape puisse être arrêtée.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RG-EVA-35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Une correction hors calcul, motivée et signalée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Une correction que l’application ne calcule pas (erreur de report, autre) reste possible, mais </a:t>
                      </a:r>
                      <a:r>
                        <a:rPr lang="en-US" sz="1100" b="1" dirty="0">
                          <a:solidFill>
                            <a:srgbClr val="1B2A3A"/>
                          </a:solidFill>
                          <a:latin typeface="Segoe UI" pitchFamily="34" charset="0"/>
                          <a:ea typeface="Segoe UI" pitchFamily="34" charset="-122"/>
                          <a:cs typeface="Segoe UI" pitchFamily="34" charset="-120"/>
                        </a:rPr>
                        <a:t>avec un motif</a:t>
                      </a:r>
                      <a:r>
                        <a:rPr lang="en-US" sz="1100" dirty="0">
                          <a:solidFill>
                            <a:srgbClr val="1B2A3A"/>
                          </a:solidFill>
                          <a:latin typeface="Segoe UI" pitchFamily="34" charset="0"/>
                          <a:ea typeface="Segoe UI" pitchFamily="34" charset="-122"/>
                          <a:cs typeface="Segoe UI" pitchFamily="34" charset="-120"/>
                        </a:rPr>
                        <a:t> ; elle se lit « Hors calcul ». Elle est signalée au contrôle du dossier de marché, où le Membre de la Commission la lit avant de rendre un avis favorable. La même règle vaut pour l’enveloppe financière des prestations intellectuelles.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L’évaluation des offres : l’examen préliminaire (2026-10-07) · regles-gestion.md § trois autres bloquants (manuel révisé, lot 2, tranche R9b, 2026-10-14) ; demande-backend-2026-10-10-manuel-revise-lot2.md, B4 n° 9, encadré ✅ Front</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418</a:t>
            </a:r>
            <a:endParaRPr lang="en-US" sz="1100" dirty="0"/>
          </a:p>
        </p:txBody>
      </p:sp>
    </p:spTree>
  </p:cSld>
  <p:clrMapOvr>
    <a:masterClrMapping/>
  </p:clrMapOvr>
</p:sld>
</file>

<file path=ppt/slides/slide419.xml><?xml version="1.0" encoding="utf-8"?>
<p:sld xmlns:a="http://schemas.openxmlformats.org/drawingml/2006/main" xmlns:r="http://schemas.openxmlformats.org/officeDocument/2006/relationships" xmlns:p="http://schemas.openxmlformats.org/presentationml/2006/main">
  <p:cSld name="Slide 41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08 ÉVALUER LES OFFRES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offres anormales</a:t>
            </a:r>
            <a:endParaRPr lang="en-US" sz="2600" dirty="0"/>
          </a:p>
        </p:txBody>
      </p:sp>
      <p:graphicFrame>
        <p:nvGraphicFramePr>
          <p:cNvPr id="420"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21336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RG-EVA-20</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Des indicateurs, pas une décision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Pour chaque offre classée, l’application donne son écart à l’estimation du plan et à la moyenne des offres, et rappelle la méthode du DAO s’il en porte une : ce sont des </a:t>
                      </a:r>
                      <a:r>
                        <a:rPr lang="en-US" sz="1100" b="1" dirty="0">
                          <a:solidFill>
                            <a:srgbClr val="1B2A3A"/>
                          </a:solidFill>
                          <a:latin typeface="Segoe UI" pitchFamily="34" charset="0"/>
                          <a:ea typeface="Segoe UI" pitchFamily="34" charset="-122"/>
                          <a:cs typeface="Segoe UI" pitchFamily="34" charset="-120"/>
                        </a:rPr>
                        <a:t>indicateurs</a:t>
                      </a:r>
                      <a:r>
                        <a:rPr lang="en-US" sz="1100" dirty="0">
                          <a:solidFill>
                            <a:srgbClr val="1B2A3A"/>
                          </a:solidFill>
                          <a:latin typeface="Segoe UI" pitchFamily="34" charset="0"/>
                          <a:ea typeface="Segoe UI" pitchFamily="34" charset="-122"/>
                          <a:cs typeface="Segoe UI" pitchFamily="34" charset="-120"/>
                        </a:rPr>
                        <a: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RG-EVA-21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Chaque offre classée examinée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commission examine chaque offre classée : non suspectée, ou suspectée avec un motif. L’étape ne s’arrête pas tant qu’une offre suspectée reste en suspens.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RG-EVA-22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Pas de rejet sans justification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Aucune offre n’est rejetée sans une </a:t>
                      </a:r>
                      <a:r>
                        <a:rPr lang="en-US" sz="1100" b="1" dirty="0">
                          <a:solidFill>
                            <a:srgbClr val="1B2A3A"/>
                          </a:solidFill>
                          <a:latin typeface="Segoe UI" pitchFamily="34" charset="0"/>
                          <a:ea typeface="Segoe UI" pitchFamily="34" charset="-122"/>
                          <a:cs typeface="Segoe UI" pitchFamily="34" charset="-120"/>
                        </a:rPr>
                        <a:t>demande écrite de justification</a:t>
                      </a:r>
                      <a:r>
                        <a:rPr lang="en-US" sz="1100" dirty="0">
                          <a:solidFill>
                            <a:srgbClr val="1B2A3A"/>
                          </a:solidFill>
                          <a:latin typeface="Segoe UI" pitchFamily="34" charset="0"/>
                          <a:ea typeface="Segoe UI" pitchFamily="34" charset="-122"/>
                          <a:cs typeface="Segoe UI" pitchFamily="34" charset="-120"/>
                        </a:rPr>
                        <a:t> de la PRMP, et sans la réponse du candidat ou l’expiration de son délai (art. 48). La commission maintient ou rejette, avec un motif ; l’offre rejetée sort du classement.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RG-EVA-36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défaut de réponse vaut refus de justifier</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Quand l’échéance de la demande de justification passe sans réponse du candidat, la commission peut rejeter : le </a:t>
                      </a:r>
                      <a:r>
                        <a:rPr lang="en-US" sz="1100" b="1" dirty="0">
                          <a:solidFill>
                            <a:srgbClr val="1B2A3A"/>
                          </a:solidFill>
                          <a:latin typeface="Segoe UI" pitchFamily="34" charset="0"/>
                          <a:ea typeface="Segoe UI" pitchFamily="34" charset="-122"/>
                          <a:cs typeface="Segoe UI" pitchFamily="34" charset="-120"/>
                        </a:rPr>
                        <a:t>défaut de réponse</a:t>
                      </a:r>
                      <a:r>
                        <a:rPr lang="en-US" sz="1100" dirty="0">
                          <a:solidFill>
                            <a:srgbClr val="1B2A3A"/>
                          </a:solidFill>
                          <a:latin typeface="Segoe UI" pitchFamily="34" charset="0"/>
                          <a:ea typeface="Segoe UI" pitchFamily="34" charset="-122"/>
                          <a:cs typeface="Segoe UI" pitchFamily="34" charset="-120"/>
                        </a:rPr>
                        <a:t> vaut refus de justifier (art. 48). Il est écrit dans la décision et au journal, et l’offre porte la mention « Défaut de réponse ».</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L’évaluation des offres : l’examen préliminaire (2026-10-07) · regles-gestion.md § L’évaluation des offres, tranche 1c : offres anormales et post-qualification · regles-gestion.md § L’évaluation des offres (2026-10-07) ; § trois autres bloquants (tranche R9b, 2026-10-14) · regles-gestion.md § trois autres bloquants (tranche R9b, 2026-10-14) ; demande-backend-2026-10-10-manuel-revise-lot2.md, B4 n° 10, encadré ✅ Front</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419</a:t>
            </a:r>
            <a:endParaRPr lang="en-US" sz="1100" dirty="0"/>
          </a:p>
        </p:txBody>
      </p:sp>
    </p:spTree>
  </p:cSld>
  <p:clrMapOvr>
    <a:masterClrMapping/>
  </p:clrMapOvr>
</p:sld>
</file>

<file path=ppt/slides/slide420.xml><?xml version="1.0" encoding="utf-8"?>
<p:sld xmlns:a="http://schemas.openxmlformats.org/drawingml/2006/main" xmlns:r="http://schemas.openxmlformats.org/officeDocument/2006/relationships" xmlns:p="http://schemas.openxmlformats.org/presentationml/2006/main">
  <p:cSld name="Slide 42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08 ÉVALUER LES OFFRES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post-qualification</a:t>
            </a:r>
            <a:endParaRPr lang="en-US" sz="2600" dirty="0"/>
          </a:p>
        </p:txBody>
      </p:sp>
      <p:graphicFrame>
        <p:nvGraphicFramePr>
          <p:cNvPr id="421"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196596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RG-EVA-23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premier classé, puis le suivant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post-qualification porte sur le </a:t>
                      </a:r>
                      <a:r>
                        <a:rPr lang="en-US" sz="1100" b="1" dirty="0">
                          <a:solidFill>
                            <a:srgbClr val="1B2A3A"/>
                          </a:solidFill>
                          <a:latin typeface="Segoe UI" pitchFamily="34" charset="0"/>
                          <a:ea typeface="Segoe UI" pitchFamily="34" charset="-122"/>
                          <a:cs typeface="Segoe UI" pitchFamily="34" charset="-120"/>
                        </a:rPr>
                        <a:t>premier classé</a:t>
                      </a:r>
                      <a:r>
                        <a:rPr lang="en-US" sz="1100" dirty="0">
                          <a:solidFill>
                            <a:srgbClr val="1B2A3A"/>
                          </a:solidFill>
                          <a:latin typeface="Segoe UI" pitchFamily="34" charset="0"/>
                          <a:ea typeface="Segoe UI" pitchFamily="34" charset="-122"/>
                          <a:cs typeface="Segoe UI" pitchFamily="34" charset="-120"/>
                        </a:rPr>
                        <a:t>, puis, s’il échoue, sur le suivant, jusqu’à une offre qualifiée ou la fin du classement.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RG-EVA-24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critères du DAO, et eux seuls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Les critères sont ceux du DAO, et eux seuls : capacité juridique, capacité financière, capacité technique et expérience, matériel et personnel exigés. Chacun est jugé satisfait ou non ; un échec se motive.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RG-EVA-25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Une offre non qualifiée est écartée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Une offre non qualifiée est écartée avec un motif et la clause du DAO ; le tour passe à la suivante du classement.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RG-EVA-26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 proposition d’attribution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L’étape arrêtée, le lot porte sa </a:t>
                      </a:r>
                      <a:r>
                        <a:rPr lang="en-US" sz="1100" b="1" dirty="0">
                          <a:solidFill>
                            <a:srgbClr val="1B2A3A"/>
                          </a:solidFill>
                          <a:latin typeface="Segoe UI" pitchFamily="34" charset="0"/>
                          <a:ea typeface="Segoe UI" pitchFamily="34" charset="-122"/>
                          <a:cs typeface="Segoe UI" pitchFamily="34" charset="-120"/>
                        </a:rPr>
                        <a:t>proposition d’attribution</a:t>
                      </a:r>
                      <a:r>
                        <a:rPr lang="en-US" sz="1100" dirty="0">
                          <a:solidFill>
                            <a:srgbClr val="1B2A3A"/>
                          </a:solidFill>
                          <a:latin typeface="Segoe UI" pitchFamily="34" charset="0"/>
                          <a:ea typeface="Segoe UI" pitchFamily="34" charset="-122"/>
                          <a:cs typeface="Segoe UI" pitchFamily="34" charset="-120"/>
                        </a:rPr>
                        <a:t> (offre, montant hors taxes, délai), ou l’infructuosité si aucune offre n’est qualifiée. L’attribution elle-même revient à la PRMP.</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L’évaluation des offres : l’examen préliminaire (2026-10-07)</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420</a:t>
            </a:r>
            <a:endParaRPr lang="en-US" sz="1100" dirty="0"/>
          </a:p>
        </p:txBody>
      </p:sp>
    </p:spTree>
  </p:cSld>
  <p:clrMapOvr>
    <a:masterClrMapping/>
  </p:clrMapOvr>
</p:sld>
</file>

<file path=ppt/slides/slide421.xml><?xml version="1.0" encoding="utf-8"?>
<p:sld xmlns:a="http://schemas.openxmlformats.org/drawingml/2006/main" xmlns:r="http://schemas.openxmlformats.org/officeDocument/2006/relationships" xmlns:p="http://schemas.openxmlformats.org/presentationml/2006/main">
  <p:cSld name="Slide 42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08 ÉVALUER LES OFFRES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rapport d’évaluation</a:t>
            </a:r>
            <a:endParaRPr lang="en-US" sz="2600" dirty="0"/>
          </a:p>
        </p:txBody>
      </p:sp>
      <p:graphicFrame>
        <p:nvGraphicFramePr>
          <p:cNvPr id="422"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257048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RG-EVA-27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Produit quand tout est arrêté</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responsable produit le rapport quand toutes les étapes de tous les lots sont arrêtées, et seulement si le quorum des signataires appelés peut être atteint ; dès lors, plus aucune décision ne change.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RG-EVA-28</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plan du guide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rapport suit le plan du guide : références, plis reçus, chaque étape lot par lot, proposition d’attribution, signatures. En annexe, les déclarations des membres et les échanges avec les candidats.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RG-EVA-29</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Signé, avec une observation possible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Chaque membre signe, hors ceux qui ont déclaré un conflit d’intérêts ; un membre en désaccord joint une </a:t>
                      </a:r>
                      <a:r>
                        <a:rPr lang="en-US" sz="1100" b="1" dirty="0">
                          <a:solidFill>
                            <a:srgbClr val="1B2A3A"/>
                          </a:solidFill>
                          <a:latin typeface="Segoe UI" pitchFamily="34" charset="0"/>
                          <a:ea typeface="Segoe UI" pitchFamily="34" charset="-122"/>
                          <a:cs typeface="Segoe UI" pitchFamily="34" charset="-120"/>
                        </a:rPr>
                        <a:t>observation</a:t>
                      </a:r>
                      <a:r>
                        <a:rPr lang="en-US" sz="1100" dirty="0">
                          <a:solidFill>
                            <a:srgbClr val="1B2A3A"/>
                          </a:solidFill>
                          <a:latin typeface="Segoe UI" pitchFamily="34" charset="0"/>
                          <a:ea typeface="Segoe UI" pitchFamily="34" charset="-122"/>
                          <a:cs typeface="Segoe UI" pitchFamily="34" charset="-120"/>
                        </a:rPr>
                        <a:t>. L’empêchement d’un membre est constaté par le président, avec un motif — jamais s’il rendait le quorum inatteignable.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RG-EVA-30</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Clos à la dernière signature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À la dernière signature, l’évaluation est close et la PRMP est avertie. Le rapport </a:t>
                      </a:r>
                      <a:r>
                        <a:rPr lang="en-US" sz="1100" b="1" dirty="0">
                          <a:solidFill>
                            <a:srgbClr val="1B2A3A"/>
                          </a:solidFill>
                          <a:latin typeface="Segoe UI" pitchFamily="34" charset="0"/>
                          <a:ea typeface="Segoe UI" pitchFamily="34" charset="-122"/>
                          <a:cs typeface="Segoe UI" pitchFamily="34" charset="-120"/>
                        </a:rPr>
                        <a:t>n’est pas public</a:t>
                      </a:r>
                      <a:r>
                        <a:rPr lang="en-US" sz="1100" dirty="0">
                          <a:solidFill>
                            <a:srgbClr val="1B2A3A"/>
                          </a:solidFill>
                          <a:latin typeface="Segoe UI" pitchFamily="34" charset="0"/>
                          <a:ea typeface="Segoe UI" pitchFamily="34" charset="-122"/>
                          <a:cs typeface="Segoe UI" pitchFamily="34" charset="-120"/>
                        </a:rPr>
                        <a: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RG-EVA-38</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quorum, et le rapport qui vaut PV</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commission ne délibère qu’au </a:t>
                      </a:r>
                      <a:r>
                        <a:rPr lang="en-US" sz="1100" b="1" dirty="0">
                          <a:solidFill>
                            <a:srgbClr val="1B2A3A"/>
                          </a:solidFill>
                          <a:latin typeface="Segoe UI" pitchFamily="34" charset="0"/>
                          <a:ea typeface="Segoe UI" pitchFamily="34" charset="-122"/>
                          <a:cs typeface="Segoe UI" pitchFamily="34" charset="-120"/>
                        </a:rPr>
                        <a:t>quorum</a:t>
                      </a:r>
                      <a:r>
                        <a:rPr lang="en-US" sz="1100" dirty="0">
                          <a:solidFill>
                            <a:srgbClr val="1B2A3A"/>
                          </a:solidFill>
                          <a:latin typeface="Segoe UI" pitchFamily="34" charset="0"/>
                          <a:ea typeface="Segoe UI" pitchFamily="34" charset="-122"/>
                          <a:cs typeface="Segoe UI" pitchFamily="34" charset="-120"/>
                        </a:rPr>
                        <a:t> réglé par l’Administrateur (par défaut, plus de la moitié des membres désignés), le président ou son représentant étant toujours requis en plus. Le quorum bloque la production du rapport ; il est imprimé au rapport. Le rapport signé vaut PV de validation : date de la dernière signature, membres, empêchements, exclus pour conflit, observations.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L’évaluation des offres (2026-10-07) ; § le quorum de la commission (manuel révisé, lot 1, tranche R1) · regles-gestion.md § L’évaluation des offres : l’examen préliminaire (2026-10-07) · regles-gestion.md § L’évaluation des offres (2026-10-07) ; § le quorum de la commission (tranche R1) · regles-gestion.md § le quorum de la commission (manuel révisé, lot 1, tranche R1 ; arbitrages Q4 et Q5 du pilote)</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421</a:t>
            </a:r>
            <a:endParaRPr lang="en-US" sz="1100" dirty="0"/>
          </a:p>
        </p:txBody>
      </p:sp>
    </p:spTree>
  </p:cSld>
  <p:clrMapOvr>
    <a:masterClrMapping/>
  </p:clrMapOvr>
</p:sld>
</file>

<file path=ppt/slides/slide422.xml><?xml version="1.0" encoding="utf-8"?>
<p:sld xmlns:a="http://schemas.openxmlformats.org/drawingml/2006/main" xmlns:r="http://schemas.openxmlformats.org/officeDocument/2006/relationships" xmlns:p="http://schemas.openxmlformats.org/presentationml/2006/main">
  <p:cSld name="Slide 42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08 ÉVALUER LES OFFRES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prestations intellectuelles</a:t>
            </a:r>
            <a:endParaRPr lang="en-US" sz="2600" dirty="0"/>
          </a:p>
        </p:txBody>
      </p:sp>
      <p:graphicFrame>
        <p:nvGraphicFramePr>
          <p:cNvPr id="423"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29718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RG-EVA-31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 notation technique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grille vient de la fiche validée. Chaque membre sans conflit note chaque élément de 0 à son maximum, et motive. La moyenne de chaque élément fait la note ; un écart de plus de 20 % du maximum entre la note haute et la basse est signalé. Le président arrête sur des grilles complètes ; sous le score minimum, la proposition est éliminée et son enveloppe financière ne s’ouvre pas.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RG-EVA-32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L’évaluation financière et le classement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Corrections arithmétiques et dépenses remboursables saisies par la commission : le montant comparé est le prix corrigé diminué des remboursables. En qualité-coût, le score financier et le score combiné suivent les poids de la fiche ; en budget prédéterminé, une proposition au-delà est hors budget ; en moindre coût, le montant comparé croissant. Une égalité se départage, motivée, avant l’arrêt.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RG-EVA-33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 négociation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Conduite par la PRMP ou son UGPM avec le premier classé, sur des points non substantiels (art. 42-IV). Réussie, elle porte la proposition d’attribution ; échouée, elle se motive et le classé suivant vient. Une seule en cours, une seule réussie par lot ; son PV se produit en PDF et en Word.</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RG-EVA-34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 proposition et le rapport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 lot est prêt quand sa négociation a réussi ou qu’il est infructueux (toutes écartées, aucune au score minimum, aucune financière recevable, négociations sans accord). Le rapport se produit quand chaque lot est prêt ; ensuite, plus aucune écriture de l’évaluation.</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Lot 3 PI : demande evaluation-pi du 07/10, tranches PI-a à PI-c · Lot 3 PI : demande evaluation-pi du 07/10, tranche PI-d2a · Lot 3 PI : demande evaluation-pi du 07/10, tranche PI-d2b</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422</a:t>
            </a:r>
            <a:endParaRPr lang="en-US" sz="1100" dirty="0"/>
          </a:p>
        </p:txBody>
      </p:sp>
    </p:spTree>
  </p:cSld>
  <p:clrMapOvr>
    <a:masterClrMapping/>
  </p:clrMapOvr>
</p:sld>
</file>

<file path=ppt/slides/slide423.xml><?xml version="1.0" encoding="utf-8"?>
<p:sld xmlns:a="http://schemas.openxmlformats.org/drawingml/2006/main" xmlns:r="http://schemas.openxmlformats.org/officeDocument/2006/relationships" xmlns:p="http://schemas.openxmlformats.org/presentationml/2006/main">
  <p:cSld name="Slide 42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09 ATTRIBUER ET NOTIFIER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dossier de marché (1/2)</a:t>
            </a:r>
            <a:endParaRPr lang="en-US" sz="2600" dirty="0"/>
          </a:p>
        </p:txBody>
      </p:sp>
      <p:graphicFrame>
        <p:nvGraphicFramePr>
          <p:cNvPr id="424"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257048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RG-ATT-01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Chaque marché en ligne contrôlé</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Chaque marché issu d’une procédure en ligne passe au </a:t>
                      </a:r>
                      <a:r>
                        <a:rPr lang="en-US" sz="1100" b="1" dirty="0">
                          <a:solidFill>
                            <a:srgbClr val="1B2A3A"/>
                          </a:solidFill>
                          <a:latin typeface="Segoe UI" pitchFamily="34" charset="0"/>
                          <a:ea typeface="Segoe UI" pitchFamily="34" charset="-122"/>
                          <a:cs typeface="Segoe UI" pitchFamily="34" charset="-120"/>
                        </a:rPr>
                        <a:t>contrôle a priori</a:t>
                      </a:r>
                      <a:r>
                        <a:rPr lang="en-US" sz="1100" dirty="0">
                          <a:solidFill>
                            <a:srgbClr val="1B2A3A"/>
                          </a:solidFill>
                          <a:latin typeface="Segoe UI" pitchFamily="34" charset="0"/>
                          <a:ea typeface="Segoe UI" pitchFamily="34" charset="-122"/>
                          <a:cs typeface="Segoe UI" pitchFamily="34" charset="-120"/>
                        </a:rPr>
                        <a:t> de la Commission, sans seuil.</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RG-ATT-02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 dossier de marché par lot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Depuis l’évaluation close, la PRMP ou son UGPM crée </a:t>
                      </a:r>
                      <a:r>
                        <a:rPr lang="en-US" sz="1100" b="1" dirty="0">
                          <a:solidFill>
                            <a:srgbClr val="1B2A3A"/>
                          </a:solidFill>
                          <a:latin typeface="Segoe UI" pitchFamily="34" charset="0"/>
                          <a:ea typeface="Segoe UI" pitchFamily="34" charset="-122"/>
                          <a:cs typeface="Segoe UI" pitchFamily="34" charset="-120"/>
                        </a:rPr>
                        <a:t>un dossier de marché par lot</a:t>
                      </a:r>
                      <a:r>
                        <a:rPr lang="en-US" sz="1100" dirty="0">
                          <a:solidFill>
                            <a:srgbClr val="1B2A3A"/>
                          </a:solidFill>
                          <a:latin typeface="Segoe UI" pitchFamily="34" charset="0"/>
                          <a:ea typeface="Segoe UI" pitchFamily="34" charset="-122"/>
                          <a:cs typeface="Segoe UI" pitchFamily="34" charset="-120"/>
                        </a:rPr>
                        <a:t> attribuable, ouvert ou restreint selon le mode de passation. Un lot que le rapport propose infructueux n’en a pas.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RG-ATT-03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Des pièces jointes d’office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dossier reçoit d’office le </a:t>
                      </a:r>
                      <a:r>
                        <a:rPr lang="en-US" sz="1100" b="1" dirty="0">
                          <a:solidFill>
                            <a:srgbClr val="1B2A3A"/>
                          </a:solidFill>
                          <a:latin typeface="Segoe UI" pitchFamily="34" charset="0"/>
                          <a:ea typeface="Segoe UI" pitchFamily="34" charset="-122"/>
                          <a:cs typeface="Segoe UI" pitchFamily="34" charset="-120"/>
                        </a:rPr>
                        <a:t>projet de marché</a:t>
                      </a:r>
                      <a:r>
                        <a:rPr lang="en-US" sz="1100" dirty="0">
                          <a:solidFill>
                            <a:srgbClr val="1B2A3A"/>
                          </a:solidFill>
                          <a:latin typeface="Segoe UI" pitchFamily="34" charset="0"/>
                          <a:ea typeface="Segoe UI" pitchFamily="34" charset="-122"/>
                          <a:cs typeface="Segoe UI" pitchFamily="34" charset="-120"/>
                        </a:rPr>
                        <a:t> produit par l’application, le DAO complet, le devis ou bordereau de l’offre, le PV d’ouverture et le rapport d’évaluation, et, s’il y en a, les questions des candidats et leurs réponses. Restent à joindre par la PRMP, selon le sous-type, les autres pièces exigées.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RG-ATT-04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 projet de marché tiré de l’offre, selon l’art. 60</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projet de marché porte l’objet de l’appel d’offres et le seul lot du marché, et toutes les mentions de l’art. 60 ; ce que l’application connaît est rempli, le reste est nommé et complété par la PRMP avant la signature. Tant que le marché n’est pas signé, la PRMP ou son UGPM peut le </a:t>
                      </a:r>
                      <a:r>
                        <a:rPr lang="en-US" sz="1100" b="1" dirty="0">
                          <a:solidFill>
                            <a:srgbClr val="1B2A3A"/>
                          </a:solidFill>
                          <a:latin typeface="Segoe UI" pitchFamily="34" charset="0"/>
                          <a:ea typeface="Segoe UI" pitchFamily="34" charset="-122"/>
                          <a:cs typeface="Segoe UI" pitchFamily="34" charset="-120"/>
                        </a:rPr>
                        <a:t>refaire</a:t>
                      </a:r>
                      <a:r>
                        <a:rPr lang="en-US" sz="1100" dirty="0">
                          <a:solidFill>
                            <a:srgbClr val="1B2A3A"/>
                          </a:solidFill>
                          <a:latin typeface="Segoe UI" pitchFamily="34" charset="0"/>
                          <a:ea typeface="Segoe UI" pitchFamily="34" charset="-122"/>
                          <a:cs typeface="Segoe UI" pitchFamily="34" charset="-120"/>
                        </a:rPr>
                        <a: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RG-ATT-05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DAO complet dispense du CCAG</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 dossier qui porte le DAO complet produit par la fiche n’a plus à joindre le CCAG, ni le CCTP quand la fiche porte ses spécifications techniques.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De la proposition à l’attribution : le contrôle de la Commission (lot 2, 2026-10-07) · regles-gestion.md § De la proposition à l’attribution : le contrôle de la Commission (2026-10-07) · regles-gestion.md § De la proposition à l’attribution (2026-10-07) ; § les questions des candidats avant la date limite (manuel révisé, lot 2, tranche R7) · regles-gestion.md § le projet de marché suit la loi n° 2016-055 (2026-10-10 ; un lot = un marché, art. 28) · regles-gestion.md § Le DAO complet dispense du CCAG et du CCTP (2026-10-07)</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423</a:t>
            </a:r>
            <a:endParaRPr lang="en-US" sz="1100" dirty="0"/>
          </a:p>
        </p:txBody>
      </p:sp>
    </p:spTree>
  </p:cSld>
  <p:clrMapOvr>
    <a:masterClrMapping/>
  </p:clrMapOvr>
</p:sld>
</file>

<file path=ppt/slides/slide424.xml><?xml version="1.0" encoding="utf-8"?>
<p:sld xmlns:a="http://schemas.openxmlformats.org/drawingml/2006/main" xmlns:r="http://schemas.openxmlformats.org/officeDocument/2006/relationships" xmlns:p="http://schemas.openxmlformats.org/presentationml/2006/main">
  <p:cSld name="Slide 42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09 ATTRIBUER ET NOTIFIER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 dossier de marché (2/2)</a:t>
            </a:r>
            <a:endParaRPr lang="en-US" sz="2600" dirty="0"/>
          </a:p>
        </p:txBody>
      </p:sp>
      <p:graphicFrame>
        <p:nvGraphicFramePr>
          <p:cNvPr id="425"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RG-ATT-06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Une grille tirée du guide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dossier suit le circuit ordinaire. La Commission l’examine sur une grille tirée du guide : commission, PV, motivation des rejets, montant évalué, offres anormales, classement, post-qualification, signatures, conformité du projet à l’offre. Une correction hors calcul y est signalée (RG-EVA-35).</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De la proposition à l’attribution (2026-10-07) ; § trois autres bloquants (tranche R9b)</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424</a:t>
            </a:r>
            <a:endParaRPr lang="en-US" sz="1100" dirty="0"/>
          </a:p>
        </p:txBody>
      </p:sp>
    </p:spTree>
  </p:cSld>
  <p:clrMapOvr>
    <a:masterClrMapping/>
  </p:clrMapOvr>
</p:sld>
</file>

<file path=ppt/slides/slide425.xml><?xml version="1.0" encoding="utf-8"?>
<p:sld xmlns:a="http://schemas.openxmlformats.org/drawingml/2006/main" xmlns:r="http://schemas.openxmlformats.org/officeDocument/2006/relationships" xmlns:p="http://schemas.openxmlformats.org/presentationml/2006/main">
  <p:cSld name="Slide 42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09 ATTRIBUER ET NOTIFIER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Attribuer</a:t>
            </a:r>
            <a:endParaRPr lang="en-US" sz="2600" dirty="0"/>
          </a:p>
        </p:txBody>
      </p:sp>
      <p:graphicFrame>
        <p:nvGraphicFramePr>
          <p:cNvPr id="426"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10922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RG-ATT-07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 PRMP attribue après l’avis favorable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Après l’avis </a:t>
                      </a:r>
                      <a:r>
                        <a:rPr lang="en-US" sz="1100" b="1" dirty="0">
                          <a:solidFill>
                            <a:srgbClr val="1B2A3A"/>
                          </a:solidFill>
                          <a:latin typeface="Segoe UI" pitchFamily="34" charset="0"/>
                          <a:ea typeface="Segoe UI" pitchFamily="34" charset="-122"/>
                          <a:cs typeface="Segoe UI" pitchFamily="34" charset="-120"/>
                        </a:rPr>
                        <a:t>favorable</a:t>
                      </a:r>
                      <a:r>
                        <a:rPr lang="en-US" sz="1100" dirty="0">
                          <a:solidFill>
                            <a:srgbClr val="1B2A3A"/>
                          </a:solidFill>
                          <a:latin typeface="Segoe UI" pitchFamily="34" charset="0"/>
                          <a:ea typeface="Segoe UI" pitchFamily="34" charset="-122"/>
                          <a:cs typeface="Segoe UI" pitchFamily="34" charset="-120"/>
                        </a:rPr>
                        <a:t> de la Commission sur le dossier de marché, avec ou sans réserves, la PRMP, et elle seule, attribue le lot.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RG-ATT-08</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L’offre proposée, et elle seule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L’attribution va à l’offre </a:t>
                      </a:r>
                      <a:r>
                        <a:rPr lang="en-US" sz="1100" b="1" dirty="0">
                          <a:solidFill>
                            <a:srgbClr val="1B2A3A"/>
                          </a:solidFill>
                          <a:latin typeface="Segoe UI" pitchFamily="34" charset="0"/>
                          <a:ea typeface="Segoe UI" pitchFamily="34" charset="-122"/>
                          <a:cs typeface="Segoe UI" pitchFamily="34" charset="-120"/>
                        </a:rPr>
                        <a:t>proposée</a:t>
                      </a:r>
                      <a:r>
                        <a:rPr lang="en-US" sz="1100" dirty="0">
                          <a:solidFill>
                            <a:srgbClr val="1B2A3A"/>
                          </a:solidFill>
                          <a:latin typeface="Segoe UI" pitchFamily="34" charset="0"/>
                          <a:ea typeface="Segoe UI" pitchFamily="34" charset="-122"/>
                          <a:cs typeface="Segoe UI" pitchFamily="34" charset="-120"/>
                        </a:rPr>
                        <a:t> par la commission d’appel d’offres, jamais à une autre (art. 35-VII). En désaccord, la PRMP ne peut que déclarer le lot infructueux ou la procédure sans suite.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L’attribution et l’information des candidats (lot 2, tranche 2b) · regles-gestion.md § L’attribution et l’information des candidats (tranche 2b)</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425</a:t>
            </a:r>
            <a:endParaRPr lang="en-US" sz="1100" dirty="0"/>
          </a:p>
        </p:txBody>
      </p:sp>
    </p:spTree>
  </p:cSld>
  <p:clrMapOvr>
    <a:masterClrMapping/>
  </p:clrMapOvr>
</p:sld>
</file>

<file path=ppt/slides/slide426.xml><?xml version="1.0" encoding="utf-8"?>
<p:sld xmlns:a="http://schemas.openxmlformats.org/drawingml/2006/main" xmlns:r="http://schemas.openxmlformats.org/officeDocument/2006/relationships" xmlns:p="http://schemas.openxmlformats.org/presentationml/2006/main">
  <p:cSld name="Slide 42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09 ATTRIBUER ET NOTIFIER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Informer les candidats (1/2)</a:t>
            </a:r>
            <a:endParaRPr lang="en-US" sz="2600" dirty="0"/>
          </a:p>
        </p:txBody>
      </p:sp>
      <p:graphicFrame>
        <p:nvGraphicFramePr>
          <p:cNvPr id="427"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273812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RG-ATT-09</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Une lettre à chaque candidat évalué</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PRMP informe tous les candidats dont l’offre a été évaluée (art. 52) : lettre d’attribution à l’attributaire, lettre de rejet aux autres, avec les </a:t>
                      </a:r>
                      <a:r>
                        <a:rPr lang="en-US" sz="1100" b="1" dirty="0">
                          <a:solidFill>
                            <a:srgbClr val="1B2A3A"/>
                          </a:solidFill>
                          <a:latin typeface="Segoe UI" pitchFamily="34" charset="0"/>
                          <a:ea typeface="Segoe UI" pitchFamily="34" charset="-122"/>
                          <a:cs typeface="Segoe UI" pitchFamily="34" charset="-120"/>
                        </a:rPr>
                        <a:t>motifs tirés du rapport</a:t>
                      </a:r>
                      <a:r>
                        <a:rPr lang="en-US" sz="1100" dirty="0">
                          <a:solidFill>
                            <a:srgbClr val="1B2A3A"/>
                          </a:solidFill>
                          <a:latin typeface="Segoe UI" pitchFamily="34" charset="0"/>
                          <a:ea typeface="Segoe UI" pitchFamily="34" charset="-122"/>
                          <a:cs typeface="Segoe UI" pitchFamily="34" charset="-120"/>
                        </a:rPr>
                        <a:t>, le nom de l’attributaire et le montant du marché.</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RG-ATT-10</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Signées en ligne, lues avec accusé</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PRMP signe ces lettres électroniquement ; elles partent sur la plateforme et par courriel. La première lecture par le candidat sur la plateforme vaut </a:t>
                      </a:r>
                      <a:r>
                        <a:rPr lang="en-US" sz="1100" b="1" dirty="0">
                          <a:solidFill>
                            <a:srgbClr val="1B2A3A"/>
                          </a:solidFill>
                          <a:latin typeface="Segoe UI" pitchFamily="34" charset="0"/>
                          <a:ea typeface="Segoe UI" pitchFamily="34" charset="-122"/>
                          <a:cs typeface="Segoe UI" pitchFamily="34" charset="-120"/>
                        </a:rPr>
                        <a:t>accusé de réception</a:t>
                      </a:r>
                      <a:r>
                        <a:rPr lang="en-US" sz="1100" dirty="0">
                          <a:solidFill>
                            <a:srgbClr val="1B2A3A"/>
                          </a:solidFill>
                          <a:latin typeface="Segoe UI" pitchFamily="34" charset="0"/>
                          <a:ea typeface="Segoe UI" pitchFamily="34" charset="-122"/>
                          <a:cs typeface="Segoe UI" pitchFamily="34" charset="-120"/>
                        </a:rPr>
                        <a: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RG-ATT-11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L’affichage déclaré, le résultat publié</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PRMP déclare la date d’</a:t>
                      </a:r>
                      <a:r>
                        <a:rPr lang="en-US" sz="1100" b="1" dirty="0">
                          <a:solidFill>
                            <a:srgbClr val="1B2A3A"/>
                          </a:solidFill>
                          <a:latin typeface="Segoe UI" pitchFamily="34" charset="0"/>
                          <a:ea typeface="Segoe UI" pitchFamily="34" charset="-122"/>
                          <a:cs typeface="Segoe UI" pitchFamily="34" charset="-120"/>
                        </a:rPr>
                        <a:t>affichage</a:t>
                      </a:r>
                      <a:r>
                        <a:rPr lang="en-US" sz="1100" dirty="0">
                          <a:solidFill>
                            <a:srgbClr val="1B2A3A"/>
                          </a:solidFill>
                          <a:latin typeface="Segoe UI" pitchFamily="34" charset="0"/>
                          <a:ea typeface="Segoe UI" pitchFamily="34" charset="-122"/>
                          <a:cs typeface="Segoe UI" pitchFamily="34" charset="-120"/>
                        </a:rPr>
                        <a:t> du résultat à son siège ; l’attributaire et le montant paraissent sur la page publique de la procédure.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RG-ATT-12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Dix jours francs depuis la réception présumée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marché ne se signe qu’après </a:t>
                      </a:r>
                      <a:r>
                        <a:rPr lang="en-US" sz="1100" b="1" dirty="0">
                          <a:solidFill>
                            <a:srgbClr val="1B2A3A"/>
                          </a:solidFill>
                          <a:latin typeface="Segoe UI" pitchFamily="34" charset="0"/>
                          <a:ea typeface="Segoe UI" pitchFamily="34" charset="-122"/>
                          <a:cs typeface="Segoe UI" pitchFamily="34" charset="-120"/>
                        </a:rPr>
                        <a:t>dix jours francs</a:t>
                      </a:r>
                      <a:r>
                        <a:rPr lang="en-US" sz="1100" dirty="0">
                          <a:solidFill>
                            <a:srgbClr val="1B2A3A"/>
                          </a:solidFill>
                          <a:latin typeface="Segoe UI" pitchFamily="34" charset="0"/>
                          <a:ea typeface="Segoe UI" pitchFamily="34" charset="-122"/>
                          <a:cs typeface="Segoe UI" pitchFamily="34" charset="-120"/>
                        </a:rPr>
                        <a:t> (art. 78), comptés depuis la </a:t>
                      </a:r>
                      <a:r>
                        <a:rPr lang="en-US" sz="1100" b="1" dirty="0">
                          <a:solidFill>
                            <a:srgbClr val="1B2A3A"/>
                          </a:solidFill>
                          <a:latin typeface="Segoe UI" pitchFamily="34" charset="0"/>
                          <a:ea typeface="Segoe UI" pitchFamily="34" charset="-122"/>
                          <a:cs typeface="Segoe UI" pitchFamily="34" charset="-120"/>
                        </a:rPr>
                        <a:t>réception présumée</a:t>
                      </a:r>
                      <a:r>
                        <a:rPr lang="en-US" sz="1100" dirty="0">
                          <a:solidFill>
                            <a:srgbClr val="1B2A3A"/>
                          </a:solidFill>
                          <a:latin typeface="Segoe UI" pitchFamily="34" charset="0"/>
                          <a:ea typeface="Segoe UI" pitchFamily="34" charset="-122"/>
                          <a:cs typeface="Segoe UI" pitchFamily="34" charset="-120"/>
                        </a:rPr>
                        <a:t> de la lettre par les candidats non retenus — l’envoi plus un nombre de jours réglé par l’Administrateur (trois proposés), le même pour tous —, ou depuis l’affichage s’il est plus tardif. Ni ce jour ni le dixième ne comptent ; l’écran affiche la date à partir de laquelle la signature est possible.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RG-ATT-13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explications, par écrit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 candidat non retenu peut demander par écrit des </a:t>
                      </a:r>
                      <a:r>
                        <a:rPr lang="en-US" sz="1100" b="1" dirty="0">
                          <a:solidFill>
                            <a:srgbClr val="1B2A3A"/>
                          </a:solidFill>
                          <a:latin typeface="Segoe UI" pitchFamily="34" charset="0"/>
                          <a:ea typeface="Segoe UI" pitchFamily="34" charset="-122"/>
                          <a:cs typeface="Segoe UI" pitchFamily="34" charset="-120"/>
                        </a:rPr>
                        <a:t>explications</a:t>
                      </a:r>
                      <a:r>
                        <a:rPr lang="en-US" sz="1100" dirty="0">
                          <a:solidFill>
                            <a:srgbClr val="1B2A3A"/>
                          </a:solidFill>
                          <a:latin typeface="Segoe UI" pitchFamily="34" charset="0"/>
                          <a:ea typeface="Segoe UI" pitchFamily="34" charset="-122"/>
                          <a:cs typeface="Segoe UI" pitchFamily="34" charset="-120"/>
                        </a:rPr>
                        <a:t> sur le rejet de son offre ; la PRMP y répond par écrit, avec un fichier si elle le souhaite.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L’attribution et l’information des candidats (tranche 2b) · regles-gestion.md § les délais de la signature, des pièces, de l’avis d’attribution et du sans suite (manuel révisé, lot 2, tranche R6c, 2026-10-13) ; demande-backend-2026-10-10-manuel-revise-lot2.md, B1 règle 6, encadré ✅ Front FR6</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426</a:t>
            </a:r>
            <a:endParaRPr lang="en-US" sz="1100" dirty="0"/>
          </a:p>
        </p:txBody>
      </p:sp>
    </p:spTree>
  </p:cSld>
  <p:clrMapOvr>
    <a:masterClrMapping/>
  </p:clrMapOvr>
</p:sld>
</file>

<file path=ppt/slides/slide427.xml><?xml version="1.0" encoding="utf-8"?>
<p:sld xmlns:a="http://schemas.openxmlformats.org/drawingml/2006/main" xmlns:r="http://schemas.openxmlformats.org/officeDocument/2006/relationships" xmlns:p="http://schemas.openxmlformats.org/presentationml/2006/main">
  <p:cSld name="Slide 42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09 ATTRIBUER ET NOTIFIER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Informer les candidats (2/2)</a:t>
            </a:r>
            <a:endParaRPr lang="en-US" sz="2600" dirty="0"/>
          </a:p>
        </p:txBody>
      </p:sp>
      <p:graphicFrame>
        <p:nvGraphicFramePr>
          <p:cNvPr id="428"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65532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RG-ATT-14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Des modèles provisoires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Tant que les modèles officiels ne sont pas remis, les lettres et l’avis d’attribution suivent un </a:t>
                      </a:r>
                      <a:r>
                        <a:rPr lang="en-US" sz="1100" b="1" dirty="0">
                          <a:solidFill>
                            <a:srgbClr val="1B2A3A"/>
                          </a:solidFill>
                          <a:latin typeface="Segoe UI" pitchFamily="34" charset="0"/>
                          <a:ea typeface="Segoe UI" pitchFamily="34" charset="-122"/>
                          <a:cs typeface="Segoe UI" pitchFamily="34" charset="-120"/>
                        </a:rPr>
                        <a:t>modèle provisoire</a:t>
                      </a:r>
                      <a:r>
                        <a:rPr lang="en-US" sz="1100" dirty="0">
                          <a:solidFill>
                            <a:srgbClr val="1B2A3A"/>
                          </a:solidFill>
                          <a:latin typeface="Segoe UI" pitchFamily="34" charset="0"/>
                          <a:ea typeface="Segoe UI" pitchFamily="34" charset="-122"/>
                          <a:cs typeface="Segoe UI" pitchFamily="34" charset="-120"/>
                        </a:rPr>
                        <a:t> de l’application.</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L’attribution et l’information des candidats (tranche 2b) ; § De la mise au point à l’avis d’attribution (tranche 2c)</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427</a:t>
            </a:r>
            <a:endParaRPr lang="en-US" sz="1100" dirty="0"/>
          </a:p>
        </p:txBody>
      </p:sp>
    </p:spTree>
  </p:cSld>
  <p:clrMapOvr>
    <a:masterClrMapping/>
  </p:clrMapOvr>
</p:sld>
</file>

<file path=ppt/slides/slide428.xml><?xml version="1.0" encoding="utf-8"?>
<p:sld xmlns:a="http://schemas.openxmlformats.org/drawingml/2006/main" xmlns:r="http://schemas.openxmlformats.org/officeDocument/2006/relationships" xmlns:p="http://schemas.openxmlformats.org/presentationml/2006/main">
  <p:cSld name="Slide 42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09 ATTRIBUER ET NOTIFIER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recours</a:t>
            </a:r>
            <a:endParaRPr lang="en-US" sz="2600" dirty="0"/>
          </a:p>
        </p:txBody>
      </p:sp>
      <p:graphicFrame>
        <p:nvGraphicFramePr>
          <p:cNvPr id="429"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21336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RG-ATT-15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recours déclarés par la PRMP</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PRMP déclare les recours reçus, chacun typé : demande de réexamen, demande de révision auprès de l’ARMP, référé. Leur décision se déclare ensuite, avec son issue et un motif.</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RG-ATT-16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réexamen, sous dix jours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PRMP doit répondre à une demande de </a:t>
                      </a:r>
                      <a:r>
                        <a:rPr lang="en-US" sz="1100" b="1" dirty="0">
                          <a:solidFill>
                            <a:srgbClr val="1B2A3A"/>
                          </a:solidFill>
                          <a:latin typeface="Segoe UI" pitchFamily="34" charset="0"/>
                          <a:ea typeface="Segoe UI" pitchFamily="34" charset="-122"/>
                          <a:cs typeface="Segoe UI" pitchFamily="34" charset="-120"/>
                        </a:rPr>
                        <a:t>réexamen</a:t>
                      </a:r>
                      <a:r>
                        <a:rPr lang="en-US" sz="1100" dirty="0">
                          <a:solidFill>
                            <a:srgbClr val="1B2A3A"/>
                          </a:solidFill>
                          <a:latin typeface="Segoe UI" pitchFamily="34" charset="0"/>
                          <a:ea typeface="Segoe UI" pitchFamily="34" charset="-122"/>
                          <a:cs typeface="Segoe UI" pitchFamily="34" charset="-120"/>
                        </a:rPr>
                        <a:t> sous dix jours ; elle est alertée deux jours avant l’échéance. Par défaut, le réexamen ne suspend pas la signature, sauf si l’Administrateur l’a rangé parmi les recours suspensifs (RG-ATT-35).</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RG-ATT-17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 recours suspensif suspend la signature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 recours d’un type suspensif — par défaut la révision par l’ARMP et le référé — </a:t>
                      </a:r>
                      <a:r>
                        <a:rPr lang="en-US" sz="1100" b="1" dirty="0">
                          <a:solidFill>
                            <a:srgbClr val="1B2A3A"/>
                          </a:solidFill>
                          <a:latin typeface="Segoe UI" pitchFamily="34" charset="0"/>
                          <a:ea typeface="Segoe UI" pitchFamily="34" charset="-122"/>
                          <a:cs typeface="Segoe UI" pitchFamily="34" charset="-120"/>
                        </a:rPr>
                        <a:t>suspend la signature</a:t>
                      </a:r>
                      <a:r>
                        <a:rPr lang="en-US" sz="1100" dirty="0">
                          <a:solidFill>
                            <a:srgbClr val="1B2A3A"/>
                          </a:solidFill>
                          <a:latin typeface="Segoe UI" pitchFamily="34" charset="0"/>
                          <a:ea typeface="Segoe UI" pitchFamily="34" charset="-122"/>
                          <a:cs typeface="Segoe UI" pitchFamily="34" charset="-120"/>
                        </a:rPr>
                        <a:t> jusqu’à sa décision, vingt jours au plus après sa réception ; l’écran donne la date limite.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RG-ATT-35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recours suspensifs, un réglage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Les types de recours qui suspendent la signature sont un </a:t>
                      </a:r>
                      <a:r>
                        <a:rPr lang="en-US" sz="1100" b="1" dirty="0">
                          <a:solidFill>
                            <a:srgbClr val="1B2A3A"/>
                          </a:solidFill>
                          <a:latin typeface="Segoe UI" pitchFamily="34" charset="0"/>
                          <a:ea typeface="Segoe UI" pitchFamily="34" charset="-122"/>
                          <a:cs typeface="Segoe UI" pitchFamily="34" charset="-120"/>
                        </a:rPr>
                        <a:t>réglage de l’Administrateur</a:t>
                      </a:r>
                      <a:r>
                        <a:rPr lang="en-US" sz="1100" dirty="0">
                          <a:solidFill>
                            <a:srgbClr val="1B2A3A"/>
                          </a:solidFill>
                          <a:latin typeface="Segoe UI" pitchFamily="34" charset="0"/>
                          <a:ea typeface="Segoe UI" pitchFamily="34" charset="-122"/>
                          <a:cs typeface="Segoe UI" pitchFamily="34" charset="-120"/>
                        </a:rPr>
                        <a:t> : par défaut la révision par l’ARMP et le référé, le réexamen pouvant être ajouté ; aucune case cochée signifie aucun recours suspensif. Le réglage vaut aussi pour les recours déjà déclarés, et la liste de déclaration le dit pour chaque type.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De la mise au point à l’avis d’attribution (lot 2, tranche 2c) · regles-gestion.md § De la mise au point à l’avis d’attribution (tranche 2c) ; § trois bloquants de la loi (manuel révisé, lot 2, tranche R9a) · regles-gestion.md § De la mise au point à l’avis d’attribution (tranche 2c) ; § trois bloquants de la loi (tranche R9a) · regles-gestion.md § trois bloquants de la loi (tranche R9a, titre VIII) ; demande-backend-2026-10-10-manuel-revise-lot2.md, B4 n° 13, encadré ✅ Front</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428</a:t>
            </a:r>
            <a:endParaRPr lang="en-US" sz="1100" dirty="0"/>
          </a:p>
        </p:txBody>
      </p:sp>
    </p:spTree>
  </p:cSld>
  <p:clrMapOvr>
    <a:masterClrMapping/>
  </p:clrMapOvr>
</p:sld>
</file>

<file path=ppt/slides/slide429.xml><?xml version="1.0" encoding="utf-8"?>
<p:sld xmlns:a="http://schemas.openxmlformats.org/drawingml/2006/main" xmlns:r="http://schemas.openxmlformats.org/officeDocument/2006/relationships" xmlns:p="http://schemas.openxmlformats.org/presentationml/2006/main">
  <p:cSld name="Slide 42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09 ATTRIBUER ET NOTIFIER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pièces de l’attributaire</a:t>
            </a:r>
            <a:endParaRPr lang="en-US" sz="2600" dirty="0"/>
          </a:p>
        </p:txBody>
      </p:sp>
      <p:graphicFrame>
        <p:nvGraphicFramePr>
          <p:cNvPr id="430"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236728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RG-ATT-18</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Pièces fiscales et sociales en quinze jours, et récentes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L’attributaire dépose, dans les </a:t>
                      </a:r>
                      <a:r>
                        <a:rPr lang="en-US" sz="1100" b="1" dirty="0">
                          <a:solidFill>
                            <a:srgbClr val="1B2A3A"/>
                          </a:solidFill>
                          <a:latin typeface="Segoe UI" pitchFamily="34" charset="0"/>
                          <a:ea typeface="Segoe UI" pitchFamily="34" charset="-122"/>
                          <a:cs typeface="Segoe UI" pitchFamily="34" charset="-120"/>
                        </a:rPr>
                        <a:t>quinze jours</a:t>
                      </a:r>
                      <a:r>
                        <a:rPr lang="en-US" sz="1100" dirty="0">
                          <a:solidFill>
                            <a:srgbClr val="1B2A3A"/>
                          </a:solidFill>
                          <a:latin typeface="Segoe UI" pitchFamily="34" charset="0"/>
                          <a:ea typeface="Segoe UI" pitchFamily="34" charset="-122"/>
                          <a:cs typeface="Segoe UI" pitchFamily="34" charset="-120"/>
                        </a:rPr>
                        <a:t> de la lettre d’attribution (art. 20-I), une attestation fiscale et une attestation sociale. Elles doivent avoir moins de six mois (fiscale) et moins de trois mois (sociale) à la notification de l’attribution : plus anciennes, elles sont refusées au dépôt et </a:t>
                      </a:r>
                      <a:r>
                        <a:rPr lang="en-US" sz="1100" b="1" dirty="0">
                          <a:solidFill>
                            <a:srgbClr val="1B2A3A"/>
                          </a:solidFill>
                          <a:latin typeface="Segoe UI" pitchFamily="34" charset="0"/>
                          <a:ea typeface="Segoe UI" pitchFamily="34" charset="-122"/>
                          <a:cs typeface="Segoe UI" pitchFamily="34" charset="-120"/>
                        </a:rPr>
                        <a:t>ne peuvent être reconnues conformes</a:t>
                      </a:r>
                      <a:r>
                        <a:rPr lang="en-US" sz="1100" dirty="0">
                          <a:solidFill>
                            <a:srgbClr val="1B2A3A"/>
                          </a:solidFill>
                          <a:latin typeface="Segoe UI" pitchFamily="34" charset="0"/>
                          <a:ea typeface="Segoe UI" pitchFamily="34" charset="-122"/>
                          <a:cs typeface="Segoe UI" pitchFamily="34" charset="-120"/>
                        </a:rPr>
                        <a:t> ; l’écran affiche les dates les plus anciennes admises. L’attributaire peut redéposer jusqu’à l’échéance ; la dernière pièce fait foi.</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RG-ATT-19</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Vérifiées, ou le marché retiré</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PRMP vérifie chaque pièce, avec un motif si elle n’est pas conforme. L’état de chaque pièce se lit sur son dernier dépôt : à déposer, à vérifier, conforme, non conforme. Faute de pièces conformes à l’échéance, la PRMP </a:t>
                      </a:r>
                      <a:r>
                        <a:rPr lang="en-US" sz="1100" b="1" dirty="0">
                          <a:solidFill>
                            <a:srgbClr val="1B2A3A"/>
                          </a:solidFill>
                          <a:latin typeface="Segoe UI" pitchFamily="34" charset="0"/>
                          <a:ea typeface="Segoe UI" pitchFamily="34" charset="-122"/>
                          <a:cs typeface="Segoe UI" pitchFamily="34" charset="-120"/>
                        </a:rPr>
                        <a:t>retire</a:t>
                      </a:r>
                      <a:r>
                        <a:rPr lang="en-US" sz="1100" dirty="0">
                          <a:solidFill>
                            <a:srgbClr val="1B2A3A"/>
                          </a:solidFill>
                          <a:latin typeface="Segoe UI" pitchFamily="34" charset="0"/>
                          <a:ea typeface="Segoe UI" pitchFamily="34" charset="-122"/>
                          <a:cs typeface="Segoe UI" pitchFamily="34" charset="-120"/>
                        </a:rPr>
                        <a:t> le marché, avant sa signature.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RG-ATT-34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L’original signé de l’acte d’engagement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En remise électronique, le dépôt scellé de l’offre depuis le compte du candidat vaut signature de l’offre et de l’acte d’engagement ; l’attributaire remet ensuite l’</a:t>
                      </a:r>
                      <a:r>
                        <a:rPr lang="en-US" sz="1100" b="1" dirty="0">
                          <a:solidFill>
                            <a:srgbClr val="1B2A3A"/>
                          </a:solidFill>
                          <a:latin typeface="Segoe UI" pitchFamily="34" charset="0"/>
                          <a:ea typeface="Segoe UI" pitchFamily="34" charset="-122"/>
                          <a:cs typeface="Segoe UI" pitchFamily="34" charset="-120"/>
                        </a:rPr>
                        <a:t>original signé</a:t>
                      </a:r>
                      <a:r>
                        <a:rPr lang="en-US" sz="1100" dirty="0">
                          <a:solidFill>
                            <a:srgbClr val="1B2A3A"/>
                          </a:solidFill>
                          <a:latin typeface="Segoe UI" pitchFamily="34" charset="0"/>
                          <a:ea typeface="Segoe UI" pitchFamily="34" charset="-122"/>
                          <a:cs typeface="Segoe UI" pitchFamily="34" charset="-120"/>
                        </a:rPr>
                        <a:t> de son acte d’engagement. Il en dépose le scan, sans l’échéance des quinze jours, ou la PRMP qui l’a reçu l’enregistre ; la PRMP le reconnaît conforme, et le marché ne se signe pas avant. Le projet de marché cite l’original et sa date de remise. Une procédure papier n’est pas concernée.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De la mise au point à l’avis d’attribution (tranche 2c) ; § les délais de la signature, des pièces… (tranche R6c, 2026-10-13) · regles-gestion.md § De la mise au point à l’avis d’attribution (tranche 2c) ; demande-backend-2026-10-10-manuel-revise-lot2.md, encadré ✅ Front « recette navigateur du lot 2 » · regles-gestion.md § l’acte d’engagement original (manuel révisé, lot 2, tranche R10, 2026-10-14) ; demande-backend-2026-10-10-manuel-revise-lot2.md, B5, encadré ✅ Front</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429</a:t>
            </a:r>
            <a:endParaRPr lang="en-US" sz="1100" dirty="0"/>
          </a:p>
        </p:txBody>
      </p:sp>
    </p:spTree>
  </p:cSld>
  <p:clrMapOvr>
    <a:masterClrMapping/>
  </p:clrMapOvr>
</p:sld>
</file>

<file path=ppt/slides/slide430.xml><?xml version="1.0" encoding="utf-8"?>
<p:sld xmlns:a="http://schemas.openxmlformats.org/drawingml/2006/main" xmlns:r="http://schemas.openxmlformats.org/officeDocument/2006/relationships" xmlns:p="http://schemas.openxmlformats.org/presentationml/2006/main">
  <p:cSld name="Slide 43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09 ATTRIBUER ET NOTIFIER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Signer, approuver, enregistrer, notifier (1/2)</a:t>
            </a:r>
            <a:endParaRPr lang="en-US" sz="2600" dirty="0"/>
          </a:p>
        </p:txBody>
      </p:sp>
      <p:graphicFrame>
        <p:nvGraphicFramePr>
          <p:cNvPr id="431"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290576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RG-ATT-20</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Une mise au point sans changement substantiel</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mise au point avec l’attributaire fait l’objet d’un rapport. Elle ne peut changer les caractéristiques substantielles du marché, ce que l’application ne contrôle pas.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RG-ATT-21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conditions de la signature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marché n’est signé qu’après le délai d’attente, sans recours suspensif en cours ni demande de sans suite en attente d’avis, une fois les deux pièces de l’attributaire reconnues conformes et, en remise électronique, l’original signé de l’acte d’engagement reconnu conforme. La PRMP dépose le marché signé.</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RG-ATT-22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Approuver et enregistrer avant de notifier</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marché est </a:t>
                      </a:r>
                      <a:r>
                        <a:rPr lang="en-US" sz="1100" b="1" dirty="0">
                          <a:solidFill>
                            <a:srgbClr val="1B2A3A"/>
                          </a:solidFill>
                          <a:latin typeface="Segoe UI" pitchFamily="34" charset="0"/>
                          <a:ea typeface="Segoe UI" pitchFamily="34" charset="-122"/>
                          <a:cs typeface="Segoe UI" pitchFamily="34" charset="-120"/>
                        </a:rPr>
                        <a:t>enregistré</a:t>
                      </a:r>
                      <a:r>
                        <a:rPr lang="en-US" sz="1100" dirty="0">
                          <a:solidFill>
                            <a:srgbClr val="1B2A3A"/>
                          </a:solidFill>
                          <a:latin typeface="Segoe UI" pitchFamily="34" charset="0"/>
                          <a:ea typeface="Segoe UI" pitchFamily="34" charset="-122"/>
                          <a:cs typeface="Segoe UI" pitchFamily="34" charset="-120"/>
                        </a:rPr>
                        <a:t> — une date et le justificatif — et </a:t>
                      </a:r>
                      <a:r>
                        <a:rPr lang="en-US" sz="1100" b="1" dirty="0">
                          <a:solidFill>
                            <a:srgbClr val="1B2A3A"/>
                          </a:solidFill>
                          <a:latin typeface="Segoe UI" pitchFamily="34" charset="0"/>
                          <a:ea typeface="Segoe UI" pitchFamily="34" charset="-122"/>
                          <a:cs typeface="Segoe UI" pitchFamily="34" charset="-120"/>
                        </a:rPr>
                        <a:t>approuvé</a:t>
                      </a:r>
                      <a:r>
                        <a:rPr lang="en-US" sz="1100" dirty="0">
                          <a:solidFill>
                            <a:srgbClr val="1B2A3A"/>
                          </a:solidFill>
                          <a:latin typeface="Segoe UI" pitchFamily="34" charset="0"/>
                          <a:ea typeface="Segoe UI" pitchFamily="34" charset="-122"/>
                          <a:cs typeface="Segoe UI" pitchFamily="34" charset="-120"/>
                        </a:rPr>
                        <a:t> (RG-ATT-33) avant d’être notifié : la notification ne s’ouvre qu’une fois les deux faits, et sa date ne précède ni l’un ni l’autre (art. 54). L’écran dit ce qui manque encore.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RG-ATT-23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L’effet à la réception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marché prend effet à sa </a:t>
                      </a:r>
                      <a:r>
                        <a:rPr lang="en-US" sz="1100" b="1" dirty="0">
                          <a:solidFill>
                            <a:srgbClr val="1B2A3A"/>
                          </a:solidFill>
                          <a:latin typeface="Segoe UI" pitchFamily="34" charset="0"/>
                          <a:ea typeface="Segoe UI" pitchFamily="34" charset="-122"/>
                          <a:cs typeface="Segoe UI" pitchFamily="34" charset="-120"/>
                        </a:rPr>
                        <a:t>réception</a:t>
                      </a:r>
                      <a:r>
                        <a:rPr lang="en-US" sz="1100" dirty="0">
                          <a:solidFill>
                            <a:srgbClr val="1B2A3A"/>
                          </a:solidFill>
                          <a:latin typeface="Segoe UI" pitchFamily="34" charset="0"/>
                          <a:ea typeface="Segoe UI" pitchFamily="34" charset="-122"/>
                          <a:cs typeface="Segoe UI" pitchFamily="34" charset="-120"/>
                        </a:rPr>
                        <a:t> par l’attributaire : la date déclarée par la PRMP, ou sa première consultation du marché sur la plateforme.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RG-ATT-24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L’avis d’attribution sous trente jours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L’avis d’attribution est publié dans les </a:t>
                      </a:r>
                      <a:r>
                        <a:rPr lang="en-US" sz="1100" b="1" dirty="0">
                          <a:solidFill>
                            <a:srgbClr val="1B2A3A"/>
                          </a:solidFill>
                          <a:latin typeface="Segoe UI" pitchFamily="34" charset="0"/>
                          <a:ea typeface="Segoe UI" pitchFamily="34" charset="-122"/>
                          <a:cs typeface="Segoe UI" pitchFamily="34" charset="-120"/>
                        </a:rPr>
                        <a:t>trente jours</a:t>
                      </a:r>
                      <a:r>
                        <a:rPr lang="en-US" sz="1100" dirty="0">
                          <a:solidFill>
                            <a:srgbClr val="1B2A3A"/>
                          </a:solidFill>
                          <a:latin typeface="Segoe UI" pitchFamily="34" charset="0"/>
                          <a:ea typeface="Segoe UI" pitchFamily="34" charset="-122"/>
                          <a:cs typeface="Segoe UI" pitchFamily="34" charset="-120"/>
                        </a:rPr>
                        <a:t> de la réception de la notification par le titulaire (déclarée ou constatée par la plateforme), à défaut de la notification, sur la page publique de la procédure. La PRMP est alertée au vingtième jour ; un avis en retard est signalé « En retard » sur le lot et par une pastille sur son entrée « Fiches DAO ». La règle ne bloque rien : une publication tardive se lit « Publié après l’échéance ».</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De la mise au point à l’avis d’attribution (tranche 2c) · regles-gestion.md § De la mise au point à l’avis d’attribution (tranche 2c) ; § l’acte d’engagement original (tranche R10) ; § La déclaration sans suite (tranche 2d-3) · regles-gestion.md § De la mise au point à l’avis d’attribution (tranche 2c) ; § trois bloquants de la loi (tranche R9a, 2026-10-14) · regles-gestion.md § les délais de la signature, des pièces, de l’avis d’attribution… (tranche R6c) ; demande-backend-2026-10-10-manuel-revise-lot2.md, B1 règle 8, encadré ✅ Front FR6</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430</a:t>
            </a:r>
            <a:endParaRPr lang="en-US" sz="1100" dirty="0"/>
          </a:p>
        </p:txBody>
      </p:sp>
    </p:spTree>
  </p:cSld>
  <p:clrMapOvr>
    <a:masterClrMapping/>
  </p:clrMapOvr>
</p:sld>
</file>

<file path=ppt/slides/slide431.xml><?xml version="1.0" encoding="utf-8"?>
<p:sld xmlns:a="http://schemas.openxmlformats.org/drawingml/2006/main" xmlns:r="http://schemas.openxmlformats.org/officeDocument/2006/relationships" xmlns:p="http://schemas.openxmlformats.org/presentationml/2006/main">
  <p:cSld name="Slide 43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09 ATTRIBUER ET NOTIFIER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Signer, approuver, enregistrer, notifier (2/2)</a:t>
            </a:r>
            <a:endParaRPr lang="en-US" sz="2600" dirty="0"/>
          </a:p>
        </p:txBody>
      </p:sp>
      <p:graphicFrame>
        <p:nvGraphicFramePr>
          <p:cNvPr id="432"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82296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RG-ATT-33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L’approbation du marché</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Après la signature, la PRMP déclare l’</a:t>
                      </a:r>
                      <a:r>
                        <a:rPr lang="en-US" sz="1100" b="1" dirty="0">
                          <a:solidFill>
                            <a:srgbClr val="1B2A3A"/>
                          </a:solidFill>
                          <a:latin typeface="Segoe UI" pitchFamily="34" charset="0"/>
                          <a:ea typeface="Segoe UI" pitchFamily="34" charset="-122"/>
                          <a:cs typeface="Segoe UI" pitchFamily="34" charset="-120"/>
                        </a:rPr>
                        <a:t>approbation</a:t>
                      </a:r>
                      <a:r>
                        <a:rPr lang="en-US" sz="1100" dirty="0">
                          <a:solidFill>
                            <a:srgbClr val="1B2A3A"/>
                          </a:solidFill>
                          <a:latin typeface="Segoe UI" pitchFamily="34" charset="0"/>
                          <a:ea typeface="Segoe UI" pitchFamily="34" charset="-122"/>
                          <a:cs typeface="Segoe UI" pitchFamily="34" charset="-120"/>
                        </a:rPr>
                        <a:t> du marché par l’autorité compétente (art. 54) : l’autorité, la date — comprise entre la signature et le jour même — et la décision jointe. L’approbation ne se déclare qu’une fois ; elle se lit ensuite « Approuvé le … » avec sa pièce. Sans elle, pas de notification.</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trois bloquants de la loi (manuel révisé, lot 2, tranche R9a, 2026-10-14) ; demande-backend-2026-10-10-manuel-revise-lot2.md, B4 n° 14, encadré ✅ Front</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431</a:t>
            </a:r>
            <a:endParaRPr lang="en-US" sz="1100" dirty="0"/>
          </a:p>
        </p:txBody>
      </p:sp>
    </p:spTree>
  </p:cSld>
  <p:clrMapOvr>
    <a:masterClrMapping/>
  </p:clrMapOvr>
</p:sld>
</file>

<file path=ppt/slides/slide432.xml><?xml version="1.0" encoding="utf-8"?>
<p:sld xmlns:a="http://schemas.openxmlformats.org/drawingml/2006/main" xmlns:r="http://schemas.openxmlformats.org/officeDocument/2006/relationships" xmlns:p="http://schemas.openxmlformats.org/presentationml/2006/main">
  <p:cSld name="Slide 43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09 ATTRIBUER ET NOTIFIER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L’infructuosité</a:t>
            </a:r>
            <a:endParaRPr lang="en-US" sz="2600" dirty="0"/>
          </a:p>
        </p:txBody>
      </p:sp>
      <p:graphicFrame>
        <p:nvGraphicFramePr>
          <p:cNvPr id="433"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RG-ATT-25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 lot proposé infructueux</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Quand aucune offre n’est qualifiée, le rapport propose le lot infructueux : il n’a pas de dossier de marché, et la décision revient à la PRMP.</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RG-ATT-26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Jamais après l’attribution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L’infructuosité ne peut en aucun cas intervenir après la décision d’attribution (art. 56-VI) : après un retrait du marché, elle n’est pas proposée.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De la proposition à l’attribution (2026-10-07) · regles-gestion.md § L’infructuosité, la reprise de l’évaluation (tranche 2d-1) ; § La réattribution (tranche 2d-2)</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432</a:t>
            </a:r>
            <a:endParaRPr lang="en-US" sz="1100" dirty="0"/>
          </a:p>
        </p:txBody>
      </p:sp>
    </p:spTree>
  </p:cSld>
  <p:clrMapOvr>
    <a:masterClrMapping/>
  </p:clrMapOvr>
</p:sld>
</file>

<file path=ppt/slides/slide433.xml><?xml version="1.0" encoding="utf-8"?>
<p:sld xmlns:a="http://schemas.openxmlformats.org/drawingml/2006/main" xmlns:r="http://schemas.openxmlformats.org/officeDocument/2006/relationships" xmlns:p="http://schemas.openxmlformats.org/presentationml/2006/main">
  <p:cSld name="Slide 43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09 ATTRIBUER ET NOTIFIER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actes de gestion</a:t>
            </a:r>
            <a:endParaRPr lang="en-US" sz="2600" dirty="0"/>
          </a:p>
        </p:txBody>
      </p:sp>
      <p:graphicFrame>
        <p:nvGraphicFramePr>
          <p:cNvPr id="434"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142748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RG-ATT-27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 acte se dépose depuis le marché</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Avenant, résiliation, indemnité, remise de pénalités, sursis : déposés depuis un dossier de marché dont le dernier PV signé est favorable ; jamais par la saisie libre. L’acte naît en brouillon au nom de la PRMP, puis suit le circuit (pièces de son sous-type, grille, motifs-types).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RG-ATT-28</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garde-fous de l’avenant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cumul des avenants déjà soumis (hors avis défavorable) et du nouveau ne dépasse pas le </a:t>
                      </a:r>
                      <a:r>
                        <a:rPr lang="en-US" sz="1100" b="1" dirty="0">
                          <a:solidFill>
                            <a:srgbClr val="1B2A3A"/>
                          </a:solidFill>
                          <a:latin typeface="Segoe UI" pitchFamily="34" charset="0"/>
                          <a:ea typeface="Segoe UI" pitchFamily="34" charset="-122"/>
                          <a:cs typeface="Segoe UI" pitchFamily="34" charset="-120"/>
                        </a:rPr>
                        <a:t>tiers</a:t>
                      </a:r>
                      <a:r>
                        <a:rPr lang="en-US" sz="1100" dirty="0">
                          <a:solidFill>
                            <a:srgbClr val="1B2A3A"/>
                          </a:solidFill>
                          <a:latin typeface="Segoe UI" pitchFamily="34" charset="0"/>
                          <a:ea typeface="Segoe UI" pitchFamily="34" charset="-122"/>
                          <a:cs typeface="Segoe UI" pitchFamily="34" charset="-120"/>
                        </a:rPr>
                        <a:t> du montant initial hors taxes ; pas d’avenant après la réception (définitive en travaux, provisoire ou définitive ailleurs) ni après le solde. Contrôlé au dépôt, à la modification et de nouveau à la soumission.</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Manuel de contrôle a priori (CNM, février 2026) ; demande du 08/10, tranche M5a</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433</a:t>
            </a:r>
            <a:endParaRPr lang="en-US" sz="1100" dirty="0"/>
          </a:p>
        </p:txBody>
      </p:sp>
    </p:spTree>
  </p:cSld>
  <p:clrMapOvr>
    <a:masterClrMapping/>
  </p:clrMapOvr>
</p:sld>
</file>

<file path=ppt/slides/slide434.xml><?xml version="1.0" encoding="utf-8"?>
<p:sld xmlns:a="http://schemas.openxmlformats.org/drawingml/2006/main" xmlns:r="http://schemas.openxmlformats.org/officeDocument/2006/relationships" xmlns:p="http://schemas.openxmlformats.org/presentationml/2006/main">
  <p:cSld name="Slide 43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09 ATTRIBUER ET NOTIFIER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Après le rapport</a:t>
            </a:r>
            <a:endParaRPr lang="en-US" sz="2600" dirty="0"/>
          </a:p>
        </p:txBody>
      </p:sp>
      <p:graphicFrame>
        <p:nvGraphicFramePr>
          <p:cNvPr id="435"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236728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RG-ATT-29</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L’infructuosité déclarée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PRMP la déclare (motif, référence et date de sa décision, suite envisagée) quand le rapport la propose ou que la Commission rend un avis défavorable sur le dossier de marché ; jamais une fois le lot attribué (art. 56-VI). Les candidats du lot sont avertis, la page publique l’affiche.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RG-ATT-30</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Reprendre l’évaluation, réattribuer</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Après un avis défavorable, la PRMP peut reprendre l’évaluation (motif) : le rapport signé est archivé, l’évaluation rouverte, un nouveau rapport et un nouveau dossier suivront. La reprise est refusée quand un autre lot est déjà attribué, ou que le dossier de marché d’un autre lot est soumis. Après le retrait du marché, la PRMP réattribue au candidat suivant (offre encore valide, nouvelle post-qualification, nouvelle information, nouveau délai) ; sans suivant éligible, seul le sans suite reste.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RG-ATT-31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 déclaration sans suite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Avant la signature d’un marché, la PRMP demande, motifs à l’appui : un dossier « Déclaration sans suite » suit le circuit et la Commission rend un avis favorable ou défavorable sous cinq jours de la réception. Sans avis à l’échéance, une </a:t>
                      </a:r>
                      <a:r>
                        <a:rPr lang="en-US" sz="1100" b="1" dirty="0">
                          <a:solidFill>
                            <a:srgbClr val="1B2A3A"/>
                          </a:solidFill>
                          <a:latin typeface="Segoe UI" pitchFamily="34" charset="0"/>
                          <a:ea typeface="Segoe UI" pitchFamily="34" charset="-122"/>
                          <a:cs typeface="Segoe UI" pitchFamily="34" charset="-120"/>
                        </a:rPr>
                        <a:t>relance</a:t>
                      </a:r>
                      <a:r>
                        <a:rPr lang="en-US" sz="1100" dirty="0">
                          <a:solidFill>
                            <a:srgbClr val="1B2A3A"/>
                          </a:solidFill>
                          <a:latin typeface="Segoe UI" pitchFamily="34" charset="0"/>
                          <a:ea typeface="Segoe UI" pitchFamily="34" charset="-122"/>
                          <a:cs typeface="Segoe UI" pitchFamily="34" charset="-120"/>
                        </a:rPr>
                        <a:t> part une fois à la PRMP, au membre examinateur et aux Présidents de la localité ; la signature reste suspendue jusqu’à l’avis exprès. Favorable, la PRMP déclare : procédure close, candidats informés, sans indemnité (art. 55).</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L’infructuosité, la reprise de l’évaluation, les alertes (tranche 2d-1) · regles-gestion.md § L’infructuosité, la reprise (tranche 2d-1) ; § La réattribution (tranche 2d-2) ; demande-backend-2026-10-10-manuel-revise-lot2.md, réponse backend « procédure allotie » (14/10) · regles-gestion.md § La déclaration sans suite (tranche 2d-3) ; § les délais… du sans suite (tranche R6c)</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434</a:t>
            </a:r>
            <a:endParaRPr lang="en-US" sz="1100" dirty="0"/>
          </a:p>
        </p:txBody>
      </p:sp>
    </p:spTree>
  </p:cSld>
  <p:clrMapOvr>
    <a:masterClrMapping/>
  </p:clrMapOvr>
</p:sld>
</file>

<file path=ppt/slides/slide435.xml><?xml version="1.0" encoding="utf-8"?>
<p:sld xmlns:a="http://schemas.openxmlformats.org/drawingml/2006/main" xmlns:r="http://schemas.openxmlformats.org/officeDocument/2006/relationships" xmlns:p="http://schemas.openxmlformats.org/presentationml/2006/main">
  <p:cSld name="Slide 43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09 ATTRIBUER ET NOTIFIER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prestations intellectuelles</a:t>
            </a:r>
            <a:endParaRPr lang="en-US" sz="2600" dirty="0"/>
          </a:p>
        </p:txBody>
      </p:sp>
      <p:graphicFrame>
        <p:nvGraphicFramePr>
          <p:cNvPr id="436"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65532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RG-ATT-32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dossier de marché MPI</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dossier de marché d’une fiche de prestations intellectuelles se crée au sous-type MPI ; le devis joint d’office est le bordereau de l’enveloppe financière ; un lot proposé infructueux n’a pas de dossier.</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Lot 3 PI : demande evaluation-pi du 07/10, tranche PI-d2b</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435</a:t>
            </a:r>
            <a:endParaRPr lang="en-US" sz="1100" dirty="0"/>
          </a:p>
        </p:txBody>
      </p:sp>
    </p:spTree>
  </p:cSld>
  <p:clrMapOvr>
    <a:masterClrMapping/>
  </p:clrMapOvr>
</p:sld>
</file>

<file path=ppt/slides/slide436.xml><?xml version="1.0" encoding="utf-8"?>
<p:sld xmlns:a="http://schemas.openxmlformats.org/drawingml/2006/main" xmlns:r="http://schemas.openxmlformats.org/officeDocument/2006/relationships" xmlns:p="http://schemas.openxmlformats.org/presentationml/2006/main">
  <p:cSld name="Slide 43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09 ATTRIBUER ET NOTIFIER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délais légaux</a:t>
            </a:r>
            <a:endParaRPr lang="en-US" sz="2600" dirty="0"/>
          </a:p>
        </p:txBody>
      </p:sp>
      <p:graphicFrame>
        <p:nvGraphicFramePr>
          <p:cNvPr id="437"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906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RG-ATT-36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plan réputé approuvé</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 plan de passation soumis à la Commission qui n’a pas de PV signé dix jours ouvrables après sa soumission est </a:t>
                      </a:r>
                      <a:r>
                        <a:rPr lang="en-US" sz="1100" b="1" dirty="0">
                          <a:solidFill>
                            <a:srgbClr val="1B2A3A"/>
                          </a:solidFill>
                          <a:latin typeface="Segoe UI" pitchFamily="34" charset="0"/>
                          <a:ea typeface="Segoe UI" pitchFamily="34" charset="-122"/>
                          <a:cs typeface="Segoe UI" pitchFamily="34" charset="-120"/>
                        </a:rPr>
                        <a:t>réputé approuvé</a:t>
                      </a:r>
                      <a:r>
                        <a:rPr lang="en-US" sz="1100" dirty="0">
                          <a:solidFill>
                            <a:srgbClr val="1B2A3A"/>
                          </a:solidFill>
                          <a:latin typeface="Segoe UI" pitchFamily="34" charset="0"/>
                          <a:ea typeface="Segoe UI" pitchFamily="34" charset="-122"/>
                          <a:cs typeface="Segoe UI" pitchFamily="34" charset="-120"/>
                        </a:rPr>
                        <a:t> (art. 26-IV). L’application le constate, le date, l’inscrit au journal et avertit la PRMP et les Présidents de la localité ; ses lignes peuvent alors recevoir un dossier de mise en concurrence. L’examen continue : un avis rendu après coup vaut observation. Un badge « Réputé approuvé » s’affiche à côté du statut du dossier.</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le plan réputé approuvé (manuel révisé, lot 2, tranche R6b, 2026-10-13) ; demande-backend-2026-10-10-manuel-revise-lot2.md, B1 règle 5, encadré ✅ Front FR6</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436</a:t>
            </a:r>
            <a:endParaRPr lang="en-US" sz="1100" dirty="0"/>
          </a:p>
        </p:txBody>
      </p:sp>
    </p:spTree>
  </p:cSld>
  <p:clrMapOvr>
    <a:masterClrMapping/>
  </p:clrMapOvr>
</p:sld>
</file>

<file path=ppt/slides/slide437.xml><?xml version="1.0" encoding="utf-8"?>
<p:sld xmlns:a="http://schemas.openxmlformats.org/drawingml/2006/main" xmlns:r="http://schemas.openxmlformats.org/officeDocument/2006/relationships" xmlns:p="http://schemas.openxmlformats.org/presentationml/2006/main">
  <p:cSld name="Slide 43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10 INTÉRIM ET MANDATS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L’intérim désigné (1/2)</a:t>
            </a:r>
            <a:endParaRPr lang="en-US" sz="2600" dirty="0"/>
          </a:p>
        </p:txBody>
      </p:sp>
      <p:graphicFrame>
        <p:nvGraphicFramePr>
          <p:cNvPr id="438"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257048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RG-INT-01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 acte daté, avec pièce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titulaire absent désigne son intérimaire pour une période, sur note de service ou décision jointe en PDF. Un intérim ne se modifie ni ne s’efface : une prolongation est un </a:t>
                      </a:r>
                      <a:r>
                        <a:rPr lang="en-US" sz="1100" b="1" dirty="0">
                          <a:solidFill>
                            <a:srgbClr val="1B2A3A"/>
                          </a:solidFill>
                          <a:latin typeface="Segoe UI" pitchFamily="34" charset="0"/>
                          <a:ea typeface="Segoe UI" pitchFamily="34" charset="-122"/>
                          <a:cs typeface="Segoe UI" pitchFamily="34" charset="-120"/>
                        </a:rPr>
                        <a:t>nouvel intérim</a:t>
                      </a:r>
                      <a:r>
                        <a:rPr lang="en-US" sz="1100" dirty="0">
                          <a:solidFill>
                            <a:srgbClr val="1B2A3A"/>
                          </a:solidFill>
                          <a:latin typeface="Segoe UI" pitchFamily="34" charset="0"/>
                          <a:ea typeface="Segoe UI" pitchFamily="34" charset="-122"/>
                          <a:cs typeface="Segoe UI" pitchFamily="34" charset="-120"/>
                        </a:rPr>
                        <a:t>, une fin avant terme une révocation.</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RG-INT-02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Qui peut suppléer qui</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Président est suppléé par un Chef de commission de n’importe quelle localité ; un Chef de commission de la Centrale, par un autre Chef de commission de la Centrale ou un Membre de sa localité ; un Chef de commission régional, par un </a:t>
                      </a:r>
                      <a:r>
                        <a:rPr lang="en-US" sz="1100" b="1" dirty="0">
                          <a:solidFill>
                            <a:srgbClr val="1B2A3A"/>
                          </a:solidFill>
                          <a:latin typeface="Segoe UI" pitchFamily="34" charset="0"/>
                          <a:ea typeface="Segoe UI" pitchFamily="34" charset="-122"/>
                          <a:cs typeface="Segoe UI" pitchFamily="34" charset="-120"/>
                        </a:rPr>
                        <a:t>Membre de sa localité</a:t>
                      </a:r>
                      <a:r>
                        <a:rPr lang="en-US" sz="1100" dirty="0">
                          <a:solidFill>
                            <a:srgbClr val="1B2A3A"/>
                          </a:solidFill>
                          <a:latin typeface="Segoe UI" pitchFamily="34" charset="0"/>
                          <a:ea typeface="Segoe UI" pitchFamily="34" charset="-122"/>
                          <a:cs typeface="Segoe UI" pitchFamily="34" charset="-120"/>
                        </a:rPr>
                        <a:t>. La liste de l’écran ne propose que ces personnes.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RG-INT-03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Chacun déclare sa propre absence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Président et le Chef de commission déclarent eux-mêmes leur absence ; l’Administrateur désigne et révoque </a:t>
                      </a:r>
                      <a:r>
                        <a:rPr lang="en-US" sz="1100" b="1" dirty="0">
                          <a:solidFill>
                            <a:srgbClr val="1B2A3A"/>
                          </a:solidFill>
                          <a:latin typeface="Segoe UI" pitchFamily="34" charset="0"/>
                          <a:ea typeface="Segoe UI" pitchFamily="34" charset="-122"/>
                          <a:cs typeface="Segoe UI" pitchFamily="34" charset="-120"/>
                        </a:rPr>
                        <a:t>en repli</a:t>
                      </a:r>
                      <a:r>
                        <a:rPr lang="en-US" sz="1100" dirty="0">
                          <a:solidFill>
                            <a:srgbClr val="1B2A3A"/>
                          </a:solidFill>
                          <a:latin typeface="Segoe UI" pitchFamily="34" charset="0"/>
                          <a:ea typeface="Segoe UI" pitchFamily="34" charset="-122"/>
                          <a:cs typeface="Segoe UI" pitchFamily="34" charset="-120"/>
                        </a:rPr>
                        <a:t>. Les autres profils ne déclarent pas d’absence : la réattribution et la délégation les couvrent.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RG-INT-04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 seul intérim à la fois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 titulaire n’a qu’un intérim actif ou à venir à une date donnée : tout chevauchement est refusé. Le cumul du côté de l’intérimaire est </a:t>
                      </a:r>
                      <a:r>
                        <a:rPr lang="en-US" sz="1100" b="1" dirty="0">
                          <a:solidFill>
                            <a:srgbClr val="1B2A3A"/>
                          </a:solidFill>
                          <a:latin typeface="Segoe UI" pitchFamily="34" charset="0"/>
                          <a:ea typeface="Segoe UI" pitchFamily="34" charset="-122"/>
                          <a:cs typeface="Segoe UI" pitchFamily="34" charset="-120"/>
                        </a:rPr>
                        <a:t>signalé</a:t>
                      </a:r>
                      <a:r>
                        <a:rPr lang="en-US" sz="1100" dirty="0">
                          <a:solidFill>
                            <a:srgbClr val="1B2A3A"/>
                          </a:solidFill>
                          <a:latin typeface="Segoe UI" pitchFamily="34" charset="0"/>
                          <a:ea typeface="Segoe UI" pitchFamily="34" charset="-122"/>
                          <a:cs typeface="Segoe UI" pitchFamily="34" charset="-120"/>
                        </a:rPr>
                        <a:t>, jamais interdit.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RG-INT-05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Statut déduit des dates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statut se déduit des dates : à venir, actif, achevé ou révoqué. Seul l’intérim </a:t>
                      </a:r>
                      <a:r>
                        <a:rPr lang="en-US" sz="1100" b="1" dirty="0">
                          <a:solidFill>
                            <a:srgbClr val="1B2A3A"/>
                          </a:solidFill>
                          <a:latin typeface="Segoe UI" pitchFamily="34" charset="0"/>
                          <a:ea typeface="Segoe UI" pitchFamily="34" charset="-122"/>
                          <a:cs typeface="Segoe UI" pitchFamily="34" charset="-120"/>
                        </a:rPr>
                        <a:t>actif</a:t>
                      </a:r>
                      <a:r>
                        <a:rPr lang="en-US" sz="1100" dirty="0">
                          <a:solidFill>
                            <a:srgbClr val="1B2A3A"/>
                          </a:solidFill>
                          <a:latin typeface="Segoe UI" pitchFamily="34" charset="0"/>
                          <a:ea typeface="Segoe UI" pitchFamily="34" charset="-122"/>
                          <a:cs typeface="Segoe UI" pitchFamily="34" charset="-120"/>
                        </a:rPr>
                        <a:t> ouvre des droits, et il n’est pas transitif : l’intérimaire du Président ne désigne jamais d’intérimaire pour le Président.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L’intérim DÉSIGNÉ dans le circuit de contrôle — lot 1 (2026-09-21)</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437</a:t>
            </a:r>
            <a:endParaRPr lang="en-US" sz="1100" dirty="0"/>
          </a:p>
        </p:txBody>
      </p:sp>
    </p:spTree>
  </p:cSld>
  <p:clrMapOvr>
    <a:masterClrMapping/>
  </p:clrMapOvr>
</p:sld>
</file>

<file path=ppt/slides/slide438.xml><?xml version="1.0" encoding="utf-8"?>
<p:sld xmlns:a="http://schemas.openxmlformats.org/drawingml/2006/main" xmlns:r="http://schemas.openxmlformats.org/officeDocument/2006/relationships" xmlns:p="http://schemas.openxmlformats.org/presentationml/2006/main">
  <p:cSld name="Slide 43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10 INTÉRIM ET MANDATS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L’intérim désigné (2/2)</a:t>
            </a:r>
            <a:endParaRPr lang="en-US" sz="2600" dirty="0"/>
          </a:p>
        </p:txBody>
      </p:sp>
      <p:graphicFrame>
        <p:nvGraphicFramePr>
          <p:cNvPr id="439"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65532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RG-INT-06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Révocation sans effet rétroactif</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titulaire, l’auteur de la désignation ou l’Administrateur révoque l’intérim, au plus tôt à la date du jour. Les droits tombent aussitôt ; les actes déjà posés </a:t>
                      </a:r>
                      <a:r>
                        <a:rPr lang="en-US" sz="1100" b="1" dirty="0">
                          <a:solidFill>
                            <a:srgbClr val="1B2A3A"/>
                          </a:solidFill>
                          <a:latin typeface="Segoe UI" pitchFamily="34" charset="0"/>
                          <a:ea typeface="Segoe UI" pitchFamily="34" charset="-122"/>
                          <a:cs typeface="Segoe UI" pitchFamily="34" charset="-120"/>
                        </a:rPr>
                        <a:t>restent</a:t>
                      </a:r>
                      <a:r>
                        <a:rPr lang="en-US" sz="1100" dirty="0">
                          <a:solidFill>
                            <a:srgbClr val="1B2A3A"/>
                          </a:solidFill>
                          <a:latin typeface="Segoe UI" pitchFamily="34" charset="0"/>
                          <a:ea typeface="Segoe UI" pitchFamily="34" charset="-122"/>
                          <a:cs typeface="Segoe UI" pitchFamily="34" charset="-120"/>
                        </a:rPr>
                        <a:t> ceux de l’intérimaire.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L’intérim DÉSIGNÉ dans le circuit de contrôle — lot 1 (2026-09-21)</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438</a:t>
            </a:r>
            <a:endParaRPr lang="en-US" sz="1100" dirty="0"/>
          </a:p>
        </p:txBody>
      </p:sp>
    </p:spTree>
  </p:cSld>
  <p:clrMapOvr>
    <a:masterClrMapping/>
  </p:clrMapOvr>
</p:sld>
</file>

<file path=ppt/slides/slide439.xml><?xml version="1.0" encoding="utf-8"?>
<p:sld xmlns:a="http://schemas.openxmlformats.org/drawingml/2006/main" xmlns:r="http://schemas.openxmlformats.org/officeDocument/2006/relationships" xmlns:p="http://schemas.openxmlformats.org/presentationml/2006/main">
  <p:cSld name="Slide 43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10 INTÉRIM ET MANDATS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Effets de l’intérim</a:t>
            </a:r>
            <a:endParaRPr lang="en-US" sz="2600" dirty="0"/>
          </a:p>
        </p:txBody>
      </p:sp>
      <p:graphicFrame>
        <p:nvGraphicFramePr>
          <p:cNvPr id="440"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196596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RG-INT-07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Agir dans le périmètre du titulaire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L’intérimaire agit dans le périmètre du titulaire, sous sa propre identité : dispatch, visa, retour, réattribution, retraits, part de signature. L’examen, la part du Membre et les lettres de renvoi restent </a:t>
                      </a:r>
                      <a:r>
                        <a:rPr lang="en-US" sz="1100" b="1" dirty="0">
                          <a:solidFill>
                            <a:srgbClr val="1B2A3A"/>
                          </a:solidFill>
                          <a:latin typeface="Segoe UI" pitchFamily="34" charset="0"/>
                          <a:ea typeface="Segoe UI" pitchFamily="34" charset="-122"/>
                          <a:cs typeface="Segoe UI" pitchFamily="34" charset="-120"/>
                        </a:rPr>
                        <a:t>hors de l’intérim</a:t>
                      </a:r>
                      <a:r>
                        <a:rPr lang="en-US" sz="1100" dirty="0">
                          <a:solidFill>
                            <a:srgbClr val="1B2A3A"/>
                          </a:solidFill>
                          <a:latin typeface="Segoe UI" pitchFamily="34" charset="0"/>
                          <a:ea typeface="Segoe UI" pitchFamily="34" charset="-122"/>
                          <a:cs typeface="Segoe UI" pitchFamily="34" charset="-120"/>
                        </a:rPr>
                        <a: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RG-INT-08</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dispatch reste au nom du titulaire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 dispatch posé par intérim est enregistré au nom du titulaire, l’auteur réel restant tracé. À son retour, le titulaire </a:t>
                      </a:r>
                      <a:r>
                        <a:rPr lang="en-US" sz="1100" b="1" dirty="0">
                          <a:solidFill>
                            <a:srgbClr val="1B2A3A"/>
                          </a:solidFill>
                          <a:latin typeface="Segoe UI" pitchFamily="34" charset="0"/>
                          <a:ea typeface="Segoe UI" pitchFamily="34" charset="-122"/>
                          <a:cs typeface="Segoe UI" pitchFamily="34" charset="-120"/>
                        </a:rPr>
                        <a:t>vise</a:t>
                      </a:r>
                      <a:r>
                        <a:rPr lang="en-US" sz="1100" dirty="0">
                          <a:solidFill>
                            <a:srgbClr val="1B2A3A"/>
                          </a:solidFill>
                          <a:latin typeface="Segoe UI" pitchFamily="34" charset="0"/>
                          <a:ea typeface="Segoe UI" pitchFamily="34" charset="-122"/>
                          <a:cs typeface="Segoe UI" pitchFamily="34" charset="-120"/>
                        </a:rPr>
                        <a:t> donc le procès-verbal que son intérimaire a dispatché.</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RG-INT-09</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Visa sans note, une part par personne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L’intérimaire désigné vise sans note supplémentaire : la désignation suffit. Il ne vise pas le procès-verbal de son propre examen et ne signe </a:t>
                      </a:r>
                      <a:r>
                        <a:rPr lang="en-US" sz="1100" b="1" dirty="0">
                          <a:solidFill>
                            <a:srgbClr val="1B2A3A"/>
                          </a:solidFill>
                          <a:latin typeface="Segoe UI" pitchFamily="34" charset="0"/>
                          <a:ea typeface="Segoe UI" pitchFamily="34" charset="-122"/>
                          <a:cs typeface="Segoe UI" pitchFamily="34" charset="-120"/>
                        </a:rPr>
                        <a:t>jamais deux parts</a:t>
                      </a:r>
                      <a:r>
                        <a:rPr lang="en-US" sz="1100" dirty="0">
                          <a:solidFill>
                            <a:srgbClr val="1B2A3A"/>
                          </a:solidFill>
                          <a:latin typeface="Segoe UI" pitchFamily="34" charset="0"/>
                          <a:ea typeface="Segoe UI" pitchFamily="34" charset="-122"/>
                          <a:cs typeface="Segoe UI" pitchFamily="34" charset="-120"/>
                        </a:rPr>
                        <a:t> d’un même procès-verbal.</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RG-INT-10</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Notifications copiées, jamais détournées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Toute notification adressée au titulaire est </a:t>
                      </a:r>
                      <a:r>
                        <a:rPr lang="en-US" sz="1100" b="1" dirty="0">
                          <a:solidFill>
                            <a:srgbClr val="1B2A3A"/>
                          </a:solidFill>
                          <a:latin typeface="Segoe UI" pitchFamily="34" charset="0"/>
                          <a:ea typeface="Segoe UI" pitchFamily="34" charset="-122"/>
                          <a:cs typeface="Segoe UI" pitchFamily="34" charset="-120"/>
                        </a:rPr>
                        <a:t>copiée</a:t>
                      </a:r>
                      <a:r>
                        <a:rPr lang="en-US" sz="1100" dirty="0">
                          <a:solidFill>
                            <a:srgbClr val="1B2A3A"/>
                          </a:solidFill>
                          <a:latin typeface="Segoe UI" pitchFamily="34" charset="0"/>
                          <a:ea typeface="Segoe UI" pitchFamily="34" charset="-122"/>
                          <a:cs typeface="Segoe UI" pitchFamily="34" charset="-120"/>
                        </a:rPr>
                        <a:t> à son intérimaire actif ; le titulaire garde ses tâches et son historique. Le journal et le chronométrage portent la mention « par intérim de ».</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L’intérim DÉSIGNÉ dans le circuit de contrôle — lot 1 (2026-09-21)</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439</a:t>
            </a:r>
            <a:endParaRPr lang="en-US" sz="1100" dirty="0"/>
          </a:p>
        </p:txBody>
      </p:sp>
    </p:spTree>
  </p:cSld>
  <p:clrMapOvr>
    <a:masterClrMapping/>
  </p:clrMapOvr>
</p:sld>
</file>

<file path=ppt/slides/slide440.xml><?xml version="1.0" encoding="utf-8"?>
<p:sld xmlns:a="http://schemas.openxmlformats.org/drawingml/2006/main" xmlns:r="http://schemas.openxmlformats.org/officeDocument/2006/relationships" xmlns:p="http://schemas.openxmlformats.org/presentationml/2006/main">
  <p:cSld name="Slide 44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10 INTÉRIM ET MANDATS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Mandats PRMP</a:t>
            </a:r>
            <a:endParaRPr lang="en-US" sz="2600" dirty="0"/>
          </a:p>
        </p:txBody>
      </p:sp>
      <p:graphicFrame>
        <p:nvGraphicFramePr>
          <p:cNvPr id="441"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RG-INT-11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Mandat déclaré par l’Administrateur</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mandat d’une PRMP matérialise son arrêté de nomination : seul l’Administrateur le déclare. Il dure </a:t>
                      </a:r>
                      <a:r>
                        <a:rPr lang="en-US" sz="1100" b="1" dirty="0">
                          <a:solidFill>
                            <a:srgbClr val="1B2A3A"/>
                          </a:solidFill>
                          <a:latin typeface="Segoe UI" pitchFamily="34" charset="0"/>
                          <a:ea typeface="Segoe UI" pitchFamily="34" charset="-122"/>
                          <a:cs typeface="Segoe UI" pitchFamily="34" charset="-120"/>
                        </a:rPr>
                        <a:t>trois ans</a:t>
                      </a:r>
                      <a:r>
                        <a:rPr lang="en-US" sz="1100" dirty="0">
                          <a:solidFill>
                            <a:srgbClr val="1B2A3A"/>
                          </a:solidFill>
                          <a:latin typeface="Segoe UI" pitchFamily="34" charset="0"/>
                          <a:ea typeface="Segoe UI" pitchFamily="34" charset="-122"/>
                          <a:cs typeface="Segoe UI" pitchFamily="34" charset="-120"/>
                        </a:rPr>
                        <a:t> à partir de la date de l’arrêté ; sa fin ne peut dépasser cette borne.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RG-INT-12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Reconduction unique, jamais prolongation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Une reconduction est un nouveau mandat, avec un </a:t>
                      </a:r>
                      <a:r>
                        <a:rPr lang="en-US" sz="1100" b="1" dirty="0">
                          <a:solidFill>
                            <a:srgbClr val="1B2A3A"/>
                          </a:solidFill>
                          <a:latin typeface="Segoe UI" pitchFamily="34" charset="0"/>
                          <a:ea typeface="Segoe UI" pitchFamily="34" charset="-122"/>
                          <a:cs typeface="Segoe UI" pitchFamily="34" charset="-120"/>
                        </a:rPr>
                        <a:t>nouvel arrêté</a:t>
                      </a:r>
                      <a:r>
                        <a:rPr lang="en-US" sz="1100" dirty="0">
                          <a:solidFill>
                            <a:srgbClr val="1B2A3A"/>
                          </a:solidFill>
                          <a:latin typeface="Segoe UI" pitchFamily="34" charset="0"/>
                          <a:ea typeface="Segoe UI" pitchFamily="34" charset="-122"/>
                          <a:cs typeface="Segoe UI" pitchFamily="34" charset="-120"/>
                        </a:rPr>
                        <a:t> et des dates qui succèdent au précédent. Une même personne porte au plus deux mandats ; aucun mandat ne s’allonge.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RG-INT-13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Statut du mandat déduit des dates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 mandat est en transition avant la prise de fonction, actif pendant, achevé après. L’</a:t>
                      </a:r>
                      <a:r>
                        <a:rPr lang="en-US" sz="1100" b="1" dirty="0">
                          <a:solidFill>
                            <a:srgbClr val="1B2A3A"/>
                          </a:solidFill>
                          <a:latin typeface="Segoe UI" pitchFamily="34" charset="0"/>
                          <a:ea typeface="Segoe UI" pitchFamily="34" charset="-122"/>
                          <a:cs typeface="Segoe UI" pitchFamily="34" charset="-120"/>
                        </a:rPr>
                        <a:t>abrogation</a:t>
                      </a:r>
                      <a:r>
                        <a:rPr lang="en-US" sz="1100" dirty="0">
                          <a:solidFill>
                            <a:srgbClr val="1B2A3A"/>
                          </a:solidFill>
                          <a:latin typeface="Segoe UI" pitchFamily="34" charset="0"/>
                          <a:ea typeface="Segoe UI" pitchFamily="34" charset="-122"/>
                          <a:cs typeface="Segoe UI" pitchFamily="34" charset="-120"/>
                        </a:rPr>
                        <a:t>, fin avant terme par un acte explicite, prime sur les dates.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RG-INT-16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mandat implicite des PRMP existantes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Une PRMP sans mandat déclaré reçoit un mandat </a:t>
                      </a:r>
                      <a:r>
                        <a:rPr lang="en-US" sz="1100" b="1" dirty="0">
                          <a:solidFill>
                            <a:srgbClr val="1B2A3A"/>
                          </a:solidFill>
                          <a:latin typeface="Segoe UI" pitchFamily="34" charset="0"/>
                          <a:ea typeface="Segoe UI" pitchFamily="34" charset="-122"/>
                          <a:cs typeface="Segoe UI" pitchFamily="34" charset="-120"/>
                        </a:rPr>
                        <a:t>implicite</a:t>
                      </a:r>
                      <a:r>
                        <a:rPr lang="en-US" sz="1100" dirty="0">
                          <a:solidFill>
                            <a:srgbClr val="1B2A3A"/>
                          </a:solidFill>
                          <a:latin typeface="Segoe UI" pitchFamily="34" charset="0"/>
                          <a:ea typeface="Segoe UI" pitchFamily="34" charset="-122"/>
                          <a:cs typeface="Segoe UI" pitchFamily="34" charset="-120"/>
                        </a:rPr>
                        <a:t>, reconstitué depuis sa fiche : la date et l’arrêté de nomination, plus trois ans. La règle des trois ans s’applique ainsi sans reprise de données ; l’écran invite à déclarer le mandat initial.</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3.1. PRMP › Mandats de la PRMP · regles-gestion.md § 3.1. PRMP › Mandats de la PRMP (reprise de l’existant)</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440</a:t>
            </a:r>
            <a:endParaRPr lang="en-US" sz="1100" dirty="0"/>
          </a:p>
        </p:txBody>
      </p:sp>
    </p:spTree>
  </p:cSld>
  <p:clrMapOvr>
    <a:masterClrMapping/>
  </p:clrMapOvr>
</p:sld>
</file>

<file path=ppt/slides/slide441.xml><?xml version="1.0" encoding="utf-8"?>
<p:sld xmlns:a="http://schemas.openxmlformats.org/drawingml/2006/main" xmlns:r="http://schemas.openxmlformats.org/officeDocument/2006/relationships" xmlns:p="http://schemas.openxmlformats.org/presentationml/2006/main">
  <p:cSld name="Slide 44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10 INTÉRIM ET MANDATS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Vacance et reprise</a:t>
            </a:r>
            <a:endParaRPr lang="en-US" sz="2600" dirty="0"/>
          </a:p>
        </p:txBody>
      </p:sp>
      <p:graphicFrame>
        <p:nvGraphicFramePr>
          <p:cNvPr id="442"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169672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RG-INT-14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Vacance : traitement suspendu</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Sans mandat actif à la date de l’action, tout geste de la PRMP ou de son UGPM est refusé : le dossier </a:t>
                      </a:r>
                      <a:r>
                        <a:rPr lang="en-US" sz="1100" b="1" dirty="0">
                          <a:solidFill>
                            <a:srgbClr val="1B2A3A"/>
                          </a:solidFill>
                          <a:latin typeface="Segoe UI" pitchFamily="34" charset="0"/>
                          <a:ea typeface="Segoe UI" pitchFamily="34" charset="-122"/>
                          <a:cs typeface="Segoe UI" pitchFamily="34" charset="-120"/>
                        </a:rPr>
                        <a:t>attend</a:t>
                      </a:r>
                      <a:r>
                        <a:rPr lang="en-US" sz="1100" dirty="0">
                          <a:solidFill>
                            <a:srgbClr val="1B2A3A"/>
                          </a:solidFill>
                          <a:latin typeface="Segoe UI" pitchFamily="34" charset="0"/>
                          <a:ea typeface="Segoe UI" pitchFamily="34" charset="-122"/>
                          <a:cs typeface="Segoe UI" pitchFamily="34" charset="-120"/>
                        </a:rPr>
                        <a:t> la nomination, sans obligation d’intérim. Le circuit de la Commission n’est jamais suspendu.</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RG-INT-15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Reprise par le nouveau titulaire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À l’échéance du mandat, le compte de la PRMP se ferme ; dès qu’un nouveau mandat est actif, le blocage tombe de lui-même et le compte de la PRMP reconduite est </a:t>
                      </a:r>
                      <a:r>
                        <a:rPr lang="en-US" sz="1100" b="1" dirty="0">
                          <a:solidFill>
                            <a:srgbClr val="1B2A3A"/>
                          </a:solidFill>
                          <a:latin typeface="Segoe UI" pitchFamily="34" charset="0"/>
                          <a:ea typeface="Segoe UI" pitchFamily="34" charset="-122"/>
                          <a:cs typeface="Segoe UI" pitchFamily="34" charset="-120"/>
                        </a:rPr>
                        <a:t>réactivé</a:t>
                      </a:r>
                      <a:r>
                        <a:rPr lang="en-US" sz="1100" dirty="0">
                          <a:solidFill>
                            <a:srgbClr val="1B2A3A"/>
                          </a:solidFill>
                          <a:latin typeface="Segoe UI" pitchFamily="34" charset="0"/>
                          <a:ea typeface="Segoe UI" pitchFamily="34" charset="-122"/>
                          <a:cs typeface="Segoe UI" pitchFamily="34" charset="-120"/>
                        </a:rPr>
                        <a:t>. Le nouveau titulaire reprend le traitement ; l’attribution des dossiers ne change pas.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RG-INT-17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échéances annoncées à l’avance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poste d’administration signale les mandats de PRMP non abrogés qui arrivent à terme dans les </a:t>
                      </a:r>
                      <a:r>
                        <a:rPr lang="en-US" sz="1100" b="1" dirty="0">
                          <a:solidFill>
                            <a:srgbClr val="1B2A3A"/>
                          </a:solidFill>
                          <a:latin typeface="Segoe UI" pitchFamily="34" charset="0"/>
                          <a:ea typeface="Segoe UI" pitchFamily="34" charset="-122"/>
                          <a:cs typeface="Segoe UI" pitchFamily="34" charset="-120"/>
                        </a:rPr>
                        <a:t>trente jours</a:t>
                      </a:r>
                      <a:r>
                        <a:rPr lang="en-US" sz="1100" dirty="0">
                          <a:solidFill>
                            <a:srgbClr val="1B2A3A"/>
                          </a:solidFill>
                          <a:latin typeface="Segoe UI" pitchFamily="34" charset="0"/>
                          <a:ea typeface="Segoe UI" pitchFamily="34" charset="-122"/>
                          <a:cs typeface="Segoe UI" pitchFamily="34" charset="-120"/>
                        </a:rPr>
                        <a:t>, pour que la reconduction ou la nouvelle nomination soit préparée avant la vacance.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3.1. PRMP › Standby de transition — vacance de PRMP · regles-gestion.md § 3.1. PRMP › Mandats de la PRMP (réactivation automatique du compte à la reconduction) · api-endpoints.md § KPIs / Tableau de bord (compteurs de l’Administrateur)</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441</a:t>
            </a:r>
            <a:endParaRPr lang="en-US" sz="1100" dirty="0"/>
          </a:p>
        </p:txBody>
      </p:sp>
    </p:spTree>
  </p:cSld>
  <p:clrMapOvr>
    <a:masterClrMapping/>
  </p:clrMapOvr>
</p:sld>
</file>

<file path=ppt/slides/slide442.xml><?xml version="1.0" encoding="utf-8"?>
<p:sld xmlns:a="http://schemas.openxmlformats.org/drawingml/2006/main" xmlns:r="http://schemas.openxmlformats.org/officeDocument/2006/relationships" xmlns:p="http://schemas.openxmlformats.org/presentationml/2006/main">
  <p:cSld name="Slide 44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11 ADMINISTRER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Accès et comptes (1/2)</a:t>
            </a:r>
            <a:endParaRPr lang="en-US" sz="2600" dirty="0"/>
          </a:p>
        </p:txBody>
      </p:sp>
      <p:graphicFrame>
        <p:nvGraphicFramePr>
          <p:cNvPr id="443"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273812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RG-ADM-01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Inscription vérifiée par l’Administrateur</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PRMP s’inscrit en ligne avec son arrêté de nomination et sa carte d’identité ; son compte reste </a:t>
                      </a:r>
                      <a:r>
                        <a:rPr lang="en-US" sz="1100" b="1" dirty="0">
                          <a:solidFill>
                            <a:srgbClr val="1B2A3A"/>
                          </a:solidFill>
                          <a:latin typeface="Segoe UI" pitchFamily="34" charset="0"/>
                          <a:ea typeface="Segoe UI" pitchFamily="34" charset="-122"/>
                          <a:cs typeface="Segoe UI" pitchFamily="34" charset="-120"/>
                        </a:rPr>
                        <a:t>en attente</a:t>
                      </a:r>
                      <a:r>
                        <a:rPr lang="en-US" sz="1100" dirty="0">
                          <a:solidFill>
                            <a:srgbClr val="1B2A3A"/>
                          </a:solidFill>
                          <a:latin typeface="Segoe UI" pitchFamily="34" charset="0"/>
                          <a:ea typeface="Segoe UI" pitchFamily="34" charset="-122"/>
                          <a:cs typeface="Segoe UI" pitchFamily="34" charset="-120"/>
                        </a:rPr>
                        <a:t> et ne peut pas se connecter. L’Administrateur télécharge et vérifie l’arrêté, puis valide ou refuse.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RG-ADM-02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Validation entité par entité</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Chaque entité déclarée disponible est rattachée ; une entité déjà tenue par une autre PRMP est signalée en conflit, sans bloquer. Le compte s’ouvre dès qu’</a:t>
                      </a:r>
                      <a:r>
                        <a:rPr lang="en-US" sz="1100" b="1" dirty="0">
                          <a:solidFill>
                            <a:srgbClr val="1B2A3A"/>
                          </a:solidFill>
                          <a:latin typeface="Segoe UI" pitchFamily="34" charset="0"/>
                          <a:ea typeface="Segoe UI" pitchFamily="34" charset="-122"/>
                          <a:cs typeface="Segoe UI" pitchFamily="34" charset="-120"/>
                        </a:rPr>
                        <a:t>une entité</a:t>
                      </a:r>
                      <a:r>
                        <a:rPr lang="en-US" sz="1100" dirty="0">
                          <a:solidFill>
                            <a:srgbClr val="1B2A3A"/>
                          </a:solidFill>
                          <a:latin typeface="Segoe UI" pitchFamily="34" charset="0"/>
                          <a:ea typeface="Segoe UI" pitchFamily="34" charset="-122"/>
                          <a:cs typeface="Segoe UI" pitchFamily="34" charset="-120"/>
                        </a:rPr>
                        <a:t> est rattachée. Une entité proposée n’est créée que si l’Administrateur l’accepte.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RG-ADM-03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Refus toujours motivé</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 refus d’inscription porte un </a:t>
                      </a:r>
                      <a:r>
                        <a:rPr lang="en-US" sz="1100" b="1" dirty="0">
                          <a:solidFill>
                            <a:srgbClr val="1B2A3A"/>
                          </a:solidFill>
                          <a:latin typeface="Segoe UI" pitchFamily="34" charset="0"/>
                          <a:ea typeface="Segoe UI" pitchFamily="34" charset="-122"/>
                          <a:cs typeface="Segoe UI" pitchFamily="34" charset="-120"/>
                        </a:rPr>
                        <a:t>motif</a:t>
                      </a:r>
                      <a:r>
                        <a:rPr lang="en-US" sz="1100" dirty="0">
                          <a:solidFill>
                            <a:srgbClr val="1B2A3A"/>
                          </a:solidFill>
                          <a:latin typeface="Segoe UI" pitchFamily="34" charset="0"/>
                          <a:ea typeface="Segoe UI" pitchFamily="34" charset="-122"/>
                          <a:cs typeface="Segoe UI" pitchFamily="34" charset="-120"/>
                        </a:rPr>
                        <a:t> : le compte passe « refusé », reste fermé, et le demandeur est avisé du motif. Les demandes d’accès réunissent les inscriptions des PRMP et des UGPM ; le compteur du menu et le poste d’administration les comptent toutes deux.</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RG-ADM-04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Une seule porte pour décider</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Une inscription ne se décide que dans les demandes d’accès. Suspendre ou réactiver un compte en attente ou refusé est impossible : ce serait ouvrir un accès jamais accordé et contourner le rattachement des entités.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RG-ADM-05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Suspendu n’est pas refusé</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L’annuaire réunit contrôleurs, PRMP et UGPM avec cinq états : actif, </a:t>
                      </a:r>
                      <a:r>
                        <a:rPr lang="en-US" sz="1100" b="1" dirty="0">
                          <a:solidFill>
                            <a:srgbClr val="1B2A3A"/>
                          </a:solidFill>
                          <a:latin typeface="Segoe UI" pitchFamily="34" charset="0"/>
                          <a:ea typeface="Segoe UI" pitchFamily="34" charset="-122"/>
                          <a:cs typeface="Segoe UI" pitchFamily="34" charset="-120"/>
                        </a:rPr>
                        <a:t>suspendu</a:t>
                      </a:r>
                      <a:r>
                        <a:rPr lang="en-US" sz="1100" dirty="0">
                          <a:solidFill>
                            <a:srgbClr val="1B2A3A"/>
                          </a:solidFill>
                          <a:latin typeface="Segoe UI" pitchFamily="34" charset="0"/>
                          <a:ea typeface="Segoe UI" pitchFamily="34" charset="-122"/>
                          <a:cs typeface="Segoe UI" pitchFamily="34" charset="-120"/>
                        </a:rPr>
                        <a:t>, refusé, en attente, sans compte. Un compte suspendu a été fermé après coup ; un compte refusé n’a jamais été ouvert. La recherche ignore la casse et les accents.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3.1. PRMP › Inscription et validation du compte · api-endpoints.md § Inscriptions PRMP / UGPM (validation Administrateur) · regles-gestion.md § 3.8. Administrateur › Module 10 — Administration &amp; sécurité › Cycle de vie d’un compte d’authentification · api-endpoints.md § Annuaire des personnes</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442</a:t>
            </a:r>
            <a:endParaRPr lang="en-US" sz="1100" dirty="0"/>
          </a:p>
        </p:txBody>
      </p:sp>
    </p:spTree>
  </p:cSld>
  <p:clrMapOvr>
    <a:masterClrMapping/>
  </p:clrMapOvr>
</p:sld>
</file>

<file path=ppt/slides/slide443.xml><?xml version="1.0" encoding="utf-8"?>
<p:sld xmlns:a="http://schemas.openxmlformats.org/drawingml/2006/main" xmlns:r="http://schemas.openxmlformats.org/officeDocument/2006/relationships" xmlns:p="http://schemas.openxmlformats.org/presentationml/2006/main">
  <p:cSld name="Slide 44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11 ADMINISTRER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Accès et comptes (2/2)</a:t>
            </a:r>
            <a:endParaRPr lang="en-US" sz="2600" dirty="0"/>
          </a:p>
        </p:txBody>
      </p:sp>
      <p:graphicFrame>
        <p:nvGraphicFramePr>
          <p:cNvPr id="444"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125984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RG-ADM-06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PRMP créée par l’Administrateur, UGPM rattachée à sa tutelle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Une PRMP créée par l’Administrateur reçoit son compte de connexion avec sa fiche et peut se connecter </a:t>
                      </a:r>
                      <a:r>
                        <a:rPr lang="en-US" sz="1100" b="1" dirty="0">
                          <a:solidFill>
                            <a:srgbClr val="1B2A3A"/>
                          </a:solidFill>
                          <a:latin typeface="Segoe UI" pitchFamily="34" charset="0"/>
                          <a:ea typeface="Segoe UI" pitchFamily="34" charset="-122"/>
                          <a:cs typeface="Segoe UI" pitchFamily="34" charset="-120"/>
                        </a:rPr>
                        <a:t>aussitôt</a:t>
                      </a:r>
                      <a:r>
                        <a:rPr lang="en-US" sz="1100" dirty="0">
                          <a:solidFill>
                            <a:srgbClr val="1B2A3A"/>
                          </a:solidFill>
                          <a:latin typeface="Segoe UI" pitchFamily="34" charset="0"/>
                          <a:ea typeface="Segoe UI" pitchFamily="34" charset="-122"/>
                          <a:cs typeface="Segoe UI" pitchFamily="34" charset="-120"/>
                        </a:rPr>
                        <a:t>. Une UGPM est rattachée à sa PRMP de tutelle : elle n’a pas d’entité propre et partage le périmètre de sa tutelle.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RG-ADM-47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Ce que le poste d’administration surveille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poste compte les inscriptions et rattachements en attente, les procédures en ligne sans responsable, les mandats de PRMP qui arrivent à terme dans les </a:t>
                      </a:r>
                      <a:r>
                        <a:rPr lang="en-US" sz="1100" b="1" dirty="0">
                          <a:solidFill>
                            <a:srgbClr val="1B2A3A"/>
                          </a:solidFill>
                          <a:latin typeface="Segoe UI" pitchFamily="34" charset="0"/>
                          <a:ea typeface="Segoe UI" pitchFamily="34" charset="-122"/>
                          <a:cs typeface="Segoe UI" pitchFamily="34" charset="-120"/>
                        </a:rPr>
                        <a:t>30 jours</a:t>
                      </a:r>
                      <a:r>
                        <a:rPr lang="en-US" sz="1100" dirty="0">
                          <a:solidFill>
                            <a:srgbClr val="1B2A3A"/>
                          </a:solidFill>
                          <a:latin typeface="Segoe UI" pitchFamily="34" charset="0"/>
                          <a:ea typeface="Segoe UI" pitchFamily="34" charset="-122"/>
                          <a:cs typeface="Segoe UI" pitchFamily="34" charset="-120"/>
                        </a:rPr>
                        <a:t>, les comptes actifs et suspendus, les sessions ouvertes depuis moins de 12 heures et les connexions refusées sur 24 heures ; il liste les derniers changements de paramétrage avec leur auteur.</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api-endpoints.md § Administration des UGPM ; écran « Créer une PRMP » · api-endpoints.md § KPIs / Tableau de bord (compteurs de l’Administrateur)</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443</a:t>
            </a:r>
            <a:endParaRPr lang="en-US" sz="1100" dirty="0"/>
          </a:p>
        </p:txBody>
      </p:sp>
    </p:spTree>
  </p:cSld>
  <p:clrMapOvr>
    <a:masterClrMapping/>
  </p:clrMapOvr>
</p:sld>
</file>

<file path=ppt/slides/slide444.xml><?xml version="1.0" encoding="utf-8"?>
<p:sld xmlns:a="http://schemas.openxmlformats.org/drawingml/2006/main" xmlns:r="http://schemas.openxmlformats.org/officeDocument/2006/relationships" xmlns:p="http://schemas.openxmlformats.org/presentationml/2006/main">
  <p:cSld name="Slide 44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11 ADMINISTRER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Mandats et entités de la PRMP</a:t>
            </a:r>
            <a:endParaRPr lang="en-US" sz="2600" dirty="0"/>
          </a:p>
        </p:txBody>
      </p:sp>
      <p:graphicFrame>
        <p:nvGraphicFramePr>
          <p:cNvPr id="445"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186436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RG-ADM-07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Mandat de trois ans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mandat d’une PRMP est déclaré par l’Administrateur et dure </a:t>
                      </a:r>
                      <a:r>
                        <a:rPr lang="en-US" sz="1100" b="1" dirty="0">
                          <a:solidFill>
                            <a:srgbClr val="1B2A3A"/>
                          </a:solidFill>
                          <a:latin typeface="Segoe UI" pitchFamily="34" charset="0"/>
                          <a:ea typeface="Segoe UI" pitchFamily="34" charset="-122"/>
                          <a:cs typeface="Segoe UI" pitchFamily="34" charset="-120"/>
                        </a:rPr>
                        <a:t>trois ans</a:t>
                      </a:r>
                      <a:r>
                        <a:rPr lang="en-US" sz="1100" dirty="0">
                          <a:solidFill>
                            <a:srgbClr val="1B2A3A"/>
                          </a:solidFill>
                          <a:latin typeface="Segoe UI" pitchFamily="34" charset="0"/>
                          <a:ea typeface="Segoe UI" pitchFamily="34" charset="-122"/>
                          <a:cs typeface="Segoe UI" pitchFamily="34" charset="-120"/>
                        </a:rPr>
                        <a:t> au plus. Une reconduction est un nouveau mandat, avec un nouvel arrêté ; aucun mandat ne se prolonge, et une même personne n’en porte pas plus de deux. Détail dans la partie « Intérim et mandats ».</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RG-ADM-08</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Vacance : traitement suspendu</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Sans mandat actif à la date de l’action, tout traitement côté PRMP et UGPM attend la nomination ; le circuit de la Commission continue. Un nouveau mandat en cours rouvre le compte de la PRMP, si son inscription était </a:t>
                      </a:r>
                      <a:r>
                        <a:rPr lang="en-US" sz="1100" b="1" dirty="0">
                          <a:solidFill>
                            <a:srgbClr val="1B2A3A"/>
                          </a:solidFill>
                          <a:latin typeface="Segoe UI" pitchFamily="34" charset="0"/>
                          <a:ea typeface="Segoe UI" pitchFamily="34" charset="-122"/>
                          <a:cs typeface="Segoe UI" pitchFamily="34" charset="-120"/>
                        </a:rPr>
                        <a:t>validée</a:t>
                      </a:r>
                      <a:r>
                        <a:rPr lang="en-US" sz="1100" dirty="0">
                          <a:solidFill>
                            <a:srgbClr val="1B2A3A"/>
                          </a:solidFill>
                          <a:latin typeface="Segoe UI" pitchFamily="34" charset="0"/>
                          <a:ea typeface="Segoe UI" pitchFamily="34" charset="-122"/>
                          <a:cs typeface="Segoe UI" pitchFamily="34" charset="-120"/>
                        </a:rPr>
                        <a: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RG-ADM-09</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Une entité, une seule PRMP</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Une entité contractante n’est rattachée qu’à </a:t>
                      </a:r>
                      <a:r>
                        <a:rPr lang="en-US" sz="1100" b="1" dirty="0">
                          <a:solidFill>
                            <a:srgbClr val="1B2A3A"/>
                          </a:solidFill>
                          <a:latin typeface="Segoe UI" pitchFamily="34" charset="0"/>
                          <a:ea typeface="Segoe UI" pitchFamily="34" charset="-122"/>
                          <a:cs typeface="Segoe UI" pitchFamily="34" charset="-120"/>
                        </a:rPr>
                        <a:t>une seule PRMP active</a:t>
                      </a:r>
                      <a:r>
                        <a:rPr lang="en-US" sz="1100" dirty="0">
                          <a:solidFill>
                            <a:srgbClr val="1B2A3A"/>
                          </a:solidFill>
                          <a:latin typeface="Segoe UI" pitchFamily="34" charset="0"/>
                          <a:ea typeface="Segoe UI" pitchFamily="34" charset="-122"/>
                          <a:cs typeface="Segoe UI" pitchFamily="34" charset="-120"/>
                        </a:rPr>
                        <a:t> ; une PRMP peut en gérer plusieurs. L’entité créée par une PRMP ou son UGPM à l’import d’un plan naît rattachée en attente : l’Administrateur approuve ou rejette le rattachement, l’entité restant au référentiel.</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3.1. PRMP › Mandats de la PRMP · regles-gestion.md § 3.1. PRMP › Standby de transition — vacance de PRMP · api-endpoints.md § Entités-PRMP</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444</a:t>
            </a:r>
            <a:endParaRPr lang="en-US" sz="1100" dirty="0"/>
          </a:p>
        </p:txBody>
      </p:sp>
    </p:spTree>
  </p:cSld>
  <p:clrMapOvr>
    <a:masterClrMapping/>
  </p:clrMapOvr>
</p:sld>
</file>

<file path=ppt/slides/slide445.xml><?xml version="1.0" encoding="utf-8"?>
<p:sld xmlns:a="http://schemas.openxmlformats.org/drawingml/2006/main" xmlns:r="http://schemas.openxmlformats.org/officeDocument/2006/relationships" xmlns:p="http://schemas.openxmlformats.org/presentationml/2006/main">
  <p:cSld name="Slide 44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11 ADMINISTRER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Organisation du contrôle (1/2)</a:t>
            </a:r>
            <a:endParaRPr lang="en-US" sz="2600" dirty="0"/>
          </a:p>
        </p:txBody>
      </p:sp>
      <p:graphicFrame>
        <p:nvGraphicFramePr>
          <p:cNvPr id="446"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290576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RG-ADM-10</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Chaînes Membre, Vérificateur, Assistant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Chaque Membre a son Vérificateur, chaque Vérificateur son Assistant, de même localité et du profil attendu. La chaîne oriente les notifications sans rien verrouiller ; incomplète, elle est signalée et tous les Vérificateurs de la localité peuvent agir.</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RG-ADM-11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Délégations par paires listées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Une délégation est une paire de profils : le Président exerce les tâches de cinq profils, le Chef de commission de quatre ; la fiche d’une personne les énumère. La relation </a:t>
                      </a:r>
                      <a:r>
                        <a:rPr lang="en-US" sz="1100" b="1" dirty="0">
                          <a:solidFill>
                            <a:srgbClr val="1B2A3A"/>
                          </a:solidFill>
                          <a:latin typeface="Segoe UI" pitchFamily="34" charset="0"/>
                          <a:ea typeface="Segoe UI" pitchFamily="34" charset="-122"/>
                          <a:cs typeface="Segoe UI" pitchFamily="34" charset="-120"/>
                        </a:rPr>
                        <a:t>n’est pas transitive</a:t>
                      </a:r>
                      <a:r>
                        <a:rPr lang="en-US" sz="1100" dirty="0">
                          <a:solidFill>
                            <a:srgbClr val="1B2A3A"/>
                          </a:solidFill>
                          <a:latin typeface="Segoe UI" pitchFamily="34" charset="0"/>
                          <a:ea typeface="Segoe UI" pitchFamily="34" charset="-122"/>
                          <a:cs typeface="Segoe UI" pitchFamily="34" charset="-120"/>
                        </a:rPr>
                        <a:t>. Les signatures du procès-verbal et des lettres de renvoi ne se délèguent jamais.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RG-ADM-12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Délais standards en heures ouvrées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délai de chaque étape du circuit se fixe en </a:t>
                      </a:r>
                      <a:r>
                        <a:rPr lang="en-US" sz="1100" b="1" dirty="0">
                          <a:solidFill>
                            <a:srgbClr val="1B2A3A"/>
                          </a:solidFill>
                          <a:latin typeface="Segoe UI" pitchFamily="34" charset="0"/>
                          <a:ea typeface="Segoe UI" pitchFamily="34" charset="-122"/>
                          <a:cs typeface="Segoe UI" pitchFamily="34" charset="-120"/>
                        </a:rPr>
                        <a:t>heures ouvrées</a:t>
                      </a:r>
                      <a:r>
                        <a:rPr lang="en-US" sz="1100" dirty="0">
                          <a:solidFill>
                            <a:srgbClr val="1B2A3A"/>
                          </a:solidFill>
                          <a:latin typeface="Segoe UI" pitchFamily="34" charset="0"/>
                          <a:ea typeface="Segoe UI" pitchFamily="34" charset="-122"/>
                          <a:cs typeface="Segoe UI" pitchFamily="34" charset="-120"/>
                        </a:rPr>
                        <a:t>, par l’Administrateur seul ; tous peuvent le lire. Il donne la date de fin annoncée à la PRMP dès la soumission ; à la prise en charge, la prévision du porteur le remplace pour ce dossier. Un délai de moins d’une heure est refusé.</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RG-ADM-13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Huit étapes, fenêtre de service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référentiel rend toujours les </a:t>
                      </a:r>
                      <a:r>
                        <a:rPr lang="en-US" sz="1100" b="1" dirty="0">
                          <a:solidFill>
                            <a:srgbClr val="1B2A3A"/>
                          </a:solidFill>
                          <a:latin typeface="Segoe UI" pitchFamily="34" charset="0"/>
                          <a:ea typeface="Segoe UI" pitchFamily="34" charset="-122"/>
                          <a:cs typeface="Segoe UI" pitchFamily="34" charset="-120"/>
                        </a:rPr>
                        <a:t>huit étapes</a:t>
                      </a:r>
                      <a:r>
                        <a:rPr lang="en-US" sz="1100" dirty="0">
                          <a:solidFill>
                            <a:srgbClr val="1B2A3A"/>
                          </a:solidFill>
                          <a:latin typeface="Segoe UI" pitchFamily="34" charset="0"/>
                          <a:ea typeface="Segoe UI" pitchFamily="34" charset="-122"/>
                          <a:cs typeface="Segoe UI" pitchFamily="34" charset="-120"/>
                        </a:rPr>
                        <a:t>, de la réception à l’archivage (hors compteur global), avec un repli de 8 heures pour une étape manquante. Le temps écoulé se compte de 8 h à 16 h, du lundi au vendredi.</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RG-ADM-14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Points communs ou par sous-type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 point de contrôle se rattache à une famille de dossier : sans sous-type il est </a:t>
                      </a:r>
                      <a:r>
                        <a:rPr lang="en-US" sz="1100" b="1" dirty="0">
                          <a:solidFill>
                            <a:srgbClr val="1B2A3A"/>
                          </a:solidFill>
                          <a:latin typeface="Segoe UI" pitchFamily="34" charset="0"/>
                          <a:ea typeface="Segoe UI" pitchFamily="34" charset="-122"/>
                          <a:cs typeface="Segoe UI" pitchFamily="34" charset="-120"/>
                        </a:rPr>
                        <a:t>commun</a:t>
                      </a:r>
                      <a:r>
                        <a:rPr lang="en-US" sz="1100" dirty="0">
                          <a:solidFill>
                            <a:srgbClr val="1B2A3A"/>
                          </a:solidFill>
                          <a:latin typeface="Segoe UI" pitchFamily="34" charset="0"/>
                          <a:ea typeface="Segoe UI" pitchFamily="34" charset="-122"/>
                          <a:cs typeface="Segoe UI" pitchFamily="34" charset="-120"/>
                        </a:rPr>
                        <a:t>, avec un sous-type il lui est propre ; il peut aussi ne valoir que pour une catégorie ou une forme de marché. Certains sous-types ont une grille propre, sans les points communs de leur famille.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1. Hiérarchie des contrôleurs et visibilité · regles-gestion.md § 3.8. Administrateur › Module 03 — Référentiels &amp; paramétrage › délégation ascendante de profils · regles-gestion.md § Chronométrage et prévision des délais (transversal au circuit) · regles-gestion.md § 3.1. PRMP › Module 03 — FAMILLES et SOUS-TYPES de dossier ; encadré « les grilles de contrôle par sous-type » (2026-10-08)</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445</a:t>
            </a:r>
            <a:endParaRPr lang="en-US" sz="1100" dirty="0"/>
          </a:p>
        </p:txBody>
      </p:sp>
    </p:spTree>
  </p:cSld>
  <p:clrMapOvr>
    <a:masterClrMapping/>
  </p:clrMapOvr>
</p:sld>
</file>

<file path=ppt/slides/slide446.xml><?xml version="1.0" encoding="utf-8"?>
<p:sld xmlns:a="http://schemas.openxmlformats.org/drawingml/2006/main" xmlns:r="http://schemas.openxmlformats.org/officeDocument/2006/relationships" xmlns:p="http://schemas.openxmlformats.org/presentationml/2006/main">
  <p:cSld name="Slide 44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11 ADMINISTRER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Organisation du contrôle (2/2)</a:t>
            </a:r>
            <a:endParaRPr lang="en-US" sz="2600" dirty="0"/>
          </a:p>
        </p:txBody>
      </p:sp>
      <p:graphicFrame>
        <p:nvGraphicFramePr>
          <p:cNvPr id="447"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125984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RG-ADM-15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Seuil AGPM de l’AMI</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 appel à manifestation d’intérêt rend l’avis général de passation requis à partir du seuil fixé par l’Administrateur, comparé </a:t>
                      </a:r>
                      <a:r>
                        <a:rPr lang="en-US" sz="1100" b="1" dirty="0">
                          <a:solidFill>
                            <a:srgbClr val="1B2A3A"/>
                          </a:solidFill>
                          <a:latin typeface="Segoe UI" pitchFamily="34" charset="0"/>
                          <a:ea typeface="Segoe UI" pitchFamily="34" charset="-122"/>
                          <a:cs typeface="Segoe UI" pitchFamily="34" charset="-120"/>
                        </a:rPr>
                        <a:t>marché par marché</a:t>
                      </a:r>
                      <a:r>
                        <a:rPr lang="en-US" sz="1100" dirty="0">
                          <a:solidFill>
                            <a:srgbClr val="1B2A3A"/>
                          </a:solidFill>
                          <a:latin typeface="Segoe UI" pitchFamily="34" charset="0"/>
                          <a:ea typeface="Segoe UI" pitchFamily="34" charset="-122"/>
                          <a:cs typeface="Segoe UI" pitchFamily="34" charset="-120"/>
                        </a:rPr>
                        <a:t>, borne incluse, sur le nouveau montant estimatif s’il existe, sinon l’initial. Un seuil à 0 fait déclencher tout marché en AMI. Les autres appels d’offres le déclenchent toujours ; le gré à gré et la consultation, jamais.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RG-ADM-16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Règles d’alerte paramétrables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Une règle d’alerte fixe un jalon, le nombre de jours avant l’échéance et le profil destinataire ; elle s’active ou se désactive. Tous la lisent, l’Administrateur seul l’écrit.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3.1. PRMP › Module 02 — Sous-type PPM / PPM-AGPM et référence du dossier · api-endpoints.md § Règles d’alerte</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446</a:t>
            </a:r>
            <a:endParaRPr lang="en-US" sz="1100" dirty="0"/>
          </a:p>
        </p:txBody>
      </p:sp>
    </p:spTree>
  </p:cSld>
  <p:clrMapOvr>
    <a:masterClrMapping/>
  </p:clrMapOvr>
</p:sld>
</file>

<file path=ppt/slides/slide447.xml><?xml version="1.0" encoding="utf-8"?>
<p:sld xmlns:a="http://schemas.openxmlformats.org/drawingml/2006/main" xmlns:r="http://schemas.openxmlformats.org/officeDocument/2006/relationships" xmlns:p="http://schemas.openxmlformats.org/presentationml/2006/main">
  <p:cSld name="Slide 44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11 ADMINISTRER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Nomenclatures et fiche DAO (1/2)</a:t>
            </a:r>
            <a:endParaRPr lang="en-US" sz="2600" dirty="0"/>
          </a:p>
        </p:txBody>
      </p:sp>
      <p:graphicFrame>
        <p:nvGraphicFramePr>
          <p:cNvPr id="448"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257048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RG-ADM-17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Statut de marché encadré</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statut d’un marché est une valeur du référentiel. « Prévu » sert de défaut et </a:t>
                      </a:r>
                      <a:r>
                        <a:rPr lang="en-US" sz="1100" b="1" dirty="0">
                          <a:solidFill>
                            <a:srgbClr val="1B2A3A"/>
                          </a:solidFill>
                          <a:latin typeface="Segoe UI" pitchFamily="34" charset="0"/>
                          <a:ea typeface="Segoe UI" pitchFamily="34" charset="-122"/>
                          <a:cs typeface="Segoe UI" pitchFamily="34" charset="-120"/>
                        </a:rPr>
                        <a:t>ne se supprime pas</a:t>
                      </a:r>
                      <a:r>
                        <a:rPr lang="en-US" sz="1100" dirty="0">
                          <a:solidFill>
                            <a:srgbClr val="1B2A3A"/>
                          </a:solidFill>
                          <a:latin typeface="Segoe UI" pitchFamily="34" charset="0"/>
                          <a:ea typeface="Segoe UI" pitchFamily="34" charset="-122"/>
                          <a:cs typeface="Segoe UI" pitchFamily="34" charset="-120"/>
                        </a:rPr>
                        <a:t> ; un statut désactivé reste accepté sur les marchés qui le portent. Une valeur inconnue est refusée avec la liste des valeurs possibles.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RG-ADM-18</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 nature donne la catégorie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catégorie de fiche DAO (fournitures et services, travaux, prestations intellectuelles) vient de la </a:t>
                      </a:r>
                      <a:r>
                        <a:rPr lang="en-US" sz="1100" b="1" dirty="0">
                          <a:solidFill>
                            <a:srgbClr val="1B2A3A"/>
                          </a:solidFill>
                          <a:latin typeface="Segoe UI" pitchFamily="34" charset="0"/>
                          <a:ea typeface="Segoe UI" pitchFamily="34" charset="-122"/>
                          <a:cs typeface="Segoe UI" pitchFamily="34" charset="-120"/>
                        </a:rPr>
                        <a:t>nature</a:t>
                      </a:r>
                      <a:r>
                        <a:rPr lang="en-US" sz="1100" dirty="0">
                          <a:solidFill>
                            <a:srgbClr val="1B2A3A"/>
                          </a:solidFill>
                          <a:latin typeface="Segoe UI" pitchFamily="34" charset="0"/>
                          <a:ea typeface="Segoe UI" pitchFamily="34" charset="-122"/>
                          <a:cs typeface="Segoe UI" pitchFamily="34" charset="-120"/>
                        </a:rPr>
                        <a:t> de la ligne, par une correspondance que l’Administrateur tient à jour. Une nature sans catégorie empêche de préparer la fiche.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RG-ADM-19</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Mode de passation, type de dossier</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Chaque mode de passation est rattaché à un type de dossier de mise en concurrence (DAO, dossier de consultation, bon de commande…), liste ouverte. Sans rattachement à un type </a:t>
                      </a:r>
                      <a:r>
                        <a:rPr lang="en-US" sz="1100" b="1" dirty="0">
                          <a:solidFill>
                            <a:srgbClr val="1B2A3A"/>
                          </a:solidFill>
                          <a:latin typeface="Segoe UI" pitchFamily="34" charset="0"/>
                          <a:ea typeface="Segoe UI" pitchFamily="34" charset="-122"/>
                          <a:cs typeface="Segoe UI" pitchFamily="34" charset="-120"/>
                        </a:rPr>
                        <a:t>actif</a:t>
                      </a:r>
                      <a:r>
                        <a:rPr lang="en-US" sz="1100" dirty="0">
                          <a:solidFill>
                            <a:srgbClr val="1B2A3A"/>
                          </a:solidFill>
                          <a:latin typeface="Segoe UI" pitchFamily="34" charset="0"/>
                          <a:ea typeface="Segoe UI" pitchFamily="34" charset="-122"/>
                          <a:cs typeface="Segoe UI" pitchFamily="34" charset="-120"/>
                        </a:rPr>
                        <a:t>, aucune ligne de ce mode ne peut recevoir de fiche ; l’écran signale les modes non rattachés.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RG-ADM-20</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Sous-types et pièces attendues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Les sous-types forment un référentiel ouvert, rattaché aux familles plan, mise en concurrence et marché ; celui d’un plan est déduit par l’application. Les pièces attendues se rattachent à la famille ; une pièce </a:t>
                      </a:r>
                      <a:r>
                        <a:rPr lang="en-US" sz="1100" b="1" dirty="0">
                          <a:solidFill>
                            <a:srgbClr val="1B2A3A"/>
                          </a:solidFill>
                          <a:latin typeface="Segoe UI" pitchFamily="34" charset="0"/>
                          <a:ea typeface="Segoe UI" pitchFamily="34" charset="-122"/>
                          <a:cs typeface="Segoe UI" pitchFamily="34" charset="-120"/>
                        </a:rPr>
                        <a:t>obligatoire</a:t>
                      </a:r>
                      <a:r>
                        <a:rPr lang="en-US" sz="1100" dirty="0">
                          <a:solidFill>
                            <a:srgbClr val="1B2A3A"/>
                          </a:solidFill>
                          <a:latin typeface="Segoe UI" pitchFamily="34" charset="0"/>
                          <a:ea typeface="Segoe UI" pitchFamily="34" charset="-122"/>
                          <a:cs typeface="Segoe UI" pitchFamily="34" charset="-120"/>
                        </a:rPr>
                        <a:t> est exigée à la soumission.</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RG-ADM-21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 champ se désactive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 champ de la fiche DAO se crée ou se modifie, jamais ne se supprime : il se </a:t>
                      </a:r>
                      <a:r>
                        <a:rPr lang="en-US" sz="1100" b="1" dirty="0">
                          <a:solidFill>
                            <a:srgbClr val="1B2A3A"/>
                          </a:solidFill>
                          <a:latin typeface="Segoe UI" pitchFamily="34" charset="0"/>
                          <a:ea typeface="Segoe UI" pitchFamily="34" charset="-122"/>
                          <a:cs typeface="Segoe UI" pitchFamily="34" charset="-120"/>
                        </a:rPr>
                        <a:t>désactive</a:t>
                      </a:r>
                      <a:r>
                        <a:rPr lang="en-US" sz="1100" dirty="0">
                          <a:solidFill>
                            <a:srgbClr val="1B2A3A"/>
                          </a:solidFill>
                          <a:latin typeface="Segoe UI" pitchFamily="34" charset="0"/>
                          <a:ea typeface="Segoe UI" pitchFamily="34" charset="-122"/>
                          <a:cs typeface="Segoe UI" pitchFamily="34" charset="-120"/>
                        </a:rPr>
                        <a:t>, et les valeurs déjà saisies restent lisibles. Blocs et rubriques sont figés ; chaque champ dit sa source, son document et sa condition.</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3.8. Administrateur › Module 03 — Référentiels &amp; paramétrage › Statuts de marché · regles-gestion.md § Les trois catégories de fiche DAO (lot 5, 2026-09-24) · api-endpoints.md § Types de DMC (dossier de mise en concurrence) · regles-gestion.md § 3.1. PRMP › Module 03 — FAMILLES et SOUS-TYPES de dossier · api-endpoints.md § Référentiel champs-fiche-marche</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447</a:t>
            </a:r>
            <a:endParaRPr lang="en-US" sz="1100" dirty="0"/>
          </a:p>
        </p:txBody>
      </p:sp>
    </p:spTree>
  </p:cSld>
  <p:clrMapOvr>
    <a:masterClrMapping/>
  </p:clrMapOvr>
</p:sld>
</file>

<file path=ppt/slides/slide448.xml><?xml version="1.0" encoding="utf-8"?>
<p:sld xmlns:a="http://schemas.openxmlformats.org/drawingml/2006/main" xmlns:r="http://schemas.openxmlformats.org/officeDocument/2006/relationships" xmlns:p="http://schemas.openxmlformats.org/presentationml/2006/main">
  <p:cSld name="Slide 44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11 ADMINISTRER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Nomenclatures et fiche DAO (2/2)</a:t>
            </a:r>
            <a:endParaRPr lang="en-US" sz="2600" dirty="0"/>
          </a:p>
        </p:txBody>
      </p:sp>
      <p:graphicFrame>
        <p:nvGraphicFramePr>
          <p:cNvPr id="449"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RG-ADM-22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Seuils datés, pour signaler</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Les seuils de l’arrêté vivent dans un référentiel daté, hors taxes, en deux barèmes, central et déconcentré. Ils servent seulement à </a:t>
                      </a:r>
                      <a:r>
                        <a:rPr lang="en-US" sz="1100" b="1" dirty="0">
                          <a:solidFill>
                            <a:srgbClr val="1B2A3A"/>
                          </a:solidFill>
                          <a:latin typeface="Segoe UI" pitchFamily="34" charset="0"/>
                          <a:ea typeface="Segoe UI" pitchFamily="34" charset="-122"/>
                          <a:cs typeface="Segoe UI" pitchFamily="34" charset="-120"/>
                        </a:rPr>
                        <a:t>signaler</a:t>
                      </a:r>
                      <a:r>
                        <a:rPr lang="en-US" sz="1100" dirty="0">
                          <a:solidFill>
                            <a:srgbClr val="1B2A3A"/>
                          </a:solidFill>
                          <a:latin typeface="Segoe UI" pitchFamily="34" charset="0"/>
                          <a:ea typeface="Segoe UI" pitchFamily="34" charset="-122"/>
                          <a:cs typeface="Segoe UI" pitchFamily="34" charset="-120"/>
                        </a:rPr>
                        <a:t> : aucun mode n’est imposé, et une case vide ne produit aucun signalement.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Référentiel des seuils de marchés publics (pré-contrôle du PPM)</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448</a:t>
            </a:r>
            <a:endParaRPr lang="en-US" sz="1100" dirty="0"/>
          </a:p>
        </p:txBody>
      </p:sp>
    </p:spTree>
  </p:cSld>
  <p:clrMapOvr>
    <a:masterClrMapping/>
  </p:clrMapOvr>
</p:sld>
</file>

<file path=ppt/slides/slide449.xml><?xml version="1.0" encoding="utf-8"?>
<p:sld xmlns:a="http://schemas.openxmlformats.org/drawingml/2006/main" xmlns:r="http://schemas.openxmlformats.org/officeDocument/2006/relationships" xmlns:p="http://schemas.openxmlformats.org/presentationml/2006/main">
  <p:cSld name="Slide 44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11 ADMINISTRER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Remise électronique et entreprises (1/2)</a:t>
            </a:r>
            <a:endParaRPr lang="en-US" sz="2600" dirty="0"/>
          </a:p>
        </p:txBody>
      </p:sp>
      <p:graphicFrame>
        <p:nvGraphicFramePr>
          <p:cNvPr id="450"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290576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RG-ADM-23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Défauts et bornes de la remise électronique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L’Administrateur fixe les défauts de la remise électronique — plateforme, fuseau, assistance, quorum de déchiffrement proposé — et ses bornes : signature minimale, taille maximale, délai minimal de publication. Un défaut se recopie à la </a:t>
                      </a:r>
                      <a:r>
                        <a:rPr lang="en-US" sz="1100" b="1" dirty="0">
                          <a:solidFill>
                            <a:srgbClr val="1B2A3A"/>
                          </a:solidFill>
                          <a:latin typeface="Segoe UI" pitchFamily="34" charset="0"/>
                          <a:ea typeface="Segoe UI" pitchFamily="34" charset="-122"/>
                          <a:cs typeface="Segoe UI" pitchFamily="34" charset="-120"/>
                        </a:rPr>
                        <a:t>création</a:t>
                      </a:r>
                      <a:r>
                        <a:rPr lang="en-US" sz="1100" dirty="0">
                          <a:solidFill>
                            <a:srgbClr val="1B2A3A"/>
                          </a:solidFill>
                          <a:latin typeface="Segoe UI" pitchFamily="34" charset="0"/>
                          <a:ea typeface="Segoe UI" pitchFamily="34" charset="-122"/>
                          <a:cs typeface="Segoe UI" pitchFamily="34" charset="-120"/>
                        </a:rPr>
                        <a:t> de la fiche ; une borne s’applique à chaque validation.</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RG-ADM-24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Signature minimale et mise en ligne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signature minimale vaut « Avancée » par défaut, alors que la plateforme n’accepte encore que la signature simple : tant que l’Administrateur ne l’abaisse pas à </a:t>
                      </a:r>
                      <a:r>
                        <a:rPr lang="en-US" sz="1100" b="1" dirty="0">
                          <a:solidFill>
                            <a:srgbClr val="1B2A3A"/>
                          </a:solidFill>
                          <a:latin typeface="Segoe UI" pitchFamily="34" charset="0"/>
                          <a:ea typeface="Segoe UI" pitchFamily="34" charset="-122"/>
                          <a:cs typeface="Segoe UI" pitchFamily="34" charset="-120"/>
                        </a:rPr>
                        <a:t>Simple</a:t>
                      </a:r>
                      <a:r>
                        <a:rPr lang="en-US" sz="1100" dirty="0">
                          <a:solidFill>
                            <a:srgbClr val="1B2A3A"/>
                          </a:solidFill>
                          <a:latin typeface="Segoe UI" pitchFamily="34" charset="0"/>
                          <a:ea typeface="Segoe UI" pitchFamily="34" charset="-122"/>
                          <a:cs typeface="Segoe UI" pitchFamily="34" charset="-120"/>
                        </a:rPr>
                        <a:t>, aucune procédure ne paraît en ligne. Sur la base de démonstration, elle est réglée à Simple.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RG-ADM-25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Compte bancaire de l’ARMP</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Banque, titulaire et numéro du compte de l’ARMP se règlent par l’Administrateur seul, tous trois exigés. Le compte s’imprime dans l’avis spécifique ; un document déjà produit garde le compte du moment, et sans réglage il imprime des </a:t>
                      </a:r>
                      <a:r>
                        <a:rPr lang="en-US" sz="1100" b="1" dirty="0">
                          <a:solidFill>
                            <a:srgbClr val="1B2A3A"/>
                          </a:solidFill>
                          <a:latin typeface="Segoe UI" pitchFamily="34" charset="0"/>
                          <a:ea typeface="Segoe UI" pitchFamily="34" charset="-122"/>
                          <a:cs typeface="Segoe UI" pitchFamily="34" charset="-120"/>
                        </a:rPr>
                        <a:t>pointillés</a:t>
                      </a:r>
                      <a:r>
                        <a:rPr lang="en-US" sz="1100" dirty="0">
                          <a:solidFill>
                            <a:srgbClr val="1B2A3A"/>
                          </a:solidFill>
                          <a:latin typeface="Segoe UI" pitchFamily="34" charset="0"/>
                          <a:ea typeface="Segoe UI" pitchFamily="34" charset="-122"/>
                          <a:cs typeface="Segoe UI" pitchFamily="34" charset="-120"/>
                        </a:rPr>
                        <a: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RG-ADM-26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Paramètres de l’espace candidat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L’Administrateur règle l’espace candidat : vérification du NIF, confirmation par téléphone, inscriptions par jour, délais de confirmation et d’inactivité, taille des pièces. Chaque nuit, un compte jamais confirmé est supprimé, un compte inactif </a:t>
                      </a:r>
                      <a:r>
                        <a:rPr lang="en-US" sz="1100" b="1" dirty="0">
                          <a:solidFill>
                            <a:srgbClr val="1B2A3A"/>
                          </a:solidFill>
                          <a:latin typeface="Segoe UI" pitchFamily="34" charset="0"/>
                          <a:ea typeface="Segoe UI" pitchFamily="34" charset="-122"/>
                          <a:cs typeface="Segoe UI" pitchFamily="34" charset="-120"/>
                        </a:rPr>
                        <a:t>archivé</a:t>
                      </a:r>
                      <a:r>
                        <a:rPr lang="en-US" sz="1100" dirty="0">
                          <a:solidFill>
                            <a:srgbClr val="1B2A3A"/>
                          </a:solidFill>
                          <a:latin typeface="Segoe UI" pitchFamily="34" charset="0"/>
                          <a:ea typeface="Segoe UI" pitchFamily="34" charset="-122"/>
                          <a:cs typeface="Segoe UI" pitchFamily="34" charset="-120"/>
                        </a:rPr>
                        <a:t> — jamais supprimé.</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RG-ADM-27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NIF vérifié sur pièces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L’Administrateur vérifie sur pièces le NIF d’une entreprise candidate, ou le refuse avec un motif obligatoire ; chaque décision est journalisée. La vérification ne </a:t>
                      </a:r>
                      <a:r>
                        <a:rPr lang="en-US" sz="1100" b="1" dirty="0">
                          <a:solidFill>
                            <a:srgbClr val="1B2A3A"/>
                          </a:solidFill>
                          <a:latin typeface="Segoe UI" pitchFamily="34" charset="0"/>
                          <a:ea typeface="Segoe UI" pitchFamily="34" charset="-122"/>
                          <a:cs typeface="Segoe UI" pitchFamily="34" charset="-120"/>
                        </a:rPr>
                        <a:t>bloque jamais</a:t>
                      </a:r>
                      <a:r>
                        <a:rPr lang="en-US" sz="1100" dirty="0">
                          <a:solidFill>
                            <a:srgbClr val="1B2A3A"/>
                          </a:solidFill>
                          <a:latin typeface="Segoe UI" pitchFamily="34" charset="0"/>
                          <a:ea typeface="Segoe UI" pitchFamily="34" charset="-122"/>
                          <a:cs typeface="Segoe UI" pitchFamily="34" charset="-120"/>
                        </a:rPr>
                        <a:t> le dépôt d’une offre : la commission la lit à l’ouverture des plis.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api-endpoints.md § Paramètres système (remise électronique, 2026-09-27) · api-endpoints.md § Procédures ouvertes en ligne et retrait du DAO · api-endpoints.md § l’avis aligné sur un avis réel (§B7) et le compte de l’ARMP (§B8) · api-endpoints.md § Comptes candidats · api-endpoints.md § Entreprise du candidat, vérification du NIF, exclusions de l’ARMP</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449</a:t>
            </a:r>
            <a:endParaRPr lang="en-US" sz="1100" dirty="0"/>
          </a:p>
        </p:txBody>
      </p:sp>
    </p:spTree>
  </p:cSld>
  <p:clrMapOvr>
    <a:masterClrMapping/>
  </p:clrMapOvr>
</p:sld>
</file>

<file path=ppt/slides/slide450.xml><?xml version="1.0" encoding="utf-8"?>
<p:sld xmlns:a="http://schemas.openxmlformats.org/drawingml/2006/main" xmlns:r="http://schemas.openxmlformats.org/officeDocument/2006/relationships" xmlns:p="http://schemas.openxmlformats.org/presentationml/2006/main">
  <p:cSld name="Slide 45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11 ADMINISTRER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Remise électronique et entreprises (2/2)</a:t>
            </a:r>
            <a:endParaRPr lang="en-US" sz="2600" dirty="0"/>
          </a:p>
        </p:txBody>
      </p:sp>
      <p:graphicFrame>
        <p:nvGraphicFramePr>
          <p:cNvPr id="451"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273812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RG-ADM-28</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Exclusions ARMP indélébiles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Une exclusion de l’ARMP ne se supprime pas : on la corrige ou on avance sa fin, chaque changement journalisé. Rapprochée par le NIF, elle </a:t>
                      </a:r>
                      <a:r>
                        <a:rPr lang="en-US" sz="1100" b="1" dirty="0">
                          <a:solidFill>
                            <a:srgbClr val="1B2A3A"/>
                          </a:solidFill>
                          <a:latin typeface="Segoe UI" pitchFamily="34" charset="0"/>
                          <a:ea typeface="Segoe UI" pitchFamily="34" charset="-122"/>
                          <a:cs typeface="Segoe UI" pitchFamily="34" charset="-120"/>
                        </a:rPr>
                        <a:t>interdit le dépôt</a:t>
                      </a:r>
                      <a:r>
                        <a:rPr lang="en-US" sz="1100" dirty="0">
                          <a:solidFill>
                            <a:srgbClr val="1B2A3A"/>
                          </a:solidFill>
                          <a:latin typeface="Segoe UI" pitchFamily="34" charset="0"/>
                          <a:ea typeface="Segoe UI" pitchFamily="34" charset="-122"/>
                          <a:cs typeface="Segoe UI" pitchFamily="34" charset="-120"/>
                        </a:rPr>
                        <a:t> ; l’offre d’une entreprise exclue après son dépôt est écartée sans être ouverte.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RG-ADM-29</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Un responsable par procédure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L’Administrateur désigne le </a:t>
                      </a:r>
                      <a:r>
                        <a:rPr lang="en-US" sz="1100" b="1" dirty="0">
                          <a:solidFill>
                            <a:srgbClr val="1B2A3A"/>
                          </a:solidFill>
                          <a:latin typeface="Segoe UI" pitchFamily="34" charset="0"/>
                          <a:ea typeface="Segoe UI" pitchFamily="34" charset="-122"/>
                          <a:cs typeface="Segoe UI" pitchFamily="34" charset="-120"/>
                        </a:rPr>
                        <a:t>responsable</a:t>
                      </a:r>
                      <a:r>
                        <a:rPr lang="en-US" sz="1100" dirty="0">
                          <a:solidFill>
                            <a:srgbClr val="1B2A3A"/>
                          </a:solidFill>
                          <a:latin typeface="Segoe UI" pitchFamily="34" charset="0"/>
                          <a:ea typeface="Segoe UI" pitchFamily="34" charset="-122"/>
                          <a:cs typeface="Segoe UI" pitchFamily="34" charset="-120"/>
                        </a:rPr>
                        <a:t> de chaque procédure en ligne, une personne à la fois, jamais détentrice d’une part de clé. Une procédure sans responsable est comptée au poste d’administration et remonte en tête des procédures en ligne.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RG-ADM-30</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Conservation et purge des offres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L’Administrateur fixe la durée de conservation des offres, comptée depuis la clôture de la séance ; sans durée, rien n’est supprimé. Au terme, il purge les procédures échues </a:t>
                      </a:r>
                      <a:r>
                        <a:rPr lang="en-US" sz="1100" b="1" dirty="0">
                          <a:solidFill>
                            <a:srgbClr val="1B2A3A"/>
                          </a:solidFill>
                          <a:latin typeface="Segoe UI" pitchFamily="34" charset="0"/>
                          <a:ea typeface="Segoe UI" pitchFamily="34" charset="-122"/>
                          <a:cs typeface="Segoe UI" pitchFamily="34" charset="-120"/>
                        </a:rPr>
                        <a:t>une à une</a:t>
                      </a:r>
                      <a:r>
                        <a:rPr lang="en-US" sz="1100" dirty="0">
                          <a:solidFill>
                            <a:srgbClr val="1B2A3A"/>
                          </a:solidFill>
                          <a:latin typeface="Segoe UI" pitchFamily="34" charset="0"/>
                          <a:ea typeface="Segoe UI" pitchFamily="34" charset="-122"/>
                          <a:cs typeface="Segoe UI" pitchFamily="34" charset="-120"/>
                        </a:rPr>
                        <a:t> ; journal, empreintes, lecture et procès-verbal demeurent.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RG-ADM-45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Confirmation par téléphone désactivée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confirmation d’un compte candidat par un code envoyé au téléphone peut s’exiger, mais </a:t>
                      </a:r>
                      <a:r>
                        <a:rPr lang="en-US" sz="1100" b="1" dirty="0">
                          <a:solidFill>
                            <a:srgbClr val="1B2A3A"/>
                          </a:solidFill>
                          <a:latin typeface="Segoe UI" pitchFamily="34" charset="0"/>
                          <a:ea typeface="Segoe UI" pitchFamily="34" charset="-122"/>
                          <a:cs typeface="Segoe UI" pitchFamily="34" charset="-120"/>
                        </a:rPr>
                        <a:t>aucune passerelle d’envoi n’est raccordée</a:t>
                      </a:r>
                      <a:r>
                        <a:rPr lang="en-US" sz="1100" dirty="0">
                          <a:solidFill>
                            <a:srgbClr val="1B2A3A"/>
                          </a:solidFill>
                          <a:latin typeface="Segoe UI" pitchFamily="34" charset="0"/>
                          <a:ea typeface="Segoe UI" pitchFamily="34" charset="-122"/>
                          <a:cs typeface="Segoe UI" pitchFamily="34" charset="-120"/>
                        </a:rPr>
                        <a:t> : le réglage doit rester désactivé. Le téléphone est alors déclaré sans être confirmé ; la confirmation passe par le courriel.</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RG-ADM-46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rappel des parts de clé</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 nombre de jours avant la date limite de remise (7 par défaut), chaque membre de la commission dont la part de clé n’a pas été vérifiée depuis la clôture de la cérémonie reçoit un rappel, </a:t>
                      </a:r>
                      <a:r>
                        <a:rPr lang="en-US" sz="1100" b="1" dirty="0">
                          <a:solidFill>
                            <a:srgbClr val="1B2A3A"/>
                          </a:solidFill>
                          <a:latin typeface="Segoe UI" pitchFamily="34" charset="0"/>
                          <a:ea typeface="Segoe UI" pitchFamily="34" charset="-122"/>
                          <a:cs typeface="Segoe UI" pitchFamily="34" charset="-120"/>
                        </a:rPr>
                        <a:t>une fois</a:t>
                      </a:r>
                      <a:r>
                        <a:rPr lang="en-US" sz="1100" dirty="0">
                          <a:solidFill>
                            <a:srgbClr val="1B2A3A"/>
                          </a:solidFill>
                          <a:latin typeface="Segoe UI" pitchFamily="34" charset="0"/>
                          <a:ea typeface="Segoe UI" pitchFamily="34" charset="-122"/>
                          <a:cs typeface="Segoe UI" pitchFamily="34" charset="-120"/>
                        </a:rPr>
                        <a:t>. Le quorum de déchiffrement réglé ici (3 sur 5 par défaut) n’est qu’une </a:t>
                      </a:r>
                      <a:r>
                        <a:rPr lang="en-US" sz="1100" b="1" dirty="0">
                          <a:solidFill>
                            <a:srgbClr val="1B2A3A"/>
                          </a:solidFill>
                          <a:latin typeface="Segoe UI" pitchFamily="34" charset="0"/>
                          <a:ea typeface="Segoe UI" pitchFamily="34" charset="-122"/>
                          <a:cs typeface="Segoe UI" pitchFamily="34" charset="-120"/>
                        </a:rPr>
                        <a:t>proposition</a:t>
                      </a:r>
                      <a:r>
                        <a:rPr lang="en-US" sz="1100" dirty="0">
                          <a:solidFill>
                            <a:srgbClr val="1B2A3A"/>
                          </a:solidFill>
                          <a:latin typeface="Segoe UI" pitchFamily="34" charset="0"/>
                          <a:ea typeface="Segoe UI" pitchFamily="34" charset="-122"/>
                          <a:cs typeface="Segoe UI" pitchFamily="34" charset="-120"/>
                        </a:rPr>
                        <a:t> : il se fixe dans les paramètres de chaque procédure, entre 2 et le nombre de membres.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api-endpoints.md § Entreprise du candidat, vérification du NIF, exclusions de l’ARMP · regles-gestion.md § La remise électronique des offres (cahier des charges du pilote du 27/09) · api-endpoints.md § Comptes candidats (les codes) · api-endpoints.md § La cérémonie des clés et la procédure de secours S1 à S4 ; § Paramètres système (remise électronique)</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450</a:t>
            </a:r>
            <a:endParaRPr lang="en-US" sz="1100" dirty="0"/>
          </a:p>
        </p:txBody>
      </p:sp>
    </p:spTree>
  </p:cSld>
  <p:clrMapOvr>
    <a:masterClrMapping/>
  </p:clrMapOvr>
</p:sld>
</file>

<file path=ppt/slides/slide451.xml><?xml version="1.0" encoding="utf-8"?>
<p:sld xmlns:a="http://schemas.openxmlformats.org/drawingml/2006/main" xmlns:r="http://schemas.openxmlformats.org/officeDocument/2006/relationships" xmlns:p="http://schemas.openxmlformats.org/presentationml/2006/main">
  <p:cSld name="Slide 45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11 ADMINISTRER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Traces et communication</a:t>
            </a:r>
            <a:endParaRPr lang="en-US" sz="2600" dirty="0"/>
          </a:p>
        </p:txBody>
      </p:sp>
      <p:graphicFrame>
        <p:nvGraphicFramePr>
          <p:cNvPr id="452"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169672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RG-ADM-31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Journal d’audit immuable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Toute écriture est tracée au journal, qui se filtre par objet, acteur et période, du plus récent au plus ancien. Il est </a:t>
                      </a:r>
                      <a:r>
                        <a:rPr lang="en-US" sz="1100" b="1" dirty="0">
                          <a:solidFill>
                            <a:srgbClr val="1B2A3A"/>
                          </a:solidFill>
                          <a:latin typeface="Segoe UI" pitchFamily="34" charset="0"/>
                          <a:ea typeface="Segoe UI" pitchFamily="34" charset="-122"/>
                          <a:cs typeface="Segoe UI" pitchFamily="34" charset="-120"/>
                        </a:rPr>
                        <a:t>immuable</a:t>
                      </a:r>
                      <a:r>
                        <a:rPr lang="en-US" sz="1100" dirty="0">
                          <a:solidFill>
                            <a:srgbClr val="1B2A3A"/>
                          </a:solidFill>
                          <a:latin typeface="Segoe UI" pitchFamily="34" charset="0"/>
                          <a:ea typeface="Segoe UI" pitchFamily="34" charset="-122"/>
                          <a:cs typeface="Segoe UI" pitchFamily="34" charset="-120"/>
                        </a:rPr>
                        <a:t> : nul n’y ajoute, n’y modifie ni n’y supprime une entrée.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RG-ADM-32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Connexions journalisées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Chaque connexion réussie ou refusée et chaque déconnexion sont enregistrées avec l’adresse, le poste et l’heure. Une tentative sur un identifiant inconnu n’est attribuée à personne. Aucune purge n’est prévue : la durée de conservation reste </a:t>
                      </a:r>
                      <a:r>
                        <a:rPr lang="en-US" sz="1100" b="1" dirty="0">
                          <a:solidFill>
                            <a:srgbClr val="1B2A3A"/>
                          </a:solidFill>
                          <a:latin typeface="Segoe UI" pitchFamily="34" charset="0"/>
                          <a:ea typeface="Segoe UI" pitchFamily="34" charset="-122"/>
                          <a:cs typeface="Segoe UI" pitchFamily="34" charset="-120"/>
                        </a:rPr>
                        <a:t>à arbitrer</a:t>
                      </a:r>
                      <a:r>
                        <a:rPr lang="en-US" sz="1100" dirty="0">
                          <a:solidFill>
                            <a:srgbClr val="1B2A3A"/>
                          </a:solidFill>
                          <a:latin typeface="Segoe UI" pitchFamily="34" charset="0"/>
                          <a:ea typeface="Segoe UI" pitchFamily="34" charset="-122"/>
                          <a:cs typeface="Segoe UI" pitchFamily="34" charset="-120"/>
                        </a:rPr>
                        <a: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RG-ADM-33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Actualités ciblées et archivées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Une actualité, en texte simple sans mise en page libre, vise au moins un profil et s’affiche à l’ouverture de session dans sa période de publication. Elle naît </a:t>
                      </a:r>
                      <a:r>
                        <a:rPr lang="en-US" sz="1100" b="1" dirty="0">
                          <a:solidFill>
                            <a:srgbClr val="1B2A3A"/>
                          </a:solidFill>
                          <a:latin typeface="Segoe UI" pitchFamily="34" charset="0"/>
                          <a:ea typeface="Segoe UI" pitchFamily="34" charset="-122"/>
                          <a:cs typeface="Segoe UI" pitchFamily="34" charset="-120"/>
                        </a:rPr>
                        <a:t>inactive</a:t>
                      </a:r>
                      <a:r>
                        <a:rPr lang="en-US" sz="1100" dirty="0">
                          <a:solidFill>
                            <a:srgbClr val="1B2A3A"/>
                          </a:solidFill>
                          <a:latin typeface="Segoe UI" pitchFamily="34" charset="0"/>
                          <a:ea typeface="Segoe UI" pitchFamily="34" charset="-122"/>
                          <a:cs typeface="Segoe UI" pitchFamily="34" charset="-120"/>
                        </a:rPr>
                        <a:t> ; supprimée, elle est archivée. Un interrupteur général les coupe toutes.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3.8. Administrateur › Module 08 — Journal d’audit · regles-gestion.md § 3.8. Administrateur › Module 10 — Administration &amp; sécurité › Journal des connexions · regles-gestion.md § Actualités à l’ouverture de session (transversal)</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451</a:t>
            </a:r>
            <a:endParaRPr lang="en-US" sz="1100" dirty="0"/>
          </a:p>
        </p:txBody>
      </p:sp>
    </p:spTree>
  </p:cSld>
  <p:clrMapOvr>
    <a:masterClrMapping/>
  </p:clrMapOvr>
</p:sld>
</file>

<file path=ppt/slides/slide452.xml><?xml version="1.0" encoding="utf-8"?>
<p:sld xmlns:a="http://schemas.openxmlformats.org/drawingml/2006/main" xmlns:r="http://schemas.openxmlformats.org/officeDocument/2006/relationships" xmlns:p="http://schemas.openxmlformats.org/presentationml/2006/main">
  <p:cSld name="Slide 45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11 ADMINISTRER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Pré-contrôle</a:t>
            </a:r>
            <a:endParaRPr lang="en-US" sz="2600" dirty="0"/>
          </a:p>
        </p:txBody>
      </p:sp>
      <p:graphicFrame>
        <p:nvGraphicFramePr>
          <p:cNvPr id="453"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10922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RG-ADM-34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Taux d’écartement par règle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tableau donne, règle par règle, la part des signalements écartés, en compteurs seuls, sans aucun plan. Une règle écartée dans </a:t>
                      </a:r>
                      <a:r>
                        <a:rPr lang="en-US" sz="1100" b="1" dirty="0">
                          <a:solidFill>
                            <a:srgbClr val="1B2A3A"/>
                          </a:solidFill>
                          <a:latin typeface="Segoe UI" pitchFamily="34" charset="0"/>
                          <a:ea typeface="Segoe UI" pitchFamily="34" charset="-122"/>
                          <a:cs typeface="Segoe UI" pitchFamily="34" charset="-120"/>
                        </a:rPr>
                        <a:t>80 % des cas</a:t>
                      </a:r>
                      <a:r>
                        <a:rPr lang="en-US" sz="1100" dirty="0">
                          <a:solidFill>
                            <a:srgbClr val="1B2A3A"/>
                          </a:solidFill>
                          <a:latin typeface="Segoe UI" pitchFamily="34" charset="0"/>
                          <a:ea typeface="Segoe UI" pitchFamily="34" charset="-122"/>
                          <a:cs typeface="Segoe UI" pitchFamily="34" charset="-120"/>
                        </a:rPr>
                        <a:t> s’éteint depuis l’administration ; les motifs déjà saisis sont conservés.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RG-ADM-35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Levé n’est pas écarté</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 signalement </a:t>
                      </a:r>
                      <a:r>
                        <a:rPr lang="en-US" sz="1100" b="1" dirty="0">
                          <a:solidFill>
                            <a:srgbClr val="1B2A3A"/>
                          </a:solidFill>
                          <a:latin typeface="Segoe UI" pitchFamily="34" charset="0"/>
                          <a:ea typeface="Segoe UI" pitchFamily="34" charset="-122"/>
                          <a:cs typeface="Segoe UI" pitchFamily="34" charset="-120"/>
                        </a:rPr>
                        <a:t>levé</a:t>
                      </a:r>
                      <a:r>
                        <a:rPr lang="en-US" sz="1100" dirty="0">
                          <a:solidFill>
                            <a:srgbClr val="1B2A3A"/>
                          </a:solidFill>
                          <a:latin typeface="Segoe UI" pitchFamily="34" charset="0"/>
                          <a:ea typeface="Segoe UI" pitchFamily="34" charset="-122"/>
                          <a:cs typeface="Segoe UI" pitchFamily="34" charset="-120"/>
                        </a:rPr>
                        <a:t> — la PRMP a corrigé son plan — est une réussite et ne compte pas dans le taux. Le seuil ne joue qu’à partir de cinq signalements ; l’accueil annonce la règle qui le dépasse.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Signalement du pré-contrôle : écartable, motivé, jamais effacé</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452</a:t>
            </a:r>
            <a:endParaRPr lang="en-US" sz="1100" dirty="0"/>
          </a:p>
        </p:txBody>
      </p:sp>
    </p:spTree>
  </p:cSld>
  <p:clrMapOvr>
    <a:masterClrMapping/>
  </p:clrMapOvr>
</p:sld>
</file>

<file path=ppt/slides/slide453.xml><?xml version="1.0" encoding="utf-8"?>
<p:sld xmlns:a="http://schemas.openxmlformats.org/drawingml/2006/main" xmlns:r="http://schemas.openxmlformats.org/officeDocument/2006/relationships" xmlns:p="http://schemas.openxmlformats.org/presentationml/2006/main">
  <p:cSld name="Slide 45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11 ADMINISTRER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Paramètres du manuel révisé (1/2)</a:t>
            </a:r>
            <a:endParaRPr lang="en-US" sz="2600" dirty="0"/>
          </a:p>
        </p:txBody>
      </p:sp>
      <p:graphicFrame>
        <p:nvGraphicFramePr>
          <p:cNvPr id="454"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340868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RG-ADM-36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quorum de la commission d’appel d’offres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commission ne délibère valablement qu’au </a:t>
                      </a:r>
                      <a:r>
                        <a:rPr lang="en-US" sz="1100" b="1" dirty="0">
                          <a:solidFill>
                            <a:srgbClr val="1B2A3A"/>
                          </a:solidFill>
                          <a:latin typeface="Segoe UI" pitchFamily="34" charset="0"/>
                          <a:ea typeface="Segoe UI" pitchFamily="34" charset="-122"/>
                          <a:cs typeface="Segoe UI" pitchFamily="34" charset="-120"/>
                        </a:rPr>
                        <a:t>quorum</a:t>
                      </a:r>
                      <a:r>
                        <a:rPr lang="en-US" sz="1100" dirty="0">
                          <a:solidFill>
                            <a:srgbClr val="1B2A3A"/>
                          </a:solidFill>
                          <a:latin typeface="Segoe UI" pitchFamily="34" charset="0"/>
                          <a:ea typeface="Segoe UI" pitchFamily="34" charset="-122"/>
                          <a:cs typeface="Segoe UI" pitchFamily="34" charset="-120"/>
                        </a:rPr>
                        <a:t>, réglé par l’Administrateur pour toutes les procédures : la majorité des membres désignés (par défaut), tous, ou un nombre. Une procédure peut avoir sa propre règle. Le président, ou le représentant qu’il désigne pour la séance, est toujours requis en plus ; dans une commission de deux membres, la majorité vaut l’unanimité.</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RG-ADM-37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Là où le quorum bloque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quorum bloque la clôture de la séance d’ouverture et de la seconde séance, la production du rapport d’évaluation et l’arrêt de la liste de l’AMI, ainsi que tout </a:t>
                      </a:r>
                      <a:r>
                        <a:rPr lang="en-US" sz="1100" b="1" dirty="0">
                          <a:solidFill>
                            <a:srgbClr val="1B2A3A"/>
                          </a:solidFill>
                          <a:latin typeface="Segoe UI" pitchFamily="34" charset="0"/>
                          <a:ea typeface="Segoe UI" pitchFamily="34" charset="-122"/>
                          <a:cs typeface="Segoe UI" pitchFamily="34" charset="-120"/>
                        </a:rPr>
                        <a:t>empêchement</a:t>
                      </a:r>
                      <a:r>
                        <a:rPr lang="en-US" sz="1100" dirty="0">
                          <a:solidFill>
                            <a:srgbClr val="1B2A3A"/>
                          </a:solidFill>
                          <a:latin typeface="Segoe UI" pitchFamily="34" charset="0"/>
                          <a:ea typeface="Segoe UI" pitchFamily="34" charset="-122"/>
                          <a:cs typeface="Segoe UI" pitchFamily="34" charset="-120"/>
                        </a:rPr>
                        <a:t> qui le rendrait inatteignable : aucun procès-verbal ni rapport ne reste sans issue. Le quorum constaté s’imprime au procès-verbal et au rapport.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RG-ADM-38</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recours suspensifs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Les types de recours qui suspendent la signature du marché sont un réglage de l’Administrateur : par défaut la révision par l’ARMP (art. 80) et le référé précontractuel (art. 78) ; le réexamen par la PRMP (art. 79) peut être ajouté. La suspension dure jusqu’à la décision, vingt jours au plus. Le réglage vaut </a:t>
                      </a:r>
                      <a:r>
                        <a:rPr lang="en-US" sz="1100" b="1" dirty="0">
                          <a:solidFill>
                            <a:srgbClr val="1B2A3A"/>
                          </a:solidFill>
                          <a:latin typeface="Segoe UI" pitchFamily="34" charset="0"/>
                          <a:ea typeface="Segoe UI" pitchFamily="34" charset="-122"/>
                          <a:cs typeface="Segoe UI" pitchFamily="34" charset="-120"/>
                        </a:rPr>
                        <a:t>immédiatement</a:t>
                      </a:r>
                      <a:r>
                        <a:rPr lang="en-US" sz="1100" dirty="0">
                          <a:solidFill>
                            <a:srgbClr val="1B2A3A"/>
                          </a:solidFill>
                          <a:latin typeface="Segoe UI" pitchFamily="34" charset="0"/>
                          <a:ea typeface="Segoe UI" pitchFamily="34" charset="-122"/>
                          <a:cs typeface="Segoe UI" pitchFamily="34" charset="-120"/>
                        </a:rPr>
                        <a:t>, y compris pour les recours déjà déclarés.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RG-ADM-39</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 transition SIGMP</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L’avis spécifique et les lettres d’invitation produits par l’application remplacent les imprimés du SIGMP. Pendant la transition, l’imprimé reste accepté en pièce </a:t>
                      </a:r>
                      <a:r>
                        <a:rPr lang="en-US" sz="1100" b="1" dirty="0">
                          <a:solidFill>
                            <a:srgbClr val="1B2A3A"/>
                          </a:solidFill>
                          <a:latin typeface="Segoe UI" pitchFamily="34" charset="0"/>
                          <a:ea typeface="Segoe UI" pitchFamily="34" charset="-122"/>
                          <a:cs typeface="Segoe UI" pitchFamily="34" charset="-120"/>
                        </a:rPr>
                        <a:t>facultative</a:t>
                      </a:r>
                      <a:r>
                        <a:rPr lang="en-US" sz="1100" dirty="0">
                          <a:solidFill>
                            <a:srgbClr val="1B2A3A"/>
                          </a:solidFill>
                          <a:latin typeface="Segoe UI" pitchFamily="34" charset="0"/>
                          <a:ea typeface="Segoe UI" pitchFamily="34" charset="-122"/>
                          <a:cs typeface="Segoe UI" pitchFamily="34" charset="-120"/>
                        </a:rPr>
                        <a:t> des procédures en ligne ; dès la date de fin réglée par l’Administrateur, il n’est plus demandé. Sans date, la transition dure. Les dossiers saisis hors de l’application continuent d’exiger l’imprimé.</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RG-ADM-40</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 décision d’équivalence au pied des documents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Chaque page des documents générés porte en pied la décision formelle d’équivalence (« Document produit par la plateforme PRS 2.0 en application de la décision n° … du … ») dès que l’Administrateur l’a réglée ; auparavant, « Projet — équivalence SIGMP en attente ». Référence et date vont ensemble. Un document déjà imprimé </a:t>
                      </a:r>
                      <a:r>
                        <a:rPr lang="en-US" sz="1100" b="1" dirty="0">
                          <a:solidFill>
                            <a:srgbClr val="1B2A3A"/>
                          </a:solidFill>
                          <a:latin typeface="Segoe UI" pitchFamily="34" charset="0"/>
                          <a:ea typeface="Segoe UI" pitchFamily="34" charset="-122"/>
                          <a:cs typeface="Segoe UI" pitchFamily="34" charset="-120"/>
                        </a:rPr>
                        <a:t>garde</a:t>
                      </a:r>
                      <a:r>
                        <a:rPr lang="en-US" sz="1100" dirty="0">
                          <a:solidFill>
                            <a:srgbClr val="1B2A3A"/>
                          </a:solidFill>
                          <a:latin typeface="Segoe UI" pitchFamily="34" charset="0"/>
                          <a:ea typeface="Segoe UI" pitchFamily="34" charset="-122"/>
                          <a:cs typeface="Segoe UI" pitchFamily="34" charset="-120"/>
                        </a:rPr>
                        <a:t> le pied du moment.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La remise électronique des offres — encadré du 2026-10-10 (manuel révisé, lot 1, R1) · regles-gestion.md § Le dossier soumis — encadré du 2026-10-14 (manuel révisé, lot 2, R9a, titre VIII) · regles-gestion.md § Le dossier soumis — encadré du 2026-10-13 (manuel révisé, lot 1, R3a) · api-endpoints.md § Le manuel révisé, lot 1, tranche R3a : la transition SIGMP et le pied d’équivalence</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453</a:t>
            </a:r>
            <a:endParaRPr lang="en-US" sz="1100" dirty="0"/>
          </a:p>
        </p:txBody>
      </p:sp>
    </p:spTree>
  </p:cSld>
  <p:clrMapOvr>
    <a:masterClrMapping/>
  </p:clrMapOvr>
</p:sld>
</file>

<file path=ppt/slides/slide454.xml><?xml version="1.0" encoding="utf-8"?>
<p:sld xmlns:a="http://schemas.openxmlformats.org/drawingml/2006/main" xmlns:r="http://schemas.openxmlformats.org/officeDocument/2006/relationships" xmlns:p="http://schemas.openxmlformats.org/presentationml/2006/main">
  <p:cSld name="Slide 45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11 ADMINISTRER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Paramètres du manuel révisé (2/2)</a:t>
            </a:r>
            <a:endParaRPr lang="en-US" sz="2600" dirty="0"/>
          </a:p>
        </p:txBody>
      </p:sp>
      <p:graphicFrame>
        <p:nvGraphicFramePr>
          <p:cNvPr id="455"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82296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RG-ADM-44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 signature de l’offre en ligne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Pendant une procédure en ligne, le dépôt de l’offre depuis le compte authentifié du candidat, scellé par la plateforme, vaut signature de l’offre et de l’acte d’engagement. Le réglage « Signature de l’offre » se tient dans les paramètres internes de la procédure ; la signature </a:t>
                      </a:r>
                      <a:r>
                        <a:rPr lang="en-US" sz="1100" b="1" dirty="0">
                          <a:solidFill>
                            <a:srgbClr val="1B2A3A"/>
                          </a:solidFill>
                          <a:latin typeface="Segoe UI" pitchFamily="34" charset="0"/>
                          <a:ea typeface="Segoe UI" pitchFamily="34" charset="-122"/>
                          <a:cs typeface="Segoe UI" pitchFamily="34" charset="-120"/>
                        </a:rPr>
                        <a:t>certifiée</a:t>
                      </a:r>
                      <a:r>
                        <a:rPr lang="en-US" sz="1100" dirty="0">
                          <a:solidFill>
                            <a:srgbClr val="1B2A3A"/>
                          </a:solidFill>
                          <a:latin typeface="Segoe UI" pitchFamily="34" charset="0"/>
                          <a:ea typeface="Segoe UI" pitchFamily="34" charset="-122"/>
                          <a:cs typeface="Segoe UI" pitchFamily="34" charset="-120"/>
                        </a:rPr>
                        <a:t> y est une option réservée qui, choisie, ne change encore rien.</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Le dossier soumis — encadré du 2026-10-14 (manuel révisé, lot 2, R10)</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454</a:t>
            </a:r>
            <a:endParaRPr lang="en-US" sz="1100" dirty="0"/>
          </a:p>
        </p:txBody>
      </p:sp>
    </p:spTree>
  </p:cSld>
  <p:clrMapOvr>
    <a:masterClrMapping/>
  </p:clrMapOvr>
</p:sld>
</file>

<file path=ppt/slides/slide455.xml><?xml version="1.0" encoding="utf-8"?>
<p:sld xmlns:a="http://schemas.openxmlformats.org/drawingml/2006/main" xmlns:r="http://schemas.openxmlformats.org/officeDocument/2006/relationships" xmlns:p="http://schemas.openxmlformats.org/presentationml/2006/main">
  <p:cSld name="Slide 45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11 ADMINISTRER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Délais</a:t>
            </a:r>
            <a:endParaRPr lang="en-US" sz="2600" dirty="0"/>
          </a:p>
        </p:txBody>
      </p:sp>
      <p:graphicFrame>
        <p:nvGraphicFramePr>
          <p:cNvPr id="456"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236728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RG-ADM-41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neuf délais de la loi ne se règlent pas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Neuf délais de la loi n° 2016-055 font foi : publicité de l’appel d’offres ouvert national (30 jours) et international (45 jours, art. 35-II), questions des candidats jusqu’à J−10, consultation ouverte (10 jours, art. 41-II), plan réputé approuvé après 10 jours ouvrables (art. 26-IV), 10 jours francs avant la signature (art. 52-I et 58), pièces de l’attributaire sous 15 jours (art. 20-I), avis d’attribution sous 30 jours (art. 53), avis sur une déclaration sans suite sous 5 jours (art. 55-II). Le jour de départ n’est pas compté ; les délais </a:t>
                      </a:r>
                      <a:r>
                        <a:rPr lang="en-US" sz="1100" b="1" dirty="0">
                          <a:solidFill>
                            <a:srgbClr val="1B2A3A"/>
                          </a:solidFill>
                          <a:latin typeface="Segoe UI" pitchFamily="34" charset="0"/>
                          <a:ea typeface="Segoe UI" pitchFamily="34" charset="-122"/>
                          <a:cs typeface="Segoe UI" pitchFamily="34" charset="-120"/>
                        </a:rPr>
                        <a:t>bloquants</a:t>
                      </a:r>
                      <a:r>
                        <a:rPr lang="en-US" sz="1100" dirty="0">
                          <a:solidFill>
                            <a:srgbClr val="1B2A3A"/>
                          </a:solidFill>
                          <a:latin typeface="Segoe UI" pitchFamily="34" charset="0"/>
                          <a:ea typeface="Segoe UI" pitchFamily="34" charset="-122"/>
                          <a:cs typeface="Segoe UI" pitchFamily="34" charset="-120"/>
                        </a:rPr>
                        <a:t> refusent le geste qui les enfreint.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RG-ADM-42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Les délais réglables sont signalés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Les délais issus des décrets, des documents types ou du manuel (appel d’offres restreint, prestations intellectuelles, AMI, contrat-cadre, pré-qualification, délai aménagé, réception présumée d’une lettre) se règlent par l’Administrateur. Tant que le pilote ne les a pas confirmés, ils sont </a:t>
                      </a:r>
                      <a:r>
                        <a:rPr lang="en-US" sz="1100" b="1" dirty="0">
                          <a:solidFill>
                            <a:srgbClr val="1B2A3A"/>
                          </a:solidFill>
                          <a:latin typeface="Segoe UI" pitchFamily="34" charset="0"/>
                          <a:ea typeface="Segoe UI" pitchFamily="34" charset="-122"/>
                          <a:cs typeface="Segoe UI" pitchFamily="34" charset="-120"/>
                        </a:rPr>
                        <a:t>signalés, jamais bloquants</a:t>
                      </a:r>
                      <a:r>
                        <a:rPr lang="en-US" sz="1100" dirty="0">
                          <a:solidFill>
                            <a:srgbClr val="1B2A3A"/>
                          </a:solidFill>
                          <a:latin typeface="Segoe UI" pitchFamily="34" charset="0"/>
                          <a:ea typeface="Segoe UI" pitchFamily="34" charset="-122"/>
                          <a:cs typeface="Segoe UI" pitchFamily="34" charset="-120"/>
                        </a:rPr>
                        <a:t> ; un délai inactif n’est plus évalué.</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RG-ADM-43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Délais par type de dossier et alerte d’examen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L’Administrateur peut régler, pour un sous-type de dossier, un délai propre à une étape ; sans réglage, le délai standard s’applique. La date de fin annoncée à la PRMP suit ces réglages. Un dossier ne reste pas plus de </a:t>
                      </a:r>
                      <a:r>
                        <a:rPr lang="en-US" sz="1100" b="1" dirty="0">
                          <a:solidFill>
                            <a:srgbClr val="1B2A3A"/>
                          </a:solidFill>
                          <a:latin typeface="Segoe UI" pitchFamily="34" charset="0"/>
                          <a:ea typeface="Segoe UI" pitchFamily="34" charset="-122"/>
                          <a:cs typeface="Segoe UI" pitchFamily="34" charset="-120"/>
                        </a:rPr>
                        <a:t>5 jours ouvrés</a:t>
                      </a:r>
                      <a:r>
                        <a:rPr lang="en-US" sz="1100" dirty="0">
                          <a:solidFill>
                            <a:srgbClr val="1B2A3A"/>
                          </a:solidFill>
                          <a:latin typeface="Segoe UI" pitchFamily="34" charset="0"/>
                          <a:ea typeface="Segoe UI" pitchFamily="34" charset="-122"/>
                          <a:cs typeface="Segoe UI" pitchFamily="34" charset="-120"/>
                        </a:rPr>
                        <a:t> en examen : au-delà, le Membre examinateur, le Chef de commission et le Président sont avertis, une fois par passage.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Le dossier soumis — encadré du 2026-10-13 (manuel révisé, lot 2, R6a) · regles-gestion.md § Le dossier soumis — encadré du 2026-10-13 (R6a) ; api-endpoints.md § délais administrables · regles-gestion.md § Le dossier soumis — encadré du 2026-10-09 (tranche M5b)</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455</a:t>
            </a:r>
            <a:endParaRPr lang="en-US" sz="1100" dirty="0"/>
          </a:p>
        </p:txBody>
      </p:sp>
    </p:spTree>
  </p:cSld>
  <p:clrMapOvr>
    <a:masterClrMapping/>
  </p:clrMapOvr>
</p:sld>
</file>

<file path=ppt/slides/slide456.xml><?xml version="1.0" encoding="utf-8"?>
<p:sld xmlns:a="http://schemas.openxmlformats.org/drawingml/2006/main" xmlns:r="http://schemas.openxmlformats.org/officeDocument/2006/relationships" xmlns:p="http://schemas.openxmlformats.org/presentationml/2006/main">
  <p:cSld name="Slide 45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12 PILOTER ET PUBLIER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Suivi des dossiers</a:t>
            </a:r>
            <a:endParaRPr lang="en-US" sz="2600" dirty="0"/>
          </a:p>
        </p:txBody>
      </p:sp>
      <p:graphicFrame>
        <p:nvGraphicFramePr>
          <p:cNvPr id="457"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91440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RG-PIL-01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Fin prévue dès la soumission</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PRMP voit, pour chaque dossier, la date de dépôt et la </a:t>
                      </a:r>
                      <a:r>
                        <a:rPr lang="en-US" sz="1100" b="1" dirty="0">
                          <a:solidFill>
                            <a:srgbClr val="1B2A3A"/>
                          </a:solidFill>
                          <a:latin typeface="Segoe UI" pitchFamily="34" charset="0"/>
                          <a:ea typeface="Segoe UI" pitchFamily="34" charset="-122"/>
                          <a:cs typeface="Segoe UI" pitchFamily="34" charset="-120"/>
                        </a:rPr>
                        <a:t>fin de traitement prévue</a:t>
                      </a:r>
                      <a:r>
                        <a:rPr lang="en-US" sz="1100" dirty="0">
                          <a:solidFill>
                            <a:srgbClr val="1B2A3A"/>
                          </a:solidFill>
                          <a:latin typeface="Segoe UI" pitchFamily="34" charset="0"/>
                          <a:ea typeface="Segoe UI" pitchFamily="34" charset="-122"/>
                          <a:cs typeface="Segoe UI" pitchFamily="34" charset="-120"/>
                        </a:rPr>
                        <a:t>, calculée par l’application dès la soumission à partir des délais standards de la Commission (et, s’il en a, de ceux de son sous-type).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RG-PIL-02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La date glisse, sans promesse</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Quand le dossier attend la PRMP (compléments, pièces, décision), la date reste calculée mais </a:t>
                      </a:r>
                      <a:r>
                        <a:rPr lang="en-US" sz="1100" b="1" dirty="0">
                          <a:solidFill>
                            <a:srgbClr val="1B2A3A"/>
                          </a:solidFill>
                          <a:latin typeface="Segoe UI" pitchFamily="34" charset="0"/>
                          <a:ea typeface="Segoe UI" pitchFamily="34" charset="-122"/>
                          <a:cs typeface="Segoe UI" pitchFamily="34" charset="-120"/>
                        </a:rPr>
                        <a:t>glisse</a:t>
                      </a:r>
                      <a:r>
                        <a:rPr lang="en-US" sz="1100" dirty="0">
                          <a:solidFill>
                            <a:srgbClr val="1B2A3A"/>
                          </a:solidFill>
                          <a:latin typeface="Segoe UI" pitchFamily="34" charset="0"/>
                          <a:ea typeface="Segoe UI" pitchFamily="34" charset="-122"/>
                          <a:cs typeface="Segoe UI" pitchFamily="34" charset="-120"/>
                        </a:rPr>
                        <a:t> jusqu’à sa réponse. Une étape en dépassement ne compte plus : la date recule au lieu de promettre un rattrapage.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RG-PIL-03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Rien d’interne pour la PRMP</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PRMP suit l’avancement de ses dossiers, mais ne voit ni les acteurs internes de la Commission ni la grille point par point : du procès-verbal, elle reçoit la </a:t>
                      </a:r>
                      <a:r>
                        <a:rPr lang="en-US" sz="1100" b="1" dirty="0">
                          <a:solidFill>
                            <a:srgbClr val="1B2A3A"/>
                          </a:solidFill>
                          <a:latin typeface="Segoe UI" pitchFamily="34" charset="0"/>
                          <a:ea typeface="Segoe UI" pitchFamily="34" charset="-122"/>
                          <a:cs typeface="Segoe UI" pitchFamily="34" charset="-120"/>
                        </a:rPr>
                        <a:t>synthèse</a:t>
                      </a:r>
                      <a:r>
                        <a:rPr lang="en-US" sz="1100" dirty="0">
                          <a:solidFill>
                            <a:srgbClr val="1B2A3A"/>
                          </a:solidFill>
                          <a:latin typeface="Segoe UI" pitchFamily="34" charset="0"/>
                          <a:ea typeface="Segoe UI" pitchFamily="34" charset="-122"/>
                          <a:cs typeface="Segoe UI" pitchFamily="34" charset="-120"/>
                        </a:rPr>
                        <a: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3.1. PRMP › Module 02 › Date prévisionnelle de fin de traitement ; encadré du 2026-10-09 (M5b) · regles-gestion.md § Chronométrage et prévision des délais (transversal au circuit) · regles-gestion.md § 3.1. PRMP › Module 03 — Soumission &amp; retours › Consultation du PV d’examen</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456</a:t>
            </a:r>
            <a:endParaRPr lang="en-US" sz="1100" dirty="0"/>
          </a:p>
        </p:txBody>
      </p:sp>
    </p:spTree>
  </p:cSld>
  <p:clrMapOvr>
    <a:masterClrMapping/>
  </p:clrMapOvr>
</p:sld>
</file>

<file path=ppt/slides/slide457.xml><?xml version="1.0" encoding="utf-8"?>
<p:sld xmlns:a="http://schemas.openxmlformats.org/drawingml/2006/main" xmlns:r="http://schemas.openxmlformats.org/officeDocument/2006/relationships" xmlns:p="http://schemas.openxmlformats.org/presentationml/2006/main">
  <p:cSld name="Slide 45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12 PILOTER ET PUBLIER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Rapports et tableaux de pilotage</a:t>
            </a:r>
            <a:endParaRPr lang="en-US" sz="2600" dirty="0"/>
          </a:p>
        </p:txBody>
      </p:sp>
      <p:graphicFrame>
        <p:nvGraphicFramePr>
          <p:cNvPr id="458"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230124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RG-PIL-04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Rapports bornés par la localité</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Les rapports de dossiers se téléchargent en PDF ou en tableur, sur une période facultative : sans dates, tous les dossiers sont inclus. Président et Administrateur couvrent toutes les commissions ; le Chef de commission n’obtient que </a:t>
                      </a:r>
                      <a:r>
                        <a:rPr lang="en-US" sz="1100" b="1" dirty="0">
                          <a:solidFill>
                            <a:srgbClr val="1B2A3A"/>
                          </a:solidFill>
                          <a:latin typeface="Segoe UI" pitchFamily="34" charset="0"/>
                          <a:ea typeface="Segoe UI" pitchFamily="34" charset="-122"/>
                          <a:cs typeface="Segoe UI" pitchFamily="34" charset="-120"/>
                        </a:rPr>
                        <a:t>sa localité</a:t>
                      </a:r>
                      <a:r>
                        <a:rPr lang="en-US" sz="1100" dirty="0">
                          <a:solidFill>
                            <a:srgbClr val="1B2A3A"/>
                          </a:solidFill>
                          <a:latin typeface="Segoe UI" pitchFamily="34" charset="0"/>
                          <a:ea typeface="Segoe UI" pitchFamily="34" charset="-122"/>
                          <a:cs typeface="Segoe UI" pitchFamily="34" charset="-120"/>
                        </a:rPr>
                        <a:t>. L’écran ne propose pas encore de cibler une commission précise, que l’application sait pourtant produire.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RG-PIL-05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Indicateurs selon le profil</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tableau de bord — dossiers par statut, dossiers conformes, taux de conformité, cinq points les plus souvent non conformes — est lu par le Président et l’Administrateur pour </a:t>
                      </a:r>
                      <a:r>
                        <a:rPr lang="en-US" sz="1100" b="1" dirty="0">
                          <a:solidFill>
                            <a:srgbClr val="1B2A3A"/>
                          </a:solidFill>
                          <a:latin typeface="Segoe UI" pitchFamily="34" charset="0"/>
                          <a:ea typeface="Segoe UI" pitchFamily="34" charset="-122"/>
                          <a:cs typeface="Segoe UI" pitchFamily="34" charset="-120"/>
                        </a:rPr>
                        <a:t>toutes les localités</a:t>
                      </a:r>
                      <a:r>
                        <a:rPr lang="en-US" sz="1100" dirty="0">
                          <a:solidFill>
                            <a:srgbClr val="1B2A3A"/>
                          </a:solidFill>
                          <a:latin typeface="Segoe UI" pitchFamily="34" charset="0"/>
                          <a:ea typeface="Segoe UI" pitchFamily="34" charset="-122"/>
                          <a:cs typeface="Segoe UI" pitchFamily="34" charset="-120"/>
                        </a:rPr>
                        <a:t>, par le Chef de commission pour la sienne seulement. La PRMP n’a pas accès aux statistiques de la CNM.</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RG-PIL-06</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Ce que mesure la conformité</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 dossier est conforme quand le Vérificateur constate les observations levées au dernier passage. Le taux de conformité mesure la </a:t>
                      </a:r>
                      <a:r>
                        <a:rPr lang="en-US" sz="1100" b="1" dirty="0">
                          <a:solidFill>
                            <a:srgbClr val="1B2A3A"/>
                          </a:solidFill>
                          <a:latin typeface="Segoe UI" pitchFamily="34" charset="0"/>
                          <a:ea typeface="Segoe UI" pitchFamily="34" charset="-122"/>
                          <a:cs typeface="Segoe UI" pitchFamily="34" charset="-120"/>
                        </a:rPr>
                        <a:t>qualité initiale</a:t>
                      </a:r>
                      <a:r>
                        <a:rPr lang="en-US" sz="1100" dirty="0">
                          <a:solidFill>
                            <a:srgbClr val="1B2A3A"/>
                          </a:solidFill>
                          <a:latin typeface="Segoe UI" pitchFamily="34" charset="0"/>
                          <a:ea typeface="Segoe UI" pitchFamily="34" charset="-122"/>
                          <a:cs typeface="Segoe UI" pitchFamily="34" charset="-120"/>
                        </a:rPr>
                        <a:t> des soumissions : 100 % signifie aucun retour.</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RG-PIL-15</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Le taux se compte sur les dossiers soumis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taux de conformité rapporte les dossiers conformes aux dossiers </a:t>
                      </a:r>
                      <a:r>
                        <a:rPr lang="en-US" sz="1100" b="1" dirty="0">
                          <a:solidFill>
                            <a:srgbClr val="1B2A3A"/>
                          </a:solidFill>
                          <a:latin typeface="Segoe UI" pitchFamily="34" charset="0"/>
                          <a:ea typeface="Segoe UI" pitchFamily="34" charset="-122"/>
                          <a:cs typeface="Segoe UI" pitchFamily="34" charset="-120"/>
                        </a:rPr>
                        <a:t>soumis</a:t>
                      </a:r>
                      <a:r>
                        <a:rPr lang="en-US" sz="1100" dirty="0">
                          <a:solidFill>
                            <a:srgbClr val="1B2A3A"/>
                          </a:solidFill>
                          <a:latin typeface="Segoe UI" pitchFamily="34" charset="0"/>
                          <a:ea typeface="Segoe UI" pitchFamily="34" charset="-122"/>
                          <a:cs typeface="Segoe UI" pitchFamily="34" charset="-120"/>
                        </a:rPr>
                        <a:t> : les brouillons n’entrent pas dans le compte des dossiers déposés, mais restent visibles dans la répartition par statut.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api-endpoints.md § Rapports · api-endpoints.md § KPIs / Tableau de bord ; § Instantanés de statistiques · regles-gestion.md § 3.2. Président › Module 01 — Tableau de bord &amp; KPIs › Taux de conformité · api-endpoints.md § KPIs / Tableau de bord</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457</a:t>
            </a:r>
            <a:endParaRPr lang="en-US" sz="1100" dirty="0"/>
          </a:p>
        </p:txBody>
      </p:sp>
    </p:spTree>
  </p:cSld>
  <p:clrMapOvr>
    <a:masterClrMapping/>
  </p:clrMapOvr>
</p:sld>
</file>

<file path=ppt/slides/slide458.xml><?xml version="1.0" encoding="utf-8"?>
<p:sld xmlns:a="http://schemas.openxmlformats.org/drawingml/2006/main" xmlns:r="http://schemas.openxmlformats.org/officeDocument/2006/relationships" xmlns:p="http://schemas.openxmlformats.org/presentationml/2006/main">
  <p:cSld name="Slide 45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12 PILOTER ET PUBLIER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Publication et transparence</a:t>
            </a:r>
            <a:endParaRPr lang="en-US" sz="2600" dirty="0"/>
          </a:p>
        </p:txBody>
      </p:sp>
      <p:graphicFrame>
        <p:nvGraphicFramePr>
          <p:cNvPr id="459"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179832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RG-PIL-07</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Chargé de publication cloisonné</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Chargé de publication gère le portail de transparence sans accès au circuit interne, au journal d’audit ni aux statistiques de la CNM. Il est </a:t>
                      </a:r>
                      <a:r>
                        <a:rPr lang="en-US" sz="1100" b="1" dirty="0">
                          <a:solidFill>
                            <a:srgbClr val="1B2A3A"/>
                          </a:solidFill>
                          <a:latin typeface="Segoe UI" pitchFamily="34" charset="0"/>
                          <a:ea typeface="Segoe UI" pitchFamily="34" charset="-122"/>
                          <a:cs typeface="Segoe UI" pitchFamily="34" charset="-120"/>
                        </a:rPr>
                        <a:t>avisé</a:t>
                      </a:r>
                      <a:r>
                        <a:rPr lang="en-US" sz="1100" dirty="0">
                          <a:solidFill>
                            <a:srgbClr val="1B2A3A"/>
                          </a:solidFill>
                          <a:latin typeface="Segoe UI" pitchFamily="34" charset="0"/>
                          <a:ea typeface="Segoe UI" pitchFamily="34" charset="-122"/>
                          <a:cs typeface="Segoe UI" pitchFamily="34" charset="-120"/>
                        </a:rPr>
                        <a:t> à chaque clôture conforme éligible à publication.</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RG-PIL-08</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Publier, puis retirer</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Une publication naît </a:t>
                      </a:r>
                      <a:r>
                        <a:rPr lang="en-US" sz="1100" b="1" dirty="0">
                          <a:solidFill>
                            <a:srgbClr val="1B2A3A"/>
                          </a:solidFill>
                          <a:latin typeface="Segoe UI" pitchFamily="34" charset="0"/>
                          <a:ea typeface="Segoe UI" pitchFamily="34" charset="-122"/>
                          <a:cs typeface="Segoe UI" pitchFamily="34" charset="-120"/>
                        </a:rPr>
                        <a:t>en attente</a:t>
                      </a:r>
                      <a:r>
                        <a:rPr lang="en-US" sz="1100" dirty="0">
                          <a:solidFill>
                            <a:srgbClr val="1B2A3A"/>
                          </a:solidFill>
                          <a:latin typeface="Segoe UI" pitchFamily="34" charset="0"/>
                          <a:ea typeface="Segoe UI" pitchFamily="34" charset="-122"/>
                          <a:cs typeface="Segoe UI" pitchFamily="34" charset="-120"/>
                        </a:rPr>
                        <a:t> ; seule une publication en attente se publie, seule une publication publiée se retire. Chaque consultation incrémente son compteur.</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RG-PIL-09</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Retrait toujours motivé</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Retirer une publication exige un </a:t>
                      </a:r>
                      <a:r>
                        <a:rPr lang="en-US" sz="1100" b="1" dirty="0">
                          <a:solidFill>
                            <a:srgbClr val="1B2A3A"/>
                          </a:solidFill>
                          <a:latin typeface="Segoe UI" pitchFamily="34" charset="0"/>
                          <a:ea typeface="Segoe UI" pitchFamily="34" charset="-122"/>
                          <a:cs typeface="Segoe UI" pitchFamily="34" charset="-120"/>
                        </a:rPr>
                        <a:t>motif</a:t>
                      </a:r>
                      <a:r>
                        <a:rPr lang="en-US" sz="1100" dirty="0">
                          <a:solidFill>
                            <a:srgbClr val="1B2A3A"/>
                          </a:solidFill>
                          <a:latin typeface="Segoe UI" pitchFamily="34" charset="0"/>
                          <a:ea typeface="Segoe UI" pitchFamily="34" charset="-122"/>
                          <a:cs typeface="Segoe UI" pitchFamily="34" charset="-120"/>
                        </a:rPr>
                        <a:t>, conservé avec la date du retrait : la dépublication reste documentée.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RG-PIL-10</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Documents publics vérifiables</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 document public est mis en ligne en PDF avec son </a:t>
                      </a:r>
                      <a:r>
                        <a:rPr lang="en-US" sz="1100" b="1" dirty="0">
                          <a:solidFill>
                            <a:srgbClr val="1B2A3A"/>
                          </a:solidFill>
                          <a:latin typeface="Segoe UI" pitchFamily="34" charset="0"/>
                          <a:ea typeface="Segoe UI" pitchFamily="34" charset="-122"/>
                          <a:cs typeface="Segoe UI" pitchFamily="34" charset="-120"/>
                        </a:rPr>
                        <a:t>empreinte numérique</a:t>
                      </a:r>
                      <a:r>
                        <a:rPr lang="en-US" sz="1100" dirty="0">
                          <a:solidFill>
                            <a:srgbClr val="1B2A3A"/>
                          </a:solidFill>
                          <a:latin typeface="Segoe UI" pitchFamily="34" charset="0"/>
                          <a:ea typeface="Segoe UI" pitchFamily="34" charset="-122"/>
                          <a:cs typeface="Segoe UI" pitchFamily="34" charset="-120"/>
                        </a:rPr>
                        <a:t> (SHA-256) ; l’intégrité d’un fichier se vérifie à tout moment en recalculant l’empreinte.</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regles-gestion.md § 3.7. Chargé de publication · api-endpoints.md § Publications · regles-gestion.md § 3.7. Chargé de publication › Module 09 — Portail de publication · api-endpoints.md § Documents publics</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458</a:t>
            </a:r>
            <a:endParaRPr lang="en-US" sz="1100" dirty="0"/>
          </a:p>
        </p:txBody>
      </p:sp>
    </p:spTree>
  </p:cSld>
  <p:clrMapOvr>
    <a:masterClrMapping/>
  </p:clrMapOvr>
</p:sld>
</file>

<file path=ppt/slides/slide459.xml><?xml version="1.0" encoding="utf-8"?>
<p:sld xmlns:a="http://schemas.openxmlformats.org/drawingml/2006/main" xmlns:r="http://schemas.openxmlformats.org/officeDocument/2006/relationships" xmlns:p="http://schemas.openxmlformats.org/presentationml/2006/main">
  <p:cSld name="Slide 45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A · 12 PILOTER ET PUBLIER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Procédures en ligne</a:t>
            </a:r>
            <a:endParaRPr lang="en-US" sz="2600" dirty="0"/>
          </a:p>
        </p:txBody>
      </p:sp>
      <p:graphicFrame>
        <p:nvGraphicFramePr>
          <p:cNvPr id="460" name="Table 0"/>
          <p:cNvGraphicFramePr>
            <a:graphicFrameLocks noGrp="1"/>
          </p:cNvGraphicFramePr>
          <p:nvPr>
            <p:extLst>
              <p:ext uri="{D42A27DB-BD31-4B8C-83A1-F6EECF244321}">
                <p14:modId xmlns:p14="http://schemas.microsoft.com/office/powerpoint/2010/main" val="1579011935"/>
              </p:ext>
            </p:extLst>
          </p:nvPr>
        </p:nvGraphicFramePr>
        <p:xfrm>
          <a:off x="593324" y="1206500"/>
          <a:ext cx="11430000" cy="1965960"/>
        </p:xfrm>
        <a:graphic>
          <a:graphicData uri="http://schemas.openxmlformats.org/drawingml/2006/table">
            <a:tbl>
              <a:tblPr/>
              <a:tblGrid>
                <a:gridCol w="118872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1"/>
                    </a:ext>
                  </a:extLst>
                </a:gridCol>
                <a:gridCol w="7863840">
                  <a:extLst>
                    <a:ext uri="{9D8B030D-6E8A-4147-A177-3AD203B41FA5}">
                      <a16:colId xmlns:a16="http://schemas.microsoft.com/office/drawing/2014/main" val="20002"/>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Ce qui s’applique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RG-PIL-11</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Vue complète de l’Administrateur</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L’Administrateur voit toutes les fiches en remise électronique, brouillons compris, pour désigner les responsables et suivre les procédures. Chaque autre agent ne voit que celles dont il est le </a:t>
                      </a:r>
                      <a:r>
                        <a:rPr lang="en-US" sz="1100" b="1" dirty="0">
                          <a:solidFill>
                            <a:srgbClr val="1B2A3A"/>
                          </a:solidFill>
                          <a:latin typeface="Segoe UI" pitchFamily="34" charset="0"/>
                          <a:ea typeface="Segoe UI" pitchFamily="34" charset="-122"/>
                          <a:cs typeface="Segoe UI" pitchFamily="34" charset="-120"/>
                        </a:rPr>
                        <a:t>responsable</a:t>
                      </a:r>
                      <a:r>
                        <a:rPr lang="en-US" sz="1100" dirty="0">
                          <a:solidFill>
                            <a:srgbClr val="1B2A3A"/>
                          </a:solidFill>
                          <a:latin typeface="Segoe UI" pitchFamily="34" charset="0"/>
                          <a:ea typeface="Segoe UI" pitchFamily="34" charset="-122"/>
                          <a:cs typeface="Segoe UI" pitchFamily="34" charset="-120"/>
                        </a:rPr>
                        <a: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RG-PIL-12</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À traiter d’abord</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La liste place en tête les procédures à traiter — sans responsable, cérémonie des clés non close, séance en cours ou du jour —, les séances closes en dernier. Seul le </a:t>
                      </a:r>
                      <a:r>
                        <a:rPr lang="en-US" sz="1100" b="1" dirty="0">
                          <a:solidFill>
                            <a:srgbClr val="1B2A3A"/>
                          </a:solidFill>
                          <a:latin typeface="Segoe UI" pitchFamily="34" charset="0"/>
                          <a:ea typeface="Segoe UI" pitchFamily="34" charset="-122"/>
                          <a:cs typeface="Segoe UI" pitchFamily="34" charset="-120"/>
                        </a:rPr>
                        <a:t>nombre</a:t>
                      </a:r>
                      <a:r>
                        <a:rPr lang="en-US" sz="1100" dirty="0">
                          <a:solidFill>
                            <a:srgbClr val="1B2A3A"/>
                          </a:solidFill>
                          <a:latin typeface="Segoe UI" pitchFamily="34" charset="0"/>
                          <a:ea typeface="Segoe UI" pitchFamily="34" charset="-122"/>
                          <a:cs typeface="Segoe UI" pitchFamily="34" charset="-120"/>
                        </a:rPr>
                        <a:t> d’offres déposées y figure, jamais leur contenu.</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RG-PIL-13</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L’intérimaire voit, sans agir</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Une procédure suivie par intérim est signalée : l’intérimaire la voit, mais les gestes du responsable restent au </a:t>
                      </a:r>
                      <a:r>
                        <a:rPr lang="en-US" sz="1100" b="1" dirty="0">
                          <a:solidFill>
                            <a:srgbClr val="1B2A3A"/>
                          </a:solidFill>
                          <a:latin typeface="Segoe UI" pitchFamily="34" charset="0"/>
                          <a:ea typeface="Segoe UI" pitchFamily="34" charset="-122"/>
                          <a:cs typeface="Segoe UI" pitchFamily="34" charset="-120"/>
                        </a:rPr>
                        <a:t>titulaire</a:t>
                      </a:r>
                      <a:r>
                        <a:rPr lang="en-US" sz="1100" dirty="0">
                          <a:solidFill>
                            <a:srgbClr val="1B2A3A"/>
                          </a:solidFill>
                          <a:latin typeface="Segoe UI" pitchFamily="34" charset="0"/>
                          <a:ea typeface="Segoe UI" pitchFamily="34" charset="-122"/>
                          <a:cs typeface="Segoe UI" pitchFamily="34" charset="-120"/>
                        </a:rPr>
                        <a:t>. Une procédure close reste listée jusqu’au terme de la conservation des offres.</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950" b="1" dirty="0">
                          <a:solidFill>
                            <a:srgbClr val="1B6FA8"/>
                          </a:solidFill>
                          <a:latin typeface="Consolas" pitchFamily="34" charset="0"/>
                          <a:ea typeface="Consolas" pitchFamily="34" charset="-122"/>
                          <a:cs typeface="Consolas" pitchFamily="34" charset="-120"/>
                        </a:rPr>
                        <a:t>RG-PIL-14</a:t>
                      </a:r>
                      <a:endParaRPr lang="en-US" sz="950" dirty="0">
                        <a:latin typeface="Consolas" charset="0"/>
                        <a:ea typeface="Consolas" charset="0"/>
                        <a:cs typeface="Consolas"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Ce que le public voit</a:t>
                      </a:r>
                      <a:endParaRPr lang="en-US" sz="1100" dirty="0">
                        <a:latin typeface="Segoe UI" charset="0"/>
                        <a:ea typeface="Segoe UI" charset="0"/>
                        <a:cs typeface="Segoe UI" charset="0"/>
                      </a:endParaRPr>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100" dirty="0">
                          <a:solidFill>
                            <a:srgbClr val="1B2A3A"/>
                          </a:solidFill>
                          <a:latin typeface="Segoe UI" pitchFamily="34" charset="0"/>
                          <a:ea typeface="Segoe UI" pitchFamily="34" charset="-122"/>
                          <a:cs typeface="Segoe UI" pitchFamily="34" charset="-120"/>
                        </a:rPr>
                        <a:t>Le public ne voit en ligne qu’une procédure électronique lancée, en signature simple et avant sa date limite. Aucun </a:t>
                      </a:r>
                      <a:r>
                        <a:rPr lang="en-US" sz="1100" b="1" dirty="0">
                          <a:solidFill>
                            <a:srgbClr val="1B2A3A"/>
                          </a:solidFill>
                          <a:latin typeface="Segoe UI" pitchFamily="34" charset="0"/>
                          <a:ea typeface="Segoe UI" pitchFamily="34" charset="-122"/>
                          <a:cs typeface="Segoe UI" pitchFamily="34" charset="-120"/>
                        </a:rPr>
                        <a:t>paramètre interne</a:t>
                      </a:r>
                      <a:r>
                        <a:rPr lang="en-US" sz="1100" dirty="0">
                          <a:solidFill>
                            <a:srgbClr val="1B2A3A"/>
                          </a:solidFill>
                          <a:latin typeface="Segoe UI" pitchFamily="34" charset="0"/>
                          <a:ea typeface="Segoe UI" pitchFamily="34" charset="-122"/>
                          <a:cs typeface="Segoe UI" pitchFamily="34" charset="-120"/>
                        </a:rPr>
                        <a:t> n’est publié ; les documents ne se retirent qu’avec un compte candidat.</a:t>
                      </a:r>
                      <a:endParaRPr lang="en-US" sz="1100" dirty="0"/>
                    </a:p>
                  </a:txBody>
                  <a:tcPr marL="76200" marR="76200" marT="50800" marB="508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bl>
          </a:graphicData>
        </a:graphic>
      </p:graphicFrame>
      <p:sp>
        <p:nvSpPr>
          <p:cNvPr id="5" name="Text 2"/>
          <p:cNvSpPr/>
          <p:nvPr/>
        </p:nvSpPr>
        <p:spPr>
          <a:xfrm>
            <a:off x="812780" y="5905500"/>
            <a:ext cx="10540736" cy="508000"/>
          </a:xfrm>
          <a:prstGeom prst="rect">
            <a:avLst/>
          </a:prstGeom>
          <a:noFill/>
          <a:ln/>
        </p:spPr>
        <p:txBody>
          <a:bodyPr wrap="square" rtlCol="0" anchor="b">
            <a:normAutofit/>
          </a:bodyPr>
          <a:lstStyle/>
          <a:p>
            <a:pPr marL="0" indent="0">
              <a:buNone/>
            </a:pPr>
            <a:r>
              <a:rPr lang="en-US" sz="900" dirty="0">
                <a:solidFill>
                  <a:srgbClr val="6A7787"/>
                </a:solidFill>
                <a:latin typeface="Segoe UI" pitchFamily="34" charset="0"/>
                <a:ea typeface="Segoe UI" pitchFamily="34" charset="-122"/>
                <a:cs typeface="Segoe UI" pitchFamily="34" charset="-120"/>
              </a:rPr>
              <a:t>Source : api-endpoints.md § La liste des procédures en ligne, pour le responsable et l’Administrateur · api-endpoints.md § Procédures ouvertes en ligne et retrait du DAO</a:t>
            </a:r>
            <a:endParaRPr lang="en-US" sz="900" dirty="0"/>
          </a:p>
        </p:txBody>
      </p:sp>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459</a:t>
            </a:r>
            <a:endParaRPr lang="en-US" sz="1100" dirty="0"/>
          </a:p>
        </p:txBody>
      </p:sp>
    </p:spTree>
  </p:cSld>
  <p:clrMapOvr>
    <a:masterClrMapping/>
  </p:clrMapOvr>
</p:sld>
</file>

<file path=ppt/slides/slide460.xml><?xml version="1.0" encoding="utf-8"?>
<p:sld xmlns:a="http://schemas.openxmlformats.org/drawingml/2006/main" xmlns:r="http://schemas.openxmlformats.org/officeDocument/2006/relationships" xmlns:p="http://schemas.openxmlformats.org/presentationml/2006/main">
  <p:cSld name="Slide 460">
    <p:bg>
      <p:bgPr>
        <a:solidFill>
          <a:srgbClr val="12324A"/>
        </a:solidFill>
        <a:effectLst/>
      </p:bgPr>
    </p:bg>
    <p:spTree>
      <p:nvGrpSpPr>
        <p:cNvPr id="1" name=""/>
        <p:cNvGrpSpPr/>
        <p:nvPr/>
      </p:nvGrpSpPr>
      <p:grpSpPr>
        <a:xfrm>
          <a:off x="0" y="0"/>
          <a:ext cx="0" cy="0"/>
          <a:chOff x="0" y="0"/>
          <a:chExt cx="0" cy="0"/>
        </a:xfrm>
      </p:grpSpPr>
      <p:sp>
        <p:nvSpPr>
          <p:cNvPr id="2" name="Shape 0"/>
          <p:cNvSpPr/>
          <p:nvPr/>
        </p:nvSpPr>
        <p:spPr>
          <a:xfrm>
            <a:off x="0" y="0"/>
            <a:ext cx="152396" cy="6858000"/>
          </a:xfrm>
          <a:prstGeom prst="rect">
            <a:avLst/>
          </a:prstGeom>
          <a:solidFill>
            <a:srgbClr val="E3AE2E"/>
          </a:solidFill>
          <a:ln w="12700">
            <a:solidFill>
              <a:srgbClr val="E3AE2E"/>
            </a:solidFill>
            <a:prstDash val="solid"/>
          </a:ln>
        </p:spPr>
        <p:txBody>
          <a:bodyPr/>
          <a:lstStyle/>
          <a:p>
            <a:endParaRPr lang="fr-FR"/>
          </a:p>
        </p:txBody>
      </p:sp>
      <p:sp>
        <p:nvSpPr>
          <p:cNvPr id="3" name="Text 1"/>
          <p:cNvSpPr/>
          <p:nvPr/>
        </p:nvSpPr>
        <p:spPr>
          <a:xfrm>
            <a:off x="812780" y="698500"/>
            <a:ext cx="3809905" cy="952500"/>
          </a:xfrm>
          <a:prstGeom prst="rect">
            <a:avLst/>
          </a:prstGeom>
          <a:noFill/>
          <a:ln/>
        </p:spPr>
        <p:txBody>
          <a:bodyPr wrap="square" rtlCol="0" anchor="ctr"/>
          <a:lstStyle/>
          <a:p>
            <a:pPr marL="0" indent="0">
              <a:buNone/>
            </a:pPr>
            <a:r>
              <a:rPr lang="en-US" sz="7200" b="1" dirty="0">
                <a:solidFill>
                  <a:srgbClr val="E3AE2E"/>
                </a:solidFill>
                <a:latin typeface="Segoe UI" pitchFamily="34" charset="0"/>
                <a:ea typeface="Segoe UI" pitchFamily="34" charset="-122"/>
                <a:cs typeface="Segoe UI" pitchFamily="34" charset="-120"/>
              </a:rPr>
              <a:t>B</a:t>
            </a:r>
            <a:endParaRPr lang="en-US" sz="7200" dirty="0"/>
          </a:p>
        </p:txBody>
      </p:sp>
      <p:sp>
        <p:nvSpPr>
          <p:cNvPr id="4" name="Text 2"/>
          <p:cNvSpPr/>
          <p:nvPr/>
        </p:nvSpPr>
        <p:spPr>
          <a:xfrm>
            <a:off x="812780" y="1714500"/>
            <a:ext cx="10477238" cy="635000"/>
          </a:xfrm>
          <a:prstGeom prst="rect">
            <a:avLst/>
          </a:prstGeom>
          <a:noFill/>
          <a:ln/>
        </p:spPr>
        <p:txBody>
          <a:bodyPr wrap="square" rtlCol="0" anchor="ctr">
            <a:normAutofit/>
          </a:bodyPr>
          <a:lstStyle/>
          <a:p>
            <a:pPr marL="0" indent="0">
              <a:buNone/>
            </a:pPr>
            <a:r>
              <a:rPr lang="en-US" sz="4000" b="1" dirty="0">
                <a:solidFill>
                  <a:srgbClr val="FCFCFA"/>
                </a:solidFill>
                <a:latin typeface="Segoe UI" pitchFamily="34" charset="0"/>
                <a:ea typeface="Segoe UI" pitchFamily="34" charset="-122"/>
                <a:cs typeface="Segoe UI" pitchFamily="34" charset="-120"/>
              </a:rPr>
              <a:t>Annexe B — La référence des données</a:t>
            </a:r>
            <a:endParaRPr lang="en-US" sz="4000" dirty="0"/>
          </a:p>
        </p:txBody>
      </p:sp>
      <p:sp>
        <p:nvSpPr>
          <p:cNvPr id="5" name="Text 3"/>
          <p:cNvSpPr/>
          <p:nvPr/>
        </p:nvSpPr>
        <p:spPr>
          <a:xfrm>
            <a:off x="812780" y="2413000"/>
            <a:ext cx="10159746" cy="698500"/>
          </a:xfrm>
          <a:prstGeom prst="rect">
            <a:avLst/>
          </a:prstGeom>
          <a:noFill/>
          <a:ln/>
        </p:spPr>
        <p:txBody>
          <a:bodyPr wrap="square" rtlCol="0" anchor="t">
            <a:normAutofit/>
          </a:bodyPr>
          <a:lstStyle/>
          <a:p>
            <a:pPr marL="0" indent="0">
              <a:buNone/>
            </a:pPr>
            <a:r>
              <a:rPr lang="en-US" sz="1700" dirty="0">
                <a:solidFill>
                  <a:srgbClr val="C9D6E2"/>
                </a:solidFill>
                <a:latin typeface="Segoe UI" pitchFamily="34" charset="0"/>
                <a:ea typeface="Segoe UI" pitchFamily="34" charset="-122"/>
                <a:cs typeface="Segoe UI" pitchFamily="34" charset="-120"/>
              </a:rPr>
              <a:t>Partie par partie, les objets que l’application crée ou modifie, et toutes leurs informations : nom, type et valeurs, caractère obligatoire, description tirée du serveur.</a:t>
            </a:r>
            <a:endParaRPr lang="en-US" sz="17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8FA6BB"/>
                </a:solidFill>
                <a:latin typeface="Segoe UI" pitchFamily="34" charset="0"/>
                <a:ea typeface="Segoe UI" pitchFamily="34" charset="-122"/>
                <a:cs typeface="Segoe UI" pitchFamily="34" charset="-120"/>
              </a:rPr>
              <a:t>PRS 2.0 · L’application de bout en bout · dossier de recette · 460</a:t>
            </a:r>
            <a:endParaRPr lang="en-US" sz="1100" dirty="0"/>
          </a:p>
        </p:txBody>
      </p:sp>
    </p:spTree>
  </p:cSld>
  <p:clrMapOvr>
    <a:masterClrMapping/>
  </p:clrMapOvr>
</p:sld>
</file>

<file path=ppt/slides/slide461.xml><?xml version="1.0" encoding="utf-8"?>
<p:sld xmlns:a="http://schemas.openxmlformats.org/drawingml/2006/main" xmlns:r="http://schemas.openxmlformats.org/officeDocument/2006/relationships" xmlns:p="http://schemas.openxmlformats.org/presentationml/2006/main">
  <p:cSld name="Slide 46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01 ENTRER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données de l’étape</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Chaque objet que cette étape crée ou modifie, avec la table du serveur qui le conserve et le nombre de ses informations.</a:t>
            </a:r>
            <a:endParaRPr lang="en-US" sz="1300" dirty="0"/>
          </a:p>
        </p:txBody>
      </p:sp>
      <p:graphicFrame>
        <p:nvGraphicFramePr>
          <p:cNvPr id="462" name="Table 0"/>
          <p:cNvGraphicFramePr>
            <a:graphicFrameLocks noGrp="1"/>
          </p:cNvGraphicFramePr>
          <p:nvPr>
            <p:extLst>
              <p:ext uri="{D42A27DB-BD31-4B8C-83A1-F6EECF244321}">
                <p14:modId xmlns:p14="http://schemas.microsoft.com/office/powerpoint/2010/main" val="1579011935"/>
              </p:ext>
            </p:extLst>
          </p:nvPr>
        </p:nvGraphicFramePr>
        <p:xfrm>
          <a:off x="593324" y="1651000"/>
          <a:ext cx="11430000" cy="3032760"/>
        </p:xfrm>
        <a:graphic>
          <a:graphicData uri="http://schemas.openxmlformats.org/drawingml/2006/table">
            <a:tbl>
              <a:tblPr/>
              <a:tblGrid>
                <a:gridCol w="2926080">
                  <a:extLst>
                    <a:ext uri="{9D8B030D-6E8A-4147-A177-3AD203B41FA5}">
                      <a16:colId xmlns:a16="http://schemas.microsoft.com/office/drawing/2014/main" val="20000"/>
                    </a:ext>
                  </a:extLst>
                </a:gridCol>
                <a:gridCol w="2103120">
                  <a:extLst>
                    <a:ext uri="{9D8B030D-6E8A-4147-A177-3AD203B41FA5}">
                      <a16:colId xmlns:a16="http://schemas.microsoft.com/office/drawing/2014/main" val="20001"/>
                    </a:ext>
                  </a:extLst>
                </a:gridCol>
                <a:gridCol w="1005840">
                  <a:extLst>
                    <a:ext uri="{9D8B030D-6E8A-4147-A177-3AD203B41FA5}">
                      <a16:colId xmlns:a16="http://schemas.microsoft.com/office/drawing/2014/main" val="20002"/>
                    </a:ext>
                  </a:extLst>
                </a:gridCol>
                <a:gridCol w="5394960">
                  <a:extLst>
                    <a:ext uri="{9D8B030D-6E8A-4147-A177-3AD203B41FA5}">
                      <a16:colId xmlns:a16="http://schemas.microsoft.com/office/drawing/2014/main" val="20003"/>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Objet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Table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Ce qu’il porte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compte de connexion</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t_compte_auth</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10</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Compte d'authentification. Table dédiée à la connexion : elle unifie les deux populations qui s'authentifient — contrôleurs (tr_controleur) et PRMP (t_prmp) — sans ajouter de mot de passe aux tables métier. refActeur pointe vers IM_CONTROLEUR ou ID_PRMP selon typeActeur.</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demande d’inscription d’une PRMP</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t_prmp_entite_demande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10</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Déclaration d'entité contractante faite par une PRMP à l'inscription.</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Les pièces de l’inscription</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t_piece_jointe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8</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Pièce jointe à une inscription PRMP : arrêté de nomination, CIN, photo.</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notification</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t_notification</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17</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passage d’un dossier par une étape (« À faire »)</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t_tache_dossier</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7</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L’actualité</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t_actualite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10</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Actualité affichée à l'ouverture de session. Mini-page façon lettre d'information : contenu markdown brut (aucun HTML accepté — la surface XSS soldée par l'audit du 16-17/08 ne se rouvre pas), images en table dédiée (t_actualite_image), ciblage par profils (t_actualite_profil).</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Les profils visés par une actualité</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t_actualite_profil</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3</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Ciblage d'une actualité par profil. Une actualité vise un ou plusieurs profils ; aucun profil ⇒ visible de personne (le ciblage est un acte délibéré, jamais « tous » implicitement). Le profil est stocké par son nom d'enum cnm.prs.enums.ProfilUtilisateur (colonne PROFIL) et…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L’image d’une actualité</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t_actualite_image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8</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Image d'une actualité., même approche que t_piece_demande_retrait :</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bl>
          </a:graphicData>
        </a:graphic>
      </p:graphicFrame>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461</a:t>
            </a:r>
            <a:endParaRPr lang="en-US" sz="1100" dirty="0"/>
          </a:p>
        </p:txBody>
      </p:sp>
    </p:spTree>
  </p:cSld>
  <p:clrMapOvr>
    <a:masterClrMapping/>
  </p:clrMapOvr>
</p:sld>
</file>

<file path=ppt/slides/slide462.xml><?xml version="1.0" encoding="utf-8"?>
<p:sld xmlns:a="http://schemas.openxmlformats.org/drawingml/2006/main" xmlns:r="http://schemas.openxmlformats.org/officeDocument/2006/relationships" xmlns:p="http://schemas.openxmlformats.org/presentationml/2006/main">
  <p:cSld name="Slide 46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01 ENTRER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(1/4)</a:t>
            </a:r>
            <a:endParaRPr lang="en-US" sz="2600" dirty="0"/>
          </a:p>
        </p:txBody>
      </p:sp>
      <p:graphicFrame>
        <p:nvGraphicFramePr>
          <p:cNvPr id="463"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458216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compte de connexion  ·  t_compte_auth  ·  10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LOGIN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Login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MOT_DE_PASSE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 de passe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Hash BCrypt du mot de passe (jamais le mot de passe en clair).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TYPE_ACTEUR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Type acteur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 : CONTROLEUR, PRMP, UGPM, CANDIDAT, MEMBRE_CAO, DEPOSITAIRE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Type d'acteur : CONTROLEUR ou PRMP.</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REF_ACTEUR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Référence acteur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Matricule du contrôleur (IM_CONTROLEUR) ou identifiant PRMP (ID_PRMP).</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ACTIF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Actif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STATUT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Statut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 : EN_ATTENTE, ACTIF, REFUSE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Cycle de vie de l'inscription.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MOTIF_REFUS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 refus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Motif renseigné lorsque l'inscription est refusée par l'Administrateur.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DATE_DEMANDE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demande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Horodatage du dépôt de la demande, à ne pas confondre avec dateDecision, qui date la validation ou le refus et n'existe donc jamais pour une inscription en attente.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DATE_DECISION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décision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Horodatage de la décision (validation ou refus).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IM_VALIDATEUR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 validateur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Matricule de l'Administrateur ayant pris la décision.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1"/>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demande d’inscription d’une PRMP  ·  t_prmp_entite_demande  ·  10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ID_DEMANDE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demande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LOGIN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Login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Login de l'inscription propriétaire de la déclaration.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ID_ENTITE_CONTRACT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entité contractante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Entité existante déclarée (null si entité proposée non listée).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LIBELLE_PROPOSE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Libellé proposé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Proposition (entité non listée) : libellé.</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ADRESSE_PROPOSE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Adresse proposé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Proposition : adresse.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ID_LOCALITE_PROPOSE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localité proposé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Proposition : localité.</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CATEGORIE_PROPOSE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Catégorie proposé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Proposition : catégorie.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STATUT_DEMANDE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Statut demande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 : EN_ATTENTE, VALIDEE, REFUSEE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État de la déclaration.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Motif renseigné si la déclaration est refusée (ex. entité déjà rattachée à une autre PRMP).</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DATE_DECLARATION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déclaration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2"/>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462</a:t>
            </a:r>
            <a:endParaRPr lang="en-US" sz="1100" dirty="0"/>
          </a:p>
        </p:txBody>
      </p:sp>
    </p:spTree>
  </p:cSld>
  <p:clrMapOvr>
    <a:masterClrMapping/>
  </p:clrMapOvr>
</p:sld>
</file>

<file path=ppt/slides/slide463.xml><?xml version="1.0" encoding="utf-8"?>
<p:sld xmlns:a="http://schemas.openxmlformats.org/drawingml/2006/main" xmlns:r="http://schemas.openxmlformats.org/officeDocument/2006/relationships" xmlns:p="http://schemas.openxmlformats.org/presentationml/2006/main">
  <p:cSld name="Slide 46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01 ENTRER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(2/4)</a:t>
            </a:r>
            <a:endParaRPr lang="en-US" sz="2600" dirty="0"/>
          </a:p>
        </p:txBody>
      </p:sp>
      <p:graphicFrame>
        <p:nvGraphicFramePr>
          <p:cNvPr id="464"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Les pièces de l’inscription  ·  t_piece_jointe  ·  8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ID_PIECE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pièce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LOGIN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Login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Login de l'inscription/compte propriétaire de la pièce.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TYPE_PIECE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Type pièce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 : ARRETE_NOMIN, CIN, PHOTO</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Type de pièce (cf. cnm.prs.enums.TypePieceJointe : ARRETE_NOMIN, CIN, PHOTO).</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LIBELLE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Libellé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FORMAT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Format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Type MIME réel du fichier (ex. application/pdf, image/jpeg).</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TAILLE_OCTETS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Taille (octets)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DATE_DEPOT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dépôt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HASH_SHA256</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Empreinte SHA-256</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(64)</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Empreinte SHA-256 (hex) du contenu, pour le contrôle d'intégrité.</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9"/>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notification  ·  t_notification  ·  17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ID_NOTIFICATION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notification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ID_DOSSIER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dossier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TYPE_NOTIF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Type notif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DESTINATAIRE_IM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Destinataire matricule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(7)</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DESTINATAIRE_EMAIL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Destinataire adresse électronique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TITRE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Titre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CORPS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Corps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long</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DATE_ENVOI</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envoi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LU</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Lu</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DATE_LECTURE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lecture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CANAL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Canal</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DESTINATAIRE_REF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Destinataire référence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Destinataire unifié : matricule contrôleur ou identifiant PRMP (selon DESTINATAIRE_TYPE).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DESTINATAIRE_TYPE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Destinataire type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 : CONTROLEUR, PRMP, UGPM, CANDIDAT, MEMBRE_CAO, DEPOSITAIRE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Type du destinataire : CONTROLEUR ou PRMP.</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ID_OBJET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objet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l'objet métier concerné (selon TYPE_OBJET).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4"/>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463</a:t>
            </a:r>
            <a:endParaRPr lang="en-US" sz="1100" dirty="0"/>
          </a:p>
        </p:txBody>
      </p:sp>
    </p:spTree>
  </p:cSld>
  <p:clrMapOvr>
    <a:masterClrMapping/>
  </p:clrMapOvr>
</p:sld>
</file>

<file path=ppt/slides/slide464.xml><?xml version="1.0" encoding="utf-8"?>
<p:sld xmlns:a="http://schemas.openxmlformats.org/drawingml/2006/main" xmlns:r="http://schemas.openxmlformats.org/officeDocument/2006/relationships" xmlns:p="http://schemas.openxmlformats.org/presentationml/2006/main">
  <p:cSld name="Slide 46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01 ENTRER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(3/4)</a:t>
            </a:r>
            <a:endParaRPr lang="en-US" sz="2600" dirty="0"/>
          </a:p>
        </p:txBody>
      </p:sp>
      <p:graphicFrame>
        <p:nvGraphicFramePr>
          <p:cNvPr id="465"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483108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TYPE_OBJET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Type objet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 : DOSSIER, PV, MESSAGE, PROCEDURE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Type d'objet concerné : DOSSIER / PV / MESSAGE.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INTERIM_DE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Intérim de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Copie adressée à l'intérimaire actif du titulaire nommé ici ; la ligne du titulaire, elle, ne porte rien.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ID_INTERIM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intérim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passage d’un dossier par une étape (« À faire »)  ·  t_tache_dossier  ·  7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ETAPE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Étape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(LONGUEUR_ETAPE) : RECEPTION, DISPATCH, EXAMEN, VISA, COSIGNATURE, RECTIFICATION_PRMP, VERIFICATION, TRANSMISSION_SIGMP, ARCHIVAGE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Longueurs des colonnes texte, declarees UNE fois : l'annotation @Column et la validation prealable de ChronometrageService lisent la meme constante, pour que la garde ne puisse pas diverger du schema.</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OCCURRENCE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Occurrence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Rang de l'occurrence pour ce dossier et cette etape (1 = premier passage).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IM_ACTEUR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 acteur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(LONGUEUR_IM_ACTEUR)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Matricule du controleur, ou identifiant de la PRMP (resoumission, rectification), a qui l'etape revenait ; nul si aucun acteur n'est identifiable.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PROFIL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Profil</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(LONGUEUR_PROFIL)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Profil sous lequel l'etape a ete tenue (delegation ou interim compris).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DATE_FIN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fin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Instant ou l'etape s'est TERMINEE — le geste metier de cloture. Jamais nul : une ligne n'existe que parce qu'un passage s'est acheve (2026-09-12).</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INTERIM_DE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Intérim de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(LONGUEUR_IM_ACTEUR)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Passage tenu PAR INTERIM de ce titulaire : imActeur reste l'interimaire (celui qui a agi), profil le profil du titulaire (celui sous lequel l'etape a ete tenue).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ID_INTERIM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intérim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L’actualité  ·  t_actualite  ·  10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ID_ACTUALITE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actualite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TITRE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Titre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CONTENU_MD</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Contenu md</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long</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Markdown brut, stocké tel quel (jamais de HTML).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STATUT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Statut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 : ACTIF, INACTIF, ARCHIVE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Cf. cnm.prs.enums.StatutActualite : ACTIF / INACTIF / ARCHIVE.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DATE_PUBLICATION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publication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Nullable = visible dès activation.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DATE_EXPIRATION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expiration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Nullable = sans terme. Atteinte (jour J compris) → archivage automatique.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DATE_CREATION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création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IM_AUTEUR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 auteur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Auteur (Administrateur), identité JWT.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0"/>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464</a:t>
            </a:r>
            <a:endParaRPr lang="en-US" sz="1100" dirty="0"/>
          </a:p>
        </p:txBody>
      </p:sp>
    </p:spTree>
  </p:cSld>
  <p:clrMapOvr>
    <a:masterClrMapping/>
  </p:clrMapOvr>
</p:sld>
</file>

<file path=ppt/slides/slide465.xml><?xml version="1.0" encoding="utf-8"?>
<p:sld xmlns:a="http://schemas.openxmlformats.org/drawingml/2006/main" xmlns:r="http://schemas.openxmlformats.org/officeDocument/2006/relationships" xmlns:p="http://schemas.openxmlformats.org/presentationml/2006/main">
  <p:cSld name="Slide 46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01 ENTRER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(4/4)</a:t>
            </a:r>
            <a:endParaRPr lang="en-US" sz="2600" dirty="0"/>
          </a:p>
        </p:txBody>
      </p:sp>
      <p:graphicFrame>
        <p:nvGraphicFramePr>
          <p:cNvPr id="466"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DATE_ARCHIVAGE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archivage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IM_ARCHIVEUR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 archiveur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Archiveur (Administrateur) — null si archivage automatique à l'expiration.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Les profils visés par une actualité  ·  t_actualite_profil  ·  3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ID_ACTUALITE_PROFIL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actualite profil</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ID_ACTUALITE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actualite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PROFIL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Profil</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 : PRMP, PRESIDENT, CHEF_COMMISSION, SECRETAIRE, MEMBRE, VERIFICATEUR, ASSISTANT_CONTROLEUR, CHARGE_PUBLICATION, ADMINISTRATEUR, UGPM, CANDIDAT, MEMBRE_CAO, DEPOSITAIRE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 d'enum cnm.prs.enums.ProfilUtilisateur (ex. MEMBRE, PRMP).</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6"/>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L’image d’une actualité  ·  t_actualite_image  ·  8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ID_IMAGE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image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ID_ACTUALITE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actualite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NOM_FICHIER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 fichier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(255)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FORMAT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Format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Type MIME réel (image/jpeg — seul format accepté).</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TAILLE_OCTETS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Taille (octets)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Taille stockée (octets), après redimensionnement éventuel.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SHA_256</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SHA-256</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(64)</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Empreinte SHA-256 (hex) du contenu stocké.</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ORDRE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Ordre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Position dans la mini-page (1, 2, 3…).</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DATE_DEPOT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dépôt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5"/>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465</a:t>
            </a:r>
            <a:endParaRPr lang="en-US" sz="1100" dirty="0"/>
          </a:p>
        </p:txBody>
      </p:sp>
    </p:spTree>
  </p:cSld>
  <p:clrMapOvr>
    <a:masterClrMapping/>
  </p:clrMapOvr>
</p:sld>
</file>

<file path=ppt/slides/slide466.xml><?xml version="1.0" encoding="utf-8"?>
<p:sld xmlns:a="http://schemas.openxmlformats.org/drawingml/2006/main" xmlns:r="http://schemas.openxmlformats.org/officeDocument/2006/relationships" xmlns:p="http://schemas.openxmlformats.org/presentationml/2006/main">
  <p:cSld name="Slide 46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02 PLANIFIER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données de l’étape (1/2)</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Chaque objet que cette étape crée ou modifie, avec la table du serveur qui le conserve et le nombre de ses informations.</a:t>
            </a:r>
            <a:endParaRPr lang="en-US" sz="1300" dirty="0"/>
          </a:p>
        </p:txBody>
      </p:sp>
      <p:graphicFrame>
        <p:nvGraphicFramePr>
          <p:cNvPr id="467" name="Table 0"/>
          <p:cNvGraphicFramePr>
            <a:graphicFrameLocks noGrp="1"/>
          </p:cNvGraphicFramePr>
          <p:nvPr>
            <p:extLst>
              <p:ext uri="{D42A27DB-BD31-4B8C-83A1-F6EECF244321}">
                <p14:modId xmlns:p14="http://schemas.microsoft.com/office/powerpoint/2010/main" val="1579011935"/>
              </p:ext>
            </p:extLst>
          </p:nvPr>
        </p:nvGraphicFramePr>
        <p:xfrm>
          <a:off x="593324" y="1651000"/>
          <a:ext cx="11430000" cy="2931160"/>
        </p:xfrm>
        <a:graphic>
          <a:graphicData uri="http://schemas.openxmlformats.org/drawingml/2006/table">
            <a:tbl>
              <a:tblPr/>
              <a:tblGrid>
                <a:gridCol w="2926080">
                  <a:extLst>
                    <a:ext uri="{9D8B030D-6E8A-4147-A177-3AD203B41FA5}">
                      <a16:colId xmlns:a16="http://schemas.microsoft.com/office/drawing/2014/main" val="20000"/>
                    </a:ext>
                  </a:extLst>
                </a:gridCol>
                <a:gridCol w="2103120">
                  <a:extLst>
                    <a:ext uri="{9D8B030D-6E8A-4147-A177-3AD203B41FA5}">
                      <a16:colId xmlns:a16="http://schemas.microsoft.com/office/drawing/2014/main" val="20001"/>
                    </a:ext>
                  </a:extLst>
                </a:gridCol>
                <a:gridCol w="1005840">
                  <a:extLst>
                    <a:ext uri="{9D8B030D-6E8A-4147-A177-3AD203B41FA5}">
                      <a16:colId xmlns:a16="http://schemas.microsoft.com/office/drawing/2014/main" val="20002"/>
                    </a:ext>
                  </a:extLst>
                </a:gridCol>
                <a:gridCol w="5394960">
                  <a:extLst>
                    <a:ext uri="{9D8B030D-6E8A-4147-A177-3AD203B41FA5}">
                      <a16:colId xmlns:a16="http://schemas.microsoft.com/office/drawing/2014/main" val="20003"/>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Objet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Table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Ce qu’il porte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dossier (plan, DMC ou marché)</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t_dossier</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18</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plan de passation</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t_ppm</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18</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ligne de marché</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t_marche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18</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Les dates prévues d’une ligne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t_marche_prevision</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5</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calendrier prévisionnel (CAPM)</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t_capm</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5</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Les jalons d’une ligne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t_echeance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8</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lot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t_lot</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7</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tranche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t_tranche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4</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service bénéficiaire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t_service_beneficiaire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6</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pièce jointe au dossier</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t_piece_jointe_dossier</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8</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version d’un plan</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t_version_dossier</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14</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En-tête d'une version archivée du contenu d'un dossier de planification, figée au moment où une rectification la remplace.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changement d’une ligne entre deux versions</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t_changement_ligne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8</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Trace figée du diff entre une version de PPM et son prédécesseur, au niveau de la LIGNE de marché.</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bl>
          </a:graphicData>
        </a:graphic>
      </p:graphicFrame>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466</a:t>
            </a:r>
            <a:endParaRPr lang="en-US" sz="1100" dirty="0"/>
          </a:p>
        </p:txBody>
      </p:sp>
    </p:spTree>
  </p:cSld>
  <p:clrMapOvr>
    <a:masterClrMapping/>
  </p:clrMapOvr>
</p:sld>
</file>

<file path=ppt/slides/slide467.xml><?xml version="1.0" encoding="utf-8"?>
<p:sld xmlns:a="http://schemas.openxmlformats.org/drawingml/2006/main" xmlns:r="http://schemas.openxmlformats.org/officeDocument/2006/relationships" xmlns:p="http://schemas.openxmlformats.org/presentationml/2006/main">
  <p:cSld name="Slide 46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02 PLANIFIER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données de l’étape (2/2)</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Chaque objet que cette étape crée ou modifie, avec la table du serveur qui le conserve et le nombre de ses informations.</a:t>
            </a:r>
            <a:endParaRPr lang="en-US" sz="1300" dirty="0"/>
          </a:p>
        </p:txBody>
      </p:sp>
      <p:graphicFrame>
        <p:nvGraphicFramePr>
          <p:cNvPr id="468" name="Table 0"/>
          <p:cNvGraphicFramePr>
            <a:graphicFrameLocks noGrp="1"/>
          </p:cNvGraphicFramePr>
          <p:nvPr>
            <p:extLst>
              <p:ext uri="{D42A27DB-BD31-4B8C-83A1-F6EECF244321}">
                <p14:modId xmlns:p14="http://schemas.microsoft.com/office/powerpoint/2010/main" val="1579011935"/>
              </p:ext>
            </p:extLst>
          </p:nvPr>
        </p:nvGraphicFramePr>
        <p:xfrm>
          <a:off x="593324" y="1651000"/>
          <a:ext cx="11430000" cy="1356360"/>
        </p:xfrm>
        <a:graphic>
          <a:graphicData uri="http://schemas.openxmlformats.org/drawingml/2006/table">
            <a:tbl>
              <a:tblPr/>
              <a:tblGrid>
                <a:gridCol w="2926080">
                  <a:extLst>
                    <a:ext uri="{9D8B030D-6E8A-4147-A177-3AD203B41FA5}">
                      <a16:colId xmlns:a16="http://schemas.microsoft.com/office/drawing/2014/main" val="20000"/>
                    </a:ext>
                  </a:extLst>
                </a:gridCol>
                <a:gridCol w="2103120">
                  <a:extLst>
                    <a:ext uri="{9D8B030D-6E8A-4147-A177-3AD203B41FA5}">
                      <a16:colId xmlns:a16="http://schemas.microsoft.com/office/drawing/2014/main" val="20001"/>
                    </a:ext>
                  </a:extLst>
                </a:gridCol>
                <a:gridCol w="1005840">
                  <a:extLst>
                    <a:ext uri="{9D8B030D-6E8A-4147-A177-3AD203B41FA5}">
                      <a16:colId xmlns:a16="http://schemas.microsoft.com/office/drawing/2014/main" val="20002"/>
                    </a:ext>
                  </a:extLst>
                </a:gridCol>
                <a:gridCol w="5394960">
                  <a:extLst>
                    <a:ext uri="{9D8B030D-6E8A-4147-A177-3AD203B41FA5}">
                      <a16:colId xmlns:a16="http://schemas.microsoft.com/office/drawing/2014/main" val="20003"/>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Objet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Table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Ce qu’il porte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signalement du pré-contrôle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t_anomalie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20</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ligne visée par un signalement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t_anomalie_ligne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5</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Une ligne visée par un signalement inter-lignes (t_anomalie_ligne).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demande de retrait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t_demande_retrait</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9</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lettre de la demande de retrait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t_piece_demande_retrait</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7</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Une pièce par demande.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journal du dossier</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t_action_dossier</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11</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Règle ajoutée (spec « Mandats PRMP ») — journal des actions d'un dossier, horodaté par auteur.</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467</a:t>
            </a:r>
            <a:endParaRPr lang="en-US" sz="1100" dirty="0"/>
          </a:p>
        </p:txBody>
      </p:sp>
    </p:spTree>
  </p:cSld>
  <p:clrMapOvr>
    <a:masterClrMapping/>
  </p:clrMapOvr>
</p:sld>
</file>

<file path=ppt/slides/slide468.xml><?xml version="1.0" encoding="utf-8"?>
<p:sld xmlns:a="http://schemas.openxmlformats.org/drawingml/2006/main" xmlns:r="http://schemas.openxmlformats.org/officeDocument/2006/relationships" xmlns:p="http://schemas.openxmlformats.org/presentationml/2006/main">
  <p:cSld name="Slide 46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02 PLANIFIER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(1/9)</a:t>
            </a:r>
            <a:endParaRPr lang="en-US" sz="2600" dirty="0"/>
          </a:p>
        </p:txBody>
      </p:sp>
      <p:graphicFrame>
        <p:nvGraphicFramePr>
          <p:cNvPr id="469"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468376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dossier (plan, DMC ou marché)  ·  t_dossier  ·  18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ID_DOSSIER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dossier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ID_TYPE_DOSSIER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type dossier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Famille de dossier (tr_type_dossier : DDP / DMC / DDM).</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ID_SOUS_TYPE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sous type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Règle ajoutée — sous-type du dossier (FK tr_sous_type_dossier), la famille (idTypeDossier) s'en déduisant.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ID_DOSSIER_PARENT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dossier parent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REFE_DOSSIER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Refe dossier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Référence officielle générée par …/soumettre ; laisser vide à la création.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DATE_REF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référence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Renseignée à la soumission si vide.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DATE_SOUMISSION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soumission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 de soumission du dossier par la PRMP — « la date de soumission EST la date de dépôt du dossier » (pilote, 2026-09-06). Posée à la soumission (POST /api/dossiers/{id/soumettre}) depuis le 2026-09-06 (V20) ; elle l'était à la création du brouillon, ce qui en faisait une date de…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REPUTE_APPROUVE_LE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Repute approuve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Un plan de passation soumis depuis dix jours ouvrables sans PV signé est réputé approuvé (art. 26-IV) : la date du constat, posée par le planificateur ; null sinon.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STATUT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Statut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ID_LOCALITE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localité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Localité du dossier (§1). Renseignée à la soumission ; rend le dossier visible/réceptionnable par les contrôleurs de cette localité même sans PPM ni réception.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ID_PRMP</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PRMP</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PRMP propriétaire du dossier (§3.1). Posée à la saisie ; le périmètre de propriété.</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ID_MANDAT_ATTRIB</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mandat attrib</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Règle ajoutée (spec « Mandats PRMP ») — mandat d'attribution figé : le mandat (t_mandat) sous lequel le dossier a été créé.</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CREE_PAR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Créé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Traçabilité (règle ajoutée) — login de l'acteur ayant créé le dossier (PRMP ou UGPM).</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SOUMIS_PAR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Soumis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Traçabilité (règle ajoutée) — login de l'acteur ayant soumis le dossier (PRMP uniquement).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ID_ENTITE_CONTRACT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entité contractante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Entité contractante concernée par le dossier (§1) — choisie à la saisie parmi les entités de la PRMP ; c'est elle qui détermine la localité (idLocalite en est dérivé).</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Le DMC dont la fiche marché a produit ce dossier (POST /api/fiches-marche/{idDmc/dossier}), ou auquel il a été rattaché en secours (PUT /api/dossiers/{id/fiche-marche}).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VERSION_FICHE_SOUMISE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Version fiche soumise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La version de la fiche marché que ce dossier a soumise : posée à la soumission, avancée à chaque resoumission / transmission de compléments.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8"/>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468</a:t>
            </a:r>
            <a:endParaRPr lang="en-US" sz="1100" dirty="0"/>
          </a:p>
        </p:txBody>
      </p:sp>
    </p:spTree>
  </p:cSld>
  <p:clrMapOvr>
    <a:masterClrMapping/>
  </p:clrMapOvr>
</p:sld>
</file>

<file path=ppt/slides/slide469.xml><?xml version="1.0" encoding="utf-8"?>
<p:sld xmlns:a="http://schemas.openxmlformats.org/drawingml/2006/main" xmlns:r="http://schemas.openxmlformats.org/officeDocument/2006/relationships" xmlns:p="http://schemas.openxmlformats.org/presentationml/2006/main">
  <p:cSld name="Slide 46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02 PLANIFIER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(2/9)</a:t>
            </a:r>
            <a:endParaRPr lang="en-US" sz="2600" dirty="0"/>
          </a:p>
        </p:txBody>
      </p:sp>
      <p:graphicFrame>
        <p:nvGraphicFramePr>
          <p:cNvPr id="470"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VERSION_FICHE_EXAMINEE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Version fiche examinee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La version de la fiche que la Commission a examinée : celle de la soumission, puis l'ancienne version soumise quand les compléments sont transmis (le réexamen compare à elle).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plan de passation  ·  t_ppm  ·  18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ID_PPM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PPM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ID_DOSSIER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dossier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EXERCICE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Exercice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SIGNATAIRE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Signataire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DATE_SIGNATURE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signature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DATE_PPM_INIT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PPM init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Auparavant déclarées mais jamais écrites). datePpmInit = date du PPM INITIAL, propagée inchangée de version en version (repère stable de la chaîne) ; numMaj = numéro de la mise à jour (null/0 = initial, puis 1, 2,…</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NUM_MAJ_PREC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Numéro mise à jour prec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DATE_MAJ_PREC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mise à jour prec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NUM_MAJ</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Numéro mise à jour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DATE_MAJ</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mise à jour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REFERENCE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Référence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LIBELLE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Libellé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DATE_RECEPTION_CNM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réception cnm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ID_LOCALITE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localité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JUSTIFICATION_FICHE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Justification fiche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La « Justification : » du bas du formulaire officiel, globale à la fiche et non rattachée à une ligne (arbitrage 2).</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VU</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Vu</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ID_PRMP</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PRMP</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MOTIF_MAJ</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 mise à jour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Motif de la mise à jour, exigé à la création d'une nouvelle version. null sur un PPM initial.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0"/>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469</a:t>
            </a:r>
            <a:endParaRPr lang="en-US" sz="1100" dirty="0"/>
          </a:p>
        </p:txBody>
      </p:sp>
    </p:spTree>
  </p:cSld>
  <p:clrMapOvr>
    <a:masterClrMapping/>
  </p:clrMapOvr>
</p:sld>
</file>

<file path=ppt/slides/slide470.xml><?xml version="1.0" encoding="utf-8"?>
<p:sld xmlns:a="http://schemas.openxmlformats.org/drawingml/2006/main" xmlns:r="http://schemas.openxmlformats.org/officeDocument/2006/relationships" xmlns:p="http://schemas.openxmlformats.org/presentationml/2006/main">
  <p:cSld name="Slide 47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02 PLANIFIER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(3/9)</a:t>
            </a:r>
            <a:endParaRPr lang="en-US" sz="2600" dirty="0"/>
          </a:p>
        </p:txBody>
      </p:sp>
      <p:graphicFrame>
        <p:nvGraphicFramePr>
          <p:cNvPr id="471"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489458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ligne de marché  ·  t_marche  ·  18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ID_DETAIL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détail</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ID_LIGNE_ORIGINE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ligne origine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Identité de la ligne à travers les versions. idDetail n'identifie la ligne que DANS un dossier : une copie en v2 reçoit une nouvelle PK. idLigneOrigine vaut l'idDetail de la PREMIÈRE apparition de la ligne et est hérité tel quel à chaque nouvelle version.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SUPPRIMEE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Supprimée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Suppression logique d'une ligne dans une version. La ligne est bien recopiée dans la nouvelle version, marquée supprimée : elle reste visible, restaurable, et n'est jamais effacée.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ID_DOSSIER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dossier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ID_PPM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PPM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DESIGNATION_MARCHE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Désignation marché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long</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NUM_COMPTE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Numéro compte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MONT_ESTIM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Montant estimatif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ANCIEN_MONT_ESTIM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Ancien montant estimatif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NOUV_MONT_ESTIM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Nouveau montant estimatif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FINANCEMENT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Financement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STATUT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Statut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ID_NATURE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nature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ID_MODE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mode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FORME_MARCHE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Forme marché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Liste : A_COMMANDE, CONTRAT_CADRE, QUANTITE_FIXE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Forme du marché (à commande / contrat cadre / à quantité fixe).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JUSTIF_MODE_DEROGATOIRE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Justification mode dérogatoire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Justification du mode dérogatoire de ce marché (liste ① de la fiche).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JUSTIF_DELAI_AMENAGE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Justification délai aménagé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Justification du délai aménagé (liste ②). Distincte de justifModeDerogatoire : un marché peut cumuler les deux, et les deux questions sont distinctes (pourquoi ce mode ? pourquoi ce délai ?).</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CATEGORIE_SEUIL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Catégorie seuil</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Liste : ROUTES_CONSTRUCTION, ENTRETIEN_ROUTIER, TRAVAUX_NON_ROUTIERS, FOURNITURES_SERVICES, PRESTATIONS_INTELLECTUELLES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Catégorie de prestations de l'arrêté n° 13 156/2019-MEF, qui choisit la ligne du barème de seuils.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9"/>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470</a:t>
            </a:r>
            <a:endParaRPr lang="en-US" sz="1100" dirty="0"/>
          </a:p>
        </p:txBody>
      </p:sp>
    </p:spTree>
  </p:cSld>
  <p:clrMapOvr>
    <a:masterClrMapping/>
  </p:clrMapOvr>
</p:sld>
</file>

<file path=ppt/slides/slide471.xml><?xml version="1.0" encoding="utf-8"?>
<p:sld xmlns:a="http://schemas.openxmlformats.org/drawingml/2006/main" xmlns:r="http://schemas.openxmlformats.org/officeDocument/2006/relationships" xmlns:p="http://schemas.openxmlformats.org/presentationml/2006/main">
  <p:cSld name="Slide 47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02 PLANIFIER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(4/9)</a:t>
            </a:r>
            <a:endParaRPr lang="en-US" sz="2600" dirty="0"/>
          </a:p>
        </p:txBody>
      </p:sp>
      <p:graphicFrame>
        <p:nvGraphicFramePr>
          <p:cNvPr id="472"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Les dates prévues d’une ligne  ·  t_marche_prevision  ·  5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ID_PREVISION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prévision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ID_DETAIL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détail</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Marché concerné (FK vers t_marche.ID_DETAIL).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ID_CAPM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CAPM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Processus de marché (FK vers t_capm.ID_CAPM).</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DATE_DEBUT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début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prévisionnelle de début du processus.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DATE_FIN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fin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prévisionnelle de fin du processus.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6"/>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calendrier prévisionnel (CAPM)  ·  t_capm  ·  5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ID_CAPM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CAPM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LIBELLE_PROCESSUS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Libellé processus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ORDRE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Ordre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Ordre d'affichage des processus (ASC).</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ID_MODE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mode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Règle ajoutée — modèle mixte (comme les points de contrôle par sous-type) : null = processus commun (modèle par défaut) ; sinon = processus SPÉCIFIQUE au mode de passation (t_mode_passation.ID_MODE, ex. modèle détaillé « Appel d'offres ouvert »).</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GROUPE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Groupe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(150)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Phase du modèle (ex. « 2 - LANCEMENT ») — regroupe les tâches à l'affichage ; null = sans phase.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2"/>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Les jalons d’une ligne  ·  t_echeance  ·  8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ID_ECHEANCE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échéance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ID_DETAIL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détail</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TYPE_JALON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Type jalon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DATE_PREVUE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prévue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DATE_REELLE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réelle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STATUT_JALON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Statut jalon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ECART_JOURS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Écart jours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ALERTE_ENVOYEE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Alerte envoyée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1"/>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lot  ·  t_lot  ·  7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ID_LOT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lot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3"/>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471</a:t>
            </a:r>
            <a:endParaRPr lang="en-US" sz="1100" dirty="0"/>
          </a:p>
        </p:txBody>
      </p:sp>
    </p:spTree>
  </p:cSld>
  <p:clrMapOvr>
    <a:masterClrMapping/>
  </p:clrMapOvr>
</p:sld>
</file>

<file path=ppt/slides/slide472.xml><?xml version="1.0" encoding="utf-8"?>
<p:sld xmlns:a="http://schemas.openxmlformats.org/drawingml/2006/main" xmlns:r="http://schemas.openxmlformats.org/officeDocument/2006/relationships" xmlns:p="http://schemas.openxmlformats.org/presentationml/2006/main">
  <p:cSld name="Slide 47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02 PLANIFIER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(5/9)</a:t>
            </a:r>
            <a:endParaRPr lang="en-US" sz="2600" dirty="0"/>
          </a:p>
        </p:txBody>
      </p:sp>
      <p:graphicFrame>
        <p:nvGraphicFramePr>
          <p:cNvPr id="473"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45339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ID_DOSSIER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dossier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ID_DETAIL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détail</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DESIGNATION_LOT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Désignation lot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MONT_LOT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Montant lot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QTE_LOT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Quantité lot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UNITE_LOT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Unité lot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tranche  ·  t_tranche  ·  4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ID_TRANCHE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tranche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LIEU_TRC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Lieu tranche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MONT_TRC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Montant tranche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ID_LOT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lot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1"/>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service bénéficiaire  ·  t_service_beneficiaire  ·  6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ID_BENEF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bénéficiaire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ANC_MONT_BENEF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Anc montant bénéficiaire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NOUV_MONT_BENEF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Nouveau montant bénéficiaire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SOA_CODE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SOA code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NUM_COMPTE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Numéro compte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Compte budgétaire du bénéficiaire (FK tr_compte) — compte et montant sont par bénéficiaire.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ID_DETAIL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détail</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8"/>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pièce jointe au dossier  ·  t_piece_jointe_dossier  ·  8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ID_PIECE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pièce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ID_DOSSIER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dossier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ID_TYPE_PIECE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type pièce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NOM_FICHIER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 fichier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(255)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3"/>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472</a:t>
            </a:r>
            <a:endParaRPr lang="en-US" sz="1100" dirty="0"/>
          </a:p>
        </p:txBody>
      </p:sp>
    </p:spTree>
  </p:cSld>
  <p:clrMapOvr>
    <a:masterClrMapping/>
  </p:clrMapOvr>
</p:sld>
</file>

<file path=ppt/slides/slide473.xml><?xml version="1.0" encoding="utf-8"?>
<p:sld xmlns:a="http://schemas.openxmlformats.org/drawingml/2006/main" xmlns:r="http://schemas.openxmlformats.org/officeDocument/2006/relationships" xmlns:p="http://schemas.openxmlformats.org/presentationml/2006/main">
  <p:cSld name="Slide 47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02 PLANIFIER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(6/9)</a:t>
            </a:r>
            <a:endParaRPr lang="en-US" sz="2600" dirty="0"/>
          </a:p>
        </p:txBody>
      </p:sp>
      <p:graphicFrame>
        <p:nvGraphicFramePr>
          <p:cNvPr id="474"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45212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APRES_LETTRE_RENVOI</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Apres lettre renvoi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Contenu binaire du fichier (bytea). */ @Column(name = "CONTENU") @JsonIgnore private byte[] contenu; @Column(name = "FORMAT", length = 10) private String format; @Column(name = "TAILLE") private Long taille; @Column(name = "DATE_UPLOAD") private LocalDateTime dateUpload; /** Vrai si la pièce a…</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ID_LETTRE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lettre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Lettre de renvoi concernée (FK t_lettre_renvoi), si apresLettreRenvoi.</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VERSION_CORRIGEE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Version corrigee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VERSION CORRIGÉE d'une pièce, déposée pendant la RECTIFICATION (dossier EN_ATTENTE_DECISION_PRMP, observations du PV) : distinguée de l'originale dans toutes les listes (l'originale est conservée). null = pièce ordinaire (lignes antérieures).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ID_DOCUMENT_FICHE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document fiche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Le document de fiche marché dont cette pièce est la copie jointe au dossier ; null pour une pièce téléversée.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version d’un plan  ·  t_version_dossier  ·  14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ID_VERSION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version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ID_DOSSIER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dossier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NUMERO</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Numéro</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Numéro d'ordre d'archivage dans le dossier (1, 2, …) — unique par dossier.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ORIGINE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Origine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 : RECTIFICATION, MISE_A_JOUR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 de cnm.prs.enums.OrigineVersion.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CYCLE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Cycle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Itération de rectification (resoumissions du dossier + 1 au moment du gel).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DATE_VERSION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version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ID_PRMP_AUTEUR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PRMP auteur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PRMP opératrice au moment du gel (celle du jeton, ou la PRMP de tutelle d'un agent UGPM).</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NOM_AUTEUR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 auteur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 Prénoms Nom » de la PRMP opératrice, figé au moment du gel.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AUTEUR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Auteur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Login réel de l'auteur (PRMP ou agent UGPM agissant sous sa tutelle).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EXERCICE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Exercice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REFERENCE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Référence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SIGNATAIRE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Signataire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DATE_SIGNATURE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signature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NB_LIGNES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Nombre lignes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9"/>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473</a:t>
            </a:r>
            <a:endParaRPr lang="en-US" sz="1100" dirty="0"/>
          </a:p>
        </p:txBody>
      </p:sp>
    </p:spTree>
  </p:cSld>
  <p:clrMapOvr>
    <a:masterClrMapping/>
  </p:clrMapOvr>
</p:sld>
</file>

<file path=ppt/slides/slide474.xml><?xml version="1.0" encoding="utf-8"?>
<p:sld xmlns:a="http://schemas.openxmlformats.org/drawingml/2006/main" xmlns:r="http://schemas.openxmlformats.org/officeDocument/2006/relationships" xmlns:p="http://schemas.openxmlformats.org/presentationml/2006/main">
  <p:cSld name="Slide 47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02 PLANIFIER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(7/9)</a:t>
            </a:r>
            <a:endParaRPr lang="en-US" sz="2600" dirty="0"/>
          </a:p>
        </p:txBody>
      </p:sp>
      <p:graphicFrame>
        <p:nvGraphicFramePr>
          <p:cNvPr id="475"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477774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changement d’une ligne entre deux versions  ·  t_changement_ligne  ·  8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ID_CHANGEMENT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changement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ID_DOSSIER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dossier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Dossier de la version qui PORTE le changement (le successeur), jamais le prédécesseur.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ID_LIGNE_ORIGINE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ligne origine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Identité stable de la ligne à travers les versions (cf. Marche.idLigneOrigine).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DESIGNATION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Désignation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long</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Désignation de la ligne au moment du figeage — lisible même si la ligne évolue ensuite.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TYPE_CHANGEMENT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Type changement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CHAMP</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Champ</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Champ modifié (ex. montEstim) — null hors TypeChangementLigneMODIFIEE.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VALEUR_AVANT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Valeur avant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long</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VALEUR_APRES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Valeur apres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long</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9"/>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signalement du pré-contrôle  ·  t_anomalie  ·  20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ID_ANOMALIE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anomalie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ID_DETAIL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détail</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ID_PPM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PPM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ID_REGLE_ANOMALIE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règle anomalie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TYPE_ANOMALIE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Type anomalie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GRAVITE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Gravité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Élargie de 10 à 20 caractères par V32 : « PRIORITAIRE » en fait 11.</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DESCRIPTION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long</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DATE_DETECTION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detection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SOURCE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Source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STATUT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Statut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IM_TRAITEMENT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 traitement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Sans quoi elle n'aurait jamais pu être enregistrée comme ayant écarté un signalement.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TYPE_ACTEUR_TRAITEMENT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Type acteur traitement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 : CONTROLEUR, PRMP, UGPM, CANDIDAT, MEMBRE_CAO, DEPOSITAIRE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CONTROLEUR ou PRMP, comme la claim acteurType du jeton. Un agent d'UGPM est enregistré comme sa PRMP de tutelle : c'est son ID_PRMP que porte le jeton (claim ref), et le périmètre d'une UGPM est celui de sa tutelle.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DATE_TRAITEMENT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traitement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3"/>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474</a:t>
            </a:r>
            <a:endParaRPr lang="en-US" sz="1100" dirty="0"/>
          </a:p>
        </p:txBody>
      </p:sp>
    </p:spTree>
  </p:cSld>
  <p:clrMapOvr>
    <a:masterClrMapping/>
  </p:clrMapOvr>
</p:sld>
</file>

<file path=ppt/slides/slide475.xml><?xml version="1.0" encoding="utf-8"?>
<p:sld xmlns:a="http://schemas.openxmlformats.org/drawingml/2006/main" xmlns:r="http://schemas.openxmlformats.org/officeDocument/2006/relationships" xmlns:p="http://schemas.openxmlformats.org/presentationml/2006/main">
  <p:cSld name="Slide 47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02 PLANIFIER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(8/9)</a:t>
            </a:r>
            <a:endParaRPr lang="en-US" sz="2600" dirty="0"/>
          </a:p>
        </p:txBody>
      </p:sp>
      <p:graphicFrame>
        <p:nvGraphicFramePr>
          <p:cNvPr id="476"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COMMENTAIRE_TRAITEMENT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Commentaire traitement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long</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Motif de l'écartement — obligatoire quand un signalement est écarté (3.f).</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ID_POINT_CTRL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point contrôle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Point de la grille de contrôle du PPM (tr_points_ctrl) que le signalement éclaire (« Mode de passation conforme », « Conformité de la désignation »…).</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CLE_SIGNALEMENT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Clé signalement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Identité stable du signalement dans son PPM : code de règle + objet visé, normalisé.</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SUGGESTION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Suggestion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long</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Correction proposée, rédigée comme l'annexe d'un PV (« Au lieu de : … Lire : … ») pour que le contrôleur puisse la reprendre, la modifier ou l'ignorer.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DATE_LEVEE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levée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à laquelle le signalement a cessé de ressortir, le plan ayant changé.</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DETAIL_LEVEE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Détail levée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long</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Ce qui a changé dans le plan et a fait disparaître le signalement. C'est ce que le contrôleur lit quand une PRMP a fait taire l'alarme en modifiant ses lignes : rien ne s'efface.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FIGE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Fige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Vrai dès la soumission du plan : un écartement figé ne se défait plus (3.f, condition 3).</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ligne visée par un signalement  ·  t_anomalie_ligne  ·  5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ID_ANOMALIE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anomalie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ID_DETAIL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détail</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MONTANT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Montant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Montant en vigueur de la ligne au moment de la détection (NOUV_MONT_ESTIM, sinon MONT_ESTIM).</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idAnomalie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anomalie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idDetail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détail</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3"/>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demande de retrait  ·  t_demande_retrait  ·  9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ID_DEMANDE_RETRAIT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demande retrait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Auto-généré serveur (IDENTITY) ; ignoré en entrée.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ID_DOSSIER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dossier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ID_PRMP</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PRMP</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Dérivé du JWT ; ignoré en entrée.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MOTIF_RETRAIT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 retrait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long</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DATE_DEMANDE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demande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Posé serveur ; ignoré en entrée.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STATUT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Statut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Forcé serveur (EN_ATTENTE) ; ignoré en entrée.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IM_CTRL_CC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 contrôle cc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(7)</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1"/>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475</a:t>
            </a:r>
            <a:endParaRPr lang="en-US" sz="1100" dirty="0"/>
          </a:p>
        </p:txBody>
      </p:sp>
    </p:spTree>
  </p:cSld>
  <p:clrMapOvr>
    <a:masterClrMapping/>
  </p:clrMapOvr>
</p:sld>
</file>

<file path=ppt/slides/slide476.xml><?xml version="1.0" encoding="utf-8"?>
<p:sld xmlns:a="http://schemas.openxmlformats.org/drawingml/2006/main" xmlns:r="http://schemas.openxmlformats.org/officeDocument/2006/relationships" xmlns:p="http://schemas.openxmlformats.org/presentationml/2006/main">
  <p:cSld name="Slide 47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02 PLANIFIER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(9/9)</a:t>
            </a:r>
            <a:endParaRPr lang="en-US" sz="2600" dirty="0"/>
          </a:p>
        </p:txBody>
      </p:sp>
      <p:graphicFrame>
        <p:nvGraphicFramePr>
          <p:cNvPr id="477"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433832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DATE_DECISION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décision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OBS_DECISION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Observation décision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lettre de la demande de retrait  ·  t_piece_demande_retrait  ·  7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ID_PIECE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pièce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ID_DEMANDE_RETRAIT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demande retrait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Demande propriétaire (une seule pièce par demande).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NOM_FICHIER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 fichier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(255)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 du fichier tel que déposé par la PRMP (affiché au décideur).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FORMAT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Format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Type MIME réel (application/pdf — seul format accepté).</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TAILLE_OCTETS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Taille (octets)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DATE_DEPOT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dépôt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HASH_SHA256</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Empreinte SHA-256</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(64)</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Empreinte SHA-256 (hex) du contenu, pour le contrôle d'intégrité.</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journal du dossier  ·  t_action_dossier  ·  11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ID_ACTION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action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ID_DOSSIER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dossier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DATE_ACTION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action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TYPE_ACTION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Type action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(40)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Nature de l'action (ex. CREATION, SOUMISSION, RESOUMISSION).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ID_PRMP_OPERATEUR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PRMP opérateur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PRMP en fonction au moment de l'action — l'opérateur, pas l'attributaire.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NOM_OPERATEUR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 opérateur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 de l'opérateur figé au moment de l'action.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AUTEUR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Auteur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Login réel de l'auteur (PRMP ou agent UGPM agissant sous sa tutelle).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ID_MANDAT_OPERATEUR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mandat opérateur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Mandat sous lequel l'action a été faite (null si mandat implicite, non déclaré).</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DETAIL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Détail</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Détail suffixé « — par intérim de NOM » quand l'action a été posée par intérim désigné.</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INTERIM_DE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Intérim de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Geste posé PAR INTÉRIM de ce titulaire ; l'auteur reste celui qui a agi.</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ID_INTERIM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intérim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2"/>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476</a:t>
            </a:r>
            <a:endParaRPr lang="en-US" sz="1100" dirty="0"/>
          </a:p>
        </p:txBody>
      </p:sp>
    </p:spTree>
  </p:cSld>
  <p:clrMapOvr>
    <a:masterClrMapping/>
  </p:clrMapOvr>
</p:sld>
</file>

<file path=ppt/slides/slide477.xml><?xml version="1.0" encoding="utf-8"?>
<p:sld xmlns:a="http://schemas.openxmlformats.org/drawingml/2006/main" xmlns:r="http://schemas.openxmlformats.org/officeDocument/2006/relationships" xmlns:p="http://schemas.openxmlformats.org/presentationml/2006/main">
  <p:cSld name="Slide 47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03 CONTRÔLER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données de l’étape (1/3)</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Chaque objet que cette étape crée ou modifie, avec la table du serveur qui le conserve et le nombre de ses informations.</a:t>
            </a:r>
            <a:endParaRPr lang="en-US" sz="1300" dirty="0"/>
          </a:p>
        </p:txBody>
      </p:sp>
      <p:graphicFrame>
        <p:nvGraphicFramePr>
          <p:cNvPr id="478" name="Table 0"/>
          <p:cNvGraphicFramePr>
            <a:graphicFrameLocks noGrp="1"/>
          </p:cNvGraphicFramePr>
          <p:nvPr>
            <p:extLst>
              <p:ext uri="{D42A27DB-BD31-4B8C-83A1-F6EECF244321}">
                <p14:modId xmlns:p14="http://schemas.microsoft.com/office/powerpoint/2010/main" val="1579011935"/>
              </p:ext>
            </p:extLst>
          </p:nvPr>
        </p:nvGraphicFramePr>
        <p:xfrm>
          <a:off x="593324" y="1651000"/>
          <a:ext cx="11430000" cy="4302760"/>
        </p:xfrm>
        <a:graphic>
          <a:graphicData uri="http://schemas.openxmlformats.org/drawingml/2006/table">
            <a:tbl>
              <a:tblPr/>
              <a:tblGrid>
                <a:gridCol w="2926080">
                  <a:extLst>
                    <a:ext uri="{9D8B030D-6E8A-4147-A177-3AD203B41FA5}">
                      <a16:colId xmlns:a16="http://schemas.microsoft.com/office/drawing/2014/main" val="20000"/>
                    </a:ext>
                  </a:extLst>
                </a:gridCol>
                <a:gridCol w="2103120">
                  <a:extLst>
                    <a:ext uri="{9D8B030D-6E8A-4147-A177-3AD203B41FA5}">
                      <a16:colId xmlns:a16="http://schemas.microsoft.com/office/drawing/2014/main" val="20001"/>
                    </a:ext>
                  </a:extLst>
                </a:gridCol>
                <a:gridCol w="1005840">
                  <a:extLst>
                    <a:ext uri="{9D8B030D-6E8A-4147-A177-3AD203B41FA5}">
                      <a16:colId xmlns:a16="http://schemas.microsoft.com/office/drawing/2014/main" val="20002"/>
                    </a:ext>
                  </a:extLst>
                </a:gridCol>
                <a:gridCol w="5394960">
                  <a:extLst>
                    <a:ext uri="{9D8B030D-6E8A-4147-A177-3AD203B41FA5}">
                      <a16:colId xmlns:a16="http://schemas.microsoft.com/office/drawing/2014/main" val="20003"/>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Objet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Table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Ce qu’il porte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résultat d’un contrôle (A automatique, B du contrôleur)</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t_controle_resultat</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10</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 résultat de contrôle d'un dossier à une soumission : automatique (auteur = SERVEUR, règle codée, valeurs constatées) ou posé par un contrôleur (matricule, point de grille ou règle, observation obligatoire si non conforme).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L’écran figé à la soumission</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t_dossier_instantane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8</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 instantané figé à la soumission d'un dossier : le JSON du DTO de lecture d'un écran (SEANCE, EVALUATION, AMI, ATTRIBUTION, CAO, AVIS, PLAN, ACTE, DSS) tel qu'il était servi à cet instant, son empreinte SHA-256, le numéro de la soumission (1 à la…</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L’alerte d’examen</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t_alerte_examen</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5</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L'alerte de dépassement d'un passage en examen : une seule par passage, repéré par le dossier et l'entrée dans l'étape.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pièce exigée d’un sous-type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t_piece_sous_type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8</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 type de pièce exigé pour un sous-type de dossier : son obligation, son ordre, et sa condition sur la catégorie de la fiche (FOURNITURES_SERVICES, TRAVAUX, PRESTATIONS_INTELLECTUELLES) et sur la forme (CONTRAT_CADRE, ou AUTRE : toute autre forme).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motif-type de la conclusion</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tr_motif_type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10</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 motif-type de la conclusion : motif de renvoi (lettre de demande de compléments) ou d'avis défavorable, commun à une famille (idSousType nul) ou propre à un sous-type.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délai d’examen d’un sous-type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tr_delai_sous_type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5</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Le délai d'une étape surchargé pour un sous-type de dossier (tr_delai_sous_type) ; sans ligne, le sous-type prend le délai standard de l'étape.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recevabilité d’une pièce au dépôt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t_verification_piece_depot</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8</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Vérification PIÈCE PAR PIÈCE des pièces jointes par le SECRÉTAIRE avant enregistrement de la réception (contrôle de complétude).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réception</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t_reception</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10</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dispatch</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t_dispatch</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10</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copie d’un dossier</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t_copie_dossier</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9</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L’examen</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t_examen</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4</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réponse à un point de contrôle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t_examen_detail</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6</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bl>
          </a:graphicData>
        </a:graphic>
      </p:graphicFrame>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477</a:t>
            </a:r>
            <a:endParaRPr lang="en-US" sz="1100" dirty="0"/>
          </a:p>
        </p:txBody>
      </p:sp>
    </p:spTree>
  </p:cSld>
  <p:clrMapOvr>
    <a:masterClrMapping/>
  </p:clrMapOvr>
</p:sld>
</file>

<file path=ppt/slides/slide478.xml><?xml version="1.0" encoding="utf-8"?>
<p:sld xmlns:a="http://schemas.openxmlformats.org/drawingml/2006/main" xmlns:r="http://schemas.openxmlformats.org/officeDocument/2006/relationships" xmlns:p="http://schemas.openxmlformats.org/presentationml/2006/main">
  <p:cSld name="Slide 47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03 CONTRÔLER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données de l’étape (2/3)</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Chaque objet que cette étape crée ou modifie, avec la table du serveur qui le conserve et le nombre de ses informations.</a:t>
            </a:r>
            <a:endParaRPr lang="en-US" sz="1300" dirty="0"/>
          </a:p>
        </p:txBody>
      </p:sp>
      <p:graphicFrame>
        <p:nvGraphicFramePr>
          <p:cNvPr id="479" name="Table 0"/>
          <p:cNvGraphicFramePr>
            <a:graphicFrameLocks noGrp="1"/>
          </p:cNvGraphicFramePr>
          <p:nvPr>
            <p:extLst>
              <p:ext uri="{D42A27DB-BD31-4B8C-83A1-F6EECF244321}">
                <p14:modId xmlns:p14="http://schemas.microsoft.com/office/powerpoint/2010/main" val="1579011935"/>
              </p:ext>
            </p:extLst>
          </p:nvPr>
        </p:nvGraphicFramePr>
        <p:xfrm>
          <a:off x="593324" y="1651000"/>
          <a:ext cx="11430000" cy="3693160"/>
        </p:xfrm>
        <a:graphic>
          <a:graphicData uri="http://schemas.openxmlformats.org/drawingml/2006/table">
            <a:tbl>
              <a:tblPr/>
              <a:tblGrid>
                <a:gridCol w="2926080">
                  <a:extLst>
                    <a:ext uri="{9D8B030D-6E8A-4147-A177-3AD203B41FA5}">
                      <a16:colId xmlns:a16="http://schemas.microsoft.com/office/drawing/2014/main" val="20000"/>
                    </a:ext>
                  </a:extLst>
                </a:gridCol>
                <a:gridCol w="2103120">
                  <a:extLst>
                    <a:ext uri="{9D8B030D-6E8A-4147-A177-3AD203B41FA5}">
                      <a16:colId xmlns:a16="http://schemas.microsoft.com/office/drawing/2014/main" val="20001"/>
                    </a:ext>
                  </a:extLst>
                </a:gridCol>
                <a:gridCol w="1005840">
                  <a:extLst>
                    <a:ext uri="{9D8B030D-6E8A-4147-A177-3AD203B41FA5}">
                      <a16:colId xmlns:a16="http://schemas.microsoft.com/office/drawing/2014/main" val="20002"/>
                    </a:ext>
                  </a:extLst>
                </a:gridCol>
                <a:gridCol w="5394960">
                  <a:extLst>
                    <a:ext uri="{9D8B030D-6E8A-4147-A177-3AD203B41FA5}">
                      <a16:colId xmlns:a16="http://schemas.microsoft.com/office/drawing/2014/main" val="20003"/>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Objet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Table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Ce qu’il porte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L’examen d’une pièce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t_examen_piece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5</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Entité JPA mappée sur t_examen_piece (table additive ddl-auto) : résultat d'examen d'une pièce jointe du dossier, une par une (miroir de ExamenDetail pour les lignes de marché). conforme = RAS ; sinon observation porte le constat.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procès-verbal d’examen</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t_pv_examen</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27</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navette du PV</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t_pv_navette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7</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L’observation du PV</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t_observation_pv</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17</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PÉRIMÈTRE FIGÉ des observations transmises à la PRMP : snapshot des observations de l'EXAMEN telles qu'arrêtées dans le PV (lignes « Au lieu de / Lire » des points non conformes + observations des pièces non conformes), généré à la signature du PV FAVR.</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L’observation de contrôle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t_observation_controle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13</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suivi d’une observation</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t_suivi_observation</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7</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HISTORIQUE append-only des décisions du vérificateur sur une observation du périmètre figé ObservationPv : une ligne par décision et par itération (LEVÉE = satisfaite, définitive ;</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vérification</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t_verification</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8</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lettre de renvoi</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t_lettre_renvoi</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13</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lecture d’une lettre de renvoi</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t_lettre_renvoi_lue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5</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transmission à SIGMP</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t_transmission_sigmp</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8</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Transmission du sens de la décision de la Commission vers SIGMP (application tierce, interop PRS 2.0 ↔ SIGMP).</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suspension (dossier chez la PRMP)</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t_suspension_dossier</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3</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L’instantané d’une ligne avant rectification</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t_snapshot_rectif_ligne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23</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Instantané pré-correction d'une ligne de marché, figé au premier PUT /api/saisies/ppm/{id} d'un cycle de rectification (dossier EN_ATTENTE_DECISION_PRMP).</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bl>
          </a:graphicData>
        </a:graphic>
      </p:graphicFrame>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478</a:t>
            </a:r>
            <a:endParaRPr lang="en-US" sz="1100" dirty="0"/>
          </a:p>
        </p:txBody>
      </p:sp>
    </p:spTree>
  </p:cSld>
  <p:clrMapOvr>
    <a:masterClrMapping/>
  </p:clrMapOvr>
</p:sld>
</file>

<file path=ppt/slides/slide479.xml><?xml version="1.0" encoding="utf-8"?>
<p:sld xmlns:a="http://schemas.openxmlformats.org/drawingml/2006/main" xmlns:r="http://schemas.openxmlformats.org/officeDocument/2006/relationships" xmlns:p="http://schemas.openxmlformats.org/presentationml/2006/main">
  <p:cSld name="Slide 47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03 CONTRÔLER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données de l’étape (3/3)</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Chaque objet que cette étape crée ou modifie, avec la table du serveur qui le conserve et le nombre de ses informations.</a:t>
            </a:r>
            <a:endParaRPr lang="en-US" sz="1300" dirty="0"/>
          </a:p>
        </p:txBody>
      </p:sp>
      <p:graphicFrame>
        <p:nvGraphicFramePr>
          <p:cNvPr id="480" name="Table 0"/>
          <p:cNvGraphicFramePr>
            <a:graphicFrameLocks noGrp="1"/>
          </p:cNvGraphicFramePr>
          <p:nvPr>
            <p:extLst>
              <p:ext uri="{D42A27DB-BD31-4B8C-83A1-F6EECF244321}">
                <p14:modId xmlns:p14="http://schemas.microsoft.com/office/powerpoint/2010/main" val="1579011935"/>
              </p:ext>
            </p:extLst>
          </p:nvPr>
        </p:nvGraphicFramePr>
        <p:xfrm>
          <a:off x="593324" y="1651000"/>
          <a:ext cx="11430000" cy="914400"/>
        </p:xfrm>
        <a:graphic>
          <a:graphicData uri="http://schemas.openxmlformats.org/drawingml/2006/table">
            <a:tbl>
              <a:tblPr/>
              <a:tblGrid>
                <a:gridCol w="2926080">
                  <a:extLst>
                    <a:ext uri="{9D8B030D-6E8A-4147-A177-3AD203B41FA5}">
                      <a16:colId xmlns:a16="http://schemas.microsoft.com/office/drawing/2014/main" val="20000"/>
                    </a:ext>
                  </a:extLst>
                </a:gridCol>
                <a:gridCol w="2103120">
                  <a:extLst>
                    <a:ext uri="{9D8B030D-6E8A-4147-A177-3AD203B41FA5}">
                      <a16:colId xmlns:a16="http://schemas.microsoft.com/office/drawing/2014/main" val="20001"/>
                    </a:ext>
                  </a:extLst>
                </a:gridCol>
                <a:gridCol w="1005840">
                  <a:extLst>
                    <a:ext uri="{9D8B030D-6E8A-4147-A177-3AD203B41FA5}">
                      <a16:colId xmlns:a16="http://schemas.microsoft.com/office/drawing/2014/main" val="20002"/>
                    </a:ext>
                  </a:extLst>
                </a:gridCol>
                <a:gridCol w="5394960">
                  <a:extLst>
                    <a:ext uri="{9D8B030D-6E8A-4147-A177-3AD203B41FA5}">
                      <a16:colId xmlns:a16="http://schemas.microsoft.com/office/drawing/2014/main" val="20003"/>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Objet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Table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Ce qu’il porte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L’instantané d’un lot avant rectification</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t_snapshot_rectif_lot</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6</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 lot d'une ligne figée (SnapshotRectifLigne), copié de Lot au moment du gel.</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L’instantané d’une prévision avant rectification</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t_snapshot_rectif_prevision</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5</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Une date prévisionnelle (processus idCapm) d'une ligne figée (SnapshotRectifLigne), copiée de MarchePrevision au moment du gel.</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L’instantané d’un bénéficiaire avant rectification</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t_snapshot_rectif_beneficiaire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6</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 service bénéficiaire d'une ligne figée (SnapshotRectifLigne), copié de ServiceBeneficiaire au moment du gel.</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bl>
          </a:graphicData>
        </a:graphic>
      </p:graphicFrame>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479</a:t>
            </a:r>
            <a:endParaRPr lang="en-US" sz="1100" dirty="0"/>
          </a:p>
        </p:txBody>
      </p:sp>
    </p:spTree>
  </p:cSld>
  <p:clrMapOvr>
    <a:masterClrMapping/>
  </p:clrMapOvr>
</p:sld>
</file>

<file path=ppt/slides/slide480.xml><?xml version="1.0" encoding="utf-8"?>
<p:sld xmlns:a="http://schemas.openxmlformats.org/drawingml/2006/main" xmlns:r="http://schemas.openxmlformats.org/officeDocument/2006/relationships" xmlns:p="http://schemas.openxmlformats.org/presentationml/2006/main">
  <p:cSld name="Slide 48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03 CONTRÔLER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(1/12)</a:t>
            </a:r>
            <a:endParaRPr lang="en-US" sz="2600" dirty="0"/>
          </a:p>
        </p:txBody>
      </p:sp>
      <p:graphicFrame>
        <p:nvGraphicFramePr>
          <p:cNvPr id="481"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49149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résultat d’un contrôle (A automatique, B du contrôleur)  ·  t_controle_resultat  ·  10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REFERENCE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Référence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(60)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L'auteur d'un contrôle automatique. */ public static final String SERVEUR = "SERVEUR"; @Id @GeneratedValue(strategy = GenerationType.IDENTITY) @Column(name = "ID_CONTROLE") private Long idControle; @Column(name = "ID_DOSSIER", nullable = false) private Integer idDossier; @Column(name =…</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ID_POINT_CTRL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point contrôle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Le point de grille d'un contrôle B, ou null.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REGLE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Règle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(60)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Le code de la règle (DOCUMENTS_EVALUATION_SIGNES…), ou POINT_ pour un point de grille.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LIBELLE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Libellé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VALEURS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long</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Les valeurs constatées, en JSON.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RESULTAT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Résultat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BLOQUANT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Bloquant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AUTEUR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Auteur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SERVEUR, ou le matricule du Membre.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DATE_CONTROLE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contrôle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OBSERVATION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Observation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long</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1"/>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L’écran figé à la soumission  ·  t_dossier_instantane  ·  8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ID_INSTANTANE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instantane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ID_DOSSIER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dossier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NUMERO_SOUMISSION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Numéro soumission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ECRAN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Ecran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CONTENU</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Contenu</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long</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Le JSON du DTO de lecture, tel que servi à la soumission.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EMPREINTE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Empreinte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(64)</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SHA-256 du contenu, en hexadécimal.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FIGE_LE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Fige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FIGE_PAR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Fige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L’alerte d’examen  ·  t_alerte_examen  ·  5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ID_ALERTE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alerte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ID_DOSSIER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dossier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3"/>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480</a:t>
            </a:r>
            <a:endParaRPr lang="en-US" sz="1100" dirty="0"/>
          </a:p>
        </p:txBody>
      </p:sp>
    </p:spTree>
  </p:cSld>
  <p:clrMapOvr>
    <a:masterClrMapping/>
  </p:clrMapOvr>
</p:sld>
</file>

<file path=ppt/slides/slide481.xml><?xml version="1.0" encoding="utf-8"?>
<p:sld xmlns:a="http://schemas.openxmlformats.org/drawingml/2006/main" xmlns:r="http://schemas.openxmlformats.org/officeDocument/2006/relationships" xmlns:p="http://schemas.openxmlformats.org/presentationml/2006/main">
  <p:cSld name="Slide 48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03 CONTRÔLER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(2/12)</a:t>
            </a:r>
            <a:endParaRPr lang="en-US" sz="2600" dirty="0"/>
          </a:p>
        </p:txBody>
      </p:sp>
      <p:graphicFrame>
        <p:nvGraphicFramePr>
          <p:cNvPr id="482"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ENTREE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Entrée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ECOULE_HEURES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Ecoule heures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ALERTE_LE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Alerte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pièce exigée d’un sous-type  ·  t_piece_sous_type  ·  8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ID_TYPE_PIECE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type pièce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ID_SOUS_TYPE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sous type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OBLIGATOIRE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Obligatoire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ORDRE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Ordre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CATEGORIE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Catégorie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(40)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FORME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Forme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CONDITION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Condition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motif-type de la conclusion  ·  tr_motif_type  ·  10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ID_MOTIF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motif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ID_TYPE_DOSSIER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type dossier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Famille, obligatoire.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ID_SOUS_TYPE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sous type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Nul : commun à la famille.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NATURE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Nature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 : RENVOI, AVIS_DEFAVORABLE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RENVOI ou AVIS_DEFAVORABLE.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LIBELLE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Libellé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 200 : le nom du motif dans la liste.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TEXTE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Texte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long</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ORDRE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Ordre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CATEGORIE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Catégorie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(40)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Condition : catégorie de la fiche (nul : toutes).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FORME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Forme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Condition : CONTRAT_CADRE, AUTRE (nul : toutes formes).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ACTIF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Actif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Absent à l'écriture : actif à la création, inchangé à la modification. Désactivé : plus servi à l'examen.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3"/>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délai d’examen d’un sous-type  ·  tr_delai_sous_type  ·  5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2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ID_SOUS_TYPE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sous type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5"/>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481</a:t>
            </a:r>
            <a:endParaRPr lang="en-US" sz="1100" dirty="0"/>
          </a:p>
        </p:txBody>
      </p:sp>
    </p:spTree>
  </p:cSld>
  <p:clrMapOvr>
    <a:masterClrMapping/>
  </p:clrMapOvr>
</p:sld>
</file>

<file path=ppt/slides/slide482.xml><?xml version="1.0" encoding="utf-8"?>
<p:sld xmlns:a="http://schemas.openxmlformats.org/drawingml/2006/main" xmlns:r="http://schemas.openxmlformats.org/officeDocument/2006/relationships" xmlns:p="http://schemas.openxmlformats.org/presentationml/2006/main">
  <p:cSld name="Slide 48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03 CONTRÔLER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(3/12)</a:t>
            </a:r>
            <a:endParaRPr lang="en-US" sz="2600" dirty="0"/>
          </a:p>
        </p:txBody>
      </p:sp>
      <p:graphicFrame>
        <p:nvGraphicFramePr>
          <p:cNvPr id="483"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483616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ETAPE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Étape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DELAI_HEURES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Délai heures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idSousType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sous type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etape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Étape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recevabilité d’une pièce au dépôt  ·  t_verification_piece_depot  ·  8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ID_VERIF_PIECE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verif pièce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ID_DOSSIER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dossier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ID_TYPE_PIECE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type pièce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Type de pièce attendu (référentiel t_type_piece_jointe).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ID_PIECE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pièce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Pièce déposée vérifiée (t_piece_jointe_dossier) — null si MANQUANTE.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DECISION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Décision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Décision : CONFORME / NON_CONFORME / MANQUANTE.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OBSERVATION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Observation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Observation libre (motif du rejet / nature du manque).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IM_SECRETAIRE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 secrétaire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(7)</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Secrétaire auteur de la décision (matricule, identité JWT).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DATE_VERIF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verif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3"/>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réception  ·  t_reception  ·  10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ID_RECEPTION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réception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PK allouée par le serveur au POST (id client ignoré, non envoyé) ; présente en réponse, utilisée par le dispatch.</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ID_DOSSIER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dossier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NUM_PASSAGE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Numéro passage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TYPE_PASSAGE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Type passage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IM_CTRL_RECEPT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 contrôle réception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(7)</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DATE_RECEPTION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réception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 de réception par le secrétariat (TIMESTAMP).</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OBSERVATION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Observation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COMPLET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Complet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Si true → le dossier passe en PRET_DISPATCH (effet [Auto]).</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ID_RECEPTION_PREC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réception prec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REFERENCE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Référence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(Règle ajoutée) Référence officielle de la réception — snapshot immuable de la forme /// figé au POST.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4"/>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482</a:t>
            </a:r>
            <a:endParaRPr lang="en-US" sz="1100" dirty="0"/>
          </a:p>
        </p:txBody>
      </p:sp>
    </p:spTree>
  </p:cSld>
  <p:clrMapOvr>
    <a:masterClrMapping/>
  </p:clrMapOvr>
</p:sld>
</file>

<file path=ppt/slides/slide483.xml><?xml version="1.0" encoding="utf-8"?>
<p:sld xmlns:a="http://schemas.openxmlformats.org/drawingml/2006/main" xmlns:r="http://schemas.openxmlformats.org/officeDocument/2006/relationships" xmlns:p="http://schemas.openxmlformats.org/presentationml/2006/main">
  <p:cSld name="Slide 48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03 CONTRÔLER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(4/12)</a:t>
            </a:r>
            <a:endParaRPr lang="en-US" sz="2600" dirty="0"/>
          </a:p>
        </p:txBody>
      </p:sp>
      <p:graphicFrame>
        <p:nvGraphicFramePr>
          <p:cNvPr id="484"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490728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dispatch  ·  t_dispatch  ·  10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ID_DISPATCH</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dispatch</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ID_RECEPTION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réception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IM_CTRL_DISPATCH</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 contrôle dispatch</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(7)</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IM_CTRL_CC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 contrôle cc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(7)</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IM_CTRL_MEMBRE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 contrôle membre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(7)</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DATE_DISPATCH</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dispatch</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 du dispatch (TIMESTAMP).</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DATE_CTRL_ASSIGNE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contrôle assigne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INSTRUCTIONS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Instructions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INTERIM_DISPATCH</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Intérim dispatch</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Président → false ; CC dans sa localité → false ; CC hors localité → true (sinon 409). Forcé à false sous intérim désigné.</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ID_INTERIM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intérim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Non nul quand le dispatch (ou la réattribution) a été posé par un intérimaire désigné (t_interim). imCtrlDispatch porte alors le titulaire, pas l'intérimaire (ADR-0008) : c'est le dispatcheur que l'aval reconnaît — visa, retrait, discriminant de la navette à deux niveaux.</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1"/>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copie d’un dossier  ·  t_copie_dossier  ·  9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ID_COPIE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copie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ID_DISPATCH</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dispatch</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ID_DOSSIER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dossier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IM_DESTINATAIRE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 destinataire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(7)</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TYPE_COPIE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Type copie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DATE_TRANSMISSION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transmission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ACCUSE_RECEPTION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Accusé réception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DATE_ACCUSE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accusé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OBSERVATION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Observation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1"/>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L’examen  ·  t_examen  ·  4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ID_EXAMEN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examen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3"/>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483</a:t>
            </a:r>
            <a:endParaRPr lang="en-US" sz="1100" dirty="0"/>
          </a:p>
        </p:txBody>
      </p:sp>
    </p:spTree>
  </p:cSld>
  <p:clrMapOvr>
    <a:masterClrMapping/>
  </p:clrMapOvr>
</p:sld>
</file>

<file path=ppt/slides/slide484.xml><?xml version="1.0" encoding="utf-8"?>
<p:sld xmlns:a="http://schemas.openxmlformats.org/drawingml/2006/main" xmlns:r="http://schemas.openxmlformats.org/officeDocument/2006/relationships" xmlns:p="http://schemas.openxmlformats.org/presentationml/2006/main">
  <p:cSld name="Slide 48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03 CONTRÔLER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(5/12)</a:t>
            </a:r>
            <a:endParaRPr lang="en-US" sz="2600" dirty="0"/>
          </a:p>
        </p:txBody>
      </p:sp>
      <p:graphicFrame>
        <p:nvGraphicFramePr>
          <p:cNvPr id="485"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ID_DISPATCH</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dispatch</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IM_CTRL_MEMBRE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 contrôle membre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(7)</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DATE_EXAMEN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examen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réponse à un point de contrôle  ·  t_examen_detail  ·  6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ID_DETAIL_EXAMEN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détail examen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ID_EXAMEN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examen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ID_DETAIL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détail</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Ligne de marché examinée (FK t_marche, colonne additive ddl-auto, nullable) : résultat porté par ligne pour un point de portée LIGNE (un ExamenDetail par marché × point) ; null pour un point de portée DOSSIER (inter-lignes) et pour les examens historiques (résultat au niveau dossier).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ID_PT_CONTROLE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point contrôle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CONFORME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Conforme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OBS_SI_NON_CONFORME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Observation si non conforme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L’examen d’une pièce  ·  t_examen_piece  ·  5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ID_EXAMEN_PIECE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examen pièce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ID_EXAMEN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examen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ID_PIECE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pièce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Pièce jointe examinée (t_piece_jointe_dossier.ID_PIECE).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CONFORME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Conforme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RAS = true ; sinon observation porte le constat.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OBSERVATION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Observation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Observation si non conforme (texte libre).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6"/>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procès-verbal d’examen  ·  t_pv_examen  ·  27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ID_PV</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PV</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ID_EXAMEN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examen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ID_AVIS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avis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Nullable : l'avis n'est posé qu'à la clôture de navette (accepter).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IM_CTRL_PRESIDENT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 contrôle président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(7)</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IM_CTRL_CC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 contrôle cc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(7)</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IM_CTRL_MEMBRE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 contrôle membre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(7)</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3"/>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484</a:t>
            </a:r>
            <a:endParaRPr lang="en-US" sz="1100" dirty="0"/>
          </a:p>
        </p:txBody>
      </p:sp>
    </p:spTree>
  </p:cSld>
  <p:clrMapOvr>
    <a:masterClrMapping/>
  </p:clrMapOvr>
</p:sld>
</file>

<file path=ppt/slides/slide485.xml><?xml version="1.0" encoding="utf-8"?>
<p:sld xmlns:a="http://schemas.openxmlformats.org/drawingml/2006/main" xmlns:r="http://schemas.openxmlformats.org/officeDocument/2006/relationships" xmlns:p="http://schemas.openxmlformats.org/presentationml/2006/main">
  <p:cSld name="Slide 48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03 CONTRÔLER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(6/12)</a:t>
            </a:r>
            <a:endParaRPr lang="en-US" sz="2600" dirty="0"/>
          </a:p>
        </p:txBody>
      </p:sp>
      <p:graphicFrame>
        <p:nvGraphicFramePr>
          <p:cNvPr id="486"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42545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SYNTHESE_OBSERVATIONS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Synthese observations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long</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STATUT_PV</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Statut PV</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NB_NAVETTES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Nombre navettes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DATE_SOUMISSION_INITIALE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soumission initiale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DATE_ACCEPTATION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acceptation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DATE_SIGNATURE_PRESIDENT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signature président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DATE_SIGNATURE_CC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signature cc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DATE_SIGNATURE_MEMBRE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signature membre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DATE_PV</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PV</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REFERENCE_PV</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Référence PV</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REFE_PV</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Refe PV</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Référence dérivée du dossier (refeDossier avec /PV avant l'année) — auto-générée à la création, unique.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ID_SECRETAIRE_SEANCE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secrétaire séance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(7)</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Vérificateur désigné Secrétaire de séance à la soumission de l'examen (FK tr_controleur).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IM_MEMBRE_COSIGNATAIRE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 membre co signataire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(7)</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Membre désigné par le Président ou le Chef de commission au moment de signer, seul habilité à poser la part Membre.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VISE_PAR_INTERIM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Vise par intérim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Vrai si le visa a été posé par un P/CC autre que le dispatcheur, justifié par la note ci-dessous.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ID_INTERIM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intérim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Note d'intérim (PDF) justifiant l'absence du dispatcheur — stockée en base, comme les pièces jointes et non comme le PDF du PV : le visa étant atomique, un rollback ne doit pas laisser de fichier orphelin sur le FSX. / @Column(name = "NOTE_INTERIM") private byte[] noteInterim; @Column(name =…</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INTERIM_DE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Intérim de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Le titulaire suppléé au visa (dispatcheur, ou Président sur deux niveaux) ; nul hors intérim désigné.</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NIVEAU_NAVETTE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Niveau navette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Étage courant du projet dans la navette Président ↔ CC ↔ Membre :</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IM_CC_COSIGNATAIRE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 cc co signataire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(7)</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Chef de commission désigné par le Président au visa, appelé à poser SA part de signature.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CHEMIN_DOCUMENT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Chemin document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Chemin du PDF du Projet de PV sur le FSX (renseigné si le PV est éligible à la génération).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9"/>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485</a:t>
            </a:r>
            <a:endParaRPr lang="en-US" sz="1100" dirty="0"/>
          </a:p>
        </p:txBody>
      </p:sp>
    </p:spTree>
  </p:cSld>
  <p:clrMapOvr>
    <a:masterClrMapping/>
  </p:clrMapOvr>
</p:sld>
</file>

<file path=ppt/slides/slide486.xml><?xml version="1.0" encoding="utf-8"?>
<p:sld xmlns:a="http://schemas.openxmlformats.org/drawingml/2006/main" xmlns:r="http://schemas.openxmlformats.org/officeDocument/2006/relationships" xmlns:p="http://schemas.openxmlformats.org/presentationml/2006/main">
  <p:cSld name="Slide 48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03 CONTRÔLER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(7/12)</a:t>
            </a:r>
            <a:endParaRPr lang="en-US" sz="2600" dirty="0"/>
          </a:p>
        </p:txBody>
      </p:sp>
      <p:graphicFrame>
        <p:nvGraphicFramePr>
          <p:cNvPr id="487"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DATE_ARCHIVAGE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archivage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d'ARCHIVAGE du PV par l'Assistant contrôleur (l'archivage clôt le dossier).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IM_ARCHIVEUR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 archiveur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(7)</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Assistant contrôleur archiveur (matricule, identité JWT).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navette du PV  ·  t_pv_navette  ·  7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ID_NAVETTE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navette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ID_PV</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PV</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NUM_NAVETTE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Numéro navette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SENS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Sens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IM_ACTEUR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 acteur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(7)</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DATE_ACTION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action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COMMENTAIRE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Commentaire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long</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L’observation du PV  ·  t_observation_pv  ·  17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ID_OBSERVATION_PV</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observation PV</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ID_DOSSIER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dossier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ID_PV</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PV</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PV signé (FAVR) dont les observations constituent le périmètre.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SOURCE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Source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Origine : POINT (grille de contrôle) ou PIECE (pièce jointe).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ID_OBSERVATION_CTRL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observation contrôle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Ligne d'observation d'origine (t_observation_controle.ID_OBSERVATION) — POINT seulement.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ID_EXAMEN_PIECE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examen pièce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Résultat de pièce d'origine (t_examen_piece.ID_EXAMEN_PIECE) — PIECE seulement.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ID_DETAIL_EXAMEN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détail examen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Ligne d'examen visée (t_examen_detail.ID_DETAIL_EXAMEN), figée au snapshot pour toute observation POINT, avec ou sans ligne détaillée « Au lieu de / Lire ».</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CHAMP_CIBLE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Champ cible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(40)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Cellule visée, recopiée de la ligne d'observation (t_observation_controle) au snapshot ; null pour une PIECE ou un point sans ligne détaillée.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ID_MARCHE_CIBLE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marché cible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Ligne de marché visée (t_marche.ID_DETAIL), recopiée au snapshot.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ID_BENEF_CIBLE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bénéficiaire cible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Bénéficiaire visé (t_service_beneficiaire.ID_BENEF), recopié au snapshot.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ID_DMC_FICHE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 fiche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Fiche marché visée, recopiée de la ligne d'observation au snapshot.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CHAMP_FICHE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Champ fiche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(24)</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Clé de l'information de la fiche visée (CODE ou CODEn), recopiée.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3"/>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486</a:t>
            </a:r>
            <a:endParaRPr lang="en-US" sz="1100" dirty="0"/>
          </a:p>
        </p:txBody>
      </p:sp>
    </p:spTree>
  </p:cSld>
  <p:clrMapOvr>
    <a:masterClrMapping/>
  </p:clrMapOvr>
</p:sld>
</file>

<file path=ppt/slides/slide487.xml><?xml version="1.0" encoding="utf-8"?>
<p:sld xmlns:a="http://schemas.openxmlformats.org/drawingml/2006/main" xmlns:r="http://schemas.openxmlformats.org/officeDocument/2006/relationships" xmlns:p="http://schemas.openxmlformats.org/presentationml/2006/main">
  <p:cSld name="Slide 48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03 CONTRÔLER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(8/12)</a:t>
            </a:r>
            <a:endParaRPr lang="en-US" sz="2600" dirty="0"/>
          </a:p>
        </p:txBody>
      </p:sp>
      <p:graphicFrame>
        <p:nvGraphicFramePr>
          <p:cNvPr id="488"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491236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LIBELLE_CHAMP_FICHE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Libellé champ fiche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Libellé du champ, figé à l'observation et recopié.</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VALEUR_CHAMP_FICHE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Valeur champ fiche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(4000)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Valeur observée, figée à l'observation et recopiée.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VERSION_FICHE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Version fiche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La version de la fiche dont la valeur a été figée, recopiée ; null si inconnue.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LIBELLE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Libellé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Libellé FIGÉ de l'observation (contexte + demande), tel qu'arrêté au PV.</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ORDRE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Ordre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L’observation de contrôle  ·  t_observation_controle  ·  13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ID_OBSERVATION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observation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PK auto-générée (réponse, IDENTITY).</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ID_DETAIL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détail</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Point de contrôle concerné (FK vers t_examen_detail.ID_DETAIL_EXAMEN).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AU_LIEU_DE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Au lieu de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ORDRE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Ordre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Ordre de saisie (ASC).</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CHAMP_CIBLE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Champ cible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(40) : NATURE, OBJET, MONT_ESTIM, NOUV_MONT_ESTIM, MODE, FINANCEMENT, LANCEMENT, OUVERTURE, ATTRIBUTION, SOA, COMPTE, MONT_BENEF, NOUV_MONT_BENEF, DEROGATOIRES_OBJET…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Code de la cellule du document visée par la ligne ; null = aucune cellule, comportement antérieur.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ID_MARCHE_CIBLE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marché cible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Ligne de marché visée (t_marche.ID_DETAIL), sans FK ; null sans champ.</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ID_BENEF_CIBLE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bénéficiaire cible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Bénéficiaire visé (t_service_beneficiaire.ID_BENEF), colonnes par bénéficiaire seulement.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ID_DMC_FICHE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 fiche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Fiche marché visée (t_dossier_mec.ID_DMC) : celle du dossier examiné, validée par ObservationFicheValidateur.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CHAMP_FICHE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Champ fiche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(24)</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Clé de l'information visée : B04-VO-01, ou B05-GS-032 pour le lot 2.</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LIBELLE_CHAMP_FICHE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Libellé champ fiche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Libellé du champ au référentiel, figé quand l'observation est posée.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VALEUR_CHAMP_FICHE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Valeur champ fiche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(4000)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Valeur observée, figée quand l'observation est posée (la fiche peut être révisée ensuite).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VERSION_FICHE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Version fiche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La version de la fiche dont la valeur a été figée ; null si inconnue (avant V49).</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9"/>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suivi d’une observation  ·  t_suivi_observation  ·  7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ID_SUIVI</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suivi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1"/>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487</a:t>
            </a:r>
            <a:endParaRPr lang="en-US" sz="1100" dirty="0"/>
          </a:p>
        </p:txBody>
      </p:sp>
    </p:spTree>
  </p:cSld>
  <p:clrMapOvr>
    <a:masterClrMapping/>
  </p:clrMapOvr>
</p:sld>
</file>

<file path=ppt/slides/slide488.xml><?xml version="1.0" encoding="utf-8"?>
<p:sld xmlns:a="http://schemas.openxmlformats.org/drawingml/2006/main" xmlns:r="http://schemas.openxmlformats.org/officeDocument/2006/relationships" xmlns:p="http://schemas.openxmlformats.org/presentationml/2006/main">
  <p:cSld name="Slide 48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03 CONTRÔLER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(9/12)</a:t>
            </a:r>
            <a:endParaRPr lang="en-US" sz="2600" dirty="0"/>
          </a:p>
        </p:txBody>
      </p:sp>
      <p:graphicFrame>
        <p:nvGraphicFramePr>
          <p:cNvPr id="489"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49022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ID_OBSERVATION_PV</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observation PV</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ITERATION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Iteration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Numéro d'itération du cycle rectification / vérification (1, 2, …).</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DECISION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Décision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Décision : LEVEE ou MAINTENUE.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PRECISION_VERIF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Précision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Précision du vérificateur sur ce qui manque (MAINTENUE seulement, facultative).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IM_VERIFICATEUR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 vérificateur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(7)</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DATE_DECISION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décision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vérification  ·  t_verification  ·  8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ID_VERIFICATION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vérification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Auto-généré côté serveur (IDENTITY) ; non envoyé à la création.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ID_RECEPTION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réception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ID_PV</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PV</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IM_CTRL_VERIF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 contrôle verif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(7)</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DATE_VERIF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verif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OBSERVATION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Observation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OBS_LEVEES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Observation levees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Si true → dossier CLOTURE + notification publication (effet [Auto]).</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MOTIF_RECTIF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 rectif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(255)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Règle ajoutée — motif de rectification saisi par la PRMP à la resoumission (visible côté vérificateur).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5"/>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lettre de renvoi  ·  t_lettre_renvoi  ·  13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ID_LETTRE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lettre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PK auto-générée (réponse).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ID_EXAMEN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examen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ID_DOSSIER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dossier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Lecture seule (dérivé de l'examen).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REF_LETTRE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Référence lettre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Référence officielle, générée serveur : ///LR/.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OBJET_LETTRE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Objet lettre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CORPS_LETTRE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Corps lettre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long</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Corps libre de la lettre de renvoi (TEXT, nullable).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DATE_EXAMEN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examen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d'examen du dossier (reprise de l'examen).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DATE_LETTRE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lettre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de la lettre, posée serveur (jour de la soumission de l'examen).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STATUT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Statut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BROUILLON / SOUMIS / SIGNE (forcé serveur).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5"/>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488</a:t>
            </a:r>
            <a:endParaRPr lang="en-US" sz="1100" dirty="0"/>
          </a:p>
        </p:txBody>
      </p:sp>
    </p:spTree>
  </p:cSld>
  <p:clrMapOvr>
    <a:masterClrMapping/>
  </p:clrMapOvr>
</p:sld>
</file>

<file path=ppt/slides/slide489.xml><?xml version="1.0" encoding="utf-8"?>
<p:sld xmlns:a="http://schemas.openxmlformats.org/drawingml/2006/main" xmlns:r="http://schemas.openxmlformats.org/officeDocument/2006/relationships" xmlns:p="http://schemas.openxmlformats.org/presentationml/2006/main">
  <p:cSld name="Slide 48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03 CONTRÔLER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(10/12)</a:t>
            </a:r>
            <a:endParaRPr lang="en-US" sz="2600" dirty="0"/>
          </a:p>
        </p:txBody>
      </p:sp>
      <p:graphicFrame>
        <p:nvGraphicFramePr>
          <p:cNvPr id="490"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472694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IM_SIGNATAIRE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 signataire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(7)</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IM du signataire (CC ou Président), posé à la signature depuis le JWT.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CHEMIN_DOCUMENT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Chemin document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Document PDF de la lettre signée (bytea ; H2 : grand varbinary).</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DATE_ARCHIVAGE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archivage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d'ARCHIVAGE de la lettre par l'Assistant contrôleur (même circuit que les PV).</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IM_ARCHIVEUR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 archiveur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(7)</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Assistant contrôleur archiveur (matricule, identité JWT).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lecture d’une lettre de renvoi  ·  t_lettre_renvoi_lue  ·  5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ID_LECTURE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lecture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ID_LETTRE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lettre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ID_PRMP</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PRMP</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Périmètre de tutelle de la trace (PRMP du dossier) — conservé, mais ne porte plus l'unicité.</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LOGIN_AGENT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Login agent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Agent auteur de la lecture : login du compte (t_compte_auth.LOGIN, claim sub).</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DATE_LECTURE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lecture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transmission à SIGMP  ·  t_transmission_sigmp  ·  8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ID_TRANSMISSION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transmission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ID_DOSSIER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dossier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ID_PV</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PV</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SENS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Sens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Sens transmis : APPROUVE (FAV, ou FAVR après levée) / NON_APPROUVE (DEF, NSP).</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LEVEE_OBSERVATIONS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Levée observations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Vrai si la transmission porte AUSSI la levée des observations (cas 2, fin de boucle FAVR).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DATE_TRANSMISSION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transmission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IM_VERIFICATEUR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 vérificateur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(7)</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Vérificateur auteur de la transmission (matricule, identité JWT).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STATUT_ENVOI</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Statut envoi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État d'envoi vers SIGMP : ENREGISTREE (interop réelle à brancher plus tard).</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9"/>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suspension (dossier chez la PRMP)  ·  t_suspension_dossier  ·  3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STATUT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Statut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(LONGUEUR_STATUT)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Longueur de STATUT, lue aussi par la garde prealable du chronometrage. */ public static final int LONGUEUR_STATUT = 40; @Id @Column(name = "ID_SUSPENSION", nullable = false) private Integer idSuspension; @Column(name = "ID_DOSSIER", nullable = false) private Integer idDossier; /** Statut suspensif…</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DEBUT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Début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2"/>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489</a:t>
            </a:r>
            <a:endParaRPr lang="en-US" sz="1100" dirty="0"/>
          </a:p>
        </p:txBody>
      </p:sp>
    </p:spTree>
  </p:cSld>
  <p:clrMapOvr>
    <a:masterClrMapping/>
  </p:clrMapOvr>
</p:sld>
</file>

<file path=ppt/slides/slide490.xml><?xml version="1.0" encoding="utf-8"?>
<p:sld xmlns:a="http://schemas.openxmlformats.org/drawingml/2006/main" xmlns:r="http://schemas.openxmlformats.org/officeDocument/2006/relationships" xmlns:p="http://schemas.openxmlformats.org/presentationml/2006/main">
  <p:cSld name="Slide 49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03 CONTRÔLER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(11/12)</a:t>
            </a:r>
            <a:endParaRPr lang="en-US" sz="2600" dirty="0"/>
          </a:p>
        </p:txBody>
      </p:sp>
      <p:graphicFrame>
        <p:nvGraphicFramePr>
          <p:cNvPr id="491"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FIN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Fin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Nul tant que la PRMP n'a pas rendu la main.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L’instantané d’une ligne avant rectification  ·  t_snapshot_rectif_ligne  ·  23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ID_SNAPSHOT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snapshot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ID_VERSION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version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Version archivée à laquelle la ligne appartient (t_version_dossier.ID_VERSION).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ID_DOSSIER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dossier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CYCLE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Cycle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Cycle de rectification (resoumissions du dossier + 1 au moment du gel).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ID_DETAIL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détail</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PK de la ligne de marché (t_marche.ID_DETAIL) — stable en rectification (structure figée).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ID_LIGNE_ORIGINE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ligne origine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DESIGNATION_MARCHE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Désignation marché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long</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MONT_ESTIM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Montant estimatif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ANCIEN_MONT_ESTIM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Ancien montant estimatif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NOUV_MONT_ESTIM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Nouveau montant estimatif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NUM_COMPTE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Numéro compte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FINANCEMENT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Financement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STATUT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Statut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ID_NATURE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nature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ID_MODE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mode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FORME_MARCHE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Forme marché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 de l'énumération FormeMarche au moment du gel (null si non renseignée).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SUPPRIMEE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Supprimée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JUSTIF_MODE_DEROGATOIRE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Justification mode dérogatoire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JUSTIF_DELAI_AMENAGE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Justification délai aménagé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EMP_BENEFICIAIRES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Emp beneficiaires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Empreintes normalisées des collections au moment du gel (mêmes formats que le diff des versions).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EMP_LOTS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Emp lots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EMP_PROCESSUS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Emp processus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4"/>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490</a:t>
            </a:r>
            <a:endParaRPr lang="en-US" sz="1100" dirty="0"/>
          </a:p>
        </p:txBody>
      </p:sp>
    </p:spTree>
  </p:cSld>
  <p:clrMapOvr>
    <a:masterClrMapping/>
  </p:clrMapOvr>
</p:sld>
</file>

<file path=ppt/slides/slide491.xml><?xml version="1.0" encoding="utf-8"?>
<p:sld xmlns:a="http://schemas.openxmlformats.org/drawingml/2006/main" xmlns:r="http://schemas.openxmlformats.org/officeDocument/2006/relationships" xmlns:p="http://schemas.openxmlformats.org/presentationml/2006/main">
  <p:cSld name="Slide 49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03 CONTRÔLER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(12/12)</a:t>
            </a:r>
            <a:endParaRPr lang="en-US" sz="2600" dirty="0"/>
          </a:p>
        </p:txBody>
      </p:sp>
      <p:graphicFrame>
        <p:nvGraphicFramePr>
          <p:cNvPr id="492"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415798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DATE_SNAPSHOT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snapshot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L’instantané d’un lot avant rectification  ·  t_snapshot_rectif_lot  ·  6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ID_SNAPSHOT_LOT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snapshot lot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ID_SNAPSHOT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snapshot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DESIGNATION_LOT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Désignation lot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MONT_LOT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Montant lot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QTE_LOT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Quantité lot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UNITE_LOT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Unité lot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L’instantané d’une prévision avant rectification  ·  t_snapshot_rectif_prevision  ·  5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ID_SNAPSHOT_PREV</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snapshot prévu</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ID_SNAPSHOT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snapshot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ID_CAPM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CAPM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DATE_DEBUT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début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DATE_FIN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fin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4"/>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L’instantané d’un bénéficiaire avant rectification  ·  t_snapshot_rectif_beneficiaire  ·  6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ID_SNAPSHOT_BENEF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snapshot bénéficiaire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ID_SNAPSHOT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snapshot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SOA_CODE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SOA code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NUM_COMPTE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Numéro compte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ANC_MONT_BENEF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Anc montant bénéficiaire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NOUV_MONT_BENEF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Nouveau montant bénéficiaire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1"/>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491</a:t>
            </a:r>
            <a:endParaRPr lang="en-US" sz="1100" dirty="0"/>
          </a:p>
        </p:txBody>
      </p:sp>
    </p:spTree>
  </p:cSld>
  <p:clrMapOvr>
    <a:masterClrMapping/>
  </p:clrMapOvr>
</p:sld>
</file>

<file path=ppt/slides/slide492.xml><?xml version="1.0" encoding="utf-8"?>
<p:sld xmlns:a="http://schemas.openxmlformats.org/drawingml/2006/main" xmlns:r="http://schemas.openxmlformats.org/officeDocument/2006/relationships" xmlns:p="http://schemas.openxmlformats.org/presentationml/2006/main">
  <p:cSld name="Slide 49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04 PRÉPARER LE DAO</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données de l’étape (1/3)</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Chaque objet que cette étape crée ou modifie, avec la table du serveur qui le conserve et le nombre de ses informations.</a:t>
            </a:r>
            <a:endParaRPr lang="en-US" sz="1300" dirty="0"/>
          </a:p>
        </p:txBody>
      </p:sp>
      <p:graphicFrame>
        <p:nvGraphicFramePr>
          <p:cNvPr id="493" name="Table 0"/>
          <p:cNvGraphicFramePr>
            <a:graphicFrameLocks noGrp="1"/>
          </p:cNvGraphicFramePr>
          <p:nvPr>
            <p:extLst>
              <p:ext uri="{D42A27DB-BD31-4B8C-83A1-F6EECF244321}">
                <p14:modId xmlns:p14="http://schemas.microsoft.com/office/powerpoint/2010/main" val="1579011935"/>
              </p:ext>
            </p:extLst>
          </p:nvPr>
        </p:nvGraphicFramePr>
        <p:xfrm>
          <a:off x="593324" y="1651000"/>
          <a:ext cx="11430000" cy="914400"/>
        </p:xfrm>
        <a:graphic>
          <a:graphicData uri="http://schemas.openxmlformats.org/drawingml/2006/table">
            <a:tbl>
              <a:tblPr/>
              <a:tblGrid>
                <a:gridCol w="2926080">
                  <a:extLst>
                    <a:ext uri="{9D8B030D-6E8A-4147-A177-3AD203B41FA5}">
                      <a16:colId xmlns:a16="http://schemas.microsoft.com/office/drawing/2014/main" val="20000"/>
                    </a:ext>
                  </a:extLst>
                </a:gridCol>
                <a:gridCol w="2103120">
                  <a:extLst>
                    <a:ext uri="{9D8B030D-6E8A-4147-A177-3AD203B41FA5}">
                      <a16:colId xmlns:a16="http://schemas.microsoft.com/office/drawing/2014/main" val="20001"/>
                    </a:ext>
                  </a:extLst>
                </a:gridCol>
                <a:gridCol w="1005840">
                  <a:extLst>
                    <a:ext uri="{9D8B030D-6E8A-4147-A177-3AD203B41FA5}">
                      <a16:colId xmlns:a16="http://schemas.microsoft.com/office/drawing/2014/main" val="20002"/>
                    </a:ext>
                  </a:extLst>
                </a:gridCol>
                <a:gridCol w="5394960">
                  <a:extLst>
                    <a:ext uri="{9D8B030D-6E8A-4147-A177-3AD203B41FA5}">
                      <a16:colId xmlns:a16="http://schemas.microsoft.com/office/drawing/2014/main" val="20003"/>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Objet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Table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Ce qu’il porte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question d’un candidat et sa réponse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t_question_candidat</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13</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La question d'un candidat ayant retiré le DAO d'une procédure en ligne (art. 35-II), recevable jusqu'à dix jours avant la date limite de remise des offres, et la réponse de la PRMP, diffusée à sa publication à tous les candidats ayant retiré le dossier.</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représentant présent à la commission</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t_cao_representant</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6</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Le représentant du président de la CAO, désigné par lui pour un contexte (SEANCE, SEANCE_FINANCIERE, RAPPORT, AMI) : sa signature vaut celle du président pour le quorum.</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dossier de mise en concurrence (DMC)</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t_dossier_mec</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6</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Dossier de mise en concurrence (DMC) : un par ligne de marché (relation 1-1 sur ID_DETAIL).</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fiche marché (DAO)</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t_fiche_marche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14</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Une version de la fiche marché d'un DMC de type DAO (t_fiche_marche, V35) :</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valeur d’une information de la fiche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t_fiche_marche_valeur</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5</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Une ligne par champ de source SAISIE renseigné.</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bloc du référentiel de la fiche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tr_bloc_fiche_marche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6</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B01 identification et données du PPM … B10 modifications, résiliation, litiges ;</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rubrique du référentiel de la fiche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tr_rubrique_fiche_marche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9</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 une rubrique = une carte à l'écran ». nbAttendu est le nombre d'informations que le fichier de correspondance annonce pour la rubrique : tant que ses champs ne sont pas chargés, le front affiche « n informations attendues ».</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L’information du référentiel de la fiche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tr_champ_fiche_marche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20</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Une information du fichier de correspondance (tr_champ_fiche_marche, V35) : le front dessine l'écran depuis ce référentiel, comme la grille de contrôle depuis PointsCtrl.</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L’article du besoin</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t_fiche_article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17</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 article du besoin d'une version de fiche DAO (t_fiche_article), dans un lot du plan (rang ; null pour une ligne non allotie).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caractéristique exigée d’un article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t_fiche_caracteristique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5</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Une caractéristique exigée d'un article du besoin (t_fiche_caracteristique).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matériel exigé</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t_fiche_materiel</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8</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 engin exigé d'une version de fiche DAO de travaux (t_fiche_materiel) : désignation, caractéristique (« ≥ 350 l »), nombre, minimum en propre (null : propriété ou location indifférente), et parLot (le nombre vaut pour chaque lot).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personnel exigé</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t_fiche_personnel</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10</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 poste clé exigé d'une version de fiche DAO de travaux (t_fiche_personnel) : poste, nombre, diplôme, expérience (années et domaine), justificatifs, et parLot (chaque lot mobilise son équipe).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bl>
          </a:graphicData>
        </a:graphic>
      </p:graphicFrame>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492</a:t>
            </a:r>
            <a:endParaRPr lang="en-US" sz="1100" dirty="0"/>
          </a:p>
        </p:txBody>
      </p:sp>
    </p:spTree>
  </p:cSld>
  <p:clrMapOvr>
    <a:masterClrMapping/>
  </p:clrMapOvr>
</p:sld>
</file>

<file path=ppt/slides/slide493.xml><?xml version="1.0" encoding="utf-8"?>
<p:sld xmlns:a="http://schemas.openxmlformats.org/drawingml/2006/main" xmlns:r="http://schemas.openxmlformats.org/officeDocument/2006/relationships" xmlns:p="http://schemas.openxmlformats.org/presentationml/2006/main">
  <p:cSld name="Slide 49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04 PRÉPARER LE DAO</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données de l’étape (2/3)</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Chaque objet que cette étape crée ou modifie, avec la table du serveur qui le conserve et le nombre de ses informations.</a:t>
            </a:r>
            <a:endParaRPr lang="en-US" sz="1300" dirty="0"/>
          </a:p>
        </p:txBody>
      </p:sp>
      <p:graphicFrame>
        <p:nvGraphicFramePr>
          <p:cNvPr id="494" name="Table 0"/>
          <p:cNvGraphicFramePr>
            <a:graphicFrameLocks noGrp="1"/>
          </p:cNvGraphicFramePr>
          <p:nvPr>
            <p:extLst>
              <p:ext uri="{D42A27DB-BD31-4B8C-83A1-F6EECF244321}">
                <p14:modId xmlns:p14="http://schemas.microsoft.com/office/powerpoint/2010/main" val="1579011935"/>
              </p:ext>
            </p:extLst>
          </p:nvPr>
        </p:nvGraphicFramePr>
        <p:xfrm>
          <a:off x="593324" y="1651000"/>
          <a:ext cx="11430000" cy="5521960"/>
        </p:xfrm>
        <a:graphic>
          <a:graphicData uri="http://schemas.openxmlformats.org/drawingml/2006/table">
            <a:tbl>
              <a:tblPr/>
              <a:tblGrid>
                <a:gridCol w="2926080">
                  <a:extLst>
                    <a:ext uri="{9D8B030D-6E8A-4147-A177-3AD203B41FA5}">
                      <a16:colId xmlns:a16="http://schemas.microsoft.com/office/drawing/2014/main" val="20000"/>
                    </a:ext>
                  </a:extLst>
                </a:gridCol>
                <a:gridCol w="2103120">
                  <a:extLst>
                    <a:ext uri="{9D8B030D-6E8A-4147-A177-3AD203B41FA5}">
                      <a16:colId xmlns:a16="http://schemas.microsoft.com/office/drawing/2014/main" val="20001"/>
                    </a:ext>
                  </a:extLst>
                </a:gridCol>
                <a:gridCol w="1005840">
                  <a:extLst>
                    <a:ext uri="{9D8B030D-6E8A-4147-A177-3AD203B41FA5}">
                      <a16:colId xmlns:a16="http://schemas.microsoft.com/office/drawing/2014/main" val="20002"/>
                    </a:ext>
                  </a:extLst>
                </a:gridCol>
                <a:gridCol w="5394960">
                  <a:extLst>
                    <a:ext uri="{9D8B030D-6E8A-4147-A177-3AD203B41FA5}">
                      <a16:colId xmlns:a16="http://schemas.microsoft.com/office/drawing/2014/main" val="20003"/>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Objet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Table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Ce qu’il porte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pièce exigée de l’offre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t_fiche_piece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10</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Une pièce exigée d'une version de fiche DAO de travaux (t_fiche_piece) : rubrique (ADMINISTRATIVE, 2° de la clause 6.2 du DPAO-T, ou OFFRE, 1°), numéro donné par le DAO, libellé, forme, ancienneté maximale en mois, une par lot, modèle.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Les spécifications techniques</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t_specifications_fiche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6</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Les spécifications techniques d'une version de fiche DAO : un .docx joint par la PRMP ou l'UGPM, inséré au rang 5 bis du DAO complet.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document produit par la fiche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t_document_fiche_marche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9</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 document généré à la validation d'une version de la fiche (t_document_fiche_marche, V38) :</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commission d’appel d’offres</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t_cao</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7</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La commission d'appel d'offres d'un DAO : la décision de nomination de la PRMP (référence, date, PDF facultatif).</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membre de la commission d’appel d’offres</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t_cao_membre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15</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 membre de la CAO : qualité MEMBRE (siège, détient une part, compte MEMBRE_CAO) ou EXPERT_ADJOINT (évalue, pas de part, pas de compte) ; un MEMBRE a une origine (ENTITE_CONTRACTANTE avec son service, EXPERT_OBJET avec son organisme et son domaine) ; un président parmi les MEMBRE.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compte d’un membre de la commission</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t_compte_cao</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9</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Le compte d'un membre de CAO (profil MEMBRE_CAO, hors coquille interne) : créé à la désignation (A_ACTIVER), activé par invitation (ACTIF).</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responsable de la procédure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t_responsable_procedure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8</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Le rôle nominatif « Responsable de la procédure » (t_responsable_procedure) : par DMC, un seul titulaire actif (DATE_RETRAIT nulle, index partiel unique), désigné et retiré par l'Administrateur.</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Les paramètres internes de la procédure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t_parametre_interne_procedure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15</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Les paramètres internes d'une procédure en remise électronique (t_parametre_interne_procedure) : les membres de la commission détenteurs d'une part de clé (INT-SE-01, liste de matricules), le quorum de déchiffrement (INT-SE-03) et la date de la cérémonie des clés (INT-SE-04).</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journal des paramètres internes</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t_parametre_interne_journal</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8</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Le journal dédié des paramètres internes d'une procédure (t_parametre_interne_journal) : qui, quand, quel champ, ancienne et nouvelle valeur.</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cérémonie des clés</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t_ceremonie_cles</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8</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La cérémonie des clés d'une procédure :</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clé d’un détenteur</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t_cle_detenteur</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3</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La clé d'un détenteur de part : un membre désigné (role = MEMBRE, im) ou la part de secours (role = SECOURS, sans matricule). clePublique (SPKI en base64) et empreinte (SHA-256 de la SPKI, hexadécimal minuscule) sont publiques :…</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défi de vérification d’une clé</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t_defi_cle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8</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 défi de vérification d'une part : le serveur a tiré 32 octets, les a chiffrés avec la clé publique du détenteur, et ne garde que le SHA-256 du clair (empreinteClair), cinq minutes, à usage unique.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bl>
          </a:graphicData>
        </a:graphic>
      </p:graphicFrame>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493</a:t>
            </a:r>
            <a:endParaRPr lang="en-US" sz="1100" dirty="0"/>
          </a:p>
        </p:txBody>
      </p:sp>
    </p:spTree>
  </p:cSld>
  <p:clrMapOvr>
    <a:masterClrMapping/>
  </p:clrMapOvr>
</p:sld>
</file>

<file path=ppt/slides/slide494.xml><?xml version="1.0" encoding="utf-8"?>
<p:sld xmlns:a="http://schemas.openxmlformats.org/drawingml/2006/main" xmlns:r="http://schemas.openxmlformats.org/officeDocument/2006/relationships" xmlns:p="http://schemas.openxmlformats.org/presentationml/2006/main">
  <p:cSld name="Slide 49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04 PRÉPARER LE DAO</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données de l’étape (3/3)</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Chaque objet que cette étape crée ou modifie, avec la table du serveur qui le conserve et le nombre de ses informations.</a:t>
            </a:r>
            <a:endParaRPr lang="en-US" sz="1300" dirty="0"/>
          </a:p>
        </p:txBody>
      </p:sp>
      <p:graphicFrame>
        <p:nvGraphicFramePr>
          <p:cNvPr id="495" name="Table 0"/>
          <p:cNvGraphicFramePr>
            <a:graphicFrameLocks noGrp="1"/>
          </p:cNvGraphicFramePr>
          <p:nvPr>
            <p:extLst>
              <p:ext uri="{D42A27DB-BD31-4B8C-83A1-F6EECF244321}">
                <p14:modId xmlns:p14="http://schemas.microsoft.com/office/powerpoint/2010/main" val="1579011935"/>
              </p:ext>
            </p:extLst>
          </p:nvPr>
        </p:nvGraphicFramePr>
        <p:xfrm>
          <a:off x="593324" y="1651000"/>
          <a:ext cx="11430000" cy="914400"/>
        </p:xfrm>
        <a:graphic>
          <a:graphicData uri="http://schemas.openxmlformats.org/drawingml/2006/table">
            <a:tbl>
              <a:tblPr/>
              <a:tblGrid>
                <a:gridCol w="2926080">
                  <a:extLst>
                    <a:ext uri="{9D8B030D-6E8A-4147-A177-3AD203B41FA5}">
                      <a16:colId xmlns:a16="http://schemas.microsoft.com/office/drawing/2014/main" val="20000"/>
                    </a:ext>
                  </a:extLst>
                </a:gridCol>
                <a:gridCol w="2103120">
                  <a:extLst>
                    <a:ext uri="{9D8B030D-6E8A-4147-A177-3AD203B41FA5}">
                      <a16:colId xmlns:a16="http://schemas.microsoft.com/office/drawing/2014/main" val="20001"/>
                    </a:ext>
                  </a:extLst>
                </a:gridCol>
                <a:gridCol w="1005840">
                  <a:extLst>
                    <a:ext uri="{9D8B030D-6E8A-4147-A177-3AD203B41FA5}">
                      <a16:colId xmlns:a16="http://schemas.microsoft.com/office/drawing/2014/main" val="20002"/>
                    </a:ext>
                  </a:extLst>
                </a:gridCol>
                <a:gridCol w="5394960">
                  <a:extLst>
                    <a:ext uri="{9D8B030D-6E8A-4147-A177-3AD203B41FA5}">
                      <a16:colId xmlns:a16="http://schemas.microsoft.com/office/drawing/2014/main" val="20003"/>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Objet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Table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Ce qu’il porte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compte du dépositaire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t_compte_depositaire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9</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Le compte d'un dépositaire (profil DEPOSITAIRE, hors coquille interne) : créé à la désignation (A_ACTIVER), activé par invitation (ACTIF).</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bl>
          </a:graphicData>
        </a:graphic>
      </p:graphicFrame>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494</a:t>
            </a:r>
            <a:endParaRPr lang="en-US" sz="1100" dirty="0"/>
          </a:p>
        </p:txBody>
      </p:sp>
    </p:spTree>
  </p:cSld>
  <p:clrMapOvr>
    <a:masterClrMapping/>
  </p:clrMapOvr>
</p:sld>
</file>

<file path=ppt/slides/slide495.xml><?xml version="1.0" encoding="utf-8"?>
<p:sld xmlns:a="http://schemas.openxmlformats.org/drawingml/2006/main" xmlns:r="http://schemas.openxmlformats.org/officeDocument/2006/relationships" xmlns:p="http://schemas.openxmlformats.org/presentationml/2006/main">
  <p:cSld name="Slide 49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04 PRÉPARER LE DAO</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(1/11)</a:t>
            </a:r>
            <a:endParaRPr lang="en-US" sz="2600" dirty="0"/>
          </a:p>
        </p:txBody>
      </p:sp>
      <p:graphicFrame>
        <p:nvGraphicFramePr>
          <p:cNvPr id="496"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490982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question d’un candidat et sa réponse  ·  t_question_candidat  ·  13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ID_CANDIDAT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candidat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ID_ENTREPRISE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entreprise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QUESTION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Question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POSEE_LE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Posee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REPONSE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Réponse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REPONSE_NOM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Réponse nom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(255)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Le fichier joint à la réponse (nom, taille) ; nul sans fichier.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REPONSE_FORMAT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Réponse format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REPONSE_TAILLE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Réponse taille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REPONDUE_LE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Repondue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REPONDUE_PAR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Repondue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PUBLIEE_LE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Publiee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La diffusion : répondre = diffuser (arbitrage du 13/10), donc égale à repondueLe.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4"/>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représentant présent à la commission  ·  t_cao_representant  ·  6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CONTEXTE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Contexte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Le compte (K…) du membre représentant.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DESIGNE_LE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Designe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DESIGNE_PAR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Designe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1"/>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dossier de mise en concurrence (DMC)  ·  t_dossier_mec  ·  6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ID_DETAIL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détail</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Ligne de marché rattachée (unique — relation 1-1 stricte).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ID_TYPE_DMC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type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Type de DMC dérivé du mode de passation du marché.</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5"/>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495</a:t>
            </a:r>
            <a:endParaRPr lang="en-US" sz="1100" dirty="0"/>
          </a:p>
        </p:txBody>
      </p:sp>
    </p:spTree>
  </p:cSld>
  <p:clrMapOvr>
    <a:masterClrMapping/>
  </p:clrMapOvr>
</p:sld>
</file>

<file path=ppt/slides/slide496.xml><?xml version="1.0" encoding="utf-8"?>
<p:sld xmlns:a="http://schemas.openxmlformats.org/drawingml/2006/main" xmlns:r="http://schemas.openxmlformats.org/officeDocument/2006/relationships" xmlns:p="http://schemas.openxmlformats.org/presentationml/2006/main">
  <p:cSld name="Slide 49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04 PRÉPARER LE DAO</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(2/11)</a:t>
            </a:r>
            <a:endParaRPr lang="en-US" sz="2600" dirty="0"/>
          </a:p>
        </p:txBody>
      </p:sp>
      <p:graphicFrame>
        <p:nvGraphicFramePr>
          <p:cNvPr id="497"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501396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REFERENCE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Référence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(60)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STATUT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Statut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Liste : A_PREPARER, ENGAGE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DATE_CREATION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création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fiche marché (DAO)  ·  t_fiche_marche  ·  14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ID_FICHE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fiche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NUMERO_VERSION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Numéro version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STATUT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Statut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 : BROUILLON, VALIDEE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Cnm.prs.enums.StatutFicheMarche.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TYPE_MARCHE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Type marché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 : QUANTITE_FIXE, A_COMMANDE, CONTRAT_CADRE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Cnm.prs.enums.TypeMarcheDao, fixé par le cadrage ; nul tant que le cadrage n'est pas posé.</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CADRAGE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Cadrage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Réponses du cadrage, objet JSON ({"typeMarche":"QUANTITE_FIXE","alloti":"OUI",…}).</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MODE_MIGRE_LE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Mode migre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La migration documentée du mode de remise par l'Administrateur : cette version porte le nouveau mode, la date, l'auteur et le motif ; nulles sur toute autre version.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MODE_MIGRE_PAR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Mode migre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MODE_MIGRE_MOTIF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Mode migre motif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DATE_CREATION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création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CREE_PAR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Créé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DATE_MAJ</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mise à jour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DATE_VALIDATION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validation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VALIDE_PAR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Validé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La PRMP qui a validé (matricule).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8"/>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valeur d’une information de la fiche  ·  t_fiche_marche_valeur  ·  5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ID_VALEUR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valeur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ID_FICHE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fiche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CODE_CHAMP</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Code champ</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Tr_champ_fiche_marche.CODE, sans clé étrangère (un code ancien ne bloque pas l'import du référentiel).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VALEUR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Valeur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(4000)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Valeur telle que normalisée à l'enregistrement (nombre en chiffres, date ISO, code de liste, OUI/NON, 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3"/>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496</a:t>
            </a:r>
            <a:endParaRPr lang="en-US" sz="1100" dirty="0"/>
          </a:p>
        </p:txBody>
      </p:sp>
    </p:spTree>
  </p:cSld>
  <p:clrMapOvr>
    <a:masterClrMapping/>
  </p:clrMapOvr>
</p:sld>
</file>

<file path=ppt/slides/slide497.xml><?xml version="1.0" encoding="utf-8"?>
<p:sld xmlns:a="http://schemas.openxmlformats.org/drawingml/2006/main" xmlns:r="http://schemas.openxmlformats.org/officeDocument/2006/relationships" xmlns:p="http://schemas.openxmlformats.org/presentationml/2006/main">
  <p:cSld name="Slide 49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04 PRÉPARER LE DAO</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(3/11)</a:t>
            </a:r>
            <a:endParaRPr lang="en-US" sz="2600" dirty="0"/>
          </a:p>
        </p:txBody>
      </p:sp>
      <p:graphicFrame>
        <p:nvGraphicFramePr>
          <p:cNvPr id="498"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CALCULEE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Calculee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Posée par le serveur à l'enregistrement du bloc (échéance calculée, date d'ouverture des plis…) : servie dans champsCalcules, affichée « calculée » en lecture seule.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bloc du référentiel de la fiche  ·  tr_bloc_fiche_marche  ·  6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CODE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Code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LIBELLE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Libellé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(150)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RANG</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Rang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TYPES_MARCHE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Types marché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(60) : QUANTITE_FIXE, A_COMMANDE, CONTRAT_CADRE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Types de marché où le bloc existe, séparés par des virgules.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CATEGORIES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Categories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(80) : FOURNITURES_SERVICES, TRAVAUX, PRESTATIONS_INTELLECTUELLES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Catégories de fiche DAO où le bloc existe.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RENDU</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Rendu</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Rendu du bloc à l'écran : null, la liste de ses champs ; BESOIN, la grille du besoin (/articles).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rubrique du référentiel de la fiche  ·  tr_rubrique_fiche_marche  ·  9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CODE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Code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Code complet, bloc-rubrique (« B05-GS »).</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CODE_BLOC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Code bloc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CODE_COURT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Code court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Code court dans le bloc (« GS »).</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LIBELLE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Libellé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(150)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RANG</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Rang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DOCUMENT_MAITRE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Document maitre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Document maître de la rubrique (DPAO, DPAC, AE, CCAP, AUCUN) ; nul si mixte.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NB_ATTENDU</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Nombre attendu</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TYPES_MARCHE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Types marché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(60)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CATEGORIES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Categories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(80) : FOURNITURES_SERVICES, TRAVAUX, PRESTATIONS_INTELLECTUELLES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Catégories de fiche DAO où la rubrique existe.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8"/>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L’information du référentiel de la fiche  ·  tr_champ_fiche_marche  ·  20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CODE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Code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Code métier « bloc-rubrique-rang » (« B05-GS-02 »).</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CODE_RUBRIQUE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Code rubrique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RANG</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Rang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2"/>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497</a:t>
            </a:r>
            <a:endParaRPr lang="en-US" sz="1100" dirty="0"/>
          </a:p>
        </p:txBody>
      </p:sp>
    </p:spTree>
  </p:cSld>
  <p:clrMapOvr>
    <a:masterClrMapping/>
  </p:clrMapOvr>
</p:sld>
</file>

<file path=ppt/slides/slide498.xml><?xml version="1.0" encoding="utf-8"?>
<p:sld xmlns:a="http://schemas.openxmlformats.org/drawingml/2006/main" xmlns:r="http://schemas.openxmlformats.org/officeDocument/2006/relationships" xmlns:p="http://schemas.openxmlformats.org/presentationml/2006/main">
  <p:cSld name="Slide 49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04 PRÉPARER LE DAO</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(4/11)</a:t>
            </a:r>
            <a:endParaRPr lang="en-US" sz="2600" dirty="0"/>
          </a:p>
        </p:txBody>
      </p:sp>
      <p:graphicFrame>
        <p:nvGraphicFramePr>
          <p:cNvPr id="499"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495554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LIBELLE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Libellé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TYPE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Type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 : TEXTE, TEXTE_LONG, NOMBRE, MONTANT, POURCENTAGE, DATE, DATE_HEURE, URL, LISTE, LISTE_MULTIPLE, OUI_NON, PIECE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Cnm.prs.enums.TypeChampFiche.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SOURCE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Source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 : PPM, SAISIE, CADRAGE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Cnm.prs.enums.SourceChampFiche.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DOCUMENT_MAITRE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Document maitre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REPRISES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Reprises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(40)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TYPES_MARCHE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Types marché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(60)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CATEGORIES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Categories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(80) : FOURNITURES_SERVICES, TRAVAUX, PRESTATIONS_INTELLECTUELLES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Catégories de fiche DAO où le champ vaut, séparées par des virgules, comme typesMarche.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CONDITION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Condition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OBLIGATOIRE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Obligatoire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TEXTE_TYPE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Texte type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CONTROLE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Contrôle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(60)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OPTIONS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Options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CLE_CADRAGE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Clé cadrage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(40)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Source CADRAGE : la clé de la réponse reflétée.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CLE_PPM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Clé PPM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(40)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Source PPM : la clé de la dérivation (ValeursPpmService).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PAR_LOT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Par lot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Une valeur par lot : quand la ligne est allotie (plus d'un lot au plan), la valeur s'enregistre sous CODEn, n = rang du lot ; sinon sous le code nu.</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valeurDefaut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Valeur defaut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ACTIF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Actif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7"/>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L’article du besoin  ·  t_fiche_article  ·  17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ID_ARTICLE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article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ID_FICHE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fiche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Lot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ORDRE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Ordre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2"/>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498</a:t>
            </a:r>
            <a:endParaRPr lang="en-US" sz="1100" dirty="0"/>
          </a:p>
        </p:txBody>
      </p:sp>
    </p:spTree>
  </p:cSld>
  <p:clrMapOvr>
    <a:masterClrMapping/>
  </p:clrMapOvr>
</p:sld>
</file>

<file path=ppt/slides/slide499.xml><?xml version="1.0" encoding="utf-8"?>
<p:sld xmlns:a="http://schemas.openxmlformats.org/drawingml/2006/main" xmlns:r="http://schemas.openxmlformats.org/officeDocument/2006/relationships" xmlns:p="http://schemas.openxmlformats.org/presentationml/2006/main">
  <p:cSld name="Slide 49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04 PRÉPARER LE DAO</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(5/11)</a:t>
            </a:r>
            <a:endParaRPr lang="en-US" sz="2600" dirty="0"/>
          </a:p>
        </p:txBody>
      </p:sp>
      <p:graphicFrame>
        <p:nvGraphicFramePr>
          <p:cNvPr id="500"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DESIGNATION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Désignation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UNITE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Unité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QUANTITE_MIN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Quantité min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QUANTITE_MAX</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Quantité max</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QUANTITE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Quantité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REDIGE_PAR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Rédigé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PROFIL_REDACTEUR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Profil rédacteur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NUMERO_PRIX</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Numéro prix</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SERIE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Serie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SERIE_LIBELLE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Serie libellé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LIBELLE_BORDEREAU</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Libellé bordereau</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SOUS_DETAIL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Sous détail</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PLAFOND</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Plafond</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3"/>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caractéristique exigée d’un article  ·  t_fiche_caracteristique  ·  5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ID_CARACTERISTIQUE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caracteristique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ID_ARTICLE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article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ORDRE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Ordre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LIBELLE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Libellé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 Mémoire vive ».</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EXIGENCE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Exigence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 8 Go au minimum ».</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9"/>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matériel exigé  ·  t_fiche_materiel  ·  8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ID_MATERIEL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matériel</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ID_FICHE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fiche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ORDRE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Ordre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DESIGNATION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Désignation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CARACTERISTIQUE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Caracteristique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5"/>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499</a:t>
            </a:r>
            <a:endParaRPr lang="en-US" sz="1100" dirty="0"/>
          </a:p>
        </p:txBody>
      </p:sp>
    </p:spTree>
  </p:cSld>
  <p:clrMapOvr>
    <a:masterClrMapping/>
  </p:clrMapOvr>
</p:sld>
</file>

<file path=ppt/slides/slide500.xml><?xml version="1.0" encoding="utf-8"?>
<p:sld xmlns:a="http://schemas.openxmlformats.org/drawingml/2006/main" xmlns:r="http://schemas.openxmlformats.org/officeDocument/2006/relationships" xmlns:p="http://schemas.openxmlformats.org/presentationml/2006/main">
  <p:cSld name="Slide 50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04 PRÉPARER LE DAO</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(6/11)</a:t>
            </a:r>
            <a:endParaRPr lang="en-US" sz="2600" dirty="0"/>
          </a:p>
        </p:txBody>
      </p:sp>
      <p:graphicFrame>
        <p:nvGraphicFramePr>
          <p:cNvPr id="501"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49022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NOMBRE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Nombre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MINIMUM_EN_PROPRE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Minimum en propre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PAR_LOT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Par lot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personnel exigé  ·  t_fiche_personnel  ·  10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ID_PERSONNEL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personnel</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ID_FICHE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fiche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ORDRE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Ordre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POSTE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Poste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NOMBRE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Nombre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DIPLOME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Diplôme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EXPERIENCE_ANNEES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Expérience années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DOMAINE_EXPERIENCE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Domaine expérience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JUSTIFICATIFS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Justificatifs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PAR_LOT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Par lot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4"/>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pièce exigée de l’offre  ·  t_fiche_piece  ·  10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ID_PIECE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pièce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ID_FICHE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fiche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ORDRE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Ordre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RUBRIQUE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Rubrique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NUMERO</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Numéro</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LIBELLE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Libellé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FORME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Forme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ANCIENNETE_MAX_MOIS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Anciennete max mois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PAR_LOT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Par lot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MODELE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Modele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5"/>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500</a:t>
            </a:r>
            <a:endParaRPr lang="en-US" sz="1100" dirty="0"/>
          </a:p>
        </p:txBody>
      </p:sp>
    </p:spTree>
  </p:cSld>
  <p:clrMapOvr>
    <a:masterClrMapping/>
  </p:clrMapOvr>
</p:sld>
</file>

<file path=ppt/slides/slide501.xml><?xml version="1.0" encoding="utf-8"?>
<p:sld xmlns:a="http://schemas.openxmlformats.org/drawingml/2006/main" xmlns:r="http://schemas.openxmlformats.org/officeDocument/2006/relationships" xmlns:p="http://schemas.openxmlformats.org/presentationml/2006/main">
  <p:cSld name="Slide 50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04 PRÉPARER LE DAO</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(7/11)</a:t>
            </a:r>
            <a:endParaRPr lang="en-US" sz="2600" dirty="0"/>
          </a:p>
        </p:txBody>
      </p:sp>
      <p:graphicFrame>
        <p:nvGraphicFramePr>
          <p:cNvPr id="502"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Les spécifications techniques  ·  t_specifications_fiche  ·  6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ID_FICHE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fiche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NOM_FICHIER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 fichier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(255)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TAILLE_OCTETS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Taille (octets)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EMPREINTE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Empreinte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(64)</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DEPOSE_LE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Déposé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DEPOSE_PAR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Déposé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(255)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7"/>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document produit par la fiche  ·  t_document_fiche_marche  ·  9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ID_DOCUMENT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document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ID_FICHE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fiche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EXTENSION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Extension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DPAO · DPAC · AE · CCAP. */ @Column(name = "TYPE", nullable = false, length = 20) // V57 :</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NOM_FICHIER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 fichier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(255)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TAILLE_OCTETS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Taille (octets)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EMPREINTE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Empreinte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(64)</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SHA-256 du contenu, en hexadécimal.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DATE_GENERATION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génération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Lot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Rang du lot d'un document établi par lot ; null : document commun.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PUBLICATION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Publication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long</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Les informations de publication saisies à l'impression de l'avis (JSON : datePublication, jmpNumero, jmpDate, supports), conservées en trace avec le document ; null pour les documents du DAO.</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7"/>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commission d’appel d’offres  ·  t_cao  ·  7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DECISION_REFERENCE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Décision référence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DECISION_DATE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Décision date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DECISION_NOM_FICHIER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Décision nom fichier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(255)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DECISION_TAILLE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Décision taille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3"/>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501</a:t>
            </a:r>
            <a:endParaRPr lang="en-US" sz="1100" dirty="0"/>
          </a:p>
        </p:txBody>
      </p:sp>
    </p:spTree>
  </p:cSld>
  <p:clrMapOvr>
    <a:masterClrMapping/>
  </p:clrMapOvr>
</p:sld>
</file>

<file path=ppt/slides/slide502.xml><?xml version="1.0" encoding="utf-8"?>
<p:sld xmlns:a="http://schemas.openxmlformats.org/drawingml/2006/main" xmlns:r="http://schemas.openxmlformats.org/officeDocument/2006/relationships" xmlns:p="http://schemas.openxmlformats.org/presentationml/2006/main">
  <p:cSld name="Slide 50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04 PRÉPARER LE DAO</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(8/11)</a:t>
            </a:r>
            <a:endParaRPr lang="en-US" sz="2600" dirty="0"/>
          </a:p>
        </p:txBody>
      </p:sp>
      <p:graphicFrame>
        <p:nvGraphicFramePr>
          <p:cNvPr id="503"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471424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DATE_MAJ</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mise à jour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ID_PRMP_MAJ</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PRMP mise à jour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membre de la commission d’appel d’offres  ·  t_cao_membre  ·  15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ID_MEMBRE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membre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RANG</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Rang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PRENOM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Prénom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EMAIL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Adresse électronique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(255)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TELEPHONE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Téléphone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QUALITE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Qualité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ORIGINE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Origine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FONCTION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Fonction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SERVICE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Service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ORGANISME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Organisme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DOMAINE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Domaine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PRESIDENT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Président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ID_COMPTE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compte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L'identifiant court du compte MEMBRE_CAO (K + 9 chiffres) ; null pour un expert adjoint.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8"/>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compte d’un membre de la commission  ·  t_compte_cao  ·  9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ID_COMPTE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compte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EMAIL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Adresse électronique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(255)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PRENOM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Prénom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ETAT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État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 : A_ACTIVER, ACTIF, ARCHIVE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4"/>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502</a:t>
            </a:r>
            <a:endParaRPr lang="en-US" sz="1100" dirty="0"/>
          </a:p>
        </p:txBody>
      </p:sp>
    </p:spTree>
  </p:cSld>
  <p:clrMapOvr>
    <a:masterClrMapping/>
  </p:clrMapOvr>
</p:sld>
</file>

<file path=ppt/slides/slide503.xml><?xml version="1.0" encoding="utf-8"?>
<p:sld xmlns:a="http://schemas.openxmlformats.org/drawingml/2006/main" xmlns:r="http://schemas.openxmlformats.org/officeDocument/2006/relationships" xmlns:p="http://schemas.openxmlformats.org/presentationml/2006/main">
  <p:cSld name="Slide 50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04 PRÉPARER LE DAO</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(9/11)</a:t>
            </a:r>
            <a:endParaRPr lang="en-US" sz="2600" dirty="0"/>
          </a:p>
        </p:txBody>
      </p:sp>
      <p:graphicFrame>
        <p:nvGraphicFramePr>
          <p:cNvPr id="504"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49022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DATE_CREATION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création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DATE_INVITATION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invitation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DATE_ACTIVATION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activation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DERNIERE_CONNEXION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Dernière connexion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responsable de la procédure  ·  t_responsable_procedure  ·  8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IM_RESPONSABLE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 responsable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Matricule du titulaire (tr_controleur.IM_CONTROLEUR).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NOM_RESPONSABLE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 responsable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 NOM Prénoms » au moment de la désignation.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DESIGNE_PAR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Designe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DATE_DESIGNATION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désignation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RETIRE_PAR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Retiré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DATE_RETRAIT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retrait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Nulle tant que la désignation est active.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3"/>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Les paramètres internes de la procédure  ·  t_parametre_interne_procedure  ·  15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MEMBRES_CLE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Membres clé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Matricules des membres détenteurs d'une part de clé, séparés par des virgules (INT-SE-01).</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QUORUM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Quorum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Quorum de déchiffrement (INT-SE-03).</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DATE_CEREMONIE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cérémonie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 de la cérémonie des clés (INT-SE-04).</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DATE_MAJ</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mise à jour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IM_MAJ</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 mise à jour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Dernier modificateur (matricule du titulaire du rôle).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DEPOSITAIRE_NOM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Dépositaire nom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Le dépositaire de la part de secours (ADR-0013 S3) : une désignation nominative.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DEPOSITAIRE_ORGANISME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Dépositaire organisme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DEPOSITAIRE_FONCTION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Dépositaire fonction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DEPOSITAIRE_CONTACT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Dépositaire contact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DEPOSITAIRE_EMAIL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Dépositaire adresse électronique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(255)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L'adresse du dépositaire (obligatoire au PUT), son téléphone, son compte D….</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5"/>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503</a:t>
            </a:r>
            <a:endParaRPr lang="en-US" sz="1100" dirty="0"/>
          </a:p>
        </p:txBody>
      </p:sp>
    </p:spTree>
  </p:cSld>
  <p:clrMapOvr>
    <a:masterClrMapping/>
  </p:clrMapOvr>
</p:sld>
</file>

<file path=ppt/slides/slide504.xml><?xml version="1.0" encoding="utf-8"?>
<p:sld xmlns:a="http://schemas.openxmlformats.org/drawingml/2006/main" xmlns:r="http://schemas.openxmlformats.org/officeDocument/2006/relationships" xmlns:p="http://schemas.openxmlformats.org/presentationml/2006/main">
  <p:cSld name="Slide 50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04 PRÉPARER LE DAO</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(10/11)</a:t>
            </a:r>
            <a:endParaRPr lang="en-US" sz="2600" dirty="0"/>
          </a:p>
        </p:txBody>
      </p:sp>
      <p:graphicFrame>
        <p:nvGraphicFramePr>
          <p:cNvPr id="505"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DEPOSITAIRE_TELEPHONE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Dépositaire téléphone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ID_COMPTE_DEPOSITAIRE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compte dépositaire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CAO_QUORUM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CAO quorum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La surcharge de la règle de quorum de la CAO (MAJORITE, TOUS, nombre) ; nul : la règle globale.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SIGNATURE_OFFRE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Signature offre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SCELLE_PLUS_ORIGINAL (nul : défaut) ou CERTIFIEE (réservé, sans effet).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journal des paramètres internes  ·  t_parametre_interne_journal  ·  8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IM_ACTEUR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 acteur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NOM_ACTEUR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 acteur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 NOM Prénoms » de l'acteur, résolu à l'écriture.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CHAMP</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Champ</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MembresCommission, quorum, dateCeremonie ou responsable.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ANCIENNE_VALEUR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Ancienne valeur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long</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NOUVELLE_VALEUR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Nouvelle valeur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long</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3"/>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cérémonie des clés  ·  t_ceremonie_cles  ·  8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ETAT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État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 : A_VENIR, CLOSE, A_REFAIRE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DATE_CLOTURE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clôture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PREMIER_DEPOT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Premier dépôt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DATE_MAJ</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mise à jour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DATE_DEPOTS_CLOS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depots clos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La clôture des dépôts notifiée (DEPOTS_CLOS), une fois.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RAPPEL_VEILLE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Rappel veille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Le rappel SEANCE_A_VENIR de la veille, envoyé.</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RAPPEL_HEURE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Rappel heure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Le rappel SEANCE_A_VENIR une heure avant, envoyé.</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2"/>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504</a:t>
            </a:r>
            <a:endParaRPr lang="en-US" sz="1100" dirty="0"/>
          </a:p>
        </p:txBody>
      </p:sp>
    </p:spTree>
  </p:cSld>
  <p:clrMapOvr>
    <a:masterClrMapping/>
  </p:clrMapOvr>
</p:sld>
</file>

<file path=ppt/slides/slide505.xml><?xml version="1.0" encoding="utf-8"?>
<p:sld xmlns:a="http://schemas.openxmlformats.org/drawingml/2006/main" xmlns:r="http://schemas.openxmlformats.org/officeDocument/2006/relationships" xmlns:p="http://schemas.openxmlformats.org/presentationml/2006/main">
  <p:cSld name="Slide 50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04 PRÉPARER LE DAO</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(11/11)</a:t>
            </a:r>
            <a:endParaRPr lang="en-US" sz="2600" dirty="0"/>
          </a:p>
        </p:txBody>
      </p:sp>
      <p:graphicFrame>
        <p:nvGraphicFramePr>
          <p:cNvPr id="506"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478536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clé d’un détenteur  ·  t_cle_detenteur  ·  3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GENERE_PAR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Généré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(12)</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Qui a généré la part de secours. */ public static final String PAR_RESPONSABLE = "RESPONSABLE"; public static final String PAR_DEPOSITAIRE = "DEPOSITAIRE"; public static final String PUBLIEE = "PUBLIEE"; public static final String VERIFIEE = "VERIFIEE"; public static final String PERDUE =…</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ID_DEPOSITAIRE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dépositaire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Le compte du dépositaire qui a publié la part de secours (D…, nouveau geste).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DATE_ARCHIVAGE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archivage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4"/>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défi de vérification d’une clé  ·  t_defi_cle  ·  8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ID_DEFI</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défi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ID_CLE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clé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IM_APPELANT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 appelant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EMPREINTE_CLAIR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Empreinte clair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(64)</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DATE_CREATION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création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EXPIRE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Expire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CONSOMME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Consomme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3"/>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compte du dépositaire  ·  t_compte_depositaire  ·  9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ID_COMPTE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compte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EMAIL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Adresse électronique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(255)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TELEPHONE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Téléphone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ETAT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État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 : A_ACTIVER, ACTIF, ARCHIVE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DATE_CREATION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création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DATE_INVITATION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invitation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DATE_ACTIVATION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activation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DERNIERE_CONNEXION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Dernière connexion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3"/>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505</a:t>
            </a:r>
            <a:endParaRPr lang="en-US" sz="1100" dirty="0"/>
          </a:p>
        </p:txBody>
      </p:sp>
    </p:spTree>
  </p:cSld>
  <p:clrMapOvr>
    <a:masterClrMapping/>
  </p:clrMapOvr>
</p:sld>
</file>

<file path=ppt/slides/slide506.xml><?xml version="1.0" encoding="utf-8"?>
<p:sld xmlns:a="http://schemas.openxmlformats.org/drawingml/2006/main" xmlns:r="http://schemas.openxmlformats.org/officeDocument/2006/relationships" xmlns:p="http://schemas.openxmlformats.org/presentationml/2006/main">
  <p:cSld name="Slide 50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05 L’APPEL À MANIFESTATION D’INTÉRÊT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données de l’étape</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Chaque objet que cette étape crée ou modifie, avec la table du serveur qui le conserve et le nombre de ses informations.</a:t>
            </a:r>
            <a:endParaRPr lang="en-US" sz="1300" dirty="0"/>
          </a:p>
        </p:txBody>
      </p:sp>
      <p:graphicFrame>
        <p:nvGraphicFramePr>
          <p:cNvPr id="507" name="Table 0"/>
          <p:cNvGraphicFramePr>
            <a:graphicFrameLocks noGrp="1"/>
          </p:cNvGraphicFramePr>
          <p:nvPr>
            <p:extLst>
              <p:ext uri="{D42A27DB-BD31-4B8C-83A1-F6EECF244321}">
                <p14:modId xmlns:p14="http://schemas.microsoft.com/office/powerpoint/2010/main" val="1579011935"/>
              </p:ext>
            </p:extLst>
          </p:nvPr>
        </p:nvGraphicFramePr>
        <p:xfrm>
          <a:off x="593324" y="1651000"/>
          <a:ext cx="11430000" cy="914400"/>
        </p:xfrm>
        <a:graphic>
          <a:graphicData uri="http://schemas.openxmlformats.org/drawingml/2006/table">
            <a:tbl>
              <a:tblPr/>
              <a:tblGrid>
                <a:gridCol w="2926080">
                  <a:extLst>
                    <a:ext uri="{9D8B030D-6E8A-4147-A177-3AD203B41FA5}">
                      <a16:colId xmlns:a16="http://schemas.microsoft.com/office/drawing/2014/main" val="20000"/>
                    </a:ext>
                  </a:extLst>
                </a:gridCol>
                <a:gridCol w="2103120">
                  <a:extLst>
                    <a:ext uri="{9D8B030D-6E8A-4147-A177-3AD203B41FA5}">
                      <a16:colId xmlns:a16="http://schemas.microsoft.com/office/drawing/2014/main" val="20001"/>
                    </a:ext>
                  </a:extLst>
                </a:gridCol>
                <a:gridCol w="1005840">
                  <a:extLst>
                    <a:ext uri="{9D8B030D-6E8A-4147-A177-3AD203B41FA5}">
                      <a16:colId xmlns:a16="http://schemas.microsoft.com/office/drawing/2014/main" val="20002"/>
                    </a:ext>
                  </a:extLst>
                </a:gridCol>
                <a:gridCol w="5394960">
                  <a:extLst>
                    <a:ext uri="{9D8B030D-6E8A-4147-A177-3AD203B41FA5}">
                      <a16:colId xmlns:a16="http://schemas.microsoft.com/office/drawing/2014/main" val="20003"/>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Objet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Table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Ce qu’il porte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L’appel à manifestation d’intérêt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t_ami</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24</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L'appel à manifestation d'intérêt d'une procédure de prestations intellectuelles : en préparation (BROUILLON), publié (PUBLIE, figé), ou dispensé de publicité (DISPENSE : la liste restreinte se saisit alors comme avant).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L’expression d’intérêt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t_ami_expression</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15</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Une expression d'intérêt déposée par un candidat : en clair, sans scellement, mais illisible de l'administration avant la date limite (arbitrage Q2).</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pièce d’une expression</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t_ami_expression_piece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7</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Une pièce d'une expression d'intérêt : son libellé (une des pièces attendues), le fichier, son empreinte.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déclaration d’un membre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t_ami_declaration</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6</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La déclaration préalable d'un membre de la commission sur l'AMI (conflit d'intérêts, confidentialité).</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note d’un critère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t_ami_note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8</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La note retenue par la commission pour une expression d'intérêt sur un critère publié (de 0 au poids du critère), avec son motif ; une seule par expression et par critère (une nouvelle saisie la remplace, le journal garde la trace).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liste restreinte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t_ami_liste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9</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 candidat de la liste restreinte arrêtée : son rang, son compte, sa note.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signature du rapport de présélection</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t_ami_signature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8</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La signature du rapport de présélection par un membre, ou son empêchement constaté.</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L’invité de la consultation restreinte (lot 3)</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t_invitation</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9</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 invité de la consultation restreinte : un candidat de la liste de l'AMI (AMI, son compte), ou saisi par la PRMP (SAISIE, son adresse électronique, par laquelle son compte lui est rattaché) ; son rang et sa lettre d'invitation (le PDF).</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bl>
          </a:graphicData>
        </a:graphic>
      </p:graphicFrame>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506</a:t>
            </a:r>
            <a:endParaRPr lang="en-US" sz="1100" dirty="0"/>
          </a:p>
        </p:txBody>
      </p:sp>
    </p:spTree>
  </p:cSld>
  <p:clrMapOvr>
    <a:masterClrMapping/>
  </p:clrMapOvr>
</p:sld>
</file>

<file path=ppt/slides/slide507.xml><?xml version="1.0" encoding="utf-8"?>
<p:sld xmlns:a="http://schemas.openxmlformats.org/drawingml/2006/main" xmlns:r="http://schemas.openxmlformats.org/officeDocument/2006/relationships" xmlns:p="http://schemas.openxmlformats.org/presentationml/2006/main">
  <p:cSld name="Slide 50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05 L’APPEL À MANIFESTATION D’INTÉRÊT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(1/4)</a:t>
            </a:r>
            <a:endParaRPr lang="en-US" sz="2600" dirty="0"/>
          </a:p>
        </p:txBody>
      </p:sp>
      <p:graphicFrame>
        <p:nvGraphicFramePr>
          <p:cNvPr id="508"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50165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L’appel à manifestation d’intérêt  ·  t_ami  ·  24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ETAT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État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 : BROUILLON, PUBLIE, DISPENSE, INFRUCTUEUX</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OBJET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Objet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DATE_LIMITE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limite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CRITERES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Criteres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PIECES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Pièces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NOTE_MINIMALE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Note minimale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NOMBRE_RETENUS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Nombre retenus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MOTIF_DISPENSE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 dispense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PUBLICATIONS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Publications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AVIS_PRODUIT_LE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Avis produit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PUBLIE_LE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Publie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PUBLIE_PAR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Publie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CREE_LE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Créé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CREE_PAR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Créé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MODIFIE_LE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Modifie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LISTE_ARRETEE_LE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Liste arrêtée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LISTE_ARRETEE_PAR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Liste arrêtée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MOTIF_NOMBRE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 nombre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OBSERVATIONS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Observations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SIGNATAIRES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Signataires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LISTE_DEFINITIVE_LE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Liste definitive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La dernière signature du rapport : la liste est définitive, publiée et notifiée (Q5).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NOMBRE_RELANCES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Nombre relances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MOTIF_INFRUCTUEUX</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 infructueux</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5"/>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507</a:t>
            </a:r>
            <a:endParaRPr lang="en-US" sz="1100" dirty="0"/>
          </a:p>
        </p:txBody>
      </p:sp>
    </p:spTree>
  </p:cSld>
  <p:clrMapOvr>
    <a:masterClrMapping/>
  </p:clrMapOvr>
</p:sld>
</file>

<file path=ppt/slides/slide508.xml><?xml version="1.0" encoding="utf-8"?>
<p:sld xmlns:a="http://schemas.openxmlformats.org/drawingml/2006/main" xmlns:r="http://schemas.openxmlformats.org/officeDocument/2006/relationships" xmlns:p="http://schemas.openxmlformats.org/presentationml/2006/main">
  <p:cSld name="Slide 50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05 L’APPEL À MANIFESTATION D’INTÉRÊT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(2/4)</a:t>
            </a:r>
            <a:endParaRPr lang="en-US" sz="2600" dirty="0"/>
          </a:p>
        </p:txBody>
      </p:sp>
      <p:graphicFrame>
        <p:nvGraphicFramePr>
          <p:cNvPr id="509"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L’expression d’intérêt  ·  t_ami_expression  ·  15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(36)</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ID_CANDIDAT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candidat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RAISON_SOCIALE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Raison sociale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(255)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NUMERO</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Numéro</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ETAT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État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 : DEPOSEE, REMPLACEE, RETIREE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CONTENU</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Contenu</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EMPREINTE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Empreinte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(64)</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DEPOSEE_LE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Déposée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RETIREE_LE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Retirée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REMPLACEE_PAR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Remplacée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(36)</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MOTIF_ECARTEMENT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 écartement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ECARTEE_LE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Écartée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ECARTEE_PAR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Écartée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6"/>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pièce d’une expression  ·  t_ami_expression_piece  ·  7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ID_EXPRESSION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expression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(36)</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LIBELLE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Libellé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(255)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(255)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FORMAT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Format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TAILLE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Taille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EMPREINTE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Empreinte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(64)</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4"/>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508</a:t>
            </a:r>
            <a:endParaRPr lang="en-US" sz="1100" dirty="0"/>
          </a:p>
        </p:txBody>
      </p:sp>
    </p:spTree>
  </p:cSld>
  <p:clrMapOvr>
    <a:masterClrMapping/>
  </p:clrMapOvr>
</p:sld>
</file>

<file path=ppt/slides/slide509.xml><?xml version="1.0" encoding="utf-8"?>
<p:sld xmlns:a="http://schemas.openxmlformats.org/drawingml/2006/main" xmlns:r="http://schemas.openxmlformats.org/officeDocument/2006/relationships" xmlns:p="http://schemas.openxmlformats.org/presentationml/2006/main">
  <p:cSld name="Slide 50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05 L’APPEL À MANIFESTATION D’INTÉRÊT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(3/4)</a:t>
            </a:r>
            <a:endParaRPr lang="en-US" sz="2600" dirty="0"/>
          </a:p>
        </p:txBody>
      </p:sp>
      <p:graphicFrame>
        <p:nvGraphicFramePr>
          <p:cNvPr id="510"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490982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déclaration d’un membre  ·  t_ami_declaration  ·  6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SIGNEE_LE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Signée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CONFLIT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Conflit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PRECISION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Précision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7"/>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note d’un critère  ·  t_ami_note  ·  8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ID_EXPRESSION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expression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(36)</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CODE_CRITERE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Code critère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6"/>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liste restreinte  ·  t_ami_liste  ·  9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RANG</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Rang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ID_EXPRESSION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expression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(36)</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ID_CANDIDAT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candidat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RAISON_SOCIALE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Raison sociale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(255)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5"/>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509</a:t>
            </a:r>
            <a:endParaRPr lang="en-US" sz="1100" dirty="0"/>
          </a:p>
        </p:txBody>
      </p:sp>
    </p:spTree>
  </p:cSld>
  <p:clrMapOvr>
    <a:masterClrMapping/>
  </p:clrMapOvr>
</p:sld>
</file>

<file path=ppt/slides/slide510.xml><?xml version="1.0" encoding="utf-8"?>
<p:sld xmlns:a="http://schemas.openxmlformats.org/drawingml/2006/main" xmlns:r="http://schemas.openxmlformats.org/officeDocument/2006/relationships" xmlns:p="http://schemas.openxmlformats.org/presentationml/2006/main">
  <p:cSld name="Slide 51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05 L’APPEL À MANIFESTATION D’INTÉRÊT</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(4/4)</a:t>
            </a:r>
            <a:endParaRPr lang="en-US" sz="2600" dirty="0"/>
          </a:p>
        </p:txBody>
      </p:sp>
      <p:graphicFrame>
        <p:nvGraphicFramePr>
          <p:cNvPr id="511"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3962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rang</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Rang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signature du rapport de présélection  ·  t_ami_signature  ·  8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EMPECHEMENT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Empechement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CONSTATE_PAR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Constate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OBSERVATION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Observation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L’invité de la consultation restreinte (lot 3)  ·  t_invitation  ·  9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RANG</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Rang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SOURCE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Source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ID_CANDIDAT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candidat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EMAIL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Adresse électronique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(150)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(255)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ID_DOCUMENT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document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INVITE_LE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Invite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0"/>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510</a:t>
            </a:r>
            <a:endParaRPr lang="en-US" sz="1100" dirty="0"/>
          </a:p>
        </p:txBody>
      </p:sp>
    </p:spTree>
  </p:cSld>
  <p:clrMapOvr>
    <a:masterClrMapping/>
  </p:clrMapOvr>
</p:sld>
</file>

<file path=ppt/slides/slide511.xml><?xml version="1.0" encoding="utf-8"?>
<p:sld xmlns:a="http://schemas.openxmlformats.org/drawingml/2006/main" xmlns:r="http://schemas.openxmlformats.org/officeDocument/2006/relationships" xmlns:p="http://schemas.openxmlformats.org/presentationml/2006/main">
  <p:cSld name="Slide 51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06 RECEVOIR LES OFFRES EN LIGNE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données de l’étape (1/2)</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Chaque objet que cette étape crée ou modifie, avec la table du serveur qui le conserve et le nombre de ses informations.</a:t>
            </a:r>
            <a:endParaRPr lang="en-US" sz="1300" dirty="0"/>
          </a:p>
        </p:txBody>
      </p:sp>
      <p:graphicFrame>
        <p:nvGraphicFramePr>
          <p:cNvPr id="512" name="Table 0"/>
          <p:cNvGraphicFramePr>
            <a:graphicFrameLocks noGrp="1"/>
          </p:cNvGraphicFramePr>
          <p:nvPr>
            <p:extLst>
              <p:ext uri="{D42A27DB-BD31-4B8C-83A1-F6EECF244321}">
                <p14:modId xmlns:p14="http://schemas.microsoft.com/office/powerpoint/2010/main" val="1579011935"/>
              </p:ext>
            </p:extLst>
          </p:nvPr>
        </p:nvGraphicFramePr>
        <p:xfrm>
          <a:off x="593324" y="1651000"/>
          <a:ext cx="11430000" cy="3845560"/>
        </p:xfrm>
        <a:graphic>
          <a:graphicData uri="http://schemas.openxmlformats.org/drawingml/2006/table">
            <a:tbl>
              <a:tblPr/>
              <a:tblGrid>
                <a:gridCol w="2926080">
                  <a:extLst>
                    <a:ext uri="{9D8B030D-6E8A-4147-A177-3AD203B41FA5}">
                      <a16:colId xmlns:a16="http://schemas.microsoft.com/office/drawing/2014/main" val="20000"/>
                    </a:ext>
                  </a:extLst>
                </a:gridCol>
                <a:gridCol w="2103120">
                  <a:extLst>
                    <a:ext uri="{9D8B030D-6E8A-4147-A177-3AD203B41FA5}">
                      <a16:colId xmlns:a16="http://schemas.microsoft.com/office/drawing/2014/main" val="20001"/>
                    </a:ext>
                  </a:extLst>
                </a:gridCol>
                <a:gridCol w="1005840">
                  <a:extLst>
                    <a:ext uri="{9D8B030D-6E8A-4147-A177-3AD203B41FA5}">
                      <a16:colId xmlns:a16="http://schemas.microsoft.com/office/drawing/2014/main" val="20002"/>
                    </a:ext>
                  </a:extLst>
                </a:gridCol>
                <a:gridCol w="5394960">
                  <a:extLst>
                    <a:ext uri="{9D8B030D-6E8A-4147-A177-3AD203B41FA5}">
                      <a16:colId xmlns:a16="http://schemas.microsoft.com/office/drawing/2014/main" val="20003"/>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Objet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Table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Ce qu’il porte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tentative de dépôt refusée hors délai</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t_offre_tentative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13</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Une tentative de dépôt refusée hors délai : le geste refusé, horodaté par le serveur, le candidat et ce qui est connu de son dépôt.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compte du candidat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t_compte_candidat</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11</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La fiche d'un candidat : une entreprise externe inscrite par elle-même.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code de confirmation</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t_code_candidat</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8</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 code de confirmation d'un compte candidat : six chiffres, à usage unique, valable 15 minutes, 5 essais au plus ; stocké haché (BCrypt), par canal (EMAIL, TELEPHONE).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L’entreprise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t_entreprise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18</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L'entreprise d'un compte candidat (un compte = une entreprise) :</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pièce de l’entreprise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t_piece_entreprise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8</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Une pièce de l'entreprise d'un candidat (carte fiscale, statuts, pouvoir, autre) :</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journal de l’entreprise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t_entreprise_journal</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7</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Une ligne du journal d'une entreprise : un changement de statut de vérification du NIF, avec l'ancienne et la nouvelle valeur.</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rapprochement de deux comptes</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t_rapprochement_candidat</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6</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 rapprochement entre deux comptes candidats (même téléphone, même signataire, même adresse) : une alerte pour la commission (lot 4), jamais un refus. idCandidatA &lt; idCandidatB.</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L’exclusion prononcée par l’ARMP</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t_exclusion_armp</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8</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Une exclusion des marchés publics prononcée par l'ARMP, tenue par l'Administrateur ; jamais supprimée (on la corrige, ou on avance sa date de fin).</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journal des exclusions</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t_exclusion_armp_journal</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6</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Une ligne du journal d'une exclusion : anciennes et nouvelles valeurs (JSON), qui, quand.</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retrait du dossier</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t_retrait_dao</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8</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 retrait du DAO : un document téléchargé par un candidat (compte, entreprise si déclarée, document, version de la fiche, date).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reçu des frais de dossier</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t_recu_dao</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22</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Le reçu du paiement des frais de dossier, déposé par un candidat pour son entreprise (la clé est le NIF : deux comptes de la même entreprise le partagent), sur un ou plusieurs lots (lots nul : tout le dossier).</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journal des reçus</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t_recu_journal</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7</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Le journal des reçus de frais de dossier : RECU_DEPOSE, RECU_VALIDE, RECU_REFUSE.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bl>
          </a:graphicData>
        </a:graphic>
      </p:graphicFrame>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511</a:t>
            </a:r>
            <a:endParaRPr lang="en-US" sz="1100" dirty="0"/>
          </a:p>
        </p:txBody>
      </p:sp>
    </p:spTree>
  </p:cSld>
  <p:clrMapOvr>
    <a:masterClrMapping/>
  </p:clrMapOvr>
</p:sld>
</file>

<file path=ppt/slides/slide512.xml><?xml version="1.0" encoding="utf-8"?>
<p:sld xmlns:a="http://schemas.openxmlformats.org/drawingml/2006/main" xmlns:r="http://schemas.openxmlformats.org/officeDocument/2006/relationships" xmlns:p="http://schemas.openxmlformats.org/presentationml/2006/main">
  <p:cSld name="Slide 51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06 RECEVOIR LES OFFRES EN LIGNE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données de l’étape (2/2)</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Chaque objet que cette étape crée ou modifie, avec la table du serveur qui le conserve et le nombre de ses informations.</a:t>
            </a:r>
            <a:endParaRPr lang="en-US" sz="1300" dirty="0"/>
          </a:p>
        </p:txBody>
      </p:sp>
      <p:graphicFrame>
        <p:nvGraphicFramePr>
          <p:cNvPr id="513" name="Table 0"/>
          <p:cNvGraphicFramePr>
            <a:graphicFrameLocks noGrp="1"/>
          </p:cNvGraphicFramePr>
          <p:nvPr>
            <p:extLst>
              <p:ext uri="{D42A27DB-BD31-4B8C-83A1-F6EECF244321}">
                <p14:modId xmlns:p14="http://schemas.microsoft.com/office/powerpoint/2010/main" val="1579011935"/>
              </p:ext>
            </p:extLst>
          </p:nvPr>
        </p:nvGraphicFramePr>
        <p:xfrm>
          <a:off x="593324" y="1651000"/>
          <a:ext cx="11430000" cy="1102360"/>
        </p:xfrm>
        <a:graphic>
          <a:graphicData uri="http://schemas.openxmlformats.org/drawingml/2006/table">
            <a:tbl>
              <a:tblPr/>
              <a:tblGrid>
                <a:gridCol w="2926080">
                  <a:extLst>
                    <a:ext uri="{9D8B030D-6E8A-4147-A177-3AD203B41FA5}">
                      <a16:colId xmlns:a16="http://schemas.microsoft.com/office/drawing/2014/main" val="20000"/>
                    </a:ext>
                  </a:extLst>
                </a:gridCol>
                <a:gridCol w="2103120">
                  <a:extLst>
                    <a:ext uri="{9D8B030D-6E8A-4147-A177-3AD203B41FA5}">
                      <a16:colId xmlns:a16="http://schemas.microsoft.com/office/drawing/2014/main" val="20001"/>
                    </a:ext>
                  </a:extLst>
                </a:gridCol>
                <a:gridCol w="1005840">
                  <a:extLst>
                    <a:ext uri="{9D8B030D-6E8A-4147-A177-3AD203B41FA5}">
                      <a16:colId xmlns:a16="http://schemas.microsoft.com/office/drawing/2014/main" val="20002"/>
                    </a:ext>
                  </a:extLst>
                </a:gridCol>
                <a:gridCol w="5394960">
                  <a:extLst>
                    <a:ext uri="{9D8B030D-6E8A-4147-A177-3AD203B41FA5}">
                      <a16:colId xmlns:a16="http://schemas.microsoft.com/office/drawing/2014/main" val="20003"/>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Objet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Table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Ce qu’il porte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L’offre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t_offre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33</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Une offre déposée en ligne : un conteneur scellé dans le navigateur du candidat, que le serveur ne peut pas lire.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morceau chiffré d’une offre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t_offre_morceau</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6</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 morceau reçu d'une offre en cours de dépôt : taille et empreinte ; le contenu est sur disque.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journal des offres</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t_offre_journal</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7</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Le journal des offres : création, morceaux, scellement, remplacement, retrait, purge.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bl>
          </a:graphicData>
        </a:graphic>
      </p:graphicFrame>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512</a:t>
            </a:r>
            <a:endParaRPr lang="en-US" sz="1100" dirty="0"/>
          </a:p>
        </p:txBody>
      </p:sp>
    </p:spTree>
  </p:cSld>
  <p:clrMapOvr>
    <a:masterClrMapping/>
  </p:clrMapOvr>
</p:sld>
</file>

<file path=ppt/slides/slide513.xml><?xml version="1.0" encoding="utf-8"?>
<p:sld xmlns:a="http://schemas.openxmlformats.org/drawingml/2006/main" xmlns:r="http://schemas.openxmlformats.org/officeDocument/2006/relationships" xmlns:p="http://schemas.openxmlformats.org/presentationml/2006/main">
  <p:cSld name="Slide 51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06 RECEVOIR LES OFFRES EN LIGNE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(1/8)</a:t>
            </a:r>
            <a:endParaRPr lang="en-US" sz="2600" dirty="0"/>
          </a:p>
        </p:txBody>
      </p:sp>
      <p:graphicFrame>
        <p:nvGraphicFramePr>
          <p:cNvPr id="514"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502412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tentative de dépôt refusée hors délai  ·  t_offre_tentative  ·  13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ID_CANDIDAT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candidat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ID_ENTREPRISE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entreprise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RAISON_SOCIALE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Raison sociale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(255)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Lot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ENVELOPPE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Enveloppe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(12)</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ID_OFFRE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offre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(36)</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GESTE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Geste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(12)</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HORODATAGE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Horodatage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DATE_LIMITE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limite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4"/>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compte du candidat  ·  t_compte_candidat  ·  11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ID_CANDIDAT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candidat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EMAIL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Adresse électronique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TELEPHONE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Téléphone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PRENOM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Prénom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ETAT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État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 : A_CONFIRMER, CONFIRME, ARCHIVE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TELEPHONE_CONFIRME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Téléphone confirme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DATE_INSCRIPTION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inscription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DATE_CONFIRMATION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confirmation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DERNIERE_CONNEXION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Dernière connexion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5"/>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513</a:t>
            </a:r>
            <a:endParaRPr lang="en-US" sz="1100" dirty="0"/>
          </a:p>
        </p:txBody>
      </p:sp>
    </p:spTree>
  </p:cSld>
  <p:clrMapOvr>
    <a:masterClrMapping/>
  </p:clrMapOvr>
</p:sld>
</file>

<file path=ppt/slides/slide514.xml><?xml version="1.0" encoding="utf-8"?>
<p:sld xmlns:a="http://schemas.openxmlformats.org/drawingml/2006/main" xmlns:r="http://schemas.openxmlformats.org/officeDocument/2006/relationships" xmlns:p="http://schemas.openxmlformats.org/presentationml/2006/main">
  <p:cSld name="Slide 51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06 RECEVOIR LES OFFRES EN LIGNE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(2/8)</a:t>
            </a:r>
            <a:endParaRPr lang="en-US" sz="2600" dirty="0"/>
          </a:p>
        </p:txBody>
      </p:sp>
      <p:graphicFrame>
        <p:nvGraphicFramePr>
          <p:cNvPr id="515"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DATE_ARCHIVAGE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archivage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code de confirmation  ·  t_code_candidat  ·  8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ID_CODE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code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ID_CANDIDAT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candidat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CANAL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Canal</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HASH_CODE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Empreinte code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DATE_EMISSION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emission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EXPIRATION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Expiration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ESSAIS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Essais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UTILISE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Utilise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L’entreprise  ·  t_entreprise  ·  18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ID_ENTREPRISE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entreprise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ID_CANDIDAT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candidat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RAISON_SOCIALE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Raison sociale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STAT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STAT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RCS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RCS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ADRESSE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Adresse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ADRESSE_NORMALISEE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Adresse normalisee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REP_NOM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Rep nom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REP_PRENOM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Rep prénom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REP_FONCTION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Rep fonction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VERIF_STATUT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Verif statut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VERIF_SOURCE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Verif source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VERIF_DATE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Verif date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5"/>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514</a:t>
            </a:r>
            <a:endParaRPr lang="en-US" sz="1100" dirty="0"/>
          </a:p>
        </p:txBody>
      </p:sp>
    </p:spTree>
  </p:cSld>
  <p:clrMapOvr>
    <a:masterClrMapping/>
  </p:clrMapOvr>
</p:sld>
</file>

<file path=ppt/slides/slide515.xml><?xml version="1.0" encoding="utf-8"?>
<p:sld xmlns:a="http://schemas.openxmlformats.org/drawingml/2006/main" xmlns:r="http://schemas.openxmlformats.org/officeDocument/2006/relationships" xmlns:p="http://schemas.openxmlformats.org/presentationml/2006/main">
  <p:cSld name="Slide 51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06 RECEVOIR LES OFFRES EN LIGNE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(3/8)</a:t>
            </a:r>
            <a:endParaRPr lang="en-US" sz="2600" dirty="0"/>
          </a:p>
        </p:txBody>
      </p:sp>
      <p:graphicFrame>
        <p:nvGraphicFramePr>
          <p:cNvPr id="516"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490982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VERIF_ACTEUR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Verif acteur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VERIF_MOTIF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Verif motif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DATE_CREATION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création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DATE_MAJ</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mise à jour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pièce de l’entreprise  ·  t_piece_entreprise  ·  8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ID_PIECE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pièce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ID_ENTREPRISE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entreprise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TYPE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Type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NOM_FICHIER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 fichier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(255)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FORMAT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Format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TAILLE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Taille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Octets.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HASH_SHA256</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Empreinte SHA-256</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(64)</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DATE_DEPOT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dépôt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3"/>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journal de l’entreprise  ·  t_entreprise_journal  ·  7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ID_JOURNAL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journal</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ID_ENTREPRISE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entreprise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DATE_ACTION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action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ACTEUR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Acteur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CHAMP</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Champ</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ANCIENNE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Ancienne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NOUVELLE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Nouvelle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1"/>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rapprochement de deux comptes  ·  t_rapprochement_candidat  ·  6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ID_RAPPROCHEMENT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rapprochement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ID_CANDIDAT_A</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candidat a</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ID_CANDIDAT_B</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candidat b</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5"/>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515</a:t>
            </a:r>
            <a:endParaRPr lang="en-US" sz="1100" dirty="0"/>
          </a:p>
        </p:txBody>
      </p:sp>
    </p:spTree>
  </p:cSld>
  <p:clrMapOvr>
    <a:masterClrMapping/>
  </p:clrMapOvr>
</p:sld>
</file>

<file path=ppt/slides/slide516.xml><?xml version="1.0" encoding="utf-8"?>
<p:sld xmlns:a="http://schemas.openxmlformats.org/drawingml/2006/main" xmlns:r="http://schemas.openxmlformats.org/officeDocument/2006/relationships" xmlns:p="http://schemas.openxmlformats.org/presentationml/2006/main">
  <p:cSld name="Slide 51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06 RECEVOIR LES OFFRES EN LIGNE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(4/8)</a:t>
            </a:r>
            <a:endParaRPr lang="en-US" sz="2600" dirty="0"/>
          </a:p>
        </p:txBody>
      </p:sp>
      <p:graphicFrame>
        <p:nvGraphicFramePr>
          <p:cNvPr id="517"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CRITERE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Critère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VALEUR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Valeur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DATE_CALCUL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calcul</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L’exclusion prononcée par l’ARMP  ·  t_exclusion_armp  ·  8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ID_EXCLUSION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exclusion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RAISON_SOCIALE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Raison sociale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REFERENCE_DECISION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Référence décision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DATE_DEBUT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début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DATE_FIN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fin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DATE_CREATION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création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journal des exclusions  ·  t_exclusion_armp_journal  ·  6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ID_JOURNAL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journal</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ID_EXCLUSION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exclusion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DATE_ACTION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action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ACTEUR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Acteur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ANCIENNES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Anciennes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NOUVELLES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Nouvelles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9"/>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retrait du dossier  ·  t_retrait_dao  ·  8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ID_RETRAIT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retrait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ID_CANDIDAT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candidat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ID_ENTREPRISE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entreprise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CODE_DOCUMENT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Code document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(255)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5"/>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516</a:t>
            </a:r>
            <a:endParaRPr lang="en-US" sz="1100" dirty="0"/>
          </a:p>
        </p:txBody>
      </p:sp>
    </p:spTree>
  </p:cSld>
  <p:clrMapOvr>
    <a:masterClrMapping/>
  </p:clrMapOvr>
</p:sld>
</file>

<file path=ppt/slides/slide517.xml><?xml version="1.0" encoding="utf-8"?>
<p:sld xmlns:a="http://schemas.openxmlformats.org/drawingml/2006/main" xmlns:r="http://schemas.openxmlformats.org/officeDocument/2006/relationships" xmlns:p="http://schemas.openxmlformats.org/presentationml/2006/main">
  <p:cSld name="Slide 51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06 RECEVOIR LES OFFRES EN LIGNE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(5/8)</a:t>
            </a:r>
            <a:endParaRPr lang="en-US" sz="2600" dirty="0"/>
          </a:p>
        </p:txBody>
      </p:sp>
      <p:graphicFrame>
        <p:nvGraphicFramePr>
          <p:cNvPr id="518"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489458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VERSION_FICHE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Version fiche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DATE_RETRAIT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retrait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ID_RECU</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reçu</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Le reçu de frais de dossier qui a ouvert ce retrait ; null pour un retrait libre.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reçu des frais de dossier  ·  t_recu_dao  ·  22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ID_RECU</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reçu</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ID_ENTREPRISE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entreprise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RAISON_SOCIALE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Raison sociale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(255)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ID_CANDIDAT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candidat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Le compte qui l'a déposé.</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LOTS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Lots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Les lots couverts, séparés par des virgules ; null : tout le dossier.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MONTANT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Montant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REFERENCE_PAIEMENT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Référence paiement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DATE_PAIEMENT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paiement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BANQUE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Banque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NOM_FICHIER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 fichier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(255)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FORMAT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Format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TAILLE_OCTETS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Taille (octets)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EMPREINTE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Empreinte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(64)</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DATE_DEPOT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dépôt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ETAT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État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 : EN_ATTENTE, VALIDE, REFUSE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MOTIF_REFUS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 refus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DATE_DECISION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décision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DECIDE_PAR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Décidé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La fonction de qui a décidé (PRMP ou UGPM), pas son nom (servie au candidat).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LOGIN_DECIDEUR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Login decideur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(255)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5"/>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517</a:t>
            </a:r>
            <a:endParaRPr lang="en-US" sz="1100" dirty="0"/>
          </a:p>
        </p:txBody>
      </p:sp>
    </p:spTree>
  </p:cSld>
  <p:clrMapOvr>
    <a:masterClrMapping/>
  </p:clrMapOvr>
</p:sld>
</file>

<file path=ppt/slides/slide518.xml><?xml version="1.0" encoding="utf-8"?>
<p:sld xmlns:a="http://schemas.openxmlformats.org/drawingml/2006/main" xmlns:r="http://schemas.openxmlformats.org/officeDocument/2006/relationships" xmlns:p="http://schemas.openxmlformats.org/presentationml/2006/main">
  <p:cSld name="Slide 51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06 RECEVOIR LES OFFRES EN LIGNE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(6/8)</a:t>
            </a:r>
            <a:endParaRPr lang="en-US" sz="2600" dirty="0"/>
          </a:p>
        </p:txBody>
      </p:sp>
      <p:graphicFrame>
        <p:nvGraphicFramePr>
          <p:cNvPr id="519"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PURGE_LE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Purge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La purge de conservation (V70) : le fichier supprimé, la ligne gardée.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journal des reçus  ·  t_recu_journal  ·  7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ID_RECU</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reçu</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ACTEUR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Acteur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(255)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ACTION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Action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DETAIL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Détail</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L’offre  ·  t_offre  ·  33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ID_OFFRE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offre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(36)</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UUID tiré par le navigateur — l'identifiant de l'offre, dans l'en-tête et les données authentifiées.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ID_CANDIDAT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candidat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ID_ENTREPRISE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entreprise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RAISON_SOCIALE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Raison sociale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(255)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Lot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ETAT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État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 : EN_COURS, DEPOSEE, REMPLACEE, RETIREE, ECARTEE, TECHNIQUE, FINANCIERE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DATE_CREATION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création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DATE_DEPOT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dépôt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DATE_RETRAIT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retrait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NUMERO</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Numéro</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Rang d'arrivée dans la procédure.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EN_TETE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En tete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L'en-tête JSON, tel que le navigateur l'a sérialisé et haché.</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3"/>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518</a:t>
            </a:r>
            <a:endParaRPr lang="en-US" sz="1100" dirty="0"/>
          </a:p>
        </p:txBody>
      </p:sp>
    </p:spTree>
  </p:cSld>
  <p:clrMapOvr>
    <a:masterClrMapping/>
  </p:clrMapOvr>
</p:sld>
</file>

<file path=ppt/slides/slide519.xml><?xml version="1.0" encoding="utf-8"?>
<p:sld xmlns:a="http://schemas.openxmlformats.org/drawingml/2006/main" xmlns:r="http://schemas.openxmlformats.org/officeDocument/2006/relationships" xmlns:p="http://schemas.openxmlformats.org/presentationml/2006/main">
  <p:cSld name="Slide 51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06 RECEVOIR LES OFFRES EN LIGNE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(7/8)</a:t>
            </a:r>
            <a:endParaRPr lang="en-US" sz="2600" dirty="0"/>
          </a:p>
        </p:txBody>
      </p:sp>
      <p:graphicFrame>
        <p:nvGraphicFramePr>
          <p:cNvPr id="520"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495046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NOMBRE_MORCEAUX</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Nombre morceaux</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TAILLE_MORCEAU</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Taille morceau</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TAILLE_CONTENU</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Taille contenu</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TAILLE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Taille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Les octets reçus (morceaux).</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EMPREINTE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Empreinte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(64)</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SHA-256 de l'en-tête puis des morceaux, posée au scellement.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QUORUM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Quorum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EMPREINTES_DETENTEURS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Empreintes detenteurs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Les empreintes des clés publiques pour lesquelles l'offre est scellée, dans l'ordre, séparées par des virgules.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CHEMIN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Chemin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REMPLACE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Remplacé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(36)</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REMPLACEE_PAR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Remplacée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(36)</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GROUPEMENT_NIFS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Groupement nifs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Les NIF normalisés des membres d'un groupement, pour le seul contrôle des exclusions (séparés par des virgules).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DERNIER_MORCEAU</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Dernier morceau</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INTEGRITE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Integrite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INTACTE, ALTEREE (empreinte différente), LECTURE_IMPOSSIBLE.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LECTURE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Lecture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La lecture tirée du manifeste à l'ouverture (JSON).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MOTIF_LECTURE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 lecture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La raison d'une lecture impossible.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MOTIF_ECARTEMENT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 écartement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Le motif de l'écartement (entreprise exclue après son dépôt).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ENVELOPPE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Enveloppe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(12)</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L'enveloppe d'une proposition de prestations intellectuelles :</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OUVERTE_LE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Ouverte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PURGEE_LE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Purgee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Conteneur et contenu déchiffré supprimés au terme de la conservation.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morceau chiffré d’une offre  ·  t_offre_morceau  ·  6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ID_MORCEAU</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morceau</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ID_OFFRE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offre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(36)</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RANG</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Rang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4"/>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519</a:t>
            </a:r>
            <a:endParaRPr lang="en-US" sz="1100" dirty="0"/>
          </a:p>
        </p:txBody>
      </p:sp>
    </p:spTree>
  </p:cSld>
  <p:clrMapOvr>
    <a:masterClrMapping/>
  </p:clrMapOvr>
</p:sld>
</file>

<file path=ppt/slides/slide520.xml><?xml version="1.0" encoding="utf-8"?>
<p:sld xmlns:a="http://schemas.openxmlformats.org/drawingml/2006/main" xmlns:r="http://schemas.openxmlformats.org/officeDocument/2006/relationships" xmlns:p="http://schemas.openxmlformats.org/presentationml/2006/main">
  <p:cSld name="Slide 52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06 RECEVOIR LES OFFRES EN LIGNE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(8/8)</a:t>
            </a:r>
            <a:endParaRPr lang="en-US" sz="2600" dirty="0"/>
          </a:p>
        </p:txBody>
      </p:sp>
      <p:graphicFrame>
        <p:nvGraphicFramePr>
          <p:cNvPr id="521"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TAILLE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Taille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EMPREINTE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Empreinte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(64)</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DATE_RECU</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reçu</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journal des offres  ·  t_offre_journal  ·  7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ID_OFFRE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offre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(36)</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ID_CANDIDAT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candidat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ACTION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Action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DETAIL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Détail</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520</a:t>
            </a:r>
            <a:endParaRPr lang="en-US" sz="1100" dirty="0"/>
          </a:p>
        </p:txBody>
      </p:sp>
    </p:spTree>
  </p:cSld>
  <p:clrMapOvr>
    <a:masterClrMapping/>
  </p:clrMapOvr>
</p:sld>
</file>

<file path=ppt/slides/slide521.xml><?xml version="1.0" encoding="utf-8"?>
<p:sld xmlns:a="http://schemas.openxmlformats.org/drawingml/2006/main" xmlns:r="http://schemas.openxmlformats.org/officeDocument/2006/relationships" xmlns:p="http://schemas.openxmlformats.org/presentationml/2006/main">
  <p:cSld name="Slide 52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07 LA SÉANCE D’OUVERTURE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données de l’étape</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Chaque objet que cette étape crée ou modifie, avec la table du serveur qui le conserve et le nombre de ses informations.</a:t>
            </a:r>
            <a:endParaRPr lang="en-US" sz="1300" dirty="0"/>
          </a:p>
        </p:txBody>
      </p:sp>
      <p:graphicFrame>
        <p:nvGraphicFramePr>
          <p:cNvPr id="522" name="Table 0"/>
          <p:cNvGraphicFramePr>
            <a:graphicFrameLocks noGrp="1"/>
          </p:cNvGraphicFramePr>
          <p:nvPr>
            <p:extLst>
              <p:ext uri="{D42A27DB-BD31-4B8C-83A1-F6EECF244321}">
                <p14:modId xmlns:p14="http://schemas.microsoft.com/office/powerpoint/2010/main" val="1579011935"/>
              </p:ext>
            </p:extLst>
          </p:nvPr>
        </p:nvGraphicFramePr>
        <p:xfrm>
          <a:off x="593324" y="1651000"/>
          <a:ext cx="11430000" cy="2473960"/>
        </p:xfrm>
        <a:graphic>
          <a:graphicData uri="http://schemas.openxmlformats.org/drawingml/2006/table">
            <a:tbl>
              <a:tblPr/>
              <a:tblGrid>
                <a:gridCol w="2926080">
                  <a:extLst>
                    <a:ext uri="{9D8B030D-6E8A-4147-A177-3AD203B41FA5}">
                      <a16:colId xmlns:a16="http://schemas.microsoft.com/office/drawing/2014/main" val="20000"/>
                    </a:ext>
                  </a:extLst>
                </a:gridCol>
                <a:gridCol w="2103120">
                  <a:extLst>
                    <a:ext uri="{9D8B030D-6E8A-4147-A177-3AD203B41FA5}">
                      <a16:colId xmlns:a16="http://schemas.microsoft.com/office/drawing/2014/main" val="20001"/>
                    </a:ext>
                  </a:extLst>
                </a:gridCol>
                <a:gridCol w="1005840">
                  <a:extLst>
                    <a:ext uri="{9D8B030D-6E8A-4147-A177-3AD203B41FA5}">
                      <a16:colId xmlns:a16="http://schemas.microsoft.com/office/drawing/2014/main" val="20002"/>
                    </a:ext>
                  </a:extLst>
                </a:gridCol>
                <a:gridCol w="5394960">
                  <a:extLst>
                    <a:ext uri="{9D8B030D-6E8A-4147-A177-3AD203B41FA5}">
                      <a16:colId xmlns:a16="http://schemas.microsoft.com/office/drawing/2014/main" val="20003"/>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Objet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Table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Ce qu’il porte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signature du PV de la seconde séance (lot 3)</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t_seance_financiere_signature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8</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La signature électronique simple du PV de la seconde séance (propositions financières, PI) par un membre présent, ou son empêchement constaté ; sur le modèle de SeanceSignature, par ronde.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séance d’ouverture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t_seance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10</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La séance d'ouverture des plis d'une procédure :</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L’apport des parts d’un détenteur</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t_seance_apport</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5</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 apport de parts en séance : qui (K… ou SECOURS), combien, quand. Jamais les parts.</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signature du PV d’ouverture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t_seance_signature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7</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La signature électronique simple du PV d'ouverture par un membre présent de la CAO (l'acte authentifié du membre connecté, horodaté), ou son empêchement constaté par le président, avec un motif porté au PV.</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journal de la séance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t_seance_journal</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6</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Le journal de la séance ; jamais une part.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seconde séance (propositions financières, lot 3)</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t_seance_financiere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19</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La seconde séance d'ouverture d'une consultation de prestations intellectuelles : les enveloppes financières à ouvrir (A_OUVRIR, identifiants séparés par des virgules, fixés à l'ouverture), son état, ses présents, son PV. V89 (PI-d2a) : une ligne par ronde — 1 = la seconde séance, 2… =…</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bl>
          </a:graphicData>
        </a:graphic>
      </p:graphicFrame>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521</a:t>
            </a:r>
            <a:endParaRPr lang="en-US" sz="1100" dirty="0"/>
          </a:p>
        </p:txBody>
      </p:sp>
    </p:spTree>
  </p:cSld>
  <p:clrMapOvr>
    <a:masterClrMapping/>
  </p:clrMapOvr>
</p:sld>
</file>

<file path=ppt/slides/slide522.xml><?xml version="1.0" encoding="utf-8"?>
<p:sld xmlns:a="http://schemas.openxmlformats.org/drawingml/2006/main" xmlns:r="http://schemas.openxmlformats.org/officeDocument/2006/relationships" xmlns:p="http://schemas.openxmlformats.org/presentationml/2006/main">
  <p:cSld name="Slide 52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07 LA SÉANCE D’OUVERTURE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(1/3)</a:t>
            </a:r>
            <a:endParaRPr lang="en-US" sz="2600" dirty="0"/>
          </a:p>
        </p:txBody>
      </p:sp>
      <p:graphicFrame>
        <p:nvGraphicFramePr>
          <p:cNvPr id="523"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signature du PV de la seconde séance (lot 3)  ·  t_seance_financiere_signature  ·  8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RONDE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Ronde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EMPECHEMENT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Empechement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CONSTATE_PAR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Constate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9"/>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séance d’ouverture  ·  t_seance  ·  10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PRESENTS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Presents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Le PV est produit, les membres présents le signent. */ public static final String PV_A_SIGNER = "PV_A_SIGNER"; public static final String ILLISIBLE = "ILLISIBLE"; public static final String CLOSE = "CLOSE"; @Id @Column(name = "ID_DMC", nullable = false) private Long idDmc; @Column(name = "ETAT",…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AUTRES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Autres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Les autres présents, en JSON : [{ nom, qualite ]}.</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SECOURS_EMPLOYE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Secours employe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SECOURS_MOTIF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Secours motif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SECOURS_DEMANDE_MOTIF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Secours demande motif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La part de secours demandée au dépositaire par le responsable : motif et 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SECOURS_DEMANDE_LE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Secours demande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MOTIF_ILLISIBLE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 illisible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OBSERVATIONS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Observations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SIGNATAIRES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Signataires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Le PV tel qu'il se publie (B04-OP-13 = OUI) : sans les alertes de rapprochement ni la vérification des NIF. */ @Basic(fetch = FetchType.LAZY) @Column(name = "PV_PUBLIC") private byte[] pvPublic; @Column(name = "PV_PUBLIE", nullable = false) private Boolean pvPublie = Boolean.FALSE; /** V70 (§B2)…</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PV_SIGNE_LE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PV signé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Le PV entièrement signé (ou les empêchements constatés).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0"/>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522</a:t>
            </a:r>
            <a:endParaRPr lang="en-US" sz="1100" dirty="0"/>
          </a:p>
        </p:txBody>
      </p:sp>
    </p:spTree>
  </p:cSld>
  <p:clrMapOvr>
    <a:masterClrMapping/>
  </p:clrMapOvr>
</p:sld>
</file>

<file path=ppt/slides/slide523.xml><?xml version="1.0" encoding="utf-8"?>
<p:sld xmlns:a="http://schemas.openxmlformats.org/drawingml/2006/main" xmlns:r="http://schemas.openxmlformats.org/officeDocument/2006/relationships" xmlns:p="http://schemas.openxmlformats.org/presentationml/2006/main">
  <p:cSld name="Slide 52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07 LA SÉANCE D’OUVERTURE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(2/3)</a:t>
            </a:r>
            <a:endParaRPr lang="en-US" sz="2600" dirty="0"/>
          </a:p>
        </p:txBody>
      </p:sp>
      <p:graphicFrame>
        <p:nvGraphicFramePr>
          <p:cNvPr id="524"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491744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L’apport des parts d’un détenteur  ·  t_seance_apport  ·  5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DETENTEUR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Detenteur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NOMBRE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Nombre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6"/>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signature du PV d’ouverture  ·  t_seance_signature  ·  7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EMPECHEMENT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Empechement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CONSTATE_PAR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Constate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4"/>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journal de la séance  ·  t_seance_journal  ·  6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ACTEUR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Acteur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ACTION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Action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DETAIL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Détail</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1"/>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seconde séance (propositions financières, lot 3)  ·  t_seance_financiere  ·  19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RONDE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Ronde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5"/>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523</a:t>
            </a:r>
            <a:endParaRPr lang="en-US" sz="1100" dirty="0"/>
          </a:p>
        </p:txBody>
      </p:sp>
    </p:spTree>
  </p:cSld>
  <p:clrMapOvr>
    <a:masterClrMapping/>
  </p:clrMapOvr>
</p:sld>
</file>

<file path=ppt/slides/slide524.xml><?xml version="1.0" encoding="utf-8"?>
<p:sld xmlns:a="http://schemas.openxmlformats.org/drawingml/2006/main" xmlns:r="http://schemas.openxmlformats.org/officeDocument/2006/relationships" xmlns:p="http://schemas.openxmlformats.org/presentationml/2006/main">
  <p:cSld name="Slide 52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07 LA SÉANCE D’OUVERTURE</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(3/3)</a:t>
            </a:r>
            <a:endParaRPr lang="en-US" sz="2600" dirty="0"/>
          </a:p>
        </p:txBody>
      </p:sp>
      <p:graphicFrame>
        <p:nvGraphicFramePr>
          <p:cNvPr id="525"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ETAT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État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(12) : OUVERTE, DECHIFFREE, CLOSE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METHODE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Methode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La méthode de sélection (B02-MS-01) : elle décide quelles enveloppes s'ouvrent.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A_OUVRIR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 ouvrir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OUVERTE_LE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Ouverte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OUVERTE_PAR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Ouverte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DECHIFFREE_LE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Dechiffree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PRESENTS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Presents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AUTRES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Autres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SECOURS_EMPLOYE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Secours employe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SECOURS_MOTIF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Secours motif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OBSERVATIONS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Observations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CLOSE_LE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Close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SIGNATAIRES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Signataires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Les présents appelés à signer le PV (comptes, séparés par des virgules).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PV_SIGNE_LE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PV signé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R1 — le PV entièrement signé (ou empêchements constatés).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ronde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Ronde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6"/>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524</a:t>
            </a:r>
            <a:endParaRPr lang="en-US" sz="1100" dirty="0"/>
          </a:p>
        </p:txBody>
      </p:sp>
    </p:spTree>
  </p:cSld>
  <p:clrMapOvr>
    <a:masterClrMapping/>
  </p:clrMapOvr>
</p:sld>
</file>

<file path=ppt/slides/slide525.xml><?xml version="1.0" encoding="utf-8"?>
<p:sld xmlns:a="http://schemas.openxmlformats.org/drawingml/2006/main" xmlns:r="http://schemas.openxmlformats.org/officeDocument/2006/relationships" xmlns:p="http://schemas.openxmlformats.org/presentationml/2006/main">
  <p:cSld name="Slide 52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08 ÉVALUER LES OFFRES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données de l’étape (1/2)</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Chaque objet que cette étape crée ou modifie, avec la table du serveur qui le conserve et le nombre de ses informations.</a:t>
            </a:r>
            <a:endParaRPr lang="en-US" sz="1300" dirty="0"/>
          </a:p>
        </p:txBody>
      </p:sp>
      <p:graphicFrame>
        <p:nvGraphicFramePr>
          <p:cNvPr id="526" name="Table 0"/>
          <p:cNvGraphicFramePr>
            <a:graphicFrameLocks noGrp="1"/>
          </p:cNvGraphicFramePr>
          <p:nvPr>
            <p:extLst>
              <p:ext uri="{D42A27DB-BD31-4B8C-83A1-F6EECF244321}">
                <p14:modId xmlns:p14="http://schemas.microsoft.com/office/powerpoint/2010/main" val="1579011935"/>
              </p:ext>
            </p:extLst>
          </p:nvPr>
        </p:nvGraphicFramePr>
        <p:xfrm>
          <a:off x="593324" y="1651000"/>
          <a:ext cx="11430000" cy="4759960"/>
        </p:xfrm>
        <a:graphic>
          <a:graphicData uri="http://schemas.openxmlformats.org/drawingml/2006/table">
            <a:tbl>
              <a:tblPr/>
              <a:tblGrid>
                <a:gridCol w="2926080">
                  <a:extLst>
                    <a:ext uri="{9D8B030D-6E8A-4147-A177-3AD203B41FA5}">
                      <a16:colId xmlns:a16="http://schemas.microsoft.com/office/drawing/2014/main" val="20000"/>
                    </a:ext>
                  </a:extLst>
                </a:gridCol>
                <a:gridCol w="2103120">
                  <a:extLst>
                    <a:ext uri="{9D8B030D-6E8A-4147-A177-3AD203B41FA5}">
                      <a16:colId xmlns:a16="http://schemas.microsoft.com/office/drawing/2014/main" val="20001"/>
                    </a:ext>
                  </a:extLst>
                </a:gridCol>
                <a:gridCol w="1005840">
                  <a:extLst>
                    <a:ext uri="{9D8B030D-6E8A-4147-A177-3AD203B41FA5}">
                      <a16:colId xmlns:a16="http://schemas.microsoft.com/office/drawing/2014/main" val="20002"/>
                    </a:ext>
                  </a:extLst>
                </a:gridCol>
                <a:gridCol w="5394960">
                  <a:extLst>
                    <a:ext uri="{9D8B030D-6E8A-4147-A177-3AD203B41FA5}">
                      <a16:colId xmlns:a16="http://schemas.microsoft.com/office/drawing/2014/main" val="20003"/>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Objet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Table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Ce qu’il porte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L’évaluation</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t_evaluation</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4</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L'évaluation d'une procédure, ouverte une fois le PV d'ouverture signé.</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déclaration préalable d’un membre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t_evaluation_declaration</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6</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La déclaration préalable d'un membre de la CAO : absence de conflit d'intérêts et confidentialité (art. 21-d, 12-V).</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L’étape arrêtée d’un lot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t_evaluation_etape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10</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L'arrêt d'une étape de l'évaluation d'un lot, par le président de la CAO. En vigueur tant que rouverteLe est nul ; rouvert, il reste au registre avec la date, l'auteur et le motif de sa réouverture.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décision sur une offre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t_evaluation_decision</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13</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Une décision de la CAO sur une offre, à une étape : la décision (CONFORME / ECARTEE à l'examen préliminaire), la qualification, le motif, la clause du DAO, et le détail de l'étape en JSON (contenu : la grille des vérifications).</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demande de précision ou de justification</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t_evaluation_demande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14</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Une demande adressée par la PRMP au candidat d'une offre : une précision (art. 35-VI, examen préliminaire) ou une justification de prix (art. 48, tranche suivante), avec son délai, et la réponse du candidat (texte et fichier joint).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départage d’une égalité</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t_evaluation_departage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8</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Le départage, par la CAO, d'offres d'un lot classées à égalité de montant évalué : ordre (identifiants d'offres séparés par des virgules, du premier au dernier) et son motif.</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rapport d’évaluation</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t_evaluation_rapport</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6</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Le rapport d'évaluation d'une procédure, ses signataires appelés et ses deux formats.</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signature du rapport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t_evaluation_signature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8</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La signature du rapport d'évaluation par un membre de la CAO (signature électronique simple, observation en cas de désaccord), ou son empêchement constaté par le président.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journal de l’évaluation</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t_evaluation_journal</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6</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Le journal de l'évaluation : chaque décision et chaque réouverture, avec son auteur et son détail.</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L’évaluation technique (lot 3)</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t_evaluation_technique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9</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L'étape technique d'un lot : son arrêt par le président, et sa réouverture motivée.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note technique d’un membre (lot 3)</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t_evaluation_note_technique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8</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La note d'un membre de la commission sur un élément de la grille technique (un sous-critère de la fiche, B06-TP-032, ou un critère noté globalement, B06-TP-02) d'une proposition technique, motivée.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L’évaluation financière (lot 3)</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t_evaluation_financiere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14</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La saisie d'une proposition financière ouverte : prix lu hors taxes, corrections arithmétiques (JSON), prix corrigé, dépenses remboursables (arbitrage du pilote : saisies par la commission) ; ou le refus d'une correction par le candidat, qui l'écarte.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bl>
          </a:graphicData>
        </a:graphic>
      </p:graphicFrame>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525</a:t>
            </a:r>
            <a:endParaRPr lang="en-US" sz="1100" dirty="0"/>
          </a:p>
        </p:txBody>
      </p:sp>
    </p:spTree>
  </p:cSld>
  <p:clrMapOvr>
    <a:masterClrMapping/>
  </p:clrMapOvr>
</p:sld>
</file>

<file path=ppt/slides/slide526.xml><?xml version="1.0" encoding="utf-8"?>
<p:sld xmlns:a="http://schemas.openxmlformats.org/drawingml/2006/main" xmlns:r="http://schemas.openxmlformats.org/officeDocument/2006/relationships" xmlns:p="http://schemas.openxmlformats.org/presentationml/2006/main">
  <p:cSld name="Slide 52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08 ÉVALUER LES OFFRES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données de l’étape (2/2)</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Chaque objet que cette étape crée ou modifie, avec la table du serveur qui le conserve et le nombre de ses informations.</a:t>
            </a:r>
            <a:endParaRPr lang="en-US" sz="1300" dirty="0"/>
          </a:p>
        </p:txBody>
      </p:sp>
      <p:graphicFrame>
        <p:nvGraphicFramePr>
          <p:cNvPr id="527" name="Table 0"/>
          <p:cNvGraphicFramePr>
            <a:graphicFrameLocks noGrp="1"/>
          </p:cNvGraphicFramePr>
          <p:nvPr>
            <p:extLst>
              <p:ext uri="{D42A27DB-BD31-4B8C-83A1-F6EECF244321}">
                <p14:modId xmlns:p14="http://schemas.microsoft.com/office/powerpoint/2010/main" val="1579011935"/>
              </p:ext>
            </p:extLst>
          </p:nvPr>
        </p:nvGraphicFramePr>
        <p:xfrm>
          <a:off x="593324" y="1651000"/>
          <a:ext cx="11430000" cy="1407160"/>
        </p:xfrm>
        <a:graphic>
          <a:graphicData uri="http://schemas.openxmlformats.org/drawingml/2006/table">
            <a:tbl>
              <a:tblPr/>
              <a:tblGrid>
                <a:gridCol w="2926080">
                  <a:extLst>
                    <a:ext uri="{9D8B030D-6E8A-4147-A177-3AD203B41FA5}">
                      <a16:colId xmlns:a16="http://schemas.microsoft.com/office/drawing/2014/main" val="20000"/>
                    </a:ext>
                  </a:extLst>
                </a:gridCol>
                <a:gridCol w="2103120">
                  <a:extLst>
                    <a:ext uri="{9D8B030D-6E8A-4147-A177-3AD203B41FA5}">
                      <a16:colId xmlns:a16="http://schemas.microsoft.com/office/drawing/2014/main" val="20001"/>
                    </a:ext>
                  </a:extLst>
                </a:gridCol>
                <a:gridCol w="1005840">
                  <a:extLst>
                    <a:ext uri="{9D8B030D-6E8A-4147-A177-3AD203B41FA5}">
                      <a16:colId xmlns:a16="http://schemas.microsoft.com/office/drawing/2014/main" val="20002"/>
                    </a:ext>
                  </a:extLst>
                </a:gridCol>
                <a:gridCol w="5394960">
                  <a:extLst>
                    <a:ext uri="{9D8B030D-6E8A-4147-A177-3AD203B41FA5}">
                      <a16:colId xmlns:a16="http://schemas.microsoft.com/office/drawing/2014/main" val="20003"/>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Objet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Table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Ce qu’il porte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classement des propositions (lot 3)</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t_evaluation_classement_pi</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13</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Le classement d'un lot : son départage motivé (DEPARTAGE : les propositions techniques dans l'ordre retenu, séparées par des virgules), son arrêt par le président, sa réouverture motivée.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négociation (lot 3)</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t_negociation</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17</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Une négociation avec un candidat classé : conduite par la PRMP (ou son UGPM), une seule en cours et une seule réussie par lot ; son procès-verbal (texte, date, lieu, pièce jointe, PDF et Word) ; l'échec, motivé, ouvre la voie au suivant (Q7, en attente du juriste).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sous-critère technique de la fiche (lot 3)</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t_fiche_sous_critere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6</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 sous-critère technique d'une version de fiche de prestations intellectuelles : son critère (B06-TP-02 à B06-TP-06), son rang, son libellé, ses points.</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bl>
          </a:graphicData>
        </a:graphic>
      </p:graphicFrame>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526</a:t>
            </a:r>
            <a:endParaRPr lang="en-US" sz="1100" dirty="0"/>
          </a:p>
        </p:txBody>
      </p:sp>
    </p:spTree>
  </p:cSld>
  <p:clrMapOvr>
    <a:masterClrMapping/>
  </p:clrMapOvr>
</p:sld>
</file>

<file path=ppt/slides/slide527.xml><?xml version="1.0" encoding="utf-8"?>
<p:sld xmlns:a="http://schemas.openxmlformats.org/drawingml/2006/main" xmlns:r="http://schemas.openxmlformats.org/officeDocument/2006/relationships" xmlns:p="http://schemas.openxmlformats.org/presentationml/2006/main">
  <p:cSld name="Slide 52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08 ÉVALUER LES OFFRES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(1/7)</a:t>
            </a:r>
            <a:endParaRPr lang="en-US" sz="2600" dirty="0"/>
          </a:p>
        </p:txBody>
      </p:sp>
      <p:graphicFrame>
        <p:nvGraphicFramePr>
          <p:cNvPr id="528"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503936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L’évaluation  ·  t_evaluation  ·  4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ETAT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État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 : EN_COURS, RAPPORT_A_SIGNER, CLOSE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OUVERTE_LE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Ouverte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OUVERTE_PAR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Ouverte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5"/>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déclaration préalable d’un membre  ·  t_evaluation_declaration  ·  6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SIGNEE_LE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Signée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CONFLIT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Conflit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PRECISION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Précision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L’étape arrêtée d’un lot  ·  t_evaluation_etape  ·  10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Lot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ETAPE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Étape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ARRETEE_LE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Arrêtée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ARRETEE_PAR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Arrêtée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OBSERVATION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Observation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ROUVERTE_LE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Rouverte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ROUVERTE_PAR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Rouverte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MOTIF_REOUVERTURE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 reouverture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3"/>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décision sur une offre  ·  t_evaluation_decision  ·  13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2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5"/>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527</a:t>
            </a:r>
            <a:endParaRPr lang="en-US" sz="1100" dirty="0"/>
          </a:p>
        </p:txBody>
      </p:sp>
    </p:spTree>
  </p:cSld>
  <p:clrMapOvr>
    <a:masterClrMapping/>
  </p:clrMapOvr>
</p:sld>
</file>

<file path=ppt/slides/slide528.xml><?xml version="1.0" encoding="utf-8"?>
<p:sld xmlns:a="http://schemas.openxmlformats.org/drawingml/2006/main" xmlns:r="http://schemas.openxmlformats.org/officeDocument/2006/relationships" xmlns:p="http://schemas.openxmlformats.org/presentationml/2006/main">
  <p:cSld name="Slide 52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08 ÉVALUER LES OFFRES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(2/7)</a:t>
            </a:r>
            <a:endParaRPr lang="en-US" sz="2600" dirty="0"/>
          </a:p>
        </p:txBody>
      </p:sp>
      <p:graphicFrame>
        <p:nvGraphicFramePr>
          <p:cNvPr id="529"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508254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ID_OFFRE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offre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(36)</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Lot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ETAPE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Étape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DECISION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Décision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 : CONFORME, ECARTEE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QUALIFICATION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Qualification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CLAUSE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Clause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CONTENU</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Contenu</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REMPLACEE_LE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Remplacée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demande de précision ou de justification  ·  t_evaluation_demande  ·  14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ID_OFFRE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offre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(36)</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TYPE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Type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(15) : PRECISION, JUSTIFICATION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QUESTION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Question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DELAI_JOURS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Délai jours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ECHEANCE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Échéance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DEMANDEE_LE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Demandee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DEMANDEE_PAR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Demandee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REPONSE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Réponse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REPONSE_NOM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Réponse nom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(255)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REPONSE_FORMAT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Réponse format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REPONSE_TAILLE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Réponse taille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6"/>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528</a:t>
            </a:r>
            <a:endParaRPr lang="en-US" sz="1100" dirty="0"/>
          </a:p>
        </p:txBody>
      </p:sp>
    </p:spTree>
  </p:cSld>
  <p:clrMapOvr>
    <a:masterClrMapping/>
  </p:clrMapOvr>
</p:sld>
</file>

<file path=ppt/slides/slide529.xml><?xml version="1.0" encoding="utf-8"?>
<p:sld xmlns:a="http://schemas.openxmlformats.org/drawingml/2006/main" xmlns:r="http://schemas.openxmlformats.org/officeDocument/2006/relationships" xmlns:p="http://schemas.openxmlformats.org/presentationml/2006/main">
  <p:cSld name="Slide 52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08 ÉVALUER LES OFFRES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(3/7)</a:t>
            </a:r>
            <a:endParaRPr lang="en-US" sz="2600" dirty="0"/>
          </a:p>
        </p:txBody>
      </p:sp>
      <p:graphicFrame>
        <p:nvGraphicFramePr>
          <p:cNvPr id="530"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490982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REPONDUE_LE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Repondu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départage d’une égalité  ·  t_evaluation_departage  ·  8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Lot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ORDRE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Ordre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(400)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REMPLACE_LE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Remplacé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rapport d’évaluation  ·  t_evaluation_rapport  ·  6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PRODUIT_LE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Produit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PRODUIT_PAR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Produit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OBSERVATIONS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Observations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SIGNATAIRES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Signataires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(400)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Les identifiants des membres appelés à signer, séparés par des virgules.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SIGNE_LE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Signé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7"/>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signature du rapport  ·  t_evaluation_signature  ·  8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EMPECHEMENT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Empechement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CONSTATE_PAR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Constate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5"/>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529</a:t>
            </a:r>
            <a:endParaRPr lang="en-US" sz="1100" dirty="0"/>
          </a:p>
        </p:txBody>
      </p:sp>
    </p:spTree>
  </p:cSld>
  <p:clrMapOvr>
    <a:masterClrMapping/>
  </p:clrMapOvr>
</p:sld>
</file>

<file path=ppt/slides/slide530.xml><?xml version="1.0" encoding="utf-8"?>
<p:sld xmlns:a="http://schemas.openxmlformats.org/drawingml/2006/main" xmlns:r="http://schemas.openxmlformats.org/officeDocument/2006/relationships" xmlns:p="http://schemas.openxmlformats.org/presentationml/2006/main">
  <p:cSld name="Slide 53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08 ÉVALUER LES OFFRES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(4/7)</a:t>
            </a:r>
            <a:endParaRPr lang="en-US" sz="2600" dirty="0"/>
          </a:p>
        </p:txBody>
      </p:sp>
      <p:graphicFrame>
        <p:nvGraphicFramePr>
          <p:cNvPr id="531"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OBSERVATION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Observation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journal de l’évaluation  ·  t_evaluation_journal  ·  6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ACTEUR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Acteur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ACTION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Action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DETAIL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Détail</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L’évaluation technique (lot 3)  ·  t_evaluation_technique  ·  9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Lot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ARRETEE_LE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Arrêtée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ARRETEE_PAR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Arrêtée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OBSERVATION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Observation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ROUVERTE_LE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Rouverte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MOTIF_REOUVERTURE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 reouverture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Lot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8"/>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note technique d’un membre (lot 3)  ·  t_evaluation_note_technique  ·  8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ID_OFFRE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offre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(36)</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ELEMENT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Element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5"/>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530</a:t>
            </a:r>
            <a:endParaRPr lang="en-US" sz="1100" dirty="0"/>
          </a:p>
        </p:txBody>
      </p:sp>
    </p:spTree>
  </p:cSld>
  <p:clrMapOvr>
    <a:masterClrMapping/>
  </p:clrMapOvr>
</p:sld>
</file>

<file path=ppt/slides/slide531.xml><?xml version="1.0" encoding="utf-8"?>
<p:sld xmlns:a="http://schemas.openxmlformats.org/drawingml/2006/main" xmlns:r="http://schemas.openxmlformats.org/officeDocument/2006/relationships" xmlns:p="http://schemas.openxmlformats.org/presentationml/2006/main">
  <p:cSld name="Slide 53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08 ÉVALUER LES OFFRES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(5/7)</a:t>
            </a:r>
            <a:endParaRPr lang="en-US" sz="2600" dirty="0"/>
          </a:p>
        </p:txBody>
      </p:sp>
      <p:graphicFrame>
        <p:nvGraphicFramePr>
          <p:cNvPr id="532"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L’évaluation financière (lot 3)  ·  t_evaluation_financiere  ·  14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ID_OFFRE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offre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(36)</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Lot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PRIX_LU</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Prix lu</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PRIX_LU_TTC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Prix lu TTC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CORRECTIONS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Corrections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PRIX_CORRIGE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Prix corrige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REMBOURSABLES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Remboursables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MOTIF_REMBOURSABLES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 remboursables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REFUS_MOTIF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Refus motif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REFUS_CLAUSE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Refus clause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7"/>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classement des propositions (lot 3)  ·  t_evaluation_classement_pi  ·  13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Lot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ARRETE_LE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Arrêté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ARRETE_PAR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Arrêté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OBSERVATION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Observation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ROUVERT_LE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Rouvert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MOTIF_REOUVERTURE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 reouverture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5"/>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531</a:t>
            </a:r>
            <a:endParaRPr lang="en-US" sz="1100" dirty="0"/>
          </a:p>
        </p:txBody>
      </p:sp>
    </p:spTree>
  </p:cSld>
  <p:clrMapOvr>
    <a:masterClrMapping/>
  </p:clrMapOvr>
</p:sld>
</file>

<file path=ppt/slides/slide532.xml><?xml version="1.0" encoding="utf-8"?>
<p:sld xmlns:a="http://schemas.openxmlformats.org/drawingml/2006/main" xmlns:r="http://schemas.openxmlformats.org/officeDocument/2006/relationships" xmlns:p="http://schemas.openxmlformats.org/presentationml/2006/main">
  <p:cSld name="Slide 53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08 ÉVALUER LES OFFRES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(6/7)</a:t>
            </a:r>
            <a:endParaRPr lang="en-US" sz="2600" dirty="0"/>
          </a:p>
        </p:txBody>
      </p:sp>
      <p:graphicFrame>
        <p:nvGraphicFramePr>
          <p:cNvPr id="533"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DEPARTAGE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Départage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MOTIF_DEPARTAGE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 départage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DEPARTAGE_PAR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Départage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DEPARTAGE_LE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Départage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Lot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négociation (lot 3)  ·  t_negociation  ·  17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ID_OFFRE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offre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(36)</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La négociation réussie dont le marché a été retiré faute de pièces : le suivant est invité. */ public static final String RETIREE = "RETIREE"; @Id @GeneratedValue(strategy = GenerationType.IDENTITY) @Column(name = "ID") private Long id; @Column(name = "ID_DMC", nullable = false) private Long…</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ID_FINANCIERE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financiere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(36)</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NUMERO</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Numéro</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RAISON_SOCIALE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Raison sociale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RANG</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Rang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ETAT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État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 : EN_COURS, REUSSIE, ECHOUEE, RETIREE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OUVERTE_LE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Ouverte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OUVERTE_PAR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Ouverte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PREVUE_LE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Prévue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LIEU</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Lieu</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CONCLUE_LE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Conclue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CONCLUE_PAR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Conclue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DATE_NEGOCIATION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negociation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TEXTE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Texte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MOTIF_ECHEC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 echec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PIECE_NOM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Pièce nom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(255)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3"/>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532</a:t>
            </a:r>
            <a:endParaRPr lang="en-US" sz="1100" dirty="0"/>
          </a:p>
        </p:txBody>
      </p:sp>
    </p:spTree>
  </p:cSld>
  <p:clrMapOvr>
    <a:masterClrMapping/>
  </p:clrMapOvr>
</p:sld>
</file>

<file path=ppt/slides/slide533.xml><?xml version="1.0" encoding="utf-8"?>
<p:sld xmlns:a="http://schemas.openxmlformats.org/drawingml/2006/main" xmlns:r="http://schemas.openxmlformats.org/officeDocument/2006/relationships" xmlns:p="http://schemas.openxmlformats.org/presentationml/2006/main">
  <p:cSld name="Slide 53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08 ÉVALUER LES OFFRES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(7/7)</a:t>
            </a:r>
            <a:endParaRPr lang="en-US" sz="2600" dirty="0"/>
          </a:p>
        </p:txBody>
      </p:sp>
      <p:graphicFrame>
        <p:nvGraphicFramePr>
          <p:cNvPr id="534"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PIECE_TYPE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Pièce type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sous-critère technique de la fiche (lot 3)  ·  t_fiche_sous_critere  ·  6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ID_SOUS_CRITERE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sous critère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ID_FICHE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fiche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CRITERE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Critère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ORDRE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Ordre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LIBELLE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Libellé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POINTS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Points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533</a:t>
            </a:r>
            <a:endParaRPr lang="en-US" sz="1100" dirty="0"/>
          </a:p>
        </p:txBody>
      </p:sp>
    </p:spTree>
  </p:cSld>
  <p:clrMapOvr>
    <a:masterClrMapping/>
  </p:clrMapOvr>
</p:sld>
</file>

<file path=ppt/slides/slide534.xml><?xml version="1.0" encoding="utf-8"?>
<p:sld xmlns:a="http://schemas.openxmlformats.org/drawingml/2006/main" xmlns:r="http://schemas.openxmlformats.org/officeDocument/2006/relationships" xmlns:p="http://schemas.openxmlformats.org/presentationml/2006/main">
  <p:cSld name="Slide 53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09 ATTRIBUER ET NOTIFIER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données de l’étape</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Chaque objet que cette étape crée ou modifie, avec la table du serveur qui le conserve et le nombre de ses informations.</a:t>
            </a:r>
            <a:endParaRPr lang="en-US" sz="1300" dirty="0"/>
          </a:p>
        </p:txBody>
      </p:sp>
      <p:graphicFrame>
        <p:nvGraphicFramePr>
          <p:cNvPr id="535" name="Table 0"/>
          <p:cNvGraphicFramePr>
            <a:graphicFrameLocks noGrp="1"/>
          </p:cNvGraphicFramePr>
          <p:nvPr>
            <p:extLst>
              <p:ext uri="{D42A27DB-BD31-4B8C-83A1-F6EECF244321}">
                <p14:modId xmlns:p14="http://schemas.microsoft.com/office/powerpoint/2010/main" val="1579011935"/>
              </p:ext>
            </p:extLst>
          </p:nvPr>
        </p:nvGraphicFramePr>
        <p:xfrm>
          <a:off x="593324" y="1651000"/>
          <a:ext cx="11430000" cy="914400"/>
        </p:xfrm>
        <a:graphic>
          <a:graphicData uri="http://schemas.openxmlformats.org/drawingml/2006/table">
            <a:tbl>
              <a:tblPr/>
              <a:tblGrid>
                <a:gridCol w="2926080">
                  <a:extLst>
                    <a:ext uri="{9D8B030D-6E8A-4147-A177-3AD203B41FA5}">
                      <a16:colId xmlns:a16="http://schemas.microsoft.com/office/drawing/2014/main" val="20000"/>
                    </a:ext>
                  </a:extLst>
                </a:gridCol>
                <a:gridCol w="2103120">
                  <a:extLst>
                    <a:ext uri="{9D8B030D-6E8A-4147-A177-3AD203B41FA5}">
                      <a16:colId xmlns:a16="http://schemas.microsoft.com/office/drawing/2014/main" val="20001"/>
                    </a:ext>
                  </a:extLst>
                </a:gridCol>
                <a:gridCol w="1005840">
                  <a:extLst>
                    <a:ext uri="{9D8B030D-6E8A-4147-A177-3AD203B41FA5}">
                      <a16:colId xmlns:a16="http://schemas.microsoft.com/office/drawing/2014/main" val="20002"/>
                    </a:ext>
                  </a:extLst>
                </a:gridCol>
                <a:gridCol w="5394960">
                  <a:extLst>
                    <a:ext uri="{9D8B030D-6E8A-4147-A177-3AD203B41FA5}">
                      <a16:colId xmlns:a16="http://schemas.microsoft.com/office/drawing/2014/main" val="20003"/>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Objet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Table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Ce qu’il porte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reprise de l’évaluation ou la réattribution</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t_attribution_reprise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14</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Une reprise de l'évaluation après l'avis défavorable de la Commission sur le dossier de marché : le dossier refusé et son avis, le motif de la PRMP, et le rapport d'évaluation archivé (il cède la place au nouveau rapport).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déclaration sans suite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t_sans_suite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14</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Une demande de déclaration sans suite : les motifs de la PRMP, le dossier DSS soumis à la Commission, l'avis constaté (FAV ou DEF), puis la déclaration (décision de la PRMP) après un avis favorable.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L’acte de gestion du marché (avenant…)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t_acte_gestion</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13</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 acte de gestion contractuelle (dossier DGC) et le marché (dossier DDM au PV favorable) qu'il concerne.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L’attribution d’un lot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t_attribution</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41</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L'attribution d'un lot d'une procédure, après le rapport d'évaluation signé : son état, l'offre proposée, le dossier de marché (famille DDM) soumis au contrôle de la Commission et le projet de marché produit par le serveur (arbitrage Q1 du pilote).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lettre aux candidats</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t_attribution_lettre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10</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Une lettre produite à l'information des candidats : la lettre d'attribution, ou celle d'un candidat non retenu et ses motifs ; signée de la PRMP (signature électronique simple, Q9).</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demande d’explication</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t_attribution_explication</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12</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Une demande d'explication d'un candidat non retenu sur le rejet de son offre, et la réponse écrite de la PRMP (texte, fichier joint facultatif).</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recours</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t_attribution_recours</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16</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 recours reçu par la PRMP sur l'attribution d'un lot, et sa décision :</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pièce de l’attributaire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t_attribution_piece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 fichier de l'attribution d'un lot : rapport de mise au point, marché signé, justificatif d'enregistrement, pièce d'un recours ou de sa décision (déposés par la PRMP), pièce fiscale ou sociale de l'attributaire (art. 20-I : date de délivrance, vérification de la PRMP).</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bl>
          </a:graphicData>
        </a:graphic>
      </p:graphicFrame>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534</a:t>
            </a:r>
            <a:endParaRPr lang="en-US" sz="1100" dirty="0"/>
          </a:p>
        </p:txBody>
      </p:sp>
    </p:spTree>
  </p:cSld>
  <p:clrMapOvr>
    <a:masterClrMapping/>
  </p:clrMapOvr>
</p:sld>
</file>

<file path=ppt/slides/slide535.xml><?xml version="1.0" encoding="utf-8"?>
<p:sld xmlns:a="http://schemas.openxmlformats.org/drawingml/2006/main" xmlns:r="http://schemas.openxmlformats.org/officeDocument/2006/relationships" xmlns:p="http://schemas.openxmlformats.org/presentationml/2006/main">
  <p:cSld name="Slide 53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09 ATTRIBUER ET NOTIFIER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(1/6)</a:t>
            </a:r>
            <a:endParaRPr lang="en-US" sz="2600" dirty="0"/>
          </a:p>
        </p:txBody>
      </p:sp>
      <p:graphicFrame>
        <p:nvGraphicFramePr>
          <p:cNvPr id="536"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reprise de l’évaluation ou la réattribution  ·  t_attribution_reprise  ·  14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Lot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ID_DOSSIER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dossier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ID_OFFRE_PROPOSEE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offre proposée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(36)</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AVIS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Avis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RAPPORT_PRODUIT_LE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Rapport produit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RAPPORT_SIGNE_LE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Rapport signé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RAPPORT_SIGNATURES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Rapport signatures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TYPE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Type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(15) : REPRISE, REATTRIBUTION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5"/>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déclaration sans suite  ·  t_sans_suite  ·  14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DEMANDE_LE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Demande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DEMANDE_PAR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Demande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ID_DOSSIER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dossier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AVIS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Avis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AVIS_CONSTATE_LE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Avis constate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ALERTE_LE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Alerte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5"/>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535</a:t>
            </a:r>
            <a:endParaRPr lang="en-US" sz="1100" dirty="0"/>
          </a:p>
        </p:txBody>
      </p:sp>
    </p:spTree>
  </p:cSld>
  <p:clrMapOvr>
    <a:masterClrMapping/>
  </p:clrMapOvr>
</p:sld>
</file>

<file path=ppt/slides/slide536.xml><?xml version="1.0" encoding="utf-8"?>
<p:sld xmlns:a="http://schemas.openxmlformats.org/drawingml/2006/main" xmlns:r="http://schemas.openxmlformats.org/officeDocument/2006/relationships" xmlns:p="http://schemas.openxmlformats.org/presentationml/2006/main">
  <p:cSld name="Slide 53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09 ATTRIBUER ET NOTIFIER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(2/6)</a:t>
            </a:r>
            <a:endParaRPr lang="en-US" sz="2600" dirty="0"/>
          </a:p>
        </p:txBody>
      </p:sp>
      <p:graphicFrame>
        <p:nvGraphicFramePr>
          <p:cNvPr id="537"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RELANCE_LE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Relance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La relance à J+5 sans avis, une fois.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DECISION_REFERENCE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Décision référence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DECISION_DATE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Décision date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DECLARE_LE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Declare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DECLARE_PAR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Declare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L’acte de gestion du marché (avenant…)  ·  t_acte_gestion  ·  13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ID_ACTE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acte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ID_DOSSIER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dossier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Le dossier DGC de l'acte.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ID_DOSSIER_MARCHE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dossier marché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SOUS_TYPE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Sous type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RANG</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Rang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Rang de l'avenant (1, 2…) ; nul hors avenant.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MONTANT_HT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Montant HT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Montant HT de l'avenant (hausse positive, baisse négative) ; nul hors avenant ou sans incidence financière.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MONTANT_INITIAL_HT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Montant initial HT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CATEGORIE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Catégorie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(40)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DATE_RECEPTION_PROVISOIRE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réception provisoire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DATE_RECEPTION_DEFINITIVE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réception definitive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DATE_SOLDE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solde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CREE_LE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Créé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CREE_PAR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Créé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9"/>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L’attribution d’un lot  ·  t_attribution  ·  41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MONTANT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Montant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Le lot déclaré infructueux par la PRMP. */ public static final String INFRUCTUEUX = "INFRUCTUEUX"; @Id @Column(name = "ID_DMC", nullable = false) private Long idDmc; @Id @Column(name = "LOT", nullable = false) private Integer lot; @Column(name = "ETAT", nullable = false, length = 20) private…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MONTANT_TTC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Montant TTC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DELAI</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Délai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3"/>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536</a:t>
            </a:r>
            <a:endParaRPr lang="en-US" sz="1100" dirty="0"/>
          </a:p>
        </p:txBody>
      </p:sp>
    </p:spTree>
  </p:cSld>
  <p:clrMapOvr>
    <a:masterClrMapping/>
  </p:clrMapOvr>
</p:sld>
</file>

<file path=ppt/slides/slide537.xml><?xml version="1.0" encoding="utf-8"?>
<p:sld xmlns:a="http://schemas.openxmlformats.org/drawingml/2006/main" xmlns:r="http://schemas.openxmlformats.org/officeDocument/2006/relationships" xmlns:p="http://schemas.openxmlformats.org/presentationml/2006/main">
  <p:cSld name="Slide 53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09 ATTRIBUER ET NOTIFIER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(3/6)</a:t>
            </a:r>
            <a:endParaRPr lang="en-US" sz="2600" dirty="0"/>
          </a:p>
        </p:txBody>
      </p:sp>
      <p:graphicFrame>
        <p:nvGraphicFramePr>
          <p:cNvPr id="538"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INFORME_LE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Informe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INFORME_PAR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Informe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SIGNATAIRE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Signataire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Le nom de la PRMP qui a signé les lettres (signature électronique simple, Q9).</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DATE_AFFICHAGE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affichage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RAPPORT_MISE_AU_POINT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Rapport mise au point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MISE_AU_POINT_LE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Mise au point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MISE_AU_POINT_PAR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Mise au point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DATE_SIGNATURE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signature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SIGNE_LE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Signé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SIGNE_PAR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Signé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DATE_ENREGISTREMENT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enregistrement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REFERENCE_ENREGISTREMENT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Référence enregistrement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ENREGISTRE_LE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Enregistre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APPROBATION_AUTORITE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Approbation autorite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L'approbation du marché par l'autorité compétente (art. 54).</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APPROBATION_DATE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Approbation date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APPROUVE_LE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Approuve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APPROUVE_PAR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Approuve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DATE_NOTIFICATION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notification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NOTIFIE_LE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Notifie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NOTIFIE_PAR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Notifie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NOTIFICATION_RECUE_LE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Notification recue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La réception de la notification par l'attributaire : la date d'effet du marché (art. 54).</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RECEPTION_DECLAREE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Réception declaree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Vrai : réception déclarée par la PRMP ; faux : accusé de lecture de la plateforme.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DATE_PUBLICATION_AVIS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publication avis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AVIS_PUBLIE_LE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Avis publie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AVIS_PUBLIE_PAR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Avis publie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5"/>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537</a:t>
            </a:r>
            <a:endParaRPr lang="en-US" sz="1100" dirty="0"/>
          </a:p>
        </p:txBody>
      </p:sp>
    </p:spTree>
  </p:cSld>
  <p:clrMapOvr>
    <a:masterClrMapping/>
  </p:clrMapOvr>
</p:sld>
</file>

<file path=ppt/slides/slide538.xml><?xml version="1.0" encoding="utf-8"?>
<p:sld xmlns:a="http://schemas.openxmlformats.org/drawingml/2006/main" xmlns:r="http://schemas.openxmlformats.org/officeDocument/2006/relationships" xmlns:p="http://schemas.openxmlformats.org/presentationml/2006/main">
  <p:cSld name="Slide 53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09 ATTRIBUER ET NOTIFIER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(4/6)</a:t>
            </a:r>
            <a:endParaRPr lang="en-US" sz="2600" dirty="0"/>
          </a:p>
        </p:txBody>
      </p:sp>
      <p:graphicFrame>
        <p:nvGraphicFramePr>
          <p:cNvPr id="539"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RETIRE_LE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Retiré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RETIRE_PAR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Retiré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MOTIF_RETRAIT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 retrait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INFRUCTUEUX_LE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Infructueux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INFRUCTUEUX_PAR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Infructueux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MOTIF_INFRUCTUOSITE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 infructuosite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DECISION_REFERENCE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Décision référence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 : AU_CONTROLE, ATTRIBUE, INFORME, SIGNE, NOTIFIE, PUBLIE, RETIRE, INFRUCTUEUX</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DECISION_DATE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Décision date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SUITE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Suite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(12)</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ALERTE_DELAI_LE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Alerte délai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ALERTE_AVIS_LE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Alerte avis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Lot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3"/>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lettre aux candidats  ·  t_attribution_lettre  ·  10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Lot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ID_OFFRE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offre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(36)</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TYPE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Type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 : ATTRIBUTION, NON_RETENU</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PRODUITE_LE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Produite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ENVOYEE_LE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Envoyée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LUE_LE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Lue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3"/>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538</a:t>
            </a:r>
            <a:endParaRPr lang="en-US" sz="1100" dirty="0"/>
          </a:p>
        </p:txBody>
      </p:sp>
    </p:spTree>
  </p:cSld>
  <p:clrMapOvr>
    <a:masterClrMapping/>
  </p:clrMapOvr>
</p:sld>
</file>

<file path=ppt/slides/slide539.xml><?xml version="1.0" encoding="utf-8"?>
<p:sld xmlns:a="http://schemas.openxmlformats.org/drawingml/2006/main" xmlns:r="http://schemas.openxmlformats.org/officeDocument/2006/relationships" xmlns:p="http://schemas.openxmlformats.org/presentationml/2006/main">
  <p:cSld name="Slide 53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09 ATTRIBUER ET NOTIFIER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(5/6)</a:t>
            </a:r>
            <a:endParaRPr lang="en-US" sz="2600" dirty="0"/>
          </a:p>
        </p:txBody>
      </p:sp>
      <p:graphicFrame>
        <p:nvGraphicFramePr>
          <p:cNvPr id="540"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ARCHIVE_LE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Archive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L'archivage du cycle retiré : nul tant que la pièce (le recours, la lettre) vaut pour le lot en cours.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demande d’explication  ·  t_attribution_explication  ·  12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Lot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ID_OFFRE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offre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(36)</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QUESTION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Question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DEMANDEE_LE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Demandee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REPONSE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Réponse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REPONSE_NOM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Réponse nom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(255)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REPONSE_FORMAT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Réponse format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REPONSE_TAILLE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Réponse taille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REPONDUE_LE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Repondu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REPONDUE_PAR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Repondue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4"/>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recours  ·  t_attribution_recours  ·  16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Lot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TYPE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Type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 : REEXAMEN, REVISION_ARMP, REFERE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DATE_RECEPTION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réception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REQUERANT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Requerant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(255)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OBJET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Objet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DECLARE_LE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Declare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DECLARE_PAR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Declare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4"/>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539</a:t>
            </a:r>
            <a:endParaRPr lang="en-US" sz="1100" dirty="0"/>
          </a:p>
        </p:txBody>
      </p:sp>
    </p:spTree>
  </p:cSld>
  <p:clrMapOvr>
    <a:masterClrMapping/>
  </p:clrMapOvr>
</p:sld>
</file>

<file path=ppt/slides/slide540.xml><?xml version="1.0" encoding="utf-8"?>
<p:sld xmlns:a="http://schemas.openxmlformats.org/drawingml/2006/main" xmlns:r="http://schemas.openxmlformats.org/officeDocument/2006/relationships" xmlns:p="http://schemas.openxmlformats.org/presentationml/2006/main">
  <p:cSld name="Slide 54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09 ATTRIBUER ET NOTIFIER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(6/6)</a:t>
            </a:r>
            <a:endParaRPr lang="en-US" sz="2600" dirty="0"/>
          </a:p>
        </p:txBody>
      </p:sp>
      <p:graphicFrame>
        <p:nvGraphicFramePr>
          <p:cNvPr id="541"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DATE_DECISION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décision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ISSUE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Issue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 : REEXAMEN, REVISION_ARMP, REFERE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MOTIF_DECISION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 décision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DECIDE_LE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Décidé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DECIDE_PAR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Décidé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ALERTE_LE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Alerte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L'alerte de l'échéance d'un réexamen, déjà émise à la PRMP.</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ARCHIVE_LE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Archive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L'archivage du cycle retiré : nul tant que la pièce (le recours, la lettre) vaut pour le lot en cours.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pièce de l’attributaire  ·  t_attribution_piece  ·  1 information</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ARCHIVE_LE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Archive 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L'original signé de l'acte d'engagement de l'attributaire ; dateDelivrance = sa date de remise. */ public static final String ACTE_ENGAGEMENT_ORIGINAL = "ACTE_ENGAGEMENT_ORIGINAL"; @Id…</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540</a:t>
            </a:r>
            <a:endParaRPr lang="en-US" sz="1100" dirty="0"/>
          </a:p>
        </p:txBody>
      </p:sp>
    </p:spTree>
  </p:cSld>
  <p:clrMapOvr>
    <a:masterClrMapping/>
  </p:clrMapOvr>
</p:sld>
</file>

<file path=ppt/slides/slide541.xml><?xml version="1.0" encoding="utf-8"?>
<p:sld xmlns:a="http://schemas.openxmlformats.org/drawingml/2006/main" xmlns:r="http://schemas.openxmlformats.org/officeDocument/2006/relationships" xmlns:p="http://schemas.openxmlformats.org/presentationml/2006/main">
  <p:cSld name="Slide 54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10 INTÉRIM ET MANDATS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données de l’étape</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Chaque objet que cette étape crée ou modifie, avec la table du serveur qui le conserve et le nombre de ses informations.</a:t>
            </a:r>
            <a:endParaRPr lang="en-US" sz="1300" dirty="0"/>
          </a:p>
        </p:txBody>
      </p:sp>
      <p:graphicFrame>
        <p:nvGraphicFramePr>
          <p:cNvPr id="542" name="Table 0"/>
          <p:cNvGraphicFramePr>
            <a:graphicFrameLocks noGrp="1"/>
          </p:cNvGraphicFramePr>
          <p:nvPr>
            <p:extLst>
              <p:ext uri="{D42A27DB-BD31-4B8C-83A1-F6EECF244321}">
                <p14:modId xmlns:p14="http://schemas.microsoft.com/office/powerpoint/2010/main" val="1579011935"/>
              </p:ext>
            </p:extLst>
          </p:nvPr>
        </p:nvGraphicFramePr>
        <p:xfrm>
          <a:off x="593324" y="1651000"/>
          <a:ext cx="11430000" cy="914400"/>
        </p:xfrm>
        <a:graphic>
          <a:graphicData uri="http://schemas.openxmlformats.org/drawingml/2006/table">
            <a:tbl>
              <a:tblPr/>
              <a:tblGrid>
                <a:gridCol w="2926080">
                  <a:extLst>
                    <a:ext uri="{9D8B030D-6E8A-4147-A177-3AD203B41FA5}">
                      <a16:colId xmlns:a16="http://schemas.microsoft.com/office/drawing/2014/main" val="20000"/>
                    </a:ext>
                  </a:extLst>
                </a:gridCol>
                <a:gridCol w="2103120">
                  <a:extLst>
                    <a:ext uri="{9D8B030D-6E8A-4147-A177-3AD203B41FA5}">
                      <a16:colId xmlns:a16="http://schemas.microsoft.com/office/drawing/2014/main" val="20001"/>
                    </a:ext>
                  </a:extLst>
                </a:gridCol>
                <a:gridCol w="1005840">
                  <a:extLst>
                    <a:ext uri="{9D8B030D-6E8A-4147-A177-3AD203B41FA5}">
                      <a16:colId xmlns:a16="http://schemas.microsoft.com/office/drawing/2014/main" val="20002"/>
                    </a:ext>
                  </a:extLst>
                </a:gridCol>
                <a:gridCol w="5394960">
                  <a:extLst>
                    <a:ext uri="{9D8B030D-6E8A-4147-A177-3AD203B41FA5}">
                      <a16:colId xmlns:a16="http://schemas.microsoft.com/office/drawing/2014/main" val="20003"/>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Objet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Table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Ce qu’il porte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L’intérim</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t_interim</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20</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 intérim désigné :</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pièce de l’intérim</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t_interim_piece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La note de service ou la décision qui désigne l'intérimaire, obligatoire (arbitrage Q4 du pilote, 2026-09-21).</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mandat d’une PRMP</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t_mandat</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10</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Règle ajoutée (spec « Mandats PRMP ») — mandat d'une PRMP : l'acte de nomination qui l'habilite à traiter, borné dans le temps (3 ans).</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bl>
          </a:graphicData>
        </a:graphic>
      </p:graphicFrame>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541</a:t>
            </a:r>
            <a:endParaRPr lang="en-US" sz="1100" dirty="0"/>
          </a:p>
        </p:txBody>
      </p:sp>
    </p:spTree>
  </p:cSld>
  <p:clrMapOvr>
    <a:masterClrMapping/>
  </p:clrMapOvr>
</p:sld>
</file>

<file path=ppt/slides/slide542.xml><?xml version="1.0" encoding="utf-8"?>
<p:sld xmlns:a="http://schemas.openxmlformats.org/drawingml/2006/main" xmlns:r="http://schemas.openxmlformats.org/officeDocument/2006/relationships" xmlns:p="http://schemas.openxmlformats.org/presentationml/2006/main">
  <p:cSld name="Slide 54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10 INTÉRIM ET MANDATS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(1/2)</a:t>
            </a:r>
            <a:endParaRPr lang="en-US" sz="2600" dirty="0"/>
          </a:p>
        </p:txBody>
      </p:sp>
      <p:graphicFrame>
        <p:nvGraphicFramePr>
          <p:cNvPr id="543"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L’intérim  ·  t_interim  ·  20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IM_TITULAIRE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 titulaire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(LONGUEUR_IM)</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Longueur d'une référence d'acteur (matricule), alignée sur V29/V31. */ public static final int LONGUEUR_IM = 10; @Id @GeneratedValue(strategy = GenerationType.IDENTITY) @Column(name = "ID_INTERIM", nullable = false) private Integer idInterim; /** Le contrôleur absent.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NOM_TITULAIRE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 titulaire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 du titulaire figé à la désignation (« NOM Prénoms »).</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PROFIL_TITULAIRE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Profil titulaire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Profil du titulaire à la désignation (PRESIDENT ou CHEF_COMMISSION) : celui que l'intérimaire exerce.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ID_LOCALITE_TITULAIRE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localité titulaire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Localité du titulaire à la désignation ; null pour le Président (toutes localités).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IM_INTERIMAIRE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 interimaire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(LONGUEUR_IM)</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Le désigné (≠ titulaire, contrainte ck_interim_personnes).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NOM_INTERIMAIRE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 interimaire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PROFIL_INTERIMAIRE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Profil interimaire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ID_LOCALITE_INTERIMAIRE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localité interimaire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DATE_DEBUT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début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Période inclusive.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DATE_FIN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fin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Borne incluse ; nulle seulement pour VACANCE_POSTE.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 : CONGE, MISSION, MALADIE, VACANCE_POSTE, AUTRE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Voir cnm.prs.enums.MotifInterim.</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REFERENCE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Référence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Note de service ou décision de désignation.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PIECE_NOM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Pièce nom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(255)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 du fichier de la pièce (le contenu est dans InterimPiece).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PIECE_TAILLE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Pièce taille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DESIGNE_PAR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Designe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(LONGUEUR_IM)</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Qui a créé : le titulaire lui-même, ou l'Administrateur (repli).</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NOM_DESIGNE_PAR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 designe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DATE_DESIGNATION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désignation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DATE_REVOCATION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revocation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Fin avant terme, à effet à cette date ; null sinon.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MOTIF_REVOCATION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 revocation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(255)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REVOQUE_PAR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Révoqué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(LONGUEUR_IM)</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1"/>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542</a:t>
            </a:r>
            <a:endParaRPr lang="en-US" sz="1100" dirty="0"/>
          </a:p>
        </p:txBody>
      </p:sp>
    </p:spTree>
  </p:cSld>
  <p:clrMapOvr>
    <a:masterClrMapping/>
  </p:clrMapOvr>
</p:sld>
</file>

<file path=ppt/slides/slide543.xml><?xml version="1.0" encoding="utf-8"?>
<p:sld xmlns:a="http://schemas.openxmlformats.org/drawingml/2006/main" xmlns:r="http://schemas.openxmlformats.org/officeDocument/2006/relationships" xmlns:p="http://schemas.openxmlformats.org/presentationml/2006/main">
  <p:cSld name="Slide 54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10 INTÉRIM ET MANDATS</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(2/2)</a:t>
            </a:r>
            <a:endParaRPr lang="en-US" sz="2600" dirty="0"/>
          </a:p>
        </p:txBody>
      </p:sp>
      <p:graphicFrame>
        <p:nvGraphicFramePr>
          <p:cNvPr id="544"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pièce de l’intérim  ·  t_interim_piece  ·  1 information</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ID_INTERIM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intérim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L'intérim propriétaire (une pièce par intérim, clé partagée).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2"/>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mandat d’une PRMP  ·  t_mandat  ·  10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ID_MANDAT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mandat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ID_PRMP</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PRMP</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Titulaire du mandat (FK t_prmp).</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TITULAIRE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Titulaire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 du titulaire figé à la nomination (l'historique reste lisible même si la fiche change).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DATE_DEBUT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début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Prise de fonction (date d'effet de l'arrêté).</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DATE_FIN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fin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Fin de mandat — par défaut dateDebut + 3 ans - 1 jour (durée légale de 3 ans).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REF_ARRETE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Référence arrêté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Référence de l'arrêté de nomination — obligatoire et propre à ce mandat.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STATUT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Statut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 : ACTIF, EN_TRANSITION, ACHEVE, ABROGE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Voir cnm.prs.enums.StatutMandat : dérivé des dates, sauf ABROGE.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NUMERO_MANDAT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Numéro mandat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1 = mandat initial, 2 = reconduction (unique).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DATE_ABROGATION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abrogation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Renseignés uniquement en cas d'abrogation avant terme.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MOTIF_ABROGATION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 abrogation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(255)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3"/>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543</a:t>
            </a:r>
            <a:endParaRPr lang="en-US" sz="1100" dirty="0"/>
          </a:p>
        </p:txBody>
      </p:sp>
    </p:spTree>
  </p:cSld>
  <p:clrMapOvr>
    <a:masterClrMapping/>
  </p:clrMapOvr>
</p:sld>
</file>

<file path=ppt/slides/slide544.xml><?xml version="1.0" encoding="utf-8"?>
<p:sld xmlns:a="http://schemas.openxmlformats.org/drawingml/2006/main" xmlns:r="http://schemas.openxmlformats.org/officeDocument/2006/relationships" xmlns:p="http://schemas.openxmlformats.org/presentationml/2006/main">
  <p:cSld name="Slide 54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11 ADMINISTRER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données de l’étape (1/3)</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Chaque objet que cette étape crée ou modifie, avec la table du serveur qui le conserve et le nombre de ses informations.</a:t>
            </a:r>
            <a:endParaRPr lang="en-US" sz="1300" dirty="0"/>
          </a:p>
        </p:txBody>
      </p:sp>
      <p:graphicFrame>
        <p:nvGraphicFramePr>
          <p:cNvPr id="545" name="Table 0"/>
          <p:cNvGraphicFramePr>
            <a:graphicFrameLocks noGrp="1"/>
          </p:cNvGraphicFramePr>
          <p:nvPr>
            <p:extLst>
              <p:ext uri="{D42A27DB-BD31-4B8C-83A1-F6EECF244321}">
                <p14:modId xmlns:p14="http://schemas.microsoft.com/office/powerpoint/2010/main" val="1579011935"/>
              </p:ext>
            </p:extLst>
          </p:nvPr>
        </p:nvGraphicFramePr>
        <p:xfrm>
          <a:off x="593324" y="1651000"/>
          <a:ext cx="11430000" cy="914400"/>
        </p:xfrm>
        <a:graphic>
          <a:graphicData uri="http://schemas.openxmlformats.org/drawingml/2006/table">
            <a:tbl>
              <a:tblPr/>
              <a:tblGrid>
                <a:gridCol w="2926080">
                  <a:extLst>
                    <a:ext uri="{9D8B030D-6E8A-4147-A177-3AD203B41FA5}">
                      <a16:colId xmlns:a16="http://schemas.microsoft.com/office/drawing/2014/main" val="20000"/>
                    </a:ext>
                  </a:extLst>
                </a:gridCol>
                <a:gridCol w="2103120">
                  <a:extLst>
                    <a:ext uri="{9D8B030D-6E8A-4147-A177-3AD203B41FA5}">
                      <a16:colId xmlns:a16="http://schemas.microsoft.com/office/drawing/2014/main" val="20001"/>
                    </a:ext>
                  </a:extLst>
                </a:gridCol>
                <a:gridCol w="1005840">
                  <a:extLst>
                    <a:ext uri="{9D8B030D-6E8A-4147-A177-3AD203B41FA5}">
                      <a16:colId xmlns:a16="http://schemas.microsoft.com/office/drawing/2014/main" val="20002"/>
                    </a:ext>
                  </a:extLst>
                </a:gridCol>
                <a:gridCol w="5394960">
                  <a:extLst>
                    <a:ext uri="{9D8B030D-6E8A-4147-A177-3AD203B41FA5}">
                      <a16:colId xmlns:a16="http://schemas.microsoft.com/office/drawing/2014/main" val="20003"/>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Objet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Table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Ce qu’il porte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délai légal paramétré</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t_delai_parametre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7</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 délai de publicité administrable (hors des neuf délais de la loi, qui sont en code :</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contrôleur (profils de la Commission)</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tr_controleur</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10</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PRMP</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t_prmp</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10</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rattachement d’une PRMP à une entité</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t_prmp_entite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5</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L’UGPM</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t_ugpm</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10</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Unité de Gestion de la Passation des Marchés (UGPM) — acteur rattaché à exactement une PRMP de tutelle (ID_PRMP_TUTELLE → t_prmp).</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profil</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tr_profile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2</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délégation entre profils</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t_delegation_profil</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4</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délai standard d’une étape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tr_delai_standard</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3</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point de contrôle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tr_points_ctrl</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10</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seuil des marchés publics</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tr_seuil_marche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11</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Une valeur du référentiel de seuils (tr_seuil_marche).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règle d’alerte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t_regle_alerte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5</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règle du pré-contrôle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t_regle_anomalie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7</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bl>
          </a:graphicData>
        </a:graphic>
      </p:graphicFrame>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544</a:t>
            </a:r>
            <a:endParaRPr lang="en-US" sz="1100" dirty="0"/>
          </a:p>
        </p:txBody>
      </p:sp>
    </p:spTree>
  </p:cSld>
  <p:clrMapOvr>
    <a:masterClrMapping/>
  </p:clrMapOvr>
</p:sld>
</file>

<file path=ppt/slides/slide545.xml><?xml version="1.0" encoding="utf-8"?>
<p:sld xmlns:a="http://schemas.openxmlformats.org/drawingml/2006/main" xmlns:r="http://schemas.openxmlformats.org/officeDocument/2006/relationships" xmlns:p="http://schemas.openxmlformats.org/presentationml/2006/main">
  <p:cSld name="Slide 54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11 ADMINISTRER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données de l’étape (2/3)</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Chaque objet que cette étape crée ou modifie, avec la table du serveur qui le conserve et le nombre de ses informations.</a:t>
            </a:r>
            <a:endParaRPr lang="en-US" sz="1300" dirty="0"/>
          </a:p>
        </p:txBody>
      </p:sp>
      <p:graphicFrame>
        <p:nvGraphicFramePr>
          <p:cNvPr id="546" name="Table 0"/>
          <p:cNvGraphicFramePr>
            <a:graphicFrameLocks noGrp="1"/>
          </p:cNvGraphicFramePr>
          <p:nvPr>
            <p:extLst>
              <p:ext uri="{D42A27DB-BD31-4B8C-83A1-F6EECF244321}">
                <p14:modId xmlns:p14="http://schemas.microsoft.com/office/powerpoint/2010/main" val="1579011935"/>
              </p:ext>
            </p:extLst>
          </p:nvPr>
        </p:nvGraphicFramePr>
        <p:xfrm>
          <a:off x="593324" y="1651000"/>
          <a:ext cx="11430000" cy="914400"/>
        </p:xfrm>
        <a:graphic>
          <a:graphicData uri="http://schemas.openxmlformats.org/drawingml/2006/table">
            <a:tbl>
              <a:tblPr/>
              <a:tblGrid>
                <a:gridCol w="2926080">
                  <a:extLst>
                    <a:ext uri="{9D8B030D-6E8A-4147-A177-3AD203B41FA5}">
                      <a16:colId xmlns:a16="http://schemas.microsoft.com/office/drawing/2014/main" val="20000"/>
                    </a:ext>
                  </a:extLst>
                </a:gridCol>
                <a:gridCol w="2103120">
                  <a:extLst>
                    <a:ext uri="{9D8B030D-6E8A-4147-A177-3AD203B41FA5}">
                      <a16:colId xmlns:a16="http://schemas.microsoft.com/office/drawing/2014/main" val="20001"/>
                    </a:ext>
                  </a:extLst>
                </a:gridCol>
                <a:gridCol w="1005840">
                  <a:extLst>
                    <a:ext uri="{9D8B030D-6E8A-4147-A177-3AD203B41FA5}">
                      <a16:colId xmlns:a16="http://schemas.microsoft.com/office/drawing/2014/main" val="20002"/>
                    </a:ext>
                  </a:extLst>
                </a:gridCol>
                <a:gridCol w="5394960">
                  <a:extLst>
                    <a:ext uri="{9D8B030D-6E8A-4147-A177-3AD203B41FA5}">
                      <a16:colId xmlns:a16="http://schemas.microsoft.com/office/drawing/2014/main" val="20003"/>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Objet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Table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Ce qu’il porte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paramètre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t_parametre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4</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Paramètre système général — clé/valeur éditable sans redéploiement. Introduit pour l'interrupteur global des actualités (ACTUALITES_ACTIVES, spec du 2026-08-18) ; conçu pour servir au-delà de ce besoin.</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L’entité contractante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tr_entite_contract</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9</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catégorie d’entité</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tr_categorie_entite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2</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Catégorie d'entité contractante.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ministère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tr_ministere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3</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L’organigramme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t_organigramme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6</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localité</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tr_localite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nature de marché</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tr_nature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4</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mode de passation</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tr_mode_passation</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12</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type de DMC</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t_type_dmc</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4</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Référentiel administrable des types de dossier de mise en concurrence (DMC) : DAO (Dossier d'Appel d'Offres), DC (Dossier de Consultation), BC (Bon de Commande)… Liste ouverte, complétable en administration.</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type de dossier</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tr_type_dossier</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2</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sous-type de dossier</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tr_sous_type_dossier</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5</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type de pièce jointe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t_type_piece_jointe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6</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bl>
          </a:graphicData>
        </a:graphic>
      </p:graphicFrame>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545</a:t>
            </a:r>
            <a:endParaRPr lang="en-US" sz="1100" dirty="0"/>
          </a:p>
        </p:txBody>
      </p:sp>
    </p:spTree>
  </p:cSld>
  <p:clrMapOvr>
    <a:masterClrMapping/>
  </p:clrMapOvr>
</p:sld>
</file>

<file path=ppt/slides/slide546.xml><?xml version="1.0" encoding="utf-8"?>
<p:sld xmlns:a="http://schemas.openxmlformats.org/drawingml/2006/main" xmlns:r="http://schemas.openxmlformats.org/officeDocument/2006/relationships" xmlns:p="http://schemas.openxmlformats.org/presentationml/2006/main">
  <p:cSld name="Slide 54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11 ADMINISTRER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données de l’étape (3/3)</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Chaque objet que cette étape crée ou modifie, avec la table du serveur qui le conserve et le nombre de ses informations.</a:t>
            </a:r>
            <a:endParaRPr lang="en-US" sz="1300" dirty="0"/>
          </a:p>
        </p:txBody>
      </p:sp>
      <p:graphicFrame>
        <p:nvGraphicFramePr>
          <p:cNvPr id="547" name="Table 0"/>
          <p:cNvGraphicFramePr>
            <a:graphicFrameLocks noGrp="1"/>
          </p:cNvGraphicFramePr>
          <p:nvPr>
            <p:extLst>
              <p:ext uri="{D42A27DB-BD31-4B8C-83A1-F6EECF244321}">
                <p14:modId xmlns:p14="http://schemas.microsoft.com/office/powerpoint/2010/main" val="1579011935"/>
              </p:ext>
            </p:extLst>
          </p:nvPr>
        </p:nvGraphicFramePr>
        <p:xfrm>
          <a:off x="593324" y="1651000"/>
          <a:ext cx="11430000" cy="914400"/>
        </p:xfrm>
        <a:graphic>
          <a:graphicData uri="http://schemas.openxmlformats.org/drawingml/2006/table">
            <a:tbl>
              <a:tblPr/>
              <a:tblGrid>
                <a:gridCol w="2926080">
                  <a:extLst>
                    <a:ext uri="{9D8B030D-6E8A-4147-A177-3AD203B41FA5}">
                      <a16:colId xmlns:a16="http://schemas.microsoft.com/office/drawing/2014/main" val="20000"/>
                    </a:ext>
                  </a:extLst>
                </a:gridCol>
                <a:gridCol w="2103120">
                  <a:extLst>
                    <a:ext uri="{9D8B030D-6E8A-4147-A177-3AD203B41FA5}">
                      <a16:colId xmlns:a16="http://schemas.microsoft.com/office/drawing/2014/main" val="20001"/>
                    </a:ext>
                  </a:extLst>
                </a:gridCol>
                <a:gridCol w="1005840">
                  <a:extLst>
                    <a:ext uri="{9D8B030D-6E8A-4147-A177-3AD203B41FA5}">
                      <a16:colId xmlns:a16="http://schemas.microsoft.com/office/drawing/2014/main" val="20002"/>
                    </a:ext>
                  </a:extLst>
                </a:gridCol>
                <a:gridCol w="5394960">
                  <a:extLst>
                    <a:ext uri="{9D8B030D-6E8A-4147-A177-3AD203B41FA5}">
                      <a16:colId xmlns:a16="http://schemas.microsoft.com/office/drawing/2014/main" val="20003"/>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Objet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Table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Ce qu’il porte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statut de marché</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tr_statut_marche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4</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Table tr_statut_marche. t_marche.STATUT stockait un texte libre : en pratique toujours PREVU, mais rien ne l'imposait ni ne permettait à l'Administrateur d'en ajouter.</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L’avis</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tr_avis</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2</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compte d’imputation</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tr_compte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3</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catégorie de compte</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tr_cat_compte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2</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code SOA</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tr_soa_beneficiaire</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2</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journal (audit)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t_audit_log</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11</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bl>
          </a:graphicData>
        </a:graphic>
      </p:graphicFrame>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546</a:t>
            </a:r>
            <a:endParaRPr lang="en-US" sz="1100" dirty="0"/>
          </a:p>
        </p:txBody>
      </p:sp>
    </p:spTree>
  </p:cSld>
  <p:clrMapOvr>
    <a:masterClrMapping/>
  </p:clrMapOvr>
</p:sld>
</file>

<file path=ppt/slides/slide547.xml><?xml version="1.0" encoding="utf-8"?>
<p:sld xmlns:a="http://schemas.openxmlformats.org/drawingml/2006/main" xmlns:r="http://schemas.openxmlformats.org/officeDocument/2006/relationships" xmlns:p="http://schemas.openxmlformats.org/presentationml/2006/main">
  <p:cSld name="Slide 54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11 ADMINISTRER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(1/9)</a:t>
            </a:r>
            <a:endParaRPr lang="en-US" sz="2600" dirty="0"/>
          </a:p>
        </p:txBody>
      </p:sp>
      <p:graphicFrame>
        <p:nvGraphicFramePr>
          <p:cNvPr id="548"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délai légal paramétré  ·  t_delai_parametre  ·  7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CODE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Code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(40)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VALEUR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Valeur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UNITE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Unité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TEXTE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Texte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ACTIF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Actif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DATE_MAJ</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mise à jour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IM_ACTEUR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 acteur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8"/>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contrôleur (profils de la Commission)  ·  tr_controleur  ·  10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IM_CONTROLEUR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 contrôleur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(7)</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NOM_CONT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 contrôleur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PRENOMS_CONT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Prénoms contrôleur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EMAIL_CONT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Adresse électronique contrôleur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TEL_CONT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Téléphone contrôleur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ID_PROFILE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profile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ID_LOCALITE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localité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Null = toutes localités (cas Président).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IM_RATTACHE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 rattache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(7)</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Contrôleur rattaché à celui-ci : un Vérificateur si le porteur est Membre, un Assistant si le porteur est Vérificateur.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ID_SUPERIEUR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superieur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(7)</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TRANSVERSAL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Transversal</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9"/>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PRMP  ·  t_prmp  ·  10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ID_PRMP</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PRMP</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 matricule de la PRMP (unifié sur le matricule, comme les contrôleurs).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NOM_PRMP</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 PRMP</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PRENOMS_PRMP</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Prénoms PRMP</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ARRETE_NOMIN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Arrêté nomin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DATE_NOMIN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nomin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5"/>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547</a:t>
            </a:r>
            <a:endParaRPr lang="en-US" sz="1100" dirty="0"/>
          </a:p>
        </p:txBody>
      </p:sp>
    </p:spTree>
  </p:cSld>
  <p:clrMapOvr>
    <a:masterClrMapping/>
  </p:clrMapOvr>
</p:sld>
</file>

<file path=ppt/slides/slide548.xml><?xml version="1.0" encoding="utf-8"?>
<p:sld xmlns:a="http://schemas.openxmlformats.org/drawingml/2006/main" xmlns:r="http://schemas.openxmlformats.org/officeDocument/2006/relationships" xmlns:p="http://schemas.openxmlformats.org/presentationml/2006/main">
  <p:cSld name="Slide 54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11 ADMINISTRER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(2/9)</a:t>
            </a:r>
            <a:endParaRPr lang="en-US" sz="2600" dirty="0"/>
          </a:p>
        </p:txBody>
      </p:sp>
      <p:graphicFrame>
        <p:nvGraphicFramePr>
          <p:cNvPr id="549"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CIN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CIN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(12)</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DATE_CIN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CIN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LIEU_CIN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Lieu CIN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EMAIL_PRMP</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Adresse électronique PRMP</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TEL_PRMP</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Téléphone PRMP</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rattachement d’une PRMP à une entité  ·  t_prmp_entite  ·  5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ID_PRMP_ENTITE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PRMP entité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ID_PRMP</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PRMP</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ID_ENTITE_CONTRACT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entité contractante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DATE_AFFECTATION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affectation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ACTIF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Actif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L’UGPM  ·  t_ugpm  ·  10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ID_UGPM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UGPM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 matricule de l'UGPM (unifié sur le matricule, comme les contrôleurs).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LIBELLE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Libellé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ID_PRMP_TUTELLE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PRMP tutelle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PRMP de tutelle (= matricule de la PRMP).</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NOM_UGPM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 UGPM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PRENOMS_UGPM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Prénoms UGPM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CIN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CIN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(12)</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DATE_CIN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CIN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LIEU_CIN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Lieu CIN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EMAIL_UGPM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Adresse électronique UGPM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TEL_UGPM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Téléphone UGPM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2"/>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profil  ·  tr_profile  ·  2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2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ID_PROFILE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profile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PROFILE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Profile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Libellé du profil (ex. « Chef de commission »).</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5"/>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548</a:t>
            </a:r>
            <a:endParaRPr lang="en-US" sz="1100" dirty="0"/>
          </a:p>
        </p:txBody>
      </p:sp>
    </p:spTree>
  </p:cSld>
  <p:clrMapOvr>
    <a:masterClrMapping/>
  </p:clrMapOvr>
</p:sld>
</file>

<file path=ppt/slides/slide549.xml><?xml version="1.0" encoding="utf-8"?>
<p:sld xmlns:a="http://schemas.openxmlformats.org/drawingml/2006/main" xmlns:r="http://schemas.openxmlformats.org/officeDocument/2006/relationships" xmlns:p="http://schemas.openxmlformats.org/presentationml/2006/main">
  <p:cSld name="Slide 54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11 ADMINISTRER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(3/9)</a:t>
            </a:r>
            <a:endParaRPr lang="en-US" sz="2600" dirty="0"/>
          </a:p>
        </p:txBody>
      </p:sp>
      <p:graphicFrame>
        <p:nvGraphicFramePr>
          <p:cNvPr id="550"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délégation entre profils  ·  t_delegation_profil  ·  4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ID_DELEGATION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délégation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ID_PROFILE_DELEGANT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profile delegant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ID_PROFILE_DELEGUE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profile délégué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ACTIF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Actif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5"/>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délai standard d’une étape  ·  tr_delai_standard  ·  3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ETAPE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Étape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 : RECEPTION, DISPATCH, EXAMEN, VISA, COSIGNATURE, RECTIFICATION_PRMP, VERIFICATION, TRANSMISSION_SIGMP, ARCHIVAGE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Valeur de cnm.prs.enums.EtapeCircuit (PK 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DELAI_HEURES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Délai heures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HEURES ouvrées (8 h = 1 jour ouvré), ≥ 1 (400 sinon) ; repli serveur à 8 h si l'étape manque.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LIBELLE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Libellé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Libellé d'affichage, servi par le backend.</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point de contrôle  ·  tr_points_ctrl  ·  10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ID_POINT_CTRL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point contrôle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LIBEL_POINT_CTRL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Libel point contrôle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DECRIPT_POINT_CTRL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Decript point contrôle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ORDRE_POINT_CTRL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Ordre point contrôle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OBLIGATOIRE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Obligatoire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ID_TYPE_DOSSIER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type dossier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Famille (DDP/DMC/DDM).</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ID_SOUS_TYPE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sous type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Règle ajoutée — sous-type ciblé (FK tr_sous_type_dossier, facultatif) : null = point commun à toute la famille (idTypeDossier) ; renseigné = point spécifique à ce sous-type (ex. contrôle AGPM du seul PPM-AGPM).</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PORTEE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Portee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Liste : LIGNE, DOSSIER, FICHE, AGPM, SUPPRESSION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Portée du point : PorteePointCtrlLIGNE (évalué par ligne de marché) ou PorteePointCtrlDOSSIER (inter-lignes, ex. fractionnement illicite).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CATEGORIE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Catégorie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(40)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La condition du point : catégorie de la fiche (nul : toutes).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FORME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Forme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CONTRAT_CADRE, AUTRE (toute autre forme) ; nul : toutes formes.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0"/>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549</a:t>
            </a:r>
            <a:endParaRPr lang="en-US" sz="1100" dirty="0"/>
          </a:p>
        </p:txBody>
      </p:sp>
    </p:spTree>
  </p:cSld>
  <p:clrMapOvr>
    <a:masterClrMapping/>
  </p:clrMapOvr>
</p:sld>
</file>

<file path=ppt/slides/slide550.xml><?xml version="1.0" encoding="utf-8"?>
<p:sld xmlns:a="http://schemas.openxmlformats.org/drawingml/2006/main" xmlns:r="http://schemas.openxmlformats.org/officeDocument/2006/relationships" xmlns:p="http://schemas.openxmlformats.org/presentationml/2006/main">
  <p:cSld name="Slide 550">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11 ADMINISTRER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(4/9)</a:t>
            </a:r>
            <a:endParaRPr lang="en-US" sz="2600" dirty="0"/>
          </a:p>
        </p:txBody>
      </p:sp>
      <p:graphicFrame>
        <p:nvGraphicFramePr>
          <p:cNvPr id="551"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seuil des marchés publics  ·  tr_seuil_marche  ·  11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ID_SEUIL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seuil</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TYPE_SEUIL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Type seuil</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Liste : CONTROLE_A_PRIORI, APPEL_OFFRES_OUVERT, CONSULTATION, MANIFESTATION_INTERET_PRESSE, MANIFESTATION_INTERET_AFFICHAGE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CATEGORIE_SEUIL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Catégorie seuil</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Liste : ROUTES_CONSTRUCTION, ENTRETIEN_ROUTIER, TRAVAUX_NON_ROUTIERS, FOURNITURES_SERVICES, PRESTATIONS_INTELLECTUELLES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BAREME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Bareme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Liste : CENTRAL, DECONCENTRE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MONTANT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Montant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Montant hors taxes, en ariary, à partir duquel la conséquence du typeSeuil s'applique.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DELAI_MIN_JOURS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Délai min jours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Délai minimal de publicité attaché au franchissement, quand le texte en attache un (prestations intellectuelles : 30 jours par voie de presse, 10 jours par affichage). null sinon.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DATE_EFFET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effet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DATE_FIN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fin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Null = valeur en vigueur. Une valeur remplacée est bornée, jamais effacée.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BASE_LEGALE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Base legale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qui fixe la valeur — cité tel quel dans le signalement, pour qu'il soit opposable.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IM_ACTEUR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 acteur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Acteur de la dernière saisie administrative (null pour les valeurs semées par V32).</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DATE_MAJ</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mise à jour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2"/>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règle d’alerte  ·  t_regle_alerte  ·  5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ID_REGLE_ALERTE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règle alerte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TYPE_JALON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Type jalon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JOURS_AVANT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Jours avant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DESTINATAIRE_PROFIL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Destinataire profil</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ACTIF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Actif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8"/>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550</a:t>
            </a:r>
            <a:endParaRPr lang="en-US" sz="1100" dirty="0"/>
          </a:p>
        </p:txBody>
      </p:sp>
    </p:spTree>
  </p:cSld>
  <p:clrMapOvr>
    <a:masterClrMapping/>
  </p:clrMapOvr>
</p:sld>
</file>

<file path=ppt/slides/slide551.xml><?xml version="1.0" encoding="utf-8"?>
<p:sld xmlns:a="http://schemas.openxmlformats.org/drawingml/2006/main" xmlns:r="http://schemas.openxmlformats.org/officeDocument/2006/relationships" xmlns:p="http://schemas.openxmlformats.org/presentationml/2006/main">
  <p:cSld name="Slide 55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11 ADMINISTRER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(5/9)</a:t>
            </a:r>
            <a:endParaRPr lang="en-US" sz="2600" dirty="0"/>
          </a:p>
        </p:txBody>
      </p:sp>
      <p:graphicFrame>
        <p:nvGraphicFramePr>
          <p:cNvPr id="552"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règle du pré-contrôle  ·  t_regle_anomalie  ·  7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ID_REGLE_ANOMALIE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règle anomalie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CODE_REGLE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Code règle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LIBELLE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Libellé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PARAMETRE_NUM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Parametre numéro</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PARAMETRE_TXT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Parametre txt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ACTIF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Actif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GRAVITE_DEFAUT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Gravité defaut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 : A_VERIFIER, PRIORITAIRE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Élargie de 10 à 20 caractères par V32 (pré-contrôle du PPM, lot 3) : la gravité PRIORITAIRE de cnm.prs.enums.GraviteSignalement en fait 11.</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8"/>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paramètre  ·  t_parametre  ·  4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Clé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VALEUR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Valeur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DATE_MAJ</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mise à jour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IM_ACTEUR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 acteur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Dernier modificateur (identité JWT).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3"/>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L’entité contractante  ·  tr_entite_contract  ·  9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ID_ENTITE_CONTRACT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entité contractante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LIBELLE_ENTITE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Libellé entité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(150)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ADRESSE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Adresse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CATEGORIE_ENTITE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Catégorie entité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ID_ORGANIGRAMME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organigramme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ID_ENTITE_PARENT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entité parent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NIVEAU_HIERARCHIQUE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Niveau hierarchique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ID_LOCALITE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localité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Localité de l'entité contractante (§1). C'est elle qui fixe la localité d'un dossier la concernant.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SIGLE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Sigle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Sigle tel qu'il figure dans les références (« MESupReS », « JIRAMA ») ; facultatif, sans unicité.</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3"/>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551</a:t>
            </a:r>
            <a:endParaRPr lang="en-US" sz="1100" dirty="0"/>
          </a:p>
        </p:txBody>
      </p:sp>
    </p:spTree>
  </p:cSld>
  <p:clrMapOvr>
    <a:masterClrMapping/>
  </p:clrMapOvr>
</p:sld>
</file>

<file path=ppt/slides/slide552.xml><?xml version="1.0" encoding="utf-8"?>
<p:sld xmlns:a="http://schemas.openxmlformats.org/drawingml/2006/main" xmlns:r="http://schemas.openxmlformats.org/officeDocument/2006/relationships" xmlns:p="http://schemas.openxmlformats.org/presentationml/2006/main">
  <p:cSld name="Slide 55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11 ADMINISTRER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(6/9)</a:t>
            </a:r>
            <a:endParaRPr lang="en-US" sz="2600" dirty="0"/>
          </a:p>
        </p:txBody>
      </p:sp>
      <p:graphicFrame>
        <p:nvGraphicFramePr>
          <p:cNvPr id="553"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catégorie d’entité  ·  tr_categorie_entite  ·  2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LIBELLE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Libellé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NIVEAU_HIERARCHIQUE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Niveau hierarchique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3"/>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ministère  ·  tr_ministere  ·  3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ID_MINISTERE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ministère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LIBELLE_MINISTERE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Libellé ministère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(150)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SIGLE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Sigle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L’organigramme  ·  t_organigramme  ·  6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ID_ORGANIGRAMME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organigramme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ID_MINISTERE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ministère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LIBELLE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Libellé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VERSION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Version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DATE_VALIDATION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validation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ACTIF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Actif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4"/>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localité  ·  tr_localite  ·  1 information</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CHEF_LIEU</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Chef lieu</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la localité CENTRALE (Commission Nationale des Marchés) — source unique : références officielles (segment CNM au lieu de CRM-), choix du modèle de PV (variante centrale) et signature des lettres de renvoi. / public static final String ID_CENTRALE = "ANT"; /** Vrai si l'identifiant…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6"/>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nature de marché  ·  tr_nature  ·  4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ID_NATURE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nature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LIBELLE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Libellé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DESCRIPTION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CATEGORIE_DAO</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Catégorie DAO</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 : FOURNITURES_SERVICES, TRAVAUX, PRESTATIONS_INTELLECTUELLES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La catégorie de fiche DAO des lignes de cette nature ; null : ses lignes ne se préparent pas.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1"/>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552</a:t>
            </a:r>
            <a:endParaRPr lang="en-US" sz="1100" dirty="0"/>
          </a:p>
        </p:txBody>
      </p:sp>
    </p:spTree>
  </p:cSld>
  <p:clrMapOvr>
    <a:masterClrMapping/>
  </p:clrMapOvr>
</p:sld>
</file>

<file path=ppt/slides/slide553.xml><?xml version="1.0" encoding="utf-8"?>
<p:sld xmlns:a="http://schemas.openxmlformats.org/drawingml/2006/main" xmlns:r="http://schemas.openxmlformats.org/officeDocument/2006/relationships" xmlns:p="http://schemas.openxmlformats.org/presentationml/2006/main">
  <p:cSld name="Slide 55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11 ADMINISTRER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(7/9)</a:t>
            </a:r>
            <a:endParaRPr lang="en-US" sz="2600" dirty="0"/>
          </a:p>
        </p:txBody>
      </p:sp>
      <p:graphicFrame>
        <p:nvGraphicFramePr>
          <p:cNvPr id="554"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mode de passation  ·  tr_mode_passation  ·  12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ID_MODE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mode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LIBELLE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Libellé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DESCRIPTION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PUBLICITE_REQUISE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Publicite requise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DELAI_MIN_JOURS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Délai min jours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BASE_LEGALE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Base legale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ID_TYPE_DMC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type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Mapping (administrable) vers le type de DMC dérivé pour les marchés de ce mode.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AGPM_SI_SEUIL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AGPM si seuil</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Marqueur administrable « appel d'offres ouvert » : si vrai, tout marché de ce mode déclenche l'exigence d'un AGPM (Avis Général de Passation de Marché) sur le PPM.</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DECLENCHE_AGPM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Declenche AGPM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Drapeau data-driven (tr_mode_passation.DECLENCHE_AGPM) : ce mode (ex. « appel d'offres ouvert ») rend la pièce AGPM obligatoire à la soumission d'un PPM. Administrable via mode-passations.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PROCEDURE_SEUIL</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Procédure seuil</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Liste : APPEL_OFFRES_OUVERT, CONSULTATION, ACHAT_DIRECT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Palier de l'arrêté n° 13 156/2019-MEF auquel ce mode appartient (art. 2, 2°).</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CATEGORIE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Catégorie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Liste : NORMAL, DEROGATOIRE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Étape 2 — palier déduit du libellé, pour poser la valeur initiale de procedureSeuil sur les modes qui n'en portent pas encore (dont ceux créés à la volée par un import PDF, qui n'apporte qu'un libellé).</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ID_MODE_MODELE_CAPM</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mode modele CAPM</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Règle ajoutée — modèle CAPM partagé : mode dont ce mode réutilise le modèle détaillé de processus CAPM (ex.</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3"/>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type de DMC  ·  t_type_dmc  ·  4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ID_TYPE_DMC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type DMC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CODE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Code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LIBELLE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Libellé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ACTIF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Actif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8"/>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type de dossier  ·  tr_type_dossier  ·  2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ID_TYPE_DOSSIER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type dossier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LIBELLE_TYPE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Libellé type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1"/>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553</a:t>
            </a:r>
            <a:endParaRPr lang="en-US" sz="1100" dirty="0"/>
          </a:p>
        </p:txBody>
      </p:sp>
    </p:spTree>
  </p:cSld>
  <p:clrMapOvr>
    <a:masterClrMapping/>
  </p:clrMapOvr>
</p:sld>
</file>

<file path=ppt/slides/slide554.xml><?xml version="1.0" encoding="utf-8"?>
<p:sld xmlns:a="http://schemas.openxmlformats.org/drawingml/2006/main" xmlns:r="http://schemas.openxmlformats.org/officeDocument/2006/relationships" xmlns:p="http://schemas.openxmlformats.org/presentationml/2006/main">
  <p:cSld name="Slide 55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11 ADMINISTRER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(8/9)</a:t>
            </a:r>
            <a:endParaRPr lang="en-US" sz="2600" dirty="0"/>
          </a:p>
        </p:txBody>
      </p:sp>
      <p:graphicFrame>
        <p:nvGraphicFramePr>
          <p:cNvPr id="555"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sous-type de dossier  ·  tr_sous_type_dossier  ·  5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ID_SOUS_TYPE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sous type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LIBELLE_SOUS_TYPE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Libellé sous type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(150)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ID_TYPE_DOSSIER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type dossier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Famille de rattachement (FK tr_type_dossier.ID_TYPE_DOSSIER : DDP / DMC / DDM).</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GRILLE_BASE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Grille base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Le sous-type dont la grille s'ajoute à celle-ci (DAOR = DAOO + ses points).</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GRILLE_PROPRE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Grille propre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Vrai : les points communs de la famille ne s'appliquent pas (MPI, MGG, DC, AVN…).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6"/>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type de pièce jointe  ·  t_type_piece_jointe  ·  6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ID_TYPE_PIECE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type pièce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LIBELLE_PIECE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Libellé pièce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CODE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Code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Code stable (administrable, facultatif) identifiant le type de pièce indépendamment du libellé — ex.</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OBLIGATOIRE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Obligatoire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ID_TYPE_DOSSIER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type dossier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Type de dossier concerné (FK tr_type_dossier.ID_TYPE_DOSSIER).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ORDRE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Ordre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3"/>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statut de marché  ·  tr_statut_marche  ·  4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CODE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Code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LIBELLE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Libellé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ORDRE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Ordre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Rang d'affichage dans les listes déroulantes ; null se range en dernier.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ACTIF</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Actif</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Oui / non</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Drapeau d'usage : un statut désactivé n'est plus proposé. Il reste accepté à l'écriture — refuser un code déjà porté par des marchés empêcherait de ré-enregistrer une ligne parfaitement légitime, ce qui ferait de la désactivation une opération destructrice.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8"/>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L’avis  ·  tr_avis  ·  2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ID_AVIS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avis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LIBELLE_AVIS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Libellé avis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1"/>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554</a:t>
            </a:r>
            <a:endParaRPr lang="en-US" sz="1100" dirty="0"/>
          </a:p>
        </p:txBody>
      </p:sp>
    </p:spTree>
  </p:cSld>
  <p:clrMapOvr>
    <a:masterClrMapping/>
  </p:clrMapOvr>
</p:sld>
</file>

<file path=ppt/slides/slide555.xml><?xml version="1.0" encoding="utf-8"?>
<p:sld xmlns:a="http://schemas.openxmlformats.org/drawingml/2006/main" xmlns:r="http://schemas.openxmlformats.org/officeDocument/2006/relationships" xmlns:p="http://schemas.openxmlformats.org/presentationml/2006/main">
  <p:cSld name="Slide 55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11 ADMINISTRER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(9/9)</a:t>
            </a:r>
            <a:endParaRPr lang="en-US" sz="2600" dirty="0"/>
          </a:p>
        </p:txBody>
      </p:sp>
      <p:graphicFrame>
        <p:nvGraphicFramePr>
          <p:cNvPr id="556"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compte d’imputation  ·  tr_compte  ·  3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NUM_COMPTE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Numéro compte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LIBELLE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Libellé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ID_CAT_COMPTE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cat compte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4"/>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catégorie de compte  ·  tr_cat_compte  ·  2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ID_CAT_COMPTE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cat compte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CAT_COMPTE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Cat compte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7"/>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code SOA  ·  tr_soa_beneficiaire  ·  2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SOA_CODE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SOA code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LIBELLE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Libellé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journal (audit)  ·  t_audit_log  ·  11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ID_LOG</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log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DATE_ACTION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action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IM_ACTEUR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 acteur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NOM_TABLE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 table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ID_ENREGISTREMENT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enregistrement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TYPE_ACTION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Type action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CHAMP_MODIFIE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Champ modifie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ANCIENNE_VALEUR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Ancienne valeur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long</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NOUVELLE_VALEUR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Nouvelle valeur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long</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IP_ADRESSE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Ip adresse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(45)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SESSION_ID</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Session identifiant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2"/>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555</a:t>
            </a:r>
            <a:endParaRPr lang="en-US" sz="1100" dirty="0"/>
          </a:p>
        </p:txBody>
      </p:sp>
    </p:spTree>
  </p:cSld>
  <p:clrMapOvr>
    <a:masterClrMapping/>
  </p:clrMapOvr>
</p:sld>
</file>

<file path=ppt/slides/slide556.xml><?xml version="1.0" encoding="utf-8"?>
<p:sld xmlns:a="http://schemas.openxmlformats.org/drawingml/2006/main" xmlns:r="http://schemas.openxmlformats.org/officeDocument/2006/relationships" xmlns:p="http://schemas.openxmlformats.org/presentationml/2006/main">
  <p:cSld name="Slide 55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12 PILOTER ET PUBLIER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données de l’étape</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Chaque objet que cette étape crée ou modifie, avec la table du serveur qui le conserve et le nombre de ses informations.</a:t>
            </a:r>
            <a:endParaRPr lang="en-US" sz="1300" dirty="0"/>
          </a:p>
        </p:txBody>
      </p:sp>
      <p:graphicFrame>
        <p:nvGraphicFramePr>
          <p:cNvPr id="557" name="Table 0"/>
          <p:cNvGraphicFramePr>
            <a:graphicFrameLocks noGrp="1"/>
          </p:cNvGraphicFramePr>
          <p:nvPr>
            <p:extLst>
              <p:ext uri="{D42A27DB-BD31-4B8C-83A1-F6EECF244321}">
                <p14:modId xmlns:p14="http://schemas.microsoft.com/office/powerpoint/2010/main" val="1579011935"/>
              </p:ext>
            </p:extLst>
          </p:nvPr>
        </p:nvGraphicFramePr>
        <p:xfrm>
          <a:off x="593324" y="1651000"/>
          <a:ext cx="11430000" cy="914400"/>
        </p:xfrm>
        <a:graphic>
          <a:graphicData uri="http://schemas.openxmlformats.org/drawingml/2006/table">
            <a:tbl>
              <a:tblPr/>
              <a:tblGrid>
                <a:gridCol w="2926080">
                  <a:extLst>
                    <a:ext uri="{9D8B030D-6E8A-4147-A177-3AD203B41FA5}">
                      <a16:colId xmlns:a16="http://schemas.microsoft.com/office/drawing/2014/main" val="20000"/>
                    </a:ext>
                  </a:extLst>
                </a:gridCol>
                <a:gridCol w="2103120">
                  <a:extLst>
                    <a:ext uri="{9D8B030D-6E8A-4147-A177-3AD203B41FA5}">
                      <a16:colId xmlns:a16="http://schemas.microsoft.com/office/drawing/2014/main" val="20001"/>
                    </a:ext>
                  </a:extLst>
                </a:gridCol>
                <a:gridCol w="1005840">
                  <a:extLst>
                    <a:ext uri="{9D8B030D-6E8A-4147-A177-3AD203B41FA5}">
                      <a16:colId xmlns:a16="http://schemas.microsoft.com/office/drawing/2014/main" val="20002"/>
                    </a:ext>
                  </a:extLst>
                </a:gridCol>
                <a:gridCol w="5394960">
                  <a:extLst>
                    <a:ext uri="{9D8B030D-6E8A-4147-A177-3AD203B41FA5}">
                      <a16:colId xmlns:a16="http://schemas.microsoft.com/office/drawing/2014/main" val="20003"/>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Objet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Table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Ce qu’il porte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L’indicateur d’un contrôleur</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t_indicateur_ctrl</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7</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L’indicateur d’une PRMP</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t_indicateur_prmp</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13</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L’instantané des statistiques</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t_snapshot_stats</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11</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La publication</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t_publication</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9</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lgn="l">
                        <a:buNone/>
                      </a:pPr>
                      <a:r>
                        <a:rPr lang="en-US" sz="1000" b="1" dirty="0">
                          <a:solidFill>
                            <a:srgbClr val="1B2A3A"/>
                          </a:solidFill>
                          <a:latin typeface="Segoe UI" pitchFamily="34" charset="0"/>
                          <a:ea typeface="Segoe UI" pitchFamily="34" charset="-122"/>
                          <a:cs typeface="Segoe UI" pitchFamily="34" charset="-120"/>
                        </a:rPr>
                        <a:t>Le document public</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1B2A3A"/>
                          </a:solidFill>
                          <a:latin typeface="Consolas" pitchFamily="34" charset="0"/>
                          <a:ea typeface="Consolas" pitchFamily="34" charset="-122"/>
                          <a:cs typeface="Consolas" pitchFamily="34" charset="-120"/>
                        </a:rPr>
                        <a:t>t_document_public</a:t>
                      </a:r>
                      <a:endParaRPr lang="en-US" sz="10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000" dirty="0">
                          <a:solidFill>
                            <a:srgbClr val="1B2A3A"/>
                          </a:solidFill>
                          <a:latin typeface="Segoe UI" pitchFamily="34" charset="0"/>
                          <a:ea typeface="Segoe UI" pitchFamily="34" charset="-122"/>
                          <a:cs typeface="Segoe UI" pitchFamily="34" charset="-120"/>
                        </a:rPr>
                        <a:t>9</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l">
                        <a:buNone/>
                      </a:pPr>
                      <a:r>
                        <a:rPr lang="en-US" sz="1000" dirty="0">
                          <a:solidFill>
                            <a:srgbClr val="465568"/>
                          </a:solidFill>
                          <a:latin typeface="Segoe UI" pitchFamily="34" charset="0"/>
                          <a:ea typeface="Segoe UI" pitchFamily="34" charset="-122"/>
                          <a:cs typeface="Segoe UI" pitchFamily="34" charset="-120"/>
                        </a:rPr>
                        <a:t>—</a:t>
                      </a:r>
                      <a:endParaRPr lang="en-US" sz="10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bl>
          </a:graphicData>
        </a:graphic>
      </p:graphicFrame>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556</a:t>
            </a:r>
            <a:endParaRPr lang="en-US" sz="1100" dirty="0"/>
          </a:p>
        </p:txBody>
      </p:sp>
    </p:spTree>
  </p:cSld>
  <p:clrMapOvr>
    <a:masterClrMapping/>
  </p:clrMapOvr>
</p:sld>
</file>

<file path=ppt/slides/slide557.xml><?xml version="1.0" encoding="utf-8"?>
<p:sld xmlns:a="http://schemas.openxmlformats.org/drawingml/2006/main" xmlns:r="http://schemas.openxmlformats.org/officeDocument/2006/relationships" xmlns:p="http://schemas.openxmlformats.org/presentationml/2006/main">
  <p:cSld name="Slide 55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12 PILOTER ET PUBLIER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(1/3)</a:t>
            </a:r>
            <a:endParaRPr lang="en-US" sz="2600" dirty="0"/>
          </a:p>
        </p:txBody>
      </p:sp>
      <p:graphicFrame>
        <p:nvGraphicFramePr>
          <p:cNvPr id="558"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L’indicateur d’un contrôleur  ·  t_indicateur_ctrl  ·  7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ID_INDICATEUR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indicateur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IM_CONTROLEUR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 contrôleur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(7)</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PERIODE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Période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(7)</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NB_EXAMENS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Nombre examens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NB_CONFORMES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Nombre conformes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DELAI_MOYEN_EXAMEN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Délai moyen examen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NB_OBS_EMISES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Nombre observation emises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8"/>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L’indicateur d’une PRMP  ·  t_indicateur_prmp  ·  13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ID_INDICATEUR_PRMP</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indicateur PRMP</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ID_PRMP</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PRMP</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EXERCICE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Exercice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NB_PPM_SOUMIS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Nombre PPM soumis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NB_DOSSIERS_SOUMIS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Nombre dossiers soumis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NB_DOSSIERS_CONFORMES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Nombre dossiers conformes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NB_DOSSIERS_NON_CONFORMES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Nombre dossiers non conformes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NB_RETOURS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Nombre retours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NB_RETRAITS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Nombre retraits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TAUX_CONFORMITE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Taux conformité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9"/>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DELAI_MOY_CORRECTION_JOURS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Délai moy correction jours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MONT_TOTAL_SOUMIS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Montant total soumis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DATE_MAJ</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mise à jour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2"/>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L’instantané des statistiques  ·  t_snapshot_stats  ·  11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2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ID_SNAPSHOT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snapshot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DATE_SNAPSHOT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snapshot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5"/>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557</a:t>
            </a:r>
            <a:endParaRPr lang="en-US" sz="1100" dirty="0"/>
          </a:p>
        </p:txBody>
      </p:sp>
    </p:spTree>
  </p:cSld>
  <p:clrMapOvr>
    <a:masterClrMapping/>
  </p:clrMapOvr>
</p:sld>
</file>

<file path=ppt/slides/slide558.xml><?xml version="1.0" encoding="utf-8"?>
<p:sld xmlns:a="http://schemas.openxmlformats.org/drawingml/2006/main" xmlns:r="http://schemas.openxmlformats.org/officeDocument/2006/relationships" xmlns:p="http://schemas.openxmlformats.org/presentationml/2006/main">
  <p:cSld name="Slide 558">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12 PILOTER ET PUBLIER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(2/3)</a:t>
            </a:r>
            <a:endParaRPr lang="en-US" sz="2600" dirty="0"/>
          </a:p>
        </p:txBody>
      </p:sp>
      <p:graphicFrame>
        <p:nvGraphicFramePr>
          <p:cNvPr id="559"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ID_LOCALITE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localité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EXERCICE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Exercice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NB_DOSSIERS_RECUS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Nombre dossiers reçus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NB_DOSSIERS_CLOTURES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Nombre dossiers clotures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NB_DOSSIERS_EN_COURS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Nombre dossiers en cours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TAUX_CONFORMITE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Taux conformité</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DELAI_MOYEN_JOURS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Délai moyen jours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MONT_TOTAL_CONTROLE</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Montant total contrôle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NB_RETOURS_MOYEN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Nombre retours moyen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Nombre décimal</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La publication  ·  t_publication  ·  9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ID_PUBLICATION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publication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TYPE_OBJET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Type objet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ID_OBJET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objet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DATE_PUBLICATION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publication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IM_PUBLIE_PAR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Matricule publie par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(7)</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5"/>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STATUT_PUBLI</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Statut publication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6"/>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DATE_RETRAIT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retrait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7"/>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MOTIF_RETRAIT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Motif retrait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8"/>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NB_CONSULTATIONS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Nombre consultations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9"/>
                  </a:ext>
                </a:extLst>
              </a:tr>
              <a:tr h="0">
                <a:tc gridSpan="5">
                  <a:txBody>
                    <a:bodyPr/>
                    <a:lstStyle/>
                    <a:p>
                      <a:pPr marL="0" indent="0">
                        <a:buNone/>
                      </a:pPr>
                      <a:r>
                        <a:rPr lang="en-US" sz="950" b="1" dirty="0">
                          <a:solidFill>
                            <a:srgbClr val="FCFCFA"/>
                          </a:solidFill>
                          <a:latin typeface="Segoe UI" pitchFamily="34" charset="0"/>
                          <a:ea typeface="Segoe UI" pitchFamily="34" charset="-122"/>
                          <a:cs typeface="Segoe UI" pitchFamily="34" charset="-120"/>
                        </a:rPr>
                        <a:t>Le document public  ·  t_document_public  ·  9 informations</a:t>
                      </a:r>
                      <a:endParaRPr lang="en-US" sz="9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B6FA8"/>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2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ID_DOC_PUBLIC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doc public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Identifiant de l’enregistrement.</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ID_PUBLICATION</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Identifiant publication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900" b="1" dirty="0">
                          <a:solidFill>
                            <a:srgbClr val="B23B3B"/>
                          </a:solidFill>
                          <a:latin typeface="Segoe UI" pitchFamily="34" charset="0"/>
                          <a:ea typeface="Segoe UI" pitchFamily="34" charset="-122"/>
                          <a:cs typeface="Segoe UI" pitchFamily="34" charset="-120"/>
                        </a:rPr>
                        <a:t>Oui</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TYPE_DOC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Type doc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(30)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LIBELLE_DOC</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Libellé doc</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(200)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24"/>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CHEMIN_FICHIER</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Chemin fichier</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(500)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25"/>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558</a:t>
            </a:r>
            <a:endParaRPr lang="en-US" sz="1100" dirty="0"/>
          </a:p>
        </p:txBody>
      </p:sp>
    </p:spTree>
  </p:cSld>
  <p:clrMapOvr>
    <a:masterClrMapping/>
  </p:clrMapOvr>
</p:sld>
</file>

<file path=ppt/slides/slide559.xml><?xml version="1.0" encoding="utf-8"?>
<p:sld xmlns:a="http://schemas.openxmlformats.org/drawingml/2006/main" xmlns:r="http://schemas.openxmlformats.org/officeDocument/2006/relationships" xmlns:p="http://schemas.openxmlformats.org/presentationml/2006/main">
  <p:cSld name="Slide 559">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B · 12 PILOTER ET PUBLIER</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Toutes les informations (3/3)</a:t>
            </a:r>
            <a:endParaRPr lang="en-US" sz="2600" dirty="0"/>
          </a:p>
        </p:txBody>
      </p:sp>
      <p:graphicFrame>
        <p:nvGraphicFramePr>
          <p:cNvPr id="560" name="Table 0"/>
          <p:cNvGraphicFramePr>
            <a:graphicFrameLocks noGrp="1"/>
          </p:cNvGraphicFramePr>
          <p:nvPr>
            <p:extLst>
              <p:ext uri="{D42A27DB-BD31-4B8C-83A1-F6EECF244321}">
                <p14:modId xmlns:p14="http://schemas.microsoft.com/office/powerpoint/2010/main" val="1579011935"/>
              </p:ext>
            </p:extLst>
          </p:nvPr>
        </p:nvGraphicFramePr>
        <p:xfrm>
          <a:off x="593324" y="1130300"/>
          <a:ext cx="11430000" cy="914400"/>
        </p:xfrm>
        <a:graphic>
          <a:graphicData uri="http://schemas.openxmlformats.org/drawingml/2006/table">
            <a:tbl>
              <a:tblPr/>
              <a:tblGrid>
                <a:gridCol w="16002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240280">
                  <a:extLst>
                    <a:ext uri="{9D8B030D-6E8A-4147-A177-3AD203B41FA5}">
                      <a16:colId xmlns:a16="http://schemas.microsoft.com/office/drawing/2014/main" val="20002"/>
                    </a:ext>
                  </a:extLst>
                </a:gridCol>
                <a:gridCol w="502920">
                  <a:extLst>
                    <a:ext uri="{9D8B030D-6E8A-4147-A177-3AD203B41FA5}">
                      <a16:colId xmlns:a16="http://schemas.microsoft.com/office/drawing/2014/main" val="20003"/>
                    </a:ext>
                  </a:extLst>
                </a:gridCol>
                <a:gridCol w="5029200">
                  <a:extLst>
                    <a:ext uri="{9D8B030D-6E8A-4147-A177-3AD203B41FA5}">
                      <a16:colId xmlns:a16="http://schemas.microsoft.com/office/drawing/2014/main" val="20004"/>
                    </a:ext>
                  </a:extLst>
                </a:gridCol>
              </a:tblGrid>
              <a:tr h="0">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Colonne</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Information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Type et valeurs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Oblig.</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900" b="1" dirty="0">
                          <a:solidFill>
                            <a:srgbClr val="FCFCFA"/>
                          </a:solidFill>
                          <a:latin typeface="Segoe UI" pitchFamily="34" charset="0"/>
                          <a:ea typeface="Segoe UI" pitchFamily="34" charset="-122"/>
                          <a:cs typeface="Segoe UI" pitchFamily="34" charset="-120"/>
                        </a:rPr>
                        <a:t>Description</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FORMAT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Format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(10)</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TAILLE_OCTETS</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Taille (octets)</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Entier</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DATE_DEPOT</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Date dépôt</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Date et heure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800" dirty="0">
                          <a:solidFill>
                            <a:srgbClr val="1B2A3A"/>
                          </a:solidFill>
                          <a:latin typeface="Consolas" pitchFamily="34" charset="0"/>
                          <a:ea typeface="Consolas" pitchFamily="34" charset="-122"/>
                          <a:cs typeface="Consolas" pitchFamily="34" charset="-120"/>
                        </a:rPr>
                        <a:t>HASH_SHA256</a:t>
                      </a:r>
                      <a:endParaRPr lang="en-US" sz="800" dirty="0">
                        <a:latin typeface="Consolas" charset="0"/>
                        <a:ea typeface="Consolas" charset="0"/>
                        <a:cs typeface="Consolas"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900" dirty="0">
                          <a:solidFill>
                            <a:srgbClr val="1B2A3A"/>
                          </a:solidFill>
                          <a:latin typeface="Segoe UI" pitchFamily="34" charset="0"/>
                          <a:ea typeface="Segoe UI" pitchFamily="34" charset="-122"/>
                          <a:cs typeface="Segoe UI" pitchFamily="34" charset="-120"/>
                        </a:rPr>
                        <a:t>Empreinte SHA-256</a:t>
                      </a: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Texte (64)</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endParaRPr lang="en-US" sz="9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850" dirty="0">
                          <a:solidFill>
                            <a:srgbClr val="465568"/>
                          </a:solidFill>
                          <a:latin typeface="Segoe UI" pitchFamily="34" charset="0"/>
                          <a:ea typeface="Segoe UI" pitchFamily="34" charset="-122"/>
                          <a:cs typeface="Segoe UI" pitchFamily="34" charset="-120"/>
                        </a:rPr>
                        <a:t>Renseigné par l'action empreinte.</a:t>
                      </a:r>
                      <a:endParaRPr lang="en-US" sz="85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bl>
          </a:graphicData>
        </a:graphic>
      </p:graphicFrame>
      <p:sp>
        <p:nvSpPr>
          <p:cNvPr id="5" name="Text 2"/>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559</a:t>
            </a:r>
            <a:endParaRPr lang="en-US" sz="1100" dirty="0"/>
          </a:p>
        </p:txBody>
      </p:sp>
    </p:spTree>
  </p:cSld>
  <p:clrMapOvr>
    <a:masterClrMapping/>
  </p:clrMapOvr>
</p:sld>
</file>

<file path=ppt/slides/slide560.xml><?xml version="1.0" encoding="utf-8"?>
<p:sld xmlns:a="http://schemas.openxmlformats.org/drawingml/2006/main" xmlns:r="http://schemas.openxmlformats.org/officeDocument/2006/relationships" xmlns:p="http://schemas.openxmlformats.org/presentationml/2006/main">
  <p:cSld name="Slide 560">
    <p:bg>
      <p:bgPr>
        <a:solidFill>
          <a:srgbClr val="12324A"/>
        </a:solidFill>
        <a:effectLst/>
      </p:bgPr>
    </p:bg>
    <p:spTree>
      <p:nvGrpSpPr>
        <p:cNvPr id="1" name=""/>
        <p:cNvGrpSpPr/>
        <p:nvPr/>
      </p:nvGrpSpPr>
      <p:grpSpPr>
        <a:xfrm>
          <a:off x="0" y="0"/>
          <a:ext cx="0" cy="0"/>
          <a:chOff x="0" y="0"/>
          <a:chExt cx="0" cy="0"/>
        </a:xfrm>
      </p:grpSpPr>
      <p:sp>
        <p:nvSpPr>
          <p:cNvPr id="2" name="Shape 0"/>
          <p:cNvSpPr/>
          <p:nvPr/>
        </p:nvSpPr>
        <p:spPr>
          <a:xfrm>
            <a:off x="0" y="0"/>
            <a:ext cx="152396" cy="6858000"/>
          </a:xfrm>
          <a:prstGeom prst="rect">
            <a:avLst/>
          </a:prstGeom>
          <a:solidFill>
            <a:srgbClr val="E3AE2E"/>
          </a:solidFill>
          <a:ln w="12700">
            <a:solidFill>
              <a:srgbClr val="E3AE2E"/>
            </a:solidFill>
            <a:prstDash val="solid"/>
          </a:ln>
        </p:spPr>
        <p:txBody>
          <a:bodyPr/>
          <a:lstStyle/>
          <a:p>
            <a:endParaRPr lang="fr-FR"/>
          </a:p>
        </p:txBody>
      </p:sp>
      <p:sp>
        <p:nvSpPr>
          <p:cNvPr id="3" name="Text 1"/>
          <p:cNvSpPr/>
          <p:nvPr/>
        </p:nvSpPr>
        <p:spPr>
          <a:xfrm>
            <a:off x="812780" y="698500"/>
            <a:ext cx="3809905" cy="952500"/>
          </a:xfrm>
          <a:prstGeom prst="rect">
            <a:avLst/>
          </a:prstGeom>
          <a:noFill/>
          <a:ln/>
        </p:spPr>
        <p:txBody>
          <a:bodyPr wrap="square" rtlCol="0" anchor="ctr"/>
          <a:lstStyle/>
          <a:p>
            <a:pPr marL="0" indent="0">
              <a:buNone/>
            </a:pPr>
            <a:r>
              <a:rPr lang="en-US" sz="7200" b="1" dirty="0">
                <a:solidFill>
                  <a:srgbClr val="E3AE2E"/>
                </a:solidFill>
                <a:latin typeface="Segoe UI" pitchFamily="34" charset="0"/>
                <a:ea typeface="Segoe UI" pitchFamily="34" charset="-122"/>
                <a:cs typeface="Segoe UI" pitchFamily="34" charset="-120"/>
              </a:rPr>
              <a:t>C</a:t>
            </a:r>
            <a:endParaRPr lang="en-US" sz="7200" dirty="0"/>
          </a:p>
        </p:txBody>
      </p:sp>
      <p:sp>
        <p:nvSpPr>
          <p:cNvPr id="4" name="Text 2"/>
          <p:cNvSpPr/>
          <p:nvPr/>
        </p:nvSpPr>
        <p:spPr>
          <a:xfrm>
            <a:off x="812780" y="1714500"/>
            <a:ext cx="10477238" cy="635000"/>
          </a:xfrm>
          <a:prstGeom prst="rect">
            <a:avLst/>
          </a:prstGeom>
          <a:noFill/>
          <a:ln/>
        </p:spPr>
        <p:txBody>
          <a:bodyPr wrap="square" rtlCol="0" anchor="ctr">
            <a:normAutofit/>
          </a:bodyPr>
          <a:lstStyle/>
          <a:p>
            <a:pPr marL="0" indent="0">
              <a:buNone/>
            </a:pPr>
            <a:r>
              <a:rPr lang="en-US" sz="4000" b="1" dirty="0">
                <a:solidFill>
                  <a:srgbClr val="FCFCFA"/>
                </a:solidFill>
                <a:latin typeface="Segoe UI" pitchFamily="34" charset="0"/>
                <a:ea typeface="Segoe UI" pitchFamily="34" charset="-122"/>
                <a:cs typeface="Segoe UI" pitchFamily="34" charset="-120"/>
              </a:rPr>
              <a:t>Annexe C — Pour l’équipe projet et recette</a:t>
            </a:r>
            <a:endParaRPr lang="en-US" sz="4000" dirty="0"/>
          </a:p>
        </p:txBody>
      </p:sp>
      <p:sp>
        <p:nvSpPr>
          <p:cNvPr id="5" name="Text 3"/>
          <p:cNvSpPr/>
          <p:nvPr/>
        </p:nvSpPr>
        <p:spPr>
          <a:xfrm>
            <a:off x="812780" y="2413000"/>
            <a:ext cx="10159746" cy="698500"/>
          </a:xfrm>
          <a:prstGeom prst="rect">
            <a:avLst/>
          </a:prstGeom>
          <a:noFill/>
          <a:ln/>
        </p:spPr>
        <p:txBody>
          <a:bodyPr wrap="square" rtlCol="0" anchor="t">
            <a:normAutofit/>
          </a:bodyPr>
          <a:lstStyle/>
          <a:p>
            <a:pPr marL="0" indent="0">
              <a:buNone/>
            </a:pPr>
            <a:r>
              <a:rPr lang="en-US" sz="1700" dirty="0">
                <a:solidFill>
                  <a:srgbClr val="C9D6E2"/>
                </a:solidFill>
                <a:latin typeface="Segoe UI" pitchFamily="34" charset="0"/>
                <a:ea typeface="Segoe UI" pitchFamily="34" charset="-122"/>
                <a:cs typeface="Segoe UI" pitchFamily="34" charset="-120"/>
              </a:rPr>
              <a:t>Ce que la présentation montre et d’où elle le tient : la provenance de chaque écran, la couverture, les états non capturés, les anomalies relevées pendant la refonte, les données de démonstration, et la façon de la régénérer.</a:t>
            </a:r>
            <a:endParaRPr lang="en-US" sz="1700" dirty="0"/>
          </a:p>
        </p:txBody>
      </p:sp>
      <p:sp>
        <p:nvSpPr>
          <p:cNvPr id="6" name="Text 4"/>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8FA6BB"/>
                </a:solidFill>
                <a:latin typeface="Segoe UI" pitchFamily="34" charset="0"/>
                <a:ea typeface="Segoe UI" pitchFamily="34" charset="-122"/>
                <a:cs typeface="Segoe UI" pitchFamily="34" charset="-120"/>
              </a:rPr>
              <a:t>PRS 2.0 · L’application de bout en bout · dossier de recette · 560</a:t>
            </a:r>
            <a:endParaRPr lang="en-US" sz="1100" dirty="0"/>
          </a:p>
        </p:txBody>
      </p:sp>
    </p:spTree>
  </p:cSld>
  <p:clrMapOvr>
    <a:masterClrMapping/>
  </p:clrMapOvr>
</p:sld>
</file>

<file path=ppt/slides/slide561.xml><?xml version="1.0" encoding="utf-8"?>
<p:sld xmlns:a="http://schemas.openxmlformats.org/drawingml/2006/main" xmlns:r="http://schemas.openxmlformats.org/officeDocument/2006/relationships" xmlns:p="http://schemas.openxmlformats.org/presentationml/2006/main">
  <p:cSld name="Slide 561">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C</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Lire la présentation en recette</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La présentation sert deux publics : la direction lit les parties ; l’équipe projet et recette dispose en plus des notes, des codes et des annexes.</a:t>
            </a:r>
            <a:endParaRPr lang="en-US" sz="1300" dirty="0"/>
          </a:p>
        </p:txBody>
      </p:sp>
      <p:sp>
        <p:nvSpPr>
          <p:cNvPr id="5" name="Shape 3"/>
          <p:cNvSpPr/>
          <p:nvPr/>
        </p:nvSpPr>
        <p:spPr>
          <a:xfrm>
            <a:off x="812780" y="1651000"/>
            <a:ext cx="2527237" cy="2159000"/>
          </a:xfrm>
          <a:prstGeom prst="rect">
            <a:avLst/>
          </a:prstGeom>
          <a:solidFill>
            <a:srgbClr val="FCFCFA"/>
          </a:solidFill>
          <a:ln w="9525">
            <a:solidFill>
              <a:srgbClr val="D5DCE4"/>
            </a:solidFill>
            <a:prstDash val="solid"/>
          </a:ln>
        </p:spPr>
        <p:txBody>
          <a:bodyPr/>
          <a:lstStyle/>
          <a:p>
            <a:endParaRPr lang="fr-FR"/>
          </a:p>
        </p:txBody>
      </p:sp>
      <p:sp>
        <p:nvSpPr>
          <p:cNvPr id="6" name="Shape 4"/>
          <p:cNvSpPr/>
          <p:nvPr/>
        </p:nvSpPr>
        <p:spPr>
          <a:xfrm>
            <a:off x="812780" y="1651000"/>
            <a:ext cx="2527237" cy="38100"/>
          </a:xfrm>
          <a:prstGeom prst="rect">
            <a:avLst/>
          </a:prstGeom>
          <a:solidFill>
            <a:srgbClr val="1B6FA8"/>
          </a:solidFill>
          <a:ln/>
        </p:spPr>
        <p:txBody>
          <a:bodyPr/>
          <a:lstStyle/>
          <a:p>
            <a:endParaRPr lang="fr-FR"/>
          </a:p>
        </p:txBody>
      </p:sp>
      <p:sp>
        <p:nvSpPr>
          <p:cNvPr id="7" name="Text 5"/>
          <p:cNvSpPr/>
          <p:nvPr/>
        </p:nvSpPr>
        <p:spPr>
          <a:xfrm>
            <a:off x="952476" y="1752600"/>
            <a:ext cx="2247844"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Les notes de l’orateur</a:t>
            </a:r>
            <a:endParaRPr lang="en-US" sz="1500" dirty="0"/>
          </a:p>
        </p:txBody>
      </p:sp>
      <p:sp>
        <p:nvSpPr>
          <p:cNvPr id="8" name="Text 6"/>
          <p:cNvSpPr/>
          <p:nvPr/>
        </p:nvSpPr>
        <p:spPr>
          <a:xfrm>
            <a:off x="952476" y="2209800"/>
            <a:ext cx="2247844"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Chaque diapositive d’écran porte en note sa </a:t>
            </a:r>
            <a:r>
              <a:rPr lang="en-US" sz="1200" b="1" dirty="0">
                <a:solidFill>
                  <a:srgbClr val="1B2A3A"/>
                </a:solidFill>
                <a:latin typeface="Segoe UI" pitchFamily="34" charset="0"/>
                <a:ea typeface="Segoe UI" pitchFamily="34" charset="-122"/>
                <a:cs typeface="Segoe UI" pitchFamily="34" charset="-120"/>
              </a:rPr>
              <a:t>provenance</a:t>
            </a:r>
            <a:r>
              <a:rPr lang="en-US" sz="1200" dirty="0">
                <a:solidFill>
                  <a:srgbClr val="465568"/>
                </a:solidFill>
                <a:latin typeface="Segoe UI" pitchFamily="34" charset="0"/>
                <a:ea typeface="Segoe UI" pitchFamily="34" charset="-122"/>
                <a:cs typeface="Segoe UI" pitchFamily="34" charset="-120"/>
              </a:rPr>
              <a:t> : identifiant de capture, adresse de l’écran, compte utilisé, date ; ou, pour une capture reprise, le fichier de la présentation du 08/10 et la raison de la reprise.</a:t>
            </a:r>
            <a:endParaRPr lang="en-US" sz="1200" dirty="0"/>
          </a:p>
        </p:txBody>
      </p:sp>
      <p:sp>
        <p:nvSpPr>
          <p:cNvPr id="9" name="Shape 7"/>
          <p:cNvSpPr/>
          <p:nvPr/>
        </p:nvSpPr>
        <p:spPr>
          <a:xfrm>
            <a:off x="3492413" y="1651000"/>
            <a:ext cx="2527237" cy="2159000"/>
          </a:xfrm>
          <a:prstGeom prst="rect">
            <a:avLst/>
          </a:prstGeom>
          <a:solidFill>
            <a:srgbClr val="FCFCFA"/>
          </a:solidFill>
          <a:ln w="9525">
            <a:solidFill>
              <a:srgbClr val="D5DCE4"/>
            </a:solidFill>
            <a:prstDash val="solid"/>
          </a:ln>
        </p:spPr>
        <p:txBody>
          <a:bodyPr/>
          <a:lstStyle/>
          <a:p>
            <a:endParaRPr lang="fr-FR"/>
          </a:p>
        </p:txBody>
      </p:sp>
      <p:sp>
        <p:nvSpPr>
          <p:cNvPr id="10" name="Shape 8"/>
          <p:cNvSpPr/>
          <p:nvPr/>
        </p:nvSpPr>
        <p:spPr>
          <a:xfrm>
            <a:off x="3492413" y="1651000"/>
            <a:ext cx="2527237" cy="38100"/>
          </a:xfrm>
          <a:prstGeom prst="rect">
            <a:avLst/>
          </a:prstGeom>
          <a:solidFill>
            <a:srgbClr val="2E8B57"/>
          </a:solidFill>
          <a:ln/>
        </p:spPr>
        <p:txBody>
          <a:bodyPr/>
          <a:lstStyle/>
          <a:p>
            <a:endParaRPr lang="fr-FR"/>
          </a:p>
        </p:txBody>
      </p:sp>
      <p:sp>
        <p:nvSpPr>
          <p:cNvPr id="11" name="Text 9"/>
          <p:cNvSpPr/>
          <p:nvPr/>
        </p:nvSpPr>
        <p:spPr>
          <a:xfrm>
            <a:off x="3632109" y="1752600"/>
            <a:ext cx="2247844"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Les codes de règles</a:t>
            </a:r>
            <a:endParaRPr lang="en-US" sz="1500" dirty="0"/>
          </a:p>
        </p:txBody>
      </p:sp>
      <p:sp>
        <p:nvSpPr>
          <p:cNvPr id="12" name="Text 10"/>
          <p:cNvSpPr/>
          <p:nvPr/>
        </p:nvSpPr>
        <p:spPr>
          <a:xfrm>
            <a:off x="3632109" y="2038350"/>
            <a:ext cx="2247844"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Les codes </a:t>
            </a:r>
            <a:r>
              <a:rPr lang="en-US" sz="1200" b="1" dirty="0">
                <a:solidFill>
                  <a:srgbClr val="1B2A3A"/>
                </a:solidFill>
                <a:latin typeface="Segoe UI" pitchFamily="34" charset="0"/>
                <a:ea typeface="Segoe UI" pitchFamily="34" charset="-122"/>
                <a:cs typeface="Segoe UI" pitchFamily="34" charset="-120"/>
              </a:rPr>
              <a:t>RG-‹partie›-nn</a:t>
            </a:r>
            <a:r>
              <a:rPr lang="en-US" sz="1200" dirty="0">
                <a:solidFill>
                  <a:srgbClr val="465568"/>
                </a:solidFill>
                <a:latin typeface="Segoe UI" pitchFamily="34" charset="0"/>
                <a:ea typeface="Segoe UI" pitchFamily="34" charset="-122"/>
                <a:cs typeface="Segoe UI" pitchFamily="34" charset="-120"/>
              </a:rPr>
              <a:t> cités sous chaque écran renvoient à l’annexe A ; chaque règle y cite sa source (règles de gestion du serveur, contrats, manuel de contrôle révisé, encadrés des demandes).</a:t>
            </a:r>
            <a:endParaRPr lang="en-US" sz="1200" dirty="0"/>
          </a:p>
        </p:txBody>
      </p:sp>
      <p:sp>
        <p:nvSpPr>
          <p:cNvPr id="13" name="Shape 11"/>
          <p:cNvSpPr/>
          <p:nvPr/>
        </p:nvSpPr>
        <p:spPr>
          <a:xfrm>
            <a:off x="6172046" y="1651000"/>
            <a:ext cx="2527237" cy="2159000"/>
          </a:xfrm>
          <a:prstGeom prst="rect">
            <a:avLst/>
          </a:prstGeom>
          <a:solidFill>
            <a:srgbClr val="FCFCFA"/>
          </a:solidFill>
          <a:ln w="9525">
            <a:solidFill>
              <a:srgbClr val="D5DCE4"/>
            </a:solidFill>
            <a:prstDash val="solid"/>
          </a:ln>
        </p:spPr>
        <p:txBody>
          <a:bodyPr/>
          <a:lstStyle/>
          <a:p>
            <a:endParaRPr lang="fr-FR"/>
          </a:p>
        </p:txBody>
      </p:sp>
      <p:sp>
        <p:nvSpPr>
          <p:cNvPr id="14" name="Shape 12"/>
          <p:cNvSpPr/>
          <p:nvPr/>
        </p:nvSpPr>
        <p:spPr>
          <a:xfrm>
            <a:off x="6172046" y="1651000"/>
            <a:ext cx="2527237" cy="38100"/>
          </a:xfrm>
          <a:prstGeom prst="rect">
            <a:avLst/>
          </a:prstGeom>
          <a:solidFill>
            <a:srgbClr val="E3AE2E"/>
          </a:solidFill>
          <a:ln/>
        </p:spPr>
        <p:txBody>
          <a:bodyPr/>
          <a:lstStyle/>
          <a:p>
            <a:endParaRPr lang="fr-FR"/>
          </a:p>
        </p:txBody>
      </p:sp>
      <p:sp>
        <p:nvSpPr>
          <p:cNvPr id="15" name="Text 13"/>
          <p:cNvSpPr/>
          <p:nvPr/>
        </p:nvSpPr>
        <p:spPr>
          <a:xfrm>
            <a:off x="6311742" y="1752600"/>
            <a:ext cx="2247844"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Les données</a:t>
            </a:r>
            <a:endParaRPr lang="en-US" sz="1500" dirty="0"/>
          </a:p>
        </p:txBody>
      </p:sp>
      <p:sp>
        <p:nvSpPr>
          <p:cNvPr id="16" name="Text 14"/>
          <p:cNvSpPr/>
          <p:nvPr/>
        </p:nvSpPr>
        <p:spPr>
          <a:xfrm>
            <a:off x="6311742" y="2038350"/>
            <a:ext cx="2247844"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L’annexe B est ré-extraite du code du serveur le 14/10 (171 entités) : colonne, type et valeurs, caractère obligatoire, description tirée de la Javadoc.</a:t>
            </a:r>
            <a:endParaRPr lang="en-US" sz="1200" dirty="0"/>
          </a:p>
        </p:txBody>
      </p:sp>
      <p:sp>
        <p:nvSpPr>
          <p:cNvPr id="17" name="Shape 15"/>
          <p:cNvSpPr/>
          <p:nvPr/>
        </p:nvSpPr>
        <p:spPr>
          <a:xfrm>
            <a:off x="8851679" y="1651000"/>
            <a:ext cx="2527237" cy="2159000"/>
          </a:xfrm>
          <a:prstGeom prst="rect">
            <a:avLst/>
          </a:prstGeom>
          <a:solidFill>
            <a:srgbClr val="FCFCFA"/>
          </a:solidFill>
          <a:ln w="9525">
            <a:solidFill>
              <a:srgbClr val="D5DCE4"/>
            </a:solidFill>
            <a:prstDash val="solid"/>
          </a:ln>
        </p:spPr>
        <p:txBody>
          <a:bodyPr/>
          <a:lstStyle/>
          <a:p>
            <a:endParaRPr lang="fr-FR"/>
          </a:p>
        </p:txBody>
      </p:sp>
      <p:sp>
        <p:nvSpPr>
          <p:cNvPr id="18" name="Shape 16"/>
          <p:cNvSpPr/>
          <p:nvPr/>
        </p:nvSpPr>
        <p:spPr>
          <a:xfrm>
            <a:off x="8851679" y="1651000"/>
            <a:ext cx="2527237" cy="38100"/>
          </a:xfrm>
          <a:prstGeom prst="rect">
            <a:avLst/>
          </a:prstGeom>
          <a:solidFill>
            <a:srgbClr val="12324A"/>
          </a:solidFill>
          <a:ln/>
        </p:spPr>
        <p:txBody>
          <a:bodyPr/>
          <a:lstStyle/>
          <a:p>
            <a:endParaRPr lang="fr-FR"/>
          </a:p>
        </p:txBody>
      </p:sp>
      <p:sp>
        <p:nvSpPr>
          <p:cNvPr id="19" name="Text 17"/>
          <p:cNvSpPr/>
          <p:nvPr/>
        </p:nvSpPr>
        <p:spPr>
          <a:xfrm>
            <a:off x="8991375" y="1752600"/>
            <a:ext cx="2247844"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Les noms</a:t>
            </a:r>
            <a:endParaRPr lang="en-US" sz="1500" dirty="0"/>
          </a:p>
        </p:txBody>
      </p:sp>
      <p:sp>
        <p:nvSpPr>
          <p:cNvPr id="20" name="Text 18"/>
          <p:cNvSpPr/>
          <p:nvPr/>
        </p:nvSpPr>
        <p:spPr>
          <a:xfrm>
            <a:off x="8991375" y="2038350"/>
            <a:ext cx="2247844"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Les captures sont masquées </a:t>
            </a:r>
            <a:r>
              <a:rPr lang="en-US" sz="1200" b="1" dirty="0">
                <a:solidFill>
                  <a:srgbClr val="1B2A3A"/>
                </a:solidFill>
                <a:latin typeface="Segoe UI" pitchFamily="34" charset="0"/>
                <a:ea typeface="Segoe UI" pitchFamily="34" charset="-122"/>
                <a:cs typeface="Segoe UI" pitchFamily="34" charset="-120"/>
              </a:rPr>
              <a:t>dans la page</a:t>
            </a:r>
            <a:r>
              <a:rPr lang="en-US" sz="1200" dirty="0">
                <a:solidFill>
                  <a:srgbClr val="465568"/>
                </a:solidFill>
                <a:latin typeface="Segoe UI" pitchFamily="34" charset="0"/>
                <a:ea typeface="Segoe UI" pitchFamily="34" charset="-122"/>
                <a:cs typeface="Segoe UI" pitchFamily="34" charset="-120"/>
              </a:rPr>
              <a:t> avant la prise de vue : personnes et matricules remplacés par leur rôle, initiales d’avatar, photos et adresses électroniques réelles effacées.</a:t>
            </a:r>
            <a:endParaRPr lang="en-US" sz="1200" dirty="0"/>
          </a:p>
        </p:txBody>
      </p:sp>
      <p:sp>
        <p:nvSpPr>
          <p:cNvPr id="21" name="Text 19"/>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561</a:t>
            </a:r>
            <a:endParaRPr lang="en-US" sz="1100" dirty="0"/>
          </a:p>
        </p:txBody>
      </p:sp>
    </p:spTree>
  </p:cSld>
  <p:clrMapOvr>
    <a:masterClrMapping/>
  </p:clrMapOvr>
</p:sld>
</file>

<file path=ppt/slides/slide562.xml><?xml version="1.0" encoding="utf-8"?>
<p:sld xmlns:a="http://schemas.openxmlformats.org/drawingml/2006/main" xmlns:r="http://schemas.openxmlformats.org/officeDocument/2006/relationships" xmlns:p="http://schemas.openxmlformats.org/presentationml/2006/main">
  <p:cSld name="Slide 562">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C</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La couverture, partie par partie</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Une capture est </a:t>
            </a:r>
            <a:r>
              <a:rPr lang="en-US" sz="1300" b="1" dirty="0">
                <a:solidFill>
                  <a:srgbClr val="1B2A3A"/>
                </a:solidFill>
                <a:latin typeface="Segoe UI" pitchFamily="34" charset="0"/>
                <a:ea typeface="Segoe UI" pitchFamily="34" charset="-122"/>
                <a:cs typeface="Segoe UI" pitchFamily="34" charset="-120"/>
              </a:rPr>
              <a:t>reprise</a:t>
            </a:r>
            <a:r>
              <a:rPr lang="en-US" sz="1300" dirty="0">
                <a:solidFill>
                  <a:srgbClr val="465568"/>
                </a:solidFill>
                <a:latin typeface="Segoe UI" pitchFamily="34" charset="0"/>
                <a:ea typeface="Segoe UI" pitchFamily="34" charset="-122"/>
                <a:cs typeface="Segoe UI" pitchFamily="34" charset="-120"/>
              </a:rPr>
              <a:t> de la présentation du 08/10 seulement quand l’état qu’elle montre ne se reproduit plus sur la base du 14/10 et que l’écran n’a pas changé sur ce qu’il montre. La note de chaque écran le précise.</a:t>
            </a:r>
            <a:endParaRPr lang="en-US" sz="1300" dirty="0"/>
          </a:p>
        </p:txBody>
      </p:sp>
      <p:graphicFrame>
        <p:nvGraphicFramePr>
          <p:cNvPr id="563" name="Table 0"/>
          <p:cNvGraphicFramePr>
            <a:graphicFrameLocks noGrp="1"/>
          </p:cNvGraphicFramePr>
          <p:nvPr>
            <p:extLst>
              <p:ext uri="{D42A27DB-BD31-4B8C-83A1-F6EECF244321}">
                <p14:modId xmlns:p14="http://schemas.microsoft.com/office/powerpoint/2010/main" val="1579011935"/>
              </p:ext>
            </p:extLst>
          </p:nvPr>
        </p:nvGraphicFramePr>
        <p:xfrm>
          <a:off x="593324" y="1651000"/>
          <a:ext cx="11430000" cy="914400"/>
        </p:xfrm>
        <a:graphic>
          <a:graphicData uri="http://schemas.openxmlformats.org/drawingml/2006/table">
            <a:tbl>
              <a:tblPr/>
              <a:tblGrid>
                <a:gridCol w="4114800">
                  <a:extLst>
                    <a:ext uri="{9D8B030D-6E8A-4147-A177-3AD203B41FA5}">
                      <a16:colId xmlns:a16="http://schemas.microsoft.com/office/drawing/2014/main" val="20000"/>
                    </a:ext>
                  </a:extLst>
                </a:gridCol>
                <a:gridCol w="1645920">
                  <a:extLst>
                    <a:ext uri="{9D8B030D-6E8A-4147-A177-3AD203B41FA5}">
                      <a16:colId xmlns:a16="http://schemas.microsoft.com/office/drawing/2014/main" val="20001"/>
                    </a:ext>
                  </a:extLst>
                </a:gridCol>
                <a:gridCol w="1920240">
                  <a:extLst>
                    <a:ext uri="{9D8B030D-6E8A-4147-A177-3AD203B41FA5}">
                      <a16:colId xmlns:a16="http://schemas.microsoft.com/office/drawing/2014/main" val="20002"/>
                    </a:ext>
                  </a:extLst>
                </a:gridCol>
                <a:gridCol w="1920240">
                  <a:extLst>
                    <a:ext uri="{9D8B030D-6E8A-4147-A177-3AD203B41FA5}">
                      <a16:colId xmlns:a16="http://schemas.microsoft.com/office/drawing/2014/main" val="20003"/>
                    </a:ext>
                  </a:extLst>
                </a:gridCol>
                <a:gridCol w="1828800">
                  <a:extLst>
                    <a:ext uri="{9D8B030D-6E8A-4147-A177-3AD203B41FA5}">
                      <a16:colId xmlns:a16="http://schemas.microsoft.com/office/drawing/2014/main" val="20004"/>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Partie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Écrans</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Captures neuves</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Reprises du 08/10</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Règles</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01 · Entrer</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15</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14</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1</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27</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02 · Planifier</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16</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11</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5</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27</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03 · Contrôler</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31</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24</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7</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57</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04 · Préparer le DAO</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27</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23</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4</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60</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05 · L’appel à manifestation d’intérêt</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10</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4</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6</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26</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06 · Recevoir les offres en ligne</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38</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11</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27</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35</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07 · La séance d’ouverture</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18</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5</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13</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31</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r h="0">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08 · Évaluer les offres</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22</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11</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11</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38</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8"/>
                  </a:ext>
                </a:extLst>
              </a:tr>
              <a:tr h="0">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09 · Attribuer et notifier</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22</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14</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8</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36</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9"/>
                  </a:ext>
                </a:extLst>
              </a:tr>
              <a:tr h="0">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10 · Intérim et mandats</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5</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5</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0</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17</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0"/>
                  </a:ext>
                </a:extLst>
              </a:tr>
              <a:tr h="0">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11 · Administrer</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28</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28</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0</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47</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11"/>
                  </a:ext>
                </a:extLst>
              </a:tr>
              <a:tr h="0">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12 · Piloter et publier</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6</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6</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0</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100" dirty="0">
                          <a:solidFill>
                            <a:srgbClr val="1B2A3A"/>
                          </a:solidFill>
                          <a:latin typeface="Segoe UI" pitchFamily="34" charset="0"/>
                          <a:ea typeface="Segoe UI" pitchFamily="34" charset="-122"/>
                          <a:cs typeface="Segoe UI" pitchFamily="34" charset="-120"/>
                        </a:rPr>
                        <a:t>15</a:t>
                      </a:r>
                      <a:endParaRPr lang="en-US" sz="110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2"/>
                  </a:ext>
                </a:extLst>
              </a:tr>
              <a:tr h="0">
                <a:tc>
                  <a:txBody>
                    <a:bodyPr/>
                    <a:lstStyle/>
                    <a:p>
                      <a:pPr marL="0" indent="0">
                        <a:buNone/>
                      </a:pPr>
                      <a:r>
                        <a:rPr lang="en-US" sz="1100" b="1" dirty="0">
                          <a:solidFill>
                            <a:srgbClr val="1B2A3A"/>
                          </a:solidFill>
                          <a:latin typeface="Segoe UI" pitchFamily="34" charset="0"/>
                          <a:ea typeface="Segoe UI" pitchFamily="34" charset="-122"/>
                          <a:cs typeface="Segoe UI" pitchFamily="34" charset="-120"/>
                        </a:rPr>
                        <a:t>Total</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100" b="1" dirty="0">
                          <a:solidFill>
                            <a:srgbClr val="1B6FA8"/>
                          </a:solidFill>
                          <a:latin typeface="Segoe UI" pitchFamily="34" charset="0"/>
                          <a:ea typeface="Segoe UI" pitchFamily="34" charset="-122"/>
                          <a:cs typeface="Segoe UI" pitchFamily="34" charset="-120"/>
                        </a:rPr>
                        <a:t>238</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100" b="1" dirty="0">
                          <a:solidFill>
                            <a:srgbClr val="1B6FA8"/>
                          </a:solidFill>
                          <a:latin typeface="Segoe UI" pitchFamily="34" charset="0"/>
                          <a:ea typeface="Segoe UI" pitchFamily="34" charset="-122"/>
                          <a:cs typeface="Segoe UI" pitchFamily="34" charset="-120"/>
                        </a:rPr>
                        <a:t>156</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100" b="1" dirty="0">
                          <a:solidFill>
                            <a:srgbClr val="1B6FA8"/>
                          </a:solidFill>
                          <a:latin typeface="Segoe UI" pitchFamily="34" charset="0"/>
                          <a:ea typeface="Segoe UI" pitchFamily="34" charset="-122"/>
                          <a:cs typeface="Segoe UI" pitchFamily="34" charset="-120"/>
                        </a:rPr>
                        <a:t>82</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lgn="ctr">
                        <a:buNone/>
                      </a:pPr>
                      <a:r>
                        <a:rPr lang="en-US" sz="1100" b="1" dirty="0">
                          <a:solidFill>
                            <a:srgbClr val="1B6FA8"/>
                          </a:solidFill>
                          <a:latin typeface="Segoe UI" pitchFamily="34" charset="0"/>
                          <a:ea typeface="Segoe UI" pitchFamily="34" charset="-122"/>
                          <a:cs typeface="Segoe UI" pitchFamily="34" charset="-120"/>
                        </a:rPr>
                        <a:t>416</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13"/>
                  </a:ext>
                </a:extLst>
              </a:tr>
            </a:tbl>
          </a:graphicData>
        </a:graphic>
      </p:graphicFrame>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562</a:t>
            </a:r>
            <a:endParaRPr lang="en-US" sz="1100" dirty="0"/>
          </a:p>
        </p:txBody>
      </p:sp>
    </p:spTree>
  </p:cSld>
  <p:clrMapOvr>
    <a:masterClrMapping/>
  </p:clrMapOvr>
</p:sld>
</file>

<file path=ppt/slides/slide563.xml><?xml version="1.0" encoding="utf-8"?>
<p:sld xmlns:a="http://schemas.openxmlformats.org/drawingml/2006/main" xmlns:r="http://schemas.openxmlformats.org/officeDocument/2006/relationships" xmlns:p="http://schemas.openxmlformats.org/presentationml/2006/main">
  <p:cSld name="Slide 563">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C</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Ce que la présentation ne montre pas encore</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Ces états n’existent pas dans la base de recette du 14/10 ; aucune capture n’a été fabriquée pour eux.</a:t>
            </a:r>
            <a:endParaRPr lang="en-US" sz="1300" dirty="0"/>
          </a:p>
        </p:txBody>
      </p:sp>
      <p:sp>
        <p:nvSpPr>
          <p:cNvPr id="5" name="Shape 3"/>
          <p:cNvSpPr/>
          <p:nvPr/>
        </p:nvSpPr>
        <p:spPr>
          <a:xfrm>
            <a:off x="812780" y="1651000"/>
            <a:ext cx="3420448" cy="2159000"/>
          </a:xfrm>
          <a:prstGeom prst="rect">
            <a:avLst/>
          </a:prstGeom>
          <a:solidFill>
            <a:srgbClr val="FCFCFA"/>
          </a:solidFill>
          <a:ln w="9525">
            <a:solidFill>
              <a:srgbClr val="D5DCE4"/>
            </a:solidFill>
            <a:prstDash val="solid"/>
          </a:ln>
        </p:spPr>
        <p:txBody>
          <a:bodyPr/>
          <a:lstStyle/>
          <a:p>
            <a:endParaRPr lang="fr-FR"/>
          </a:p>
        </p:txBody>
      </p:sp>
      <p:sp>
        <p:nvSpPr>
          <p:cNvPr id="6" name="Shape 4"/>
          <p:cNvSpPr/>
          <p:nvPr/>
        </p:nvSpPr>
        <p:spPr>
          <a:xfrm>
            <a:off x="812780" y="1651000"/>
            <a:ext cx="3420448" cy="38100"/>
          </a:xfrm>
          <a:prstGeom prst="rect">
            <a:avLst/>
          </a:prstGeom>
          <a:solidFill>
            <a:srgbClr val="E3AE2E"/>
          </a:solidFill>
          <a:ln/>
        </p:spPr>
        <p:txBody>
          <a:bodyPr/>
          <a:lstStyle/>
          <a:p>
            <a:endParaRPr lang="fr-FR"/>
          </a:p>
        </p:txBody>
      </p:sp>
      <p:sp>
        <p:nvSpPr>
          <p:cNvPr id="7" name="Text 5"/>
          <p:cNvSpPr/>
          <p:nvPr/>
        </p:nvSpPr>
        <p:spPr>
          <a:xfrm>
            <a:off x="952476" y="1752600"/>
            <a:ext cx="3141055"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La signature et ses suites</a:t>
            </a:r>
            <a:endParaRPr lang="en-US" sz="1500" dirty="0"/>
          </a:p>
        </p:txBody>
      </p:sp>
      <p:sp>
        <p:nvSpPr>
          <p:cNvPr id="8" name="Text 6"/>
          <p:cNvSpPr/>
          <p:nvPr/>
        </p:nvSpPr>
        <p:spPr>
          <a:xfrm>
            <a:off x="952476" y="2038350"/>
            <a:ext cx="3141055"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Signature, approbation, enregistrement, notification : aucun lot n’a dépassé « informé » dans la base (procédure 44, lot 1 : délai d’attente jusqu’au 20/10, recours en cours). Décrits par les règles RG-ATT et les garanties de la partie 09.</a:t>
            </a:r>
            <a:endParaRPr lang="en-US" sz="1200" dirty="0"/>
          </a:p>
        </p:txBody>
      </p:sp>
      <p:sp>
        <p:nvSpPr>
          <p:cNvPr id="9" name="Shape 7"/>
          <p:cNvSpPr/>
          <p:nvPr/>
        </p:nvSpPr>
        <p:spPr>
          <a:xfrm>
            <a:off x="4385624" y="1651000"/>
            <a:ext cx="3420448" cy="2159000"/>
          </a:xfrm>
          <a:prstGeom prst="rect">
            <a:avLst/>
          </a:prstGeom>
          <a:solidFill>
            <a:srgbClr val="FCFCFA"/>
          </a:solidFill>
          <a:ln w="9525">
            <a:solidFill>
              <a:srgbClr val="D5DCE4"/>
            </a:solidFill>
            <a:prstDash val="solid"/>
          </a:ln>
        </p:spPr>
        <p:txBody>
          <a:bodyPr/>
          <a:lstStyle/>
          <a:p>
            <a:endParaRPr lang="fr-FR"/>
          </a:p>
        </p:txBody>
      </p:sp>
      <p:sp>
        <p:nvSpPr>
          <p:cNvPr id="10" name="Shape 8"/>
          <p:cNvSpPr/>
          <p:nvPr/>
        </p:nvSpPr>
        <p:spPr>
          <a:xfrm>
            <a:off x="4385624" y="1651000"/>
            <a:ext cx="3420448" cy="38100"/>
          </a:xfrm>
          <a:prstGeom prst="rect">
            <a:avLst/>
          </a:prstGeom>
          <a:solidFill>
            <a:srgbClr val="E3AE2E"/>
          </a:solidFill>
          <a:ln/>
        </p:spPr>
        <p:txBody>
          <a:bodyPr/>
          <a:lstStyle/>
          <a:p>
            <a:endParaRPr lang="fr-FR"/>
          </a:p>
        </p:txBody>
      </p:sp>
      <p:sp>
        <p:nvSpPr>
          <p:cNvPr id="11" name="Text 9"/>
          <p:cNvSpPr/>
          <p:nvPr/>
        </p:nvSpPr>
        <p:spPr>
          <a:xfrm>
            <a:off x="4525320" y="17526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Avis d’attribution publié et en retard</a:t>
            </a:r>
            <a:endParaRPr lang="en-US" sz="1500" dirty="0"/>
          </a:p>
        </p:txBody>
      </p:sp>
      <p:sp>
        <p:nvSpPr>
          <p:cNvPr id="12" name="Text 10"/>
          <p:cNvSpPr/>
          <p:nvPr/>
        </p:nvSpPr>
        <p:spPr>
          <a:xfrm>
            <a:off x="4525320" y="22098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Dépend de la notification ; la pastille d’alerte de « Fiches DAO » est couverte par les tests unitaires.</a:t>
            </a:r>
            <a:endParaRPr lang="en-US" sz="1200" dirty="0"/>
          </a:p>
        </p:txBody>
      </p:sp>
      <p:sp>
        <p:nvSpPr>
          <p:cNvPr id="13" name="Shape 11"/>
          <p:cNvSpPr/>
          <p:nvPr/>
        </p:nvSpPr>
        <p:spPr>
          <a:xfrm>
            <a:off x="7958468" y="1651000"/>
            <a:ext cx="3420448" cy="2159000"/>
          </a:xfrm>
          <a:prstGeom prst="rect">
            <a:avLst/>
          </a:prstGeom>
          <a:solidFill>
            <a:srgbClr val="FCFCFA"/>
          </a:solidFill>
          <a:ln w="9525">
            <a:solidFill>
              <a:srgbClr val="D5DCE4"/>
            </a:solidFill>
            <a:prstDash val="solid"/>
          </a:ln>
        </p:spPr>
        <p:txBody>
          <a:bodyPr/>
          <a:lstStyle/>
          <a:p>
            <a:endParaRPr lang="fr-FR"/>
          </a:p>
        </p:txBody>
      </p:sp>
      <p:sp>
        <p:nvSpPr>
          <p:cNvPr id="14" name="Shape 12"/>
          <p:cNvSpPr/>
          <p:nvPr/>
        </p:nvSpPr>
        <p:spPr>
          <a:xfrm>
            <a:off x="7958468" y="1651000"/>
            <a:ext cx="3420448" cy="38100"/>
          </a:xfrm>
          <a:prstGeom prst="rect">
            <a:avLst/>
          </a:prstGeom>
          <a:solidFill>
            <a:srgbClr val="E3AE2E"/>
          </a:solidFill>
          <a:ln/>
        </p:spPr>
        <p:txBody>
          <a:bodyPr/>
          <a:lstStyle/>
          <a:p>
            <a:endParaRPr lang="fr-FR"/>
          </a:p>
        </p:txBody>
      </p:sp>
      <p:sp>
        <p:nvSpPr>
          <p:cNvPr id="15" name="Text 13"/>
          <p:cNvSpPr/>
          <p:nvPr/>
        </p:nvSpPr>
        <p:spPr>
          <a:xfrm>
            <a:off x="8098164" y="17526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Plan « réputé approuvé » (art. 26-IV)</a:t>
            </a:r>
            <a:endParaRPr lang="en-US" sz="1500" dirty="0"/>
          </a:p>
        </p:txBody>
      </p:sp>
      <p:sp>
        <p:nvSpPr>
          <p:cNvPr id="16" name="Text 14"/>
          <p:cNvSpPr/>
          <p:nvPr/>
        </p:nvSpPr>
        <p:spPr>
          <a:xfrm>
            <a:off x="8098164" y="22098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Aucun dossier ne porte le marqueur en base. Règle RG-ATT-36, sans capture.</a:t>
            </a:r>
            <a:endParaRPr lang="en-US" sz="1200" dirty="0"/>
          </a:p>
        </p:txBody>
      </p:sp>
      <p:sp>
        <p:nvSpPr>
          <p:cNvPr id="17" name="Shape 15"/>
          <p:cNvSpPr/>
          <p:nvPr/>
        </p:nvSpPr>
        <p:spPr>
          <a:xfrm>
            <a:off x="812780" y="3962400"/>
            <a:ext cx="3420448" cy="2159000"/>
          </a:xfrm>
          <a:prstGeom prst="rect">
            <a:avLst/>
          </a:prstGeom>
          <a:solidFill>
            <a:srgbClr val="FCFCFA"/>
          </a:solidFill>
          <a:ln w="9525">
            <a:solidFill>
              <a:srgbClr val="D5DCE4"/>
            </a:solidFill>
            <a:prstDash val="solid"/>
          </a:ln>
        </p:spPr>
        <p:txBody>
          <a:bodyPr/>
          <a:lstStyle/>
          <a:p>
            <a:endParaRPr lang="fr-FR"/>
          </a:p>
        </p:txBody>
      </p:sp>
      <p:sp>
        <p:nvSpPr>
          <p:cNvPr id="18" name="Shape 16"/>
          <p:cNvSpPr/>
          <p:nvPr/>
        </p:nvSpPr>
        <p:spPr>
          <a:xfrm>
            <a:off x="812780" y="3962400"/>
            <a:ext cx="3420448" cy="38100"/>
          </a:xfrm>
          <a:prstGeom prst="rect">
            <a:avLst/>
          </a:prstGeom>
          <a:solidFill>
            <a:srgbClr val="1B6FA8"/>
          </a:solidFill>
          <a:ln/>
        </p:spPr>
        <p:txBody>
          <a:bodyPr/>
          <a:lstStyle/>
          <a:p>
            <a:endParaRPr lang="fr-FR"/>
          </a:p>
        </p:txBody>
      </p:sp>
      <p:sp>
        <p:nvSpPr>
          <p:cNvPr id="19" name="Text 17"/>
          <p:cNvSpPr/>
          <p:nvPr/>
        </p:nvSpPr>
        <p:spPr>
          <a:xfrm>
            <a:off x="952476" y="40640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Migration effective du mode de remise</a:t>
            </a:r>
            <a:endParaRPr lang="en-US" sz="1500" dirty="0"/>
          </a:p>
        </p:txBody>
      </p:sp>
      <p:sp>
        <p:nvSpPr>
          <p:cNvPr id="20" name="Text 18"/>
          <p:cNvSpPr/>
          <p:nvPr/>
        </p:nvSpPr>
        <p:spPr>
          <a:xfrm>
            <a:off x="952476" y="45212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La fenêtre est montrée ouverte, jamais envoyée : la migration écrirait en base.</a:t>
            </a:r>
            <a:endParaRPr lang="en-US" sz="1200" dirty="0"/>
          </a:p>
        </p:txBody>
      </p:sp>
      <p:sp>
        <p:nvSpPr>
          <p:cNvPr id="21" name="Shape 19"/>
          <p:cNvSpPr/>
          <p:nvPr/>
        </p:nvSpPr>
        <p:spPr>
          <a:xfrm>
            <a:off x="4385624" y="3962400"/>
            <a:ext cx="3420448" cy="2159000"/>
          </a:xfrm>
          <a:prstGeom prst="rect">
            <a:avLst/>
          </a:prstGeom>
          <a:solidFill>
            <a:srgbClr val="FCFCFA"/>
          </a:solidFill>
          <a:ln w="9525">
            <a:solidFill>
              <a:srgbClr val="D5DCE4"/>
            </a:solidFill>
            <a:prstDash val="solid"/>
          </a:ln>
        </p:spPr>
        <p:txBody>
          <a:bodyPr/>
          <a:lstStyle/>
          <a:p>
            <a:endParaRPr lang="fr-FR"/>
          </a:p>
        </p:txBody>
      </p:sp>
      <p:sp>
        <p:nvSpPr>
          <p:cNvPr id="22" name="Shape 20"/>
          <p:cNvSpPr/>
          <p:nvPr/>
        </p:nvSpPr>
        <p:spPr>
          <a:xfrm>
            <a:off x="4385624" y="3962400"/>
            <a:ext cx="3420448" cy="38100"/>
          </a:xfrm>
          <a:prstGeom prst="rect">
            <a:avLst/>
          </a:prstGeom>
          <a:solidFill>
            <a:srgbClr val="1B6FA8"/>
          </a:solidFill>
          <a:ln/>
        </p:spPr>
        <p:txBody>
          <a:bodyPr/>
          <a:lstStyle/>
          <a:p>
            <a:endParaRPr lang="fr-FR"/>
          </a:p>
        </p:txBody>
      </p:sp>
      <p:sp>
        <p:nvSpPr>
          <p:cNvPr id="23" name="Text 21"/>
          <p:cNvSpPr/>
          <p:nvPr/>
        </p:nvSpPr>
        <p:spPr>
          <a:xfrm>
            <a:off x="4525320" y="40640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Questions des candidats et réponses</a:t>
            </a:r>
            <a:endParaRPr lang="en-US" sz="1500" dirty="0"/>
          </a:p>
        </p:txBody>
      </p:sp>
      <p:sp>
        <p:nvSpPr>
          <p:cNvPr id="24" name="Text 22"/>
          <p:cNvSpPr/>
          <p:nvPr/>
        </p:nvSpPr>
        <p:spPr>
          <a:xfrm>
            <a:off x="4525320" y="45212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Aucune question en base : l’écran de la PRMP et la section publique sont montrés vides, avec leur explication.</a:t>
            </a:r>
            <a:endParaRPr lang="en-US" sz="1200" dirty="0"/>
          </a:p>
        </p:txBody>
      </p:sp>
      <p:sp>
        <p:nvSpPr>
          <p:cNvPr id="25" name="Shape 23"/>
          <p:cNvSpPr/>
          <p:nvPr/>
        </p:nvSpPr>
        <p:spPr>
          <a:xfrm>
            <a:off x="7958468" y="3962400"/>
            <a:ext cx="3420448" cy="2159000"/>
          </a:xfrm>
          <a:prstGeom prst="rect">
            <a:avLst/>
          </a:prstGeom>
          <a:solidFill>
            <a:srgbClr val="FCFCFA"/>
          </a:solidFill>
          <a:ln w="9525">
            <a:solidFill>
              <a:srgbClr val="D5DCE4"/>
            </a:solidFill>
            <a:prstDash val="solid"/>
          </a:ln>
        </p:spPr>
        <p:txBody>
          <a:bodyPr/>
          <a:lstStyle/>
          <a:p>
            <a:endParaRPr lang="fr-FR"/>
          </a:p>
        </p:txBody>
      </p:sp>
      <p:sp>
        <p:nvSpPr>
          <p:cNvPr id="26" name="Shape 24"/>
          <p:cNvSpPr/>
          <p:nvPr/>
        </p:nvSpPr>
        <p:spPr>
          <a:xfrm>
            <a:off x="7958468" y="3962400"/>
            <a:ext cx="3420448" cy="38100"/>
          </a:xfrm>
          <a:prstGeom prst="rect">
            <a:avLst/>
          </a:prstGeom>
          <a:solidFill>
            <a:srgbClr val="12324A"/>
          </a:solidFill>
          <a:ln/>
        </p:spPr>
        <p:txBody>
          <a:bodyPr/>
          <a:lstStyle/>
          <a:p>
            <a:endParaRPr lang="fr-FR"/>
          </a:p>
        </p:txBody>
      </p:sp>
      <p:sp>
        <p:nvSpPr>
          <p:cNvPr id="27" name="Text 25"/>
          <p:cNvSpPr/>
          <p:nvPr/>
        </p:nvSpPr>
        <p:spPr>
          <a:xfrm>
            <a:off x="8098164" y="4064000"/>
            <a:ext cx="3141055"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Archivage par l’Assistant</a:t>
            </a:r>
            <a:endParaRPr lang="en-US" sz="1500" dirty="0"/>
          </a:p>
        </p:txBody>
      </p:sp>
      <p:sp>
        <p:nvSpPr>
          <p:cNvPr id="28" name="Text 26"/>
          <p:cNvSpPr/>
          <p:nvPr/>
        </p:nvSpPr>
        <p:spPr>
          <a:xfrm>
            <a:off x="8098164" y="4349750"/>
            <a:ext cx="3141055"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Le compte de l’Assistant n’a pas le mot de passe de recette : l’écran est montré depuis le Président, qui archive par délégation, et par une capture du 08/10.</a:t>
            </a:r>
            <a:endParaRPr lang="en-US" sz="1200" dirty="0"/>
          </a:p>
        </p:txBody>
      </p:sp>
      <p:sp>
        <p:nvSpPr>
          <p:cNvPr id="29" name="Text 27"/>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563</a:t>
            </a:r>
            <a:endParaRPr lang="en-US" sz="1100" dirty="0"/>
          </a:p>
        </p:txBody>
      </p:sp>
    </p:spTree>
  </p:cSld>
  <p:clrMapOvr>
    <a:masterClrMapping/>
  </p:clrMapOvr>
</p:sld>
</file>

<file path=ppt/slides/slide564.xml><?xml version="1.0" encoding="utf-8"?>
<p:sld xmlns:a="http://schemas.openxmlformats.org/drawingml/2006/main" xmlns:r="http://schemas.openxmlformats.org/officeDocument/2006/relationships" xmlns:p="http://schemas.openxmlformats.org/presentationml/2006/main">
  <p:cSld name="Slide 564">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C</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anomalies relevées pendant la refonte (1/2)</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 Confirmée » : constatée sur l’écran capturé ; « Expliquée » : un effet des données de recette ; « À examiner » : signalée, cause à établir. Aucune n’a été corrigée dans le cadre de la refonte.</a:t>
            </a:r>
            <a:endParaRPr lang="en-US" sz="1300" dirty="0"/>
          </a:p>
        </p:txBody>
      </p:sp>
      <p:graphicFrame>
        <p:nvGraphicFramePr>
          <p:cNvPr id="565" name="Table 0"/>
          <p:cNvGraphicFramePr>
            <a:graphicFrameLocks noGrp="1"/>
          </p:cNvGraphicFramePr>
          <p:nvPr>
            <p:extLst>
              <p:ext uri="{D42A27DB-BD31-4B8C-83A1-F6EECF244321}">
                <p14:modId xmlns:p14="http://schemas.microsoft.com/office/powerpoint/2010/main" val="1579011935"/>
              </p:ext>
            </p:extLst>
          </p:nvPr>
        </p:nvGraphicFramePr>
        <p:xfrm>
          <a:off x="593324" y="1651000"/>
          <a:ext cx="11430000" cy="914400"/>
        </p:xfrm>
        <a:graphic>
          <a:graphicData uri="http://schemas.openxmlformats.org/drawingml/2006/table">
            <a:tbl>
              <a:tblPr/>
              <a:tblGrid>
                <a:gridCol w="2468880">
                  <a:extLst>
                    <a:ext uri="{9D8B030D-6E8A-4147-A177-3AD203B41FA5}">
                      <a16:colId xmlns:a16="http://schemas.microsoft.com/office/drawing/2014/main" val="20000"/>
                    </a:ext>
                  </a:extLst>
                </a:gridCol>
                <a:gridCol w="6309360">
                  <a:extLst>
                    <a:ext uri="{9D8B030D-6E8A-4147-A177-3AD203B41FA5}">
                      <a16:colId xmlns:a16="http://schemas.microsoft.com/office/drawing/2014/main" val="20001"/>
                    </a:ext>
                  </a:extLst>
                </a:gridCol>
                <a:gridCol w="1188720">
                  <a:extLst>
                    <a:ext uri="{9D8B030D-6E8A-4147-A177-3AD203B41FA5}">
                      <a16:colId xmlns:a16="http://schemas.microsoft.com/office/drawing/2014/main" val="20002"/>
                    </a:ext>
                  </a:extLst>
                </a:gridCol>
                <a:gridCol w="1463040">
                  <a:extLst>
                    <a:ext uri="{9D8B030D-6E8A-4147-A177-3AD203B41FA5}">
                      <a16:colId xmlns:a16="http://schemas.microsoft.com/office/drawing/2014/main" val="20003"/>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Écran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Constat</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Statut</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Piste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1050" b="1" dirty="0">
                          <a:solidFill>
                            <a:srgbClr val="1B2A3A"/>
                          </a:solidFill>
                          <a:latin typeface="Segoe UI" pitchFamily="34" charset="0"/>
                          <a:ea typeface="Segoe UI" pitchFamily="34" charset="-122"/>
                          <a:cs typeface="Segoe UI" pitchFamily="34" charset="-120"/>
                        </a:rPr>
                        <a:t>05 · AMI public (procédure 49)</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050" dirty="0">
                          <a:solidFill>
                            <a:srgbClr val="1B2A3A"/>
                          </a:solidFill>
                          <a:latin typeface="Segoe UI" pitchFamily="34" charset="0"/>
                          <a:ea typeface="Segoe UI" pitchFamily="34" charset="-122"/>
                          <a:cs typeface="Segoe UI" pitchFamily="34" charset="-120"/>
                        </a:rPr>
                        <a:t>La lecture publique de l’appel répond en erreur serveur (500) ; la page n’affiche que « L’appel n’a pas pu être chargé ». La liste publique des AMI est vide.</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050" b="1" dirty="0">
                          <a:solidFill>
                            <a:srgbClr val="B23B3B"/>
                          </a:solidFill>
                          <a:latin typeface="Segoe UI" pitchFamily="34" charset="0"/>
                          <a:ea typeface="Segoe UI" pitchFamily="34" charset="-122"/>
                          <a:cs typeface="Segoe UI" pitchFamily="34" charset="-120"/>
                        </a:rPr>
                        <a:t>Confirmée</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050" dirty="0">
                          <a:solidFill>
                            <a:srgbClr val="465568"/>
                          </a:solidFill>
                          <a:latin typeface="Segoe UI" pitchFamily="34" charset="0"/>
                          <a:ea typeface="Segoe UI" pitchFamily="34" charset="-122"/>
                          <a:cs typeface="Segoe UI" pitchFamily="34" charset="-120"/>
                        </a:rPr>
                        <a:t>Serveur</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1050" b="1" dirty="0">
                          <a:solidFill>
                            <a:srgbClr val="1B2A3A"/>
                          </a:solidFill>
                          <a:latin typeface="Segoe UI" pitchFamily="34" charset="0"/>
                          <a:ea typeface="Segoe UI" pitchFamily="34" charset="-122"/>
                          <a:cs typeface="Segoe UI" pitchFamily="34" charset="-120"/>
                        </a:rPr>
                        <a:t>08-09 · Attribution</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050" dirty="0">
                          <a:solidFill>
                            <a:srgbClr val="1B2A3A"/>
                          </a:solidFill>
                          <a:latin typeface="Segoe UI" pitchFamily="34" charset="0"/>
                          <a:ea typeface="Segoe UI" pitchFamily="34" charset="-122"/>
                          <a:cs typeface="Segoe UI" pitchFamily="34" charset="-120"/>
                        </a:rPr>
                        <a:t>Codes bruts affichés : « INFORME », « EN_VERIFICATION », « REMPLACEE », « RETIREE ».</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050" b="1" dirty="0">
                          <a:solidFill>
                            <a:srgbClr val="B23B3B"/>
                          </a:solidFill>
                          <a:latin typeface="Segoe UI" pitchFamily="34" charset="0"/>
                          <a:ea typeface="Segoe UI" pitchFamily="34" charset="-122"/>
                          <a:cs typeface="Segoe UI" pitchFamily="34" charset="-120"/>
                        </a:rPr>
                        <a:t>Confirmée</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050" dirty="0">
                          <a:solidFill>
                            <a:srgbClr val="465568"/>
                          </a:solidFill>
                          <a:latin typeface="Segoe UI" pitchFamily="34" charset="0"/>
                          <a:ea typeface="Segoe UI" pitchFamily="34" charset="-122"/>
                          <a:cs typeface="Segoe UI" pitchFamily="34" charset="-120"/>
                        </a:rPr>
                        <a:t>Front</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1050" b="1" dirty="0">
                          <a:solidFill>
                            <a:srgbClr val="1B2A3A"/>
                          </a:solidFill>
                          <a:latin typeface="Segoe UI" pitchFamily="34" charset="0"/>
                          <a:ea typeface="Segoe UI" pitchFamily="34" charset="-122"/>
                          <a:cs typeface="Segoe UI" pitchFamily="34" charset="-120"/>
                        </a:rPr>
                        <a:t>08 · Évaluation (40, 44)</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050" dirty="0">
                          <a:solidFill>
                            <a:srgbClr val="1B2A3A"/>
                          </a:solidFill>
                          <a:latin typeface="Segoe UI" pitchFamily="34" charset="0"/>
                          <a:ea typeface="Segoe UI" pitchFamily="34" charset="-122"/>
                          <a:cs typeface="Segoe UI" pitchFamily="34" charset="-120"/>
                        </a:rPr>
                        <a:t>L’onglet du lot dit « Rapport — en cours » alors que le rapport est « Signé de tous ».</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050" b="1" dirty="0">
                          <a:solidFill>
                            <a:srgbClr val="B23B3B"/>
                          </a:solidFill>
                          <a:latin typeface="Segoe UI" pitchFamily="34" charset="0"/>
                          <a:ea typeface="Segoe UI" pitchFamily="34" charset="-122"/>
                          <a:cs typeface="Segoe UI" pitchFamily="34" charset="-120"/>
                        </a:rPr>
                        <a:t>Confirmée</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050" dirty="0">
                          <a:solidFill>
                            <a:srgbClr val="465568"/>
                          </a:solidFill>
                          <a:latin typeface="Segoe UI" pitchFamily="34" charset="0"/>
                          <a:ea typeface="Segoe UI" pitchFamily="34" charset="-122"/>
                          <a:cs typeface="Segoe UI" pitchFamily="34" charset="-120"/>
                        </a:rPr>
                        <a:t>Front</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1050" b="1" dirty="0">
                          <a:solidFill>
                            <a:srgbClr val="1B2A3A"/>
                          </a:solidFill>
                          <a:latin typeface="Segoe UI" pitchFamily="34" charset="0"/>
                          <a:ea typeface="Segoe UI" pitchFamily="34" charset="-122"/>
                          <a:cs typeface="Segoe UI" pitchFamily="34" charset="-120"/>
                        </a:rPr>
                        <a:t>03 · Examen (dossier 100378)</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050" dirty="0">
                          <a:solidFill>
                            <a:srgbClr val="1B2A3A"/>
                          </a:solidFill>
                          <a:latin typeface="Segoe UI" pitchFamily="34" charset="0"/>
                          <a:ea typeface="Segoe UI" pitchFamily="34" charset="-122"/>
                          <a:cs typeface="Segoe UI" pitchFamily="34" charset="-120"/>
                        </a:rPr>
                        <a:t>L’étape « Contrôles du dossier » affiche « Terminé · RAS » alors que l’en-tête compte « 1 non conforme(s) sur 2 ».</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050" b="1" dirty="0">
                          <a:solidFill>
                            <a:srgbClr val="B23B3B"/>
                          </a:solidFill>
                          <a:latin typeface="Segoe UI" pitchFamily="34" charset="0"/>
                          <a:ea typeface="Segoe UI" pitchFamily="34" charset="-122"/>
                          <a:cs typeface="Segoe UI" pitchFamily="34" charset="-120"/>
                        </a:rPr>
                        <a:t>Confirmée</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050" dirty="0">
                          <a:solidFill>
                            <a:srgbClr val="465568"/>
                          </a:solidFill>
                          <a:latin typeface="Segoe UI" pitchFamily="34" charset="0"/>
                          <a:ea typeface="Segoe UI" pitchFamily="34" charset="-122"/>
                          <a:cs typeface="Segoe UI" pitchFamily="34" charset="-120"/>
                        </a:rPr>
                        <a:t>Front</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1050" b="1" dirty="0">
                          <a:solidFill>
                            <a:srgbClr val="1B2A3A"/>
                          </a:solidFill>
                          <a:latin typeface="Segoe UI" pitchFamily="34" charset="0"/>
                          <a:ea typeface="Segoe UI" pitchFamily="34" charset="-122"/>
                          <a:cs typeface="Segoe UI" pitchFamily="34" charset="-120"/>
                        </a:rPr>
                        <a:t>02 · Suivi des dossiers (PRMP)</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050" dirty="0">
                          <a:solidFill>
                            <a:srgbClr val="1B2A3A"/>
                          </a:solidFill>
                          <a:latin typeface="Segoe UI" pitchFamily="34" charset="0"/>
                          <a:ea typeface="Segoe UI" pitchFamily="34" charset="-122"/>
                          <a:cs typeface="Segoe UI" pitchFamily="34" charset="-120"/>
                        </a:rPr>
                        <a:t>L’introduction dit « les brouillons ne sont pas ici », la liste en montre deux.</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050" b="1" dirty="0">
                          <a:solidFill>
                            <a:srgbClr val="B23B3B"/>
                          </a:solidFill>
                          <a:latin typeface="Segoe UI" pitchFamily="34" charset="0"/>
                          <a:ea typeface="Segoe UI" pitchFamily="34" charset="-122"/>
                          <a:cs typeface="Segoe UI" pitchFamily="34" charset="-120"/>
                        </a:rPr>
                        <a:t>Confirmée</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050" dirty="0">
                          <a:solidFill>
                            <a:srgbClr val="465568"/>
                          </a:solidFill>
                          <a:latin typeface="Segoe UI" pitchFamily="34" charset="0"/>
                          <a:ea typeface="Segoe UI" pitchFamily="34" charset="-122"/>
                          <a:cs typeface="Segoe UI" pitchFamily="34" charset="-120"/>
                        </a:rPr>
                        <a:t>Front</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buNone/>
                      </a:pPr>
                      <a:r>
                        <a:rPr lang="en-US" sz="1050" b="1" dirty="0">
                          <a:solidFill>
                            <a:srgbClr val="1B2A3A"/>
                          </a:solidFill>
                          <a:latin typeface="Segoe UI" pitchFamily="34" charset="0"/>
                          <a:ea typeface="Segoe UI" pitchFamily="34" charset="-122"/>
                          <a:cs typeface="Segoe UI" pitchFamily="34" charset="-120"/>
                        </a:rPr>
                        <a:t>11 · Mode de passation → type de DMC</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050" dirty="0">
                          <a:solidFill>
                            <a:srgbClr val="1B2A3A"/>
                          </a:solidFill>
                          <a:latin typeface="Segoe UI" pitchFamily="34" charset="0"/>
                          <a:ea typeface="Segoe UI" pitchFamily="34" charset="-122"/>
                          <a:cs typeface="Segoe UI" pitchFamily="34" charset="-120"/>
                        </a:rPr>
                        <a:t>Chaque liste affiche « — Non mappé — » alors que la colonne État indique la correspondance enregistrée (DAO).</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050" b="1" dirty="0">
                          <a:solidFill>
                            <a:srgbClr val="B23B3B"/>
                          </a:solidFill>
                          <a:latin typeface="Segoe UI" pitchFamily="34" charset="0"/>
                          <a:ea typeface="Segoe UI" pitchFamily="34" charset="-122"/>
                          <a:cs typeface="Segoe UI" pitchFamily="34" charset="-120"/>
                        </a:rPr>
                        <a:t>Confirmée</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050" dirty="0">
                          <a:solidFill>
                            <a:srgbClr val="465568"/>
                          </a:solidFill>
                          <a:latin typeface="Segoe UI" pitchFamily="34" charset="0"/>
                          <a:ea typeface="Segoe UI" pitchFamily="34" charset="-122"/>
                          <a:cs typeface="Segoe UI" pitchFamily="34" charset="-120"/>
                        </a:rPr>
                        <a:t>Front, à confirmer</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buNone/>
                      </a:pPr>
                      <a:r>
                        <a:rPr lang="en-US" sz="1050" b="1" dirty="0">
                          <a:solidFill>
                            <a:srgbClr val="1B2A3A"/>
                          </a:solidFill>
                          <a:latin typeface="Segoe UI" pitchFamily="34" charset="0"/>
                          <a:ea typeface="Segoe UI" pitchFamily="34" charset="-122"/>
                          <a:cs typeface="Segoe UI" pitchFamily="34" charset="-120"/>
                        </a:rPr>
                        <a:t>06 · Page publique (procédure 40)</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050" dirty="0">
                          <a:solidFill>
                            <a:srgbClr val="1B2A3A"/>
                          </a:solidFill>
                          <a:latin typeface="Segoe UI" pitchFamily="34" charset="0"/>
                          <a:ea typeface="Segoe UI" pitchFamily="34" charset="-122"/>
                          <a:cs typeface="Segoe UI" pitchFamily="34" charset="-120"/>
                        </a:rPr>
                        <a:t>Le lot 2 infructueux s’affiche « Lot 2 — / Résultat communiqué le · affiché le », champs vides.</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050" b="1" dirty="0">
                          <a:solidFill>
                            <a:srgbClr val="B23B3B"/>
                          </a:solidFill>
                          <a:latin typeface="Segoe UI" pitchFamily="34" charset="0"/>
                          <a:ea typeface="Segoe UI" pitchFamily="34" charset="-122"/>
                          <a:cs typeface="Segoe UI" pitchFamily="34" charset="-120"/>
                        </a:rPr>
                        <a:t>Confirmée</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050" dirty="0">
                          <a:solidFill>
                            <a:srgbClr val="465568"/>
                          </a:solidFill>
                          <a:latin typeface="Segoe UI" pitchFamily="34" charset="0"/>
                          <a:ea typeface="Segoe UI" pitchFamily="34" charset="-122"/>
                          <a:cs typeface="Segoe UI" pitchFamily="34" charset="-120"/>
                        </a:rPr>
                        <a:t>Front</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bl>
          </a:graphicData>
        </a:graphic>
      </p:graphicFrame>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564</a:t>
            </a:r>
            <a:endParaRPr lang="en-US" sz="1100" dirty="0"/>
          </a:p>
        </p:txBody>
      </p:sp>
    </p:spTree>
  </p:cSld>
  <p:clrMapOvr>
    <a:masterClrMapping/>
  </p:clrMapOvr>
</p:sld>
</file>

<file path=ppt/slides/slide565.xml><?xml version="1.0" encoding="utf-8"?>
<p:sld xmlns:a="http://schemas.openxmlformats.org/drawingml/2006/main" xmlns:r="http://schemas.openxmlformats.org/officeDocument/2006/relationships" xmlns:p="http://schemas.openxmlformats.org/presentationml/2006/main">
  <p:cSld name="Slide 565">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C</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anomalies relevées pendant la refonte (2/2)</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 Confirmée » : constatée sur l’écran capturé ; « Expliquée » : un effet des données de recette ; « À examiner » : signalée, cause à établir. Aucune n’a été corrigée dans le cadre de la refonte.</a:t>
            </a:r>
            <a:endParaRPr lang="en-US" sz="1300" dirty="0"/>
          </a:p>
        </p:txBody>
      </p:sp>
      <p:graphicFrame>
        <p:nvGraphicFramePr>
          <p:cNvPr id="566" name="Table 0"/>
          <p:cNvGraphicFramePr>
            <a:graphicFrameLocks noGrp="1"/>
          </p:cNvGraphicFramePr>
          <p:nvPr>
            <p:extLst>
              <p:ext uri="{D42A27DB-BD31-4B8C-83A1-F6EECF244321}">
                <p14:modId xmlns:p14="http://schemas.microsoft.com/office/powerpoint/2010/main" val="1579011935"/>
              </p:ext>
            </p:extLst>
          </p:nvPr>
        </p:nvGraphicFramePr>
        <p:xfrm>
          <a:off x="593324" y="1651000"/>
          <a:ext cx="11430000" cy="914400"/>
        </p:xfrm>
        <a:graphic>
          <a:graphicData uri="http://schemas.openxmlformats.org/drawingml/2006/table">
            <a:tbl>
              <a:tblPr/>
              <a:tblGrid>
                <a:gridCol w="2468880">
                  <a:extLst>
                    <a:ext uri="{9D8B030D-6E8A-4147-A177-3AD203B41FA5}">
                      <a16:colId xmlns:a16="http://schemas.microsoft.com/office/drawing/2014/main" val="20000"/>
                    </a:ext>
                  </a:extLst>
                </a:gridCol>
                <a:gridCol w="6309360">
                  <a:extLst>
                    <a:ext uri="{9D8B030D-6E8A-4147-A177-3AD203B41FA5}">
                      <a16:colId xmlns:a16="http://schemas.microsoft.com/office/drawing/2014/main" val="20001"/>
                    </a:ext>
                  </a:extLst>
                </a:gridCol>
                <a:gridCol w="1188720">
                  <a:extLst>
                    <a:ext uri="{9D8B030D-6E8A-4147-A177-3AD203B41FA5}">
                      <a16:colId xmlns:a16="http://schemas.microsoft.com/office/drawing/2014/main" val="20002"/>
                    </a:ext>
                  </a:extLst>
                </a:gridCol>
                <a:gridCol w="1463040">
                  <a:extLst>
                    <a:ext uri="{9D8B030D-6E8A-4147-A177-3AD203B41FA5}">
                      <a16:colId xmlns:a16="http://schemas.microsoft.com/office/drawing/2014/main" val="20003"/>
                    </a:ext>
                  </a:extLst>
                </a:gridCol>
              </a:tblGrid>
              <a:tr h="0">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Écran</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Constat</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Statut</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tc>
                  <a:txBody>
                    <a:bodyPr/>
                    <a:lstStyle/>
                    <a:p>
                      <a:pPr marL="0" indent="0">
                        <a:buNone/>
                      </a:pPr>
                      <a:r>
                        <a:rPr lang="en-US" sz="1100" b="1" dirty="0">
                          <a:solidFill>
                            <a:srgbClr val="FCFCFA"/>
                          </a:solidFill>
                          <a:latin typeface="Segoe UI" pitchFamily="34" charset="0"/>
                          <a:ea typeface="Segoe UI" pitchFamily="34" charset="-122"/>
                          <a:cs typeface="Segoe UI" pitchFamily="34" charset="-120"/>
                        </a:rPr>
                        <a:t>Piste</a:t>
                      </a:r>
                      <a:endParaRPr lang="en-US" sz="1100" dirty="0">
                        <a:latin typeface="Segoe UI" charset="0"/>
                        <a:ea typeface="Segoe UI" charset="0"/>
                        <a:cs typeface="Segoe UI" charset="0"/>
                      </a:endParaRPr>
                    </a:p>
                  </a:txBody>
                  <a:tcPr marL="50800" marR="50800" marT="25400" marB="254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12324A"/>
                    </a:solidFill>
                  </a:tcPr>
                </a:tc>
                <a:extLst>
                  <a:ext uri="{0D108BD9-81ED-4DB2-BD59-A6C34878D82A}">
                    <a16:rowId xmlns:a16="http://schemas.microsoft.com/office/drawing/2014/main" val="10000"/>
                  </a:ext>
                </a:extLst>
              </a:tr>
              <a:tr h="0">
                <a:tc>
                  <a:txBody>
                    <a:bodyPr/>
                    <a:lstStyle/>
                    <a:p>
                      <a:pPr marL="0" indent="0">
                        <a:buNone/>
                      </a:pPr>
                      <a:r>
                        <a:rPr lang="en-US" sz="1050" b="1" dirty="0">
                          <a:solidFill>
                            <a:srgbClr val="1B2A3A"/>
                          </a:solidFill>
                          <a:latin typeface="Segoe UI" pitchFamily="34" charset="0"/>
                          <a:ea typeface="Segoe UI" pitchFamily="34" charset="-122"/>
                          <a:cs typeface="Segoe UI" pitchFamily="34" charset="-120"/>
                        </a:rPr>
                        <a:t>06 · Mes offres (candidat)</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050" dirty="0">
                          <a:solidFill>
                            <a:srgbClr val="1B2A3A"/>
                          </a:solidFill>
                          <a:latin typeface="Segoe UI" pitchFamily="34" charset="0"/>
                          <a:ea typeface="Segoe UI" pitchFamily="34" charset="-122"/>
                          <a:cs typeface="Segoe UI" pitchFamily="34" charset="-120"/>
                        </a:rPr>
                        <a:t>« Remplacer » et « Retirer… » restent proposés sur des offres dont la date limite est passée (procédure 50).</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050" b="1" dirty="0">
                          <a:solidFill>
                            <a:srgbClr val="B23B3B"/>
                          </a:solidFill>
                          <a:latin typeface="Segoe UI" pitchFamily="34" charset="0"/>
                          <a:ea typeface="Segoe UI" pitchFamily="34" charset="-122"/>
                          <a:cs typeface="Segoe UI" pitchFamily="34" charset="-120"/>
                        </a:rPr>
                        <a:t>Confirmée</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050" dirty="0">
                          <a:solidFill>
                            <a:srgbClr val="465568"/>
                          </a:solidFill>
                          <a:latin typeface="Segoe UI" pitchFamily="34" charset="0"/>
                          <a:ea typeface="Segoe UI" pitchFamily="34" charset="-122"/>
                          <a:cs typeface="Segoe UI" pitchFamily="34" charset="-120"/>
                        </a:rPr>
                        <a:t>Front</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1"/>
                  </a:ext>
                </a:extLst>
              </a:tr>
              <a:tr h="0">
                <a:tc>
                  <a:txBody>
                    <a:bodyPr/>
                    <a:lstStyle/>
                    <a:p>
                      <a:pPr marL="0" indent="0">
                        <a:buNone/>
                      </a:pPr>
                      <a:r>
                        <a:rPr lang="en-US" sz="1050" b="1" dirty="0">
                          <a:solidFill>
                            <a:srgbClr val="1B2A3A"/>
                          </a:solidFill>
                          <a:latin typeface="Segoe UI" pitchFamily="34" charset="0"/>
                          <a:ea typeface="Segoe UI" pitchFamily="34" charset="-122"/>
                          <a:cs typeface="Segoe UI" pitchFamily="34" charset="-120"/>
                        </a:rPr>
                        <a:t>01 · Notifications</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050" dirty="0">
                          <a:solidFill>
                            <a:srgbClr val="1B2A3A"/>
                          </a:solidFill>
                          <a:latin typeface="Segoe UI" pitchFamily="34" charset="0"/>
                          <a:ea typeface="Segoe UI" pitchFamily="34" charset="-122"/>
                          <a:cs typeface="Segoe UI" pitchFamily="34" charset="-120"/>
                        </a:rPr>
                        <a:t>Le filtre par type affiche des libellés sans accents (« Cles publiees », « Recu a valider »…).</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050" b="1" dirty="0">
                          <a:solidFill>
                            <a:srgbClr val="B23B3B"/>
                          </a:solidFill>
                          <a:latin typeface="Segoe UI" pitchFamily="34" charset="0"/>
                          <a:ea typeface="Segoe UI" pitchFamily="34" charset="-122"/>
                          <a:cs typeface="Segoe UI" pitchFamily="34" charset="-120"/>
                        </a:rPr>
                        <a:t>Confirmée</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050" dirty="0">
                          <a:solidFill>
                            <a:srgbClr val="465568"/>
                          </a:solidFill>
                          <a:latin typeface="Segoe UI" pitchFamily="34" charset="0"/>
                          <a:ea typeface="Segoe UI" pitchFamily="34" charset="-122"/>
                          <a:cs typeface="Segoe UI" pitchFamily="34" charset="-120"/>
                        </a:rPr>
                        <a:t>Front</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2"/>
                  </a:ext>
                </a:extLst>
              </a:tr>
              <a:tr h="0">
                <a:tc>
                  <a:txBody>
                    <a:bodyPr/>
                    <a:lstStyle/>
                    <a:p>
                      <a:pPr marL="0" indent="0">
                        <a:buNone/>
                      </a:pPr>
                      <a:r>
                        <a:rPr lang="en-US" sz="1050" b="1" dirty="0">
                          <a:solidFill>
                            <a:srgbClr val="1B2A3A"/>
                          </a:solidFill>
                          <a:latin typeface="Segoe UI" pitchFamily="34" charset="0"/>
                          <a:ea typeface="Segoe UI" pitchFamily="34" charset="-122"/>
                          <a:cs typeface="Segoe UI" pitchFamily="34" charset="-120"/>
                        </a:rPr>
                        <a:t>07 · Séance (procédure 44)</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050" dirty="0">
                          <a:solidFill>
                            <a:srgbClr val="1B2A3A"/>
                          </a:solidFill>
                          <a:latin typeface="Segoe UI" pitchFamily="34" charset="0"/>
                          <a:ea typeface="Segoe UI" pitchFamily="34" charset="-122"/>
                          <a:cs typeface="Segoe UI" pitchFamily="34" charset="-120"/>
                        </a:rPr>
                        <a:t>PV « signé » mais « Quorum non atteint, 1 sur 2 » : PV du 05/10, antérieur à la règle du quorum (10/10), second membre empêché.</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050" b="1" dirty="0">
                          <a:solidFill>
                            <a:srgbClr val="2E8B57"/>
                          </a:solidFill>
                          <a:latin typeface="Segoe UI" pitchFamily="34" charset="0"/>
                          <a:ea typeface="Segoe UI" pitchFamily="34" charset="-122"/>
                          <a:cs typeface="Segoe UI" pitchFamily="34" charset="-120"/>
                        </a:rPr>
                        <a:t>Expliquée</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050" dirty="0">
                          <a:solidFill>
                            <a:srgbClr val="465568"/>
                          </a:solidFill>
                          <a:latin typeface="Segoe UI" pitchFamily="34" charset="0"/>
                          <a:ea typeface="Segoe UI" pitchFamily="34" charset="-122"/>
                          <a:cs typeface="Segoe UI" pitchFamily="34" charset="-120"/>
                        </a:rPr>
                        <a:t>Données</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3"/>
                  </a:ext>
                </a:extLst>
              </a:tr>
              <a:tr h="0">
                <a:tc>
                  <a:txBody>
                    <a:bodyPr/>
                    <a:lstStyle/>
                    <a:p>
                      <a:pPr marL="0" indent="0">
                        <a:buNone/>
                      </a:pPr>
                      <a:r>
                        <a:rPr lang="en-US" sz="1050" b="1" dirty="0">
                          <a:solidFill>
                            <a:srgbClr val="1B2A3A"/>
                          </a:solidFill>
                          <a:latin typeface="Segoe UI" pitchFamily="34" charset="0"/>
                          <a:ea typeface="Segoe UI" pitchFamily="34" charset="-122"/>
                          <a:cs typeface="Segoe UI" pitchFamily="34" charset="-120"/>
                        </a:rPr>
                        <a:t>03 · Vérifier (dossier 100372)</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050" dirty="0">
                          <a:solidFill>
                            <a:srgbClr val="1B2A3A"/>
                          </a:solidFill>
                          <a:latin typeface="Segoe UI" pitchFamily="34" charset="0"/>
                          <a:ea typeface="Segoe UI" pitchFamily="34" charset="-122"/>
                          <a:cs typeface="Segoe UI" pitchFamily="34" charset="-120"/>
                        </a:rPr>
                        <a:t>Le bandeau décrit le cas « avis favorable avec réserve » sur un dossier « Favorable ».</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050" b="1" dirty="0">
                          <a:solidFill>
                            <a:srgbClr val="E3AE2E"/>
                          </a:solidFill>
                          <a:latin typeface="Segoe UI" pitchFamily="34" charset="0"/>
                          <a:ea typeface="Segoe UI" pitchFamily="34" charset="-122"/>
                          <a:cs typeface="Segoe UI" pitchFamily="34" charset="-120"/>
                        </a:rPr>
                        <a:t>À examiner</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050" dirty="0">
                          <a:solidFill>
                            <a:srgbClr val="465568"/>
                          </a:solidFill>
                          <a:latin typeface="Segoe UI" pitchFamily="34" charset="0"/>
                          <a:ea typeface="Segoe UI" pitchFamily="34" charset="-122"/>
                          <a:cs typeface="Segoe UI" pitchFamily="34" charset="-120"/>
                        </a:rPr>
                        <a:t>Front</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4"/>
                  </a:ext>
                </a:extLst>
              </a:tr>
              <a:tr h="0">
                <a:tc>
                  <a:txBody>
                    <a:bodyPr/>
                    <a:lstStyle/>
                    <a:p>
                      <a:pPr marL="0" indent="0">
                        <a:buNone/>
                      </a:pPr>
                      <a:r>
                        <a:rPr lang="en-US" sz="1050" b="1" dirty="0">
                          <a:solidFill>
                            <a:srgbClr val="1B2A3A"/>
                          </a:solidFill>
                          <a:latin typeface="Segoe UI" pitchFamily="34" charset="0"/>
                          <a:ea typeface="Segoe UI" pitchFamily="34" charset="-122"/>
                          <a:cs typeface="Segoe UI" pitchFamily="34" charset="-120"/>
                        </a:rPr>
                        <a:t>04 · Paramètres internes (40)</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050" dirty="0">
                          <a:solidFill>
                            <a:srgbClr val="1B2A3A"/>
                          </a:solidFill>
                          <a:latin typeface="Segoe UI" pitchFamily="34" charset="0"/>
                          <a:ea typeface="Segoe UI" pitchFamily="34" charset="-122"/>
                          <a:cs typeface="Segoe UI" pitchFamily="34" charset="-120"/>
                        </a:rPr>
                        <a:t>Mentions internes visibles (« arbitrage du pilote, 04/10 », « (règle 8) ») ; adresse du dépositaire sous « Contact », champ obligatoire vide.</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050" b="1" dirty="0">
                          <a:solidFill>
                            <a:srgbClr val="E3AE2E"/>
                          </a:solidFill>
                          <a:latin typeface="Segoe UI" pitchFamily="34" charset="0"/>
                          <a:ea typeface="Segoe UI" pitchFamily="34" charset="-122"/>
                          <a:cs typeface="Segoe UI" pitchFamily="34" charset="-120"/>
                        </a:rPr>
                        <a:t>À examiner</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050" dirty="0">
                          <a:solidFill>
                            <a:srgbClr val="465568"/>
                          </a:solidFill>
                          <a:latin typeface="Segoe UI" pitchFamily="34" charset="0"/>
                          <a:ea typeface="Segoe UI" pitchFamily="34" charset="-122"/>
                          <a:cs typeface="Segoe UI" pitchFamily="34" charset="-120"/>
                        </a:rPr>
                        <a:t>Front</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5"/>
                  </a:ext>
                </a:extLst>
              </a:tr>
              <a:tr h="0">
                <a:tc>
                  <a:txBody>
                    <a:bodyPr/>
                    <a:lstStyle/>
                    <a:p>
                      <a:pPr marL="0" indent="0">
                        <a:buNone/>
                      </a:pPr>
                      <a:r>
                        <a:rPr lang="en-US" sz="1050" b="1" dirty="0">
                          <a:solidFill>
                            <a:srgbClr val="1B2A3A"/>
                          </a:solidFill>
                          <a:latin typeface="Segoe UI" pitchFamily="34" charset="0"/>
                          <a:ea typeface="Segoe UI" pitchFamily="34" charset="-122"/>
                          <a:cs typeface="Segoe UI" pitchFamily="34" charset="-120"/>
                        </a:rPr>
                        <a:t>09 · Acte de gestion en brouillon (100374)</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050" dirty="0">
                          <a:solidFill>
                            <a:srgbClr val="1B2A3A"/>
                          </a:solidFill>
                          <a:latin typeface="Segoe UI" pitchFamily="34" charset="0"/>
                          <a:ea typeface="Segoe UI" pitchFamily="34" charset="-122"/>
                          <a:cs typeface="Segoe UI" pitchFamily="34" charset="-120"/>
                        </a:rPr>
                        <a:t>Deux boutons de soumission : « Soumettre le dossier » et « Soumettre l’acte à la Commission ».</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050" b="1" dirty="0">
                          <a:solidFill>
                            <a:srgbClr val="E3AE2E"/>
                          </a:solidFill>
                          <a:latin typeface="Segoe UI" pitchFamily="34" charset="0"/>
                          <a:ea typeface="Segoe UI" pitchFamily="34" charset="-122"/>
                          <a:cs typeface="Segoe UI" pitchFamily="34" charset="-120"/>
                        </a:rPr>
                        <a:t>À examiner</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tc>
                  <a:txBody>
                    <a:bodyPr/>
                    <a:lstStyle/>
                    <a:p>
                      <a:pPr marL="0" indent="0">
                        <a:buNone/>
                      </a:pPr>
                      <a:r>
                        <a:rPr lang="en-US" sz="1050" dirty="0">
                          <a:solidFill>
                            <a:srgbClr val="465568"/>
                          </a:solidFill>
                          <a:latin typeface="Segoe UI" pitchFamily="34" charset="0"/>
                          <a:ea typeface="Segoe UI" pitchFamily="34" charset="-122"/>
                          <a:cs typeface="Segoe UI" pitchFamily="34" charset="-120"/>
                        </a:rPr>
                        <a:t>Front</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0F3F6"/>
                    </a:solidFill>
                  </a:tcPr>
                </a:tc>
                <a:extLst>
                  <a:ext uri="{0D108BD9-81ED-4DB2-BD59-A6C34878D82A}">
                    <a16:rowId xmlns:a16="http://schemas.microsoft.com/office/drawing/2014/main" val="10006"/>
                  </a:ext>
                </a:extLst>
              </a:tr>
              <a:tr h="0">
                <a:tc>
                  <a:txBody>
                    <a:bodyPr/>
                    <a:lstStyle/>
                    <a:p>
                      <a:pPr marL="0" indent="0">
                        <a:buNone/>
                      </a:pPr>
                      <a:r>
                        <a:rPr lang="en-US" sz="1050" b="1" dirty="0">
                          <a:solidFill>
                            <a:srgbClr val="1B2A3A"/>
                          </a:solidFill>
                          <a:latin typeface="Segoe UI" pitchFamily="34" charset="0"/>
                          <a:ea typeface="Segoe UI" pitchFamily="34" charset="-122"/>
                          <a:cs typeface="Segoe UI" pitchFamily="34" charset="-120"/>
                        </a:rPr>
                        <a:t>03 · Écrans figés</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050" dirty="0">
                          <a:solidFill>
                            <a:srgbClr val="1B2A3A"/>
                          </a:solidFill>
                          <a:latin typeface="Segoe UI" pitchFamily="34" charset="0"/>
                          <a:ea typeface="Segoe UI" pitchFamily="34" charset="-122"/>
                          <a:cs typeface="Segoe UI" pitchFamily="34" charset="-120"/>
                        </a:rPr>
                        <a:t>La ligne du plan figée affiche des codes bruts (« Nature 1 », « CONTRAT_CADRE ») et des libellés sans accents (« Entite », « Prmp email »).</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050" b="1" dirty="0">
                          <a:solidFill>
                            <a:srgbClr val="E3AE2E"/>
                          </a:solidFill>
                          <a:latin typeface="Segoe UI" pitchFamily="34" charset="0"/>
                          <a:ea typeface="Segoe UI" pitchFamily="34" charset="-122"/>
                          <a:cs typeface="Segoe UI" pitchFamily="34" charset="-120"/>
                        </a:rPr>
                        <a:t>À examiner</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tc>
                  <a:txBody>
                    <a:bodyPr/>
                    <a:lstStyle/>
                    <a:p>
                      <a:pPr marL="0" indent="0">
                        <a:buNone/>
                      </a:pPr>
                      <a:r>
                        <a:rPr lang="en-US" sz="1050" dirty="0">
                          <a:solidFill>
                            <a:srgbClr val="465568"/>
                          </a:solidFill>
                          <a:latin typeface="Segoe UI" pitchFamily="34" charset="0"/>
                          <a:ea typeface="Segoe UI" pitchFamily="34" charset="-122"/>
                          <a:cs typeface="Segoe UI" pitchFamily="34" charset="-120"/>
                        </a:rPr>
                        <a:t>Serveur et front</a:t>
                      </a:r>
                      <a:endParaRPr lang="en-US" sz="1050" dirty="0">
                        <a:latin typeface="Segoe UI" charset="0"/>
                        <a:ea typeface="Segoe UI" charset="0"/>
                        <a:cs typeface="Segoe UI" charset="0"/>
                      </a:endParaRPr>
                    </a:p>
                  </a:txBody>
                  <a:tcPr marL="76200" marR="76200" marT="38100" marB="38100" anchor="ctr">
                    <a:lnL w="6350" cap="flat" cmpd="sng" algn="ctr">
                      <a:solidFill>
                        <a:srgbClr val="D5DCE4"/>
                      </a:solidFill>
                      <a:prstDash val="solid"/>
                      <a:round/>
                      <a:headEnd type="none" w="med" len="med"/>
                      <a:tailEnd type="none" w="med" len="med"/>
                    </a:lnL>
                    <a:lnR w="6350" cap="flat" cmpd="sng" algn="ctr">
                      <a:solidFill>
                        <a:srgbClr val="D5DCE4"/>
                      </a:solidFill>
                      <a:prstDash val="solid"/>
                      <a:round/>
                      <a:headEnd type="none" w="med" len="med"/>
                      <a:tailEnd type="none" w="med" len="med"/>
                    </a:lnR>
                    <a:lnT w="6350" cap="flat" cmpd="sng" algn="ctr">
                      <a:solidFill>
                        <a:srgbClr val="D5DCE4"/>
                      </a:solidFill>
                      <a:prstDash val="solid"/>
                      <a:round/>
                      <a:headEnd type="none" w="med" len="med"/>
                      <a:tailEnd type="none" w="med" len="med"/>
                    </a:lnT>
                    <a:lnB w="6350" cap="flat" cmpd="sng" algn="ctr">
                      <a:solidFill>
                        <a:srgbClr val="D5DCE4"/>
                      </a:solidFill>
                      <a:prstDash val="solid"/>
                      <a:round/>
                      <a:headEnd type="none" w="med" len="med"/>
                      <a:tailEnd type="none" w="med" len="med"/>
                    </a:lnB>
                    <a:solidFill>
                      <a:srgbClr val="FCFCFA"/>
                    </a:solidFill>
                  </a:tcPr>
                </a:tc>
                <a:extLst>
                  <a:ext uri="{0D108BD9-81ED-4DB2-BD59-A6C34878D82A}">
                    <a16:rowId xmlns:a16="http://schemas.microsoft.com/office/drawing/2014/main" val="10007"/>
                  </a:ext>
                </a:extLst>
              </a:tr>
            </a:tbl>
          </a:graphicData>
        </a:graphic>
      </p:graphicFrame>
      <p:sp>
        <p:nvSpPr>
          <p:cNvPr id="6" name="Text 3"/>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565</a:t>
            </a:r>
            <a:endParaRPr lang="en-US" sz="1100" dirty="0"/>
          </a:p>
        </p:txBody>
      </p:sp>
    </p:spTree>
  </p:cSld>
  <p:clrMapOvr>
    <a:masterClrMapping/>
  </p:clrMapOvr>
</p:sld>
</file>

<file path=ppt/slides/slide566.xml><?xml version="1.0" encoding="utf-8"?>
<p:sld xmlns:a="http://schemas.openxmlformats.org/drawingml/2006/main" xmlns:r="http://schemas.openxmlformats.org/officeDocument/2006/relationships" xmlns:p="http://schemas.openxmlformats.org/presentationml/2006/main">
  <p:cSld name="Slide 566">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C</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Les données de démonstration utilisées</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Les captures neuves ont été prises le 14/10/2026 sur la base de recette, en lecture seule : aucune donnée n’a été créée ni modifiée pour la présentation.</a:t>
            </a:r>
            <a:endParaRPr lang="en-US" sz="1300" dirty="0"/>
          </a:p>
        </p:txBody>
      </p:sp>
      <p:sp>
        <p:nvSpPr>
          <p:cNvPr id="5" name="Shape 3"/>
          <p:cNvSpPr/>
          <p:nvPr/>
        </p:nvSpPr>
        <p:spPr>
          <a:xfrm>
            <a:off x="812780" y="1651000"/>
            <a:ext cx="3420448" cy="2159000"/>
          </a:xfrm>
          <a:prstGeom prst="rect">
            <a:avLst/>
          </a:prstGeom>
          <a:solidFill>
            <a:srgbClr val="FCFCFA"/>
          </a:solidFill>
          <a:ln w="9525">
            <a:solidFill>
              <a:srgbClr val="D5DCE4"/>
            </a:solidFill>
            <a:prstDash val="solid"/>
          </a:ln>
        </p:spPr>
        <p:txBody>
          <a:bodyPr/>
          <a:lstStyle/>
          <a:p>
            <a:endParaRPr lang="fr-FR"/>
          </a:p>
        </p:txBody>
      </p:sp>
      <p:sp>
        <p:nvSpPr>
          <p:cNvPr id="6" name="Shape 4"/>
          <p:cNvSpPr/>
          <p:nvPr/>
        </p:nvSpPr>
        <p:spPr>
          <a:xfrm>
            <a:off x="812780" y="1651000"/>
            <a:ext cx="3420448" cy="38100"/>
          </a:xfrm>
          <a:prstGeom prst="rect">
            <a:avLst/>
          </a:prstGeom>
          <a:solidFill>
            <a:srgbClr val="1B6FA8"/>
          </a:solidFill>
          <a:ln/>
        </p:spPr>
        <p:txBody>
          <a:bodyPr/>
          <a:lstStyle/>
          <a:p>
            <a:endParaRPr lang="fr-FR"/>
          </a:p>
        </p:txBody>
      </p:sp>
      <p:sp>
        <p:nvSpPr>
          <p:cNvPr id="7" name="Text 5"/>
          <p:cNvSpPr/>
          <p:nvPr/>
        </p:nvSpPr>
        <p:spPr>
          <a:xfrm>
            <a:off x="952476" y="17526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Fiche 40 · travaux, électronique, 5 lots</a:t>
            </a:r>
            <a:endParaRPr lang="en-US" sz="1500" dirty="0"/>
          </a:p>
        </p:txBody>
      </p:sp>
      <p:sp>
        <p:nvSpPr>
          <p:cNvPr id="8" name="Text 6"/>
          <p:cNvSpPr/>
          <p:nvPr/>
        </p:nvSpPr>
        <p:spPr>
          <a:xfrm>
            <a:off x="952476" y="22098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Recette de bout en bout : séance, évaluation, lot 1 au contrôle (dossier 100371 en brouillon), lot 2 infructueux. Commission « recette ».</a:t>
            </a:r>
            <a:endParaRPr lang="en-US" sz="1200" dirty="0"/>
          </a:p>
        </p:txBody>
      </p:sp>
      <p:sp>
        <p:nvSpPr>
          <p:cNvPr id="9" name="Shape 7"/>
          <p:cNvSpPr/>
          <p:nvPr/>
        </p:nvSpPr>
        <p:spPr>
          <a:xfrm>
            <a:off x="4385624" y="1651000"/>
            <a:ext cx="3420448" cy="2159000"/>
          </a:xfrm>
          <a:prstGeom prst="rect">
            <a:avLst/>
          </a:prstGeom>
          <a:solidFill>
            <a:srgbClr val="FCFCFA"/>
          </a:solidFill>
          <a:ln w="9525">
            <a:solidFill>
              <a:srgbClr val="D5DCE4"/>
            </a:solidFill>
            <a:prstDash val="solid"/>
          </a:ln>
        </p:spPr>
        <p:txBody>
          <a:bodyPr/>
          <a:lstStyle/>
          <a:p>
            <a:endParaRPr lang="fr-FR"/>
          </a:p>
        </p:txBody>
      </p:sp>
      <p:sp>
        <p:nvSpPr>
          <p:cNvPr id="10" name="Shape 8"/>
          <p:cNvSpPr/>
          <p:nvPr/>
        </p:nvSpPr>
        <p:spPr>
          <a:xfrm>
            <a:off x="4385624" y="1651000"/>
            <a:ext cx="3420448" cy="38100"/>
          </a:xfrm>
          <a:prstGeom prst="rect">
            <a:avLst/>
          </a:prstGeom>
          <a:solidFill>
            <a:srgbClr val="2E8B57"/>
          </a:solidFill>
          <a:ln/>
        </p:spPr>
        <p:txBody>
          <a:bodyPr/>
          <a:lstStyle/>
          <a:p>
            <a:endParaRPr lang="fr-FR"/>
          </a:p>
        </p:txBody>
      </p:sp>
      <p:sp>
        <p:nvSpPr>
          <p:cNvPr id="11" name="Text 9"/>
          <p:cNvSpPr/>
          <p:nvPr/>
        </p:nvSpPr>
        <p:spPr>
          <a:xfrm>
            <a:off x="4525320" y="17526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Fiche 44 · fournitures, électronique</a:t>
            </a:r>
            <a:endParaRPr lang="en-US" sz="1500" dirty="0"/>
          </a:p>
        </p:txBody>
      </p:sp>
      <p:sp>
        <p:nvSpPr>
          <p:cNvPr id="12" name="Text 10"/>
          <p:cNvSpPr/>
          <p:nvPr/>
        </p:nvSpPr>
        <p:spPr>
          <a:xfrm>
            <a:off x="4525320" y="22098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Lot 1 informé, recours en cours, pièces de l’attributaire, original de l’AE exigé ; dossier de marché 100372 soumis (étapes closes). Commission « démonstration ».</a:t>
            </a:r>
            <a:endParaRPr lang="en-US" sz="1200" dirty="0"/>
          </a:p>
        </p:txBody>
      </p:sp>
      <p:sp>
        <p:nvSpPr>
          <p:cNvPr id="13" name="Shape 11"/>
          <p:cNvSpPr/>
          <p:nvPr/>
        </p:nvSpPr>
        <p:spPr>
          <a:xfrm>
            <a:off x="7958468" y="1651000"/>
            <a:ext cx="3420448" cy="2159000"/>
          </a:xfrm>
          <a:prstGeom prst="rect">
            <a:avLst/>
          </a:prstGeom>
          <a:solidFill>
            <a:srgbClr val="FCFCFA"/>
          </a:solidFill>
          <a:ln w="9525">
            <a:solidFill>
              <a:srgbClr val="D5DCE4"/>
            </a:solidFill>
            <a:prstDash val="solid"/>
          </a:ln>
        </p:spPr>
        <p:txBody>
          <a:bodyPr/>
          <a:lstStyle/>
          <a:p>
            <a:endParaRPr lang="fr-FR"/>
          </a:p>
        </p:txBody>
      </p:sp>
      <p:sp>
        <p:nvSpPr>
          <p:cNvPr id="14" name="Shape 12"/>
          <p:cNvSpPr/>
          <p:nvPr/>
        </p:nvSpPr>
        <p:spPr>
          <a:xfrm>
            <a:off x="7958468" y="1651000"/>
            <a:ext cx="3420448" cy="38100"/>
          </a:xfrm>
          <a:prstGeom prst="rect">
            <a:avLst/>
          </a:prstGeom>
          <a:solidFill>
            <a:srgbClr val="E3AE2E"/>
          </a:solidFill>
          <a:ln/>
        </p:spPr>
        <p:txBody>
          <a:bodyPr/>
          <a:lstStyle/>
          <a:p>
            <a:endParaRPr lang="fr-FR"/>
          </a:p>
        </p:txBody>
      </p:sp>
      <p:sp>
        <p:nvSpPr>
          <p:cNvPr id="15" name="Text 13"/>
          <p:cNvSpPr/>
          <p:nvPr/>
        </p:nvSpPr>
        <p:spPr>
          <a:xfrm>
            <a:off x="8098164" y="1752600"/>
            <a:ext cx="3141055" cy="41910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Fiche 50 · prestations intellectuelles</a:t>
            </a:r>
            <a:endParaRPr lang="en-US" sz="1500" dirty="0"/>
          </a:p>
        </p:txBody>
      </p:sp>
      <p:sp>
        <p:nvSpPr>
          <p:cNvPr id="16" name="Text 14"/>
          <p:cNvSpPr/>
          <p:nvPr/>
        </p:nvSpPr>
        <p:spPr>
          <a:xfrm>
            <a:off x="8098164" y="2209800"/>
            <a:ext cx="3141055" cy="153670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Consultation restreinte : deux séances, évaluation technique et financière, négociation ; dossier MPI 100376.</a:t>
            </a:r>
            <a:endParaRPr lang="en-US" sz="1200" dirty="0"/>
          </a:p>
        </p:txBody>
      </p:sp>
      <p:sp>
        <p:nvSpPr>
          <p:cNvPr id="17" name="Shape 15"/>
          <p:cNvSpPr/>
          <p:nvPr/>
        </p:nvSpPr>
        <p:spPr>
          <a:xfrm>
            <a:off x="812780" y="3962400"/>
            <a:ext cx="3420448" cy="2159000"/>
          </a:xfrm>
          <a:prstGeom prst="rect">
            <a:avLst/>
          </a:prstGeom>
          <a:solidFill>
            <a:srgbClr val="FCFCFA"/>
          </a:solidFill>
          <a:ln w="9525">
            <a:solidFill>
              <a:srgbClr val="D5DCE4"/>
            </a:solidFill>
            <a:prstDash val="solid"/>
          </a:ln>
        </p:spPr>
        <p:txBody>
          <a:bodyPr/>
          <a:lstStyle/>
          <a:p>
            <a:endParaRPr lang="fr-FR"/>
          </a:p>
        </p:txBody>
      </p:sp>
      <p:sp>
        <p:nvSpPr>
          <p:cNvPr id="18" name="Shape 16"/>
          <p:cNvSpPr/>
          <p:nvPr/>
        </p:nvSpPr>
        <p:spPr>
          <a:xfrm>
            <a:off x="812780" y="3962400"/>
            <a:ext cx="3420448" cy="38100"/>
          </a:xfrm>
          <a:prstGeom prst="rect">
            <a:avLst/>
          </a:prstGeom>
          <a:solidFill>
            <a:srgbClr val="12324A"/>
          </a:solidFill>
          <a:ln/>
        </p:spPr>
        <p:txBody>
          <a:bodyPr/>
          <a:lstStyle/>
          <a:p>
            <a:endParaRPr lang="fr-FR"/>
          </a:p>
        </p:txBody>
      </p:sp>
      <p:sp>
        <p:nvSpPr>
          <p:cNvPr id="19" name="Text 17"/>
          <p:cNvSpPr/>
          <p:nvPr/>
        </p:nvSpPr>
        <p:spPr>
          <a:xfrm>
            <a:off x="952476" y="4064000"/>
            <a:ext cx="3141055"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Fiche 49 · AMI</a:t>
            </a:r>
            <a:endParaRPr lang="en-US" sz="1500" dirty="0"/>
          </a:p>
        </p:txBody>
      </p:sp>
      <p:sp>
        <p:nvSpPr>
          <p:cNvPr id="20" name="Text 18"/>
          <p:cNvSpPr/>
          <p:nvPr/>
        </p:nvSpPr>
        <p:spPr>
          <a:xfrm>
            <a:off x="952476" y="4349750"/>
            <a:ext cx="3141055"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Présélection close, liste restreinte définitive.</a:t>
            </a:r>
            <a:endParaRPr lang="en-US" sz="1200" dirty="0"/>
          </a:p>
        </p:txBody>
      </p:sp>
      <p:sp>
        <p:nvSpPr>
          <p:cNvPr id="21" name="Shape 19"/>
          <p:cNvSpPr/>
          <p:nvPr/>
        </p:nvSpPr>
        <p:spPr>
          <a:xfrm>
            <a:off x="4385624" y="3962400"/>
            <a:ext cx="3420448" cy="2159000"/>
          </a:xfrm>
          <a:prstGeom prst="rect">
            <a:avLst/>
          </a:prstGeom>
          <a:solidFill>
            <a:srgbClr val="FCFCFA"/>
          </a:solidFill>
          <a:ln w="9525">
            <a:solidFill>
              <a:srgbClr val="D5DCE4"/>
            </a:solidFill>
            <a:prstDash val="solid"/>
          </a:ln>
        </p:spPr>
        <p:txBody>
          <a:bodyPr/>
          <a:lstStyle/>
          <a:p>
            <a:endParaRPr lang="fr-FR"/>
          </a:p>
        </p:txBody>
      </p:sp>
      <p:sp>
        <p:nvSpPr>
          <p:cNvPr id="22" name="Shape 20"/>
          <p:cNvSpPr/>
          <p:nvPr/>
        </p:nvSpPr>
        <p:spPr>
          <a:xfrm>
            <a:off x="4385624" y="3962400"/>
            <a:ext cx="3420448" cy="38100"/>
          </a:xfrm>
          <a:prstGeom prst="rect">
            <a:avLst/>
          </a:prstGeom>
          <a:solidFill>
            <a:srgbClr val="1B6FA8"/>
          </a:solidFill>
          <a:ln/>
        </p:spPr>
        <p:txBody>
          <a:bodyPr/>
          <a:lstStyle/>
          <a:p>
            <a:endParaRPr lang="fr-FR"/>
          </a:p>
        </p:txBody>
      </p:sp>
      <p:sp>
        <p:nvSpPr>
          <p:cNvPr id="23" name="Text 21"/>
          <p:cNvSpPr/>
          <p:nvPr/>
        </p:nvSpPr>
        <p:spPr>
          <a:xfrm>
            <a:off x="4525320" y="4064000"/>
            <a:ext cx="3141055"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Fiches 32 et 39 · papier</a:t>
            </a:r>
            <a:endParaRPr lang="en-US" sz="1500" dirty="0"/>
          </a:p>
        </p:txBody>
      </p:sp>
      <p:sp>
        <p:nvSpPr>
          <p:cNvPr id="24" name="Text 22"/>
          <p:cNvSpPr/>
          <p:nvPr/>
        </p:nvSpPr>
        <p:spPr>
          <a:xfrm>
            <a:off x="4525320" y="4349750"/>
            <a:ext cx="3141055"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Mode de remise figé en papier (R8) ; dossier 100378 dispatché, examen en cours avec contrôles du Membre et écrans figés.</a:t>
            </a:r>
            <a:endParaRPr lang="en-US" sz="1200" dirty="0"/>
          </a:p>
        </p:txBody>
      </p:sp>
      <p:sp>
        <p:nvSpPr>
          <p:cNvPr id="25" name="Shape 23"/>
          <p:cNvSpPr/>
          <p:nvPr/>
        </p:nvSpPr>
        <p:spPr>
          <a:xfrm>
            <a:off x="7958468" y="3962400"/>
            <a:ext cx="3420448" cy="2159000"/>
          </a:xfrm>
          <a:prstGeom prst="rect">
            <a:avLst/>
          </a:prstGeom>
          <a:solidFill>
            <a:srgbClr val="FCFCFA"/>
          </a:solidFill>
          <a:ln w="9525">
            <a:solidFill>
              <a:srgbClr val="D5DCE4"/>
            </a:solidFill>
            <a:prstDash val="solid"/>
          </a:ln>
        </p:spPr>
        <p:txBody>
          <a:bodyPr/>
          <a:lstStyle/>
          <a:p>
            <a:endParaRPr lang="fr-FR"/>
          </a:p>
        </p:txBody>
      </p:sp>
      <p:sp>
        <p:nvSpPr>
          <p:cNvPr id="26" name="Shape 24"/>
          <p:cNvSpPr/>
          <p:nvPr/>
        </p:nvSpPr>
        <p:spPr>
          <a:xfrm>
            <a:off x="7958468" y="3962400"/>
            <a:ext cx="3420448" cy="38100"/>
          </a:xfrm>
          <a:prstGeom prst="rect">
            <a:avLst/>
          </a:prstGeom>
          <a:solidFill>
            <a:srgbClr val="2E8B57"/>
          </a:solidFill>
          <a:ln/>
        </p:spPr>
        <p:txBody>
          <a:bodyPr/>
          <a:lstStyle/>
          <a:p>
            <a:endParaRPr lang="fr-FR"/>
          </a:p>
        </p:txBody>
      </p:sp>
      <p:sp>
        <p:nvSpPr>
          <p:cNvPr id="27" name="Text 25"/>
          <p:cNvSpPr/>
          <p:nvPr/>
        </p:nvSpPr>
        <p:spPr>
          <a:xfrm>
            <a:off x="8098164" y="4064000"/>
            <a:ext cx="3141055"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Plans 100359 et 100363</a:t>
            </a:r>
            <a:endParaRPr lang="en-US" sz="1500" dirty="0"/>
          </a:p>
        </p:txBody>
      </p:sp>
      <p:sp>
        <p:nvSpPr>
          <p:cNvPr id="28" name="Text 26"/>
          <p:cNvSpPr/>
          <p:nvPr/>
        </p:nvSpPr>
        <p:spPr>
          <a:xfrm>
            <a:off x="8098164" y="4349750"/>
            <a:ext cx="3141055"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Plan transmis à SIGMP et plan clôturé ; dossiers 100373 et 100374 : actes de gestion ; 100377 : déclaration sans suite.</a:t>
            </a:r>
            <a:endParaRPr lang="en-US" sz="1200" dirty="0"/>
          </a:p>
        </p:txBody>
      </p:sp>
      <p:sp>
        <p:nvSpPr>
          <p:cNvPr id="29" name="Text 27"/>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566</a:t>
            </a:r>
            <a:endParaRPr lang="en-US" sz="1100" dirty="0"/>
          </a:p>
        </p:txBody>
      </p:sp>
    </p:spTree>
  </p:cSld>
  <p:clrMapOvr>
    <a:masterClrMapping/>
  </p:clrMapOvr>
</p:sld>
</file>

<file path=ppt/slides/slide567.xml><?xml version="1.0" encoding="utf-8"?>
<p:sld xmlns:a="http://schemas.openxmlformats.org/drawingml/2006/main" xmlns:r="http://schemas.openxmlformats.org/officeDocument/2006/relationships" xmlns:p="http://schemas.openxmlformats.org/presentationml/2006/main">
  <p:cSld name="Slide 567">
    <p:bg>
      <p:bgPr>
        <a:solidFill>
          <a:srgbClr val="F5F6F2"/>
        </a:solidFill>
        <a:effectLst/>
      </p:bgPr>
    </p:bg>
    <p:spTree>
      <p:nvGrpSpPr>
        <p:cNvPr id="1" name=""/>
        <p:cNvGrpSpPr/>
        <p:nvPr/>
      </p:nvGrpSpPr>
      <p:grpSpPr>
        <a:xfrm>
          <a:off x="0" y="0"/>
          <a:ext cx="0" cy="0"/>
          <a:chOff x="0" y="0"/>
          <a:chExt cx="0" cy="0"/>
        </a:xfrm>
      </p:grpSpPr>
      <p:sp>
        <p:nvSpPr>
          <p:cNvPr id="2" name="Text 0"/>
          <p:cNvSpPr/>
          <p:nvPr/>
        </p:nvSpPr>
        <p:spPr>
          <a:xfrm>
            <a:off x="812780" y="381000"/>
            <a:ext cx="10566136" cy="215900"/>
          </a:xfrm>
          <a:prstGeom prst="rect">
            <a:avLst/>
          </a:prstGeom>
          <a:noFill/>
          <a:ln/>
        </p:spPr>
        <p:txBody>
          <a:bodyPr wrap="square" rtlCol="0" anchor="ctr"/>
          <a:lstStyle/>
          <a:p>
            <a:pPr marL="0" indent="0">
              <a:buNone/>
            </a:pPr>
            <a:r>
              <a:rPr lang="en-US" sz="1200" b="1" kern="0" spc="200" dirty="0">
                <a:solidFill>
                  <a:srgbClr val="1B6FA8"/>
                </a:solidFill>
                <a:latin typeface="Segoe UI" pitchFamily="34" charset="0"/>
                <a:ea typeface="Segoe UI" pitchFamily="34" charset="-122"/>
                <a:cs typeface="Segoe UI" pitchFamily="34" charset="-120"/>
              </a:rPr>
              <a:t>ANNEXE C</a:t>
            </a:r>
            <a:endParaRPr lang="en-US" sz="1200" dirty="0"/>
          </a:p>
        </p:txBody>
      </p:sp>
      <p:sp>
        <p:nvSpPr>
          <p:cNvPr id="3" name="Text 1"/>
          <p:cNvSpPr/>
          <p:nvPr/>
        </p:nvSpPr>
        <p:spPr>
          <a:xfrm>
            <a:off x="812780" y="609600"/>
            <a:ext cx="10566136" cy="419100"/>
          </a:xfrm>
          <a:prstGeom prst="rect">
            <a:avLst/>
          </a:prstGeom>
          <a:noFill/>
          <a:ln/>
        </p:spPr>
        <p:txBody>
          <a:bodyPr wrap="square" rtlCol="0" anchor="ctr">
            <a:normAutofit/>
          </a:bodyPr>
          <a:lstStyle/>
          <a:p>
            <a:pPr marL="0" indent="0">
              <a:buNone/>
            </a:pPr>
            <a:r>
              <a:rPr lang="en-US" sz="2600" b="1" dirty="0">
                <a:solidFill>
                  <a:srgbClr val="1B2A3A"/>
                </a:solidFill>
                <a:latin typeface="Segoe UI" pitchFamily="34" charset="0"/>
                <a:ea typeface="Segoe UI" pitchFamily="34" charset="-122"/>
                <a:cs typeface="Segoe UI" pitchFamily="34" charset="-120"/>
              </a:rPr>
              <a:t>Régénérer la présentation</a:t>
            </a:r>
            <a:endParaRPr lang="en-US" sz="2600" dirty="0"/>
          </a:p>
        </p:txBody>
      </p:sp>
      <p:sp>
        <p:nvSpPr>
          <p:cNvPr id="4" name="Text 2"/>
          <p:cNvSpPr/>
          <p:nvPr/>
        </p:nvSpPr>
        <p:spPr>
          <a:xfrm>
            <a:off x="812780" y="1066800"/>
            <a:ext cx="10413740" cy="508000"/>
          </a:xfrm>
          <a:prstGeom prst="rect">
            <a:avLst/>
          </a:prstGeom>
          <a:noFill/>
          <a:ln/>
        </p:spPr>
        <p:txBody>
          <a:bodyPr wrap="square" rtlCol="0" anchor="t">
            <a:normAutofit/>
          </a:bodyPr>
          <a:lstStyle/>
          <a:p>
            <a:pPr marL="0" indent="0">
              <a:buNone/>
            </a:pPr>
            <a:r>
              <a:rPr lang="en-US" sz="1300" dirty="0">
                <a:solidFill>
                  <a:srgbClr val="465568"/>
                </a:solidFill>
                <a:latin typeface="Segoe UI" pitchFamily="34" charset="0"/>
                <a:ea typeface="Segoe UI" pitchFamily="34" charset="-122"/>
                <a:cs typeface="Segoe UI" pitchFamily="34" charset="-120"/>
              </a:rPr>
              <a:t>Le générateur réécrit tout le fichier à chaque exécution : on corrige les contenus, jamais le .pptx à la main.</a:t>
            </a:r>
            <a:endParaRPr lang="en-US" sz="1300" dirty="0"/>
          </a:p>
        </p:txBody>
      </p:sp>
      <p:sp>
        <p:nvSpPr>
          <p:cNvPr id="5" name="Shape 3"/>
          <p:cNvSpPr/>
          <p:nvPr/>
        </p:nvSpPr>
        <p:spPr>
          <a:xfrm>
            <a:off x="812780" y="1651000"/>
            <a:ext cx="2527237" cy="2159000"/>
          </a:xfrm>
          <a:prstGeom prst="rect">
            <a:avLst/>
          </a:prstGeom>
          <a:solidFill>
            <a:srgbClr val="FCFCFA"/>
          </a:solidFill>
          <a:ln w="9525">
            <a:solidFill>
              <a:srgbClr val="D5DCE4"/>
            </a:solidFill>
            <a:prstDash val="solid"/>
          </a:ln>
        </p:spPr>
        <p:txBody>
          <a:bodyPr/>
          <a:lstStyle/>
          <a:p>
            <a:endParaRPr lang="fr-FR"/>
          </a:p>
        </p:txBody>
      </p:sp>
      <p:sp>
        <p:nvSpPr>
          <p:cNvPr id="6" name="Shape 4"/>
          <p:cNvSpPr/>
          <p:nvPr/>
        </p:nvSpPr>
        <p:spPr>
          <a:xfrm>
            <a:off x="812780" y="1651000"/>
            <a:ext cx="2527237" cy="38100"/>
          </a:xfrm>
          <a:prstGeom prst="rect">
            <a:avLst/>
          </a:prstGeom>
          <a:solidFill>
            <a:srgbClr val="1B6FA8"/>
          </a:solidFill>
          <a:ln/>
        </p:spPr>
        <p:txBody>
          <a:bodyPr/>
          <a:lstStyle/>
          <a:p>
            <a:endParaRPr lang="fr-FR"/>
          </a:p>
        </p:txBody>
      </p:sp>
      <p:sp>
        <p:nvSpPr>
          <p:cNvPr id="7" name="Text 5"/>
          <p:cNvSpPr/>
          <p:nvPr/>
        </p:nvSpPr>
        <p:spPr>
          <a:xfrm>
            <a:off x="952476" y="1752600"/>
            <a:ext cx="2247844"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1. Captures</a:t>
            </a:r>
            <a:endParaRPr lang="en-US" sz="1500" dirty="0"/>
          </a:p>
        </p:txBody>
      </p:sp>
      <p:sp>
        <p:nvSpPr>
          <p:cNvPr id="8" name="Text 6"/>
          <p:cNvSpPr/>
          <p:nvPr/>
        </p:nvSpPr>
        <p:spPr>
          <a:xfrm>
            <a:off x="952476" y="2038350"/>
            <a:ext cx="2247844"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Serveur de dev et backend démarrés ; </a:t>
            </a:r>
            <a:r>
              <a:rPr lang="en-US" sz="1200" b="1" dirty="0">
                <a:solidFill>
                  <a:srgbClr val="1B2A3A"/>
                </a:solidFill>
                <a:latin typeface="Segoe UI" pitchFamily="34" charset="0"/>
                <a:ea typeface="Segoe UI" pitchFamily="34" charset="-122"/>
                <a:cs typeface="Segoe UI" pitchFamily="34" charset="-120"/>
              </a:rPr>
              <a:t>node capturer.mjs man/‹partie›.mjs</a:t>
            </a:r>
            <a:r>
              <a:rPr lang="en-US" sz="1200" dirty="0">
                <a:solidFill>
                  <a:srgbClr val="465568"/>
                </a:solidFill>
                <a:latin typeface="Segoe UI" pitchFamily="34" charset="0"/>
                <a:ea typeface="Segoe UI" pitchFamily="34" charset="-122"/>
                <a:cs typeface="Segoe UI" pitchFamily="34" charset="-120"/>
              </a:rPr>
              <a:t> (navigation seule, masquage dans la page) → cap/.</a:t>
            </a:r>
            <a:endParaRPr lang="en-US" sz="1200" dirty="0"/>
          </a:p>
        </p:txBody>
      </p:sp>
      <p:sp>
        <p:nvSpPr>
          <p:cNvPr id="9" name="Shape 7"/>
          <p:cNvSpPr/>
          <p:nvPr/>
        </p:nvSpPr>
        <p:spPr>
          <a:xfrm>
            <a:off x="3492413" y="1651000"/>
            <a:ext cx="2527237" cy="2159000"/>
          </a:xfrm>
          <a:prstGeom prst="rect">
            <a:avLst/>
          </a:prstGeom>
          <a:solidFill>
            <a:srgbClr val="FCFCFA"/>
          </a:solidFill>
          <a:ln w="9525">
            <a:solidFill>
              <a:srgbClr val="D5DCE4"/>
            </a:solidFill>
            <a:prstDash val="solid"/>
          </a:ln>
        </p:spPr>
        <p:txBody>
          <a:bodyPr/>
          <a:lstStyle/>
          <a:p>
            <a:endParaRPr lang="fr-FR"/>
          </a:p>
        </p:txBody>
      </p:sp>
      <p:sp>
        <p:nvSpPr>
          <p:cNvPr id="10" name="Shape 8"/>
          <p:cNvSpPr/>
          <p:nvPr/>
        </p:nvSpPr>
        <p:spPr>
          <a:xfrm>
            <a:off x="3492413" y="1651000"/>
            <a:ext cx="2527237" cy="38100"/>
          </a:xfrm>
          <a:prstGeom prst="rect">
            <a:avLst/>
          </a:prstGeom>
          <a:solidFill>
            <a:srgbClr val="2E8B57"/>
          </a:solidFill>
          <a:ln/>
        </p:spPr>
        <p:txBody>
          <a:bodyPr/>
          <a:lstStyle/>
          <a:p>
            <a:endParaRPr lang="fr-FR"/>
          </a:p>
        </p:txBody>
      </p:sp>
      <p:sp>
        <p:nvSpPr>
          <p:cNvPr id="11" name="Text 9"/>
          <p:cNvSpPr/>
          <p:nvPr/>
        </p:nvSpPr>
        <p:spPr>
          <a:xfrm>
            <a:off x="3632109" y="1752600"/>
            <a:ext cx="2247844"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2. Images</a:t>
            </a:r>
            <a:endParaRPr lang="en-US" sz="1500" dirty="0"/>
          </a:p>
        </p:txBody>
      </p:sp>
      <p:sp>
        <p:nvSpPr>
          <p:cNvPr id="12" name="Text 10"/>
          <p:cNvSpPr/>
          <p:nvPr/>
        </p:nvSpPr>
        <p:spPr>
          <a:xfrm>
            <a:off x="3632109" y="2038350"/>
            <a:ext cx="2247844" cy="1708150"/>
          </a:xfrm>
          <a:prstGeom prst="rect">
            <a:avLst/>
          </a:prstGeom>
          <a:noFill/>
          <a:ln/>
        </p:spPr>
        <p:txBody>
          <a:bodyPr wrap="square" rtlCol="0" anchor="t">
            <a:normAutofit/>
          </a:bodyPr>
          <a:lstStyle/>
          <a:p>
            <a:pPr marL="0" indent="0">
              <a:buNone/>
            </a:pPr>
            <a:r>
              <a:rPr lang="en-US" sz="1200" b="1" dirty="0">
                <a:solidFill>
                  <a:srgbClr val="1B2A3A"/>
                </a:solidFill>
                <a:latin typeface="Segoe UI" pitchFamily="34" charset="0"/>
                <a:ea typeface="Segoe UI" pitchFamily="34" charset="-122"/>
                <a:cs typeface="Segoe UI" pitchFamily="34" charset="-120"/>
              </a:rPr>
              <a:t>convertir.ps1</a:t>
            </a:r>
            <a:r>
              <a:rPr lang="en-US" sz="1200" dirty="0">
                <a:solidFill>
                  <a:srgbClr val="465568"/>
                </a:solidFill>
                <a:latin typeface="Segoe UI" pitchFamily="34" charset="0"/>
                <a:ea typeface="Segoe UI" pitchFamily="34" charset="-122"/>
                <a:cs typeface="Segoe UI" pitchFamily="34" charset="-120"/>
              </a:rPr>
              <a:t> : PNG → JPEG 1600 px, qualité 76.</a:t>
            </a:r>
            <a:endParaRPr lang="en-US" sz="1200" dirty="0"/>
          </a:p>
        </p:txBody>
      </p:sp>
      <p:sp>
        <p:nvSpPr>
          <p:cNvPr id="13" name="Shape 11"/>
          <p:cNvSpPr/>
          <p:nvPr/>
        </p:nvSpPr>
        <p:spPr>
          <a:xfrm>
            <a:off x="6172046" y="1651000"/>
            <a:ext cx="2527237" cy="2159000"/>
          </a:xfrm>
          <a:prstGeom prst="rect">
            <a:avLst/>
          </a:prstGeom>
          <a:solidFill>
            <a:srgbClr val="FCFCFA"/>
          </a:solidFill>
          <a:ln w="9525">
            <a:solidFill>
              <a:srgbClr val="D5DCE4"/>
            </a:solidFill>
            <a:prstDash val="solid"/>
          </a:ln>
        </p:spPr>
        <p:txBody>
          <a:bodyPr/>
          <a:lstStyle/>
          <a:p>
            <a:endParaRPr lang="fr-FR"/>
          </a:p>
        </p:txBody>
      </p:sp>
      <p:sp>
        <p:nvSpPr>
          <p:cNvPr id="14" name="Shape 12"/>
          <p:cNvSpPr/>
          <p:nvPr/>
        </p:nvSpPr>
        <p:spPr>
          <a:xfrm>
            <a:off x="6172046" y="1651000"/>
            <a:ext cx="2527237" cy="38100"/>
          </a:xfrm>
          <a:prstGeom prst="rect">
            <a:avLst/>
          </a:prstGeom>
          <a:solidFill>
            <a:srgbClr val="E3AE2E"/>
          </a:solidFill>
          <a:ln/>
        </p:spPr>
        <p:txBody>
          <a:bodyPr/>
          <a:lstStyle/>
          <a:p>
            <a:endParaRPr lang="fr-FR"/>
          </a:p>
        </p:txBody>
      </p:sp>
      <p:sp>
        <p:nvSpPr>
          <p:cNvPr id="15" name="Text 13"/>
          <p:cNvSpPr/>
          <p:nvPr/>
        </p:nvSpPr>
        <p:spPr>
          <a:xfrm>
            <a:off x="6311742" y="1752600"/>
            <a:ext cx="2247844"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3. Contenus</a:t>
            </a:r>
            <a:endParaRPr lang="en-US" sz="1500" dirty="0"/>
          </a:p>
        </p:txBody>
      </p:sp>
      <p:sp>
        <p:nvSpPr>
          <p:cNvPr id="16" name="Text 14"/>
          <p:cNvSpPr/>
          <p:nvPr/>
        </p:nvSpPr>
        <p:spPr>
          <a:xfrm>
            <a:off x="6311742" y="2038350"/>
            <a:ext cx="2247844" cy="1708150"/>
          </a:xfrm>
          <a:prstGeom prst="rect">
            <a:avLst/>
          </a:prstGeom>
          <a:noFill/>
          <a:ln/>
        </p:spPr>
        <p:txBody>
          <a:bodyPr wrap="square" rtlCol="0" anchor="t">
            <a:normAutofit/>
          </a:bodyPr>
          <a:lstStyle/>
          <a:p>
            <a:pPr marL="0" indent="0">
              <a:buNone/>
            </a:pPr>
            <a:r>
              <a:rPr lang="en-US" sz="1200" dirty="0">
                <a:solidFill>
                  <a:srgbClr val="465568"/>
                </a:solidFill>
                <a:latin typeface="Segoe UI" pitchFamily="34" charset="0"/>
                <a:ea typeface="Segoe UI" pitchFamily="34" charset="-122"/>
                <a:cs typeface="Segoe UI" pitchFamily="34" charset="-120"/>
              </a:rPr>
              <a:t>Un fichier </a:t>
            </a:r>
            <a:r>
              <a:rPr lang="en-US" sz="1200" b="1" dirty="0">
                <a:solidFill>
                  <a:srgbClr val="1B2A3A"/>
                </a:solidFill>
                <a:latin typeface="Segoe UI" pitchFamily="34" charset="0"/>
                <a:ea typeface="Segoe UI" pitchFamily="34" charset="-122"/>
                <a:cs typeface="Segoe UI" pitchFamily="34" charset="-120"/>
              </a:rPr>
              <a:t>contenu/‹NN›.json</a:t>
            </a:r>
            <a:r>
              <a:rPr lang="en-US" sz="1200" dirty="0">
                <a:solidFill>
                  <a:srgbClr val="465568"/>
                </a:solidFill>
                <a:latin typeface="Segoe UI" pitchFamily="34" charset="0"/>
                <a:ea typeface="Segoe UI" pitchFamily="34" charset="-122"/>
                <a:cs typeface="Segoe UI" pitchFamily="34" charset="-120"/>
              </a:rPr>
              <a:t> par partie (écrans, garanties, règles), plus ouverture.json et recette.json.</a:t>
            </a:r>
            <a:endParaRPr lang="en-US" sz="1200" dirty="0"/>
          </a:p>
        </p:txBody>
      </p:sp>
      <p:sp>
        <p:nvSpPr>
          <p:cNvPr id="17" name="Shape 15"/>
          <p:cNvSpPr/>
          <p:nvPr/>
        </p:nvSpPr>
        <p:spPr>
          <a:xfrm>
            <a:off x="8851679" y="1651000"/>
            <a:ext cx="2527237" cy="2159000"/>
          </a:xfrm>
          <a:prstGeom prst="rect">
            <a:avLst/>
          </a:prstGeom>
          <a:solidFill>
            <a:srgbClr val="FCFCFA"/>
          </a:solidFill>
          <a:ln w="9525">
            <a:solidFill>
              <a:srgbClr val="D5DCE4"/>
            </a:solidFill>
            <a:prstDash val="solid"/>
          </a:ln>
        </p:spPr>
        <p:txBody>
          <a:bodyPr/>
          <a:lstStyle/>
          <a:p>
            <a:endParaRPr lang="fr-FR"/>
          </a:p>
        </p:txBody>
      </p:sp>
      <p:sp>
        <p:nvSpPr>
          <p:cNvPr id="18" name="Shape 16"/>
          <p:cNvSpPr/>
          <p:nvPr/>
        </p:nvSpPr>
        <p:spPr>
          <a:xfrm>
            <a:off x="8851679" y="1651000"/>
            <a:ext cx="2527237" cy="38100"/>
          </a:xfrm>
          <a:prstGeom prst="rect">
            <a:avLst/>
          </a:prstGeom>
          <a:solidFill>
            <a:srgbClr val="12324A"/>
          </a:solidFill>
          <a:ln/>
        </p:spPr>
        <p:txBody>
          <a:bodyPr/>
          <a:lstStyle/>
          <a:p>
            <a:endParaRPr lang="fr-FR"/>
          </a:p>
        </p:txBody>
      </p:sp>
      <p:sp>
        <p:nvSpPr>
          <p:cNvPr id="19" name="Text 17"/>
          <p:cNvSpPr/>
          <p:nvPr/>
        </p:nvSpPr>
        <p:spPr>
          <a:xfrm>
            <a:off x="8991375" y="1752600"/>
            <a:ext cx="2247844" cy="247650"/>
          </a:xfrm>
          <a:prstGeom prst="rect">
            <a:avLst/>
          </a:prstGeom>
          <a:noFill/>
          <a:ln/>
        </p:spPr>
        <p:txBody>
          <a:bodyPr wrap="square" rtlCol="0" anchor="t">
            <a:normAutofit/>
          </a:bodyPr>
          <a:lstStyle/>
          <a:p>
            <a:pPr marL="0" indent="0">
              <a:buNone/>
            </a:pPr>
            <a:r>
              <a:rPr lang="en-US" sz="1500" b="1" dirty="0">
                <a:solidFill>
                  <a:srgbClr val="1B2A3A"/>
                </a:solidFill>
                <a:latin typeface="Segoe UI" pitchFamily="34" charset="0"/>
                <a:ea typeface="Segoe UI" pitchFamily="34" charset="-122"/>
                <a:cs typeface="Segoe UI" pitchFamily="34" charset="-120"/>
              </a:rPr>
              <a:t>4. Génération</a:t>
            </a:r>
            <a:endParaRPr lang="en-US" sz="1500" dirty="0"/>
          </a:p>
        </p:txBody>
      </p:sp>
      <p:sp>
        <p:nvSpPr>
          <p:cNvPr id="20" name="Text 18"/>
          <p:cNvSpPr/>
          <p:nvPr/>
        </p:nvSpPr>
        <p:spPr>
          <a:xfrm>
            <a:off x="8991375" y="2038350"/>
            <a:ext cx="2247844" cy="1708150"/>
          </a:xfrm>
          <a:prstGeom prst="rect">
            <a:avLst/>
          </a:prstGeom>
          <a:noFill/>
          <a:ln/>
        </p:spPr>
        <p:txBody>
          <a:bodyPr wrap="square" rtlCol="0" anchor="t">
            <a:normAutofit/>
          </a:bodyPr>
          <a:lstStyle/>
          <a:p>
            <a:pPr marL="0" indent="0">
              <a:buNone/>
            </a:pPr>
            <a:r>
              <a:rPr lang="en-US" sz="1200" b="1" dirty="0">
                <a:solidFill>
                  <a:srgbClr val="1B2A3A"/>
                </a:solidFill>
                <a:latin typeface="Segoe UI" pitchFamily="34" charset="0"/>
                <a:ea typeface="Segoe UI" pitchFamily="34" charset="-122"/>
                <a:cs typeface="Segoe UI" pitchFamily="34" charset="-120"/>
              </a:rPr>
              <a:t>node gen.cjs</a:t>
            </a:r>
            <a:r>
              <a:rPr lang="en-US" sz="1200" dirty="0">
                <a:solidFill>
                  <a:srgbClr val="465568"/>
                </a:solidFill>
                <a:latin typeface="Segoe UI" pitchFamily="34" charset="0"/>
                <a:ea typeface="Segoe UI" pitchFamily="34" charset="-122"/>
                <a:cs typeface="Segoe UI" pitchFamily="34" charset="-120"/>
              </a:rPr>
              <a:t> : vérifie la cohérence écrans ↔ règles, écrit et recompresse le .pptx ; relecture par export PowerPoint et planches.</a:t>
            </a:r>
            <a:endParaRPr lang="en-US" sz="1200" dirty="0"/>
          </a:p>
        </p:txBody>
      </p:sp>
      <p:sp>
        <p:nvSpPr>
          <p:cNvPr id="21" name="Text 19"/>
          <p:cNvSpPr/>
          <p:nvPr/>
        </p:nvSpPr>
        <p:spPr>
          <a:xfrm>
            <a:off x="812780" y="6477000"/>
            <a:ext cx="6349841" cy="228600"/>
          </a:xfrm>
          <a:prstGeom prst="rect">
            <a:avLst/>
          </a:prstGeom>
          <a:noFill/>
          <a:ln/>
        </p:spPr>
        <p:txBody>
          <a:bodyPr wrap="square" rtlCol="0" anchor="ctr"/>
          <a:lstStyle/>
          <a:p>
            <a:pPr marL="0" indent="0">
              <a:buNone/>
            </a:pPr>
            <a:r>
              <a:rPr lang="en-US" sz="1100" dirty="0">
                <a:solidFill>
                  <a:srgbClr val="6A7787"/>
                </a:solidFill>
                <a:latin typeface="Segoe UI" pitchFamily="34" charset="0"/>
                <a:ea typeface="Segoe UI" pitchFamily="34" charset="-122"/>
                <a:cs typeface="Segoe UI" pitchFamily="34" charset="-120"/>
              </a:rPr>
              <a:t>PRS 2.0 · L’application de bout en bout · dossier de recette · 567</a:t>
            </a:r>
            <a:endParaRPr lang="en-US" sz="1100" dirty="0"/>
          </a:p>
        </p:txBody>
      </p:sp>
    </p:spTree>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Thème Offic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docProps/app.xml><?xml version="1.0" encoding="utf-8"?>
<Properties xmlns="http://schemas.openxmlformats.org/officeDocument/2006/extended-properties" xmlns:vt="http://schemas.openxmlformats.org/officeDocument/2006/docPropsVTypes">
  <TotalTime>41</TotalTime>
  <Words>109725</Words>
  <Application>Microsoft Office PowerPoint</Application>
  <PresentationFormat>Grand écran</PresentationFormat>
  <Paragraphs>14543</Paragraphs>
  <Slides>567</Slides>
  <Notes>567</Notes>
  <HiddenSlides>0</HiddenSlides>
  <MMClips>0</MMClips>
  <ScaleCrop>false</ScaleCrop>
  <HeadingPairs>
    <vt:vector size="6" baseType="variant">
      <vt:variant>
        <vt:lpstr>Polices utilisées</vt:lpstr>
      </vt:variant>
      <vt:variant>
        <vt:i4>3</vt:i4>
      </vt:variant>
      <vt:variant>
        <vt:lpstr>Thème</vt:lpstr>
      </vt:variant>
      <vt:variant>
        <vt:i4>1</vt:i4>
      </vt:variant>
      <vt:variant>
        <vt:lpstr>Titres des diapositives</vt:lpstr>
      </vt:variant>
      <vt:variant>
        <vt:i4>567</vt:i4>
      </vt:variant>
    </vt:vector>
  </HeadingPairs>
  <TitlesOfParts>
    <vt:vector size="571" baseType="lpstr">
      <vt:lpstr>Arial</vt:lpstr>
      <vt:lpstr>Consolas</vt:lpstr>
      <vt:lpstr>Segoe UI</vt:lpstr>
      <vt:lpstr>Office Theme</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vector>
  </TitlesOfParts>
  <Company>Commission nationale des marchés</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PRS 2.0 — L’application de bout en bout · dossier de recette</dc:title>
  <dc:subject>PptxGenJS Presentation</dc:subject>
  <dc:creator>PRS 2.0</dc:creator>
  <cp:lastModifiedBy>lanto annick</cp:lastModifiedBy>
  <cp:revision>3</cp:revision>
  <dcterms:created xsi:type="dcterms:W3CDTF">2026-10-14T11:36:02Z</dcterms:created>
  <dcterms:modified xsi:type="dcterms:W3CDTF">2026-10-14T12:18:15Z</dcterms:modified>
</cp:coreProperties>
</file>