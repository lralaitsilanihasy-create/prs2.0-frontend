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slideMasters/slideMaster403.xml" ContentType="application/vnd.openxmlformats-officedocument.presentationml.slideMaster+xml"/>
  <Override PartName="/ppt/slides/slide403.xml" ContentType="application/vnd.openxmlformats-officedocument.presentationml.slide+xml"/>
  <Override PartName="/ppt/slideMasters/slideMaster404.xml" ContentType="application/vnd.openxmlformats-officedocument.presentationml.slideMaster+xml"/>
  <Override PartName="/ppt/slides/slide404.xml" ContentType="application/vnd.openxmlformats-officedocument.presentationml.slide+xml"/>
  <Override PartName="/ppt/slideMasters/slideMaster405.xml" ContentType="application/vnd.openxmlformats-officedocument.presentationml.slideMaster+xml"/>
  <Override PartName="/ppt/slides/slide405.xml" ContentType="application/vnd.openxmlformats-officedocument.presentationml.slide+xml"/>
  <Override PartName="/ppt/slideMasters/slideMaster406.xml" ContentType="application/vnd.openxmlformats-officedocument.presentationml.slideMaster+xml"/>
  <Override PartName="/ppt/slides/slide406.xml" ContentType="application/vnd.openxmlformats-officedocument.presentationml.slide+xml"/>
  <Override PartName="/ppt/slideMasters/slideMaster407.xml" ContentType="application/vnd.openxmlformats-officedocument.presentationml.slideMaster+xml"/>
  <Override PartName="/ppt/slides/slide407.xml" ContentType="application/vnd.openxmlformats-officedocument.presentationml.slide+xml"/>
  <Override PartName="/ppt/slideMasters/slideMaster408.xml" ContentType="application/vnd.openxmlformats-officedocument.presentationml.slideMaster+xml"/>
  <Override PartName="/ppt/slides/slide408.xml" ContentType="application/vnd.openxmlformats-officedocument.presentationml.slide+xml"/>
  <Override PartName="/ppt/slideMasters/slideMaster409.xml" ContentType="application/vnd.openxmlformats-officedocument.presentationml.slideMaster+xml"/>
  <Override PartName="/ppt/slides/slide409.xml" ContentType="application/vnd.openxmlformats-officedocument.presentationml.slide+xml"/>
  <Override PartName="/ppt/slideMasters/slideMaster410.xml" ContentType="application/vnd.openxmlformats-officedocument.presentationml.slideMaster+xml"/>
  <Override PartName="/ppt/slides/slide410.xml" ContentType="application/vnd.openxmlformats-officedocument.presentationml.slide+xml"/>
  <Override PartName="/ppt/slideMasters/slideMaster411.xml" ContentType="application/vnd.openxmlformats-officedocument.presentationml.slideMaster+xml"/>
  <Override PartName="/ppt/slides/slide411.xml" ContentType="application/vnd.openxmlformats-officedocument.presentationml.slide+xml"/>
  <Override PartName="/ppt/slideMasters/slideMaster412.xml" ContentType="application/vnd.openxmlformats-officedocument.presentationml.slideMaster+xml"/>
  <Override PartName="/ppt/slides/slide412.xml" ContentType="application/vnd.openxmlformats-officedocument.presentationml.slide+xml"/>
  <Override PartName="/ppt/slideMasters/slideMaster413.xml" ContentType="application/vnd.openxmlformats-officedocument.presentationml.slideMaster+xml"/>
  <Override PartName="/ppt/slides/slide413.xml" ContentType="application/vnd.openxmlformats-officedocument.presentationml.slide+xml"/>
  <Override PartName="/ppt/slideMasters/slideMaster414.xml" ContentType="application/vnd.openxmlformats-officedocument.presentationml.slideMaster+xml"/>
  <Override PartName="/ppt/slides/slide414.xml" ContentType="application/vnd.openxmlformats-officedocument.presentationml.slide+xml"/>
  <Override PartName="/ppt/slideMasters/slideMaster415.xml" ContentType="application/vnd.openxmlformats-officedocument.presentationml.slideMaster+xml"/>
  <Override PartName="/ppt/slides/slide415.xml" ContentType="application/vnd.openxmlformats-officedocument.presentationml.slide+xml"/>
  <Override PartName="/ppt/slideMasters/slideMaster416.xml" ContentType="application/vnd.openxmlformats-officedocument.presentationml.slideMaster+xml"/>
  <Override PartName="/ppt/slides/slide416.xml" ContentType="application/vnd.openxmlformats-officedocument.presentationml.slide+xml"/>
  <Override PartName="/ppt/slideMasters/slideMaster417.xml" ContentType="application/vnd.openxmlformats-officedocument.presentationml.slideMaster+xml"/>
  <Override PartName="/ppt/slides/slide417.xml" ContentType="application/vnd.openxmlformats-officedocument.presentationml.slide+xml"/>
  <Override PartName="/ppt/slideMasters/slideMaster418.xml" ContentType="application/vnd.openxmlformats-officedocument.presentationml.slideMaster+xml"/>
  <Override PartName="/ppt/slides/slide418.xml" ContentType="application/vnd.openxmlformats-officedocument.presentationml.slide+xml"/>
  <Override PartName="/ppt/slideMasters/slideMaster419.xml" ContentType="application/vnd.openxmlformats-officedocument.presentationml.slideMaster+xml"/>
  <Override PartName="/ppt/slides/slide419.xml" ContentType="application/vnd.openxmlformats-officedocument.presentationml.slide+xml"/>
  <Override PartName="/ppt/slideMasters/slideMaster420.xml" ContentType="application/vnd.openxmlformats-officedocument.presentationml.slideMaster+xml"/>
  <Override PartName="/ppt/slides/slide420.xml" ContentType="application/vnd.openxmlformats-officedocument.presentationml.slide+xml"/>
  <Override PartName="/ppt/slideMasters/slideMaster421.xml" ContentType="application/vnd.openxmlformats-officedocument.presentationml.slideMaster+xml"/>
  <Override PartName="/ppt/slides/slide421.xml" ContentType="application/vnd.openxmlformats-officedocument.presentationml.slide+xml"/>
  <Override PartName="/ppt/slideMasters/slideMaster422.xml" ContentType="application/vnd.openxmlformats-officedocument.presentationml.slideMaster+xml"/>
  <Override PartName="/ppt/slides/slide422.xml" ContentType="application/vnd.openxmlformats-officedocument.presentationml.slide+xml"/>
  <Override PartName="/ppt/slideMasters/slideMaster423.xml" ContentType="application/vnd.openxmlformats-officedocument.presentationml.slideMaster+xml"/>
  <Override PartName="/ppt/slides/slide423.xml" ContentType="application/vnd.openxmlformats-officedocument.presentationml.slide+xml"/>
  <Override PartName="/ppt/slideMasters/slideMaster424.xml" ContentType="application/vnd.openxmlformats-officedocument.presentationml.slideMaster+xml"/>
  <Override PartName="/ppt/slides/slide424.xml" ContentType="application/vnd.openxmlformats-officedocument.presentationml.slide+xml"/>
  <Override PartName="/ppt/slideMasters/slideMaster425.xml" ContentType="application/vnd.openxmlformats-officedocument.presentationml.slideMaster+xml"/>
  <Override PartName="/ppt/slides/slide425.xml" ContentType="application/vnd.openxmlformats-officedocument.presentationml.slide+xml"/>
  <Override PartName="/ppt/slideMasters/slideMaster426.xml" ContentType="application/vnd.openxmlformats-officedocument.presentationml.slideMaster+xml"/>
  <Override PartName="/ppt/slides/slide426.xml" ContentType="application/vnd.openxmlformats-officedocument.presentationml.slide+xml"/>
  <Override PartName="/ppt/slideMasters/slideMaster427.xml" ContentType="application/vnd.openxmlformats-officedocument.presentationml.slideMaster+xml"/>
  <Override PartName="/ppt/slides/slide427.xml" ContentType="application/vnd.openxmlformats-officedocument.presentationml.slide+xml"/>
  <Override PartName="/ppt/slideMasters/slideMaster428.xml" ContentType="application/vnd.openxmlformats-officedocument.presentationml.slideMaster+xml"/>
  <Override PartName="/ppt/slides/slide428.xml" ContentType="application/vnd.openxmlformats-officedocument.presentationml.slide+xml"/>
  <Override PartName="/ppt/slideMasters/slideMaster429.xml" ContentType="application/vnd.openxmlformats-officedocument.presentationml.slideMaster+xml"/>
  <Override PartName="/ppt/slides/slide429.xml" ContentType="application/vnd.openxmlformats-officedocument.presentationml.slide+xml"/>
  <Override PartName="/ppt/slideMasters/slideMaster430.xml" ContentType="application/vnd.openxmlformats-officedocument.presentationml.slideMaster+xml"/>
  <Override PartName="/ppt/slides/slide430.xml" ContentType="application/vnd.openxmlformats-officedocument.presentationml.slide+xml"/>
  <Override PartName="/ppt/slideMasters/slideMaster431.xml" ContentType="application/vnd.openxmlformats-officedocument.presentationml.slideMaster+xml"/>
  <Override PartName="/ppt/slides/slide431.xml" ContentType="application/vnd.openxmlformats-officedocument.presentationml.slide+xml"/>
  <Override PartName="/ppt/slideMasters/slideMaster432.xml" ContentType="application/vnd.openxmlformats-officedocument.presentationml.slideMaster+xml"/>
  <Override PartName="/ppt/slides/slide432.xml" ContentType="application/vnd.openxmlformats-officedocument.presentationml.slide+xml"/>
  <Override PartName="/ppt/slideMasters/slideMaster433.xml" ContentType="application/vnd.openxmlformats-officedocument.presentationml.slideMaster+xml"/>
  <Override PartName="/ppt/slides/slide433.xml" ContentType="application/vnd.openxmlformats-officedocument.presentationml.slide+xml"/>
  <Override PartName="/ppt/slideMasters/slideMaster434.xml" ContentType="application/vnd.openxmlformats-officedocument.presentationml.slideMaster+xml"/>
  <Override PartName="/ppt/slides/slide434.xml" ContentType="application/vnd.openxmlformats-officedocument.presentationml.slide+xml"/>
  <Override PartName="/ppt/slideMasters/slideMaster435.xml" ContentType="application/vnd.openxmlformats-officedocument.presentationml.slideMaster+xml"/>
  <Override PartName="/ppt/slides/slide435.xml" ContentType="application/vnd.openxmlformats-officedocument.presentationml.slide+xml"/>
  <Override PartName="/ppt/slideMasters/slideMaster436.xml" ContentType="application/vnd.openxmlformats-officedocument.presentationml.slideMaster+xml"/>
  <Override PartName="/ppt/slides/slide436.xml" ContentType="application/vnd.openxmlformats-officedocument.presentationml.slide+xml"/>
  <Override PartName="/ppt/slideMasters/slideMaster437.xml" ContentType="application/vnd.openxmlformats-officedocument.presentationml.slideMaster+xml"/>
  <Override PartName="/ppt/slides/slide437.xml" ContentType="application/vnd.openxmlformats-officedocument.presentationml.slide+xml"/>
  <Override PartName="/ppt/slideMasters/slideMaster438.xml" ContentType="application/vnd.openxmlformats-officedocument.presentationml.slideMaster+xml"/>
  <Override PartName="/ppt/slides/slide438.xml" ContentType="application/vnd.openxmlformats-officedocument.presentationml.slide+xml"/>
  <Override PartName="/ppt/slideMasters/slideMaster439.xml" ContentType="application/vnd.openxmlformats-officedocument.presentationml.slideMaster+xml"/>
  <Override PartName="/ppt/slides/slide439.xml" ContentType="application/vnd.openxmlformats-officedocument.presentationml.slide+xml"/>
  <Override PartName="/ppt/slideMasters/slideMaster440.xml" ContentType="application/vnd.openxmlformats-officedocument.presentationml.slideMaster+xml"/>
  <Override PartName="/ppt/slides/slide440.xml" ContentType="application/vnd.openxmlformats-officedocument.presentationml.slide+xml"/>
  <Override PartName="/ppt/slideMasters/slideMaster441.xml" ContentType="application/vnd.openxmlformats-officedocument.presentationml.slideMaster+xml"/>
  <Override PartName="/ppt/slides/slide441.xml" ContentType="application/vnd.openxmlformats-officedocument.presentationml.slide+xml"/>
  <Override PartName="/ppt/slideMasters/slideMaster442.xml" ContentType="application/vnd.openxmlformats-officedocument.presentationml.slideMaster+xml"/>
  <Override PartName="/ppt/slides/slide442.xml" ContentType="application/vnd.openxmlformats-officedocument.presentationml.slide+xml"/>
  <Override PartName="/ppt/slideMasters/slideMaster443.xml" ContentType="application/vnd.openxmlformats-officedocument.presentationml.slideMaster+xml"/>
  <Override PartName="/ppt/slides/slide443.xml" ContentType="application/vnd.openxmlformats-officedocument.presentationml.slide+xml"/>
  <Override PartName="/ppt/slideMasters/slideMaster444.xml" ContentType="application/vnd.openxmlformats-officedocument.presentationml.slideMaster+xml"/>
  <Override PartName="/ppt/slides/slide444.xml" ContentType="application/vnd.openxmlformats-officedocument.presentationml.slide+xml"/>
  <Override PartName="/ppt/slideMasters/slideMaster445.xml" ContentType="application/vnd.openxmlformats-officedocument.presentationml.slideMaster+xml"/>
  <Override PartName="/ppt/slides/slide445.xml" ContentType="application/vnd.openxmlformats-officedocument.presentationml.slide+xml"/>
  <Override PartName="/ppt/slideMasters/slideMaster446.xml" ContentType="application/vnd.openxmlformats-officedocument.presentationml.slideMaster+xml"/>
  <Override PartName="/ppt/slides/slide446.xml" ContentType="application/vnd.openxmlformats-officedocument.presentationml.slide+xml"/>
  <Override PartName="/ppt/slideMasters/slideMaster447.xml" ContentType="application/vnd.openxmlformats-officedocument.presentationml.slideMaster+xml"/>
  <Override PartName="/ppt/slides/slide447.xml" ContentType="application/vnd.openxmlformats-officedocument.presentationml.slide+xml"/>
  <Override PartName="/ppt/slideMasters/slideMaster448.xml" ContentType="application/vnd.openxmlformats-officedocument.presentationml.slideMaster+xml"/>
  <Override PartName="/ppt/slides/slide448.xml" ContentType="application/vnd.openxmlformats-officedocument.presentationml.slide+xml"/>
  <Override PartName="/ppt/slideMasters/slideMaster449.xml" ContentType="application/vnd.openxmlformats-officedocument.presentationml.slideMaster+xml"/>
  <Override PartName="/ppt/slides/slide449.xml" ContentType="application/vnd.openxmlformats-officedocument.presentationml.slide+xml"/>
  <Override PartName="/ppt/slideMasters/slideMaster450.xml" ContentType="application/vnd.openxmlformats-officedocument.presentationml.slideMaster+xml"/>
  <Override PartName="/ppt/slides/slide450.xml" ContentType="application/vnd.openxmlformats-officedocument.presentationml.slide+xml"/>
  <Override PartName="/ppt/slideMasters/slideMaster451.xml" ContentType="application/vnd.openxmlformats-officedocument.presentationml.slideMaster+xml"/>
  <Override PartName="/ppt/slides/slide451.xml" ContentType="application/vnd.openxmlformats-officedocument.presentationml.slide+xml"/>
  <Override PartName="/ppt/slideMasters/slideMaster452.xml" ContentType="application/vnd.openxmlformats-officedocument.presentationml.slideMaster+xml"/>
  <Override PartName="/ppt/slides/slide452.xml" ContentType="application/vnd.openxmlformats-officedocument.presentationml.slide+xml"/>
  <Override PartName="/ppt/slideMasters/slideMaster453.xml" ContentType="application/vnd.openxmlformats-officedocument.presentationml.slideMaster+xml"/>
  <Override PartName="/ppt/slides/slide453.xml" ContentType="application/vnd.openxmlformats-officedocument.presentationml.slide+xml"/>
  <Override PartName="/ppt/slideMasters/slideMaster454.xml" ContentType="application/vnd.openxmlformats-officedocument.presentationml.slideMaster+xml"/>
  <Override PartName="/ppt/slides/slide454.xml" ContentType="application/vnd.openxmlformats-officedocument.presentationml.slide+xml"/>
  <Override PartName="/ppt/slideMasters/slideMaster455.xml" ContentType="application/vnd.openxmlformats-officedocument.presentationml.slideMaster+xml"/>
  <Override PartName="/ppt/slides/slide455.xml" ContentType="application/vnd.openxmlformats-officedocument.presentationml.slide+xml"/>
  <Override PartName="/ppt/slideMasters/slideMaster456.xml" ContentType="application/vnd.openxmlformats-officedocument.presentationml.slideMaster+xml"/>
  <Override PartName="/ppt/slides/slide456.xml" ContentType="application/vnd.openxmlformats-officedocument.presentationml.slide+xml"/>
  <Override PartName="/ppt/slideMasters/slideMaster457.xml" ContentType="application/vnd.openxmlformats-officedocument.presentationml.slideMaster+xml"/>
  <Override PartName="/ppt/slides/slide457.xml" ContentType="application/vnd.openxmlformats-officedocument.presentationml.slide+xml"/>
  <Override PartName="/ppt/slideMasters/slideMaster458.xml" ContentType="application/vnd.openxmlformats-officedocument.presentationml.slideMaster+xml"/>
  <Override PartName="/ppt/slides/slide458.xml" ContentType="application/vnd.openxmlformats-officedocument.presentationml.slide+xml"/>
  <Override PartName="/ppt/slideMasters/slideMaster459.xml" ContentType="application/vnd.openxmlformats-officedocument.presentationml.slideMaster+xml"/>
  <Override PartName="/ppt/slides/slide459.xml" ContentType="application/vnd.openxmlformats-officedocument.presentationml.slide+xml"/>
  <Override PartName="/ppt/slideMasters/slideMaster460.xml" ContentType="application/vnd.openxmlformats-officedocument.presentationml.slideMaster+xml"/>
  <Override PartName="/ppt/slides/slide460.xml" ContentType="application/vnd.openxmlformats-officedocument.presentationml.slide+xml"/>
  <Override PartName="/ppt/slideMasters/slideMaster461.xml" ContentType="application/vnd.openxmlformats-officedocument.presentationml.slideMaster+xml"/>
  <Override PartName="/ppt/slides/slide461.xml" ContentType="application/vnd.openxmlformats-officedocument.presentationml.slide+xml"/>
  <Override PartName="/ppt/slideMasters/slideMaster462.xml" ContentType="application/vnd.openxmlformats-officedocument.presentationml.slideMaster+xml"/>
  <Override PartName="/ppt/slides/slide462.xml" ContentType="application/vnd.openxmlformats-officedocument.presentationml.slide+xml"/>
  <Override PartName="/ppt/slideMasters/slideMaster463.xml" ContentType="application/vnd.openxmlformats-officedocument.presentationml.slideMaster+xml"/>
  <Override PartName="/ppt/slides/slide463.xml" ContentType="application/vnd.openxmlformats-officedocument.presentationml.slide+xml"/>
  <Override PartName="/ppt/slideMasters/slideMaster464.xml" ContentType="application/vnd.openxmlformats-officedocument.presentationml.slideMaster+xml"/>
  <Override PartName="/ppt/slides/slide464.xml" ContentType="application/vnd.openxmlformats-officedocument.presentationml.slide+xml"/>
  <Override PartName="/ppt/slideMasters/slideMaster465.xml" ContentType="application/vnd.openxmlformats-officedocument.presentationml.slideMaster+xml"/>
  <Override PartName="/ppt/slides/slide465.xml" ContentType="application/vnd.openxmlformats-officedocument.presentationml.slide+xml"/>
  <Override PartName="/ppt/slideMasters/slideMaster466.xml" ContentType="application/vnd.openxmlformats-officedocument.presentationml.slideMaster+xml"/>
  <Override PartName="/ppt/slides/slide466.xml" ContentType="application/vnd.openxmlformats-officedocument.presentationml.slide+xml"/>
  <Override PartName="/ppt/slideMasters/slideMaster467.xml" ContentType="application/vnd.openxmlformats-officedocument.presentationml.slideMaster+xml"/>
  <Override PartName="/ppt/slides/slide467.xml" ContentType="application/vnd.openxmlformats-officedocument.presentationml.slide+xml"/>
  <Override PartName="/ppt/slideMasters/slideMaster468.xml" ContentType="application/vnd.openxmlformats-officedocument.presentationml.slideMaster+xml"/>
  <Override PartName="/ppt/slides/slide468.xml" ContentType="application/vnd.openxmlformats-officedocument.presentationml.slide+xml"/>
  <Override PartName="/ppt/slideMasters/slideMaster469.xml" ContentType="application/vnd.openxmlformats-officedocument.presentationml.slideMaster+xml"/>
  <Override PartName="/ppt/slides/slide469.xml" ContentType="application/vnd.openxmlformats-officedocument.presentationml.slide+xml"/>
  <Override PartName="/ppt/slideMasters/slideMaster470.xml" ContentType="application/vnd.openxmlformats-officedocument.presentationml.slideMaster+xml"/>
  <Override PartName="/ppt/slides/slide470.xml" ContentType="application/vnd.openxmlformats-officedocument.presentationml.slide+xml"/>
  <Override PartName="/ppt/slideMasters/slideMaster471.xml" ContentType="application/vnd.openxmlformats-officedocument.presentationml.slideMaster+xml"/>
  <Override PartName="/ppt/slides/slide471.xml" ContentType="application/vnd.openxmlformats-officedocument.presentationml.slide+xml"/>
  <Override PartName="/ppt/slideMasters/slideMaster472.xml" ContentType="application/vnd.openxmlformats-officedocument.presentationml.slideMaster+xml"/>
  <Override PartName="/ppt/slides/slide472.xml" ContentType="application/vnd.openxmlformats-officedocument.presentationml.slide+xml"/>
  <Override PartName="/ppt/slideMasters/slideMaster473.xml" ContentType="application/vnd.openxmlformats-officedocument.presentationml.slideMaster+xml"/>
  <Override PartName="/ppt/slides/slide473.xml" ContentType="application/vnd.openxmlformats-officedocument.presentationml.slide+xml"/>
  <Override PartName="/ppt/slideMasters/slideMaster474.xml" ContentType="application/vnd.openxmlformats-officedocument.presentationml.slideMaster+xml"/>
  <Override PartName="/ppt/slides/slide474.xml" ContentType="application/vnd.openxmlformats-officedocument.presentationml.slide+xml"/>
  <Override PartName="/ppt/slideMasters/slideMaster475.xml" ContentType="application/vnd.openxmlformats-officedocument.presentationml.slideMaster+xml"/>
  <Override PartName="/ppt/slides/slide475.xml" ContentType="application/vnd.openxmlformats-officedocument.presentationml.slide+xml"/>
  <Override PartName="/ppt/slideMasters/slideMaster476.xml" ContentType="application/vnd.openxmlformats-officedocument.presentationml.slideMaster+xml"/>
  <Override PartName="/ppt/slides/slide476.xml" ContentType="application/vnd.openxmlformats-officedocument.presentationml.slide+xml"/>
  <Override PartName="/ppt/slideMasters/slideMaster477.xml" ContentType="application/vnd.openxmlformats-officedocument.presentationml.slideMaster+xml"/>
  <Override PartName="/ppt/slides/slide477.xml" ContentType="application/vnd.openxmlformats-officedocument.presentationml.slide+xml"/>
  <Override PartName="/ppt/slideMasters/slideMaster478.xml" ContentType="application/vnd.openxmlformats-officedocument.presentationml.slideMaster+xml"/>
  <Override PartName="/ppt/slides/slide478.xml" ContentType="application/vnd.openxmlformats-officedocument.presentationml.slide+xml"/>
  <Override PartName="/ppt/slideMasters/slideMaster479.xml" ContentType="application/vnd.openxmlformats-officedocument.presentationml.slideMaster+xml"/>
  <Override PartName="/ppt/slides/slide479.xml" ContentType="application/vnd.openxmlformats-officedocument.presentationml.slide+xml"/>
  <Override PartName="/ppt/slideMasters/slideMaster480.xml" ContentType="application/vnd.openxmlformats-officedocument.presentationml.slideMaster+xml"/>
  <Override PartName="/ppt/slides/slide480.xml" ContentType="application/vnd.openxmlformats-officedocument.presentationml.slide+xml"/>
  <Override PartName="/ppt/slideMasters/slideMaster481.xml" ContentType="application/vnd.openxmlformats-officedocument.presentationml.slideMaster+xml"/>
  <Override PartName="/ppt/slides/slide481.xml" ContentType="application/vnd.openxmlformats-officedocument.presentationml.slide+xml"/>
  <Override PartName="/ppt/slideMasters/slideMaster482.xml" ContentType="application/vnd.openxmlformats-officedocument.presentationml.slideMaster+xml"/>
  <Override PartName="/ppt/slides/slide482.xml" ContentType="application/vnd.openxmlformats-officedocument.presentationml.slide+xml"/>
  <Override PartName="/ppt/slideMasters/slideMaster483.xml" ContentType="application/vnd.openxmlformats-officedocument.presentationml.slideMaster+xml"/>
  <Override PartName="/ppt/slides/slide483.xml" ContentType="application/vnd.openxmlformats-officedocument.presentationml.slide+xml"/>
  <Override PartName="/ppt/slideMasters/slideMaster484.xml" ContentType="application/vnd.openxmlformats-officedocument.presentationml.slideMaster+xml"/>
  <Override PartName="/ppt/slides/slide484.xml" ContentType="application/vnd.openxmlformats-officedocument.presentationml.slide+xml"/>
  <Override PartName="/ppt/slideMasters/slideMaster485.xml" ContentType="application/vnd.openxmlformats-officedocument.presentationml.slideMaster+xml"/>
  <Override PartName="/ppt/slides/slide485.xml" ContentType="application/vnd.openxmlformats-officedocument.presentationml.slide+xml"/>
  <Override PartName="/ppt/slideMasters/slideMaster486.xml" ContentType="application/vnd.openxmlformats-officedocument.presentationml.slideMaster+xml"/>
  <Override PartName="/ppt/slides/slide486.xml" ContentType="application/vnd.openxmlformats-officedocument.presentationml.slide+xml"/>
  <Override PartName="/ppt/slideMasters/slideMaster487.xml" ContentType="application/vnd.openxmlformats-officedocument.presentationml.slideMaster+xml"/>
  <Override PartName="/ppt/slides/slide487.xml" ContentType="application/vnd.openxmlformats-officedocument.presentationml.slide+xml"/>
  <Override PartName="/ppt/slideMasters/slideMaster488.xml" ContentType="application/vnd.openxmlformats-officedocument.presentationml.slideMaster+xml"/>
  <Override PartName="/ppt/slides/slide488.xml" ContentType="application/vnd.openxmlformats-officedocument.presentationml.slide+xml"/>
  <Override PartName="/ppt/slideMasters/slideMaster489.xml" ContentType="application/vnd.openxmlformats-officedocument.presentationml.slideMaster+xml"/>
  <Override PartName="/ppt/slides/slide489.xml" ContentType="application/vnd.openxmlformats-officedocument.presentationml.slide+xml"/>
  <Override PartName="/ppt/slideMasters/slideMaster490.xml" ContentType="application/vnd.openxmlformats-officedocument.presentationml.slideMaster+xml"/>
  <Override PartName="/ppt/slides/slide490.xml" ContentType="application/vnd.openxmlformats-officedocument.presentationml.slide+xml"/>
  <Override PartName="/ppt/slideMasters/slideMaster491.xml" ContentType="application/vnd.openxmlformats-officedocument.presentationml.slideMaster+xml"/>
  <Override PartName="/ppt/slides/slide491.xml" ContentType="application/vnd.openxmlformats-officedocument.presentationml.slide+xml"/>
  <Override PartName="/ppt/slideMasters/slideMaster492.xml" ContentType="application/vnd.openxmlformats-officedocument.presentationml.slideMaster+xml"/>
  <Override PartName="/ppt/slides/slide492.xml" ContentType="application/vnd.openxmlformats-officedocument.presentationml.slide+xml"/>
  <Override PartName="/ppt/slideMasters/slideMaster493.xml" ContentType="application/vnd.openxmlformats-officedocument.presentationml.slideMaster+xml"/>
  <Override PartName="/ppt/slides/slide493.xml" ContentType="application/vnd.openxmlformats-officedocument.presentationml.slide+xml"/>
  <Override PartName="/ppt/slideMasters/slideMaster494.xml" ContentType="application/vnd.openxmlformats-officedocument.presentationml.slideMaster+xml"/>
  <Override PartName="/ppt/slides/slide494.xml" ContentType="application/vnd.openxmlformats-officedocument.presentationml.slide+xml"/>
  <Override PartName="/ppt/slideMasters/slideMaster495.xml" ContentType="application/vnd.openxmlformats-officedocument.presentationml.slideMaster+xml"/>
  <Override PartName="/ppt/slides/slide495.xml" ContentType="application/vnd.openxmlformats-officedocument.presentationml.slide+xml"/>
  <Override PartName="/ppt/slideMasters/slideMaster496.xml" ContentType="application/vnd.openxmlformats-officedocument.presentationml.slideMaster+xml"/>
  <Override PartName="/ppt/slides/slide496.xml" ContentType="application/vnd.openxmlformats-officedocument.presentationml.slide+xml"/>
  <Override PartName="/ppt/slideMasters/slideMaster497.xml" ContentType="application/vnd.openxmlformats-officedocument.presentationml.slideMaster+xml"/>
  <Override PartName="/ppt/slides/slide497.xml" ContentType="application/vnd.openxmlformats-officedocument.presentationml.slide+xml"/>
  <Override PartName="/ppt/slideMasters/slideMaster498.xml" ContentType="application/vnd.openxmlformats-officedocument.presentationml.slideMaster+xml"/>
  <Override PartName="/ppt/slides/slide498.xml" ContentType="application/vnd.openxmlformats-officedocument.presentationml.slide+xml"/>
  <Override PartName="/ppt/slideMasters/slideMaster499.xml" ContentType="application/vnd.openxmlformats-officedocument.presentationml.slideMaster+xml"/>
  <Override PartName="/ppt/slides/slide499.xml" ContentType="application/vnd.openxmlformats-officedocument.presentationml.slide+xml"/>
  <Override PartName="/ppt/slideMasters/slideMaster500.xml" ContentType="application/vnd.openxmlformats-officedocument.presentationml.slideMaster+xml"/>
  <Override PartName="/ppt/slides/slide500.xml" ContentType="application/vnd.openxmlformats-officedocument.presentationml.slide+xml"/>
  <Override PartName="/ppt/slideMasters/slideMaster501.xml" ContentType="application/vnd.openxmlformats-officedocument.presentationml.slideMaster+xml"/>
  <Override PartName="/ppt/slides/slide501.xml" ContentType="application/vnd.openxmlformats-officedocument.presentationml.slide+xml"/>
  <Override PartName="/ppt/slideMasters/slideMaster502.xml" ContentType="application/vnd.openxmlformats-officedocument.presentationml.slideMaster+xml"/>
  <Override PartName="/ppt/slides/slide502.xml" ContentType="application/vnd.openxmlformats-officedocument.presentationml.slide+xml"/>
  <Override PartName="/ppt/slideMasters/slideMaster503.xml" ContentType="application/vnd.openxmlformats-officedocument.presentationml.slideMaster+xml"/>
  <Override PartName="/ppt/slides/slide503.xml" ContentType="application/vnd.openxmlformats-officedocument.presentationml.slide+xml"/>
  <Override PartName="/ppt/slideMasters/slideMaster504.xml" ContentType="application/vnd.openxmlformats-officedocument.presentationml.slideMaster+xml"/>
  <Override PartName="/ppt/slides/slide504.xml" ContentType="application/vnd.openxmlformats-officedocument.presentationml.slide+xml"/>
  <Override PartName="/ppt/slideMasters/slideMaster505.xml" ContentType="application/vnd.openxmlformats-officedocument.presentationml.slideMaster+xml"/>
  <Override PartName="/ppt/slides/slide505.xml" ContentType="application/vnd.openxmlformats-officedocument.presentationml.slide+xml"/>
  <Override PartName="/ppt/slideMasters/slideMaster506.xml" ContentType="application/vnd.openxmlformats-officedocument.presentationml.slideMaster+xml"/>
  <Override PartName="/ppt/slides/slide506.xml" ContentType="application/vnd.openxmlformats-officedocument.presentationml.slide+xml"/>
  <Override PartName="/ppt/slideMasters/slideMaster507.xml" ContentType="application/vnd.openxmlformats-officedocument.presentationml.slideMaster+xml"/>
  <Override PartName="/ppt/slides/slide507.xml" ContentType="application/vnd.openxmlformats-officedocument.presentationml.slide+xml"/>
  <Override PartName="/ppt/slideMasters/slideMaster508.xml" ContentType="application/vnd.openxmlformats-officedocument.presentationml.slideMaster+xml"/>
  <Override PartName="/ppt/slides/slide508.xml" ContentType="application/vnd.openxmlformats-officedocument.presentationml.slide+xml"/>
  <Override PartName="/ppt/slideMasters/slideMaster509.xml" ContentType="application/vnd.openxmlformats-officedocument.presentationml.slideMaster+xml"/>
  <Override PartName="/ppt/slides/slide509.xml" ContentType="application/vnd.openxmlformats-officedocument.presentationml.slide+xml"/>
  <Override PartName="/ppt/slideMasters/slideMaster510.xml" ContentType="application/vnd.openxmlformats-officedocument.presentationml.slideMaster+xml"/>
  <Override PartName="/ppt/slides/slide510.xml" ContentType="application/vnd.openxmlformats-officedocument.presentationml.slide+xml"/>
  <Override PartName="/ppt/slideMasters/slideMaster511.xml" ContentType="application/vnd.openxmlformats-officedocument.presentationml.slideMaster+xml"/>
  <Override PartName="/ppt/slides/slide511.xml" ContentType="application/vnd.openxmlformats-officedocument.presentationml.slide+xml"/>
  <Override PartName="/ppt/slideMasters/slideMaster512.xml" ContentType="application/vnd.openxmlformats-officedocument.presentationml.slideMaster+xml"/>
  <Override PartName="/ppt/slides/slide512.xml" ContentType="application/vnd.openxmlformats-officedocument.presentationml.slide+xml"/>
  <Override PartName="/ppt/slideMasters/slideMaster513.xml" ContentType="application/vnd.openxmlformats-officedocument.presentationml.slideMaster+xml"/>
  <Override PartName="/ppt/slides/slide513.xml" ContentType="application/vnd.openxmlformats-officedocument.presentationml.slide+xml"/>
  <Override PartName="/ppt/slideMasters/slideMaster514.xml" ContentType="application/vnd.openxmlformats-officedocument.presentationml.slideMaster+xml"/>
  <Override PartName="/ppt/slides/slide514.xml" ContentType="application/vnd.openxmlformats-officedocument.presentationml.slide+xml"/>
  <Override PartName="/ppt/slideMasters/slideMaster515.xml" ContentType="application/vnd.openxmlformats-officedocument.presentationml.slideMaster+xml"/>
  <Override PartName="/ppt/slides/slide515.xml" ContentType="application/vnd.openxmlformats-officedocument.presentationml.slide+xml"/>
  <Override PartName="/ppt/slideMasters/slideMaster516.xml" ContentType="application/vnd.openxmlformats-officedocument.presentationml.slideMaster+xml"/>
  <Override PartName="/ppt/slides/slide516.xml" ContentType="application/vnd.openxmlformats-officedocument.presentationml.slide+xml"/>
  <Override PartName="/ppt/slideMasters/slideMaster517.xml" ContentType="application/vnd.openxmlformats-officedocument.presentationml.slideMaster+xml"/>
  <Override PartName="/ppt/slides/slide517.xml" ContentType="application/vnd.openxmlformats-officedocument.presentationml.slide+xml"/>
  <Override PartName="/ppt/slideMasters/slideMaster518.xml" ContentType="application/vnd.openxmlformats-officedocument.presentationml.slideMaster+xml"/>
  <Override PartName="/ppt/slides/slide518.xml" ContentType="application/vnd.openxmlformats-officedocument.presentationml.slide+xml"/>
  <Override PartName="/ppt/slideMasters/slideMaster519.xml" ContentType="application/vnd.openxmlformats-officedocument.presentationml.slideMaster+xml"/>
  <Override PartName="/ppt/slides/slide519.xml" ContentType="application/vnd.openxmlformats-officedocument.presentationml.slide+xml"/>
  <Override PartName="/ppt/slideMasters/slideMaster520.xml" ContentType="application/vnd.openxmlformats-officedocument.presentationml.slideMaster+xml"/>
  <Override PartName="/ppt/slides/slide520.xml" ContentType="application/vnd.openxmlformats-officedocument.presentationml.slide+xml"/>
  <Override PartName="/ppt/slideMasters/slideMaster521.xml" ContentType="application/vnd.openxmlformats-officedocument.presentationml.slideMaster+xml"/>
  <Override PartName="/ppt/slides/slide521.xml" ContentType="application/vnd.openxmlformats-officedocument.presentationml.slide+xml"/>
  <Override PartName="/ppt/slideMasters/slideMaster522.xml" ContentType="application/vnd.openxmlformats-officedocument.presentationml.slideMaster+xml"/>
  <Override PartName="/ppt/slides/slide522.xml" ContentType="application/vnd.openxmlformats-officedocument.presentationml.slide+xml"/>
  <Override PartName="/ppt/slideMasters/slideMaster523.xml" ContentType="application/vnd.openxmlformats-officedocument.presentationml.slideMaster+xml"/>
  <Override PartName="/ppt/slides/slide523.xml" ContentType="application/vnd.openxmlformats-officedocument.presentationml.slide+xml"/>
  <Override PartName="/ppt/slideMasters/slideMaster524.xml" ContentType="application/vnd.openxmlformats-officedocument.presentationml.slideMaster+xml"/>
  <Override PartName="/ppt/slides/slide524.xml" ContentType="application/vnd.openxmlformats-officedocument.presentationml.slide+xml"/>
  <Override PartName="/ppt/slideMasters/slideMaster525.xml" ContentType="application/vnd.openxmlformats-officedocument.presentationml.slideMaster+xml"/>
  <Override PartName="/ppt/slides/slide525.xml" ContentType="application/vnd.openxmlformats-officedocument.presentationml.slide+xml"/>
  <Override PartName="/ppt/slideMasters/slideMaster526.xml" ContentType="application/vnd.openxmlformats-officedocument.presentationml.slideMaster+xml"/>
  <Override PartName="/ppt/slides/slide526.xml" ContentType="application/vnd.openxmlformats-officedocument.presentationml.slide+xml"/>
  <Override PartName="/ppt/slideMasters/slideMaster527.xml" ContentType="application/vnd.openxmlformats-officedocument.presentationml.slideMaster+xml"/>
  <Override PartName="/ppt/slides/slide527.xml" ContentType="application/vnd.openxmlformats-officedocument.presentationml.slide+xml"/>
  <Override PartName="/ppt/slideMasters/slideMaster528.xml" ContentType="application/vnd.openxmlformats-officedocument.presentationml.slideMaster+xml"/>
  <Override PartName="/ppt/slides/slide528.xml" ContentType="application/vnd.openxmlformats-officedocument.presentationml.slide+xml"/>
  <Override PartName="/ppt/slideMasters/slideMaster529.xml" ContentType="application/vnd.openxmlformats-officedocument.presentationml.slideMaster+xml"/>
  <Override PartName="/ppt/slides/slide529.xml" ContentType="application/vnd.openxmlformats-officedocument.presentationml.slide+xml"/>
  <Override PartName="/ppt/slideMasters/slideMaster530.xml" ContentType="application/vnd.openxmlformats-officedocument.presentationml.slideMaster+xml"/>
  <Override PartName="/ppt/slides/slide530.xml" ContentType="application/vnd.openxmlformats-officedocument.presentationml.slide+xml"/>
  <Override PartName="/ppt/slideMasters/slideMaster531.xml" ContentType="application/vnd.openxmlformats-officedocument.presentationml.slideMaster+xml"/>
  <Override PartName="/ppt/slides/slide531.xml" ContentType="application/vnd.openxmlformats-officedocument.presentationml.slide+xml"/>
  <Override PartName="/ppt/slideMasters/slideMaster532.xml" ContentType="application/vnd.openxmlformats-officedocument.presentationml.slideMaster+xml"/>
  <Override PartName="/ppt/slides/slide532.xml" ContentType="application/vnd.openxmlformats-officedocument.presentationml.slide+xml"/>
  <Override PartName="/ppt/slideMasters/slideMaster533.xml" ContentType="application/vnd.openxmlformats-officedocument.presentationml.slideMaster+xml"/>
  <Override PartName="/ppt/slides/slide533.xml" ContentType="application/vnd.openxmlformats-officedocument.presentationml.slide+xml"/>
  <Override PartName="/ppt/slideMasters/slideMaster534.xml" ContentType="application/vnd.openxmlformats-officedocument.presentationml.slideMaster+xml"/>
  <Override PartName="/ppt/slides/slide534.xml" ContentType="application/vnd.openxmlformats-officedocument.presentationml.slide+xml"/>
  <Override PartName="/ppt/slideMasters/slideMaster535.xml" ContentType="application/vnd.openxmlformats-officedocument.presentationml.slideMaster+xml"/>
  <Override PartName="/ppt/slides/slide535.xml" ContentType="application/vnd.openxmlformats-officedocument.presentationml.slide+xml"/>
  <Override PartName="/ppt/slideMasters/slideMaster536.xml" ContentType="application/vnd.openxmlformats-officedocument.presentationml.slideMaster+xml"/>
  <Override PartName="/ppt/slides/slide536.xml" ContentType="application/vnd.openxmlformats-officedocument.presentationml.slide+xml"/>
  <Override PartName="/ppt/slideMasters/slideMaster537.xml" ContentType="application/vnd.openxmlformats-officedocument.presentationml.slideMaster+xml"/>
  <Override PartName="/ppt/slides/slide537.xml" ContentType="application/vnd.openxmlformats-officedocument.presentationml.slide+xml"/>
  <Override PartName="/ppt/slideMasters/slideMaster538.xml" ContentType="application/vnd.openxmlformats-officedocument.presentationml.slideMaster+xml"/>
  <Override PartName="/ppt/slides/slide538.xml" ContentType="application/vnd.openxmlformats-officedocument.presentationml.slide+xml"/>
  <Override PartName="/ppt/slideMasters/slideMaster539.xml" ContentType="application/vnd.openxmlformats-officedocument.presentationml.slideMaster+xml"/>
  <Override PartName="/ppt/slides/slide539.xml" ContentType="application/vnd.openxmlformats-officedocument.presentationml.slide+xml"/>
  <Override PartName="/ppt/slideMasters/slideMaster540.xml" ContentType="application/vnd.openxmlformats-officedocument.presentationml.slideMaster+xml"/>
  <Override PartName="/ppt/slides/slide540.xml" ContentType="application/vnd.openxmlformats-officedocument.presentationml.slide+xml"/>
  <Override PartName="/ppt/slideMasters/slideMaster541.xml" ContentType="application/vnd.openxmlformats-officedocument.presentationml.slideMaster+xml"/>
  <Override PartName="/ppt/slides/slide541.xml" ContentType="application/vnd.openxmlformats-officedocument.presentationml.slide+xml"/>
  <Override PartName="/ppt/slideMasters/slideMaster542.xml" ContentType="application/vnd.openxmlformats-officedocument.presentationml.slideMaster+xml"/>
  <Override PartName="/ppt/slides/slide542.xml" ContentType="application/vnd.openxmlformats-officedocument.presentationml.slide+xml"/>
  <Override PartName="/ppt/slideMasters/slideMaster543.xml" ContentType="application/vnd.openxmlformats-officedocument.presentationml.slideMaster+xml"/>
  <Override PartName="/ppt/slides/slide543.xml" ContentType="application/vnd.openxmlformats-officedocument.presentationml.slide+xml"/>
  <Override PartName="/ppt/slideMasters/slideMaster544.xml" ContentType="application/vnd.openxmlformats-officedocument.presentationml.slideMaster+xml"/>
  <Override PartName="/ppt/slides/slide544.xml" ContentType="application/vnd.openxmlformats-officedocument.presentationml.slide+xml"/>
  <Override PartName="/ppt/slideMasters/slideMaster545.xml" ContentType="application/vnd.openxmlformats-officedocument.presentationml.slideMaster+xml"/>
  <Override PartName="/ppt/slides/slide545.xml" ContentType="application/vnd.openxmlformats-officedocument.presentationml.slide+xml"/>
  <Override PartName="/ppt/slideMasters/slideMaster546.xml" ContentType="application/vnd.openxmlformats-officedocument.presentationml.slideMaster+xml"/>
  <Override PartName="/ppt/slides/slide546.xml" ContentType="application/vnd.openxmlformats-officedocument.presentationml.slide+xml"/>
  <Override PartName="/ppt/slideMasters/slideMaster547.xml" ContentType="application/vnd.openxmlformats-officedocument.presentationml.slideMaster+xml"/>
  <Override PartName="/ppt/slides/slide547.xml" ContentType="application/vnd.openxmlformats-officedocument.presentationml.slide+xml"/>
  <Override PartName="/ppt/slideMasters/slideMaster548.xml" ContentType="application/vnd.openxmlformats-officedocument.presentationml.slideMaster+xml"/>
  <Override PartName="/ppt/slides/slide548.xml" ContentType="application/vnd.openxmlformats-officedocument.presentationml.slide+xml"/>
  <Override PartName="/ppt/slideMasters/slideMaster549.xml" ContentType="application/vnd.openxmlformats-officedocument.presentationml.slideMaster+xml"/>
  <Override PartName="/ppt/slides/slide549.xml" ContentType="application/vnd.openxmlformats-officedocument.presentationml.slide+xml"/>
  <Override PartName="/ppt/slideMasters/slideMaster550.xml" ContentType="application/vnd.openxmlformats-officedocument.presentationml.slideMaster+xml"/>
  <Override PartName="/ppt/slides/slide550.xml" ContentType="application/vnd.openxmlformats-officedocument.presentationml.slide+xml"/>
  <Override PartName="/ppt/slideMasters/slideMaster551.xml" ContentType="application/vnd.openxmlformats-officedocument.presentationml.slideMaster+xml"/>
  <Override PartName="/ppt/slides/slide551.xml" ContentType="application/vnd.openxmlformats-officedocument.presentationml.slide+xml"/>
  <Override PartName="/ppt/slideMasters/slideMaster552.xml" ContentType="application/vnd.openxmlformats-officedocument.presentationml.slideMaster+xml"/>
  <Override PartName="/ppt/slides/slide552.xml" ContentType="application/vnd.openxmlformats-officedocument.presentationml.slide+xml"/>
  <Override PartName="/ppt/slideMasters/slideMaster553.xml" ContentType="application/vnd.openxmlformats-officedocument.presentationml.slideMaster+xml"/>
  <Override PartName="/ppt/slides/slide553.xml" ContentType="application/vnd.openxmlformats-officedocument.presentationml.slide+xml"/>
  <Override PartName="/ppt/slideMasters/slideMaster554.xml" ContentType="application/vnd.openxmlformats-officedocument.presentationml.slideMaster+xml"/>
  <Override PartName="/ppt/slides/slide554.xml" ContentType="application/vnd.openxmlformats-officedocument.presentationml.slide+xml"/>
  <Override PartName="/ppt/slideMasters/slideMaster555.xml" ContentType="application/vnd.openxmlformats-officedocument.presentationml.slideMaster+xml"/>
  <Override PartName="/ppt/slides/slide555.xml" ContentType="application/vnd.openxmlformats-officedocument.presentationml.slide+xml"/>
  <Override PartName="/ppt/slideMasters/slideMaster556.xml" ContentType="application/vnd.openxmlformats-officedocument.presentationml.slideMaster+xml"/>
  <Override PartName="/ppt/slides/slide556.xml" ContentType="application/vnd.openxmlformats-officedocument.presentationml.slide+xml"/>
  <Override PartName="/ppt/slideMasters/slideMaster557.xml" ContentType="application/vnd.openxmlformats-officedocument.presentationml.slideMaster+xml"/>
  <Override PartName="/ppt/slides/slide557.xml" ContentType="application/vnd.openxmlformats-officedocument.presentationml.slide+xml"/>
  <Override PartName="/ppt/slideMasters/slideMaster558.xml" ContentType="application/vnd.openxmlformats-officedocument.presentationml.slideMaster+xml"/>
  <Override PartName="/ppt/slides/slide558.xml" ContentType="application/vnd.openxmlformats-officedocument.presentationml.slide+xml"/>
  <Override PartName="/ppt/slideMasters/slideMaster559.xml" ContentType="application/vnd.openxmlformats-officedocument.presentationml.slideMaster+xml"/>
  <Override PartName="/ppt/slides/slide559.xml" ContentType="application/vnd.openxmlformats-officedocument.presentationml.slide+xml"/>
  <Override PartName="/ppt/slideMasters/slideMaster560.xml" ContentType="application/vnd.openxmlformats-officedocument.presentationml.slideMaster+xml"/>
  <Override PartName="/ppt/slides/slide560.xml" ContentType="application/vnd.openxmlformats-officedocument.presentationml.slide+xml"/>
  <Override PartName="/ppt/slideMasters/slideMaster561.xml" ContentType="application/vnd.openxmlformats-officedocument.presentationml.slideMaster+xml"/>
  <Override PartName="/ppt/slides/slide561.xml" ContentType="application/vnd.openxmlformats-officedocument.presentationml.slide+xml"/>
  <Override PartName="/ppt/slideMasters/slideMaster562.xml" ContentType="application/vnd.openxmlformats-officedocument.presentationml.slideMaster+xml"/>
  <Override PartName="/ppt/slides/slide562.xml" ContentType="application/vnd.openxmlformats-officedocument.presentationml.slide+xml"/>
  <Override PartName="/ppt/slideMasters/slideMaster563.xml" ContentType="application/vnd.openxmlformats-officedocument.presentationml.slideMaster+xml"/>
  <Override PartName="/ppt/slides/slide563.xml" ContentType="application/vnd.openxmlformats-officedocument.presentationml.slide+xml"/>
  <Override PartName="/ppt/slideMasters/slideMaster564.xml" ContentType="application/vnd.openxmlformats-officedocument.presentationml.slideMaster+xml"/>
  <Override PartName="/ppt/slides/slide564.xml" ContentType="application/vnd.openxmlformats-officedocument.presentationml.slide+xml"/>
  <Override PartName="/ppt/slideMasters/slideMaster565.xml" ContentType="application/vnd.openxmlformats-officedocument.presentationml.slideMaster+xml"/>
  <Override PartName="/ppt/slides/slide565.xml" ContentType="application/vnd.openxmlformats-officedocument.presentationml.slide+xml"/>
  <Override PartName="/ppt/slideMasters/slideMaster566.xml" ContentType="application/vnd.openxmlformats-officedocument.presentationml.slideMaster+xml"/>
  <Override PartName="/ppt/slides/slide566.xml" ContentType="application/vnd.openxmlformats-officedocument.presentationml.slide+xml"/>
  <Override PartName="/ppt/slideMasters/slideMaster567.xml" ContentType="application/vnd.openxmlformats-officedocument.presentationml.slideMaster+xml"/>
  <Override PartName="/ppt/slides/slide5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 id="686" r:id="rId432"/>
    <p:sldId id="687" r:id="rId433"/>
    <p:sldId id="688" r:id="rId434"/>
    <p:sldId id="689" r:id="rId435"/>
    <p:sldId id="690" r:id="rId436"/>
    <p:sldId id="691" r:id="rId437"/>
    <p:sldId id="692" r:id="rId438"/>
    <p:sldId id="693" r:id="rId439"/>
    <p:sldId id="694" r:id="rId440"/>
    <p:sldId id="695" r:id="rId441"/>
    <p:sldId id="696" r:id="rId442"/>
    <p:sldId id="697" r:id="rId443"/>
    <p:sldId id="698" r:id="rId444"/>
    <p:sldId id="699" r:id="rId445"/>
    <p:sldId id="700" r:id="rId446"/>
    <p:sldId id="701" r:id="rId447"/>
    <p:sldId id="702" r:id="rId448"/>
    <p:sldId id="703" r:id="rId449"/>
    <p:sldId id="704" r:id="rId450"/>
    <p:sldId id="705" r:id="rId451"/>
    <p:sldId id="706" r:id="rId452"/>
    <p:sldId id="707" r:id="rId453"/>
    <p:sldId id="708" r:id="rId454"/>
    <p:sldId id="709" r:id="rId455"/>
    <p:sldId id="710" r:id="rId456"/>
    <p:sldId id="711" r:id="rId457"/>
    <p:sldId id="712" r:id="rId458"/>
    <p:sldId id="713" r:id="rId459"/>
    <p:sldId id="714" r:id="rId460"/>
    <p:sldId id="715" r:id="rId461"/>
    <p:sldId id="716" r:id="rId462"/>
    <p:sldId id="717" r:id="rId463"/>
    <p:sldId id="718" r:id="rId464"/>
    <p:sldId id="719" r:id="rId465"/>
    <p:sldId id="720" r:id="rId466"/>
    <p:sldId id="721" r:id="rId467"/>
    <p:sldId id="722" r:id="rId468"/>
    <p:sldId id="723" r:id="rId469"/>
    <p:sldId id="724" r:id="rId470"/>
    <p:sldId id="725" r:id="rId471"/>
    <p:sldId id="726" r:id="rId472"/>
    <p:sldId id="727" r:id="rId473"/>
    <p:sldId id="728" r:id="rId474"/>
    <p:sldId id="729" r:id="rId475"/>
    <p:sldId id="730" r:id="rId476"/>
    <p:sldId id="731" r:id="rId477"/>
    <p:sldId id="732" r:id="rId478"/>
    <p:sldId id="733" r:id="rId479"/>
    <p:sldId id="734" r:id="rId480"/>
    <p:sldId id="735" r:id="rId481"/>
    <p:sldId id="736" r:id="rId482"/>
    <p:sldId id="737" r:id="rId483"/>
    <p:sldId id="738" r:id="rId484"/>
    <p:sldId id="739" r:id="rId485"/>
    <p:sldId id="740" r:id="rId486"/>
    <p:sldId id="741" r:id="rId487"/>
    <p:sldId id="742" r:id="rId488"/>
    <p:sldId id="743" r:id="rId489"/>
    <p:sldId id="744" r:id="rId490"/>
    <p:sldId id="745" r:id="rId491"/>
    <p:sldId id="746" r:id="rId492"/>
    <p:sldId id="747" r:id="rId493"/>
    <p:sldId id="748" r:id="rId494"/>
    <p:sldId id="749" r:id="rId495"/>
    <p:sldId id="750" r:id="rId496"/>
    <p:sldId id="751" r:id="rId497"/>
    <p:sldId id="752" r:id="rId498"/>
    <p:sldId id="753" r:id="rId499"/>
    <p:sldId id="754" r:id="rId500"/>
    <p:sldId id="755" r:id="rId501"/>
    <p:sldId id="756" r:id="rId502"/>
    <p:sldId id="757" r:id="rId503"/>
    <p:sldId id="758" r:id="rId504"/>
    <p:sldId id="759" r:id="rId505"/>
    <p:sldId id="760" r:id="rId506"/>
    <p:sldId id="761" r:id="rId507"/>
    <p:sldId id="762" r:id="rId508"/>
    <p:sldId id="763" r:id="rId509"/>
    <p:sldId id="764" r:id="rId510"/>
    <p:sldId id="765" r:id="rId511"/>
    <p:sldId id="766" r:id="rId512"/>
    <p:sldId id="767" r:id="rId513"/>
    <p:sldId id="768" r:id="rId514"/>
    <p:sldId id="769" r:id="rId515"/>
    <p:sldId id="770" r:id="rId516"/>
    <p:sldId id="771" r:id="rId517"/>
    <p:sldId id="772" r:id="rId518"/>
    <p:sldId id="773" r:id="rId519"/>
    <p:sldId id="774" r:id="rId520"/>
    <p:sldId id="775" r:id="rId521"/>
    <p:sldId id="776" r:id="rId522"/>
    <p:sldId id="777" r:id="rId523"/>
    <p:sldId id="778" r:id="rId524"/>
    <p:sldId id="779" r:id="rId525"/>
    <p:sldId id="780" r:id="rId526"/>
    <p:sldId id="781" r:id="rId527"/>
    <p:sldId id="782" r:id="rId528"/>
    <p:sldId id="783" r:id="rId529"/>
    <p:sldId id="784" r:id="rId530"/>
    <p:sldId id="785" r:id="rId531"/>
    <p:sldId id="786" r:id="rId532"/>
    <p:sldId id="787" r:id="rId533"/>
    <p:sldId id="788" r:id="rId534"/>
    <p:sldId id="789" r:id="rId535"/>
    <p:sldId id="790" r:id="rId536"/>
    <p:sldId id="791" r:id="rId537"/>
    <p:sldId id="792" r:id="rId538"/>
    <p:sldId id="793" r:id="rId539"/>
    <p:sldId id="794" r:id="rId540"/>
    <p:sldId id="795" r:id="rId541"/>
    <p:sldId id="796" r:id="rId542"/>
    <p:sldId id="797" r:id="rId543"/>
    <p:sldId id="798" r:id="rId544"/>
    <p:sldId id="799" r:id="rId545"/>
    <p:sldId id="800" r:id="rId546"/>
    <p:sldId id="801" r:id="rId547"/>
    <p:sldId id="802" r:id="rId548"/>
    <p:sldId id="803" r:id="rId549"/>
    <p:sldId id="804" r:id="rId550"/>
    <p:sldId id="805" r:id="rId551"/>
    <p:sldId id="806" r:id="rId552"/>
    <p:sldId id="807" r:id="rId553"/>
    <p:sldId id="808" r:id="rId554"/>
    <p:sldId id="809" r:id="rId555"/>
    <p:sldId id="810" r:id="rId556"/>
    <p:sldId id="811" r:id="rId557"/>
    <p:sldId id="812" r:id="rId558"/>
    <p:sldId id="813" r:id="rId559"/>
    <p:sldId id="814" r:id="rId560"/>
    <p:sldId id="815" r:id="rId561"/>
    <p:sldId id="816" r:id="rId562"/>
    <p:sldId id="817" r:id="rId563"/>
    <p:sldId id="818" r:id="rId564"/>
    <p:sldId id="819" r:id="rId565"/>
    <p:sldId id="820" r:id="rId566"/>
    <p:sldId id="821" r:id="rId567"/>
    <p:sldId id="822" r:id="rId568"/>
  </p:sldIdLst>
  <p:notesMasterIdLst>
    <p:notesMasterId r:id="rId5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notesMaster" Target="notesMasters/notesMaster1.xml"/><Relationship Id="rId570" Type="http://schemas.openxmlformats.org/officeDocument/2006/relationships/presProps" Target="presProps.xml"/><Relationship Id="rId571" Type="http://schemas.openxmlformats.org/officeDocument/2006/relationships/viewProps" Target="viewProps.xml"/><Relationship Id="rId572" Type="http://schemas.openxmlformats.org/officeDocument/2006/relationships/theme" Target="theme/theme1.xml"/><Relationship Id="rId5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_rels/notesSlide4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3.xml"/>
		</Relationships>
</file>

<file path=ppt/notesSlides/_rels/notesSlide4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4.xml"/>
		</Relationships>
</file>

<file path=ppt/notesSlides/_rels/notesSlide4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5.xml"/>
		</Relationships>
</file>

<file path=ppt/notesSlides/_rels/notesSlide4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6.xml"/>
		</Relationships>
</file>

<file path=ppt/notesSlides/_rels/notesSlide4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7.xml"/>
		</Relationships>
</file>

<file path=ppt/notesSlides/_rels/notesSlide4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8.xml"/>
		</Relationships>
</file>

<file path=ppt/notesSlides/_rels/notesSlide4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9.xml"/>
		</Relationships>
</file>

<file path=ppt/notesSlides/_rels/notesSlide4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0.xml"/>
		</Relationships>
</file>

<file path=ppt/notesSlides/_rels/notesSlide4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1.xml"/>
		</Relationships>
</file>

<file path=ppt/notesSlides/_rels/notesSlide4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2.xml"/>
		</Relationships>
</file>

<file path=ppt/notesSlides/_rels/notesSlide4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3.xml"/>
		</Relationships>
</file>

<file path=ppt/notesSlides/_rels/notesSlide4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4.xml"/>
		</Relationships>
</file>

<file path=ppt/notesSlides/_rels/notesSlide4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5.xml"/>
		</Relationships>
</file>

<file path=ppt/notesSlides/_rels/notesSlide4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6.xml"/>
		</Relationships>
</file>

<file path=ppt/notesSlides/_rels/notesSlide4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7.xml"/>
		</Relationships>
</file>

<file path=ppt/notesSlides/_rels/notesSlide4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8.xml"/>
		</Relationships>
</file>

<file path=ppt/notesSlides/_rels/notesSlide4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9.xml"/>
		</Relationships>
</file>

<file path=ppt/notesSlides/_rels/notesSlide4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0.xml"/>
		</Relationships>
</file>

<file path=ppt/notesSlides/_rels/notesSlide4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1.xml"/>
		</Relationships>
</file>

<file path=ppt/notesSlides/_rels/notesSlide4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2.xml"/>
		</Relationships>
</file>

<file path=ppt/notesSlides/_rels/notesSlide4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3.xml"/>
		</Relationships>
</file>

<file path=ppt/notesSlides/_rels/notesSlide4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4.xml"/>
		</Relationships>
</file>

<file path=ppt/notesSlides/_rels/notesSlide4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5.xml"/>
		</Relationships>
</file>

<file path=ppt/notesSlides/_rels/notesSlide4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6.xml"/>
		</Relationships>
</file>

<file path=ppt/notesSlides/_rels/notesSlide4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7.xml"/>
		</Relationships>
</file>

<file path=ppt/notesSlides/_rels/notesSlide4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8.xml"/>
		</Relationships>
</file>

<file path=ppt/notesSlides/_rels/notesSlide4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9.xml"/>
		</Relationships>
</file>

<file path=ppt/notesSlides/_rels/notesSlide4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0.xml"/>
		</Relationships>
</file>

<file path=ppt/notesSlides/_rels/notesSlide4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1.xml"/>
		</Relationships>
</file>

<file path=ppt/notesSlides/_rels/notesSlide4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2.xml"/>
		</Relationships>
</file>

<file path=ppt/notesSlides/_rels/notesSlide4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3.xml"/>
		</Relationships>
</file>

<file path=ppt/notesSlides/_rels/notesSlide4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4.xml"/>
		</Relationships>
</file>

<file path=ppt/notesSlides/_rels/notesSlide4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5.xml"/>
		</Relationships>
</file>

<file path=ppt/notesSlides/_rels/notesSlide4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6.xml"/>
		</Relationships>
</file>

<file path=ppt/notesSlides/_rels/notesSlide4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7.xml"/>
		</Relationships>
</file>

<file path=ppt/notesSlides/_rels/notesSlide4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8.xml"/>
		</Relationships>
</file>

<file path=ppt/notesSlides/_rels/notesSlide4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9.xml"/>
		</Relationships>
</file>

<file path=ppt/notesSlides/_rels/notesSlide4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0.xml"/>
		</Relationships>
</file>

<file path=ppt/notesSlides/_rels/notesSlide4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1.xml"/>
		</Relationships>
</file>

<file path=ppt/notesSlides/_rels/notesSlide4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2.xml"/>
		</Relationships>
</file>

<file path=ppt/notesSlides/_rels/notesSlide4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3.xml"/>
		</Relationships>
</file>

<file path=ppt/notesSlides/_rels/notesSlide4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4.xml"/>
		</Relationships>
</file>

<file path=ppt/notesSlides/_rels/notesSlide4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5.xml"/>
		</Relationships>
</file>

<file path=ppt/notesSlides/_rels/notesSlide4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6.xml"/>
		</Relationships>
</file>

<file path=ppt/notesSlides/_rels/notesSlide4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7.xml"/>
		</Relationships>
</file>

<file path=ppt/notesSlides/_rels/notesSlide4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8.xml"/>
		</Relationships>
</file>

<file path=ppt/notesSlides/_rels/notesSlide4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9.xml"/>
		</Relationships>
</file>

<file path=ppt/notesSlides/_rels/notesSlide4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0.xml"/>
		</Relationships>
</file>

<file path=ppt/notesSlides/_rels/notesSlide4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1.xml"/>
		</Relationships>
</file>

<file path=ppt/notesSlides/_rels/notesSlide4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2.xml"/>
		</Relationships>
</file>

<file path=ppt/notesSlides/_rels/notesSlide4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3.xml"/>
		</Relationships>
</file>

<file path=ppt/notesSlides/_rels/notesSlide4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4.xml"/>
		</Relationships>
</file>

<file path=ppt/notesSlides/_rels/notesSlide4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5.xml"/>
		</Relationships>
</file>

<file path=ppt/notesSlides/_rels/notesSlide4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6.xml"/>
		</Relationships>
</file>

<file path=ppt/notesSlides/_rels/notesSlide4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7.xml"/>
		</Relationships>
</file>

<file path=ppt/notesSlides/_rels/notesSlide4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8.xml"/>
		</Relationships>
</file>

<file path=ppt/notesSlides/_rels/notesSlide4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9.xml"/>
		</Relationships>
</file>

<file path=ppt/notesSlides/_rels/notesSlide4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0.xml"/>
		</Relationships>
</file>

<file path=ppt/notesSlides/_rels/notesSlide4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1.xml"/>
		</Relationships>
</file>

<file path=ppt/notesSlides/_rels/notesSlide4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2.xml"/>
		</Relationships>
</file>

<file path=ppt/notesSlides/_rels/notesSlide4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3.xml"/>
		</Relationships>
</file>

<file path=ppt/notesSlides/_rels/notesSlide4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4.xml"/>
		</Relationships>
</file>

<file path=ppt/notesSlides/_rels/notesSlide4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5.xml"/>
		</Relationships>
</file>

<file path=ppt/notesSlides/_rels/notesSlide4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6.xml"/>
		</Relationships>
</file>

<file path=ppt/notesSlides/_rels/notesSlide4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7.xml"/>
		</Relationships>
</file>

<file path=ppt/notesSlides/_rels/notesSlide4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8.xml"/>
		</Relationships>
</file>

<file path=ppt/notesSlides/_rels/notesSlide4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9.xml"/>
		</Relationships>
</file>

<file path=ppt/notesSlides/_rels/notesSlide4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0.xml"/>
		</Relationships>
</file>

<file path=ppt/notesSlides/_rels/notesSlide4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1.xml"/>
		</Relationships>
</file>

<file path=ppt/notesSlides/_rels/notesSlide4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2.xml"/>
		</Relationships>
</file>

<file path=ppt/notesSlides/_rels/notesSlide4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3.xml"/>
		</Relationships>
</file>

<file path=ppt/notesSlides/_rels/notesSlide4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4.xml"/>
		</Relationships>
</file>

<file path=ppt/notesSlides/_rels/notesSlide4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5.xml"/>
		</Relationships>
</file>

<file path=ppt/notesSlides/_rels/notesSlide4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6.xml"/>
		</Relationships>
</file>

<file path=ppt/notesSlides/_rels/notesSlide4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7.xml"/>
		</Relationships>
</file>

<file path=ppt/notesSlides/_rels/notesSlide4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8.xml"/>
		</Relationships>
</file>

<file path=ppt/notesSlides/_rels/notesSlide4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9.xml"/>
		</Relationships>
</file>

<file path=ppt/notesSlides/_rels/notesSlide4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0.xml"/>
		</Relationships>
</file>

<file path=ppt/notesSlides/_rels/notesSlide4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1.xml"/>
		</Relationships>
</file>

<file path=ppt/notesSlides/_rels/notesSlide4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2.xml"/>
		</Relationships>
</file>

<file path=ppt/notesSlides/_rels/notesSlide4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3.xml"/>
		</Relationships>
</file>

<file path=ppt/notesSlides/_rels/notesSlide4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4.xml"/>
		</Relationships>
</file>

<file path=ppt/notesSlides/_rels/notesSlide4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5.xml"/>
		</Relationships>
</file>

<file path=ppt/notesSlides/_rels/notesSlide4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6.xml"/>
		</Relationships>
</file>

<file path=ppt/notesSlides/_rels/notesSlide4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7.xml"/>
		</Relationships>
</file>

<file path=ppt/notesSlides/_rels/notesSlide4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8.xml"/>
		</Relationships>
</file>

<file path=ppt/notesSlides/_rels/notesSlide4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9.xml"/>
		</Relationships>
</file>

<file path=ppt/notesSlides/_rels/notesSlide4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0.xml"/>
		</Relationships>
</file>

<file path=ppt/notesSlides/_rels/notesSlide4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1.xml"/>
		</Relationships>
</file>

<file path=ppt/notesSlides/_rels/notesSlide4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2.xml"/>
		</Relationships>
</file>

<file path=ppt/notesSlides/_rels/notesSlide4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3.xml"/>
		</Relationships>
</file>

<file path=ppt/notesSlides/_rels/notesSlide4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4.xml"/>
		</Relationships>
</file>

<file path=ppt/notesSlides/_rels/notesSlide4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5.xml"/>
		</Relationships>
</file>

<file path=ppt/notesSlides/_rels/notesSlide4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6.xml"/>
		</Relationships>
</file>

<file path=ppt/notesSlides/_rels/notesSlide4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7.xml"/>
		</Relationships>
</file>

<file path=ppt/notesSlides/_rels/notesSlide4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8.xml"/>
		</Relationships>
</file>

<file path=ppt/notesSlides/_rels/notesSlide4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9.xml"/>
		</Relationships>
</file>

<file path=ppt/notesSlides/_rels/notesSlide5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0.xml"/>
		</Relationships>
</file>

<file path=ppt/notesSlides/_rels/notesSlide5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1.xml"/>
		</Relationships>
</file>

<file path=ppt/notesSlides/_rels/notesSlide5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2.xml"/>
		</Relationships>
</file>

<file path=ppt/notesSlides/_rels/notesSlide5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3.xml"/>
		</Relationships>
</file>

<file path=ppt/notesSlides/_rels/notesSlide5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4.xml"/>
		</Relationships>
</file>

<file path=ppt/notesSlides/_rels/notesSlide5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5.xml"/>
		</Relationships>
</file>

<file path=ppt/notesSlides/_rels/notesSlide5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6.xml"/>
		</Relationships>
</file>

<file path=ppt/notesSlides/_rels/notesSlide5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7.xml"/>
		</Relationships>
</file>

<file path=ppt/notesSlides/_rels/notesSlide5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8.xml"/>
		</Relationships>
</file>

<file path=ppt/notesSlides/_rels/notesSlide5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9.xml"/>
		</Relationships>
</file>

<file path=ppt/notesSlides/_rels/notesSlide5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0.xml"/>
		</Relationships>
</file>

<file path=ppt/notesSlides/_rels/notesSlide5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1.xml"/>
		</Relationships>
</file>

<file path=ppt/notesSlides/_rels/notesSlide5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2.xml"/>
		</Relationships>
</file>

<file path=ppt/notesSlides/_rels/notesSlide5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3.xml"/>
		</Relationships>
</file>

<file path=ppt/notesSlides/_rels/notesSlide5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4.xml"/>
		</Relationships>
</file>

<file path=ppt/notesSlides/_rels/notesSlide5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5.xml"/>
		</Relationships>
</file>

<file path=ppt/notesSlides/_rels/notesSlide5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6.xml"/>
		</Relationships>
</file>

<file path=ppt/notesSlides/_rels/notesSlide5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7.xml"/>
		</Relationships>
</file>

<file path=ppt/notesSlides/_rels/notesSlide5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8.xml"/>
		</Relationships>
</file>

<file path=ppt/notesSlides/_rels/notesSlide5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9.xml"/>
		</Relationships>
</file>

<file path=ppt/notesSlides/_rels/notesSlide5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0.xml"/>
		</Relationships>
</file>

<file path=ppt/notesSlides/_rels/notesSlide5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1.xml"/>
		</Relationships>
</file>

<file path=ppt/notesSlides/_rels/notesSlide5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2.xml"/>
		</Relationships>
</file>

<file path=ppt/notesSlides/_rels/notesSlide5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3.xml"/>
		</Relationships>
</file>

<file path=ppt/notesSlides/_rels/notesSlide5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4.xml"/>
		</Relationships>
</file>

<file path=ppt/notesSlides/_rels/notesSlide5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5.xml"/>
		</Relationships>
</file>

<file path=ppt/notesSlides/_rels/notesSlide5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6.xml"/>
		</Relationships>
</file>

<file path=ppt/notesSlides/_rels/notesSlide5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7.xml"/>
		</Relationships>
</file>

<file path=ppt/notesSlides/_rels/notesSlide5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8.xml"/>
		</Relationships>
</file>

<file path=ppt/notesSlides/_rels/notesSlide5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9.xml"/>
		</Relationships>
</file>

<file path=ppt/notesSlides/_rels/notesSlide5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0.xml"/>
		</Relationships>
</file>

<file path=ppt/notesSlides/_rels/notesSlide5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1.xml"/>
		</Relationships>
</file>

<file path=ppt/notesSlides/_rels/notesSlide5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2.xml"/>
		</Relationships>
</file>

<file path=ppt/notesSlides/_rels/notesSlide5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3.xml"/>
		</Relationships>
</file>

<file path=ppt/notesSlides/_rels/notesSlide5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4.xml"/>
		</Relationships>
</file>

<file path=ppt/notesSlides/_rels/notesSlide5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5.xml"/>
		</Relationships>
</file>

<file path=ppt/notesSlides/_rels/notesSlide5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6.xml"/>
		</Relationships>
</file>

<file path=ppt/notesSlides/_rels/notesSlide5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7.xml"/>
		</Relationships>
</file>

<file path=ppt/notesSlides/_rels/notesSlide5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8.xml"/>
		</Relationships>
</file>

<file path=ppt/notesSlides/_rels/notesSlide5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9.xml"/>
		</Relationships>
</file>

<file path=ppt/notesSlides/_rels/notesSlide5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0.xml"/>
		</Relationships>
</file>

<file path=ppt/notesSlides/_rels/notesSlide5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1.xml"/>
		</Relationships>
</file>

<file path=ppt/notesSlides/_rels/notesSlide5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2.xml"/>
		</Relationships>
</file>

<file path=ppt/notesSlides/_rels/notesSlide5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3.xml"/>
		</Relationships>
</file>

<file path=ppt/notesSlides/_rels/notesSlide5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4.xml"/>
		</Relationships>
</file>

<file path=ppt/notesSlides/_rels/notesSlide5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5.xml"/>
		</Relationships>
</file>

<file path=ppt/notesSlides/_rels/notesSlide5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6.xml"/>
		</Relationships>
</file>

<file path=ppt/notesSlides/_rels/notesSlide5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7.xml"/>
		</Relationships>
</file>

<file path=ppt/notesSlides/_rels/notesSlide5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8.xml"/>
		</Relationships>
</file>

<file path=ppt/notesSlides/_rels/notesSlide5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9.xml"/>
		</Relationships>
</file>

<file path=ppt/notesSlides/_rels/notesSlide5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0.xml"/>
		</Relationships>
</file>

<file path=ppt/notesSlides/_rels/notesSlide5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1.xml"/>
		</Relationships>
</file>

<file path=ppt/notesSlides/_rels/notesSlide5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2.xml"/>
		</Relationships>
</file>

<file path=ppt/notesSlides/_rels/notesSlide5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3.xml"/>
		</Relationships>
</file>

<file path=ppt/notesSlides/_rels/notesSlide5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4.xml"/>
		</Relationships>
</file>

<file path=ppt/notesSlides/_rels/notesSlide5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5.xml"/>
		</Relationships>
</file>

<file path=ppt/notesSlides/_rels/notesSlide5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6.xml"/>
		</Relationships>
</file>

<file path=ppt/notesSlides/_rels/notesSlide5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7.xml"/>
		</Relationships>
</file>

<file path=ppt/notesSlides/_rels/notesSlide5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8.xml"/>
		</Relationships>
</file>

<file path=ppt/notesSlides/_rels/notesSlide5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9.xml"/>
		</Relationships>
</file>

<file path=ppt/notesSlides/_rels/notesSlide5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0.xml"/>
		</Relationships>
</file>

<file path=ppt/notesSlides/_rels/notesSlide5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1.xml"/>
		</Relationships>
</file>

<file path=ppt/notesSlides/_rels/notesSlide5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2.xml"/>
		</Relationships>
</file>

<file path=ppt/notesSlides/_rels/notesSlide5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3.xml"/>
		</Relationships>
</file>

<file path=ppt/notesSlides/_rels/notesSlide5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4.xml"/>
		</Relationships>
</file>

<file path=ppt/notesSlides/_rels/notesSlide5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5.xml"/>
		</Relationships>
</file>

<file path=ppt/notesSlides/_rels/notesSlide5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6.xml"/>
		</Relationships>
</file>

<file path=ppt/notesSlides/_rels/notesSlide5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01-portail-prmp.
Écran : /accueil/prmp — compte : sans session.
Noms, matricules, initiales, photos et adresses réelles masqués dans la page avant la capture.
Règles appliquées (annexe A) : RG-ENT-05, RG-ENT-08, RG-ENT-09, RG-ENT-10, RG-ENT-14, RG-ENT-26.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01-portail-commission.
Écran : /accueil/commission — compte : sans session.
Noms, matricules, initiales, photos et adresses réelles masqués dans la page avant la capture.
Règles appliquées (annexe A) : RG-ENT-12, RG-ENT-13, RG-ENT-26.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01-portail-candidat.
Écran : /accueil/candidat — compte : sans session.
Noms, matricules, initiales, photos et adresses réelles masqués dans la page avant la capture.
Règles appliquées (annexe A) : RG-ENT-26.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01-connexion.
Écran : /login — compte : sans session.
Noms, matricules, initiales, photos et adresses réelles masqués dans la page avant la capture.
Règles appliquées (annexe A) : RG-ENT-01, RG-ENT-02, RG-ENT-03, RG-ENT-04, RG-ENT-27.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01-inscription-prmp.
Écran : /inscription — compte : sans session.
Noms, matricules, initiales, photos et adresses réelles masqués dans la page avant la capture.
Règles appliquées (annexe A) : RG-ENT-02, RG-ENT-03, RG-ENT-05, RG-ENT-06, RG-ENT-07, RG-ENT-08.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01-creer-ugpm.
Écran : /prmp/creer-ugpm — compte : PRMP.
Noms, matricules, initiales, photos et adresses réelles masqués dans la page avant la capture.
Règles appliquées (annexe A) : RG-ENT-09, RG-ENT-10.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01-mot-de-passe.
Écran : /prmp/a-faire — compte : PRMP.
Noms, matricules, initiales, photos et adresses réelles masqués dans la page avant la capture.
Règles appliquées (annexe A) : RG-ENT-03, RG-ENT-27.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detail__p00-actualite.jpg (« Une actualité à l’ouverture »).
Raison : l’état montré ne se reproduit plus sur la base du 14/10 ; l’écran n’a pas changé sur ce qu’il montre.
Règles appliquées (annexe A) : RG-ENT-21.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01-afaire-prmp.
Écran : /prmp/a-faire — compte : PRMP.
Noms, matricules, initiales, photos et adresses réelles masqués dans la page avant la capture.
Règles appliquées (annexe A) : RG-ENT-10, RG-ENT-11, RG-ENT-14, RG-ENT-16, RG-ENT-17, RG-ENT-19, RG-ENT-20.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01-afaire-sec.
Écran : /secretaire/a-faire — compte : Secrétaire.
Noms, matricules, initiales, photos et adresses réelles masqués dans la page avant la capture.
Règles appliquées (annexe A) : RG-ENT-13, RG-ENT-16, RG-ENT-17, RG-ENT-19.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01-afaire-pres.
Écran : /president/a-faire — compte : Président.
Noms, matricules, initiales, photos et adresses réelles masqués dans la page avant la capture.
Règles appliquées (annexe A) : RG-ENT-12, RG-ENT-16, RG-ENT-17, RG-ENT-18, RG-ENT-19.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01-afaire-mem.
Écran : /membre/a-faire — compte : Membre.
Noms, matricules, initiales, photos et adresses réelles masqués dans la page avant la capture.
Règles appliquées (annexe A) : RG-ENT-13, RG-ENT-15, RG-ENT-16, RG-ENT-17, RG-ENT-19.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01-afaire-ver.
Écran : /verificateur/a-faire — compte : Vérificateur.
Noms, matricules, initiales, photos et adresses réelles masqués dans la page avant la capture.
Règles appliquées (annexe A) : RG-ENT-13, RG-ENT-15, RG-ENT-16, RG-ENT-17, RG-ENT-18, RG-ENT-19.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01-notifications.
Écran : /notifications — compte : PRMP.
Noms, matricules, initiales, photos et adresses réelles masqués dans la page avant la capture.
Règles appliquées (annexe A) : RG-ENT-22, RG-ENT-23.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01-cloche.
Écran : /prmp/a-faire — compte : PRMP.
Noms, matricules, initiales, photos et adresses réelles masqués dans la page avant la capture.
Règles appliquées (annexe A) : RG-ENT-22, RG-ENT-23.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02-creer-type.
Écran : /prmp/soumettre-dossier — compte : PRMP.
Noms, matricules, initiales, photos et adresses réelles masqués dans la page avant la capture.
Règles appliquées (annexe A) : RG-PLA-01, RG-PLA-02.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detail__p03-plan-entete.jpg (« L’en-tête du plan, et l’import PDF »).
Raison : l’état montré ne se reproduit plus sur la base du 14/10 ; l’écran n’a pas changé sur ce qu’il montre.
Règles appliquées (annexe A) : RG-PLA-02, RG-PLA-10.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detail__p04-plan-ligne.jpg (« Une ligne de marché »).
Raison : l’état montré ne se reproduit plus sur la base du 14/10 ; l’écran n’a pas changé sur ce qu’il montre.
Règles appliquées (annexe A) : RG-PLA-03, RG-PLA-04, RG-PLA-05, RG-PLA-06, RG-PLA-26.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detail__p05-plan-capm.jpg (« Le calendrier prévisionnel (CAPM) »).
Raison : l’état montré ne se reproduit plus sur la base du 14/10 ; l’écran n’a pas changé sur ce qu’il montre.
Règles appliquées (annexe A) : RG-PLA-07, RG-PLA-08.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detail__p06-plan-pieces.jpg (« Les pièces jointes »).
Raison : l’état montré ne se reproduit plus sur la base du 14/10 ; l’écran n’a pas changé sur ce qu’il montre.
Règles appliquées (annexe A) : RG-PLA-04, RG-PLA-09.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detail__p07-plan-apercu.jpg (« L’aperçu avant création »).
Raison : l’état montré ne se reproduit plus sur la base du 14/10 ; l’écran n’a pas changé sur ce qu’il montre.
Règles appliquées (annexe A) : RG-PLA-02, RG-PLA-06, RG-PLA-10.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02-brouillons.
Écran : /prmp/mes-brouillons — compte : PRMP.
Noms, matricules, initiales, photos et adresses réelles masqués dans la page avant la capture.
Règles appliquées (annexe A) : RG-PLA-02, RG-PLA-16, RG-PLA-17.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02-verifier-ppm.
Écran : /prmp/verifier-ppm/200342 — compte : PRMP.
Noms, matricules, initiales, photos et adresses réelles masqués dans la page avant la capture.
Règles appliquées (annexe A) : RG-PLA-11, RG-PLA-12, RG-PLA-13, RG-PLA-14, RG-PLA-15.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02-suivi.
Écran : /prmp/tableau-de-bord — compte : PRMP.
Noms, matricules, initiales, photos et adresses réelles masqués dans la page avant la capture.
Règles appliquées (annexe A) : RG-PLA-18, RG-PLA-19.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02-dossier-frise.
Écran : /prmp/dossier/100359 — compte : PRMP.
Noms, matricules, initiales, photos et adresses réelles masqués dans la page avant la capture.
Règles appliquées (annexe A) : RG-PLA-18, RG-PLA-19, RG-PLA-27.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02-dossier-ppm-lignes.
Écran : /prmp/dossier/100363 — compte : PRMP.
Noms, matricules, initiales, photos et adresses réelles masqués dans la page avant la capture.
Règles appliquées (annexe A) : RG-PLA-18, RG-PLA-26.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02-ppm-marches.
Écran : /prmp/ppm-marches — compte : PRMP.
Noms, matricules, initiales, photos et adresses réelles masqués dans la page avant la capture.
Règles appliquées (annexe A) : RG-PLA-04, RG-PLA-20.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02-ppm-marches-details.
Écran : /prmp/ppm-marches — compte : PRMP.
Noms, matricules, initiales, photos et adresses réelles masqués dans la page avant la capture.
Règles appliquées (annexe A) : RG-PLA-05, RG-PLA-26.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02-mettre-a-jour-maj.
Écran : /prmp/dossiers-verifies?maj=1 — compte : PRMP.
Noms, matricules, initiales, photos et adresses réelles masqués dans la page avant la capture.
Règles appliquées (annexe A) : RG-PLA-20, RG-PLA-21, RG-PLA-22.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02-retraits.
Écran : /prmp/retraits — compte : PRMP.
Noms, matricules, initiales, photos et adresses réelles masqués dans la page avant la capture.
Règles appliquées (annexe A) : RG-PLA-23, RG-PLA-24.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02-calendrier-alertes.
Écran : /prmp/calendrier — compte : PRMP.
Noms, matricules, initiales, photos et adresses réelles masqués dans la page avant la capture.
Règles appliquées (annexe A) : RG-PLA-25.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03-sec-tous.
Écran : /secretaire/tableau-de-bord — compte : Secrétaire.
Noms, matricules, initiales, photos et adresses réelles masqués dans la page avant la capture.
Règles appliquées (annexe A) : RG-CTL-04, RG-CTL-05, RG-CTL-42.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03-sec-recevabilite.
Écran : /secretaire/dossier/100373 — compte : Secrétaire.
Noms, matricules, initiales, photos et adresses réelles masqués dans la page avant la capture.
Règles appliquées (annexe A) : RG-CTL-01, RG-CTL-05, RG-CTL-42.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03-sec-reception-modale.
Écran : /secretaire/dossier/100373 — compte : Secrétaire.
Noms, matricules, initiales, photos et adresses réelles masqués dans la page avant la capture.
Règles appliquées (annexe A) : RG-CTL-01, RG-CTL-02, RG-CTL-03, RG-CTL-04, RG-CTL-47.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03-pres-tous.
Écran : /president/tableau-de-bord — compte : Président.
Noms, matricules, initiales, photos et adresses réelles masqués dans la page avant la capture.
Règles appliquées (annexe A) : RG-CTL-10, RG-CTL-42, RG-CTL-45.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detail__c04-president-dispatch.jpg (« Dispatcher à un Membre »).
Raison : l’état montré ne se reproduit plus sur la base du 14/10 ; l’écran n’a pas changé sur ce qu’il montre.
Règles appliquées (annexe A) : RG-CTL-06, RG-CTL-07, RG-CTL-08, RG-CTL-09, RG-CTL-11.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03-pres-repartition.
Écran : /president/repartition-dispatch — compte : Président.
Noms, matricules, initiales, photos et adresses réelles masqués dans la page avant la capture.
Règles appliquées (annexe A) : RG-CTL-07, RG-CTL-11, RG-CTL-12.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03-pres-chaines.
Écran : /president/chaines-controle — compte : Président.
Noms, matricules, initiales, photos et adresses réelles masqués dans la page avant la capture.
Règles appliquées (annexe A) : RG-CTL-13.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03-pres-dossier.
Écran : /president/dossier/100370 — compte : Président.
Noms, matricules, initiales, photos et adresses réelles masqués dans la page avant la capture.
Règles appliquées (annexe A) : RG-CTL-42, RG-CTL-44, RG-CTL-45.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03-mem-tous.
Écran : /membre/tableau-de-bord — compte : Membre.
Noms, matricules, initiales, photos et adresses réelles masqués dans la page avant la capture.
Règles appliquées (annexe A) : RG-CTL-14.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03-mem-examen.
Écran : /membre/examiner/100378 — compte : Membre.
Noms, matricules, initiales, photos et adresses réelles masqués dans la page avant la capture.
Règles appliquées (annexe A) : RG-CTL-14, RG-CTL-15, RG-CTL-17, RG-CTL-18, RG-CTL-48.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manuel-recette__m09-admin-motifs-types.jpg (« Les motifs-types de la conclusion »).
Raison : l’état montré ne se reproduit plus sur la base du 14/10 ; l’écran n’a pas changé sur ce qu’il montre.
Règles appliquées (annexe A) : RG-CTL-49.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detail__c08-membre-projet-pv.jpg (« Le projet de PV »).
Raison : l’état montré ne se reproduit plus sur la base du 14/10 ; l’écran n’a pas changé sur ce qu’il montre.
Règles appliquées (annexe A) : RG-CTL-19, RG-CTL-20, RG-CTL-21.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detail__c09-president-visa.jpg (« Le visa du Président »).
Raison : l’état montré ne se reproduit plus sur la base du 14/10 ; l’écran n’a pas changé sur ce qu’il montre.
Règles appliquées (annexe A) : RG-CTL-21, RG-CTL-22, RG-CTL-23, RG-CTL-24, RG-CTL-25, RG-CTL-26, RG-CTL-28.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detail__c10-membre-signature.jpg (« La seconde signature »).
Raison : l’état montré ne se reproduit plus sur la base du 14/10 ; l’écran n’a pas changé sur ce qu’il montre.
Règles appliquées (annexe A) : RG-CTL-26, RG-CTL-27.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03-pres-examen.
Écran : /president/resultat-examen — compte : Président.
Noms, matricules, initiales, photos et adresses réelles masqués dans la page avant la capture.
Règles appliquées (annexe A) : RG-CTL-21, RG-CTL-25, RG-CTL-36.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03-mem-pv-liste.
Écran : /membre/pv — compte : Membre.
Noms, matricules, initiales, photos et adresses réelles masqués dans la page avant la capture.
Règles appliquées (annexe A) : RG-CTL-36, RG-CTL-37.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03-ver-a-verifier.
Écran : /verificateur/a-verifier — compte : Vérificateur.
Noms, matricules, initiales, photos et adresses réelles masqués dans la page avant la capture.
Règles appliquées (annexe A) : RG-CTL-29, RG-CTL-30, RG-CTL-31, RG-CTL-32, RG-CTL-33.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03-ver-verifier.
Écran : /verificateur/verifier/100372 — compte : Vérificateur.
Noms, matricules, initiales, photos et adresses réelles masqués dans la page avant la capture.
Règles appliquées (annexe A) : RG-CTL-29, RG-CTL-34.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03-ver-verifies.
Écran : /verificateur/verifies — compte : Vérificateur.
Noms, matricules, initiales, photos et adresses réelles masqués dans la page avant la capture.
Règles appliquées (annexe A) : RG-CTL-34, RG-CTL-35.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03-pres-archivage.
Écran : /president/a-faire — compte : Président.
Noms, matricules, initiales, photos et adresses réelles masqués dans la page avant la capture.
Règles appliquées (annexe A) : RG-CTL-10, RG-CTL-35.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detail__c15-assistant-archivage.jpg (« L’archivage du PV »).
Raison : l’état montré ne se reproduit plus sur la base du 14/10 ; l’écran n’a pas changé sur ce qu’il montre.
Règles appliquées (annexe A) : RG-CTL-35.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03-dossier-dss.
Écran : /prmp/dossier/100377 — compte : PRMP.
Noms, matricules, initiales, photos et adresses réelles masqués dans la page avant la capture.
Règles appliquées (annexe A) : RG-CTL-29, RG-CTL-43, RG-CTL-44, RG-CTL-47.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03-prmp-pv-definitifs.
Écran : /prmp/pv-definitifs — compte : PRMP.
Noms, matricules, initiales, photos et adresses réelles masqués dans la page avant la capture.
Règles appliquées (annexe A) : RG-CTL-29, RG-CTL-30, RG-CTL-36, RG-CTL-37.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03-pres-retraits.
Écran : /president/retraits — compte : Président.
Noms, matricules, initiales, photos et adresses réelles masqués dans la page avant la capture.
Règles appliquées (annexe A) : RG-CTL-39, RG-CTL-40, RG-CTL-41.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03-dossier-figes.
Écran : /president/dossier/100378 — compte : Président.
Noms, matricules, initiales, photos et adresses réelles masqués dans la page avant la capture.
Règles appliquées (annexe A) : RG-CTL-52, RG-CTL-51.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03-dossier-controles.
Écran : /prmp/dossier/100378 — compte : PRMP.
Noms, matricules, initiales, photos et adresses réelles masqués dans la page avant la capture.
Règles appliquées (annexe A) : RG-CTL-53, RG-CTL-54, RG-CTL-56.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03-mem-examen-controles.
Écran : /membre/examiner/100378 — compte : Membre.
Noms, matricules, initiales, photos et adresses réelles masqués dans la page avant la capture.
Règles appliquées (annexe A) : RG-CTL-53, RG-CTL-54, RG-CTL-19.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03-admin-points.
Écran : /admin/referentiels/points-ctrls — compte : Administrateur.
Noms, matricules, initiales, photos et adresses réelles masqués dans la page avant la capture.
Règles appliquées (annexe A) : RG-CTL-48, RG-CTL-46.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03-admin-pre-controle.
Écran : /admin/pre-controle-regles — compte : Administrateur.
Noms, matricules, initiales, photos et adresses réelles masqués dans la page avant la capture.
Règles appliquées (annexe A) : RG-CTL-57.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03-admin-delais.
Écran : /admin/delais-standards — compte : Administrateur.
Noms, matricules, initiales, photos et adresses réelles masqués dans la page avant la capture.
Règles appliquées (annexe A) : RG-CTL-42, RG-CTL-44, RG-CTL-50.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manuel-recette__m10-delais-sous-type-regle.jpg (« Les délais par sous-type »).
Raison : l’état montré ne se reproduit plus sur la base du 14/10 ; l’écran n’a pas changé sur ce qu’il montre.
Règles appliquées (annexe A) : RG-CTL-50.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04-appels-offres.
Écran : /prmp/dao — compte : PRMP.
Noms, matricules, initiales, photos et adresses réelles masqués dans la page avant la capture.
Règles appliquées (annexe A) : RG-DAO-02, RG-DAO-03, RG-DAO-04, RG-DAO-05, RG-DAO-07, RG-DAO-08.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04-e2-cadrage.
Écran : /prmp/dao/40 — compte : PRMP.
Noms, matricules, initiales, photos et adresses réelles masqués dans la page avant la capture.
Règles appliquées (annexe A) : RG-DAO-12, RG-DAO-46.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04-e2-mode-fige.
Écran : /prmp/dao/32 — compte : PRMP.
Noms, matricules, initiales, photos et adresses réelles masqués dans la page avant la capture.
Règles appliquées (annexe A) : RG-DAO-46, RG-DAO-47, RG-DAO-48.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04-e3-saisie.
Écran : /prmp/dao/40 — compte : PRMP.
Noms, matricules, initiales, photos et adresses réelles masqués dans la page avant la capture.
Règles appliquées (annexe A) : RG-DAO-13, RG-DAO-15, RG-DAO-18, RG-DAO-19, RG-DAO-26.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04-e3-saisie-f.
Écran : /prmp/dao/44 — compte : PRMP.
Noms, matricules, initiales, photos et adresses réelles masqués dans la page avant la capture.
Règles appliquées (annexe A) : RG-DAO-07, RG-DAO-08, RG-DAO-11, RG-DAO-15.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04-e3-b12.
Écran : /prmp/dao/40 — compte : PRMP.
Noms, matricules, initiales, photos et adresses réelles masqués dans la page avant la capture.
Règles appliquées (annexe A) : RG-DAO-18, RG-DAO-21, RG-DAO-22.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se__v02-b14-proposer-liste.jpg (« Les pièces de l’offre, listées une à une »).
Raison : l’état montré ne se reproduit plus sur la base du 14/10 ; l’écran n’a pas changé sur ce qu’il montre.
Règles appliquées (annexe A) : RG-DAO-15, RG-DAO-35.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se__v03-b14-collage-depuis-texte.jpg (« Le texte découpé, à relire »).
Raison : l’état montré ne se reproduit plus sur la base du 14/10 ; l’écran n’a pas changé sur ce qu’il montre.
Règles appliquées (annexe A) : RG-DAO-35.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04-e3-b14.
Écran : /prmp/dao/40 — compte : PRMP.
Noms, matricules, initiales, photos et adresses réelles masqués dans la page avant la capture.
Règles appliquées (annexe A) : RG-DAO-34, RG-DAO-35.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04-e4-reprises.
Écran : /prmp/dao/40 — compte : PRMP.
Noms, matricules, initiales, photos et adresses réelles masqués dans la page avant la capture.
Règles appliquées (annexe A) : RG-DAO-01, RG-DAO-26.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04-e5-controles.
Écran : /prmp/dao/40 — compte : PRMP.
Noms, matricules, initiales, photos et adresses réelles masqués dans la page avant la capture.
Règles appliquées (annexe A) : RG-DAO-14, RG-DAO-17, RG-DAO-34, RG-DAO-52.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04-e6-validation.
Écran : /prmp/dao/40 — compte : PRMP.
Noms, matricules, initiales, photos et adresses réelles masqués dans la page avant la capture.
Règles appliquées (annexe A) : RG-DAO-06, RG-DAO-16, RG-DAO-24, RG-DAO-25.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04-e7-documents.
Écran : /prmp/dao/40 — compte : PRMP.
Noms, matricules, initiales, photos et adresses réelles masqués dans la page avant la capture.
Règles appliquées (annexe A) : RG-DAO-27, RG-DAO-30, RG-DAO-32, RG-DAO-33, RG-DAO-36.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04-e7-documents-f.
Écran : /prmp/dao/44 — compte : PRMP.
Noms, matricules, initiales, photos et adresses réelles masqués dans la page avant la capture.
Règles appliquées (annexe A) : RG-DAO-22, RG-DAO-33.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detail2__n14-dao-garde.jpg (« La page de garde »).
Raison : l’état montré ne se reproduit plus sur la base du 14/10 ; l’écran n’a pas changé sur ce qu’il montre.
Règles appliquées (annexe A) : RG-DAO-30, RG-DAO-31.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detail2__n15-dao-sommaire.jpg (« Le sommaire général »).
Raison : l’état montré ne se reproduit plus sur la base du 14/10 ; l’écran n’a pas changé sur ce qu’il montre.
Règles appliquées (annexe A) : RG-DAO-30, RG-DAO-31.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04-cao.
Écran : /prmp/dao/40/cao — compte : PRMP.
Noms, matricules, initiales, photos et adresses réelles masqués dans la page avant la capture.
Règles appliquées (annexe A) : RG-DAO-55.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04-procedures-en-ligne.
Écran : /procedures-en-ligne — compte : Administrateur.
Noms, matricules, initiales, photos et adresses réelles masqués dans la page avant la capture.
Règles appliquées (annexe A) : RG-DAO-57.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04-param-internes.
Écran : /procedure/40/parametres-internes — compte : Administrateur.
Noms, matricules, initiales, photos et adresses réelles masqués dans la page avant la capture.
Règles appliquées (annexe A) : RG-DAO-56, RG-DAO-58.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04-param-signature.
Écran : /procedure/40/parametres-internes — compte : Administrateur.
Noms, matricules, initiales, photos et adresses réelles masqués dans la page avant la capture.
Règles appliquées (annexe A) : RG-DAO-51, RG-DAO-58.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04-admin-fiche.
Écran : /admin/dao/32 — compte : Administrateur.
Noms, matricules, initiales, photos et adresses réelles masqués dans la page avant la capture.
Règles appliquées (annexe A) : RG-DAO-47, RG-DAO-57.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04-migration.
Écran : /admin/dao/32 — compte : Administrateur.
Noms, matricules, initiales, photos et adresses réelles masqués dans la page avant la capture.
Règles appliquées (annexe A) : RG-DAO-47, RG-DAO-48.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04-mem-fiche.
Écran : /membre/dao/39 — compte : Membre.
Noms, matricules, initiales, photos et adresses réelles masqués dans la page avant la capture.
Règles appliquées (annexe A) : RG-DAO-36, RG-DAO-37.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04-e7-avis.
Écran : /prmp/dao/40 — compte : PRMP.
Noms, matricules, initiales, photos et adresses réelles masqués dans la page avant la capture.
Règles appliquées (annexe A) : RG-DAO-38, RG-DAO-53, RG-DAO-54.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04-recus.
Écran : /prmp/dao/47/recus — compte : PRMP.
Noms, matricules, initiales, photos et adresses réelles masqués dans la page avant la capture.
Règles appliquées (annexe A) : RG-DAO-59.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04-retraits.
Écran : /prmp/dao/47/retraits — compte : PRMP.
Noms, matricules, initiales, photos et adresses réelles masqués dans la page avant la capture.
Règles appliquées (annexe A) : RG-DAO-60, RG-DAO-49.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04-questions.
Écran : /prmp/dao/40/questions — compte : PRMP.
Noms, matricules, initiales, photos et adresses réelles masqués dans la page avant la capture.
Règles appliquées (annexe A) : RG-DAO-49, RG-DAO-50.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05-ami-fiche.
Écran : /prmp/dao/49 — compte : PRMP.
Noms, matricules, initiales, photos et adresses réelles masqués dans la page avant la capture.
Règles appliquées (annexe A) : RG-AMI-01, RG-AMI-02.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ami__g03-ami-preparation.jpg (« Préparer l’appel »).
Raison : l’état montré ne se reproduit plus sur la base du 14/10 ; l’écran n’a pas changé sur ce qu’il montre.
Règles appliquées (annexe A) : RG-AMI-03, RG-AMI-04, RG-AMI-05.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ami__g04-ami-publier.jpg (« Publier l’appel »).
Raison : l’état montré ne se reproduit plus sur la base du 14/10 ; l’écran n’a pas changé sur ce qu’il montre.
Règles appliquées (annexe A) : RG-AMI-04, RG-AMI-05, RG-AMI-06, RG-AMI-07.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ami__g05-ami-publie.jpg (« L’appel publié »).
Raison : l’état montré ne se reproduit plus sur la base du 14/10 ; l’écran n’a pas changé sur ce qu’il montre.
Règles appliquées (annexe A) : RG-AMI-06, RG-AMI-10.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05-ami-prmp.
Écran : /prmp/dao/49/ami — compte : PRMP.
Noms, matricules, initiales, photos et adresses réelles masqués dans la page avant la capture.
Règles appliquées (annexe A) : RG-AMI-08, RG-AMI-09, RG-AMI-10.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ami__h02-preselection-avant-declaration.jpg (« La présélection : les déclarations »).
Raison : l’état montré ne se reproduit plus sur la base du 14/10 ; l’écran n’a pas changé sur ce qu’il montre.
Règles appliquées (annexe A) : RG-AMI-11.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ami__h03-preselection-notation.jpg (« La notation, critère par critère »).
Raison : l’état montré ne se reproduit plus sur la base du 14/10 ; l’écran n’a pas changé sur ce qu’il montre.
Règles appliquées (annexe A) : RG-AMI-12, RG-AMI-13.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05-ami-cao-notes.
Écran : /cao/procedures/49/ami — compte : membre de la commission « démonstration ».
Noms, matricules, initiales, photos et adresses réelles masqués dans la page avant la capture.
Règles appliquées (annexe A) : RG-AMI-14, RG-AMI-16.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ami__h05-preselection-arret.jpg (« Arrêter la liste restreinte »).
Raison : l’état montré ne se reproduit plus sur la base du 14/10 ; l’écran n’a pas changé sur ce qu’il montre.
Règles appliquées (annexe A) : RG-AMI-13, RG-AMI-15, RG-AMI-16, RG-AMI-24.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05-ami-preselection.
Écran : /procedure/49/ami — compte : PRMP.
Noms, matricules, initiales, photos et adresses réelles masqués dans la page avant la capture.
Règles appliquées (annexe A) : RG-AMI-17, RG-AMI-18, RG-AMI-19, RG-AMI-20, RG-AMI-24.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07-cao-procedures.
Écran : /cao/mes-procedures — compte : membre de la commission « recette ».
Noms, matricules, initiales, photos et adresses réelles masqués dans la page avant la capture.
Règles appliquées (annexe A) : RG-OFF-25, RG-OFF-27.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07-cao-cle.
Écran : /cao/procedures/40 — compte : membre de la commission « recette ».
Noms, matricules, initiales, photos et adresses réelles masqués dans la page avant la capture.
Règles appliquées (annexe A) : RG-OFF-27, RG-OFF-28.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06-depositaire.
Écran : /depositaire/mes-procedures — compte : dépositaire.
Noms, matricules, initiales, photos et adresses réelles masqués dans la page avant la capture.
Règles appliquées (annexe A) : RG-OFF-29, RG-OFF-30.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detail__e02-procedures-ouvertes.jpg (« Les procédures ouvertes »).
Raison : l’état montré ne se reproduit plus sur la base du 14/10 ; l’écran n’a pas changé sur ce qu’il montre.
Règles appliquées (annexe A) : RG-OFF-06.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06-procedure-detail.
Écran : /candidat/procedures/44 — compte : sans session.
Noms, matricules, initiales, photos et adresses réelles masqués dans la page avant la capture.
Règles appliquées (annexe A) : RG-OFF-06, RG-OFF-07, RG-OFF-34.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06-inscription.
Écran : /candidat/inscription — compte : sans session.
Noms, matricules, initiales, photos et adresses réelles masqués dans la page avant la capture.
Règles appliquées (annexe A) : RG-OFF-01.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06-cand-entreprise.
Écran : /candidat/entreprise — compte : candidat (Entreprise de recette BTP).
Noms, matricules, initiales, photos et adresses réelles masqués dans la page avant la capture.
Règles appliquées (annexe A) : RG-OFF-02, RG-OFF-03, RG-OFF-04.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detail2__n17-retrait-attend-recu.jpg (« Le retrait attend le reçu »).
Raison : l’état montré ne se reproduit plus sur la base du 14/10 ; l’écran n’a pas changé sur ce qu’il montre.
Règles appliquées (annexe A) : RG-OFF-09.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se__w02-recu-formulaire.jpg (« Déposer le reçu du versement »).
Raison : l’état montré ne se reproduit plus sur la base du 14/10 ; l’écran n’a pas changé sur ce qu’il montre.
Règles appliquées (annexe A) : RG-OFF-09, RG-OFF-10.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se__w03-recu-en-attente.jpg (« Le reçu attend la décision »).
Raison : l’état montré ne se reproduit plus sur la base du 14/10 ; l’écran n’a pas changé sur ce qu’il montre.
Règles appliquées (annexe A) : RG-OFF-09, RG-OFF-12.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se__w05-prmp-refus-motif.jpg (« Refuser, avec un motif »).
Raison : l’état montré ne se reproduit plus sur la base du 14/10 ; l’écran n’a pas changé sur ce qu’il montre.
Règles appliquées (annexe A) : RG-OFF-11.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se__w07-recu-refuse.jpg (« Reçu refusé : le motif »).
Raison : l’état montré ne se reproduit plus sur la base du 14/10 ; l’écran n’a pas changé sur ce qu’il montre.
Règles appliquées (annexe A) : RG-OFF-11.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se__w06-recu-valide.jpg (« Reçu validé : le dossier se retire »).
Raison : l’état montré ne se reproduit plus sur la base du 14/10 ; l’écran n’a pas changé sur ce qu’il montre.
Règles appliquées (annexe A) : RG-OFF-09, RG-OFF-13.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06-cand-procedure.
Écran : /candidat/procedures/44 — compte : candidat (Entreprise de recette BTP).
Noms, matricules, initiales, photos et adresses réelles masqués dans la page avant la capture.
Règles appliquées (annexe A) : RG-OFF-08.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detail2__n10-depot-ferme.jpg (« Sans reçu validé, pas de dépôt »).
Raison : l’état montré ne se reproduit plus sur la base du 14/10 ; l’écran n’a pas changé sur ce qu’il montre.
Règles appliquées (annexe A) : RG-OFF-12.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06-cand-invitations.
Écran : /candidat/invitations — compte : candidat (Société de démonstration).
Noms, matricules, initiales, photos et adresses réelles masqués dans la page avant la capture.
Règles appliquées (annexe A) : RG-OFF-31.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se__d01-fournitures-bordereau.jpg (« Le bordereau des prix et le calendrier de livraison »).
Raison : l’état montré ne se reproduit plus sur la base du 14/10 ; l’écran n’a pas changé sur ce qu’il montre.
Règles appliquées (annexe A) : RG-OFF-14.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se__d02-fournitures-conformite.jpg (« La conformité technique »).
Raison : l’état montré ne se reproduit plus sur la base du 14/10 ; l’écran n’a pas changé sur ce qu’il montre.
Règles appliquées (annexe A) : RG-OFF-14.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se__d03-fournitures-avertissements.jpg (« Les avertissements, avant de déposer »).
Raison : l’état montré ne se reproduit plus sur la base du 14/10 ; l’écran n’a pas changé sur ce qu’il montre.
Règles appliquées (annexe A) : RG-OFF-18.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se__d04-acte-derive.jpg (« L’acte d’engagement, calculé »).
Raison : l’état montré ne se reproduit plus sur la base du 14/10 ; l’écran n’a pas changé sur ce qu’il montre.
Règles appliquées (annexe A) : RG-OFF-16, RG-OFF-17.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se__t01-travaux-dqe.jpg (« Le DQE et les prix en lettres »).
Raison : l’état montré ne se reproduit plus sur la base du 14/10 ; l’écran n’a pas changé sur ce qu’il montre.
Règles appliquées (annexe A) : RG-OFF-14.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se__t03-travaux-k1.jpg (« Le coefficient K1 »).
Raison : l’état montré ne se reproduit plus sur la base du 14/10 ; l’écran n’a pas changé sur ce qu’il montre.
Règles appliquées (annexe A) : RG-OFF-15.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se__t04-travaux-sous-detail.jpg (« Le sous-détail d’un prix »).
Raison : l’état montré ne se reproduit plus sur la base du 14/10 ; l’écran n’a pas changé sur ce qu’il montre.
Règles appliquées (annexe A) : RG-OFF-15.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se__t05-travaux-capacites.jpg (« Les capacités financières et techniques »).
Raison : l’état montré ne se reproduit plus sur la base du 14/10 ; l’écran n’a pas changé sur ce qu’il montre.
Règles appliquées (annexe A) : RG-OFF-15.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se__t06-travaux-personnel.jpg (« Le personnel proposé »).
Raison : l’état montré ne se reproduit plus sur la base du 14/10 ; l’écran n’a pas changé sur ce qu’il montre.
Règles appliquées (annexe A) : RG-OFF-15.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se__t07-travaux-materiel.jpg (« Le matériel proposé »).
Raison : l’état montré ne se reproduit plus sur la base du 14/10 ; l’écran n’a pas changé sur ce qu’il montre.
Règles appliquées (annexe A) : RG-OFF-15.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se__t08-travaux-avertissements.jpg (« Les avertissements des travaux »).
Raison : l’état montré ne se reproduit plus sur la base du 14/10 ; l’écran n’a pas changé sur ce qu’il montre.
Règles appliquées (annexe A) : RG-OFF-18.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se__y01-brouillon-repris.jpg (« Une saisie jamais perdue »).
Raison : l’état montré ne se reproduit plus sur la base du 14/10 ; l’écran n’a pas changé sur ce qu’il montre.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se__d05-pieces-remplies.jpg (« Les pièces remplies en ligne, et le reçu déjà fourni »).
Raison : l’état montré ne se reproduit plus sur la base du 14/10 ; l’écran n’a pas changé sur ce qu’il montre.
Règles appliquées (annexe A) : RG-OFF-13, RG-OFF-14.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detail__e08-depot-formulaire.jpg (« Le dépôt sans formulaires : l’acte d’engagement »).
Raison : l’état montré ne se reproduit plus sur la base du 14/10 ; l’écran n’a pas changé sur ce qu’il montre.
Règles appliquées (annexe A) : RG-OFF-16.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detail__e09-depot-pieces.jpg (« Le dépôt : les pièces, puis le scellement »).
Raison : l’état montré ne se reproduit plus sur la base du 14/10 ; l’écran n’a pas changé sur ce qu’il montre.
Règles appliquées (annexe A) : RG-OFF-19, RG-OFF-20.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detail__e10-depot-accuse.jpg (« L’accusé de dépôt »).
Raison : l’état montré ne se reproduit plus sur la base du 14/10 ; l’écran n’a pas changé sur ce qu’il montre.
Règles appliquées (annexe A) : RG-OFF-22.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pi-recette__p1-depot-technique.jpg (« Déposer l’enveloppe technique »).
Raison : l’état montré ne se reproduit plus sur la base du 14/10 ; l’écran n’a pas changé sur ce qu’il montre.
Règles appliquées (annexe A) : RG-OFF-32.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pi-recette__p1-accuse-financiere.jpg (« L’accusé d’une proposition complète »).
Raison : l’état montré ne se reproduit plus sur la base du 14/10 ; l’écran n’a pas changé sur ce qu’il montre.
Règles appliquées (annexe A) : RG-OFF-32.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06-cand-offres.
Écran : /candidat/offres — compte : candidat (Entreprise de recette BTP).
Noms, matricules, initiales, photos et adresses réelles masqués dans la page avant la capture.
Règles appliquées (annexe A) : RG-OFF-21, RG-OFF-22, RG-OFF-23, RG-OFF-32.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detail2__n05-depots.jpg (« Le registre des dépôts, avant l’échéance »).
Raison : l’état montré ne se reproduit plus sur la base du 14/10 ; l’écran n’a pas changé sur ce qu’il montre.
Règles appliquées (annexe A) : RG-OFF-24.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06-depots.
Écran : /prmp/dao/40/depots — compte : PRMP.
Noms, matricules, initiales, photos et adresses réelles masqués dans la page avant la capture.
Règles appliquées (annexe A) : RG-OFF-23, RG-OFF-24.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06-depots-44.
Écran : /prmp/dao/44/depots — compte : PRMP.
Noms, matricules, initiales, photos et adresses réelles masqués dans la page avant la capture.
Règles appliquées (annexe A) : RG-OFF-33.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detail__f01-seance-a-venir.jpg (« La séance, avant l’heure »).
Raison : l’état montré ne se reproduit plus sur la base du 14/10 ; l’écran n’a pas changé sur ce qu’il montre.
Règles appliquées (annexe A) : RG-SEA-01, RG-SEA-02.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detail__f02-membre-seance-a-venir.jpg (« Le membre attend l’ouverture »).
Raison : l’état montré ne se reproduit plus sur la base du 14/10 ; l’écran n’a pas changé sur ce qu’il montre.
Règles appliquées (annexe A) : RG-SEA-01, RG-SEA-02.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07-cao-representant.
Écran : /cao/procedures/40 — compte : membre de la commission « recette ».
Noms, matricules, initiales, photos et adresses réelles masqués dans la page avant la capture.
Règles appliquées (annexe A) : RG-SEA-29, RG-SEA-30.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detail__f03-seance-ouverte.jpg (« L’ouverture et les présences »).
Raison : l’état montré ne se reproduit plus sur la base du 14/10 ; l’écran n’a pas changé sur ce qu’il montre.
Règles appliquées (annexe A) : RG-SEA-01, RG-SEA-03.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detail__f04-membre-apport-parts.jpg (« Apporter ses parts »).
Raison : l’état montré ne se reproduit plus sur la base du 14/10 ; l’écran n’a pas changé sur ce qu’il montre.
Règles appliquées (annexe A) : RG-SEA-05, RG-SEA-06.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detail__f05-membre-parts-apportees.jpg (« Le quorum se remplit »).
Raison : l’état montré ne se reproduit plus sur la base du 14/10 ; l’écran n’a pas changé sur ce qu’il montre.
Règles appliquées (annexe A) : RG-SEA-07, RG-SEA-08.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detail__f06-seance-offres-ouvertes.jpg (« Toutes les offres s’ouvrent ensemble »).
Raison : l’état montré ne se reproduit plus sur la base du 14/10 ; l’écran n’a pas changé sur ce qu’il montre.
Règles appliquées (annexe A) : RG-SEA-08, RG-SEA-10, RG-SEA-11.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se__d06-lecture-fournitures.jpg (« La lecture d’une offre remplie : fournitures »).
Raison : l’état montré ne se reproduit plus sur la base du 14/10 ; l’écran n’a pas changé sur ce qu’il montre.
Règles appliquées (annexe A) : RG-SEA-12, RG-SEA-13.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se__t09-lecture-travaux.jpg (« La lecture d’une offre remplie : travaux »).
Raison : l’état montré ne se reproduit plus sur la base du 14/10 ; l’écran n’a pas changé sur ce qu’il montre.
Règles appliquées (annexe A) : RG-SEA-12, RG-SEA-14.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se__x01-lecture-frais.jpg (« Les frais de dossier, lus en séance »).
Raison : l’état montré ne se reproduit plus sur la base du 14/10 ; l’écran n’a pas changé sur ce qu’il montre.
Règles appliquées (annexe A) : RG-SEA-16.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detail__f07-lecture-projetee.jpg (« La lecture, projetée »).
Raison : l’état montré ne se reproduit plus sur la base du 14/10 ; l’écran n’a pas changé sur ce qu’il montre.
Règles appliquées (annexe A) : RG-SEA-12, RG-SEA-15, RG-SEA-17.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07-cao-procedure.
Écran : /cao/procedures/40 — compte : membre de la commission « recette ».
Noms, matricules, initiales, photos et adresses réelles masqués dans la page avant la capture.
Règles appliquées (annexe A) : RG-SEA-12, RG-SEA-18.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07-seance-44.
Écran : /procedure/44/seance — compte : PRMP.
Noms, matricules, initiales, photos et adresses réelles masqués dans la page avant la capture.
Règles appliquées (annexe A) : RG-SEA-07, RG-SEA-15, RG-SEA-18.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detail__f09-pv-a-signer.jpg (« Le PV d’ouverture, à signer »).
Raison : l’état montré ne se reproduit plus sur la base du 14/10 ; l’écran n’a pas changé sur ce qu’il montre.
Règles appliquées (annexe A) : RG-SEA-20, RG-SEA-31.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detail__f10-membre-signer-pv.jpg (« Signer le PV en ligne »).
Raison : l’état montré ne se reproduit plus sur la base du 14/10 ; l’écran n’a pas changé sur ce qu’il montre.
Règles appliquées (annexe A) : RG-SEA-21, RG-SEA-22.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07-seance-50.
Écran : /procedure/50/seance — compte : Administrateur.
Noms, matricules, initiales, photos et adresses réelles masqués dans la page avant la capture.
Règles appliquées (annexe A) : RG-SEA-23, RG-SEA-27, RG-SEA-29.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pi-recette__f03-seconde-seance-dechiffree.jpg (« La seconde séance : les enveloppes financières »).
Raison : l’état montré ne se reproduit plus sur la base du 14/10 ; l’écran n’a pas changé sur ce qu’il montre.
Règles appliquées (annexe A) : RG-SEA-28, RG-SEA-29.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06-questions-section.
Écran : /candidat/procedures/44 — compte : sans session.
Noms, matricules, initiales, photos et adresses réelles masqués dans la page avant la capture.
Règles appliquées (annexe A) : RG-SEA-23, RG-SEA-24.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deck-eval__c01-non-ouverte.jpg (« L’évaluation, avant son ouverture »).
Raison : l’état montré ne se reproduit plus sur la base du 14/10 ; l’écran n’a pas changé sur ce qu’il montre.
Règles appliquées (annexe A) : RG-EVA-01, RG-EVA-02.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deck-eval__c02-entree-cao.jpg (« L’entrée depuis l’espace de la commission »).
Raison : l’état montré ne se reproduit plus sur la base du 14/10 ; l’écran n’a pas changé sur ce qu’il montre.
Règles appliquées (annexe A) : RG-EVA-02, RG-EVA-04.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deck-eval__c03-declaration.jpg (« La déclaration préalable »).
Raison : l’état montré ne se reproduit plus sur la base du 14/10 ; l’écran n’a pas changé sur ce qu’il montre.
Règles appliquées (annexe A) : RG-EVA-03.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08-eval-40.
Écran : /procedure/40/evaluation — compte : PRMP.
Noms, matricules, initiales, photos et adresses réelles masqués dans la page avant la capture.
Règles appliquées (annexe A) : RG-EVA-01, RG-EVA-04, RG-EVA-07.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08-eval-44-prelim.
Écran : /cao/procedures/44/evaluation — compte : membre de la commission « démonstration ».
Noms, matricules, initiales, photos et adresses réelles masqués dans la page avant la capture.
Règles appliquées (annexe A) : RG-EVA-05, RG-EVA-08, RG-EVA-09, RG-EVA-10, RG-EVA-11.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deck-eval__c04-precision-prmp.jpg (« Demander une précision au candidat »).
Raison : l’état montré ne se reproduit plus sur la base du 14/10 ; l’écran n’a pas changé sur ce qu’il montre.
Règles appliquées (annexe A) : RG-EVA-12, RG-EVA-13.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deck-eval__c05-candidat-repond.jpg (« Répondre depuis « Mes offres » »).
Raison : l’état montré ne se reproduit plus sur la base du 14/10 ; l’écran n’a pas changé sur ce qu’il montre.
Règles appliquées (annexe A) : RG-EVA-12.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08-eval-44-montant.
Écran : /cao/procedures/44/evaluation — compte : membre de la commission « démonstration ».
Noms, matricules, initiales, photos et adresses réelles masqués dans la page avant la capture.
Règles appliquées (annexe A) : RG-EVA-16, RG-EVA-19.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08-eval-44-montant-detail.
Écran : /cao/procedures/44/evaluation — compte : membre de la commission « démonstration ».
Noms, matricules, initiales, photos et adresses réelles masqués dans la page avant la capture.
Règles appliquées (annexe A) : RG-EVA-14, RG-EVA-15, RG-EVA-17, RG-EVA-18, RG-EVA-35.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08-eval-44-anormales.
Écran : /cao/procedures/44/evaluation — compte : membre de la commission « démonstration ».
Noms, matricules, initiales, photos et adresses réelles masqués dans la page avant la capture.
Règles appliquées (annexe A) : RG-EVA-20, RG-EVA-21.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08-eval-40-anormales.
Écran : /procedure/40/evaluation — compte : PRMP.
Noms, matricules, initiales, photos et adresses réelles masqués dans la page avant la capture.
Règles appliquées (annexe A) : RG-EVA-21, RG-EVA-22, RG-EVA-36.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08-eval-44-postqualif.
Écran : /cao/procedures/44/evaluation — compte : membre de la commission « démonstration ».
Noms, matricules, initiales, photos et adresses réelles masqués dans la page avant la capture.
Règles appliquées (annexe A) : RG-EVA-23, RG-EVA-24, RG-EVA-25, RG-EVA-26.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08-eval-44-rapport.
Écran : /cao/procedures/44/evaluation — compte : membre de la commission « démonstration ».
Noms, matricules, initiales, photos et adresses réelles masqués dans la page avant la capture.
Règles appliquées (annexe A) : RG-EVA-27, RG-EVA-29, RG-EVA-30, RG-EVA-38.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deck-eval__c16-signature-membre.jpg (« Signer, avec une observation »).
Raison : l’état montré ne se reproduit plus sur la base du 14/10 ; l’écran n’a pas changé sur ce qu’il montre.
Règles appliquées (annexe A) : RG-EVA-29.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rapport__page-001.jpg (« Le rapport, sur le plan du guide »).
Raison : l’état montré ne se reproduit plus sur la base du 14/10 ; l’écran n’a pas changé sur ce qu’il montre.
Règles appliquées (annexe A) : RG-EVA-28.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09-attr-44.
Écran : /procedure/44/evaluation — compte : PRMP.
Noms, matricules, initiales, photos et adresses réelles masqués dans la page avant la capture.
Règles appliquées (annexe A) : RG-EVA-37.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pi-recette__t01-grille-membre-ecart.jpg (« L’évaluation technique : la grille d’un membre »).
Raison : l’état montré ne se reproduit plus sur la base du 14/10 ; l’écran n’a pas changé sur ce qu’il montre.
Règles appliquées (annexe A) : RG-EVA-31.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pi-recette__t02-classement-technique.jpg (« Le classement technique »).
Raison : l’état montré ne se reproduit plus sur la base du 14/10 ; l’écran n’a pas changé sur ce qu’il montre.
Règles appliquées (annexe A) : RG-EVA-31.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08-eval-50-cao.
Écran : /cao/procedures/50/evaluation — compte : membre de la commission « démonstration ».
Noms, matricules, initiales, photos et adresses réelles masqués dans la page avant la capture.
Règles appliquées (annexe A) : RG-EVA-32.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pi-recette__g01-saisie-financiere.jpg (« La saisie d’une enveloppe financière »).
Raison : l’état montré ne se reproduit plus sur la base du 14/10 ; l’écran n’a pas changé sur ce qu’il montre.
Règles appliquées (annexe A) : RG-EVA-32, RG-EVA-35.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pi-recette__n02-negociation-a-conclure.jpg (« La négociation à conclure »).
Raison : l’état montré ne se reproduit plus sur la base du 14/10 ; l’écran n’a pas changé sur ce qu’il montre.
Règles appliquées (annexe A) : RG-EVA-33.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08-eval-50-rapport.
Écran : /procedure/50/evaluation — compte : Administrateur.
Noms, matricules, initiales, photos et adresses réelles masqués dans la page avant la capture.
Règles appliquées (annexe A) : RG-EVA-33, RG-EVA-34.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deck-eval__c18-attribution-proposee.jpg (« L’attribution, lot par lot »).
Raison : l’état montré ne se reproduit plus sur la base du 14/10 ; l’écran n’a pas changé sur ce qu’il montre.
Règles appliquées (annexe A) : RG-ATT-01, RG-ATT-02, RG-ATT-03.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09-attr-40-lots.
Écran : /procedure/40/evaluation — compte : PRMP.
Noms, matricules, initiales, photos et adresses réelles masqués dans la page avant la capture.
Règles appliquées (annexe A) : RG-ATT-02, RG-ATT-04, RG-ATT-25, RG-ATT-29.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09-dossier-mpi.
Écran : /prmp/dossier/100376 — compte : PRMP.
Noms, matricules, initiales, photos et adresses réelles masqués dans la page avant la capture.
Règles appliquées (annexe A) : RG-ATT-03, RG-ATT-05, RG-ATT-06, RG-ATT-32.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attribution__k01-avis-favorable.jpg (« Le lot, après l’avis favorable de la Commission »).
Raison : l’état montré ne se reproduit plus sur la base du 14/10 ; l’écran n’a pas changé sur ce qu’il montre.
Règles appliquées (annexe A) : RG-ATT-07, RG-ATT-08.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attribution__k02-informer.jpg (« Informer les candidats »).
Raison : l’état montré ne se reproduit plus sur la base du 14/10 ; l’écran n’a pas changé sur ce qu’il montre.
Règles appliquées (annexe A) : RG-ATT-09, RG-ATT-10, RG-ATT-11, RG-ATT-14.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09-attr-44-lot.
Écran : /procedure/44/evaluation — compte : PRMP.
Noms, matricules, initiales, photos et adresses réelles masqués dans la page avant la capture.
Règles appliquées (annexe A) : RG-ATT-07, RG-ATT-09, RG-ATT-10, RG-ATT-11.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09-attr-44-recours.
Écran : /procedure/44/evaluation — compte : PRMP.
Noms, matricules, initiales, photos et adresses réelles masqués dans la page avant la capture.
Règles appliquées (annexe A) : RG-ATT-12, RG-ATT-13, RG-ATT-15, RG-ATT-16, RG-ATT-17, RG-ATT-35.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09-cand2-non-retenue.
Écran : /candidat/offres — compte : candidat (Société de démonstration).
Noms, matricules, initiales, photos et adresses réelles masqués dans la page avant la capture.
Règles appliquées (annexe A) : RG-ATT-09, RG-ATT-10, RG-ATT-13.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09-public-resultat.
Écran : /candidat/procedures/44 — compte : sans session.
Noms, matricules, initiales, photos et adresses réelles masqués dans la page avant la capture.
Règles appliquées (annexe A) : RG-ATT-11, RG-ATT-24.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09-cand-resultat.
Écran : /candidat/offres — compte : candidat (Entreprise de recette BTP).
Noms, matricules, initiales, photos et adresses réelles masqués dans la page avant la capture.
Règles appliquées (annexe A) : RG-ATT-18, RG-ATT-19, RG-ATT-34.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09-attr-44-pieces.
Écran : /procedure/44/evaluation — compte : PRMP.
Noms, matricules, initiales, photos et adresses réelles masqués dans la page avant la capture.
Règles appliquées (annexe A) : RG-ATT-18, RG-ATT-19, RG-ATT-34.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09-attr-44-signer.
Écran : /procedure/44/evaluation — compte : PRMP.
Noms, matricules, initiales, photos et adresses réelles masqués dans la page avant la capture.
Règles appliquées (annexe A) : RG-ATT-20, RG-ATT-21, RG-ATT-22, RG-ATT-33.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attribution-2d__i03-avis-defavorable-decisions.jpg (« Après un avis défavorable : infructuosité ou reprise »).
Raison : l’état montré ne se reproduit plus sur la base du 14/10 ; l’écran n’a pas changé sur ce qu’il montre.
Règles appliquées (annexe A) : RG-ATT-29, RG-ATT-30.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09-attr-50-reprise.
Écran : /procedure/50/evaluation — compte : Administrateur.
Noms, matricules, initiales, photos et adresses réelles masqués dans la page avant la capture.
Règles appliquées (annexe A) : RG-ATT-30.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attribution-2d__j01-sans-suite-demande.jpg (« La déclaration sans suite »).
Raison : l’état montré ne se reproduit plus sur la base du 14/10 ; l’écran n’a pas changé sur ce qu’il montre.
Règles appliquées (annexe A) : RG-ATT-31.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09-dossier-dss.
Écran : /prmp/dossier/100377 — compte : PRMP.
Noms, matricules, initiales, photos et adresses réelles masqués dans la page avant la capture.
Règles appliquées (annexe A) : RG-ATT-31.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attribution-2d__j03-sans-suite-favorable.jpg (« L’avis favorable : la PRMP déclare »).
Raison : l’état montré ne se reproduit plus sur la base du 14/10 ; l’écran n’a pas changé sur ce qu’il montre.
Règles appliquées (annexe A) : RG-ATT-31.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attribution-2d__j04-sans-suite-declaree.jpg (« La procédure déclarée sans suite »).
Raison : l’état montré ne se reproduit plus sur la base du 14/10 ; l’écran n’a pas changé sur ce qu’il montre.
Règles appliquées (annexe A) : RG-ATT-31.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09-dossier-marche.
Écran : /prmp/dossier/100372 — compte : PRMP.
Noms, matricules, initiales, photos et adresses réelles masqués dans la page avant la capture.
Règles appliquées (annexe A) : RG-ATT-03, RG-ATT-27, RG-ATT-28.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reprise de la présentation du 08/10 : manuel-recette__m02-depot-avenant-modale.jpg (« Déposer un avenant »).
Raison : l’état montré ne se reproduit plus sur la base du 14/10 ; l’écran n’a pas changé sur ce qu’il montre.
Règles appliquées (annexe A) : RG-ATT-28.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09-dossier-dgc-brouillon.
Écran : /prmp/dossier/100374 — compte : PRMP.
Noms, matricules, initiales, photos et adresses réelles masqués dans la page avant la capture.
Règles appliquées (annexe A) : RG-ATT-27.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09-dossier-dgc.
Écran : /prmp/dossier/100373 — compte : PRMP.
Noms, matricules, initiales, photos et adresses réelles masqués dans la page avant la capture.
Règles appliquées (annexe A) : RG-ATT-27, RG-ATT-28.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10-interim-cc.
Écran : /cc/interim — compte : Chef de commission.
Noms, matricules, initiales, photos et adresses réelles masqués dans la page avant la capture.
Règles appliquées (annexe A) : RG-INT-01, RG-INT-03, RG-INT-05, RG-INT-06, RG-INT-07, RG-INT-10.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10-interim-cc-modale.
Écran : /cc/interim — compte : Chef de commission.
Noms, matricules, initiales, photos et adresses réelles masqués dans la page avant la capture.
Règles appliquées (annexe A) : RG-INT-01, RG-INT-02, RG-INT-04.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10-admin-interims.
Écran : /admin/comptes/interims — compte : Administrateur.
Noms, matricules, initiales, photos et adresses réelles masqués dans la page avant la capture.
Règles appliquées (annexe A) : RG-INT-01, RG-INT-03, RG-INT-04, RG-INT-05, RG-INT-06.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10-admin-mandats.
Écran : /admin/comptes/mandats — compte : Administrateur.
Noms, matricules, initiales, photos et adresses réelles masqués dans la page avant la capture.
Règles appliquées (annexe A) : RG-INT-11, RG-INT-12, RG-INT-13, RG-INT-16.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10-admin-mandat-nouveau.
Écran : /admin/comptes/mandats — compte : Administrateur.
Noms, matricules, initiales, photos et adresses réelles masqués dans la page avant la capture.
Règles appliquées (annexe A) : RG-INT-11, RG-INT-12, RG-INT-14, RG-INT-15.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11-poste.
Écran : /admin/tableau-de-bord — compte : Administrateur.
Noms, matricules, initiales, photos et adresses réelles masqués dans la page avant la capture.
Règles appliquées (annexe A) : RG-ADM-03, RG-ADM-05, RG-ADM-29, RG-ADM-35, RG-ADM-47.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11-inscriptions.
Écran : /admin/inscriptions — compte : Administrateur.
Noms, matricules, initiales, photos et adresses réelles masqués dans la page avant la capture.
Règles appliquées (annexe A) : RG-ADM-01, RG-ADM-02, RG-ADM-03, RG-ADM-04.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11-rattachements.
Écran : /admin/rattachements — compte : Administrateur.
Noms, matricules, initiales, photos et adresses réelles masqués dans la page avant la capture.
Règles appliquées (annexe A) : RG-ADM-09.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11-fiche-personne.
Écran : /admin/comptes — compte : Administrateur.
Noms, matricules, initiales, photos et adresses réelles masqués dans la page avant la capture.
Règles appliquées (annexe A) : RG-ADM-04, RG-ADM-05, RG-ADM-11, RG-ADM-32.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11-comptes-prmp.
Écran : /admin/comptes/prmps — compte : Administrateur.
Noms, matricules, initiales, photos et adresses réelles masqués dans la page avant la capture.
Règles appliquées (annexe A) : RG-ADM-06, RG-ADM-09.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11-comptes-controleurs.
Écran : /admin/comptes/controleurs — compte : Administrateur.
Noms, matricules, initiales, photos et adresses réelles masqués dans la page avant la capture.
Règles appliquées (annexe A) : RG-ADM-05, RG-ADM-10.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11-chaines.
Écran : /admin/chaines-controle — compte : Administrateur.
Noms, matricules, initiales, photos et adresses réelles masqués dans la page avant la capture.
Règles appliquées (annexe A) : RG-ADM-10.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11-delais-standards.
Écran : /admin/delais-standards — compte : Administrateur.
Noms, matricules, initiales, photos et adresses réelles masqués dans la page avant la capture.
Règles appliquées (annexe A) : RG-ADM-12, RG-ADM-13, RG-ADM-41, RG-ADM-42, RG-ADM-43.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11-points-controle.
Écran : /admin/referentiels/points-ctrls — compte : Administrateur.
Noms, matricules, initiales, photos et adresses réelles masqués dans la page avant la capture.
Règles appliquées (annexe A) : RG-ADM-14.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11-agpm-seuil.
Écran : /admin/agpm-seuil — compte : Administrateur.
Noms, matricules, initiales, photos et adresses réelles masqués dans la page avant la capture.
Règles appliquées (annexe A) : RG-ADM-15.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11-regles-alerte.
Écran : /admin/referentiels/regle-alertes — compte : Administrateur.
Noms, matricules, initiales, photos et adresses réelles masqués dans la page avant la capture.
Règles appliquées (annexe A) : RG-ADM-16.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11-pre-controle-regles.
Écran : /admin/pre-controle-regles — compte : Administrateur.
Noms, matricules, initiales, photos et adresses réelles masqués dans la page avant la capture.
Règles appliquées (annexe A) : RG-ADM-34, RG-ADM-35.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11-nomenclatures.
Écran : /admin/referentiels — compte : Administrateur.
Noms, matricules, initiales, photos et adresses réelles masqués dans la page avant la capture.
Règles appliquées (annexe A) : RG-ADM-11, RG-ADM-17, RG-ADM-18, RG-ADM-20, RG-ADM-22.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11-entites.
Écran : /admin/referentiels/entite-arbre — compte : Administrateur.
Noms, matricules, initiales, photos et adresses réelles masqués dans la page avant la capture.
Règles appliquées (annexe A) : RG-ADM-09.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11-dmc-mapping.
Écran : /admin/referentiels/dmc-mapping — compte : Administrateur.
Noms, matricules, initiales, photos et adresses réelles masqués dans la page avant la capture.
Règles appliquées (annexe A) : RG-ADM-19.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11-champs-fiche.
Écran : /admin/referentiels/champs-fiche-marche — compte : Administrateur.
Noms, matricules, initiales, photos et adresses réelles masqués dans la page avant la capture.
Règles appliquées (annexe A) : RG-ADM-21.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11-cao-quorum.
Écran : /admin/referentiels/cao-quorum — compte : Administrateur.
Noms, matricules, initiales, photos et adresses réelles masqués dans la page avant la capture.
Règles appliquées (annexe A) : RG-ADM-36, RG-ADM-37.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11-recours.
Écran : /admin/referentiels/recours-suspensifs — compte : Administrateur.
Noms, matricules, initiales, photos et adresses réelles masqués dans la page avant la capture.
Règles appliquées (annexe A) : RG-ADM-38.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11-sigmp-transition.
Écran : /admin/referentiels/sigmp-transition — compte : Administrateur.
Noms, matricules, initiales, photos et adresses réelles masqués dans la page avant la capture.
Règles appliquées (annexe A) : RG-ADM-39, RG-ADM-40.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11-remise-electronique.
Écran : /admin/referentiels/remise-electronique — compte : Administrateur.
Noms, matricules, initiales, photos et adresses réelles masqués dans la page avant la capture.
Règles appliquées (annexe A) : RG-ADM-23, RG-ADM-24, RG-ADM-46.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11-compte-dao.
Écran : /admin/referentiels/compte-dao — compte : Administrateur.
Noms, matricules, initiales, photos et adresses réelles masqués dans la page avant la capture.
Règles appliquées (annexe A) : RG-ADM-25.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11-candidats.
Écran : /admin/referentiels/candidats — compte : Administrateur.
Noms, matricules, initiales, photos et adresses réelles masqués dans la page avant la capture.
Règles appliquées (annexe A) : RG-ADM-26, RG-ADM-30, RG-ADM-45.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11-entreprises.
Écran : /admin/entreprises — compte : Administrateur.
Noms, matricules, initiales, photos et adresses réelles masqués dans la page avant la capture.
Règles appliquées (annexe A) : RG-ADM-27.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11-exclusions.
Écran : /admin/referentiels/exclusions-armp — compte : Administrateur.
Noms, matricules, initiales, photos et adresses réelles masqués dans la page avant la capture.
Règles appliquées (annexe A) : RG-ADM-28.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11-journal.
Écran : /admin/audit — compte : Administrateur.
Noms, matricules, initiales, photos et adresses réelles masqués dans la page avant la capture.
Règles appliquées (annexe A) : RG-ADM-31.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11-journal-connexions.
Écran : /admin/audit — compte : Administrateur.
Noms, matricules, initiales, photos et adresses réelles masqués dans la page avant la capture.
Règles appliquées (annexe A) : RG-ADM-32.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11-actualites.
Écran : /admin/actualites — compte : Administrateur.
Noms, matricules, initiales, photos et adresses réelles masqués dans la page avant la capture.
Règles appliquées (annexe A) : RG-ADM-33.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11-ppm-marches.
Écran : /admin/ppm-marches — compte : Administrateur.
Noms, matricules, initiales, photos et adresses réelles masqués dans la page avant la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12-suivi-prmp.
Écran : /prmp/tableau-de-bord — compte : PRMP.
Noms, matricules, initiales, photos et adresses réelles masqués dans la page avant la capture.
Règles appliquées (annexe A) : RG-PIL-01, RG-PIL-02, RG-PIL-03.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12-statistiques.
Écran : /president/statistiques — compte : Président.
Noms, matricules, initiales, photos et adresses réelles masqués dans la page avant la capture.
Règles appliquées (annexe A) : RG-PIL-05, RG-PIL-06, RG-PIL-15.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12-rapports-pres.
Écran : /president/rapports — compte : Président.
Noms, matricules, initiales, photos et adresses réelles masqués dans la page avant la capture.
Règles appliquées (annexe A) : RG-PIL-04.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12-procedures-en-ligne.
Écran : /procedures-en-ligne — compte : Administrateur.
Noms, matricules, initiales, photos et adresses réelles masqués dans la page avant la capture.
Règles appliquées (annexe A) : RG-PIL-11, RG-PIL-12, RG-PIL-13, RG-PIL-14.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12-publications.
Écran : /publication/publications — compte : Chargé de publication.
Noms, matricules, initiales, photos et adresses réelles masqués dans la page avant la capture.
Règles appliquées (annexe A) : RG-PIL-07, RG-PIL-08, RG-PIL-09.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neuve du 14/10/2026 : 12-documents.
Écran : /publication/documents — compte : Chargé de publication.
Noms, matricules, initiales, photos et adresses réelles masqués dans la page avant la capture.
Règles appliquées (annexe A) : RG-PIL-10.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1.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1.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1.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1.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1.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slideLayout" Target="../slideLayouts/slideLayout1.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jpg"/><Relationship Id="rId2" Type="http://schemas.openxmlformats.org/officeDocument/2006/relationships/slideLayout" Target="../slideLayouts/slideLayout1.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jpg"/><Relationship Id="rId2" Type="http://schemas.openxmlformats.org/officeDocument/2006/relationships/slideLayout" Target="../slideLayouts/slideLayout1.xml"/><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jpg"/><Relationship Id="rId2" Type="http://schemas.openxmlformats.org/officeDocument/2006/relationships/slideLayout" Target="../slideLayouts/slideLayout1.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1.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1.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1.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image" Target="../media/image-122-1.jpg"/><Relationship Id="rId2" Type="http://schemas.openxmlformats.org/officeDocument/2006/relationships/slideLayout" Target="../slideLayouts/slideLayout1.xml"/><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slideLayout" Target="../slideLayouts/slideLayout1.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jp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1.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image" Target="../media/image-146-1.jpg"/><Relationship Id="rId2" Type="http://schemas.openxmlformats.org/officeDocument/2006/relationships/slideLayout" Target="../slideLayouts/slideLayout1.xml"/><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jpg"/><Relationship Id="rId2" Type="http://schemas.openxmlformats.org/officeDocument/2006/relationships/slideLayout" Target="../slideLayouts/slideLayout1.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jpg"/><Relationship Id="rId2" Type="http://schemas.openxmlformats.org/officeDocument/2006/relationships/slideLayout" Target="../slideLayouts/slideLayout1.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jpg"/><Relationship Id="rId2" Type="http://schemas.openxmlformats.org/officeDocument/2006/relationships/slideLayout" Target="../slideLayouts/slideLayout1.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jpg"/><Relationship Id="rId2" Type="http://schemas.openxmlformats.org/officeDocument/2006/relationships/slideLayout" Target="../slideLayouts/slideLayout1.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image" Target="../media/image-153-1.jpg"/><Relationship Id="rId2" Type="http://schemas.openxmlformats.org/officeDocument/2006/relationships/slideLayout" Target="../slideLayouts/slideLayout1.xml"/><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jpg"/><Relationship Id="rId2" Type="http://schemas.openxmlformats.org/officeDocument/2006/relationships/slideLayout" Target="../slideLayouts/slideLayout1.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jpg"/><Relationship Id="rId2" Type="http://schemas.openxmlformats.org/officeDocument/2006/relationships/slideLayout" Target="../slideLayouts/slideLayout1.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image" Target="../media/image-156-1.jpg"/><Relationship Id="rId2" Type="http://schemas.openxmlformats.org/officeDocument/2006/relationships/slideLayout" Target="../slideLayouts/slideLayout1.xml"/><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image" Target="../media/image-157-1.jpg"/><Relationship Id="rId2" Type="http://schemas.openxmlformats.org/officeDocument/2006/relationships/slideLayout" Target="../slideLayouts/slideLayout1.xml"/><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jpg"/><Relationship Id="rId2" Type="http://schemas.openxmlformats.org/officeDocument/2006/relationships/slideLayout" Target="../slideLayouts/slideLayout1.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jpg"/><Relationship Id="rId2" Type="http://schemas.openxmlformats.org/officeDocument/2006/relationships/slideLayout" Target="../slideLayouts/slideLayout1.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slideLayout" Target="../slideLayouts/slideLayout1.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jpg"/><Relationship Id="rId2" Type="http://schemas.openxmlformats.org/officeDocument/2006/relationships/slideLayout" Target="../slideLayouts/slideLayout1.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jpg"/><Relationship Id="rId2" Type="http://schemas.openxmlformats.org/officeDocument/2006/relationships/slideLayout" Target="../slideLayouts/slideLayout1.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jpg"/><Relationship Id="rId2" Type="http://schemas.openxmlformats.org/officeDocument/2006/relationships/slideLayout" Target="../slideLayouts/slideLayout1.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slideLayout" Target="../slideLayouts/slideLayout1.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image" Target="../media/image-166-1.jpg"/><Relationship Id="rId2" Type="http://schemas.openxmlformats.org/officeDocument/2006/relationships/slideLayout" Target="../slideLayouts/slideLayout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slideLayout" Target="../slideLayouts/slideLayout1.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jp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jp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jp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179-1.jpg"/><Relationship Id="rId2" Type="http://schemas.openxmlformats.org/officeDocument/2006/relationships/slideLayout" Target="../slideLayouts/slideLayout1.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jpg"/><Relationship Id="rId2" Type="http://schemas.openxmlformats.org/officeDocument/2006/relationships/slideLayout" Target="../slideLayouts/slideLayout1.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image" Target="../media/image-181-1.jpg"/><Relationship Id="rId2" Type="http://schemas.openxmlformats.org/officeDocument/2006/relationships/slideLayout" Target="../slideLayouts/slideLayout1.xml"/><Relationship Id="rId3"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jpg"/><Relationship Id="rId2" Type="http://schemas.openxmlformats.org/officeDocument/2006/relationships/slideLayout" Target="../slideLayouts/slideLayout1.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image" Target="../media/image-184-1.jpg"/><Relationship Id="rId2" Type="http://schemas.openxmlformats.org/officeDocument/2006/relationships/slideLayout" Target="../slideLayouts/slideLayout1.xml"/><Relationship Id="rId3"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jpg"/><Relationship Id="rId2" Type="http://schemas.openxmlformats.org/officeDocument/2006/relationships/slideLayout" Target="../slideLayouts/slideLayout1.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jpg"/><Relationship Id="rId2" Type="http://schemas.openxmlformats.org/officeDocument/2006/relationships/slideLayout" Target="../slideLayouts/slideLayout1.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jpg"/><Relationship Id="rId2" Type="http://schemas.openxmlformats.org/officeDocument/2006/relationships/slideLayout" Target="../slideLayouts/slideLayout1.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jpg"/><Relationship Id="rId2" Type="http://schemas.openxmlformats.org/officeDocument/2006/relationships/slideLayout" Target="../slideLayouts/slideLayout1.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jpg"/><Relationship Id="rId2" Type="http://schemas.openxmlformats.org/officeDocument/2006/relationships/slideLayout" Target="../slideLayouts/slideLayout1.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jpg"/><Relationship Id="rId2" Type="http://schemas.openxmlformats.org/officeDocument/2006/relationships/slideLayout" Target="../slideLayouts/slideLayout1.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slideLayout" Target="../slideLayouts/slideLayout1.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jp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image" Target="../media/image-228-1.jp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image-229-1.jp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image-231-1.jp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image" Target="../media/image-233-1.jpg"/><Relationship Id="rId2" Type="http://schemas.openxmlformats.org/officeDocument/2006/relationships/slideLayout" Target="../slideLayouts/slideLayout1.xml"/><Relationship Id="rId3"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image" Target="../media/image-234-1.jpg"/><Relationship Id="rId2" Type="http://schemas.openxmlformats.org/officeDocument/2006/relationships/slideLayout" Target="../slideLayouts/slideLayout1.xml"/><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image" Target="../media/image-235-1.jpg"/><Relationship Id="rId2" Type="http://schemas.openxmlformats.org/officeDocument/2006/relationships/slideLayout" Target="../slideLayouts/slideLayout1.xml"/><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image-236-1.jpg"/><Relationship Id="rId2" Type="http://schemas.openxmlformats.org/officeDocument/2006/relationships/slideLayout" Target="../slideLayouts/slideLayout1.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jpg"/><Relationship Id="rId2" Type="http://schemas.openxmlformats.org/officeDocument/2006/relationships/slideLayout" Target="../slideLayouts/slideLayout1.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image-239-1.jpg"/><Relationship Id="rId2" Type="http://schemas.openxmlformats.org/officeDocument/2006/relationships/slideLayout" Target="../slideLayouts/slideLayout1.xml"/><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jpg"/><Relationship Id="rId2" Type="http://schemas.openxmlformats.org/officeDocument/2006/relationships/slideLayout" Target="../slideLayouts/slideLayout1.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241-1.jpg"/><Relationship Id="rId2" Type="http://schemas.openxmlformats.org/officeDocument/2006/relationships/slideLayout" Target="../slideLayouts/slideLayout1.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242-1.jpg"/><Relationship Id="rId2" Type="http://schemas.openxmlformats.org/officeDocument/2006/relationships/slideLayout" Target="../slideLayouts/slideLayout1.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image" Target="../media/image-243-1.jpg"/><Relationship Id="rId2" Type="http://schemas.openxmlformats.org/officeDocument/2006/relationships/slideLayout" Target="../slideLayouts/slideLayout1.xml"/><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image-248-1.jpg"/><Relationship Id="rId2" Type="http://schemas.openxmlformats.org/officeDocument/2006/relationships/slideLayout" Target="../slideLayouts/slideLayout1.xml"/><Relationship Id="rId3"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image" Target="../media/image-249-1.jpg"/><Relationship Id="rId2" Type="http://schemas.openxmlformats.org/officeDocument/2006/relationships/slideLayout" Target="../slideLayouts/slideLayout1.xml"/><Relationship Id="rId3"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250-1.jpg"/><Relationship Id="rId2" Type="http://schemas.openxmlformats.org/officeDocument/2006/relationships/slideLayout" Target="../slideLayouts/slideLayout1.xml"/><Relationship Id="rId3"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252-1.jpg"/><Relationship Id="rId2" Type="http://schemas.openxmlformats.org/officeDocument/2006/relationships/slideLayout" Target="../slideLayouts/slideLayout1.xm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jp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254-1.jp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55-1.jpg"/><Relationship Id="rId2" Type="http://schemas.openxmlformats.org/officeDocument/2006/relationships/slideLayout" Target="../slideLayouts/slideLayout1.xml"/><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jp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257-1.jp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259-1.jp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260-1.jp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261-1.jpg"/><Relationship Id="rId2" Type="http://schemas.openxmlformats.org/officeDocument/2006/relationships/slideLayout" Target="../slideLayouts/slideLayout1.xml"/><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263-1.jp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264-1.jp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265-1.jp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266-1.jp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267-1.jp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268-1.jp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270-1.jp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271-1.jpg"/><Relationship Id="rId2" Type="http://schemas.openxmlformats.org/officeDocument/2006/relationships/slideLayout" Target="../slideLayouts/slideLayout1.xml"/><Relationship Id="rId3"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272-1.jp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273-1.jp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278-1.jp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279-1.jpg"/><Relationship Id="rId2" Type="http://schemas.openxmlformats.org/officeDocument/2006/relationships/slideLayout" Target="../slideLayouts/slideLayout1.xml"/><Relationship Id="rId3"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280-1.jp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282-1.jpg"/><Relationship Id="rId2" Type="http://schemas.openxmlformats.org/officeDocument/2006/relationships/slideLayout" Target="../slideLayouts/slideLayout1.xml"/><Relationship Id="rId3"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283-1.jp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image" Target="../media/image-288-1.jpg"/><Relationship Id="rId2" Type="http://schemas.openxmlformats.org/officeDocument/2006/relationships/slideLayout" Target="../slideLayouts/slideLayout1.xml"/><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image" Target="../media/image-289-1.jpg"/><Relationship Id="rId2" Type="http://schemas.openxmlformats.org/officeDocument/2006/relationships/slideLayout" Target="../slideLayouts/slideLayout1.xml"/><Relationship Id="rId3"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image" Target="../media/image-290-1.jpg"/><Relationship Id="rId2" Type="http://schemas.openxmlformats.org/officeDocument/2006/relationships/slideLayout" Target="../slideLayouts/slideLayout1.xml"/><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image" Target="../media/image-291-1.jpg"/><Relationship Id="rId2" Type="http://schemas.openxmlformats.org/officeDocument/2006/relationships/slideLayout" Target="../slideLayouts/slideLayout1.xml"/><Relationship Id="rId3"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image" Target="../media/image-292-1.jpg"/><Relationship Id="rId2" Type="http://schemas.openxmlformats.org/officeDocument/2006/relationships/slideLayout" Target="../slideLayouts/slideLayout1.xml"/><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image" Target="../media/image-293-1.jpg"/><Relationship Id="rId2" Type="http://schemas.openxmlformats.org/officeDocument/2006/relationships/slideLayout" Target="../slideLayouts/slideLayout1.xml"/><Relationship Id="rId3"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image" Target="../media/image-295-1.jpg"/><Relationship Id="rId2" Type="http://schemas.openxmlformats.org/officeDocument/2006/relationships/slideLayout" Target="../slideLayouts/slideLayout1.xml"/><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image" Target="../media/image-296-1.jpg"/><Relationship Id="rId2" Type="http://schemas.openxmlformats.org/officeDocument/2006/relationships/slideLayout" Target="../slideLayouts/slideLayout1.xml"/><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image" Target="../media/image-297-1.jpg"/><Relationship Id="rId2" Type="http://schemas.openxmlformats.org/officeDocument/2006/relationships/slideLayout" Target="../slideLayouts/slideLayout1.xml"/><Relationship Id="rId3"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image" Target="../media/image-298-1.jpg"/><Relationship Id="rId2" Type="http://schemas.openxmlformats.org/officeDocument/2006/relationships/slideLayout" Target="../slideLayouts/slideLayout1.xml"/><Relationship Id="rId3"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image" Target="../media/image-299-1.jpg"/><Relationship Id="rId2" Type="http://schemas.openxmlformats.org/officeDocument/2006/relationships/slideLayout" Target="../slideLayouts/slideLayout1.xml"/><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image" Target="../media/image-300-1.jpg"/><Relationship Id="rId2" Type="http://schemas.openxmlformats.org/officeDocument/2006/relationships/slideLayout" Target="../slideLayouts/slideLayout1.xml"/><Relationship Id="rId3"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image" Target="../media/image-302-1.jpg"/><Relationship Id="rId2" Type="http://schemas.openxmlformats.org/officeDocument/2006/relationships/slideLayout" Target="../slideLayouts/slideLayout1.xml"/><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image" Target="../media/image-303-1.jpg"/><Relationship Id="rId2" Type="http://schemas.openxmlformats.org/officeDocument/2006/relationships/slideLayout" Target="../slideLayouts/slideLayout1.xml"/><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image" Target="../media/image-304-1.jpg"/><Relationship Id="rId2" Type="http://schemas.openxmlformats.org/officeDocument/2006/relationships/slideLayout" Target="../slideLayouts/slideLayout1.xml"/><Relationship Id="rId3"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image" Target="../media/image-305-1.jpg"/><Relationship Id="rId2" Type="http://schemas.openxmlformats.org/officeDocument/2006/relationships/slideLayout" Target="../slideLayouts/slideLayout1.xml"/><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image" Target="../media/image-307-1.jpg"/><Relationship Id="rId2" Type="http://schemas.openxmlformats.org/officeDocument/2006/relationships/slideLayout" Target="../slideLayouts/slideLayout1.xml"/><Relationship Id="rId3"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image" Target="../media/image-308-1.jpg"/><Relationship Id="rId2" Type="http://schemas.openxmlformats.org/officeDocument/2006/relationships/slideLayout" Target="../slideLayouts/slideLayout1.xml"/><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image" Target="../media/image-309-1.jpg"/><Relationship Id="rId2" Type="http://schemas.openxmlformats.org/officeDocument/2006/relationships/slideLayout" Target="../slideLayouts/slideLayout1.xml"/><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image" Target="../media/image-310-1.jpg"/><Relationship Id="rId2" Type="http://schemas.openxmlformats.org/officeDocument/2006/relationships/slideLayout" Target="../slideLayouts/slideLayout1.xml"/><Relationship Id="rId3"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image" Target="../media/image-311-1.jpg"/><Relationship Id="rId2" Type="http://schemas.openxmlformats.org/officeDocument/2006/relationships/slideLayout" Target="../slideLayouts/slideLayout1.xml"/><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image" Target="../media/image-313-1.jpg"/><Relationship Id="rId2" Type="http://schemas.openxmlformats.org/officeDocument/2006/relationships/slideLayout" Target="../slideLayouts/slideLayout1.xml"/><Relationship Id="rId3"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image" Target="../media/image-314-1.jpg"/><Relationship Id="rId2" Type="http://schemas.openxmlformats.org/officeDocument/2006/relationships/slideLayout" Target="../slideLayouts/slideLayout1.xml"/><Relationship Id="rId3"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image" Target="../media/image-315-1.jpg"/><Relationship Id="rId2" Type="http://schemas.openxmlformats.org/officeDocument/2006/relationships/slideLayout" Target="../slideLayouts/slideLayout1.xml"/><Relationship Id="rId3"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image" Target="../media/image-317-1.jpg"/><Relationship Id="rId2" Type="http://schemas.openxmlformats.org/officeDocument/2006/relationships/slideLayout" Target="../slideLayouts/slideLayout1.xml"/><Relationship Id="rId3"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image" Target="../media/image-318-1.jpg"/><Relationship Id="rId2" Type="http://schemas.openxmlformats.org/officeDocument/2006/relationships/slideLayout" Target="../slideLayouts/slideLayout1.xml"/><Relationship Id="rId3"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image" Target="../media/image-319-1.jpg"/><Relationship Id="rId2" Type="http://schemas.openxmlformats.org/officeDocument/2006/relationships/slideLayout" Target="../slideLayouts/slideLayout1.xml"/><Relationship Id="rId3"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image" Target="../media/image-320-1.jpg"/><Relationship Id="rId2" Type="http://schemas.openxmlformats.org/officeDocument/2006/relationships/slideLayout" Target="../slideLayouts/slideLayout1.xml"/><Relationship Id="rId3"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image" Target="../media/image-325-1.jpg"/><Relationship Id="rId2" Type="http://schemas.openxmlformats.org/officeDocument/2006/relationships/slideLayout" Target="../slideLayouts/slideLayout1.xml"/><Relationship Id="rId3"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image" Target="../media/image-326-1.jpg"/><Relationship Id="rId2" Type="http://schemas.openxmlformats.org/officeDocument/2006/relationships/slideLayout" Target="../slideLayouts/slideLayout1.xml"/><Relationship Id="rId3"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image" Target="../media/image-327-1.jpg"/><Relationship Id="rId2" Type="http://schemas.openxmlformats.org/officeDocument/2006/relationships/slideLayout" Target="../slideLayouts/slideLayout1.xml"/><Relationship Id="rId3"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image" Target="../media/image-329-1.jpg"/><Relationship Id="rId2" Type="http://schemas.openxmlformats.org/officeDocument/2006/relationships/slideLayout" Target="../slideLayouts/slideLayout1.xml"/><Relationship Id="rId3"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image" Target="../media/image-331-1.jpg"/><Relationship Id="rId2" Type="http://schemas.openxmlformats.org/officeDocument/2006/relationships/slideLayout" Target="../slideLayouts/slideLayout1.xml"/><Relationship Id="rId3"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image" Target="../media/image-332-1.jpg"/><Relationship Id="rId2" Type="http://schemas.openxmlformats.org/officeDocument/2006/relationships/slideLayout" Target="../slideLayouts/slideLayout1.xml"/><Relationship Id="rId3"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6.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2.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5.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9.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2.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4.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5.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8.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9.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0.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1.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8.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9.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0.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1.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2.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3.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4.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5.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8.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9.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0.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1.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2.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3.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4.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8.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9.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0.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1.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4.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6.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9.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1.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3.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4.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6.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8.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9.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0.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1.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2.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3.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4.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5.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6.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8.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9.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0.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1.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2.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3.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4.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5.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6.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8.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9.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0.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1.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2.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3.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4.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5.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6.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8.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9.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0.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1.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2.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3.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4.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5.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6.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8.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9.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0.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1.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2.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3.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4.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5.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6.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 · DOSSIER DE RECETTE</a:t>
            </a:r>
            <a:endParaRPr lang="en-US" sz="1400" dirty="0"/>
          </a:p>
        </p:txBody>
      </p:sp>
      <p:sp>
        <p:nvSpPr>
          <p:cNvPr id="4" name="Text 2"/>
          <p:cNvSpPr/>
          <p:nvPr/>
        </p:nvSpPr>
        <p:spPr>
          <a:xfrm>
            <a:off x="812780" y="1206500"/>
            <a:ext cx="10477238" cy="1270000"/>
          </a:xfrm>
          <a:prstGeom prst="rect">
            <a:avLst/>
          </a:prstGeom>
          <a:noFill/>
          <a:ln/>
        </p:spPr>
        <p:txBody>
          <a:bodyPr wrap="square" rtlCol="0" anchor="t">
            <a:normAutofit/>
          </a:bodyPr>
          <a:lstStyle/>
          <a:p>
            <a:pPr indent="0" marL="0">
              <a:buNone/>
            </a:pPr>
            <a:r>
              <a:rPr lang="en-US" sz="4400" b="1" dirty="0">
                <a:solidFill>
                  <a:srgbClr val="FCFCFA"/>
                </a:solidFill>
                <a:latin typeface="Segoe UI" pitchFamily="34" charset="0"/>
                <a:ea typeface="Segoe UI" pitchFamily="34" charset="-122"/>
                <a:cs typeface="Segoe UI" pitchFamily="34" charset="-120"/>
              </a:rPr>
              <a:t>PRS 2.0 — L’application de bout en bout</a:t>
            </a:r>
            <a:endParaRPr lang="en-US" sz="44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200" dirty="0">
                <a:solidFill>
                  <a:srgbClr val="C9D6E2"/>
                </a:solidFill>
                <a:latin typeface="Segoe UI" pitchFamily="34" charset="0"/>
                <a:ea typeface="Segoe UI" pitchFamily="34" charset="-122"/>
                <a:cs typeface="Segoe UI" pitchFamily="34" charset="-120"/>
              </a:rPr>
              <a:t>Du plan de passation au marché notifié : chaque étape, chaque écran, qui y agit, et ce que l’application garantit à la Commission nationale des marchés.</a:t>
            </a:r>
            <a:endParaRPr lang="en-US" sz="2200" dirty="0"/>
          </a:p>
        </p:txBody>
      </p:sp>
      <p:sp>
        <p:nvSpPr>
          <p:cNvPr id="6" name="Text 4"/>
          <p:cNvSpPr/>
          <p:nvPr/>
        </p:nvSpPr>
        <p:spPr>
          <a:xfrm>
            <a:off x="812780" y="5270500"/>
            <a:ext cx="9842254" cy="762000"/>
          </a:xfrm>
          <a:prstGeom prst="rect">
            <a:avLst/>
          </a:prstGeom>
          <a:noFill/>
          <a:ln/>
        </p:spPr>
        <p:txBody>
          <a:bodyPr wrap="square" rtlCol="0" anchor="t"/>
          <a:lstStyle/>
          <a:p>
            <a:pPr indent="0" marL="0">
              <a:buNone/>
            </a:pPr>
            <a:r>
              <a:rPr lang="en-US" sz="1400" dirty="0">
                <a:solidFill>
                  <a:srgbClr val="8FA6BB"/>
                </a:solidFill>
                <a:latin typeface="Segoe UI" pitchFamily="34" charset="0"/>
                <a:ea typeface="Segoe UI" pitchFamily="34" charset="-122"/>
                <a:cs typeface="Segoe UI" pitchFamily="34" charset="-120"/>
              </a:rPr>
              <a:t>Pour l’équipe projet et recette : codes de règles sous chaque écran, provenance en note, annexes A (règles), B (données), C (recette)</a:t>
            </a:r>
            <a:endParaRPr lang="en-US" sz="1400" dirty="0"/>
          </a:p>
          <a:p>
            <a:pPr indent="0" marL="0">
              <a:buNone/>
            </a:pPr>
            <a:r>
              <a:rPr lang="en-US" sz="1400" dirty="0">
                <a:solidFill>
                  <a:srgbClr val="8FA6BB"/>
                </a:solidFill>
                <a:latin typeface="Segoe UI" pitchFamily="34" charset="0"/>
                <a:ea typeface="Segoe UI" pitchFamily="34" charset="-122"/>
                <a:cs typeface="Segoe UI" pitchFamily="34" charset="-120"/>
              </a:rPr>
              <a:t>Captures de l’application réelle sur des dossiers de démonstration (14 octobre 2026) · noms de personnes remplacés par leur rôle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POUR LA DIRECTION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PRS 2.0 change pour la Commission</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Six changements de fond, que chaque partie détaille écran par écran.</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seul circuit, entièrement en ligne</a:t>
            </a:r>
            <a:endParaRPr lang="en-US" sz="1500" dirty="0"/>
          </a:p>
        </p:txBody>
      </p:sp>
      <p:sp>
        <p:nvSpPr>
          <p:cNvPr id="8" name="Text 6"/>
          <p:cNvSpPr/>
          <p:nvPr/>
        </p:nvSpPr>
        <p:spPr>
          <a:xfrm>
            <a:off x="952476"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Du plan de passation au marché signé, chaque dossier suit le même circuit tracé : </a:t>
            </a:r>
            <a:pPr indent="0" marL="0">
              <a:buNone/>
            </a:pPr>
            <a:r>
              <a:rPr lang="en-US" sz="1200" b="1" dirty="0">
                <a:solidFill>
                  <a:srgbClr val="1B2A3A"/>
                </a:solidFill>
                <a:latin typeface="Segoe UI" pitchFamily="34" charset="0"/>
                <a:ea typeface="Segoe UI" pitchFamily="34" charset="-122"/>
                <a:cs typeface="Segoe UI" pitchFamily="34" charset="-120"/>
              </a:rPr>
              <a:t>réception, dispatch, examen, PV, visa, signature, vérification</a:t>
            </a:r>
            <a:pPr indent="0" marL="0">
              <a:buNone/>
            </a:pPr>
            <a:r>
              <a:rPr lang="en-US" sz="1200" dirty="0">
                <a:solidFill>
                  <a:srgbClr val="465568"/>
                </a:solidFill>
                <a:latin typeface="Segoe UI" pitchFamily="34" charset="0"/>
                <a:ea typeface="Segoe UI" pitchFamily="34" charset="-122"/>
                <a:cs typeface="Segoe UI" pitchFamily="34" charset="-120"/>
              </a:rPr>
              <a:t>. Plus de dossier papier qui circule.</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contrôle porte sur les données</a:t>
            </a:r>
            <a:endParaRPr lang="en-US" sz="1500" dirty="0"/>
          </a:p>
        </p:txBody>
      </p:sp>
      <p:sp>
        <p:nvSpPr>
          <p:cNvPr id="12" name="Text 10"/>
          <p:cNvSpPr/>
          <p:nvPr/>
        </p:nvSpPr>
        <p:spPr>
          <a:xfrm>
            <a:off x="4525320"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informations saisies une fois dans l’application — plan, fiche du DAO, offres, évaluation — sont </a:t>
            </a:r>
            <a:pPr indent="0" marL="0">
              <a:buNone/>
            </a:pPr>
            <a:r>
              <a:rPr lang="en-US" sz="1200" b="1" dirty="0">
                <a:solidFill>
                  <a:srgbClr val="1B2A3A"/>
                </a:solidFill>
                <a:latin typeface="Segoe UI" pitchFamily="34" charset="0"/>
                <a:ea typeface="Segoe UI" pitchFamily="34" charset="-122"/>
                <a:cs typeface="Segoe UI" pitchFamily="34" charset="-120"/>
              </a:rPr>
              <a:t>figées à la soumission</a:t>
            </a:r>
            <a:pPr indent="0" marL="0">
              <a:buNone/>
            </a:pPr>
            <a:r>
              <a:rPr lang="en-US" sz="1200" dirty="0">
                <a:solidFill>
                  <a:srgbClr val="465568"/>
                </a:solidFill>
                <a:latin typeface="Segoe UI" pitchFamily="34" charset="0"/>
                <a:ea typeface="Segoe UI" pitchFamily="34" charset="-122"/>
                <a:cs typeface="Segoe UI" pitchFamily="34" charset="-120"/>
              </a:rPr>
              <a:t> et contrôlées telles quelles, à la place des copies scannées.</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délais légaux tenus par l’application</a:t>
            </a:r>
            <a:endParaRPr lang="en-US" sz="1500" dirty="0"/>
          </a:p>
        </p:txBody>
      </p:sp>
      <p:sp>
        <p:nvSpPr>
          <p:cNvPr id="16" name="Text 14"/>
          <p:cNvSpPr/>
          <p:nvPr/>
        </p:nvSpPr>
        <p:spPr>
          <a:xfrm>
            <a:off x="8098164"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Délai d’attente, publicité, pièces de l’attributaire, examen : l’application </a:t>
            </a:r>
            <a:pPr indent="0" marL="0">
              <a:buNone/>
            </a:pPr>
            <a:r>
              <a:rPr lang="en-US" sz="1200" b="1" dirty="0">
                <a:solidFill>
                  <a:srgbClr val="1B2A3A"/>
                </a:solidFill>
                <a:latin typeface="Segoe UI" pitchFamily="34" charset="0"/>
                <a:ea typeface="Segoe UI" pitchFamily="34" charset="-122"/>
                <a:cs typeface="Segoe UI" pitchFamily="34" charset="-120"/>
              </a:rPr>
              <a:t>compte les délais du code</a:t>
            </a:r>
            <a:pPr indent="0" marL="0">
              <a:buNone/>
            </a:pPr>
            <a:r>
              <a:rPr lang="en-US" sz="1200" dirty="0">
                <a:solidFill>
                  <a:srgbClr val="465568"/>
                </a:solidFill>
                <a:latin typeface="Segoe UI" pitchFamily="34" charset="0"/>
                <a:ea typeface="Segoe UI" pitchFamily="34" charset="-122"/>
                <a:cs typeface="Segoe UI" pitchFamily="34" charset="-120"/>
              </a:rPr>
              <a:t>, bloque le geste prématuré et signale le retard.</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offres déposées en ligne, scellées</a:t>
            </a:r>
            <a:endParaRPr lang="en-US" sz="1500" dirty="0"/>
          </a:p>
        </p:txBody>
      </p:sp>
      <p:sp>
        <p:nvSpPr>
          <p:cNvPr id="20" name="Text 18"/>
          <p:cNvSpPr/>
          <p:nvPr/>
        </p:nvSpPr>
        <p:spPr>
          <a:xfrm>
            <a:off x="952476" y="45212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remplissent et déposent leur offre en ligne ; elle reste </a:t>
            </a:r>
            <a:pPr indent="0" marL="0">
              <a:buNone/>
            </a:pPr>
            <a:r>
              <a:rPr lang="en-US" sz="1200" b="1" dirty="0">
                <a:solidFill>
                  <a:srgbClr val="1B2A3A"/>
                </a:solidFill>
                <a:latin typeface="Segoe UI" pitchFamily="34" charset="0"/>
                <a:ea typeface="Segoe UI" pitchFamily="34" charset="-122"/>
                <a:cs typeface="Segoe UI" pitchFamily="34" charset="-120"/>
              </a:rPr>
              <a:t>illisible de tous</a:t>
            </a:r>
            <a:pPr indent="0" marL="0">
              <a:buNone/>
            </a:pPr>
            <a:r>
              <a:rPr lang="en-US" sz="1200" dirty="0">
                <a:solidFill>
                  <a:srgbClr val="465568"/>
                </a:solidFill>
                <a:latin typeface="Segoe UI" pitchFamily="34" charset="0"/>
                <a:ea typeface="Segoe UI" pitchFamily="34" charset="-122"/>
                <a:cs typeface="Segoe UI" pitchFamily="34" charset="-120"/>
              </a:rPr>
              <a:t> jusqu’à l’ouverture en séance, au quorum des membres de la commission.</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traçabilité complète</a:t>
            </a:r>
            <a:endParaRPr lang="en-US" sz="1500" dirty="0"/>
          </a:p>
        </p:txBody>
      </p:sp>
      <p:sp>
        <p:nvSpPr>
          <p:cNvPr id="24" name="Text 22"/>
          <p:cNvSpPr/>
          <p:nvPr/>
        </p:nvSpPr>
        <p:spPr>
          <a:xfrm>
            <a:off x="4525320" y="43497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geste est horodaté et attribué à son auteur ; ce que la Commission contrôle est </a:t>
            </a:r>
            <a:pPr indent="0" marL="0">
              <a:buNone/>
            </a:pPr>
            <a:r>
              <a:rPr lang="en-US" sz="1200" b="1" dirty="0">
                <a:solidFill>
                  <a:srgbClr val="1B2A3A"/>
                </a:solidFill>
                <a:latin typeface="Segoe UI" pitchFamily="34" charset="0"/>
                <a:ea typeface="Segoe UI" pitchFamily="34" charset="-122"/>
                <a:cs typeface="Segoe UI" pitchFamily="34" charset="-120"/>
              </a:rPr>
              <a:t>figé à la soumission</a:t>
            </a:r>
            <a:pPr indent="0" marL="0">
              <a:buNone/>
            </a:pPr>
            <a:r>
              <a:rPr lang="en-US" sz="1200" dirty="0">
                <a:solidFill>
                  <a:srgbClr val="465568"/>
                </a:solidFill>
                <a:latin typeface="Segoe UI" pitchFamily="34" charset="0"/>
                <a:ea typeface="Segoe UI" pitchFamily="34" charset="-122"/>
                <a:cs typeface="Segoe UI" pitchFamily="34" charset="-120"/>
              </a:rPr>
              <a:t>, avec une empreinte qui atteste qu’il n’a pas été modifié depuis.</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règles paramétrées par l’Administrateur</a:t>
            </a:r>
            <a:endParaRPr lang="en-US" sz="1500" dirty="0"/>
          </a:p>
        </p:txBody>
      </p:sp>
      <p:sp>
        <p:nvSpPr>
          <p:cNvPr id="28" name="Text 26"/>
          <p:cNvSpPr/>
          <p:nvPr/>
        </p:nvSpPr>
        <p:spPr>
          <a:xfrm>
            <a:off x="8098164" y="45212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Seuils, délais, quorum, recours suspensifs, points de contrôle : les règles évoluent </a:t>
            </a:r>
            <a:pPr indent="0" marL="0">
              <a:buNone/>
            </a:pPr>
            <a:r>
              <a:rPr lang="en-US" sz="1200" b="1" dirty="0">
                <a:solidFill>
                  <a:srgbClr val="1B2A3A"/>
                </a:solidFill>
                <a:latin typeface="Segoe UI" pitchFamily="34" charset="0"/>
                <a:ea typeface="Segoe UI" pitchFamily="34" charset="-122"/>
                <a:cs typeface="Segoe UI" pitchFamily="34" charset="-120"/>
              </a:rPr>
              <a:t>sans redéveloppement</a:t>
            </a:r>
            <a:pPr indent="0" marL="0">
              <a:buNone/>
            </a:pPr>
            <a:r>
              <a:rPr lang="en-US" sz="1200" dirty="0">
                <a:solidFill>
                  <a:srgbClr val="465568"/>
                </a:solidFill>
                <a:latin typeface="Segoe UI" pitchFamily="34" charset="0"/>
                <a:ea typeface="Segoe UI" pitchFamily="34" charset="-122"/>
                <a:cs typeface="Segoe UI" pitchFamily="34" charset="-120"/>
              </a:rPr>
              <a:t>, et chaque changement est journalisé.</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de passation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Un marché inscrit au plan traverse deux contrôles de la Commission : celui du plan, puis celui de son dossier de consultation — et, après l’évaluation des offres, celui du dossier de marché.</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02</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Planifier</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PRMP saisit et soumet son plan de passation.</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03</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Contrôler</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Commission examine ; le PV est visé et signé.</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04 · 05</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Préparer</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fiche du DAO produit le dossier d’appel d’offres.</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06 · 07</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Consulter</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offres arrivent en ligne, scellées, puis s’ouvrent en séance.</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08</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Évaluer</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commission d’appel d’offres évalue et propose l’attributaire.</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09</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Attribuer</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Le marché est contrôlé, signé, notifié et publié.</a:t>
            </a:r>
            <a:endParaRPr lang="en-US" sz="1150" dirty="0"/>
          </a:p>
        </p:txBody>
      </p:sp>
      <p:sp>
        <p:nvSpPr>
          <p:cNvPr id="34" name="Text 32"/>
          <p:cNvSpPr/>
          <p:nvPr/>
        </p:nvSpPr>
        <p:spPr>
          <a:xfrm>
            <a:off x="812780" y="3937000"/>
            <a:ext cx="10566136" cy="762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Autour de la chaîne : l’</a:t>
            </a:r>
            <a:pPr indent="0" marL="0">
              <a:buNone/>
            </a:pPr>
            <a:r>
              <a:rPr lang="en-US" sz="1300" b="1" dirty="0">
                <a:solidFill>
                  <a:srgbClr val="1B2A3A"/>
                </a:solidFill>
                <a:latin typeface="Segoe UI" pitchFamily="34" charset="0"/>
                <a:ea typeface="Segoe UI" pitchFamily="34" charset="-122"/>
                <a:cs typeface="Segoe UI" pitchFamily="34" charset="-120"/>
              </a:rPr>
              <a:t>entrée</a:t>
            </a:r>
            <a:pPr indent="0" marL="0">
              <a:buNone/>
            </a:pPr>
            <a:r>
              <a:rPr lang="en-US" sz="1300" dirty="0">
                <a:solidFill>
                  <a:srgbClr val="465568"/>
                </a:solidFill>
                <a:latin typeface="Segoe UI" pitchFamily="34" charset="0"/>
                <a:ea typeface="Segoe UI" pitchFamily="34" charset="-122"/>
                <a:cs typeface="Segoe UI" pitchFamily="34" charset="-120"/>
              </a:rPr>
              <a:t> dans l’application (01), l’</a:t>
            </a:r>
            <a:pPr indent="0" marL="0">
              <a:buNone/>
            </a:pPr>
            <a:r>
              <a:rPr lang="en-US" sz="1300" b="1" dirty="0">
                <a:solidFill>
                  <a:srgbClr val="1B2A3A"/>
                </a:solidFill>
                <a:latin typeface="Segoe UI" pitchFamily="34" charset="0"/>
                <a:ea typeface="Segoe UI" pitchFamily="34" charset="-122"/>
                <a:cs typeface="Segoe UI" pitchFamily="34" charset="-120"/>
              </a:rPr>
              <a:t>intérim</a:t>
            </a:r>
            <a:pPr indent="0" marL="0">
              <a:buNone/>
            </a:pPr>
            <a:r>
              <a:rPr lang="en-US" sz="1300" dirty="0">
                <a:solidFill>
                  <a:srgbClr val="465568"/>
                </a:solidFill>
                <a:latin typeface="Segoe UI" pitchFamily="34" charset="0"/>
                <a:ea typeface="Segoe UI" pitchFamily="34" charset="-122"/>
                <a:cs typeface="Segoe UI" pitchFamily="34" charset="-120"/>
              </a:rPr>
              <a:t> et les mandats (10), l’</a:t>
            </a:r>
            <a:pPr indent="0" marL="0">
              <a:buNone/>
            </a:pPr>
            <a:r>
              <a:rPr lang="en-US" sz="1300" b="1" dirty="0">
                <a:solidFill>
                  <a:srgbClr val="1B2A3A"/>
                </a:solidFill>
                <a:latin typeface="Segoe UI" pitchFamily="34" charset="0"/>
                <a:ea typeface="Segoe UI" pitchFamily="34" charset="-122"/>
                <a:cs typeface="Segoe UI" pitchFamily="34" charset="-120"/>
              </a:rPr>
              <a:t>administration</a:t>
            </a:r>
            <a:pPr indent="0" marL="0">
              <a:buNone/>
            </a:pPr>
            <a:r>
              <a:rPr lang="en-US" sz="1300" dirty="0">
                <a:solidFill>
                  <a:srgbClr val="465568"/>
                </a:solidFill>
                <a:latin typeface="Segoe UI" pitchFamily="34" charset="0"/>
                <a:ea typeface="Segoe UI" pitchFamily="34" charset="-122"/>
                <a:cs typeface="Segoe UI" pitchFamily="34" charset="-120"/>
              </a:rPr>
              <a:t> (11), le </a:t>
            </a:r>
            <a:pPr indent="0" marL="0">
              <a:buNone/>
            </a:pPr>
            <a:r>
              <a:rPr lang="en-US" sz="1300" b="1" dirty="0">
                <a:solidFill>
                  <a:srgbClr val="1B2A3A"/>
                </a:solidFill>
                <a:latin typeface="Segoe UI" pitchFamily="34" charset="0"/>
                <a:ea typeface="Segoe UI" pitchFamily="34" charset="-122"/>
                <a:cs typeface="Segoe UI" pitchFamily="34" charset="-120"/>
              </a:rPr>
              <a:t>pilotage</a:t>
            </a:r>
            <a:pPr indent="0" marL="0">
              <a:buNone/>
            </a:pPr>
            <a:r>
              <a:rPr lang="en-US" sz="1300" dirty="0">
                <a:solidFill>
                  <a:srgbClr val="465568"/>
                </a:solidFill>
                <a:latin typeface="Segoe UI" pitchFamily="34" charset="0"/>
                <a:ea typeface="Segoe UI" pitchFamily="34" charset="-122"/>
                <a:cs typeface="Segoe UI" pitchFamily="34" charset="-120"/>
              </a:rPr>
              <a:t> et la publication (12).</a:t>
            </a:r>
            <a:endParaRPr lang="en-US" sz="13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LES ACTEURS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Qui intervient, et dans quel espace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L’espace interne réunit la PRMP, son unité de gestion et les profils de la Commission ; les entreprises, la commission d’appel d’offres et le dépositaire de la clé de secours ont chacun un espace à part.</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 et UGPM</a:t>
            </a:r>
            <a:endParaRPr lang="en-US" sz="1500" dirty="0"/>
          </a:p>
        </p:txBody>
      </p:sp>
      <p:sp>
        <p:nvSpPr>
          <p:cNvPr id="8" name="Text 6"/>
          <p:cNvSpPr/>
          <p:nvPr/>
        </p:nvSpPr>
        <p:spPr>
          <a:xfrm>
            <a:off x="952476"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personne responsable des marchés publics prépare, soumet, attribue et signe ; son unité de gestion prépare avec elle.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Secrétaire</a:t>
            </a:r>
            <a:endParaRPr lang="en-US" sz="1500" dirty="0"/>
          </a:p>
        </p:txBody>
      </p:sp>
      <p:sp>
        <p:nvSpPr>
          <p:cNvPr id="12" name="Text 10"/>
          <p:cNvSpPr/>
          <p:nvPr/>
        </p:nvSpPr>
        <p:spPr>
          <a:xfrm>
            <a:off x="3632109"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dossiers et contrôle leur recevabilité pièce par pièce.</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et Chef de commission</a:t>
            </a:r>
            <a:endParaRPr lang="en-US" sz="1500" dirty="0"/>
          </a:p>
        </p:txBody>
      </p:sp>
      <p:sp>
        <p:nvSpPr>
          <p:cNvPr id="16" name="Text 14"/>
          <p:cNvSpPr/>
          <p:nvPr/>
        </p:nvSpPr>
        <p:spPr>
          <a:xfrm>
            <a:off x="6311742" y="2209800"/>
            <a:ext cx="2247844"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Dispatchent les dossiers, visent les PV, désignent le co-signataire ; peuvent être suppléés par intérim.</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a:t>
            </a:r>
            <a:endParaRPr lang="en-US" sz="1500" dirty="0"/>
          </a:p>
        </p:txBody>
      </p:sp>
      <p:sp>
        <p:nvSpPr>
          <p:cNvPr id="20" name="Text 18"/>
          <p:cNvSpPr/>
          <p:nvPr/>
        </p:nvSpPr>
        <p:spPr>
          <a:xfrm>
            <a:off x="8991375"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Examine le dossier, émet l’avis et signe le PV.</a:t>
            </a:r>
            <a:endParaRPr lang="en-US" sz="1200" dirty="0"/>
          </a:p>
        </p:txBody>
      </p:sp>
      <p:sp>
        <p:nvSpPr>
          <p:cNvPr id="21" name="Shape 19"/>
          <p:cNvSpPr/>
          <p:nvPr/>
        </p:nvSpPr>
        <p:spPr>
          <a:xfrm>
            <a:off x="812780" y="3962400"/>
            <a:ext cx="2527237" cy="2159000"/>
          </a:xfrm>
          <a:prstGeom prst="rect">
            <a:avLst/>
          </a:prstGeom>
          <a:solidFill>
            <a:srgbClr val="FCFCFA"/>
          </a:solidFill>
          <a:ln w="9525">
            <a:solidFill>
              <a:srgbClr val="D5DCE4"/>
            </a:solidFill>
            <a:prstDash val="solid"/>
          </a:ln>
        </p:spPr>
      </p:sp>
      <p:sp>
        <p:nvSpPr>
          <p:cNvPr id="22" name="Shape 20"/>
          <p:cNvSpPr/>
          <p:nvPr/>
        </p:nvSpPr>
        <p:spPr>
          <a:xfrm>
            <a:off x="812780" y="3962400"/>
            <a:ext cx="2527237" cy="38100"/>
          </a:xfrm>
          <a:prstGeom prst="rect">
            <a:avLst/>
          </a:prstGeom>
          <a:solidFill>
            <a:srgbClr val="1B6FA8"/>
          </a:solidFill>
          <a:ln/>
        </p:spPr>
      </p:sp>
      <p:sp>
        <p:nvSpPr>
          <p:cNvPr id="23" name="Text 21"/>
          <p:cNvSpPr/>
          <p:nvPr/>
        </p:nvSpPr>
        <p:spPr>
          <a:xfrm>
            <a:off x="952476" y="406400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Vérificateur et Assistant</a:t>
            </a:r>
            <a:endParaRPr lang="en-US" sz="1500" dirty="0"/>
          </a:p>
        </p:txBody>
      </p:sp>
      <p:sp>
        <p:nvSpPr>
          <p:cNvPr id="24" name="Text 22"/>
          <p:cNvSpPr/>
          <p:nvPr/>
        </p:nvSpPr>
        <p:spPr>
          <a:xfrm>
            <a:off x="952476" y="4521200"/>
            <a:ext cx="2247844"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Vérifient la levée des observations, transmettent la décision ; l’Assistant archive.</a:t>
            </a:r>
            <a:endParaRPr lang="en-US" sz="1200" dirty="0"/>
          </a:p>
        </p:txBody>
      </p:sp>
      <p:sp>
        <p:nvSpPr>
          <p:cNvPr id="25" name="Shape 23"/>
          <p:cNvSpPr/>
          <p:nvPr/>
        </p:nvSpPr>
        <p:spPr>
          <a:xfrm>
            <a:off x="3492413" y="3962400"/>
            <a:ext cx="2527237" cy="2159000"/>
          </a:xfrm>
          <a:prstGeom prst="rect">
            <a:avLst/>
          </a:prstGeom>
          <a:solidFill>
            <a:srgbClr val="FCFCFA"/>
          </a:solidFill>
          <a:ln w="9525">
            <a:solidFill>
              <a:srgbClr val="D5DCE4"/>
            </a:solidFill>
            <a:prstDash val="solid"/>
          </a:ln>
        </p:spPr>
      </p:sp>
      <p:sp>
        <p:nvSpPr>
          <p:cNvPr id="26" name="Shape 24"/>
          <p:cNvSpPr/>
          <p:nvPr/>
        </p:nvSpPr>
        <p:spPr>
          <a:xfrm>
            <a:off x="3492413" y="3962400"/>
            <a:ext cx="2527237" cy="38100"/>
          </a:xfrm>
          <a:prstGeom prst="rect">
            <a:avLst/>
          </a:prstGeom>
          <a:solidFill>
            <a:srgbClr val="2E8B57"/>
          </a:solidFill>
          <a:ln/>
        </p:spPr>
      </p:sp>
      <p:sp>
        <p:nvSpPr>
          <p:cNvPr id="27" name="Text 25"/>
          <p:cNvSpPr/>
          <p:nvPr/>
        </p:nvSpPr>
        <p:spPr>
          <a:xfrm>
            <a:off x="3632109" y="406400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Chargé de publication et Administrateur</a:t>
            </a:r>
            <a:endParaRPr lang="en-US" sz="1500" dirty="0"/>
          </a:p>
        </p:txBody>
      </p:sp>
      <p:sp>
        <p:nvSpPr>
          <p:cNvPr id="28" name="Text 26"/>
          <p:cNvSpPr/>
          <p:nvPr/>
        </p:nvSpPr>
        <p:spPr>
          <a:xfrm>
            <a:off x="3632109" y="4521200"/>
            <a:ext cx="2247844"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Publie les décisions ; administre les comptes, les référentiels et les paramètres.</a:t>
            </a:r>
            <a:endParaRPr lang="en-US" sz="1200" dirty="0"/>
          </a:p>
        </p:txBody>
      </p:sp>
      <p:sp>
        <p:nvSpPr>
          <p:cNvPr id="29" name="Shape 27"/>
          <p:cNvSpPr/>
          <p:nvPr/>
        </p:nvSpPr>
        <p:spPr>
          <a:xfrm>
            <a:off x="6172046" y="3962400"/>
            <a:ext cx="2527237" cy="2159000"/>
          </a:xfrm>
          <a:prstGeom prst="rect">
            <a:avLst/>
          </a:prstGeom>
          <a:solidFill>
            <a:srgbClr val="FCFCFA"/>
          </a:solidFill>
          <a:ln w="9525">
            <a:solidFill>
              <a:srgbClr val="D5DCE4"/>
            </a:solidFill>
            <a:prstDash val="solid"/>
          </a:ln>
        </p:spPr>
      </p:sp>
      <p:sp>
        <p:nvSpPr>
          <p:cNvPr id="30" name="Shape 28"/>
          <p:cNvSpPr/>
          <p:nvPr/>
        </p:nvSpPr>
        <p:spPr>
          <a:xfrm>
            <a:off x="6172046" y="3962400"/>
            <a:ext cx="2527237" cy="38100"/>
          </a:xfrm>
          <a:prstGeom prst="rect">
            <a:avLst/>
          </a:prstGeom>
          <a:solidFill>
            <a:srgbClr val="E3AE2E"/>
          </a:solidFill>
          <a:ln/>
        </p:spPr>
      </p:sp>
      <p:sp>
        <p:nvSpPr>
          <p:cNvPr id="31" name="Text 29"/>
          <p:cNvSpPr/>
          <p:nvPr/>
        </p:nvSpPr>
        <p:spPr>
          <a:xfrm>
            <a:off x="6311742" y="406400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Commission d’appel d’offres</a:t>
            </a:r>
            <a:endParaRPr lang="en-US" sz="1500" dirty="0"/>
          </a:p>
        </p:txBody>
      </p:sp>
      <p:sp>
        <p:nvSpPr>
          <p:cNvPr id="32" name="Text 30"/>
          <p:cNvSpPr/>
          <p:nvPr/>
        </p:nvSpPr>
        <p:spPr>
          <a:xfrm>
            <a:off x="6311742" y="4521200"/>
            <a:ext cx="2247844"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Ses membres ouvrent les offres en séance, les évaluent et signent leurs rapports, dans leur propre espace.</a:t>
            </a:r>
            <a:endParaRPr lang="en-US" sz="1200" dirty="0"/>
          </a:p>
        </p:txBody>
      </p:sp>
      <p:sp>
        <p:nvSpPr>
          <p:cNvPr id="33" name="Shape 31"/>
          <p:cNvSpPr/>
          <p:nvPr/>
        </p:nvSpPr>
        <p:spPr>
          <a:xfrm>
            <a:off x="8851679" y="3962400"/>
            <a:ext cx="2527237" cy="2159000"/>
          </a:xfrm>
          <a:prstGeom prst="rect">
            <a:avLst/>
          </a:prstGeom>
          <a:solidFill>
            <a:srgbClr val="FCFCFA"/>
          </a:solidFill>
          <a:ln w="9525">
            <a:solidFill>
              <a:srgbClr val="D5DCE4"/>
            </a:solidFill>
            <a:prstDash val="solid"/>
          </a:ln>
        </p:spPr>
      </p:sp>
      <p:sp>
        <p:nvSpPr>
          <p:cNvPr id="34" name="Shape 32"/>
          <p:cNvSpPr/>
          <p:nvPr/>
        </p:nvSpPr>
        <p:spPr>
          <a:xfrm>
            <a:off x="8851679" y="3962400"/>
            <a:ext cx="2527237" cy="38100"/>
          </a:xfrm>
          <a:prstGeom prst="rect">
            <a:avLst/>
          </a:prstGeom>
          <a:solidFill>
            <a:srgbClr val="12324A"/>
          </a:solidFill>
          <a:ln/>
        </p:spPr>
      </p:sp>
      <p:sp>
        <p:nvSpPr>
          <p:cNvPr id="35" name="Text 33"/>
          <p:cNvSpPr/>
          <p:nvPr/>
        </p:nvSpPr>
        <p:spPr>
          <a:xfrm>
            <a:off x="8991375" y="406400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Entreprises et dépositaire</a:t>
            </a:r>
            <a:endParaRPr lang="en-US" sz="1500" dirty="0"/>
          </a:p>
        </p:txBody>
      </p:sp>
      <p:sp>
        <p:nvSpPr>
          <p:cNvPr id="36" name="Text 34"/>
          <p:cNvSpPr/>
          <p:nvPr/>
        </p:nvSpPr>
        <p:spPr>
          <a:xfrm>
            <a:off x="8991375" y="4521200"/>
            <a:ext cx="2247844"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retirent le dossier, déposent leur offre et suivent leur résultat ; le dépositaire garde la part de secours de la clé.</a:t>
            </a:r>
            <a:endParaRPr lang="en-US" sz="1200" dirty="0"/>
          </a:p>
        </p:txBody>
      </p:sp>
      <p:sp>
        <p:nvSpPr>
          <p:cNvPr id="37" name="Text 3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SOMMAIRE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Douze parties, une seule chaîne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partie : ce qu’elle change, son parcours, ses écrans (règles appliquées, provenance en note), ce que l’application garantit. Puis les annexes.</a:t>
            </a:r>
            <a:endParaRPr lang="en-US" sz="1300" dirty="0"/>
          </a:p>
        </p:txBody>
      </p:sp>
      <p:sp>
        <p:nvSpPr>
          <p:cNvPr id="5" name="Shape 3"/>
          <p:cNvSpPr/>
          <p:nvPr/>
        </p:nvSpPr>
        <p:spPr>
          <a:xfrm>
            <a:off x="812780" y="1651000"/>
            <a:ext cx="2527237" cy="1044575"/>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01 · Entrer</a:t>
            </a:r>
            <a:endParaRPr lang="en-US" sz="1500" dirty="0"/>
          </a:p>
        </p:txBody>
      </p:sp>
      <p:sp>
        <p:nvSpPr>
          <p:cNvPr id="8" name="Text 6"/>
          <p:cNvSpPr/>
          <p:nvPr/>
        </p:nvSpPr>
        <p:spPr>
          <a:xfrm>
            <a:off x="952476" y="2038350"/>
            <a:ext cx="2247844" cy="5937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 la porte d’entrée au premier geste</a:t>
            </a:r>
            <a:endParaRPr lang="en-US" sz="1200" dirty="0"/>
          </a:p>
        </p:txBody>
      </p:sp>
      <p:sp>
        <p:nvSpPr>
          <p:cNvPr id="9" name="Shape 7"/>
          <p:cNvSpPr/>
          <p:nvPr/>
        </p:nvSpPr>
        <p:spPr>
          <a:xfrm>
            <a:off x="3492413" y="1651000"/>
            <a:ext cx="2527237" cy="1044575"/>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02 · Planifier</a:t>
            </a:r>
            <a:endParaRPr lang="en-US" sz="1500" dirty="0"/>
          </a:p>
        </p:txBody>
      </p:sp>
      <p:sp>
        <p:nvSpPr>
          <p:cNvPr id="12" name="Text 10"/>
          <p:cNvSpPr/>
          <p:nvPr/>
        </p:nvSpPr>
        <p:spPr>
          <a:xfrm>
            <a:off x="3632109" y="2038350"/>
            <a:ext cx="2247844" cy="5937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Du plan saisi au plan contrôlé</a:t>
            </a:r>
            <a:endParaRPr lang="en-US" sz="1200" dirty="0"/>
          </a:p>
        </p:txBody>
      </p:sp>
      <p:sp>
        <p:nvSpPr>
          <p:cNvPr id="13" name="Shape 11"/>
          <p:cNvSpPr/>
          <p:nvPr/>
        </p:nvSpPr>
        <p:spPr>
          <a:xfrm>
            <a:off x="6172046" y="1651000"/>
            <a:ext cx="2527237" cy="1044575"/>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03 · Contrôler</a:t>
            </a:r>
            <a:endParaRPr lang="en-US" sz="1500" dirty="0"/>
          </a:p>
        </p:txBody>
      </p:sp>
      <p:sp>
        <p:nvSpPr>
          <p:cNvPr id="16" name="Text 14"/>
          <p:cNvSpPr/>
          <p:nvPr/>
        </p:nvSpPr>
        <p:spPr>
          <a:xfrm>
            <a:off x="6311742" y="2038350"/>
            <a:ext cx="2247844" cy="5937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circuit de contrôle d’un dossier</a:t>
            </a:r>
            <a:endParaRPr lang="en-US" sz="1200" dirty="0"/>
          </a:p>
        </p:txBody>
      </p:sp>
      <p:sp>
        <p:nvSpPr>
          <p:cNvPr id="17" name="Shape 15"/>
          <p:cNvSpPr/>
          <p:nvPr/>
        </p:nvSpPr>
        <p:spPr>
          <a:xfrm>
            <a:off x="8851679" y="1651000"/>
            <a:ext cx="2527237" cy="1044575"/>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04 · Préparer le DAO</a:t>
            </a:r>
            <a:endParaRPr lang="en-US" sz="1500" dirty="0"/>
          </a:p>
        </p:txBody>
      </p:sp>
      <p:sp>
        <p:nvSpPr>
          <p:cNvPr id="20" name="Text 18"/>
          <p:cNvSpPr/>
          <p:nvPr/>
        </p:nvSpPr>
        <p:spPr>
          <a:xfrm>
            <a:off x="8991375" y="2038350"/>
            <a:ext cx="2247844" cy="5937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 la ligne du plan au DAO publié</a:t>
            </a:r>
            <a:endParaRPr lang="en-US" sz="1200" dirty="0"/>
          </a:p>
        </p:txBody>
      </p:sp>
      <p:sp>
        <p:nvSpPr>
          <p:cNvPr id="21" name="Shape 19"/>
          <p:cNvSpPr/>
          <p:nvPr/>
        </p:nvSpPr>
        <p:spPr>
          <a:xfrm>
            <a:off x="812780" y="2847975"/>
            <a:ext cx="2527237" cy="1044575"/>
          </a:xfrm>
          <a:prstGeom prst="rect">
            <a:avLst/>
          </a:prstGeom>
          <a:solidFill>
            <a:srgbClr val="FCFCFA"/>
          </a:solidFill>
          <a:ln w="9525">
            <a:solidFill>
              <a:srgbClr val="D5DCE4"/>
            </a:solidFill>
            <a:prstDash val="solid"/>
          </a:ln>
        </p:spPr>
      </p:sp>
      <p:sp>
        <p:nvSpPr>
          <p:cNvPr id="22" name="Shape 20"/>
          <p:cNvSpPr/>
          <p:nvPr/>
        </p:nvSpPr>
        <p:spPr>
          <a:xfrm>
            <a:off x="812780" y="2847975"/>
            <a:ext cx="2527237" cy="38100"/>
          </a:xfrm>
          <a:prstGeom prst="rect">
            <a:avLst/>
          </a:prstGeom>
          <a:solidFill>
            <a:srgbClr val="1B6FA8"/>
          </a:solidFill>
          <a:ln/>
        </p:spPr>
      </p:sp>
      <p:sp>
        <p:nvSpPr>
          <p:cNvPr id="23" name="Text 21"/>
          <p:cNvSpPr/>
          <p:nvPr/>
        </p:nvSpPr>
        <p:spPr>
          <a:xfrm>
            <a:off x="952476" y="2949575"/>
            <a:ext cx="2247844" cy="5905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05 · L’appel à manifestation d’intérêt</a:t>
            </a:r>
            <a:endParaRPr lang="en-US" sz="1500" dirty="0"/>
          </a:p>
        </p:txBody>
      </p:sp>
      <p:sp>
        <p:nvSpPr>
          <p:cNvPr id="24" name="Text 22"/>
          <p:cNvSpPr/>
          <p:nvPr/>
        </p:nvSpPr>
        <p:spPr>
          <a:xfrm>
            <a:off x="952476" y="3578225"/>
            <a:ext cx="2247844" cy="2508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 la ligne du plan à la liste restreinte</a:t>
            </a:r>
            <a:endParaRPr lang="en-US" sz="1200" dirty="0"/>
          </a:p>
        </p:txBody>
      </p:sp>
      <p:sp>
        <p:nvSpPr>
          <p:cNvPr id="25" name="Shape 23"/>
          <p:cNvSpPr/>
          <p:nvPr/>
        </p:nvSpPr>
        <p:spPr>
          <a:xfrm>
            <a:off x="3492413" y="2847975"/>
            <a:ext cx="2527237" cy="1044575"/>
          </a:xfrm>
          <a:prstGeom prst="rect">
            <a:avLst/>
          </a:prstGeom>
          <a:solidFill>
            <a:srgbClr val="FCFCFA"/>
          </a:solidFill>
          <a:ln w="9525">
            <a:solidFill>
              <a:srgbClr val="D5DCE4"/>
            </a:solidFill>
            <a:prstDash val="solid"/>
          </a:ln>
        </p:spPr>
      </p:sp>
      <p:sp>
        <p:nvSpPr>
          <p:cNvPr id="26" name="Shape 24"/>
          <p:cNvSpPr/>
          <p:nvPr/>
        </p:nvSpPr>
        <p:spPr>
          <a:xfrm>
            <a:off x="3492413" y="2847975"/>
            <a:ext cx="2527237" cy="38100"/>
          </a:xfrm>
          <a:prstGeom prst="rect">
            <a:avLst/>
          </a:prstGeom>
          <a:solidFill>
            <a:srgbClr val="2E8B57"/>
          </a:solidFill>
          <a:ln/>
        </p:spPr>
      </p:sp>
      <p:sp>
        <p:nvSpPr>
          <p:cNvPr id="27" name="Text 25"/>
          <p:cNvSpPr/>
          <p:nvPr/>
        </p:nvSpPr>
        <p:spPr>
          <a:xfrm>
            <a:off x="3632109" y="2949575"/>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06 · Recevoir les offres en ligne</a:t>
            </a:r>
            <a:endParaRPr lang="en-US" sz="1500" dirty="0"/>
          </a:p>
        </p:txBody>
      </p:sp>
      <p:sp>
        <p:nvSpPr>
          <p:cNvPr id="28" name="Text 26"/>
          <p:cNvSpPr/>
          <p:nvPr/>
        </p:nvSpPr>
        <p:spPr>
          <a:xfrm>
            <a:off x="3632109" y="3406775"/>
            <a:ext cx="2247844" cy="42227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 l’avis publié à l’offre scellée</a:t>
            </a:r>
            <a:endParaRPr lang="en-US" sz="1200" dirty="0"/>
          </a:p>
        </p:txBody>
      </p:sp>
      <p:sp>
        <p:nvSpPr>
          <p:cNvPr id="29" name="Shape 27"/>
          <p:cNvSpPr/>
          <p:nvPr/>
        </p:nvSpPr>
        <p:spPr>
          <a:xfrm>
            <a:off x="6172046" y="2847975"/>
            <a:ext cx="2527237" cy="1044575"/>
          </a:xfrm>
          <a:prstGeom prst="rect">
            <a:avLst/>
          </a:prstGeom>
          <a:solidFill>
            <a:srgbClr val="FCFCFA"/>
          </a:solidFill>
          <a:ln w="9525">
            <a:solidFill>
              <a:srgbClr val="D5DCE4"/>
            </a:solidFill>
            <a:prstDash val="solid"/>
          </a:ln>
        </p:spPr>
      </p:sp>
      <p:sp>
        <p:nvSpPr>
          <p:cNvPr id="30" name="Shape 28"/>
          <p:cNvSpPr/>
          <p:nvPr/>
        </p:nvSpPr>
        <p:spPr>
          <a:xfrm>
            <a:off x="6172046" y="2847975"/>
            <a:ext cx="2527237" cy="38100"/>
          </a:xfrm>
          <a:prstGeom prst="rect">
            <a:avLst/>
          </a:prstGeom>
          <a:solidFill>
            <a:srgbClr val="E3AE2E"/>
          </a:solidFill>
          <a:ln/>
        </p:spPr>
      </p:sp>
      <p:sp>
        <p:nvSpPr>
          <p:cNvPr id="31" name="Text 29"/>
          <p:cNvSpPr/>
          <p:nvPr/>
        </p:nvSpPr>
        <p:spPr>
          <a:xfrm>
            <a:off x="6311742" y="2949575"/>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07 · La séance d’ouverture</a:t>
            </a:r>
            <a:endParaRPr lang="en-US" sz="1500" dirty="0"/>
          </a:p>
        </p:txBody>
      </p:sp>
      <p:sp>
        <p:nvSpPr>
          <p:cNvPr id="32" name="Text 30"/>
          <p:cNvSpPr/>
          <p:nvPr/>
        </p:nvSpPr>
        <p:spPr>
          <a:xfrm>
            <a:off x="6311742" y="3406775"/>
            <a:ext cx="2247844" cy="42227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 la date limite au PV signé</a:t>
            </a:r>
            <a:endParaRPr lang="en-US" sz="1200" dirty="0"/>
          </a:p>
        </p:txBody>
      </p:sp>
      <p:sp>
        <p:nvSpPr>
          <p:cNvPr id="33" name="Shape 31"/>
          <p:cNvSpPr/>
          <p:nvPr/>
        </p:nvSpPr>
        <p:spPr>
          <a:xfrm>
            <a:off x="8851679" y="2847975"/>
            <a:ext cx="2527237" cy="1044575"/>
          </a:xfrm>
          <a:prstGeom prst="rect">
            <a:avLst/>
          </a:prstGeom>
          <a:solidFill>
            <a:srgbClr val="FCFCFA"/>
          </a:solidFill>
          <a:ln w="9525">
            <a:solidFill>
              <a:srgbClr val="D5DCE4"/>
            </a:solidFill>
            <a:prstDash val="solid"/>
          </a:ln>
        </p:spPr>
      </p:sp>
      <p:sp>
        <p:nvSpPr>
          <p:cNvPr id="34" name="Shape 32"/>
          <p:cNvSpPr/>
          <p:nvPr/>
        </p:nvSpPr>
        <p:spPr>
          <a:xfrm>
            <a:off x="8851679" y="2847975"/>
            <a:ext cx="2527237" cy="38100"/>
          </a:xfrm>
          <a:prstGeom prst="rect">
            <a:avLst/>
          </a:prstGeom>
          <a:solidFill>
            <a:srgbClr val="12324A"/>
          </a:solidFill>
          <a:ln/>
        </p:spPr>
      </p:sp>
      <p:sp>
        <p:nvSpPr>
          <p:cNvPr id="35" name="Text 33"/>
          <p:cNvSpPr/>
          <p:nvPr/>
        </p:nvSpPr>
        <p:spPr>
          <a:xfrm>
            <a:off x="8991375" y="2949575"/>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08 · Évaluer les offres</a:t>
            </a:r>
            <a:endParaRPr lang="en-US" sz="1500" dirty="0"/>
          </a:p>
        </p:txBody>
      </p:sp>
      <p:sp>
        <p:nvSpPr>
          <p:cNvPr id="36" name="Text 34"/>
          <p:cNvSpPr/>
          <p:nvPr/>
        </p:nvSpPr>
        <p:spPr>
          <a:xfrm>
            <a:off x="8991375" y="3406775"/>
            <a:ext cx="2247844" cy="42227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Du PV d’ouverture signé au rapport d’évaluation</a:t>
            </a:r>
            <a:endParaRPr lang="en-US" sz="1200" dirty="0"/>
          </a:p>
        </p:txBody>
      </p:sp>
      <p:sp>
        <p:nvSpPr>
          <p:cNvPr id="37" name="Shape 35"/>
          <p:cNvSpPr/>
          <p:nvPr/>
        </p:nvSpPr>
        <p:spPr>
          <a:xfrm>
            <a:off x="812780" y="4044950"/>
            <a:ext cx="2527237" cy="1044575"/>
          </a:xfrm>
          <a:prstGeom prst="rect">
            <a:avLst/>
          </a:prstGeom>
          <a:solidFill>
            <a:srgbClr val="FCFCFA"/>
          </a:solidFill>
          <a:ln w="9525">
            <a:solidFill>
              <a:srgbClr val="D5DCE4"/>
            </a:solidFill>
            <a:prstDash val="solid"/>
          </a:ln>
        </p:spPr>
      </p:sp>
      <p:sp>
        <p:nvSpPr>
          <p:cNvPr id="38" name="Shape 36"/>
          <p:cNvSpPr/>
          <p:nvPr/>
        </p:nvSpPr>
        <p:spPr>
          <a:xfrm>
            <a:off x="812780" y="4044950"/>
            <a:ext cx="2527237" cy="38100"/>
          </a:xfrm>
          <a:prstGeom prst="rect">
            <a:avLst/>
          </a:prstGeom>
          <a:solidFill>
            <a:srgbClr val="1B6FA8"/>
          </a:solidFill>
          <a:ln/>
        </p:spPr>
      </p:sp>
      <p:sp>
        <p:nvSpPr>
          <p:cNvPr id="39" name="Text 37"/>
          <p:cNvSpPr/>
          <p:nvPr/>
        </p:nvSpPr>
        <p:spPr>
          <a:xfrm>
            <a:off x="952476" y="414655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09 · Attribuer et notifier</a:t>
            </a:r>
            <a:endParaRPr lang="en-US" sz="1500" dirty="0"/>
          </a:p>
        </p:txBody>
      </p:sp>
      <p:sp>
        <p:nvSpPr>
          <p:cNvPr id="40" name="Text 38"/>
          <p:cNvSpPr/>
          <p:nvPr/>
        </p:nvSpPr>
        <p:spPr>
          <a:xfrm>
            <a:off x="952476" y="4603750"/>
            <a:ext cx="2247844" cy="42227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Du rapport signé au marché notifié</a:t>
            </a:r>
            <a:endParaRPr lang="en-US" sz="1200" dirty="0"/>
          </a:p>
        </p:txBody>
      </p:sp>
      <p:sp>
        <p:nvSpPr>
          <p:cNvPr id="41" name="Shape 39"/>
          <p:cNvSpPr/>
          <p:nvPr/>
        </p:nvSpPr>
        <p:spPr>
          <a:xfrm>
            <a:off x="3492413" y="4044950"/>
            <a:ext cx="2527237" cy="1044575"/>
          </a:xfrm>
          <a:prstGeom prst="rect">
            <a:avLst/>
          </a:prstGeom>
          <a:solidFill>
            <a:srgbClr val="FCFCFA"/>
          </a:solidFill>
          <a:ln w="9525">
            <a:solidFill>
              <a:srgbClr val="D5DCE4"/>
            </a:solidFill>
            <a:prstDash val="solid"/>
          </a:ln>
        </p:spPr>
      </p:sp>
      <p:sp>
        <p:nvSpPr>
          <p:cNvPr id="42" name="Shape 40"/>
          <p:cNvSpPr/>
          <p:nvPr/>
        </p:nvSpPr>
        <p:spPr>
          <a:xfrm>
            <a:off x="3492413" y="4044950"/>
            <a:ext cx="2527237" cy="38100"/>
          </a:xfrm>
          <a:prstGeom prst="rect">
            <a:avLst/>
          </a:prstGeom>
          <a:solidFill>
            <a:srgbClr val="2E8B57"/>
          </a:solidFill>
          <a:ln/>
        </p:spPr>
      </p:sp>
      <p:sp>
        <p:nvSpPr>
          <p:cNvPr id="43" name="Text 41"/>
          <p:cNvSpPr/>
          <p:nvPr/>
        </p:nvSpPr>
        <p:spPr>
          <a:xfrm>
            <a:off x="3632109" y="414655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10 · Intérim et mandats</a:t>
            </a:r>
            <a:endParaRPr lang="en-US" sz="1500" dirty="0"/>
          </a:p>
        </p:txBody>
      </p:sp>
      <p:sp>
        <p:nvSpPr>
          <p:cNvPr id="44" name="Text 42"/>
          <p:cNvSpPr/>
          <p:nvPr/>
        </p:nvSpPr>
        <p:spPr>
          <a:xfrm>
            <a:off x="3632109" y="4603750"/>
            <a:ext cx="2247844" cy="42227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 l’absence déclarée à la reprise</a:t>
            </a:r>
            <a:endParaRPr lang="en-US" sz="1200" dirty="0"/>
          </a:p>
        </p:txBody>
      </p:sp>
      <p:sp>
        <p:nvSpPr>
          <p:cNvPr id="45" name="Shape 43"/>
          <p:cNvSpPr/>
          <p:nvPr/>
        </p:nvSpPr>
        <p:spPr>
          <a:xfrm>
            <a:off x="6172046" y="4044950"/>
            <a:ext cx="2527237" cy="1044575"/>
          </a:xfrm>
          <a:prstGeom prst="rect">
            <a:avLst/>
          </a:prstGeom>
          <a:solidFill>
            <a:srgbClr val="FCFCFA"/>
          </a:solidFill>
          <a:ln w="9525">
            <a:solidFill>
              <a:srgbClr val="D5DCE4"/>
            </a:solidFill>
            <a:prstDash val="solid"/>
          </a:ln>
        </p:spPr>
      </p:sp>
      <p:sp>
        <p:nvSpPr>
          <p:cNvPr id="46" name="Shape 44"/>
          <p:cNvSpPr/>
          <p:nvPr/>
        </p:nvSpPr>
        <p:spPr>
          <a:xfrm>
            <a:off x="6172046" y="4044950"/>
            <a:ext cx="2527237" cy="38100"/>
          </a:xfrm>
          <a:prstGeom prst="rect">
            <a:avLst/>
          </a:prstGeom>
          <a:solidFill>
            <a:srgbClr val="E3AE2E"/>
          </a:solidFill>
          <a:ln/>
        </p:spPr>
      </p:sp>
      <p:sp>
        <p:nvSpPr>
          <p:cNvPr id="47" name="Text 45"/>
          <p:cNvSpPr/>
          <p:nvPr/>
        </p:nvSpPr>
        <p:spPr>
          <a:xfrm>
            <a:off x="6311742" y="414655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11 · Administrer</a:t>
            </a:r>
            <a:endParaRPr lang="en-US" sz="1500" dirty="0"/>
          </a:p>
        </p:txBody>
      </p:sp>
      <p:sp>
        <p:nvSpPr>
          <p:cNvPr id="48" name="Text 46"/>
          <p:cNvSpPr/>
          <p:nvPr/>
        </p:nvSpPr>
        <p:spPr>
          <a:xfrm>
            <a:off x="6311742" y="4432300"/>
            <a:ext cx="2247844" cy="5937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journée de l’Administrateur</a:t>
            </a:r>
            <a:endParaRPr lang="en-US" sz="1200" dirty="0"/>
          </a:p>
        </p:txBody>
      </p:sp>
      <p:sp>
        <p:nvSpPr>
          <p:cNvPr id="49" name="Shape 47"/>
          <p:cNvSpPr/>
          <p:nvPr/>
        </p:nvSpPr>
        <p:spPr>
          <a:xfrm>
            <a:off x="8851679" y="4044950"/>
            <a:ext cx="2527237" cy="1044575"/>
          </a:xfrm>
          <a:prstGeom prst="rect">
            <a:avLst/>
          </a:prstGeom>
          <a:solidFill>
            <a:srgbClr val="FCFCFA"/>
          </a:solidFill>
          <a:ln w="9525">
            <a:solidFill>
              <a:srgbClr val="D5DCE4"/>
            </a:solidFill>
            <a:prstDash val="solid"/>
          </a:ln>
        </p:spPr>
      </p:sp>
      <p:sp>
        <p:nvSpPr>
          <p:cNvPr id="50" name="Shape 48"/>
          <p:cNvSpPr/>
          <p:nvPr/>
        </p:nvSpPr>
        <p:spPr>
          <a:xfrm>
            <a:off x="8851679" y="4044950"/>
            <a:ext cx="2527237" cy="38100"/>
          </a:xfrm>
          <a:prstGeom prst="rect">
            <a:avLst/>
          </a:prstGeom>
          <a:solidFill>
            <a:srgbClr val="12324A"/>
          </a:solidFill>
          <a:ln/>
        </p:spPr>
      </p:sp>
      <p:sp>
        <p:nvSpPr>
          <p:cNvPr id="51" name="Text 49"/>
          <p:cNvSpPr/>
          <p:nvPr/>
        </p:nvSpPr>
        <p:spPr>
          <a:xfrm>
            <a:off x="8991375" y="414655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12 · Piloter et publier</a:t>
            </a:r>
            <a:endParaRPr lang="en-US" sz="1500" dirty="0"/>
          </a:p>
        </p:txBody>
      </p:sp>
      <p:sp>
        <p:nvSpPr>
          <p:cNvPr id="52" name="Text 50"/>
          <p:cNvSpPr/>
          <p:nvPr/>
        </p:nvSpPr>
        <p:spPr>
          <a:xfrm>
            <a:off x="8991375" y="4603750"/>
            <a:ext cx="2247844" cy="42227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Du dossier suivi à la décision publiée</a:t>
            </a:r>
            <a:endParaRPr lang="en-US" sz="1200" dirty="0"/>
          </a:p>
        </p:txBody>
      </p:sp>
      <p:sp>
        <p:nvSpPr>
          <p:cNvPr id="53" name="Shape 51"/>
          <p:cNvSpPr/>
          <p:nvPr/>
        </p:nvSpPr>
        <p:spPr>
          <a:xfrm>
            <a:off x="812780" y="5241925"/>
            <a:ext cx="2527237" cy="1044575"/>
          </a:xfrm>
          <a:prstGeom prst="rect">
            <a:avLst/>
          </a:prstGeom>
          <a:solidFill>
            <a:srgbClr val="FCFCFA"/>
          </a:solidFill>
          <a:ln w="9525">
            <a:solidFill>
              <a:srgbClr val="D5DCE4"/>
            </a:solidFill>
            <a:prstDash val="solid"/>
          </a:ln>
        </p:spPr>
      </p:sp>
      <p:sp>
        <p:nvSpPr>
          <p:cNvPr id="54" name="Shape 52"/>
          <p:cNvSpPr/>
          <p:nvPr/>
        </p:nvSpPr>
        <p:spPr>
          <a:xfrm>
            <a:off x="812780" y="5241925"/>
            <a:ext cx="2527237" cy="38100"/>
          </a:xfrm>
          <a:prstGeom prst="rect">
            <a:avLst/>
          </a:prstGeom>
          <a:solidFill>
            <a:srgbClr val="E3AE2E"/>
          </a:solidFill>
          <a:ln/>
        </p:spPr>
      </p:sp>
      <p:sp>
        <p:nvSpPr>
          <p:cNvPr id="55" name="Text 53"/>
          <p:cNvSpPr/>
          <p:nvPr/>
        </p:nvSpPr>
        <p:spPr>
          <a:xfrm>
            <a:off x="952476" y="5343525"/>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Annexes</a:t>
            </a:r>
            <a:endParaRPr lang="en-US" sz="1500" dirty="0"/>
          </a:p>
        </p:txBody>
      </p:sp>
      <p:sp>
        <p:nvSpPr>
          <p:cNvPr id="56" name="Text 54"/>
          <p:cNvSpPr/>
          <p:nvPr/>
        </p:nvSpPr>
        <p:spPr>
          <a:xfrm>
            <a:off x="952476" y="5629275"/>
            <a:ext cx="2247844" cy="593725"/>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 — Règles de gestion. B — Référence des données. C — Dossier de recette.</a:t>
            </a:r>
            <a:endParaRPr lang="en-US" sz="1200" dirty="0"/>
          </a:p>
        </p:txBody>
      </p:sp>
      <p:sp>
        <p:nvSpPr>
          <p:cNvPr id="57" name="Text 5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01</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Entrer</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Chacun entre par la porte de son public, se connecte, et trouve à l’accueil ce que le circuit attend de lui, par ordre d’urgence.</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Une seule adresse pour trois publics — les autorités contractantes, la Commission, les entreprises — avec, pour chacun, ce qu’il peut y faire.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Personne ne cherche son travail : à la connexion, l’écran « À faire » présente les dossiers qui attendent un geste, avec le délai qui court.</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Les comptes des autorités contractantes ne s’ouvrent qu’après vérification de l’arrêté de nomination par l’Administrateur ; chaque connexion est tracée.</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 la porte d’entrée au premier geste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Un visiteur arrive sur le portail public ; un utilisateur connecté arrive directement sur son travail du jour.</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TOUT VISITEUR</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Choisir son entrée</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portail public présente l’application à la PRMP, à la Commission ou à l’entreprise.</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Demander un compte</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PRMP s’inscrit avec son arrêté de nomination ; elle crée ensuite le compte de son UGPM.</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ADMINISTRATEUR</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Valider le compte</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L’Administrateur vérifie l’arrêté et rattache les entités contractantes.</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TOUS LES PROFILS</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Se connecter</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Identifiant et mot de passe ; la session est protégée et chaque tentative journalisée.</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PROFILS DU CIRCUIT</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Lire l’accueil « À faire »</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dossiers qui attendent un geste, triés par urgence, avec le délai restant.</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TOUS LES PROFILS</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Agir depuis l’accueil ou une notification</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Un clic mène au dossier et au geste attendu.</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Une entrée publique par public</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Avant toute connexion, le portail explique à chacun ce que l’application lui permet. La racine du site y mène ; un utilisateur déjà connecté est renvoyé directement à son travail.</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 · PRMP ET UGPM</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PRMP et UGPM</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portail public : PRMP et UGPM">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Toute autorité contractante,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gestes et rien d’autre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plan de passation,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suivre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contrôle,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consulter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les PV définitifs.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chiffres clés : sept étapes suivies, une version par mise à jour, aucun papier pour les PV et les lettres de renvoi.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Se connecter » ou « Créer un compte PRMP » ; les mots soulignés mènent à l’écran qu’ils nomment.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RG-ENT-05 · RG-ENT-08 · RG-ENT-09 · RG-ENT-10 · RG-ENT-14 · RG-ENT-26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la Commission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portail public : la Commis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 avant connexion.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Votre travail du jour, sans rien chercher » : l’accueil « À faire » et la page guidée de chaque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circuit en trois temps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recevoir et dispatcher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examiner et viser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vérifier et clore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Dix profils, une page par dossier pour tous, et deux personnes distinctes pour signer chaque PV.</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RG-ENT-12 · RG-ENT-13 · RG-ENT-26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les entreprises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portail public : les entrepris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entreprises candidates.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procédures ouvertes se consultent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sans compte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un compte confirmé permet de retirer le dossier d’appel d’offres.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compte par entreprise (un NIF, un STAT, un RCS), confirmé par un code reçu par courriel.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chiffrée sur le poste du candidat, ne s’ouvre qu’en séance, à l’heure prévue (voir la partie 06).</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Des comptes vérifiés, une session protégée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compte d’une PRMP ne s’ouvre qu’après contrôle de son acte de nomination ; la connexion et le mot de passe obéissent à des règles uniformes.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connexion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connex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Identifiant (ou adresse électronique) et mot de passe. La session est portée par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témoin sécurisé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rien n’est conservé dans le navigateur qui permettrait de la dérober.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tentatives répétées sont freinées, et chacune est inscrite au journal des connexions.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Liens vers l’inscription d’une PRMP, l’inscription d’un candidat et le portail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RG-ENT-01 · RG-ENT-02 · RG-ENT-03 · RG-ENT-04 · RG-ENT-27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L’inscription d’une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inscription d’une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elle-même.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Identité, référence et date de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arrêté de nomination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CIN ; l’arrêté (10 Mo au plus) et la CIN sont joints en PDF, JPEG ou PNG.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entités contractantes sont choisies dans la liste, ou proposées si elles n’y figurent pas.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naît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attente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l’Administrateur le valide dans « Demandes d’accès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RG-ENT-02 · RG-ENT-03 · RG-ENT-05 · RG-ENT-06 · RG-ENT-07 · RG-ENT-08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COMPTES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le compte de son UGPM</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réer le compte de son UGPM">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depuis son espace.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L’UGPM est créée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 sa PRMP de tutelle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identité, CIN jointe, photo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compte reste en attente jusqu’à la validation de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L’UGPM prépare les dossiers ; la PRMP seule les engage.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RG-ENT-09 · RG-ENT-10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COMPTES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Changer son mot de passe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hanger son mot de pass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utilisateur connecté, depuis la barre du haut.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mot de passe est exigé ; le nouveau compte au moins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8 caractères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une lettre et un chiffre, et se saisit deux fois.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fenêtre se ferme par « Annuler », par sa croix ou par Échap.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Mot de passe oublié : l’Administrateur le réinitialise.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RG-ENT-03 · RG-ENT-27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L’accueil « À faire » : le travail du jour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Chaque profil du circuit arrive sur la même page : les gestes qui l’attendent, classés par urgence, et à droite le dossier choisi avec sa frise et son geste principal.</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actualité à l’ouverture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Une actualité à l’ouvertu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profils ciblés par 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publie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actualités ciblées par profil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rappel de règles, consignes de dépôt, fermeture technique.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ce que la Commission attend d’un dossier de planification.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fenêtre se ferme par sa croix ou par Échap.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RG-ENT-21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de la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ccueil « À faire » de la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tête, ses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brouillons à 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en dessous, ses dossiers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cours à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leur étape et leur fin prévue.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choisi montre sa frise et son geste : ici, « Soumettre le dossier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d’interne à la Commission n’apparaît : ni acteurs, ni consignes.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RG-ENT-10 · RG-ENT-11 · RG-ENT-14 · RG-ENT-16 · RG-ENT-17 · RG-ENT-19 · RG-ENT-20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Secrétaire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ccueil « À faire » du Secréta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dépôts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à réceptionner et numéroter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leur délai standard de huit heures.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un dépôt en retard de dix-huit heures : la barre rouge et l’échéance le disent.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geste « Numéroter le dépôt » s’ouvre depuis le panneau du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RG-ENT-13 · RG-ENT-16 · RG-ENT-17 · RG-ENT-19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Président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ccueil « À faire » du Présiden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(le Chef de commission voit la même page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l’attend en propre aujourd’hui ; tous les dossiers de son périmètre restent consultables.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tâches qu’il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pourrait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prendre à un autre titre (délégation, intérim, suppléance) sont repliées à part, hors compteurs.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menu porte le pilotage (répartition, chaînes de contrôle, intérim) et ce qu’il exerce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RG-ENT-12 · RG-ENT-16 · RG-ENT-17 · RG-ENT-18 · RG-ENT-19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Membre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ccueil « À faire » du Memb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à examiner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le délai standard de quarante heures et le temps déjà écoulé.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panneau rappelle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consigne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dispatch et ouvre l’examen d’un clic.</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classements : par urgence, par étape, par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RG-ENT-13 · RG-ENT-15 · RG-ENT-16 · RG-ENT-17 · RG-ENT-19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Vérificateur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ccueil « À faire » du Vérificateu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Contrôleur 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à vérifier, avec leur avis et leur retard : dix sur treize sont ici en retard.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un avis favorable, le geste est 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transmettre la décision à SIGMP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sur réserves, de suivre leur levée.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du dossier nomme qui a franchi chaque étape et à quelle date.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RG-ENT-13 · RG-ENT-15 · RG-ENT-16 · RG-ENT-17 · RG-ENT-18 · RG-ENT-19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Être averti au bon moment</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Chaque transmission avise le responsable de l’étape suivante ; la notification mène à l’écran où l’action attendue s’accomplit.</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L’écran des notifications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écran des notificati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 chacun pour ses seules notifications.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 ce que le circuit a signalé,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 date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une notification non lue reste en gras.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Filtres : toutes ou non lues, et par type d’événement ; « Tout marquer lu » en un geste.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pour la PRMP : rapport d’évaluation signé, dépôts clos, pièce de l’attributaire déposée.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cloche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cloch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 dans la barre du haut.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dernières notifications et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compteur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sans quitter l’écran en cours.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compteur est tenu par le serveur et suivi en temps réel.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comptes vérifiés</a:t>
            </a:r>
            <a:endParaRPr lang="en-US" sz="1500" dirty="0"/>
          </a:p>
        </p:txBody>
      </p:sp>
      <p:sp>
        <p:nvSpPr>
          <p:cNvPr id="7" name="Text 5"/>
          <p:cNvSpPr/>
          <p:nvPr/>
        </p:nvSpPr>
        <p:spPr>
          <a:xfrm>
            <a:off x="952476"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compte de PRMP ne s’ouvre sans contrôle humain de son arrêté de nomination ; une entité contractante n’a qu’une seule PRMP active.</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session protégée</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session vit dans un témoin que les scripts de la page ne lisent pas ; aucun jeton n’est remis au navigateur, la déconnexion est faite par le serveur.</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tentatives freinées et tracées</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Cinq échecs en quinze minutes verrouillent l’identifiant depuis un même poste ; chaque tentative, réussie ou non, est inscrite au journal des connexions.</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accueil qui ne promet rien d’impossible</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 geste n’est proposé à l’accueil que si le serveur l’accepterait au moment de l’exécuter.</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urgence mesurée, jamais inventée</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Retard, échéance proche ou délai tenu sont calculés sur le délai standard de l’étape ; sans point de départ connu, le dossier reste « sans délai ».</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Chacun ne voit que son périmètre</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PRMP ne voit que ses dossiers et rien d’interne à la Commission ; les contrôleurs sont bornés à leur localité, le Président voit tout.</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02</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Planifier</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La PRMP saisit ou importe son plan de passation, le vérifie avant de le soumettre, puis en suit le contrôle étape par étape jusqu’à la clôture.</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 plan de passation arrive à la Commission sous forme de données, ligne par ligne, et non plus comme un document à ressaisir.</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Avant même la soumission, la PRMP voit les points que le contrôleur regardera, avec l’article de l’arrêté qui les fonde.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Un plan validé ne se modifie jamais en place : toute mise à jour est une nouvelle version, et l’écart entre versions est conservé.</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saisi au plan contrôlé</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 dossier de planification naît en brouillon chez la PRMP ; il n’est visible de la Commission qu’à sa soumission.</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Saisir ou importer le plan</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En-tête, lignes de marché, bénéficiaires, calendrier prévisionnel, lots — ou import du PPM officiel en PDF.</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Relire l’aperçu</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fiche de présentation, le plan et le projet d’AGPM, tels que la Commission les lira.</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Vérifier le plan</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pré-contrôle signale les écarts aux seuils ; chacun se corrige ou s’écarte avec un motif.</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SEULE</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Soumettre</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dossier reçoit sa référence et sa date de fin de traitement prévue.</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Suivre le contrôle</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frise des sept étapes, les jalons du calendrier, la demande de retrait si nécessaire.</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PRMP</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Plan contrôlé, puis mis à jour</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Le circuit clos, le plan vit : chaque mise à jour en fait une nouvelle version.</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Saisir le plan, ou l’importer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PRMP choisit le type de dossier, puis saisit son plan de passation ou l’importe depuis le PDF officiel. Rien ne part tant qu’elle ne l’a pas soumis.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dossier : choisir son type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réer un dossier : choisir son typ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Dossier de planification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plan de passation), dossier de mise en concurrence, ou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Saisir » crée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invisible des contrôleurs jusqu’à la soumission.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d’offres, lui, se prépare dans sa fiche (partie 04).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RG-PLA-01 · RG-PLA-02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L’en-tête du plan, et l’import PDF</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n-tête du plan, et l’import PDF">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Importer un PPM (PDF)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pré-remplit tout depuis le plan officiel — à vérifier ligne par ligne avant création.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Sinon la saisie : l’entité contractante (parmi celles de la PRMP), l’exercice, la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et le signataire se déduisent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RG-PLA-02 · RG-PLA-10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ligne de marché</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Une ligne de marché">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Nature, objet, montant estimatif hors taxes,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forme, financement,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Par ligne : les bénéficiaires, les lots et le calendrier prévisionnel ; l’écran signale les dates manquantes.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 des travaux de réhabilitation, en appel d’offres ouvert.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RG-PLA-03 · RG-PLA-04 · RG-PLA-05 · RG-PLA-06 · RG-PLA-26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prévisionnel (CAPM)</a:t>
            </a:r>
            <a:endParaRPr lang="en-US" sz="2600" dirty="0"/>
          </a:p>
        </p:txBody>
      </p:sp>
      <p:sp>
        <p:nvSpPr>
          <p:cNvPr id="4" name="Shape 2"/>
          <p:cNvSpPr/>
          <p:nvPr/>
        </p:nvSpPr>
        <p:spPr>
          <a:xfrm>
            <a:off x="800080" y="1193800"/>
            <a:ext cx="5443931" cy="5105400"/>
          </a:xfrm>
          <a:prstGeom prst="rect">
            <a:avLst/>
          </a:prstGeom>
          <a:solidFill>
            <a:srgbClr val="FCFCFA"/>
          </a:solidFill>
          <a:ln w="9525">
            <a:solidFill>
              <a:srgbClr val="D5DCE4"/>
            </a:solidFill>
            <a:prstDash val="solid"/>
          </a:ln>
        </p:spPr>
      </p:sp>
      <p:pic>
        <p:nvPicPr>
          <p:cNvPr id="5" name="Image 0" descr="Le calendrier prévisionnel (CAPM)">    </p:cNvPr>
          <p:cNvPicPr>
            <a:picLocks noChangeAspect="1"/>
          </p:cNvPicPr>
          <p:nvPr/>
        </p:nvPicPr>
        <p:blipFill>
          <a:blip r:embed="rId1"/>
          <a:stretch>
            <a:fillRect/>
          </a:stretch>
        </p:blipFill>
        <p:spPr>
          <a:xfrm>
            <a:off x="812780" y="1206500"/>
            <a:ext cx="5418531" cy="5080000"/>
          </a:xfrm>
          <a:prstGeom prst="rect">
            <a:avLst/>
          </a:prstGeom>
        </p:spPr>
      </p:pic>
      <p:sp>
        <p:nvSpPr>
          <p:cNvPr id="6" name="Shape 3"/>
          <p:cNvSpPr/>
          <p:nvPr/>
        </p:nvSpPr>
        <p:spPr>
          <a:xfrm>
            <a:off x="6409106" y="1206500"/>
            <a:ext cx="4969809" cy="5080000"/>
          </a:xfrm>
          <a:prstGeom prst="rect">
            <a:avLst/>
          </a:prstGeom>
          <a:solidFill>
            <a:srgbClr val="FCFCFA"/>
          </a:solidFill>
          <a:ln w="9525">
            <a:solidFill>
              <a:srgbClr val="D5DCE4"/>
            </a:solidFill>
            <a:prstDash val="solid"/>
          </a:ln>
        </p:spPr>
      </p:sp>
      <p:sp>
        <p:nvSpPr>
          <p:cNvPr id="7" name="Shape 4"/>
          <p:cNvSpPr/>
          <p:nvPr/>
        </p:nvSpPr>
        <p:spPr>
          <a:xfrm>
            <a:off x="6409106" y="1206500"/>
            <a:ext cx="38099" cy="5080000"/>
          </a:xfrm>
          <a:prstGeom prst="rect">
            <a:avLst/>
          </a:prstGeom>
          <a:solidFill>
            <a:srgbClr val="1B6FA8"/>
          </a:solidFill>
          <a:ln/>
        </p:spPr>
      </p:sp>
      <p:sp>
        <p:nvSpPr>
          <p:cNvPr id="8" name="Text 5"/>
          <p:cNvSpPr/>
          <p:nvPr/>
        </p:nvSpPr>
        <p:spPr>
          <a:xfrm>
            <a:off x="6574202" y="1308100"/>
            <a:ext cx="4677716"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processus du mode de passation, groupés par phase, chacun avec sa date de début et, au besoin, de fin.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moins un processus daté ; la date de fin est proposée à la veille du processus suivant.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chronologie est contrôlée ; un délai aménagé appelle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justification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RG-PLA-07 · RG-PLA-08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jointes et le projet d’AGPM</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s pièces jointes et le projet d’AGPM">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dépendent du type de dossier, fixées dans les référentiels de l’Administrateur ; ici, aucune n’est exigée.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Formats acceptés : PDF, JPEG, PNG ; chaque fichier est contrôlé.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marché en appel d’offres ouvert fait naître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d’AGPM</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dérivé du plan et visible dans l’aperçu.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RG-PLA-04 · RG-PLA-09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L’aperçu avant création</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perçu avant création">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plan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 projet d’AGPM, tels que la Commission les lira.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tant que le dossier n’est pas créé, puis soumis.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RG-PLA-02 · RG-PLA-06 · RG-PLA-10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Vérifier avant de soumettre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brouillon se reprend autant qu’il le faut. Avant de soumettre, la PRMP lance le pré-contrôle : il signale, il ne décide jamais.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brouillons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es brouill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 l’UGPM complète les brouillons sans les 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commencés et pas encore soumis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ouvrir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vérifier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supprimer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brouillon n’a pas encore de référence : elle lui est attribuée à la soumission.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à la Commission avant la soumission.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RG-PLA-02 · RG-PLA-16 · RG-PLA-17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Vérifier son plan avant de le soumettre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Vérifier son plan avant de le soumett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points que le contrôleur de la CNM regardera, avec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fondement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ici, la catégorie de seuil à préciser (arrêté n° 13 156/2019-MEF, art. 2).</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point se corrige — une correction est proposée — ou s’écarte avec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 visible du contrôleur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Demander une piste à l’assistant » ouvre des pistes, présentées à part des constats. Rien ici n’empêche de 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RG-PLA-11 · RG-PLA-12 · RG-PLA-13 · RG-PLA-14 · RG-PLA-15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Suivre le contrôle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Dès la soumission, le dossier porte sa fin de traitement prévue. La PRMP voit l’avancement, jamais les coulisses.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suivi des dossier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avec son type, son entité,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date de dépôt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son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dépôt pas encore numéroté par le Secrétaire n’a pas encore de référence ni de fin prévue.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du dossier : la frise des sept étapes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page du dossier : la frise des sept étap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 et, sur la même page, chaque profil avec son geste.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Réception, dispatch, examen, projet de PV, PV signé, vérification, clôture : chaque étape franchie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datée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un plan de 233 lignes en vérification, fin prévue le 14/10 ; le plan lui-même se lit en dessous.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Résumer ce dossier » : une synthèse rédigée à la demande, qui ne remplace ni les pièces ni l’examen.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RG-PLA-18 · RG-PLA-19 · RG-PLA-27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plan clôturé, ses lignes suivies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Un plan clôturé, ses lignes suivi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circuit est terminé : les sept étapes sont franchies et datées.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ligne porte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statut de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Lancé » dès que la mise en concurrence est ouverte.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RG-PLA-18 · RG-PLA-26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plans et leurs marchés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es plans et leurs marché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plan, son exercice, son nombre de marchés et, parmi eux, ceux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appel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Détails » ouvre le plan sans quitter l’écran.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RG-PLA-04 · RG-PLA-20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 plan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étail d’un pla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plan actif en quatre onglets : fiche de présentation, plan de passation, projet d’AGPM, pièces jointes.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ligne : montants, mode, financement, bénéficiaire, dates prévisionnelles et statut.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RG-PLA-05 · RG-PLA-26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Faire évoluer le plan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Un plan contrôlé se met à jour par une nouvelle version ; un dossier soumis peut être retiré tant que son PV n’est pas signé ; les jalons du plan sont surveillés.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Mettre à jour un PPM</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ettre à jour un PPM">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dernière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chaque plan dont la décision est transmise ou le dossier clôturé.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Mettre à jour » ouvre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nouvelle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un plan validé ne se modifie jamais en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RG-PLA-20 · RG-PLA-21 · RG-PLA-22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le retrait d’un dossier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Demander le retrait d’un dossie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 le Président ou le Chef de commission statue.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lettre datée et signée (PDF de 10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dossiers dont le PV n’est pas signé sont proposés.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Mes demandes » suit leur statut et, le cas échéant, le motif du refus.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RG-PLA-23 · RG-PLA-24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des jalons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calendrier des jal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ligne des plans : la date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date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réelle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chaque processus du calendrier prévisionnel.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alerte quand un jalon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imminent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retard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ici, des lancements prévus en avril et jamais réalisés.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dates prévues se corrigent dans le dossier, pas ici.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RG-PLA-25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mode de passation reste à la PRMP</a:t>
            </a:r>
            <a:endParaRPr lang="en-US" sz="1500" dirty="0"/>
          </a:p>
        </p:txBody>
      </p:sp>
      <p:sp>
        <p:nvSpPr>
          <p:cNvPr id="7" name="Text 5"/>
          <p:cNvSpPr/>
          <p:nvPr/>
        </p:nvSpPr>
        <p:spPr>
          <a:xfrm>
            <a:off x="952476"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L’application ne détermine ni ne corrige jamais un mode de passation : elle le conserve tel que saisi et le confronte aux seuils de l’arrêté.</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pré-contrôle qui signale sans bloquer</a:t>
            </a:r>
            <a:endParaRPr lang="en-US" sz="1500" dirty="0"/>
          </a:p>
        </p:txBody>
      </p:sp>
      <p:sp>
        <p:nvSpPr>
          <p:cNvPr id="11" name="Text 9"/>
          <p:cNvSpPr/>
          <p:nvPr/>
        </p:nvSpPr>
        <p:spPr>
          <a:xfrm>
            <a:off x="4525320"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signalement n’empêche une soumission, et une panne du pré-contrôle non plus ; un écart non pertinent s’écarte, avec un motif.</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écartements figés et visibles</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motif d’un écartement est vu par le contrôleur ; il est figé à la soumission et ne s’efface jamais.</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seule personne engage l’entité</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Seule la PRMP soumet, retire ou complète ; l’UGPM prépare, et chaque acte porte son auteur.</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plan validé ne s’écrase jamais</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Toute mise à jour est une nouvelle version, avec un motif ; l’écart entre versions est figé, et l’examen porte sur les lignes changées.</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fin de traitement annoncée dès le dépôt</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date prévisionnelle de fin est calculée en jours ouvrés et chaque étape franchie est datée sur la frise.</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03</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Contrôler</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Le dossier soumis par la PRMP est reçu, attribué, examiné et conclu par un PV signé de la Commission, puis vérifié, transmis au SIGMP et archivé — et le contrôle porte désormais sur les données elles-mêmes.</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Chaque dossier suit un circuit unique en sept étapes, visible de tous ses acteurs sur une même frise, du dépôt à la clôture.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Chaque geste a son auteur, sa date et sa durée : les délais de la Commission se mesurent sans saisie, en heures ouvrées.</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Pour une procédure conduite dans l’application, la Commission ne juge plus des pièces recopiées : elle lit les écrans figés à la soumission, avec leur empreinte, et les contrôles automatiques nomment ce qui ne va pas.</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circuit de contrôle d’un dossier</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Du dépôt par la PRMP à la clôture, sept étapes : réception, dispatch, examen, projet de PV, PV signé, vérification, clôture. Chacune a son responsable et son délai.</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SECRÉTAIRE</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Recevoir</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Secrétaire contrôle les pièces une à une, puis numérote le dossier.</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PRÉSIDENT OU LE CHEF DE COMMISSION</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Dispatcher</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dossier est attribué à un Membre, avec une consigne facultative.</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MEMBRE ATTRIBUTAIRE</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Examiner</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Membre statue chaque pièce et chaque point de contrôle, lit les contrôles automatiques, puis rend son avis.</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PRÉSIDENT OU LE CHEF DE COMMISSION, ET LE CO-SIGNATAIRE DÉSIGNÉ</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Viser et signer</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projet de PV circule, est visé, puis signé par deux personnes distinctes au moins.</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VÉRIFICATEUR</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Vérifier et transmettre</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réserves sont levées une à une ; le sens de la décision part au SIGMP.</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L’ASSISTANT</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Archiver</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L’archivage du PV clôt le dossier.</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Recevoir le dossier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dossier soumis par la PRMP arrive chez le Secrétaire de sa localité. Rien n’est reçu tant que les pièces obligatoires ne sont pas déclarées conformes.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 vus du Secrétaire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Tous les dossiers, vus du Secréta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de son périmètre,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sept étapes et la date de chaque étape franchie.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vue en frise ou en tableau ; le statut du dossier à côté de sa référence.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RG-CTL-04 · RG-CTL-05 · RG-CTL-42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arrive chez le Secrétaire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épôt arrive chez le Secréta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Étape 1 sur 7 · à vous » : le dépôt, sa date et son heure, le nombre de pièces jointes.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l’étape est affiché ;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retard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s’affiche en rouge (ici, 18 h).</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un avenant n° 1, rattaché à son marché : la page renvoie au dossier du marché et donne le montant.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RG-CTL-01 · RG-CTL-05 · RG-CTL-42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Recevabilité et récept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 de complétude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pièce par pièce : ouvrir, déclarer conforme ou non conforme, motiver.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sont celles du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type de dossier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ici les quatre pièces obligatoires d’un avenant.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Tant qu’une pièce obligatoire n’est pas déclarée conforme, l’enregistrement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bloqué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les pièces en cause sont nommées.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RG-CTL-01 · RG-CTL-02 · RG-CTL-03 · RG-CTL-04 · RG-CTL-47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Attribuer le dossier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Président, ou le Chef de commission pour sa localité, confie le dossier à un Membre. La charge de chacun et les chaînes de contrôle guident ce choix.</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Tous les dossier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types de dossiers confondus,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son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actions se font depuis la ligne, selon les délégations : ici « Vérifier » sur les dossiers en vérification.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RG-CTL-10 · RG-CTL-42 · RG-CTL-45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Dispatcher à un Membre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Dispatcher à un Memb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ou le Chef de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assigné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le nombre de dossiers qu’il a en cours pour équilibrer la charge.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est associé d’office : il reçoit copie du dispatch et suit le circuit.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date de dispatch et des instructions facultatives pour le 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RG-CTL-06 · RG-CTL-07 · RG-CTL-08 · RG-CTL-09 · RG-CTL-11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répartition du dispatch</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répartition du dispatch">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dispatchés, par contrôleur et par type : chaque dossier compte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seule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sort de la statistique dès que son PV définitif est signé.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RG-CTL-07 · RG-CTL-11 · RG-CTL-12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le Président,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rattaché à un Vérificateur, chaque Vérificateur à un Assistant.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vérification et l’archivage ; il n’interdit rien. Une chaîne incomplète n’est pas bloquante : tout porteur du rôle dans la localité reste compétent (« repli localité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RG-CTL-13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vu du Président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ossier, vu du Présiden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nomme qui a agi : « Réceptionné par le Secrétaire », « Attribué à un Membre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en cours dit chez qui se trouve le dossier et son délai : ici l’examen,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3 h de retard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DAO validée et les pièces du dossier, consultables par la Commission ; le journal et les délais en haut de page.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RG-CTL-42 · RG-CTL-44 · RG-CTL-45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Examiner et conclure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Seul le Membre attributaire examine. Son examen produit le projet de PV, qui circule jusqu’au visa et aux signatures.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de la localité, vus du Membre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dossiers de la localité, vus du Memb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de sa localité avec leur frise ; le bouton « Examiner » sur celui qui lui est attribué.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séquentiel</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xamen séquentiel">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examen par étapes, dans l’ordre : ici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pièces jointes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puis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contrôles du dossier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puis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synthèse et l’avis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est lue à l’écran puis déclarée « RAS » ou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on ne passe pas à la suivante sans l’avoir statuée.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tête : la consigne du dispatch, le temps restant, et le compte des contrôles non conformes.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Réinitialiser » efface l’examen tant qu’aucun projet de PV n’existe.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RG-CTL-14 · RG-CTL-15 · RG-CTL-17 · RG-CTL-18 · RG-CTL-48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motifs-types de la conclusion</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s motifs-types de la conclusion">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tient le référentiel ; le Membre, le Président et le Chef de commission s’en servent.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formulations du manuel : motifs 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(lettre de renvoi) et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défavorable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(projet de PV), par type de dossier et, au besoin, par catégorie.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contrôleur insère le texte puis le complète : le motif n’engage rien par lui-même. Un motif se désactive plutôt que de se supprimer.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RG-CTL-49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projet de PV</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 projet de PV">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terminé produit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l’avis du Membre et ses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le soumet au Président ou au Chef de commission qui l’a dispatché.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RG-CTL-19 · RG-CTL-20 · RG-CTL-21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visa du Président</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 visa du Président">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ou le Chef de commission qui a dispatché.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visa clôt la navette en un geste : il arrête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global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désigne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co-signataire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pose sa propre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L’avis est pré-rempli avec celui du Membre ; le changer ici le remplace.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place, il peut retourner le projet au Membre, avec un commentaire, ou établir une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RG-CTL-21 · RG-CTL-22 · RG-CTL-23 · RG-CTL-24 · RG-CTL-25 · RG-CTL-26 · RG-CTL-28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 CO-SIGNATAIRE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signature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 seconde signatu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désigné co-signataire.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visé attend les parts de signature des désignés ; le PV est signé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deux personnes distinctes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au moins.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dernière signature rend le PV définitif.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RG-CTL-26 · RG-CTL-27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de dossiers : trois productions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xamen de dossiers : trois producti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(de même le Chef de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cartes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projets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navette,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définitifs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signés,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lettres de 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leur suivi.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de chaque production s’ouvre sous sa carte.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RG-CTL-21 · RG-CTL-25 · RG-CTL-36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PV et lettres de renvoi, vus du Membre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PV et lettres de renvoi, vus du Memb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regroupement : ses projets de PV à gérer et soumettre, les PV définitifs (ici quinze), les projets de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Vérifier, transmettre, archiver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Aucun avis ne clôt le dossier à la signature : le PV part au Vérificateur, qui transmet la décision au SIGMP, puis à l’Assistant, qui archive.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vérifier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dossiers à vérifie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dont le PV est signé, « à vérifier par vous » quand la chaîne de contrôle le désigne.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chacun : le PV définitif et le geste « Transmettre la décision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RG-CTL-29 · RG-CTL-30 · RG-CTL-31 · RG-CTL-32 · RG-CTL-33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Transmettre la décision à SIGMP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Transmettre la décision à SIG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du dossier, son contexte, l’avis du PV et les observations du PV à portée de main.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sens à transmettre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se déduit de l’avis : ici « Favorable » donne « Approuvé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transmission, le PV part de lui-même chez l’Assistant pour archivage.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RG-CTL-29 · RG-CTL-34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vérifiés et clôturés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dossiers vérifiés et clôturé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de ses vérifications : « Décision transmise à SIGMP », puis « Clôturé » après l’archivage, avec la fin de traitement à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RG-CTL-34 · RG-CTL-35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PV reçus pour archivage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V reçus pour archivag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L’Assistant (ici le Président, qui exerce cette tâche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transmis à l’archivage, avec leur avis et leur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PV dit qui doit l’archiver (« à archiver par l’Assistant ») ou quand il l’a été.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RG-CTL-10 · RG-CTL-35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L’archivage du PV</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rchivage du PV">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Dernière étape avant la clôture » : la décision est transmise au SIGMP.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Archiver le PV » clôt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voit la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e que voit la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frise que la Commission : chaque étape franchie est datée ; ici une déclaration sans suite en vérification.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lui est annoncée dès le dépôt.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de son dossier : ici celles qu’exige une déclaration sans suite (motifs, projet de décision, justificatifs…).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RG-CTL-29 · RG-CTL-43 · RG-CTL-44 · RG-CTL-47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définitifs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Ses PV définitif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de ses dossiers, avec leurs co-signataires, à afficher ; la base d’une rectification selon les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côté, ses lettres de renvoi : les pièces complémentaires à transmettre.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RG-CTL-29 · RG-CTL-30 · RG-CTL-36 · RG-CTL-37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Statuer sur les demandes de retrait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Statuer sur les demandes de retrai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ou le Chef de commission de la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demandes de retrait des PRMP, à valider, et leur historique.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Accepter renvoie le dossier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refuser le laisse dans le circuit ; chaque décision est motivée.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RG-CTL-39 · RG-CTL-40 · RG-CTL-41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contrôle porte sur les données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manuel de contrôle révisé (lot 1, livré le 13/10) s’applique aux procédures conduites dans l’application : les pièces que l’application produit ne sont plus demandées, la Commission lit les écrans figés à la soumission, l’application joue les contrôles automatiques et le Membre pose les siens.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figés à la soumission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écrans figés à la soumis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profils de la Commission, en lecture seule ; 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chaque soumission, l’application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les écrans de la procédure tels qu’ils étaient : ici la ligne du plan, les avis et lettres, la commission d’appel d’offres.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écran figé porte le numéro de la soumission, sa date, son auteur et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atteste qu’il n’a pas changé.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Commission les lit à la place des pièces qui ne sont plus jointes, et peut les exporter en PDF pour l’archivage avec le PV.</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RG-CTL-52 · RG-CTL-51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contrôles du dossier, vus de la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contrôles du dossier, vus de la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tous ceux qui lisent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L’onglet « Contrôles » : chaque contrôle avec sa référence au manuel, son résultat, le constat, son auteur et sa date.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compteurs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conformes / non conformes / sans objet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l’historique complet sous un volet ; l’export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même page,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d’avis spécifique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(PDF ou Word, filigrane « PROJET ») produit depuis la fiche validée : il ne lance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RG-CTL-53 · RG-CTL-54 · RG-CTL-56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Lever ou ajouter un contrôle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ver ou ajouter un contrô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contrôles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automatiques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sont joués par l’application à la soumission ; le Membre pose les siens pendant l’examen.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dernier résultat posé fait foi : une non-conformité se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lève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posant « Conforme » ou « Sans objet », avec une observation.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non-conformité non levée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interdit l’avis « Favorable »</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sans réserve.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RG-CTL-53 · RG-CTL-54 · RG-CTL-19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 chaque point porte sa famille de dossier et, au besoin,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sous-type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catégorie ou une forme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portée range le point : par ligne de marché, une fois pour le dossier, la fiche de présentation ou le projet d’AGPM.</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points des dossiers d’appel d’offres renvoient aux informations de la fiche DAO qu’ils vérifient.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RG-CTL-48 · RG-CTL-46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taux d’écartement des règl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des plans : signalements ouverts, écartés, levés,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taux d’écartement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règle écartée presque à chaque fois s’éteint, sans rien perdre : les signalements écartés gardent leur motif.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 règles » (faits établis) sont distinguées des « pistes » de l’assistant (suggestions).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RG-CTL-57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standards du circuit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délais standards du circui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de la Commission,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heures ouvrées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(8 h = 1 jour ouvré) : il alimente la date de fin annoncée à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Plus bas, les neuf délais de la loi n° 2016-055, en lecture : ils ne se règlent pas (voir la partie 09).</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RG-CTL-42 · RG-CTL-44 · RG-CTL-50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RÉVISÉ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par sous-type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s délais par sous-typ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un sous-type, un délai propre à une étape (ici 24 h pour la réception d’une déclaration sans suite), ou « Revenir au standard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L’alerte d’examen, au-delà de cinq jours ouvrés, ne dépend pas de ces réglages.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RG-CTL-50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Rien n’est reçu incomplet</a:t>
            </a:r>
            <a:endParaRPr lang="en-US" sz="1500" dirty="0"/>
          </a:p>
        </p:txBody>
      </p:sp>
      <p:sp>
        <p:nvSpPr>
          <p:cNvPr id="7" name="Text 5"/>
          <p:cNvSpPr/>
          <p:nvPr/>
        </p:nvSpPr>
        <p:spPr>
          <a:xfrm>
            <a:off x="952476"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réception est bloquée tant qu’une pièce obligatoire n’est pas déclarée conforme, et les pièces en cause sont nommées.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seul examinateur, un PV à deux signatures</a:t>
            </a:r>
            <a:endParaRPr lang="en-US" sz="1500" dirty="0"/>
          </a:p>
        </p:txBody>
      </p:sp>
      <p:sp>
        <p:nvSpPr>
          <p:cNvPr id="11" name="Text 9"/>
          <p:cNvSpPr/>
          <p:nvPr/>
        </p:nvSpPr>
        <p:spPr>
          <a:xfrm>
            <a:off x="4525320"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 le Membre attributaire examine ; le PV n’est définitif que signé par deux personnes distinctes au moins, dont le viseur.</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Commission statue sur ce qu’elle a reçu</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écrans de la procédure sont figés à chaque soumission, immuables, avec leur empreinte : ce qui change ensuite ne touche pas ce que la Commission a examiné.</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contrôles automatiques et opposables</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L’application joue les contrôles du manuel à la soumission ; une non-conformité bloquante refuse le dossier en disant pourquoi, une non-conformité non levée interdit l’avis favorable sans réserve.</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délais mesurés, pas déclarés</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étape est chronométrée en heures ouvrées et imputée à son auteur ; la PRMP connaît dès le dépôt la date de fin prévue.</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traçabilité complète</a:t>
            </a:r>
            <a:endParaRPr lang="en-US" sz="1500" dirty="0"/>
          </a:p>
        </p:txBody>
      </p:sp>
      <p:sp>
        <p:nvSpPr>
          <p:cNvPr id="27" name="Text 25"/>
          <p:cNvSpPr/>
          <p:nvPr/>
        </p:nvSpPr>
        <p:spPr>
          <a:xfrm>
            <a:off x="8098164"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geste, chaque décision de pièce, chaque contrôle porte son auteur et sa date ; le journal du dossier les garde, retrait compris.</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04</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Préparer le DAO</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La PRMP prépare le dossier d’appel d’offres dans un formulaire, à partir de la ligne du plan : l’application en tire le DAO complet, sur les documents types de l’ARMP, et prépare la procédure en ligne.</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Une information se saisit une seule fois et se reporte dans tous les documents qui l’utilisent : ce qui vient du plan de passation n’est jamais ressaisi, ni contredit.</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La fiche est contrôlée avant d’être validée, puis figée et versionnée : la Commission examine exactement ce que les candidats retireront, et rien ne se régénère après coup.</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 manuel révisé est appliqué : le mode de remise ne change plus après la première validation, sauf migration motivée par l’Administrateur ; les questions des candidats et leurs réponses sont diffusées à tous ; le dépôt scellé vaut signature de l’offre.</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 la ligne du plan au DAO publié</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La PRMP, aidée de son UGPM, prépare et valide la fiche ; l’Administrateur désigne le responsable de la procédure en ligne ; la Commission examine le DAO ; les candidats le retirent et posent leurs questions.</a:t>
            </a:r>
            <a:endParaRPr lang="en-US" sz="1300" dirty="0"/>
          </a:p>
        </p:txBody>
      </p:sp>
      <p:sp>
        <p:nvSpPr>
          <p:cNvPr id="5" name="Shape 3"/>
          <p:cNvSpPr/>
          <p:nvPr/>
        </p:nvSpPr>
        <p:spPr>
          <a:xfrm>
            <a:off x="812780" y="1778000"/>
            <a:ext cx="1389708" cy="1905000"/>
          </a:xfrm>
          <a:prstGeom prst="roundRect">
            <a:avLst>
              <a:gd name="adj" fmla="val 3948"/>
            </a:avLst>
          </a:prstGeom>
          <a:solidFill>
            <a:srgbClr val="FCFCFA"/>
          </a:solidFill>
          <a:ln w="19050">
            <a:solidFill>
              <a:srgbClr val="12324A"/>
            </a:solidFill>
            <a:prstDash val="solid"/>
          </a:ln>
        </p:spPr>
      </p:sp>
      <p:sp>
        <p:nvSpPr>
          <p:cNvPr id="6" name="Text 4"/>
          <p:cNvSpPr/>
          <p:nvPr/>
        </p:nvSpPr>
        <p:spPr>
          <a:xfrm>
            <a:off x="901677"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7" name="Text 5"/>
          <p:cNvSpPr/>
          <p:nvPr/>
        </p:nvSpPr>
        <p:spPr>
          <a:xfrm>
            <a:off x="901677"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Choisir la ligne</a:t>
            </a:r>
            <a:endParaRPr lang="en-US" sz="1400" dirty="0"/>
          </a:p>
        </p:txBody>
      </p:sp>
      <p:sp>
        <p:nvSpPr>
          <p:cNvPr id="8" name="Text 6"/>
          <p:cNvSpPr/>
          <p:nvPr/>
        </p:nvSpPr>
        <p:spPr>
          <a:xfrm>
            <a:off x="901677"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Une ligne d’un plan au PV signé favorable, dont le mode de passation appelle un DAO : 23 informations en sont reprises.</a:t>
            </a:r>
            <a:endParaRPr lang="en-US" sz="1150" dirty="0"/>
          </a:p>
        </p:txBody>
      </p:sp>
      <p:sp>
        <p:nvSpPr>
          <p:cNvPr id="9" name="Text 7"/>
          <p:cNvSpPr/>
          <p:nvPr/>
        </p:nvSpPr>
        <p:spPr>
          <a:xfrm>
            <a:off x="2189788"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342184" y="1778000"/>
            <a:ext cx="1389708" cy="1905000"/>
          </a:xfrm>
          <a:prstGeom prst="roundRect">
            <a:avLst>
              <a:gd name="adj" fmla="val 3948"/>
            </a:avLst>
          </a:prstGeom>
          <a:solidFill>
            <a:srgbClr val="FCFCFA"/>
          </a:solidFill>
          <a:ln w="19050">
            <a:solidFill>
              <a:srgbClr val="12324A"/>
            </a:solidFill>
            <a:prstDash val="solid"/>
          </a:ln>
        </p:spPr>
      </p:sp>
      <p:sp>
        <p:nvSpPr>
          <p:cNvPr id="11" name="Text 9"/>
          <p:cNvSpPr/>
          <p:nvPr/>
        </p:nvSpPr>
        <p:spPr>
          <a:xfrm>
            <a:off x="2431082"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12" name="Text 10"/>
          <p:cNvSpPr/>
          <p:nvPr/>
        </p:nvSpPr>
        <p:spPr>
          <a:xfrm>
            <a:off x="2431082"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Cadrer</a:t>
            </a:r>
            <a:endParaRPr lang="en-US" sz="1400" dirty="0"/>
          </a:p>
        </p:txBody>
      </p:sp>
      <p:sp>
        <p:nvSpPr>
          <p:cNvPr id="13" name="Text 11"/>
          <p:cNvSpPr/>
          <p:nvPr/>
        </p:nvSpPr>
        <p:spPr>
          <a:xfrm>
            <a:off x="2431082"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Dix questions (lots, prix, garantie, avance, mode de remise…) ouvrent ou ferment les rubriques du dossier.</a:t>
            </a:r>
            <a:endParaRPr lang="en-US" sz="1150" dirty="0"/>
          </a:p>
        </p:txBody>
      </p:sp>
      <p:sp>
        <p:nvSpPr>
          <p:cNvPr id="14" name="Text 12"/>
          <p:cNvSpPr/>
          <p:nvPr/>
        </p:nvSpPr>
        <p:spPr>
          <a:xfrm>
            <a:off x="3719193"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3871589" y="1778000"/>
            <a:ext cx="1389708" cy="1905000"/>
          </a:xfrm>
          <a:prstGeom prst="roundRect">
            <a:avLst>
              <a:gd name="adj" fmla="val 3948"/>
            </a:avLst>
          </a:prstGeom>
          <a:solidFill>
            <a:srgbClr val="FCFCFA"/>
          </a:solidFill>
          <a:ln w="19050">
            <a:solidFill>
              <a:srgbClr val="12324A"/>
            </a:solidFill>
            <a:prstDash val="solid"/>
          </a:ln>
        </p:spPr>
      </p:sp>
      <p:sp>
        <p:nvSpPr>
          <p:cNvPr id="16" name="Text 14"/>
          <p:cNvSpPr/>
          <p:nvPr/>
        </p:nvSpPr>
        <p:spPr>
          <a:xfrm>
            <a:off x="3960487"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17" name="Text 15"/>
          <p:cNvSpPr/>
          <p:nvPr/>
        </p:nvSpPr>
        <p:spPr>
          <a:xfrm>
            <a:off x="3960487"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Saisir une fois</a:t>
            </a:r>
            <a:endParaRPr lang="en-US" sz="1400" dirty="0"/>
          </a:p>
        </p:txBody>
      </p:sp>
      <p:sp>
        <p:nvSpPr>
          <p:cNvPr id="18" name="Text 16"/>
          <p:cNvSpPr/>
          <p:nvPr/>
        </p:nvSpPr>
        <p:spPr>
          <a:xfrm>
            <a:off x="3960487"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Bloc par bloc, lot par lot ; le besoin, les pièces de l’offre, les spécifications techniques.</a:t>
            </a:r>
            <a:endParaRPr lang="en-US" sz="1150" dirty="0"/>
          </a:p>
        </p:txBody>
      </p:sp>
      <p:sp>
        <p:nvSpPr>
          <p:cNvPr id="19" name="Text 17"/>
          <p:cNvSpPr/>
          <p:nvPr/>
        </p:nvSpPr>
        <p:spPr>
          <a:xfrm>
            <a:off x="5248597"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5400994" y="1778000"/>
            <a:ext cx="1389708" cy="1905000"/>
          </a:xfrm>
          <a:prstGeom prst="roundRect">
            <a:avLst>
              <a:gd name="adj" fmla="val 3948"/>
            </a:avLst>
          </a:prstGeom>
          <a:solidFill>
            <a:srgbClr val="FCFCFA"/>
          </a:solidFill>
          <a:ln w="19050">
            <a:solidFill>
              <a:srgbClr val="12324A"/>
            </a:solidFill>
            <a:prstDash val="solid"/>
          </a:ln>
        </p:spPr>
      </p:sp>
      <p:sp>
        <p:nvSpPr>
          <p:cNvPr id="21" name="Text 19"/>
          <p:cNvSpPr/>
          <p:nvPr/>
        </p:nvSpPr>
        <p:spPr>
          <a:xfrm>
            <a:off x="5489891"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a:t>
            </a:r>
            <a:endParaRPr lang="en-US" sz="1000" dirty="0"/>
          </a:p>
        </p:txBody>
      </p:sp>
      <p:sp>
        <p:nvSpPr>
          <p:cNvPr id="22" name="Text 20"/>
          <p:cNvSpPr/>
          <p:nvPr/>
        </p:nvSpPr>
        <p:spPr>
          <a:xfrm>
            <a:off x="5489891"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Contrôler, valider</a:t>
            </a:r>
            <a:endParaRPr lang="en-US" sz="1400" dirty="0"/>
          </a:p>
        </p:txBody>
      </p:sp>
      <p:sp>
        <p:nvSpPr>
          <p:cNvPr id="23" name="Text 21"/>
          <p:cNvSpPr/>
          <p:nvPr/>
        </p:nvSpPr>
        <p:spPr>
          <a:xfrm>
            <a:off x="5489891"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contrôles bloquants levés, la PRMP valide : la version est figée et les documents produits.</a:t>
            </a:r>
            <a:endParaRPr lang="en-US" sz="1150" dirty="0"/>
          </a:p>
        </p:txBody>
      </p:sp>
      <p:sp>
        <p:nvSpPr>
          <p:cNvPr id="24" name="Text 22"/>
          <p:cNvSpPr/>
          <p:nvPr/>
        </p:nvSpPr>
        <p:spPr>
          <a:xfrm>
            <a:off x="6778002"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6930398" y="1778000"/>
            <a:ext cx="1389708" cy="1905000"/>
          </a:xfrm>
          <a:prstGeom prst="roundRect">
            <a:avLst>
              <a:gd name="adj" fmla="val 3948"/>
            </a:avLst>
          </a:prstGeom>
          <a:solidFill>
            <a:srgbClr val="FCFCFA"/>
          </a:solidFill>
          <a:ln w="19050">
            <a:solidFill>
              <a:srgbClr val="12324A"/>
            </a:solidFill>
            <a:prstDash val="solid"/>
          </a:ln>
        </p:spPr>
      </p:sp>
      <p:sp>
        <p:nvSpPr>
          <p:cNvPr id="26" name="Text 24"/>
          <p:cNvSpPr/>
          <p:nvPr/>
        </p:nvSpPr>
        <p:spPr>
          <a:xfrm>
            <a:off x="7019296"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ADMINISTRATEUR, RESPONSABLE DE LA PROCÉDURE</a:t>
            </a:r>
            <a:endParaRPr lang="en-US" sz="1000" dirty="0"/>
          </a:p>
        </p:txBody>
      </p:sp>
      <p:sp>
        <p:nvSpPr>
          <p:cNvPr id="27" name="Text 25"/>
          <p:cNvSpPr/>
          <p:nvPr/>
        </p:nvSpPr>
        <p:spPr>
          <a:xfrm>
            <a:off x="7019296"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Préparer la procédure en ligne</a:t>
            </a:r>
            <a:endParaRPr lang="en-US" sz="1400" dirty="0"/>
          </a:p>
        </p:txBody>
      </p:sp>
      <p:sp>
        <p:nvSpPr>
          <p:cNvPr id="28" name="Text 26"/>
          <p:cNvSpPr/>
          <p:nvPr/>
        </p:nvSpPr>
        <p:spPr>
          <a:xfrm>
            <a:off x="7019296"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commission d’appel d’offres, le responsable, les paramètres internes et la cérémonie des clés.</a:t>
            </a:r>
            <a:endParaRPr lang="en-US" sz="1150" dirty="0"/>
          </a:p>
        </p:txBody>
      </p:sp>
      <p:sp>
        <p:nvSpPr>
          <p:cNvPr id="29" name="Text 27"/>
          <p:cNvSpPr/>
          <p:nvPr/>
        </p:nvSpPr>
        <p:spPr>
          <a:xfrm>
            <a:off x="8307407"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8459803" y="1778000"/>
            <a:ext cx="1389708" cy="1905000"/>
          </a:xfrm>
          <a:prstGeom prst="roundRect">
            <a:avLst>
              <a:gd name="adj" fmla="val 3948"/>
            </a:avLst>
          </a:prstGeom>
          <a:solidFill>
            <a:srgbClr val="FCFCFA"/>
          </a:solidFill>
          <a:ln w="19050">
            <a:solidFill>
              <a:srgbClr val="12324A"/>
            </a:solidFill>
            <a:prstDash val="solid"/>
          </a:ln>
        </p:spPr>
      </p:sp>
      <p:sp>
        <p:nvSpPr>
          <p:cNvPr id="31" name="Text 29"/>
          <p:cNvSpPr/>
          <p:nvPr/>
        </p:nvSpPr>
        <p:spPr>
          <a:xfrm>
            <a:off x="8548701"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MEMBRE DE LA COMMISSION</a:t>
            </a:r>
            <a:endParaRPr lang="en-US" sz="1000" dirty="0"/>
          </a:p>
        </p:txBody>
      </p:sp>
      <p:sp>
        <p:nvSpPr>
          <p:cNvPr id="32" name="Text 30"/>
          <p:cNvSpPr/>
          <p:nvPr/>
        </p:nvSpPr>
        <p:spPr>
          <a:xfrm>
            <a:off x="8548701"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Faire examiner</a:t>
            </a:r>
            <a:endParaRPr lang="en-US" sz="1400" dirty="0"/>
          </a:p>
        </p:txBody>
      </p:sp>
      <p:sp>
        <p:nvSpPr>
          <p:cNvPr id="33" name="Text 31"/>
          <p:cNvSpPr/>
          <p:nvPr/>
        </p:nvSpPr>
        <p:spPr>
          <a:xfrm>
            <a:off x="8548701"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dossier créé depuis la fiche part à la Commission, qui lit la fiche et le DAO complet.</a:t>
            </a:r>
            <a:endParaRPr lang="en-US" sz="1150" dirty="0"/>
          </a:p>
        </p:txBody>
      </p:sp>
      <p:sp>
        <p:nvSpPr>
          <p:cNvPr id="34" name="Text 32"/>
          <p:cNvSpPr/>
          <p:nvPr/>
        </p:nvSpPr>
        <p:spPr>
          <a:xfrm>
            <a:off x="9836811"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5" name="Shape 33"/>
          <p:cNvSpPr/>
          <p:nvPr/>
        </p:nvSpPr>
        <p:spPr>
          <a:xfrm>
            <a:off x="9989207" y="1778000"/>
            <a:ext cx="1389708" cy="1905000"/>
          </a:xfrm>
          <a:prstGeom prst="roundRect">
            <a:avLst>
              <a:gd name="adj" fmla="val 3948"/>
            </a:avLst>
          </a:prstGeom>
          <a:solidFill>
            <a:srgbClr val="12324A"/>
          </a:solidFill>
          <a:ln w="19050">
            <a:solidFill>
              <a:srgbClr val="12324A"/>
            </a:solidFill>
            <a:prstDash val="solid"/>
          </a:ln>
        </p:spPr>
      </p:sp>
      <p:sp>
        <p:nvSpPr>
          <p:cNvPr id="36" name="Text 34"/>
          <p:cNvSpPr/>
          <p:nvPr/>
        </p:nvSpPr>
        <p:spPr>
          <a:xfrm>
            <a:off x="10078105" y="1866900"/>
            <a:ext cx="12119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PRMP, CANDIDATS</a:t>
            </a:r>
            <a:endParaRPr lang="en-US" sz="1000" dirty="0"/>
          </a:p>
        </p:txBody>
      </p:sp>
      <p:sp>
        <p:nvSpPr>
          <p:cNvPr id="37" name="Text 35"/>
          <p:cNvSpPr/>
          <p:nvPr/>
        </p:nvSpPr>
        <p:spPr>
          <a:xfrm>
            <a:off x="10078105" y="2095500"/>
            <a:ext cx="12119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Publier et répondre</a:t>
            </a:r>
            <a:endParaRPr lang="en-US" sz="1400" dirty="0"/>
          </a:p>
        </p:txBody>
      </p:sp>
      <p:sp>
        <p:nvSpPr>
          <p:cNvPr id="38" name="Text 36"/>
          <p:cNvSpPr/>
          <p:nvPr/>
        </p:nvSpPr>
        <p:spPr>
          <a:xfrm>
            <a:off x="10078105" y="2603500"/>
            <a:ext cx="12119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Après le PV favorable, l’avis s’imprime ; les candidats paient, retirent le DAO et posent leurs questions.</a:t>
            </a:r>
            <a:endParaRPr lang="en-US" sz="1150" dirty="0"/>
          </a:p>
        </p:txBody>
      </p:sp>
      <p:sp>
        <p:nvSpPr>
          <p:cNvPr id="39" name="Text 3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Une fiche par ligne du plan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DAO ne commence pas par un fichier : il commence par une ligne du plan de passation déjà contrôlé. Tout ce que le plan dit est repris, verrouillé, et ne se corrige que dans le plan.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appels d’offres de la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appels d’offres de la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lignes des plans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signé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le mode de passation appelle un DAO : référence du plan, nature, forme, objet, mode, montant.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Préparer l’appel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ouvre une fiche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Reprendre la fiche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poursuit. Sous la fiche, le nombre d’offres déposées.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lignes en appel à manifestation d’intérêt (prestations intellectuelles) y figurent aussi.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RG-DAO-02 · RG-DAO-03 · RG-DAO-04 · RG-DAO-05 · RG-DAO-07 · RG-DAO-08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Cadrer, saisir, contrôler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fiche avance en sept étapes visibles à gauche de l’écran ; les contrôles se tiennent à droite, en continu, et disent ce qui reste à lever.</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 cadrage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Étape 2 : le cadrag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Des questions qui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ouvrent ou ferment des rubriques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allotissement, tranches, variantes, groupement, type et révision des prix, garantie, avance, pénalités.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question dit dans quel document elle joue (DPAO, acte d’engagement,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remise des 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papier ou électronique, jamais mixte.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RG-DAO-12 · RG-DAO-46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mode de remise, figé</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mode de remise, figé">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sur une fiche déjà validée en remise papier.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question porte la mention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 depuis la première validation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une procédure commencée sur papier s’achève sur papier, et inversement.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explique la seule exception :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migration motivée par l’Administrateur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tant qu’aucune offre n’est déposée en ligne, que la cérémonie des clés n’est pas close et qu’aucun lot n’est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Plus bas, les 23 informations reprises du plan, verrouillées.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RG-DAO-46 · RG-DAO-47 · RG-DAO-48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la saisie par bloc</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Étape 3 : la saisie par bloc">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Onze blocs en travaux ; chaque information porte les documents où elle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(acte d’engagement,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qui vient du plan ou du cadrage est marqué « repris », et ne se ressaisit pas ; une information conditionnelle dit sa condition (« alloti = OUI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fiche validée se lit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lecture seule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compteur dit combien d’informations sont saisies (124 sur 170).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RG-DAO-13 · RG-DAO-15 · RG-DAO-18 · RG-DAO-19 · RG-DAO-26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Fournitures à commande : la même fiche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Fournitures à commande : la même fich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fiche pour les trois catégories ; ses blocs et ses questions suivent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catégorie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forme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lues sur la ligne du plan (ici fournitures, à commande : dix blocs).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informations propres à la forme apparaissent d’elles-mêmes, comme la durée de validité du marché à commandes.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RG-DAO-07 · RG-DAO-08 · RG-DAO-11 · RG-DAO-15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besoin, lot par lot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besoin, lot par lo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travaux,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détail quantitatif et estimatif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chaque lot, par séries : n° de prix, désignation, libellé au bordereau, unité, quantité, plafond.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C’est lui que le candidat remplira de ses prix ; il produit le bordereau des prix de chaque lot.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RG-DAO-18 · RG-DAO-21 · RG-DAO-22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l’offre, listées une à une</a:t>
            </a:r>
            <a:endParaRPr lang="en-US" sz="2600" dirty="0"/>
          </a:p>
        </p:txBody>
      </p:sp>
      <p:sp>
        <p:nvSpPr>
          <p:cNvPr id="4" name="Shape 2"/>
          <p:cNvSpPr/>
          <p:nvPr/>
        </p:nvSpPr>
        <p:spPr>
          <a:xfrm>
            <a:off x="1393256" y="1193800"/>
            <a:ext cx="9405183" cy="3327400"/>
          </a:xfrm>
          <a:prstGeom prst="rect">
            <a:avLst/>
          </a:prstGeom>
          <a:solidFill>
            <a:srgbClr val="FCFCFA"/>
          </a:solidFill>
          <a:ln w="9525">
            <a:solidFill>
              <a:srgbClr val="D5DCE4"/>
            </a:solidFill>
            <a:prstDash val="solid"/>
          </a:ln>
        </p:spPr>
      </p:sp>
      <p:pic>
        <p:nvPicPr>
          <p:cNvPr id="5" name="Image 0" descr="Les pièces de l’offre, listées une à une">    </p:cNvPr>
          <p:cNvPicPr>
            <a:picLocks noChangeAspect="1"/>
          </p:cNvPicPr>
          <p:nvPr/>
        </p:nvPicPr>
        <p:blipFill>
          <a:blip r:embed="rId1"/>
          <a:stretch>
            <a:fillRect/>
          </a:stretch>
        </p:blipFill>
        <p:spPr>
          <a:xfrm>
            <a:off x="1405956" y="1206500"/>
            <a:ext cx="93797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 sur une fiche en préparation.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chaque pièce exigée est une ligne : le candidat joindra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 fichier par pièce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se reprend du document type, se colle, s’ajoute pièce par pièce, ou se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 à partir du texte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RG-DAO-15 · RG-DAO-35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texte découpé, à relire</a:t>
            </a:r>
            <a:endParaRPr lang="en-US" sz="2600" dirty="0"/>
          </a:p>
        </p:txBody>
      </p:sp>
      <p:sp>
        <p:nvSpPr>
          <p:cNvPr id="4" name="Shape 2"/>
          <p:cNvSpPr/>
          <p:nvPr/>
        </p:nvSpPr>
        <p:spPr>
          <a:xfrm>
            <a:off x="800080" y="1193800"/>
            <a:ext cx="6894410" cy="5105400"/>
          </a:xfrm>
          <a:prstGeom prst="rect">
            <a:avLst/>
          </a:prstGeom>
          <a:solidFill>
            <a:srgbClr val="FCFCFA"/>
          </a:solidFill>
          <a:ln w="9525">
            <a:solidFill>
              <a:srgbClr val="D5DCE4"/>
            </a:solidFill>
            <a:prstDash val="solid"/>
          </a:ln>
        </p:spPr>
      </p:sp>
      <p:pic>
        <p:nvPicPr>
          <p:cNvPr id="5" name="Image 0" descr="Le texte découpé, à relire">    </p:cNvPr>
          <p:cNvPicPr>
            <a:picLocks noChangeAspect="1"/>
          </p:cNvPicPr>
          <p:nvPr/>
        </p:nvPicPr>
        <p:blipFill>
          <a:blip r:embed="rId1"/>
          <a:stretch>
            <a:fillRect/>
          </a:stretch>
        </p:blipFill>
        <p:spPr>
          <a:xfrm>
            <a:off x="812780" y="1206500"/>
            <a:ext cx="6869011" cy="5080000"/>
          </a:xfrm>
          <a:prstGeom prst="rect">
            <a:avLst/>
          </a:prstGeom>
        </p:spPr>
      </p:pic>
      <p:sp>
        <p:nvSpPr>
          <p:cNvPr id="6" name="Shape 3"/>
          <p:cNvSpPr/>
          <p:nvPr/>
        </p:nvSpPr>
        <p:spPr>
          <a:xfrm>
            <a:off x="7859586" y="1206500"/>
            <a:ext cx="3519330" cy="5080000"/>
          </a:xfrm>
          <a:prstGeom prst="rect">
            <a:avLst/>
          </a:prstGeom>
          <a:solidFill>
            <a:srgbClr val="FCFCFA"/>
          </a:solidFill>
          <a:ln w="9525">
            <a:solidFill>
              <a:srgbClr val="D5DCE4"/>
            </a:solidFill>
            <a:prstDash val="solid"/>
          </a:ln>
        </p:spPr>
      </p:sp>
      <p:sp>
        <p:nvSpPr>
          <p:cNvPr id="7" name="Shape 4"/>
          <p:cNvSpPr/>
          <p:nvPr/>
        </p:nvSpPr>
        <p:spPr>
          <a:xfrm>
            <a:off x="7859586" y="1206500"/>
            <a:ext cx="38099" cy="5080000"/>
          </a:xfrm>
          <a:prstGeom prst="rect">
            <a:avLst/>
          </a:prstGeom>
          <a:solidFill>
            <a:srgbClr val="1B6FA8"/>
          </a:solidFill>
          <a:ln/>
        </p:spPr>
      </p:sp>
      <p:sp>
        <p:nvSpPr>
          <p:cNvPr id="8" name="Text 5"/>
          <p:cNvSpPr/>
          <p:nvPr/>
        </p:nvSpPr>
        <p:spPr>
          <a:xfrm>
            <a:off x="8024682" y="1308100"/>
            <a:ext cx="3227237"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texte est découpé en une pièce par ligne ; la PRMP relit, corrige, complète, puis enregistre. Rien n’est retenu sans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spécifications techniques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spécifications techniqu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dernier bloc, les pièces de l’offre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spécifications techniques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devis descriptif, les prescriptions et les plans, en un document Word de 20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est inséré tel quel dans le DAO complet, entre le CCAP et le CCAG. Sans fichier, la partie n’existe pas, et l’écran le dit.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RG-DAO-34 · RG-DAO-35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reprises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Étape 4 : les repris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 en lecture.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 champ repris est rempli depuis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document maître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ressaisi : autorité contractante, montant, source de financement, objet, délai de validité des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ligne dit d’où vient l’information et dans quels documents elle est reportée.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RG-DAO-01 · RG-DAO-26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les contrôles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Étape 5 : les contrôl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bilan, recalculé à chaque lecture : informations manquantes, ordre des dates,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 de publicité de la loi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(30 jours pour l’appel d’offres ouvert national, art. 35-II).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la liste des pièces de l’offre et la marge du quorum de déchiffrement ; les spécifications techniques absentes.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rouge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ce qui bloque la validation ; en orange, un avertissement. Chaque contrôle mène au bloc à corriger.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RG-DAO-14 · RG-DAO-17 · RG-DAO-34 · RG-DAO-52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6 : la validation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Étape 6 : la validat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seule.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tête, les repères de la procédure (paramètres internes, commission, cérémonie, offres) et ses écrans : séance, évaluation, dépôts, commission, retraits, reçus, questions.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validée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figée et versionnée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chaque version garde sa date, son auteur et ses documents.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fiche validée ne se supprime pas : « Ouvrir une nouvelle version » la révise.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RG-DAO-06 · RG-DAO-16 · RG-DAO-24 · RG-DAO-25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DAO complet</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À la validation, l’application assemble un seul document, comme un DAO réel : page de garde, sommaire général, deux parties, dans la numérotation de l’ARMP. Il est servi en PDF et en Word.</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7 : le DAO complet et les bordereaux</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Étape 7 : le DAO complet et les bordereaux">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tête,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l’ouvrir, l’enregistrer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lot par lot, le bordereau des prix et détail quantitatif et estimatif, en Excel.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à 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est créé depuis la fiche ; il reste à y joindre l’estimation du coût et la garantie de soumission.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RG-DAO-27 · RG-DAO-30 · RG-DAO-32 · RG-DAO-33 · RG-DAO-36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En fournitures : le tableau de conformité</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En fournitures : le tableau de conformité">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des fournitures, le DAO complet s’accompagne du bordereau des prix et du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tableau de conformité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aux spécifications techniques.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noms de fichier portent la référence du plan, la ligne et la version de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RG-DAO-22 · RG-DAO-33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de garde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a page de gar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4581801" y="1206500"/>
            <a:ext cx="6797115" cy="5080000"/>
          </a:xfrm>
          <a:prstGeom prst="rect">
            <a:avLst/>
          </a:prstGeom>
          <a:solidFill>
            <a:srgbClr val="FCFCFA"/>
          </a:solidFill>
          <a:ln w="9525">
            <a:solidFill>
              <a:srgbClr val="D5DCE4"/>
            </a:solidFill>
            <a:prstDash val="solid"/>
          </a:ln>
        </p:spPr>
      </p:sp>
      <p:sp>
        <p:nvSpPr>
          <p:cNvPr id="7" name="Shape 4"/>
          <p:cNvSpPr/>
          <p:nvPr/>
        </p:nvSpPr>
        <p:spPr>
          <a:xfrm>
            <a:off x="4581801" y="1206500"/>
            <a:ext cx="38099" cy="5080000"/>
          </a:xfrm>
          <a:prstGeom prst="rect">
            <a:avLst/>
          </a:prstGeom>
          <a:solidFill>
            <a:srgbClr val="1B6FA8"/>
          </a:solidFill>
          <a:ln/>
        </p:spPr>
      </p:sp>
      <p:sp>
        <p:nvSpPr>
          <p:cNvPr id="8" name="Text 5"/>
          <p:cNvSpPr/>
          <p:nvPr/>
        </p:nvSpPr>
        <p:spPr>
          <a:xfrm>
            <a:off x="4746897" y="1308100"/>
            <a:ext cx="6505022"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document produit.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Celle des DAO réels : l’emblème, le ministère, la PRMP et l’UGPM, l’intitulé qui porte le mode de passation.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numéro du DAO, l’objet, « Lancé le … » à compléter, le financement, l’imputation administrative et le compte,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lus sur le plan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sommaire général</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sommaire général">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4581801" y="1206500"/>
            <a:ext cx="6797115" cy="5080000"/>
          </a:xfrm>
          <a:prstGeom prst="rect">
            <a:avLst/>
          </a:prstGeom>
          <a:solidFill>
            <a:srgbClr val="FCFCFA"/>
          </a:solidFill>
          <a:ln w="9525">
            <a:solidFill>
              <a:srgbClr val="D5DCE4"/>
            </a:solidFill>
            <a:prstDash val="solid"/>
          </a:ln>
        </p:spPr>
      </p:sp>
      <p:sp>
        <p:nvSpPr>
          <p:cNvPr id="7" name="Shape 4"/>
          <p:cNvSpPr/>
          <p:nvPr/>
        </p:nvSpPr>
        <p:spPr>
          <a:xfrm>
            <a:off x="4581801" y="1206500"/>
            <a:ext cx="38099" cy="5080000"/>
          </a:xfrm>
          <a:prstGeom prst="rect">
            <a:avLst/>
          </a:prstGeom>
          <a:solidFill>
            <a:srgbClr val="1B6FA8"/>
          </a:solidFill>
          <a:ln/>
        </p:spPr>
      </p:sp>
      <p:sp>
        <p:nvSpPr>
          <p:cNvPr id="8" name="Text 5"/>
          <p:cNvSpPr/>
          <p:nvPr/>
        </p:nvSpPr>
        <p:spPr>
          <a:xfrm>
            <a:off x="4746897" y="1308100"/>
            <a:ext cx="6505022"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document produit.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deux parties et leurs sous-parties, dans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numérotation de l’ARMP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les numéros de page.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le Word, c’est une table des matières, mise à jour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La procédure en remise électronique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Quand les offres seront remises en ligne, la fiche prépare aussi ceux qui ouvriront les offres : la commission d’appel d’offres, le responsable de la procédure et la cérémonie des clés.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d’appel d’offres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commission d’appel d’offr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 pour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décision de nomination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(référence, date) et les membres : des agents de l’entité, au plus un expert de l’objet, un seul président.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reçoit par courriel une invitation à activer son compte, puis publie sa part de la clé qui ouvrira les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décision signée se joint en PDF ; sans elle, la commission porte un avertissement.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RG-DAO-55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sur le Poste d’administration.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procédures en remise électronique,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à traiter d’abord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celles sans responsable, celles dont le PV est à signer.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chacune : l’état, le calendrier (avis, date limite, ouverture), la commission et la cérémonie, la séance, le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se désigne depuis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RG-DAO-57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 DE LA PROCÉDURE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paramètres internes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aramètres intern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 seul.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la plateforme sait de la procédure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sans jamais l’imprimer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membres détenteurs d’une part de clé, le nombre de parts, le quorum de déchiffrement, la date de la cérémonie, le dépositaire de la part de secours.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membres se lisent ici, ils ne se choisissent pas : ils viennent de la décision de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avertissement quand le quorum égale le nombre de membres : une seule part perdue rendrait les offres illisibles.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RG-DAO-56 · RG-DAO-58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 DE LA PROCÉDURE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signature de l’offre et la cérémonie des clés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signature de l’offre et la cérémonie des clé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Signature de l’offre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le dépôt scellé vaut signature pendant la procédure ; l’attributaire remet ensuite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original 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son acte d’engagement avant la signature du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signature électronique certifiée est réservée : elle n’est pas encore en service.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Plus bas, la cérémonie des clés close (3 parts, quorum 2), et l’empreinte de chaque clé publiée.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RG-DAO-51 · RG-DAO-58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fiche vue par l’Administrateur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fiche vue par l’Administrateu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en lecture.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du dossier, en lecture : cadrage, informations, reprises, contrôles, versions figées (ici sept versions, en remise papier).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Deux gestes qui lui sont propres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désigner le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procédure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migrer le mode de remise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RG-DAO-47 · RG-DAO-57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Migrer le mode de remise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igrer le mode de remis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seul.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migration fait passer une fiche figée en papier à la remise électronique : 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ouvre une révision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version validée reste intacte.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 est obligatoire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migration est tracée au journal du plan et du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complète ensuite ce que le nouveau mode exige, puis valide la nouvelle version.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RG-DAO-47 · RG-DAO-48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Examiner, publier, répondre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Commission examine le dossier créé depuis la fiche. Après son avis favorable, l’avis se publie ; les candidats paient, retirent le DAO et posent leurs questions, sous le regard de la PRMP.</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lit la fiche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Commission lit la fich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de la Commission qui examine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marché du dossier examiné,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lecture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cadrage, les informations saisies par la PRMP, les reprises, le bilan des contrôles et les documents produits.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versions figées, avec leur date : la Commission sait quelle version elle examine.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RG-DAO-36 · RG-DAO-37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spécifique et son projet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vis spécifique et son proje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signé avec un avis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l’avis à publier s’imprime ; il reprend la dernière version validée de la fiche. Chaque impression est conservée.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cela,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d’avis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(PDF, Word) se lit dès la validation, en filigrane « PROJET » : il ne lance rien.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relecture des mentions du modèle type ; la déclaration sans suite se demande depuis la même page.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RG-DAO-38 · RG-DAO-53 · RG-DAO-54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reçus des frais de dossier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reçus des frais de dossie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entreprise dépose le reçu de son versement sur le compte de l’ARMP ; elle ne retire le dossier qu’une fois le reçu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validé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montant inférieur aux frais est signalé ; un refus porte son motif, et l’entreprise dépose un nouveau reçu.</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décision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ne se reprend pas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l’écran invite à comparer au relevé de l’ARMP avant de décider.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RG-DAO-59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retraits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registre des retrait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candidats qui ont retiré le dossier en ligne, du plus ancien au plus récent : date, compte, entreprise, NIF, document, version, reçu des frais.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C’est ce registre qui ouvre le droit de poser une question.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RG-DAO-60 · RG-DAO-49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questions des candidats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questions des candidat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 l’UGPM lit sans répondre.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candidats ayant retiré le dossier posent leurs questions jusqu’à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dix jours avant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(art. 35-II) ; l’écran dit quand elles sont closes.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réponse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diffusée dès son enregistrement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sur la page publique de la procédure, sans le nom de l’auteur, et à chaque candidat ayant retiré le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cette procédure de démonstration, aucune question n’a été posée.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RG-DAO-49 · RG-DAO-50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seule saisie, aucune contradiction</a:t>
            </a:r>
            <a:endParaRPr lang="en-US" sz="1500" dirty="0"/>
          </a:p>
        </p:txBody>
      </p:sp>
      <p:sp>
        <p:nvSpPr>
          <p:cNvPr id="7" name="Text 5"/>
          <p:cNvSpPr/>
          <p:nvPr/>
        </p:nvSpPr>
        <p:spPr>
          <a:xfrm>
            <a:off x="952476"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Ce que le plan de passation dit est repris et verrouillé ; une information saisie dans la fiche se reporte dans tous les documents qui l’utilisent.</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documents types de l’ARMP</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texte officiel est repris tel quel ; seuls les blancs sont remplis. Un modèle illisible arrête la production : un document ne sort jamais faux en silence.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Ce qui est examiné est ce qui est retiré</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version validée est figée ; ses documents ne sont jamais régénérés. Toute correction passe par une nouvelle version, tracée.</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délais de la loi vérifiés</a:t>
            </a:r>
            <a:endParaRPr lang="en-US" sz="1500" dirty="0"/>
          </a:p>
        </p:txBody>
      </p:sp>
      <p:sp>
        <p:nvSpPr>
          <p:cNvPr id="19" name="Text 17"/>
          <p:cNvSpPr/>
          <p:nvPr/>
        </p:nvSpPr>
        <p:spPr>
          <a:xfrm>
            <a:off x="952476"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délai de publicité (art. 35-II) est contrôlé à la validation de la fiche et à l’impression de l’avis ; l’avis ne s’imprime pas sans DAO complet (art. 31).</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mode de remise qui ne bouge plus</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Papier ou électronique, le mode est fixé dès la première validation ; seule une migration motivée de l’Administrateur le change, avant tout dépôt en ligne.</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L’égalité entre candidats</a:t>
            </a:r>
            <a:endParaRPr lang="en-US" sz="1500" dirty="0"/>
          </a:p>
        </p:txBody>
      </p:sp>
      <p:sp>
        <p:nvSpPr>
          <p:cNvPr id="27" name="Text 25"/>
          <p:cNvSpPr/>
          <p:nvPr/>
        </p:nvSpPr>
        <p:spPr>
          <a:xfrm>
            <a:off x="8098164"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Retrait après paiement vérifié, registre des retraits, questions ouvertes jusqu’à J−10 et réponses diffusées à tous, sans nom d’auteur.</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05</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L’appel à manifestation d’intérêt</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Pour les prestations intellectuelles, la liste restreinte des consultants naît d’un appel à manifestation d’intérêt mené dans l’application : publié, reçu en ligne, noté par la commission, arrêté dans un rapport signé (art. 42-II).</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La liste restreinte n’est plus une liste saisie : elle résulte d’une notation collégiale, critère par critère, chaque note portant son motif.</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Personne ne lit les expressions d’intérêt avant la date limite : jusque-là, l’administration n’en connaît que le nombre.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 rapport de présélection, signé des membres au quorum, vaut procès-verbal ; la liste définitive est publiée, notifiée à chaque candidat, et alimente d’office les lettres d’invitation.</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L’APPEL À MANIFESTATION D’INTÉRÊT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 la ligne du plan à la liste restreinte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La PRMP, aidée de son UGPM, prépare et publie l’appel ; les consultants déposent en ligne ; la commission d’appel d’offres note, son président arrête la liste, ses membres signent le rapport.</a:t>
            </a:r>
            <a:endParaRPr lang="en-US" sz="1300" dirty="0"/>
          </a:p>
        </p:txBody>
      </p:sp>
      <p:sp>
        <p:nvSpPr>
          <p:cNvPr id="5" name="Shape 3"/>
          <p:cNvSpPr/>
          <p:nvPr/>
        </p:nvSpPr>
        <p:spPr>
          <a:xfrm>
            <a:off x="812780" y="1778000"/>
            <a:ext cx="1389708" cy="1905000"/>
          </a:xfrm>
          <a:prstGeom prst="roundRect">
            <a:avLst>
              <a:gd name="adj" fmla="val 3948"/>
            </a:avLst>
          </a:prstGeom>
          <a:solidFill>
            <a:srgbClr val="FCFCFA"/>
          </a:solidFill>
          <a:ln w="19050">
            <a:solidFill>
              <a:srgbClr val="12324A"/>
            </a:solidFill>
            <a:prstDash val="solid"/>
          </a:ln>
        </p:spPr>
      </p:sp>
      <p:sp>
        <p:nvSpPr>
          <p:cNvPr id="6" name="Text 4"/>
          <p:cNvSpPr/>
          <p:nvPr/>
        </p:nvSpPr>
        <p:spPr>
          <a:xfrm>
            <a:off x="901677"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7" name="Text 5"/>
          <p:cNvSpPr/>
          <p:nvPr/>
        </p:nvSpPr>
        <p:spPr>
          <a:xfrm>
            <a:off x="901677"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Ouvrir la fiche</a:t>
            </a:r>
            <a:endParaRPr lang="en-US" sz="1400" dirty="0"/>
          </a:p>
        </p:txBody>
      </p:sp>
      <p:sp>
        <p:nvSpPr>
          <p:cNvPr id="8" name="Text 6"/>
          <p:cNvSpPr/>
          <p:nvPr/>
        </p:nvSpPr>
        <p:spPr>
          <a:xfrm>
            <a:off x="901677"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ligne de prestations intellectuelles, en mode « Appel à manifestation d’intérêt », ouvre sa fiche comme un appel d’offres.</a:t>
            </a:r>
            <a:endParaRPr lang="en-US" sz="1150" dirty="0"/>
          </a:p>
        </p:txBody>
      </p:sp>
      <p:sp>
        <p:nvSpPr>
          <p:cNvPr id="9" name="Text 7"/>
          <p:cNvSpPr/>
          <p:nvPr/>
        </p:nvSpPr>
        <p:spPr>
          <a:xfrm>
            <a:off x="2189788"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342184" y="1778000"/>
            <a:ext cx="1389708" cy="1905000"/>
          </a:xfrm>
          <a:prstGeom prst="roundRect">
            <a:avLst>
              <a:gd name="adj" fmla="val 3948"/>
            </a:avLst>
          </a:prstGeom>
          <a:solidFill>
            <a:srgbClr val="FCFCFA"/>
          </a:solidFill>
          <a:ln w="19050">
            <a:solidFill>
              <a:srgbClr val="12324A"/>
            </a:solidFill>
            <a:prstDash val="solid"/>
          </a:ln>
        </p:spPr>
      </p:sp>
      <p:sp>
        <p:nvSpPr>
          <p:cNvPr id="11" name="Text 9"/>
          <p:cNvSpPr/>
          <p:nvPr/>
        </p:nvSpPr>
        <p:spPr>
          <a:xfrm>
            <a:off x="2431082"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 OU UGPM</a:t>
            </a:r>
            <a:endParaRPr lang="en-US" sz="1000" dirty="0"/>
          </a:p>
        </p:txBody>
      </p:sp>
      <p:sp>
        <p:nvSpPr>
          <p:cNvPr id="12" name="Text 10"/>
          <p:cNvSpPr/>
          <p:nvPr/>
        </p:nvSpPr>
        <p:spPr>
          <a:xfrm>
            <a:off x="2431082"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Préparer l’appel</a:t>
            </a:r>
            <a:endParaRPr lang="en-US" sz="1400" dirty="0"/>
          </a:p>
        </p:txBody>
      </p:sp>
      <p:sp>
        <p:nvSpPr>
          <p:cNvPr id="13" name="Text 11"/>
          <p:cNvSpPr/>
          <p:nvPr/>
        </p:nvSpPr>
        <p:spPr>
          <a:xfrm>
            <a:off x="2431082"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Critères pondérés sur 100, pièces attendues, note minimale, nombre de candidats retenus, date limite.</a:t>
            </a:r>
            <a:endParaRPr lang="en-US" sz="1150" dirty="0"/>
          </a:p>
        </p:txBody>
      </p:sp>
      <p:sp>
        <p:nvSpPr>
          <p:cNvPr id="14" name="Text 12"/>
          <p:cNvSpPr/>
          <p:nvPr/>
        </p:nvSpPr>
        <p:spPr>
          <a:xfrm>
            <a:off x="3719193"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3871589" y="1778000"/>
            <a:ext cx="1389708" cy="1905000"/>
          </a:xfrm>
          <a:prstGeom prst="roundRect">
            <a:avLst>
              <a:gd name="adj" fmla="val 3948"/>
            </a:avLst>
          </a:prstGeom>
          <a:solidFill>
            <a:srgbClr val="FCFCFA"/>
          </a:solidFill>
          <a:ln w="19050">
            <a:solidFill>
              <a:srgbClr val="12324A"/>
            </a:solidFill>
            <a:prstDash val="solid"/>
          </a:ln>
        </p:spPr>
      </p:sp>
      <p:sp>
        <p:nvSpPr>
          <p:cNvPr id="16" name="Text 14"/>
          <p:cNvSpPr/>
          <p:nvPr/>
        </p:nvSpPr>
        <p:spPr>
          <a:xfrm>
            <a:off x="3960487"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PRMP</a:t>
            </a:r>
            <a:endParaRPr lang="en-US" sz="1000" dirty="0"/>
          </a:p>
        </p:txBody>
      </p:sp>
      <p:sp>
        <p:nvSpPr>
          <p:cNvPr id="17" name="Text 15"/>
          <p:cNvSpPr/>
          <p:nvPr/>
        </p:nvSpPr>
        <p:spPr>
          <a:xfrm>
            <a:off x="3960487"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Publier</a:t>
            </a:r>
            <a:endParaRPr lang="en-US" sz="1400" dirty="0"/>
          </a:p>
        </p:txBody>
      </p:sp>
      <p:sp>
        <p:nvSpPr>
          <p:cNvPr id="18" name="Text 16"/>
          <p:cNvSpPr/>
          <p:nvPr/>
        </p:nvSpPr>
        <p:spPr>
          <a:xfrm>
            <a:off x="3960487"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supports déclarés, l’avis signé électroniquement : l’appel est figé et le dépôt s’ouvre.</a:t>
            </a:r>
            <a:endParaRPr lang="en-US" sz="1150" dirty="0"/>
          </a:p>
        </p:txBody>
      </p:sp>
      <p:sp>
        <p:nvSpPr>
          <p:cNvPr id="19" name="Text 17"/>
          <p:cNvSpPr/>
          <p:nvPr/>
        </p:nvSpPr>
        <p:spPr>
          <a:xfrm>
            <a:off x="5248597"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5400994" y="1778000"/>
            <a:ext cx="1389708" cy="1905000"/>
          </a:xfrm>
          <a:prstGeom prst="roundRect">
            <a:avLst>
              <a:gd name="adj" fmla="val 3948"/>
            </a:avLst>
          </a:prstGeom>
          <a:solidFill>
            <a:srgbClr val="FCFCFA"/>
          </a:solidFill>
          <a:ln w="19050">
            <a:solidFill>
              <a:srgbClr val="12324A"/>
            </a:solidFill>
            <a:prstDash val="solid"/>
          </a:ln>
        </p:spPr>
      </p:sp>
      <p:sp>
        <p:nvSpPr>
          <p:cNvPr id="21" name="Text 19"/>
          <p:cNvSpPr/>
          <p:nvPr/>
        </p:nvSpPr>
        <p:spPr>
          <a:xfrm>
            <a:off x="5489891"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CANDIDATS</a:t>
            </a:r>
            <a:endParaRPr lang="en-US" sz="1000" dirty="0"/>
          </a:p>
        </p:txBody>
      </p:sp>
      <p:sp>
        <p:nvSpPr>
          <p:cNvPr id="22" name="Text 20"/>
          <p:cNvSpPr/>
          <p:nvPr/>
        </p:nvSpPr>
        <p:spPr>
          <a:xfrm>
            <a:off x="5489891"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Recevoir les expressions</a:t>
            </a:r>
            <a:endParaRPr lang="en-US" sz="1400" dirty="0"/>
          </a:p>
        </p:txBody>
      </p:sp>
      <p:sp>
        <p:nvSpPr>
          <p:cNvPr id="23" name="Text 21"/>
          <p:cNvSpPr/>
          <p:nvPr/>
        </p:nvSpPr>
        <p:spPr>
          <a:xfrm>
            <a:off x="5489891"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consultants déposent en ligne ; on n’en voit que le nombre jusqu’à la date limite.</a:t>
            </a:r>
            <a:endParaRPr lang="en-US" sz="1150" dirty="0"/>
          </a:p>
        </p:txBody>
      </p:sp>
      <p:sp>
        <p:nvSpPr>
          <p:cNvPr id="24" name="Text 22"/>
          <p:cNvSpPr/>
          <p:nvPr/>
        </p:nvSpPr>
        <p:spPr>
          <a:xfrm>
            <a:off x="6778002"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6930398" y="1778000"/>
            <a:ext cx="1389708" cy="1905000"/>
          </a:xfrm>
          <a:prstGeom prst="roundRect">
            <a:avLst>
              <a:gd name="adj" fmla="val 3948"/>
            </a:avLst>
          </a:prstGeom>
          <a:solidFill>
            <a:srgbClr val="FCFCFA"/>
          </a:solidFill>
          <a:ln w="19050">
            <a:solidFill>
              <a:srgbClr val="12324A"/>
            </a:solidFill>
            <a:prstDash val="solid"/>
          </a:ln>
        </p:spPr>
      </p:sp>
      <p:sp>
        <p:nvSpPr>
          <p:cNvPr id="26" name="Text 24"/>
          <p:cNvSpPr/>
          <p:nvPr/>
        </p:nvSpPr>
        <p:spPr>
          <a:xfrm>
            <a:off x="7019296"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MEMBRES DE LA COMMISSION</a:t>
            </a:r>
            <a:endParaRPr lang="en-US" sz="1000" dirty="0"/>
          </a:p>
        </p:txBody>
      </p:sp>
      <p:sp>
        <p:nvSpPr>
          <p:cNvPr id="27" name="Text 25"/>
          <p:cNvSpPr/>
          <p:nvPr/>
        </p:nvSpPr>
        <p:spPr>
          <a:xfrm>
            <a:off x="7019296"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Déclarer, puis noter</a:t>
            </a:r>
            <a:endParaRPr lang="en-US" sz="1400" dirty="0"/>
          </a:p>
        </p:txBody>
      </p:sp>
      <p:sp>
        <p:nvSpPr>
          <p:cNvPr id="28" name="Text 26"/>
          <p:cNvSpPr/>
          <p:nvPr/>
        </p:nvSpPr>
        <p:spPr>
          <a:xfrm>
            <a:off x="7019296"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Chaque membre signe sa déclaration d’intérêts, puis note chaque expression, critère par critère, avec un motif.</a:t>
            </a:r>
            <a:endParaRPr lang="en-US" sz="1150" dirty="0"/>
          </a:p>
        </p:txBody>
      </p:sp>
      <p:sp>
        <p:nvSpPr>
          <p:cNvPr id="29" name="Text 27"/>
          <p:cNvSpPr/>
          <p:nvPr/>
        </p:nvSpPr>
        <p:spPr>
          <a:xfrm>
            <a:off x="8307407"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8459803" y="1778000"/>
            <a:ext cx="1389708" cy="1905000"/>
          </a:xfrm>
          <a:prstGeom prst="roundRect">
            <a:avLst>
              <a:gd name="adj" fmla="val 3948"/>
            </a:avLst>
          </a:prstGeom>
          <a:solidFill>
            <a:srgbClr val="FCFCFA"/>
          </a:solidFill>
          <a:ln w="19050">
            <a:solidFill>
              <a:srgbClr val="12324A"/>
            </a:solidFill>
            <a:prstDash val="solid"/>
          </a:ln>
        </p:spPr>
      </p:sp>
      <p:sp>
        <p:nvSpPr>
          <p:cNvPr id="31" name="Text 29"/>
          <p:cNvSpPr/>
          <p:nvPr/>
        </p:nvSpPr>
        <p:spPr>
          <a:xfrm>
            <a:off x="8548701"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PRÉSIDENT ET MEMBRES DE LA COMMISSION</a:t>
            </a:r>
            <a:endParaRPr lang="en-US" sz="1000" dirty="0"/>
          </a:p>
        </p:txBody>
      </p:sp>
      <p:sp>
        <p:nvSpPr>
          <p:cNvPr id="32" name="Text 30"/>
          <p:cNvSpPr/>
          <p:nvPr/>
        </p:nvSpPr>
        <p:spPr>
          <a:xfrm>
            <a:off x="8548701"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Arrêter la liste, signer le rapport</a:t>
            </a:r>
            <a:endParaRPr lang="en-US" sz="1400" dirty="0"/>
          </a:p>
        </p:txBody>
      </p:sp>
      <p:sp>
        <p:nvSpPr>
          <p:cNvPr id="33" name="Text 31"/>
          <p:cNvSpPr/>
          <p:nvPr/>
        </p:nvSpPr>
        <p:spPr>
          <a:xfrm>
            <a:off x="8548701"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président arrête la liste des premières qualifiées ; le rapport est signé des membres, au quorum.</a:t>
            </a:r>
            <a:endParaRPr lang="en-US" sz="1150" dirty="0"/>
          </a:p>
        </p:txBody>
      </p:sp>
      <p:sp>
        <p:nvSpPr>
          <p:cNvPr id="34" name="Text 32"/>
          <p:cNvSpPr/>
          <p:nvPr/>
        </p:nvSpPr>
        <p:spPr>
          <a:xfrm>
            <a:off x="9836811"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5" name="Shape 33"/>
          <p:cNvSpPr/>
          <p:nvPr/>
        </p:nvSpPr>
        <p:spPr>
          <a:xfrm>
            <a:off x="9989207" y="1778000"/>
            <a:ext cx="1389708" cy="1905000"/>
          </a:xfrm>
          <a:prstGeom prst="roundRect">
            <a:avLst>
              <a:gd name="adj" fmla="val 3948"/>
            </a:avLst>
          </a:prstGeom>
          <a:solidFill>
            <a:srgbClr val="12324A"/>
          </a:solidFill>
          <a:ln w="19050">
            <a:solidFill>
              <a:srgbClr val="12324A"/>
            </a:solidFill>
            <a:prstDash val="solid"/>
          </a:ln>
        </p:spPr>
      </p:sp>
      <p:sp>
        <p:nvSpPr>
          <p:cNvPr id="36" name="Text 34"/>
          <p:cNvSpPr/>
          <p:nvPr/>
        </p:nvSpPr>
        <p:spPr>
          <a:xfrm>
            <a:off x="10078105" y="1866900"/>
            <a:ext cx="12119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PRMP</a:t>
            </a:r>
            <a:endParaRPr lang="en-US" sz="1000" dirty="0"/>
          </a:p>
        </p:txBody>
      </p:sp>
      <p:sp>
        <p:nvSpPr>
          <p:cNvPr id="37" name="Text 35"/>
          <p:cNvSpPr/>
          <p:nvPr/>
        </p:nvSpPr>
        <p:spPr>
          <a:xfrm>
            <a:off x="10078105" y="2095500"/>
            <a:ext cx="12119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La liste définitive</a:t>
            </a:r>
            <a:endParaRPr lang="en-US" sz="1400" dirty="0"/>
          </a:p>
        </p:txBody>
      </p:sp>
      <p:sp>
        <p:nvSpPr>
          <p:cNvPr id="38" name="Text 36"/>
          <p:cNvSpPr/>
          <p:nvPr/>
        </p:nvSpPr>
        <p:spPr>
          <a:xfrm>
            <a:off x="10078105" y="2603500"/>
            <a:ext cx="12119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Publiée et notifiée ; les lettres d’invitation et la demande de propositions peuvent suivre.</a:t>
            </a:r>
            <a:endParaRPr lang="en-US" sz="1150" dirty="0"/>
          </a:p>
        </p:txBody>
      </p:sp>
      <p:sp>
        <p:nvSpPr>
          <p:cNvPr id="39" name="Text 3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L’APPEL À MANIFESTATION D’INTÉRÊT</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Préparer et publier l’appel</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L’appel naît sur la fiche de la ligne du plan, comme un appel d’offres. La PRMP en fixe les critères, puis le publie : à partir de là, plus rien ne change.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fiche de prestations intellectuelles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Une fiche de prestations intellectuell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du plan, en mode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 Appel à manifestation d’intérêt »</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 sa fiche comme les autres ; l’en-tête porte le lien vers l’appel.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prépare ensuite la demande de propositions : données particulières, acte d’engagement,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le plan dit est repris : il annonce un lot, le marché est donc non alloti.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RG-AMI-01 · RG-AMI-02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 OU UGPM</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Préparer l’appel">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 avant la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de dépôt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critères de sélection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chacun avec ses points : le total sur 100 est affiché.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attendues, exigées au dépôt une par une, en PDF ou en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RG-AMI-03 · RG-AMI-04 · RG-AMI-05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l’appel</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Publier l’appel">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seule.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note minimale (facultative) et le nombre de candidats retenus sur la liste restreinte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six</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défaut.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d’avis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suit chaque enregistrement ; il se fige à la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Publier » : la PRMP déclare où l’avis paraît (journal des marchés publics, journal national…) ; la publication fige l’appel et ouvre le dépôt en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RG-AMI-04 · RG-AMI-05 · RG-AMI-06 · RG-AMI-07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L’appel publié, avant la date limite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ppel publié, avant la date limit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est figé : date limite, note minimale, candidats retenus, critères, pièces,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L’avis,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électroniquement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la publication, se lit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seul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d’expressions reçues est connu (ici : 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RG-AMI-06 · RG-AMI-10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L’APPEL À MANIFESTATION D’INTÉRÊT</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Recevoir et lire les expressions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consultants déposent leur expression d’intérêt en ligne, avant la date limite. Les expressions ne sont pas scellées, mais elles restent fermées à tous jusqu’à cette date.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L’appel et ses expressions d’intérêt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ppel et ses expressions d’intérê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après la date limite.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Publié le 08/10/2026 ; une expression déposée, par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Société de démonstration SARL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datée à la minute.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critères (50, 30 et 20 points), la pièce attendue, le support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Présélection, liste restreinte et rapport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mène à l’écran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RG-AMI-08 · RG-AMI-09 · RG-AMI-10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L’APPEL À MANIFESTATION D’INTÉRÊT</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La présélection par la commission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membres de la commission d’appel d’offres déclarent d’abord leurs intérêts, puis notent ; l’application totalise et classe ; le président arrête la liste ; les membres signent le rapport.</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déclarations des membres</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s déclarations des membres">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Chaque membre de la commission, depuis son espace.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toute décision, chaque membre signe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déclaration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aucun intérêt dans un candidat, ou un conflit d’intérêts déclaré.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déclaration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ne se reprend pas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un membre en conflit lit la présélection sans y décider.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notation, critère par critère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 notation, critère par critè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déclaré sans conflit.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note par critère, de zéro aux points du critère, et toujours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dernière saisie fait foi ; le journal garde chaque saisie.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RG-AMI-12 · RG-AMI-13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 et le détail des notes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classement et le détail des not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de la commission, depuis l’espace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qualifiée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 le classement suit le total sur 100.</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détail des notes : chaque note, son motif et le membre qui l’a donnée (ici 42/50, 24/30, 14/20, soit 80/100).</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restreinte définitive et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 du 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une seule expression reçue et qualifiée (art. 42-II).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RG-AMI-14 · RG-AMI-16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la liste restreinte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Arrêter la liste restreint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expression peut être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écartée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un motif, ou rétablie.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prend les premières qualifiées. Moins de qualifiées que de places : le nombre retenu se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rapport de présélection est alors produit et se signe.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RG-AMI-13 · RG-AMI-15 · RG-AMI-16 · RG-AMI-24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liste définitive et le rapport signé</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liste définitive et le rapport signé">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en lecture.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Liste définitive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publiée sur la page de l’appel et notifiée à chaque candidat.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rapport de présélection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produit et signé de tous le 08/10/2026, se lit en PDF et en Word ; le quorum de la commission y est constaté.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d’invitation vont désormais aux candidats de cette liste ; le dossier de la demande de propositions peut être créé, le rapport signé y est joint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RG-AMI-17 · RG-AMI-18 · RG-AMI-19 · RG-AMI-20 · RG-AMI-24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L’APPEL À MANIFESTATION D’INTÉRÊT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critères connus d’avance</a:t>
            </a:r>
            <a:endParaRPr lang="en-US" sz="1500" dirty="0"/>
          </a:p>
        </p:txBody>
      </p:sp>
      <p:sp>
        <p:nvSpPr>
          <p:cNvPr id="7" name="Text 5"/>
          <p:cNvSpPr/>
          <p:nvPr/>
        </p:nvSpPr>
        <p:spPr>
          <a:xfrm>
            <a:off x="952476"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critères et leurs points, qui totalisent 100, sont publiés avec l’avis et figés à la publication : la commission note sur ce qui a été annoncé.</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Aucune lecture anticipée</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Avant la date limite, personne ne lit une expression d’intérêt : l’administration n’en voit que le nombre.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L’impartialité déclarée</a:t>
            </a:r>
            <a:endParaRPr lang="en-US" sz="1500" dirty="0"/>
          </a:p>
        </p:txBody>
      </p:sp>
      <p:sp>
        <p:nvSpPr>
          <p:cNvPr id="15" name="Text 13"/>
          <p:cNvSpPr/>
          <p:nvPr/>
        </p:nvSpPr>
        <p:spPr>
          <a:xfrm>
            <a:off x="8098164"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membre signe sa déclaration avant toute décision ; un membre en conflit d’intérêts ne note pas, ne décide pas, ne signe pas le rapport.</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notation motivée et tracée</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note porte son motif et son auteur ; chaque écartement aussi ; le journal garde toutes les saisies.</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rapport au quorum</a:t>
            </a:r>
            <a:endParaRPr lang="en-US" sz="1500" dirty="0"/>
          </a:p>
        </p:txBody>
      </p:sp>
      <p:sp>
        <p:nvSpPr>
          <p:cNvPr id="23" name="Text 21"/>
          <p:cNvSpPr/>
          <p:nvPr/>
        </p:nvSpPr>
        <p:spPr>
          <a:xfrm>
            <a:off x="4525320"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liste ne s’arrête et le rapport ne vaut procès-verbal qu’au quorum de la commission, président ou son représentant compris.</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liste opposable</a:t>
            </a:r>
            <a:endParaRPr lang="en-US" sz="1500" dirty="0"/>
          </a:p>
        </p:txBody>
      </p:sp>
      <p:sp>
        <p:nvSpPr>
          <p:cNvPr id="27" name="Text 25"/>
          <p:cNvSpPr/>
          <p:nvPr/>
        </p:nvSpPr>
        <p:spPr>
          <a:xfrm>
            <a:off x="8098164"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liste définitive est publiée et notifiée, les non-retenus avec leur motif ; elle seule alimente les invitations, et l’AMI se fige dès que le dossier part à la Commission.</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06</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Recevoir les offres en ligne</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Les entreprises retirent le dossier, posent leurs questions, remplissent et déposent leur offre en ligne ; l’offre est scellée sur leur poste et personne ne peut la lire avant la séance d’ouverture.</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Une offre déposée en ligne est scellée sur le poste de l’entreprise : jusqu’à la séance, ni la PRMP, ni l’Administrateur, ni la plateforme ne peuvent en lire le contenu ou le prix.</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Chaque geste est daté par l’horloge du serveur et prouvé : accusé de dépôt avec empreinte, registre des retraits, registre des dépôts, et désormais toute tentative de dépôt refusée hors délai (art. 44).</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Les questions des candidats et leurs réponses sont publiées pour tous, sans nom d’auteur, jusqu’à dix jours avant la date limite (art. 35-II), puis jointes au dossier soumis à la Commission.</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 l’avis publié à l’offre scellée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L’entreprise agit seule, depuis son espace candidat ; la PRMP valide les frais de dossier et suit les registres ; la commission d’appel d’offres et le dépositaire détiennent les clés qui ouvriront les offres.</a:t>
            </a:r>
            <a:endParaRPr lang="en-US" sz="1300" dirty="0"/>
          </a:p>
        </p:txBody>
      </p:sp>
      <p:sp>
        <p:nvSpPr>
          <p:cNvPr id="5" name="Shape 3"/>
          <p:cNvSpPr/>
          <p:nvPr/>
        </p:nvSpPr>
        <p:spPr>
          <a:xfrm>
            <a:off x="812780" y="1778000"/>
            <a:ext cx="1389708" cy="1905000"/>
          </a:xfrm>
          <a:prstGeom prst="roundRect">
            <a:avLst>
              <a:gd name="adj" fmla="val 3948"/>
            </a:avLst>
          </a:prstGeom>
          <a:solidFill>
            <a:srgbClr val="FCFCFA"/>
          </a:solidFill>
          <a:ln w="19050">
            <a:solidFill>
              <a:srgbClr val="12324A"/>
            </a:solidFill>
            <a:prstDash val="solid"/>
          </a:ln>
        </p:spPr>
      </p:sp>
      <p:sp>
        <p:nvSpPr>
          <p:cNvPr id="6" name="Text 4"/>
          <p:cNvSpPr/>
          <p:nvPr/>
        </p:nvSpPr>
        <p:spPr>
          <a:xfrm>
            <a:off x="901677"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COMMISSION D’APPEL D’OFFRES, DÉPOSITAIRE</a:t>
            </a:r>
            <a:endParaRPr lang="en-US" sz="1000" dirty="0"/>
          </a:p>
        </p:txBody>
      </p:sp>
      <p:sp>
        <p:nvSpPr>
          <p:cNvPr id="7" name="Text 5"/>
          <p:cNvSpPr/>
          <p:nvPr/>
        </p:nvSpPr>
        <p:spPr>
          <a:xfrm>
            <a:off x="901677"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Les clés en place</a:t>
            </a:r>
            <a:endParaRPr lang="en-US" sz="1400" dirty="0"/>
          </a:p>
        </p:txBody>
      </p:sp>
      <p:sp>
        <p:nvSpPr>
          <p:cNvPr id="8" name="Text 6"/>
          <p:cNvSpPr/>
          <p:nvPr/>
        </p:nvSpPr>
        <p:spPr>
          <a:xfrm>
            <a:off x="901677"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Les membres de la commission et le dépositaire publient leur clé : sans cérémonie close, l’avis ne paraît pas.</a:t>
            </a:r>
            <a:endParaRPr lang="en-US" sz="1150" dirty="0"/>
          </a:p>
        </p:txBody>
      </p:sp>
      <p:sp>
        <p:nvSpPr>
          <p:cNvPr id="9" name="Text 7"/>
          <p:cNvSpPr/>
          <p:nvPr/>
        </p:nvSpPr>
        <p:spPr>
          <a:xfrm>
            <a:off x="2189788"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342184" y="1778000"/>
            <a:ext cx="1389708" cy="1905000"/>
          </a:xfrm>
          <a:prstGeom prst="roundRect">
            <a:avLst>
              <a:gd name="adj" fmla="val 3948"/>
            </a:avLst>
          </a:prstGeom>
          <a:solidFill>
            <a:srgbClr val="FCFCFA"/>
          </a:solidFill>
          <a:ln w="19050">
            <a:solidFill>
              <a:srgbClr val="12324A"/>
            </a:solidFill>
            <a:prstDash val="solid"/>
          </a:ln>
        </p:spPr>
      </p:sp>
      <p:sp>
        <p:nvSpPr>
          <p:cNvPr id="11" name="Text 9"/>
          <p:cNvSpPr/>
          <p:nvPr/>
        </p:nvSpPr>
        <p:spPr>
          <a:xfrm>
            <a:off x="2431082"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CANDIDAT</a:t>
            </a:r>
            <a:endParaRPr lang="en-US" sz="1000" dirty="0"/>
          </a:p>
        </p:txBody>
      </p:sp>
      <p:sp>
        <p:nvSpPr>
          <p:cNvPr id="12" name="Text 10"/>
          <p:cNvSpPr/>
          <p:nvPr/>
        </p:nvSpPr>
        <p:spPr>
          <a:xfrm>
            <a:off x="2431082"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S’inscrire, déclarer son entreprise</a:t>
            </a:r>
            <a:endParaRPr lang="en-US" sz="1400" dirty="0"/>
          </a:p>
        </p:txBody>
      </p:sp>
      <p:sp>
        <p:nvSpPr>
          <p:cNvPr id="13" name="Text 11"/>
          <p:cNvSpPr/>
          <p:nvPr/>
        </p:nvSpPr>
        <p:spPr>
          <a:xfrm>
            <a:off x="2431082"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Un compte confirmé par un code reçu par courriel, puis l’entreprise déclarée une fois pour toutes (NIF, STAT, RCS).</a:t>
            </a:r>
            <a:endParaRPr lang="en-US" sz="1150" dirty="0"/>
          </a:p>
        </p:txBody>
      </p:sp>
      <p:sp>
        <p:nvSpPr>
          <p:cNvPr id="14" name="Text 12"/>
          <p:cNvSpPr/>
          <p:nvPr/>
        </p:nvSpPr>
        <p:spPr>
          <a:xfrm>
            <a:off x="3719193"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3871589" y="1778000"/>
            <a:ext cx="1389708" cy="1905000"/>
          </a:xfrm>
          <a:prstGeom prst="roundRect">
            <a:avLst>
              <a:gd name="adj" fmla="val 3948"/>
            </a:avLst>
          </a:prstGeom>
          <a:solidFill>
            <a:srgbClr val="FCFCFA"/>
          </a:solidFill>
          <a:ln w="19050">
            <a:solidFill>
              <a:srgbClr val="12324A"/>
            </a:solidFill>
            <a:prstDash val="solid"/>
          </a:ln>
        </p:spPr>
      </p:sp>
      <p:sp>
        <p:nvSpPr>
          <p:cNvPr id="16" name="Text 14"/>
          <p:cNvSpPr/>
          <p:nvPr/>
        </p:nvSpPr>
        <p:spPr>
          <a:xfrm>
            <a:off x="3960487"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CANDIDAT, PRMP</a:t>
            </a:r>
            <a:endParaRPr lang="en-US" sz="1000" dirty="0"/>
          </a:p>
        </p:txBody>
      </p:sp>
      <p:sp>
        <p:nvSpPr>
          <p:cNvPr id="17" name="Text 15"/>
          <p:cNvSpPr/>
          <p:nvPr/>
        </p:nvSpPr>
        <p:spPr>
          <a:xfrm>
            <a:off x="3960487"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Payer, puis retirer le dossier</a:t>
            </a:r>
            <a:endParaRPr lang="en-US" sz="1400" dirty="0"/>
          </a:p>
        </p:txBody>
      </p:sp>
      <p:sp>
        <p:nvSpPr>
          <p:cNvPr id="18" name="Text 16"/>
          <p:cNvSpPr/>
          <p:nvPr/>
        </p:nvSpPr>
        <p:spPr>
          <a:xfrm>
            <a:off x="3960487"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reçu du versement est déposé ; une fois validé, le dossier se retire et chaque retrait est inscrit au registre.</a:t>
            </a:r>
            <a:endParaRPr lang="en-US" sz="1150" dirty="0"/>
          </a:p>
        </p:txBody>
      </p:sp>
      <p:sp>
        <p:nvSpPr>
          <p:cNvPr id="19" name="Text 17"/>
          <p:cNvSpPr/>
          <p:nvPr/>
        </p:nvSpPr>
        <p:spPr>
          <a:xfrm>
            <a:off x="5248597"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5400994" y="1778000"/>
            <a:ext cx="1389708" cy="1905000"/>
          </a:xfrm>
          <a:prstGeom prst="roundRect">
            <a:avLst>
              <a:gd name="adj" fmla="val 3948"/>
            </a:avLst>
          </a:prstGeom>
          <a:solidFill>
            <a:srgbClr val="FCFCFA"/>
          </a:solidFill>
          <a:ln w="19050">
            <a:solidFill>
              <a:srgbClr val="12324A"/>
            </a:solidFill>
            <a:prstDash val="solid"/>
          </a:ln>
        </p:spPr>
      </p:sp>
      <p:sp>
        <p:nvSpPr>
          <p:cNvPr id="21" name="Text 19"/>
          <p:cNvSpPr/>
          <p:nvPr/>
        </p:nvSpPr>
        <p:spPr>
          <a:xfrm>
            <a:off x="5489891"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CANDIDAT, PRMP</a:t>
            </a:r>
            <a:endParaRPr lang="en-US" sz="1000" dirty="0"/>
          </a:p>
        </p:txBody>
      </p:sp>
      <p:sp>
        <p:nvSpPr>
          <p:cNvPr id="22" name="Text 20"/>
          <p:cNvSpPr/>
          <p:nvPr/>
        </p:nvSpPr>
        <p:spPr>
          <a:xfrm>
            <a:off x="5489891"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Poser ses questions</a:t>
            </a:r>
            <a:endParaRPr lang="en-US" sz="1400" dirty="0"/>
          </a:p>
        </p:txBody>
      </p:sp>
      <p:sp>
        <p:nvSpPr>
          <p:cNvPr id="23" name="Text 21"/>
          <p:cNvSpPr/>
          <p:nvPr/>
        </p:nvSpPr>
        <p:spPr>
          <a:xfrm>
            <a:off x="5489891"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Jusqu’à dix jours avant la date limite ; la réponse est diffusée à tous les candidats.</a:t>
            </a:r>
            <a:endParaRPr lang="en-US" sz="1150" dirty="0"/>
          </a:p>
        </p:txBody>
      </p:sp>
      <p:sp>
        <p:nvSpPr>
          <p:cNvPr id="24" name="Text 22"/>
          <p:cNvSpPr/>
          <p:nvPr/>
        </p:nvSpPr>
        <p:spPr>
          <a:xfrm>
            <a:off x="6778002"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6930398" y="1778000"/>
            <a:ext cx="1389708" cy="1905000"/>
          </a:xfrm>
          <a:prstGeom prst="roundRect">
            <a:avLst>
              <a:gd name="adj" fmla="val 3948"/>
            </a:avLst>
          </a:prstGeom>
          <a:solidFill>
            <a:srgbClr val="FCFCFA"/>
          </a:solidFill>
          <a:ln w="19050">
            <a:solidFill>
              <a:srgbClr val="12324A"/>
            </a:solidFill>
            <a:prstDash val="solid"/>
          </a:ln>
        </p:spPr>
      </p:sp>
      <p:sp>
        <p:nvSpPr>
          <p:cNvPr id="26" name="Text 24"/>
          <p:cNvSpPr/>
          <p:nvPr/>
        </p:nvSpPr>
        <p:spPr>
          <a:xfrm>
            <a:off x="7019296"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CANDIDAT</a:t>
            </a:r>
            <a:endParaRPr lang="en-US" sz="1000" dirty="0"/>
          </a:p>
        </p:txBody>
      </p:sp>
      <p:sp>
        <p:nvSpPr>
          <p:cNvPr id="27" name="Text 25"/>
          <p:cNvSpPr/>
          <p:nvPr/>
        </p:nvSpPr>
        <p:spPr>
          <a:xfrm>
            <a:off x="7019296"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Remplir l’offre en ligne</a:t>
            </a:r>
            <a:endParaRPr lang="en-US" sz="1400" dirty="0"/>
          </a:p>
        </p:txBody>
      </p:sp>
      <p:sp>
        <p:nvSpPr>
          <p:cNvPr id="28" name="Text 26"/>
          <p:cNvSpPr/>
          <p:nvPr/>
        </p:nvSpPr>
        <p:spPr>
          <a:xfrm>
            <a:off x="7019296"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Bordereau ou devis quantitatif, conformité, capacités, personnel, matériel : l’acte d’engagement se calcule.</a:t>
            </a:r>
            <a:endParaRPr lang="en-US" sz="1150" dirty="0"/>
          </a:p>
        </p:txBody>
      </p:sp>
      <p:sp>
        <p:nvSpPr>
          <p:cNvPr id="29" name="Text 27"/>
          <p:cNvSpPr/>
          <p:nvPr/>
        </p:nvSpPr>
        <p:spPr>
          <a:xfrm>
            <a:off x="8307407"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8459803" y="1778000"/>
            <a:ext cx="1389708" cy="1905000"/>
          </a:xfrm>
          <a:prstGeom prst="roundRect">
            <a:avLst>
              <a:gd name="adj" fmla="val 3948"/>
            </a:avLst>
          </a:prstGeom>
          <a:solidFill>
            <a:srgbClr val="FCFCFA"/>
          </a:solidFill>
          <a:ln w="19050">
            <a:solidFill>
              <a:srgbClr val="12324A"/>
            </a:solidFill>
            <a:prstDash val="solid"/>
          </a:ln>
        </p:spPr>
      </p:sp>
      <p:sp>
        <p:nvSpPr>
          <p:cNvPr id="31" name="Text 29"/>
          <p:cNvSpPr/>
          <p:nvPr/>
        </p:nvSpPr>
        <p:spPr>
          <a:xfrm>
            <a:off x="8548701" y="1866900"/>
            <a:ext cx="12119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CANDIDAT</a:t>
            </a:r>
            <a:endParaRPr lang="en-US" sz="1000" dirty="0"/>
          </a:p>
        </p:txBody>
      </p:sp>
      <p:sp>
        <p:nvSpPr>
          <p:cNvPr id="32" name="Text 30"/>
          <p:cNvSpPr/>
          <p:nvPr/>
        </p:nvSpPr>
        <p:spPr>
          <a:xfrm>
            <a:off x="8548701" y="2095500"/>
            <a:ext cx="12119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Sceller et déposer</a:t>
            </a:r>
            <a:endParaRPr lang="en-US" sz="1400" dirty="0"/>
          </a:p>
        </p:txBody>
      </p:sp>
      <p:sp>
        <p:nvSpPr>
          <p:cNvPr id="33" name="Text 31"/>
          <p:cNvSpPr/>
          <p:nvPr/>
        </p:nvSpPr>
        <p:spPr>
          <a:xfrm>
            <a:off x="8548701" y="2603500"/>
            <a:ext cx="12119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L’offre est chiffrée sur le poste de l’entreprise ; un accusé portant son empreinte est délivré.</a:t>
            </a:r>
            <a:endParaRPr lang="en-US" sz="1150" dirty="0"/>
          </a:p>
        </p:txBody>
      </p:sp>
      <p:sp>
        <p:nvSpPr>
          <p:cNvPr id="34" name="Text 32"/>
          <p:cNvSpPr/>
          <p:nvPr/>
        </p:nvSpPr>
        <p:spPr>
          <a:xfrm>
            <a:off x="9836811"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5" name="Shape 33"/>
          <p:cNvSpPr/>
          <p:nvPr/>
        </p:nvSpPr>
        <p:spPr>
          <a:xfrm>
            <a:off x="9989207" y="1778000"/>
            <a:ext cx="1389708" cy="1905000"/>
          </a:xfrm>
          <a:prstGeom prst="roundRect">
            <a:avLst>
              <a:gd name="adj" fmla="val 3948"/>
            </a:avLst>
          </a:prstGeom>
          <a:solidFill>
            <a:srgbClr val="12324A"/>
          </a:solidFill>
          <a:ln w="19050">
            <a:solidFill>
              <a:srgbClr val="12324A"/>
            </a:solidFill>
            <a:prstDash val="solid"/>
          </a:ln>
        </p:spPr>
      </p:sp>
      <p:sp>
        <p:nvSpPr>
          <p:cNvPr id="36" name="Text 34"/>
          <p:cNvSpPr/>
          <p:nvPr/>
        </p:nvSpPr>
        <p:spPr>
          <a:xfrm>
            <a:off x="10078105" y="1866900"/>
            <a:ext cx="12119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PRMP</a:t>
            </a:r>
            <a:endParaRPr lang="en-US" sz="1000" dirty="0"/>
          </a:p>
        </p:txBody>
      </p:sp>
      <p:sp>
        <p:nvSpPr>
          <p:cNvPr id="37" name="Text 35"/>
          <p:cNvSpPr/>
          <p:nvPr/>
        </p:nvSpPr>
        <p:spPr>
          <a:xfrm>
            <a:off x="10078105" y="2095500"/>
            <a:ext cx="12119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Les dépôts clos</a:t>
            </a:r>
            <a:endParaRPr lang="en-US" sz="1400" dirty="0"/>
          </a:p>
        </p:txBody>
      </p:sp>
      <p:sp>
        <p:nvSpPr>
          <p:cNvPr id="38" name="Text 36"/>
          <p:cNvSpPr/>
          <p:nvPr/>
        </p:nvSpPr>
        <p:spPr>
          <a:xfrm>
            <a:off x="10078105" y="2603500"/>
            <a:ext cx="12119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À la date limite, la PRMP lit le registre complet ; toute tentative tardive est refusée et consignée.</a:t>
            </a:r>
            <a:endParaRPr lang="en-US" sz="1150" dirty="0"/>
          </a:p>
        </p:txBody>
      </p:sp>
      <p:sp>
        <p:nvSpPr>
          <p:cNvPr id="39" name="Text 3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Ceux qui ouvriront les offres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Avant même la publication de l’avis, chaque membre de la commission d’appel d’offres et un dépositaire indépendant génèrent leur clé sur leur propre poste. Ce sont ces clés qui scellent les offres.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COMMISSION D’APPEL D’OFFRES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du membre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rocédures du memb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 ici son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appels d’offres où il siège, avec sa qualité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président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date limite des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chacun, l’état de sa clé (« Clé publiée ») et celui de la cérémonie des clés (« Cérémonie close — clés publiées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RG-OFF-25 · RG-OFF-27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COMMISSION D’APPEL D’OFFRES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 part de clé</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Sa part de clé">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cérémonie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3 parts, quorum 2</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close avant la publication de l’avis.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L’empreinte de sa clé publiée ; il peut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vérifier sa part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garder une copie, la remplacer ou la déclarer perdue.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avertit quand la marge est épuisée : une part de plus perdue rendrait les offres illisibles.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RG-OFF-27 · RG-OFF-28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DÉPOSITAIRE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L’espace du dépositaire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pace du déposita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dépositaire de la part de secours.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génère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propre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garde seul la phrase qui la protège.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ne voit que l’état de sa part, de la cérémonie et de la séance : jamais les offres ni leurs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RG-OFF-29 · RG-OFF-30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L’entreprise entre dans la procédure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procédures se consultent sans compte. Pour retirer le dossier et déposer une offre, l’entreprise ouvre un compte et se déclare une fois pour toutes.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s procédures ouvertes">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Toute entreprise,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 objet, lots, date limite et heure de référence de chaque procédure en remise électronique.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la plus proche d’abord. (Capture du 08/10 : toutes les procédures de démonstration sont closes aujourd’hui, la liste est vide.)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d’une procédure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étail d’une procédu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Toute entreprise,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calendrier à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heure du serveur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les lots, les règles de la remise électronique (signature simple, formats, tailles) et l’assistance.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séance : le PV d’ouverture publié, puis le résultat de l’appel d’offres.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se retire avec un compte ; les questions des candidats et les réponses diffusées se lisent ici.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RG-OFF-06 · RG-OFF-07 · RG-OFF-34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compte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réer un compt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personne qui représente l’entreprise.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compte par entreprise : nom, adresse électronique (l’identifiant), téléphone, mot de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reçu par courriel confirme le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Son entreprise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Son entrepris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Raison sociale, NIF, STAT, RCS, adresse et représentant, déclarés une fois ; un NIF, un STAT ou un RCS n’appartient qu’à une seule entreprise.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carte fiscale téléversée permet à l’Administrateur 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vérifier le NIF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vérification ne bloque aucun dépôt, la commission en lit l’état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RG-OFF-02 · RG-OFF-03 · RG-OFF-04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frais de dossier, puis le retrait</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Quand la fiche fixe des frais, l’entreprise dépose le reçu de son versement ; la PRMP le valide ou le refuse avec un motif. La plateforme n’encaisse rien.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attend le reçu</a:t>
            </a:r>
            <a:endParaRPr lang="en-US" sz="2600" dirty="0"/>
          </a:p>
        </p:txBody>
      </p:sp>
      <p:sp>
        <p:nvSpPr>
          <p:cNvPr id="4" name="Shape 2"/>
          <p:cNvSpPr/>
          <p:nvPr/>
        </p:nvSpPr>
        <p:spPr>
          <a:xfrm>
            <a:off x="1583090" y="1193800"/>
            <a:ext cx="9025515" cy="3327400"/>
          </a:xfrm>
          <a:prstGeom prst="rect">
            <a:avLst/>
          </a:prstGeom>
          <a:solidFill>
            <a:srgbClr val="FCFCFA"/>
          </a:solidFill>
          <a:ln w="9525">
            <a:solidFill>
              <a:srgbClr val="D5DCE4"/>
            </a:solidFill>
            <a:prstDash val="solid"/>
          </a:ln>
        </p:spPr>
      </p:sp>
      <p:pic>
        <p:nvPicPr>
          <p:cNvPr id="5" name="Image 0" descr="Le retrait attend le reçu">    </p:cNvPr>
          <p:cNvPicPr>
            <a:picLocks noChangeAspect="1"/>
          </p:cNvPicPr>
          <p:nvPr/>
        </p:nvPicPr>
        <p:blipFill>
          <a:blip r:embed="rId1"/>
          <a:stretch>
            <a:fillRect/>
          </a:stretch>
        </p:blipFill>
        <p:spPr>
          <a:xfrm>
            <a:off x="1595790" y="1206500"/>
            <a:ext cx="900011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connecté.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frais du dossier sont affichés ; les boutons « Retirer » restent inactifs et l’écran dit pourquoi.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 reçu du versement</a:t>
            </a:r>
            <a:endParaRPr lang="en-US" sz="2600" dirty="0"/>
          </a:p>
        </p:txBody>
      </p:sp>
      <p:sp>
        <p:nvSpPr>
          <p:cNvPr id="4" name="Shape 2"/>
          <p:cNvSpPr/>
          <p:nvPr/>
        </p:nvSpPr>
        <p:spPr>
          <a:xfrm>
            <a:off x="800080" y="1193800"/>
            <a:ext cx="10591535" cy="3083142"/>
          </a:xfrm>
          <a:prstGeom prst="rect">
            <a:avLst/>
          </a:prstGeom>
          <a:solidFill>
            <a:srgbClr val="FCFCFA"/>
          </a:solidFill>
          <a:ln w="9525">
            <a:solidFill>
              <a:srgbClr val="D5DCE4"/>
            </a:solidFill>
            <a:prstDash val="solid"/>
          </a:ln>
        </p:spPr>
      </p:sp>
      <p:pic>
        <p:nvPicPr>
          <p:cNvPr id="5" name="Image 0" descr="Déposer le reçu du versement">    </p:cNvPr>
          <p:cNvPicPr>
            <a:picLocks noChangeAspect="1"/>
          </p:cNvPicPr>
          <p:nvPr/>
        </p:nvPicPr>
        <p:blipFill>
          <a:blip r:embed="rId1"/>
          <a:stretch>
            <a:fillRect/>
          </a:stretch>
        </p:blipFill>
        <p:spPr>
          <a:xfrm>
            <a:off x="812780" y="1206500"/>
            <a:ext cx="10566136" cy="3057742"/>
          </a:xfrm>
          <a:prstGeom prst="rect">
            <a:avLst/>
          </a:prstGeom>
        </p:spPr>
      </p:pic>
      <p:sp>
        <p:nvSpPr>
          <p:cNvPr id="6" name="Shape 3"/>
          <p:cNvSpPr/>
          <p:nvPr/>
        </p:nvSpPr>
        <p:spPr>
          <a:xfrm>
            <a:off x="812780" y="4416642"/>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16642"/>
            <a:ext cx="38099" cy="1790700"/>
          </a:xfrm>
          <a:prstGeom prst="rect">
            <a:avLst/>
          </a:prstGeom>
          <a:solidFill>
            <a:srgbClr val="1B6FA8"/>
          </a:solidFill>
          <a:ln/>
        </p:spPr>
      </p:sp>
      <p:sp>
        <p:nvSpPr>
          <p:cNvPr id="8" name="Text 5"/>
          <p:cNvSpPr/>
          <p:nvPr/>
        </p:nvSpPr>
        <p:spPr>
          <a:xfrm>
            <a:off x="977876" y="451824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référence, date, banque, lots couverts, et le reçu (PDF ou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RG-OFF-09 · RG-OFF-10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attend la décision</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Le reçu attend la décision">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reçu et son document ; tant qu’il n’est pas validé, le dossier ne se retire pas.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RG-OFF-09 · RG-OFF-12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Refuser un reçu, avec un motif</a:t>
            </a:r>
            <a:endParaRPr lang="en-US" sz="2600" dirty="0"/>
          </a:p>
        </p:txBody>
      </p:sp>
      <p:sp>
        <p:nvSpPr>
          <p:cNvPr id="4" name="Shape 2"/>
          <p:cNvSpPr/>
          <p:nvPr/>
        </p:nvSpPr>
        <p:spPr>
          <a:xfrm>
            <a:off x="1765256" y="1193800"/>
            <a:ext cx="8661183" cy="3327400"/>
          </a:xfrm>
          <a:prstGeom prst="rect">
            <a:avLst/>
          </a:prstGeom>
          <a:solidFill>
            <a:srgbClr val="FCFCFA"/>
          </a:solidFill>
          <a:ln w="9525">
            <a:solidFill>
              <a:srgbClr val="D5DCE4"/>
            </a:solidFill>
            <a:prstDash val="solid"/>
          </a:ln>
        </p:spPr>
      </p:sp>
      <p:pic>
        <p:nvPicPr>
          <p:cNvPr id="5" name="Image 0" descr="Refuser un reçu, avec un motif">    </p:cNvPr>
          <p:cNvPicPr>
            <a:picLocks noChangeAspect="1"/>
          </p:cNvPicPr>
          <p:nvPr/>
        </p:nvPicPr>
        <p:blipFill>
          <a:blip r:embed="rId1"/>
          <a:stretch>
            <a:fillRect/>
          </a:stretch>
        </p:blipFill>
        <p:spPr>
          <a:xfrm>
            <a:off x="1777956" y="1206500"/>
            <a:ext cx="8635784"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refus exige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transmis par courriel ; l’entreprise dépose un nouveau reçu.</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décision ne se reprend pas. La liste des reçus de la PRMP est présentée avec la préparation du DAO (partie 04).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refusé : le motif</a:t>
            </a:r>
            <a:endParaRPr lang="en-US" sz="2600" dirty="0"/>
          </a:p>
        </p:txBody>
      </p:sp>
      <p:sp>
        <p:nvSpPr>
          <p:cNvPr id="4" name="Shape 2"/>
          <p:cNvSpPr/>
          <p:nvPr/>
        </p:nvSpPr>
        <p:spPr>
          <a:xfrm>
            <a:off x="800080" y="1193800"/>
            <a:ext cx="10591535" cy="2359416"/>
          </a:xfrm>
          <a:prstGeom prst="rect">
            <a:avLst/>
          </a:prstGeom>
          <a:solidFill>
            <a:srgbClr val="FCFCFA"/>
          </a:solidFill>
          <a:ln w="9525">
            <a:solidFill>
              <a:srgbClr val="D5DCE4"/>
            </a:solidFill>
            <a:prstDash val="solid"/>
          </a:ln>
        </p:spPr>
      </p:sp>
      <p:pic>
        <p:nvPicPr>
          <p:cNvPr id="5" name="Image 0" descr="Reçu refusé : le motif">    </p:cNvPr>
          <p:cNvPicPr>
            <a:picLocks noChangeAspect="1"/>
          </p:cNvPicPr>
          <p:nvPr/>
        </p:nvPicPr>
        <p:blipFill>
          <a:blip r:embed="rId1"/>
          <a:stretch>
            <a:fillRect/>
          </a:stretch>
        </p:blipFill>
        <p:spPr>
          <a:xfrm>
            <a:off x="812780" y="1206500"/>
            <a:ext cx="10566136" cy="2334016"/>
          </a:xfrm>
          <a:prstGeom prst="rect">
            <a:avLst/>
          </a:prstGeom>
        </p:spPr>
      </p:pic>
      <p:sp>
        <p:nvSpPr>
          <p:cNvPr id="6" name="Shape 3"/>
          <p:cNvSpPr/>
          <p:nvPr/>
        </p:nvSpPr>
        <p:spPr>
          <a:xfrm>
            <a:off x="812780" y="369291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92916"/>
            <a:ext cx="38099" cy="1790700"/>
          </a:xfrm>
          <a:prstGeom prst="rect">
            <a:avLst/>
          </a:prstGeom>
          <a:solidFill>
            <a:srgbClr val="1B6FA8"/>
          </a:solidFill>
          <a:ln/>
        </p:spPr>
      </p:sp>
      <p:sp>
        <p:nvSpPr>
          <p:cNvPr id="8" name="Text 5"/>
          <p:cNvSpPr/>
          <p:nvPr/>
        </p:nvSpPr>
        <p:spPr>
          <a:xfrm>
            <a:off x="977876" y="379451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reçu et son motif restent visibles ; un nouveau dépôt est proposé.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validé : le dossier se retire</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Reçu validé : le dossier se retire">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boutons « Retirer » s’ouvrent, ainsi que « Déposer une offre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RG-OFF-09 · RG-OFF-13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à retirer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ossier à retire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connecté.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Word et en PDF, le bordereau des prix et le tableau de conformité.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retrait est inscrit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registre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PRMP, avec le compte et l’entreprise (registre présenté en partie 04).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Sans reçu validé, pas de dépôt</a:t>
            </a:r>
            <a:endParaRPr lang="en-US" sz="2600" dirty="0"/>
          </a:p>
        </p:txBody>
      </p:sp>
      <p:sp>
        <p:nvSpPr>
          <p:cNvPr id="4" name="Shape 2"/>
          <p:cNvSpPr/>
          <p:nvPr/>
        </p:nvSpPr>
        <p:spPr>
          <a:xfrm>
            <a:off x="800080" y="1193800"/>
            <a:ext cx="10591535" cy="2300111"/>
          </a:xfrm>
          <a:prstGeom prst="rect">
            <a:avLst/>
          </a:prstGeom>
          <a:solidFill>
            <a:srgbClr val="FCFCFA"/>
          </a:solidFill>
          <a:ln w="9525">
            <a:solidFill>
              <a:srgbClr val="D5DCE4"/>
            </a:solidFill>
            <a:prstDash val="solid"/>
          </a:ln>
        </p:spPr>
      </p:sp>
      <p:pic>
        <p:nvPicPr>
          <p:cNvPr id="5" name="Image 0" descr="Sans reçu validé, pas de dépôt">    </p:cNvPr>
          <p:cNvPicPr>
            <a:picLocks noChangeAspect="1"/>
          </p:cNvPicPr>
          <p:nvPr/>
        </p:nvPicPr>
        <p:blipFill>
          <a:blip r:embed="rId1"/>
          <a:stretch>
            <a:fillRect/>
          </a:stretch>
        </p:blipFill>
        <p:spPr>
          <a:xfrm>
            <a:off x="812780" y="1206500"/>
            <a:ext cx="10566136" cy="2274711"/>
          </a:xfrm>
          <a:prstGeom prst="rect">
            <a:avLst/>
          </a:prstGeom>
        </p:spPr>
      </p:pic>
      <p:sp>
        <p:nvSpPr>
          <p:cNvPr id="6" name="Shape 3"/>
          <p:cNvSpPr/>
          <p:nvPr/>
        </p:nvSpPr>
        <p:spPr>
          <a:xfrm>
            <a:off x="812780" y="3633611"/>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33611"/>
            <a:ext cx="38099" cy="1790700"/>
          </a:xfrm>
          <a:prstGeom prst="rect">
            <a:avLst/>
          </a:prstGeom>
          <a:solidFill>
            <a:srgbClr val="1B6FA8"/>
          </a:solidFill>
          <a:ln/>
        </p:spPr>
      </p:sp>
      <p:sp>
        <p:nvSpPr>
          <p:cNvPr id="8" name="Text 5"/>
          <p:cNvSpPr/>
          <p:nvPr/>
        </p:nvSpPr>
        <p:spPr>
          <a:xfrm>
            <a:off x="977876" y="3735211"/>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dépôt ne s’ouvre pas et renvoie aux frais de dossier ; les formulaires de l’offre ne sont pas servis.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invitations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es invitati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candidat invité à une consultation restreinte.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consultation restreinte n’est pas publiée : seule la lettre d’invitation y donne accès.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rang sur la liste restreinte, la date d’invitation, la date limite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 d’invitation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L’offre remplie en ligne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Pour les fournitures et les travaux, l’entreprise remplit son offre dans des formulaires pré-remplis depuis la fiche DAO. Les captures sont celles des recettes du 05 au 08/10 : une offre en cours de saisie ne se reproduit plus sur des procédures closes.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bordereau des prix et le calendrier de livraison</a:t>
            </a:r>
            <a:endParaRPr lang="en-US" sz="2600" dirty="0"/>
          </a:p>
        </p:txBody>
      </p:sp>
      <p:sp>
        <p:nvSpPr>
          <p:cNvPr id="4" name="Shape 2"/>
          <p:cNvSpPr/>
          <p:nvPr/>
        </p:nvSpPr>
        <p:spPr>
          <a:xfrm>
            <a:off x="1536618" y="1193800"/>
            <a:ext cx="9118459" cy="3327400"/>
          </a:xfrm>
          <a:prstGeom prst="rect">
            <a:avLst/>
          </a:prstGeom>
          <a:solidFill>
            <a:srgbClr val="FCFCFA"/>
          </a:solidFill>
          <a:ln w="9525">
            <a:solidFill>
              <a:srgbClr val="D5DCE4"/>
            </a:solidFill>
            <a:prstDash val="solid"/>
          </a:ln>
        </p:spPr>
      </p:sp>
      <p:pic>
        <p:nvPicPr>
          <p:cNvPr id="5" name="Image 0" descr="Le bordereau des prix et le calendrier de livraison">    </p:cNvPr>
          <p:cNvPicPr>
            <a:picLocks noChangeAspect="1"/>
          </p:cNvPicPr>
          <p:nvPr/>
        </p:nvPicPr>
        <p:blipFill>
          <a:blip r:embed="rId1"/>
          <a:stretch>
            <a:fillRect/>
          </a:stretch>
        </p:blipFill>
        <p:spPr>
          <a:xfrm>
            <a:off x="1549318" y="1206500"/>
            <a:ext cx="9093060"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et la date de livraison de chaque article ; pour un marché à commande, aux quantités minimales et maximales.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conformité technique</a:t>
            </a:r>
            <a:endParaRPr lang="en-US" sz="2600" dirty="0"/>
          </a:p>
        </p:txBody>
      </p:sp>
      <p:sp>
        <p:nvSpPr>
          <p:cNvPr id="4" name="Shape 2"/>
          <p:cNvSpPr/>
          <p:nvPr/>
        </p:nvSpPr>
        <p:spPr>
          <a:xfrm>
            <a:off x="800080" y="1193800"/>
            <a:ext cx="7327717" cy="4420592"/>
          </a:xfrm>
          <a:prstGeom prst="rect">
            <a:avLst/>
          </a:prstGeom>
          <a:solidFill>
            <a:srgbClr val="FCFCFA"/>
          </a:solidFill>
          <a:ln w="9525">
            <a:solidFill>
              <a:srgbClr val="D5DCE4"/>
            </a:solidFill>
            <a:prstDash val="solid"/>
          </a:ln>
        </p:spPr>
      </p:sp>
      <p:pic>
        <p:nvPicPr>
          <p:cNvPr id="5" name="Image 0" descr="La conformité technique">    </p:cNvPr>
          <p:cNvPicPr>
            <a:picLocks noChangeAspect="1"/>
          </p:cNvPicPr>
          <p:nvPr/>
        </p:nvPicPr>
        <p:blipFill>
          <a:blip r:embed="rId1"/>
          <a:stretch>
            <a:fillRect/>
          </a:stretch>
        </p:blipFill>
        <p:spPr>
          <a:xfrm>
            <a:off x="812780" y="1206500"/>
            <a:ext cx="7302317" cy="4395192"/>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Marque, modèle et, pour chaque caractéristique exigée, ce qui est proposé et s’il est conforme.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avant de déposer</a:t>
            </a:r>
            <a:endParaRPr lang="en-US" sz="2600" dirty="0"/>
          </a:p>
        </p:txBody>
      </p:sp>
      <p:sp>
        <p:nvSpPr>
          <p:cNvPr id="4" name="Shape 2"/>
          <p:cNvSpPr/>
          <p:nvPr/>
        </p:nvSpPr>
        <p:spPr>
          <a:xfrm>
            <a:off x="800080" y="1193800"/>
            <a:ext cx="10591535" cy="3314192"/>
          </a:xfrm>
          <a:prstGeom prst="rect">
            <a:avLst/>
          </a:prstGeom>
          <a:solidFill>
            <a:srgbClr val="FCFCFA"/>
          </a:solidFill>
          <a:ln w="9525">
            <a:solidFill>
              <a:srgbClr val="D5DCE4"/>
            </a:solidFill>
            <a:prstDash val="solid"/>
          </a:ln>
        </p:spPr>
      </p:sp>
      <p:pic>
        <p:nvPicPr>
          <p:cNvPr id="5" name="Image 0" descr="Les avertissements, avant de déposer">    </p:cNvPr>
          <p:cNvPicPr>
            <a:picLocks noChangeAspect="1"/>
          </p:cNvPicPr>
          <p:nvPr/>
        </p:nvPicPr>
        <p:blipFill>
          <a:blip r:embed="rId1"/>
          <a:stretch>
            <a:fillRect/>
          </a:stretch>
        </p:blipFill>
        <p:spPr>
          <a:xfrm>
            <a:off x="812780" y="1206500"/>
            <a:ext cx="10566136" cy="3288792"/>
          </a:xfrm>
          <a:prstGeom prst="rect">
            <a:avLst/>
          </a:prstGeom>
        </p:spPr>
      </p:pic>
      <p:sp>
        <p:nvSpPr>
          <p:cNvPr id="6" name="Shape 3"/>
          <p:cNvSpPr/>
          <p:nvPr/>
        </p:nvSpPr>
        <p:spPr>
          <a:xfrm>
            <a:off x="812780" y="4647692"/>
            <a:ext cx="10566136" cy="1638808"/>
          </a:xfrm>
          <a:prstGeom prst="rect">
            <a:avLst/>
          </a:prstGeom>
          <a:solidFill>
            <a:srgbClr val="FCFCFA"/>
          </a:solidFill>
          <a:ln w="9525">
            <a:solidFill>
              <a:srgbClr val="D5DCE4"/>
            </a:solidFill>
            <a:prstDash val="solid"/>
          </a:ln>
        </p:spPr>
      </p:sp>
      <p:sp>
        <p:nvSpPr>
          <p:cNvPr id="7" name="Shape 4"/>
          <p:cNvSpPr/>
          <p:nvPr/>
        </p:nvSpPr>
        <p:spPr>
          <a:xfrm>
            <a:off x="812780" y="4647692"/>
            <a:ext cx="38099" cy="1638808"/>
          </a:xfrm>
          <a:prstGeom prst="rect">
            <a:avLst/>
          </a:prstGeom>
          <a:solidFill>
            <a:srgbClr val="1B6FA8"/>
          </a:solidFill>
          <a:ln/>
        </p:spPr>
      </p:sp>
      <p:sp>
        <p:nvSpPr>
          <p:cNvPr id="8" name="Text 5"/>
          <p:cNvSpPr/>
          <p:nvPr/>
        </p:nvSpPr>
        <p:spPr>
          <a:xfrm>
            <a:off x="977876" y="4749292"/>
            <a:ext cx="10274043" cy="1448308"/>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non-conformité déclarée ou une livraison au-delà du délai : le candidat est averti, il peut déposer.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mêmes contrôles seront rejoués en séance, en alertes pour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d’engagement, calculé</a:t>
            </a:r>
            <a:endParaRPr lang="en-US" sz="2600" dirty="0"/>
          </a:p>
        </p:txBody>
      </p:sp>
      <p:sp>
        <p:nvSpPr>
          <p:cNvPr id="4" name="Shape 2"/>
          <p:cNvSpPr/>
          <p:nvPr/>
        </p:nvSpPr>
        <p:spPr>
          <a:xfrm>
            <a:off x="800080" y="1193800"/>
            <a:ext cx="10591535" cy="2594356"/>
          </a:xfrm>
          <a:prstGeom prst="rect">
            <a:avLst/>
          </a:prstGeom>
          <a:solidFill>
            <a:srgbClr val="FCFCFA"/>
          </a:solidFill>
          <a:ln w="9525">
            <a:solidFill>
              <a:srgbClr val="D5DCE4"/>
            </a:solidFill>
            <a:prstDash val="solid"/>
          </a:ln>
        </p:spPr>
      </p:sp>
      <p:pic>
        <p:nvPicPr>
          <p:cNvPr id="5" name="Image 0" descr="L’acte d’engagement, calculé">    </p:cNvPr>
          <p:cNvPicPr>
            <a:picLocks noChangeAspect="1"/>
          </p:cNvPicPr>
          <p:nvPr/>
        </p:nvPicPr>
        <p:blipFill>
          <a:blip r:embed="rId1"/>
          <a:stretch>
            <a:fillRect/>
          </a:stretch>
        </p:blipFill>
        <p:spPr>
          <a:xfrm>
            <a:off x="812780" y="1206500"/>
            <a:ext cx="10566136" cy="2568956"/>
          </a:xfrm>
          <a:prstGeom prst="rect">
            <a:avLst/>
          </a:prstGeom>
        </p:spPr>
      </p:pic>
      <p:sp>
        <p:nvSpPr>
          <p:cNvPr id="6" name="Shape 3"/>
          <p:cNvSpPr/>
          <p:nvPr/>
        </p:nvSpPr>
        <p:spPr>
          <a:xfrm>
            <a:off x="812780" y="392785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27856"/>
            <a:ext cx="38099" cy="1993900"/>
          </a:xfrm>
          <a:prstGeom prst="rect">
            <a:avLst/>
          </a:prstGeom>
          <a:solidFill>
            <a:srgbClr val="1B6FA8"/>
          </a:solidFill>
          <a:ln/>
        </p:spPr>
      </p:sp>
      <p:sp>
        <p:nvSpPr>
          <p:cNvPr id="8" name="Text 5"/>
          <p:cNvSpPr/>
          <p:nvPr/>
        </p:nvSpPr>
        <p:spPr>
          <a:xfrm>
            <a:off x="977876" y="402945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montants ne se saisissent pas : ce sont ceux du bordereau.</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Restent le délai, la validité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rabais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 en pourcentage ou en montant, avec ou sans condition.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RG-OFF-16 · RG-OFF-17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devis quantitatif et les prix en lettres</a:t>
            </a:r>
            <a:endParaRPr lang="en-US" sz="2600" dirty="0"/>
          </a:p>
        </p:txBody>
      </p:sp>
      <p:sp>
        <p:nvSpPr>
          <p:cNvPr id="4" name="Shape 2"/>
          <p:cNvSpPr/>
          <p:nvPr/>
        </p:nvSpPr>
        <p:spPr>
          <a:xfrm>
            <a:off x="2265902" y="1193800"/>
            <a:ext cx="7659891" cy="3327400"/>
          </a:xfrm>
          <a:prstGeom prst="rect">
            <a:avLst/>
          </a:prstGeom>
          <a:solidFill>
            <a:srgbClr val="FCFCFA"/>
          </a:solidFill>
          <a:ln w="9525">
            <a:solidFill>
              <a:srgbClr val="D5DCE4"/>
            </a:solidFill>
            <a:prstDash val="solid"/>
          </a:ln>
        </p:spPr>
      </p:sp>
      <p:pic>
        <p:nvPicPr>
          <p:cNvPr id="5" name="Image 0" descr="Le devis quantitatif et les prix en lettres">    </p:cNvPr>
          <p:cNvPicPr>
            <a:picLocks noChangeAspect="1"/>
          </p:cNvPicPr>
          <p:nvPr/>
        </p:nvPicPr>
        <p:blipFill>
          <a:blip r:embed="rId1"/>
          <a:stretch>
            <a:fillRect/>
          </a:stretch>
        </p:blipFill>
        <p:spPr>
          <a:xfrm>
            <a:off x="2278602" y="1206500"/>
            <a:ext cx="763449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prix par série ; chaque prix s’écrit aussi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lettres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font foi.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coefficient K1</a:t>
            </a:r>
            <a:endParaRPr lang="en-US" sz="2600" dirty="0"/>
          </a:p>
        </p:txBody>
      </p:sp>
      <p:sp>
        <p:nvSpPr>
          <p:cNvPr id="4" name="Shape 2"/>
          <p:cNvSpPr/>
          <p:nvPr/>
        </p:nvSpPr>
        <p:spPr>
          <a:xfrm>
            <a:off x="800080" y="1193800"/>
            <a:ext cx="7327717" cy="4370388"/>
          </a:xfrm>
          <a:prstGeom prst="rect">
            <a:avLst/>
          </a:prstGeom>
          <a:solidFill>
            <a:srgbClr val="FCFCFA"/>
          </a:solidFill>
          <a:ln w="9525">
            <a:solidFill>
              <a:srgbClr val="D5DCE4"/>
            </a:solidFill>
            <a:prstDash val="solid"/>
          </a:ln>
        </p:spPr>
      </p:sp>
      <p:pic>
        <p:nvPicPr>
          <p:cNvPr id="5" name="Image 0" descr="Le coefficient K1">    </p:cNvPr>
          <p:cNvPicPr>
            <a:picLocks noChangeAspect="1"/>
          </p:cNvPicPr>
          <p:nvPr/>
        </p:nvPicPr>
        <p:blipFill>
          <a:blip r:embed="rId1"/>
          <a:stretch>
            <a:fillRect/>
          </a:stretch>
        </p:blipFill>
        <p:spPr>
          <a:xfrm>
            <a:off x="812780" y="1206500"/>
            <a:ext cx="7302317" cy="4344988"/>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neuf frais de l’annexe 2 de l’acte d’engagement ; le siège à Madagascar ou à l’étranger.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sous-détail d’un prix</a:t>
            </a:r>
            <a:endParaRPr lang="en-US" sz="2600" dirty="0"/>
          </a:p>
        </p:txBody>
      </p:sp>
      <p:sp>
        <p:nvSpPr>
          <p:cNvPr id="4" name="Shape 2"/>
          <p:cNvSpPr/>
          <p:nvPr/>
        </p:nvSpPr>
        <p:spPr>
          <a:xfrm>
            <a:off x="1209469" y="1193800"/>
            <a:ext cx="9772757" cy="3327400"/>
          </a:xfrm>
          <a:prstGeom prst="rect">
            <a:avLst/>
          </a:prstGeom>
          <a:solidFill>
            <a:srgbClr val="FCFCFA"/>
          </a:solidFill>
          <a:ln w="9525">
            <a:solidFill>
              <a:srgbClr val="D5DCE4"/>
            </a:solidFill>
            <a:prstDash val="solid"/>
          </a:ln>
        </p:spPr>
      </p:sp>
      <p:pic>
        <p:nvPicPr>
          <p:cNvPr id="5" name="Image 0" descr="Le sous-détail d’un prix">    </p:cNvPr>
          <p:cNvPicPr>
            <a:picLocks noChangeAspect="1"/>
          </p:cNvPicPr>
          <p:nvPr/>
        </p:nvPicPr>
        <p:blipFill>
          <a:blip r:embed="rId1"/>
          <a:stretch>
            <a:fillRect/>
          </a:stretch>
        </p:blipFill>
        <p:spPr>
          <a:xfrm>
            <a:off x="1222169" y="1206500"/>
            <a:ext cx="9747358"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déboursés secs et le rendement ; le prix calculé est comparé au bordereau, un écart de plus de 1 % est signalé.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capacités financières et techniques</a:t>
            </a:r>
            <a:endParaRPr lang="en-US" sz="2600" dirty="0"/>
          </a:p>
        </p:txBody>
      </p:sp>
      <p:sp>
        <p:nvSpPr>
          <p:cNvPr id="4" name="Shape 2"/>
          <p:cNvSpPr/>
          <p:nvPr/>
        </p:nvSpPr>
        <p:spPr>
          <a:xfrm>
            <a:off x="2459645" y="1193800"/>
            <a:ext cx="7272406" cy="3327400"/>
          </a:xfrm>
          <a:prstGeom prst="rect">
            <a:avLst/>
          </a:prstGeom>
          <a:solidFill>
            <a:srgbClr val="FCFCFA"/>
          </a:solidFill>
          <a:ln w="9525">
            <a:solidFill>
              <a:srgbClr val="D5DCE4"/>
            </a:solidFill>
            <a:prstDash val="solid"/>
          </a:ln>
        </p:spPr>
      </p:sp>
      <p:pic>
        <p:nvPicPr>
          <p:cNvPr id="5" name="Image 0" descr="Les capacités financières et techniques">    </p:cNvPr>
          <p:cNvPicPr>
            <a:picLocks noChangeAspect="1"/>
          </p:cNvPicPr>
          <p:nvPr/>
        </p:nvPicPr>
        <p:blipFill>
          <a:blip r:embed="rId1"/>
          <a:stretch>
            <a:fillRect/>
          </a:stretch>
        </p:blipFill>
        <p:spPr>
          <a:xfrm>
            <a:off x="2472344" y="1206500"/>
            <a:ext cx="724700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Chiffre d’affaires et moyenne des meilleures années, liquidité face au seuil exigé, références de la période.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personnel proposé</a:t>
            </a:r>
            <a:endParaRPr lang="en-US" sz="2600" dirty="0"/>
          </a:p>
        </p:txBody>
      </p:sp>
      <p:sp>
        <p:nvSpPr>
          <p:cNvPr id="4" name="Shape 2"/>
          <p:cNvSpPr/>
          <p:nvPr/>
        </p:nvSpPr>
        <p:spPr>
          <a:xfrm>
            <a:off x="800080" y="1193800"/>
            <a:ext cx="10591535" cy="3089656"/>
          </a:xfrm>
          <a:prstGeom prst="rect">
            <a:avLst/>
          </a:prstGeom>
          <a:solidFill>
            <a:srgbClr val="FCFCFA"/>
          </a:solidFill>
          <a:ln w="9525">
            <a:solidFill>
              <a:srgbClr val="D5DCE4"/>
            </a:solidFill>
            <a:prstDash val="solid"/>
          </a:ln>
        </p:spPr>
      </p:sp>
      <p:pic>
        <p:nvPicPr>
          <p:cNvPr id="5" name="Image 0" descr="Le personnel proposé">    </p:cNvPr>
          <p:cNvPicPr>
            <a:picLocks noChangeAspect="1"/>
          </p:cNvPicPr>
          <p:nvPr/>
        </p:nvPicPr>
        <p:blipFill>
          <a:blip r:embed="rId1"/>
          <a:stretch>
            <a:fillRect/>
          </a:stretch>
        </p:blipFill>
        <p:spPr>
          <a:xfrm>
            <a:off x="812780" y="1206500"/>
            <a:ext cx="10566136" cy="3064256"/>
          </a:xfrm>
          <a:prstGeom prst="rect">
            <a:avLst/>
          </a:prstGeom>
        </p:spPr>
      </p:pic>
      <p:sp>
        <p:nvSpPr>
          <p:cNvPr id="6" name="Shape 3"/>
          <p:cNvSpPr/>
          <p:nvPr/>
        </p:nvSpPr>
        <p:spPr>
          <a:xfrm>
            <a:off x="812780" y="44231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23156"/>
            <a:ext cx="38099" cy="1790700"/>
          </a:xfrm>
          <a:prstGeom prst="rect">
            <a:avLst/>
          </a:prstGeom>
          <a:solidFill>
            <a:srgbClr val="1B6FA8"/>
          </a:solidFill>
          <a:ln/>
        </p:spPr>
      </p:sp>
      <p:sp>
        <p:nvSpPr>
          <p:cNvPr id="8" name="Text 5"/>
          <p:cNvSpPr/>
          <p:nvPr/>
        </p:nvSpPr>
        <p:spPr>
          <a:xfrm>
            <a:off x="977876" y="45247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personne exigée par la fiche ; les CV et diplômes restent à joindre.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matériel proposé</a:t>
            </a:r>
            <a:endParaRPr lang="en-US" sz="2600" dirty="0"/>
          </a:p>
        </p:txBody>
      </p:sp>
      <p:sp>
        <p:nvSpPr>
          <p:cNvPr id="4" name="Shape 2"/>
          <p:cNvSpPr/>
          <p:nvPr/>
        </p:nvSpPr>
        <p:spPr>
          <a:xfrm>
            <a:off x="800080" y="1193800"/>
            <a:ext cx="7327717" cy="4187825"/>
          </a:xfrm>
          <a:prstGeom prst="rect">
            <a:avLst/>
          </a:prstGeom>
          <a:solidFill>
            <a:srgbClr val="FCFCFA"/>
          </a:solidFill>
          <a:ln w="9525">
            <a:solidFill>
              <a:srgbClr val="D5DCE4"/>
            </a:solidFill>
            <a:prstDash val="solid"/>
          </a:ln>
        </p:spPr>
      </p:sp>
      <p:pic>
        <p:nvPicPr>
          <p:cNvPr id="5" name="Image 0" descr="Le matériel proposé">    </p:cNvPr>
          <p:cNvPicPr>
            <a:picLocks noChangeAspect="1"/>
          </p:cNvPicPr>
          <p:nvPr/>
        </p:nvPicPr>
        <p:blipFill>
          <a:blip r:embed="rId1"/>
          <a:stretch>
            <a:fillRect/>
          </a:stretch>
        </p:blipFill>
        <p:spPr>
          <a:xfrm>
            <a:off x="812780" y="1206500"/>
            <a:ext cx="7302317" cy="416242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matériel exigé, le nombre proposé, et combien en propre.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des travaux</a:t>
            </a:r>
            <a:endParaRPr lang="en-US" sz="2600" dirty="0"/>
          </a:p>
        </p:txBody>
      </p:sp>
      <p:sp>
        <p:nvSpPr>
          <p:cNvPr id="4" name="Shape 2"/>
          <p:cNvSpPr/>
          <p:nvPr/>
        </p:nvSpPr>
        <p:spPr>
          <a:xfrm>
            <a:off x="800080" y="1193800"/>
            <a:ext cx="10591535" cy="1965529"/>
          </a:xfrm>
          <a:prstGeom prst="rect">
            <a:avLst/>
          </a:prstGeom>
          <a:solidFill>
            <a:srgbClr val="FCFCFA"/>
          </a:solidFill>
          <a:ln w="9525">
            <a:solidFill>
              <a:srgbClr val="D5DCE4"/>
            </a:solidFill>
            <a:prstDash val="solid"/>
          </a:ln>
        </p:spPr>
      </p:sp>
      <p:pic>
        <p:nvPicPr>
          <p:cNvPr id="5" name="Image 0" descr="Les avertissements des travaux">    </p:cNvPr>
          <p:cNvPicPr>
            <a:picLocks noChangeAspect="1"/>
          </p:cNvPicPr>
          <p:nvPr/>
        </p:nvPicPr>
        <p:blipFill>
          <a:blip r:embed="rId1"/>
          <a:stretch>
            <a:fillRect/>
          </a:stretch>
        </p:blipFill>
        <p:spPr>
          <a:xfrm>
            <a:off x="812780" y="1206500"/>
            <a:ext cx="10566136" cy="1940129"/>
          </a:xfrm>
          <a:prstGeom prst="rect">
            <a:avLst/>
          </a:prstGeom>
        </p:spPr>
      </p:pic>
      <p:sp>
        <p:nvSpPr>
          <p:cNvPr id="6" name="Shape 3"/>
          <p:cNvSpPr/>
          <p:nvPr/>
        </p:nvSpPr>
        <p:spPr>
          <a:xfrm>
            <a:off x="812780" y="3299029"/>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99029"/>
            <a:ext cx="38099" cy="1790700"/>
          </a:xfrm>
          <a:prstGeom prst="rect">
            <a:avLst/>
          </a:prstGeom>
          <a:solidFill>
            <a:srgbClr val="1B6FA8"/>
          </a:solidFill>
          <a:ln/>
        </p:spPr>
      </p:sp>
      <p:sp>
        <p:nvSpPr>
          <p:cNvPr id="8" name="Text 5"/>
          <p:cNvSpPr/>
          <p:nvPr/>
        </p:nvSpPr>
        <p:spPr>
          <a:xfrm>
            <a:off x="977876" y="3400629"/>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écart aux exigences est dit, chiffres à l’appui ; ce sont des avertissements, jamais un refus.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saisie jamais perdue</a:t>
            </a:r>
            <a:endParaRPr lang="en-US" sz="2600" dirty="0"/>
          </a:p>
        </p:txBody>
      </p:sp>
      <p:sp>
        <p:nvSpPr>
          <p:cNvPr id="4" name="Shape 2"/>
          <p:cNvSpPr/>
          <p:nvPr/>
        </p:nvSpPr>
        <p:spPr>
          <a:xfrm>
            <a:off x="800080" y="1193800"/>
            <a:ext cx="10591535" cy="798068"/>
          </a:xfrm>
          <a:prstGeom prst="rect">
            <a:avLst/>
          </a:prstGeom>
          <a:solidFill>
            <a:srgbClr val="FCFCFA"/>
          </a:solidFill>
          <a:ln w="9525">
            <a:solidFill>
              <a:srgbClr val="D5DCE4"/>
            </a:solidFill>
            <a:prstDash val="solid"/>
          </a:ln>
        </p:spPr>
      </p:sp>
      <p:pic>
        <p:nvPicPr>
          <p:cNvPr id="5" name="Image 0" descr="Une saisie jamais perdue">    </p:cNvPr>
          <p:cNvPicPr>
            <a:picLocks noChangeAspect="1"/>
          </p:cNvPicPr>
          <p:nvPr/>
        </p:nvPicPr>
        <p:blipFill>
          <a:blip r:embed="rId1"/>
          <a:stretch>
            <a:fillRect/>
          </a:stretch>
        </p:blipFill>
        <p:spPr>
          <a:xfrm>
            <a:off x="812780" y="1206500"/>
            <a:ext cx="10566136" cy="772668"/>
          </a:xfrm>
          <a:prstGeom prst="rect">
            <a:avLst/>
          </a:prstGeom>
        </p:spPr>
      </p:pic>
      <p:sp>
        <p:nvSpPr>
          <p:cNvPr id="6" name="Shape 3"/>
          <p:cNvSpPr/>
          <p:nvPr/>
        </p:nvSpPr>
        <p:spPr>
          <a:xfrm>
            <a:off x="812780" y="2131568"/>
            <a:ext cx="10566136" cy="1517650"/>
          </a:xfrm>
          <a:prstGeom prst="rect">
            <a:avLst/>
          </a:prstGeom>
          <a:solidFill>
            <a:srgbClr val="FCFCFA"/>
          </a:solidFill>
          <a:ln w="9525">
            <a:solidFill>
              <a:srgbClr val="D5DCE4"/>
            </a:solidFill>
            <a:prstDash val="solid"/>
          </a:ln>
        </p:spPr>
      </p:sp>
      <p:sp>
        <p:nvSpPr>
          <p:cNvPr id="7" name="Shape 4"/>
          <p:cNvSpPr/>
          <p:nvPr/>
        </p:nvSpPr>
        <p:spPr>
          <a:xfrm>
            <a:off x="812780" y="2131568"/>
            <a:ext cx="38099" cy="1517650"/>
          </a:xfrm>
          <a:prstGeom prst="rect">
            <a:avLst/>
          </a:prstGeom>
          <a:solidFill>
            <a:srgbClr val="1B6FA8"/>
          </a:solidFill>
          <a:ln/>
        </p:spPr>
      </p:sp>
      <p:sp>
        <p:nvSpPr>
          <p:cNvPr id="8" name="Text 5"/>
          <p:cNvSpPr/>
          <p:nvPr/>
        </p:nvSpPr>
        <p:spPr>
          <a:xfrm>
            <a:off x="977876" y="2233168"/>
            <a:ext cx="10274043" cy="13271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Page fermée ou rechargée : la saisie est reprise.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est gardée sur le poste du candidat seulement, jamais envoyée, et effacée au dépôt.</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dépôt scellé</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L’offre est chiffrée dans le navigateur de l’entreprise avec les clés de la commission. La plateforme sait qui a déposé, quand et pour quel lot ; jamais un prix.</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remplies en ligne</a:t>
            </a:r>
            <a:endParaRPr lang="en-US" sz="2600" dirty="0"/>
          </a:p>
        </p:txBody>
      </p:sp>
      <p:sp>
        <p:nvSpPr>
          <p:cNvPr id="4" name="Shape 2"/>
          <p:cNvSpPr/>
          <p:nvPr/>
        </p:nvSpPr>
        <p:spPr>
          <a:xfrm>
            <a:off x="1856694" y="1193800"/>
            <a:ext cx="8478308" cy="3327400"/>
          </a:xfrm>
          <a:prstGeom prst="rect">
            <a:avLst/>
          </a:prstGeom>
          <a:solidFill>
            <a:srgbClr val="FCFCFA"/>
          </a:solidFill>
          <a:ln w="9525">
            <a:solidFill>
              <a:srgbClr val="D5DCE4"/>
            </a:solidFill>
            <a:prstDash val="solid"/>
          </a:ln>
        </p:spPr>
      </p:sp>
      <p:pic>
        <p:nvPicPr>
          <p:cNvPr id="5" name="Image 0" descr="Les pièces remplies en ligne">    </p:cNvPr>
          <p:cNvPicPr>
            <a:picLocks noChangeAspect="1"/>
          </p:cNvPicPr>
          <p:nvPr/>
        </p:nvPicPr>
        <p:blipFill>
          <a:blip r:embed="rId1"/>
          <a:stretch>
            <a:fillRect/>
          </a:stretch>
        </p:blipFill>
        <p:spPr>
          <a:xfrm>
            <a:off x="1869393" y="1206500"/>
            <a:ext cx="8452909"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bordereau, la conformité et le calendrier sont marqués « Remplie en ligne » ; les autres pièces se joignent.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reçu des frais déjà validé n’est pas redemandé.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RG-OFF-13 · RG-OFF-14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sans formulaires</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 dépôt sans formulaires">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procédure sans formulaires : les montants de l’acte d’engagement se saisissent.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temps restant s’affiche à l’horloge du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puis le scellement</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s pièces, puis le scellement">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attendue est contrôlée (type, taille) ; puis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Sceller et 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l’offre est chiffrée sur le poste, pour les détenteurs des clés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RG-OFF-19 · RG-OFF-20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de dépôt</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ccusé de dépôt">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du dépôt, le numéro d’arrivée et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 l’accusé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Personne ne peut lire l’offre avant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l’enveloppe technique</a:t>
            </a:r>
            <a:endParaRPr lang="en-US" sz="2600" dirty="0"/>
          </a:p>
        </p:txBody>
      </p:sp>
      <p:sp>
        <p:nvSpPr>
          <p:cNvPr id="4" name="Shape 2"/>
          <p:cNvSpPr/>
          <p:nvPr/>
        </p:nvSpPr>
        <p:spPr>
          <a:xfrm>
            <a:off x="800080" y="1193800"/>
            <a:ext cx="3699441" cy="5105400"/>
          </a:xfrm>
          <a:prstGeom prst="rect">
            <a:avLst/>
          </a:prstGeom>
          <a:solidFill>
            <a:srgbClr val="FCFCFA"/>
          </a:solidFill>
          <a:ln w="9525">
            <a:solidFill>
              <a:srgbClr val="D5DCE4"/>
            </a:solidFill>
            <a:prstDash val="solid"/>
          </a:ln>
        </p:spPr>
      </p:sp>
      <p:pic>
        <p:nvPicPr>
          <p:cNvPr id="5" name="Image 0" descr="Déposer l’enveloppe technique">    </p:cNvPr>
          <p:cNvPicPr>
            <a:picLocks noChangeAspect="1"/>
          </p:cNvPicPr>
          <p:nvPr/>
        </p:nvPicPr>
        <p:blipFill>
          <a:blip r:embed="rId1"/>
          <a:stretch>
            <a:fillRect/>
          </a:stretch>
        </p:blipFill>
        <p:spPr>
          <a:xfrm>
            <a:off x="812780" y="1206500"/>
            <a:ext cx="3674042" cy="5080000"/>
          </a:xfrm>
          <a:prstGeom prst="rect">
            <a:avLst/>
          </a:prstGeom>
        </p:spPr>
      </p:pic>
      <p:sp>
        <p:nvSpPr>
          <p:cNvPr id="6" name="Shape 3"/>
          <p:cNvSpPr/>
          <p:nvPr/>
        </p:nvSpPr>
        <p:spPr>
          <a:xfrm>
            <a:off x="4664617" y="1206500"/>
            <a:ext cx="6714299" cy="5080000"/>
          </a:xfrm>
          <a:prstGeom prst="rect">
            <a:avLst/>
          </a:prstGeom>
          <a:solidFill>
            <a:srgbClr val="FCFCFA"/>
          </a:solidFill>
          <a:ln w="9525">
            <a:solidFill>
              <a:srgbClr val="D5DCE4"/>
            </a:solidFill>
            <a:prstDash val="solid"/>
          </a:ln>
        </p:spPr>
      </p:sp>
      <p:sp>
        <p:nvSpPr>
          <p:cNvPr id="7" name="Shape 4"/>
          <p:cNvSpPr/>
          <p:nvPr/>
        </p:nvSpPr>
        <p:spPr>
          <a:xfrm>
            <a:off x="4664617" y="1206500"/>
            <a:ext cx="38099" cy="5080000"/>
          </a:xfrm>
          <a:prstGeom prst="rect">
            <a:avLst/>
          </a:prstGeom>
          <a:solidFill>
            <a:srgbClr val="1B6FA8"/>
          </a:solidFill>
          <a:ln/>
        </p:spPr>
      </p:sp>
      <p:sp>
        <p:nvSpPr>
          <p:cNvPr id="8" name="Text 5"/>
          <p:cNvSpPr/>
          <p:nvPr/>
        </p:nvSpPr>
        <p:spPr>
          <a:xfrm>
            <a:off x="4829713" y="1308100"/>
            <a:ext cx="6422206"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invité.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Deux enveloppes, déposées l’une après l’autre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ne demande ni ne scelle aucun montant, l’écran le rappelle.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d’une proposition complète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ccusé d’une proposition complèt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invité.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L’accusé de l’enveloppe financière porte l’empreinte de l’enveloppe technique : la proposition est complète.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es offr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offre déposée avec sa date, son numéro d’arrivée, sa taille,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son accusé en PDF ; une proposition de prestations intellectuelles en deux enveloppes.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et si la fiche le permet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offre.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Plus bas, les demandes reçues pendant l’évaluation et le résultat (parties 08 et 09).</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RG-OFF-21 · RG-OFF-22 · RG-OFF-23 · RG-OFF-32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registres de la PRMP</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PRMP suit les dépôts sans jamais en connaître le contenu. Depuis le 14/10, les tentatives de dépôt après l’échéance sont refusées et consignées (art. 44).</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avant l’échéance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 registre, avant l’échéanc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la PRMP ne connaît que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d’offres déposées. (Capture du 08/10 : aucune procédure n’est plus ouverte aujourd’hui.)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complet, après l’échéance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registre complet, après l’échéanc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dépôts par numéro d’arrivée : entreprise, NIF, lot, date de dépôt (ou de retrait), état et empreinte.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reste au registre ; elle ne sera jamais ouverte.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RG-OFF-23 · RG-OFF-24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tentatives refusées hors délai</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tentatives refusées hors délai">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Sous le registre, la rubrique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Tentatives de dépôt refusées hors délai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chaque tentative après la date limite, datée à la seconde par le serveur, avec l’entreprise, le NIF, le lot et le geste refusé.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aucune tentative : « Aucune tentative après la date limite. » Les mêmes tentatives sont énumérées au PV d’ouverture.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RG-OFF-33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RECEVOIR LES OFFRES EN LIGNE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offre illisible jusqu’à la séance</a:t>
            </a:r>
            <a:endParaRPr lang="en-US" sz="1500" dirty="0"/>
          </a:p>
        </p:txBody>
      </p:sp>
      <p:sp>
        <p:nvSpPr>
          <p:cNvPr id="7" name="Text 5"/>
          <p:cNvSpPr/>
          <p:nvPr/>
        </p:nvSpPr>
        <p:spPr>
          <a:xfrm>
            <a:off x="952476"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L’offre est scellée sur le poste de l’entreprise avec les clés de la commission : la plateforme ne voit jamais un prix.</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temps du serveur fait foi</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Ouverture des dépôts, date limite, dépôt, retrait : tout est daté par l’horloge du serveur, affichée au candidat.</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dépôt après l’échéance</a:t>
            </a:r>
            <a:endParaRPr lang="en-US" sz="1500" dirty="0"/>
          </a:p>
        </p:txBody>
      </p:sp>
      <p:sp>
        <p:nvSpPr>
          <p:cNvPr id="15" name="Text 13"/>
          <p:cNvSpPr/>
          <p:nvPr/>
        </p:nvSpPr>
        <p:spPr>
          <a:xfrm>
            <a:off x="8098164"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Toute tentative tardive est refusée, datée et consignée ; le registre et le PV d’ouverture les énumèrent (art. 44).</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preuve pour chaque geste</a:t>
            </a:r>
            <a:endParaRPr lang="en-US" sz="1500" dirty="0"/>
          </a:p>
        </p:txBody>
      </p:sp>
      <p:sp>
        <p:nvSpPr>
          <p:cNvPr id="19" name="Text 17"/>
          <p:cNvSpPr/>
          <p:nvPr/>
        </p:nvSpPr>
        <p:spPr>
          <a:xfrm>
            <a:off x="952476"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Accusé portant l’empreinte de l’offre, registre des retraits, registre des dépôts avec les offres remplacées et retirées.</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L’égalité d’information</a:t>
            </a:r>
            <a:endParaRPr lang="en-US" sz="1500" dirty="0"/>
          </a:p>
        </p:txBody>
      </p:sp>
      <p:sp>
        <p:nvSpPr>
          <p:cNvPr id="23" name="Text 21"/>
          <p:cNvSpPr/>
          <p:nvPr/>
        </p:nvSpPr>
        <p:spPr>
          <a:xfrm>
            <a:off x="4525320"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réponses aux questions sont diffusées à tous les candidats qui ont retiré le dossier, sans le nom de l’auteur (art. 35-II).</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frais de dossier contrôlés</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Pas de retrait ni de dépôt sans reçu validé par la PRMP ; tout refus est motivé et notifié.</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07</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La séance d’ouverture</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Après la date limite, la commission d’appel d’offres réunit ses parts de clé : toutes les offres s’ouvrent ensemble, sont lues, et le PV d’ouverture est signé en ligne au quorum de la commission.</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Aucune offre ne peut être ouverte avant l’heure, ni seule : il faut le quorum des parts de clé, et toutes les offres s’ouvrent ensemble, dans un même geste.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La lecture est faite par l’application et la même pour tous : montants recalculés, garantie, frais de dossier, pièces manquantes, alertes — une information pour la commission, jamais un rejet automatique.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Depuis le 10/10, la commission ne délibère qu’à son quorum, président ou représentant compris : un PV d’ouverture ne se clôt pas sans lui, et le quorum constaté est imprimé au PV.</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 SÉANCE D’OUVERTURE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 la date limite au PV signé</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 responsable de la procédure conduit la séance ; les membres de la commission apportent leurs parts depuis leur poste ; la PRMP suit la lecture sans ouvrir aucune pièce.</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RESPONSABLE DE LA PROCÉDURE</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Attendre l’heure</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séance ne s’ouvre qu’à l’heure d’ouverture fixée par la fiche, une fois la date limite passée.</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RESPONSABLE DE LA PROCÉDURE</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Ouvrir et consigner les présents</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responsable ouvre la séance et enregistre les membres et les autres présents.</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MEMBRES, DÉPOSITAIRE</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Apporter les parts</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Chaque membre déverrouille sa clé sur son poste ; la part de secours supplée, sur demande motivée.</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APPLICATION</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Ouvrir ensemble</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Au quorum des parts, toutes les offres s’ouvrent, leur intégrité est vérifiée.</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COMMISSION</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Lire les offres</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Montants, délai, validité, garantie, rabais, frais de dossier, alertes, offre par offre.</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MEMBRES, PRÉSIDENT</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Signer le PV</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Chaque membre présent signe en ligne ; la séance se clôt au quorum de la commission et l’extrait est publié.</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 SÉANCE D’OUVERTURE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Avant l’heure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captures de la séance en direct sont celles des recettes du 05 au 09/10 : toutes les séances sont closes aujourd’hui, l’ouverture et l’apport des parts ne se reproduisent plus.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avant l’heure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 séance, avant l’heu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ne s’ouvre qu’</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après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l’heure d’ouverture fixée par la fiche : le serveur refuse avant.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rappel est envoyé la veille, puis une heure avant.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attend l’ouverture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 membre attend l’ouvertu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apportera ses parts depuis son espace, avec sa phrase secrète.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COMMISSION D’APPEL D’OFFRES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et le représentant du président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commission et le représentant du présiden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commission telle que la PRMP l’a désignée : sa décision, ses membres, leur origine et leur fonction.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désigner son représentant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pour un contexte précis (séance d’ouverture, rapport d’évaluation…) : le quorum exige le président ou son représentant ; sans désignation, il est lui-même requis.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RG-SEA-29 · RG-SEA-30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 SÉANCE D’OUVERTURE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L’ouverture au quorum des parts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Aucune offre ne s’ouvre seule : il faut le nombre de parts fixé à la cérémonie des clés.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et les présences</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ouverture et les présences">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ouvre la séance, coche les présents et ajoute les autres présents avec leur qualité.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RG-SEA-01 · RG-SEA-03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Apporter ses parts</a:t>
            </a:r>
            <a:endParaRPr lang="en-US" sz="2600" dirty="0"/>
          </a:p>
        </p:txBody>
      </p:sp>
      <p:sp>
        <p:nvSpPr>
          <p:cNvPr id="4" name="Shape 2"/>
          <p:cNvSpPr/>
          <p:nvPr/>
        </p:nvSpPr>
        <p:spPr>
          <a:xfrm>
            <a:off x="800080" y="1193800"/>
            <a:ext cx="10591535" cy="1997553"/>
          </a:xfrm>
          <a:prstGeom prst="rect">
            <a:avLst/>
          </a:prstGeom>
          <a:solidFill>
            <a:srgbClr val="FCFCFA"/>
          </a:solidFill>
          <a:ln w="9525">
            <a:solidFill>
              <a:srgbClr val="D5DCE4"/>
            </a:solidFill>
            <a:prstDash val="solid"/>
          </a:ln>
        </p:spPr>
      </p:sp>
      <p:pic>
        <p:nvPicPr>
          <p:cNvPr id="5" name="Image 0" descr="Apporter ses parts">    </p:cNvPr>
          <p:cNvPicPr>
            <a:picLocks noChangeAspect="1"/>
          </p:cNvPicPr>
          <p:nvPr/>
        </p:nvPicPr>
        <p:blipFill>
          <a:blip r:embed="rId1"/>
          <a:stretch>
            <a:fillRect/>
          </a:stretch>
        </p:blipFill>
        <p:spPr>
          <a:xfrm>
            <a:off x="812780" y="1206500"/>
            <a:ext cx="10566136" cy="1972153"/>
          </a:xfrm>
          <a:prstGeom prst="rect">
            <a:avLst/>
          </a:prstGeom>
        </p:spPr>
      </p:pic>
      <p:sp>
        <p:nvSpPr>
          <p:cNvPr id="6" name="Shape 3"/>
          <p:cNvSpPr/>
          <p:nvPr/>
        </p:nvSpPr>
        <p:spPr>
          <a:xfrm>
            <a:off x="812780" y="3331053"/>
            <a:ext cx="10566136" cy="1993900"/>
          </a:xfrm>
          <a:prstGeom prst="rect">
            <a:avLst/>
          </a:prstGeom>
          <a:solidFill>
            <a:srgbClr val="FCFCFA"/>
          </a:solidFill>
          <a:ln w="9525">
            <a:solidFill>
              <a:srgbClr val="D5DCE4"/>
            </a:solidFill>
            <a:prstDash val="solid"/>
          </a:ln>
        </p:spPr>
      </p:sp>
      <p:sp>
        <p:nvSpPr>
          <p:cNvPr id="7" name="Shape 4"/>
          <p:cNvSpPr/>
          <p:nvPr/>
        </p:nvSpPr>
        <p:spPr>
          <a:xfrm>
            <a:off x="812780" y="3331053"/>
            <a:ext cx="38099" cy="1993900"/>
          </a:xfrm>
          <a:prstGeom prst="rect">
            <a:avLst/>
          </a:prstGeom>
          <a:solidFill>
            <a:srgbClr val="1B6FA8"/>
          </a:solidFill>
          <a:ln/>
        </p:spPr>
      </p:sp>
      <p:sp>
        <p:nvSpPr>
          <p:cNvPr id="8" name="Text 5"/>
          <p:cNvSpPr/>
          <p:nvPr/>
        </p:nvSpPr>
        <p:spPr>
          <a:xfrm>
            <a:off x="977876" y="3432653"/>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phrase déverrouille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déchiffre sa part de chaque offre ; seules ces parts partent vers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RG-SEA-05 · RG-SEA-06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des parts se remplit</a:t>
            </a:r>
            <a:endParaRPr lang="en-US" sz="2600" dirty="0"/>
          </a:p>
        </p:txBody>
      </p:sp>
      <p:sp>
        <p:nvSpPr>
          <p:cNvPr id="4" name="Shape 2"/>
          <p:cNvSpPr/>
          <p:nvPr/>
        </p:nvSpPr>
        <p:spPr>
          <a:xfrm>
            <a:off x="800080" y="1193800"/>
            <a:ext cx="10591535" cy="1065756"/>
          </a:xfrm>
          <a:prstGeom prst="rect">
            <a:avLst/>
          </a:prstGeom>
          <a:solidFill>
            <a:srgbClr val="FCFCFA"/>
          </a:solidFill>
          <a:ln w="9525">
            <a:solidFill>
              <a:srgbClr val="D5DCE4"/>
            </a:solidFill>
            <a:prstDash val="solid"/>
          </a:ln>
        </p:spPr>
      </p:sp>
      <p:pic>
        <p:nvPicPr>
          <p:cNvPr id="5" name="Image 0" descr="Le quorum des parts se remplit">    </p:cNvPr>
          <p:cNvPicPr>
            <a:picLocks noChangeAspect="1"/>
          </p:cNvPicPr>
          <p:nvPr/>
        </p:nvPicPr>
        <p:blipFill>
          <a:blip r:embed="rId1"/>
          <a:stretch>
            <a:fillRect/>
          </a:stretch>
        </p:blipFill>
        <p:spPr>
          <a:xfrm>
            <a:off x="812780" y="1206500"/>
            <a:ext cx="10566136" cy="1040356"/>
          </a:xfrm>
          <a:prstGeom prst="rect">
            <a:avLst/>
          </a:prstGeom>
        </p:spPr>
      </p:pic>
      <p:sp>
        <p:nvSpPr>
          <p:cNvPr id="6" name="Shape 3"/>
          <p:cNvSpPr/>
          <p:nvPr/>
        </p:nvSpPr>
        <p:spPr>
          <a:xfrm>
            <a:off x="812780" y="239925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9256"/>
            <a:ext cx="38099" cy="1993900"/>
          </a:xfrm>
          <a:prstGeom prst="rect">
            <a:avLst/>
          </a:prstGeom>
          <a:solidFill>
            <a:srgbClr val="1B6FA8"/>
          </a:solidFill>
          <a:ln/>
        </p:spPr>
      </p:sp>
      <p:sp>
        <p:nvSpPr>
          <p:cNvPr id="8" name="Text 5"/>
          <p:cNvSpPr/>
          <p:nvPr/>
        </p:nvSpPr>
        <p:spPr>
          <a:xfrm>
            <a:off x="977876" y="250085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Quorum : 1 / 2 » : les offres s’ouvriront dès que le quorum des parts sera atteint.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absent peut être suppléé par la part de secours, apportée par le dépositaire.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RG-SEA-07 · RG-SEA-08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offres s’ouvrent ensemble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Toutes les offres s’ouvrent ensembl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quorum, chaque offre est vérifiée par son empreinte, déchiffrée et comparée aux pièces attendues.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retirées ou remplacées ne s’ouvrent jamais.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RG-SEA-08 · RG-SEA-10 · RG-SEA-11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 SÉANCE D’OUVERTURE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La lecture des offres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L’application lit chaque offre de la même manière ; ce qu’elle relève est une alerte pour la commission, jamais un rejet.</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fournitures</a:t>
            </a:r>
            <a:endParaRPr lang="en-US" sz="2600" dirty="0"/>
          </a:p>
        </p:txBody>
      </p:sp>
      <p:sp>
        <p:nvSpPr>
          <p:cNvPr id="4" name="Shape 2"/>
          <p:cNvSpPr/>
          <p:nvPr/>
        </p:nvSpPr>
        <p:spPr>
          <a:xfrm>
            <a:off x="1687917" y="1193800"/>
            <a:ext cx="8815862" cy="3327400"/>
          </a:xfrm>
          <a:prstGeom prst="rect">
            <a:avLst/>
          </a:prstGeom>
          <a:solidFill>
            <a:srgbClr val="FCFCFA"/>
          </a:solidFill>
          <a:ln w="9525">
            <a:solidFill>
              <a:srgbClr val="D5DCE4"/>
            </a:solidFill>
            <a:prstDash val="solid"/>
          </a:ln>
        </p:spPr>
      </p:sp>
      <p:pic>
        <p:nvPicPr>
          <p:cNvPr id="5" name="Image 0" descr="La lecture d’une offre remplie : fournitures">    </p:cNvPr>
          <p:cNvPicPr>
            <a:picLocks noChangeAspect="1"/>
          </p:cNvPicPr>
          <p:nvPr/>
        </p:nvPicPr>
        <p:blipFill>
          <a:blip r:embed="rId1"/>
          <a:stretch>
            <a:fillRect/>
          </a:stretch>
        </p:blipFill>
        <p:spPr>
          <a:xfrm>
            <a:off x="1700616" y="1206500"/>
            <a:ext cx="879046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totaux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recalculés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 les alertes (non-conformité, livraison hors délai) ; le bordereau et la conformité remplis,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RG-SEA-12 · RG-SEA-13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travaux</a:t>
            </a:r>
            <a:endParaRPr lang="en-US" sz="2600" dirty="0"/>
          </a:p>
        </p:txBody>
      </p:sp>
      <p:sp>
        <p:nvSpPr>
          <p:cNvPr id="4" name="Shape 2"/>
          <p:cNvSpPr/>
          <p:nvPr/>
        </p:nvSpPr>
        <p:spPr>
          <a:xfrm>
            <a:off x="800080" y="1193800"/>
            <a:ext cx="7327717" cy="4644231"/>
          </a:xfrm>
          <a:prstGeom prst="rect">
            <a:avLst/>
          </a:prstGeom>
          <a:solidFill>
            <a:srgbClr val="FCFCFA"/>
          </a:solidFill>
          <a:ln w="9525">
            <a:solidFill>
              <a:srgbClr val="D5DCE4"/>
            </a:solidFill>
            <a:prstDash val="solid"/>
          </a:ln>
        </p:spPr>
      </p:sp>
      <p:pic>
        <p:nvPicPr>
          <p:cNvPr id="5" name="Image 0" descr="La lecture d’une offre remplie : travaux">    </p:cNvPr>
          <p:cNvPicPr>
            <a:picLocks noChangeAspect="1"/>
          </p:cNvPicPr>
          <p:nvPr/>
        </p:nvPicPr>
        <p:blipFill>
          <a:blip r:embed="rId1"/>
          <a:stretch>
            <a:fillRect/>
          </a:stretch>
        </p:blipFill>
        <p:spPr>
          <a:xfrm>
            <a:off x="812780" y="1206500"/>
            <a:ext cx="7302317" cy="4618831"/>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en défaut : chiffre d’affaires, liquidité, références, personnel, matériel, sous-détail — des alertes, jamais un rejet.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RG-SEA-12 · RG-SEA-14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 lus en séance</a:t>
            </a:r>
            <a:endParaRPr lang="en-US" sz="2600" dirty="0"/>
          </a:p>
        </p:txBody>
      </p:sp>
      <p:sp>
        <p:nvSpPr>
          <p:cNvPr id="4" name="Shape 2"/>
          <p:cNvSpPr/>
          <p:nvPr/>
        </p:nvSpPr>
        <p:spPr>
          <a:xfrm>
            <a:off x="1731362" y="1193800"/>
            <a:ext cx="8728971" cy="3327400"/>
          </a:xfrm>
          <a:prstGeom prst="rect">
            <a:avLst/>
          </a:prstGeom>
          <a:solidFill>
            <a:srgbClr val="FCFCFA"/>
          </a:solidFill>
          <a:ln w="9525">
            <a:solidFill>
              <a:srgbClr val="D5DCE4"/>
            </a:solidFill>
            <a:prstDash val="solid"/>
          </a:ln>
        </p:spPr>
      </p:sp>
      <p:pic>
        <p:nvPicPr>
          <p:cNvPr id="5" name="Image 0" descr="Les frais de dossier, lus en séance">    </p:cNvPr>
          <p:cNvPicPr>
            <a:picLocks noChangeAspect="1"/>
          </p:cNvPicPr>
          <p:nvPr/>
        </p:nvPicPr>
        <p:blipFill>
          <a:blip r:embed="rId1"/>
          <a:stretch>
            <a:fillRect/>
          </a:stretch>
        </p:blipFill>
        <p:spPr>
          <a:xfrm>
            <a:off x="1744062" y="1206500"/>
            <a:ext cx="870357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 Frais de dossier » de chaque offre ; sans reçu validé, l’alerte « Frais de dossier non réglés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RG-SEA-16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projetée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 lecture, projeté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par offre : soumissionnaire, montants, délai, garantie, pièces manquantes, alertes — en grand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RG-SEA-12 · RG-SEA-15 · RG-SEA-17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COMMISSION D’APPEL D’OFFRES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pour la commission seule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ièces, pour la commission seu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lecture de chaque offre ouverte : NIF et état de sa vérification, montants hors taxes et toutes taxes, délai, validité, rabais, garantie.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ouvrent les pièces : acte d’engagement signé, reçu des frais de dossier, garantie de soumission.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RG-SEA-12 · RG-SEA-18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close, vue par la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séance close, vue par la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en lecture.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d’ouverture, le quorum des parts atteint,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part de secours employée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membres présents et l’observateur de la PRMP ; les quatre offres reçues et leur état.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garantie lue avec son montant et son émetteur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 Garantie insuffisante »</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pour 800 000 Ar face au minimum de 1 600 000 Ar fixé par la fiche — une alerte, pas un rejet.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de marché étant soumis à la Commission, l’étape est close : la séance ne se modifie plus (partie 08).</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RG-SEA-07 · RG-SEA-15 · RG-SEA-18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 SÉANCE D’OUVERTURE</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PV d’ouverture, signé au quorum de la commission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PV est signé en ligne par chaque membre présent. Depuis le 10/10 (manuel révisé), la séance ne se clôt qu’au quorum de la commission, président ou représentant compris.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à signer</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e PV d’ouverture, à signer">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produit le PV ; il attend la signature de chaque membre présent.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Capture du 09/10 : l’écran porte aujourd’hui, en plus, le quorum de la commission (voir ci-après).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RG-SEA-20 · RG-SEA-31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le PV en ligne</a:t>
            </a:r>
            <a:endParaRPr lang="en-US" sz="2600" dirty="0"/>
          </a:p>
        </p:txBody>
      </p:sp>
      <p:sp>
        <p:nvSpPr>
          <p:cNvPr id="4" name="Shape 2"/>
          <p:cNvSpPr/>
          <p:nvPr/>
        </p:nvSpPr>
        <p:spPr>
          <a:xfrm>
            <a:off x="800080" y="1193800"/>
            <a:ext cx="10591535" cy="1500216"/>
          </a:xfrm>
          <a:prstGeom prst="rect">
            <a:avLst/>
          </a:prstGeom>
          <a:solidFill>
            <a:srgbClr val="FCFCFA"/>
          </a:solidFill>
          <a:ln w="9525">
            <a:solidFill>
              <a:srgbClr val="D5DCE4"/>
            </a:solidFill>
            <a:prstDash val="solid"/>
          </a:ln>
        </p:spPr>
      </p:sp>
      <p:pic>
        <p:nvPicPr>
          <p:cNvPr id="5" name="Image 0" descr="Signer le PV en ligne">    </p:cNvPr>
          <p:cNvPicPr>
            <a:picLocks noChangeAspect="1"/>
          </p:cNvPicPr>
          <p:nvPr/>
        </p:nvPicPr>
        <p:blipFill>
          <a:blip r:embed="rId1"/>
          <a:stretch>
            <a:fillRect/>
          </a:stretch>
        </p:blipFill>
        <p:spPr>
          <a:xfrm>
            <a:off x="812780" y="1206500"/>
            <a:ext cx="10566136" cy="1474816"/>
          </a:xfrm>
          <a:prstGeom prst="rect">
            <a:avLst/>
          </a:prstGeom>
        </p:spPr>
      </p:pic>
      <p:sp>
        <p:nvSpPr>
          <p:cNvPr id="6" name="Shape 3"/>
          <p:cNvSpPr/>
          <p:nvPr/>
        </p:nvSpPr>
        <p:spPr>
          <a:xfrm>
            <a:off x="812780" y="283371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833716"/>
            <a:ext cx="38099" cy="1993900"/>
          </a:xfrm>
          <a:prstGeom prst="rect">
            <a:avLst/>
          </a:prstGeom>
          <a:solidFill>
            <a:srgbClr val="1B6FA8"/>
          </a:solidFill>
          <a:ln/>
        </p:spPr>
      </p:sp>
      <p:sp>
        <p:nvSpPr>
          <p:cNvPr id="8" name="Text 5"/>
          <p:cNvSpPr/>
          <p:nvPr/>
        </p:nvSpPr>
        <p:spPr>
          <a:xfrm>
            <a:off x="977876" y="293531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membre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Relire le PV, puis signer : la signature est horodatée et imprimée au PV.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constater l’empêchement d’un membre, avec un motif, tant que le quorum reste atteignable.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RG-SEA-21 · RG-SEA-22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signé, quorum atteint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PV signé, quorum attein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enveloppes techniques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d’une consultation de prestations intellectuelles : les offres sont lues sans aucun montant.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Quorum atteint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2 sur 2 requis (majorité des membres désignés) · président signataire » ; chaque signature électronique datée.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s’enregistre en PDF ; l’évaluation des offres s’ouvre.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RG-SEA-23 · RG-SEA-27 · RG-SEA-29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séance : les enveloppes financières</a:t>
            </a:r>
            <a:endParaRPr lang="en-US" sz="2600" dirty="0"/>
          </a:p>
        </p:txBody>
      </p:sp>
      <p:sp>
        <p:nvSpPr>
          <p:cNvPr id="4" name="Shape 2"/>
          <p:cNvSpPr/>
          <p:nvPr/>
        </p:nvSpPr>
        <p:spPr>
          <a:xfrm>
            <a:off x="2274656" y="1193800"/>
            <a:ext cx="7642382" cy="3327400"/>
          </a:xfrm>
          <a:prstGeom prst="rect">
            <a:avLst/>
          </a:prstGeom>
          <a:solidFill>
            <a:srgbClr val="FCFCFA"/>
          </a:solidFill>
          <a:ln w="9525">
            <a:solidFill>
              <a:srgbClr val="D5DCE4"/>
            </a:solidFill>
            <a:prstDash val="solid"/>
          </a:ln>
        </p:spPr>
      </p:sp>
      <p:pic>
        <p:nvPicPr>
          <p:cNvPr id="5" name="Image 0" descr="La seconde séance : les enveloppes financières">    </p:cNvPr>
          <p:cNvPicPr>
            <a:picLocks noChangeAspect="1"/>
          </p:cNvPicPr>
          <p:nvPr/>
        </p:nvPicPr>
        <p:blipFill>
          <a:blip r:embed="rId1"/>
          <a:stretch>
            <a:fillRect/>
          </a:stretch>
        </p:blipFill>
        <p:spPr>
          <a:xfrm>
            <a:off x="2287356" y="1206500"/>
            <a:ext cx="76169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l’arrêt de l’évaluation technique, seules s’ouvrent les enveloppes financières des propositions qualifiées, avec les mêmes clés ; les autres restent scellées, avec leur motif.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Montants lus, présents, observations ; le PV se signe comme celui de la première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RG-SEA-28 · RG-SEA-29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publique, après la séance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procédure publique, après la séanc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Toute entreprise,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passe à « close » : les dépôts sont clos.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la fiche le prévoit,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extrait du PV d’ouverture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(sans les alertes) se lit ici dès la dernière signature, puis le résultat de l’appel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RG-SEA-23 · RG-SEA-24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 SÉANCE D’OUVERTURE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Pas d’ouverture avant l’heure</a:t>
            </a:r>
            <a:endParaRPr lang="en-US" sz="1500" dirty="0"/>
          </a:p>
        </p:txBody>
      </p:sp>
      <p:sp>
        <p:nvSpPr>
          <p:cNvPr id="7" name="Text 5"/>
          <p:cNvSpPr/>
          <p:nvPr/>
        </p:nvSpPr>
        <p:spPr>
          <a:xfrm>
            <a:off x="952476"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Avant l’heure d’ouverture et la date limite, personne ne reçoit rien, pas même les parts chiffrées.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Toutes ensemble, ou aucune</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 quorum des parts de clé, toutes les offres s’ouvrent dans un même geste ; aucune ne s’ouvre avant les autres.</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L’intégrité vérifiée</a:t>
            </a:r>
            <a:endParaRPr lang="en-US" sz="1500" dirty="0"/>
          </a:p>
        </p:txBody>
      </p:sp>
      <p:sp>
        <p:nvSpPr>
          <p:cNvPr id="15" name="Text 13"/>
          <p:cNvSpPr/>
          <p:nvPr/>
        </p:nvSpPr>
        <p:spPr>
          <a:xfrm>
            <a:off x="8098164"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L’empreinte de chaque offre est recalculée ; une offre altérée est signalée, une offre retirée ou remplacée ne s’ouvre jamais.</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lecture identique pour tous</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Montants recalculés, garantie, frais, pièces : relevés par l’application, en alertes pour la commission, jamais en rejet.</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pièces réservées à la commission</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Seuls les membres ouvrent les pièces ; la PRMP et le responsable lisent ce qui est lu en séance.</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PV au quorum de la commission</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Signatures électroniques datées, empêchements motivés, quorum constaté imprimé au PV ; extrait publié à la dernière signature.</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08</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Évaluer les offres</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La commission d’appel d’offres évalue les offres en ligne, lot par lot et étape par étape, selon le guide d’évaluation : chaque décision est motivée et signée, le calcul est fait par l’application, et le rapport ne se produit qu’au quorum.</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L’évaluation se conduit dans l’application, sur les offres scellées elles-mêmes : la commission confirme ou corrige ce que la séance a établi, elle ne ressaisit rien.</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 montant évalué n’est jamais saisi à la main : l’application le calcule, hors taxes ; une correction qui sort de son calcul doit être motivée et elle est signalée au contrôle de la Commission.</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Dès que le dossier de marché est soumis à la Commission, l’évaluation est close : ce que la Commission examine ne peut plus changer, sauf reprise motivée et tracée.</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PV d’ouverture signé au rapport d’évaluation</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lot traverse quatre étapes, que le président de la commission arrête l’une après l’autre ; le rapport réunit tous les lots. En prestations intellectuelles, l’évaluation technique, la seconde séance et la négociation prennent la place du montant évalué et de la post-qualification.</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RESPONSABLE DE LA PROCÉDURE, LES MEMBRES</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Ouvrir et déclarer</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L’évaluation s’ouvre une fois le PV d’ouverture signé ; chaque membre déclare d’abord n’avoir aucun conflit d’intérêts.</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COMMISSION ; LA PRMP POUR LES PRÉCISIONS</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Examen préliminaire</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Une grille de neuf vérifications par offre, pré-remplie depuis la séance ; la commission retient ou écarte, avec motif et clause du DAO.</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COMMISSION</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Montant évalué et classement</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Corrections, rabais, préférence et critères du DAO : l’application calcule le montant hors taxes et classe.</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COMMISSION ; LA PRMP POUR LA DEMANDE</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Offres anormales</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Des indicateurs de prix ; aucun rejet sans demande écrite de justification.</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COMMISSION</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Post-qualification</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premier classé, critère par critère ; s’il échoue, le suivant ; le lot reçoit sa proposition d’attribution.</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LE RESPONSABLE, LES MEMBRES</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Rapport signé</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Le rapport, produit quand tout est arrêté, est signé par les membres au quorum : l’évaluation est close.</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Ouvrir l’évaluation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L’évaluation ne commence qu’une fois le PV d’ouverture signé de tous. Chaque membre s’engage d’abord, une fois pour toutes, sur l’absence de conflit d’intérêts et sur la confidentialité.</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OUVRIR · RESPONSABLE DE LA PROCÉDURE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avant son ouverture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évaluation, avant son ouvertur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s’ouvre quand le PV d’ouverture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de tous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avant, l’application le refuse et l’écran le dit.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fois ouverte, les membres de la commission et la PRMP en sont avertis.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RG-EVA-01 · RG-EVA-02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OUVRIR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L’entrée depuis l’espace de la commission</a:t>
            </a:r>
            <a:endParaRPr lang="en-US" sz="2600" dirty="0"/>
          </a:p>
        </p:txBody>
      </p:sp>
      <p:sp>
        <p:nvSpPr>
          <p:cNvPr id="4" name="Shape 2"/>
          <p:cNvSpPr/>
          <p:nvPr/>
        </p:nvSpPr>
        <p:spPr>
          <a:xfrm>
            <a:off x="800080" y="1193800"/>
            <a:ext cx="10591535" cy="1060328"/>
          </a:xfrm>
          <a:prstGeom prst="rect">
            <a:avLst/>
          </a:prstGeom>
          <a:solidFill>
            <a:srgbClr val="FCFCFA"/>
          </a:solidFill>
          <a:ln w="9525">
            <a:solidFill>
              <a:srgbClr val="D5DCE4"/>
            </a:solidFill>
            <a:prstDash val="solid"/>
          </a:ln>
        </p:spPr>
      </p:sp>
      <p:pic>
        <p:nvPicPr>
          <p:cNvPr id="5" name="Image 0" descr="L’entrée depuis l’espace de la commission">    </p:cNvPr>
          <p:cNvPicPr>
            <a:picLocks noChangeAspect="1"/>
          </p:cNvPicPr>
          <p:nvPr/>
        </p:nvPicPr>
        <p:blipFill>
          <a:blip r:embed="rId1"/>
          <a:stretch>
            <a:fillRect/>
          </a:stretch>
        </p:blipFill>
        <p:spPr>
          <a:xfrm>
            <a:off x="812780" y="1206500"/>
            <a:ext cx="10566136" cy="1034928"/>
          </a:xfrm>
          <a:prstGeom prst="rect">
            <a:avLst/>
          </a:prstGeom>
        </p:spPr>
      </p:pic>
      <p:sp>
        <p:nvSpPr>
          <p:cNvPr id="6" name="Shape 3"/>
          <p:cNvSpPr/>
          <p:nvPr/>
        </p:nvSpPr>
        <p:spPr>
          <a:xfrm>
            <a:off x="812780" y="23938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3828"/>
            <a:ext cx="38099" cy="1993900"/>
          </a:xfrm>
          <a:prstGeom prst="rect">
            <a:avLst/>
          </a:prstGeom>
          <a:solidFill>
            <a:srgbClr val="1B6FA8"/>
          </a:solidFill>
          <a:ln/>
        </p:spPr>
      </p:sp>
      <p:sp>
        <p:nvSpPr>
          <p:cNvPr id="8" name="Text 5"/>
          <p:cNvSpPr/>
          <p:nvPr/>
        </p:nvSpPr>
        <p:spPr>
          <a:xfrm>
            <a:off x="977876" y="24954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procédure, « Ouvrir l’évaluation » conduit à l’écran de travail de la commission.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Mes procédures » compte les évaluations en cours et les rapports à signer.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RG-EVA-02 · RG-EVA-04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OUVRIR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préalable</a:t>
            </a:r>
            <a:endParaRPr lang="en-US" sz="2600" dirty="0"/>
          </a:p>
        </p:txBody>
      </p:sp>
      <p:sp>
        <p:nvSpPr>
          <p:cNvPr id="4" name="Shape 2"/>
          <p:cNvSpPr/>
          <p:nvPr/>
        </p:nvSpPr>
        <p:spPr>
          <a:xfrm>
            <a:off x="800080" y="1193800"/>
            <a:ext cx="7327717" cy="4589463"/>
          </a:xfrm>
          <a:prstGeom prst="rect">
            <a:avLst/>
          </a:prstGeom>
          <a:solidFill>
            <a:srgbClr val="FCFCFA"/>
          </a:solidFill>
          <a:ln w="9525">
            <a:solidFill>
              <a:srgbClr val="D5DCE4"/>
            </a:solidFill>
            <a:prstDash val="solid"/>
          </a:ln>
        </p:spPr>
      </p:sp>
      <p:pic>
        <p:nvPicPr>
          <p:cNvPr id="5" name="Image 0" descr="La déclaration préalable">    </p:cNvPr>
          <p:cNvPicPr>
            <a:picLocks noChangeAspect="1"/>
          </p:cNvPicPr>
          <p:nvPr/>
        </p:nvPicPr>
        <p:blipFill>
          <a:blip r:embed="rId1"/>
          <a:stretch>
            <a:fillRect/>
          </a:stretch>
        </p:blipFill>
        <p:spPr>
          <a:xfrm>
            <a:off x="812780" y="1206500"/>
            <a:ext cx="7302317" cy="4564063"/>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Chaque membre, président compris.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Absence de conflit d’intérêts (art. 21-d) et engagement de confidentialité (art. 12-V)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avant toute 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elle ne se reprend pas.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qui déclare un conflit lit l’évaluation, mais n’y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RG-EVA-03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OUVRIR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vue par la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évaluation vue par la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qui lit l’évaluation de sa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déclarations datées des membres, puis un onglet par lot et ses étapes, « arrêtée » ou en cours.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non évaluées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sont nommées avec leur raison : remplacée par une offre ultérieure, ou retirée par le soumissionnaire.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tout reste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confidentiel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jusqu’à l’information des candidats (art. 12-V, 35-V).</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RG-EVA-01 · RG-EVA-04 · RG-EVA-07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L’examen préliminaire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Recevabilité, éligibilité et conformité pour l’essentiel (art. 43 et 46). L’application prépare la grille à partir de ce que la séance a constaté ; la commission décide, offre par offre.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EXAMEN PRÉLIMINAIRE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de l’offre, et sa décision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grille de l’offre, et sa déci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 ; le président arrête l’étape.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Neuf vérifications, chacune avec « ce que la séance a établi » et une proposition ; la commission confirme ou corrige.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l’offre n° 2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écartée — non conforme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garantie de 800 000 Ar pour un minimum de 1 600 000 Ar, avec la clause du DAO visée (DPAO 6.6).</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décision porte son auteur et son heure ; l’étape arrêtée porte celui qui l’a arrêtée.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RG-EVA-05 · RG-EVA-08 · RG-EVA-09 · RG-EVA-10 · RG-EVA-11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EXAMEN PRÉLIMINAIRE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une précision au candidat</a:t>
            </a:r>
            <a:endParaRPr lang="en-US" sz="2600" dirty="0"/>
          </a:p>
        </p:txBody>
      </p:sp>
      <p:sp>
        <p:nvSpPr>
          <p:cNvPr id="4" name="Shape 2"/>
          <p:cNvSpPr/>
          <p:nvPr/>
        </p:nvSpPr>
        <p:spPr>
          <a:xfrm>
            <a:off x="800080" y="1193800"/>
            <a:ext cx="10591535" cy="1892706"/>
          </a:xfrm>
          <a:prstGeom prst="rect">
            <a:avLst/>
          </a:prstGeom>
          <a:solidFill>
            <a:srgbClr val="FCFCFA"/>
          </a:solidFill>
          <a:ln w="9525">
            <a:solidFill>
              <a:srgbClr val="D5DCE4"/>
            </a:solidFill>
            <a:prstDash val="solid"/>
          </a:ln>
        </p:spPr>
      </p:sp>
      <p:pic>
        <p:nvPicPr>
          <p:cNvPr id="5" name="Image 0" descr="Demander une précision au candidat">    </p:cNvPr>
          <p:cNvPicPr>
            <a:picLocks noChangeAspect="1"/>
          </p:cNvPicPr>
          <p:nvPr/>
        </p:nvPicPr>
        <p:blipFill>
          <a:blip r:embed="rId1"/>
          <a:stretch>
            <a:fillRect/>
          </a:stretch>
        </p:blipFill>
        <p:spPr>
          <a:xfrm>
            <a:off x="812780" y="1206500"/>
            <a:ext cx="10566136" cy="1867306"/>
          </a:xfrm>
          <a:prstGeom prst="rect">
            <a:avLst/>
          </a:prstGeom>
        </p:spPr>
      </p:pic>
      <p:sp>
        <p:nvSpPr>
          <p:cNvPr id="6" name="Shape 3"/>
          <p:cNvSpPr/>
          <p:nvPr/>
        </p:nvSpPr>
        <p:spPr>
          <a:xfrm>
            <a:off x="812780" y="322620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226206"/>
            <a:ext cx="38099" cy="1993900"/>
          </a:xfrm>
          <a:prstGeom prst="rect">
            <a:avLst/>
          </a:prstGeom>
          <a:solidFill>
            <a:srgbClr val="1B6FA8"/>
          </a:solidFill>
          <a:ln/>
        </p:spPr>
      </p:sp>
      <p:sp>
        <p:nvSpPr>
          <p:cNvPr id="8" name="Text 5"/>
          <p:cNvSpPr/>
          <p:nvPr/>
        </p:nvSpPr>
        <p:spPr>
          <a:xfrm>
            <a:off x="977876" y="332780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Art. 35-VI : la PRMP pose sa question par écrit, avec un délai (celui de la fiche par défaut).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précision ne sert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jamais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compléter une pièce essentielle ni à changer le prix.</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RG-EVA-12 · RG-EVA-13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EXAMEN PRÉLIMINAIRE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Répondre depuis « Mes offres »</a:t>
            </a:r>
            <a:endParaRPr lang="en-US" sz="2600" dirty="0"/>
          </a:p>
        </p:txBody>
      </p:sp>
      <p:sp>
        <p:nvSpPr>
          <p:cNvPr id="4" name="Shape 2"/>
          <p:cNvSpPr/>
          <p:nvPr/>
        </p:nvSpPr>
        <p:spPr>
          <a:xfrm>
            <a:off x="915246" y="1193800"/>
            <a:ext cx="10361203" cy="3327400"/>
          </a:xfrm>
          <a:prstGeom prst="rect">
            <a:avLst/>
          </a:prstGeom>
          <a:solidFill>
            <a:srgbClr val="FCFCFA"/>
          </a:solidFill>
          <a:ln w="9525">
            <a:solidFill>
              <a:srgbClr val="D5DCE4"/>
            </a:solidFill>
            <a:prstDash val="solid"/>
          </a:ln>
        </p:spPr>
      </p:sp>
      <p:pic>
        <p:nvPicPr>
          <p:cNvPr id="5" name="Image 0" descr="Répondre depuis « Mes offres »">    </p:cNvPr>
          <p:cNvPicPr>
            <a:picLocks noChangeAspect="1"/>
          </p:cNvPicPr>
          <p:nvPr/>
        </p:nvPicPr>
        <p:blipFill>
          <a:blip r:embed="rId1"/>
          <a:stretch>
            <a:fillRect/>
          </a:stretch>
        </p:blipFill>
        <p:spPr>
          <a:xfrm>
            <a:off x="927946" y="1206500"/>
            <a:ext cx="1033580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interrogé.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arrive par notification et par courriel ; le candidat répond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dans le délai, par un texte et, s’il le veut, une pièce.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et la réponse sont jointes au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RG-EVA-12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montant évalué et le classement</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offres se comparent hors taxes, sur un montant que l’application calcule à partir du bordereau scellé. La commission retient les corrections proposées ; elle ne fixe jamais un montant à la main.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MONTANT ÉVALUÉ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montant évalué et le tableau du guide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montant évalué et le tableau du guid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l’offre n° 4 : prix lu 168 000 000 Ar HT, prix corrigé 167 500 000 Ar, rabais 1 500 000 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montant évalué 166 000 000 Ar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rang 1.</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tableau d’évaluation du guide : une ligne par offre, du prix lu au montant évalué, au rang et à la qualification ; l’offre écartée y garde son motif.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montants en ariary, hors taxes.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RG-EVA-16 · RG-EVA-19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MONTANT ÉVALUÉ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corrections, dont une hors calcul</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corrections, dont une hors calcul">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prévaut sur le total, les lettres sur les chiffres : ces corrections ne peuvent 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reprendre celles que l’application a calculées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erreur de report du sous-total, que l’application ne calcule pas, se lit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Hors calcul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elle exige un motif et sera signalée au contrôle du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Rabais lu sur l’acte d’engagement, marge de préférence et critères additionnels du DAO — eux seuls —, refus de la correction par le 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RG-EVA-14 · RG-EVA-15 · RG-EVA-17 · RG-EVA-18 · RG-EVA-35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offres anormales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L’application donne des indicateurs ; la commission apprécie. Aucune offre n’est rejetée pour son prix sans demande écrite de justification.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ANORMALES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indicateurs de prix</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indicateurs de prix">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offre classée : l’écart à l’estimation du plan et à la moyenne des offres ; ici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+10,7 %</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sur une estimation de 150 000 000 Ar.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Sans méthode fixée par le DAO, la commission motive son appréciation au cas par cas : ce sont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indicateurs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une décision.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est jugée « non suspectée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RG-EVA-20 · RG-EVA-21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ANORMALES · PRMP ET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offre maintenue après justification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Une offre maintenue après justificat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demande ; le candidat répond ; la commission décide.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méthode du DAO est rappelée en clair : moyenne de référence, seuils de 20 % au-dessus et de 10 % au-dessous.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justification demandée, son échéance, la réponse du candidat : la commission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maintient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l’offre, motif à l’appui.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Faute de réponse à l’échéance, l’offre porterait la mention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Défaut de réponse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le silence vaut refus de justifier (art. 48).</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RG-EVA-21 · RG-EVA-22 · RG-EVA-36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La post-qualification et la proposition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commission vérifie que le mieux classé a les capacités exigées par le DAO, et lui seul tant qu’il n’échoue pas. Le lot reçoit alors sa proposition d’attribution.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POST-QUALIFICATION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 et la proposition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post-qualification et la proposit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 ; le président arrête l’étape.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proposition d’attribution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lot : offre n° 4, 166 000 000 Ar HT (prix corrigé, rabais déduit), délai de 3 mois tiré de l’acte d’engagement.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Critère par critère : l’exigence du DAO, le constat de séance, la décision et son motif ; les capacités déclarées se lisent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non qualifiée est écartée avec motif et clause : le tour passe à la suivante.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RG-EVA-23 · RG-EVA-24 · RG-EVA-25 · RG-EVA-26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rapport d’évaluation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rapport suit le plan du guide. Il se produit quand tout est arrêté et ne vaut qu’au quorum : sa signature par les membres tient lieu de PV de validation.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RAPPORT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signé, au quorum</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rapport signé, au quorum">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signent ; le président est toujours requis.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Signé de tous » : produit et signé le même jour, lisible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signature est datée ; un membre y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va au rapport.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Quorum atteint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2 sur 2 requis (majorité des membres désignés), président signataire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RG-EVA-27 · RG-EVA-29 · RG-EVA-30 · RG-EVA-38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RAPPORT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avec une observation</a:t>
            </a:r>
            <a:endParaRPr lang="en-US" sz="2600" dirty="0"/>
          </a:p>
        </p:txBody>
      </p:sp>
      <p:sp>
        <p:nvSpPr>
          <p:cNvPr id="4" name="Shape 2"/>
          <p:cNvSpPr/>
          <p:nvPr/>
        </p:nvSpPr>
        <p:spPr>
          <a:xfrm>
            <a:off x="997916" y="1193800"/>
            <a:ext cx="10195862" cy="3327400"/>
          </a:xfrm>
          <a:prstGeom prst="rect">
            <a:avLst/>
          </a:prstGeom>
          <a:solidFill>
            <a:srgbClr val="FCFCFA"/>
          </a:solidFill>
          <a:ln w="9525">
            <a:solidFill>
              <a:srgbClr val="D5DCE4"/>
            </a:solidFill>
            <a:prstDash val="solid"/>
          </a:ln>
        </p:spPr>
      </p:sp>
      <p:pic>
        <p:nvPicPr>
          <p:cNvPr id="5" name="Image 0" descr="Signer, avec une observation">    </p:cNvPr>
          <p:cNvPicPr>
            <a:picLocks noChangeAspect="1"/>
          </p:cNvPicPr>
          <p:nvPr/>
        </p:nvPicPr>
        <p:blipFill>
          <a:blip r:embed="rId1"/>
          <a:stretch>
            <a:fillRect/>
          </a:stretch>
        </p:blipFill>
        <p:spPr>
          <a:xfrm>
            <a:off x="1010616" y="1206500"/>
            <a:ext cx="1017046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Chaque membre qui n’a pas déclaré de conflit.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relit le rapport, puis signe : signature électronique simple, horodatée.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désaccord, il porte son observation au rapport ; un empêchement est constaté par le président,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RG-EVA-29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RAPPORT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sur le plan du guide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rapport, sur le plan du gui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4581801" y="1206500"/>
            <a:ext cx="6797115" cy="5080000"/>
          </a:xfrm>
          <a:prstGeom prst="rect">
            <a:avLst/>
          </a:prstGeom>
          <a:solidFill>
            <a:srgbClr val="FCFCFA"/>
          </a:solidFill>
          <a:ln w="9525">
            <a:solidFill>
              <a:srgbClr val="D5DCE4"/>
            </a:solidFill>
            <a:prstDash val="solid"/>
          </a:ln>
        </p:spPr>
      </p:sp>
      <p:sp>
        <p:nvSpPr>
          <p:cNvPr id="7" name="Shape 4"/>
          <p:cNvSpPr/>
          <p:nvPr/>
        </p:nvSpPr>
        <p:spPr>
          <a:xfrm>
            <a:off x="4581801" y="1206500"/>
            <a:ext cx="38099" cy="5080000"/>
          </a:xfrm>
          <a:prstGeom prst="rect">
            <a:avLst/>
          </a:prstGeom>
          <a:solidFill>
            <a:srgbClr val="1B6FA8"/>
          </a:solidFill>
          <a:ln/>
        </p:spPr>
      </p:sp>
      <p:sp>
        <p:nvSpPr>
          <p:cNvPr id="8" name="Text 5"/>
          <p:cNvSpPr/>
          <p:nvPr/>
        </p:nvSpPr>
        <p:spPr>
          <a:xfrm>
            <a:off x="4746897" y="1308100"/>
            <a:ext cx="6505022"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Produit par l’application ; non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Références et commission, plis reçus, puis lot par lot : examen préliminaire, corrections, montant évalué et classement, offres anormales, post-qualification, proposition d’attribution.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signatures et les annexes : déclarations des membres, échanges avec les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CLOSE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L’étape close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étape clos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 qui lisent l’évaluation.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Étape close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le dossier de marché n° 100372 (lot 1) est soumis à la Commission ; la séance, l’évaluation et l’AMI de la procédure ne se modifient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une reprise de l’évaluation après avis défavorable, ou une réattribution, les rouvre ; la PRMP ouvre le dossier de marché d’un clic.</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lectures restent ouvertes : rapport, PV, PDF et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prestations intellectuelles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Pour une consultation de prestations intellectuelles, la commission note d’abord les propositions techniques ; seules les enveloppes financières des propositions retenues s’ouvrent ensuite, puis la PRMP négocie avec le premier classé.</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technique d’un membre</a:t>
            </a:r>
            <a:endParaRPr lang="en-US" sz="2600" dirty="0"/>
          </a:p>
        </p:txBody>
      </p:sp>
      <p:sp>
        <p:nvSpPr>
          <p:cNvPr id="4" name="Shape 2"/>
          <p:cNvSpPr/>
          <p:nvPr/>
        </p:nvSpPr>
        <p:spPr>
          <a:xfrm>
            <a:off x="2275249" y="1193800"/>
            <a:ext cx="7641196" cy="3327400"/>
          </a:xfrm>
          <a:prstGeom prst="rect">
            <a:avLst/>
          </a:prstGeom>
          <a:solidFill>
            <a:srgbClr val="FCFCFA"/>
          </a:solidFill>
          <a:ln w="9525">
            <a:solidFill>
              <a:srgbClr val="D5DCE4"/>
            </a:solidFill>
            <a:prstDash val="solid"/>
          </a:ln>
        </p:spPr>
      </p:sp>
      <p:pic>
        <p:nvPicPr>
          <p:cNvPr id="5" name="Image 0" descr="La grille technique d’un membre">    </p:cNvPr>
          <p:cNvPicPr>
            <a:picLocks noChangeAspect="1"/>
          </p:cNvPicPr>
          <p:nvPr/>
        </p:nvPicPr>
        <p:blipFill>
          <a:blip r:embed="rId1"/>
          <a:stretch>
            <a:fillRect/>
          </a:stretch>
        </p:blipFill>
        <p:spPr>
          <a:xfrm>
            <a:off x="2287949" y="1206500"/>
            <a:ext cx="761579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Chaque membre sans conflit.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note chaque élément de la grille de la fiche et motive ; la moyenne, le minimum et le maximum s’affichent.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est signalée quand la note la plus haute et la plus basse s’écartent de plus de 20 % du maximum.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 technique</a:t>
            </a:r>
            <a:endParaRPr lang="en-US" sz="2600" dirty="0"/>
          </a:p>
        </p:txBody>
      </p:sp>
      <p:sp>
        <p:nvSpPr>
          <p:cNvPr id="4" name="Shape 2"/>
          <p:cNvSpPr/>
          <p:nvPr/>
        </p:nvSpPr>
        <p:spPr>
          <a:xfrm>
            <a:off x="800080" y="1193800"/>
            <a:ext cx="10591535" cy="2855169"/>
          </a:xfrm>
          <a:prstGeom prst="rect">
            <a:avLst/>
          </a:prstGeom>
          <a:solidFill>
            <a:srgbClr val="FCFCFA"/>
          </a:solidFill>
          <a:ln w="9525">
            <a:solidFill>
              <a:srgbClr val="D5DCE4"/>
            </a:solidFill>
            <a:prstDash val="solid"/>
          </a:ln>
        </p:spPr>
      </p:sp>
      <p:pic>
        <p:nvPicPr>
          <p:cNvPr id="5" name="Image 0" descr="Le classement technique">    </p:cNvPr>
          <p:cNvPicPr>
            <a:picLocks noChangeAspect="1"/>
          </p:cNvPicPr>
          <p:nvPr/>
        </p:nvPicPr>
        <p:blipFill>
          <a:blip r:embed="rId1"/>
          <a:stretch>
            <a:fillRect/>
          </a:stretch>
        </p:blipFill>
        <p:spPr>
          <a:xfrm>
            <a:off x="812780" y="1206500"/>
            <a:ext cx="10566136" cy="2829769"/>
          </a:xfrm>
          <a:prstGeom prst="rect">
            <a:avLst/>
          </a:prstGeom>
        </p:spPr>
      </p:pic>
      <p:sp>
        <p:nvSpPr>
          <p:cNvPr id="6" name="Shape 3"/>
          <p:cNvSpPr/>
          <p:nvPr/>
        </p:nvSpPr>
        <p:spPr>
          <a:xfrm>
            <a:off x="812780" y="4188669"/>
            <a:ext cx="10566136" cy="1993900"/>
          </a:xfrm>
          <a:prstGeom prst="rect">
            <a:avLst/>
          </a:prstGeom>
          <a:solidFill>
            <a:srgbClr val="FCFCFA"/>
          </a:solidFill>
          <a:ln w="9525">
            <a:solidFill>
              <a:srgbClr val="D5DCE4"/>
            </a:solidFill>
            <a:prstDash val="solid"/>
          </a:ln>
        </p:spPr>
      </p:sp>
      <p:sp>
        <p:nvSpPr>
          <p:cNvPr id="7" name="Shape 4"/>
          <p:cNvSpPr/>
          <p:nvPr/>
        </p:nvSpPr>
        <p:spPr>
          <a:xfrm>
            <a:off x="812780" y="4188669"/>
            <a:ext cx="38099" cy="1993900"/>
          </a:xfrm>
          <a:prstGeom prst="rect">
            <a:avLst/>
          </a:prstGeom>
          <a:solidFill>
            <a:srgbClr val="1B6FA8"/>
          </a:solidFill>
          <a:ln/>
        </p:spPr>
      </p:sp>
      <p:sp>
        <p:nvSpPr>
          <p:cNvPr id="8" name="Text 5"/>
          <p:cNvSpPr/>
          <p:nvPr/>
        </p:nvSpPr>
        <p:spPr>
          <a:xfrm>
            <a:off x="977876" y="4290269"/>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 le président arrête.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note technique, somme des moyennes ; les grilles reçues ou complètes ; le rang.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Sous le score minimum, la proposition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éliminée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ici 67,5 points pour un minimum de 70.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séance et le classement financier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seconde séance et le classement financie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seconde séance n’ouvre que l’enveloppe financière de la proposition retenue ; l’enveloppe éliminée à l’évaluation technique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ne s’ouvre pas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raison est écrite.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Méthode qualité-coût, poids technique 0,8 et financier 0,2 : le classement est arrêté par le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saisie d’une enveloppe financière</a:t>
            </a:r>
            <a:endParaRPr lang="en-US" sz="2600" dirty="0"/>
          </a:p>
        </p:txBody>
      </p:sp>
      <p:sp>
        <p:nvSpPr>
          <p:cNvPr id="4" name="Shape 2"/>
          <p:cNvSpPr/>
          <p:nvPr/>
        </p:nvSpPr>
        <p:spPr>
          <a:xfrm>
            <a:off x="1616405" y="1193800"/>
            <a:ext cx="8958885" cy="3327400"/>
          </a:xfrm>
          <a:prstGeom prst="rect">
            <a:avLst/>
          </a:prstGeom>
          <a:solidFill>
            <a:srgbClr val="FCFCFA"/>
          </a:solidFill>
          <a:ln w="9525">
            <a:solidFill>
              <a:srgbClr val="D5DCE4"/>
            </a:solidFill>
            <a:prstDash val="solid"/>
          </a:ln>
        </p:spPr>
      </p:sp>
      <p:pic>
        <p:nvPicPr>
          <p:cNvPr id="5" name="Image 0" descr="La saisie d’une enveloppe financière">    </p:cNvPr>
          <p:cNvPicPr>
            <a:picLocks noChangeAspect="1"/>
          </p:cNvPicPr>
          <p:nvPr/>
        </p:nvPicPr>
        <p:blipFill>
          <a:blip r:embed="rId1"/>
          <a:stretch>
            <a:fillRect/>
          </a:stretch>
        </p:blipFill>
        <p:spPr>
          <a:xfrm>
            <a:off x="1629105" y="1206500"/>
            <a:ext cx="893348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Les membres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Corrections arithmétiques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dépenses remboursables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saisies par la commission : le montant comparé en découle.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Ces dépenses servent à comparer les propositions ; elles ne changent pas le prix du marché.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RG-EVA-32 · RG-EVA-35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négociation à conclure</a:t>
            </a:r>
            <a:endParaRPr lang="en-US" sz="2600" dirty="0"/>
          </a:p>
        </p:txBody>
      </p:sp>
      <p:sp>
        <p:nvSpPr>
          <p:cNvPr id="4" name="Shape 2"/>
          <p:cNvSpPr/>
          <p:nvPr/>
        </p:nvSpPr>
        <p:spPr>
          <a:xfrm>
            <a:off x="2841550" y="1193800"/>
            <a:ext cx="6508596" cy="3327400"/>
          </a:xfrm>
          <a:prstGeom prst="rect">
            <a:avLst/>
          </a:prstGeom>
          <a:solidFill>
            <a:srgbClr val="FCFCFA"/>
          </a:solidFill>
          <a:ln w="9525">
            <a:solidFill>
              <a:srgbClr val="D5DCE4"/>
            </a:solidFill>
            <a:prstDash val="solid"/>
          </a:ln>
        </p:spPr>
      </p:sp>
      <p:pic>
        <p:nvPicPr>
          <p:cNvPr id="5" name="Image 0" descr="La négociation à conclure">    </p:cNvPr>
          <p:cNvPicPr>
            <a:picLocks noChangeAspect="1"/>
          </p:cNvPicPr>
          <p:nvPr/>
        </p:nvPicPr>
        <p:blipFill>
          <a:blip r:embed="rId1"/>
          <a:stretch>
            <a:fillRect/>
          </a:stretch>
        </p:blipFill>
        <p:spPr>
          <a:xfrm>
            <a:off x="2854249" y="1206500"/>
            <a:ext cx="648319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ou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négociation se tient avec le premier classé, sur des points non substantiels (art. 42-IV).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conclut : réussie, ou échouée et motivée ; le procès-verbal dit ce qui a été négocié et convenu.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négociation réussie, le rapport à produire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négociation réussie, le rapport à produ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Prix lu et corrigé 2 400 000 000 Ar HT, dépenses remboursables 150 000 000 Ar : montant comparé 2 250 000 000 Ar, score combiné 89,6, rang 1.</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négociation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réussie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son PV se lit en PDF et en Word, et la proposition d’attribution en découle.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lot étant prêt, le responsable produit le rapport, avec ses observations facultatives.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RG-EVA-33 · RG-EVA-34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LES OFFRES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décision motivée, signée, conservée</a:t>
            </a:r>
            <a:endParaRPr lang="en-US" sz="1500" dirty="0"/>
          </a:p>
        </p:txBody>
      </p:sp>
      <p:sp>
        <p:nvSpPr>
          <p:cNvPr id="7" name="Text 5"/>
          <p:cNvSpPr/>
          <p:nvPr/>
        </p:nvSpPr>
        <p:spPr>
          <a:xfrm>
            <a:off x="952476"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décision de la commission porte son auteur, son heure et son motif ; une décision corrigée laisse la précédente au registre, et le journal de l’évaluation garde tout.</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Pas de conflit d’intérêts caché</a:t>
            </a:r>
            <a:endParaRPr lang="en-US" sz="1500" dirty="0"/>
          </a:p>
        </p:txBody>
      </p:sp>
      <p:sp>
        <p:nvSpPr>
          <p:cNvPr id="11" name="Text 9"/>
          <p:cNvSpPr/>
          <p:nvPr/>
        </p:nvSpPr>
        <p:spPr>
          <a:xfrm>
            <a:off x="4525320"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membre ne décide avant d’avoir déclaré n’avoir aucun conflit et accepté la confidentialité ; celui qui déclare un conflit ne décide rien.</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montant calculé, jamais saisi</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montant évalué résulte du calcul de l’application, hors taxes ; une correction hors de ce calcul exige un motif et est signalée au contrôle de la Commission (art. 46-47).</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Pas de rejet sans justification demandée</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offre anormale n’est rejetée qu’après une demande écrite de la PRMP, et la réponse du candidat ou l’échéance ; le silence est écrit comme un refus de justifier (art. 48).</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rapport au quorum</a:t>
            </a:r>
            <a:endParaRPr lang="en-US" sz="1500" dirty="0"/>
          </a:p>
        </p:txBody>
      </p:sp>
      <p:sp>
        <p:nvSpPr>
          <p:cNvPr id="23" name="Text 21"/>
          <p:cNvSpPr/>
          <p:nvPr/>
        </p:nvSpPr>
        <p:spPr>
          <a:xfrm>
            <a:off x="4525320"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rapport ne se produit et ne se clôt qu’au quorum fixé, président toujours requis ; le quorum constaté est imprimé au rapport, qui vaut PV de validation.</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évaluation figée sous contrôle</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Dès que le dossier de marché est soumis, la séance, l’évaluation et l’AMI ne se modifient plus ; seule une reprise ou une réattribution motivée et tracée les rouvre.</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09</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Attribuer et notifier</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Du rapport d’évaluation au marché notifié : le dossier de marché passe au contrôle de la Commission, puis la PRMP attribue, informe, attend, vérifie, signe, fait approuver et enregistrer, notifie et publie — chaque geste n’étant ouvert qu’une fois le précédent accompli et les délais de la loi tenus.</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Aucun marché issu d’une procédure en ligne n’échappe au contrôle a priori : chaque lot attribuable devient un dossier de marché, dont l’application produit elle-même le projet.</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Les délais légaux ne dépendent plus de la vigilance de chacun : délai d’attente, recours suspensifs, pièces de l’attributaire, original de l’acte d’engagement, approbation et enregistrement ferment la signature ou la notification tant qu’ils ne sont pas satisfaits.</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Les candidats sont informés en ligne et par courriel, avec les motifs tirés du rapport ; le résultat, puis l’avis d’attribution, paraissent sur la page publique de la procédure.</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rapport signé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lot suit son propre chemin. Quand l’issue n’est pas l’attribution, la PRMP déclare le lot infructueux, reprend l’évaluation après un avis défavorable, réattribue après un retrait, ou demande à déclarer la procédure sans suite.</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PRMP OU SON UGPM</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Le dossier de marché</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Un dossier par lot attribuable, avec le projet de marché et les pièces jointes d’office, part au contrôle de la Commission.</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PRMP</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Attribuer</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Après l’avis favorable de la Commission, le lot va à l’offre proposée par la commission d’appel d’offres, et à elle seule.</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PRMP</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Informer et attendre</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Lettres signées électroniquement à chaque candidat évalué, affichage au siège, puis dix jours francs d’attente.</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L’ATTRIBUTAIRE ET LA PRMP</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Pièces, original et recours</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Attestations fiscale et sociale, original signé de l’acte d’engagement, recours déclarés et tranchés.</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PRMP</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Signer, approuver, enregistrer</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signature s’ouvre quand tout est réuni ; l’approbation et l’enregistrement suivent.</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LA PRMP</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Notifier et publier</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Le marché notifié prend effet à sa réception ; l’avis d’attribution paraît dans les trente jours.</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dossier de marché au contrôle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rapport signé, la PRMP crée un dossier de marché par lot attribuable. Il suit le circuit ordinaire de la Commission, qui l’examine sur une grille tirée du guide.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DOSSIER DE MARCHÉ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L’attribution, lot par lot</a:t>
            </a:r>
            <a:endParaRPr lang="en-US" sz="2600" dirty="0"/>
          </a:p>
        </p:txBody>
      </p:sp>
      <p:sp>
        <p:nvSpPr>
          <p:cNvPr id="4" name="Shape 2"/>
          <p:cNvSpPr/>
          <p:nvPr/>
        </p:nvSpPr>
        <p:spPr>
          <a:xfrm>
            <a:off x="800080" y="1193800"/>
            <a:ext cx="10591535" cy="1926041"/>
          </a:xfrm>
          <a:prstGeom prst="rect">
            <a:avLst/>
          </a:prstGeom>
          <a:solidFill>
            <a:srgbClr val="FCFCFA"/>
          </a:solidFill>
          <a:ln w="9525">
            <a:solidFill>
              <a:srgbClr val="D5DCE4"/>
            </a:solidFill>
            <a:prstDash val="solid"/>
          </a:ln>
        </p:spPr>
      </p:sp>
      <p:pic>
        <p:nvPicPr>
          <p:cNvPr id="5" name="Image 0" descr="L’attribution, lot par lot">    </p:cNvPr>
          <p:cNvPicPr>
            <a:picLocks noChangeAspect="1"/>
          </p:cNvPicPr>
          <p:nvPr/>
        </p:nvPicPr>
        <p:blipFill>
          <a:blip r:embed="rId1"/>
          <a:stretch>
            <a:fillRect/>
          </a:stretch>
        </p:blipFill>
        <p:spPr>
          <a:xfrm>
            <a:off x="812780" y="1206500"/>
            <a:ext cx="10566136" cy="1900641"/>
          </a:xfrm>
          <a:prstGeom prst="rect">
            <a:avLst/>
          </a:prstGeom>
        </p:spPr>
      </p:pic>
      <p:sp>
        <p:nvSpPr>
          <p:cNvPr id="6" name="Shape 3"/>
          <p:cNvSpPr/>
          <p:nvPr/>
        </p:nvSpPr>
        <p:spPr>
          <a:xfrm>
            <a:off x="812780" y="325954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259541"/>
            <a:ext cx="38099" cy="2197100"/>
          </a:xfrm>
          <a:prstGeom prst="rect">
            <a:avLst/>
          </a:prstGeom>
          <a:solidFill>
            <a:srgbClr val="1B6FA8"/>
          </a:solidFill>
          <a:ln/>
        </p:spPr>
      </p:sp>
      <p:sp>
        <p:nvSpPr>
          <p:cNvPr id="8" name="Text 5"/>
          <p:cNvSpPr/>
          <p:nvPr/>
        </p:nvSpPr>
        <p:spPr>
          <a:xfrm>
            <a:off x="977876" y="336114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lot et la proposition du rapport : l’offre, le candidat, le montant hors taxes et le délai.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Créer le dossier de marché » : l’application y joint d’office le projet de marché, le DAO complet, le devis de l’offre, le PV d’ouverture et le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RG-ATT-01 · RG-ATT-02 · RG-ATT-03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DOSSIER DE MARCHÉ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Deux lots, deux issues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Deux lots, deux issu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Lot 1 : le dossier de marché est créé ; le projet de marché se lit en PDF ou en Word, et se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refait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tant que le marché n’est pas signé.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Lot 2 : aucune offre qualifiée, le rapport proposait l’infructuosité ; la PRMP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déclarée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motif, référence et date de sa décision, suite annoncée (relance de la procédure).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de déclaration sans suite reste accessible sous les lots.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RG-ATT-02 · RG-ATT-04 · RG-ATT-25 · RG-ATT-29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DOSSIER DE MARCHÉ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au contrôle de la Commission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ossier de marché, au contrôle de la Commis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suit ; la Commission examine.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de marché de prestations intellectuelles (sous-type MPI) à l’étape de vérification, avec sa fin de traitement prévue.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jointes d’office : projet de marché, cahier des charges (DAO complet), PV d’ouverture, rapport d’analyse des offres, puis les pièces exigées du sous-type.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actes de gestion ne s’y déposent qu’une fois le marché contrôlé favorablement.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RG-ATT-03 · RG-ATT-05 · RG-ATT-06 · RG-ATT-32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Attribuer et informer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L’avis favorable de la Commission ouvre l’attribution. La PRMP informe alors tous les candidats évalués ; le délai d’attente court depuis la réception présumée de cette information.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après l’avis favorable de la Commission</a:t>
            </a:r>
            <a:endParaRPr lang="en-US" sz="2600" dirty="0"/>
          </a:p>
        </p:txBody>
      </p:sp>
      <p:sp>
        <p:nvSpPr>
          <p:cNvPr id="4" name="Shape 2"/>
          <p:cNvSpPr/>
          <p:nvPr/>
        </p:nvSpPr>
        <p:spPr>
          <a:xfrm>
            <a:off x="800080" y="1193800"/>
            <a:ext cx="10591535" cy="2646974"/>
          </a:xfrm>
          <a:prstGeom prst="rect">
            <a:avLst/>
          </a:prstGeom>
          <a:solidFill>
            <a:srgbClr val="FCFCFA"/>
          </a:solidFill>
          <a:ln w="9525">
            <a:solidFill>
              <a:srgbClr val="D5DCE4"/>
            </a:solidFill>
            <a:prstDash val="solid"/>
          </a:ln>
        </p:spPr>
      </p:sp>
      <p:pic>
        <p:nvPicPr>
          <p:cNvPr id="5" name="Image 0" descr="Le lot, après l’avis favorable de la Commission">    </p:cNvPr>
          <p:cNvPicPr>
            <a:picLocks noChangeAspect="1"/>
          </p:cNvPicPr>
          <p:nvPr/>
        </p:nvPicPr>
        <p:blipFill>
          <a:blip r:embed="rId1"/>
          <a:stretch>
            <a:fillRect/>
          </a:stretch>
        </p:blipFill>
        <p:spPr>
          <a:xfrm>
            <a:off x="812780" y="1206500"/>
            <a:ext cx="10566136" cy="2621574"/>
          </a:xfrm>
          <a:prstGeom prst="rect">
            <a:avLst/>
          </a:prstGeom>
        </p:spPr>
      </p:pic>
      <p:sp>
        <p:nvSpPr>
          <p:cNvPr id="6" name="Shape 3"/>
          <p:cNvSpPr/>
          <p:nvPr/>
        </p:nvSpPr>
        <p:spPr>
          <a:xfrm>
            <a:off x="812780" y="39804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80474"/>
            <a:ext cx="38099" cy="1993900"/>
          </a:xfrm>
          <a:prstGeom prst="rect">
            <a:avLst/>
          </a:prstGeom>
          <a:solidFill>
            <a:srgbClr val="1B6FA8"/>
          </a:solidFill>
          <a:ln/>
        </p:spPr>
      </p:sp>
      <p:sp>
        <p:nvSpPr>
          <p:cNvPr id="8" name="Text 5"/>
          <p:cNvSpPr/>
          <p:nvPr/>
        </p:nvSpPr>
        <p:spPr>
          <a:xfrm>
            <a:off x="977876" y="40820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et elle seule.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peut être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Attribuer à l’offre proposée » : seule l’offre proposée par la commission d’appel d’offres peut l’être (art. 35-VII).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RG-ATT-07 · RG-ATT-08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INFORMER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sp>
        <p:nvSpPr>
          <p:cNvPr id="4" name="Shape 2"/>
          <p:cNvSpPr/>
          <p:nvPr/>
        </p:nvSpPr>
        <p:spPr>
          <a:xfrm>
            <a:off x="800080" y="1193800"/>
            <a:ext cx="10591535" cy="2183381"/>
          </a:xfrm>
          <a:prstGeom prst="rect">
            <a:avLst/>
          </a:prstGeom>
          <a:solidFill>
            <a:srgbClr val="FCFCFA"/>
          </a:solidFill>
          <a:ln w="9525">
            <a:solidFill>
              <a:srgbClr val="D5DCE4"/>
            </a:solidFill>
            <a:prstDash val="solid"/>
          </a:ln>
        </p:spPr>
      </p:sp>
      <p:pic>
        <p:nvPicPr>
          <p:cNvPr id="5" name="Image 0" descr="Informer les candidats">    </p:cNvPr>
          <p:cNvPicPr>
            <a:picLocks noChangeAspect="1"/>
          </p:cNvPicPr>
          <p:nvPr/>
        </p:nvPicPr>
        <p:blipFill>
          <a:blip r:embed="rId1"/>
          <a:stretch>
            <a:fillRect/>
          </a:stretch>
        </p:blipFill>
        <p:spPr>
          <a:xfrm>
            <a:off x="812780" y="1206500"/>
            <a:ext cx="10566136" cy="2157981"/>
          </a:xfrm>
          <a:prstGeom prst="rect">
            <a:avLst/>
          </a:prstGeom>
        </p:spPr>
      </p:pic>
      <p:sp>
        <p:nvSpPr>
          <p:cNvPr id="6" name="Shape 3"/>
          <p:cNvSpPr/>
          <p:nvPr/>
        </p:nvSpPr>
        <p:spPr>
          <a:xfrm>
            <a:off x="812780" y="351688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16881"/>
            <a:ext cx="38099" cy="2197100"/>
          </a:xfrm>
          <a:prstGeom prst="rect">
            <a:avLst/>
          </a:prstGeom>
          <a:solidFill>
            <a:srgbClr val="1B6FA8"/>
          </a:solidFill>
          <a:ln/>
        </p:spPr>
      </p:sp>
      <p:sp>
        <p:nvSpPr>
          <p:cNvPr id="8" name="Text 5"/>
          <p:cNvSpPr/>
          <p:nvPr/>
        </p:nvSpPr>
        <p:spPr>
          <a:xfrm>
            <a:off x="977876" y="361848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affichage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résultat au siège, puis « Signer et envoyer les lettres » : une lettre par offre évaluée (art. 52).</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rejet sont tirés du rapport d’évaluation.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RG-ATT-09 · RG-ATT-10 · RG-ATT-11 · RG-ATT-14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INFORMER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Attribué, puis informé</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Attribué, puis informé">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porte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est attribué à l’offre n° 4 pour 166 000 000 Ar HT, délai 3 mois.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sont signées électroniquement, l’affichage au siège est déclaré ; pour chaque candidat, l’heure du courriel et celle de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première lecture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sur la plateforme, qui vaut accusé de réception.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RG-ATT-07 · RG-ATT-09 · RG-ATT-10 · RG-ATT-11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INFORMER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 d’attente, explications et recours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Délai d’attente, explications et recour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10 jours francs à compter du 10/10/2026 »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réception présumée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l’information, 3 jours après l’envoi (ou l’affichage s’il est plus tardif) ; signature possible à partir du 21/10/2026.</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d’explication d’un candidat écarté et la réponse écrite de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demande en révision auprès de l’ARMP (art. 80)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Signature suspendue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jusqu’à la décision, au plus tard le 27/10/2026 » ; la décision se déclare avec son issue et son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RG-ATT-12 · RG-ATT-13 · RG-ATT-15 · RG-ATT-16 · RG-ATT-17 · RG-ATT-35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INFORMER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candidat écarté : résultat et motif</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candidat écarté : résultat et motif">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non retenu, dans « Mes offres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Offre non retenue », avec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écartée à l’examen préliminaire pour une garantie insuffisante (DPAO 6.6).</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L’attributaire et le montant, les dates d’information, d’affichage et de signature possible ; la lettre à lire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demande d’explication et la réponse de la PRMP, sous le résultat.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RG-ATT-09 · RG-ATT-10 · RG-ATT-13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INFORMER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résultat public de la procédure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résultat public de la procédu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publique de la procédure : le résultat par lot — attributaire et montant hors taxes —, avec les dates de communication et d’affichage.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L’extrait du PV d’ouverture et les questions des candidats y restent lisibles ; l’avis d’attribution y paraîtra une fois publié.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RG-ATT-11 · RG-ATT-24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pièces de l’attributaire et la signature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signature du marché ne s’ouvre que lorsque tout est réuni : le délai d’attente écoulé, aucun recours suspensif en cours, les pièces reconnues conformes et, en remise électronique, l’original signé de l’acte d’engagement.</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PIÈCES · CANDIDAT ATTRIBUTAIRE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L’attributaire dépose ses pièces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ttributaire dépose ses pièc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candidat attributaire, dans « Mes offres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Votre offre est retenue » ; la lettre d’attribution se lit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fiscale et sociale à déposer avant le 22/10/2026 (art. 20-I) : « Sans elles, le marché vous est retiré » ; chacune se lit ensuite « conforme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déposée et scellée en ligne : il remet aussi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original signé de son acte d’engagement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en dépose le scan ici, sans l’échéance des quinze jours.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RG-ATT-18 · RG-ATT-19 · RG-ATT-34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259</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PIÈCES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vérifiées, l’original attendu</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ièces vérifiées, l’original attendu">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L’échéance des pièces,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dates de délivrance les plus anciennes admises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(07/04/2026 pour la fiscale, 07/07/2026 pour la sociale) : une pièce plus ancienne ne peut être reconnue conforme.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 sa date de délivrance, son dépôt, son fichier et son état.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L’original de l’acte d’engagement est annoncé « à déposer » ; la PRMP qui l’a reçu l’enregistre (date de remise facultative, scan) puis le vérifie.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RG-ATT-18 · RG-ATT-19 · RG-ATT-34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260</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SIGNATURE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Mise au point et signature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ise au point et signatu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mise au point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l’attributaire : calendrier de démarrage précisé, sans modification du prix ni des prestations.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Signer le marché » est ouvert quand le délai d’attente est écoulé, sans recours suspensif, les deux pièces conformes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l’original de l’acte d’engagement reconnu conforme ; le bouton reste fermé ici.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Viennent ensuite l’approbation, l’enregistrement, la notification et l’avis d’attribution (sans capture : aucun lot de la base n’a encore atteint ces états).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RG-ATT-20 · RG-ATT-21 · RG-ATT-22 · RG-ATT-33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261</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Quand le lot n’est pas attribué</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Un avis défavorable, un retrait du marché ou un motif d’intérêt général ouvrent d’autres issues, toujours motivées et soumises à la Commission quand la loi le veut.</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262</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APRÈS UN AVIS DÉFAVORABLE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un avis défavorable : infructuosité ou reprise</a:t>
            </a:r>
            <a:endParaRPr lang="en-US" sz="2600" dirty="0"/>
          </a:p>
        </p:txBody>
      </p:sp>
      <p:sp>
        <p:nvSpPr>
          <p:cNvPr id="4" name="Shape 2"/>
          <p:cNvSpPr/>
          <p:nvPr/>
        </p:nvSpPr>
        <p:spPr>
          <a:xfrm>
            <a:off x="2894620" y="1193800"/>
            <a:ext cx="6402454" cy="3327400"/>
          </a:xfrm>
          <a:prstGeom prst="rect">
            <a:avLst/>
          </a:prstGeom>
          <a:solidFill>
            <a:srgbClr val="FCFCFA"/>
          </a:solidFill>
          <a:ln w="9525">
            <a:solidFill>
              <a:srgbClr val="D5DCE4"/>
            </a:solidFill>
            <a:prstDash val="solid"/>
          </a:ln>
        </p:spPr>
      </p:sp>
      <p:pic>
        <p:nvPicPr>
          <p:cNvPr id="5" name="Image 0" descr="Après un avis défavorable : infructuosité ou reprise">    </p:cNvPr>
          <p:cNvPicPr>
            <a:picLocks noChangeAspect="1"/>
          </p:cNvPicPr>
          <p:nvPr/>
        </p:nvPicPr>
        <p:blipFill>
          <a:blip r:embed="rId1"/>
          <a:stretch>
            <a:fillRect/>
          </a:stretch>
        </p:blipFill>
        <p:spPr>
          <a:xfrm>
            <a:off x="2907320" y="1206500"/>
            <a:ext cx="6377055"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un avis défavorable : la PRMP déclare le lot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infructueux</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(motif, référence et date de sa décision, suite envisagée),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reprend l’évaluation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RG-ATT-29 · RG-ATT-30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263</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APRÈS UN AVIS DÉFAVORABLE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reprise, le rapport archivé</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évaluation reprise, le rapport archivé">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reprend ; la commission refait le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Reprise après avis défavorable », datée et motivée : le rapport est repris pour corriger le calendrier de mobilisation.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signé précédent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lisible en PDF et en Word ; le lot revient « Évaluation en cours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nouveau rapport, puis un nouveau dossier de marché suivront.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RG-ATT-30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264</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SANS SUITE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déclaration sans suite</a:t>
            </a:r>
            <a:endParaRPr lang="en-US" sz="2600" dirty="0"/>
          </a:p>
        </p:txBody>
      </p:sp>
      <p:sp>
        <p:nvSpPr>
          <p:cNvPr id="4" name="Shape 2"/>
          <p:cNvSpPr/>
          <p:nvPr/>
        </p:nvSpPr>
        <p:spPr>
          <a:xfrm>
            <a:off x="1420550" y="1193800"/>
            <a:ext cx="9350595" cy="3327400"/>
          </a:xfrm>
          <a:prstGeom prst="rect">
            <a:avLst/>
          </a:prstGeom>
          <a:solidFill>
            <a:srgbClr val="FCFCFA"/>
          </a:solidFill>
          <a:ln w="9525">
            <a:solidFill>
              <a:srgbClr val="D5DCE4"/>
            </a:solidFill>
            <a:prstDash val="solid"/>
          </a:ln>
        </p:spPr>
      </p:sp>
      <p:pic>
        <p:nvPicPr>
          <p:cNvPr id="5" name="Image 0" descr="La demande de déclaration sans suite">    </p:cNvPr>
          <p:cNvPicPr>
            <a:picLocks noChangeAspect="1"/>
          </p:cNvPicPr>
          <p:nvPr/>
        </p:nvPicPr>
        <p:blipFill>
          <a:blip r:embed="rId1"/>
          <a:stretch>
            <a:fillRect/>
          </a:stretch>
        </p:blipFill>
        <p:spPr>
          <a:xfrm>
            <a:off x="1433250" y="1206500"/>
            <a:ext cx="9325195"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tout moment avant la signature d’un marché de la procédure, la PRMP demande,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l’appui.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forment une pièce du dossier soumis à la Commission, qui rend un avis favorable ou défavorable sous cinq jours de la réception.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265</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SANS SUITE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déclaration sans suite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dossier de déclaration sans suit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suit ; la Commission examine.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 Déclaration sans suite » suit le circuit ordinaire, ici à l’étape de vérification.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la déclaration, en tête des pièces, puis la fiche de présentation, le plan contrôlé, le projet de décision et les justificatifs.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266</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SANS SUITE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favorable : la PRMP déclare</a:t>
            </a:r>
            <a:endParaRPr lang="en-US" sz="2600" dirty="0"/>
          </a:p>
        </p:txBody>
      </p:sp>
      <p:sp>
        <p:nvSpPr>
          <p:cNvPr id="4" name="Shape 2"/>
          <p:cNvSpPr/>
          <p:nvPr/>
        </p:nvSpPr>
        <p:spPr>
          <a:xfrm>
            <a:off x="1016922" y="1193800"/>
            <a:ext cx="10157851" cy="3327400"/>
          </a:xfrm>
          <a:prstGeom prst="rect">
            <a:avLst/>
          </a:prstGeom>
          <a:solidFill>
            <a:srgbClr val="FCFCFA"/>
          </a:solidFill>
          <a:ln w="9525">
            <a:solidFill>
              <a:srgbClr val="D5DCE4"/>
            </a:solidFill>
            <a:prstDash val="solid"/>
          </a:ln>
        </p:spPr>
      </p:sp>
      <p:pic>
        <p:nvPicPr>
          <p:cNvPr id="5" name="Image 0" descr="L’avis favorable : la PRMP déclare">    </p:cNvPr>
          <p:cNvPicPr>
            <a:picLocks noChangeAspect="1"/>
          </p:cNvPicPr>
          <p:nvPr/>
        </p:nvPicPr>
        <p:blipFill>
          <a:blip r:embed="rId1"/>
          <a:stretch>
            <a:fillRect/>
          </a:stretch>
        </p:blipFill>
        <p:spPr>
          <a:xfrm>
            <a:off x="1029622" y="1206500"/>
            <a:ext cx="1013245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L’avis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rendu, la PRMP déclare le sans suite : la référence et la date de sa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267</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SANS SUITE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déclarée sans suite</a:t>
            </a:r>
            <a:endParaRPr lang="en-US" sz="2600" dirty="0"/>
          </a:p>
        </p:txBody>
      </p:sp>
      <p:sp>
        <p:nvSpPr>
          <p:cNvPr id="4" name="Shape 2"/>
          <p:cNvSpPr/>
          <p:nvPr/>
        </p:nvSpPr>
        <p:spPr>
          <a:xfrm>
            <a:off x="800080" y="1193800"/>
            <a:ext cx="10591535" cy="2451149"/>
          </a:xfrm>
          <a:prstGeom prst="rect">
            <a:avLst/>
          </a:prstGeom>
          <a:solidFill>
            <a:srgbClr val="FCFCFA"/>
          </a:solidFill>
          <a:ln w="9525">
            <a:solidFill>
              <a:srgbClr val="D5DCE4"/>
            </a:solidFill>
            <a:prstDash val="solid"/>
          </a:ln>
        </p:spPr>
      </p:sp>
      <p:pic>
        <p:nvPicPr>
          <p:cNvPr id="5" name="Image 0" descr="La procédure déclarée sans suite">    </p:cNvPr>
          <p:cNvPicPr>
            <a:picLocks noChangeAspect="1"/>
          </p:cNvPicPr>
          <p:nvPr/>
        </p:nvPicPr>
        <p:blipFill>
          <a:blip r:embed="rId1"/>
          <a:stretch>
            <a:fillRect/>
          </a:stretch>
        </p:blipFill>
        <p:spPr>
          <a:xfrm>
            <a:off x="812780" y="1206500"/>
            <a:ext cx="10566136" cy="2425749"/>
          </a:xfrm>
          <a:prstGeom prst="rect">
            <a:avLst/>
          </a:prstGeom>
        </p:spPr>
      </p:pic>
      <p:sp>
        <p:nvSpPr>
          <p:cNvPr id="6" name="Shape 3"/>
          <p:cNvSpPr/>
          <p:nvPr/>
        </p:nvSpPr>
        <p:spPr>
          <a:xfrm>
            <a:off x="812780" y="3784649"/>
            <a:ext cx="10566136" cy="1993900"/>
          </a:xfrm>
          <a:prstGeom prst="rect">
            <a:avLst/>
          </a:prstGeom>
          <a:solidFill>
            <a:srgbClr val="FCFCFA"/>
          </a:solidFill>
          <a:ln w="9525">
            <a:solidFill>
              <a:srgbClr val="D5DCE4"/>
            </a:solidFill>
            <a:prstDash val="solid"/>
          </a:ln>
        </p:spPr>
      </p:sp>
      <p:sp>
        <p:nvSpPr>
          <p:cNvPr id="7" name="Shape 4"/>
          <p:cNvSpPr/>
          <p:nvPr/>
        </p:nvSpPr>
        <p:spPr>
          <a:xfrm>
            <a:off x="812780" y="3784649"/>
            <a:ext cx="38099" cy="1993900"/>
          </a:xfrm>
          <a:prstGeom prst="rect">
            <a:avLst/>
          </a:prstGeom>
          <a:solidFill>
            <a:srgbClr val="1B6FA8"/>
          </a:solidFill>
          <a:ln/>
        </p:spPr>
      </p:sp>
      <p:sp>
        <p:nvSpPr>
          <p:cNvPr id="8" name="Text 5"/>
          <p:cNvSpPr/>
          <p:nvPr/>
        </p:nvSpPr>
        <p:spPr>
          <a:xfrm>
            <a:off x="977876" y="3886249"/>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est close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sans suite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candidats en sont informés, avec les motifs.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Plus aucun geste d’attribution n’est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268</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actes de gestion du marché</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Une fois le marché contrôlé favorablement, ses avenants, résiliations, indemnités, remises de pénalités et sursis se déposent depuis son dossier, et reviennent au contrôle de la Commission.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269</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marché et ses actes de gestion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marché et ses actes de gest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montant initial (166 000 000 Ar HT) et la catégorie ; les avenants cumulés face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plafond du tiers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20 000 000 Ar sur 55 333 333,33 Ar.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L’avenant n° 1 soumis, une remise de pénalités en brouillon ; « Déposer un acte de gestion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jointes d’office au dossier de marché : projet de marché, cahier des charges, PV d’ouverture, rapport d’analyse, devis.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RG-ATT-03 · RG-ATT-27 · RG-ATT-28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270</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un avenant</a:t>
            </a:r>
            <a:endParaRPr lang="en-US" sz="2600" dirty="0"/>
          </a:p>
        </p:txBody>
      </p:sp>
      <p:sp>
        <p:nvSpPr>
          <p:cNvPr id="4" name="Shape 2"/>
          <p:cNvSpPr/>
          <p:nvPr/>
        </p:nvSpPr>
        <p:spPr>
          <a:xfrm>
            <a:off x="800080" y="1193800"/>
            <a:ext cx="7327717" cy="4571206"/>
          </a:xfrm>
          <a:prstGeom prst="rect">
            <a:avLst/>
          </a:prstGeom>
          <a:solidFill>
            <a:srgbClr val="FCFCFA"/>
          </a:solidFill>
          <a:ln w="9525">
            <a:solidFill>
              <a:srgbClr val="D5DCE4"/>
            </a:solidFill>
            <a:prstDash val="solid"/>
          </a:ln>
        </p:spPr>
      </p:sp>
      <p:pic>
        <p:nvPicPr>
          <p:cNvPr id="5" name="Image 0" descr="Déposer un avenant">    </p:cNvPr>
          <p:cNvPicPr>
            <a:picLocks noChangeAspect="1"/>
          </p:cNvPicPr>
          <p:nvPr/>
        </p:nvPicPr>
        <p:blipFill>
          <a:blip r:embed="rId1"/>
          <a:stretch>
            <a:fillRect/>
          </a:stretch>
        </p:blipFill>
        <p:spPr>
          <a:xfrm>
            <a:off x="812780" y="1206500"/>
            <a:ext cx="7302317" cy="4545806"/>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(avenant, résiliation, indemnité, pénalités, sursis), le montant hors taxes de l’avenant, les faits du marché (réceptions, solde) ; la projection du cumul s’affiche avant le dépôt.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271</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en brouillon : pièces et soumission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cte en brouillon : pièces et soumis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remise de pénalités née du marché, en brouillon : ses déclarations, les pièces exigées de son sous-type, un lien vers le dossier du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toutes les pièces obligatoires sont jointes, l’acte se soumet à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272</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L’avenant soumis à la Commission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venant soumis à la Commis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 suit ; la Commission examine.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L’avenant n° 1 (20 000 000 Ar HT), déposé le 09/10, est en réception à la Commission, avec sa fin de traitement prévue.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Ses six pièces : fiche de présentation, projet d’avenant, marché initial signé et approuvé, PV de la Commission sur le marché, accord des parties, élément déclencheur.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RG-ATT-27 · RG-ATT-28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273</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ET NOTIFIER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contrôle sans exception</a:t>
            </a:r>
            <a:endParaRPr lang="en-US" sz="1500" dirty="0"/>
          </a:p>
        </p:txBody>
      </p:sp>
      <p:sp>
        <p:nvSpPr>
          <p:cNvPr id="7" name="Text 5"/>
          <p:cNvSpPr/>
          <p:nvPr/>
        </p:nvSpPr>
        <p:spPr>
          <a:xfrm>
            <a:off x="952476"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marché issu d’une procédure en ligne passe au contrôle a priori de la Commission, sans seuil, et il n’est attribué qu’à l’offre proposée par la commission d’appel d’offres.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délai d’attente qui protège les candidats</a:t>
            </a:r>
            <a:endParaRPr lang="en-US" sz="1500" dirty="0"/>
          </a:p>
        </p:txBody>
      </p:sp>
      <p:sp>
        <p:nvSpPr>
          <p:cNvPr id="11" name="Text 9"/>
          <p:cNvSpPr/>
          <p:nvPr/>
        </p:nvSpPr>
        <p:spPr>
          <a:xfrm>
            <a:off x="4525320"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Dix jours francs depuis la réception présumée de l’information (ou l’affichage, s’il est plus tardif) : avant, la signature est refusée et la date « signature possible » est affichée (art. 78).</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recours qui suspendent vraiment</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types de recours suspensifs sont réglés par l’Administrateur (par défaut la révision par l’ARMP et le référé) ; tant qu’un tel recours attend sa décision, ou qu’une demande de sans suite attend l’avis de la Commission, aucun marché ne se signe.</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attributaire en règle</a:t>
            </a:r>
            <a:endParaRPr lang="en-US" sz="1500" dirty="0"/>
          </a:p>
        </p:txBody>
      </p:sp>
      <p:sp>
        <p:nvSpPr>
          <p:cNvPr id="19" name="Text 17"/>
          <p:cNvSpPr/>
          <p:nvPr/>
        </p:nvSpPr>
        <p:spPr>
          <a:xfrm>
            <a:off x="952476"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Pièces fiscale et sociale déposées dans les quinze jours et assez récentes à la notification de l’attribution, original signé de l’acte d’engagement remis en remise électronique : sans elles, la signature reste fermée, et le marché peut être retiré.</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Approuvé et enregistré avant d’être notifié</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Après la signature, la PRMP déclare l’approbation par l’autorité compétente et l’enregistrement, pièces jointes ; la notification ne s’ouvre qu’ensuite, à une date qui ne les précède pas (art. 54). Le marché prend effet à sa réception par l’attributaire.</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avis d’attribution suivi</a:t>
            </a:r>
            <a:endParaRPr lang="en-US" sz="1500" dirty="0"/>
          </a:p>
        </p:txBody>
      </p:sp>
      <p:sp>
        <p:nvSpPr>
          <p:cNvPr id="27" name="Text 25"/>
          <p:cNvSpPr/>
          <p:nvPr/>
        </p:nvSpPr>
        <p:spPr>
          <a:xfrm>
            <a:off x="8098164"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L’avis se publie dans les trente jours de la réception de la notification par le titulaire ; la PRMP est alertée au vingtième jour, un avis en retard est signalé sur ses écrans.</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274</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10</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Intérim et mandats</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Qui agit quand un titulaire est absent, et jusqu’à quand une PRMP est en fonction : deux continuités tenues par l’application, sur pièce et avec des dates.</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 Président et le Chef de commission ne sont plus des points uniques de défaillance : leur absence est couverte d’avance, par un intérimaire nommé, sur note de service.</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Chaque acte posé par intérim reste au nom de celui qui l’a posé, avec la mention « par intérim de » : la responsabilité ne se dilue jamais.</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 mandat de chaque PRMP est tenu à jour avec son arrêté : une PRMP sans mandat en cours ne peut plus faire avancer ses dossiers, et la Commission, elle, n’est jamais arrêtée.</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275</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 l’absence déclarée à la reprise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L’intérim couvre l’absence d’un contrôleur qui dirige le circuit ; le mandat encadre la durée de fonction d’une PRMP. Les deux se lisent dans des historiques qui ne s’effacent pas.</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PRÉSIDENT OU LE CHEF DE COMMISSION</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Déclarer son absence</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titulaire désigne lui-même son intérimaire, pour une période, avec la note de service en PDF.</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Désigner en repli</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Si l’absent n’a rien déclaré, l’Administrateur désigne ou révoque à sa place.</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L’INTÉRIMAIRE</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Agir par intérim</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L’intérimaire dispatche, vise, retourne et signe sa part dans le périmètre du titulaire, sous son propre nom.</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Nommer la PRMP</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L’Administrateur déclare le mandat de trois ans à partir de l’arrêté de nomination.</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Reconduire une fois</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Une reconduction est un nouveau mandat, avec un nouvel arrêté ; jamais une prolongation.</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LE TITULAIRE</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Reprendre sans perte</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À la fin de l’absence ou de la vacance, le titulaire retrouve ses dossiers ; rien n’a été réattribué.</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276</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L’intérim des contrôleurs qui dirigent le circuit</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Président et le Chef de commission désignent d’avance qui agit à leur place pendant une absence. L’intérim est un acte daté, appuyé sur une pièce, qui ne se modifie jamais.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277</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CHEF DE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 intérim</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on intérim">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et le Chef de commission, chacun pour sa propre absence.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rappelle l’engagement : les dossiers et les actions du titulaire sont ouverts à l’intérimaire,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 son nom</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tracés « par intérim de vous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titulaire garde ses propres dossiers ; ses notifications sont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copiées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l’intérimaire.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montre chaque intérim avec sa période, son motif, sa référence, sa pièce et son statut — ici un intérim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révoqué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avant terme, avec la date et la raison.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RG-INT-01 · RG-INT-03 · RG-INT-05 · RG-INT-06 · RG-INT-07 · RG-INT-10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278</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CHEF DE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Désigner un intérimaire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Désigner un intérima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titulaire absent.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ne propose que les personnes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admissibles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pour un Chef de commission, un autre Chef de commission ou un Membre de sa localité.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Période, motif (congé, mission, maladie, vacance de poste, autre) et référence de la note de service sont exigés.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note de service ou la décision est jointe en PDF ; elle reste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consultable par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RG-INT-01 · RG-INT-02 · RG-INT-04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279</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intérims des contrôleurs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intérims des contrôleur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intérims de la Commission en une liste : titulaire, intérimaire, période, motif, référence, statut et auteur de la désignation.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désigne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repli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pour un absent qui n’a rien déclaré, et peut révoquer.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fin avant terme est une révocation, une prolongation un nouvel intérim : l’historique reste complet.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RG-INT-01 · RG-INT-03 · RG-INT-04 · RG-INT-05 · RG-INT-06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280</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 mandat de la PRMP</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La PRMP agit en vertu d’un arrêté de nomination. L’application tient le registre de ses mandats et en tire les conséquences, sans intervention manuelle.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281</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mandats des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mandats des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mandat : PRMP, titulaire, numéro, début à la date de l’arrêté, fin, référence de l’arrêté,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mandat dure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trois ans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ne se renouvelle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reconduction exige un nouvel arrêté.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PRMP saisie avant ce registre reçoit un mandat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implicite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reconstitué depuis sa fiche, jusqu’à la déclaration du mandat initial.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RG-INT-11 · RG-INT-12 · RG-INT-13 · RG-INT-16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282</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Nommer ou reconduire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Nommer ou reconduir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nomination ou une reconduction se déclare avec la référence d’un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 arrêté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un arrêté n’est jamais réutilisé, même pour la même personne.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fin se propose d’office : date de l’arrêté plus trois ans, moins un jour ; elle ne peut pas aller au-delà.</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nouveau mandat en cours rouvre le compte de la PRMP reconduite et lève l’attente de ses dossiers.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RG-INT-11 · RG-INT-12 · RG-INT-14 · RG-INT-15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283</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vide à la tête du circuit</a:t>
            </a:r>
            <a:endParaRPr lang="en-US" sz="1500" dirty="0"/>
          </a:p>
        </p:txBody>
      </p:sp>
      <p:sp>
        <p:nvSpPr>
          <p:cNvPr id="7" name="Text 5"/>
          <p:cNvSpPr/>
          <p:nvPr/>
        </p:nvSpPr>
        <p:spPr>
          <a:xfrm>
            <a:off x="952476"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Président et chaque Chef de commission peuvent être suppléés d’avance, pour une période connue de tous.</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Chaque acte a son auteur</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L’intérimaire agit sous sa propre identité ; le journal et le chronométrage portent la mention « par intérim de ».</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acte appuyé sur une pièce</a:t>
            </a:r>
            <a:endParaRPr lang="en-US" sz="1500" dirty="0"/>
          </a:p>
        </p:txBody>
      </p:sp>
      <p:sp>
        <p:nvSpPr>
          <p:cNvPr id="15" name="Text 13"/>
          <p:cNvSpPr/>
          <p:nvPr/>
        </p:nvSpPr>
        <p:spPr>
          <a:xfrm>
            <a:off x="8098164"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Pas d’intérim sans note de service ou décision jointe ; elle reste consultable par la Commission.</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Rien ne s’efface</a:t>
            </a:r>
            <a:endParaRPr lang="en-US" sz="1500" dirty="0"/>
          </a:p>
        </p:txBody>
      </p:sp>
      <p:sp>
        <p:nvSpPr>
          <p:cNvPr id="19" name="Text 17"/>
          <p:cNvSpPr/>
          <p:nvPr/>
        </p:nvSpPr>
        <p:spPr>
          <a:xfrm>
            <a:off x="952476"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Intérims et mandats ne se modifient pas : une révocation, une abrogation ou une reconduction s’ajoute à l’historique.</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loi sur la durée des mandats</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Trois ans au plus, une seule reconduction, un nouvel arrêté à chaque fois : l’application refuse le reste.</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Commission n’est jamais suspendue</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vacance d’une PRMP met ses propres gestes en attente ; le contrôle de la Commission, lui, continue.</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284</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11</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Administrer</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L’Administrateur ouvre les accès, règle le moteur du contrôle et les paramètres de la commande publique, et garde la trace de tout ce qui se fait.</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Les règles de la CNM ne sont plus figées dans le logiciel : délais, quorum, recours suspensifs, grilles de contrôle et référentiels se règlent à l’écran, sans redéploiement, et chaque changement est daté et signé.</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Les délais de la loi n° 2016-055 sont inscrits dans l’application et ne se règlent pas : ceux qui sont bloquants refusent le geste qui les enfreindrait.</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Chaque accès, chaque écriture et chaque connexion sont journalisés dans un journal que personne ne peut modifier : l’Administrateur sait à tout moment qui a fait quoi.</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285</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journée de l’Administrateur</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 poste d’administration dit d’abord ce qui bloque quelqu’un d’autre ; viennent ensuite les réglages, puis les traces.</a:t>
            </a:r>
            <a:endParaRPr lang="en-US" sz="1300" dirty="0"/>
          </a:p>
        </p:txBody>
      </p:sp>
      <p:sp>
        <p:nvSpPr>
          <p:cNvPr id="5" name="Shape 3"/>
          <p:cNvSpPr/>
          <p:nvPr/>
        </p:nvSpPr>
        <p:spPr>
          <a:xfrm>
            <a:off x="812780" y="1778000"/>
            <a:ext cx="1644609" cy="1905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7" name="Text 5"/>
          <p:cNvSpPr/>
          <p:nvPr/>
        </p:nvSpPr>
        <p:spPr>
          <a:xfrm>
            <a:off x="901677"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Débloquer</a:t>
            </a:r>
            <a:endParaRPr lang="en-US" sz="1400" dirty="0"/>
          </a:p>
        </p:txBody>
      </p:sp>
      <p:sp>
        <p:nvSpPr>
          <p:cNvPr id="8" name="Text 6"/>
          <p:cNvSpPr/>
          <p:nvPr/>
        </p:nvSpPr>
        <p:spPr>
          <a:xfrm>
            <a:off x="901677"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Valider les inscriptions et les rattachements, désigner les responsables des procédures en ligne.</a:t>
            </a:r>
            <a:endParaRPr lang="en-US" sz="1150" dirty="0"/>
          </a:p>
        </p:txBody>
      </p:sp>
      <p:sp>
        <p:nvSpPr>
          <p:cNvPr id="9" name="Text 7"/>
          <p:cNvSpPr/>
          <p:nvPr/>
        </p:nvSpPr>
        <p:spPr>
          <a:xfrm>
            <a:off x="244468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597085" y="1778000"/>
            <a:ext cx="1644609" cy="1905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12" name="Text 10"/>
          <p:cNvSpPr/>
          <p:nvPr/>
        </p:nvSpPr>
        <p:spPr>
          <a:xfrm>
            <a:off x="2685983"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Tenir les comptes</a:t>
            </a:r>
            <a:endParaRPr lang="en-US" sz="1400" dirty="0"/>
          </a:p>
        </p:txBody>
      </p:sp>
      <p:sp>
        <p:nvSpPr>
          <p:cNvPr id="13" name="Text 11"/>
          <p:cNvSpPr/>
          <p:nvPr/>
        </p:nvSpPr>
        <p:spPr>
          <a:xfrm>
            <a:off x="2685983"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Retrouver une personne, ses droits, sa place dans l’organisation ; créer, suspendre ou réactiver.</a:t>
            </a:r>
            <a:endParaRPr lang="en-US" sz="1150" dirty="0"/>
          </a:p>
        </p:txBody>
      </p:sp>
      <p:sp>
        <p:nvSpPr>
          <p:cNvPr id="14" name="Text 12"/>
          <p:cNvSpPr/>
          <p:nvPr/>
        </p:nvSpPr>
        <p:spPr>
          <a:xfrm>
            <a:off x="4228994"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4381390" y="1778000"/>
            <a:ext cx="1644609" cy="1905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17" name="Text 15"/>
          <p:cNvSpPr/>
          <p:nvPr/>
        </p:nvSpPr>
        <p:spPr>
          <a:xfrm>
            <a:off x="4470288"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Régler le contrôle</a:t>
            </a:r>
            <a:endParaRPr lang="en-US" sz="1400" dirty="0"/>
          </a:p>
        </p:txBody>
      </p:sp>
      <p:sp>
        <p:nvSpPr>
          <p:cNvPr id="18" name="Text 16"/>
          <p:cNvSpPr/>
          <p:nvPr/>
        </p:nvSpPr>
        <p:spPr>
          <a:xfrm>
            <a:off x="4470288"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Chaînes, délais, points de contrôle, seuils et alertes du circuit de la Commission.</a:t>
            </a:r>
            <a:endParaRPr lang="en-US" sz="1150" dirty="0"/>
          </a:p>
        </p:txBody>
      </p:sp>
      <p:sp>
        <p:nvSpPr>
          <p:cNvPr id="19" name="Text 17"/>
          <p:cNvSpPr/>
          <p:nvPr/>
        </p:nvSpPr>
        <p:spPr>
          <a:xfrm>
            <a:off x="601330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6165696" y="1778000"/>
            <a:ext cx="1644609" cy="1905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22" name="Text 20"/>
          <p:cNvSpPr/>
          <p:nvPr/>
        </p:nvSpPr>
        <p:spPr>
          <a:xfrm>
            <a:off x="6254594"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Régler la commande publique</a:t>
            </a:r>
            <a:endParaRPr lang="en-US" sz="1400" dirty="0"/>
          </a:p>
        </p:txBody>
      </p:sp>
      <p:sp>
        <p:nvSpPr>
          <p:cNvPr id="23" name="Text 21"/>
          <p:cNvSpPr/>
          <p:nvPr/>
        </p:nvSpPr>
        <p:spPr>
          <a:xfrm>
            <a:off x="6254594"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Quorum de la commission d’appel d’offres, recours suspensifs, transition SIGMP, remise électronique, compte de l’ARMP.</a:t>
            </a:r>
            <a:endParaRPr lang="en-US" sz="1150" dirty="0"/>
          </a:p>
        </p:txBody>
      </p:sp>
      <p:sp>
        <p:nvSpPr>
          <p:cNvPr id="24" name="Text 22"/>
          <p:cNvSpPr/>
          <p:nvPr/>
        </p:nvSpPr>
        <p:spPr>
          <a:xfrm>
            <a:off x="7797605"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7950001" y="1778000"/>
            <a:ext cx="1644609" cy="1905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27" name="Text 25"/>
          <p:cNvSpPr/>
          <p:nvPr/>
        </p:nvSpPr>
        <p:spPr>
          <a:xfrm>
            <a:off x="8038899" y="2095500"/>
            <a:ext cx="1466813"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Encadrer les candidats</a:t>
            </a:r>
            <a:endParaRPr lang="en-US" sz="1400" dirty="0"/>
          </a:p>
        </p:txBody>
      </p:sp>
      <p:sp>
        <p:nvSpPr>
          <p:cNvPr id="28" name="Text 26"/>
          <p:cNvSpPr/>
          <p:nvPr/>
        </p:nvSpPr>
        <p:spPr>
          <a:xfrm>
            <a:off x="8038899" y="2603500"/>
            <a:ext cx="1466813"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Paramètres de l’espace en ligne, vérification des NIF, exclusions de l’ARMP.</a:t>
            </a:r>
            <a:endParaRPr lang="en-US" sz="1150" dirty="0"/>
          </a:p>
        </p:txBody>
      </p:sp>
      <p:sp>
        <p:nvSpPr>
          <p:cNvPr id="29" name="Text 27"/>
          <p:cNvSpPr/>
          <p:nvPr/>
        </p:nvSpPr>
        <p:spPr>
          <a:xfrm>
            <a:off x="958191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30" name="Shape 28"/>
          <p:cNvSpPr/>
          <p:nvPr/>
        </p:nvSpPr>
        <p:spPr>
          <a:xfrm>
            <a:off x="9734307" y="1778000"/>
            <a:ext cx="1644609" cy="1905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L’ADMINISTRATEUR</a:t>
            </a:r>
            <a:endParaRPr lang="en-US" sz="1000" dirty="0"/>
          </a:p>
        </p:txBody>
      </p:sp>
      <p:sp>
        <p:nvSpPr>
          <p:cNvPr id="32" name="Text 30"/>
          <p:cNvSpPr/>
          <p:nvPr/>
        </p:nvSpPr>
        <p:spPr>
          <a:xfrm>
            <a:off x="9823204" y="2095500"/>
            <a:ext cx="1466813"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Rendre compte</a:t>
            </a:r>
            <a:endParaRPr lang="en-US" sz="1400" dirty="0"/>
          </a:p>
        </p:txBody>
      </p:sp>
      <p:sp>
        <p:nvSpPr>
          <p:cNvPr id="33" name="Text 31"/>
          <p:cNvSpPr/>
          <p:nvPr/>
        </p:nvSpPr>
        <p:spPr>
          <a:xfrm>
            <a:off x="9823204" y="2603500"/>
            <a:ext cx="1466813"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Le journal des écritures et des connexions, les actualités diffusées à l’ouverture de session.</a:t>
            </a:r>
            <a:endParaRPr lang="en-US" sz="1150" dirty="0"/>
          </a:p>
        </p:txBody>
      </p:sp>
      <p:sp>
        <p:nvSpPr>
          <p:cNvPr id="34" name="Text 3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286</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Ouvrir les accès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Personne n’entre dans l’application sans que l’Administrateur ait vérifié son identité et son rattachement. Le poste d’administration met en tête ce qui fait attendre les autres.</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287</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poste d’administration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poste d’administrat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À traiter maintenant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inscriptions de PRMP et d’UGPM, rattachements PRMP ⇄ entité, procédures en ligne sans responsable.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Derniers changements de paramétrage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quand, qui, quel réglage — ici la transition SIGMP et les délais par sous-type.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À surveiller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mandats de PRMP arrivant à terme dans les 30 jours, connexions refusées depuis 24 heures ; comptes actifs, suspendus et sessions ouvertes.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RG-ADM-03 · RG-ADM-05 · RG-ADM-29 · RG-ADM-35 · RG-ADM-47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288</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demandes d’accès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demandes d’accè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PRMP inscrites en ligne attendent la validation : l’Administrateur vérifie l’identité et les pièces, puis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active ou refuse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compte.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Aucune demande n’est en attente ce jour ; le compteur du menu les signale dès qu’il y en a.</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RG-ADM-01 · RG-ADM-02 · RG-ADM-03 · RG-ADM-04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289</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rattachements en attente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rattachements en attent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entité créée à l’import d’un plan attend son approbation avant de devenir sélectionnable par la PRMP.</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Approuver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rend l’entité utilisable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rejeter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retire le rattachement, l’entité restant au référentiel.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290</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Comptes et personnes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omptes et personn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personnes de l’application en une liste — contrôleurs, PRMP, UGPM — filtrable par type, profil, localité et état du compte.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réunit l’accès (dernière connexion, échecs sur 30 jours), la place dans l’organisation (supérieur,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délégations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chaîne de contrôle) et l’activité au journal.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Depuis la fiche : réinitialiser le mot de passe, suspendre le compte, modifier la fiche, changer de chaîne.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RG-ADM-04 · RG-ADM-05 · RG-ADM-11 · RG-ADM-32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291</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une PRMP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Créer une P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fiche reprend l’arrêté de nomination (référence et date), la carte d’identité, les coordonnées et l’identifiant de connexion.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Arrêté, carte d’identité et photo se joignent en pièces ; le compte créé ici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immédiatement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utilisable.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PRMP existante se gère depuis la liste : fiche, compte, entités,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RG-ADM-06 · RG-ADM-09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292</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comptes des contrôleurs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comptes des contrôleur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contrôleur de la Commission : matricule, profil, localité, supérieur hiérarchique, caractère transversal.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Douze contrôleurs sont enregistrés sur la base de démonstration, de la Centrale et de la région Atsinanana.</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RG-ADM-05 · RG-ADM-10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293</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Régler le contrôle de la Commission</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circuit de contrôle suit des réglages que l’Administrateur tient à jour : qui vérifie après qui, combien de temps chaque étape doit prendre, sur quels points porte l’examen.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294</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a son Vérificateur, chaque Vérificateur son Assistant : la vérification des documents rectifiés et l’archivage sont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adressés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long de ces chaînes.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chaîne incomplète ne bloque rien : tout Vérificateur ou Assistant de la localité reste compétent, et l’écran le signale « repli localité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295</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standards et délais de la loi</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Délais standards et délais de la loi">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règle ; tous lisent.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du circuit,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heures ouvrées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(8 heures = 1 jour) : il fait la date de fin annoncée à la PRMP dès la soumission.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neuf délais de la loi n° 2016-055</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publicité, questions des candidats, plan réputé approuvé, attente avant signature, pièces de l’attributaire, avis d’attribution, déclaration sans suite — avec leur article et leur effet : ils ne se règlent pas.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délais issus des décrets et du manuel sont réglables et seulement signalés ; un sous-type de dossier peut avoir ses propres délais.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RG-ADM-12 · RG-ADM-13 · RG-ADM-41 · RG-ADM-42 · RG-ADM-43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296</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du manuel de contrôle, point par point : libellé, question posée au contrôleur, ordre, caractère obligatoire.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point vaut pour toute une famille de dossiers, ou pour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sous-type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il peut ne viser qu’une catégorie ou une forme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portée le range dans la grille : par ligne de marché, une fois pour le dossier, sur la fiche de présentation ou sur l’avis général.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297</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seuil AGPM de l’AMI</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seuil AGPM de l’AMI">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montant à partir duquel un marché en appel à manifestation d’intérêt rend l’avis général de passation requis, comparé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marché par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borne incluse.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Réglé à 0 ce jour : tout marché en AMI le déclenche. Les appels d’offres le déclenchent toujours ; le gré à gré et la consultation, jamais.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298</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d’alerte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règles d’alert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règle fixe un jalon, le nombre de jours avant l’échéance et le profil prévenu ; elle s’active ou se désactive.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Aucune règle n’est enregistrée sur la base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299</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PRÉ-CONTRÔLE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 du pré-contrôle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taux d’écartement des règles du pré-contrôl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du plan de passation : signalements observés, ouverts,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écartés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levés.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règle écartée presque à chaque fois fatigue la PRMP et le contrôleur : elle s’éteint depuis les règles d’anomalie, sans perdre les motifs déjà saisis.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jour : 68 signalements, aucun écarté.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RG-ADM-34 · RG-ADM-35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300</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Tenir les référentiels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listes que tout le monde utilise — entités, modes de passation, natures, pièces, statuts — vivent dans des nomenclatures que l’Administrateur tient à jour sans intervention technique.</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301</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nomenclatures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nomenclatur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sommaire de tous les référentiels : entités, localités, natures, modes de passation, types et sous-types de dossier, pièces, statuts de marché, délégations de profil…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ouvre aussi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réglages de la commande publique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quorum de la commission d’appel d’offres, transition SIGMP, recours suspensifs, remise électronique, compte de l’ARMP, espace candidat, exclusions.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RG-ADM-11 · RG-ADM-17 · RG-ADM-18 · RG-ADM-20 · RG-ADM-22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302</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L’arbre des entités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rbre des entité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entités contractantes rangées par niveau : ministère, direction générale…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d’un dossier vient de l’entité choisie à la saisie, jamais de 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RG-ADM-09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303</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Mode de passation → type de dossier</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Mode de passation → type de dossier">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type de dossier de mise en concurrence d’un marché (DAO, dossier de consultation, bon de commande) se déduit de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modes sans rattachement sont signalés « Non mappé » : aucune fiche ne peut se créer sur leurs lignes.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RG-ADM-19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304</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champs de la fiche DAO</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champs de la fiche DAO">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la fiche DAO est dessiné depuis ce référentiel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699 informations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488 actives, 23 reprises du plan et 26 du cadrage.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champ dit sa source, le document où il s’imprime, les marchés concernés et sa condition d’affichage.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Ajouter une information ou changer sa condition ne demande aucune intervention technique ; un champ ne se supprime pas, il se désactive.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RG-ADM-21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305</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paramètres de la commande publique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manuel de contrôle révisé (octobre 2026) a fait de plusieurs choix de droit des réglages de l’Administrateur : chacun vaut pour toutes les procédures dès son enregistrement.</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306</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PARAMÈTRES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de la commission d’appel d’offres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quorum de la commission d’appel d’offr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règles possibles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majorité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des membres désignés (par défaut), tous les membres, ou un nombre minimal.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de la commission, ou le représentant qu’il désigne, est toujours requis en plus du nombre.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quorum se vérifie à la clôture des séances, à la production du rapport d’évaluation et à l’arrêt de la liste de l’AMI ; un empêchement qui le rendrait inatteignable est refusé.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RG-ADM-36 · RG-ADM-37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307</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PARAMÈTRES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 suspensifs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recours suspensif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recours qui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arrêtent la signature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marché jusqu’à leur décision, vingt jours au plus : révision auprès de l’ARMP (art. 80) et référé précontractuel (art. 78), cochés ce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de réexamen auprès de la PRMP (art. 79) peut être ajoutée ; la PRMP y répond sous dix jours.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réglage vaut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immédiatement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y compris pour les recours déjà déclarés.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308</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PARAMÈTRES · MANUEL RÉVISÉ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transition SIGMP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transition SIG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L’avis spécifique, la lettre d’invitation et l’avis général produits par l’application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tiennent lieu</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d’imprimés du SIGMP.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Jusqu’à la date de fin de transition, l’imprimé du SIGMP reste accepté mais facultatif pour les procédures en ligne ; ensuite il n’est plus demandé. Aucune date n’est fixée ce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décision formelle d’équivalence (référence et date) s’imprime au pied de chaque document ; en attendant : « Projet — équivalence SIGMP en attente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RG-ADM-39 · RG-ADM-40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309</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PARAMÈTRES · REMISE ÉLECTRONIQUE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remise électronique : défauts et bornes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a remise électronique : défauts et born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la fiche DAO propose d’avance en remise électronique : adresse de la plateforme, fuseau horaire, assistance aux candidats, quorum de déchiffrement proposé (3 sur 5).</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ses contrôles exigent au minimum : niveau de signature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Simple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ce jour), taille maximale de la plateforme (500 Mo), délai minimal entre publication et date limite (30 jours).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rappel aux détenteurs d’une part de clé non vérifiée, 7 jours avant la date limite.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RG-ADM-23 · RG-ADM-24 · RG-ADM-46</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310</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PARAMÈTRES · REMISE ÉLECTRONIQUE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bancaire de l’ARMP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compte bancaire de l’A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unique où se verse le prix d’un dossier d’appel d’offres : banque, titulaire, numéro.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L’avis spécifique l’imprime ; l’écran montre la phrase telle qu’elle paraîtra.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n’est pas encore réglé sur la base de démonstration : les avis impriment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pointillés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sa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RG-ADM-25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311</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entreprises candidates</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L’espace en ligne des candidats a ses propres règles : inscription, vérification du NIF, nettoyage des comptes, conservation des offres, exclusions prononcées par l’ARMP.</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312</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PARAMÈTRES · ESPACE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paramètres de l’espace candidat</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aramètres de l’espace candidat">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Vérification du NIF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pièces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inscriptions limitées à 5 par jour depuis un même poste ; un compte jamais confirmé est supprimé après 7 jours, un compte inactif archivé après 24 mois.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Pièces de l’entreprise limitées à 10 Mo ; la confirmation par téléphone reste désactivée.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Conservation des offres : sans durée fixée, rien n’est supprimé ; au terme, la purge reste un geste de l’Administrateur, procédure par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RG-ADM-26 · RG-ADM-30 · RG-ADM-45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313</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candidates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entreprises candidat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entreprises déclarées par les candidats, par état de vérification : non vérifié, pièces refusées, NIF vérifié sur pièces…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rapproche la carte fiscale du NIF déclaré, puis décide — ici l’« Entreprise de recette BTP », non encore vérifiée.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décision 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bloque aucun dépôt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commission la lit à l’ouverture des plis.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RG-ADM-27</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314</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exclues par l’ARMP</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entreprises exclues par l’ARMP">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répertoire des décisions d’exclusion de l’ARMP, avec leur référence et leurs dates, rapproché par le NIF.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entreprise exclue est signalée dès sa déclaration et ne peut pas déposer d’offre pendant la période.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se supprime : on corrige, ou on avance la date de fin. Aucune exclusion n’est répertoriée ce jour.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RG-ADM-28</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315</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Garder la trace et informer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Tout ce qui s’écrit dans l’application, et toute tentative d’y entrer, laisse une trace que nul ne peut effacer.</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316</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 des écritures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journal des écriture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 écriture enregistrée : date, acteur, objet, action — plus de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132 000</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entrées sur la base de démonstration.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Filtrable par objet, par acteur et par période, du plus récent au plus ancien ; nul ne peut y ajouter, modifier ni supprimer une entrée.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317</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 des connexions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journal des connexi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connexion acceptée ou refusée : qui, quand, fin de session, durée, adresse et poste utilisés.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tentative sur un identifiant inconnu est journalisée sous l’identifiant tapé : c’est souvent la ligne qu’on vient chercher.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RG-ADM-32</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318</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actualités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actualité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actualité vise un ou plusieurs profils et s’affiche à l’ouverture de session, dans sa période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s’active, se désactive ou s’archive ; un interrupteur général les arrête toutes sans rien perdre.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RG-ADM-33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319</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CONSULTATION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plans et leurs marchés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lans et leurs marché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en lecture.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plans de passation enregistrés, par référence et exercice, avec le nombre de marchés rattachés et leur détail.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consultation des données des PRMP, sans aucun geste de modification.</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320</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accès vérifiés</a:t>
            </a:r>
            <a:endParaRPr lang="en-US" sz="1500" dirty="0"/>
          </a:p>
        </p:txBody>
      </p:sp>
      <p:sp>
        <p:nvSpPr>
          <p:cNvPr id="7" name="Text 5"/>
          <p:cNvSpPr/>
          <p:nvPr/>
        </p:nvSpPr>
        <p:spPr>
          <a:xfrm>
            <a:off x="952476"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compte de PRMP ne s’ouvre sans vérification de l’arrêté et des pièces ; un refus est toujours motivé.</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réglages tracés</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changement de paramètre est daté et signé de son auteur, et remonte au poste d’administration.</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loi n’est pas un réglage</a:t>
            </a:r>
            <a:endParaRPr lang="en-US" sz="1500" dirty="0"/>
          </a:p>
        </p:txBody>
      </p:sp>
      <p:sp>
        <p:nvSpPr>
          <p:cNvPr id="15" name="Text 13"/>
          <p:cNvSpPr/>
          <p:nvPr/>
        </p:nvSpPr>
        <p:spPr>
          <a:xfrm>
            <a:off x="8098164"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neuf délais de la loi n° 2016-055 sont fixés dans l’application ; les délais bloquants refusent le geste qui les enfreint.</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commission qui délibère valablement</a:t>
            </a:r>
            <a:endParaRPr lang="en-US" sz="1500" dirty="0"/>
          </a:p>
        </p:txBody>
      </p:sp>
      <p:sp>
        <p:nvSpPr>
          <p:cNvPr id="19" name="Text 17"/>
          <p:cNvSpPr/>
          <p:nvPr/>
        </p:nvSpPr>
        <p:spPr>
          <a:xfrm>
            <a:off x="952476"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quorum réglé s’impose à chaque séance et à chaque rapport, président ou représentant compris.</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documents officiels au bon pied</a:t>
            </a:r>
            <a:endParaRPr lang="en-US" sz="1500" dirty="0"/>
          </a:p>
        </p:txBody>
      </p:sp>
      <p:sp>
        <p:nvSpPr>
          <p:cNvPr id="23" name="Text 21"/>
          <p:cNvSpPr/>
          <p:nvPr/>
        </p:nvSpPr>
        <p:spPr>
          <a:xfrm>
            <a:off x="4525320"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compte de l’ARMP et la décision d’équivalence SIGMP s’impriment tels que réglés ; un document déjà produit garde les valeurs du moment.</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 journal immuable</a:t>
            </a:r>
            <a:endParaRPr lang="en-US" sz="1500" dirty="0"/>
          </a:p>
        </p:txBody>
      </p:sp>
      <p:sp>
        <p:nvSpPr>
          <p:cNvPr id="27" name="Text 25"/>
          <p:cNvSpPr/>
          <p:nvPr/>
        </p:nvSpPr>
        <p:spPr>
          <a:xfrm>
            <a:off x="8098164"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Écritures et connexions sont journalisées ; personne, Administrateur compris, ne peut en retirer une ligne.</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321</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12</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Piloter et publier</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Chacun suit ce qui le concerne — la PRMP ses dossiers, la direction l’activité de la Commission, l’Administrateur les procédures en ligne — et le public reçoit ce qui doit l’être.</a:t>
            </a:r>
            <a:endParaRPr lang="en-US" sz="1700" dirty="0"/>
          </a:p>
        </p:txBody>
      </p:sp>
      <p:sp>
        <p:nvSpPr>
          <p:cNvPr id="6" name="Text 4"/>
          <p:cNvSpPr/>
          <p:nvPr/>
        </p:nvSpPr>
        <p:spPr>
          <a:xfrm>
            <a:off x="812780" y="3429000"/>
            <a:ext cx="5079873" cy="228600"/>
          </a:xfrm>
          <a:prstGeom prst="rect">
            <a:avLst/>
          </a:prstGeom>
          <a:noFill/>
          <a:ln/>
        </p:spPr>
        <p:txBody>
          <a:bodyPr wrap="square" rtlCol="0" anchor="ctr"/>
          <a:lstStyle/>
          <a:p>
            <a:pPr indent="0" marL="0">
              <a:buNone/>
            </a:pPr>
            <a:r>
              <a:rPr lang="en-US" sz="1200" b="1" spc="200" kern="0" dirty="0">
                <a:solidFill>
                  <a:srgbClr val="E3AE2E"/>
                </a:solidFill>
                <a:latin typeface="Segoe UI" pitchFamily="34" charset="0"/>
                <a:ea typeface="Segoe UI" pitchFamily="34" charset="-122"/>
                <a:cs typeface="Segoe UI" pitchFamily="34" charset="-120"/>
              </a:rPr>
              <a:t>CE QUE CELA CHANGE</a:t>
            </a:r>
            <a:endParaRPr lang="en-US" sz="1200" dirty="0"/>
          </a:p>
        </p:txBody>
      </p:sp>
      <p:sp>
        <p:nvSpPr>
          <p:cNvPr id="7" name="Text 5"/>
          <p:cNvSpPr/>
          <p:nvPr/>
        </p:nvSpPr>
        <p:spPr>
          <a:xfrm>
            <a:off x="812780" y="3714750"/>
            <a:ext cx="10286743" cy="2413000"/>
          </a:xfrm>
          <a:prstGeom prst="rect">
            <a:avLst/>
          </a:prstGeom>
          <a:noFill/>
          <a:ln/>
        </p:spPr>
        <p:txBody>
          <a:bodyPr wrap="square" rtlCol="0" anchor="t">
            <a:normAutofit/>
          </a:bodyPr>
          <a:lstStyle/>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La PRMP connaît dès la soumission la date à laquelle la Commission prévoit de rendre son avis, et voit cette date bouger quand le dossier l’attend.</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La direction dispose d’indicateurs calculés sur les données réelles : dossiers déposés, taux de conformité, points de contrôle les plus souvent non conformes, rapports téléchargeables.</a:t>
            </a:r>
            <a:endParaRPr lang="en-US" sz="1500" dirty="0"/>
          </a:p>
          <a:p>
            <a:pPr marL="203200" indent="-203200">
              <a:spcAft>
                <a:spcPts val="800"/>
              </a:spcAft>
              <a:buSzPct val="100000"/>
              <a:buChar char="•"/>
            </a:pPr>
            <a:r>
              <a:rPr lang="en-US" sz="1500" dirty="0">
                <a:solidFill>
                  <a:srgbClr val="FCFCFA"/>
                </a:solidFill>
                <a:latin typeface="Segoe UI" pitchFamily="34" charset="0"/>
                <a:ea typeface="Segoe UI" pitchFamily="34" charset="-122"/>
                <a:cs typeface="Segoe UI" pitchFamily="34" charset="-120"/>
              </a:rPr>
              <a:t>La transparence est outillée : publications motivées, documents publics munis d’une empreinte qui en prouve l’intégrité.</a:t>
            </a:r>
            <a:endParaRPr lang="en-US" sz="1500" dirty="0"/>
          </a:p>
        </p:txBody>
      </p:sp>
      <p:sp>
        <p:nvSpPr>
          <p:cNvPr id="8"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322</a:t>
            </a:r>
            <a:endParaRPr lang="en-US" sz="11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LE PARCOURS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dossier suivi à la décision publiée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 pilotage se lit sur les mêmes données que le travail : rien n’est ressaisi pour être compté.</a:t>
            </a:r>
            <a:endParaRPr lang="en-US" sz="1300" dirty="0"/>
          </a:p>
        </p:txBody>
      </p:sp>
      <p:sp>
        <p:nvSpPr>
          <p:cNvPr id="5" name="Shape 3"/>
          <p:cNvSpPr/>
          <p:nvPr/>
        </p:nvSpPr>
        <p:spPr>
          <a:xfrm>
            <a:off x="812780" y="1778000"/>
            <a:ext cx="2001470" cy="1905000"/>
          </a:xfrm>
          <a:prstGeom prst="roundRect">
            <a:avLst>
              <a:gd name="adj" fmla="val 2880"/>
            </a:avLst>
          </a:prstGeom>
          <a:solidFill>
            <a:srgbClr val="FCFCFA"/>
          </a:solidFill>
          <a:ln w="19050">
            <a:solidFill>
              <a:srgbClr val="12324A"/>
            </a:solidFill>
            <a:prstDash val="solid"/>
          </a:ln>
        </p:spPr>
      </p:sp>
      <p:sp>
        <p:nvSpPr>
          <p:cNvPr id="6" name="Text 4"/>
          <p:cNvSpPr/>
          <p:nvPr/>
        </p:nvSpPr>
        <p:spPr>
          <a:xfrm>
            <a:off x="901677" y="1866900"/>
            <a:ext cx="1823674"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 PRMP</a:t>
            </a:r>
            <a:endParaRPr lang="en-US" sz="1000" dirty="0"/>
          </a:p>
        </p:txBody>
      </p:sp>
      <p:sp>
        <p:nvSpPr>
          <p:cNvPr id="7" name="Text 5"/>
          <p:cNvSpPr/>
          <p:nvPr/>
        </p:nvSpPr>
        <p:spPr>
          <a:xfrm>
            <a:off x="901677" y="2095500"/>
            <a:ext cx="1823674"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Suivre ses dossiers</a:t>
            </a:r>
            <a:endParaRPr lang="en-US" sz="1400" dirty="0"/>
          </a:p>
        </p:txBody>
      </p:sp>
      <p:sp>
        <p:nvSpPr>
          <p:cNvPr id="8" name="Text 6"/>
          <p:cNvSpPr/>
          <p:nvPr/>
        </p:nvSpPr>
        <p:spPr>
          <a:xfrm>
            <a:off x="901677" y="2603500"/>
            <a:ext cx="1823674"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La PRMP voit chaque dossier soumis, son statut et sa fin de traitement prévue.</a:t>
            </a:r>
            <a:endParaRPr lang="en-US" sz="1150" dirty="0"/>
          </a:p>
        </p:txBody>
      </p:sp>
      <p:sp>
        <p:nvSpPr>
          <p:cNvPr id="9" name="Text 7"/>
          <p:cNvSpPr/>
          <p:nvPr/>
        </p:nvSpPr>
        <p:spPr>
          <a:xfrm>
            <a:off x="2801550"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0" name="Shape 8"/>
          <p:cNvSpPr/>
          <p:nvPr/>
        </p:nvSpPr>
        <p:spPr>
          <a:xfrm>
            <a:off x="2953946" y="1778000"/>
            <a:ext cx="2001470" cy="1905000"/>
          </a:xfrm>
          <a:prstGeom prst="roundRect">
            <a:avLst>
              <a:gd name="adj" fmla="val 2880"/>
            </a:avLst>
          </a:prstGeom>
          <a:solidFill>
            <a:srgbClr val="FCFCFA"/>
          </a:solidFill>
          <a:ln w="19050">
            <a:solidFill>
              <a:srgbClr val="12324A"/>
            </a:solidFill>
            <a:prstDash val="solid"/>
          </a:ln>
        </p:spPr>
      </p:sp>
      <p:sp>
        <p:nvSpPr>
          <p:cNvPr id="11" name="Text 9"/>
          <p:cNvSpPr/>
          <p:nvPr/>
        </p:nvSpPr>
        <p:spPr>
          <a:xfrm>
            <a:off x="3042844" y="1866900"/>
            <a:ext cx="1823674"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PRÉSIDENT</a:t>
            </a:r>
            <a:endParaRPr lang="en-US" sz="1000" dirty="0"/>
          </a:p>
        </p:txBody>
      </p:sp>
      <p:sp>
        <p:nvSpPr>
          <p:cNvPr id="12" name="Text 10"/>
          <p:cNvSpPr/>
          <p:nvPr/>
        </p:nvSpPr>
        <p:spPr>
          <a:xfrm>
            <a:off x="3042844" y="2095500"/>
            <a:ext cx="1823674"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Mesurer l’activité</a:t>
            </a:r>
            <a:endParaRPr lang="en-US" sz="1400" dirty="0"/>
          </a:p>
        </p:txBody>
      </p:sp>
      <p:sp>
        <p:nvSpPr>
          <p:cNvPr id="13" name="Text 11"/>
          <p:cNvSpPr/>
          <p:nvPr/>
        </p:nvSpPr>
        <p:spPr>
          <a:xfrm>
            <a:off x="3042844" y="2603500"/>
            <a:ext cx="1823674"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tableau de bord donne les dossiers déposés, le taux de conformité et les points les plus souvent non conformes.</a:t>
            </a:r>
            <a:endParaRPr lang="en-US" sz="1150" dirty="0"/>
          </a:p>
        </p:txBody>
      </p:sp>
      <p:sp>
        <p:nvSpPr>
          <p:cNvPr id="14" name="Text 12"/>
          <p:cNvSpPr/>
          <p:nvPr/>
        </p:nvSpPr>
        <p:spPr>
          <a:xfrm>
            <a:off x="4942716"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15" name="Shape 13"/>
          <p:cNvSpPr/>
          <p:nvPr/>
        </p:nvSpPr>
        <p:spPr>
          <a:xfrm>
            <a:off x="5095113" y="1778000"/>
            <a:ext cx="2001470" cy="1905000"/>
          </a:xfrm>
          <a:prstGeom prst="roundRect">
            <a:avLst>
              <a:gd name="adj" fmla="val 2880"/>
            </a:avLst>
          </a:prstGeom>
          <a:solidFill>
            <a:srgbClr val="FCFCFA"/>
          </a:solidFill>
          <a:ln w="19050">
            <a:solidFill>
              <a:srgbClr val="12324A"/>
            </a:solidFill>
            <a:prstDash val="solid"/>
          </a:ln>
        </p:spPr>
      </p:sp>
      <p:sp>
        <p:nvSpPr>
          <p:cNvPr id="16" name="Text 14"/>
          <p:cNvSpPr/>
          <p:nvPr/>
        </p:nvSpPr>
        <p:spPr>
          <a:xfrm>
            <a:off x="5184010" y="1866900"/>
            <a:ext cx="1823674"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LE PRÉSIDENT, L’ADMINISTRATEUR</a:t>
            </a:r>
            <a:endParaRPr lang="en-US" sz="1000" dirty="0"/>
          </a:p>
        </p:txBody>
      </p:sp>
      <p:sp>
        <p:nvSpPr>
          <p:cNvPr id="17" name="Text 15"/>
          <p:cNvSpPr/>
          <p:nvPr/>
        </p:nvSpPr>
        <p:spPr>
          <a:xfrm>
            <a:off x="5184010" y="2095500"/>
            <a:ext cx="1823674"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Rendre compte</a:t>
            </a:r>
            <a:endParaRPr lang="en-US" sz="1400" dirty="0"/>
          </a:p>
        </p:txBody>
      </p:sp>
      <p:sp>
        <p:nvSpPr>
          <p:cNvPr id="18" name="Text 16"/>
          <p:cNvSpPr/>
          <p:nvPr/>
        </p:nvSpPr>
        <p:spPr>
          <a:xfrm>
            <a:off x="5184010" y="2603500"/>
            <a:ext cx="1823674"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Le rapport des dossiers se télécharge en PDF ou en tableur, sur une période.</a:t>
            </a:r>
            <a:endParaRPr lang="en-US" sz="1150" dirty="0"/>
          </a:p>
        </p:txBody>
      </p:sp>
      <p:sp>
        <p:nvSpPr>
          <p:cNvPr id="19" name="Text 17"/>
          <p:cNvSpPr/>
          <p:nvPr/>
        </p:nvSpPr>
        <p:spPr>
          <a:xfrm>
            <a:off x="7083883"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0" name="Shape 18"/>
          <p:cNvSpPr/>
          <p:nvPr/>
        </p:nvSpPr>
        <p:spPr>
          <a:xfrm>
            <a:off x="7236279" y="1778000"/>
            <a:ext cx="2001470" cy="1905000"/>
          </a:xfrm>
          <a:prstGeom prst="roundRect">
            <a:avLst>
              <a:gd name="adj" fmla="val 2880"/>
            </a:avLst>
          </a:prstGeom>
          <a:solidFill>
            <a:srgbClr val="FCFCFA"/>
          </a:solidFill>
          <a:ln w="19050">
            <a:solidFill>
              <a:srgbClr val="12324A"/>
            </a:solidFill>
            <a:prstDash val="solid"/>
          </a:ln>
        </p:spPr>
      </p:sp>
      <p:sp>
        <p:nvSpPr>
          <p:cNvPr id="21" name="Text 19"/>
          <p:cNvSpPr/>
          <p:nvPr/>
        </p:nvSpPr>
        <p:spPr>
          <a:xfrm>
            <a:off x="7325177" y="1866900"/>
            <a:ext cx="1823674" cy="215900"/>
          </a:xfrm>
          <a:prstGeom prst="rect">
            <a:avLst/>
          </a:prstGeom>
          <a:noFill/>
          <a:ln/>
        </p:spPr>
        <p:txBody>
          <a:bodyPr wrap="square" rtlCol="0" anchor="ctr">
            <a:normAutofit/>
          </a:bodyPr>
          <a:lstStyle/>
          <a:p>
            <a:pPr indent="0" marL="0">
              <a:buNone/>
            </a:pPr>
            <a:r>
              <a:rPr lang="en-US" sz="1000" b="1" dirty="0">
                <a:solidFill>
                  <a:srgbClr val="1B6FA8"/>
                </a:solidFill>
                <a:latin typeface="Segoe UI" pitchFamily="34" charset="0"/>
                <a:ea typeface="Segoe UI" pitchFamily="34" charset="-122"/>
                <a:cs typeface="Segoe UI" pitchFamily="34" charset="-120"/>
              </a:rPr>
              <a:t>L’ADMINISTRATEUR</a:t>
            </a:r>
            <a:endParaRPr lang="en-US" sz="1000" dirty="0"/>
          </a:p>
        </p:txBody>
      </p:sp>
      <p:sp>
        <p:nvSpPr>
          <p:cNvPr id="22" name="Text 20"/>
          <p:cNvSpPr/>
          <p:nvPr/>
        </p:nvSpPr>
        <p:spPr>
          <a:xfrm>
            <a:off x="7325177" y="2095500"/>
            <a:ext cx="1823674" cy="508000"/>
          </a:xfrm>
          <a:prstGeom prst="rect">
            <a:avLst/>
          </a:prstGeom>
          <a:noFill/>
          <a:ln/>
        </p:spPr>
        <p:txBody>
          <a:bodyPr wrap="square" rtlCol="0" anchor="t">
            <a:normAutofit/>
          </a:bodyPr>
          <a:lstStyle/>
          <a:p>
            <a:pPr indent="0" marL="0">
              <a:buNone/>
            </a:pPr>
            <a:r>
              <a:rPr lang="en-US" sz="1400" b="1" dirty="0">
                <a:solidFill>
                  <a:srgbClr val="1B2A3A"/>
                </a:solidFill>
                <a:latin typeface="Segoe UI" pitchFamily="34" charset="0"/>
                <a:ea typeface="Segoe UI" pitchFamily="34" charset="-122"/>
                <a:cs typeface="Segoe UI" pitchFamily="34" charset="-120"/>
              </a:rPr>
              <a:t>Tenir les procédures en ligne</a:t>
            </a:r>
            <a:endParaRPr lang="en-US" sz="1400" dirty="0"/>
          </a:p>
        </p:txBody>
      </p:sp>
      <p:sp>
        <p:nvSpPr>
          <p:cNvPr id="23" name="Text 21"/>
          <p:cNvSpPr/>
          <p:nvPr/>
        </p:nvSpPr>
        <p:spPr>
          <a:xfrm>
            <a:off x="7325177" y="2603500"/>
            <a:ext cx="1823674" cy="1016000"/>
          </a:xfrm>
          <a:prstGeom prst="rect">
            <a:avLst/>
          </a:prstGeom>
          <a:noFill/>
          <a:ln/>
        </p:spPr>
        <p:txBody>
          <a:bodyPr wrap="square" rtlCol="0" anchor="t">
            <a:normAutofit/>
          </a:bodyPr>
          <a:lstStyle/>
          <a:p>
            <a:pPr indent="0" marL="0">
              <a:buNone/>
            </a:pPr>
            <a:r>
              <a:rPr lang="en-US" sz="1150" dirty="0">
                <a:solidFill>
                  <a:srgbClr val="465568"/>
                </a:solidFill>
                <a:latin typeface="Segoe UI" pitchFamily="34" charset="0"/>
                <a:ea typeface="Segoe UI" pitchFamily="34" charset="-122"/>
                <a:cs typeface="Segoe UI" pitchFamily="34" charset="-120"/>
              </a:rPr>
              <a:t>Chaque procédure en remise électronique a son responsable, son calendrier, sa cérémonie et sa séance.</a:t>
            </a:r>
            <a:endParaRPr lang="en-US" sz="1150" dirty="0"/>
          </a:p>
        </p:txBody>
      </p:sp>
      <p:sp>
        <p:nvSpPr>
          <p:cNvPr id="24" name="Text 22"/>
          <p:cNvSpPr/>
          <p:nvPr/>
        </p:nvSpPr>
        <p:spPr>
          <a:xfrm>
            <a:off x="9225049" y="2603500"/>
            <a:ext cx="165096" cy="254000"/>
          </a:xfrm>
          <a:prstGeom prst="rect">
            <a:avLst/>
          </a:prstGeom>
          <a:noFill/>
          <a:ln/>
        </p:spPr>
        <p:txBody>
          <a:bodyPr wrap="square" rtlCol="0" anchor="ctr"/>
          <a:lstStyle/>
          <a:p>
            <a:pPr algn="ctr" indent="0" marL="0">
              <a:buNone/>
            </a:pPr>
            <a:r>
              <a:rPr lang="en-US" sz="2200" b="1" dirty="0">
                <a:solidFill>
                  <a:srgbClr val="E3AE2E"/>
                </a:solidFill>
                <a:latin typeface="Segoe UI" pitchFamily="34" charset="0"/>
                <a:ea typeface="Segoe UI" pitchFamily="34" charset="-122"/>
                <a:cs typeface="Segoe UI" pitchFamily="34" charset="-120"/>
              </a:rPr>
              <a:t>›</a:t>
            </a:r>
            <a:endParaRPr lang="en-US" sz="2200" dirty="0"/>
          </a:p>
        </p:txBody>
      </p:sp>
      <p:sp>
        <p:nvSpPr>
          <p:cNvPr id="25" name="Shape 23"/>
          <p:cNvSpPr/>
          <p:nvPr/>
        </p:nvSpPr>
        <p:spPr>
          <a:xfrm>
            <a:off x="9377446" y="1778000"/>
            <a:ext cx="2001470" cy="1905000"/>
          </a:xfrm>
          <a:prstGeom prst="roundRect">
            <a:avLst>
              <a:gd name="adj" fmla="val 2880"/>
            </a:avLst>
          </a:prstGeom>
          <a:solidFill>
            <a:srgbClr val="12324A"/>
          </a:solidFill>
          <a:ln w="19050">
            <a:solidFill>
              <a:srgbClr val="12324A"/>
            </a:solidFill>
            <a:prstDash val="solid"/>
          </a:ln>
        </p:spPr>
      </p:sp>
      <p:sp>
        <p:nvSpPr>
          <p:cNvPr id="26" name="Text 24"/>
          <p:cNvSpPr/>
          <p:nvPr/>
        </p:nvSpPr>
        <p:spPr>
          <a:xfrm>
            <a:off x="9466343" y="1866900"/>
            <a:ext cx="1823674" cy="215900"/>
          </a:xfrm>
          <a:prstGeom prst="rect">
            <a:avLst/>
          </a:prstGeom>
          <a:noFill/>
          <a:ln/>
        </p:spPr>
        <p:txBody>
          <a:bodyPr wrap="square" rtlCol="0" anchor="ctr">
            <a:normAutofit/>
          </a:bodyPr>
          <a:lstStyle/>
          <a:p>
            <a:pPr indent="0" marL="0">
              <a:buNone/>
            </a:pPr>
            <a:r>
              <a:rPr lang="en-US" sz="1000" b="1" dirty="0">
                <a:solidFill>
                  <a:srgbClr val="E3AE2E"/>
                </a:solidFill>
                <a:latin typeface="Segoe UI" pitchFamily="34" charset="0"/>
                <a:ea typeface="Segoe UI" pitchFamily="34" charset="-122"/>
                <a:cs typeface="Segoe UI" pitchFamily="34" charset="-120"/>
              </a:rPr>
              <a:t>LE CHARGÉ DE PUBLICATION</a:t>
            </a:r>
            <a:endParaRPr lang="en-US" sz="1000" dirty="0"/>
          </a:p>
        </p:txBody>
      </p:sp>
      <p:sp>
        <p:nvSpPr>
          <p:cNvPr id="27" name="Text 25"/>
          <p:cNvSpPr/>
          <p:nvPr/>
        </p:nvSpPr>
        <p:spPr>
          <a:xfrm>
            <a:off x="9466343" y="2095500"/>
            <a:ext cx="1823674" cy="508000"/>
          </a:xfrm>
          <a:prstGeom prst="rect">
            <a:avLst/>
          </a:prstGeom>
          <a:noFill/>
          <a:ln/>
        </p:spPr>
        <p:txBody>
          <a:bodyPr wrap="square" rtlCol="0" anchor="t">
            <a:normAutofit/>
          </a:bodyPr>
          <a:lstStyle/>
          <a:p>
            <a:pPr indent="0" marL="0">
              <a:buNone/>
            </a:pPr>
            <a:r>
              <a:rPr lang="en-US" sz="1400" b="1" dirty="0">
                <a:solidFill>
                  <a:srgbClr val="FCFCFA"/>
                </a:solidFill>
                <a:latin typeface="Segoe UI" pitchFamily="34" charset="0"/>
                <a:ea typeface="Segoe UI" pitchFamily="34" charset="-122"/>
                <a:cs typeface="Segoe UI" pitchFamily="34" charset="-120"/>
              </a:rPr>
              <a:t>Publier</a:t>
            </a:r>
            <a:endParaRPr lang="en-US" sz="1400" dirty="0"/>
          </a:p>
        </p:txBody>
      </p:sp>
      <p:sp>
        <p:nvSpPr>
          <p:cNvPr id="28" name="Text 26"/>
          <p:cNvSpPr/>
          <p:nvPr/>
        </p:nvSpPr>
        <p:spPr>
          <a:xfrm>
            <a:off x="9466343" y="2603500"/>
            <a:ext cx="1823674" cy="1016000"/>
          </a:xfrm>
          <a:prstGeom prst="rect">
            <a:avLst/>
          </a:prstGeom>
          <a:noFill/>
          <a:ln/>
        </p:spPr>
        <p:txBody>
          <a:bodyPr wrap="square" rtlCol="0" anchor="t">
            <a:normAutofit/>
          </a:bodyPr>
          <a:lstStyle/>
          <a:p>
            <a:pPr indent="0" marL="0">
              <a:buNone/>
            </a:pPr>
            <a:r>
              <a:rPr lang="en-US" sz="1150" dirty="0">
                <a:solidFill>
                  <a:srgbClr val="C9D6E2"/>
                </a:solidFill>
                <a:latin typeface="Segoe UI" pitchFamily="34" charset="0"/>
                <a:ea typeface="Segoe UI" pitchFamily="34" charset="-122"/>
                <a:cs typeface="Segoe UI" pitchFamily="34" charset="-120"/>
              </a:rPr>
              <a:t>Les décisions de la Commission et les documents publics sont mis en ligne, avec leur empreinte.</a:t>
            </a:r>
            <a:endParaRPr lang="en-US" sz="115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323</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Suivre et mesurer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indicateurs sont calculés par l’application à partir des dossiers eux-mêmes. Chaque profil n’en voit que ce qui relève de lui.</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324</a:t>
            </a:r>
            <a:endParaRPr lang="en-US" sz="11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 à la Commission</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suivi des dossiers à la Commission">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de la PRMP : référence, type, entité, localité, date de dépôt,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la Commission,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prévue est calculée dès la soumission, à partir des délais standards de la Commission.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suit l’avancement sans voir les acteurs internes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RG-PIL-01 · RG-PIL-02 · RG-PIL-03</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325</a:t>
            </a:r>
            <a:endParaRPr lang="en-US" sz="11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tableau de bord</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 tableau de bord">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(toutes localités) ;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indicateurs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dossiers déposés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(18), dossiers conformes,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taux de conformité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nombre de dossiers à chaque statut du circuit : brouillon, dispatché, en vérification, clôturé, décision transmise au SIGMP…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cinq points de contrôle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plus souvent non conformes, avec leur taux : là où les dossiers des PRMP pèchent le plus.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RG-PIL-05 · RG-PIL-06 · RG-PIL-15</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326</a:t>
            </a:r>
            <a:endParaRPr lang="en-US" sz="11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rapports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rapport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Président, l’Administrateur et le Chef de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des dossiers,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tableur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période est facultative : sans dates, tous les dossiers sont inclus.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n’obtient que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RG-PIL-04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327</a:t>
            </a:r>
            <a:endParaRPr lang="en-US" sz="11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Les procédures en ligne</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Les procédures conduites en remise électronique sont suivies sur une liste unique, qui place en tête ce qui demande une action.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328</a:t>
            </a:r>
            <a:endParaRPr lang="en-US" sz="11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 ; chaque responsable pour les siennes.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procédures en remise électronique — ici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11</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4 à traiter et 1 sans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chacune : état de la fiche et des dépôts, nombre d’offres, calendrier (avis, date limite, ouverture), commission constituée ou non, cérémonie des clés, séance,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Désigner le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pour celle qui n’en a pas ; sinon, accès à la fiche, aux paramètres et à la cérémonie, et à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RG-PIL-11 · RG-PIL-12 · RG-PIL-13 · RG-PIL-14</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329</a:t>
            </a:r>
            <a:endParaRPr lang="en-US" sz="11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0F3F6"/>
        </a:solidFill>
      </p:bgPr>
    </p:bg>
    <p:spTree>
      <p:nvGrpSpPr>
        <p:cNvPr id="1" name=""/>
        <p:cNvGrpSpPr/>
        <p:nvPr/>
      </p:nvGrpSpPr>
      <p:grpSpPr>
        <a:xfrm>
          <a:off x="0" y="0"/>
          <a:ext cx="0" cy="0"/>
          <a:chOff x="0" y="0"/>
          <a:chExt cx="0" cy="0"/>
        </a:xfrm>
      </p:grpSpPr>
      <p:sp>
        <p:nvSpPr>
          <p:cNvPr id="2" name="Shape 0"/>
          <p:cNvSpPr/>
          <p:nvPr/>
        </p:nvSpPr>
        <p:spPr>
          <a:xfrm>
            <a:off x="812780" y="2413000"/>
            <a:ext cx="63498" cy="1397000"/>
          </a:xfrm>
          <a:prstGeom prst="rect">
            <a:avLst/>
          </a:prstGeom>
          <a:solidFill>
            <a:srgbClr val="E3AE2E"/>
          </a:solidFill>
          <a:ln/>
        </p:spPr>
      </p:sp>
      <p:sp>
        <p:nvSpPr>
          <p:cNvPr id="3" name="Text 1"/>
          <p:cNvSpPr/>
          <p:nvPr/>
        </p:nvSpPr>
        <p:spPr>
          <a:xfrm>
            <a:off x="1079473" y="2413000"/>
            <a:ext cx="9524762"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a:t>
            </a:r>
            <a:endParaRPr lang="en-US" sz="1200" dirty="0"/>
          </a:p>
        </p:txBody>
      </p:sp>
      <p:sp>
        <p:nvSpPr>
          <p:cNvPr id="4" name="Text 2"/>
          <p:cNvSpPr/>
          <p:nvPr/>
        </p:nvSpPr>
        <p:spPr>
          <a:xfrm>
            <a:off x="1079473" y="2667000"/>
            <a:ext cx="10159746" cy="508000"/>
          </a:xfrm>
          <a:prstGeom prst="rect">
            <a:avLst/>
          </a:prstGeom>
          <a:noFill/>
          <a:ln/>
        </p:spPr>
        <p:txBody>
          <a:bodyPr wrap="square" rtlCol="0" anchor="ctr">
            <a:normAutofit/>
          </a:bodyPr>
          <a:lstStyle/>
          <a:p>
            <a:pPr indent="0" marL="0">
              <a:buNone/>
            </a:pPr>
            <a:r>
              <a:rPr lang="en-US" sz="3200" b="1" dirty="0">
                <a:solidFill>
                  <a:srgbClr val="1B2A3A"/>
                </a:solidFill>
                <a:latin typeface="Segoe UI" pitchFamily="34" charset="0"/>
                <a:ea typeface="Segoe UI" pitchFamily="34" charset="-122"/>
                <a:cs typeface="Segoe UI" pitchFamily="34" charset="-120"/>
              </a:rPr>
              <a:t>Publier</a:t>
            </a:r>
            <a:endParaRPr lang="en-US" sz="3200" dirty="0"/>
          </a:p>
        </p:txBody>
      </p:sp>
      <p:sp>
        <p:nvSpPr>
          <p:cNvPr id="5" name="Text 3"/>
          <p:cNvSpPr/>
          <p:nvPr/>
        </p:nvSpPr>
        <p:spPr>
          <a:xfrm>
            <a:off x="1079473" y="3238500"/>
            <a:ext cx="9524762" cy="889000"/>
          </a:xfrm>
          <a:prstGeom prst="rect">
            <a:avLst/>
          </a:prstGeom>
          <a:noFill/>
          <a:ln/>
        </p:spPr>
        <p:txBody>
          <a:bodyPr wrap="square" rtlCol="0" anchor="t">
            <a:normAutofit/>
          </a:bodyPr>
          <a:lstStyle/>
          <a:p>
            <a:pPr indent="0" marL="0">
              <a:buNone/>
            </a:pPr>
            <a:r>
              <a:rPr lang="en-US" sz="1600" dirty="0">
                <a:solidFill>
                  <a:srgbClr val="465568"/>
                </a:solidFill>
                <a:latin typeface="Segoe UI" pitchFamily="34" charset="0"/>
                <a:ea typeface="Segoe UI" pitchFamily="34" charset="-122"/>
                <a:cs typeface="Segoe UI" pitchFamily="34" charset="-120"/>
              </a:rPr>
              <a:t>Le Chargé de publication tient le portail de transparence, sans accès au circuit interne de la Commission.</a:t>
            </a:r>
            <a:endParaRPr lang="en-US" sz="16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330</a:t>
            </a:r>
            <a:endParaRPr lang="en-US" sz="11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publications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publication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Chargé de publication crée et met à jour ; les PRMP et la Commission consultent.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publication : objet, statut, nombre de consultations.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publication naît en attente, se publie, puis peut être retirée — toujours avec un motif.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Aucune publication n’est encore enregistrée sur la base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RG-PIL-07 · RG-PIL-08 · RG-PIL-09</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331</a:t>
            </a:r>
            <a:endParaRPr lang="en-US" sz="11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publics</a:t>
            </a:r>
            <a:endParaRPr lang="en-US" sz="2600" dirty="0"/>
          </a:p>
        </p:txBody>
      </p:sp>
      <p:sp>
        <p:nvSpPr>
          <p:cNvPr id="4" name="Shape 2"/>
          <p:cNvSpPr/>
          <p:nvPr/>
        </p:nvSpPr>
        <p:spPr>
          <a:xfrm>
            <a:off x="800080" y="1193800"/>
            <a:ext cx="7327717" cy="4895255"/>
          </a:xfrm>
          <a:prstGeom prst="rect">
            <a:avLst/>
          </a:prstGeom>
          <a:solidFill>
            <a:srgbClr val="FCFCFA"/>
          </a:solidFill>
          <a:ln w="9525">
            <a:solidFill>
              <a:srgbClr val="D5DCE4"/>
            </a:solidFill>
            <a:prstDash val="solid"/>
          </a:ln>
        </p:spPr>
      </p:sp>
      <p:pic>
        <p:nvPicPr>
          <p:cNvPr id="5" name="Image 0" descr="Les documents publics">    </p:cNvPr>
          <p:cNvPicPr>
            <a:picLocks noChangeAspect="1"/>
          </p:cNvPicPr>
          <p:nvPr/>
        </p:nvPicPr>
        <p:blipFill>
          <a:blip r:embed="rId1"/>
          <a:stretch>
            <a:fillRect/>
          </a:stretch>
        </p:blipFill>
        <p:spPr>
          <a:xfrm>
            <a:off x="812780" y="1206500"/>
            <a:ext cx="7302317" cy="4869855"/>
          </a:xfrm>
          <a:prstGeom prst="rect">
            <a:avLst/>
          </a:prstGeom>
        </p:spPr>
      </p:pic>
      <p:sp>
        <p:nvSpPr>
          <p:cNvPr id="6" name="Shape 3"/>
          <p:cNvSpPr/>
          <p:nvPr/>
        </p:nvSpPr>
        <p:spPr>
          <a:xfrm>
            <a:off x="8292893" y="1206500"/>
            <a:ext cx="3086023" cy="5080000"/>
          </a:xfrm>
          <a:prstGeom prst="rect">
            <a:avLst/>
          </a:prstGeom>
          <a:solidFill>
            <a:srgbClr val="FCFCFA"/>
          </a:solidFill>
          <a:ln w="9525">
            <a:solidFill>
              <a:srgbClr val="D5DCE4"/>
            </a:solidFill>
            <a:prstDash val="solid"/>
          </a:ln>
        </p:spPr>
      </p:sp>
      <p:sp>
        <p:nvSpPr>
          <p:cNvPr id="7" name="Shape 4"/>
          <p:cNvSpPr/>
          <p:nvPr/>
        </p:nvSpPr>
        <p:spPr>
          <a:xfrm>
            <a:off x="8292893" y="1206500"/>
            <a:ext cx="38099" cy="5080000"/>
          </a:xfrm>
          <a:prstGeom prst="rect">
            <a:avLst/>
          </a:prstGeom>
          <a:solidFill>
            <a:srgbClr val="1B6FA8"/>
          </a:solidFill>
          <a:ln/>
        </p:spPr>
      </p:sp>
      <p:sp>
        <p:nvSpPr>
          <p:cNvPr id="8" name="Text 5"/>
          <p:cNvSpPr/>
          <p:nvPr/>
        </p:nvSpPr>
        <p:spPr>
          <a:xfrm>
            <a:off x="8457989" y="1308100"/>
            <a:ext cx="2793930"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documents mis à la disposition du public, rattachés à une publication : type, libellé, format, taille.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document porte son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 numérique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l’intégrité du fichier se vérifie à tout moment.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Aucun document n’est encore enregistré sur la base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(annexe A)</a:t>
            </a:r>
            <a:endParaRPr lang="en-US" sz="1050" dirty="0"/>
          </a:p>
          <a:p>
            <a:pPr indent="0" marL="0">
              <a:spcAft>
                <a:spcPts val="300"/>
              </a:spcAft>
              <a:buNone/>
            </a:pPr>
            <a:r>
              <a:rPr lang="en-US" sz="1100" b="1" dirty="0">
                <a:solidFill>
                  <a:srgbClr val="12324A"/>
                </a:solidFill>
                <a:latin typeface="Consolas" pitchFamily="34" charset="0"/>
                <a:ea typeface="Consolas" pitchFamily="34" charset="-122"/>
                <a:cs typeface="Consolas" pitchFamily="34" charset="-120"/>
              </a:rPr>
              <a:t>RG-PIL-10</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332</a:t>
            </a:r>
            <a:endParaRPr lang="en-US" sz="11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EN RÉSUMÉ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Shape 2"/>
          <p:cNvSpPr/>
          <p:nvPr/>
        </p:nvSpPr>
        <p:spPr>
          <a:xfrm>
            <a:off x="812780" y="1206500"/>
            <a:ext cx="3420448" cy="2159000"/>
          </a:xfrm>
          <a:prstGeom prst="rect">
            <a:avLst/>
          </a:prstGeom>
          <a:solidFill>
            <a:srgbClr val="FCFCFA"/>
          </a:solidFill>
          <a:ln w="9525">
            <a:solidFill>
              <a:srgbClr val="D5DCE4"/>
            </a:solidFill>
            <a:prstDash val="solid"/>
          </a:ln>
        </p:spPr>
      </p:sp>
      <p:sp>
        <p:nvSpPr>
          <p:cNvPr id="5" name="Shape 3"/>
          <p:cNvSpPr/>
          <p:nvPr/>
        </p:nvSpPr>
        <p:spPr>
          <a:xfrm>
            <a:off x="812780" y="1206500"/>
            <a:ext cx="3420448" cy="38100"/>
          </a:xfrm>
          <a:prstGeom prst="rect">
            <a:avLst/>
          </a:prstGeom>
          <a:solidFill>
            <a:srgbClr val="1B6FA8"/>
          </a:solidFill>
          <a:ln/>
        </p:spPr>
      </p:sp>
      <p:sp>
        <p:nvSpPr>
          <p:cNvPr id="6" name="Text 4"/>
          <p:cNvSpPr/>
          <p:nvPr/>
        </p:nvSpPr>
        <p:spPr>
          <a:xfrm>
            <a:off x="952476"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date annoncée dès la soumission</a:t>
            </a:r>
            <a:endParaRPr lang="en-US" sz="1500" dirty="0"/>
          </a:p>
        </p:txBody>
      </p:sp>
      <p:sp>
        <p:nvSpPr>
          <p:cNvPr id="7" name="Text 5"/>
          <p:cNvSpPr/>
          <p:nvPr/>
        </p:nvSpPr>
        <p:spPr>
          <a:xfrm>
            <a:off x="952476"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PRMP connaît la fin de traitement prévue, calculée sur les délais de la Commission, sans la demander.</a:t>
            </a:r>
            <a:endParaRPr lang="en-US" sz="1200" dirty="0"/>
          </a:p>
        </p:txBody>
      </p:sp>
      <p:sp>
        <p:nvSpPr>
          <p:cNvPr id="8" name="Shape 6"/>
          <p:cNvSpPr/>
          <p:nvPr/>
        </p:nvSpPr>
        <p:spPr>
          <a:xfrm>
            <a:off x="4385624" y="1206500"/>
            <a:ext cx="3420448" cy="2159000"/>
          </a:xfrm>
          <a:prstGeom prst="rect">
            <a:avLst/>
          </a:prstGeom>
          <a:solidFill>
            <a:srgbClr val="FCFCFA"/>
          </a:solidFill>
          <a:ln w="9525">
            <a:solidFill>
              <a:srgbClr val="D5DCE4"/>
            </a:solidFill>
            <a:prstDash val="solid"/>
          </a:ln>
        </p:spPr>
      </p:sp>
      <p:sp>
        <p:nvSpPr>
          <p:cNvPr id="9" name="Shape 7"/>
          <p:cNvSpPr/>
          <p:nvPr/>
        </p:nvSpPr>
        <p:spPr>
          <a:xfrm>
            <a:off x="4385624" y="1206500"/>
            <a:ext cx="3420448" cy="38100"/>
          </a:xfrm>
          <a:prstGeom prst="rect">
            <a:avLst/>
          </a:prstGeom>
          <a:solidFill>
            <a:srgbClr val="2E8B57"/>
          </a:solidFill>
          <a:ln/>
        </p:spPr>
      </p:sp>
      <p:sp>
        <p:nvSpPr>
          <p:cNvPr id="10" name="Text 8"/>
          <p:cNvSpPr/>
          <p:nvPr/>
        </p:nvSpPr>
        <p:spPr>
          <a:xfrm>
            <a:off x="4525320" y="13081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Une date honnête</a:t>
            </a:r>
            <a:endParaRPr lang="en-US" sz="1500" dirty="0"/>
          </a:p>
        </p:txBody>
      </p:sp>
      <p:sp>
        <p:nvSpPr>
          <p:cNvPr id="11" name="Text 9"/>
          <p:cNvSpPr/>
          <p:nvPr/>
        </p:nvSpPr>
        <p:spPr>
          <a:xfrm>
            <a:off x="4525320" y="15938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Quand le dossier attend la PRMP, la date glisse ; une étape en retard ne promet pas de rattrapage.</a:t>
            </a:r>
            <a:endParaRPr lang="en-US" sz="1200" dirty="0"/>
          </a:p>
        </p:txBody>
      </p:sp>
      <p:sp>
        <p:nvSpPr>
          <p:cNvPr id="12" name="Shape 10"/>
          <p:cNvSpPr/>
          <p:nvPr/>
        </p:nvSpPr>
        <p:spPr>
          <a:xfrm>
            <a:off x="7958468" y="1206500"/>
            <a:ext cx="3420448" cy="2159000"/>
          </a:xfrm>
          <a:prstGeom prst="rect">
            <a:avLst/>
          </a:prstGeom>
          <a:solidFill>
            <a:srgbClr val="FCFCFA"/>
          </a:solidFill>
          <a:ln w="9525">
            <a:solidFill>
              <a:srgbClr val="D5DCE4"/>
            </a:solidFill>
            <a:prstDash val="solid"/>
          </a:ln>
        </p:spPr>
      </p:sp>
      <p:sp>
        <p:nvSpPr>
          <p:cNvPr id="13" name="Shape 11"/>
          <p:cNvSpPr/>
          <p:nvPr/>
        </p:nvSpPr>
        <p:spPr>
          <a:xfrm>
            <a:off x="7958468" y="1206500"/>
            <a:ext cx="3420448" cy="38100"/>
          </a:xfrm>
          <a:prstGeom prst="rect">
            <a:avLst/>
          </a:prstGeom>
          <a:solidFill>
            <a:srgbClr val="E3AE2E"/>
          </a:solidFill>
          <a:ln/>
        </p:spPr>
      </p:sp>
      <p:sp>
        <p:nvSpPr>
          <p:cNvPr id="14" name="Text 12"/>
          <p:cNvSpPr/>
          <p:nvPr/>
        </p:nvSpPr>
        <p:spPr>
          <a:xfrm>
            <a:off x="8098164" y="13081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indicateurs sans ressaisie</a:t>
            </a:r>
            <a:endParaRPr lang="en-US" sz="1500" dirty="0"/>
          </a:p>
        </p:txBody>
      </p:sp>
      <p:sp>
        <p:nvSpPr>
          <p:cNvPr id="15" name="Text 13"/>
          <p:cNvSpPr/>
          <p:nvPr/>
        </p:nvSpPr>
        <p:spPr>
          <a:xfrm>
            <a:off x="8098164" y="17653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tableau de bord et les rapports se calculent sur les dossiers réels ; rien n’est compté à la main.</a:t>
            </a:r>
            <a:endParaRPr lang="en-US" sz="1200" dirty="0"/>
          </a:p>
        </p:txBody>
      </p:sp>
      <p:sp>
        <p:nvSpPr>
          <p:cNvPr id="16" name="Shape 14"/>
          <p:cNvSpPr/>
          <p:nvPr/>
        </p:nvSpPr>
        <p:spPr>
          <a:xfrm>
            <a:off x="812780" y="3517900"/>
            <a:ext cx="3420448" cy="2159000"/>
          </a:xfrm>
          <a:prstGeom prst="rect">
            <a:avLst/>
          </a:prstGeom>
          <a:solidFill>
            <a:srgbClr val="FCFCFA"/>
          </a:solidFill>
          <a:ln w="9525">
            <a:solidFill>
              <a:srgbClr val="D5DCE4"/>
            </a:solidFill>
            <a:prstDash val="solid"/>
          </a:ln>
        </p:spPr>
      </p:sp>
      <p:sp>
        <p:nvSpPr>
          <p:cNvPr id="17" name="Shape 15"/>
          <p:cNvSpPr/>
          <p:nvPr/>
        </p:nvSpPr>
        <p:spPr>
          <a:xfrm>
            <a:off x="812780" y="3517900"/>
            <a:ext cx="3420448" cy="38100"/>
          </a:xfrm>
          <a:prstGeom prst="rect">
            <a:avLst/>
          </a:prstGeom>
          <a:solidFill>
            <a:srgbClr val="12324A"/>
          </a:solidFill>
          <a:ln/>
        </p:spPr>
      </p:sp>
      <p:sp>
        <p:nvSpPr>
          <p:cNvPr id="18" name="Text 16"/>
          <p:cNvSpPr/>
          <p:nvPr/>
        </p:nvSpPr>
        <p:spPr>
          <a:xfrm>
            <a:off x="952476"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Chacun son périmètre</a:t>
            </a:r>
            <a:endParaRPr lang="en-US" sz="1500" dirty="0"/>
          </a:p>
        </p:txBody>
      </p:sp>
      <p:sp>
        <p:nvSpPr>
          <p:cNvPr id="19" name="Text 17"/>
          <p:cNvSpPr/>
          <p:nvPr/>
        </p:nvSpPr>
        <p:spPr>
          <a:xfrm>
            <a:off x="952476"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Chef de commission ne voit que sa localité ; la PRMP n’a pas accès aux statistiques de la CNM.</a:t>
            </a:r>
            <a:endParaRPr lang="en-US" sz="1200" dirty="0"/>
          </a:p>
        </p:txBody>
      </p:sp>
      <p:sp>
        <p:nvSpPr>
          <p:cNvPr id="20" name="Shape 18"/>
          <p:cNvSpPr/>
          <p:nvPr/>
        </p:nvSpPr>
        <p:spPr>
          <a:xfrm>
            <a:off x="4385624" y="3517900"/>
            <a:ext cx="3420448" cy="2159000"/>
          </a:xfrm>
          <a:prstGeom prst="rect">
            <a:avLst/>
          </a:prstGeom>
          <a:solidFill>
            <a:srgbClr val="FCFCFA"/>
          </a:solidFill>
          <a:ln w="9525">
            <a:solidFill>
              <a:srgbClr val="D5DCE4"/>
            </a:solidFill>
            <a:prstDash val="solid"/>
          </a:ln>
        </p:spPr>
      </p:sp>
      <p:sp>
        <p:nvSpPr>
          <p:cNvPr id="21" name="Shape 19"/>
          <p:cNvSpPr/>
          <p:nvPr/>
        </p:nvSpPr>
        <p:spPr>
          <a:xfrm>
            <a:off x="4385624" y="3517900"/>
            <a:ext cx="3420448" cy="38100"/>
          </a:xfrm>
          <a:prstGeom prst="rect">
            <a:avLst/>
          </a:prstGeom>
          <a:solidFill>
            <a:srgbClr val="1B6FA8"/>
          </a:solidFill>
          <a:ln/>
        </p:spPr>
      </p:sp>
      <p:sp>
        <p:nvSpPr>
          <p:cNvPr id="22" name="Text 20"/>
          <p:cNvSpPr/>
          <p:nvPr/>
        </p:nvSpPr>
        <p:spPr>
          <a:xfrm>
            <a:off x="4525320" y="36195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Aucune procédure orpheline</a:t>
            </a:r>
            <a:endParaRPr lang="en-US" sz="1500" dirty="0"/>
          </a:p>
        </p:txBody>
      </p:sp>
      <p:sp>
        <p:nvSpPr>
          <p:cNvPr id="23" name="Text 21"/>
          <p:cNvSpPr/>
          <p:nvPr/>
        </p:nvSpPr>
        <p:spPr>
          <a:xfrm>
            <a:off x="4525320" y="39052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procédure en ligne sans responsable remonte en tête de liste et au poste d’administration.</a:t>
            </a:r>
            <a:endParaRPr lang="en-US" sz="1200" dirty="0"/>
          </a:p>
        </p:txBody>
      </p:sp>
      <p:sp>
        <p:nvSpPr>
          <p:cNvPr id="24" name="Shape 22"/>
          <p:cNvSpPr/>
          <p:nvPr/>
        </p:nvSpPr>
        <p:spPr>
          <a:xfrm>
            <a:off x="7958468" y="3517900"/>
            <a:ext cx="3420448" cy="2159000"/>
          </a:xfrm>
          <a:prstGeom prst="rect">
            <a:avLst/>
          </a:prstGeom>
          <a:solidFill>
            <a:srgbClr val="FCFCFA"/>
          </a:solidFill>
          <a:ln w="9525">
            <a:solidFill>
              <a:srgbClr val="D5DCE4"/>
            </a:solidFill>
            <a:prstDash val="solid"/>
          </a:ln>
        </p:spPr>
      </p:sp>
      <p:sp>
        <p:nvSpPr>
          <p:cNvPr id="25" name="Shape 23"/>
          <p:cNvSpPr/>
          <p:nvPr/>
        </p:nvSpPr>
        <p:spPr>
          <a:xfrm>
            <a:off x="7958468" y="3517900"/>
            <a:ext cx="3420448" cy="38100"/>
          </a:xfrm>
          <a:prstGeom prst="rect">
            <a:avLst/>
          </a:prstGeom>
          <a:solidFill>
            <a:srgbClr val="2E8B57"/>
          </a:solidFill>
          <a:ln/>
        </p:spPr>
      </p:sp>
      <p:sp>
        <p:nvSpPr>
          <p:cNvPr id="26" name="Text 24"/>
          <p:cNvSpPr/>
          <p:nvPr/>
        </p:nvSpPr>
        <p:spPr>
          <a:xfrm>
            <a:off x="8098164" y="36195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documents publics vérifiables</a:t>
            </a:r>
            <a:endParaRPr lang="en-US" sz="1500" dirty="0"/>
          </a:p>
        </p:txBody>
      </p:sp>
      <p:sp>
        <p:nvSpPr>
          <p:cNvPr id="27" name="Text 25"/>
          <p:cNvSpPr/>
          <p:nvPr/>
        </p:nvSpPr>
        <p:spPr>
          <a:xfrm>
            <a:off x="8098164" y="40767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document publié porte son empreinte ; un retrait de publication est toujours motivé et daté.</a:t>
            </a:r>
            <a:endParaRPr lang="en-US" sz="1200" dirty="0"/>
          </a:p>
        </p:txBody>
      </p:sp>
      <p:sp>
        <p:nvSpPr>
          <p:cNvPr id="28" name="Text 2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333</a:t>
            </a:r>
            <a:endParaRPr lang="en-US" sz="11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A</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Annexe A — Les règles de gestion</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Partie par partie, les règles que l’application applique : chacune cite sa source (règles de gestion du serveur, contrats, manuel de contrôle révisé) et les écrans où elle s’applique.</a:t>
            </a:r>
            <a:endParaRPr lang="en-US" sz="17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334</a:t>
            </a:r>
            <a:endParaRPr lang="en-US" sz="11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en un tableau</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416 règles</a:t>
            </a:r>
            <a:pPr indent="0" marL="0">
              <a:buNone/>
            </a:pPr>
            <a:r>
              <a:rPr lang="en-US" sz="1300" dirty="0">
                <a:solidFill>
                  <a:srgbClr val="465568"/>
                </a:solidFill>
                <a:latin typeface="Segoe UI" pitchFamily="34" charset="0"/>
                <a:ea typeface="Segoe UI" pitchFamily="34" charset="-122"/>
                <a:cs typeface="Segoe UI" pitchFamily="34" charset="-120"/>
              </a:rPr>
              <a:t>, groupées par partie et par thème. Chaque écran de la présentation cite celles qu’il applique.</a:t>
            </a:r>
            <a:endParaRPr lang="en-US" sz="1300" dirty="0"/>
          </a:p>
        </p:txBody>
      </p:sp>
      <p:graphicFrame>
        <p:nvGraphicFramePr>
          <p:cNvPr id="33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651760"/>
                <a:gridCol w="82296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Partie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01 · Entrer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27</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Session et accès · Inscription et comptes · Profils et visibilité · L’accueil « À faire » · Actualités, notifications et assistant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02 · Planifier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27</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plan et ses lignes · Calendrier et pièces · Le pré-contrôle · La soumission et le suivi · Les versions · Retrait et jalons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03 · Contrôler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57</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Recevabilité et réception · Dispatch et délégation · Examen · Le PV : navette, visa et signature · Vérification et réserves · Renvoi et rectification · Retraits · Délais et chronométrage · Le manuel de contrôle · Le contrôle sur les données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04 · Préparer le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60</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Préparer une fiche : qui, et sur quelle ligne · Les deux axes de la fiche viennent du plan · Cadrer, saisir, contrôler · Les lots, le besoin, les formulaires du candidat · Valider, produire, réviser · Le DAO complet · Après la validation : le dossier, la rectification, la publicité · L’import du DAO · Le mode de remise (manuel révisé) · Les questions des candidats (manuel révisé) · La procédure en remise électronique · Le retrait du DAO</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05 · L’appel à manifestation d’intérêt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26</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Préparer l’appel · Publier ou dispenser · Les expressions d’intérêt · La présélection · Le rapport et la liste restreinte · La demande de propositions · Relance et infructuosité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06 · Recevoir les offres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35</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compte et l’entreprise · Les procédures ouvertes et le retrait · Les frais de dossier · L’offre remplie en ligne · Le dépôt scellé · La commission, les clés et le dépositaire · La consultation restreinte · Les questions des candidats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07 · La séance d’ouverture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31</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Ouvrir la séance · Les parts et le quorum des clés · L’ouverture des offres · La lecture et les alertes · Les pièces des offres · Le PV d’ouverture · La conservation des offres · Les prestations intellectuelles · Le quorum de la commission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08 · Évaluer les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38</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Ouvrir l’évaluation · Arrêter et tracer · L’examen préliminaire · Montant évalué et classement · Les offres anormales · La post-qualification · Le rapport d’évaluation · 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09 · Attribuer et notifier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36</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dossier de marché · Attribuer · Informer les candidats · Les recours · Les pièces de l’attributaire · Signer, approuver, enregistrer, notifier · L’infructuosité · Les actes de gestion · Après le rapport · Les prestations intellectuelles · Les délais légaux</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10 · Intérim et mandats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17</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L’intérim désigné · Effets de l’intérim · Mandats PRMP · Vacance et reprise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11 · Administrer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47</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Accès et comptes · Mandats et entités de la PRMP · Organisation du contrôle · Nomenclatures et fiche DAO · Remise électronique et entreprises · Traces et communication · Pré-contrôle · Paramètres du manuel révisé · Délais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12 · Piloter et publier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50" b="1" dirty="0">
                          <a:solidFill>
                            <a:srgbClr val="1B6FA8"/>
                          </a:solidFill>
                          <a:latin typeface="Segoe UI" pitchFamily="34" charset="0"/>
                          <a:ea typeface="Segoe UI" pitchFamily="34" charset="-122"/>
                          <a:cs typeface="Segoe UI" pitchFamily="34" charset="-120"/>
                        </a:rPr>
                        <a:t>15</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Suivi des dossiers · Rapports et tableaux de pilotage · Publication et transparence · Procédures en ligne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335</a:t>
            </a:r>
            <a:endParaRPr lang="en-US" sz="11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 (1/2)</a:t>
            </a:r>
            <a:endParaRPr lang="en-US" sz="2600" dirty="0"/>
          </a:p>
        </p:txBody>
      </p:sp>
      <p:graphicFrame>
        <p:nvGraphicFramePr>
          <p:cNvPr id="33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session portée par le serveur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connexion ouvre une session portée par un </a:t>
                      </a:r>
                      <a:pPr indent="0" marL="0">
                        <a:buNone/>
                      </a:pPr>
                      <a:r>
                        <a:rPr lang="en-US" sz="1100" b="1" dirty="0">
                          <a:solidFill>
                            <a:srgbClr val="1B2A3A"/>
                          </a:solidFill>
                          <a:latin typeface="Segoe UI" pitchFamily="34" charset="0"/>
                          <a:ea typeface="Segoe UI" pitchFamily="34" charset="-122"/>
                          <a:cs typeface="Segoe UI" pitchFamily="34" charset="-120"/>
                        </a:rPr>
                        <a:t>témoin protégé</a:t>
                      </a:r>
                      <a:pPr indent="0" marL="0">
                        <a:buNone/>
                      </a:pPr>
                      <a:r>
                        <a:rPr lang="en-US" sz="1100" dirty="0">
                          <a:solidFill>
                            <a:srgbClr val="1B2A3A"/>
                          </a:solidFill>
                          <a:latin typeface="Segoe UI" pitchFamily="34" charset="0"/>
                          <a:ea typeface="Segoe UI" pitchFamily="34" charset="-122"/>
                          <a:cs typeface="Segoe UI" pitchFamily="34" charset="-120"/>
                        </a:rPr>
                        <a:t>, que les scripts de la page ne peuvent pas lire et qui n’est jamais envoyé à un autre site. Aucun jeton n’est remis à l’écran ; la déconnexion est demandée au serveur, qui efface la session.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Tentatives de connexion limitées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Cinq échecs en quinze minutes verrouillent l’identifiant depuis un même poste ; vingt échecs bloquent le poste. Une connexion réussie remet à zéro le compteur de l’identifiant. Les inscriptions publiques sont limitées à </a:t>
                      </a:r>
                      <a:pPr indent="0" marL="0">
                        <a:buNone/>
                      </a:pPr>
                      <a:r>
                        <a:rPr lang="en-US" sz="1100" b="1" dirty="0">
                          <a:solidFill>
                            <a:srgbClr val="1B2A3A"/>
                          </a:solidFill>
                          <a:latin typeface="Segoe UI" pitchFamily="34" charset="0"/>
                          <a:ea typeface="Segoe UI" pitchFamily="34" charset="-122"/>
                          <a:cs typeface="Segoe UI" pitchFamily="34" charset="-120"/>
                        </a:rPr>
                        <a:t>dix par heure</a:t>
                      </a:r>
                      <a:pPr indent="0" marL="0">
                        <a:buNone/>
                      </a:pPr>
                      <a:r>
                        <a:rPr lang="en-US" sz="1100" dirty="0">
                          <a:solidFill>
                            <a:srgbClr val="1B2A3A"/>
                          </a:solidFill>
                          <a:latin typeface="Segoe UI" pitchFamily="34" charset="0"/>
                          <a:ea typeface="Segoe UI" pitchFamily="34" charset="-122"/>
                          <a:cs typeface="Segoe UI" pitchFamily="34" charset="-120"/>
                        </a:rPr>
                        <a:t> et par poste.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mot de passe robuste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 nouveau mot de passe compte </a:t>
                      </a:r>
                      <a:pPr indent="0" marL="0">
                        <a:buNone/>
                      </a:pPr>
                      <a:r>
                        <a:rPr lang="en-US" sz="1100" b="1" dirty="0">
                          <a:solidFill>
                            <a:srgbClr val="1B2A3A"/>
                          </a:solidFill>
                          <a:latin typeface="Segoe UI" pitchFamily="34" charset="0"/>
                          <a:ea typeface="Segoe UI" pitchFamily="34" charset="-122"/>
                          <a:cs typeface="Segoe UI" pitchFamily="34" charset="-120"/>
                        </a:rPr>
                        <a:t>8 à 72 caractères</a:t>
                      </a:r>
                      <a:pPr indent="0" marL="0">
                        <a:buNone/>
                      </a:pPr>
                      <a:r>
                        <a:rPr lang="en-US" sz="1100" dirty="0">
                          <a:solidFill>
                            <a:srgbClr val="1B2A3A"/>
                          </a:solidFill>
                          <a:latin typeface="Segoe UI" pitchFamily="34" charset="0"/>
                          <a:ea typeface="Segoe UI" pitchFamily="34" charset="-122"/>
                          <a:cs typeface="Segoe UI" pitchFamily="34" charset="-120"/>
                        </a:rPr>
                        <a:t>, dont au moins une lettre et un chiffre : à l’inscription, à la création d’un compte, à la réinitialisation et au changement. La règle ne s’applique jamais à la connexion : un ancien mot de passe reste valable jusqu’à son prochain changement.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Chaque tentative est journalisée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tentative de connexion, réussie ou refusée, est consignée avec l’identifiant tenté ; la déconnexion date la fin de la session. L’Administrateur consulte ce </a:t>
                      </a:r>
                      <a:pPr indent="0" marL="0">
                        <a:buNone/>
                      </a:pPr>
                      <a:r>
                        <a:rPr lang="en-US" sz="1100" b="1" dirty="0">
                          <a:solidFill>
                            <a:srgbClr val="1B2A3A"/>
                          </a:solidFill>
                          <a:latin typeface="Segoe UI" pitchFamily="34" charset="0"/>
                          <a:ea typeface="Segoe UI" pitchFamily="34" charset="-122"/>
                          <a:cs typeface="Segoe UI" pitchFamily="34" charset="-120"/>
                        </a:rPr>
                        <a:t>journal des connexions</a:t>
                      </a:r>
                      <a:pPr indent="0" marL="0">
                        <a:buNone/>
                      </a:pPr>
                      <a:r>
                        <a:rPr lang="en-US" sz="1100" dirty="0">
                          <a:solidFill>
                            <a:srgbClr val="1B2A3A"/>
                          </a:solidFill>
                          <a:latin typeface="Segoe UI" pitchFamily="34" charset="0"/>
                          <a:ea typeface="Segoe UI" pitchFamily="34" charset="-122"/>
                          <a:cs typeface="Segoe UI" pitchFamily="34" charset="-120"/>
                        </a:rPr>
                        <a:t>. Une panne du journal ne bloque jamais la connexion.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entrée publique par public</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portail public a </a:t>
                      </a:r>
                      <a:pPr indent="0" marL="0">
                        <a:buNone/>
                      </a:pPr>
                      <a:r>
                        <a:rPr lang="en-US" sz="1100" b="1" dirty="0">
                          <a:solidFill>
                            <a:srgbClr val="1B2A3A"/>
                          </a:solidFill>
                          <a:latin typeface="Segoe UI" pitchFamily="34" charset="0"/>
                          <a:ea typeface="Segoe UI" pitchFamily="34" charset="-122"/>
                          <a:cs typeface="Segoe UI" pitchFamily="34" charset="-120"/>
                        </a:rPr>
                        <a:t>trois entrées</a:t>
                      </a:r>
                      <a:pPr indent="0" marL="0">
                        <a:buNone/>
                      </a:pPr>
                      <a:r>
                        <a:rPr lang="en-US" sz="1100" dirty="0">
                          <a:solidFill>
                            <a:srgbClr val="1B2A3A"/>
                          </a:solidFill>
                          <a:latin typeface="Segoe UI" pitchFamily="34" charset="0"/>
                          <a:ea typeface="Segoe UI" pitchFamily="34" charset="-122"/>
                          <a:cs typeface="Segoe UI" pitchFamily="34" charset="-120"/>
                        </a:rPr>
                        <a:t> : PRMP et UGPM, Commission, entreprises. Hors session, la racine du site y mène ; un utilisateur connecté qui y revient est renvoyé à son accueil. Les entreprises consultent les procédures ouvertes sans compte ; les membres de commission d’appel d’offres n’ont pas d’entrée publique et arrivent par leur invitation.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Authentification ; CLAUDE.md du front § Backend associé · regles-gestion.md § 3.8 Administrateur, Module 10 (limitation de débit) · regles-gestion.md § 3.8 Administrateur, Module 10 (politique de mot de passe) · regles-gestion.md § 3.8 Administrateur, Module 10 (journal des connexions) · Code du front : app.routes.ts (accueil public) et features/public/accueil-public-libelles.ts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336</a:t>
            </a:r>
            <a:endParaRPr lang="en-US" sz="11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 (2/2)</a:t>
            </a:r>
            <a:endParaRPr lang="en-US" sz="2600" dirty="0"/>
          </a:p>
        </p:txBody>
      </p:sp>
      <p:graphicFrame>
        <p:nvGraphicFramePr>
          <p:cNvPr id="33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Changer ou retrouver son mot de passe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Chacun change son mot de passe depuis la barre du haut : l’</a:t>
                      </a:r>
                      <a:pPr indent="0" marL="0">
                        <a:buNone/>
                      </a:pPr>
                      <a:r>
                        <a:rPr lang="en-US" sz="1100" b="1" dirty="0">
                          <a:solidFill>
                            <a:srgbClr val="1B2A3A"/>
                          </a:solidFill>
                          <a:latin typeface="Segoe UI" pitchFamily="34" charset="0"/>
                          <a:ea typeface="Segoe UI" pitchFamily="34" charset="-122"/>
                          <a:cs typeface="Segoe UI" pitchFamily="34" charset="-120"/>
                        </a:rPr>
                        <a:t>ancien mot de passe</a:t>
                      </a:r>
                      <a:pPr indent="0" marL="0">
                        <a:buNone/>
                      </a:pPr>
                      <a:r>
                        <a:rPr lang="en-US" sz="1100" dirty="0">
                          <a:solidFill>
                            <a:srgbClr val="1B2A3A"/>
                          </a:solidFill>
                          <a:latin typeface="Segoe UI" pitchFamily="34" charset="0"/>
                          <a:ea typeface="Segoe UI" pitchFamily="34" charset="-122"/>
                          <a:cs typeface="Segoe UI" pitchFamily="34" charset="-120"/>
                        </a:rPr>
                        <a:t> est vérifié par le serveur, et le nouveau doit en différer. Un mot de passe oublié ne se réinitialise pas en libre-service : l’utilisateur s’adresse à l’Administrateur, qui le réinitialise.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Code du front : features/auth/mon-compte/changer-mot-de-passe-modal.ts et features/auth/login ; regles-gestion.md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337</a:t>
            </a:r>
            <a:endParaRPr lang="en-US" sz="11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(1/2)</a:t>
            </a:r>
            <a:endParaRPr lang="en-US" sz="2600" dirty="0"/>
          </a:p>
        </p:txBody>
      </p:sp>
      <p:graphicFrame>
        <p:nvGraphicFramePr>
          <p:cNvPr id="33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PRMP s’inscrit elle-même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renseigne son identité, déclare ses entités contractantes — choisies dans le référentiel ou proposées si absentes — et joint son </a:t>
                      </a:r>
                      <a:pPr indent="0" marL="0">
                        <a:buNone/>
                      </a:pPr>
                      <a:r>
                        <a:rPr lang="en-US" sz="1100" b="1" dirty="0">
                          <a:solidFill>
                            <a:srgbClr val="1B2A3A"/>
                          </a:solidFill>
                          <a:latin typeface="Segoe UI" pitchFamily="34" charset="0"/>
                          <a:ea typeface="Segoe UI" pitchFamily="34" charset="-122"/>
                          <a:cs typeface="Segoe UI" pitchFamily="34" charset="-120"/>
                        </a:rPr>
                        <a:t>arrêté de nomination</a:t>
                      </a:r>
                      <a:pPr indent="0" marL="0">
                        <a:buNone/>
                      </a:pPr>
                      <a:r>
                        <a:rPr lang="en-US" sz="1100" dirty="0">
                          <a:solidFill>
                            <a:srgbClr val="1B2A3A"/>
                          </a:solidFill>
                          <a:latin typeface="Segoe UI" pitchFamily="34" charset="0"/>
                          <a:ea typeface="Segoe UI" pitchFamily="34" charset="-122"/>
                          <a:cs typeface="Segoe UI" pitchFamily="34" charset="-120"/>
                        </a:rPr>
                        <a:t> et sa CIN, la photo restant facultative. Le compte naît en attente et ne peut pas se connecter.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L’Administrateur vérifie et décide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inscription est notifiée aux Administrateurs. L’Administrateur télécharge et </a:t>
                      </a:r>
                      <a:pPr indent="0" marL="0">
                        <a:buNone/>
                      </a:pPr>
                      <a:r>
                        <a:rPr lang="en-US" sz="1100" b="1" dirty="0">
                          <a:solidFill>
                            <a:srgbClr val="1B2A3A"/>
                          </a:solidFill>
                          <a:latin typeface="Segoe UI" pitchFamily="34" charset="0"/>
                          <a:ea typeface="Segoe UI" pitchFamily="34" charset="-122"/>
                          <a:cs typeface="Segoe UI" pitchFamily="34" charset="-120"/>
                        </a:rPr>
                        <a:t>vérifie l’arrêté</a:t>
                      </a:r>
                      <a:pPr indent="0" marL="0">
                        <a:buNone/>
                      </a:pPr>
                      <a:r>
                        <a:rPr lang="en-US" sz="1100" dirty="0">
                          <a:solidFill>
                            <a:srgbClr val="1B2A3A"/>
                          </a:solidFill>
                          <a:latin typeface="Segoe UI" pitchFamily="34" charset="0"/>
                          <a:ea typeface="Segoe UI" pitchFamily="34" charset="-122"/>
                          <a:cs typeface="Segoe UI" pitchFamily="34" charset="-120"/>
                        </a:rPr>
                        <a:t>, puis valide ou refuse : la vérification n’est jamais automatique. Un refus porte un motif, notifié à la PRMP, et le compte reste non connectable.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validation entité par entité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validation, chaque entité disponible est rattachée ; une entité déjà tenue par une autre PRMP active est </a:t>
                      </a:r>
                      <a:pPr indent="0" marL="0">
                        <a:buNone/>
                      </a:pPr>
                      <a:r>
                        <a:rPr lang="en-US" sz="1100" b="1" dirty="0">
                          <a:solidFill>
                            <a:srgbClr val="1B2A3A"/>
                          </a:solidFill>
                          <a:latin typeface="Segoe UI" pitchFamily="34" charset="0"/>
                          <a:ea typeface="Segoe UI" pitchFamily="34" charset="-122"/>
                          <a:cs typeface="Segoe UI" pitchFamily="34" charset="-120"/>
                        </a:rPr>
                        <a:t>signalée en conflit</a:t>
                      </a:r>
                      <a:pPr indent="0" marL="0">
                        <a:buNone/>
                      </a:pPr>
                      <a:r>
                        <a:rPr lang="en-US" sz="1100" dirty="0">
                          <a:solidFill>
                            <a:srgbClr val="1B2A3A"/>
                          </a:solidFill>
                          <a:latin typeface="Segoe UI" pitchFamily="34" charset="0"/>
                          <a:ea typeface="Segoe UI" pitchFamily="34" charset="-122"/>
                          <a:cs typeface="Segoe UI" pitchFamily="34" charset="-120"/>
                        </a:rPr>
                        <a:t>, sans bloquer. Le compte devient actif dès qu’une entité est rattachée ; sinon il reste en attente.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entité, une seule PRMP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PRMP gère plusieurs entités contractantes, mais chaque entité n’a qu’</a:t>
                      </a:r>
                      <a:pPr indent="0" marL="0">
                        <a:buNone/>
                      </a:pPr>
                      <a:r>
                        <a:rPr lang="en-US" sz="1100" b="1" dirty="0">
                          <a:solidFill>
                            <a:srgbClr val="1B2A3A"/>
                          </a:solidFill>
                          <a:latin typeface="Segoe UI" pitchFamily="34" charset="0"/>
                          <a:ea typeface="Segoe UI" pitchFamily="34" charset="-122"/>
                          <a:cs typeface="Segoe UI" pitchFamily="34" charset="-120"/>
                        </a:rPr>
                        <a:t>une seule PRMP active</a:t>
                      </a:r>
                      <a:pPr indent="0" marL="0">
                        <a:buNone/>
                      </a:pPr>
                      <a:r>
                        <a:rPr lang="en-US" sz="1100" dirty="0">
                          <a:solidFill>
                            <a:srgbClr val="1B2A3A"/>
                          </a:solidFill>
                          <a:latin typeface="Segoe UI" pitchFamily="34" charset="0"/>
                          <a:ea typeface="Segoe UI" pitchFamily="34" charset="-122"/>
                          <a:cs typeface="Segoe UI" pitchFamily="34" charset="-120"/>
                        </a:rPr>
                        <a:t>. La PRMP n’a pas de localité propre : celle d’un dossier vient de l’entité choisie à la saisie.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L’UGPM rattachée à sa tutelle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UGPM est rattachée à </a:t>
                      </a:r>
                      <a:pPr indent="0" marL="0">
                        <a:buNone/>
                      </a:pPr>
                      <a:r>
                        <a:rPr lang="en-US" sz="1100" b="1" dirty="0">
                          <a:solidFill>
                            <a:srgbClr val="1B2A3A"/>
                          </a:solidFill>
                          <a:latin typeface="Segoe UI" pitchFamily="34" charset="0"/>
                          <a:ea typeface="Segoe UI" pitchFamily="34" charset="-122"/>
                          <a:cs typeface="Segoe UI" pitchFamily="34" charset="-120"/>
                        </a:rPr>
                        <a:t>une seule PRMP de tutelle</a:t>
                      </a:r>
                      <a:pPr indent="0" marL="0">
                        <a:buNone/>
                      </a:pPr>
                      <a:r>
                        <a:rPr lang="en-US" sz="1100" dirty="0">
                          <a:solidFill>
                            <a:srgbClr val="1B2A3A"/>
                          </a:solidFill>
                          <a:latin typeface="Segoe UI" pitchFamily="34" charset="0"/>
                          <a:ea typeface="Segoe UI" pitchFamily="34" charset="-122"/>
                          <a:cs typeface="Segoe UI" pitchFamily="34" charset="-120"/>
                        </a:rPr>
                        <a:t>. Son compte est créé par sa PRMP depuis son espace (« Créer compte UGPM »), ou par l’Administrateur ; il porte sa CIN, sans arrêté ni entité. Dans tous les cas, il reste </a:t>
                      </a:r>
                      <a:pPr indent="0" marL="0">
                        <a:buNone/>
                      </a:pPr>
                      <a:r>
                        <a:rPr lang="en-US" sz="1100" b="1" dirty="0">
                          <a:solidFill>
                            <a:srgbClr val="1B2A3A"/>
                          </a:solidFill>
                          <a:latin typeface="Segoe UI" pitchFamily="34" charset="0"/>
                          <a:ea typeface="Segoe UI" pitchFamily="34" charset="-122"/>
                          <a:cs typeface="Segoe UI" pitchFamily="34" charset="-120"/>
                        </a:rPr>
                        <a:t>en attente</a:t>
                      </a:r>
                      <a:pPr indent="0" marL="0">
                        <a:buNone/>
                      </a:pPr>
                      <a:r>
                        <a:rPr lang="en-US" sz="1100" dirty="0">
                          <a:solidFill>
                            <a:srgbClr val="1B2A3A"/>
                          </a:solidFill>
                          <a:latin typeface="Segoe UI" pitchFamily="34" charset="0"/>
                          <a:ea typeface="Segoe UI" pitchFamily="34" charset="-122"/>
                          <a:cs typeface="Segoe UI" pitchFamily="34" charset="-120"/>
                        </a:rPr>
                        <a:t> jusqu’à la validation de l’Administrateur.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regles-gestion.md § 3.1 PRMP ; écran « Créer compte UGPM » (features/prmp/creer-ugpm)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338</a:t>
            </a:r>
            <a:endParaRPr lang="en-US" sz="11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(2/2)</a:t>
            </a:r>
            <a:endParaRPr lang="en-US" sz="2600" dirty="0"/>
          </a:p>
        </p:txBody>
      </p:sp>
      <p:graphicFrame>
        <p:nvGraphicFramePr>
          <p:cNvPr id="34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L’UGPM saisit, la PRMP engage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L’UGPM voit tout le périmètre de sa PRMP de tutelle et prépare les dossiers en brouillon. Les actes qui engagent l’entité — </a:t>
                      </a:r>
                      <a:pPr indent="0" marL="0">
                        <a:buNone/>
                      </a:pPr>
                      <a:r>
                        <a:rPr lang="en-US" sz="1100" b="1" dirty="0">
                          <a:solidFill>
                            <a:srgbClr val="1B2A3A"/>
                          </a:solidFill>
                          <a:latin typeface="Segoe UI" pitchFamily="34" charset="0"/>
                          <a:ea typeface="Segoe UI" pitchFamily="34" charset="-122"/>
                          <a:cs typeface="Segoe UI" pitchFamily="34" charset="-120"/>
                        </a:rPr>
                        <a:t>soumission</a:t>
                      </a:r>
                      <a:pPr indent="0" marL="0">
                        <a:buNone/>
                      </a:pPr>
                      <a:r>
                        <a:rPr lang="en-US" sz="1100" dirty="0">
                          <a:solidFill>
                            <a:srgbClr val="1B2A3A"/>
                          </a:solidFill>
                          <a:latin typeface="Segoe UI" pitchFamily="34" charset="0"/>
                          <a:ea typeface="Segoe UI" pitchFamily="34" charset="-122"/>
                          <a:cs typeface="Segoe UI" pitchFamily="34" charset="-120"/>
                        </a:rPr>
                        <a:t>, resoumission, compléments, retraits — restent à la PRMP seule.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mandat de trois ans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mandat de la PRMP dure </a:t>
                      </a:r>
                      <a:pPr indent="0" marL="0">
                        <a:buNone/>
                      </a:pPr>
                      <a:r>
                        <a:rPr lang="en-US" sz="1100" b="1" dirty="0">
                          <a:solidFill>
                            <a:srgbClr val="1B2A3A"/>
                          </a:solidFill>
                          <a:latin typeface="Segoe UI" pitchFamily="34" charset="0"/>
                          <a:ea typeface="Segoe UI" pitchFamily="34" charset="-122"/>
                          <a:cs typeface="Segoe UI" pitchFamily="34" charset="-120"/>
                        </a:rPr>
                        <a:t>trois ans</a:t>
                      </a:r>
                      <a:pPr indent="0" marL="0">
                        <a:buNone/>
                      </a:pPr>
                      <a:r>
                        <a:rPr lang="en-US" sz="1100" dirty="0">
                          <a:solidFill>
                            <a:srgbClr val="1B2A3A"/>
                          </a:solidFill>
                          <a:latin typeface="Segoe UI" pitchFamily="34" charset="0"/>
                          <a:ea typeface="Segoe UI" pitchFamily="34" charset="-122"/>
                          <a:cs typeface="Segoe UI" pitchFamily="34" charset="-120"/>
                        </a:rPr>
                        <a:t>, reconductible une seule fois par un nouvel arrêté. Des alertes partent à J-90, J-30 et J-7 ; à l’échéance le compte est désactivé, et un nouveau mandat en cours le rouvre de lui-même.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regles-gestion.md § 3.1 PRMP (alerte fin de mandat)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339</a:t>
            </a:r>
            <a:endParaRPr lang="en-US" sz="11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Profils et visibilité</a:t>
            </a:r>
            <a:endParaRPr lang="en-US" sz="2600" dirty="0"/>
          </a:p>
        </p:txBody>
      </p:sp>
      <p:graphicFrame>
        <p:nvGraphicFramePr>
          <p:cNvPr id="34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Président voit tout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n’est rattaché à aucune localité : il voit </a:t>
                      </a:r>
                      <a:pPr indent="0" marL="0">
                        <a:buNone/>
                      </a:pPr>
                      <a:r>
                        <a:rPr lang="en-US" sz="1100" b="1" dirty="0">
                          <a:solidFill>
                            <a:srgbClr val="1B2A3A"/>
                          </a:solidFill>
                          <a:latin typeface="Segoe UI" pitchFamily="34" charset="0"/>
                          <a:ea typeface="Segoe UI" pitchFamily="34" charset="-122"/>
                          <a:cs typeface="Segoe UI" pitchFamily="34" charset="-120"/>
                        </a:rPr>
                        <a:t>toutes les localités</a:t>
                      </a:r>
                      <a:pPr indent="0" marL="0">
                        <a:buNone/>
                      </a:pPr>
                      <a:r>
                        <a:rPr lang="en-US" sz="1100" dirty="0">
                          <a:solidFill>
                            <a:srgbClr val="1B2A3A"/>
                          </a:solidFill>
                          <a:latin typeface="Segoe UI" pitchFamily="34" charset="0"/>
                          <a:ea typeface="Segoe UI" pitchFamily="34" charset="-122"/>
                          <a:cs typeface="Segoe UI" pitchFamily="34" charset="-120"/>
                        </a:rPr>
                        <a:t> et peut exercer les tâches du Secrétaire, du Membre et du Vérificateur.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contrôleurs bornés à leur localité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Chef de commission voit </a:t>
                      </a:r>
                      <a:pPr indent="0" marL="0">
                        <a:buNone/>
                      </a:pPr>
                      <a:r>
                        <a:rPr lang="en-US" sz="1100" b="1" dirty="0">
                          <a:solidFill>
                            <a:srgbClr val="1B2A3A"/>
                          </a:solidFill>
                          <a:latin typeface="Segoe UI" pitchFamily="34" charset="0"/>
                          <a:ea typeface="Segoe UI" pitchFamily="34" charset="-122"/>
                          <a:cs typeface="Segoe UI" pitchFamily="34" charset="-120"/>
                        </a:rPr>
                        <a:t>uniquement sa localité</a:t>
                      </a:r>
                      <a:pPr indent="0" marL="0">
                        <a:buNone/>
                      </a:pPr>
                      <a:r>
                        <a:rPr lang="en-US" sz="1100" dirty="0">
                          <a:solidFill>
                            <a:srgbClr val="1B2A3A"/>
                          </a:solidFill>
                          <a:latin typeface="Segoe UI" pitchFamily="34" charset="0"/>
                          <a:ea typeface="Segoe UI" pitchFamily="34" charset="-122"/>
                          <a:cs typeface="Segoe UI" pitchFamily="34" charset="-120"/>
                        </a:rPr>
                        <a:t>, avec son Secrétaire et ses Membres ; il peut exercer leurs tâches et celles du Vérificateur. Secrétaire, Membre, Vérificateur et Assistant relèvent de la même localité.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PRMP voit ses seuls dossiers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acteur externe, n’est pas bornée par une localité : elle ne voit que </a:t>
                      </a:r>
                      <a:pPr indent="0" marL="0">
                        <a:buNone/>
                      </a:pPr>
                      <a:r>
                        <a:rPr lang="en-US" sz="1100" b="1" dirty="0">
                          <a:solidFill>
                            <a:srgbClr val="1B2A3A"/>
                          </a:solidFill>
                          <a:latin typeface="Segoe UI" pitchFamily="34" charset="0"/>
                          <a:ea typeface="Segoe UI" pitchFamily="34" charset="-122"/>
                          <a:cs typeface="Segoe UI" pitchFamily="34" charset="-120"/>
                        </a:rPr>
                        <a:t>ses propres dossiers</a:t>
                      </a:r>
                      <a:pPr indent="0" marL="0">
                        <a:buNone/>
                      </a:pPr>
                      <a:r>
                        <a:rPr lang="en-US" sz="1100" dirty="0">
                          <a:solidFill>
                            <a:srgbClr val="1B2A3A"/>
                          </a:solidFill>
                          <a:latin typeface="Segoe UI" pitchFamily="34" charset="0"/>
                          <a:ea typeface="Segoe UI" pitchFamily="34" charset="-122"/>
                          <a:cs typeface="Segoe UI" pitchFamily="34" charset="-120"/>
                        </a:rPr>
                        <a:t>, ceux dont elle est propriétaire.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rattachement cible, sans verrouiller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Ce lien décide </a:t>
                      </a:r>
                      <a:pPr indent="0" marL="0">
                        <a:buNone/>
                      </a:pPr>
                      <a:r>
                        <a:rPr lang="en-US" sz="1100" b="1" dirty="0">
                          <a:solidFill>
                            <a:srgbClr val="1B2A3A"/>
                          </a:solidFill>
                          <a:latin typeface="Segoe UI" pitchFamily="34" charset="0"/>
                          <a:ea typeface="Segoe UI" pitchFamily="34" charset="-122"/>
                          <a:cs typeface="Segoe UI" pitchFamily="34" charset="-120"/>
                        </a:rPr>
                        <a:t>qui est notifié</a:t>
                      </a:r>
                      <a:pPr indent="0" marL="0">
                        <a:buNone/>
                      </a:pPr>
                      <a:r>
                        <a:rPr lang="en-US" sz="1100" dirty="0">
                          <a:solidFill>
                            <a:srgbClr val="1B2A3A"/>
                          </a:solidFill>
                          <a:latin typeface="Segoe UI" pitchFamily="34" charset="0"/>
                          <a:ea typeface="Segoe UI" pitchFamily="34" charset="-122"/>
                          <a:cs typeface="Segoe UI" pitchFamily="34" charset="-120"/>
                        </a:rPr>
                        <a:t> et quel dossier paraît « le mien », jamais qui peut agir. Sans rattachement, tous les porteurs du rôle dans la localité sont avisés.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340</a:t>
            </a:r>
            <a:endParaRPr lang="en-US" sz="11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graphicFrame>
        <p:nvGraphicFramePr>
          <p:cNvPr id="34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gestes qui vous attendent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profil du circuit arrive sur « À faire » : les gestes qui l’attendent, regroupés par section, </a:t>
                      </a:r>
                      <a:pPr indent="0" marL="0">
                        <a:buNone/>
                      </a:pPr>
                      <a:r>
                        <a:rPr lang="en-US" sz="1100" b="1" dirty="0">
                          <a:solidFill>
                            <a:srgbClr val="1B2A3A"/>
                          </a:solidFill>
                          <a:latin typeface="Segoe UI" pitchFamily="34" charset="0"/>
                          <a:ea typeface="Segoe UI" pitchFamily="34" charset="-122"/>
                          <a:cs typeface="Segoe UI" pitchFamily="34" charset="-120"/>
                        </a:rPr>
                        <a:t>triés par urgence</a:t>
                      </a:r>
                      <a:pPr indent="0" marL="0">
                        <a:buNone/>
                      </a:pPr>
                      <a:r>
                        <a:rPr lang="en-US" sz="1100" dirty="0">
                          <a:solidFill>
                            <a:srgbClr val="1B2A3A"/>
                          </a:solidFill>
                          <a:latin typeface="Segoe UI" pitchFamily="34" charset="0"/>
                          <a:ea typeface="Segoe UI" pitchFamily="34" charset="-122"/>
                          <a:cs typeface="Segoe UI" pitchFamily="34" charset="-120"/>
                        </a:rPr>
                        <a:t>, un geste principal par ligne avec son délai en heures ouvrées. L’Administrateur et le Chargé de publication gardent leur propre accueil.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geste proposé est permis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Aucune règle du circuit n’est réécrite pour l’accueil : un geste n’est proposé que si le serveur </a:t>
                      </a:r>
                      <a:pPr indent="0" marL="0">
                        <a:buNone/>
                      </a:pPr>
                      <a:r>
                        <a:rPr lang="en-US" sz="1100" b="1" dirty="0">
                          <a:solidFill>
                            <a:srgbClr val="1B2A3A"/>
                          </a:solidFill>
                          <a:latin typeface="Segoe UI" pitchFamily="34" charset="0"/>
                          <a:ea typeface="Segoe UI" pitchFamily="34" charset="-122"/>
                          <a:cs typeface="Segoe UI" pitchFamily="34" charset="-120"/>
                        </a:rPr>
                        <a:t>l’accepterait</a:t>
                      </a:r>
                      <a:pPr indent="0" marL="0">
                        <a:buNone/>
                      </a:pPr>
                      <a:r>
                        <a:rPr lang="en-US" sz="1100" dirty="0">
                          <a:solidFill>
                            <a:srgbClr val="1B2A3A"/>
                          </a:solidFill>
                          <a:latin typeface="Segoe UI" pitchFamily="34" charset="0"/>
                          <a:ea typeface="Segoe UI" pitchFamily="34" charset="-122"/>
                          <a:cs typeface="Segoe UI" pitchFamily="34" charset="-120"/>
                        </a:rPr>
                        <a:t> à l’exécution. La page d’un dossier rejoue le même calcul, dossier par dossier.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délégations à part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gestes faisables par délégation, intérim, collègue ou suppléance sont </a:t>
                      </a:r>
                      <a:pPr indent="0" marL="0">
                        <a:buNone/>
                      </a:pPr>
                      <a:r>
                        <a:rPr lang="en-US" sz="1100" b="1" dirty="0">
                          <a:solidFill>
                            <a:srgbClr val="1B2A3A"/>
                          </a:solidFill>
                          <a:latin typeface="Segoe UI" pitchFamily="34" charset="0"/>
                          <a:ea typeface="Segoe UI" pitchFamily="34" charset="-122"/>
                          <a:cs typeface="Segoe UI" pitchFamily="34" charset="-120"/>
                        </a:rPr>
                        <a:t>repliés</a:t>
                      </a:r>
                      <a:pPr indent="0" marL="0">
                        <a:buNone/>
                      </a:pPr>
                      <a:r>
                        <a:rPr lang="en-US" sz="1100" dirty="0">
                          <a:solidFill>
                            <a:srgbClr val="1B2A3A"/>
                          </a:solidFill>
                          <a:latin typeface="Segoe UI" pitchFamily="34" charset="0"/>
                          <a:ea typeface="Segoe UI" pitchFamily="34" charset="-122"/>
                          <a:cs typeface="Segoe UI" pitchFamily="34" charset="-120"/>
                        </a:rPr>
                        <a:t> dans un bloc séparé et ne comptent ni dans les compteurs ni dans le badge. Sans ce repli, le Président verrait toutes les réceptions et vérifications du pays.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urgence mesurée, jamais inventée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Délai dépassé : </a:t>
                      </a:r>
                      <a:pPr indent="0" marL="0">
                        <a:buNone/>
                      </a:pPr>
                      <a:r>
                        <a:rPr lang="en-US" sz="1100" b="1" dirty="0">
                          <a:solidFill>
                            <a:srgbClr val="1B2A3A"/>
                          </a:solidFill>
                          <a:latin typeface="Segoe UI" pitchFamily="34" charset="0"/>
                          <a:ea typeface="Segoe UI" pitchFamily="34" charset="-122"/>
                          <a:cs typeface="Segoe UI" pitchFamily="34" charset="-120"/>
                        </a:rPr>
                        <a:t>en retard</a:t>
                      </a:r>
                      <a:pPr indent="0" marL="0">
                        <a:buNone/>
                      </a:pPr>
                      <a:r>
                        <a:rPr lang="en-US" sz="1100" dirty="0">
                          <a:solidFill>
                            <a:srgbClr val="1B2A3A"/>
                          </a:solidFill>
                          <a:latin typeface="Segoe UI" pitchFamily="34" charset="0"/>
                          <a:ea typeface="Segoe UI" pitchFamily="34" charset="-122"/>
                          <a:cs typeface="Segoe UI" pitchFamily="34" charset="-120"/>
                        </a:rPr>
                        <a:t>. Reste inférieur ou égal à deux heures ou à 35 % du délai standard : bientôt à échéance. Au-delà : dans les délais. Un dossier sans entrée connue reste « sans délai » ; les brouillons de la PRMP sont « hors délai CNM » et ses attentes « en pause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Rien d’interne pour la PRMP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et l’UGPM voient leurs brouillons, les pièces à compléter, les rectifications et le suivi de leurs dossiers, mais </a:t>
                      </a:r>
                      <a:pPr indent="0" marL="0">
                        <a:buNone/>
                      </a:pPr>
                      <a:r>
                        <a:rPr lang="en-US" sz="1100" b="1" dirty="0">
                          <a:solidFill>
                            <a:srgbClr val="1B2A3A"/>
                          </a:solidFill>
                          <a:latin typeface="Segoe UI" pitchFamily="34" charset="0"/>
                          <a:ea typeface="Segoe UI" pitchFamily="34" charset="-122"/>
                          <a:cs typeface="Segoe UI" pitchFamily="34" charset="-120"/>
                        </a:rPr>
                        <a:t>rien d’interne</a:t>
                      </a:r>
                      <a:pPr indent="0" marL="0">
                        <a:buNone/>
                      </a:pPr>
                      <a:r>
                        <a:rPr lang="en-US" sz="1100" dirty="0">
                          <a:solidFill>
                            <a:srgbClr val="1B2A3A"/>
                          </a:solidFill>
                          <a:latin typeface="Segoe UI" pitchFamily="34" charset="0"/>
                          <a:ea typeface="Segoe UI" pitchFamily="34" charset="-122"/>
                          <a:cs typeface="Segoe UI" pitchFamily="34" charset="-120"/>
                        </a:rPr>
                        <a:t> à la CNM : ni acteurs, ni consignes de dispatch, ni étapes de navette.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Accueil « À faire » (transversal) · regles-gestion.md § Accueil « À faire » (urgence et seuils) · regles-gestion.md § Accueil « À faire » (règle C2)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341</a:t>
            </a:r>
            <a:endParaRPr lang="en-US" sz="11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Actualités, notifications et assistant</a:t>
            </a:r>
            <a:endParaRPr lang="en-US" sz="2600" dirty="0"/>
          </a:p>
        </p:txBody>
      </p:sp>
      <p:graphicFrame>
        <p:nvGraphicFramePr>
          <p:cNvPr id="34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actualité à l’ouverture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chaque ouverture de session, une fenêtre présente les actualités </a:t>
                      </a:r>
                      <a:pPr indent="0" marL="0">
                        <a:buNone/>
                      </a:pPr>
                      <a:r>
                        <a:rPr lang="en-US" sz="1100" b="1" dirty="0">
                          <a:solidFill>
                            <a:srgbClr val="1B2A3A"/>
                          </a:solidFill>
                          <a:latin typeface="Segoe UI" pitchFamily="34" charset="0"/>
                          <a:ea typeface="Segoe UI" pitchFamily="34" charset="-122"/>
                          <a:cs typeface="Segoe UI" pitchFamily="34" charset="-120"/>
                        </a:rPr>
                        <a:t>ciblées sur le profil</a:t>
                      </a:r>
                      <a:pPr indent="0" marL="0">
                        <a:buNone/>
                      </a:pPr>
                      <a:r>
                        <a:rPr lang="en-US" sz="1100" dirty="0">
                          <a:solidFill>
                            <a:srgbClr val="1B2A3A"/>
                          </a:solidFill>
                          <a:latin typeface="Segoe UI" pitchFamily="34" charset="0"/>
                          <a:ea typeface="Segoe UI" pitchFamily="34" charset="-122"/>
                          <a:cs typeface="Segoe UI" pitchFamily="34" charset="-120"/>
                        </a:rPr>
                        <a:t>, actives et dans leur période de publication. L’Administrateur les rédige sans intervention technique : texte sans balise HTML, images JPEG de 10 Mo au plus ; une actualité expirée s’archive d’elle-même.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notification à chaque transmission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transmission avise le ou les responsables de l’</a:t>
                      </a:r>
                      <a:pPr indent="0" marL="0">
                        <a:buNone/>
                      </a:pPr>
                      <a:r>
                        <a:rPr lang="en-US" sz="1100" b="1" dirty="0">
                          <a:solidFill>
                            <a:srgbClr val="1B2A3A"/>
                          </a:solidFill>
                          <a:latin typeface="Segoe UI" pitchFamily="34" charset="0"/>
                          <a:ea typeface="Segoe UI" pitchFamily="34" charset="-122"/>
                          <a:cs typeface="Segoe UI" pitchFamily="34" charset="-120"/>
                        </a:rPr>
                        <a:t>étape suivante</a:t>
                      </a:r>
                      <a:pPr indent="0" marL="0">
                        <a:buNone/>
                      </a:pPr>
                      <a:r>
                        <a:rPr lang="en-US" sz="1100" dirty="0">
                          <a:solidFill>
                            <a:srgbClr val="1B2A3A"/>
                          </a:solidFill>
                          <a:latin typeface="Segoe UI" pitchFamily="34" charset="0"/>
                          <a:ea typeface="Segoe UI" pitchFamily="34" charset="-122"/>
                          <a:cs typeface="Segoe UI" pitchFamily="34" charset="-120"/>
                        </a:rPr>
                        <a:t>, dans le même mouvement que l’événement. Le destinataire se déduit du rôle et de la localité du dossier, ou de l’assignation. Un rattachement manquant ne fait jamais disparaître une notification.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Chacun ne lit que les siennes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utilisateur ne consulte que </a:t>
                      </a:r>
                      <a:pPr indent="0" marL="0">
                        <a:buNone/>
                      </a:pPr>
                      <a:r>
                        <a:rPr lang="en-US" sz="1100" b="1" dirty="0">
                          <a:solidFill>
                            <a:srgbClr val="1B2A3A"/>
                          </a:solidFill>
                          <a:latin typeface="Segoe UI" pitchFamily="34" charset="0"/>
                          <a:ea typeface="Segoe UI" pitchFamily="34" charset="-122"/>
                          <a:cs typeface="Segoe UI" pitchFamily="34" charset="-120"/>
                        </a:rPr>
                        <a:t>ses notifications</a:t>
                      </a:r>
                      <a:pPr indent="0" marL="0">
                        <a:buNone/>
                      </a:pPr>
                      <a:r>
                        <a:rPr lang="en-US" sz="1100" dirty="0">
                          <a:solidFill>
                            <a:srgbClr val="1B2A3A"/>
                          </a:solidFill>
                          <a:latin typeface="Segoe UI" pitchFamily="34" charset="0"/>
                          <a:ea typeface="Segoe UI" pitchFamily="34" charset="-122"/>
                          <a:cs typeface="Segoe UI" pitchFamily="34" charset="-120"/>
                        </a:rPr>
                        <a:t>, les marque lues ou non lues. Le compteur de la cloche est calculé par le serveur et suivi en temps réel, avec un repli toutes les 60 secondes. La liste globale est réservée à l’Administrateur.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L’assistant IA cite, il ne décide pas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Ouvert aux dix profils, l’assistant répond sur les règles du contrôle et sur PRS à partir du </a:t>
                      </a:r>
                      <a:pPr indent="0" marL="0">
                        <a:buNone/>
                      </a:pPr>
                      <a:r>
                        <a:rPr lang="en-US" sz="1100" b="1" dirty="0">
                          <a:solidFill>
                            <a:srgbClr val="1B2A3A"/>
                          </a:solidFill>
                          <a:latin typeface="Segoe UI" pitchFamily="34" charset="0"/>
                          <a:ea typeface="Segoe UI" pitchFamily="34" charset="-122"/>
                          <a:cs typeface="Segoe UI" pitchFamily="34" charset="-120"/>
                        </a:rPr>
                        <a:t>manuel de contrôle</a:t>
                      </a:r>
                      <a:pPr indent="0" marL="0">
                        <a:buNone/>
                      </a:pPr>
                      <a:r>
                        <a:rPr lang="en-US" sz="1100" dirty="0">
                          <a:solidFill>
                            <a:srgbClr val="1B2A3A"/>
                          </a:solidFill>
                          <a:latin typeface="Segoe UI" pitchFamily="34" charset="0"/>
                          <a:ea typeface="Segoe UI" pitchFamily="34" charset="-122"/>
                          <a:cs typeface="Segoe UI" pitchFamily="34" charset="-120"/>
                        </a:rPr>
                        <a:t> et des règles de gestion, en citant ses extraits. Il ne donne aucun avis sur un dossier réel ; sans passage pertinent, il le dit.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assistant local et tracé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modèle tourne sur les serveurs de la CNM : aucune question ne sort du réseau. L’assistant est </a:t>
                      </a:r>
                      <a:pPr indent="0" marL="0">
                        <a:buNone/>
                      </a:pPr>
                      <a:r>
                        <a:rPr lang="en-US" sz="1100" b="1" dirty="0">
                          <a:solidFill>
                            <a:srgbClr val="1B2A3A"/>
                          </a:solidFill>
                          <a:latin typeface="Segoe UI" pitchFamily="34" charset="0"/>
                          <a:ea typeface="Segoe UI" pitchFamily="34" charset="-122"/>
                          <a:cs typeface="Segoe UI" pitchFamily="34" charset="-120"/>
                        </a:rPr>
                        <a:t>désactivé par défaut</a:t>
                      </a:r>
                      <a:pPr indent="0" marL="0">
                        <a:buNone/>
                      </a:pPr>
                      <a:r>
                        <a:rPr lang="en-US" sz="1100" dirty="0">
                          <a:solidFill>
                            <a:srgbClr val="1B2A3A"/>
                          </a:solidFill>
                          <a:latin typeface="Segoe UI" pitchFamily="34" charset="0"/>
                          <a:ea typeface="Segoe UI" pitchFamily="34" charset="-122"/>
                          <a:cs typeface="Segoe UI" pitchFamily="34" charset="-120"/>
                        </a:rPr>
                        <a:t> et masqué tant qu’il l’est ; chaque échange est journalisé avec sa question, sa réponse et ses sources.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Actualités à l’ouverture de session (transversal) · regles-gestion.md § Notifications (transversal au circuit) · regles-gestion.md § Assistant IA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342</a:t>
            </a:r>
            <a:endParaRPr lang="en-US" sz="11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 (1/2)</a:t>
            </a:r>
            <a:endParaRPr lang="en-US" sz="2600" dirty="0"/>
          </a:p>
        </p:txBody>
      </p:sp>
      <p:graphicFrame>
        <p:nvGraphicFramePr>
          <p:cNvPr id="34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Trois familles de dossier à la création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dossier se crée dans une famille : </a:t>
                      </a:r>
                      <a:pPr indent="0" marL="0">
                        <a:buNone/>
                      </a:pPr>
                      <a:r>
                        <a:rPr lang="en-US" sz="1100" b="1" dirty="0">
                          <a:solidFill>
                            <a:srgbClr val="1B2A3A"/>
                          </a:solidFill>
                          <a:latin typeface="Segoe UI" pitchFamily="34" charset="0"/>
                          <a:ea typeface="Segoe UI" pitchFamily="34" charset="-122"/>
                          <a:cs typeface="Segoe UI" pitchFamily="34" charset="-120"/>
                        </a:rPr>
                        <a:t>planification</a:t>
                      </a:r>
                      <a:pPr indent="0" marL="0">
                        <a:buNone/>
                      </a:pPr>
                      <a:r>
                        <a:rPr lang="en-US" sz="1100" dirty="0">
                          <a:solidFill>
                            <a:srgbClr val="1B2A3A"/>
                          </a:solidFill>
                          <a:latin typeface="Segoe UI" pitchFamily="34" charset="0"/>
                          <a:ea typeface="Segoe UI" pitchFamily="34" charset="-122"/>
                          <a:cs typeface="Segoe UI" pitchFamily="34" charset="-120"/>
                        </a:rPr>
                        <a:t>, mise en concurrence ou marché. Pour la planification, le sous-type — PPM ou PPM-AGPM — est déduit par le serveur ; pour les deux autres, il est choisi parmi les sous-types du manuel de contrôle. Les actes de gestion contractuelle (avenant, résiliation…) ne se créent pas ici : ils se déposent depuis le marché qu’ils concernent.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Saisir, c’est créer le brouillon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saisie crée le dossier au statut </a:t>
                      </a:r>
                      <a:pPr indent="0" marL="0">
                        <a:buNone/>
                      </a:pPr>
                      <a:r>
                        <a:rPr lang="en-US" sz="1100" b="1" dirty="0">
                          <a:solidFill>
                            <a:srgbClr val="1B2A3A"/>
                          </a:solidFill>
                          <a:latin typeface="Segoe UI" pitchFamily="34" charset="0"/>
                          <a:ea typeface="Segoe UI" pitchFamily="34" charset="-122"/>
                          <a:cs typeface="Segoe UI" pitchFamily="34" charset="-120"/>
                        </a:rPr>
                        <a:t>brouillon</a:t>
                      </a:r>
                      <a:pPr indent="0" marL="0">
                        <a:buNone/>
                      </a:pPr>
                      <a:r>
                        <a:rPr lang="en-US" sz="1100" dirty="0">
                          <a:solidFill>
                            <a:srgbClr val="1B2A3A"/>
                          </a:solidFill>
                          <a:latin typeface="Segoe UI" pitchFamily="34" charset="0"/>
                          <a:ea typeface="Segoe UI" pitchFamily="34" charset="-122"/>
                          <a:cs typeface="Segoe UI" pitchFamily="34" charset="-120"/>
                        </a:rPr>
                        <a:t>, propriété de la PRMP, et son contenu en une seule opération. La PRMP choisit l’entité parmi ses entités actives, et cette entité fixe la localité du dossier. Les identifiants sont attribués par le serveur.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mode de passation saisi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mode de passation est </a:t>
                      </a:r>
                      <a:pPr indent="0" marL="0">
                        <a:buNone/>
                      </a:pPr>
                      <a:r>
                        <a:rPr lang="en-US" sz="1100" b="1" dirty="0">
                          <a:solidFill>
                            <a:srgbClr val="1B2A3A"/>
                          </a:solidFill>
                          <a:latin typeface="Segoe UI" pitchFamily="34" charset="0"/>
                          <a:ea typeface="Segoe UI" pitchFamily="34" charset="-122"/>
                          <a:cs typeface="Segoe UI" pitchFamily="34" charset="-120"/>
                        </a:rPr>
                        <a:t>purement saisi</a:t>
                      </a:r>
                      <a:pPr indent="0" marL="0">
                        <a:buNone/>
                      </a:pPr>
                      <a:r>
                        <a:rPr lang="en-US" sz="1100" dirty="0">
                          <a:solidFill>
                            <a:srgbClr val="1B2A3A"/>
                          </a:solidFill>
                          <a:latin typeface="Segoe UI" pitchFamily="34" charset="0"/>
                          <a:ea typeface="Segoe UI" pitchFamily="34" charset="-122"/>
                          <a:cs typeface="Segoe UI" pitchFamily="34" charset="-120"/>
                        </a:rPr>
                        <a:t> par la PRMP ou repris de l’import, et conservé tel quel : aucune détermination automatique, aucun refus par seuil. Les montants des lignes sont saisis hors taxes.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Tout appel d’offres appelle l’AGPM</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plan comptant un marché en </a:t>
                      </a:r>
                      <a:pPr indent="0" marL="0">
                        <a:buNone/>
                      </a:pPr>
                      <a:r>
                        <a:rPr lang="en-US" sz="1100" b="1" dirty="0">
                          <a:solidFill>
                            <a:srgbClr val="1B2A3A"/>
                          </a:solidFill>
                          <a:latin typeface="Segoe UI" pitchFamily="34" charset="0"/>
                          <a:ea typeface="Segoe UI" pitchFamily="34" charset="-122"/>
                          <a:cs typeface="Segoe UI" pitchFamily="34" charset="-120"/>
                        </a:rPr>
                        <a:t>appel d’offres</a:t>
                      </a:r>
                      <a:pPr indent="0" marL="0">
                        <a:buNone/>
                      </a:pPr>
                      <a:r>
                        <a:rPr lang="en-US" sz="1100" dirty="0">
                          <a:solidFill>
                            <a:srgbClr val="1B2A3A"/>
                          </a:solidFill>
                          <a:latin typeface="Segoe UI" pitchFamily="34" charset="0"/>
                          <a:ea typeface="Segoe UI" pitchFamily="34" charset="-122"/>
                          <a:cs typeface="Segoe UI" pitchFamily="34" charset="-120"/>
                        </a:rPr>
                        <a:t>, quelle qu’en soit la variante, devient PPM-AGPM. L’appel à manifestation d’intérêt ne le déclenche qu’au-delà d’un seuil administrable, apprécié marché par marché. La référence du dossier suit le sous-type.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bénéficiaires couvrent la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somme des montants par service bénéficiaire doit égaler le </a:t>
                      </a:r>
                      <a:pPr indent="0" marL="0">
                        <a:buNone/>
                      </a:pPr>
                      <a:r>
                        <a:rPr lang="en-US" sz="1100" b="1" dirty="0">
                          <a:solidFill>
                            <a:srgbClr val="1B2A3A"/>
                          </a:solidFill>
                          <a:latin typeface="Segoe UI" pitchFamily="34" charset="0"/>
                          <a:ea typeface="Segoe UI" pitchFamily="34" charset="-122"/>
                          <a:cs typeface="Segoe UI" pitchFamily="34" charset="-120"/>
                        </a:rPr>
                        <a:t>montant du marché</a:t>
                      </a:r>
                      <a:pPr indent="0" marL="0">
                        <a:buNone/>
                      </a:pPr>
                      <a:r>
                        <a:rPr lang="en-US" sz="1100" dirty="0">
                          <a:solidFill>
                            <a:srgbClr val="1B2A3A"/>
                          </a:solidFill>
                          <a:latin typeface="Segoe UI" pitchFamily="34" charset="0"/>
                          <a:ea typeface="Segoe UI" pitchFamily="34" charset="-122"/>
                          <a:cs typeface="Segoe UI" pitchFamily="34" charset="-120"/>
                        </a:rPr>
                        <a:t>. La règle est vérifiée à chaque enregistrement de la grille ; un import la signale sans rejeter, et ne complète seul qu’une ligne à un unique bénéficiaire.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 Le dossier soumis (tranches M1 et M5a, 08-09/10) · regles-gestion.md § 3.1 PRMP (saisies) · regles-gestion.md § Référentiel des seuils de marchés publics · regles-gestion.md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343</a:t>
            </a:r>
            <a:endParaRPr lang="en-US" sz="11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 (2/2)</a:t>
            </a:r>
            <a:endParaRPr lang="en-US" sz="2600" dirty="0"/>
          </a:p>
        </p:txBody>
      </p:sp>
      <p:graphicFrame>
        <p:nvGraphicFramePr>
          <p:cNvPr id="34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justifications de la fiche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marché en </a:t>
                      </a:r>
                      <a:pPr indent="0" marL="0">
                        <a:buNone/>
                      </a:pPr>
                      <a:r>
                        <a:rPr lang="en-US" sz="1100" b="1" dirty="0">
                          <a:solidFill>
                            <a:srgbClr val="1B2A3A"/>
                          </a:solidFill>
                          <a:latin typeface="Segoe UI" pitchFamily="34" charset="0"/>
                          <a:ea typeface="Segoe UI" pitchFamily="34" charset="-122"/>
                          <a:cs typeface="Segoe UI" pitchFamily="34" charset="-120"/>
                        </a:rPr>
                        <a:t>mode dérogatoire</a:t>
                      </a:r>
                      <a:pPr indent="0" marL="0">
                        <a:buNone/>
                      </a:pPr>
                      <a:r>
                        <a:rPr lang="en-US" sz="1100" dirty="0">
                          <a:solidFill>
                            <a:srgbClr val="1B2A3A"/>
                          </a:solidFill>
                          <a:latin typeface="Segoe UI" pitchFamily="34" charset="0"/>
                          <a:ea typeface="Segoe UI" pitchFamily="34" charset="-122"/>
                          <a:cs typeface="Segoe UI" pitchFamily="34" charset="-120"/>
                        </a:rPr>
                        <a:t> ou à délai aménagé porte sa justification ; une justification globale couvre en outre les contrats-cadres. Elles sont exigées à la saisie et à la soumission, et le serveur reclasse lui-même les marchés concernés.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statut de la ligne suit le fait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statut d’une ligne vient d’un référentiel tenu par l’Administrateur ; « Prévu » est la valeur par défaut et ne peut être supprimé. L’ouverture de la mise en concurrence pose d’elle-même « </a:t>
                      </a:r>
                      <a:pPr indent="0" marL="0">
                        <a:buNone/>
                      </a:pPr>
                      <a:r>
                        <a:rPr lang="en-US" sz="1100" b="1" dirty="0">
                          <a:solidFill>
                            <a:srgbClr val="1B2A3A"/>
                          </a:solidFill>
                          <a:latin typeface="Segoe UI" pitchFamily="34" charset="0"/>
                          <a:ea typeface="Segoe UI" pitchFamily="34" charset="-122"/>
                          <a:cs typeface="Segoe UI" pitchFamily="34" charset="-120"/>
                        </a:rPr>
                        <a:t>Lancé</a:t>
                      </a:r>
                      <a:pPr indent="0" marL="0">
                        <a:buNone/>
                      </a:pPr>
                      <a:r>
                        <a:rPr lang="en-US" sz="1100" dirty="0">
                          <a:solidFill>
                            <a:srgbClr val="1B2A3A"/>
                          </a:solidFill>
                          <a:latin typeface="Segoe UI" pitchFamily="34" charset="0"/>
                          <a:ea typeface="Segoe UI" pitchFamily="34" charset="-122"/>
                          <a:cs typeface="Segoe UI" pitchFamily="34" charset="-120"/>
                        </a:rPr>
                        <a:t> » ; la suppression de la fiche rend « Prévu ». Une ligne lancée ne redevient pas « Prévu » à la main ; « changement de projet » et « déclaré sans suite » restent à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regles-gestion.md § 3.8 Administrateur (statuts de marché, règle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344</a:t>
            </a:r>
            <a:endParaRPr lang="en-US" sz="11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Calendrier et pièces</a:t>
            </a:r>
            <a:endParaRPr lang="en-US" sz="2600" dirty="0"/>
          </a:p>
        </p:txBody>
      </p:sp>
      <p:graphicFrame>
        <p:nvGraphicFramePr>
          <p:cNvPr id="34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calendrier prévisionnel du mode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marché compte </a:t>
                      </a:r>
                      <a:pPr indent="0" marL="0">
                        <a:buNone/>
                      </a:pPr>
                      <a:r>
                        <a:rPr lang="en-US" sz="1100" b="1" dirty="0">
                          <a:solidFill>
                            <a:srgbClr val="1B2A3A"/>
                          </a:solidFill>
                          <a:latin typeface="Segoe UI" pitchFamily="34" charset="0"/>
                          <a:ea typeface="Segoe UI" pitchFamily="34" charset="-122"/>
                          <a:cs typeface="Segoe UI" pitchFamily="34" charset="-120"/>
                        </a:rPr>
                        <a:t>au moins une étape</a:t>
                      </a:r>
                      <a:pPr indent="0" marL="0">
                        <a:buNone/>
                      </a:pPr>
                      <a:r>
                        <a:rPr lang="en-US" sz="1100" dirty="0">
                          <a:solidFill>
                            <a:srgbClr val="1B2A3A"/>
                          </a:solidFill>
                          <a:latin typeface="Segoe UI" pitchFamily="34" charset="0"/>
                          <a:ea typeface="Segoe UI" pitchFamily="34" charset="-122"/>
                          <a:cs typeface="Segoe UI" pitchFamily="34" charset="-120"/>
                        </a:rPr>
                        <a:t> du calendrier prévisionnel, avec sa date de début ; la date de fin reste facultative. Les étapes proposées sont celles du mode de passation, à défaut celles de son modèle, à défaut les étapes communes.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dates qui s’enchaînent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date de fin suit sa date de début, et chaque étape commence </a:t>
                      </a:r>
                      <a:pPr indent="0" marL="0">
                        <a:buNone/>
                      </a:pPr>
                      <a:r>
                        <a:rPr lang="en-US" sz="1100" b="1" dirty="0">
                          <a:solidFill>
                            <a:srgbClr val="1B2A3A"/>
                          </a:solidFill>
                          <a:latin typeface="Segoe UI" pitchFamily="34" charset="0"/>
                          <a:ea typeface="Segoe UI" pitchFamily="34" charset="-122"/>
                          <a:cs typeface="Segoe UI" pitchFamily="34" charset="-120"/>
                        </a:rPr>
                        <a:t>après la fin</a:t>
                      </a:r>
                      <a:pPr indent="0" marL="0">
                        <a:buNone/>
                      </a:pPr>
                      <a:r>
                        <a:rPr lang="en-US" sz="1100" dirty="0">
                          <a:solidFill>
                            <a:srgbClr val="1B2A3A"/>
                          </a:solidFill>
                          <a:latin typeface="Segoe UI" pitchFamily="34" charset="0"/>
                          <a:ea typeface="Segoe UI" pitchFamily="34" charset="-122"/>
                          <a:cs typeface="Segoe UI" pitchFamily="34" charset="-120"/>
                        </a:rPr>
                        <a:t> de la précédente lorsque celle-ci est connue. Une date de fin absente est ouverte et ne contraint rien.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pièces contrôlées, selon le sous-type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pièces sont des </a:t>
                      </a:r>
                      <a:pPr indent="0" marL="0">
                        <a:buNone/>
                      </a:pPr>
                      <a:r>
                        <a:rPr lang="en-US" sz="1100" b="1" dirty="0">
                          <a:solidFill>
                            <a:srgbClr val="1B2A3A"/>
                          </a:solidFill>
                          <a:latin typeface="Segoe UI" pitchFamily="34" charset="0"/>
                          <a:ea typeface="Segoe UI" pitchFamily="34" charset="-122"/>
                          <a:cs typeface="Segoe UI" pitchFamily="34" charset="-120"/>
                        </a:rPr>
                        <a:t>PDF, JPEG ou PNG</a:t>
                      </a:r>
                      <a:pPr indent="0" marL="0">
                        <a:buNone/>
                      </a:pPr>
                      <a:r>
                        <a:rPr lang="en-US" sz="1100" dirty="0">
                          <a:solidFill>
                            <a:srgbClr val="1B2A3A"/>
                          </a:solidFill>
                          <a:latin typeface="Segoe UI" pitchFamily="34" charset="0"/>
                          <a:ea typeface="Segoe UI" pitchFamily="34" charset="-122"/>
                          <a:cs typeface="Segoe UI" pitchFamily="34" charset="-120"/>
                        </a:rPr>
                        <a:t>, reconnus à leur contenu. Les plans de passation gardent leur liste ; les autres dossiers suivent désormais la liste </a:t>
                      </a:r>
                      <a:pPr indent="0" marL="0">
                        <a:buNone/>
                      </a:pPr>
                      <a:r>
                        <a:rPr lang="en-US" sz="1100" b="1" dirty="0">
                          <a:solidFill>
                            <a:srgbClr val="1B2A3A"/>
                          </a:solidFill>
                          <a:latin typeface="Segoe UI" pitchFamily="34" charset="0"/>
                          <a:ea typeface="Segoe UI" pitchFamily="34" charset="-122"/>
                          <a:cs typeface="Segoe UI" pitchFamily="34" charset="-120"/>
                        </a:rPr>
                        <a:t>propre à leur sous-type</a:t>
                      </a:r>
                      <a:pPr indent="0" marL="0">
                        <a:buNone/>
                      </a:pPr>
                      <a:r>
                        <a:rPr lang="en-US" sz="1100" dirty="0">
                          <a:solidFill>
                            <a:srgbClr val="1B2A3A"/>
                          </a:solidFill>
                          <a:latin typeface="Segoe UI" pitchFamily="34" charset="0"/>
                          <a:ea typeface="Segoe UI" pitchFamily="34" charset="-122"/>
                          <a:cs typeface="Segoe UI" pitchFamily="34" charset="-120"/>
                        </a:rPr>
                        <a:t>, tirée du manuel de contrôle, et la soumission est refusée s’il manque une pièce obligatoire. Le dépôt n’est ouvert qu’en brouillon, à la soumission et pendant les attentes de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L’import PDF pré-remplit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L’import lit le plan en PDF et propose l’exercice, l’autorité contractante, les lignes, leurs étapes et leurs lots. Il </a:t>
                      </a:r>
                      <a:pPr indent="0" marL="0">
                        <a:buNone/>
                      </a:pPr>
                      <a:r>
                        <a:rPr lang="en-US" sz="1100" b="1" dirty="0">
                          <a:solidFill>
                            <a:srgbClr val="1B2A3A"/>
                          </a:solidFill>
                          <a:latin typeface="Segoe UI" pitchFamily="34" charset="0"/>
                          <a:ea typeface="Segoe UI" pitchFamily="34" charset="-122"/>
                          <a:cs typeface="Segoe UI" pitchFamily="34" charset="-120"/>
                        </a:rPr>
                        <a:t>ne crée rien</a:t>
                      </a:r>
                      <a:pPr indent="0" marL="0">
                        <a:buNone/>
                      </a:pPr>
                      <a:r>
                        <a:rPr lang="en-US" sz="1100" dirty="0">
                          <a:solidFill>
                            <a:srgbClr val="1B2A3A"/>
                          </a:solidFill>
                          <a:latin typeface="Segoe UI" pitchFamily="34" charset="0"/>
                          <a:ea typeface="Segoe UI" pitchFamily="34" charset="-122"/>
                          <a:cs typeface="Segoe UI" pitchFamily="34" charset="-120"/>
                        </a:rPr>
                        <a:t> : la PRMP vérifie, complète puis crée le dossier. Les incohérences sont signalées, ligne par ligne.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(CAPM — processus de marché) · regles-gestion.md § 3.1 PRMP (saisies) · regles-gestion.md § 3.1 PRMP ; § Le dossier soumis (tranche M2, 08/10)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345</a:t>
            </a:r>
            <a:endParaRPr lang="en-US" sz="11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pré-contrôle</a:t>
            </a:r>
            <a:endParaRPr lang="en-US" sz="2600" dirty="0"/>
          </a:p>
        </p:txBody>
      </p:sp>
      <p:graphicFrame>
        <p:nvGraphicFramePr>
          <p:cNvPr id="3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seuils signalent, sans bloquer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référentiel des seuils, daté et administrable, compare chaque ligne aux montants </a:t>
                      </a:r>
                      <a:pPr indent="0" marL="0">
                        <a:buNone/>
                      </a:pPr>
                      <a:r>
                        <a:rPr lang="en-US" sz="1100" b="1" dirty="0">
                          <a:solidFill>
                            <a:srgbClr val="1B2A3A"/>
                          </a:solidFill>
                          <a:latin typeface="Segoe UI" pitchFamily="34" charset="0"/>
                          <a:ea typeface="Segoe UI" pitchFamily="34" charset="-122"/>
                          <a:cs typeface="Segoe UI" pitchFamily="34" charset="-120"/>
                        </a:rPr>
                        <a:t>hors taxes</a:t>
                      </a:r>
                      <a:pPr indent="0" marL="0">
                        <a:buNone/>
                      </a:pPr>
                      <a:r>
                        <a:rPr lang="en-US" sz="1100" dirty="0">
                          <a:solidFill>
                            <a:srgbClr val="1B2A3A"/>
                          </a:solidFill>
                          <a:latin typeface="Segoe UI" pitchFamily="34" charset="0"/>
                          <a:ea typeface="Segoe UI" pitchFamily="34" charset="-122"/>
                          <a:cs typeface="Segoe UI" pitchFamily="34" charset="-120"/>
                        </a:rPr>
                        <a:t> de l’arrêté n° 13 156/2019-MEF : barème central pour la CNM, déconcentré pour une CRM. Un écart produit un signalement écartable ; aucun mode n’est imposé, aucun dossier bloqué.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référentiel muet se tait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Sans seuil au référentiel, </a:t>
                      </a:r>
                      <a:pPr indent="0" marL="0">
                        <a:buNone/>
                      </a:pPr>
                      <a:r>
                        <a:rPr lang="en-US" sz="1100" b="1" dirty="0">
                          <a:solidFill>
                            <a:srgbClr val="1B2A3A"/>
                          </a:solidFill>
                          <a:latin typeface="Segoe UI" pitchFamily="34" charset="0"/>
                          <a:ea typeface="Segoe UI" pitchFamily="34" charset="-122"/>
                          <a:cs typeface="Segoe UI" pitchFamily="34" charset="-120"/>
                        </a:rPr>
                        <a:t>rien n’est signalé</a:t>
                      </a:r>
                      <a:pPr indent="0" marL="0">
                        <a:buNone/>
                      </a:pPr>
                      <a:r>
                        <a:rPr lang="en-US" sz="1100" dirty="0">
                          <a:solidFill>
                            <a:srgbClr val="1B2A3A"/>
                          </a:solidFill>
                          <a:latin typeface="Segoe UI" pitchFamily="34" charset="0"/>
                          <a:ea typeface="Segoe UI" pitchFamily="34" charset="-122"/>
                          <a:cs typeface="Segoe UI" pitchFamily="34" charset="-120"/>
                        </a:rPr>
                        <a:t> : aucun montant de repli n’existe. Un mode dérogatoire n’est pas signalé par les seuils, et un mode plus ouvert que nécessaire ne l’est jamais. Une catégorie de seuil n’est demandée que si les catégories plausibles donnent des réponses différentes.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Écarter, avec un motif</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signalement s’écarte par un </a:t>
                      </a:r>
                      <a:pPr indent="0" marL="0">
                        <a:buNone/>
                      </a:pPr>
                      <a:r>
                        <a:rPr lang="en-US" sz="1100" b="1" dirty="0">
                          <a:solidFill>
                            <a:srgbClr val="1B2A3A"/>
                          </a:solidFill>
                          <a:latin typeface="Segoe UI" pitchFamily="34" charset="0"/>
                          <a:ea typeface="Segoe UI" pitchFamily="34" charset="-122"/>
                          <a:cs typeface="Segoe UI" pitchFamily="34" charset="-120"/>
                        </a:rPr>
                        <a:t>motif d’au moins 20 caractères</a:t>
                      </a:r>
                      <a:pPr indent="0" marL="0">
                        <a:buNone/>
                      </a:pPr>
                      <a:r>
                        <a:rPr lang="en-US" sz="1100" dirty="0">
                          <a:solidFill>
                            <a:srgbClr val="1B2A3A"/>
                          </a:solidFill>
                          <a:latin typeface="Segoe UI" pitchFamily="34" charset="0"/>
                          <a:ea typeface="Segoe UI" pitchFamily="34" charset="-122"/>
                          <a:cs typeface="Segoe UI" pitchFamily="34" charset="-120"/>
                        </a:rPr>
                        <a:t>, après l’avertissement que le contrôleur le verra. L’auteur est enregistré ; un seul écartement par signalement. Avant la soumission, son auteur peut le reprendre.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Figé à la soumission, jamais effacé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soumission, les règles tournent une dernière fois et les écartements sont </a:t>
                      </a:r>
                      <a:pPr indent="0" marL="0">
                        <a:buNone/>
                      </a:pPr>
                      <a:r>
                        <a:rPr lang="en-US" sz="1100" b="1" dirty="0">
                          <a:solidFill>
                            <a:srgbClr val="1B2A3A"/>
                          </a:solidFill>
                          <a:latin typeface="Segoe UI" pitchFamily="34" charset="0"/>
                          <a:ea typeface="Segoe UI" pitchFamily="34" charset="-122"/>
                          <a:cs typeface="Segoe UI" pitchFamily="34" charset="-120"/>
                        </a:rPr>
                        <a:t>figés</a:t>
                      </a:r>
                      <a:pPr indent="0" marL="0">
                        <a:buNone/>
                      </a:pPr>
                      <a:r>
                        <a:rPr lang="en-US" sz="1100" dirty="0">
                          <a:solidFill>
                            <a:srgbClr val="1B2A3A"/>
                          </a:solidFill>
                          <a:latin typeface="Segoe UI" pitchFamily="34" charset="0"/>
                          <a:ea typeface="Segoe UI" pitchFamily="34" charset="-122"/>
                          <a:cs typeface="Segoe UI" pitchFamily="34" charset="-120"/>
                        </a:rPr>
                        <a:t>. Un signalement que le plan corrigé ne fait plus ressortir est levé, jamais effacé. Une panne du pré-contrôle n’empêche jamais de soumettre.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piste n’est pas un constat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Sur demande explicite, l’assistant propose des </a:t>
                      </a:r>
                      <a:pPr indent="0" marL="0">
                        <a:buNone/>
                      </a:pPr>
                      <a:r>
                        <a:rPr lang="en-US" sz="1100" b="1" dirty="0">
                          <a:solidFill>
                            <a:srgbClr val="1B2A3A"/>
                          </a:solidFill>
                          <a:latin typeface="Segoe UI" pitchFamily="34" charset="0"/>
                          <a:ea typeface="Segoe UI" pitchFamily="34" charset="-122"/>
                          <a:cs typeface="Segoe UI" pitchFamily="34" charset="-120"/>
                        </a:rPr>
                        <a:t>pistes</a:t>
                      </a:r>
                      <a:pPr indent="0" marL="0">
                        <a:buNone/>
                      </a:pPr>
                      <a:r>
                        <a:rPr lang="en-US" sz="1100" dirty="0">
                          <a:solidFill>
                            <a:srgbClr val="1B2A3A"/>
                          </a:solidFill>
                          <a:latin typeface="Segoe UI" pitchFamily="34" charset="0"/>
                          <a:ea typeface="Segoe UI" pitchFamily="34" charset="-122"/>
                          <a:cs typeface="Segoe UI" pitchFamily="34" charset="-120"/>
                        </a:rPr>
                        <a:t> : fractionnement déguisé, objet imprécis, nature incohérente. Présentées autrement que les constats des règles, elles s’écartent de même et ne touchent jamais aux seuils, montants ni dates.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Référentiel des seuils de marchés publics (pré-contrôle du PPM) · regles-gestion.md § Référentiel des seuils ; § Signalement du pré-contrôle · regles-gestion.md § Signalement du pré-contrôle : écartable, motivé, jamais effacé · regles-gestion.md § Signalement du pré-contrôle (les trois pistes de l’assistant)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346</a:t>
            </a:r>
            <a:endParaRPr lang="en-US" sz="11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soumission et le suivi</a:t>
            </a:r>
            <a:endParaRPr lang="en-US" sz="2600" dirty="0"/>
          </a:p>
        </p:txBody>
      </p:sp>
      <p:graphicFrame>
        <p:nvGraphicFramePr>
          <p:cNvPr id="34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Seule la PRMP soumet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soumission est l’acte de la </a:t>
                      </a:r>
                      <a:pPr indent="0" marL="0">
                        <a:buNone/>
                      </a:pPr>
                      <a:r>
                        <a:rPr lang="en-US" sz="1100" b="1" dirty="0">
                          <a:solidFill>
                            <a:srgbClr val="1B2A3A"/>
                          </a:solidFill>
                          <a:latin typeface="Segoe UI" pitchFamily="34" charset="0"/>
                          <a:ea typeface="Segoe UI" pitchFamily="34" charset="-122"/>
                          <a:cs typeface="Segoe UI" pitchFamily="34" charset="-120"/>
                        </a:rPr>
                        <a:t>PRMP seule</a:t>
                      </a:r>
                      <a:pPr indent="0" marL="0">
                        <a:buNone/>
                      </a:pPr>
                      <a:r>
                        <a:rPr lang="en-US" sz="1100" dirty="0">
                          <a:solidFill>
                            <a:srgbClr val="1B2A3A"/>
                          </a:solidFill>
                          <a:latin typeface="Segoe UI" pitchFamily="34" charset="0"/>
                          <a:ea typeface="Segoe UI" pitchFamily="34" charset="-122"/>
                          <a:cs typeface="Segoe UI" pitchFamily="34" charset="-120"/>
                        </a:rPr>
                        <a:t> : elle attribue la référence du dossier. Un plan sans aucune ligne de marché est refusé. Sans mandat en cours, toute action est suspendue « en attente de nomination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Seul le brouillon se modifie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marché ou un plan ne se supprime qu’en </a:t>
                      </a:r>
                      <a:pPr indent="0" marL="0">
                        <a:buNone/>
                      </a:pPr>
                      <a:r>
                        <a:rPr lang="en-US" sz="1100" b="1" dirty="0">
                          <a:solidFill>
                            <a:srgbClr val="1B2A3A"/>
                          </a:solidFill>
                          <a:latin typeface="Segoe UI" pitchFamily="34" charset="0"/>
                          <a:ea typeface="Segoe UI" pitchFamily="34" charset="-122"/>
                          <a:cs typeface="Segoe UI" pitchFamily="34" charset="-120"/>
                        </a:rPr>
                        <a:t>brouillon</a:t>
                      </a:r>
                      <a:pPr indent="0" marL="0">
                        <a:buNone/>
                      </a:pPr>
                      <a:r>
                        <a:rPr lang="en-US" sz="1100" dirty="0">
                          <a:solidFill>
                            <a:srgbClr val="1B2A3A"/>
                          </a:solidFill>
                          <a:latin typeface="Segoe UI" pitchFamily="34" charset="0"/>
                          <a:ea typeface="Segoe UI" pitchFamily="34" charset="-122"/>
                          <a:cs typeface="Segoe UI" pitchFamily="34" charset="-120"/>
                        </a:rPr>
                        <a:t>, par sa PRMP, avec ses dates prévisionnelles. Après la soumission, le dossier ne se modifie plus, sauf retour officiel des observations ou retrait accepté.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fin prévue dès le dépôt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Dès la soumission, le dossier porte sa </a:t>
                      </a:r>
                      <a:pPr indent="0" marL="0">
                        <a:buNone/>
                      </a:pPr>
                      <a:r>
                        <a:rPr lang="en-US" sz="1100" b="1" dirty="0">
                          <a:solidFill>
                            <a:srgbClr val="1B2A3A"/>
                          </a:solidFill>
                          <a:latin typeface="Segoe UI" pitchFamily="34" charset="0"/>
                          <a:ea typeface="Segoe UI" pitchFamily="34" charset="-122"/>
                          <a:cs typeface="Segoe UI" pitchFamily="34" charset="-120"/>
                        </a:rPr>
                        <a:t>date prévisionnelle de fin</a:t>
                      </a:r>
                      <a:pPr indent="0" marL="0">
                        <a:buNone/>
                      </a:pPr>
                      <a:r>
                        <a:rPr lang="en-US" sz="1100" dirty="0">
                          <a:solidFill>
                            <a:srgbClr val="1B2A3A"/>
                          </a:solidFill>
                          <a:latin typeface="Segoe UI" pitchFamily="34" charset="0"/>
                          <a:ea typeface="Segoe UI" pitchFamily="34" charset="-122"/>
                          <a:cs typeface="Segoe UI" pitchFamily="34" charset="-120"/>
                        </a:rPr>
                        <a:t>, calculée en jours ouvrés ; elle glisse tant que la main est à la PRMP. Depuis le 09/10, l’Administrateur peut régler un délai propre à un sous-type pour une étape, et la date annoncée en tient compte. La frise date chacune des sept étapes franchies.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L’avancement, pas les coulisses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et l’UGPM suivent l’avancement, pas </a:t>
                      </a:r>
                      <a:pPr indent="0" marL="0">
                        <a:buNone/>
                      </a:pPr>
                      <a:r>
                        <a:rPr lang="en-US" sz="1100" b="1" dirty="0">
                          <a:solidFill>
                            <a:srgbClr val="1B2A3A"/>
                          </a:solidFill>
                          <a:latin typeface="Segoe UI" pitchFamily="34" charset="0"/>
                          <a:ea typeface="Segoe UI" pitchFamily="34" charset="-122"/>
                          <a:cs typeface="Segoe UI" pitchFamily="34" charset="-120"/>
                        </a:rPr>
                        <a:t>qui traite</a:t>
                      </a:r>
                      <a:pPr indent="0" marL="0">
                        <a:buNone/>
                      </a:pPr>
                      <a:r>
                        <a:rPr lang="en-US" sz="1100" dirty="0">
                          <a:solidFill>
                            <a:srgbClr val="1B2A3A"/>
                          </a:solidFill>
                          <a:latin typeface="Segoe UI" pitchFamily="34" charset="0"/>
                          <a:ea typeface="Segoe UI" pitchFamily="34" charset="-122"/>
                          <a:cs typeface="Segoe UI" pitchFamily="34" charset="-120"/>
                        </a:rPr>
                        <a:t> : ni journal interne, ni acteurs des étapes. Du PV, elles reçoivent l’avis, la synthèse des observations et le document officiel, jamais le détail point par point.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synthèse sur demande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Sur la page d’un dossier, « Résumer ce dossier » fait rédiger par l’assistant une synthèse en quatre rubriques : où en est le dossier, ce qui a été demandé à la PRMP, les délais, ce qui reste à faire. Rien ne se déclenche seul ; les </a:t>
                      </a:r>
                      <a:pPr indent="0" marL="0">
                        <a:buNone/>
                      </a:pPr>
                      <a:r>
                        <a:rPr lang="en-US" sz="1100" b="1" dirty="0">
                          <a:solidFill>
                            <a:srgbClr val="1B2A3A"/>
                          </a:solidFill>
                          <a:latin typeface="Segoe UI" pitchFamily="34" charset="0"/>
                          <a:ea typeface="Segoe UI" pitchFamily="34" charset="-122"/>
                          <a:cs typeface="Segoe UI" pitchFamily="34" charset="-120"/>
                        </a:rPr>
                        <a:t>faits viennent du serveur</a:t>
                      </a:r>
                      <a:pPr indent="0" marL="0">
                        <a:buNone/>
                      </a:pPr>
                      <a:r>
                        <a:rPr lang="en-US" sz="1100" dirty="0">
                          <a:solidFill>
                            <a:srgbClr val="1B2A3A"/>
                          </a:solidFill>
                          <a:latin typeface="Segoe UI" pitchFamily="34" charset="0"/>
                          <a:ea typeface="Segoe UI" pitchFamily="34" charset="-122"/>
                          <a:cs typeface="Segoe UI" pitchFamily="34" charset="-120"/>
                        </a:rPr>
                        <a:t>, la rédaction du modèle, et la synthèse ne remplace ni la lecture des pièces ni l’examen.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regles-gestion.md § 3.1 PRMP ; § Le dossier soumis (tranche M5b, 09/10) · regles-gestion.md § 3.1 PRMP ; § Accueil « À faire » (règle C2) · Code du front : features/circuit/page-dossier/synthese-dossier.ts (assistant IA, lot 2) ; regles-gestion.md § Assistant IA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347</a:t>
            </a:r>
            <a:endParaRPr lang="en-US" sz="11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versions</a:t>
            </a:r>
            <a:endParaRPr lang="en-US" sz="2600" dirty="0"/>
          </a:p>
        </p:txBody>
      </p:sp>
      <p:graphicFrame>
        <p:nvGraphicFramePr>
          <p:cNvPr id="34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mise à jour, une nouvelle version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mise à jour ne modifie jamais le plan en place : elle ouvre un </a:t>
                      </a:r>
                      <a:pPr indent="0" marL="0">
                        <a:buNone/>
                      </a:pPr>
                      <a:r>
                        <a:rPr lang="en-US" sz="1100" b="1" dirty="0">
                          <a:solidFill>
                            <a:srgbClr val="1B2A3A"/>
                          </a:solidFill>
                          <a:latin typeface="Segoe UI" pitchFamily="34" charset="0"/>
                          <a:ea typeface="Segoe UI" pitchFamily="34" charset="-122"/>
                          <a:cs typeface="Segoe UI" pitchFamily="34" charset="-120"/>
                        </a:rPr>
                        <a:t>nouveau brouillon</a:t>
                      </a:r>
                      <a:pPr indent="0" marL="0">
                        <a:buNone/>
                      </a:pPr>
                      <a:r>
                        <a:rPr lang="en-US" sz="1100" dirty="0">
                          <a:solidFill>
                            <a:srgbClr val="1B2A3A"/>
                          </a:solidFill>
                          <a:latin typeface="Segoe UI" pitchFamily="34" charset="0"/>
                          <a:ea typeface="Segoe UI" pitchFamily="34" charset="-122"/>
                          <a:cs typeface="Segoe UI" pitchFamily="34" charset="-120"/>
                        </a:rPr>
                        <a:t>, copie complète du précédent, avec un motif obligatoire. Elle n’est possible que sur un plan dont la décision est transmise ou le dossier clôturé, et une seule à la fois.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lignes absentes sont supprimées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mise à jour s’importe en PDF : chaque ligne est rapprochée par son contenu. Une ligne absente devient </a:t>
                      </a:r>
                      <a:pPr indent="0" marL="0">
                        <a:buNone/>
                      </a:pPr>
                      <a:r>
                        <a:rPr lang="en-US" sz="1100" b="1" dirty="0">
                          <a:solidFill>
                            <a:srgbClr val="1B2A3A"/>
                          </a:solidFill>
                          <a:latin typeface="Segoe UI" pitchFamily="34" charset="0"/>
                          <a:ea typeface="Segoe UI" pitchFamily="34" charset="-122"/>
                          <a:cs typeface="Segoe UI" pitchFamily="34" charset="-120"/>
                        </a:rPr>
                        <a:t>supprimée</a:t>
                      </a:r>
                      <a:pPr indent="0" marL="0">
                        <a:buNone/>
                      </a:pPr>
                      <a:r>
                        <a:rPr lang="en-US" sz="1100" dirty="0">
                          <a:solidFill>
                            <a:srgbClr val="1B2A3A"/>
                          </a:solidFill>
                          <a:latin typeface="Segoe UI" pitchFamily="34" charset="0"/>
                          <a:ea typeface="Segoe UI" pitchFamily="34" charset="-122"/>
                          <a:cs typeface="Segoe UI" pitchFamily="34" charset="-120"/>
                        </a:rPr>
                        <a:t>, conservée et restaurable ; une ligne inconnue est créée. L’entité contractante reste celle du plan d’origine.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bascule à la soumission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version précédente passe « remplacée » à la </a:t>
                      </a:r>
                      <a:pPr indent="0" marL="0">
                        <a:buNone/>
                      </a:pPr>
                      <a:r>
                        <a:rPr lang="en-US" sz="1100" b="1" dirty="0">
                          <a:solidFill>
                            <a:srgbClr val="1B2A3A"/>
                          </a:solidFill>
                          <a:latin typeface="Segoe UI" pitchFamily="34" charset="0"/>
                          <a:ea typeface="Segoe UI" pitchFamily="34" charset="-122"/>
                          <a:cs typeface="Segoe UI" pitchFamily="34" charset="-120"/>
                        </a:rPr>
                        <a:t>soumission</a:t>
                      </a:r>
                      <a:pPr indent="0" marL="0">
                        <a:buNone/>
                      </a:pPr>
                      <a:r>
                        <a:rPr lang="en-US" sz="1100" dirty="0">
                          <a:solidFill>
                            <a:srgbClr val="1B2A3A"/>
                          </a:solidFill>
                          <a:latin typeface="Segoe UI" pitchFamily="34" charset="0"/>
                          <a:ea typeface="Segoe UI" pitchFamily="34" charset="-122"/>
                          <a:cs typeface="Segoe UI" pitchFamily="34" charset="-120"/>
                        </a:rPr>
                        <a:t> de la nouvelle, pas avant : une mise à jour abandonnée se supprime sans rien neutraliser. L’écart entre versions est alors figé, et l’examen ne porte que sur les lignes changées.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(saisies)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348</a:t>
            </a:r>
            <a:endParaRPr lang="en-US" sz="11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 et jalons</a:t>
            </a:r>
            <a:endParaRPr lang="en-US" sz="2600" dirty="0"/>
          </a:p>
        </p:txBody>
      </p:sp>
      <p:graphicFrame>
        <p:nvGraphicFramePr>
          <p:cNvPr id="35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retrait jusqu’au PV signé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demande le retrait avec un motif et sa </a:t>
                      </a:r>
                      <a:pPr indent="0" marL="0">
                        <a:buNone/>
                      </a:pPr>
                      <a:r>
                        <a:rPr lang="en-US" sz="1100" b="1" dirty="0">
                          <a:solidFill>
                            <a:srgbClr val="1B2A3A"/>
                          </a:solidFill>
                          <a:latin typeface="Segoe UI" pitchFamily="34" charset="0"/>
                          <a:ea typeface="Segoe UI" pitchFamily="34" charset="-122"/>
                          <a:cs typeface="Segoe UI" pitchFamily="34" charset="-120"/>
                        </a:rPr>
                        <a:t>lettre datée et signée</a:t>
                      </a:r>
                      <a:pPr indent="0" marL="0">
                        <a:buNone/>
                      </a:pPr>
                      <a:r>
                        <a:rPr lang="en-US" sz="1100" dirty="0">
                          <a:solidFill>
                            <a:srgbClr val="1B2A3A"/>
                          </a:solidFill>
                          <a:latin typeface="Segoe UI" pitchFamily="34" charset="0"/>
                          <a:ea typeface="Segoe UI" pitchFamily="34" charset="-122"/>
                          <a:cs typeface="Segoe UI" pitchFamily="34" charset="-120"/>
                        </a:rPr>
                        <a:t> (PDF de 10 Mo au plus), tant que le PV n’est pas signé. Une seule demande en attente par dossier ; le Chef de commission ou le Président décide, et la demande devient caduque si le PV est signé entre-temps.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Retrait accepté, retour au brouillon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retrait accepté remet le dossier en </a:t>
                      </a:r>
                      <a:pPr indent="0" marL="0">
                        <a:buNone/>
                      </a:pPr>
                      <a:r>
                        <a:rPr lang="en-US" sz="1100" b="1" dirty="0">
                          <a:solidFill>
                            <a:srgbClr val="1B2A3A"/>
                          </a:solidFill>
                          <a:latin typeface="Segoe UI" pitchFamily="34" charset="0"/>
                          <a:ea typeface="Segoe UI" pitchFamily="34" charset="-122"/>
                          <a:cs typeface="Segoe UI" pitchFamily="34" charset="-120"/>
                        </a:rPr>
                        <a:t>brouillon</a:t>
                      </a:r>
                      <a:pPr indent="0" marL="0">
                        <a:buNone/>
                      </a:pPr>
                      <a:r>
                        <a:rPr lang="en-US" sz="1100" dirty="0">
                          <a:solidFill>
                            <a:srgbClr val="1B2A3A"/>
                          </a:solidFill>
                          <a:latin typeface="Segoe UI" pitchFamily="34" charset="0"/>
                          <a:ea typeface="Segoe UI" pitchFamily="34" charset="-122"/>
                          <a:cs typeface="Segoe UI" pitchFamily="34" charset="-120"/>
                        </a:rPr>
                        <a:t> et efface son passage dans le circuit ; le journal et le chronométrage sont conservés. Un refus laisse le dossier inchangé. La PRMP suit le statut de sa demande, sans voir qui l’a tranchée.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jalons surveillés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calendrier rapproche, pour chaque processus, la date prévue de la date réelle. À l’écran, un jalon est dit </a:t>
                      </a:r>
                      <a:pPr indent="0" marL="0">
                        <a:buNone/>
                      </a:pPr>
                      <a:r>
                        <a:rPr lang="en-US" sz="1100" b="1" dirty="0">
                          <a:solidFill>
                            <a:srgbClr val="1B2A3A"/>
                          </a:solidFill>
                          <a:latin typeface="Segoe UI" pitchFamily="34" charset="0"/>
                          <a:ea typeface="Segoe UI" pitchFamily="34" charset="-122"/>
                          <a:cs typeface="Segoe UI" pitchFamily="34" charset="-120"/>
                        </a:rPr>
                        <a:t>imminent</a:t>
                      </a:r>
                      <a:pPr indent="0" marL="0">
                        <a:buNone/>
                      </a:pPr>
                      <a:r>
                        <a:rPr lang="en-US" sz="1100" dirty="0">
                          <a:solidFill>
                            <a:srgbClr val="1B2A3A"/>
                          </a:solidFill>
                          <a:latin typeface="Segoe UI" pitchFamily="34" charset="0"/>
                          <a:ea typeface="Segoe UI" pitchFamily="34" charset="-122"/>
                          <a:cs typeface="Segoe UI" pitchFamily="34" charset="-120"/>
                        </a:rPr>
                        <a:t> dans les jours qui le précèdent (sept par défaut, ou selon la règle d’alerte réglée) et </a:t>
                      </a:r>
                      <a:pPr indent="0" marL="0">
                        <a:buNone/>
                      </a:pPr>
                      <a:r>
                        <a:rPr lang="en-US" sz="1100" b="1" dirty="0">
                          <a:solidFill>
                            <a:srgbClr val="1B2A3A"/>
                          </a:solidFill>
                          <a:latin typeface="Segoe UI" pitchFamily="34" charset="0"/>
                          <a:ea typeface="Segoe UI" pitchFamily="34" charset="-122"/>
                          <a:cs typeface="Segoe UI" pitchFamily="34" charset="-120"/>
                        </a:rPr>
                        <a:t>en retard</a:t>
                      </a:r>
                      <a:pPr indent="0" marL="0">
                        <a:buNone/>
                      </a:pPr>
                      <a:r>
                        <a:rPr lang="en-US" sz="1100" dirty="0">
                          <a:solidFill>
                            <a:srgbClr val="1B2A3A"/>
                          </a:solidFill>
                          <a:latin typeface="Segoe UI" pitchFamily="34" charset="0"/>
                          <a:ea typeface="Segoe UI" pitchFamily="34" charset="-122"/>
                          <a:cs typeface="Segoe UI" pitchFamily="34" charset="-120"/>
                        </a:rPr>
                        <a:t> une fois la date prévue dépassée sans date réelle. Les notifications, elles, ne partent qu’</a:t>
                      </a:r>
                      <a:pPr indent="0" marL="0">
                        <a:buNone/>
                      </a:pPr>
                      <a:r>
                        <a:rPr lang="en-US" sz="1100" b="1" dirty="0">
                          <a:solidFill>
                            <a:srgbClr val="1B2A3A"/>
                          </a:solidFill>
                          <a:latin typeface="Segoe UI" pitchFamily="34" charset="0"/>
                          <a:ea typeface="Segoe UI" pitchFamily="34" charset="-122"/>
                          <a:cs typeface="Segoe UI" pitchFamily="34" charset="-120"/>
                        </a:rPr>
                        <a:t>une fois</a:t>
                      </a:r>
                      <a:pPr indent="0" marL="0">
                        <a:buNone/>
                      </a:pPr>
                      <a:r>
                        <a:rPr lang="en-US" sz="1100" dirty="0">
                          <a:solidFill>
                            <a:srgbClr val="1B2A3A"/>
                          </a:solidFill>
                          <a:latin typeface="Segoe UI" pitchFamily="34" charset="0"/>
                          <a:ea typeface="Segoe UI" pitchFamily="34" charset="-122"/>
                          <a:cs typeface="Segoe UI" pitchFamily="34" charset="-120"/>
                        </a:rPr>
                        <a:t> par jalon, à son entrée dans les sept jours qui le précèdent.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regles-gestion.md § 3.1 PRMP, Module 04 (calendrier des jalons) ; code du front features/prmp/calendrier-marches.ts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349</a:t>
            </a:r>
            <a:endParaRPr lang="en-US" sz="11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 (1/2)</a:t>
            </a:r>
            <a:endParaRPr lang="en-US" sz="2600" dirty="0"/>
          </a:p>
        </p:txBody>
      </p:sp>
      <p:graphicFrame>
        <p:nvGraphicFramePr>
          <p:cNvPr id="35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Contrôle pièce par pièce au dépôt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Avant d’enregistrer la réception, le Secrétaire confronte chaque pièce déposée à la liste du type de dossier et la déclare </a:t>
                      </a:r>
                      <a:pPr indent="0" marL="0">
                        <a:buNone/>
                      </a:pPr>
                      <a:r>
                        <a:rPr lang="en-US" sz="1100" b="1" dirty="0">
                          <a:solidFill>
                            <a:srgbClr val="1B2A3A"/>
                          </a:solidFill>
                          <a:latin typeface="Segoe UI" pitchFamily="34" charset="0"/>
                          <a:ea typeface="Segoe UI" pitchFamily="34" charset="-122"/>
                          <a:cs typeface="Segoe UI" pitchFamily="34" charset="-120"/>
                        </a:rPr>
                        <a:t>conforme</a:t>
                      </a:r>
                      <a:pPr indent="0" marL="0">
                        <a:buNone/>
                      </a:pPr>
                      <a:r>
                        <a:rPr lang="en-US" sz="1100" dirty="0">
                          <a:solidFill>
                            <a:srgbClr val="1B2A3A"/>
                          </a:solidFill>
                          <a:latin typeface="Segoe UI" pitchFamily="34" charset="0"/>
                          <a:ea typeface="Segoe UI" pitchFamily="34" charset="-122"/>
                          <a:cs typeface="Segoe UI" pitchFamily="34" charset="-120"/>
                        </a:rPr>
                        <a:t> ou </a:t>
                      </a:r>
                      <a:pPr indent="0" marL="0">
                        <a:buNone/>
                      </a:pPr>
                      <a:r>
                        <a:rPr lang="en-US" sz="1100" b="1" dirty="0">
                          <a:solidFill>
                            <a:srgbClr val="1B2A3A"/>
                          </a:solidFill>
                          <a:latin typeface="Segoe UI" pitchFamily="34" charset="0"/>
                          <a:ea typeface="Segoe UI" pitchFamily="34" charset="-122"/>
                          <a:cs typeface="Segoe UI" pitchFamily="34" charset="-120"/>
                        </a:rPr>
                        <a:t>non conforme</a:t>
                      </a:r>
                      <a:pPr indent="0" marL="0">
                        <a:buNone/>
                      </a:pPr>
                      <a:r>
                        <a:rPr lang="en-US" sz="1100" dirty="0">
                          <a:solidFill>
                            <a:srgbClr val="1B2A3A"/>
                          </a:solidFill>
                          <a:latin typeface="Segoe UI" pitchFamily="34" charset="0"/>
                          <a:ea typeface="Segoe UI" pitchFamily="34" charset="-122"/>
                          <a:cs typeface="Segoe UI" pitchFamily="34" charset="-120"/>
                        </a:rPr>
                        <a:t>, avec une observation. Chaque décision est conservée avec son auteur et son heure.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Pas de réception sans pièces obligatoires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réception est refusée tant qu’une pièce </a:t>
                      </a:r>
                      <a:pPr indent="0" marL="0">
                        <a:buNone/>
                      </a:pPr>
                      <a:r>
                        <a:rPr lang="en-US" sz="1100" b="1" dirty="0">
                          <a:solidFill>
                            <a:srgbClr val="1B2A3A"/>
                          </a:solidFill>
                          <a:latin typeface="Segoe UI" pitchFamily="34" charset="0"/>
                          <a:ea typeface="Segoe UI" pitchFamily="34" charset="-122"/>
                          <a:cs typeface="Segoe UI" pitchFamily="34" charset="-120"/>
                        </a:rPr>
                        <a:t>obligatoire</a:t>
                      </a:r>
                      <a:pPr indent="0" marL="0">
                        <a:buNone/>
                      </a:pPr>
                      <a:r>
                        <a:rPr lang="en-US" sz="1100" dirty="0">
                          <a:solidFill>
                            <a:srgbClr val="1B2A3A"/>
                          </a:solidFill>
                          <a:latin typeface="Segoe UI" pitchFamily="34" charset="0"/>
                          <a:ea typeface="Segoe UI" pitchFamily="34" charset="-122"/>
                          <a:cs typeface="Segoe UI" pitchFamily="34" charset="-120"/>
                        </a:rPr>
                        <a:t> n’a pas pour dernière décision « conforme » ; le message nomme les pièces en cause.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Signalement des pièces manquantes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Secrétaire signale les pièces en défaut : la PRMP est notifiée et le dossier attend ses compléments. À la reprise, les pièces déjà conformes restent acquises ; seules les pièces en défaut sont revérifiées.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Référence officielle donnée à la réception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réception donne au dossier sa </a:t>
                      </a:r>
                      <a:pPr indent="0" marL="0">
                        <a:buNone/>
                      </a:pPr>
                      <a:r>
                        <a:rPr lang="en-US" sz="1100" b="1" dirty="0">
                          <a:solidFill>
                            <a:srgbClr val="1B2A3A"/>
                          </a:solidFill>
                          <a:latin typeface="Segoe UI" pitchFamily="34" charset="0"/>
                          <a:ea typeface="Segoe UI" pitchFamily="34" charset="-122"/>
                          <a:cs typeface="Segoe UI" pitchFamily="34" charset="-120"/>
                        </a:rPr>
                        <a:t>référence officielle</a:t>
                      </a:r>
                      <a:pPr indent="0" marL="0">
                        <a:buNone/>
                      </a:pPr>
                      <a:r>
                        <a:rPr lang="en-US" sz="1100" dirty="0">
                          <a:solidFill>
                            <a:srgbClr val="1B2A3A"/>
                          </a:solidFill>
                          <a:latin typeface="Segoe UI" pitchFamily="34" charset="0"/>
                          <a:ea typeface="Segoe UI" pitchFamily="34" charset="-122"/>
                          <a:cs typeface="Segoe UI" pitchFamily="34" charset="-120"/>
                        </a:rPr>
                        <a:t> : numéro à cinq chiffres, type de dossier, commission (CNM ou CRM et localité), exercice. Chaque contexte a son propre compteur.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Réception dans sa seule localité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Secrétaire ne réceptionne que les dossiers de sa localité. Le Président et le Chef de commission peuvent enregistrer la réception à sa place, par délégation.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3.4 Secrétaire ; contrôle de complétude des pièces au dépôt · regles-gestion.md § 3.4 Secrétaire (réceptions) · regles-gestion.md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350</a:t>
            </a:r>
            <a:endParaRPr lang="en-US" sz="11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 (2/2)</a:t>
            </a:r>
            <a:endParaRPr lang="en-US" sz="2600" dirty="0"/>
          </a:p>
        </p:txBody>
      </p:sp>
      <p:graphicFrame>
        <p:nvGraphicFramePr>
          <p:cNvPr id="35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Dossier complet, prêt à dispatcher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Dès que la réception est enregistrée, le dossier est « prêt à dispatcher » et le Président et le Chef de commission de la localité sont notifiés.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351</a:t>
            </a:r>
            <a:endParaRPr lang="en-US" sz="11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(1/2)</a:t>
            </a:r>
            <a:endParaRPr lang="en-US" sz="2600" dirty="0"/>
          </a:p>
        </p:txBody>
      </p:sp>
      <p:graphicFrame>
        <p:nvGraphicFramePr>
          <p:cNvPr id="35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dispatch : attribuer à un Membre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voit les dossiers prêts de toutes les localités et les attribue à un Membre, avec des instructions facultatives. Le Chef de commission dispatche les dossiers de sa localité.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Centrale : dispatch réservé au Président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Pour un dossier de la Centrale, seul le Président dispatche et seul lui est notifié. Le Chef de commission n’y agit que sur un dossier que le Président lui a confié ou qu’il a lui-même réattribué.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attributaire capable d’examiner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dossier ne s’attribue qu’à un Membre, ou à un contrôleur autorisé par délégation à la tâche de Membre. Le Président ou le Chef de commission peut ainsi se l’attribuer à lui-même : c’est le circuit court.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Délégation ascendante : neuf paires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peut exercer les tâches du Secrétaire, du Chef de commission, du Membre, du Vérificateur et de l’Assistant ; le Chef de commission celles du Secrétaire, du Membre, du Vérificateur et de l’Assistant. La délégation n’est pas transitive et n’ouvre aucun </a:t>
                      </a:r>
                      <a:pPr indent="0" marL="0">
                        <a:buNone/>
                      </a:pPr>
                      <a:r>
                        <a:rPr lang="en-US" sz="1100" b="1" dirty="0">
                          <a:solidFill>
                            <a:srgbClr val="1B2A3A"/>
                          </a:solidFill>
                          <a:latin typeface="Segoe UI" pitchFamily="34" charset="0"/>
                          <a:ea typeface="Segoe UI" pitchFamily="34" charset="-122"/>
                          <a:cs typeface="Segoe UI" pitchFamily="34" charset="-120"/>
                        </a:rPr>
                        <a:t>acte d’identité</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Réattribution par le Chef de commission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Chef de commission peut réattribuer à un Membre le dossier que le Président lui a dispatché ; le nouvel attributaire est notifié, l’ancien est prévenu. La réattribution est refusée dès qu’un examen est entamé.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3.2 Président · regles-gestion.md § 3.3 Chef de commission · regles-gestion.md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352</a:t>
            </a:r>
            <a:endParaRPr lang="en-US" sz="11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(2/2)</a:t>
            </a:r>
            <a:endParaRPr lang="en-US" sz="2600" dirty="0"/>
          </a:p>
        </p:txBody>
      </p:sp>
      <p:graphicFrame>
        <p:nvGraphicFramePr>
          <p:cNvPr id="35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Seul le dispatcheur retire le dispatch</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Seul celui qui a dispatché retire un dispatch. Un Chef de commission à la fois dispatcheur et attributaire ne se retire pas le dossier : c’est le Président qui le lui retire.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Chaînes Membre, Vérificateur, Assistant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peut être rattaché à un Vérificateur, et chaque Vérificateur à un Assistant, dans la même localité ; le rattachement est posé par l’Administrateur, le Président, ou le Chef de commission dans sa localité. Il </a:t>
                      </a:r>
                      <a:pPr indent="0" marL="0">
                        <a:buNone/>
                      </a:pPr>
                      <a:r>
                        <a:rPr lang="en-US" sz="1100" b="1" dirty="0">
                          <a:solidFill>
                            <a:srgbClr val="1B2A3A"/>
                          </a:solidFill>
                          <a:latin typeface="Segoe UI" pitchFamily="34" charset="0"/>
                          <a:ea typeface="Segoe UI" pitchFamily="34" charset="-122"/>
                          <a:cs typeface="Segoe UI" pitchFamily="34" charset="-120"/>
                        </a:rPr>
                        <a:t>oriente</a:t>
                      </a:r>
                      <a:pPr indent="0" marL="0">
                        <a:buNone/>
                      </a:pPr>
                      <a:r>
                        <a:rPr lang="en-US" sz="1100" dirty="0">
                          <a:solidFill>
                            <a:srgbClr val="1B2A3A"/>
                          </a:solidFill>
                          <a:latin typeface="Segoe UI" pitchFamily="34" charset="0"/>
                          <a:ea typeface="Segoe UI" pitchFamily="34" charset="-122"/>
                          <a:cs typeface="Segoe UI" pitchFamily="34" charset="-120"/>
                        </a:rPr>
                        <a:t> notifications et files sans rien verrouiller : sans chaîne, tous les porteurs du rôle de la localité restent compétents.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3.3 Chef de commission · regles-gestion.md § 1.7 Rattachement nominatif</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353</a:t>
            </a:r>
            <a:endParaRPr lang="en-US" sz="11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(1/2)</a:t>
            </a:r>
            <a:endParaRPr lang="en-US" sz="2600" dirty="0"/>
          </a:p>
        </p:txBody>
      </p:sp>
      <p:graphicFrame>
        <p:nvGraphicFramePr>
          <p:cNvPr id="35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Seul l’attributaire examine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Quel que soit son profil, seul l’</a:t>
                      </a:r>
                      <a:pPr indent="0" marL="0">
                        <a:buNone/>
                      </a:pPr>
                      <a:r>
                        <a:rPr lang="en-US" sz="1100" b="1" dirty="0">
                          <a:solidFill>
                            <a:srgbClr val="1B2A3A"/>
                          </a:solidFill>
                          <a:latin typeface="Segoe UI" pitchFamily="34" charset="0"/>
                          <a:ea typeface="Segoe UI" pitchFamily="34" charset="-122"/>
                          <a:cs typeface="Segoe UI" pitchFamily="34" charset="-120"/>
                        </a:rPr>
                        <a:t>attributaire</a:t>
                      </a:r>
                      <a:pPr indent="0" marL="0">
                        <a:buNone/>
                      </a:pPr>
                      <a:r>
                        <a:rPr lang="en-US" sz="1100" dirty="0">
                          <a:solidFill>
                            <a:srgbClr val="1B2A3A"/>
                          </a:solidFill>
                          <a:latin typeface="Segoe UI" pitchFamily="34" charset="0"/>
                          <a:ea typeface="Segoe UI" pitchFamily="34" charset="-122"/>
                          <a:cs typeface="Segoe UI" pitchFamily="34" charset="-120"/>
                        </a:rPr>
                        <a:t> du dispatch crée, modifie et soumet l’examen. Ni le dispatcheur ni le Chef de commission en copie ne peuvent examiner.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Examen point par point, en brouillon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Membre statue chaque pièce et chaque point de contrôle, « RAS » ou observation ; il enregistre et reprend plus tard sans faire avancer le dossier. L’examen reste modifiable jusqu’à la signature du PV.</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Observation ciblée sur une cellule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observation « Au lieu de / Lire » peut viser la cellule qu’elle corrige : colonne du plan, de la fiche de présentation ou du projet d’AGPM, ou information de la fiche DAO. Cette cible suit l’observation jusqu’à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On ne contrôle pas le vide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points de contrôle de la fiche de présentation et du projet d’AGPM ne sont exigés que si le document a du contenu. Chaque document est jugé séparément.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Réinitialiser un examen non soumis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L’attributaire peut </a:t>
                      </a:r>
                      <a:pPr indent="0" marL="0">
                        <a:buNone/>
                      </a:pPr>
                      <a:r>
                        <a:rPr lang="en-US" sz="1100" b="1" dirty="0">
                          <a:solidFill>
                            <a:srgbClr val="1B2A3A"/>
                          </a:solidFill>
                          <a:latin typeface="Segoe UI" pitchFamily="34" charset="0"/>
                          <a:ea typeface="Segoe UI" pitchFamily="34" charset="-122"/>
                          <a:cs typeface="Segoe UI" pitchFamily="34" charset="-120"/>
                        </a:rPr>
                        <a:t>réinitialiser</a:t>
                      </a:r>
                      <a:pPr indent="0" marL="0">
                        <a:buNone/>
                      </a:pPr>
                      <a:r>
                        <a:rPr lang="en-US" sz="1100" dirty="0">
                          <a:solidFill>
                            <a:srgbClr val="1B2A3A"/>
                          </a:solidFill>
                          <a:latin typeface="Segoe UI" pitchFamily="34" charset="0"/>
                          <a:ea typeface="Segoe UI" pitchFamily="34" charset="-122"/>
                          <a:cs typeface="Segoe UI" pitchFamily="34" charset="-120"/>
                        </a:rPr>
                        <a:t> son examen tant qu’aucun projet de PV n’existe : points, observations et résultats de pièces sont effacés d’un geste. Le temps écoulé continue de compter et l’effacement est inscrit au journal.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3.5 Membre · regles-gestion.md § 2 Circuit de contrôle · regles-gestion.md § « On ne contrôle pas le vide » (règle du pilote, 04/09) · regles-gestion.md § Réinitialiser un examen en cours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354</a:t>
            </a:r>
            <a:endParaRPr lang="en-US" sz="11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(2/2)</a:t>
            </a:r>
            <a:endParaRPr lang="en-US" sz="2600" dirty="0"/>
          </a:p>
        </p:txBody>
      </p:sp>
      <p:graphicFrame>
        <p:nvGraphicFramePr>
          <p:cNvPr id="3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soumission porte l’avis du Membre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Membre soumet son examen avec son avis (favorable, favorable avec réserves, défavorable, ou sans objet) ; la soumission crée le projet de PV. L’avis doit être cohérent avec ce qui a été relevé : un avis </a:t>
                      </a:r>
                      <a:pPr indent="0" marL="0">
                        <a:buNone/>
                      </a:pPr>
                      <a:r>
                        <a:rPr lang="en-US" sz="1100" b="1" dirty="0">
                          <a:solidFill>
                            <a:srgbClr val="1B2A3A"/>
                          </a:solidFill>
                          <a:latin typeface="Segoe UI" pitchFamily="34" charset="0"/>
                          <a:ea typeface="Segoe UI" pitchFamily="34" charset="-122"/>
                          <a:cs typeface="Segoe UI" pitchFamily="34" charset="-120"/>
                        </a:rPr>
                        <a:t>favorable</a:t>
                      </a:r>
                      <a:pPr indent="0" marL="0">
                        <a:buNone/>
                      </a:pPr>
                      <a:r>
                        <a:rPr lang="en-US" sz="1100" dirty="0">
                          <a:solidFill>
                            <a:srgbClr val="1B2A3A"/>
                          </a:solidFill>
                          <a:latin typeface="Segoe UI" pitchFamily="34" charset="0"/>
                          <a:ea typeface="Segoe UI" pitchFamily="34" charset="-122"/>
                          <a:cs typeface="Segoe UI" pitchFamily="34" charset="-120"/>
                        </a:rPr>
                        <a:t> est refusé tant qu’une observation ou un </a:t>
                      </a:r>
                      <a:pPr indent="0" marL="0">
                        <a:buNone/>
                      </a:pPr>
                      <a:r>
                        <a:rPr lang="en-US" sz="1100" b="1" dirty="0">
                          <a:solidFill>
                            <a:srgbClr val="1B2A3A"/>
                          </a:solidFill>
                          <a:latin typeface="Segoe UI" pitchFamily="34" charset="0"/>
                          <a:ea typeface="Segoe UI" pitchFamily="34" charset="-122"/>
                          <a:cs typeface="Segoe UI" pitchFamily="34" charset="-120"/>
                        </a:rPr>
                        <a:t>contrôle non conforme non levé</a:t>
                      </a:r>
                      <a:pPr indent="0" marL="0">
                        <a:buNone/>
                      </a:pPr>
                      <a:r>
                        <a:rPr lang="en-US" sz="1100" dirty="0">
                          <a:solidFill>
                            <a:srgbClr val="1B2A3A"/>
                          </a:solidFill>
                          <a:latin typeface="Segoe UI" pitchFamily="34" charset="0"/>
                          <a:ea typeface="Segoe UI" pitchFamily="34" charset="-122"/>
                          <a:cs typeface="Segoe UI" pitchFamily="34" charset="-120"/>
                        </a:rPr>
                        <a:t> subsiste.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Soumettre engage le seul examinateur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soumission et la re-soumission du projet de PV sont réservées à l’examinateur, même face à un supérieur agissant par délégation. Corriger le projet pour un collègue absent reste permis : seul le geste qui engage est nominatif.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 Circuit de contrôle ; § Le dossier soumis, encadré du 13/10 (tranche R5) · regles-gestion.md § À qui appartient un passage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355</a:t>
            </a:r>
            <a:endParaRPr lang="en-US" sz="11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(1/2)</a:t>
            </a:r>
            <a:endParaRPr lang="en-US" sz="2600" dirty="0"/>
          </a:p>
        </p:txBody>
      </p:sp>
      <p:graphicFrame>
        <p:nvGraphicFramePr>
          <p:cNvPr id="35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Navette du projet de PV</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ou le Chef de commission peut retourner le projet au Membre autant de fois que nécessaire, avec un commentaire obligatoire ; le Membre corrige puis resoumet. Chaque aller-retour est tracé.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Visa réservé au dispatcheur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navette se clôt par le </a:t>
                      </a:r>
                      <a:pPr indent="0" marL="0">
                        <a:buNone/>
                      </a:pPr>
                      <a:r>
                        <a:rPr lang="en-US" sz="1100" b="1" dirty="0">
                          <a:solidFill>
                            <a:srgbClr val="1B2A3A"/>
                          </a:solidFill>
                          <a:latin typeface="Segoe UI" pitchFamily="34" charset="0"/>
                          <a:ea typeface="Segoe UI" pitchFamily="34" charset="-122"/>
                          <a:cs typeface="Segoe UI" pitchFamily="34" charset="-120"/>
                        </a:rPr>
                        <a:t>visa</a:t>
                      </a:r>
                      <a:pPr indent="0" marL="0">
                        <a:buNone/>
                      </a:pPr>
                      <a:r>
                        <a:rPr lang="en-US" sz="1100" dirty="0">
                          <a:solidFill>
                            <a:srgbClr val="1B2A3A"/>
                          </a:solidFill>
                          <a:latin typeface="Segoe UI" pitchFamily="34" charset="0"/>
                          <a:ea typeface="Segoe UI" pitchFamily="34" charset="-122"/>
                          <a:cs typeface="Segoe UI" pitchFamily="34" charset="-120"/>
                        </a:rPr>
                        <a:t> du Président ou du Chef de commission qui a dispatché : il arrête l’avis, désigne le co-signataire et signe sa part. Tout autre ne vise que par intérim.</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Visa par intérim sur note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Président ou Chef de commission non dispatcheur, compétent pour la localité, vise en joignant une note d’intérim. La mention « par intérim » ne figure que sur les PV régionaux ; la note n’est pas communiquée à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L’examinateur ne vise pas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Celui qui a examiné un dossier ne vise ni ne retourne le projet de PV, même par intérim, sauf s’il s’est dispatché le dossier à lui-même.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Navette à deux niveaux</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Si le Président a dispatché au Chef de commission, qui a réattribué à un Membre, le Membre soumet au Chef de commission, qui retourne ou transmet au Président ; le Président retourne au Chef de commission ou vise. Rien ne saute d’étage.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3.2 Président · regles-gestion.md § 2 Circuit de contrôle · regles-gestion.md § À qui appartient un passage · regles-gestion.md § La navette du PV à deux niveaux (règle du pilote, 04/09)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356</a:t>
            </a:r>
            <a:endParaRPr lang="en-US" sz="11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(2/2)</a:t>
            </a:r>
            <a:endParaRPr lang="en-US" sz="2600" dirty="0"/>
          </a:p>
        </p:txBody>
      </p:sp>
      <p:graphicFrame>
        <p:nvGraphicFramePr>
          <p:cNvPr id="35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Deux signataires distincts au moins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viseur désigne ses co-signataires : au moins une autre personne, trois signataires au plus, un seul par rôle. Le PV n’imprime que les lignes des désignés.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PV définitif quand toutes les parts sont signées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PV est signé quand la part du viseur et celle de chaque désigné sont posées. La part du Membre ne se délègue pas : seul le Membre désigné la signe.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Plus de Secrétaire de séance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PV ne désigne plus de Secrétaire de séance, ni au visa ni à la soumission de l’examen. Les PV visés avant ce retrait gardent leur mention.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co-signature élargie · regles-gestion.md § Le Secrétaire de séance est retiré du cycle du PV (02/09)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357</a:t>
            </a:r>
            <a:endParaRPr lang="en-US" sz="11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(1/2)</a:t>
            </a:r>
            <a:endParaRPr lang="en-US" sz="2600" dirty="0"/>
          </a:p>
        </p:txBody>
      </p:sp>
      <p:graphicFrame>
        <p:nvGraphicFramePr>
          <p:cNvPr id="3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Tout PV signé passe au Vérificateur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Aucun avis ne clôt le dossier à la signature : le PV est transmis à la PRMP et le dossier part en vérification. Pour un avis favorable, défavorable ou sans objet, le Vérificateur n’a plus qu’à transmettre la décision au SIGMP.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Avis avec réserves : la PRMP rectifie d’abord</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signature d’un PV favorable avec réserves, le PV et ses observations partent à la PRMP, qui rectifie. Sa </a:t>
                      </a:r>
                      <a:pPr indent="0" marL="0">
                        <a:buNone/>
                      </a:pPr>
                      <a:r>
                        <a:rPr lang="en-US" sz="1100" b="1" dirty="0">
                          <a:solidFill>
                            <a:srgbClr val="1B2A3A"/>
                          </a:solidFill>
                          <a:latin typeface="Segoe UI" pitchFamily="34" charset="0"/>
                          <a:ea typeface="Segoe UI" pitchFamily="34" charset="-122"/>
                          <a:cs typeface="Segoe UI" pitchFamily="34" charset="-120"/>
                        </a:rPr>
                        <a:t>resoumission</a:t>
                      </a:r>
                      <a:pPr indent="0" marL="0">
                        <a:buNone/>
                      </a:pPr>
                      <a:r>
                        <a:rPr lang="en-US" sz="1100" dirty="0">
                          <a:solidFill>
                            <a:srgbClr val="1B2A3A"/>
                          </a:solidFill>
                          <a:latin typeface="Segoe UI" pitchFamily="34" charset="0"/>
                          <a:ea typeface="Segoe UI" pitchFamily="34" charset="-122"/>
                          <a:cs typeface="Segoe UI" pitchFamily="34" charset="-120"/>
                        </a:rPr>
                        <a:t>, motivée, ouvre la vérification et notifie le Vérificateur.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Observations figées au PV</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observations suivies sont exclusivement celles arrêtées au PV signé, aux libellés figés ; aucun acteur ne peut en ajouter, et le Vérificateur ne rédige aucun texte libre.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Lever ou maintenir chaque observation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chaque passage, le Vérificateur statue chaque observation : levée ou maintenue, avec une précision facultative. Une levée est acquise ; une seule observation maintenue renvoie le dossier à la PRMP, et la boucle reprend.</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Vérificateur voit la rectification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Pour statuer, le Vérificateur compare la version d’avant et celle d’après la rectification. Chaque version remplacée est archivée, en lecture seule.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 Circuit de contrôle · regles-gestion.md § 3.6 Contrôleur vérificateur · regles-gestion.md § 3.6 Contrôleur vérificateur (vérifications)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358</a:t>
            </a:r>
            <a:endParaRPr lang="en-US" sz="11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(2/2)</a:t>
            </a:r>
            <a:endParaRPr lang="en-US" sz="2600" dirty="0"/>
          </a:p>
        </p:txBody>
      </p:sp>
      <p:graphicFrame>
        <p:nvGraphicFramePr>
          <p:cNvPr id="3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Transmission du sens au SIGMP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Vérificateur transmet le sens de la décision, déduit de l’avis : favorable donne « approuvé », défavorable et sans objet « non approuvé », favorable avec réserves « approuvé » une fois toutes les observations levées. Le dossier passe alors aux « vérifiés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L’archivage clôt le dossier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Seul l’</a:t>
                      </a:r>
                      <a:pPr indent="0" marL="0">
                        <a:buNone/>
                      </a:pPr>
                      <a:r>
                        <a:rPr lang="en-US" sz="1100" b="1" dirty="0">
                          <a:solidFill>
                            <a:srgbClr val="1B2A3A"/>
                          </a:solidFill>
                          <a:latin typeface="Segoe UI" pitchFamily="34" charset="0"/>
                          <a:ea typeface="Segoe UI" pitchFamily="34" charset="-122"/>
                          <a:cs typeface="Segoe UI" pitchFamily="34" charset="-120"/>
                        </a:rPr>
                        <a:t>archivage</a:t>
                      </a:r>
                      <a:pPr indent="0" marL="0">
                        <a:buNone/>
                      </a:pPr>
                      <a:r>
                        <a:rPr lang="en-US" sz="1100" dirty="0">
                          <a:solidFill>
                            <a:srgbClr val="1B2A3A"/>
                          </a:solidFill>
                          <a:latin typeface="Segoe UI" pitchFamily="34" charset="0"/>
                          <a:ea typeface="Segoe UI" pitchFamily="34" charset="-122"/>
                          <a:cs typeface="Segoe UI" pitchFamily="34" charset="-120"/>
                        </a:rPr>
                        <a:t> du PV par l’Assistant de la localité, ou par délégation, clôt le dossier ; il prévient le Chargé de publication. L’Assistant archive aussi les lettres de renvoi signées.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3.6 Contrôleur vérificateur · regles-gestion.md § 2 Circuit de contrôle (transmissions SIGMP)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359</a:t>
            </a:r>
            <a:endParaRPr lang="en-US" sz="11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Renvoi et rectification</a:t>
            </a:r>
            <a:endParaRPr lang="en-US" sz="2600" dirty="0"/>
          </a:p>
        </p:txBody>
      </p:sp>
      <p:graphicFrame>
        <p:nvGraphicFramePr>
          <p:cNvPr id="3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Lettre de renvoi signée par la Commission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ou le Chef de commission établit la lettre de renvoi. En Centrale, l’un ou l’autre la signe ; en région, seul le Chef de commission de la localité. Le Membre ne la signe jamais.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Renvoi : examen suspendu, puis réexamen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signature de la lettre, l’examen est suspendu et la PRMP est notifiée. Après dépôt et transmission des pièces demandées, le dossier revient au Membre, qui </a:t>
                      </a:r>
                      <a:pPr indent="0" marL="0">
                        <a:buNone/>
                      </a:pPr>
                      <a:r>
                        <a:rPr lang="en-US" sz="1100" b="1" dirty="0">
                          <a:solidFill>
                            <a:srgbClr val="1B2A3A"/>
                          </a:solidFill>
                          <a:latin typeface="Segoe UI" pitchFamily="34" charset="0"/>
                          <a:ea typeface="Segoe UI" pitchFamily="34" charset="-122"/>
                          <a:cs typeface="Segoe UI" pitchFamily="34" charset="-120"/>
                        </a:rPr>
                        <a:t>réexamine</a:t>
                      </a:r>
                      <a:pPr indent="0" marL="0">
                        <a:buNone/>
                      </a:pPr>
                      <a:r>
                        <a:rPr lang="en-US" sz="1100" dirty="0">
                          <a:solidFill>
                            <a:srgbClr val="1B2A3A"/>
                          </a:solidFill>
                          <a:latin typeface="Segoe UI" pitchFamily="34" charset="0"/>
                          <a:ea typeface="Segoe UI" pitchFamily="34" charset="-122"/>
                          <a:cs typeface="Segoe UI" pitchFamily="34" charset="-120"/>
                        </a:rPr>
                        <a:t> puis resoumet le projet de PV.</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Rectification bornée à trois lignes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En rectification, la PRMP ajoute ou retire au plus trois lignes du plan dans chaque sens. Elle ne peut pas retirer une ligne portant une observation non levée.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 Circuit de contrôle (lettres de renvoi) · regles-gestion.md § 2 Circuit de contrôle (transmissions SIGMP) · regles-gestion.md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360</a:t>
            </a:r>
            <a:endParaRPr lang="en-US" sz="11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Retraits</a:t>
            </a:r>
            <a:endParaRPr lang="en-US" sz="2600" dirty="0"/>
          </a:p>
        </p:txBody>
      </p:sp>
      <p:graphicFrame>
        <p:nvGraphicFramePr>
          <p:cNvPr id="3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Retrait possible jusqu’au PV signé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demande le retrait motivé, lettre signée à l’appui, d’un dossier soumis, prêt à dispatcher, dispatché ou examiné. Dès la signature du PV, la demande est refusée.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Décision du Chef de commission ou du Président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Seuls le Chef de commission de la localité ou le Président statuent. Une demande devenue </a:t>
                      </a:r>
                      <a:pPr indent="0" marL="0">
                        <a:buNone/>
                      </a:pPr>
                      <a:r>
                        <a:rPr lang="en-US" sz="1100" b="1" dirty="0">
                          <a:solidFill>
                            <a:srgbClr val="1B2A3A"/>
                          </a:solidFill>
                          <a:latin typeface="Segoe UI" pitchFamily="34" charset="0"/>
                          <a:ea typeface="Segoe UI" pitchFamily="34" charset="-122"/>
                          <a:cs typeface="Segoe UI" pitchFamily="34" charset="-120"/>
                        </a:rPr>
                        <a:t>caduque</a:t>
                      </a:r>
                      <a:pPr indent="0" marL="0">
                        <a:buNone/>
                      </a:pPr>
                      <a:r>
                        <a:rPr lang="en-US" sz="1100" dirty="0">
                          <a:solidFill>
                            <a:srgbClr val="1B2A3A"/>
                          </a:solidFill>
                          <a:latin typeface="Segoe UI" pitchFamily="34" charset="0"/>
                          <a:ea typeface="Segoe UI" pitchFamily="34" charset="-122"/>
                          <a:cs typeface="Segoe UI" pitchFamily="34" charset="-120"/>
                        </a:rPr>
                        <a:t>, le PV ayant été signé entre-temps, ne peut plus qu’être refusée.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Retrait accepté : retour au brouillon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L’acceptation ramène le dossier au brouillon et efface son circuit : dispatch, examen, PV, navettes. Le journal et le chronométrage sont conservés ; un refus laisse le dossier inchangé.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361</a:t>
            </a:r>
            <a:endParaRPr lang="en-US" sz="11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et chronométrage</a:t>
            </a:r>
            <a:endParaRPr lang="en-US" sz="2600" dirty="0"/>
          </a:p>
        </p:txBody>
      </p:sp>
      <p:graphicFrame>
        <p:nvGraphicFramePr>
          <p:cNvPr id="3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délai se mesure, sans saisie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étape est chronométrée sans saisie : elle commence à la fin de la précédente et s’achève au geste qui la clôt. Le calcul se fait en </a:t>
                      </a:r>
                      <a:pPr indent="0" marL="0">
                        <a:buNone/>
                      </a:pPr>
                      <a:r>
                        <a:rPr lang="en-US" sz="1100" b="1" dirty="0">
                          <a:solidFill>
                            <a:srgbClr val="1B2A3A"/>
                          </a:solidFill>
                          <a:latin typeface="Segoe UI" pitchFamily="34" charset="0"/>
                          <a:ea typeface="Segoe UI" pitchFamily="34" charset="-122"/>
                          <a:cs typeface="Segoe UI" pitchFamily="34" charset="-120"/>
                        </a:rPr>
                        <a:t>heures ouvrées</a:t>
                      </a:r>
                      <a:pPr indent="0" marL="0">
                        <a:buNone/>
                      </a:pPr>
                      <a:r>
                        <a:rPr lang="en-US" sz="1100" dirty="0">
                          <a:solidFill>
                            <a:srgbClr val="1B2A3A"/>
                          </a:solidFill>
                          <a:latin typeface="Segoe UI" pitchFamily="34" charset="0"/>
                          <a:ea typeface="Segoe UI" pitchFamily="34" charset="-122"/>
                          <a:cs typeface="Segoe UI" pitchFamily="34" charset="-120"/>
                        </a:rPr>
                        <a:t>, de 8 h à 16 h du lundi au vendredi, 8 h valant un jour.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L’attente de la PRMP est suspendue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compteur de la Commission se suspend pendant les attentes de la PRMP : compléments au dépôt, pièces après renvoi, rectification. Le délai propre de la PRMP est mesuré à part.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Date prévisionnelle annoncée dès le dépôt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date annoncée à la PRMP additionne le reste de l’étape en cours et les délais standards des étapes restantes. Une étape en dépassement compte zéro : la date glisse.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Chaque passage imputé à son auteur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L’examen est mesuré au nom de son attributaire ; une réattribution clôt l’examen du sortant à son nom. À deux niveaux, chaque étage a sa durée, et chaque co-signataire sa part.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Chronométrage et prévision des délais · regles-gestion.md § Le délai propre de la PRMP · regles-gestion.md § À qui appartient un passage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362</a:t>
            </a:r>
            <a:endParaRPr lang="en-US" sz="11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manuel de contrôle</a:t>
            </a:r>
            <a:endParaRPr lang="en-US" sz="2600" dirty="0"/>
          </a:p>
        </p:txBody>
      </p:sp>
      <p:graphicFrame>
        <p:nvGraphicFramePr>
          <p:cNvPr id="3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sous-types du manuel</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Vingt-trois sous-types de dossier : </a:t>
                      </a:r>
                      <a:pPr indent="0" marL="0">
                        <a:buNone/>
                      </a:pPr>
                      <a:r>
                        <a:rPr lang="en-US" sz="1100" b="1" dirty="0">
                          <a:solidFill>
                            <a:srgbClr val="1B2A3A"/>
                          </a:solidFill>
                          <a:latin typeface="Segoe UI" pitchFamily="34" charset="0"/>
                          <a:ea typeface="Segoe UI" pitchFamily="34" charset="-122"/>
                          <a:cs typeface="Segoe UI" pitchFamily="34" charset="-120"/>
                        </a:rPr>
                        <a:t>DAOO</a:t>
                      </a:r>
                      <a:pPr indent="0" marL="0">
                        <a:buNone/>
                      </a:pPr>
                      <a:r>
                        <a:rPr lang="en-US" sz="1100" dirty="0">
                          <a:solidFill>
                            <a:srgbClr val="1B2A3A"/>
                          </a:solidFill>
                          <a:latin typeface="Segoe UI" pitchFamily="34" charset="0"/>
                          <a:ea typeface="Segoe UI" pitchFamily="34" charset="-122"/>
                          <a:cs typeface="Segoe UI" pitchFamily="34" charset="-120"/>
                        </a:rPr>
                        <a:t> (ancien « DAO »), DAOOI, DAOOPREQUAL, DPREQUAL, DAOR, DAORI, DC, DP, RJ ; MAOO… MPI, MGG ; la famille des actes de gestion contractuelle (avenant, résiliation, indemnité, remise de pénalités, sursis) ; la déclaration sans suite (DSS). Le dossier produit par une fiche prend le sous-type que dit le mode de la ligne du plan.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pièces exigées par sous-type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sous-type a sa propre liste de pièces ; une pièce qui dépend de la catégorie ou de la forme du marché ne s’exige que si elle s’applique à la fiche. La soumission refuse le dossier auquel manque une pièce obligatoire en nommant </a:t>
                      </a:r>
                      <a:pPr indent="0" marL="0">
                        <a:buNone/>
                      </a:pPr>
                      <a:r>
                        <a:rPr lang="en-US" sz="1100" b="1" dirty="0">
                          <a:solidFill>
                            <a:srgbClr val="1B2A3A"/>
                          </a:solidFill>
                          <a:latin typeface="Segoe UI" pitchFamily="34" charset="0"/>
                          <a:ea typeface="Segoe UI" pitchFamily="34" charset="-122"/>
                          <a:cs typeface="Segoe UI" pitchFamily="34" charset="-120"/>
                        </a:rPr>
                        <a:t>chaque</a:t>
                      </a:r>
                      <a:pPr indent="0" marL="0">
                        <a:buNone/>
                      </a:pPr>
                      <a:r>
                        <a:rPr lang="en-US" sz="1100" dirty="0">
                          <a:solidFill>
                            <a:srgbClr val="1B2A3A"/>
                          </a:solidFill>
                          <a:latin typeface="Segoe UI" pitchFamily="34" charset="0"/>
                          <a:ea typeface="Segoe UI" pitchFamily="34" charset="-122"/>
                          <a:cs typeface="Segoe UI" pitchFamily="34" charset="-120"/>
                        </a:rPr>
                        <a:t> pièce ; la réception lit la même liste. Depuis le 13/10, pour une procédure conduite dans l’application, les pièces que l’application produit ne sont plus demandées (RG-CTL-51).</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grille du dossier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grille d’un dossier réunit les points communs de sa famille (sauf grille propre : marché de prestations intellectuelles, gré à gré, dossier de consultation, rapport justificatif, pré-qualification, avenant, déclaration sans suite), ceux de la grille dont il dérive (un appel d’offres restreint reprend l’appel d’offres ouvert) et les siens, sans les points dont la catégorie ou la forme ne s’applique pas à sa fiche.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motifs-types de la conclusion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formulations du manuel (renvoi, avis défavorable) forment un référentiel tenu par l’Administrateur, qui suit l’héritage des grilles. Le contrôleur les insère dans le projet de PV ou la lettre de renvoi et les complète ; l’application n’écrit rien à sa place. Un motif désactivé n’est plus proposé.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délais par sous-type et l’alerte d’examen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sous-type peut avoir son délai par étape de la Commission ; sans réglage, il suit le délai standard. La date de fin annoncée suit ces réglages. Un examen ouvert depuis plus de </a:t>
                      </a:r>
                      <a:pPr indent="0" marL="0">
                        <a:buNone/>
                      </a:pPr>
                      <a:r>
                        <a:rPr lang="en-US" sz="1100" b="1" dirty="0">
                          <a:solidFill>
                            <a:srgbClr val="1B2A3A"/>
                          </a:solidFill>
                          <a:latin typeface="Segoe UI" pitchFamily="34" charset="0"/>
                          <a:ea typeface="Segoe UI" pitchFamily="34" charset="-122"/>
                          <a:cs typeface="Segoe UI" pitchFamily="34" charset="-120"/>
                        </a:rPr>
                        <a:t>cinq jours ouvrés</a:t>
                      </a:r>
                      <a:pPr indent="0" marL="0">
                        <a:buNone/>
                      </a:pPr>
                      <a:r>
                        <a:rPr lang="en-US" sz="1100" dirty="0">
                          <a:solidFill>
                            <a:srgbClr val="1B2A3A"/>
                          </a:solidFill>
                          <a:latin typeface="Segoe UI" pitchFamily="34" charset="0"/>
                          <a:ea typeface="Segoe UI" pitchFamily="34" charset="-122"/>
                          <a:cs typeface="Segoe UI" pitchFamily="34" charset="-120"/>
                        </a:rPr>
                        <a:t> (40 heures ouvrées) alerte le Membre, le Chef de commission et le Président, une fois par passage.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encadré du 08/10 (tranche M1) · regles-gestion.md § Le dossier soumis, encadrés du 08/10 (M2) et du 13/10 (R2) · regles-gestion.md § Le dossier soumis, encadré du 08/10 (tranche M3) · regles-gestion.md § Le dossier soumis, encadré du 09/10 (tranche M4) · regles-gestion.md § Le dossier soumis, encadré du 09/10 (tranche M5b)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363</a:t>
            </a:r>
            <a:endParaRPr lang="en-US" sz="11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contrôle sur les données (1/2)</a:t>
            </a:r>
            <a:endParaRPr lang="en-US" sz="2600" dirty="0"/>
          </a:p>
        </p:txBody>
      </p:sp>
      <p:graphicFrame>
        <p:nvGraphicFramePr>
          <p:cNvPr id="3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Pièces non demandées pour une procédure en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la procédure est conduite dans l’application, la validation tracée vaut signature des pièces internes : fiche de présentation (sauf actes de gestion), AGPM et PPM contrôlés, PV de la Commission, PV de validation de la commission d’appel d’offres, marché initial d’un acte de gestion ne sont plus demandés à la PRMP. Le mode (papier ou électronique) est fixé à la création de la procédure ; en papier, toutes les pièces du manuel restent exigées.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écrans figés à la soumission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chaque soumission et resoumission d’un dossier conduit dans l’application, les écrans qui remplacent les pièces (ligne du plan, avis et lettres, commission d’appel d’offres, AMI, séance, évaluation, attribution, acte, sans suite) sont </a:t>
                      </a:r>
                      <a:pPr indent="0" marL="0">
                        <a:buNone/>
                      </a:pPr>
                      <a:r>
                        <a:rPr lang="en-US" sz="1100" b="1" dirty="0">
                          <a:solidFill>
                            <a:srgbClr val="1B2A3A"/>
                          </a:solidFill>
                          <a:latin typeface="Segoe UI" pitchFamily="34" charset="0"/>
                          <a:ea typeface="Segoe UI" pitchFamily="34" charset="-122"/>
                          <a:cs typeface="Segoe UI" pitchFamily="34" charset="-120"/>
                        </a:rPr>
                        <a:t>figés</a:t>
                      </a:r>
                      <a:pPr indent="0" marL="0">
                        <a:buNone/>
                      </a:pPr>
                      <a:r>
                        <a:rPr lang="en-US" sz="1100" dirty="0">
                          <a:solidFill>
                            <a:srgbClr val="1B2A3A"/>
                          </a:solidFill>
                          <a:latin typeface="Segoe UI" pitchFamily="34" charset="0"/>
                          <a:ea typeface="Segoe UI" pitchFamily="34" charset="-122"/>
                          <a:cs typeface="Segoe UI" pitchFamily="34" charset="-120"/>
                        </a:rPr>
                        <a:t> avec leur empreinte et le numéro de la soumission. Immuables, ils se lisent en lecture seule et s’exportent en PDF ; les écrans vivants peuvent évoluer sans changer ce que la Commission a reçu.</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contrôles automatiques à la soumission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soumission et à chaque resoumission, l’application joue les contrôles du manuel classés automatiques pour la famille du dossier. Un contrôle </a:t>
                      </a:r>
                      <a:pPr indent="0" marL="0">
                        <a:buNone/>
                      </a:pPr>
                      <a:r>
                        <a:rPr lang="en-US" sz="1100" b="1" dirty="0">
                          <a:solidFill>
                            <a:srgbClr val="1B2A3A"/>
                          </a:solidFill>
                          <a:latin typeface="Segoe UI" pitchFamily="34" charset="0"/>
                          <a:ea typeface="Segoe UI" pitchFamily="34" charset="-122"/>
                          <a:cs typeface="Segoe UI" pitchFamily="34" charset="-120"/>
                        </a:rPr>
                        <a:t>bloquant</a:t>
                      </a:r>
                      <a:pPr indent="0" marL="0">
                        <a:buNone/>
                      </a:pPr>
                      <a:r>
                        <a:rPr lang="en-US" sz="1100" dirty="0">
                          <a:solidFill>
                            <a:srgbClr val="1B2A3A"/>
                          </a:solidFill>
                          <a:latin typeface="Segoe UI" pitchFamily="34" charset="0"/>
                          <a:ea typeface="Segoe UI" pitchFamily="34" charset="-122"/>
                          <a:cs typeface="Segoe UI" pitchFamily="34" charset="-120"/>
                        </a:rPr>
                        <a:t> non conforme refuse la soumission en nommant ce qui manque et les valeurs constatées ; les autres résultats sont enregistrés, lisibles par la Commission et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contrôles du Membre et la levée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Membre attributaire ajoute ses propres contrôles (point de grille ou règle, résultat, observation obligatoire s’il constate une non-conformité). Le dernier résultat posé sur une règle fait foi : il lève une non-conformité en posant « conforme » ou « sans objet », motivé. Une non-conformité non levée interdit l’avis favorable sans réserve et figure à l’annexe du PV.</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Documents d’évaluation signés et quorum</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Premiers contrôles bloquants, sur le dossier de marché conduit dans l’application : les documents d’évaluation sont signés (PV d’ouverture, rapport — manuel 2-III-A P5) et le </a:t>
                      </a:r>
                      <a:pPr indent="0" marL="0">
                        <a:buNone/>
                      </a:pPr>
                      <a:r>
                        <a:rPr lang="en-US" sz="1100" b="1" dirty="0">
                          <a:solidFill>
                            <a:srgbClr val="1B2A3A"/>
                          </a:solidFill>
                          <a:latin typeface="Segoe UI" pitchFamily="34" charset="0"/>
                          <a:ea typeface="Segoe UI" pitchFamily="34" charset="-122"/>
                          <a:cs typeface="Segoe UI" pitchFamily="34" charset="-120"/>
                        </a:rPr>
                        <a:t>quorum</a:t>
                      </a:r>
                      <a:pPr indent="0" marL="0">
                        <a:buNone/>
                      </a:pPr>
                      <a:r>
                        <a:rPr lang="en-US" sz="1100" dirty="0">
                          <a:solidFill>
                            <a:srgbClr val="1B2A3A"/>
                          </a:solidFill>
                          <a:latin typeface="Segoe UI" pitchFamily="34" charset="0"/>
                          <a:ea typeface="Segoe UI" pitchFamily="34" charset="-122"/>
                          <a:cs typeface="Segoe UI" pitchFamily="34" charset="-120"/>
                        </a:rPr>
                        <a:t> de la commission d’appel d’offres est atteint avec son président ou son représentant (2-III-C P3 / P14). Le quorum, réglé par l’Administrateur (majorité par défaut), est imprimé au PV et au rapport.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encadrés du 13/10 (R2, arbitrages Q2/Q14) et (R8, arbitrage Q1) · regles-gestion.md § Le dossier soumis, encadré du 13/10 (tranche R4) ; manuel révisé § 15, T4 · regles-gestion.md § Le dossier soumis, encadré du 13/10 (tranche R5) · regles-gestion.md § Le dossier soumis, encadré du 13/10 (tranche R5) ; § remise électronique, encadré du 10/10 (tranche R1, arbitrage Q5)</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364</a:t>
            </a:r>
            <a:endParaRPr lang="en-US" sz="11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contrôle sur les données (2/2)</a:t>
            </a:r>
            <a:endParaRPr lang="en-US" sz="2600" dirty="0"/>
          </a:p>
        </p:txBody>
      </p:sp>
      <p:graphicFrame>
        <p:nvGraphicFramePr>
          <p:cNvPr id="3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projet d’avis joint d’office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chaque validation de la fiche, l’application produit le </a:t>
                      </a:r>
                      <a:pPr indent="0" marL="0">
                        <a:buNone/>
                      </a:pPr>
                      <a:r>
                        <a:rPr lang="en-US" sz="1100" b="1" dirty="0">
                          <a:solidFill>
                            <a:srgbClr val="1B2A3A"/>
                          </a:solidFill>
                          <a:latin typeface="Segoe UI" pitchFamily="34" charset="0"/>
                          <a:ea typeface="Segoe UI" pitchFamily="34" charset="-122"/>
                          <a:cs typeface="Segoe UI" pitchFamily="34" charset="-120"/>
                        </a:rPr>
                        <a:t>projet</a:t>
                      </a:r>
                      <a:pPr indent="0" marL="0">
                        <a:buNone/>
                      </a:pPr>
                      <a:r>
                        <a:rPr lang="en-US" sz="1100" dirty="0">
                          <a:solidFill>
                            <a:srgbClr val="1B2A3A"/>
                          </a:solidFill>
                          <a:latin typeface="Segoe UI" pitchFamily="34" charset="0"/>
                          <a:ea typeface="Segoe UI" pitchFamily="34" charset="-122"/>
                          <a:cs typeface="Segoe UI" pitchFamily="34" charset="-120"/>
                        </a:rPr>
                        <a:t> d’avis spécifique (ou de lettre d’invitation), « PROJET » en filigrane, et le joint d’office au dossier. Un projet ne lance pas la ligne du plan. Pendant la transition, l’imprimé du SIGMP reste accepté en pièce facultative ; chaque document produit porte en pied la décision d’équivalence, ou « équivalence SIGMP en attente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règle trop écartée s’éteint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taux d’écartement de chaque règle du pré-contrôle se lit en compteurs seulement. Un signalement </a:t>
                      </a:r>
                      <a:pPr indent="0" marL="0">
                        <a:buNone/>
                      </a:pPr>
                      <a:r>
                        <a:rPr lang="en-US" sz="1100" b="1" dirty="0">
                          <a:solidFill>
                            <a:srgbClr val="1B2A3A"/>
                          </a:solidFill>
                          <a:latin typeface="Segoe UI" pitchFamily="34" charset="0"/>
                          <a:ea typeface="Segoe UI" pitchFamily="34" charset="-122"/>
                          <a:cs typeface="Segoe UI" pitchFamily="34" charset="-120"/>
                        </a:rPr>
                        <a:t>levé</a:t>
                      </a:r>
                      <a:pPr indent="0" marL="0">
                        <a:buNone/>
                      </a:pPr>
                      <a:r>
                        <a:rPr lang="en-US" sz="1100" dirty="0">
                          <a:solidFill>
                            <a:srgbClr val="1B2A3A"/>
                          </a:solidFill>
                          <a:latin typeface="Segoe UI" pitchFamily="34" charset="0"/>
                          <a:ea typeface="Segoe UI" pitchFamily="34" charset="-122"/>
                          <a:cs typeface="Segoe UI" pitchFamily="34" charset="-120"/>
                        </a:rPr>
                        <a:t> (le plan a été corrigé) est une réussite et ne compte pas dans le taux. Le taux n’est signalé qu’à partir de cinq signalements ; une règle s’éteint sans redéploiement, et les signalements écartés gardent leur motif.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encadrés du 13/10 (tranches R3a et R3b, arbitrage Q3) · regles-gestion.md § Signalement du pré-contrôle : écartable, motivé, jamais effacé (taux d’écartement)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365</a:t>
            </a:r>
            <a:endParaRPr lang="en-US" sz="11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 (1/2)</a:t>
            </a:r>
            <a:endParaRPr lang="en-US" sz="2600" dirty="0"/>
          </a:p>
        </p:txBody>
      </p:sp>
      <p:graphicFrame>
        <p:nvGraphicFramePr>
          <p:cNvPr id="3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fiche par dossier, versionnée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appel d’offres a sa fiche, rattachée à une ligne du plan. Les informations reprises du plan sont </a:t>
                      </a:r>
                      <a:pPr indent="0" marL="0">
                        <a:buNone/>
                      </a:pPr>
                      <a:r>
                        <a:rPr lang="en-US" sz="1100" b="1" dirty="0">
                          <a:solidFill>
                            <a:srgbClr val="1B2A3A"/>
                          </a:solidFill>
                          <a:latin typeface="Segoe UI" pitchFamily="34" charset="0"/>
                          <a:ea typeface="Segoe UI" pitchFamily="34" charset="-122"/>
                          <a:cs typeface="Segoe UI" pitchFamily="34" charset="-120"/>
                        </a:rPr>
                        <a:t>relues à chaque ouverture</a:t>
                      </a:r>
                      <a:pPr indent="0" marL="0">
                        <a:buNone/>
                      </a:pPr>
                      <a:r>
                        <a:rPr lang="en-US" sz="110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Qui prépare, qui valide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a:t>
                      </a:r>
                      <a:pPr indent="0" marL="0">
                        <a:buNone/>
                      </a:pPr>
                      <a:r>
                        <a:rPr lang="en-US" sz="110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100" dirty="0">
                          <a:solidFill>
                            <a:srgbClr val="1B2A3A"/>
                          </a:solidFill>
                          <a:latin typeface="Segoe UI" pitchFamily="34" charset="0"/>
                          <a:ea typeface="Segoe UI" pitchFamily="34" charset="-122"/>
                          <a:cs typeface="Segoe UI" pitchFamily="34" charset="-120"/>
                        </a:rPr>
                        <a:t> préparent. La </a:t>
                      </a:r>
                      <a:pPr indent="0" marL="0">
                        <a:buNone/>
                      </a:pPr>
                      <a:r>
                        <a:rPr lang="en-US" sz="1100" b="1" dirty="0">
                          <a:solidFill>
                            <a:srgbClr val="1B2A3A"/>
                          </a:solidFill>
                          <a:latin typeface="Segoe UI" pitchFamily="34" charset="0"/>
                          <a:ea typeface="Segoe UI" pitchFamily="34" charset="-122"/>
                          <a:cs typeface="Segoe UI" pitchFamily="34" charset="-120"/>
                        </a:rPr>
                        <a:t>PRMP seule</a:t>
                      </a:r>
                      <a:pPr indent="0" marL="0">
                        <a:buNone/>
                      </a:pPr>
                      <a:r>
                        <a:rPr lang="en-US" sz="1100" dirty="0">
                          <a:solidFill>
                            <a:srgbClr val="1B2A3A"/>
                          </a:solidFill>
                          <a:latin typeface="Segoe UI" pitchFamily="34" charset="0"/>
                          <a:ea typeface="Segoe UI" pitchFamily="34" charset="-122"/>
                          <a:cs typeface="Segoe UI" pitchFamily="34" charset="-120"/>
                        </a:rPr>
                        <a:t> valide la fiche et crée le dossier à soumettre.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conditions pour ouvrir une fiche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ligne doit appartenir au périmètre de la PRMP (sinon elle n’apprend rien d’autre), sans vacance de son mandat ; ne pas être retirée ; appartenir à la dernière version du plan ; avoir un mode de passation qui appelle un DAO ; et le plan doit avoir un </a:t>
                      </a:r>
                      <a:pPr indent="0" marL="0">
                        <a:buNone/>
                      </a:pPr>
                      <a:r>
                        <a:rPr lang="en-US" sz="1100" b="1" dirty="0">
                          <a:solidFill>
                            <a:srgbClr val="1B2A3A"/>
                          </a:solidFill>
                          <a:latin typeface="Segoe UI" pitchFamily="34" charset="0"/>
                          <a:ea typeface="Segoe UI" pitchFamily="34" charset="-122"/>
                          <a:cs typeface="Segoe UI" pitchFamily="34" charset="-120"/>
                        </a:rPr>
                        <a:t>PV signé favorable</a:t>
                      </a:r>
                      <a:pPr indent="0" marL="0">
                        <a:buNone/>
                      </a:pPr>
                      <a:r>
                        <a:rPr lang="en-US" sz="1100" dirty="0">
                          <a:solidFill>
                            <a:srgbClr val="1B2A3A"/>
                          </a:solidFill>
                          <a:latin typeface="Segoe UI" pitchFamily="34" charset="0"/>
                          <a:ea typeface="Segoe UI" pitchFamily="34" charset="-122"/>
                          <a:cs typeface="Segoe UI" pitchFamily="34" charset="-120"/>
                        </a:rPr>
                        <a:t> (ou favorable avec réserves levées), ou être réputé approuvé (art. 26-IV). Une seule fiche par ligne.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mode de passation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Il doit être rattaché au type « appel d’offres » par l’Administrateur. Depuis le 08/10, le mode « Appel à manifestation d’intérêt » l’est aussi : les lignes de prestations intellectuelles en AMI ouvrent leur fiche comme les autres.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ligne à travers les versions du plan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fiche suit sa ligne jusqu’à la </a:t>
                      </a:r>
                      <a:pPr indent="0" marL="0">
                        <a:buNone/>
                      </a:pPr>
                      <a:r>
                        <a:rPr lang="en-US" sz="110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10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 · regles-gestion.md § Fiche marché d’un appel d’offres (DAO), lot 1 ; § Le dossier soumis — manuel révisé, lot 2, tranche R6b · regles-gestion.md § 3.8 — Le mode « Appel à manifestation d’intérêt » ouvre une fiche (2026-10-08)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366</a:t>
            </a:r>
            <a:endParaRPr lang="en-US" sz="11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 (2/2)</a:t>
            </a:r>
            <a:endParaRPr lang="en-US" sz="2600" dirty="0"/>
          </a:p>
        </p:txBody>
      </p:sp>
      <p:graphicFrame>
        <p:nvGraphicFramePr>
          <p:cNvPr id="36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fiche ouverte par erreur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Elle se </a:t>
                      </a:r>
                      <a:pPr indent="0" marL="0">
                        <a:buNone/>
                      </a:pPr>
                      <a:r>
                        <a:rPr lang="en-US" sz="1100" b="1" dirty="0">
                          <a:solidFill>
                            <a:srgbClr val="1B2A3A"/>
                          </a:solidFill>
                          <a:latin typeface="Segoe UI" pitchFamily="34" charset="0"/>
                          <a:ea typeface="Segoe UI" pitchFamily="34" charset="-122"/>
                          <a:cs typeface="Segoe UI" pitchFamily="34" charset="-120"/>
                        </a:rPr>
                        <a:t>supprime</a:t>
                      </a:r>
                      <a:pPr indent="0" marL="0">
                        <a:buNone/>
                      </a:pPr>
                      <a:r>
                        <a:rPr lang="en-US" sz="110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disponible. Une fiche validée ne se supprime pas : elle se </a:t>
                      </a:r>
                      <a:pPr indent="0" marL="0">
                        <a:buNone/>
                      </a:pPr>
                      <a:r>
                        <a:rPr lang="en-US" sz="1100" b="1" dirty="0">
                          <a:solidFill>
                            <a:srgbClr val="1B2A3A"/>
                          </a:solidFill>
                          <a:latin typeface="Segoe UI" pitchFamily="34" charset="0"/>
                          <a:ea typeface="Segoe UI" pitchFamily="34" charset="-122"/>
                          <a:cs typeface="Segoe UI" pitchFamily="34" charset="-120"/>
                        </a:rPr>
                        <a:t>révise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367</a:t>
            </a:r>
            <a:endParaRPr lang="en-US" sz="11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graphicFrame>
        <p:nvGraphicFramePr>
          <p:cNvPr id="36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catégorie = la nature de la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Fournitures et services, travaux, ou prestations intellectuelles : la catégorie se déduit de la nature de la ligne, selon la correspondance que tient l’Administrateur ; ce n’est jamais une réponse du cadrage. Sans nature, ou sans correspondance, la création est refusée avec son motif.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forme = la forme de la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Quantité fixe, à commandes ou contrat-cadre : la forme est lue sur la ligne courante du plan et figure parmi les informations reprises ; la question n’est plus posée au cadrage.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Ligne sans forme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fiche se lit, mais ne se crée ni ne s’écrit : le message nomme l’information « Forme du marché » à compléter dans le plan. Aucune valeur par défaut ne décide à la place du plan.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Fiche saisie sous une autre catégorie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Si la ligne change de catégorie, un brouillon est signalé et se réaligne en reprenant son cadrage ; une version validée ne change ni de numéro ni de contenu.</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règles de la catégorie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100" b="1" dirty="0">
                          <a:solidFill>
                            <a:srgbClr val="1B2A3A"/>
                          </a:solidFill>
                          <a:latin typeface="Segoe UI" pitchFamily="34" charset="0"/>
                          <a:ea typeface="Segoe UI" pitchFamily="34" charset="-122"/>
                          <a:cs typeface="Segoe UI" pitchFamily="34" charset="-120"/>
                        </a:rPr>
                        <a:t>sa</a:t>
                      </a:r>
                      <a:pPr indent="0" marL="0">
                        <a:buNone/>
                      </a:pPr>
                      <a:r>
                        <a:rPr lang="en-US" sz="110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Les trois catégories de fiche DAO (lot 5)</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368</a:t>
            </a:r>
            <a:endParaRPr lang="en-US" sz="11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 (1/2)</a:t>
            </a:r>
            <a:endParaRPr lang="en-US" sz="2600" dirty="0"/>
          </a:p>
        </p:txBody>
      </p:sp>
      <p:graphicFrame>
        <p:nvGraphicFramePr>
          <p:cNvPr id="37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cadrage ouvre et ferme des rubriques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information peut dépendre d’une réponse du cadrage. Si la condition n’est pas remplie, ou si la question est sans réponse, l’information est ignorée et n’entre pas dans le bilan.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Enregistrer n’est pas valider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bloc s’enregistre </a:t>
                      </a:r>
                      <a:pPr indent="0" marL="0">
                        <a:buNone/>
                      </a:pPr>
                      <a:r>
                        <a:rPr lang="en-US" sz="1100" b="1" dirty="0">
                          <a:solidFill>
                            <a:srgbClr val="1B2A3A"/>
                          </a:solidFill>
                          <a:latin typeface="Segoe UI" pitchFamily="34" charset="0"/>
                          <a:ea typeface="Segoe UI" pitchFamily="34" charset="-122"/>
                          <a:cs typeface="Segoe UI" pitchFamily="34" charset="-120"/>
                        </a:rPr>
                        <a:t>incomplet</a:t>
                      </a:r>
                      <a:pPr indent="0" marL="0">
                        <a:buNone/>
                      </a:pPr>
                      <a:r>
                        <a:rPr lang="en-US" sz="1100" dirty="0">
                          <a:solidFill>
                            <a:srgbClr val="1B2A3A"/>
                          </a:solidFill>
                          <a:latin typeface="Segoe UI" pitchFamily="34" charset="0"/>
                          <a:ea typeface="Segoe UI" pitchFamily="34" charset="-122"/>
                          <a:cs typeface="Segoe UI" pitchFamily="34" charset="-120"/>
                        </a:rPr>
                        <a:t>. Une valeur illisible (montant négatif, option inconnue) est refusée information par information ; une information obligatoire manquante ne bloque qu’au bilan.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bilan des contrôles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Recalculé à chaque ouverture : informations obligatoires, montants positifs, ordre des dates, garantie valable plus longtemps que les offres, avance d’au plus 20 % et garantie de restitution au-delà de 5 %, paiement du forfait 60/40 ; s’y ajoutent des avertissements. Un contrôle bloquant ferme la validation.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On ne demande que ce qui sert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100" b="1" dirty="0">
                          <a:solidFill>
                            <a:srgbClr val="1B2A3A"/>
                          </a:solidFill>
                          <a:latin typeface="Segoe UI" pitchFamily="34" charset="0"/>
                          <a:ea typeface="Segoe UI" pitchFamily="34" charset="-122"/>
                          <a:cs typeface="Segoe UI" pitchFamily="34" charset="-120"/>
                        </a:rPr>
                        <a:t>imprime</a:t>
                      </a:r>
                      <a:pPr indent="0" marL="0">
                        <a:buNone/>
                      </a:pPr>
                      <a:r>
                        <a:rPr lang="en-US" sz="1100" dirty="0">
                          <a:solidFill>
                            <a:srgbClr val="1B2A3A"/>
                          </a:solidFill>
                          <a:latin typeface="Segoe UI" pitchFamily="34" charset="0"/>
                          <a:ea typeface="Segoe UI" pitchFamily="34" charset="-122"/>
                          <a:cs typeface="Segoe UI" pitchFamily="34" charset="-120"/>
                        </a:rPr>
                        <a:t> ou ce qu’un </a:t>
                      </a:r>
                      <a:pPr indent="0" marL="0">
                        <a:buNone/>
                      </a:pPr>
                      <a:r>
                        <a:rPr lang="en-US" sz="1100" b="1" dirty="0">
                          <a:solidFill>
                            <a:srgbClr val="1B2A3A"/>
                          </a:solidFill>
                          <a:latin typeface="Segoe UI" pitchFamily="34" charset="0"/>
                          <a:ea typeface="Segoe UI" pitchFamily="34" charset="-122"/>
                          <a:cs typeface="Segoe UI" pitchFamily="34" charset="-120"/>
                        </a:rPr>
                        <a:t>contrôle lit</a:t>
                      </a:r>
                      <a:pPr indent="0" marL="0">
                        <a:buNone/>
                      </a:pPr>
                      <a:r>
                        <a:rPr lang="en-US" sz="110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Rien de ce qui avait été saisi n’est perdu.</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version validée n’est jamais convertie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Si le référentiel de la fiche change, l’ancienne valeur reste lisible dans sa version, n’est pas reprise à la révision suivante, et se ressaisit.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 · regles-gestion.md § Fournitures : ce que la fiche demande, le DAO l’imprime · regles-gestion.md § Le besoin et les formulaires du candidat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369</a:t>
            </a:r>
            <a:endParaRPr lang="en-US" sz="11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 (2/2)</a:t>
            </a:r>
            <a:endParaRPr lang="en-US" sz="2600" dirty="0"/>
          </a:p>
        </p:txBody>
      </p:sp>
      <p:graphicFrame>
        <p:nvGraphicFramePr>
          <p:cNvPr id="37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garantie de soumission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Plusieurs formes peuvent être admises (au moins une si la garantie est exigée) ; le candidat choisit. Son taux, rapporté au montant de chaque lot, est comparé aux bornes réglées par l’Administrateur (référence 2 %) : un </a:t>
                      </a:r>
                      <a:pPr indent="0" marL="0">
                        <a:buNone/>
                      </a:pPr>
                      <a:r>
                        <a:rPr lang="en-US" sz="1100" b="1" dirty="0">
                          <a:solidFill>
                            <a:srgbClr val="1B2A3A"/>
                          </a:solidFill>
                          <a:latin typeface="Segoe UI" pitchFamily="34" charset="0"/>
                          <a:ea typeface="Segoe UI" pitchFamily="34" charset="-122"/>
                          <a:cs typeface="Segoe UI" pitchFamily="34" charset="-120"/>
                        </a:rPr>
                        <a:t>avertissement</a:t>
                      </a:r>
                      <a:pPr indent="0" marL="0">
                        <a:buNone/>
                      </a:pPr>
                      <a:r>
                        <a:rPr lang="en-US" sz="1100" dirty="0">
                          <a:solidFill>
                            <a:srgbClr val="1B2A3A"/>
                          </a:solidFill>
                          <a:latin typeface="Segoe UI" pitchFamily="34" charset="0"/>
                          <a:ea typeface="Segoe UI" pitchFamily="34" charset="-122"/>
                          <a:cs typeface="Segoe UI" pitchFamily="34" charset="-120"/>
                        </a:rPr>
                        <a:t>, jamais un blocage.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délai de publicité de la loi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Entre la publication de l’avis et la date limite de remise, la loi impose 30 jours pour l’appel d’offres ouvert national et 45 jours pour l’international (art. 35-II), le jour de départ non compté. Le délai est vérifié à la </a:t>
                      </a:r>
                      <a:pPr indent="0" marL="0">
                        <a:buNone/>
                      </a:pPr>
                      <a:r>
                        <a:rPr lang="en-US" sz="1100" b="1" dirty="0">
                          <a:solidFill>
                            <a:srgbClr val="1B2A3A"/>
                          </a:solidFill>
                          <a:latin typeface="Segoe UI" pitchFamily="34" charset="0"/>
                          <a:ea typeface="Segoe UI" pitchFamily="34" charset="-122"/>
                          <a:cs typeface="Segoe UI" pitchFamily="34" charset="-120"/>
                        </a:rPr>
                        <a:t>validation de la fiche</a:t>
                      </a:r>
                      <a:pPr indent="0" marL="0">
                        <a:buNone/>
                      </a:pPr>
                      <a:r>
                        <a:rPr lang="en-US" sz="1100" dirty="0">
                          <a:solidFill>
                            <a:srgbClr val="1B2A3A"/>
                          </a:solidFill>
                          <a:latin typeface="Segoe UI" pitchFamily="34" charset="0"/>
                          <a:ea typeface="Segoe UI" pitchFamily="34" charset="-122"/>
                          <a:cs typeface="Segoe UI" pitchFamily="34" charset="-120"/>
                        </a:rPr>
                        <a:t> et à l’</a:t>
                      </a:r>
                      <a:pPr indent="0" marL="0">
                        <a:buNone/>
                      </a:pPr>
                      <a:r>
                        <a:rPr lang="en-US" sz="1100" b="1" dirty="0">
                          <a:solidFill>
                            <a:srgbClr val="1B2A3A"/>
                          </a:solidFill>
                          <a:latin typeface="Segoe UI" pitchFamily="34" charset="0"/>
                          <a:ea typeface="Segoe UI" pitchFamily="34" charset="-122"/>
                          <a:cs typeface="Segoe UI" pitchFamily="34" charset="-120"/>
                        </a:rPr>
                        <a:t>impression de l’avis</a:t>
                      </a:r>
                      <a:pPr indent="0" marL="0">
                        <a:buNone/>
                      </a:pPr>
                      <a:r>
                        <a:rPr lang="en-US" sz="1100" dirty="0">
                          <a:solidFill>
                            <a:srgbClr val="1B2A3A"/>
                          </a:solidFill>
                          <a:latin typeface="Segoe UI" pitchFamily="34" charset="0"/>
                          <a:ea typeface="Segoe UI" pitchFamily="34" charset="-122"/>
                          <a:cs typeface="Segoe UI" pitchFamily="34" charset="-120"/>
                        </a:rPr>
                        <a:t> : non respecté, il refuse l’une et l’autre.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 · regles-gestion.md § Le dossier soumis — manuel révisé, lot 2, tranche R6a (2026-10-13)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370</a:t>
            </a:r>
            <a:endParaRPr lang="en-US" sz="11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 (1/2)</a:t>
            </a:r>
            <a:endParaRPr lang="en-US" sz="2600" dirty="0"/>
          </a:p>
        </p:txBody>
      </p:sp>
      <p:graphicFrame>
        <p:nvGraphicFramePr>
          <p:cNvPr id="37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qui varie par lot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montant de la garantie de soumission, les montants minimum et maximum, le délai de livraison, le besoin… Le nombre de lots est celui du </a:t>
                      </a:r>
                      <a:pPr indent="0" marL="0">
                        <a:buNone/>
                      </a:pPr>
                      <a:r>
                        <a:rPr lang="en-US" sz="1100" b="1" dirty="0">
                          <a:solidFill>
                            <a:srgbClr val="1B2A3A"/>
                          </a:solidFill>
                          <a:latin typeface="Segoe UI" pitchFamily="34" charset="0"/>
                          <a:ea typeface="Segoe UI" pitchFamily="34" charset="-122"/>
                          <a:cs typeface="Segoe UI" pitchFamily="34" charset="-120"/>
                        </a:rPr>
                        <a:t>plan</a:t>
                      </a:r>
                      <a:pPr indent="0" marL="0">
                        <a:buNone/>
                      </a:pPr>
                      <a:r>
                        <a:rPr lang="en-US" sz="1100" dirty="0">
                          <a:solidFill>
                            <a:srgbClr val="1B2A3A"/>
                          </a:solidFill>
                          <a:latin typeface="Segoe UI" pitchFamily="34" charset="0"/>
                          <a:ea typeface="Segoe UI" pitchFamily="34" charset="-122"/>
                          <a:cs typeface="Segoe UI" pitchFamily="34" charset="-120"/>
                        </a:rPr>
                        <a:t> : la fiche n’en invente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Obligatoire pour chaque lot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information obligatoire par lot l’est pour </a:t>
                      </a:r>
                      <a:pPr indent="0" marL="0">
                        <a:buNone/>
                      </a:pPr>
                      <a:r>
                        <a:rPr lang="en-US" sz="1100" b="1" dirty="0">
                          <a:solidFill>
                            <a:srgbClr val="1B2A3A"/>
                          </a:solidFill>
                          <a:latin typeface="Segoe UI" pitchFamily="34" charset="0"/>
                          <a:ea typeface="Segoe UI" pitchFamily="34" charset="-122"/>
                          <a:cs typeface="Segoe UI" pitchFamily="34" charset="-120"/>
                        </a:rPr>
                        <a:t>chaque</a:t>
                      </a:r>
                      <a:pPr indent="0" marL="0">
                        <a:buNone/>
                      </a:pPr>
                      <a:r>
                        <a:rPr lang="en-US" sz="1100" dirty="0">
                          <a:solidFill>
                            <a:srgbClr val="1B2A3A"/>
                          </a:solidFill>
                          <a:latin typeface="Segoe UI" pitchFamily="34" charset="0"/>
                          <a:ea typeface="Segoe UI" pitchFamily="34" charset="-122"/>
                          <a:cs typeface="Segoe UI" pitchFamily="34" charset="-120"/>
                        </a:rPr>
                        <a:t> lot : la fiche ne se valide pas tant qu’un lot en manque, et le bilan dit lequel.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acte d’engagement par lot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besoin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Fournitures et services : article par article, lot par lot (désignation, unité, quantités, caractéristiques exigées). Travaux : le détail quantitatif et estimatif, par séries. Prestations intellectuelles : pas de besoin par article. La fiche ne se valide pas sans besoin complet.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formulaires du candidat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Produits sur les modèles officiels, seuls les blancs remplis : fiches de renseignements une fois pour le dossier ; modèles de garantie une fois par lot, au montant du lot. Le bordereau des prix et le tableau de conformité sont générés depuis le besoin.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 regles-gestion.md § Le besoin et les formulaires du candidat ; § La fiche DAO des travaux · regles-gestion.md § Le besoin et les formulaires du candidat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371</a:t>
            </a:r>
            <a:endParaRPr lang="en-US" sz="11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 (2/2)</a:t>
            </a:r>
            <a:endParaRPr lang="en-US" sz="2600" dirty="0"/>
          </a:p>
        </p:txBody>
      </p:sp>
      <p:graphicFrame>
        <p:nvGraphicFramePr>
          <p:cNvPr id="37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Valeurs par défaut administrables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besoin et les formulaires du candidat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372</a:t>
            </a:r>
            <a:endParaRPr lang="en-US" sz="11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 (1/2)</a:t>
            </a:r>
            <a:endParaRPr lang="en-US" sz="2600" dirty="0"/>
          </a:p>
        </p:txBody>
      </p:sp>
      <p:graphicFrame>
        <p:nvGraphicFramePr>
          <p:cNvPr id="37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Valider fige, réviser ouvre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précédente.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documents naissent à la validation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Jamais sur un brouillon. Ils sont produits </a:t>
                      </a:r>
                      <a:pPr indent="0" marL="0">
                        <a:buNone/>
                      </a:pPr>
                      <a:r>
                        <a:rPr lang="en-US" sz="1100" b="1" dirty="0">
                          <a:solidFill>
                            <a:srgbClr val="1B2A3A"/>
                          </a:solidFill>
                          <a:latin typeface="Segoe UI" pitchFamily="34" charset="0"/>
                          <a:ea typeface="Segoe UI" pitchFamily="34" charset="-122"/>
                          <a:cs typeface="Segoe UI" pitchFamily="34" charset="-120"/>
                        </a:rPr>
                        <a:t>avant</a:t>
                      </a:r>
                      <a:pPr indent="0" marL="0">
                        <a:buNone/>
                      </a:pPr>
                      <a:r>
                        <a:rPr lang="en-US" sz="1100" dirty="0">
                          <a:solidFill>
                            <a:srgbClr val="1B2A3A"/>
                          </a:solidFill>
                          <a:latin typeface="Segoe UI" pitchFamily="34" charset="0"/>
                          <a:ea typeface="Segoe UI" pitchFamily="34" charset="-122"/>
                          <a:cs typeface="Segoe UI" pitchFamily="34" charset="-120"/>
                        </a:rPr>
                        <a:t> de figer la version : si la production échoue, la validation est annulée.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document type de l’ARMP, rempli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texte fixe est repris tel quel, les blancs remplis par la fiche ; les variantes de rédaction sont choisies par des </a:t>
                      </a:r>
                      <a:pPr indent="0" marL="0">
                        <a:buNone/>
                      </a:pPr>
                      <a:r>
                        <a:rPr lang="en-US" sz="110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100" dirty="0">
                          <a:solidFill>
                            <a:srgbClr val="1B2A3A"/>
                          </a:solidFill>
                          <a:latin typeface="Segoe UI" pitchFamily="34" charset="0"/>
                          <a:ea typeface="Segoe UI" pitchFamily="34" charset="-122"/>
                          <a:cs typeface="Segoe UI" pitchFamily="34" charset="-120"/>
                        </a:rPr>
                        <a:t>. Ce que remplissent le candidat ou la notification reste à compléter. Un modèle illisible empêche le démarrage : un document ne sort jamais faux en silence.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Jamais régénérés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 ; seul l’assemblage du DAO complet peut être refait.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On corrige la fiche, pas son produit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pièce produite par la fiche ne se supprime pas à la main — Administrateur compris — et ne se double pas d’une pièce manuelle du même type.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 · regles-gestion.md § Le DAO complet sur les documents types officiels (lot D) · regles-gestion.md § Le DAO complet : un seul document · regles-gestion.md § Les documents générés (lot 2a)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373</a:t>
            </a:r>
            <a:endParaRPr lang="en-US" sz="110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 (2/2)</a:t>
            </a:r>
            <a:endParaRPr lang="en-US" sz="2600" dirty="0"/>
          </a:p>
        </p:txBody>
      </p:sp>
      <p:graphicFrame>
        <p:nvGraphicFramePr>
          <p:cNvPr id="37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Montants en lettres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montants s’écrivent en lettres jusqu’aux milliards, dans la fiche comme dans les PV et les lettres.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374</a:t>
            </a:r>
            <a:endParaRPr lang="en-US" sz="110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 (1/2)</a:t>
            </a:r>
            <a:endParaRPr lang="en-US" sz="2600" dirty="0"/>
          </a:p>
        </p:txBody>
      </p:sp>
      <p:graphicFrame>
        <p:nvGraphicFramePr>
          <p:cNvPr id="3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plan du document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Page de garde, sommaire général, deux parties : 1.1 instructions aux candidats, 1.2 données particulières, 1.3 formulaires ; 2.1 acte d’engagement lot par lot, 2.2 cahier des prescriptions spéciales, spécifications techniques et liste des fournitures, 2.3 CCAG. Il est produit à chaque validation, en Word et en PDF.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Il assemble, il ne réécrit rien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partie est le document que la fiche produit déjà. La page de garde lit sur le plan le financement, l’imputation et le compte.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Où il est servi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100" b="1" dirty="0">
                          <a:solidFill>
                            <a:srgbClr val="1B2A3A"/>
                          </a:solidFill>
                          <a:latin typeface="Segoe UI" pitchFamily="34" charset="0"/>
                          <a:ea typeface="Segoe UI" pitchFamily="34" charset="-122"/>
                          <a:cs typeface="Segoe UI" pitchFamily="34" charset="-120"/>
                        </a:rPr>
                        <a:t>pièce unique</a:t>
                      </a:r>
                      <a:pPr indent="0" marL="0">
                        <a:buNone/>
                      </a:pPr>
                      <a:r>
                        <a:rPr lang="en-US" sz="1100" dirty="0">
                          <a:solidFill>
                            <a:srgbClr val="1B2A3A"/>
                          </a:solidFill>
                          <a:latin typeface="Segoe UI" pitchFamily="34" charset="0"/>
                          <a:ea typeface="Segoe UI" pitchFamily="34" charset="-122"/>
                          <a:cs typeface="Segoe UI" pitchFamily="34" charset="-120"/>
                        </a:rPr>
                        <a:t> du DAO ; au retrait par les candidats, après paiement des frais.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qui reste à part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classeurs (bordereau des prix, détail quantitatif, tableau de conformité), l’avis spécifique et les lettres d’invitation. En prestations intellectuelles, le document s’intitule « Dossier de consultation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spécifications techniques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document Word joint par la PRMP ou son UGPM (20 Mo au plus, sans macros), figé à la validation et recopié à la révision. Tant qu’il manque, un </a:t>
                      </a:r>
                      <a:pPr indent="0" marL="0">
                        <a:buNone/>
                      </a:pPr>
                      <a:r>
                        <a:rPr lang="en-US" sz="1100" b="1" dirty="0">
                          <a:solidFill>
                            <a:srgbClr val="1B2A3A"/>
                          </a:solidFill>
                          <a:latin typeface="Segoe UI" pitchFamily="34" charset="0"/>
                          <a:ea typeface="Segoe UI" pitchFamily="34" charset="-122"/>
                          <a:cs typeface="Segoe UI" pitchFamily="34" charset="-120"/>
                        </a:rPr>
                        <a:t>avertissement</a:t>
                      </a:r>
                      <a:pPr indent="0" marL="0">
                        <a:buNone/>
                      </a:pPr>
                      <a:r>
                        <a:rPr lang="en-US" sz="1100" dirty="0">
                          <a:solidFill>
                            <a:srgbClr val="1B2A3A"/>
                          </a:solidFill>
                          <a:latin typeface="Segoe UI" pitchFamily="34" charset="0"/>
                          <a:ea typeface="Segoe UI" pitchFamily="34" charset="-122"/>
                          <a:cs typeface="Segoe UI" pitchFamily="34" charset="-120"/>
                        </a:rPr>
                        <a:t>, non bloquant, le rappelle.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DAO complet : un seul document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375</a:t>
            </a:r>
            <a:endParaRPr lang="en-US" sz="110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 (2/2)</a:t>
            </a:r>
            <a:endParaRPr lang="en-US" sz="2600" dirty="0"/>
          </a:p>
        </p:txBody>
      </p:sp>
      <p:graphicFrame>
        <p:nvGraphicFramePr>
          <p:cNvPr id="37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pièce ne s’imprime qu’une fois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 En remise électronique, la liste est exigée : le candidat joint un fichier par pièce.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DAO complet : un seul document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376</a:t>
            </a:r>
            <a:endParaRPr lang="en-US" sz="110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 (1/2)</a:t>
            </a:r>
            <a:endParaRPr lang="en-US" sz="2600" dirty="0"/>
          </a:p>
        </p:txBody>
      </p:sp>
      <p:graphicFrame>
        <p:nvGraphicFramePr>
          <p:cNvPr id="37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fiche produit le dossier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crée le dossier depuis la dernière version validée ; un dossier par fiche. Entité, localité et PRMP viennent du plan : rien n’est redemandé. La Commission lit la fiche avec le dossier ; l’examen porte sur les pièces.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rectification est une révision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restant gardée.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L’avis spécifique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levées ; sur la dernière version validée ; chaque impression est conservée. En remise électronique, il exige la cérémonie des clés close. Ce n’est pas une pièce du DAO.</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Prestations intellectuelles : l’AMI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Pas d’avis public d’appel d’offres : la liste restreinte naît d’un appel à manifestation d’intérêt mené dans l’application (voir la partie 05).</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lettres et la demande de propositions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lettres d’invitation vont aux candidats de la liste restreinte définitive. Le dossier de la demande de propositions ne se crée qu’avec cette liste ; le rapport de présélection signé y est joint d’office.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 lot 1 · regles-gestion.md § La rectification d’un dossier DAO après le PV (lot C) · regles-gestion.md § Fiche marché d’un appel d’offres (DAO) ; § La remise électronique des offres (2026-10-04) · regles-gestion.md § 3.8 — L’appel à manifestation d’intérêt en ligne · regles-gestion.md § 3.8 — La présélection et la liste restreinte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377</a:t>
            </a:r>
            <a:endParaRPr lang="en-US" sz="110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 (2/2)</a:t>
            </a:r>
            <a:endParaRPr lang="en-US" sz="2600" dirty="0"/>
          </a:p>
        </p:txBody>
      </p:sp>
      <p:graphicFrame>
        <p:nvGraphicFramePr>
          <p:cNvPr id="37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Pas d’avis sans DAO complet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L’avis spécifique et les lettres d’invitation ne s’impriment que si le DAO complet de la version validée existe (art. 31) ; il est assemblé à ce moment s’il manque, et l’impression est refusée s’il ne peut l’être.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projet d’avis dès la validation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chaque validation, l’application produit le </a:t>
                      </a:r>
                      <a:pPr indent="0" marL="0">
                        <a:buNone/>
                      </a:pPr>
                      <a:r>
                        <a:rPr lang="en-US" sz="1100" b="1" dirty="0">
                          <a:solidFill>
                            <a:srgbClr val="1B2A3A"/>
                          </a:solidFill>
                          <a:latin typeface="Segoe UI" pitchFamily="34" charset="0"/>
                          <a:ea typeface="Segoe UI" pitchFamily="34" charset="-122"/>
                          <a:cs typeface="Segoe UI" pitchFamily="34" charset="-120"/>
                        </a:rPr>
                        <a:t>projet d’avis</a:t>
                      </a:r>
                      <a:pPr indent="0" marL="0">
                        <a:buNone/>
                      </a:pPr>
                      <a:r>
                        <a:rPr lang="en-US" sz="1100" dirty="0">
                          <a:solidFill>
                            <a:srgbClr val="1B2A3A"/>
                          </a:solidFill>
                          <a:latin typeface="Segoe UI" pitchFamily="34" charset="0"/>
                          <a:ea typeface="Segoe UI" pitchFamily="34" charset="-122"/>
                          <a:cs typeface="Segoe UI" pitchFamily="34" charset="-120"/>
                        </a:rPr>
                        <a:t> (fournitures, travaux) ou le projet de lettre d’invitation (prestations intellectuelles), en filigrane « PROJET », sans publication ni destinataire, et le joint d’office au dossier. Un projet ne lance pas la ligne du plan. L’avis et la lettre doivent porter chaque mention du modèle type ; l’application les vérifie et nomme les écarts.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 manuel révisé, lot 2, tranche R9a (2026-10-14) · regles-gestion.md § Le dossier soumis — manuel révisé, lot 1, tranches R3b et R3c (2026-10-13)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378</a:t>
            </a:r>
            <a:endParaRPr lang="en-US" sz="110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graphicFrame>
        <p:nvGraphicFramePr>
          <p:cNvPr id="38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fiche reste la source de vérité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DAO déjà rédigé (Word, ou PDF issu d’un traitement de texte) peut être importé : ce qu’il dit est seulement </a:t>
                      </a:r>
                      <a:pPr indent="0" marL="0">
                        <a:buNone/>
                      </a:pPr>
                      <a:r>
                        <a:rPr lang="en-US" sz="1100" b="1" dirty="0">
                          <a:solidFill>
                            <a:srgbClr val="1B2A3A"/>
                          </a:solidFill>
                          <a:latin typeface="Segoe UI" pitchFamily="34" charset="0"/>
                          <a:ea typeface="Segoe UI" pitchFamily="34" charset="-122"/>
                          <a:cs typeface="Segoe UI" pitchFamily="34" charset="-120"/>
                        </a:rPr>
                        <a:t>proposé</a:t>
                      </a:r>
                      <a:pPr indent="0" marL="0">
                        <a:buNone/>
                      </a:pPr>
                      <a:r>
                        <a:rPr lang="en-US" sz="1100" dirty="0">
                          <a:solidFill>
                            <a:srgbClr val="1B2A3A"/>
                          </a:solidFill>
                          <a:latin typeface="Segoe UI" pitchFamily="34" charset="0"/>
                          <a:ea typeface="Segoe UI" pitchFamily="34" charset="-122"/>
                          <a:cs typeface="Segoe UI" pitchFamily="34" charset="-120"/>
                        </a:rPr>
                        <a:t> ; rien n’est écrit sans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Chaque proposition dit sa confiance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plan fait foi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les pièces et le mode de remise ne s’importent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Rien ne contourne la saisie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écriture d’un seul tenant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L’import ajoute sans effacer ; un seul refus, et rien n’est écrit. Il se fait sur un brouillon, par la PRMP ou son UGPM. Le fichier n’est pas conservé (son nom et son empreinte vont au journal). Un PDF scanné est refusé.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L’import du DAO : l’import propose, la PRMP décide · regles-gestion.md § L’import du DAO ; demande-backend-2026-10-10-manuel-revise-lot2.md § B3 (✅)</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379</a:t>
            </a:r>
            <a:endParaRPr lang="en-US" sz="110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mode de remise (manuel révisé)</a:t>
            </a:r>
            <a:endParaRPr lang="en-US" sz="2600" dirty="0"/>
          </a:p>
        </p:txBody>
      </p:sp>
      <p:graphicFrame>
        <p:nvGraphicFramePr>
          <p:cNvPr id="38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Fixé dès la première validation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mode de remise des offres — papier ou électronique — est celui du cadrage ; dès qu’une version de la fiche est validée, il </a:t>
                      </a:r>
                      <a:pPr indent="0" marL="0">
                        <a:buNone/>
                      </a:pPr>
                      <a:r>
                        <a:rPr lang="en-US" sz="1100" b="1" dirty="0">
                          <a:solidFill>
                            <a:srgbClr val="1B2A3A"/>
                          </a:solidFill>
                          <a:latin typeface="Segoe UI" pitchFamily="34" charset="0"/>
                          <a:ea typeface="Segoe UI" pitchFamily="34" charset="-122"/>
                          <a:cs typeface="Segoe UI" pitchFamily="34" charset="-120"/>
                        </a:rPr>
                        <a:t>ne change plus</a:t>
                      </a:r>
                      <a:pPr indent="0" marL="0">
                        <a:buNone/>
                      </a:pPr>
                      <a:r>
                        <a:rPr lang="en-US" sz="1100" dirty="0">
                          <a:solidFill>
                            <a:srgbClr val="1B2A3A"/>
                          </a:solidFill>
                          <a:latin typeface="Segoe UI" pitchFamily="34" charset="0"/>
                          <a:ea typeface="Segoe UI" pitchFamily="34" charset="-122"/>
                          <a:cs typeface="Segoe UI" pitchFamily="34" charset="-120"/>
                        </a:rPr>
                        <a:t> : une procédure commencée sur papier s’achève sur papier, et inversement. La révision recopie le mode.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migration documentée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Seul l’</a:t>
                      </a:r>
                      <a:pPr indent="0" marL="0">
                        <a:buNone/>
                      </a:pPr>
                      <a:r>
                        <a:rPr lang="en-US" sz="1100" b="1" dirty="0">
                          <a:solidFill>
                            <a:srgbClr val="1B2A3A"/>
                          </a:solidFill>
                          <a:latin typeface="Segoe UI" pitchFamily="34" charset="0"/>
                          <a:ea typeface="Segoe UI" pitchFamily="34" charset="-122"/>
                          <a:cs typeface="Segoe UI" pitchFamily="34" charset="-120"/>
                        </a:rPr>
                        <a:t>Administrateur</a:t>
                      </a:r>
                      <a:pPr indent="0" marL="0">
                        <a:buNone/>
                      </a:pPr>
                      <a:r>
                        <a:rPr lang="en-US" sz="1100" dirty="0">
                          <a:solidFill>
                            <a:srgbClr val="1B2A3A"/>
                          </a:solidFill>
                          <a:latin typeface="Segoe UI" pitchFamily="34" charset="0"/>
                          <a:ea typeface="Segoe UI" pitchFamily="34" charset="-122"/>
                          <a:cs typeface="Segoe UI" pitchFamily="34" charset="-120"/>
                        </a:rPr>
                        <a:t> peut migrer le mode, avec un </a:t>
                      </a:r>
                      <a:pPr indent="0" marL="0">
                        <a:buNone/>
                      </a:pPr>
                      <a:r>
                        <a:rPr lang="en-US" sz="1100" b="1" dirty="0">
                          <a:solidFill>
                            <a:srgbClr val="1B2A3A"/>
                          </a:solidFill>
                          <a:latin typeface="Segoe UI" pitchFamily="34" charset="0"/>
                          <a:ea typeface="Segoe UI" pitchFamily="34" charset="-122"/>
                          <a:cs typeface="Segoe UI" pitchFamily="34" charset="-120"/>
                        </a:rPr>
                        <a:t>motif obligatoire</a:t>
                      </a:r>
                      <a:pPr indent="0" marL="0">
                        <a:buNone/>
                      </a:pPr>
                      <a:r>
                        <a:rPr lang="en-US" sz="1100" dirty="0">
                          <a:solidFill>
                            <a:srgbClr val="1B2A3A"/>
                          </a:solidFill>
                          <a:latin typeface="Segoe UI" pitchFamily="34" charset="0"/>
                          <a:ea typeface="Segoe UI" pitchFamily="34" charset="-122"/>
                          <a:cs typeface="Segoe UI" pitchFamily="34" charset="-120"/>
                        </a:rPr>
                        <a:t>. La migration ouvre une révision avec le nouveau mode (la version validée reste intacte), porte sa date, son auteur et son motif, et s’inscrit au journal ; la PRMP complète ce que le nouveau mode exige, puis valide. Elle est refusée dès qu’une offre a été déposée en ligne, qu’une cérémonie des clés est close ou qu’un lot est attribué.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que le mode décide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En remise électronique, les pièces que l’application produit elle-même ne sont plus exigées au dossier et les contrôles automatiques s’appliquent ; en papier, toutes les pièces du manuel restent exigées et les contrôles automatiques sont sans objet.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 manuel révisé, lot 2, tranche R8 (2026-10-13) · regles-gestion.md § Le dossier soumis — manuel révisé, lot 2, tranche R8 ; demande-backend-2026-10-10-manuel-revise-lot2.md § B3 (✅) · regles-gestion.md § Le dossier soumis — manuel révisé, lot 2, tranche R8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380</a:t>
            </a:r>
            <a:endParaRPr lang="en-US" sz="110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questions des candidats (manuel révisé)</a:t>
            </a:r>
            <a:endParaRPr lang="en-US" sz="2600" dirty="0"/>
          </a:p>
        </p:txBody>
      </p:sp>
      <p:graphicFrame>
        <p:nvGraphicFramePr>
          <p:cNvPr id="3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Jusqu’à dix jours avant la date limite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candidat qui a </a:t>
                      </a:r>
                      <a:pPr indent="0" marL="0">
                        <a:buNone/>
                      </a:pPr>
                      <a:r>
                        <a:rPr lang="en-US" sz="1100" b="1" dirty="0">
                          <a:solidFill>
                            <a:srgbClr val="1B2A3A"/>
                          </a:solidFill>
                          <a:latin typeface="Segoe UI" pitchFamily="34" charset="0"/>
                          <a:ea typeface="Segoe UI" pitchFamily="34" charset="-122"/>
                          <a:cs typeface="Segoe UI" pitchFamily="34" charset="-120"/>
                        </a:rPr>
                        <a:t>retiré le DAO</a:t>
                      </a:r>
                      <a:pPr indent="0" marL="0">
                        <a:buNone/>
                      </a:pPr>
                      <a:r>
                        <a:rPr lang="en-US" sz="1100" dirty="0">
                          <a:solidFill>
                            <a:srgbClr val="1B2A3A"/>
                          </a:solidFill>
                          <a:latin typeface="Segoe UI" pitchFamily="34" charset="0"/>
                          <a:ea typeface="Segoe UI" pitchFamily="34" charset="-122"/>
                          <a:cs typeface="Segoe UI" pitchFamily="34" charset="-120"/>
                        </a:rPr>
                        <a:t> d’une procédure en ligne peut poser une question à la PRMP jusqu’à </a:t>
                      </a:r>
                      <a:pPr indent="0" marL="0">
                        <a:buNone/>
                      </a:pPr>
                      <a:r>
                        <a:rPr lang="en-US" sz="1100" b="1" dirty="0">
                          <a:solidFill>
                            <a:srgbClr val="1B2A3A"/>
                          </a:solidFill>
                          <a:latin typeface="Segoe UI" pitchFamily="34" charset="0"/>
                          <a:ea typeface="Segoe UI" pitchFamily="34" charset="-122"/>
                          <a:cs typeface="Segoe UI" pitchFamily="34" charset="-120"/>
                        </a:rPr>
                        <a:t>dix jours avant la date limite</a:t>
                      </a:r>
                      <a:pPr indent="0" marL="0">
                        <a:buNone/>
                      </a:pPr>
                      <a:r>
                        <a:rPr lang="en-US" sz="1100" dirty="0">
                          <a:solidFill>
                            <a:srgbClr val="1B2A3A"/>
                          </a:solidFill>
                          <a:latin typeface="Segoe UI" pitchFamily="34" charset="0"/>
                          <a:ea typeface="Segoe UI" pitchFamily="34" charset="-122"/>
                          <a:cs typeface="Segoe UI" pitchFamily="34" charset="-120"/>
                        </a:rPr>
                        <a:t> de remise des offres, ce dixième jour compris (art. 35-II) ; passé ce jour, les questions sont closes. Un candidat absent du registre des retraits ne peut pas en poser.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Répondre, c’est diffuser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répond par écrit, avec une pièce jointe si elle le souhaite ; l’UGPM lit sans répondre. La réponse est </a:t>
                      </a:r>
                      <a:pPr indent="0" marL="0">
                        <a:buNone/>
                      </a:pPr>
                      <a:r>
                        <a:rPr lang="en-US" sz="1100" b="1" dirty="0">
                          <a:solidFill>
                            <a:srgbClr val="1B2A3A"/>
                          </a:solidFill>
                          <a:latin typeface="Segoe UI" pitchFamily="34" charset="0"/>
                          <a:ea typeface="Segoe UI" pitchFamily="34" charset="-122"/>
                          <a:cs typeface="Segoe UI" pitchFamily="34" charset="-120"/>
                        </a:rPr>
                        <a:t>définitive</a:t>
                      </a:r>
                      <a:pPr indent="0" marL="0">
                        <a:buNone/>
                      </a:pPr>
                      <a:r>
                        <a:rPr lang="en-US" sz="1100" dirty="0">
                          <a:solidFill>
                            <a:srgbClr val="1B2A3A"/>
                          </a:solidFill>
                          <a:latin typeface="Segoe UI" pitchFamily="34" charset="0"/>
                          <a:ea typeface="Segoe UI" pitchFamily="34" charset="-122"/>
                          <a:cs typeface="Segoe UI" pitchFamily="34" charset="-120"/>
                        </a:rPr>
                        <a:t> et </a:t>
                      </a:r>
                      <a:pPr indent="0" marL="0">
                        <a:buNone/>
                      </a:pPr>
                      <a:r>
                        <a:rPr lang="en-US" sz="1100" b="1" dirty="0">
                          <a:solidFill>
                            <a:srgbClr val="1B2A3A"/>
                          </a:solidFill>
                          <a:latin typeface="Segoe UI" pitchFamily="34" charset="0"/>
                          <a:ea typeface="Segoe UI" pitchFamily="34" charset="-122"/>
                          <a:cs typeface="Segoe UI" pitchFamily="34" charset="-120"/>
                        </a:rPr>
                        <a:t>diffusée aussitôt</a:t>
                      </a:r>
                      <a:pPr indent="0" marL="0">
                        <a:buNone/>
                      </a:pPr>
                      <a:r>
                        <a:rPr lang="en-US" sz="1100" dirty="0">
                          <a:solidFill>
                            <a:srgbClr val="1B2A3A"/>
                          </a:solidFill>
                          <a:latin typeface="Segoe UI" pitchFamily="34" charset="0"/>
                          <a:ea typeface="Segoe UI" pitchFamily="34" charset="-122"/>
                          <a:cs typeface="Segoe UI" pitchFamily="34" charset="-120"/>
                        </a:rPr>
                        <a:t> à tous les candidats ayant retiré le dossier, et sur la page publique de la procédure, sans le nom de l’auteur. Les questions répondues sont jointes d’office au dossier soumis à la Commission ; la loi ne fixe pas de délai de réponse.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 manuel révisé, lot 2, tranche R7 (2026-10-13) · regles-gestion.md § Le dossier soumis — manuel révisé, lot 2, tranche R7 ; demande-backend-2026-10-10-manuel-revise-lot2.md § B2 (✅)</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381</a:t>
            </a:r>
            <a:endParaRPr lang="en-US" sz="110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en remise électronique</a:t>
            </a:r>
            <a:endParaRPr lang="en-US" sz="2600" dirty="0"/>
          </a:p>
        </p:txBody>
      </p:sp>
      <p:graphicFrame>
        <p:nvGraphicFramePr>
          <p:cNvPr id="38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signature de l’offre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Pendant une procédure en ligne, le dépôt de l’offre depuis le compte authentifié du candidat, </a:t>
                      </a:r>
                      <a:pPr indent="0" marL="0">
                        <a:buNone/>
                      </a:pPr>
                      <a:r>
                        <a:rPr lang="en-US" sz="1100" b="1" dirty="0">
                          <a:solidFill>
                            <a:srgbClr val="1B2A3A"/>
                          </a:solidFill>
                          <a:latin typeface="Segoe UI" pitchFamily="34" charset="0"/>
                          <a:ea typeface="Segoe UI" pitchFamily="34" charset="-122"/>
                          <a:cs typeface="Segoe UI" pitchFamily="34" charset="-120"/>
                        </a:rPr>
                        <a:t>scellé par la plateforme</a:t>
                      </a:r>
                      <a:pPr indent="0" marL="0">
                        <a:buNone/>
                      </a:pPr>
                      <a:r>
                        <a:rPr lang="en-US" sz="1100" dirty="0">
                          <a:solidFill>
                            <a:srgbClr val="1B2A3A"/>
                          </a:solidFill>
                          <a:latin typeface="Segoe UI" pitchFamily="34" charset="0"/>
                          <a:ea typeface="Segoe UI" pitchFamily="34" charset="-122"/>
                          <a:cs typeface="Segoe UI" pitchFamily="34" charset="-120"/>
                        </a:rPr>
                        <a:t>, vaut signature de l’offre et de l’acte d’engagement ; les données particulières du DAO le disent. L’attributaire remet ensuite l’</a:t>
                      </a:r>
                      <a:pPr indent="0" marL="0">
                        <a:buNone/>
                      </a:pPr>
                      <a:r>
                        <a:rPr lang="en-US" sz="1100" b="1" dirty="0">
                          <a:solidFill>
                            <a:srgbClr val="1B2A3A"/>
                          </a:solidFill>
                          <a:latin typeface="Segoe UI" pitchFamily="34" charset="0"/>
                          <a:ea typeface="Segoe UI" pitchFamily="34" charset="-122"/>
                          <a:cs typeface="Segoe UI" pitchFamily="34" charset="-120"/>
                        </a:rPr>
                        <a:t>original signé</a:t>
                      </a:r>
                      <a:pPr indent="0" marL="0">
                        <a:buNone/>
                      </a:pPr>
                      <a:r>
                        <a:rPr lang="en-US" sz="1100" dirty="0">
                          <a:solidFill>
                            <a:srgbClr val="1B2A3A"/>
                          </a:solidFill>
                          <a:latin typeface="Segoe UI" pitchFamily="34" charset="0"/>
                          <a:ea typeface="Segoe UI" pitchFamily="34" charset="-122"/>
                          <a:cs typeface="Segoe UI" pitchFamily="34" charset="-120"/>
                        </a:rPr>
                        <a:t> de son acte d’engagement, avant la signature du marché. La signature électronique certifiée est une option réservée, sans effet pour l’instant ; la procédure papier n’est pas concernée.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commission d’appel d’offres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Désignée par la </a:t>
                      </a:r>
                      <a:pPr indent="0" marL="0">
                        <a:buNone/>
                      </a:pPr>
                      <a:r>
                        <a:rPr lang="en-US" sz="1100" b="1" dirty="0">
                          <a:solidFill>
                            <a:srgbClr val="1B2A3A"/>
                          </a:solidFill>
                          <a:latin typeface="Segoe UI" pitchFamily="34" charset="0"/>
                          <a:ea typeface="Segoe UI" pitchFamily="34" charset="-122"/>
                          <a:cs typeface="Segoe UI" pitchFamily="34" charset="-120"/>
                        </a:rPr>
                        <a:t>PRMP</a:t>
                      </a:r>
                      <a:pPr indent="0" marL="0">
                        <a:buNone/>
                      </a:pPr>
                      <a:r>
                        <a:rPr lang="en-US" sz="1100" dirty="0">
                          <a:solidFill>
                            <a:srgbClr val="1B2A3A"/>
                          </a:solidFill>
                          <a:latin typeface="Segoe UI" pitchFamily="34" charset="0"/>
                          <a:ea typeface="Segoe UI" pitchFamily="34" charset="-122"/>
                          <a:cs typeface="Segoe UI" pitchFamily="34" charset="-120"/>
                        </a:rPr>
                        <a:t> par une décision, saisie par elle ou son UGPM : une commission par appel d’offres, au moins deux membres, un seul président, au plus un expert de l’objet. Ses membres détiennent chacun une part de la clé qui ouvrira les offres ; PRMP, UGPM, contrôleurs de la CNM et candidats en sont exclus.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paramètres internes ne sortent jamais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Détenteurs des parts, quorum de déchiffrement, date de la cérémonie, dépositaire de la part de secours : ils ne s’impriment dans aucun document. Seul le </a:t>
                      </a:r>
                      <a:pPr indent="0" marL="0">
                        <a:buNone/>
                      </a:pPr>
                      <a:r>
                        <a:rPr lang="en-US" sz="1100" b="1" dirty="0">
                          <a:solidFill>
                            <a:srgbClr val="1B2A3A"/>
                          </a:solidFill>
                          <a:latin typeface="Segoe UI" pitchFamily="34" charset="0"/>
                          <a:ea typeface="Segoe UI" pitchFamily="34" charset="-122"/>
                          <a:cs typeface="Segoe UI" pitchFamily="34" charset="-120"/>
                        </a:rPr>
                        <a:t>responsable de la procédure</a:t>
                      </a:r>
                      <a:pPr indent="0" marL="0">
                        <a:buNone/>
                      </a:pPr>
                      <a:r>
                        <a:rPr lang="en-US" sz="1100" dirty="0">
                          <a:solidFill>
                            <a:srgbClr val="1B2A3A"/>
                          </a:solidFill>
                          <a:latin typeface="Segoe UI" pitchFamily="34" charset="0"/>
                          <a:ea typeface="Segoe UI" pitchFamily="34" charset="-122"/>
                          <a:cs typeface="Segoe UI" pitchFamily="34" charset="-120"/>
                        </a:rPr>
                        <a:t> les lit et les modifie ; chaque modification est journalisée avec l’ancienne et la nouvelle valeur. La fiche n’en montre à tous que l’état.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responsable de la procédure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personne désignée par l’</a:t>
                      </a:r>
                      <a:pPr indent="0" marL="0">
                        <a:buNone/>
                      </a:pPr>
                      <a:r>
                        <a:rPr lang="en-US" sz="1100" b="1" dirty="0">
                          <a:solidFill>
                            <a:srgbClr val="1B2A3A"/>
                          </a:solidFill>
                          <a:latin typeface="Segoe UI" pitchFamily="34" charset="0"/>
                          <a:ea typeface="Segoe UI" pitchFamily="34" charset="-122"/>
                          <a:cs typeface="Segoe UI" pitchFamily="34" charset="-120"/>
                        </a:rPr>
                        <a:t>Administrateur</a:t>
                      </a:r>
                      <a:pPr indent="0" marL="0">
                        <a:buNone/>
                      </a:pPr>
                      <a:r>
                        <a:rPr lang="en-US" sz="1100" dirty="0">
                          <a:solidFill>
                            <a:srgbClr val="1B2A3A"/>
                          </a:solidFill>
                          <a:latin typeface="Segoe UI" pitchFamily="34" charset="0"/>
                          <a:ea typeface="Segoe UI" pitchFamily="34" charset="-122"/>
                          <a:cs typeface="Segoe UI" pitchFamily="34" charset="-120"/>
                        </a:rPr>
                        <a:t> pour cette procédure, une à la fois, jamais détentrice d’une part. En remise électronique, la fiche ne se valide pas sans lui. L’Administrateur voit toutes les procédures en ligne pour désigner les responsables et les suivre.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quorum et la cérémonie des clés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quorum de déchiffrement est compris entre 2 et le nombre de membres ; égal au nombre de membres, il est signalé (aucune perte tolérée). Une part de secours est générée par un </a:t>
                      </a:r>
                      <a:pPr indent="0" marL="0">
                        <a:buNone/>
                      </a:pPr>
                      <a:r>
                        <a:rPr lang="en-US" sz="1100" b="1" dirty="0">
                          <a:solidFill>
                            <a:srgbClr val="1B2A3A"/>
                          </a:solidFill>
                          <a:latin typeface="Segoe UI" pitchFamily="34" charset="0"/>
                          <a:ea typeface="Segoe UI" pitchFamily="34" charset="-122"/>
                          <a:cs typeface="Segoe UI" pitchFamily="34" charset="-120"/>
                        </a:rPr>
                        <a:t>dépositaire</a:t>
                      </a:r>
                      <a:pPr indent="0" marL="0">
                        <a:buNone/>
                      </a:pPr>
                      <a:r>
                        <a:rPr lang="en-US" sz="1100" dirty="0">
                          <a:solidFill>
                            <a:srgbClr val="1B2A3A"/>
                          </a:solidFill>
                          <a:latin typeface="Segoe UI" pitchFamily="34" charset="0"/>
                          <a:ea typeface="Segoe UI" pitchFamily="34" charset="-122"/>
                          <a:cs typeface="Segoe UI" pitchFamily="34" charset="-120"/>
                        </a:rPr>
                        <a:t> extérieur à la commission. La cérémonie des clés doit être close avant la publication de l’avis.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 manuel révisé, lot 2, tranche R10 (2026-10-14) ; demande-backend-2026-10-10-manuel-revise-lot2.md § B5 (✅) · regles-gestion.md § La remise électronique des offres (2026-10-04, lots 2a-2b et arbitrages V70) · regles-gestion.md § La remise électronique des offres · regles-gestion.md § La remise électronique des offres ; § la liste des procédures en ligne (2026-10-06) · regles-gestion.md § La remise électronique des offres (2026-10-04, V66 ; 2026-10-05,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382</a:t>
            </a:r>
            <a:endParaRPr lang="en-US" sz="11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du DAO</a:t>
            </a:r>
            <a:endParaRPr lang="en-US" sz="2600" dirty="0"/>
          </a:p>
        </p:txBody>
      </p:sp>
      <p:graphicFrame>
        <p:nvGraphicFramePr>
          <p:cNvPr id="38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RG-DAO-59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Retrait après paiement vérifié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la fiche fixe des frais de dossier, le candidat ne retire le DAO qu’après avoir déposé le reçu de son versement sur le compte de l’ARMP, et que la </a:t>
                      </a:r>
                      <a:pPr indent="0" marL="0">
                        <a:buNone/>
                      </a:pPr>
                      <a:r>
                        <a:rPr lang="en-US" sz="1100" b="1" dirty="0">
                          <a:solidFill>
                            <a:srgbClr val="1B2A3A"/>
                          </a:solidFill>
                          <a:latin typeface="Segoe UI" pitchFamily="34" charset="0"/>
                          <a:ea typeface="Segoe UI" pitchFamily="34" charset="-122"/>
                          <a:cs typeface="Segoe UI" pitchFamily="34" charset="-120"/>
                        </a:rPr>
                        <a:t>PRMP ou son UGPM l’a validé</a:t>
                      </a:r>
                      <a:pPr indent="0" marL="0">
                        <a:buNone/>
                      </a:pPr>
                      <a:r>
                        <a:rPr lang="en-US" sz="1100" dirty="0">
                          <a:solidFill>
                            <a:srgbClr val="1B2A3A"/>
                          </a:solidFill>
                          <a:latin typeface="Segoe UI" pitchFamily="34" charset="0"/>
                          <a:ea typeface="Segoe UI" pitchFamily="34" charset="-122"/>
                          <a:cs typeface="Segoe UI" pitchFamily="34" charset="-120"/>
                        </a:rPr>
                        <a:t>. Un refus porte un motif. Le reçu vaut pour l’entreprise, pour un ou plusieurs lots. Une décision </a:t>
                      </a:r>
                      <a:pPr indent="0" marL="0">
                        <a:buNone/>
                      </a:pPr>
                      <a:r>
                        <a:rPr lang="en-US" sz="1100" b="1" dirty="0">
                          <a:solidFill>
                            <a:srgbClr val="1B2A3A"/>
                          </a:solidFill>
                          <a:latin typeface="Segoe UI" pitchFamily="34" charset="0"/>
                          <a:ea typeface="Segoe UI" pitchFamily="34" charset="-122"/>
                          <a:cs typeface="Segoe UI" pitchFamily="34" charset="-120"/>
                        </a:rPr>
                        <a:t>ne se reprend pas</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RG-DAO-60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registre des retraits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retrait en ligne est inscrit : date, compte, entreprise et NIF, document et version retirés, reçu des frais qui l’a ouvert. La PRMP le lit du plus ancien au plus récent.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 le retrait du DAO après paiement des frais (2026-10-06) · api-endpoints.md § Procédures ouvertes en ligne et retrait du DAO ; § Le retrait du DAO après paiement des frais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383</a:t>
            </a:r>
            <a:endParaRPr lang="en-US" sz="110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graphicFrame>
        <p:nvGraphicFramePr>
          <p:cNvPr id="38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mode AMI ouvre une fiche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mode « Appel à manifestation d’intérêt » des lignes de prestations intellectuelles est rattaché au type « appel d’offres » : la PRMP crée la fiche de la ligne, qui porte d’abord l’AMI, puis la demande de propositions.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Préparé par la PRMP ou l’UGPM</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ou son UGPM prépare l’AMI de la procédure, sur une fiche de </a:t>
                      </a:r>
                      <a:pPr indent="0" marL="0">
                        <a:buNone/>
                      </a:pPr>
                      <a:r>
                        <a:rPr lang="en-US" sz="1100" b="1" dirty="0">
                          <a:solidFill>
                            <a:srgbClr val="1B2A3A"/>
                          </a:solidFill>
                          <a:latin typeface="Segoe UI" pitchFamily="34" charset="0"/>
                          <a:ea typeface="Segoe UI" pitchFamily="34" charset="-122"/>
                          <a:cs typeface="Segoe UI" pitchFamily="34" charset="-120"/>
                        </a:rPr>
                        <a:t>prestations intellectuelles</a:t>
                      </a:r>
                      <a:pPr indent="0" marL="0">
                        <a:buNone/>
                      </a:pPr>
                      <a:r>
                        <a:rPr lang="en-US" sz="1100" dirty="0">
                          <a:solidFill>
                            <a:srgbClr val="1B2A3A"/>
                          </a:solidFill>
                          <a:latin typeface="Segoe UI" pitchFamily="34" charset="0"/>
                          <a:ea typeface="Segoe UI" pitchFamily="34" charset="-122"/>
                          <a:cs typeface="Segoe UI" pitchFamily="34" charset="-120"/>
                        </a:rPr>
                        <a:t> seulement ; son objet est repris de la fiche.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critères qui totalisent 100</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critères de sélection (aptitude, références, expérience…) portent chacun ses points ; les points </a:t>
                      </a:r>
                      <a:pPr indent="0" marL="0">
                        <a:buNone/>
                      </a:pPr>
                      <a:r>
                        <a:rPr lang="en-US" sz="1100" b="1" dirty="0">
                          <a:solidFill>
                            <a:srgbClr val="1B2A3A"/>
                          </a:solidFill>
                          <a:latin typeface="Segoe UI" pitchFamily="34" charset="0"/>
                          <a:ea typeface="Segoe UI" pitchFamily="34" charset="-122"/>
                          <a:cs typeface="Segoe UI" pitchFamily="34" charset="-120"/>
                        </a:rPr>
                        <a:t>totalisent 100</a:t>
                      </a:r>
                      <a:pPr indent="0" marL="0">
                        <a:buNone/>
                      </a:pPr>
                      <a:r>
                        <a:rPr lang="en-US" sz="1100" dirty="0">
                          <a:solidFill>
                            <a:srgbClr val="1B2A3A"/>
                          </a:solidFill>
                          <a:latin typeface="Segoe UI" pitchFamily="34" charset="0"/>
                          <a:ea typeface="Segoe UI" pitchFamily="34" charset="-122"/>
                          <a:cs typeface="Segoe UI" pitchFamily="34" charset="-120"/>
                        </a:rPr>
                        <a:t>. Une note minimale de qualification, sur 100, est facultative.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Six candidats à retenir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L’AMI fixe les pièces attendues, une date limite à venir et le nombre de candidats à retenir : </a:t>
                      </a:r>
                      <a:pPr indent="0" marL="0">
                        <a:buNone/>
                      </a:pPr>
                      <a:r>
                        <a:rPr lang="en-US" sz="1100" b="1" dirty="0">
                          <a:solidFill>
                            <a:srgbClr val="1B2A3A"/>
                          </a:solidFill>
                          <a:latin typeface="Segoe UI" pitchFamily="34" charset="0"/>
                          <a:ea typeface="Segoe UI" pitchFamily="34" charset="-122"/>
                          <a:cs typeface="Segoe UI" pitchFamily="34" charset="-120"/>
                        </a:rPr>
                        <a:t>six</a:t>
                      </a:r>
                      <a:pPr indent="0" marL="0">
                        <a:buNone/>
                      </a:pPr>
                      <a:r>
                        <a:rPr lang="en-US" sz="1100" dirty="0">
                          <a:solidFill>
                            <a:srgbClr val="1B2A3A"/>
                          </a:solidFill>
                          <a:latin typeface="Segoe UI" pitchFamily="34" charset="0"/>
                          <a:ea typeface="Segoe UI" pitchFamily="34" charset="-122"/>
                          <a:cs typeface="Segoe UI" pitchFamily="34" charset="-120"/>
                        </a:rPr>
                        <a:t> par défaut.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Modifiable jusqu’à la publication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Tant qu’il n’est pas publié, l’AMI se modifie et son avis se lit en projet. Ses critères appartiennent à l’AMI, non à la fiche, et se figent à la publication.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Le mode « Appel à manifestation d’intérêt » ouvre une fiche (2026-10-08) · regles-gestion.md § 3.8 — L’appel à manifestation d’intérêt en ligne (tranche AMI-a)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384</a:t>
            </a:r>
            <a:endParaRPr lang="en-US" sz="110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ou dispenser</a:t>
            </a:r>
            <a:endParaRPr lang="en-US" sz="2600" dirty="0"/>
          </a:p>
        </p:txBody>
      </p:sp>
      <p:graphicFrame>
        <p:nvGraphicFramePr>
          <p:cNvPr id="38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PRMP seule publie l’avis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seule publie l’AMI, en déclarant au moins un support daté (journal des marchés de l’ARMP, journal national…). L’AMI est figé ; l’avis, </a:t>
                      </a:r>
                      <a:pPr indent="0" marL="0">
                        <a:buNone/>
                      </a:pPr>
                      <a:r>
                        <a:rPr lang="en-US" sz="1100" b="1" dirty="0">
                          <a:solidFill>
                            <a:srgbClr val="1B2A3A"/>
                          </a:solidFill>
                          <a:latin typeface="Segoe UI" pitchFamily="34" charset="0"/>
                          <a:ea typeface="Segoe UI" pitchFamily="34" charset="-122"/>
                          <a:cs typeface="Segoe UI" pitchFamily="34" charset="-120"/>
                        </a:rPr>
                        <a:t>signé électroniquement</a:t>
                      </a:r>
                      <a:pPr indent="0" marL="0">
                        <a:buNone/>
                      </a:pPr>
                      <a:r>
                        <a:rPr lang="en-US" sz="1100" dirty="0">
                          <a:solidFill>
                            <a:srgbClr val="1B2A3A"/>
                          </a:solidFill>
                          <a:latin typeface="Segoe UI" pitchFamily="34" charset="0"/>
                          <a:ea typeface="Segoe UI" pitchFamily="34" charset="-122"/>
                          <a:cs typeface="Segoe UI" pitchFamily="34" charset="-120"/>
                        </a:rPr>
                        <a:t> par elle, paraît sur la liste publique des AMI.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dispense de publicité motivée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peut déclarer la </a:t>
                      </a:r>
                      <a:pPr indent="0" marL="0">
                        <a:buNone/>
                      </a:pPr>
                      <a:r>
                        <a:rPr lang="en-US" sz="1100" b="1" dirty="0">
                          <a:solidFill>
                            <a:srgbClr val="1B2A3A"/>
                          </a:solidFill>
                          <a:latin typeface="Segoe UI" pitchFamily="34" charset="0"/>
                          <a:ea typeface="Segoe UI" pitchFamily="34" charset="-122"/>
                          <a:cs typeface="Segoe UI" pitchFamily="34" charset="-120"/>
                        </a:rPr>
                        <a:t>dispense de publicité</a:t>
                      </a:r>
                      <a:pPr indent="0" marL="0">
                        <a:buNone/>
                      </a:pPr>
                      <a:r>
                        <a:rPr lang="en-US" sz="1100" dirty="0">
                          <a:solidFill>
                            <a:srgbClr val="1B2A3A"/>
                          </a:solidFill>
                          <a:latin typeface="Segoe UI" pitchFamily="34" charset="0"/>
                          <a:ea typeface="Segoe UI" pitchFamily="34" charset="-122"/>
                          <a:cs typeface="Segoe UI" pitchFamily="34" charset="-120"/>
                        </a:rPr>
                        <a:t>, avec son motif : l’AMI n’a alors ni avis ni dépôt, et la liste restreinte se saisit directement pour les lettres d’invitation. Le seuil réglementaire de la dispense reste à préciser par le juriste.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L’appel à manifestation d’intérêt en ligne (tranche AMI-a)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385</a:t>
            </a:r>
            <a:endParaRPr lang="en-US" sz="110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a:t>
            </a:r>
            <a:endParaRPr lang="en-US" sz="2600" dirty="0"/>
          </a:p>
        </p:txBody>
      </p:sp>
      <p:graphicFrame>
        <p:nvGraphicFramePr>
          <p:cNvPr id="38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Déposer son expression en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 candidat dont l’entreprise est déclarée dépose en ligne son expression d’intérêt avant la date limite : lettre, qualifications, références, groupement, et un fichier par pièce attendue.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Remplacer, retirer, recevoir un accusé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candidat peut remplacer ou retirer son expression jusqu’à la date limite. Il reçoit un accusé portant le numéro, la date et l’</a:t>
                      </a:r>
                      <a:pPr indent="0" marL="0">
                        <a:buNone/>
                      </a:pPr>
                      <a:r>
                        <a:rPr lang="en-US" sz="1100" b="1" dirty="0">
                          <a:solidFill>
                            <a:srgbClr val="1B2A3A"/>
                          </a:solidFill>
                          <a:latin typeface="Segoe UI" pitchFamily="34" charset="0"/>
                          <a:ea typeface="Segoe UI" pitchFamily="34" charset="-122"/>
                          <a:cs typeface="Segoe UI" pitchFamily="34" charset="-120"/>
                        </a:rPr>
                        <a:t>empreinte</a:t>
                      </a:r>
                      <a:pPr indent="0" marL="0">
                        <a:buNone/>
                      </a:pPr>
                      <a:r>
                        <a:rPr lang="en-US" sz="1100" dirty="0">
                          <a:solidFill>
                            <a:srgbClr val="1B2A3A"/>
                          </a:solidFill>
                          <a:latin typeface="Segoe UI" pitchFamily="34" charset="0"/>
                          <a:ea typeface="Segoe UI" pitchFamily="34" charset="-122"/>
                          <a:cs typeface="Segoe UI" pitchFamily="34" charset="-120"/>
                        </a:rPr>
                        <a:t> de son dépôt.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Lues après la date limite seulement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expressions ne sont pas scellées, mais </a:t>
                      </a:r>
                      <a:pPr indent="0" marL="0">
                        <a:buNone/>
                      </a:pPr>
                      <a:r>
                        <a:rPr lang="en-US" sz="1100" b="1" dirty="0">
                          <a:solidFill>
                            <a:srgbClr val="1B2A3A"/>
                          </a:solidFill>
                          <a:latin typeface="Segoe UI" pitchFamily="34" charset="0"/>
                          <a:ea typeface="Segoe UI" pitchFamily="34" charset="-122"/>
                          <a:cs typeface="Segoe UI" pitchFamily="34" charset="-120"/>
                        </a:rPr>
                        <a:t>personne ne les lit avant la date limite</a:t>
                      </a:r>
                      <a:pPr indent="0" marL="0">
                        <a:buNone/>
                      </a:pPr>
                      <a:r>
                        <a:rPr lang="en-US" sz="1100" dirty="0">
                          <a:solidFill>
                            <a:srgbClr val="1B2A3A"/>
                          </a:solidFill>
                          <a:latin typeface="Segoe UI" pitchFamily="34" charset="0"/>
                          <a:ea typeface="Segoe UI" pitchFamily="34" charset="-122"/>
                          <a:cs typeface="Segoe UI" pitchFamily="34" charset="-120"/>
                        </a:rPr>
                        <a:t> : l’administration n’en voit que le nombre.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L’appel à manifestation d’intérêt en ligne (tranche AMI-a) · regles-gestion.md § 3.8 — L’appel à manifestation d’intérêt en ligne ; demande-backend-2026-10-07-ami-pi.md (arbitrages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386</a:t>
            </a:r>
            <a:endParaRPr lang="en-US" sz="110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 (1/2)</a:t>
            </a:r>
            <a:endParaRPr lang="en-US" sz="2600" dirty="0"/>
          </a:p>
        </p:txBody>
      </p:sp>
      <p:graphicFrame>
        <p:nvGraphicFramePr>
          <p:cNvPr id="38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déclaration propre à l’AMI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de la commission d’appel d’offres signe une déclaration propre à l’AMI, avant toute décision ; elle ne se reprend pas. Un membre en </a:t>
                      </a:r>
                      <a:pPr indent="0" marL="0">
                        <a:buNone/>
                      </a:pPr>
                      <a:r>
                        <a:rPr lang="en-US" sz="1100" b="1" dirty="0">
                          <a:solidFill>
                            <a:srgbClr val="1B2A3A"/>
                          </a:solidFill>
                          <a:latin typeface="Segoe UI" pitchFamily="34" charset="0"/>
                          <a:ea typeface="Segoe UI" pitchFamily="34" charset="-122"/>
                          <a:cs typeface="Segoe UI" pitchFamily="34" charset="-120"/>
                        </a:rPr>
                        <a:t>conflit d’intérêts</a:t>
                      </a:r>
                      <a:pPr indent="0" marL="0">
                        <a:buNone/>
                      </a:pPr>
                      <a:r>
                        <a:rPr lang="en-US" sz="1100" dirty="0">
                          <a:solidFill>
                            <a:srgbClr val="1B2A3A"/>
                          </a:solidFill>
                          <a:latin typeface="Segoe UI" pitchFamily="34" charset="0"/>
                          <a:ea typeface="Segoe UI" pitchFamily="34" charset="-122"/>
                          <a:cs typeface="Segoe UI" pitchFamily="34" charset="-120"/>
                        </a:rPr>
                        <a:t> ne décide rien et ne signe pas le rapport.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notation collégiale et motivée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 membre déclaré sans conflit note chaque expression critère par critère, de zéro aux points du critère, toujours avec un </a:t>
                      </a:r>
                      <a:pPr indent="0" marL="0">
                        <a:buNone/>
                      </a:pPr>
                      <a:r>
                        <a:rPr lang="en-US" sz="1100" b="1" dirty="0">
                          <a:solidFill>
                            <a:srgbClr val="1B2A3A"/>
                          </a:solidFill>
                          <a:latin typeface="Segoe UI" pitchFamily="34" charset="0"/>
                          <a:ea typeface="Segoe UI" pitchFamily="34" charset="-122"/>
                          <a:cs typeface="Segoe UI" pitchFamily="34" charset="-120"/>
                        </a:rPr>
                        <a:t>motif</a:t>
                      </a:r>
                      <a:pPr indent="0" marL="0">
                        <a:buNone/>
                      </a:pPr>
                      <a:r>
                        <a:rPr lang="en-US" sz="1100" dirty="0">
                          <a:solidFill>
                            <a:srgbClr val="1B2A3A"/>
                          </a:solidFill>
                          <a:latin typeface="Segoe UI" pitchFamily="34" charset="0"/>
                          <a:ea typeface="Segoe UI" pitchFamily="34" charset="-122"/>
                          <a:cs typeface="Segoe UI" pitchFamily="34" charset="-120"/>
                        </a:rPr>
                        <a:t>. Une nouvelle note remplace la précédente ; le journal garde chaque saisie.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Écarter une expression, avec un motif</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membre peut écarter une expression avec un motif, ou la rétablir. Une expression écartée ne se note plus.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Qualifiée, puis classée par total</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Est </a:t>
                      </a:r>
                      <a:pPr indent="0" marL="0">
                        <a:buNone/>
                      </a:pPr>
                      <a:r>
                        <a:rPr lang="en-US" sz="1100" b="1" dirty="0">
                          <a:solidFill>
                            <a:srgbClr val="1B2A3A"/>
                          </a:solidFill>
                          <a:latin typeface="Segoe UI" pitchFamily="34" charset="0"/>
                          <a:ea typeface="Segoe UI" pitchFamily="34" charset="-122"/>
                          <a:cs typeface="Segoe UI" pitchFamily="34" charset="-120"/>
                        </a:rPr>
                        <a:t>qualifiée</a:t>
                      </a:r>
                      <a:pPr indent="0" marL="0">
                        <a:buNone/>
                      </a:pPr>
                      <a:r>
                        <a:rPr lang="en-US" sz="110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L’application totalise sur 100 et classe les qualifiées par total décroissant.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président arrête la liste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fois toutes les expressions non écartées notées, le </a:t>
                      </a:r>
                      <a:pPr indent="0" marL="0">
                        <a:buNone/>
                      </a:pPr>
                      <a:r>
                        <a:rPr lang="en-US" sz="1100" b="1" dirty="0">
                          <a:solidFill>
                            <a:srgbClr val="1B2A3A"/>
                          </a:solidFill>
                          <a:latin typeface="Segoe UI" pitchFamily="34" charset="0"/>
                          <a:ea typeface="Segoe UI" pitchFamily="34" charset="-122"/>
                          <a:cs typeface="Segoe UI" pitchFamily="34" charset="-120"/>
                        </a:rPr>
                        <a:t>président</a:t>
                      </a:r>
                      <a:pPr indent="0" marL="0">
                        <a:buNone/>
                      </a:pPr>
                      <a:r>
                        <a:rPr lang="en-US" sz="1100" dirty="0">
                          <a:solidFill>
                            <a:srgbClr val="1B2A3A"/>
                          </a:solidFill>
                          <a:latin typeface="Segoe UI" pitchFamily="34" charset="0"/>
                          <a:ea typeface="Segoe UI" pitchFamily="34" charset="-122"/>
                          <a:cs typeface="Segoe UI" pitchFamily="34" charset="-120"/>
                        </a:rPr>
                        <a:t> arrête la liste des premières qualifiées, dans la limite du nombre fixé par l’AMI. Une égalité au seuil se départage.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 présélection et la liste restreinte (tranche AMI-b)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387</a:t>
            </a:r>
            <a:endParaRPr lang="en-US" sz="110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 (2/2)</a:t>
            </a:r>
            <a:endParaRPr lang="en-US" sz="2600" dirty="0"/>
          </a:p>
        </p:txBody>
      </p:sp>
      <p:graphicFrame>
        <p:nvGraphicFramePr>
          <p:cNvPr id="38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Moins de qualifiés que de places : motiver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S’il y a moins de qualifiées que de places, la liste s’arrête avec elles et le nombre est </a:t>
                      </a:r>
                      <a:pPr indent="0" marL="0">
                        <a:buNone/>
                      </a:pPr>
                      <a:r>
                        <a:rPr lang="en-US" sz="1100" b="1" dirty="0">
                          <a:solidFill>
                            <a:srgbClr val="1B2A3A"/>
                          </a:solidFill>
                          <a:latin typeface="Segoe UI" pitchFamily="34" charset="0"/>
                          <a:ea typeface="Segoe UI" pitchFamily="34" charset="-122"/>
                          <a:cs typeface="Segoe UI" pitchFamily="34" charset="-120"/>
                        </a:rPr>
                        <a:t>motivé</a:t>
                      </a:r>
                      <a:pPr indent="0" marL="0">
                        <a:buNone/>
                      </a:pPr>
                      <a:r>
                        <a:rPr lang="en-US" sz="1100" dirty="0">
                          <a:solidFill>
                            <a:srgbClr val="1B2A3A"/>
                          </a:solidFill>
                          <a:latin typeface="Segoe UI" pitchFamily="34" charset="0"/>
                          <a:ea typeface="Segoe UI" pitchFamily="34" charset="-122"/>
                          <a:cs typeface="Segoe UI" pitchFamily="34" charset="-120"/>
                        </a:rPr>
                        <a:t> au rapport ; la PRMP peut, à la place, relancer l’AMI.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 présélection et la liste restreinte ; demande-backend-2026-10-07-ami-pi.md (arbitrages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388</a:t>
            </a:r>
            <a:endParaRPr lang="en-US" sz="110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et la liste restreinte</a:t>
            </a:r>
            <a:endParaRPr lang="en-US" sz="2600" dirty="0"/>
          </a:p>
        </p:txBody>
      </p:sp>
      <p:graphicFrame>
        <p:nvGraphicFramePr>
          <p:cNvPr id="39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rapport signé des membres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L’arrêt produit le rapport de présélection : commission, notes par critère et leurs motifs, écartements, liste, motif du nombre, observations. Il est signé des membres ; un empêchement est constaté par le président, avec un motif.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liste publiée et notifiée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dernière signature, la liste est </a:t>
                      </a:r>
                      <a:pPr indent="0" marL="0">
                        <a:buNone/>
                      </a:pPr>
                      <a:r>
                        <a:rPr lang="en-US" sz="1100" b="1" dirty="0">
                          <a:solidFill>
                            <a:srgbClr val="1B2A3A"/>
                          </a:solidFill>
                          <a:latin typeface="Segoe UI" pitchFamily="34" charset="0"/>
                          <a:ea typeface="Segoe UI" pitchFamily="34" charset="-122"/>
                          <a:cs typeface="Segoe UI" pitchFamily="34" charset="-120"/>
                        </a:rPr>
                        <a:t>définitive</a:t>
                      </a:r>
                      <a:pPr indent="0" marL="0">
                        <a:buNone/>
                      </a:pPr>
                      <a:r>
                        <a:rPr lang="en-US" sz="1100" dirty="0">
                          <a:solidFill>
                            <a:srgbClr val="1B2A3A"/>
                          </a:solidFill>
                          <a:latin typeface="Segoe UI" pitchFamily="34" charset="0"/>
                          <a:ea typeface="Segoe UI" pitchFamily="34" charset="-122"/>
                          <a:cs typeface="Segoe UI" pitchFamily="34" charset="-120"/>
                        </a:rPr>
                        <a:t> : publiée sur la page de l’AMI et notifiée à chaque candidat, les non-retenus avec leur motif (écartement, note sous le minimum, rang au-delà des places).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quorum de la commission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L’arrêt de la liste restreinte exige le </a:t>
                      </a:r>
                      <a:pPr indent="0" marL="0">
                        <a:buNone/>
                      </a:pPr>
                      <a:r>
                        <a:rPr lang="en-US" sz="1100" b="1" dirty="0">
                          <a:solidFill>
                            <a:srgbClr val="1B2A3A"/>
                          </a:solidFill>
                          <a:latin typeface="Segoe UI" pitchFamily="34" charset="0"/>
                          <a:ea typeface="Segoe UI" pitchFamily="34" charset="-122"/>
                          <a:cs typeface="Segoe UI" pitchFamily="34" charset="-120"/>
                        </a:rPr>
                        <a:t>quorum</a:t>
                      </a:r>
                      <a:pPr indent="0" marL="0">
                        <a:buNone/>
                      </a:pPr>
                      <a:r>
                        <a:rPr lang="en-US" sz="1100" dirty="0">
                          <a:solidFill>
                            <a:srgbClr val="1B2A3A"/>
                          </a:solidFill>
                          <a:latin typeface="Segoe UI" pitchFamily="34" charset="0"/>
                          <a:ea typeface="Segoe UI" pitchFamily="34" charset="-122"/>
                          <a:cs typeface="Segoe UI" pitchFamily="34" charset="-120"/>
                        </a:rPr>
                        <a:t> de la commission (par défaut, plus de la moitié des membres désignés), le président ou son représentant toujours requis. Le rapport signé vaut </a:t>
                      </a:r>
                      <a:pPr indent="0" marL="0">
                        <a:buNone/>
                      </a:pPr>
                      <a:r>
                        <a:rPr lang="en-US" sz="1100" b="1" dirty="0">
                          <a:solidFill>
                            <a:srgbClr val="1B2A3A"/>
                          </a:solidFill>
                          <a:latin typeface="Segoe UI" pitchFamily="34" charset="0"/>
                          <a:ea typeface="Segoe UI" pitchFamily="34" charset="-122"/>
                          <a:cs typeface="Segoe UI" pitchFamily="34" charset="-120"/>
                        </a:rPr>
                        <a:t>procès-verbal de validation</a:t>
                      </a:r>
                      <a:pPr indent="0" marL="0">
                        <a:buNone/>
                      </a:pPr>
                      <a:r>
                        <a:rPr lang="en-US" sz="1100" dirty="0">
                          <a:solidFill>
                            <a:srgbClr val="1B2A3A"/>
                          </a:solidFill>
                          <a:latin typeface="Segoe UI" pitchFamily="34" charset="0"/>
                          <a:ea typeface="Segoe UI" pitchFamily="34" charset="-122"/>
                          <a:cs typeface="Segoe UI" pitchFamily="34" charset="-120"/>
                        </a:rPr>
                        <a:t> : il porte la date de la dernière signature, les membres et leur qualité, les empêchements, les exclus pour conflit d’intérêts et le quorum constaté.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AMI clos ne se modifie plus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Dès qu’un dossier de marché de la procédure est soumis à la Commission, l’AMI ne se modifie plus : la Commission examine ce qui lui a été soumis. Les gestes de la présélection se retirent de l’écran.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L’AMI figé à la soumission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chaque soumission d’un dossier conduit dans l’application, l’écran de l’appel à manifestation d’intérêt est figé tel qu’il est servi à cet instant, avec son empreinte ; les profils de la CNM le lisent à la place d’une pièce et peuvent l’exporter en PDF.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 présélection et la liste restreinte (tranche AMI-b) · regles-gestion.md § La remise électronique — le quorum de la commission (manuel révisé, lot 1, tranche R1, 2026-10-10) · regles-gestion.md § Le dossier soumis — manuel révisé, lot 2, tranche R9c (2026-10-14) · regles-gestion.md § Le dossier soumis — manuel révisé, lot 1, tranche R4 (2026-10-13)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389</a:t>
            </a:r>
            <a:endParaRPr lang="en-US" sz="110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propositions</a:t>
            </a:r>
            <a:endParaRPr lang="en-US" sz="2600" dirty="0"/>
          </a:p>
        </p:txBody>
      </p:sp>
      <p:graphicFrame>
        <p:nvGraphicFramePr>
          <p:cNvPr id="39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Pas de dossier sans liste définitive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dossier de la demande de propositions ne se crée qu’une fois la liste définitive. Il reçoit d’office le </a:t>
                      </a:r>
                      <a:pPr indent="0" marL="0">
                        <a:buNone/>
                      </a:pPr>
                      <a:r>
                        <a:rPr lang="en-US" sz="1100" b="1" dirty="0">
                          <a:solidFill>
                            <a:srgbClr val="1B2A3A"/>
                          </a:solidFill>
                          <a:latin typeface="Segoe UI" pitchFamily="34" charset="0"/>
                          <a:ea typeface="Segoe UI" pitchFamily="34" charset="-122"/>
                          <a:cs typeface="Segoe UI" pitchFamily="34" charset="-120"/>
                        </a:rPr>
                        <a:t>rapport signé</a:t>
                      </a:r>
                      <a:pPr indent="0" marL="0">
                        <a:buNone/>
                      </a:pPr>
                      <a:r>
                        <a:rPr lang="en-US" sz="1100" dirty="0">
                          <a:solidFill>
                            <a:srgbClr val="1B2A3A"/>
                          </a:solidFill>
                          <a:latin typeface="Segoe UI" pitchFamily="34" charset="0"/>
                          <a:ea typeface="Segoe UI" pitchFamily="34" charset="-122"/>
                          <a:cs typeface="Segoe UI" pitchFamily="34" charset="-120"/>
                        </a:rPr>
                        <a:t>, que la Commission examine avec lui.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invitations tirées de la liste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Avec une liste définitive, les lettres d’invitation vont aux candidats </a:t>
                      </a:r>
                      <a:pPr indent="0" marL="0">
                        <a:buNone/>
                      </a:pPr>
                      <a:r>
                        <a:rPr lang="en-US" sz="1100" b="1" dirty="0">
                          <a:solidFill>
                            <a:srgbClr val="1B2A3A"/>
                          </a:solidFill>
                          <a:latin typeface="Segoe UI" pitchFamily="34" charset="0"/>
                          <a:ea typeface="Segoe UI" pitchFamily="34" charset="-122"/>
                          <a:cs typeface="Segoe UI" pitchFamily="34" charset="-120"/>
                        </a:rPr>
                        <a:t>de la liste</a:t>
                      </a:r>
                      <a:pPr indent="0" marL="0">
                        <a:buNone/>
                      </a:pPr>
                      <a:r>
                        <a:rPr lang="en-US" sz="1100" dirty="0">
                          <a:solidFill>
                            <a:srgbClr val="1B2A3A"/>
                          </a:solidFill>
                          <a:latin typeface="Segoe UI" pitchFamily="34" charset="0"/>
                          <a:ea typeface="Segoe UI" pitchFamily="34" charset="-122"/>
                          <a:cs typeface="Segoe UI" pitchFamily="34" charset="-120"/>
                        </a:rPr>
                        <a:t>, sans autre saisie ; chacun est averti en ligne et par courriel. Sans AMI, ou après une dispense, la liste se saisit comme avant.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invitations après l’avis favorable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lettres d’invitation attendent l’avis </a:t>
                      </a:r>
                      <a:pPr indent="0" marL="0">
                        <a:buNone/>
                      </a:pPr>
                      <a:r>
                        <a:rPr lang="en-US" sz="1100" b="1" dirty="0">
                          <a:solidFill>
                            <a:srgbClr val="1B2A3A"/>
                          </a:solidFill>
                          <a:latin typeface="Segoe UI" pitchFamily="34" charset="0"/>
                          <a:ea typeface="Segoe UI" pitchFamily="34" charset="-122"/>
                          <a:cs typeface="Segoe UI" pitchFamily="34" charset="-120"/>
                        </a:rPr>
                        <a:t>favorable</a:t>
                      </a:r>
                      <a:pPr indent="0" marL="0">
                        <a:buNone/>
                      </a:pPr>
                      <a:r>
                        <a:rPr lang="en-US" sz="1100" dirty="0">
                          <a:solidFill>
                            <a:srgbClr val="1B2A3A"/>
                          </a:solidFill>
                          <a:latin typeface="Segoe UI" pitchFamily="34" charset="0"/>
                          <a:ea typeface="Segoe UI" pitchFamily="34" charset="-122"/>
                          <a:cs typeface="Segoe UI" pitchFamily="34" charset="-120"/>
                        </a:rPr>
                        <a:t> de la Commission sur le dossier, réserves levées le cas échéant. Leur première impression fait passer la ligne du plan à « Lancé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 présélection et la liste restreinte (tranche AMI-b) · regles-gestion.md § 3.8 — Lettres d’invitation (2026-10-01, lot AV-4.1)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390</a:t>
            </a:r>
            <a:endParaRPr lang="en-US" sz="110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Relance et infructuosité</a:t>
            </a:r>
            <a:endParaRPr lang="en-US" sz="2600" dirty="0"/>
          </a:p>
        </p:txBody>
      </p:sp>
      <p:graphicFrame>
        <p:nvGraphicFramePr>
          <p:cNvPr id="39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Relancer l’AMI, avec un motif</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Après la date limite et avant l’arrêt de la liste, la PRMP peut </a:t>
                      </a:r>
                      <a:pPr indent="0" marL="0">
                        <a:buNone/>
                      </a:pPr>
                      <a:r>
                        <a:rPr lang="en-US" sz="1100" b="1" dirty="0">
                          <a:solidFill>
                            <a:srgbClr val="1B2A3A"/>
                          </a:solidFill>
                          <a:latin typeface="Segoe UI" pitchFamily="34" charset="0"/>
                          <a:ea typeface="Segoe UI" pitchFamily="34" charset="-122"/>
                          <a:cs typeface="Segoe UI" pitchFamily="34" charset="-120"/>
                        </a:rPr>
                        <a:t>relancer</a:t>
                      </a:r>
                      <a:pPr indent="0" marL="0">
                        <a:buNone/>
                      </a:pPr>
                      <a:r>
                        <a:rPr lang="en-US" sz="1100" dirty="0">
                          <a:solidFill>
                            <a:srgbClr val="1B2A3A"/>
                          </a:solidFill>
                          <a:latin typeface="Segoe UI" pitchFamily="34" charset="0"/>
                          <a:ea typeface="Segoe UI" pitchFamily="34" charset="-122"/>
                          <a:cs typeface="Segoe UI" pitchFamily="34" charset="-120"/>
                        </a:rPr>
                        <a:t> l’AMI avec une nouvelle date limite et un motif : il reparaît dans la liste publique ; expressions et notes restent.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Sans qualifié, l’AMI infructueux</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Sans aucune expression qualifiée, la PRMP déclare l’AMI </a:t>
                      </a:r>
                      <a:pPr indent="0" marL="0">
                        <a:buNone/>
                      </a:pPr>
                      <a:r>
                        <a:rPr lang="en-US" sz="1100" b="1" dirty="0">
                          <a:solidFill>
                            <a:srgbClr val="1B2A3A"/>
                          </a:solidFill>
                          <a:latin typeface="Segoe UI" pitchFamily="34" charset="0"/>
                          <a:ea typeface="Segoe UI" pitchFamily="34" charset="-122"/>
                          <a:cs typeface="Segoe UI" pitchFamily="34" charset="-120"/>
                        </a:rPr>
                        <a:t>infructueux</a:t>
                      </a:r>
                      <a:pPr indent="0" marL="0">
                        <a:buNone/>
                      </a:pPr>
                      <a:r>
                        <a:rPr lang="en-US" sz="1100" dirty="0">
                          <a:solidFill>
                            <a:srgbClr val="1B2A3A"/>
                          </a:solidFill>
                          <a:latin typeface="Segoe UI" pitchFamily="34" charset="0"/>
                          <a:ea typeface="Segoe UI" pitchFamily="34" charset="-122"/>
                          <a:cs typeface="Segoe UI" pitchFamily="34" charset="-120"/>
                        </a:rPr>
                        <a:t>, avec un motif ; la relance reste possible.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 La présélection et la liste restreinte (tranche AMI-b) · regles-gestion.md § 3.8 — La présélection et la liste restreinte ; demande-backend-2026-10-07-ami-pi.md (arbitrages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391</a:t>
            </a:r>
            <a:endParaRPr lang="en-US" sz="110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et l’entreprise</a:t>
            </a:r>
            <a:endParaRPr lang="en-US" sz="2600" dirty="0"/>
          </a:p>
        </p:txBody>
      </p:sp>
      <p:graphicFrame>
        <p:nvGraphicFramePr>
          <p:cNvPr id="39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compte confirmé par code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candidat s’inscrit avec son adresse électronique, qui devient son identifiant. Le compte s’active par un </a:t>
                      </a:r>
                      <a:pPr indent="0" marL="0">
                        <a:buNone/>
                      </a:pPr>
                      <a:r>
                        <a:rPr lang="en-US" sz="1100" b="1" dirty="0">
                          <a:solidFill>
                            <a:srgbClr val="1B2A3A"/>
                          </a:solidFill>
                          <a:latin typeface="Segoe UI" pitchFamily="34" charset="0"/>
                          <a:ea typeface="Segoe UI" pitchFamily="34" charset="-122"/>
                          <a:cs typeface="Segoe UI" pitchFamily="34" charset="-120"/>
                        </a:rPr>
                        <a:t>code</a:t>
                      </a:r>
                      <a:pPr indent="0" marL="0">
                        <a:buNone/>
                      </a:pPr>
                      <a:r>
                        <a:rPr lang="en-US" sz="1100" dirty="0">
                          <a:solidFill>
                            <a:srgbClr val="1B2A3A"/>
                          </a:solidFill>
                          <a:latin typeface="Segoe UI" pitchFamily="34" charset="0"/>
                          <a:ea typeface="Segoe UI" pitchFamily="34" charset="-122"/>
                          <a:cs typeface="Segoe UI" pitchFamily="34" charset="-120"/>
                        </a:rPr>
                        <a:t> à six chiffres reçu par courriel, valable 15 minutes. Un compte jamais confirmé est supprimé ; un compte inactif est archivé, jamais supprimé.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entreprise par compte, NIF unique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compte déclare une seule entreprise. Le </a:t>
                      </a:r>
                      <a:pPr indent="0" marL="0">
                        <a:buNone/>
                      </a:pPr>
                      <a:r>
                        <a:rPr lang="en-US" sz="1100" b="1" dirty="0">
                          <a:solidFill>
                            <a:srgbClr val="1B2A3A"/>
                          </a:solidFill>
                          <a:latin typeface="Segoe UI" pitchFamily="34" charset="0"/>
                          <a:ea typeface="Segoe UI" pitchFamily="34" charset="-122"/>
                          <a:cs typeface="Segoe UI" pitchFamily="34" charset="-120"/>
                        </a:rPr>
                        <a:t>NIF</a:t>
                      </a:r>
                      <a:pPr indent="0" marL="0">
                        <a:buNone/>
                      </a:pPr>
                      <a:r>
                        <a:rPr lang="en-US" sz="1100" dirty="0">
                          <a:solidFill>
                            <a:srgbClr val="1B2A3A"/>
                          </a:solidFill>
                          <a:latin typeface="Segoe UI" pitchFamily="34" charset="0"/>
                          <a:ea typeface="Segoe UI" pitchFamily="34" charset="-122"/>
                          <a:cs typeface="Segoe UI" pitchFamily="34" charset="-120"/>
                        </a:rPr>
                        <a:t>, le STAT et le RCS sont uniques sur la plateforme : un NIF déjà déclaré est refusé, avec un renvoi vers le compte qui l’a déclaré, sans le nommer.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Vérification du NIF, jamais bloquante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NIF se vérifie sur pièces par l’Administrateur, ou auprès de la DGI quand le raccordement existera. Un NIF nouveau ou changé redevient non vérifié. La vérification ne bloque </a:t>
                      </a:r>
                      <a:pPr indent="0" marL="0">
                        <a:buNone/>
                      </a:pPr>
                      <a:r>
                        <a:rPr lang="en-US" sz="1100" b="1" dirty="0">
                          <a:solidFill>
                            <a:srgbClr val="1B2A3A"/>
                          </a:solidFill>
                          <a:latin typeface="Segoe UI" pitchFamily="34" charset="0"/>
                          <a:ea typeface="Segoe UI" pitchFamily="34" charset="-122"/>
                          <a:cs typeface="Segoe UI" pitchFamily="34" charset="-120"/>
                        </a:rPr>
                        <a:t>jamais</a:t>
                      </a:r>
                      <a:pPr indent="0" marL="0">
                        <a:buNone/>
                      </a:pPr>
                      <a:r>
                        <a:rPr lang="en-US" sz="1100" dirty="0">
                          <a:solidFill>
                            <a:srgbClr val="1B2A3A"/>
                          </a:solidFill>
                          <a:latin typeface="Segoe UI" pitchFamily="34" charset="0"/>
                          <a:ea typeface="Segoe UI" pitchFamily="34" charset="-122"/>
                          <a:cs typeface="Segoe UI" pitchFamily="34" charset="-120"/>
                        </a:rPr>
                        <a:t> le dépôt ; la commission en lit l’état à l’ouverture.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Exclusions de l’ARMP : refus au dépôt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tient le répertoire des exclusions de l’ARMP ; une exclusion ne se supprime pas, elle se corrige. L’entreprise exclue est signalée à sa déclaration, puis </a:t>
                      </a:r>
                      <a:pPr indent="0" marL="0">
                        <a:buNone/>
                      </a:pPr>
                      <a:r>
                        <a:rPr lang="en-US" sz="1100" b="1" dirty="0">
                          <a:solidFill>
                            <a:srgbClr val="1B2A3A"/>
                          </a:solidFill>
                          <a:latin typeface="Segoe UI" pitchFamily="34" charset="0"/>
                          <a:ea typeface="Segoe UI" pitchFamily="34" charset="-122"/>
                          <a:cs typeface="Segoe UI" pitchFamily="34" charset="-120"/>
                        </a:rPr>
                        <a:t>refusée</a:t>
                      </a:r>
                      <a:pPr indent="0" marL="0">
                        <a:buNone/>
                      </a:pPr>
                      <a:r>
                        <a:rPr lang="en-US" sz="1100" dirty="0">
                          <a:solidFill>
                            <a:srgbClr val="1B2A3A"/>
                          </a:solidFill>
                          <a:latin typeface="Segoe UI" pitchFamily="34" charset="0"/>
                          <a:ea typeface="Segoe UI" pitchFamily="34" charset="-122"/>
                          <a:cs typeface="Segoe UI" pitchFamily="34" charset="-120"/>
                        </a:rPr>
                        <a:t> au dépôt du reçu et de l’offre, groupement compris.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Comptes candidats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392</a:t>
            </a:r>
            <a:endParaRPr lang="en-US" sz="110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 et le retrait</a:t>
            </a:r>
            <a:endParaRPr lang="en-US" sz="2600" dirty="0"/>
          </a:p>
        </p:txBody>
      </p:sp>
      <p:graphicFrame>
        <p:nvGraphicFramePr>
          <p:cNvPr id="39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Papier ou électronique, jamais mixte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mode de remise se choisit au cadrage de la fiche DAO : papier ou électronique, </a:t>
                      </a:r>
                      <a:pPr indent="0" marL="0">
                        <a:buNone/>
                      </a:pPr>
                      <a:r>
                        <a:rPr lang="en-US" sz="1100" b="1" dirty="0">
                          <a:solidFill>
                            <a:srgbClr val="1B2A3A"/>
                          </a:solidFill>
                          <a:latin typeface="Segoe UI" pitchFamily="34" charset="0"/>
                          <a:ea typeface="Segoe UI" pitchFamily="34" charset="-122"/>
                          <a:cs typeface="Segoe UI" pitchFamily="34" charset="-120"/>
                        </a:rPr>
                        <a:t>jamais mixte</a:t>
                      </a:r>
                      <a:pPr indent="0" marL="0">
                        <a:buNone/>
                      </a:pPr>
                      <a:r>
                        <a:rPr lang="en-US" sz="1100" dirty="0">
                          <a:solidFill>
                            <a:srgbClr val="1B2A3A"/>
                          </a:solidFill>
                          <a:latin typeface="Segoe UI" pitchFamily="34" charset="0"/>
                          <a:ea typeface="Segoe UI" pitchFamily="34" charset="-122"/>
                          <a:cs typeface="Segoe UI" pitchFamily="34" charset="-120"/>
                        </a:rPr>
                        <a:t>. Une fiche qui ne le porte pas est papier. Depuis le 13/10, il ne change plus une fois une version validée, sauf migration documentée par l’Administrateur (partie 04). Les règles de la remise électronique ne jouent qu’en mode électronique.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que montre la liste publique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liste publique montre, sans compte, les appels d’offres en remise électronique dont l’avis est publié et la date limite non passée, ainsi que les appels à manifestation d’intérêt en cours, la date limite la plus proche d’abord. Aucun paramètre interne n’y figure ; une procédure close sort de la liste mais reste lisible par son lien, avec son PV d’ouverture publié et son résultat.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signature simple seule acceptée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Tant que la liste officielle des prestataires de certification n’existe pas, seule la </a:t>
                      </a:r>
                      <a:pPr indent="0" marL="0">
                        <a:buNone/>
                      </a:pPr>
                      <a:r>
                        <a:rPr lang="en-US" sz="1100" b="1" dirty="0">
                          <a:solidFill>
                            <a:srgbClr val="1B2A3A"/>
                          </a:solidFill>
                          <a:latin typeface="Segoe UI" pitchFamily="34" charset="0"/>
                          <a:ea typeface="Segoe UI" pitchFamily="34" charset="-122"/>
                          <a:cs typeface="Segoe UI" pitchFamily="34" charset="-120"/>
                        </a:rPr>
                        <a:t>signature simple</a:t>
                      </a:r>
                      <a:pPr indent="0" marL="0">
                        <a:buNone/>
                      </a:pPr>
                      <a:r>
                        <a:rPr lang="en-US" sz="1100" dirty="0">
                          <a:solidFill>
                            <a:srgbClr val="1B2A3A"/>
                          </a:solidFill>
                          <a:latin typeface="Segoe UI" pitchFamily="34" charset="0"/>
                          <a:ea typeface="Segoe UI" pitchFamily="34" charset="-122"/>
                          <a:cs typeface="Segoe UI" pitchFamily="34" charset="-120"/>
                        </a:rPr>
                        <a:t> est acceptée : une fiche qui exige une signature avancée ou qualifiée ne peut pas paraître en ligne.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Chaque retrait inscrit au registre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documents du dossier se téléchargent par un candidat connecté. Chaque téléchargement inscrit une ligne au </a:t>
                      </a:r>
                      <a:pPr indent="0" marL="0">
                        <a:buNone/>
                      </a:pPr>
                      <a:r>
                        <a:rPr lang="en-US" sz="1100" b="1" dirty="0">
                          <a:solidFill>
                            <a:srgbClr val="1B2A3A"/>
                          </a:solidFill>
                          <a:latin typeface="Segoe UI" pitchFamily="34" charset="0"/>
                          <a:ea typeface="Segoe UI" pitchFamily="34" charset="-122"/>
                          <a:cs typeface="Segoe UI" pitchFamily="34" charset="-120"/>
                        </a:rPr>
                        <a:t>registre des retraits</a:t>
                      </a:r>
                      <a:pPr indent="0" marL="0">
                        <a:buNone/>
                      </a:pPr>
                      <a:r>
                        <a:rPr lang="en-US" sz="1100" dirty="0">
                          <a:solidFill>
                            <a:srgbClr val="1B2A3A"/>
                          </a:solidFill>
                          <a:latin typeface="Segoe UI" pitchFamily="34" charset="0"/>
                          <a:ea typeface="Segoe UI" pitchFamily="34" charset="-122"/>
                          <a:cs typeface="Segoe UI" pitchFamily="34" charset="-120"/>
                        </a:rPr>
                        <a:t> : compte, entreprise, document, version. Seule la PRMP de la fiche lit ce registre.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 ⚠️ 2026-10-13, tranche R8 · api-endpoints.md § Procédures ouvertes en ligne et retrait du DAO ; § AMI (relance) · Les arbitrages du pilote après le lot 4 — V70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393</a:t>
            </a:r>
            <a:endParaRPr lang="en-US" sz="110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a:t>
            </a:r>
            <a:endParaRPr lang="en-US" sz="2600" dirty="0"/>
          </a:p>
        </p:txBody>
      </p:sp>
      <p:graphicFrame>
        <p:nvGraphicFramePr>
          <p:cNvPr id="39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Reçu validé avant le retrait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la fiche fixe des frais, le candidat ne télécharge le dossier qu’après avoir déposé le reçu de son versement sur le compte de l’ARMP, et que la PRMP ou son UGPM l’a </a:t>
                      </a:r>
                      <a:pPr indent="0" marL="0">
                        <a:buNone/>
                      </a:pPr>
                      <a:r>
                        <a:rPr lang="en-US" sz="1100" b="1" dirty="0">
                          <a:solidFill>
                            <a:srgbClr val="1B2A3A"/>
                          </a:solidFill>
                          <a:latin typeface="Segoe UI" pitchFamily="34" charset="0"/>
                          <a:ea typeface="Segoe UI" pitchFamily="34" charset="-122"/>
                          <a:cs typeface="Segoe UI" pitchFamily="34" charset="-120"/>
                        </a:rPr>
                        <a:t>validé</a:t>
                      </a:r>
                      <a:pPr indent="0" marL="0">
                        <a:buNone/>
                      </a:pPr>
                      <a:r>
                        <a:rPr lang="en-US" sz="1100" dirty="0">
                          <a:solidFill>
                            <a:srgbClr val="1B2A3A"/>
                          </a:solidFill>
                          <a:latin typeface="Segoe UI" pitchFamily="34" charset="0"/>
                          <a:ea typeface="Segoe UI" pitchFamily="34" charset="-122"/>
                          <a:cs typeface="Segoe UI" pitchFamily="34" charset="-120"/>
                        </a:rPr>
                        <a:t>. La plateforme n’encaisse rien.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reçu par entreprise, par lots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reçu vaut pour l’entreprise, identifiée par son NIF, pour un ou plusieurs lots ; un lot payé ouvre tout le dossier. Un nouveau reçu ne vaut que pour des lots non couverts. Un montant inférieur aux frais n’est pas refusé : la PRMP le voit.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refus motivé, une décision définitive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ou son UGPM valide ou refuse le reçu ; un refus porte un </a:t>
                      </a:r>
                      <a:pPr indent="0" marL="0">
                        <a:buNone/>
                      </a:pPr>
                      <a:r>
                        <a:rPr lang="en-US" sz="1100" b="1" dirty="0">
                          <a:solidFill>
                            <a:srgbClr val="1B2A3A"/>
                          </a:solidFill>
                          <a:latin typeface="Segoe UI" pitchFamily="34" charset="0"/>
                          <a:ea typeface="Segoe UI" pitchFamily="34" charset="-122"/>
                          <a:cs typeface="Segoe UI" pitchFamily="34" charset="-120"/>
                        </a:rPr>
                        <a:t>motif</a:t>
                      </a:r>
                      <a:pPr indent="0" marL="0">
                        <a:buNone/>
                      </a:pPr>
                      <a:r>
                        <a:rPr lang="en-US" sz="1100" dirty="0">
                          <a:solidFill>
                            <a:srgbClr val="1B2A3A"/>
                          </a:solidFill>
                          <a:latin typeface="Segoe UI" pitchFamily="34" charset="0"/>
                          <a:ea typeface="Segoe UI" pitchFamily="34" charset="-122"/>
                          <a:cs typeface="Segoe UI" pitchFamily="34" charset="-120"/>
                        </a:rPr>
                        <a:t>, et le candidat dépose un nouveau reçu. Une décision ne se reprend pas. Le candidat en est averti par courriel.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Sans reçu validé, pas de dépôt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Sans reçu validé, le candidat ne lit pas les formulaires pré-remplis du dossier et ne peut pas déposer d’offre pour un lot que son reçu ne couvre pas. Un reçu en attente de décision ne suffit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reçu validé vaut preuve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reçu validé est la preuve du paiement : il n’est plus redemandé dans l’offre. Un dossier gratuit, ou une procédure lancée avant cette règle, garde le </a:t>
                      </a:r>
                      <a:pPr indent="0" marL="0">
                        <a:buNone/>
                      </a:pPr>
                      <a:r>
                        <a:rPr lang="en-US" sz="1100" b="1" dirty="0">
                          <a:solidFill>
                            <a:srgbClr val="1B2A3A"/>
                          </a:solidFill>
                          <a:latin typeface="Segoe UI" pitchFamily="34" charset="0"/>
                          <a:ea typeface="Segoe UI" pitchFamily="34" charset="-122"/>
                          <a:cs typeface="Segoe UI" pitchFamily="34" charset="-120"/>
                        </a:rPr>
                        <a:t>retrait libre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retrait du DAO après paiement des frais — V72 · Le retrait du DAO après paiement des frais — V72 ; garde des frais au dépôt (06/10) · regles-gestion.md § La remise électronique des offres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394</a:t>
            </a:r>
            <a:endParaRPr lang="en-US" sz="110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L’offre remplie en ligne</a:t>
            </a:r>
            <a:endParaRPr lang="en-US" sz="2600" dirty="0"/>
          </a:p>
        </p:txBody>
      </p:sp>
      <p:graphicFrame>
        <p:nvGraphicFramePr>
          <p:cNvPr id="39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L’offre saisie dans des formulaires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la fiche porte un besoin (fournitures, travaux), le candidat </a:t>
                      </a:r>
                      <a:pPr indent="0" marL="0">
                        <a:buNone/>
                      </a:pPr>
                      <a:r>
                        <a:rPr lang="en-US" sz="1100" b="1" dirty="0">
                          <a:solidFill>
                            <a:srgbClr val="1B2A3A"/>
                          </a:solidFill>
                          <a:latin typeface="Segoe UI" pitchFamily="34" charset="0"/>
                          <a:ea typeface="Segoe UI" pitchFamily="34" charset="-122"/>
                          <a:cs typeface="Segoe UI" pitchFamily="34" charset="-120"/>
                        </a:rPr>
                        <a:t>remplit</a:t>
                      </a:r>
                      <a:pPr indent="0" marL="0">
                        <a:buNone/>
                      </a:pPr>
                      <a:r>
                        <a:rPr lang="en-US" sz="1100" dirty="0">
                          <a:solidFill>
                            <a:srgbClr val="1B2A3A"/>
                          </a:solidFill>
                          <a:latin typeface="Segoe UI" pitchFamily="34" charset="0"/>
                          <a:ea typeface="Segoe UI" pitchFamily="34" charset="-122"/>
                          <a:cs typeface="Segoe UI" pitchFamily="34" charset="-120"/>
                        </a:rPr>
                        <a:t> son bordereau ou son devis quantitatif, sa conformité et son calendrier dans des formulaires pré-remplis depuis la fiche ; les pièces correspondantes ne sont plus exigées en fichier.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capacités déclarées aux travaux</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Aux travaux, le candidat déclare aussi le coefficient K1, les sous-détails de prix, ses capacités financières et techniques, son personnel et son matériel, face aux exigences de la fiche.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L’acte d’engagement suit le bordereau</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montants de l’acte d’engagement sont ceux du bordereau. L’acte d’engagement signé et la garantie de soumission restent des </a:t>
                      </a:r>
                      <a:pPr indent="0" marL="0">
                        <a:buNone/>
                      </a:pPr>
                      <a:r>
                        <a:rPr lang="en-US" sz="1100" b="1" dirty="0">
                          <a:solidFill>
                            <a:srgbClr val="1B2A3A"/>
                          </a:solidFill>
                          <a:latin typeface="Segoe UI" pitchFamily="34" charset="0"/>
                          <a:ea typeface="Segoe UI" pitchFamily="34" charset="-122"/>
                          <a:cs typeface="Segoe UI" pitchFamily="34" charset="-120"/>
                        </a:rPr>
                        <a:t>pièces</a:t>
                      </a:r>
                      <a:pPr indent="0" marL="0">
                        <a:buNone/>
                      </a:pPr>
                      <a:r>
                        <a:rPr lang="en-US" sz="1100" dirty="0">
                          <a:solidFill>
                            <a:srgbClr val="1B2A3A"/>
                          </a:solidFill>
                          <a:latin typeface="Segoe UI" pitchFamily="34" charset="0"/>
                          <a:ea typeface="Segoe UI" pitchFamily="34" charset="-122"/>
                          <a:cs typeface="Segoe UI" pitchFamily="34" charset="-120"/>
                        </a:rPr>
                        <a:t> à joindre ; sans formulaires, l’offre se dépose par pièces seules et les montants de l’acte se saisissent.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rabais déclaré de façon structurée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candidat déclare son rabais : un pourcentage ou un montant hors taxes, sans condition ou subordonné à l’attribution de plusieurs lots. Sa cohérence est contrôlée dans le navigateur, avant le scellement.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avertissements, jamais un refus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serveur ne lit rien de l’offre avant l’ouverture : les contrôles faits avant le scellement avertissent le candidat, puis sont rejoués à l’ouverture en </a:t>
                      </a:r>
                      <a:pPr indent="0" marL="0">
                        <a:buNone/>
                      </a:pPr>
                      <a:r>
                        <a:rPr lang="en-US" sz="1100" b="1" dirty="0">
                          <a:solidFill>
                            <a:srgbClr val="1B2A3A"/>
                          </a:solidFill>
                          <a:latin typeface="Segoe UI" pitchFamily="34" charset="0"/>
                          <a:ea typeface="Segoe UI" pitchFamily="34" charset="-122"/>
                          <a:cs typeface="Segoe UI" pitchFamily="34" charset="-120"/>
                        </a:rPr>
                        <a:t>alertes</a:t>
                      </a:r>
                      <a:pPr indent="0" marL="0">
                        <a:buNone/>
                      </a:pPr>
                      <a:r>
                        <a:rPr lang="en-US" sz="1100" dirty="0">
                          <a:solidFill>
                            <a:srgbClr val="1B2A3A"/>
                          </a:solidFill>
                          <a:latin typeface="Segoe UI" pitchFamily="34" charset="0"/>
                          <a:ea typeface="Segoe UI" pitchFamily="34" charset="-122"/>
                          <a:cs typeface="Segoe UI" pitchFamily="34" charset="-120"/>
                        </a:rPr>
                        <a:t> pour la commission, jamais en refus.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 L’offre saisie dans des formulaires — lot 5 · L’offre saisie dans des formulaires — lot 5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395</a:t>
            </a:r>
            <a:endParaRPr lang="en-US" sz="110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 (1/2)</a:t>
            </a:r>
            <a:endParaRPr lang="en-US" sz="2600" dirty="0"/>
          </a:p>
        </p:txBody>
      </p:sp>
      <p:graphicFrame>
        <p:nvGraphicFramePr>
          <p:cNvPr id="39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L’offre scellée dans le navigateur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candidat </a:t>
                      </a:r>
                      <a:pPr indent="0" marL="0">
                        <a:buNone/>
                      </a:pPr>
                      <a:r>
                        <a:rPr lang="en-US" sz="1100" b="1" dirty="0">
                          <a:solidFill>
                            <a:srgbClr val="1B2A3A"/>
                          </a:solidFill>
                          <a:latin typeface="Segoe UI" pitchFamily="34" charset="0"/>
                          <a:ea typeface="Segoe UI" pitchFamily="34" charset="-122"/>
                          <a:cs typeface="Segoe UI" pitchFamily="34" charset="-120"/>
                        </a:rPr>
                        <a:t>scelle</a:t>
                      </a:r>
                      <a:pPr indent="0" marL="0">
                        <a:buNone/>
                      </a:pPr>
                      <a:r>
                        <a:rPr lang="en-US" sz="1100" dirty="0">
                          <a:solidFill>
                            <a:srgbClr val="1B2A3A"/>
                          </a:solidFill>
                          <a:latin typeface="Segoe UI" pitchFamily="34" charset="0"/>
                          <a:ea typeface="Segoe UI" pitchFamily="34" charset="-122"/>
                          <a:cs typeface="Segoe UI" pitchFamily="34" charset="-120"/>
                        </a:rPr>
                        <a:t> son offre dans son navigateur, avec les clés publiques de la procédure. Le serveur reçoit un contenu qu’il ne peut pas lire : il sait qui a déposé, quand, pour quel lot et quelle taille, jamais un prix.</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conditions du dépôt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On dépose si la procédure est en ligne et ses dépôts ouverts à l’</a:t>
                      </a:r>
                      <a:pPr indent="0" marL="0">
                        <a:buNone/>
                      </a:pPr>
                      <a:r>
                        <a:rPr lang="en-US" sz="1100" b="1" dirty="0">
                          <a:solidFill>
                            <a:srgbClr val="1B2A3A"/>
                          </a:solidFill>
                          <a:latin typeface="Segoe UI" pitchFamily="34" charset="0"/>
                          <a:ea typeface="Segoe UI" pitchFamily="34" charset="-122"/>
                          <a:cs typeface="Segoe UI" pitchFamily="34" charset="-120"/>
                        </a:rPr>
                        <a:t>horloge du serveur</a:t>
                      </a:r>
                      <a:pPr indent="0" marL="0">
                        <a:buNone/>
                      </a:pPr>
                      <a:r>
                        <a:rPr lang="en-US" sz="1100" dirty="0">
                          <a:solidFill>
                            <a:srgbClr val="1B2A3A"/>
                          </a:solidFill>
                          <a:latin typeface="Segoe UI" pitchFamily="34" charset="0"/>
                          <a:ea typeface="Segoe UI" pitchFamily="34" charset="-122"/>
                          <a:cs typeface="Segoe UI" pitchFamily="34" charset="-120"/>
                        </a:rPr>
                        <a:t>, la cérémonie des clés close, l’entreprise déclarée et non exclue. Date limite et exclusion sont revérifiées au scellement : un dépôt non scellé à l’échéance est refusé.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offre par entreprise et par lot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seule offre déposée par entreprise et par lot. Un dépôt commencé et non scellé est purgé au bout de 24 heures sans envoi, ou à la date limite.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accusé portant l’empreinte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scellement donne un accusé de dépôt, en PDF et par courriel : numéro d’arrivée, date à l’horloge du serveur, </a:t>
                      </a:r>
                      <a:pPr indent="0" marL="0">
                        <a:buNone/>
                      </a:pPr>
                      <a:r>
                        <a:rPr lang="en-US" sz="1100" b="1" dirty="0">
                          <a:solidFill>
                            <a:srgbClr val="1B2A3A"/>
                          </a:solidFill>
                          <a:latin typeface="Segoe UI" pitchFamily="34" charset="0"/>
                          <a:ea typeface="Segoe UI" pitchFamily="34" charset="-122"/>
                          <a:cs typeface="Segoe UI" pitchFamily="34" charset="-120"/>
                        </a:rPr>
                        <a:t>empreinte</a:t>
                      </a:r>
                      <a:pPr indent="0" marL="0">
                        <a:buNone/>
                      </a:pPr>
                      <a:r>
                        <a:rPr lang="en-US" sz="1100" dirty="0">
                          <a:solidFill>
                            <a:srgbClr val="1B2A3A"/>
                          </a:solidFill>
                          <a:latin typeface="Segoe UI" pitchFamily="34" charset="0"/>
                          <a:ea typeface="Segoe UI" pitchFamily="34" charset="-122"/>
                          <a:cs typeface="Segoe UI" pitchFamily="34" charset="-120"/>
                        </a:rPr>
                        <a:t> de l’offre et empreintes des clés employées.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Remplacer ou retirer avant l’échéance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Remplacer ou retirer une offre n’est possible qu’avant la date limite, et si la fiche l’autorise. L’ancienne offre n’est remplacée qu’au scellement de la nouvelle ; une offre retirée est conservée et ne s’ouvre jamais.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 3 (V68) — le dépôt d’une offre · Le dépôt scellé d’une offre — V68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396</a:t>
            </a:r>
            <a:endParaRPr lang="en-US" sz="110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 (2/2)</a:t>
            </a:r>
            <a:endParaRPr lang="en-US" sz="2600" dirty="0"/>
          </a:p>
        </p:txBody>
      </p:sp>
      <p:graphicFrame>
        <p:nvGraphicFramePr>
          <p:cNvPr id="39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Avant l’échéance, le nombre seul</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Avant la date limite, la PRMP ne connaît que le </a:t>
                      </a:r>
                      <a:pPr indent="0" marL="0">
                        <a:buNone/>
                      </a:pPr>
                      <a:r>
                        <a:rPr lang="en-US" sz="1100" b="1" dirty="0">
                          <a:solidFill>
                            <a:srgbClr val="1B2A3A"/>
                          </a:solidFill>
                          <a:latin typeface="Segoe UI" pitchFamily="34" charset="0"/>
                          <a:ea typeface="Segoe UI" pitchFamily="34" charset="-122"/>
                          <a:cs typeface="Segoe UI" pitchFamily="34" charset="-120"/>
                        </a:rPr>
                        <a:t>nombre</a:t>
                      </a:r>
                      <a:pPr indent="0" marL="0">
                        <a:buNone/>
                      </a:pPr>
                      <a:r>
                        <a:rPr lang="en-US" sz="1100" dirty="0">
                          <a:solidFill>
                            <a:srgbClr val="1B2A3A"/>
                          </a:solidFill>
                          <a:latin typeface="Segoe UI" pitchFamily="34" charset="0"/>
                          <a:ea typeface="Segoe UI" pitchFamily="34" charset="-122"/>
                          <a:cs typeface="Segoe UI" pitchFamily="34" charset="-120"/>
                        </a:rPr>
                        <a:t> de dépôts. Le registre (qui, quand, quel lot, empreinte) ne se lit qu’après l’échéance. L’Administrateur ne lit pas les dépôts.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Toute tentative hors délai refusée et consignée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Toute tentative de déposer une offre après la date et l’heure limites est </a:t>
                      </a:r>
                      <a:pPr indent="0" marL="0">
                        <a:buNone/>
                      </a:pPr>
                      <a:r>
                        <a:rPr lang="en-US" sz="1100" b="1" dirty="0">
                          <a:solidFill>
                            <a:srgbClr val="1B2A3A"/>
                          </a:solidFill>
                          <a:latin typeface="Segoe UI" pitchFamily="34" charset="0"/>
                          <a:ea typeface="Segoe UI" pitchFamily="34" charset="-122"/>
                          <a:cs typeface="Segoe UI" pitchFamily="34" charset="-120"/>
                        </a:rPr>
                        <a:t>refusée</a:t>
                      </a:r>
                      <a:pPr indent="0" marL="0">
                        <a:buNone/>
                      </a:pPr>
                      <a:r>
                        <a:rPr lang="en-US" sz="1100" dirty="0">
                          <a:solidFill>
                            <a:srgbClr val="1B2A3A"/>
                          </a:solidFill>
                          <a:latin typeface="Segoe UI" pitchFamily="34" charset="0"/>
                          <a:ea typeface="Segoe UI" pitchFamily="34" charset="-122"/>
                          <a:cs typeface="Segoe UI" pitchFamily="34" charset="-120"/>
                        </a:rPr>
                        <a:t> (art. 44). Le refus est daté par le serveur et conservé, avec l’entreprise, le NIF, le lot et le geste refusé. Le registre des dépôts de la PRMP et le PV d’ouverture les énumèrent.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 3 (V68) — le dépôt d’une offre · regles-gestion.md § ⚠️ 2026-10-14 — manuel révisé, lot 2, tranche R9b ; demande-backend-2026-10-10-manuel-revise-lot2.md B4 (✅)</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397</a:t>
            </a:r>
            <a:endParaRPr lang="en-US" sz="110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 (1/2)</a:t>
            </a:r>
            <a:endParaRPr lang="en-US" sz="2600" dirty="0"/>
          </a:p>
        </p:txBody>
      </p:sp>
      <p:graphicFrame>
        <p:nvGraphicFramePr>
          <p:cNvPr id="39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commission désignée par la PRMP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constitue la commission d’appel d’offres par une décision, saisie par elle ou par son UGPM : au moins deux membres, un président parmi eux. Seuls les membres détiennent une part de clé. Ni la PRMP, ni l’UGPM, ni un contrôleur de la CNM, ni un candidat n’y siège.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responsable désigné par procédure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responsable de la procédure est désigné par l’Administrateur pour cette procédure, jamais parmi les détenteurs d’une part. Lui seul lit et modifie les </a:t>
                      </a:r>
                      <a:pPr indent="0" marL="0">
                        <a:buNone/>
                      </a:pPr>
                      <a:r>
                        <a:rPr lang="en-US" sz="1100" b="1" dirty="0">
                          <a:solidFill>
                            <a:srgbClr val="1B2A3A"/>
                          </a:solidFill>
                          <a:latin typeface="Segoe UI" pitchFamily="34" charset="0"/>
                          <a:ea typeface="Segoe UI" pitchFamily="34" charset="-122"/>
                          <a:cs typeface="Segoe UI" pitchFamily="34" charset="-120"/>
                        </a:rPr>
                        <a:t>paramètres internes</a:t>
                      </a:r>
                      <a:pPr indent="0" marL="0">
                        <a:buNone/>
                      </a:pPr>
                      <a:r>
                        <a:rPr lang="en-US" sz="1100" dirty="0">
                          <a:solidFill>
                            <a:srgbClr val="1B2A3A"/>
                          </a:solidFill>
                          <a:latin typeface="Segoe UI" pitchFamily="34" charset="0"/>
                          <a:ea typeface="Segoe UI" pitchFamily="34" charset="-122"/>
                          <a:cs typeface="Segoe UI" pitchFamily="34" charset="-120"/>
                        </a:rPr>
                        <a:t> (détenteurs, quorum, cérémonie, dépositaire), qui ne paraissent dans aucun document.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cérémonie des clés avant l’avis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de la commission génère sa clé dans son navigateur ; le serveur ne détient jamais une clé privée en clair. L’avis (ou les lettres d’invitation) ne se publie qu’une fois la </a:t>
                      </a:r>
                      <a:pPr indent="0" marL="0">
                        <a:buNone/>
                      </a:pPr>
                      <a:r>
                        <a:rPr lang="en-US" sz="1100" b="1" dirty="0">
                          <a:solidFill>
                            <a:srgbClr val="1B2A3A"/>
                          </a:solidFill>
                          <a:latin typeface="Segoe UI" pitchFamily="34" charset="0"/>
                          <a:ea typeface="Segoe UI" pitchFamily="34" charset="-122"/>
                          <a:cs typeface="Segoe UI" pitchFamily="34" charset="-120"/>
                        </a:rPr>
                        <a:t>cérémonie des clés</a:t>
                      </a:r>
                      <a:pPr indent="0" marL="0">
                        <a:buNone/>
                      </a:pPr>
                      <a:r>
                        <a:rPr lang="en-US" sz="1100" dirty="0">
                          <a:solidFill>
                            <a:srgbClr val="1B2A3A"/>
                          </a:solidFill>
                          <a:latin typeface="Segoe UI" pitchFamily="34" charset="0"/>
                          <a:ea typeface="Segoe UI" pitchFamily="34" charset="-122"/>
                          <a:cs typeface="Segoe UI" pitchFamily="34" charset="-120"/>
                        </a:rPr>
                        <a:t> close.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quorum de clés entre deux et tous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nombre de parts nécessaires pour ouvrir les offres est compris entre 2 et le nombre de détenteurs. S’il l’égale, un avertissement rappelle que la perte d’une seule part rendrait les offres illisibles. Ce quorum des clés est distinct du quorum de délibération de la commission (partie 07).</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dépositaire génère la part de secours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dépositaire, choisi librement pour chaque procédure, génère la part de secours sur son propre poste ; lui seul en connaît la phrase secrète. Il ne peut être ni la PRMP, ni une UGPM de la fiche, ni le responsable, ni un membre de la commission, ni un candidat.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lots 2a et 2b (V66-V67) ; arbitrages après le lot 4 (V70) · regles-gestion.md § La remise électronique des offres · regles-gestion.md § 2026-10-04, lots 2a et 2b (V66-V67) · regles-gestion.md § La remise électronique des offres (règles bloquantes, S1) · regles-gestion.md § 2026-10-05 — le dépositaire génère lui-même la part de secours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398</a:t>
            </a:r>
            <a:endParaRPr lang="en-US" sz="110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 (2/2)</a:t>
            </a:r>
            <a:endParaRPr lang="en-US" sz="2600" dirty="0"/>
          </a:p>
        </p:txBody>
      </p:sp>
      <p:graphicFrame>
        <p:nvGraphicFramePr>
          <p:cNvPr id="40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dépositaire ne voit pas les offres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dépositaire ne voit ni les offres, ni leurs pièces, ni le PV : seulement sa clé, l’état de la cérémonie et celui de la séance. Changer de dépositaire reste possible tant que les paramètres internes sont modifiables.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dépositaire génère lui-même la part de secours —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399</a:t>
            </a:r>
            <a:endParaRPr lang="en-US" sz="110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consultation restreinte</a:t>
            </a:r>
            <a:endParaRPr lang="en-US" sz="2600" dirty="0"/>
          </a:p>
        </p:txBody>
      </p:sp>
      <p:graphicFrame>
        <p:nvGraphicFramePr>
          <p:cNvPr id="40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procédure réservée aux invités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consultation restreinte de prestations intellectuelles naît à l’impression des lettres d’invitation ; elle n’apparaît pas parmi les procédures ouvertes et reste introuvable pour les non-invités. Les invités sont la liste de l’AMI, ou les candidats saisis avec leur adresse : le compte qui porte cette adresse est rattaché à l’invitation, même créé après.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Deux enveloppes, une proposition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proposition se dépose en deux enveloppes scellées l’une après l’autre : la </a:t>
                      </a:r>
                      <a:pPr indent="0" marL="0">
                        <a:buNone/>
                      </a:pPr>
                      <a:r>
                        <a:rPr lang="en-US" sz="1100" b="1" dirty="0">
                          <a:solidFill>
                            <a:srgbClr val="1B2A3A"/>
                          </a:solidFill>
                          <a:latin typeface="Segoe UI" pitchFamily="34" charset="0"/>
                          <a:ea typeface="Segoe UI" pitchFamily="34" charset="-122"/>
                          <a:cs typeface="Segoe UI" pitchFamily="34" charset="-120"/>
                        </a:rPr>
                        <a:t>technique</a:t>
                      </a:r>
                      <a:pPr indent="0" marL="0">
                        <a:buNone/>
                      </a:pPr>
                      <a:r>
                        <a:rPr lang="en-US" sz="1100" dirty="0">
                          <a:solidFill>
                            <a:srgbClr val="1B2A3A"/>
                          </a:solidFill>
                          <a:latin typeface="Segoe UI" pitchFamily="34" charset="0"/>
                          <a:ea typeface="Segoe UI" pitchFamily="34" charset="-122"/>
                          <a:cs typeface="Segoe UI" pitchFamily="34" charset="-120"/>
                        </a:rPr>
                        <a:t>, sans aucun montant, et la </a:t>
                      </a:r>
                      <a:pPr indent="0" marL="0">
                        <a:buNone/>
                      </a:pPr>
                      <a:r>
                        <a:rPr lang="en-US" sz="1100" b="1" dirty="0">
                          <a:solidFill>
                            <a:srgbClr val="1B2A3A"/>
                          </a:solidFill>
                          <a:latin typeface="Segoe UI" pitchFamily="34" charset="0"/>
                          <a:ea typeface="Segoe UI" pitchFamily="34" charset="-122"/>
                          <a:cs typeface="Segoe UI" pitchFamily="34" charset="-120"/>
                        </a:rPr>
                        <a:t>financière</a:t>
                      </a:r>
                      <a:pPr indent="0" marL="0">
                        <a:buNone/>
                      </a:pPr>
                      <a:r>
                        <a:rPr lang="en-US" sz="1100" dirty="0">
                          <a:solidFill>
                            <a:srgbClr val="1B2A3A"/>
                          </a:solidFill>
                          <a:latin typeface="Segoe UI" pitchFamily="34" charset="0"/>
                          <a:ea typeface="Segoe UI" pitchFamily="34" charset="-122"/>
                          <a:cs typeface="Segoe UI" pitchFamily="34" charset="-120"/>
                        </a:rPr>
                        <a:t>, avec l’acte d’engagement et les formulaires financiers. Les deux portent le même numéro ; l’accusé de la seconde porte l’empreinte de la première ; retirer l’une retire les deux.</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 PI-a · Lot 3 PI : demande evaluation-pi du 07/10, tranche PI-b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400</a:t>
            </a:r>
            <a:endParaRPr lang="en-US" sz="110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questions des candidats</a:t>
            </a:r>
            <a:endParaRPr lang="en-US" sz="2600" dirty="0"/>
          </a:p>
        </p:txBody>
      </p:sp>
      <p:graphicFrame>
        <p:nvGraphicFramePr>
          <p:cNvPr id="40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questions jusqu’à dix jours avant la date limite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candidat qui a retiré le dossier peut poser une question à la PRMP jusqu’à </a:t>
                      </a:r>
                      <a:pPr indent="0" marL="0">
                        <a:buNone/>
                      </a:pPr>
                      <a:r>
                        <a:rPr lang="en-US" sz="1100" b="1" dirty="0">
                          <a:solidFill>
                            <a:srgbClr val="1B2A3A"/>
                          </a:solidFill>
                          <a:latin typeface="Segoe UI" pitchFamily="34" charset="0"/>
                          <a:ea typeface="Segoe UI" pitchFamily="34" charset="-122"/>
                          <a:cs typeface="Segoe UI" pitchFamily="34" charset="-120"/>
                        </a:rPr>
                        <a:t>dix jours avant la date limite</a:t>
                      </a:r>
                      <a:pPr indent="0" marL="0">
                        <a:buNone/>
                      </a:pPr>
                      <a:r>
                        <a:rPr lang="en-US" sz="1100" dirty="0">
                          <a:solidFill>
                            <a:srgbClr val="1B2A3A"/>
                          </a:solidFill>
                          <a:latin typeface="Segoe UI" pitchFamily="34" charset="0"/>
                          <a:ea typeface="Segoe UI" pitchFamily="34" charset="-122"/>
                          <a:cs typeface="Segoe UI" pitchFamily="34" charset="-120"/>
                        </a:rPr>
                        <a:t>, ce dixième jour compris (art. 35-II) ; ensuite les questions sont closes. La PRMP répond par écrit, avec une pièce jointe si elle le souhaite ; une question n’a qu’une réponse, définitive.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réponse diffusée à tous, sans auteur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réponse est </a:t>
                      </a:r>
                      <a:pPr indent="0" marL="0">
                        <a:buNone/>
                      </a:pPr>
                      <a:r>
                        <a:rPr lang="en-US" sz="1100" b="1" dirty="0">
                          <a:solidFill>
                            <a:srgbClr val="1B2A3A"/>
                          </a:solidFill>
                          <a:latin typeface="Segoe UI" pitchFamily="34" charset="0"/>
                          <a:ea typeface="Segoe UI" pitchFamily="34" charset="-122"/>
                          <a:cs typeface="Segoe UI" pitchFamily="34" charset="-120"/>
                        </a:rPr>
                        <a:t>diffusée aussitôt</a:t>
                      </a:r>
                      <a:pPr indent="0" marL="0">
                        <a:buNone/>
                      </a:pPr>
                      <a:r>
                        <a:rPr lang="en-US" sz="1100" dirty="0">
                          <a:solidFill>
                            <a:srgbClr val="1B2A3A"/>
                          </a:solidFill>
                          <a:latin typeface="Segoe UI" pitchFamily="34" charset="0"/>
                          <a:ea typeface="Segoe UI" pitchFamily="34" charset="-122"/>
                          <a:cs typeface="Segoe UI" pitchFamily="34" charset="-120"/>
                        </a:rPr>
                        <a:t> à tous les candidats ayant retiré le dossier, par notification et sur la page publique de la procédure, sans le nom de l’auteur de la question. Les questions répondues sont jointes d’office au dossier de marché soumis à la Commission.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 2026-10-13 — manuel révisé, lot 2, tranche R7 (V109)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401</a:t>
            </a:r>
            <a:endParaRPr lang="en-US" sz="110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la séance</a:t>
            </a:r>
            <a:endParaRPr lang="en-US" sz="2600" dirty="0"/>
          </a:p>
        </p:txBody>
      </p:sp>
      <p:graphicFrame>
        <p:nvGraphicFramePr>
          <p:cNvPr id="40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L’ouverture à l’heure fixée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responsable de la procédure ouvre la séance à l’</a:t>
                      </a:r>
                      <a:pPr indent="0" marL="0">
                        <a:buNone/>
                      </a:pPr>
                      <a:r>
                        <a:rPr lang="en-US" sz="1100" b="1" dirty="0">
                          <a:solidFill>
                            <a:srgbClr val="1B2A3A"/>
                          </a:solidFill>
                          <a:latin typeface="Segoe UI" pitchFamily="34" charset="0"/>
                          <a:ea typeface="Segoe UI" pitchFamily="34" charset="-122"/>
                          <a:cs typeface="Segoe UI" pitchFamily="34" charset="-120"/>
                        </a:rPr>
                        <a:t>heure d’ouverture</a:t>
                      </a:r>
                      <a:pPr indent="0" marL="0">
                        <a:buNone/>
                      </a:pPr>
                      <a:r>
                        <a:rPr lang="en-US" sz="1100" dirty="0">
                          <a:solidFill>
                            <a:srgbClr val="1B2A3A"/>
                          </a:solidFill>
                          <a:latin typeface="Segoe UI" pitchFamily="34" charset="0"/>
                          <a:ea typeface="Segoe UI" pitchFamily="34" charset="-122"/>
                          <a:cs typeface="Segoe UI" pitchFamily="34" charset="-120"/>
                        </a:rPr>
                        <a:t> fixée par la fiche, une fois la date limite passée. Avant, personne ne reçoit rien, pas même les parts chiffrées.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rappels avant la séance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membres de la commission et le responsable reçoivent un rappel la veille, puis une heure avant l’heure d’ouverture.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présences consignées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responsable enregistre les présents : membres de la commission et autres personnes, avec leur qualité. Un membre qui apporte ses parts est </a:t>
                      </a:r>
                      <a:pPr indent="0" marL="0">
                        <a:buNone/>
                      </a:pPr>
                      <a:r>
                        <a:rPr lang="en-US" sz="1100" b="1" dirty="0">
                          <a:solidFill>
                            <a:srgbClr val="1B2A3A"/>
                          </a:solidFill>
                          <a:latin typeface="Segoe UI" pitchFamily="34" charset="0"/>
                          <a:ea typeface="Segoe UI" pitchFamily="34" charset="-122"/>
                          <a:cs typeface="Segoe UI" pitchFamily="34" charset="-120"/>
                        </a:rPr>
                        <a:t>présent d’office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Sans offre, un PV de carence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Sans aucune offre déposée, la séance s’ouvre directement et le PV est un </a:t>
                      </a:r>
                      <a:pPr indent="0" marL="0">
                        <a:buNone/>
                      </a:pPr>
                      <a:r>
                        <a:rPr lang="en-US" sz="1100" b="1" dirty="0">
                          <a:solidFill>
                            <a:srgbClr val="1B2A3A"/>
                          </a:solidFill>
                          <a:latin typeface="Segoe UI" pitchFamily="34" charset="0"/>
                          <a:ea typeface="Segoe UI" pitchFamily="34" charset="-122"/>
                          <a:cs typeface="Segoe UI" pitchFamily="34" charset="-120"/>
                        </a:rPr>
                        <a:t>PV de carence</a:t>
                      </a:r>
                      <a:pPr indent="0" marL="0">
                        <a:buNone/>
                      </a:pPr>
                      <a:r>
                        <a:rPr lang="en-US" sz="1100" dirty="0">
                          <a:solidFill>
                            <a:srgbClr val="1B2A3A"/>
                          </a:solidFill>
                          <a:latin typeface="Segoe UI" pitchFamily="34" charset="0"/>
                          <a:ea typeface="Segoe UI" pitchFamily="34" charset="-122"/>
                          <a:cs typeface="Segoe UI" pitchFamily="34" charset="-120"/>
                        </a:rPr>
                        <a:t>, signé selon la même règle que les autres.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 4 (V69) — l’ouverture des plis · L’ouverture des plis en séance — V69 · regles-gestion.md § 2026-10-04, lot 4 (V69) ; arbitrages après le lot 4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402</a:t>
            </a:r>
            <a:endParaRPr lang="en-US" sz="1100" dirty="0"/>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parts et le quorum des clés</a:t>
            </a:r>
            <a:endParaRPr lang="en-US" sz="2600" dirty="0"/>
          </a:p>
        </p:txBody>
      </p:sp>
      <p:graphicFrame>
        <p:nvGraphicFramePr>
          <p:cNvPr id="40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Toutes ses parts en une fois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déverrouille sa clé dans son navigateur et apporte </a:t>
                      </a:r>
                      <a:pPr indent="0" marL="0">
                        <a:buNone/>
                      </a:pPr>
                      <a:r>
                        <a:rPr lang="en-US" sz="1100" b="1" dirty="0">
                          <a:solidFill>
                            <a:srgbClr val="1B2A3A"/>
                          </a:solidFill>
                          <a:latin typeface="Segoe UI" pitchFamily="34" charset="0"/>
                          <a:ea typeface="Segoe UI" pitchFamily="34" charset="-122"/>
                          <a:cs typeface="Segoe UI" pitchFamily="34" charset="-120"/>
                        </a:rPr>
                        <a:t>toutes ses parts</a:t>
                      </a:r>
                      <a:pPr indent="0" marL="0">
                        <a:buNone/>
                      </a:pPr>
                      <a:r>
                        <a:rPr lang="en-US" sz="1100" dirty="0">
                          <a:solidFill>
                            <a:srgbClr val="1B2A3A"/>
                          </a:solidFill>
                          <a:latin typeface="Segoe UI" pitchFamily="34" charset="0"/>
                          <a:ea typeface="Segoe UI" pitchFamily="34" charset="-122"/>
                          <a:cs typeface="Segoe UI" pitchFamily="34" charset="-120"/>
                        </a:rPr>
                        <a:t> en une fois, une par offre. Il peut les rapporter : elles remplacent les précédentes.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parts jamais conservées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parts apportées vivent en mémoire du serveur seulement, jamais en base ni au journal, et s’effacent au déchiffrement. Un redémarrage du serveur pendant la séance oblige les membres à les rapporter.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part de secours, sur demande motivée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Si une part manque, le responsable </a:t>
                      </a:r>
                      <a:pPr indent="0" marL="0">
                        <a:buNone/>
                      </a:pPr>
                      <a:r>
                        <a:rPr lang="en-US" sz="1100" b="1" dirty="0">
                          <a:solidFill>
                            <a:srgbClr val="1B2A3A"/>
                          </a:solidFill>
                          <a:latin typeface="Segoe UI" pitchFamily="34" charset="0"/>
                          <a:ea typeface="Segoe UI" pitchFamily="34" charset="-122"/>
                          <a:cs typeface="Segoe UI" pitchFamily="34" charset="-120"/>
                        </a:rPr>
                        <a:t>demande</a:t>
                      </a:r>
                      <a:pPr indent="0" marL="0">
                        <a:buNone/>
                      </a:pPr>
                      <a:r>
                        <a:rPr lang="en-US" sz="1100" dirty="0">
                          <a:solidFill>
                            <a:srgbClr val="1B2A3A"/>
                          </a:solidFill>
                          <a:latin typeface="Segoe UI" pitchFamily="34" charset="0"/>
                          <a:ea typeface="Segoe UI" pitchFamily="34" charset="-122"/>
                          <a:cs typeface="Segoe UI" pitchFamily="34" charset="-120"/>
                        </a:rPr>
                        <a:t> la part de secours avec un motif, porté au PV ; le dépositaire l’apporte depuis son propre poste.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Au quorum, tout s’ouvre ensemble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 </a:t>
                      </a:r>
                      <a:pPr indent="0" marL="0">
                        <a:buNone/>
                      </a:pPr>
                      <a:r>
                        <a:rPr lang="en-US" sz="1100" b="1" dirty="0">
                          <a:solidFill>
                            <a:srgbClr val="1B2A3A"/>
                          </a:solidFill>
                          <a:latin typeface="Segoe UI" pitchFamily="34" charset="0"/>
                          <a:ea typeface="Segoe UI" pitchFamily="34" charset="-122"/>
                          <a:cs typeface="Segoe UI" pitchFamily="34" charset="-120"/>
                        </a:rPr>
                        <a:t>quorum</a:t>
                      </a:r>
                      <a:pPr indent="0" marL="0">
                        <a:buNone/>
                      </a:pPr>
                      <a:r>
                        <a:rPr lang="en-US" sz="1100" dirty="0">
                          <a:solidFill>
                            <a:srgbClr val="1B2A3A"/>
                          </a:solidFill>
                          <a:latin typeface="Segoe UI" pitchFamily="34" charset="0"/>
                          <a:ea typeface="Segoe UI" pitchFamily="34" charset="-122"/>
                          <a:cs typeface="Segoe UI" pitchFamily="34" charset="-120"/>
                        </a:rPr>
                        <a:t> des parts, toutes les offres s’ouvrent ensemble, dans un même geste ; aucune ne s’ouvre avant les autres.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Quorum impossible : PV de constat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Si le quorum des parts ne peut plus être atteint, part de secours comprise, le responsable constate l’illisibilité : un PV de constat est dressé, les soumissionnaires sont avertis et la procédure est à relancer.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 4 (V69) — l’ouverture des plis · L’ouverture des plis en séance — V69 · regles-gestion.md § 2026-10-05 — le dépositaire génère lui-même la part de secours (V71) · regles-gestion.md § 2026-10-04, lot 4 (V69) — l’ouverture des plis (S5)</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403</a:t>
            </a:r>
            <a:endParaRPr lang="en-US" sz="1100" dirty="0"/>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des offres</a:t>
            </a:r>
            <a:endParaRPr lang="en-US" sz="2600" dirty="0"/>
          </a:p>
        </p:txBody>
      </p:sp>
      <p:graphicFrame>
        <p:nvGraphicFramePr>
          <p:cNvPr id="40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L’exclusion après dépôt écarte l’offre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offre dont l’entreprise, ou un membre du groupement, a été exclue par l’ARMP depuis son dépôt est </a:t>
                      </a:r>
                      <a:pPr indent="0" marL="0">
                        <a:buNone/>
                      </a:pPr>
                      <a:r>
                        <a:rPr lang="en-US" sz="1100" b="1" dirty="0">
                          <a:solidFill>
                            <a:srgbClr val="1B2A3A"/>
                          </a:solidFill>
                          <a:latin typeface="Segoe UI" pitchFamily="34" charset="0"/>
                          <a:ea typeface="Segoe UI" pitchFamily="34" charset="-122"/>
                          <a:cs typeface="Segoe UI" pitchFamily="34" charset="-120"/>
                        </a:rPr>
                        <a:t>écartée sans être ouverte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L’intégrité de chaque offre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L’empreinte de chaque offre est recalculée : une offre altérée est signalée. Une offre qu’on ne peut pas lire ne bloque pas les autres. Les offres retirées et remplacées ne s’ouvrent jamais.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 4 (V69) — l’ouverture des plis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404</a:t>
            </a:r>
            <a:endParaRPr lang="en-US" sz="1100" dirty="0"/>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 (1/2)</a:t>
            </a:r>
            <a:endParaRPr lang="en-US" sz="2600" dirty="0"/>
          </a:p>
        </p:txBody>
      </p:sp>
      <p:graphicFrame>
        <p:nvGraphicFramePr>
          <p:cNvPr id="40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lecture informe, ne refuse pas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lecture — montants, délai, validité, garantie, pièces manquantes, vérification du NIF, rapprochements entre déposants — est une information pour la commission, </a:t>
                      </a:r>
                      <a:pPr indent="0" marL="0">
                        <a:buNone/>
                      </a:pPr>
                      <a:r>
                        <a:rPr lang="en-US" sz="1100" b="1" dirty="0">
                          <a:solidFill>
                            <a:srgbClr val="1B2A3A"/>
                          </a:solidFill>
                          <a:latin typeface="Segoe UI" pitchFamily="34" charset="0"/>
                          <a:ea typeface="Segoe UI" pitchFamily="34" charset="-122"/>
                          <a:cs typeface="Segoe UI" pitchFamily="34" charset="-120"/>
                        </a:rPr>
                        <a:t>jamais un refus</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totaux recalculés à l’ouverture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Pour une offre remplie en ligne, le serveur </a:t>
                      </a:r>
                      <a:pPr indent="0" marL="0">
                        <a:buNone/>
                      </a:pPr>
                      <a:r>
                        <a:rPr lang="en-US" sz="1100" b="1" dirty="0">
                          <a:solidFill>
                            <a:srgbClr val="1B2A3A"/>
                          </a:solidFill>
                          <a:latin typeface="Segoe UI" pitchFamily="34" charset="0"/>
                          <a:ea typeface="Segoe UI" pitchFamily="34" charset="-122"/>
                          <a:cs typeface="Segoe UI" pitchFamily="34" charset="-120"/>
                        </a:rPr>
                        <a:t>recalcule les totaux</a:t>
                      </a:r>
                      <a:pPr indent="0" marL="0">
                        <a:buNone/>
                      </a:pPr>
                      <a:r>
                        <a:rPr lang="en-US" sz="1100" dirty="0">
                          <a:solidFill>
                            <a:srgbClr val="1B2A3A"/>
                          </a:solidFill>
                          <a:latin typeface="Segoe UI" pitchFamily="34" charset="0"/>
                          <a:ea typeface="Segoe UI" pitchFamily="34" charset="-122"/>
                          <a:cs typeface="Segoe UI" pitchFamily="34" charset="-120"/>
                        </a:rPr>
                        <a:t> et signale les écarts avec l’acte d’engagement, les prix manquants, les prix en lettres divergents, les plafonds dépassés, les non-conformités et les livraisons hors délai.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Aux travaux, capacités et prix en lettres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Aux travaux, le prix en lettres fait foi ; le serveur signale aussi les capacités, le personnel et le matériel insuffisants, ainsi que les sous-détails de prix incohérents. Le détail des prix n’est lu que par la commission.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garantie lue en séance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garantie de soumission est lue en séance, montant et émetteur imprimés au PV. Un montant inférieur au minimum fixé par la fiche, par lot le cas échéant, donne une </a:t>
                      </a:r>
                      <a:pPr indent="0" marL="0">
                        <a:buNone/>
                      </a:pPr>
                      <a:r>
                        <a:rPr lang="en-US" sz="1100" b="1" dirty="0">
                          <a:solidFill>
                            <a:srgbClr val="1B2A3A"/>
                          </a:solidFill>
                          <a:latin typeface="Segoe UI" pitchFamily="34" charset="0"/>
                          <a:ea typeface="Segoe UI" pitchFamily="34" charset="-122"/>
                          <a:cs typeface="Segoe UI" pitchFamily="34" charset="-120"/>
                        </a:rPr>
                        <a:t>alerte</a:t>
                      </a:r>
                      <a:pPr indent="0" marL="0">
                        <a:buNone/>
                      </a:pPr>
                      <a:r>
                        <a:rPr lang="en-US" sz="1100" dirty="0">
                          <a:solidFill>
                            <a:srgbClr val="1B2A3A"/>
                          </a:solidFill>
                          <a:latin typeface="Segoe UI" pitchFamily="34" charset="0"/>
                          <a:ea typeface="Segoe UI" pitchFamily="34" charset="-122"/>
                          <a:cs typeface="Segoe UI" pitchFamily="34" charset="-120"/>
                        </a:rPr>
                        <a:t>, jamais un refus.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frais de dossier lus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séance indique, offre par offre, si les frais de dossier sont réglés. Une offre sans reçu validé couvrant son lot est </a:t>
                      </a:r>
                      <a:pPr indent="0" marL="0">
                        <a:buNone/>
                      </a:pPr>
                      <a:r>
                        <a:rPr lang="en-US" sz="1100" b="1" dirty="0">
                          <a:solidFill>
                            <a:srgbClr val="1B2A3A"/>
                          </a:solidFill>
                          <a:latin typeface="Segoe UI" pitchFamily="34" charset="0"/>
                          <a:ea typeface="Segoe UI" pitchFamily="34" charset="-122"/>
                          <a:cs typeface="Segoe UI" pitchFamily="34" charset="-120"/>
                        </a:rPr>
                        <a:t>signalée</a:t>
                      </a:r>
                      <a:pPr indent="0" marL="0">
                        <a:buNone/>
                      </a:pPr>
                      <a:r>
                        <a:rPr lang="en-US" sz="1100" dirty="0">
                          <a:solidFill>
                            <a:srgbClr val="1B2A3A"/>
                          </a:solidFill>
                          <a:latin typeface="Segoe UI" pitchFamily="34" charset="0"/>
                          <a:ea typeface="Segoe UI" pitchFamily="34" charset="-122"/>
                          <a:cs typeface="Segoe UI" pitchFamily="34" charset="-120"/>
                        </a:rPr>
                        <a:t> à la commission, jamais écartée.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2026-10-04, lot 4 (V69) — l’ouverture des plis · regles-gestion.md § La remise électronique des offres (offre en formulaires) · regles-gestion.md § La remise électronique des offres (offre en formulaires, lot 5b) · regles-gestion.md § Les arbitrages du pilote après le lot 4 — V70 · regles-gestion.md § Le retrait du DAO après paiement des frais — V72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405</a:t>
            </a:r>
            <a:endParaRPr lang="en-US" sz="1100" dirty="0"/>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 (2/2)</a:t>
            </a:r>
            <a:endParaRPr lang="en-US" sz="2600" dirty="0"/>
          </a:p>
        </p:txBody>
      </p:sp>
      <p:graphicFrame>
        <p:nvGraphicFramePr>
          <p:cNvPr id="40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rabais lu chiffré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rabais se lit chiffré : un rabais sans condition est calculé sur le montant hors taxes lu ; un rabais lié à plusieurs lots est lu avec sa condition. Le PV et son extrait public en impriment la phrase.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406</a:t>
            </a:r>
            <a:endParaRPr lang="en-US" sz="1100" dirty="0"/>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des offres</a:t>
            </a:r>
            <a:endParaRPr lang="en-US" sz="2600" dirty="0"/>
          </a:p>
        </p:txBody>
      </p:sp>
      <p:graphicFrame>
        <p:nvGraphicFramePr>
          <p:cNvPr id="40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pièces, pour la commission seule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pièces des offres ne s’ouvrent que par les </a:t>
                      </a:r>
                      <a:pPr indent="0" marL="0">
                        <a:buNone/>
                      </a:pPr>
                      <a:r>
                        <a:rPr lang="en-US" sz="1100" b="1" dirty="0">
                          <a:solidFill>
                            <a:srgbClr val="1B2A3A"/>
                          </a:solidFill>
                          <a:latin typeface="Segoe UI" pitchFamily="34" charset="0"/>
                          <a:ea typeface="Segoe UI" pitchFamily="34" charset="-122"/>
                          <a:cs typeface="Segoe UI" pitchFamily="34" charset="-120"/>
                        </a:rPr>
                        <a:t>membres de la commission</a:t>
                      </a:r>
                      <a:pPr indent="0" marL="0">
                        <a:buNone/>
                      </a:pPr>
                      <a:r>
                        <a:rPr lang="en-US" sz="1100" dirty="0">
                          <a:solidFill>
                            <a:srgbClr val="1B2A3A"/>
                          </a:solidFill>
                          <a:latin typeface="Segoe UI" pitchFamily="34" charset="0"/>
                          <a:ea typeface="Segoe UI" pitchFamily="34" charset="-122"/>
                          <a:cs typeface="Segoe UI" pitchFamily="34" charset="-120"/>
                        </a:rPr>
                        <a:t>. Le responsable, la PRMP et l’UGPM lisent ce qui est lu en séance, sans ouvrir aucun fichier ; pour montrer une pièce à la salle, un membre l’ouvre.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registre complet après l’échéance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Après la date limite, la PRMP lit le registre complet des dépôts : chaque offre, son entreprise, son lot, sa date de dépôt ou de retrait, son empreinte et son état, ainsi que les tentatives refusées hors délai (partie 06).</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Les arbitrages du pilote après le lot 4 — V70 · regles-gestion.md § 2026-10-04, lot 3 (V68) ; ⚠️ 2026-10-14, tranche R9b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407</a:t>
            </a:r>
            <a:endParaRPr lang="en-US" sz="1100" dirty="0"/>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(1/2)</a:t>
            </a:r>
            <a:endParaRPr lang="en-US" sz="2600" dirty="0"/>
          </a:p>
        </p:txBody>
      </p:sp>
      <p:graphicFrame>
        <p:nvGraphicFramePr>
          <p:cNvPr id="40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PV produit par le responsable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responsable produit le PV : présents, emploi de la part de secours et son motif, lecture offre par offre, offres non ouvertes et pourquoi, observations. Les présences ne se modifient plus ensuite.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Signé par chaque membre présent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présent signe le PV d’une </a:t>
                      </a:r>
                      <a:pPr indent="0" marL="0">
                        <a:buNone/>
                      </a:pPr>
                      <a:r>
                        <a:rPr lang="en-US" sz="1100" b="1" dirty="0">
                          <a:solidFill>
                            <a:srgbClr val="1B2A3A"/>
                          </a:solidFill>
                          <a:latin typeface="Segoe UI" pitchFamily="34" charset="0"/>
                          <a:ea typeface="Segoe UI" pitchFamily="34" charset="-122"/>
                          <a:cs typeface="Segoe UI" pitchFamily="34" charset="-120"/>
                        </a:rPr>
                        <a:t>signature électronique simple</a:t>
                      </a:r>
                      <a:pPr indent="0" marL="0">
                        <a:buNone/>
                      </a:pPr>
                      <a:r>
                        <a:rPr lang="en-US" sz="1100" dirty="0">
                          <a:solidFill>
                            <a:srgbClr val="1B2A3A"/>
                          </a:solidFill>
                          <a:latin typeface="Segoe UI" pitchFamily="34" charset="0"/>
                          <a:ea typeface="Segoe UI" pitchFamily="34" charset="-122"/>
                          <a:cs typeface="Segoe UI" pitchFamily="34" charset="-120"/>
                        </a:rPr>
                        <a:t> : l’acte authentifié du membre connecté, horodaté et journalisé.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L’empêchement constaté avec motif</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membre présent qui ne peut pas signer ne bloque pas la séance : le président de la commission, ou à défaut le responsable, constate son </a:t>
                      </a:r>
                      <a:pPr indent="0" marL="0">
                        <a:buNone/>
                      </a:pPr>
                      <a:r>
                        <a:rPr lang="en-US" sz="1100" b="1" dirty="0">
                          <a:solidFill>
                            <a:srgbClr val="1B2A3A"/>
                          </a:solidFill>
                          <a:latin typeface="Segoe UI" pitchFamily="34" charset="0"/>
                          <a:ea typeface="Segoe UI" pitchFamily="34" charset="-122"/>
                          <a:cs typeface="Segoe UI" pitchFamily="34" charset="-120"/>
                        </a:rPr>
                        <a:t>empêchement</a:t>
                      </a:r>
                      <a:pPr indent="0" marL="0">
                        <a:buNone/>
                      </a:pPr>
                      <a:r>
                        <a:rPr lang="en-US" sz="1100" dirty="0">
                          <a:solidFill>
                            <a:srgbClr val="1B2A3A"/>
                          </a:solidFill>
                          <a:latin typeface="Segoe UI" pitchFamily="34" charset="0"/>
                          <a:ea typeface="Segoe UI" pitchFamily="34" charset="-122"/>
                          <a:cs typeface="Segoe UI" pitchFamily="34" charset="-120"/>
                        </a:rPr>
                        <a:t>, avec un motif porté au PV. Depuis le 10/10, un empêchement qui rendrait le quorum de la commission inatteignable est refusé.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Clôture à la dernière signature, au quorum</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dernière signature, la séance est close, l’extrait du PV est publié si la fiche le prévoit, et les intéressés sont avertis. Avant, rien n’est publié. Depuis le 10/10, la clôture exige le </a:t>
                      </a:r>
                      <a:pPr indent="0" marL="0">
                        <a:buNone/>
                      </a:pPr>
                      <a:r>
                        <a:rPr lang="en-US" sz="1100" b="1" dirty="0">
                          <a:solidFill>
                            <a:srgbClr val="1B2A3A"/>
                          </a:solidFill>
                          <a:latin typeface="Segoe UI" pitchFamily="34" charset="0"/>
                          <a:ea typeface="Segoe UI" pitchFamily="34" charset="-122"/>
                          <a:cs typeface="Segoe UI" pitchFamily="34" charset="-120"/>
                        </a:rPr>
                        <a:t>quorum de la commission</a:t>
                      </a:r>
                      <a:pPr indent="0" marL="0">
                        <a:buNone/>
                      </a:pPr>
                      <a:r>
                        <a:rPr lang="en-US" sz="1100" dirty="0">
                          <a:solidFill>
                            <a:srgbClr val="1B2A3A"/>
                          </a:solidFill>
                          <a:latin typeface="Segoe UI" pitchFamily="34" charset="0"/>
                          <a:ea typeface="Segoe UI" pitchFamily="34" charset="-122"/>
                          <a:cs typeface="Segoe UI" pitchFamily="34" charset="-120"/>
                        </a:rPr>
                        <a:t> sur les présents : une séance sans membre présent ne se clôt plus.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L’extrait public, sans les alertes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L’extrait publié du PV ne porte ni les alertes ni la vérification des NIF : elles restent réservées à la commission.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Les arbitrages du pilote après le lot 4 — V70 · regles-gestion.md § Les arbitrages du pilote après le lot 4 — V70 · regles-gestion.md § Les arbitrages du pilote après le lot 4 — V70 ; ⚠️ 2026-10-10, tranche R1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408</a:t>
            </a:r>
            <a:endParaRPr lang="en-US" sz="1100" dirty="0"/>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(2/2)</a:t>
            </a:r>
            <a:endParaRPr lang="en-US" sz="2600" dirty="0"/>
          </a:p>
        </p:txBody>
      </p:sp>
      <p:graphicFrame>
        <p:nvGraphicFramePr>
          <p:cNvPr id="41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tentatives tardives au PV</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PV d’ouverture énumère les tentatives de dépôt refusées après la date limite, datées par le serveur (art. 44), comme le registre des dépôts de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 2026-10-14 — manuel révisé, lot 2, tranche R9b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409</a:t>
            </a:r>
            <a:endParaRPr lang="en-US" sz="1100" dirty="0"/>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conservation des offres</a:t>
            </a:r>
            <a:endParaRPr lang="en-US" sz="2600" dirty="0"/>
          </a:p>
        </p:txBody>
      </p:sp>
      <p:graphicFrame>
        <p:nvGraphicFramePr>
          <p:cNvPr id="4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durée fixée par l’Administrateur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durée de conservation des offres est fixée par l’Administrateur et court depuis la clôture de la séance. Tant qu’elle ne l’est pas, </a:t>
                      </a:r>
                      <a:pPr indent="0" marL="0">
                        <a:buNone/>
                      </a:pPr>
                      <a:r>
                        <a:rPr lang="en-US" sz="1100" b="1" dirty="0">
                          <a:solidFill>
                            <a:srgbClr val="1B2A3A"/>
                          </a:solidFill>
                          <a:latin typeface="Segoe UI" pitchFamily="34" charset="0"/>
                          <a:ea typeface="Segoe UI" pitchFamily="34" charset="-122"/>
                          <a:cs typeface="Segoe UI" pitchFamily="34" charset="-120"/>
                        </a:rPr>
                        <a:t>rien n’est supprimé</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purge manuelle et tracée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 terme, l’Administrateur purge les procédures échues, une à une, sans suppression automatique : le contenu des offres disparaît ; le journal, les empreintes, la lecture et le PV restent, et la purge est journalisée.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Les arbitrages du pilote après le lot 4 —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410</a:t>
            </a:r>
            <a:endParaRPr lang="en-US" sz="1100" dirty="0"/>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4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première séance n’ouvre que les techniques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Seules les enveloppes techniques sont listées, leurs parts demandées et ouvertes ; les financières restent scellées. Un montant trouvé dans une technique n’est pas lu (alerte « Montant dans l’enveloppe technique ») ; une proposition sans financière est signalée. Le PV ne lit aucun montant.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seconde séance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Elle s’ouvre quand l’évaluation technique est arrêtée sur chaque lot, avec les mêmes clés et le même quorum des parts. Seules les financières des propositions qualifiées s’ouvrent ; les autres ne s’ouvrent jamais, avec leur motif. Après l’échec d’une négociation, une séance complémentaire ouvre celle du suivant. Depuis le 10/10, son PV se signe comme celui de la première séance.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 PI-b · Lot 3 PI : tranches PI-d1 et PI-d2a ; regles-gestion.md § ⚠️ 2026-10-10, tranche R1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411</a:t>
            </a:r>
            <a:endParaRPr lang="en-US" sz="1100" dirty="0"/>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de la commission</a:t>
            </a:r>
            <a:endParaRPr lang="en-US" sz="2600" dirty="0"/>
          </a:p>
        </p:txBody>
      </p:sp>
      <p:graphicFrame>
        <p:nvGraphicFramePr>
          <p:cNvPr id="4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commission ne délibère qu’au quorum</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règle du quorum est réglée par l’Administrateur pour toutes les procédures — par défaut la </a:t>
                      </a:r>
                      <a:pPr indent="0" marL="0">
                        <a:buNone/>
                      </a:pPr>
                      <a:r>
                        <a:rPr lang="en-US" sz="1100" b="1" dirty="0">
                          <a:solidFill>
                            <a:srgbClr val="1B2A3A"/>
                          </a:solidFill>
                          <a:latin typeface="Segoe UI" pitchFamily="34" charset="0"/>
                          <a:ea typeface="Segoe UI" pitchFamily="34" charset="-122"/>
                          <a:cs typeface="Segoe UI" pitchFamily="34" charset="-120"/>
                        </a:rPr>
                        <a:t>majorité</a:t>
                      </a:r>
                      <a:pPr indent="0" marL="0">
                        <a:buNone/>
                      </a:pPr>
                      <a:r>
                        <a:rPr lang="en-US" sz="1100" dirty="0">
                          <a:solidFill>
                            <a:srgbClr val="1B2A3A"/>
                          </a:solidFill>
                          <a:latin typeface="Segoe UI" pitchFamily="34" charset="0"/>
                          <a:ea typeface="Segoe UI" pitchFamily="34" charset="-122"/>
                          <a:cs typeface="Segoe UI" pitchFamily="34" charset="-120"/>
                        </a:rPr>
                        <a:t> (plus de la moitié des membres désignés), ou tous, ou un nombre — et peut être surchargée procédure par procédure. Le </a:t>
                      </a:r>
                      <a:pPr indent="0" marL="0">
                        <a:buNone/>
                      </a:pPr>
                      <a:r>
                        <a:rPr lang="en-US" sz="1100" b="1" dirty="0">
                          <a:solidFill>
                            <a:srgbClr val="1B2A3A"/>
                          </a:solidFill>
                          <a:latin typeface="Segoe UI" pitchFamily="34" charset="0"/>
                          <a:ea typeface="Segoe UI" pitchFamily="34" charset="-122"/>
                          <a:cs typeface="Segoe UI" pitchFamily="34" charset="-120"/>
                        </a:rPr>
                        <a:t>président</a:t>
                      </a:r>
                      <a:pPr indent="0" marL="0">
                        <a:buNone/>
                      </a:pPr>
                      <a:r>
                        <a:rPr lang="en-US" sz="1100" dirty="0">
                          <a:solidFill>
                            <a:srgbClr val="1B2A3A"/>
                          </a:solidFill>
                          <a:latin typeface="Segoe UI" pitchFamily="34" charset="0"/>
                          <a:ea typeface="Segoe UI" pitchFamily="34" charset="-122"/>
                          <a:cs typeface="Segoe UI" pitchFamily="34" charset="-120"/>
                        </a:rPr>
                        <a:t>, ou son représentant désigné, est toujours requis en plus. Le quorum bloque la clôture de la séance d’ouverture et de la seconde séance ; le quorum constaté est imprimé au PV. Sur une commission de deux membres, la majorité vaut l’unanimité. Il est distinct du quorum des parts de clé.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représentant du président, par contexte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désigne, s’il le souhaite, le membre qui le représente pour un contexte précis : séance d’ouverture, seconde séance, rapport d’évaluation, liste de l’AMI. Sans désignation, il est lui-même requis. La désignation n’est plus possible une fois un dossier de marché de la procédure soumis à la Commission.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 2026-10-10 — le quorum de la commission (manuel révisé, lot 1, tranche R1 ; arbitrage Q5) · regles-gestion.md § ⚠️ 2026-10-10, tranche R1 ; écran de la commission (features/cao/procedure-cao.ts, R9c)</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412</a:t>
            </a:r>
            <a:endParaRPr lang="en-US" sz="1100" dirty="0"/>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l’évaluation</a:t>
            </a:r>
            <a:endParaRPr lang="en-US" sz="2600" dirty="0"/>
          </a:p>
        </p:txBody>
      </p:sp>
      <p:graphicFrame>
        <p:nvGraphicFramePr>
          <p:cNvPr id="4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offres en ligne, lot par lot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commission évalue les offres dans l’application, lot par lot, en suivant le guide d’évaluation. Les offres papier n’y entrent pas ; les offres écartées au dépôt, retirées ou remplacées ne sont pas évaluées, et l’écran les nomme avec leur raison.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Ouverte après le PV signé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responsable de la procédure ouvre l’évaluation une fois le </a:t>
                      </a:r>
                      <a:pPr indent="0" marL="0">
                        <a:buNone/>
                      </a:pPr>
                      <a:r>
                        <a:rPr lang="en-US" sz="1100" b="1" dirty="0">
                          <a:solidFill>
                            <a:srgbClr val="1B2A3A"/>
                          </a:solidFill>
                          <a:latin typeface="Segoe UI" pitchFamily="34" charset="0"/>
                          <a:ea typeface="Segoe UI" pitchFamily="34" charset="-122"/>
                          <a:cs typeface="Segoe UI" pitchFamily="34" charset="-120"/>
                        </a:rPr>
                        <a:t>PV d’ouverture signé</a:t>
                      </a:r>
                      <a:pPr indent="0" marL="0">
                        <a:buNone/>
                      </a:pPr>
                      <a:r>
                        <a:rPr lang="en-US" sz="1100" dirty="0">
                          <a:solidFill>
                            <a:srgbClr val="1B2A3A"/>
                          </a:solidFill>
                          <a:latin typeface="Segoe UI" pitchFamily="34" charset="0"/>
                          <a:ea typeface="Segoe UI" pitchFamily="34" charset="-122"/>
                          <a:cs typeface="Segoe UI" pitchFamily="34" charset="-120"/>
                        </a:rPr>
                        <a:t>. Les membres de la commission et la PRMP en sont avertis.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déclaration préalable de chaque membre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président compris, signe d’abord une déclaration d’absence de </a:t>
                      </a:r>
                      <a:pPr indent="0" marL="0">
                        <a:buNone/>
                      </a:pPr>
                      <a:r>
                        <a:rPr lang="en-US" sz="1100" b="1" dirty="0">
                          <a:solidFill>
                            <a:srgbClr val="1B2A3A"/>
                          </a:solidFill>
                          <a:latin typeface="Segoe UI" pitchFamily="34" charset="0"/>
                          <a:ea typeface="Segoe UI" pitchFamily="34" charset="-122"/>
                          <a:cs typeface="Segoe UI" pitchFamily="34" charset="-120"/>
                        </a:rPr>
                        <a:t>conflit d’intérêts</a:t>
                      </a:r>
                      <a:pPr indent="0" marL="0">
                        <a:buNone/>
                      </a:pPr>
                      <a:r>
                        <a:rPr lang="en-US" sz="1100" dirty="0">
                          <a:solidFill>
                            <a:srgbClr val="1B2A3A"/>
                          </a:solidFill>
                          <a:latin typeface="Segoe UI" pitchFamily="34" charset="0"/>
                          <a:ea typeface="Segoe UI" pitchFamily="34" charset="-122"/>
                          <a:cs typeface="Segoe UI" pitchFamily="34" charset="-120"/>
                        </a:rPr>
                        <a:t> (art. 21-d) et de confidentialité (art. 12-V), qui ne se reprend pas. Un membre qui déclare un conflit lit tout mais ne décide rien.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membres décident, le président arrête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 membre déclaré sans conflit enregistre les décisions, visibles des autres ; le </a:t>
                      </a:r>
                      <a:pPr indent="0" marL="0">
                        <a:buNone/>
                      </a:pPr>
                      <a:r>
                        <a:rPr lang="en-US" sz="1100" b="1" dirty="0">
                          <a:solidFill>
                            <a:srgbClr val="1B2A3A"/>
                          </a:solidFill>
                          <a:latin typeface="Segoe UI" pitchFamily="34" charset="0"/>
                          <a:ea typeface="Segoe UI" pitchFamily="34" charset="-122"/>
                          <a:cs typeface="Segoe UI" pitchFamily="34" charset="-120"/>
                        </a:rPr>
                        <a:t>président</a:t>
                      </a:r>
                      <a:pPr indent="0" marL="0">
                        <a:buNone/>
                      </a:pPr>
                      <a:r>
                        <a:rPr lang="en-US" sz="1100" dirty="0">
                          <a:solidFill>
                            <a:srgbClr val="1B2A3A"/>
                          </a:solidFill>
                          <a:latin typeface="Segoe UI" pitchFamily="34" charset="0"/>
                          <a:ea typeface="Segoe UI" pitchFamily="34" charset="-122"/>
                          <a:cs typeface="Segoe UI" pitchFamily="34" charset="-120"/>
                        </a:rPr>
                        <a:t> arrête l’étape d’un lot, ce qui fige ses décisions. La PRMP demande les précisions et les justifications ; la PRMP et l’UGPM lisent.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 l’examen préliminaire (demande front du 2026-10-07, arbitrages du pilote du 07/10) · regles-gestion.md § L’évaluation des offres : l’examen préliminaire (2026-10-07)</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413</a:t>
            </a:r>
            <a:endParaRPr lang="en-US" sz="1100" dirty="0"/>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et tracer</a:t>
            </a:r>
            <a:endParaRPr lang="en-US" sz="2600" dirty="0"/>
          </a:p>
        </p:txBody>
      </p:sp>
      <p:graphicFrame>
        <p:nvGraphicFramePr>
          <p:cNvPr id="4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décision pour chaque offre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étape ne s’arrête que lorsque chaque offre du lot a sa décision, et après l’arrêt de l’étape précédente.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Rouvrir une étape, avec un motif</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peut </a:t>
                      </a:r>
                      <a:pPr indent="0" marL="0">
                        <a:buNone/>
                      </a:pPr>
                      <a:r>
                        <a:rPr lang="en-US" sz="1100" b="1" dirty="0">
                          <a:solidFill>
                            <a:srgbClr val="1B2A3A"/>
                          </a:solidFill>
                          <a:latin typeface="Segoe UI" pitchFamily="34" charset="0"/>
                          <a:ea typeface="Segoe UI" pitchFamily="34" charset="-122"/>
                          <a:cs typeface="Segoe UI" pitchFamily="34" charset="-120"/>
                        </a:rPr>
                        <a:t>rouvrir</a:t>
                      </a:r>
                      <a:pPr indent="0" marL="0">
                        <a:buNone/>
                      </a:pPr>
                      <a:r>
                        <a:rPr lang="en-US" sz="1100" dirty="0">
                          <a:solidFill>
                            <a:srgbClr val="1B2A3A"/>
                          </a:solidFill>
                          <a:latin typeface="Segoe UI" pitchFamily="34" charset="0"/>
                          <a:ea typeface="Segoe UI" pitchFamily="34" charset="-122"/>
                          <a:cs typeface="Segoe UI" pitchFamily="34" charset="-120"/>
                        </a:rPr>
                        <a:t> une étape avec un motif : elle et les suivantes du lot se rouvrent, et l’arrêt rouvert reste au registre. Ce n’est plus possible une fois le dossier de marché soumis (RG-EVA-37).</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Rien ne s’efface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décision corrigée laisse la précédente au registre, et le journal dit qui a décidé quoi, quand, et pourquoi.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étapes closes ne se modifient plus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Dès qu’un dossier de marché de la procédure est </a:t>
                      </a:r>
                      <a:pPr indent="0" marL="0">
                        <a:buNone/>
                      </a:pPr>
                      <a:r>
                        <a:rPr lang="en-US" sz="1100" b="1" dirty="0">
                          <a:solidFill>
                            <a:srgbClr val="1B2A3A"/>
                          </a:solidFill>
                          <a:latin typeface="Segoe UI" pitchFamily="34" charset="0"/>
                          <a:ea typeface="Segoe UI" pitchFamily="34" charset="-122"/>
                          <a:cs typeface="Segoe UI" pitchFamily="34" charset="-120"/>
                        </a:rPr>
                        <a:t>soumis à la Commission</a:t>
                      </a:r>
                      <a:pPr indent="0" marL="0">
                        <a:buNone/>
                      </a:pPr>
                      <a:r>
                        <a:rPr lang="en-US" sz="1100" dirty="0">
                          <a:solidFill>
                            <a:srgbClr val="1B2A3A"/>
                          </a:solidFill>
                          <a:latin typeface="Segoe UI" pitchFamily="34" charset="0"/>
                          <a:ea typeface="Segoe UI" pitchFamily="34" charset="-122"/>
                          <a:cs typeface="Segoe UI" pitchFamily="34" charset="-120"/>
                        </a:rPr>
                        <a:t>, la séance d’ouverture, la seconde séance, l’évaluation et l’AMI de la procédure ne se modifient plus : la Commission examine ce qui lui a été soumis. Seules la reprise de l’évaluation après un avis défavorable et la réattribution après un retrait, motivées et tracées, les rouvrent. Les lectures restent ouvertes.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lot 1, tranche 1a : examen préliminaire et précisions · regles-gestion.md § L’évaluation des offres, lot 1, tranche 1a ; § l’immutabilité des étapes closes (manuel révisé, lot 2, tranche R9c) · regles-gestion.md § L’évaluation des offres : l’examen préliminaire (2026-10-07) · regles-gestion.md § l’immutabilité des étapes closes (manuel révisé, lot 2, tranche R9c, 2026-10-14) ; demande-backend-2026-10-10-manuel-revise-lot2.md, B4 n° 15, encadré ✅ Front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414</a:t>
            </a:r>
            <a:endParaRPr lang="en-US" sz="110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préliminaire (1/2)</a:t>
            </a:r>
            <a:endParaRPr lang="en-US" sz="2600" dirty="0"/>
          </a:p>
        </p:txBody>
      </p:sp>
      <p:graphicFrame>
        <p:nvGraphicFramePr>
          <p:cNvPr id="4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grille de neuf vérifications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Pour chaque offre, l’application pré-remplit une grille de neuf vérifications : acte d’engagement et prix, garantie, offre unique par candidat et par lot, exclusion, pouvoirs, pièces, conformité technique, intégrité, frais de dossier.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alertes sont des constats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alertes de la séance sont des constats, </a:t>
                      </a:r>
                      <a:pPr indent="0" marL="0">
                        <a:buNone/>
                      </a:pPr>
                      <a:r>
                        <a:rPr lang="en-US" sz="1100" b="1" dirty="0">
                          <a:solidFill>
                            <a:srgbClr val="1B2A3A"/>
                          </a:solidFill>
                          <a:latin typeface="Segoe UI" pitchFamily="34" charset="0"/>
                          <a:ea typeface="Segoe UI" pitchFamily="34" charset="-122"/>
                          <a:cs typeface="Segoe UI" pitchFamily="34" charset="-120"/>
                        </a:rPr>
                        <a:t>jamais des décisions</a:t>
                      </a:r>
                      <a:pPr indent="0" marL="0">
                        <a:buNone/>
                      </a:pPr>
                      <a:r>
                        <a:rPr lang="en-US" sz="1100" dirty="0">
                          <a:solidFill>
                            <a:srgbClr val="1B2A3A"/>
                          </a:solidFill>
                          <a:latin typeface="Segoe UI" pitchFamily="34" charset="0"/>
                          <a:ea typeface="Segoe UI" pitchFamily="34" charset="-122"/>
                          <a:cs typeface="Segoe UI" pitchFamily="34" charset="-120"/>
                        </a:rPr>
                        <a:t>. La commission confirme ou corrige chaque vérification, puis décide ; elle peut retenir une offre malgré une vérification non satisfaite.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Aucune offre écartée d’office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offre altérée ou illisible, ou sans frais de dossier réglés, n’est </a:t>
                      </a:r>
                      <a:pPr indent="0" marL="0">
                        <a:buNone/>
                      </a:pPr>
                      <a:r>
                        <a:rPr lang="en-US" sz="1100" b="1" dirty="0">
                          <a:solidFill>
                            <a:srgbClr val="1B2A3A"/>
                          </a:solidFill>
                          <a:latin typeface="Segoe UI" pitchFamily="34" charset="0"/>
                          <a:ea typeface="Segoe UI" pitchFamily="34" charset="-122"/>
                          <a:cs typeface="Segoe UI" pitchFamily="34" charset="-120"/>
                        </a:rPr>
                        <a:t>jamais écartée d’office</a:t>
                      </a:r>
                      <a:pPr indent="0" marL="0">
                        <a:buNone/>
                      </a:pPr>
                      <a:r>
                        <a:rPr lang="en-US" sz="1100" dirty="0">
                          <a:solidFill>
                            <a:srgbClr val="1B2A3A"/>
                          </a:solidFill>
                          <a:latin typeface="Segoe UI" pitchFamily="34" charset="0"/>
                          <a:ea typeface="Segoe UI" pitchFamily="34" charset="-122"/>
                          <a:cs typeface="Segoe UI" pitchFamily="34" charset="-120"/>
                        </a:rPr>
                        <a:t> : la vérification est proposée « non satisfaite », la commission tranche.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Écarter : motif, clause, qualification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Écarter une offre exige un motif, la </a:t>
                      </a:r>
                      <a:pPr indent="0" marL="0">
                        <a:buNone/>
                      </a:pPr>
                      <a:r>
                        <a:rPr lang="en-US" sz="1100" b="1" dirty="0">
                          <a:solidFill>
                            <a:srgbClr val="1B2A3A"/>
                          </a:solidFill>
                          <a:latin typeface="Segoe UI" pitchFamily="34" charset="0"/>
                          <a:ea typeface="Segoe UI" pitchFamily="34" charset="-122"/>
                          <a:cs typeface="Segoe UI" pitchFamily="34" charset="-120"/>
                        </a:rPr>
                        <a:t>clause du DAO</a:t>
                      </a:r>
                      <a:pPr indent="0" marL="0">
                        <a:buNone/>
                      </a:pPr>
                      <a:r>
                        <a:rPr lang="en-US" sz="1100" dirty="0">
                          <a:solidFill>
                            <a:srgbClr val="1B2A3A"/>
                          </a:solidFill>
                          <a:latin typeface="Segoe UI" pitchFamily="34" charset="0"/>
                          <a:ea typeface="Segoe UI" pitchFamily="34" charset="-122"/>
                          <a:cs typeface="Segoe UI" pitchFamily="34" charset="-120"/>
                        </a:rPr>
                        <a:t> visée et une qualification : irrecevable, non conforme, inappropriée ou inacceptable.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Demander une précision au candidat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pose une question au candidat d’une offre (art. 35-VI), avec un délai, celui de la fiche par défaut. Le candidat répond </a:t>
                      </a:r>
                      <a:pPr indent="0" marL="0">
                        <a:buNone/>
                      </a:pPr>
                      <a:r>
                        <a:rPr lang="en-US" sz="1100" b="1" dirty="0">
                          <a:solidFill>
                            <a:srgbClr val="1B2A3A"/>
                          </a:solidFill>
                          <a:latin typeface="Segoe UI" pitchFamily="34" charset="0"/>
                          <a:ea typeface="Segoe UI" pitchFamily="34" charset="-122"/>
                          <a:cs typeface="Segoe UI" pitchFamily="34" charset="-120"/>
                        </a:rPr>
                        <a:t>une fois</a:t>
                      </a:r>
                      <a:pPr indent="0" marL="0">
                        <a:buNone/>
                      </a:pPr>
                      <a:r>
                        <a:rPr lang="en-US" sz="1100" dirty="0">
                          <a:solidFill>
                            <a:srgbClr val="1B2A3A"/>
                          </a:solidFill>
                          <a:latin typeface="Segoe UI" pitchFamily="34" charset="0"/>
                          <a:ea typeface="Segoe UI" pitchFamily="34" charset="-122"/>
                          <a:cs typeface="Segoe UI" pitchFamily="34" charset="-120"/>
                        </a:rPr>
                        <a:t>, dans le délai, par un texte et, s’il le veut, un fichier.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 l’examen préliminaire (2026-10-07)</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415</a:t>
            </a:r>
            <a:endParaRPr lang="en-US" sz="1100" dirty="0"/>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préliminaire (2/2)</a:t>
            </a:r>
            <a:endParaRPr lang="en-US" sz="2600" dirty="0"/>
          </a:p>
        </p:txBody>
      </p:sp>
      <p:graphicFrame>
        <p:nvGraphicFramePr>
          <p:cNvPr id="4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précision ne change pas l’offre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précision ne peut changer ni le prix ni la substance de l’offre. L’application ne le contrôle pas : la demande et la réponse vont au rapport.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 l’examen préliminaire (2026-10-07)</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416</a:t>
            </a:r>
            <a:endParaRPr lang="en-US" sz="1100" dirty="0"/>
          </a:p>
        </p:txBody>
      </p:sp>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Montant évalué et classement (1/2)</a:t>
            </a:r>
            <a:endParaRPr lang="en-US" sz="2600" dirty="0"/>
          </a:p>
        </p:txBody>
      </p:sp>
      <p:graphicFrame>
        <p:nvGraphicFramePr>
          <p:cNvPr id="4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corrections proposées, retenues ou non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L’application propose les corrections arithmétiques tirées du bordereau scellé : le prix en lettres prévaut sur les chiffres, le prix unitaire sur le total. La commission les retient ou non ; une correction de ces deux natures </a:t>
                      </a:r>
                      <a:pPr indent="0" marL="0">
                        <a:buNone/>
                      </a:pPr>
                      <a:r>
                        <a:rPr lang="en-US" sz="1100" b="1" dirty="0">
                          <a:solidFill>
                            <a:srgbClr val="1B2A3A"/>
                          </a:solidFill>
                          <a:latin typeface="Segoe UI" pitchFamily="34" charset="0"/>
                          <a:ea typeface="Segoe UI" pitchFamily="34" charset="-122"/>
                          <a:cs typeface="Segoe UI" pitchFamily="34" charset="-120"/>
                        </a:rPr>
                        <a:t>ne peut que reprendre</a:t>
                      </a:r>
                      <a:pPr indent="0" marL="0">
                        <a:buNone/>
                      </a:pPr>
                      <a:r>
                        <a:rPr lang="en-US" sz="1100" dirty="0">
                          <a:solidFill>
                            <a:srgbClr val="1B2A3A"/>
                          </a:solidFill>
                          <a:latin typeface="Segoe UI" pitchFamily="34" charset="0"/>
                          <a:ea typeface="Segoe UI" pitchFamily="34" charset="-122"/>
                          <a:cs typeface="Segoe UI" pitchFamily="34" charset="-120"/>
                        </a:rPr>
                        <a:t> celle que l’application a calculée. Toute autre correction suit RG-EVA-35.</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refus d’une correction constaté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candidat qui refuse une correction voit son offre écartée si les instructions aux candidats le prévoient : la commission le constate, avec la clause.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montant évalué hors taxes, calculé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montants se comparent </a:t>
                      </a:r>
                      <a:pPr indent="0" marL="0">
                        <a:buNone/>
                      </a:pPr>
                      <a:r>
                        <a:rPr lang="en-US" sz="1100" b="1" dirty="0">
                          <a:solidFill>
                            <a:srgbClr val="1B2A3A"/>
                          </a:solidFill>
                          <a:latin typeface="Segoe UI" pitchFamily="34" charset="0"/>
                          <a:ea typeface="Segoe UI" pitchFamily="34" charset="-122"/>
                          <a:cs typeface="Segoe UI" pitchFamily="34" charset="-120"/>
                        </a:rPr>
                        <a:t>hors taxes</a:t>
                      </a:r>
                      <a:pPr indent="0" marL="0">
                        <a:buNone/>
                      </a:pPr>
                      <a:r>
                        <a:rPr lang="en-US" sz="1100" dirty="0">
                          <a:solidFill>
                            <a:srgbClr val="1B2A3A"/>
                          </a:solidFill>
                          <a:latin typeface="Segoe UI" pitchFamily="34" charset="0"/>
                          <a:ea typeface="Segoe UI" pitchFamily="34" charset="-122"/>
                          <a:cs typeface="Segoe UI" pitchFamily="34" charset="-120"/>
                        </a:rPr>
                        <a:t> : prix lu, corrigé, diminué du rabais, plus la marge de préférence appliquée aux offres qui n’y ont pas droit, plus les critères monétisés du DAO. L’application fait le calcul ; le montant évalué n’est jamais saisi à la main (art. 46-47).</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préférence, si le DAO la prévoit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marge de préférence et les critères additionnels ne s’appliquent que si le DAO les prévoit. La commission marque, avec un motif, les offres éligibles ; la préférence sert à comparer, jamais au prix du marché.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rabais proposé sur le prix corrigé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rabais sans condition est proposé sur le prix corrigé ; la commission ne s’en écarte qu’avec un </a:t>
                      </a:r>
                      <a:pPr indent="0" marL="0">
                        <a:buNone/>
                      </a:pPr>
                      <a:r>
                        <a:rPr lang="en-US" sz="1100" b="1" dirty="0">
                          <a:solidFill>
                            <a:srgbClr val="1B2A3A"/>
                          </a:solidFill>
                          <a:latin typeface="Segoe UI" pitchFamily="34" charset="0"/>
                          <a:ea typeface="Segoe UI" pitchFamily="34" charset="-122"/>
                          <a:cs typeface="Segoe UI" pitchFamily="34" charset="-120"/>
                        </a:rPr>
                        <a:t>motif</a:t>
                      </a:r>
                      <a:pPr indent="0" marL="0">
                        <a:buNone/>
                      </a:pPr>
                      <a:r>
                        <a:rPr lang="en-US" sz="1100" dirty="0">
                          <a:solidFill>
                            <a:srgbClr val="1B2A3A"/>
                          </a:solidFill>
                          <a:latin typeface="Segoe UI" pitchFamily="34" charset="0"/>
                          <a:ea typeface="Segoe UI" pitchFamily="34" charset="-122"/>
                          <a:cs typeface="Segoe UI" pitchFamily="34" charset="-120"/>
                        </a:rPr>
                        <a:t>. Un rabais lié à plusieurs lots n’est pas appliqué lot par lot : il est seulement rapporté.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(2026-10-07) ; § trois autres bloquants (manuel révisé, lot 2, tranche R9b, 2026-10-14) · regles-gestion.md § L’évaluation des offres : l’examen préliminaire (2026-10-07) · regles-gestion.md § L’évaluation des offres (2026-10-07) ; § trois autres bloquants (tranche R9b, 2026-10-14)</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417</a:t>
            </a:r>
            <a:endParaRPr lang="en-US" sz="1100" dirty="0"/>
          </a:p>
        </p:txBody>
      </p:sp>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Montant évalué et classement (2/2)</a:t>
            </a:r>
            <a:endParaRPr lang="en-US" sz="2600" dirty="0"/>
          </a:p>
        </p:txBody>
      </p:sp>
      <p:graphicFrame>
        <p:nvGraphicFramePr>
          <p:cNvPr id="4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classement, et l’égalité départagée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classement suit le montant évalué croissant. Deux offres premières à </a:t>
                      </a:r>
                      <a:pPr indent="0" marL="0">
                        <a:buNone/>
                      </a:pPr>
                      <a:r>
                        <a:rPr lang="en-US" sz="1100" b="1" dirty="0">
                          <a:solidFill>
                            <a:srgbClr val="1B2A3A"/>
                          </a:solidFill>
                          <a:latin typeface="Segoe UI" pitchFamily="34" charset="0"/>
                          <a:ea typeface="Segoe UI" pitchFamily="34" charset="-122"/>
                          <a:cs typeface="Segoe UI" pitchFamily="34" charset="-120"/>
                        </a:rPr>
                        <a:t>égalité</a:t>
                      </a:r>
                      <a:pPr indent="0" marL="0">
                        <a:buNone/>
                      </a:pPr>
                      <a:r>
                        <a:rPr lang="en-US" sz="1100" dirty="0">
                          <a:solidFill>
                            <a:srgbClr val="1B2A3A"/>
                          </a:solidFill>
                          <a:latin typeface="Segoe UI" pitchFamily="34" charset="0"/>
                          <a:ea typeface="Segoe UI" pitchFamily="34" charset="-122"/>
                          <a:cs typeface="Segoe UI" pitchFamily="34" charset="-120"/>
                        </a:rPr>
                        <a:t> sont départagées par la commission, avec un motif, avant que l’étape puisse être arrêtée.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correction hors calcul, motivée et signalée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correction que l’application ne calcule pas (erreur de report, autre) reste possible, mais </a:t>
                      </a:r>
                      <a:pPr indent="0" marL="0">
                        <a:buNone/>
                      </a:pPr>
                      <a:r>
                        <a:rPr lang="en-US" sz="1100" b="1" dirty="0">
                          <a:solidFill>
                            <a:srgbClr val="1B2A3A"/>
                          </a:solidFill>
                          <a:latin typeface="Segoe UI" pitchFamily="34" charset="0"/>
                          <a:ea typeface="Segoe UI" pitchFamily="34" charset="-122"/>
                          <a:cs typeface="Segoe UI" pitchFamily="34" charset="-120"/>
                        </a:rPr>
                        <a:t>avec un motif</a:t>
                      </a:r>
                      <a:pPr indent="0" marL="0">
                        <a:buNone/>
                      </a:pPr>
                      <a:r>
                        <a:rPr lang="en-US" sz="1100" dirty="0">
                          <a:solidFill>
                            <a:srgbClr val="1B2A3A"/>
                          </a:solidFill>
                          <a:latin typeface="Segoe UI" pitchFamily="34" charset="0"/>
                          <a:ea typeface="Segoe UI" pitchFamily="34" charset="-122"/>
                          <a:cs typeface="Segoe UI" pitchFamily="34" charset="-120"/>
                        </a:rPr>
                        <a:t> ; elle se lit « Hors calcul ». Elle est signalée au contrôle du dossier de marché, où le Membre de la Commission la lit avant de rendre un avis favorable. La même règle vaut pour l’enveloppe financière des prestations intellectuelles.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 l’examen préliminaire (2026-10-07) · regles-gestion.md § trois autres bloquants (manuel révisé, lot 2, tranche R9b, 2026-10-14) ; demande-backend-2026-10-10-manuel-revise-lot2.md, B4 n° 9, encadré ✅ Front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418</a:t>
            </a:r>
            <a:endParaRPr lang="en-US" sz="1100" dirty="0"/>
          </a:p>
        </p:txBody>
      </p:sp>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offres anormales</a:t>
            </a:r>
            <a:endParaRPr lang="en-US" sz="2600" dirty="0"/>
          </a:p>
        </p:txBody>
      </p:sp>
      <p:graphicFrame>
        <p:nvGraphicFramePr>
          <p:cNvPr id="4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indicateurs, pas une décision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Pour chaque offre classée, l’application donne son écart à l’estimation du plan et à la moyenne des offres, et rappelle la méthode du DAO s’il en porte une : ce sont des </a:t>
                      </a:r>
                      <a:pPr indent="0" marL="0">
                        <a:buNone/>
                      </a:pPr>
                      <a:r>
                        <a:rPr lang="en-US" sz="1100" b="1" dirty="0">
                          <a:solidFill>
                            <a:srgbClr val="1B2A3A"/>
                          </a:solidFill>
                          <a:latin typeface="Segoe UI" pitchFamily="34" charset="0"/>
                          <a:ea typeface="Segoe UI" pitchFamily="34" charset="-122"/>
                          <a:cs typeface="Segoe UI" pitchFamily="34" charset="-120"/>
                        </a:rPr>
                        <a:t>indicateurs</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Chaque offre classée examinée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commission examine chaque offre classée : non suspectée, ou suspectée avec un motif. L’étape ne s’arrête pas tant qu’une offre suspectée reste en suspens.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Pas de rejet sans justification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Aucune offre n’est rejetée sans une </a:t>
                      </a:r>
                      <a:pPr indent="0" marL="0">
                        <a:buNone/>
                      </a:pPr>
                      <a:r>
                        <a:rPr lang="en-US" sz="1100" b="1" dirty="0">
                          <a:solidFill>
                            <a:srgbClr val="1B2A3A"/>
                          </a:solidFill>
                          <a:latin typeface="Segoe UI" pitchFamily="34" charset="0"/>
                          <a:ea typeface="Segoe UI" pitchFamily="34" charset="-122"/>
                          <a:cs typeface="Segoe UI" pitchFamily="34" charset="-120"/>
                        </a:rPr>
                        <a:t>demande écrite de justification</a:t>
                      </a:r>
                      <a:pPr indent="0" marL="0">
                        <a:buNone/>
                      </a:pPr>
                      <a:r>
                        <a:rPr lang="en-US" sz="1100" dirty="0">
                          <a:solidFill>
                            <a:srgbClr val="1B2A3A"/>
                          </a:solidFill>
                          <a:latin typeface="Segoe UI" pitchFamily="34" charset="0"/>
                          <a:ea typeface="Segoe UI" pitchFamily="34" charset="-122"/>
                          <a:cs typeface="Segoe UI" pitchFamily="34" charset="-120"/>
                        </a:rPr>
                        <a:t> de la PRMP, et sans la réponse du candidat ou l’expiration de son délai (art. 48). La commission maintient ou rejette, avec un motif ; l’offre rejetée sort du classement.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défaut de réponse vaut refus de justifier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l’échéance de la demande de justification passe sans réponse du candidat, la commission peut rejeter : le </a:t>
                      </a:r>
                      <a:pPr indent="0" marL="0">
                        <a:buNone/>
                      </a:pPr>
                      <a:r>
                        <a:rPr lang="en-US" sz="1100" b="1" dirty="0">
                          <a:solidFill>
                            <a:srgbClr val="1B2A3A"/>
                          </a:solidFill>
                          <a:latin typeface="Segoe UI" pitchFamily="34" charset="0"/>
                          <a:ea typeface="Segoe UI" pitchFamily="34" charset="-122"/>
                          <a:cs typeface="Segoe UI" pitchFamily="34" charset="-120"/>
                        </a:rPr>
                        <a:t>défaut de réponse</a:t>
                      </a:r>
                      <a:pPr indent="0" marL="0">
                        <a:buNone/>
                      </a:pPr>
                      <a:r>
                        <a:rPr lang="en-US" sz="1100" dirty="0">
                          <a:solidFill>
                            <a:srgbClr val="1B2A3A"/>
                          </a:solidFill>
                          <a:latin typeface="Segoe UI" pitchFamily="34" charset="0"/>
                          <a:ea typeface="Segoe UI" pitchFamily="34" charset="-122"/>
                          <a:cs typeface="Segoe UI" pitchFamily="34" charset="-120"/>
                        </a:rPr>
                        <a:t> vaut refus de justifier (art. 48). Il est écrit dans la décision et au journal, et l’offre porte la mention « Défaut de réponse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 l’examen préliminaire (2026-10-07) · regles-gestion.md § L’évaluation des offres, tranche 1c : offres anormales et post-qualification · regles-gestion.md § L’évaluation des offres (2026-10-07) ; § trois autres bloquants (tranche R9b, 2026-10-14) · regles-gestion.md § trois autres bloquants (tranche R9b, 2026-10-14) ; demande-backend-2026-10-10-manuel-revise-lot2.md, B4 n° 10, encadré ✅ Front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419</a:t>
            </a:r>
            <a:endParaRPr lang="en-US" sz="1100" dirty="0"/>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a:t>
            </a:r>
            <a:endParaRPr lang="en-US" sz="2600" dirty="0"/>
          </a:p>
        </p:txBody>
      </p:sp>
      <p:graphicFrame>
        <p:nvGraphicFramePr>
          <p:cNvPr id="4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premier classé, puis le suivant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post-qualification porte sur le </a:t>
                      </a:r>
                      <a:pPr indent="0" marL="0">
                        <a:buNone/>
                      </a:pPr>
                      <a:r>
                        <a:rPr lang="en-US" sz="1100" b="1" dirty="0">
                          <a:solidFill>
                            <a:srgbClr val="1B2A3A"/>
                          </a:solidFill>
                          <a:latin typeface="Segoe UI" pitchFamily="34" charset="0"/>
                          <a:ea typeface="Segoe UI" pitchFamily="34" charset="-122"/>
                          <a:cs typeface="Segoe UI" pitchFamily="34" charset="-120"/>
                        </a:rPr>
                        <a:t>premier classé</a:t>
                      </a:r>
                      <a:pPr indent="0" marL="0">
                        <a:buNone/>
                      </a:pPr>
                      <a:r>
                        <a:rPr lang="en-US" sz="1100" dirty="0">
                          <a:solidFill>
                            <a:srgbClr val="1B2A3A"/>
                          </a:solidFill>
                          <a:latin typeface="Segoe UI" pitchFamily="34" charset="0"/>
                          <a:ea typeface="Segoe UI" pitchFamily="34" charset="-122"/>
                          <a:cs typeface="Segoe UI" pitchFamily="34" charset="-120"/>
                        </a:rPr>
                        <a:t>, puis, s’il échoue, sur le suivant, jusqu’à une offre qualifiée ou la fin du classement.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critères du DAO, et eux seuls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critères sont ceux du DAO, et eux seuls : capacité juridique, capacité financière, capacité technique et expérience, matériel et personnel exigés. Chacun est jugé satisfait ou non ; un échec se motive.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offre non qualifiée est écartée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offre non qualifiée est écartée avec un motif et la clause du DAO ; le tour passe à la suivante du classement.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proposition d’attribution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L’étape arrêtée, le lot porte sa </a:t>
                      </a:r>
                      <a:pPr indent="0" marL="0">
                        <a:buNone/>
                      </a:pPr>
                      <a:r>
                        <a:rPr lang="en-US" sz="1100" b="1" dirty="0">
                          <a:solidFill>
                            <a:srgbClr val="1B2A3A"/>
                          </a:solidFill>
                          <a:latin typeface="Segoe UI" pitchFamily="34" charset="0"/>
                          <a:ea typeface="Segoe UI" pitchFamily="34" charset="-122"/>
                          <a:cs typeface="Segoe UI" pitchFamily="34" charset="-120"/>
                        </a:rPr>
                        <a:t>proposition d’attribution</a:t>
                      </a:r>
                      <a:pPr indent="0" marL="0">
                        <a:buNone/>
                      </a:pPr>
                      <a:r>
                        <a:rPr lang="en-US" sz="1100" dirty="0">
                          <a:solidFill>
                            <a:srgbClr val="1B2A3A"/>
                          </a:solidFill>
                          <a:latin typeface="Segoe UI" pitchFamily="34" charset="0"/>
                          <a:ea typeface="Segoe UI" pitchFamily="34" charset="-122"/>
                          <a:cs typeface="Segoe UI" pitchFamily="34" charset="-120"/>
                        </a:rPr>
                        <a:t> (offre, montant hors taxes, délai), ou l’infructuosité si aucune offre n’est qualifiée. L’attribution elle-même revient à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 l’examen préliminaire (2026-10-07)</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420</a:t>
            </a:r>
            <a:endParaRPr lang="en-US" sz="1100" dirty="0"/>
          </a:p>
        </p:txBody>
      </p: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d’évaluation</a:t>
            </a:r>
            <a:endParaRPr lang="en-US" sz="2600" dirty="0"/>
          </a:p>
        </p:txBody>
      </p:sp>
      <p:graphicFrame>
        <p:nvGraphicFramePr>
          <p:cNvPr id="4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Produit quand tout est arrêté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responsable produit le rapport quand toutes les étapes de tous les lots sont arrêtées, et seulement si le quorum des signataires appelés peut être atteint ; dès lors, plus aucune décision ne change.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plan du guide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rapport suit le plan du guide : références, plis reçus, chaque étape lot par lot, proposition d’attribution, signatures. En annexe, les déclarations des membres et les échanges avec les candidats.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Signé, avec une observation possible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signe, hors ceux qui ont déclaré un conflit d’intérêts ; un membre en désaccord joint une </a:t>
                      </a:r>
                      <a:pPr indent="0" marL="0">
                        <a:buNone/>
                      </a:pPr>
                      <a:r>
                        <a:rPr lang="en-US" sz="1100" b="1" dirty="0">
                          <a:solidFill>
                            <a:srgbClr val="1B2A3A"/>
                          </a:solidFill>
                          <a:latin typeface="Segoe UI" pitchFamily="34" charset="0"/>
                          <a:ea typeface="Segoe UI" pitchFamily="34" charset="-122"/>
                          <a:cs typeface="Segoe UI" pitchFamily="34" charset="-120"/>
                        </a:rPr>
                        <a:t>observation</a:t>
                      </a:r>
                      <a:pPr indent="0" marL="0">
                        <a:buNone/>
                      </a:pPr>
                      <a:r>
                        <a:rPr lang="en-US" sz="1100" dirty="0">
                          <a:solidFill>
                            <a:srgbClr val="1B2A3A"/>
                          </a:solidFill>
                          <a:latin typeface="Segoe UI" pitchFamily="34" charset="0"/>
                          <a:ea typeface="Segoe UI" pitchFamily="34" charset="-122"/>
                          <a:cs typeface="Segoe UI" pitchFamily="34" charset="-120"/>
                        </a:rPr>
                        <a:t>. L’empêchement d’un membre est constaté par le président, avec un motif — jamais s’il rendait le quorum inatteignable.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Clos à la dernière signature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la dernière signature, l’évaluation est close et la PRMP est avertie. Le rapport </a:t>
                      </a:r>
                      <a:pPr indent="0" marL="0">
                        <a:buNone/>
                      </a:pPr>
                      <a:r>
                        <a:rPr lang="en-US" sz="1100" b="1" dirty="0">
                          <a:solidFill>
                            <a:srgbClr val="1B2A3A"/>
                          </a:solidFill>
                          <a:latin typeface="Segoe UI" pitchFamily="34" charset="0"/>
                          <a:ea typeface="Segoe UI" pitchFamily="34" charset="-122"/>
                          <a:cs typeface="Segoe UI" pitchFamily="34" charset="-120"/>
                        </a:rPr>
                        <a:t>n’est pas public</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quorum, et le rapport qui vaut PV</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commission ne délibère qu’au </a:t>
                      </a:r>
                      <a:pPr indent="0" marL="0">
                        <a:buNone/>
                      </a:pPr>
                      <a:r>
                        <a:rPr lang="en-US" sz="1100" b="1" dirty="0">
                          <a:solidFill>
                            <a:srgbClr val="1B2A3A"/>
                          </a:solidFill>
                          <a:latin typeface="Segoe UI" pitchFamily="34" charset="0"/>
                          <a:ea typeface="Segoe UI" pitchFamily="34" charset="-122"/>
                          <a:cs typeface="Segoe UI" pitchFamily="34" charset="-120"/>
                        </a:rPr>
                        <a:t>quorum</a:t>
                      </a:r>
                      <a:pPr indent="0" marL="0">
                        <a:buNone/>
                      </a:pPr>
                      <a:r>
                        <a:rPr lang="en-US" sz="1100" dirty="0">
                          <a:solidFill>
                            <a:srgbClr val="1B2A3A"/>
                          </a:solidFill>
                          <a:latin typeface="Segoe UI" pitchFamily="34" charset="0"/>
                          <a:ea typeface="Segoe UI" pitchFamily="34" charset="-122"/>
                          <a:cs typeface="Segoe UI" pitchFamily="34" charset="-120"/>
                        </a:rPr>
                        <a:t> réglé par l’Administrateur (par défaut, plus de la moitié des membres désignés), le président ou son représentant étant toujours requis en plus. Le quorum bloque la production du rapport ; il est imprimé au rapport. Le rapport signé vaut PV de validation : date de la dernière signature, membres, empêchements, exclus pour conflit, observations.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L’évaluation des offres (2026-10-07) ; § le quorum de la commission (manuel révisé, lot 1, tranche R1) · regles-gestion.md § L’évaluation des offres : l’examen préliminaire (2026-10-07) · regles-gestion.md § L’évaluation des offres (2026-10-07) ; § le quorum de la commission (tranche R1) · regles-gestion.md § le quorum de la commission (manuel révisé, lot 1, tranche R1 ; arbitrages Q4 et Q5 du pilote)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421</a:t>
            </a:r>
            <a:endParaRPr lang="en-US" sz="1100" dirty="0"/>
          </a:p>
        </p:txBody>
      </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4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notation technique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grille vient de la fiche validée. Chaque membre sans conflit note chaque élément de 0 à son maximum, et motive. La moyenne de chaque élément fait la note ; un écart de plus de 20 % du maximum entre la note haute et la basse est signalé. Le président arrête sur des grilles complètes ; sous le score minimum, la proposition est éliminée et son enveloppe financière ne s’ouvre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L’évaluation financière et le classement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Corrections arithmétiques et dépenses remboursables saisies par la commission : le montant comparé est le prix corrigé diminué des remboursables. En qualité-coût, le score financier et le score combiné suivent les poids de la fiche ; en budget prédéterminé, une proposition au-delà est hors budget ; en moindre coût, le montant comparé croissant. Une égalité se départage, motivée, avant l’arrêt.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négociation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Conduite par la PRMP ou son UGPM avec le premier classé, sur des points non substantiels (art. 42-IV). Réussie, elle porte la proposition d’attribution ; échouée, elle se motive et le classé suivant vient. Une seule en cours, une seule réussie par lot ; son PV se produit en PDF et en Word.</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proposition et le rapport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lot est prêt quand sa négociation a réussi ou qu’il est infructueux (toutes écartées, aucune au score minimum, aucune financière recevable, négociations sans accord). Le rapport se produit quand chaque lot est prêt ; ensuite, plus aucune écriture de l’évaluation.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PI-c · Lot 3 PI : demande evaluation-pi du 07/10, tranche PI-d2a · Lot 3 PI : demande evaluation-pi du 07/10, tranche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422</a:t>
            </a:r>
            <a:endParaRPr lang="en-US" sz="1100" dirty="0"/>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(1/2)</a:t>
            </a:r>
            <a:endParaRPr lang="en-US" sz="2600" dirty="0"/>
          </a:p>
        </p:txBody>
      </p:sp>
      <p:graphicFrame>
        <p:nvGraphicFramePr>
          <p:cNvPr id="4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Chaque marché en ligne contrôlé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marché issu d’une procédure en ligne passe au </a:t>
                      </a:r>
                      <a:pPr indent="0" marL="0">
                        <a:buNone/>
                      </a:pPr>
                      <a:r>
                        <a:rPr lang="en-US" sz="1100" b="1" dirty="0">
                          <a:solidFill>
                            <a:srgbClr val="1B2A3A"/>
                          </a:solidFill>
                          <a:latin typeface="Segoe UI" pitchFamily="34" charset="0"/>
                          <a:ea typeface="Segoe UI" pitchFamily="34" charset="-122"/>
                          <a:cs typeface="Segoe UI" pitchFamily="34" charset="-120"/>
                        </a:rPr>
                        <a:t>contrôle a priori</a:t>
                      </a:r>
                      <a:pPr indent="0" marL="0">
                        <a:buNone/>
                      </a:pPr>
                      <a:r>
                        <a:rPr lang="en-US" sz="1100" dirty="0">
                          <a:solidFill>
                            <a:srgbClr val="1B2A3A"/>
                          </a:solidFill>
                          <a:latin typeface="Segoe UI" pitchFamily="34" charset="0"/>
                          <a:ea typeface="Segoe UI" pitchFamily="34" charset="-122"/>
                          <a:cs typeface="Segoe UI" pitchFamily="34" charset="-120"/>
                        </a:rPr>
                        <a:t> de la Commission, sans seuil.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dossier de marché par lot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Depuis l’évaluation close, la PRMP ou son UGPM crée </a:t>
                      </a:r>
                      <a:pPr indent="0" marL="0">
                        <a:buNone/>
                      </a:pPr>
                      <a:r>
                        <a:rPr lang="en-US" sz="1100" b="1" dirty="0">
                          <a:solidFill>
                            <a:srgbClr val="1B2A3A"/>
                          </a:solidFill>
                          <a:latin typeface="Segoe UI" pitchFamily="34" charset="0"/>
                          <a:ea typeface="Segoe UI" pitchFamily="34" charset="-122"/>
                          <a:cs typeface="Segoe UI" pitchFamily="34" charset="-120"/>
                        </a:rPr>
                        <a:t>un dossier de marché par lot</a:t>
                      </a:r>
                      <a:pPr indent="0" marL="0">
                        <a:buNone/>
                      </a:pPr>
                      <a:r>
                        <a:rPr lang="en-US" sz="1100" dirty="0">
                          <a:solidFill>
                            <a:srgbClr val="1B2A3A"/>
                          </a:solidFill>
                          <a:latin typeface="Segoe UI" pitchFamily="34" charset="0"/>
                          <a:ea typeface="Segoe UI" pitchFamily="34" charset="-122"/>
                          <a:cs typeface="Segoe UI" pitchFamily="34" charset="-120"/>
                        </a:rPr>
                        <a:t> attribuable, ouvert ou restreint selon le mode de passation. Un lot que le rapport propose infructueux n’en a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pièces jointes d’office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dossier reçoit d’office le </a:t>
                      </a:r>
                      <a:pPr indent="0" marL="0">
                        <a:buNone/>
                      </a:pPr>
                      <a:r>
                        <a:rPr lang="en-US" sz="1100" b="1" dirty="0">
                          <a:solidFill>
                            <a:srgbClr val="1B2A3A"/>
                          </a:solidFill>
                          <a:latin typeface="Segoe UI" pitchFamily="34" charset="0"/>
                          <a:ea typeface="Segoe UI" pitchFamily="34" charset="-122"/>
                          <a:cs typeface="Segoe UI" pitchFamily="34" charset="-120"/>
                        </a:rPr>
                        <a:t>projet de marché</a:t>
                      </a:r>
                      <a:pPr indent="0" marL="0">
                        <a:buNone/>
                      </a:pPr>
                      <a:r>
                        <a:rPr lang="en-US" sz="1100" dirty="0">
                          <a:solidFill>
                            <a:srgbClr val="1B2A3A"/>
                          </a:solidFill>
                          <a:latin typeface="Segoe UI" pitchFamily="34" charset="0"/>
                          <a:ea typeface="Segoe UI" pitchFamily="34" charset="-122"/>
                          <a:cs typeface="Segoe UI" pitchFamily="34" charset="-120"/>
                        </a:rPr>
                        <a:t> produit par l’application, le DAO complet, le devis ou bordereau de l’offre, le PV d’ouverture et le rapport d’évaluation, et, s’il y en a, les questions des candidats et leurs réponses. Restent à joindre par la PRMP, selon le sous-type, les autres pièces exigées.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projet de marché tiré de l’offre, selon l’art. 60</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projet de marché porte l’objet de l’appel d’offres et le seul lot du marché, et toutes les mentions de l’art. 60 ; ce que l’application connaît est rempli, le reste est nommé et complété par la PRMP avant la signature. Tant que le marché n’est pas signé, la PRMP ou son UGPM peut le </a:t>
                      </a:r>
                      <a:pPr indent="0" marL="0">
                        <a:buNone/>
                      </a:pPr>
                      <a:r>
                        <a:rPr lang="en-US" sz="1100" b="1" dirty="0">
                          <a:solidFill>
                            <a:srgbClr val="1B2A3A"/>
                          </a:solidFill>
                          <a:latin typeface="Segoe UI" pitchFamily="34" charset="0"/>
                          <a:ea typeface="Segoe UI" pitchFamily="34" charset="-122"/>
                          <a:cs typeface="Segoe UI" pitchFamily="34" charset="-120"/>
                        </a:rPr>
                        <a:t>refaire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DAO complet dispense du CCAG</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dossier qui porte le DAO complet produit par la fiche n’a plus à joindre le CCAG, ni le CCTP quand la fiche porte ses spécifications techniques.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De la proposition à l’attribution : le contrôle de la Commission (lot 2, 2026-10-07) · regles-gestion.md § De la proposition à l’attribution : le contrôle de la Commission (2026-10-07) · regles-gestion.md § De la proposition à l’attribution (2026-10-07) ; § les questions des candidats avant la date limite (manuel révisé, lot 2, tranche R7) · regles-gestion.md § le projet de marché suit la loi n° 2016-055 (2026-10-10 ; un lot = un marché, art. 28) · regles-gestion.md § Le DAO complet dispense du CCAG et du CCTP (2026-10-07)</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423</a:t>
            </a:r>
            <a:endParaRPr lang="en-US" sz="1100" dirty="0"/>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(2/2)</a:t>
            </a:r>
            <a:endParaRPr lang="en-US" sz="2600" dirty="0"/>
          </a:p>
        </p:txBody>
      </p:sp>
      <p:graphicFrame>
        <p:nvGraphicFramePr>
          <p:cNvPr id="42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grille tirée du guide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dossier suit le circuit ordinaire. La Commission l’examine sur une grille tirée du guide : commission, PV, motivation des rejets, montant évalué, offres anormales, classement, post-qualification, signatures, conformité du projet à l’offre. Une correction hors calcul y est signalée (RG-EVA-35).</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De la proposition à l’attribution (2026-10-07) ; § trois autres bloquants (tranche R9b)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424</a:t>
            </a:r>
            <a:endParaRPr lang="en-US" sz="1100" dirty="0"/>
          </a:p>
        </p:txBody>
      </p:sp>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name="Slide 4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Attribuer</a:t>
            </a:r>
            <a:endParaRPr lang="en-US" sz="2600" dirty="0"/>
          </a:p>
        </p:txBody>
      </p:sp>
      <p:graphicFrame>
        <p:nvGraphicFramePr>
          <p:cNvPr id="4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PRMP attribue après l’avis favorable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Après l’avis </a:t>
                      </a:r>
                      <a:pPr indent="0" marL="0">
                        <a:buNone/>
                      </a:pPr>
                      <a:r>
                        <a:rPr lang="en-US" sz="1100" b="1" dirty="0">
                          <a:solidFill>
                            <a:srgbClr val="1B2A3A"/>
                          </a:solidFill>
                          <a:latin typeface="Segoe UI" pitchFamily="34" charset="0"/>
                          <a:ea typeface="Segoe UI" pitchFamily="34" charset="-122"/>
                          <a:cs typeface="Segoe UI" pitchFamily="34" charset="-120"/>
                        </a:rPr>
                        <a:t>favorable</a:t>
                      </a:r>
                      <a:pPr indent="0" marL="0">
                        <a:buNone/>
                      </a:pPr>
                      <a:r>
                        <a:rPr lang="en-US" sz="1100" dirty="0">
                          <a:solidFill>
                            <a:srgbClr val="1B2A3A"/>
                          </a:solidFill>
                          <a:latin typeface="Segoe UI" pitchFamily="34" charset="0"/>
                          <a:ea typeface="Segoe UI" pitchFamily="34" charset="-122"/>
                          <a:cs typeface="Segoe UI" pitchFamily="34" charset="-120"/>
                        </a:rPr>
                        <a:t> de la Commission sur le dossier de marché, avec ou sans réserves, la PRMP, et elle seule, attribue le lot.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L’offre proposée, et elle seule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L’attribution va à l’offre </a:t>
                      </a:r>
                      <a:pPr indent="0" marL="0">
                        <a:buNone/>
                      </a:pPr>
                      <a:r>
                        <a:rPr lang="en-US" sz="1100" b="1" dirty="0">
                          <a:solidFill>
                            <a:srgbClr val="1B2A3A"/>
                          </a:solidFill>
                          <a:latin typeface="Segoe UI" pitchFamily="34" charset="0"/>
                          <a:ea typeface="Segoe UI" pitchFamily="34" charset="-122"/>
                          <a:cs typeface="Segoe UI" pitchFamily="34" charset="-120"/>
                        </a:rPr>
                        <a:t>proposée</a:t>
                      </a:r>
                      <a:pPr indent="0" marL="0">
                        <a:buNone/>
                      </a:pPr>
                      <a:r>
                        <a:rPr lang="en-US" sz="1100" dirty="0">
                          <a:solidFill>
                            <a:srgbClr val="1B2A3A"/>
                          </a:solidFill>
                          <a:latin typeface="Segoe UI" pitchFamily="34" charset="0"/>
                          <a:ea typeface="Segoe UI" pitchFamily="34" charset="-122"/>
                          <a:cs typeface="Segoe UI" pitchFamily="34" charset="-120"/>
                        </a:rPr>
                        <a:t> par la commission d’appel d’offres, jamais à une autre (art. 35-VII). En désaccord, la PRMP ne peut que déclarer le lot infructueux ou la procédure sans suite.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L’attribution et l’information des candidats (lot 2, tranche 2b) · regles-gestion.md § L’attribution et l’information des candidats (tranche 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425</a:t>
            </a:r>
            <a:endParaRPr lang="en-US" sz="1100" dirty="0"/>
          </a:p>
        </p:txBody>
      </p:sp>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name="Slide 4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 (1/2)</a:t>
            </a:r>
            <a:endParaRPr lang="en-US" sz="2600" dirty="0"/>
          </a:p>
        </p:txBody>
      </p:sp>
      <p:graphicFrame>
        <p:nvGraphicFramePr>
          <p:cNvPr id="4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lettre à chaque candidat évalué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informe tous les candidats dont l’offre a été évaluée (art. 52) : lettre d’attribution à l’attributaire, lettre de rejet aux autres, avec les </a:t>
                      </a:r>
                      <a:pPr indent="0" marL="0">
                        <a:buNone/>
                      </a:pPr>
                      <a:r>
                        <a:rPr lang="en-US" sz="1100" b="1" dirty="0">
                          <a:solidFill>
                            <a:srgbClr val="1B2A3A"/>
                          </a:solidFill>
                          <a:latin typeface="Segoe UI" pitchFamily="34" charset="0"/>
                          <a:ea typeface="Segoe UI" pitchFamily="34" charset="-122"/>
                          <a:cs typeface="Segoe UI" pitchFamily="34" charset="-120"/>
                        </a:rPr>
                        <a:t>motifs tirés du rapport</a:t>
                      </a:r>
                      <a:pPr indent="0" marL="0">
                        <a:buNone/>
                      </a:pPr>
                      <a:r>
                        <a:rPr lang="en-US" sz="1100" dirty="0">
                          <a:solidFill>
                            <a:srgbClr val="1B2A3A"/>
                          </a:solidFill>
                          <a:latin typeface="Segoe UI" pitchFamily="34" charset="0"/>
                          <a:ea typeface="Segoe UI" pitchFamily="34" charset="-122"/>
                          <a:cs typeface="Segoe UI" pitchFamily="34" charset="-120"/>
                        </a:rPr>
                        <a:t>, le nom de l’attributaire et le montant du marché.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Signées en ligne, lues avec accusé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signe ces lettres électroniquement ; elles partent sur la plateforme et par courriel. La première lecture par le candidat sur la plateforme vaut </a:t>
                      </a:r>
                      <a:pPr indent="0" marL="0">
                        <a:buNone/>
                      </a:pPr>
                      <a:r>
                        <a:rPr lang="en-US" sz="1100" b="1" dirty="0">
                          <a:solidFill>
                            <a:srgbClr val="1B2A3A"/>
                          </a:solidFill>
                          <a:latin typeface="Segoe UI" pitchFamily="34" charset="0"/>
                          <a:ea typeface="Segoe UI" pitchFamily="34" charset="-122"/>
                          <a:cs typeface="Segoe UI" pitchFamily="34" charset="-120"/>
                        </a:rPr>
                        <a:t>accusé de réception</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L’affichage déclaré, le résultat publié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déclare la date d’</a:t>
                      </a:r>
                      <a:pPr indent="0" marL="0">
                        <a:buNone/>
                      </a:pPr>
                      <a:r>
                        <a:rPr lang="en-US" sz="1100" b="1" dirty="0">
                          <a:solidFill>
                            <a:srgbClr val="1B2A3A"/>
                          </a:solidFill>
                          <a:latin typeface="Segoe UI" pitchFamily="34" charset="0"/>
                          <a:ea typeface="Segoe UI" pitchFamily="34" charset="-122"/>
                          <a:cs typeface="Segoe UI" pitchFamily="34" charset="-120"/>
                        </a:rPr>
                        <a:t>affichage</a:t>
                      </a:r>
                      <a:pPr indent="0" marL="0">
                        <a:buNone/>
                      </a:pPr>
                      <a:r>
                        <a:rPr lang="en-US" sz="1100" dirty="0">
                          <a:solidFill>
                            <a:srgbClr val="1B2A3A"/>
                          </a:solidFill>
                          <a:latin typeface="Segoe UI" pitchFamily="34" charset="0"/>
                          <a:ea typeface="Segoe UI" pitchFamily="34" charset="-122"/>
                          <a:cs typeface="Segoe UI" pitchFamily="34" charset="-120"/>
                        </a:rPr>
                        <a:t> du résultat à son siège ; l’attributaire et le montant paraissent sur la page publique de la procédure.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Dix jours francs depuis la réception présumée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marché ne se signe qu’après </a:t>
                      </a:r>
                      <a:pPr indent="0" marL="0">
                        <a:buNone/>
                      </a:pPr>
                      <a:r>
                        <a:rPr lang="en-US" sz="1100" b="1" dirty="0">
                          <a:solidFill>
                            <a:srgbClr val="1B2A3A"/>
                          </a:solidFill>
                          <a:latin typeface="Segoe UI" pitchFamily="34" charset="0"/>
                          <a:ea typeface="Segoe UI" pitchFamily="34" charset="-122"/>
                          <a:cs typeface="Segoe UI" pitchFamily="34" charset="-120"/>
                        </a:rPr>
                        <a:t>dix jours francs</a:t>
                      </a:r>
                      <a:pPr indent="0" marL="0">
                        <a:buNone/>
                      </a:pPr>
                      <a:r>
                        <a:rPr lang="en-US" sz="1100" dirty="0">
                          <a:solidFill>
                            <a:srgbClr val="1B2A3A"/>
                          </a:solidFill>
                          <a:latin typeface="Segoe UI" pitchFamily="34" charset="0"/>
                          <a:ea typeface="Segoe UI" pitchFamily="34" charset="-122"/>
                          <a:cs typeface="Segoe UI" pitchFamily="34" charset="-120"/>
                        </a:rPr>
                        <a:t> (art. 78), comptés depuis la </a:t>
                      </a:r>
                      <a:pPr indent="0" marL="0">
                        <a:buNone/>
                      </a:pPr>
                      <a:r>
                        <a:rPr lang="en-US" sz="1100" b="1" dirty="0">
                          <a:solidFill>
                            <a:srgbClr val="1B2A3A"/>
                          </a:solidFill>
                          <a:latin typeface="Segoe UI" pitchFamily="34" charset="0"/>
                          <a:ea typeface="Segoe UI" pitchFamily="34" charset="-122"/>
                          <a:cs typeface="Segoe UI" pitchFamily="34" charset="-120"/>
                        </a:rPr>
                        <a:t>réception présumée</a:t>
                      </a:r>
                      <a:pPr indent="0" marL="0">
                        <a:buNone/>
                      </a:pPr>
                      <a:r>
                        <a:rPr lang="en-US" sz="1100" dirty="0">
                          <a:solidFill>
                            <a:srgbClr val="1B2A3A"/>
                          </a:solidFill>
                          <a:latin typeface="Segoe UI" pitchFamily="34" charset="0"/>
                          <a:ea typeface="Segoe UI" pitchFamily="34" charset="-122"/>
                          <a:cs typeface="Segoe UI" pitchFamily="34" charset="-120"/>
                        </a:rPr>
                        <a:t> de la lettre par les candidats non retenus — l’envoi plus un nombre de jours réglé par l’Administrateur (trois proposés), le même pour tous —, ou depuis l’affichage s’il est plus tardif. Ni ce jour ni le dixième ne comptent ; l’écran affiche la date à partir de laquelle la signature est possible.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explications, par écrit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candidat non retenu peut demander par écrit des </a:t>
                      </a:r>
                      <a:pPr indent="0" marL="0">
                        <a:buNone/>
                      </a:pPr>
                      <a:r>
                        <a:rPr lang="en-US" sz="1100" b="1" dirty="0">
                          <a:solidFill>
                            <a:srgbClr val="1B2A3A"/>
                          </a:solidFill>
                          <a:latin typeface="Segoe UI" pitchFamily="34" charset="0"/>
                          <a:ea typeface="Segoe UI" pitchFamily="34" charset="-122"/>
                          <a:cs typeface="Segoe UI" pitchFamily="34" charset="-120"/>
                        </a:rPr>
                        <a:t>explications</a:t>
                      </a:r>
                      <a:pPr indent="0" marL="0">
                        <a:buNone/>
                      </a:pPr>
                      <a:r>
                        <a:rPr lang="en-US" sz="1100" dirty="0">
                          <a:solidFill>
                            <a:srgbClr val="1B2A3A"/>
                          </a:solidFill>
                          <a:latin typeface="Segoe UI" pitchFamily="34" charset="0"/>
                          <a:ea typeface="Segoe UI" pitchFamily="34" charset="-122"/>
                          <a:cs typeface="Segoe UI" pitchFamily="34" charset="-120"/>
                        </a:rPr>
                        <a:t> sur le rejet de son offre ; la PRMP y répond par écrit, avec un fichier si elle le souhaite.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L’attribution et l’information des candidats (tranche 2b) · regles-gestion.md § les délais de la signature, des pièces, de l’avis d’attribution et du sans suite (manuel révisé, lot 2, tranche R6c, 2026-10-13) ; demande-backend-2026-10-10-manuel-revise-lot2.md, B1 règle 6, encadré ✅ Front FR6</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426</a:t>
            </a:r>
            <a:endParaRPr lang="en-US" sz="1100" dirty="0"/>
          </a:p>
        </p:txBody>
      </p:sp>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name="Slide 4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 (2/2)</a:t>
            </a:r>
            <a:endParaRPr lang="en-US" sz="2600" dirty="0"/>
          </a:p>
        </p:txBody>
      </p:sp>
      <p:graphicFrame>
        <p:nvGraphicFramePr>
          <p:cNvPr id="4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Des modèles provisoires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Tant que les modèles officiels ne sont pas remis, les lettres et l’avis d’attribution suivent un </a:t>
                      </a:r>
                      <a:pPr indent="0" marL="0">
                        <a:buNone/>
                      </a:pPr>
                      <a:r>
                        <a:rPr lang="en-US" sz="1100" b="1" dirty="0">
                          <a:solidFill>
                            <a:srgbClr val="1B2A3A"/>
                          </a:solidFill>
                          <a:latin typeface="Segoe UI" pitchFamily="34" charset="0"/>
                          <a:ea typeface="Segoe UI" pitchFamily="34" charset="-122"/>
                          <a:cs typeface="Segoe UI" pitchFamily="34" charset="-120"/>
                        </a:rPr>
                        <a:t>modèle provisoire</a:t>
                      </a:r>
                      <a:pPr indent="0" marL="0">
                        <a:buNone/>
                      </a:pPr>
                      <a:r>
                        <a:rPr lang="en-US" sz="1100" dirty="0">
                          <a:solidFill>
                            <a:srgbClr val="1B2A3A"/>
                          </a:solidFill>
                          <a:latin typeface="Segoe UI" pitchFamily="34" charset="0"/>
                          <a:ea typeface="Segoe UI" pitchFamily="34" charset="-122"/>
                          <a:cs typeface="Segoe UI" pitchFamily="34" charset="-120"/>
                        </a:rPr>
                        <a:t> de l’application.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L’attribution et l’information des candidats (tranche 2b) ; § De la mise au point à l’avis d’attribution (tranche 2c)</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427</a:t>
            </a:r>
            <a:endParaRPr lang="en-US" sz="1100" dirty="0"/>
          </a:p>
        </p:txBody>
      </p:sp>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name="Slide 4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a:t>
            </a:r>
            <a:endParaRPr lang="en-US" sz="2600" dirty="0"/>
          </a:p>
        </p:txBody>
      </p:sp>
      <p:graphicFrame>
        <p:nvGraphicFramePr>
          <p:cNvPr id="4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recours déclarés par la PRMP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déclare les recours reçus, chacun typé : demande de réexamen, demande de révision auprès de l’ARMP, référé. Leur décision se déclare ensuite, avec son issue et un motif.</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réexamen, sous dix jours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doit répondre à une demande de </a:t>
                      </a:r>
                      <a:pPr indent="0" marL="0">
                        <a:buNone/>
                      </a:pPr>
                      <a:r>
                        <a:rPr lang="en-US" sz="1100" b="1" dirty="0">
                          <a:solidFill>
                            <a:srgbClr val="1B2A3A"/>
                          </a:solidFill>
                          <a:latin typeface="Segoe UI" pitchFamily="34" charset="0"/>
                          <a:ea typeface="Segoe UI" pitchFamily="34" charset="-122"/>
                          <a:cs typeface="Segoe UI" pitchFamily="34" charset="-120"/>
                        </a:rPr>
                        <a:t>réexamen</a:t>
                      </a:r>
                      <a:pPr indent="0" marL="0">
                        <a:buNone/>
                      </a:pPr>
                      <a:r>
                        <a:rPr lang="en-US" sz="1100" dirty="0">
                          <a:solidFill>
                            <a:srgbClr val="1B2A3A"/>
                          </a:solidFill>
                          <a:latin typeface="Segoe UI" pitchFamily="34" charset="0"/>
                          <a:ea typeface="Segoe UI" pitchFamily="34" charset="-122"/>
                          <a:cs typeface="Segoe UI" pitchFamily="34" charset="-120"/>
                        </a:rPr>
                        <a:t> sous dix jours ; elle est alertée deux jours avant l’échéance. Par défaut, le réexamen ne suspend pas la signature, sauf si l’Administrateur l’a rangé parmi les recours suspensifs (RG-ATT-35).</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recours suspensif suspend la signature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recours d’un type suspensif — par défaut la révision par l’ARMP et le référé — </a:t>
                      </a:r>
                      <a:pPr indent="0" marL="0">
                        <a:buNone/>
                      </a:pPr>
                      <a:r>
                        <a:rPr lang="en-US" sz="1100" b="1" dirty="0">
                          <a:solidFill>
                            <a:srgbClr val="1B2A3A"/>
                          </a:solidFill>
                          <a:latin typeface="Segoe UI" pitchFamily="34" charset="0"/>
                          <a:ea typeface="Segoe UI" pitchFamily="34" charset="-122"/>
                          <a:cs typeface="Segoe UI" pitchFamily="34" charset="-120"/>
                        </a:rPr>
                        <a:t>suspend la signature</a:t>
                      </a:r>
                      <a:pPr indent="0" marL="0">
                        <a:buNone/>
                      </a:pPr>
                      <a:r>
                        <a:rPr lang="en-US" sz="1100" dirty="0">
                          <a:solidFill>
                            <a:srgbClr val="1B2A3A"/>
                          </a:solidFill>
                          <a:latin typeface="Segoe UI" pitchFamily="34" charset="0"/>
                          <a:ea typeface="Segoe UI" pitchFamily="34" charset="-122"/>
                          <a:cs typeface="Segoe UI" pitchFamily="34" charset="-120"/>
                        </a:rPr>
                        <a:t> jusqu’à sa décision, vingt jours au plus après sa réception ; l’écran donne la date limite.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recours suspensifs, un réglage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types de recours qui suspendent la signature sont un </a:t>
                      </a:r>
                      <a:pPr indent="0" marL="0">
                        <a:buNone/>
                      </a:pPr>
                      <a:r>
                        <a:rPr lang="en-US" sz="1100" b="1" dirty="0">
                          <a:solidFill>
                            <a:srgbClr val="1B2A3A"/>
                          </a:solidFill>
                          <a:latin typeface="Segoe UI" pitchFamily="34" charset="0"/>
                          <a:ea typeface="Segoe UI" pitchFamily="34" charset="-122"/>
                          <a:cs typeface="Segoe UI" pitchFamily="34" charset="-120"/>
                        </a:rPr>
                        <a:t>réglage de l’Administrateur</a:t>
                      </a:r>
                      <a:pPr indent="0" marL="0">
                        <a:buNone/>
                      </a:pPr>
                      <a:r>
                        <a:rPr lang="en-US" sz="1100" dirty="0">
                          <a:solidFill>
                            <a:srgbClr val="1B2A3A"/>
                          </a:solidFill>
                          <a:latin typeface="Segoe UI" pitchFamily="34" charset="0"/>
                          <a:ea typeface="Segoe UI" pitchFamily="34" charset="-122"/>
                          <a:cs typeface="Segoe UI" pitchFamily="34" charset="-120"/>
                        </a:rPr>
                        <a:t> : par défaut la révision par l’ARMP et le référé, le réexamen pouvant être ajouté ; aucune case cochée signifie aucun recours suspensif. Le réglage vaut aussi pour les recours déjà déclarés, et la liste de déclaration le dit pour chaque type.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De la mise au point à l’avis d’attribution (lot 2, tranche 2c) · regles-gestion.md § De la mise au point à l’avis d’attribution (tranche 2c) ; § trois bloquants de la loi (manuel révisé, lot 2, tranche R9a) · regles-gestion.md § De la mise au point à l’avis d’attribution (tranche 2c) ; § trois bloquants de la loi (tranche R9a) · regles-gestion.md § trois bloquants de la loi (tranche R9a, titre VIII) ; demande-backend-2026-10-10-manuel-revise-lot2.md, B4 n° 13, encadré ✅ Front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428</a:t>
            </a:r>
            <a:endParaRPr lang="en-US" sz="1100" dirty="0"/>
          </a:p>
        </p:txBody>
      </p:sp>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name="Slide 4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l’attributaire</a:t>
            </a:r>
            <a:endParaRPr lang="en-US" sz="2600" dirty="0"/>
          </a:p>
        </p:txBody>
      </p:sp>
      <p:graphicFrame>
        <p:nvGraphicFramePr>
          <p:cNvPr id="4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Pièces fiscales et sociales en quinze jours, et récentes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L’attributaire dépose, dans les </a:t>
                      </a:r>
                      <a:pPr indent="0" marL="0">
                        <a:buNone/>
                      </a:pPr>
                      <a:r>
                        <a:rPr lang="en-US" sz="1100" b="1" dirty="0">
                          <a:solidFill>
                            <a:srgbClr val="1B2A3A"/>
                          </a:solidFill>
                          <a:latin typeface="Segoe UI" pitchFamily="34" charset="0"/>
                          <a:ea typeface="Segoe UI" pitchFamily="34" charset="-122"/>
                          <a:cs typeface="Segoe UI" pitchFamily="34" charset="-120"/>
                        </a:rPr>
                        <a:t>quinze jours</a:t>
                      </a:r>
                      <a:pPr indent="0" marL="0">
                        <a:buNone/>
                      </a:pPr>
                      <a:r>
                        <a:rPr lang="en-US" sz="1100" dirty="0">
                          <a:solidFill>
                            <a:srgbClr val="1B2A3A"/>
                          </a:solidFill>
                          <a:latin typeface="Segoe UI" pitchFamily="34" charset="0"/>
                          <a:ea typeface="Segoe UI" pitchFamily="34" charset="-122"/>
                          <a:cs typeface="Segoe UI" pitchFamily="34" charset="-120"/>
                        </a:rPr>
                        <a:t> de la lettre d’attribution (art. 20-I), une attestation fiscale et une attestation sociale. Elles doivent avoir moins de six mois (fiscale) et moins de trois mois (sociale) à la notification de l’attribution : plus anciennes, elles sont refusées au dépôt et </a:t>
                      </a:r>
                      <a:pPr indent="0" marL="0">
                        <a:buNone/>
                      </a:pPr>
                      <a:r>
                        <a:rPr lang="en-US" sz="1100" b="1" dirty="0">
                          <a:solidFill>
                            <a:srgbClr val="1B2A3A"/>
                          </a:solidFill>
                          <a:latin typeface="Segoe UI" pitchFamily="34" charset="0"/>
                          <a:ea typeface="Segoe UI" pitchFamily="34" charset="-122"/>
                          <a:cs typeface="Segoe UI" pitchFamily="34" charset="-120"/>
                        </a:rPr>
                        <a:t>ne peuvent être reconnues conformes</a:t>
                      </a:r>
                      <a:pPr indent="0" marL="0">
                        <a:buNone/>
                      </a:pPr>
                      <a:r>
                        <a:rPr lang="en-US" sz="1100" dirty="0">
                          <a:solidFill>
                            <a:srgbClr val="1B2A3A"/>
                          </a:solidFill>
                          <a:latin typeface="Segoe UI" pitchFamily="34" charset="0"/>
                          <a:ea typeface="Segoe UI" pitchFamily="34" charset="-122"/>
                          <a:cs typeface="Segoe UI" pitchFamily="34" charset="-120"/>
                        </a:rPr>
                        <a:t> ; l’écran affiche les dates les plus anciennes admises. L’attributaire peut redéposer jusqu’à l’échéance ; la dernière pièce fait foi.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Vérifiées, ou le marché retiré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vérifie chaque pièce, avec un motif si elle n’est pas conforme. L’état de chaque pièce se lit sur son dernier dépôt : à déposer, à vérifier, conforme, non conforme. Faute de pièces conformes à l’échéance, la PRMP </a:t>
                      </a:r>
                      <a:pPr indent="0" marL="0">
                        <a:buNone/>
                      </a:pPr>
                      <a:r>
                        <a:rPr lang="en-US" sz="1100" b="1" dirty="0">
                          <a:solidFill>
                            <a:srgbClr val="1B2A3A"/>
                          </a:solidFill>
                          <a:latin typeface="Segoe UI" pitchFamily="34" charset="0"/>
                          <a:ea typeface="Segoe UI" pitchFamily="34" charset="-122"/>
                          <a:cs typeface="Segoe UI" pitchFamily="34" charset="-120"/>
                        </a:rPr>
                        <a:t>retire</a:t>
                      </a:r>
                      <a:pPr indent="0" marL="0">
                        <a:buNone/>
                      </a:pPr>
                      <a:r>
                        <a:rPr lang="en-US" sz="1100" dirty="0">
                          <a:solidFill>
                            <a:srgbClr val="1B2A3A"/>
                          </a:solidFill>
                          <a:latin typeface="Segoe UI" pitchFamily="34" charset="0"/>
                          <a:ea typeface="Segoe UI" pitchFamily="34" charset="-122"/>
                          <a:cs typeface="Segoe UI" pitchFamily="34" charset="-120"/>
                        </a:rPr>
                        <a:t> le marché, avant sa signature.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L’original signé de l’acte d’engagement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En remise électronique, le dépôt scellé de l’offre depuis le compte du candidat vaut signature de l’offre et de l’acte d’engagement ; l’attributaire remet ensuite l’</a:t>
                      </a:r>
                      <a:pPr indent="0" marL="0">
                        <a:buNone/>
                      </a:pPr>
                      <a:r>
                        <a:rPr lang="en-US" sz="1100" b="1" dirty="0">
                          <a:solidFill>
                            <a:srgbClr val="1B2A3A"/>
                          </a:solidFill>
                          <a:latin typeface="Segoe UI" pitchFamily="34" charset="0"/>
                          <a:ea typeface="Segoe UI" pitchFamily="34" charset="-122"/>
                          <a:cs typeface="Segoe UI" pitchFamily="34" charset="-120"/>
                        </a:rPr>
                        <a:t>original signé</a:t>
                      </a:r>
                      <a:pPr indent="0" marL="0">
                        <a:buNone/>
                      </a:pPr>
                      <a:r>
                        <a:rPr lang="en-US" sz="1100" dirty="0">
                          <a:solidFill>
                            <a:srgbClr val="1B2A3A"/>
                          </a:solidFill>
                          <a:latin typeface="Segoe UI" pitchFamily="34" charset="0"/>
                          <a:ea typeface="Segoe UI" pitchFamily="34" charset="-122"/>
                          <a:cs typeface="Segoe UI" pitchFamily="34" charset="-120"/>
                        </a:rPr>
                        <a:t> de son acte d’engagement. Il en dépose le scan, sans l’échéance des quinze jours, ou la PRMP qui l’a reçu l’enregistre ; la PRMP le reconnaît conforme, et le marché ne se signe pas avant. Le projet de marché cite l’original et sa date de remise. Une procédure papier n’est pas concernée.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De la mise au point à l’avis d’attribution (tranche 2c) ; § les délais de la signature, des pièces… (tranche R6c, 2026-10-13) · regles-gestion.md § De la mise au point à l’avis d’attribution (tranche 2c) ; demande-backend-2026-10-10-manuel-revise-lot2.md, encadré ✅ Front « recette navigateur du lot 2 » · regles-gestion.md § l’acte d’engagement original (manuel révisé, lot 2, tranche R10, 2026-10-14) ; demande-backend-2026-10-10-manuel-revise-lot2.md, B5, encadré ✅ Front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429</a:t>
            </a:r>
            <a:endParaRPr lang="en-US" sz="1100" dirty="0"/>
          </a:p>
        </p:txBody>
      </p:sp>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name="Slide 4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approuver, enregistrer, notifier (1/2)</a:t>
            </a:r>
            <a:endParaRPr lang="en-US" sz="2600" dirty="0"/>
          </a:p>
        </p:txBody>
      </p:sp>
      <p:graphicFrame>
        <p:nvGraphicFramePr>
          <p:cNvPr id="4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mise au point sans changement substantiel</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mise au point avec l’attributaire fait l’objet d’un rapport. Elle ne peut changer les caractéristiques substantielles du marché, ce que l’application ne contrôle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conditions de la signature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marché n’est signé qu’après le délai d’attente, sans recours suspensif en cours ni demande de sans suite en attente d’avis, une fois les deux pièces de l’attributaire reconnues conformes et, en remise électronique, l’original signé de l’acte d’engagement reconnu conforme. La PRMP dépose le marché signé.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Approuver et enregistrer avant de notifier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marché est </a:t>
                      </a:r>
                      <a:pPr indent="0" marL="0">
                        <a:buNone/>
                      </a:pPr>
                      <a:r>
                        <a:rPr lang="en-US" sz="1100" b="1" dirty="0">
                          <a:solidFill>
                            <a:srgbClr val="1B2A3A"/>
                          </a:solidFill>
                          <a:latin typeface="Segoe UI" pitchFamily="34" charset="0"/>
                          <a:ea typeface="Segoe UI" pitchFamily="34" charset="-122"/>
                          <a:cs typeface="Segoe UI" pitchFamily="34" charset="-120"/>
                        </a:rPr>
                        <a:t>enregistré</a:t>
                      </a:r>
                      <a:pPr indent="0" marL="0">
                        <a:buNone/>
                      </a:pPr>
                      <a:r>
                        <a:rPr lang="en-US" sz="1100" dirty="0">
                          <a:solidFill>
                            <a:srgbClr val="1B2A3A"/>
                          </a:solidFill>
                          <a:latin typeface="Segoe UI" pitchFamily="34" charset="0"/>
                          <a:ea typeface="Segoe UI" pitchFamily="34" charset="-122"/>
                          <a:cs typeface="Segoe UI" pitchFamily="34" charset="-120"/>
                        </a:rPr>
                        <a:t> — une date et le justificatif — et </a:t>
                      </a:r>
                      <a:pPr indent="0" marL="0">
                        <a:buNone/>
                      </a:pPr>
                      <a:r>
                        <a:rPr lang="en-US" sz="1100" b="1" dirty="0">
                          <a:solidFill>
                            <a:srgbClr val="1B2A3A"/>
                          </a:solidFill>
                          <a:latin typeface="Segoe UI" pitchFamily="34" charset="0"/>
                          <a:ea typeface="Segoe UI" pitchFamily="34" charset="-122"/>
                          <a:cs typeface="Segoe UI" pitchFamily="34" charset="-120"/>
                        </a:rPr>
                        <a:t>approuvé</a:t>
                      </a:r>
                      <a:pPr indent="0" marL="0">
                        <a:buNone/>
                      </a:pPr>
                      <a:r>
                        <a:rPr lang="en-US" sz="1100" dirty="0">
                          <a:solidFill>
                            <a:srgbClr val="1B2A3A"/>
                          </a:solidFill>
                          <a:latin typeface="Segoe UI" pitchFamily="34" charset="0"/>
                          <a:ea typeface="Segoe UI" pitchFamily="34" charset="-122"/>
                          <a:cs typeface="Segoe UI" pitchFamily="34" charset="-120"/>
                        </a:rPr>
                        <a:t> (RG-ATT-33) avant d’être notifié : la notification ne s’ouvre qu’une fois les deux faits, et sa date ne précède ni l’un ni l’autre (art. 54). L’écran dit ce qui manque encore.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L’effet à la réception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marché prend effet à sa </a:t>
                      </a:r>
                      <a:pPr indent="0" marL="0">
                        <a:buNone/>
                      </a:pPr>
                      <a:r>
                        <a:rPr lang="en-US" sz="1100" b="1" dirty="0">
                          <a:solidFill>
                            <a:srgbClr val="1B2A3A"/>
                          </a:solidFill>
                          <a:latin typeface="Segoe UI" pitchFamily="34" charset="0"/>
                          <a:ea typeface="Segoe UI" pitchFamily="34" charset="-122"/>
                          <a:cs typeface="Segoe UI" pitchFamily="34" charset="-120"/>
                        </a:rPr>
                        <a:t>réception</a:t>
                      </a:r>
                      <a:pPr indent="0" marL="0">
                        <a:buNone/>
                      </a:pPr>
                      <a:r>
                        <a:rPr lang="en-US" sz="1100" dirty="0">
                          <a:solidFill>
                            <a:srgbClr val="1B2A3A"/>
                          </a:solidFill>
                          <a:latin typeface="Segoe UI" pitchFamily="34" charset="0"/>
                          <a:ea typeface="Segoe UI" pitchFamily="34" charset="-122"/>
                          <a:cs typeface="Segoe UI" pitchFamily="34" charset="-120"/>
                        </a:rPr>
                        <a:t> par l’attributaire : la date déclarée par la PRMP, ou sa première consultation du marché sur la plateforme.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L’avis d’attribution sous trente jours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L’avis d’attribution est publié dans les </a:t>
                      </a:r>
                      <a:pPr indent="0" marL="0">
                        <a:buNone/>
                      </a:pPr>
                      <a:r>
                        <a:rPr lang="en-US" sz="1100" b="1" dirty="0">
                          <a:solidFill>
                            <a:srgbClr val="1B2A3A"/>
                          </a:solidFill>
                          <a:latin typeface="Segoe UI" pitchFamily="34" charset="0"/>
                          <a:ea typeface="Segoe UI" pitchFamily="34" charset="-122"/>
                          <a:cs typeface="Segoe UI" pitchFamily="34" charset="-120"/>
                        </a:rPr>
                        <a:t>trente jours</a:t>
                      </a:r>
                      <a:pPr indent="0" marL="0">
                        <a:buNone/>
                      </a:pPr>
                      <a:r>
                        <a:rPr lang="en-US" sz="1100" dirty="0">
                          <a:solidFill>
                            <a:srgbClr val="1B2A3A"/>
                          </a:solidFill>
                          <a:latin typeface="Segoe UI" pitchFamily="34" charset="0"/>
                          <a:ea typeface="Segoe UI" pitchFamily="34" charset="-122"/>
                          <a:cs typeface="Segoe UI" pitchFamily="34" charset="-120"/>
                        </a:rPr>
                        <a:t> de la réception de la notification par le titulaire (déclarée ou constatée par la plateforme), à défaut de la notification, sur la page publique de la procédure. La PRMP est alertée au vingtième jour ; un avis en retard est signalé « En retard » sur le lot et par une pastille sur son entrée « Fiches DAO ». La règle ne bloque rien : une publication tardive se lit « Publié après l’échéance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De la mise au point à l’avis d’attribution (tranche 2c) · regles-gestion.md § De la mise au point à l’avis d’attribution (tranche 2c) ; § l’acte d’engagement original (tranche R10) ; § La déclaration sans suite (tranche 2d-3) · regles-gestion.md § De la mise au point à l’avis d’attribution (tranche 2c) ; § trois bloquants de la loi (tranche R9a, 2026-10-14) · regles-gestion.md § les délais de la signature, des pièces, de l’avis d’attribution… (tranche R6c) ; demande-backend-2026-10-10-manuel-revise-lot2.md, B1 règle 8, encadré ✅ Front FR6</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430</a:t>
            </a:r>
            <a:endParaRPr lang="en-US" sz="1100" dirty="0"/>
          </a:p>
        </p:txBody>
      </p:sp>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name="Slide 4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approuver, enregistrer, notifier (2/2)</a:t>
            </a:r>
            <a:endParaRPr lang="en-US" sz="2600" dirty="0"/>
          </a:p>
        </p:txBody>
      </p:sp>
      <p:graphicFrame>
        <p:nvGraphicFramePr>
          <p:cNvPr id="43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L’approbation du marché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Après la signature, la PRMP déclare l’</a:t>
                      </a:r>
                      <a:pPr indent="0" marL="0">
                        <a:buNone/>
                      </a:pPr>
                      <a:r>
                        <a:rPr lang="en-US" sz="1100" b="1" dirty="0">
                          <a:solidFill>
                            <a:srgbClr val="1B2A3A"/>
                          </a:solidFill>
                          <a:latin typeface="Segoe UI" pitchFamily="34" charset="0"/>
                          <a:ea typeface="Segoe UI" pitchFamily="34" charset="-122"/>
                          <a:cs typeface="Segoe UI" pitchFamily="34" charset="-120"/>
                        </a:rPr>
                        <a:t>approbation</a:t>
                      </a:r>
                      <a:pPr indent="0" marL="0">
                        <a:buNone/>
                      </a:pPr>
                      <a:r>
                        <a:rPr lang="en-US" sz="1100" dirty="0">
                          <a:solidFill>
                            <a:srgbClr val="1B2A3A"/>
                          </a:solidFill>
                          <a:latin typeface="Segoe UI" pitchFamily="34" charset="0"/>
                          <a:ea typeface="Segoe UI" pitchFamily="34" charset="-122"/>
                          <a:cs typeface="Segoe UI" pitchFamily="34" charset="-120"/>
                        </a:rPr>
                        <a:t> du marché par l’autorité compétente (art. 54) : l’autorité, la date — comprise entre la signature et le jour même — et la décision jointe. L’approbation ne se déclare qu’une fois ; elle se lit ensuite « Approuvé le … » avec sa pièce. Sans elle, pas de notification.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trois bloquants de la loi (manuel révisé, lot 2, tranche R9a, 2026-10-14) ; demande-backend-2026-10-10-manuel-revise-lot2.md, B4 n° 14, encadré ✅ Front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431</a:t>
            </a:r>
            <a:endParaRPr lang="en-US" sz="1100" dirty="0"/>
          </a:p>
        </p:txBody>
      </p:sp>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name="Slide 4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L’infructuosité</a:t>
            </a:r>
            <a:endParaRPr lang="en-US" sz="2600" dirty="0"/>
          </a:p>
        </p:txBody>
      </p:sp>
      <p:graphicFrame>
        <p:nvGraphicFramePr>
          <p:cNvPr id="43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lot proposé infructueux</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aucune offre n’est qualifiée, le rapport propose le lot infructueux : il n’a pas de dossier de marché, et la décision revient à la PRMP.</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Jamais après l’attribution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L’infructuosité ne peut en aucun cas intervenir après la décision d’attribution (art. 56-VI) : après un retrait du marché, elle n’est pas proposée.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De la proposition à l’attribution (2026-10-07) · regles-gestion.md § L’infructuosité, la reprise de l’évaluation (tranche 2d-1) ; § La réattribution (tranche 2d-2)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432</a:t>
            </a:r>
            <a:endParaRPr lang="en-US" sz="1100" dirty="0"/>
          </a:p>
        </p:txBody>
      </p:sp>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name="Slide 4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a:t>
            </a:r>
            <a:endParaRPr lang="en-US" sz="2600" dirty="0"/>
          </a:p>
        </p:txBody>
      </p:sp>
      <p:graphicFrame>
        <p:nvGraphicFramePr>
          <p:cNvPr id="43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acte se dépose depuis le marché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Avenant, résiliation, indemnité, remise de pénalités, sursis : déposés depuis un dossier de marché dont le dernier PV signé est favorable ; jamais par la saisie libre. L’acte naît en brouillon au nom de la PRMP, puis suit le circuit (pièces de son sous-type, grille, motifs-types).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garde-fous de l’avenant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cumul des avenants déjà soumis (hors avis défavorable) et du nouveau ne dépasse pas le </a:t>
                      </a:r>
                      <a:pPr indent="0" marL="0">
                        <a:buNone/>
                      </a:pPr>
                      <a:r>
                        <a:rPr lang="en-US" sz="1100" b="1" dirty="0">
                          <a:solidFill>
                            <a:srgbClr val="1B2A3A"/>
                          </a:solidFill>
                          <a:latin typeface="Segoe UI" pitchFamily="34" charset="0"/>
                          <a:ea typeface="Segoe UI" pitchFamily="34" charset="-122"/>
                          <a:cs typeface="Segoe UI" pitchFamily="34" charset="-120"/>
                        </a:rPr>
                        <a:t>tiers</a:t>
                      </a:r>
                      <a:pPr indent="0" marL="0">
                        <a:buNone/>
                      </a:pPr>
                      <a:r>
                        <a:rPr lang="en-US" sz="1100" dirty="0">
                          <a:solidFill>
                            <a:srgbClr val="1B2A3A"/>
                          </a:solidFill>
                          <a:latin typeface="Segoe UI" pitchFamily="34" charset="0"/>
                          <a:ea typeface="Segoe UI" pitchFamily="34" charset="-122"/>
                          <a:cs typeface="Segoe UI" pitchFamily="34" charset="-120"/>
                        </a:rPr>
                        <a:t> du montant initial hors taxes ; pas d’avenant après la réception (définitive en travaux, provisoire ou définitive ailleurs) ni après le solde. Contrôlé au dépôt, à la modification et de nouveau à la soumission.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 M5a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433</a:t>
            </a:r>
            <a:endParaRPr lang="en-US" sz="1100" dirty="0"/>
          </a:p>
        </p:txBody>
      </p:sp>
    </p:spTree>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name="Slide 4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le rapport</a:t>
            </a:r>
            <a:endParaRPr lang="en-US" sz="2600" dirty="0"/>
          </a:p>
        </p:txBody>
      </p:sp>
      <p:graphicFrame>
        <p:nvGraphicFramePr>
          <p:cNvPr id="43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L’infructuosité déclarée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la déclare (motif, référence et date de sa décision, suite envisagée) quand le rapport la propose ou que la Commission rend un avis défavorable sur le dossier de marché ; jamais une fois le lot attribué (art. 56-VI). Les candidats du lot sont avertis, la page publique l’affiche.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Reprendre l’évaluation, réattribuer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Après un avis défavorable, la PRMP peut reprendre l’évaluation (motif) : le rapport signé est archivé, l’évaluation rouverte, un nouveau rapport et un nouveau dossier suivront. La reprise est refusée quand un autre lot est déjà attribué, ou que le dossier de marché d’un autre lot est soumis. Après le retrait du marché, la PRMP réattribue au candidat suivant (offre encore valide, nouvelle post-qualification, nouvelle information, nouveau délai) ; sans suivant éligible, seul le sans suite reste.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déclaration sans suite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Avant la signature d’un marché, la PRMP demande, motifs à l’appui : un dossier « Déclaration sans suite » suit le circuit et la Commission rend un avis favorable ou défavorable sous cinq jours de la réception. Sans avis à l’échéance, une </a:t>
                      </a:r>
                      <a:pPr indent="0" marL="0">
                        <a:buNone/>
                      </a:pPr>
                      <a:r>
                        <a:rPr lang="en-US" sz="1100" b="1" dirty="0">
                          <a:solidFill>
                            <a:srgbClr val="1B2A3A"/>
                          </a:solidFill>
                          <a:latin typeface="Segoe UI" pitchFamily="34" charset="0"/>
                          <a:ea typeface="Segoe UI" pitchFamily="34" charset="-122"/>
                          <a:cs typeface="Segoe UI" pitchFamily="34" charset="-120"/>
                        </a:rPr>
                        <a:t>relance</a:t>
                      </a:r>
                      <a:pPr indent="0" marL="0">
                        <a:buNone/>
                      </a:pPr>
                      <a:r>
                        <a:rPr lang="en-US" sz="1100" dirty="0">
                          <a:solidFill>
                            <a:srgbClr val="1B2A3A"/>
                          </a:solidFill>
                          <a:latin typeface="Segoe UI" pitchFamily="34" charset="0"/>
                          <a:ea typeface="Segoe UI" pitchFamily="34" charset="-122"/>
                          <a:cs typeface="Segoe UI" pitchFamily="34" charset="-120"/>
                        </a:rPr>
                        <a:t> part une fois à la PRMP, au membre examinateur et aux Présidents de la localité ; la signature reste suspendue jusqu’à l’avis exprès. Favorable, la PRMP déclare : procédure close, candidats informés, sans indemnité (art. 55).</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L’infructuosité, la reprise de l’évaluation, les alertes (tranche 2d-1) · regles-gestion.md § L’infructuosité, la reprise (tranche 2d-1) ; § La réattribution (tranche 2d-2) ; demande-backend-2026-10-10-manuel-revise-lot2.md, réponse backend « procédure allotie » (14/10) · regles-gestion.md § La déclaration sans suite (tranche 2d-3) ; § les délais… du sans suite (tranche R6c)</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434</a:t>
            </a:r>
            <a:endParaRPr lang="en-US" sz="1100" dirty="0"/>
          </a:p>
        </p:txBody>
      </p:sp>
    </p:spTree>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name="Slide 4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43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dossier de marché MPI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dossier de marché d’une fiche de prestations intellectuelles se crée au sous-type MPI ; le devis joint d’office est le bordereau de l’enveloppe financière ; un lot proposé infructueux n’a pas de dossier.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435</a:t>
            </a:r>
            <a:endParaRPr lang="en-US" sz="1100" dirty="0"/>
          </a:p>
        </p:txBody>
      </p:sp>
    </p:spTree>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name="Slide 4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légaux</a:t>
            </a:r>
            <a:endParaRPr lang="en-US" sz="2600" dirty="0"/>
          </a:p>
        </p:txBody>
      </p:sp>
      <p:graphicFrame>
        <p:nvGraphicFramePr>
          <p:cNvPr id="43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plan réputé approuvé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plan de passation soumis à la Commission qui n’a pas de PV signé dix jours ouvrables après sa soumission est </a:t>
                      </a:r>
                      <a:pPr indent="0" marL="0">
                        <a:buNone/>
                      </a:pPr>
                      <a:r>
                        <a:rPr lang="en-US" sz="1100" b="1" dirty="0">
                          <a:solidFill>
                            <a:srgbClr val="1B2A3A"/>
                          </a:solidFill>
                          <a:latin typeface="Segoe UI" pitchFamily="34" charset="0"/>
                          <a:ea typeface="Segoe UI" pitchFamily="34" charset="-122"/>
                          <a:cs typeface="Segoe UI" pitchFamily="34" charset="-120"/>
                        </a:rPr>
                        <a:t>réputé approuvé</a:t>
                      </a:r>
                      <a:pPr indent="0" marL="0">
                        <a:buNone/>
                      </a:pPr>
                      <a:r>
                        <a:rPr lang="en-US" sz="1100" dirty="0">
                          <a:solidFill>
                            <a:srgbClr val="1B2A3A"/>
                          </a:solidFill>
                          <a:latin typeface="Segoe UI" pitchFamily="34" charset="0"/>
                          <a:ea typeface="Segoe UI" pitchFamily="34" charset="-122"/>
                          <a:cs typeface="Segoe UI" pitchFamily="34" charset="-120"/>
                        </a:rPr>
                        <a:t> (art. 26-IV). L’application le constate, le date, l’inscrit au journal et avertit la PRMP et les Présidents de la localité ; ses lignes peuvent alors recevoir un dossier de mise en concurrence. L’examen continue : un avis rendu après coup vaut observation. Un badge « Réputé approuvé » s’affiche à côté du statut du dossier.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plan réputé approuvé (manuel révisé, lot 2, tranche R6b, 2026-10-13) ; demande-backend-2026-10-10-manuel-revise-lot2.md, B1 règle 5, encadré ✅ Front FR6</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436</a:t>
            </a:r>
            <a:endParaRPr lang="en-US" sz="1100" dirty="0"/>
          </a:p>
        </p:txBody>
      </p:sp>
    </p:spTree>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name="Slide 4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 (1/2)</a:t>
            </a:r>
            <a:endParaRPr lang="en-US" sz="2600" dirty="0"/>
          </a:p>
        </p:txBody>
      </p:sp>
      <p:graphicFrame>
        <p:nvGraphicFramePr>
          <p:cNvPr id="43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acte daté, avec pièce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titulaire absent désigne son intérimaire pour une période, sur note de service ou décision jointe en PDF. Un intérim ne se modifie ni ne s’efface : une prolongation est un </a:t>
                      </a:r>
                      <a:pPr indent="0" marL="0">
                        <a:buNone/>
                      </a:pPr>
                      <a:r>
                        <a:rPr lang="en-US" sz="1100" b="1" dirty="0">
                          <a:solidFill>
                            <a:srgbClr val="1B2A3A"/>
                          </a:solidFill>
                          <a:latin typeface="Segoe UI" pitchFamily="34" charset="0"/>
                          <a:ea typeface="Segoe UI" pitchFamily="34" charset="-122"/>
                          <a:cs typeface="Segoe UI" pitchFamily="34" charset="-120"/>
                        </a:rPr>
                        <a:t>nouvel intérim</a:t>
                      </a:r>
                      <a:pPr indent="0" marL="0">
                        <a:buNone/>
                      </a:pPr>
                      <a:r>
                        <a:rPr lang="en-US" sz="1100" dirty="0">
                          <a:solidFill>
                            <a:srgbClr val="1B2A3A"/>
                          </a:solidFill>
                          <a:latin typeface="Segoe UI" pitchFamily="34" charset="0"/>
                          <a:ea typeface="Segoe UI" pitchFamily="34" charset="-122"/>
                          <a:cs typeface="Segoe UI" pitchFamily="34" charset="-120"/>
                        </a:rPr>
                        <a:t>, une fin avant terme une révocation.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Qui peut suppléer qui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est suppléé par un Chef de commission de n’importe quelle localité ; un Chef de commission de la Centrale, par un autre Chef de commission de la Centrale ou un Membre de sa localité ; un Chef de commission régional, par un </a:t>
                      </a:r>
                      <a:pPr indent="0" marL="0">
                        <a:buNone/>
                      </a:pPr>
                      <a:r>
                        <a:rPr lang="en-US" sz="1100" b="1" dirty="0">
                          <a:solidFill>
                            <a:srgbClr val="1B2A3A"/>
                          </a:solidFill>
                          <a:latin typeface="Segoe UI" pitchFamily="34" charset="0"/>
                          <a:ea typeface="Segoe UI" pitchFamily="34" charset="-122"/>
                          <a:cs typeface="Segoe UI" pitchFamily="34" charset="-120"/>
                        </a:rPr>
                        <a:t>Membre de sa localité</a:t>
                      </a:r>
                      <a:pPr indent="0" marL="0">
                        <a:buNone/>
                      </a:pPr>
                      <a:r>
                        <a:rPr lang="en-US" sz="1100" dirty="0">
                          <a:solidFill>
                            <a:srgbClr val="1B2A3A"/>
                          </a:solidFill>
                          <a:latin typeface="Segoe UI" pitchFamily="34" charset="0"/>
                          <a:ea typeface="Segoe UI" pitchFamily="34" charset="-122"/>
                          <a:cs typeface="Segoe UI" pitchFamily="34" charset="-120"/>
                        </a:rPr>
                        <a:t>. La liste de l’écran ne propose que ces personnes.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Chacun déclare sa propre absence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Président et le Chef de commission déclarent eux-mêmes leur absence ; l’Administrateur désigne et révoque </a:t>
                      </a:r>
                      <a:pPr indent="0" marL="0">
                        <a:buNone/>
                      </a:pPr>
                      <a:r>
                        <a:rPr lang="en-US" sz="1100" b="1" dirty="0">
                          <a:solidFill>
                            <a:srgbClr val="1B2A3A"/>
                          </a:solidFill>
                          <a:latin typeface="Segoe UI" pitchFamily="34" charset="0"/>
                          <a:ea typeface="Segoe UI" pitchFamily="34" charset="-122"/>
                          <a:cs typeface="Segoe UI" pitchFamily="34" charset="-120"/>
                        </a:rPr>
                        <a:t>en repli</a:t>
                      </a:r>
                      <a:pPr indent="0" marL="0">
                        <a:buNone/>
                      </a:pPr>
                      <a:r>
                        <a:rPr lang="en-US" sz="1100" dirty="0">
                          <a:solidFill>
                            <a:srgbClr val="1B2A3A"/>
                          </a:solidFill>
                          <a:latin typeface="Segoe UI" pitchFamily="34" charset="0"/>
                          <a:ea typeface="Segoe UI" pitchFamily="34" charset="-122"/>
                          <a:cs typeface="Segoe UI" pitchFamily="34" charset="-120"/>
                        </a:rPr>
                        <a:t>. Les autres profils ne déclarent pas d’absence : la réattribution et la délégation les couvrent.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seul intérim à la fois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titulaire n’a qu’un intérim actif ou à venir à une date donnée : tout chevauchement est refusé. Le cumul du côté de l’intérimaire est </a:t>
                      </a:r>
                      <a:pPr indent="0" marL="0">
                        <a:buNone/>
                      </a:pPr>
                      <a:r>
                        <a:rPr lang="en-US" sz="1100" b="1" dirty="0">
                          <a:solidFill>
                            <a:srgbClr val="1B2A3A"/>
                          </a:solidFill>
                          <a:latin typeface="Segoe UI" pitchFamily="34" charset="0"/>
                          <a:ea typeface="Segoe UI" pitchFamily="34" charset="-122"/>
                          <a:cs typeface="Segoe UI" pitchFamily="34" charset="-120"/>
                        </a:rPr>
                        <a:t>signalé</a:t>
                      </a:r>
                      <a:pPr indent="0" marL="0">
                        <a:buNone/>
                      </a:pPr>
                      <a:r>
                        <a:rPr lang="en-US" sz="1100" dirty="0">
                          <a:solidFill>
                            <a:srgbClr val="1B2A3A"/>
                          </a:solidFill>
                          <a:latin typeface="Segoe UI" pitchFamily="34" charset="0"/>
                          <a:ea typeface="Segoe UI" pitchFamily="34" charset="-122"/>
                          <a:cs typeface="Segoe UI" pitchFamily="34" charset="-120"/>
                        </a:rPr>
                        <a:t>, jamais interdit.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Statut déduit des dates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statut se déduit des dates : à venir, actif, achevé ou révoqué. Seul l’intérim </a:t>
                      </a:r>
                      <a:pPr indent="0" marL="0">
                        <a:buNone/>
                      </a:pPr>
                      <a:r>
                        <a:rPr lang="en-US" sz="1100" b="1" dirty="0">
                          <a:solidFill>
                            <a:srgbClr val="1B2A3A"/>
                          </a:solidFill>
                          <a:latin typeface="Segoe UI" pitchFamily="34" charset="0"/>
                          <a:ea typeface="Segoe UI" pitchFamily="34" charset="-122"/>
                          <a:cs typeface="Segoe UI" pitchFamily="34" charset="-120"/>
                        </a:rPr>
                        <a:t>actif</a:t>
                      </a:r>
                      <a:pPr indent="0" marL="0">
                        <a:buNone/>
                      </a:pPr>
                      <a:r>
                        <a:rPr lang="en-US" sz="1100" dirty="0">
                          <a:solidFill>
                            <a:srgbClr val="1B2A3A"/>
                          </a:solidFill>
                          <a:latin typeface="Segoe UI" pitchFamily="34" charset="0"/>
                          <a:ea typeface="Segoe UI" pitchFamily="34" charset="-122"/>
                          <a:cs typeface="Segoe UI" pitchFamily="34" charset="-120"/>
                        </a:rPr>
                        <a:t> ouvre des droits, et il n’est pas transitif : l’intérimaire du Président ne désigne jamais d’intérimaire pour le Président.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L’intérim DÉSIGNÉ dans le circuit de contrôle — lot 1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437</a:t>
            </a:r>
            <a:endParaRPr lang="en-US" sz="1100" dirty="0"/>
          </a:p>
        </p:txBody>
      </p:sp>
    </p:spTree>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name="Slide 4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 (2/2)</a:t>
            </a:r>
            <a:endParaRPr lang="en-US" sz="2600" dirty="0"/>
          </a:p>
        </p:txBody>
      </p:sp>
      <p:graphicFrame>
        <p:nvGraphicFramePr>
          <p:cNvPr id="43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Révocation sans effet rétroactif</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titulaire, l’auteur de la désignation ou l’Administrateur révoque l’intérim, au plus tôt à la date du jour. Les droits tombent aussitôt ; les actes déjà posés </a:t>
                      </a:r>
                      <a:pPr indent="0" marL="0">
                        <a:buNone/>
                      </a:pPr>
                      <a:r>
                        <a:rPr lang="en-US" sz="1100" b="1" dirty="0">
                          <a:solidFill>
                            <a:srgbClr val="1B2A3A"/>
                          </a:solidFill>
                          <a:latin typeface="Segoe UI" pitchFamily="34" charset="0"/>
                          <a:ea typeface="Segoe UI" pitchFamily="34" charset="-122"/>
                          <a:cs typeface="Segoe UI" pitchFamily="34" charset="-120"/>
                        </a:rPr>
                        <a:t>restent</a:t>
                      </a:r>
                      <a:pPr indent="0" marL="0">
                        <a:buNone/>
                      </a:pPr>
                      <a:r>
                        <a:rPr lang="en-US" sz="1100" dirty="0">
                          <a:solidFill>
                            <a:srgbClr val="1B2A3A"/>
                          </a:solidFill>
                          <a:latin typeface="Segoe UI" pitchFamily="34" charset="0"/>
                          <a:ea typeface="Segoe UI" pitchFamily="34" charset="-122"/>
                          <a:cs typeface="Segoe UI" pitchFamily="34" charset="-120"/>
                        </a:rPr>
                        <a:t> ceux de l’intérimaire.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L’intérim DÉSIGNÉ dans le circuit de contrôle — lot 1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438</a:t>
            </a:r>
            <a:endParaRPr lang="en-US" sz="1100" dirty="0"/>
          </a:p>
        </p:txBody>
      </p:sp>
    </p:spTree>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name="Slide 4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Effets de l’intérim</a:t>
            </a:r>
            <a:endParaRPr lang="en-US" sz="2600" dirty="0"/>
          </a:p>
        </p:txBody>
      </p:sp>
      <p:graphicFrame>
        <p:nvGraphicFramePr>
          <p:cNvPr id="44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Agir dans le périmètre du titulaire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L’intérimaire agit dans le périmètre du titulaire, sous sa propre identité : dispatch, visa, retour, réattribution, retraits, part de signature. L’examen, la part du Membre et les lettres de renvoi restent </a:t>
                      </a:r>
                      <a:pPr indent="0" marL="0">
                        <a:buNone/>
                      </a:pPr>
                      <a:r>
                        <a:rPr lang="en-US" sz="1100" b="1" dirty="0">
                          <a:solidFill>
                            <a:srgbClr val="1B2A3A"/>
                          </a:solidFill>
                          <a:latin typeface="Segoe UI" pitchFamily="34" charset="0"/>
                          <a:ea typeface="Segoe UI" pitchFamily="34" charset="-122"/>
                          <a:cs typeface="Segoe UI" pitchFamily="34" charset="-120"/>
                        </a:rPr>
                        <a:t>hors de l’intérim</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dispatch reste au nom du titulaire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dispatch posé par intérim est enregistré au nom du titulaire, l’auteur réel restant tracé. À son retour, le titulaire </a:t>
                      </a:r>
                      <a:pPr indent="0" marL="0">
                        <a:buNone/>
                      </a:pPr>
                      <a:r>
                        <a:rPr lang="en-US" sz="1100" b="1" dirty="0">
                          <a:solidFill>
                            <a:srgbClr val="1B2A3A"/>
                          </a:solidFill>
                          <a:latin typeface="Segoe UI" pitchFamily="34" charset="0"/>
                          <a:ea typeface="Segoe UI" pitchFamily="34" charset="-122"/>
                          <a:cs typeface="Segoe UI" pitchFamily="34" charset="-120"/>
                        </a:rPr>
                        <a:t>vise</a:t>
                      </a:r>
                      <a:pPr indent="0" marL="0">
                        <a:buNone/>
                      </a:pPr>
                      <a:r>
                        <a:rPr lang="en-US" sz="1100" dirty="0">
                          <a:solidFill>
                            <a:srgbClr val="1B2A3A"/>
                          </a:solidFill>
                          <a:latin typeface="Segoe UI" pitchFamily="34" charset="0"/>
                          <a:ea typeface="Segoe UI" pitchFamily="34" charset="-122"/>
                          <a:cs typeface="Segoe UI" pitchFamily="34" charset="-120"/>
                        </a:rPr>
                        <a:t> donc le procès-verbal que son intérimaire a dispatché.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Visa sans note, une part par personne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L’intérimaire désigné vise sans note supplémentaire : la désignation suffit. Il ne vise pas le procès-verbal de son propre examen et ne signe </a:t>
                      </a:r>
                      <a:pPr indent="0" marL="0">
                        <a:buNone/>
                      </a:pPr>
                      <a:r>
                        <a:rPr lang="en-US" sz="1100" b="1" dirty="0">
                          <a:solidFill>
                            <a:srgbClr val="1B2A3A"/>
                          </a:solidFill>
                          <a:latin typeface="Segoe UI" pitchFamily="34" charset="0"/>
                          <a:ea typeface="Segoe UI" pitchFamily="34" charset="-122"/>
                          <a:cs typeface="Segoe UI" pitchFamily="34" charset="-120"/>
                        </a:rPr>
                        <a:t>jamais deux parts</a:t>
                      </a:r>
                      <a:pPr indent="0" marL="0">
                        <a:buNone/>
                      </a:pPr>
                      <a:r>
                        <a:rPr lang="en-US" sz="1100" dirty="0">
                          <a:solidFill>
                            <a:srgbClr val="1B2A3A"/>
                          </a:solidFill>
                          <a:latin typeface="Segoe UI" pitchFamily="34" charset="0"/>
                          <a:ea typeface="Segoe UI" pitchFamily="34" charset="-122"/>
                          <a:cs typeface="Segoe UI" pitchFamily="34" charset="-120"/>
                        </a:rPr>
                        <a:t> d’un même procès-verbal.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Notifications copiées, jamais détournées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Toute notification adressée au titulaire est </a:t>
                      </a:r>
                      <a:pPr indent="0" marL="0">
                        <a:buNone/>
                      </a:pPr>
                      <a:r>
                        <a:rPr lang="en-US" sz="1100" b="1" dirty="0">
                          <a:solidFill>
                            <a:srgbClr val="1B2A3A"/>
                          </a:solidFill>
                          <a:latin typeface="Segoe UI" pitchFamily="34" charset="0"/>
                          <a:ea typeface="Segoe UI" pitchFamily="34" charset="-122"/>
                          <a:cs typeface="Segoe UI" pitchFamily="34" charset="-120"/>
                        </a:rPr>
                        <a:t>copiée</a:t>
                      </a:r>
                      <a:pPr indent="0" marL="0">
                        <a:buNone/>
                      </a:pPr>
                      <a:r>
                        <a:rPr lang="en-US" sz="1100" dirty="0">
                          <a:solidFill>
                            <a:srgbClr val="1B2A3A"/>
                          </a:solidFill>
                          <a:latin typeface="Segoe UI" pitchFamily="34" charset="0"/>
                          <a:ea typeface="Segoe UI" pitchFamily="34" charset="-122"/>
                          <a:cs typeface="Segoe UI" pitchFamily="34" charset="-120"/>
                        </a:rPr>
                        <a:t> à son intérimaire actif ; le titulaire garde ses tâches et son historique. Le journal et le chronométrage portent la mention « par intérim de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L’intérim DÉSIGNÉ dans le circuit de contrôle — lot 1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439</a:t>
            </a:r>
            <a:endParaRPr lang="en-US" sz="1100" dirty="0"/>
          </a:p>
        </p:txBody>
      </p:sp>
    </p:spTree>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name="Slide 4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PRMP</a:t>
            </a:r>
            <a:endParaRPr lang="en-US" sz="2600" dirty="0"/>
          </a:p>
        </p:txBody>
      </p:sp>
      <p:graphicFrame>
        <p:nvGraphicFramePr>
          <p:cNvPr id="44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Mandat déclaré par l’Administrateur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mandat d’une PRMP matérialise son arrêté de nomination : seul l’Administrateur le déclare. Il dure </a:t>
                      </a:r>
                      <a:pPr indent="0" marL="0">
                        <a:buNone/>
                      </a:pPr>
                      <a:r>
                        <a:rPr lang="en-US" sz="1100" b="1" dirty="0">
                          <a:solidFill>
                            <a:srgbClr val="1B2A3A"/>
                          </a:solidFill>
                          <a:latin typeface="Segoe UI" pitchFamily="34" charset="0"/>
                          <a:ea typeface="Segoe UI" pitchFamily="34" charset="-122"/>
                          <a:cs typeface="Segoe UI" pitchFamily="34" charset="-120"/>
                        </a:rPr>
                        <a:t>trois ans</a:t>
                      </a:r>
                      <a:pPr indent="0" marL="0">
                        <a:buNone/>
                      </a:pPr>
                      <a:r>
                        <a:rPr lang="en-US" sz="1100" dirty="0">
                          <a:solidFill>
                            <a:srgbClr val="1B2A3A"/>
                          </a:solidFill>
                          <a:latin typeface="Segoe UI" pitchFamily="34" charset="0"/>
                          <a:ea typeface="Segoe UI" pitchFamily="34" charset="-122"/>
                          <a:cs typeface="Segoe UI" pitchFamily="34" charset="-120"/>
                        </a:rPr>
                        <a:t> à partir de la date de l’arrêté ; sa fin ne peut dépasser cette borne.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Reconduction unique, jamais prolongation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reconduction est un nouveau mandat, avec un </a:t>
                      </a:r>
                      <a:pPr indent="0" marL="0">
                        <a:buNone/>
                      </a:pPr>
                      <a:r>
                        <a:rPr lang="en-US" sz="1100" b="1" dirty="0">
                          <a:solidFill>
                            <a:srgbClr val="1B2A3A"/>
                          </a:solidFill>
                          <a:latin typeface="Segoe UI" pitchFamily="34" charset="0"/>
                          <a:ea typeface="Segoe UI" pitchFamily="34" charset="-122"/>
                          <a:cs typeface="Segoe UI" pitchFamily="34" charset="-120"/>
                        </a:rPr>
                        <a:t>nouvel arrêté</a:t>
                      </a:r>
                      <a:pPr indent="0" marL="0">
                        <a:buNone/>
                      </a:pPr>
                      <a:r>
                        <a:rPr lang="en-US" sz="1100" dirty="0">
                          <a:solidFill>
                            <a:srgbClr val="1B2A3A"/>
                          </a:solidFill>
                          <a:latin typeface="Segoe UI" pitchFamily="34" charset="0"/>
                          <a:ea typeface="Segoe UI" pitchFamily="34" charset="-122"/>
                          <a:cs typeface="Segoe UI" pitchFamily="34" charset="-120"/>
                        </a:rPr>
                        <a:t> et des dates qui succèdent au précédent. Une même personne porte au plus deux mandats ; aucun mandat ne s’allonge.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Statut du mandat déduit des dates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mandat est en transition avant la prise de fonction, actif pendant, achevé après. L’</a:t>
                      </a:r>
                      <a:pPr indent="0" marL="0">
                        <a:buNone/>
                      </a:pPr>
                      <a:r>
                        <a:rPr lang="en-US" sz="1100" b="1" dirty="0">
                          <a:solidFill>
                            <a:srgbClr val="1B2A3A"/>
                          </a:solidFill>
                          <a:latin typeface="Segoe UI" pitchFamily="34" charset="0"/>
                          <a:ea typeface="Segoe UI" pitchFamily="34" charset="-122"/>
                          <a:cs typeface="Segoe UI" pitchFamily="34" charset="-120"/>
                        </a:rPr>
                        <a:t>abrogation</a:t>
                      </a:r>
                      <a:pPr indent="0" marL="0">
                        <a:buNone/>
                      </a:pPr>
                      <a:r>
                        <a:rPr lang="en-US" sz="1100" dirty="0">
                          <a:solidFill>
                            <a:srgbClr val="1B2A3A"/>
                          </a:solidFill>
                          <a:latin typeface="Segoe UI" pitchFamily="34" charset="0"/>
                          <a:ea typeface="Segoe UI" pitchFamily="34" charset="-122"/>
                          <a:cs typeface="Segoe UI" pitchFamily="34" charset="-120"/>
                        </a:rPr>
                        <a:t>, fin avant terme par un acte explicite, prime sur les dates.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mandat implicite des PRMP existantes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PRMP sans mandat déclaré reçoit un mandat </a:t>
                      </a:r>
                      <a:pPr indent="0" marL="0">
                        <a:buNone/>
                      </a:pPr>
                      <a:r>
                        <a:rPr lang="en-US" sz="1100" b="1" dirty="0">
                          <a:solidFill>
                            <a:srgbClr val="1B2A3A"/>
                          </a:solidFill>
                          <a:latin typeface="Segoe UI" pitchFamily="34" charset="0"/>
                          <a:ea typeface="Segoe UI" pitchFamily="34" charset="-122"/>
                          <a:cs typeface="Segoe UI" pitchFamily="34" charset="-120"/>
                        </a:rPr>
                        <a:t>implicite</a:t>
                      </a:r>
                      <a:pPr indent="0" marL="0">
                        <a:buNone/>
                      </a:pPr>
                      <a:r>
                        <a:rPr lang="en-US" sz="1100" dirty="0">
                          <a:solidFill>
                            <a:srgbClr val="1B2A3A"/>
                          </a:solidFill>
                          <a:latin typeface="Segoe UI" pitchFamily="34" charset="0"/>
                          <a:ea typeface="Segoe UI" pitchFamily="34" charset="-122"/>
                          <a:cs typeface="Segoe UI" pitchFamily="34" charset="-120"/>
                        </a:rPr>
                        <a:t>, reconstitué depuis sa fiche : la date et l’arrêté de nomination, plus trois ans. La règle des trois ans s’applique ainsi sans reprise de données ; l’écran invite à déclarer le mandat initial.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Mandats de la PRMP (reprise de l’existant)</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440</a:t>
            </a:r>
            <a:endParaRPr lang="en-US" sz="1100" dirty="0"/>
          </a:p>
        </p:txBody>
      </p:sp>
    </p:spTree>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name="Slide 4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Vacance et reprise</a:t>
            </a:r>
            <a:endParaRPr lang="en-US" sz="2600" dirty="0"/>
          </a:p>
        </p:txBody>
      </p:sp>
      <p:graphicFrame>
        <p:nvGraphicFramePr>
          <p:cNvPr id="44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Vacance : traitement suspendu</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Sans mandat actif à la date de l’action, tout geste de la PRMP ou de son UGPM est refusé : le dossier </a:t>
                      </a:r>
                      <a:pPr indent="0" marL="0">
                        <a:buNone/>
                      </a:pPr>
                      <a:r>
                        <a:rPr lang="en-US" sz="1100" b="1" dirty="0">
                          <a:solidFill>
                            <a:srgbClr val="1B2A3A"/>
                          </a:solidFill>
                          <a:latin typeface="Segoe UI" pitchFamily="34" charset="0"/>
                          <a:ea typeface="Segoe UI" pitchFamily="34" charset="-122"/>
                          <a:cs typeface="Segoe UI" pitchFamily="34" charset="-120"/>
                        </a:rPr>
                        <a:t>attend</a:t>
                      </a:r>
                      <a:pPr indent="0" marL="0">
                        <a:buNone/>
                      </a:pPr>
                      <a:r>
                        <a:rPr lang="en-US" sz="1100" dirty="0">
                          <a:solidFill>
                            <a:srgbClr val="1B2A3A"/>
                          </a:solidFill>
                          <a:latin typeface="Segoe UI" pitchFamily="34" charset="0"/>
                          <a:ea typeface="Segoe UI" pitchFamily="34" charset="-122"/>
                          <a:cs typeface="Segoe UI" pitchFamily="34" charset="-120"/>
                        </a:rPr>
                        <a:t> la nomination, sans obligation d’intérim. Le circuit de la Commission n’est jamais suspendu.</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Reprise par le nouveau titulaire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À l’échéance du mandat, le compte de la PRMP se ferme ; dès qu’un nouveau mandat est actif, le blocage tombe de lui-même et le compte de la PRMP reconduite est </a:t>
                      </a:r>
                      <a:pPr indent="0" marL="0">
                        <a:buNone/>
                      </a:pPr>
                      <a:r>
                        <a:rPr lang="en-US" sz="1100" b="1" dirty="0">
                          <a:solidFill>
                            <a:srgbClr val="1B2A3A"/>
                          </a:solidFill>
                          <a:latin typeface="Segoe UI" pitchFamily="34" charset="0"/>
                          <a:ea typeface="Segoe UI" pitchFamily="34" charset="-122"/>
                          <a:cs typeface="Segoe UI" pitchFamily="34" charset="-120"/>
                        </a:rPr>
                        <a:t>réactivé</a:t>
                      </a:r>
                      <a:pPr indent="0" marL="0">
                        <a:buNone/>
                      </a:pPr>
                      <a:r>
                        <a:rPr lang="en-US" sz="1100" dirty="0">
                          <a:solidFill>
                            <a:srgbClr val="1B2A3A"/>
                          </a:solidFill>
                          <a:latin typeface="Segoe UI" pitchFamily="34" charset="0"/>
                          <a:ea typeface="Segoe UI" pitchFamily="34" charset="-122"/>
                          <a:cs typeface="Segoe UI" pitchFamily="34" charset="-120"/>
                        </a:rPr>
                        <a:t>. Le nouveau titulaire reprend le traitement ; l’attribution des dossiers ne change pas.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échéances annoncées à l’avance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poste d’administration signale les mandats de PRMP non abrogés qui arrivent à terme dans les </a:t>
                      </a:r>
                      <a:pPr indent="0" marL="0">
                        <a:buNone/>
                      </a:pPr>
                      <a:r>
                        <a:rPr lang="en-US" sz="1100" b="1" dirty="0">
                          <a:solidFill>
                            <a:srgbClr val="1B2A3A"/>
                          </a:solidFill>
                          <a:latin typeface="Segoe UI" pitchFamily="34" charset="0"/>
                          <a:ea typeface="Segoe UI" pitchFamily="34" charset="-122"/>
                          <a:cs typeface="Segoe UI" pitchFamily="34" charset="-120"/>
                        </a:rPr>
                        <a:t>trente jours</a:t>
                      </a:r>
                      <a:pPr indent="0" marL="0">
                        <a:buNone/>
                      </a:pPr>
                      <a:r>
                        <a:rPr lang="en-US" sz="1100" dirty="0">
                          <a:solidFill>
                            <a:srgbClr val="1B2A3A"/>
                          </a:solidFill>
                          <a:latin typeface="Segoe UI" pitchFamily="34" charset="0"/>
                          <a:ea typeface="Segoe UI" pitchFamily="34" charset="-122"/>
                          <a:cs typeface="Segoe UI" pitchFamily="34" charset="-120"/>
                        </a:rPr>
                        <a:t>, pour que la reconduction ou la nouvelle nomination soit préparée avant la vacance.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Standby de transition — vacance de PRMP · regles-gestion.md § 3.1. PRMP › Mandats de la PRMP (réactivation automatique du compte à la reconduction) · api-endpoints.md § KPIs / Tableau de bord (compteurs de l’Administrateur)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441</a:t>
            </a:r>
            <a:endParaRPr lang="en-US" sz="1100" dirty="0"/>
          </a:p>
        </p:txBody>
      </p:sp>
    </p:spTree>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name="Slide 4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 (1/2)</a:t>
            </a:r>
            <a:endParaRPr lang="en-US" sz="2600" dirty="0"/>
          </a:p>
        </p:txBody>
      </p:sp>
      <p:graphicFrame>
        <p:nvGraphicFramePr>
          <p:cNvPr id="44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Inscription vérifiée par l’Administrateur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s’inscrit en ligne avec son arrêté de nomination et sa carte d’identité ; son compte reste </a:t>
                      </a:r>
                      <a:pPr indent="0" marL="0">
                        <a:buNone/>
                      </a:pPr>
                      <a:r>
                        <a:rPr lang="en-US" sz="1100" b="1" dirty="0">
                          <a:solidFill>
                            <a:srgbClr val="1B2A3A"/>
                          </a:solidFill>
                          <a:latin typeface="Segoe UI" pitchFamily="34" charset="0"/>
                          <a:ea typeface="Segoe UI" pitchFamily="34" charset="-122"/>
                          <a:cs typeface="Segoe UI" pitchFamily="34" charset="-120"/>
                        </a:rPr>
                        <a:t>en attente</a:t>
                      </a:r>
                      <a:pPr indent="0" marL="0">
                        <a:buNone/>
                      </a:pPr>
                      <a:r>
                        <a:rPr lang="en-US" sz="1100" dirty="0">
                          <a:solidFill>
                            <a:srgbClr val="1B2A3A"/>
                          </a:solidFill>
                          <a:latin typeface="Segoe UI" pitchFamily="34" charset="0"/>
                          <a:ea typeface="Segoe UI" pitchFamily="34" charset="-122"/>
                          <a:cs typeface="Segoe UI" pitchFamily="34" charset="-120"/>
                        </a:rPr>
                        <a:t> et ne peut pas se connecter. L’Administrateur télécharge et vérifie l’arrêté, puis valide ou refuse.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Validation entité par entité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entité déclarée disponible est rattachée ; une entité déjà tenue par une autre PRMP est signalée en conflit, sans bloquer. Le compte s’ouvre dès qu’</a:t>
                      </a:r>
                      <a:pPr indent="0" marL="0">
                        <a:buNone/>
                      </a:pPr>
                      <a:r>
                        <a:rPr lang="en-US" sz="1100" b="1" dirty="0">
                          <a:solidFill>
                            <a:srgbClr val="1B2A3A"/>
                          </a:solidFill>
                          <a:latin typeface="Segoe UI" pitchFamily="34" charset="0"/>
                          <a:ea typeface="Segoe UI" pitchFamily="34" charset="-122"/>
                          <a:cs typeface="Segoe UI" pitchFamily="34" charset="-120"/>
                        </a:rPr>
                        <a:t>une entité</a:t>
                      </a:r>
                      <a:pPr indent="0" marL="0">
                        <a:buNone/>
                      </a:pPr>
                      <a:r>
                        <a:rPr lang="en-US" sz="1100" dirty="0">
                          <a:solidFill>
                            <a:srgbClr val="1B2A3A"/>
                          </a:solidFill>
                          <a:latin typeface="Segoe UI" pitchFamily="34" charset="0"/>
                          <a:ea typeface="Segoe UI" pitchFamily="34" charset="-122"/>
                          <a:cs typeface="Segoe UI" pitchFamily="34" charset="-120"/>
                        </a:rPr>
                        <a:t> est rattachée. Une entité proposée n’est créée que si l’Administrateur l’accepte.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Refus toujours motivé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refus d’inscription porte un </a:t>
                      </a:r>
                      <a:pPr indent="0" marL="0">
                        <a:buNone/>
                      </a:pPr>
                      <a:r>
                        <a:rPr lang="en-US" sz="1100" b="1" dirty="0">
                          <a:solidFill>
                            <a:srgbClr val="1B2A3A"/>
                          </a:solidFill>
                          <a:latin typeface="Segoe UI" pitchFamily="34" charset="0"/>
                          <a:ea typeface="Segoe UI" pitchFamily="34" charset="-122"/>
                          <a:cs typeface="Segoe UI" pitchFamily="34" charset="-120"/>
                        </a:rPr>
                        <a:t>motif</a:t>
                      </a:r>
                      <a:pPr indent="0" marL="0">
                        <a:buNone/>
                      </a:pPr>
                      <a:r>
                        <a:rPr lang="en-US" sz="1100" dirty="0">
                          <a:solidFill>
                            <a:srgbClr val="1B2A3A"/>
                          </a:solidFill>
                          <a:latin typeface="Segoe UI" pitchFamily="34" charset="0"/>
                          <a:ea typeface="Segoe UI" pitchFamily="34" charset="-122"/>
                          <a:cs typeface="Segoe UI" pitchFamily="34" charset="-120"/>
                        </a:rPr>
                        <a:t> : le compte passe « refusé », reste fermé, et le demandeur est avisé du motif. Les demandes d’accès réunissent les inscriptions des PRMP et des UGPM ; le compteur du menu et le poste d’administration les comptent toutes deux.</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seule porte pour décider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inscription ne se décide que dans les demandes d’accès. Suspendre ou réactiver un compte en attente ou refusé est impossible : ce serait ouvrir un accès jamais accordé et contourner le rattachement des entités.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Suspendu n’est pas refusé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L’annuaire réunit contrôleurs, PRMP et UGPM avec cinq états : actif, </a:t>
                      </a:r>
                      <a:pPr indent="0" marL="0">
                        <a:buNone/>
                      </a:pPr>
                      <a:r>
                        <a:rPr lang="en-US" sz="1100" b="1" dirty="0">
                          <a:solidFill>
                            <a:srgbClr val="1B2A3A"/>
                          </a:solidFill>
                          <a:latin typeface="Segoe UI" pitchFamily="34" charset="0"/>
                          <a:ea typeface="Segoe UI" pitchFamily="34" charset="-122"/>
                          <a:cs typeface="Segoe UI" pitchFamily="34" charset="-120"/>
                        </a:rPr>
                        <a:t>suspendu</a:t>
                      </a:r>
                      <a:pPr indent="0" marL="0">
                        <a:buNone/>
                      </a:pPr>
                      <a:r>
                        <a:rPr lang="en-US" sz="1100" dirty="0">
                          <a:solidFill>
                            <a:srgbClr val="1B2A3A"/>
                          </a:solidFill>
                          <a:latin typeface="Segoe UI" pitchFamily="34" charset="0"/>
                          <a:ea typeface="Segoe UI" pitchFamily="34" charset="-122"/>
                          <a:cs typeface="Segoe UI" pitchFamily="34" charset="-120"/>
                        </a:rPr>
                        <a:t>, refusé, en attente, sans compte. Un compte suspendu a été fermé après coup ; un compte refusé n’a jamais été ouvert. La recherche ignore la casse et les accents.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Inscription et validation du compte · api-endpoints.md § Inscriptions PRMP / UGPM (validation Administrateur) · regles-gestion.md § 3.8. Administrateur › Module 10 — Administration &amp; sécurité › Cycle de vie d’un compte d’authentification · api-endpoints.md § Annuaire des personnes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442</a:t>
            </a:r>
            <a:endParaRPr lang="en-US" sz="1100" dirty="0"/>
          </a:p>
        </p:txBody>
      </p:sp>
    </p:spTree>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name="Slide 4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 (2/2)</a:t>
            </a:r>
            <a:endParaRPr lang="en-US" sz="2600" dirty="0"/>
          </a:p>
        </p:txBody>
      </p:sp>
      <p:graphicFrame>
        <p:nvGraphicFramePr>
          <p:cNvPr id="44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PRMP créée par l’Administrateur, UGPM rattachée à sa tutelle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PRMP créée par l’Administrateur reçoit son compte de connexion avec sa fiche et peut se connecter </a:t>
                      </a:r>
                      <a:pPr indent="0" marL="0">
                        <a:buNone/>
                      </a:pPr>
                      <a:r>
                        <a:rPr lang="en-US" sz="1100" b="1" dirty="0">
                          <a:solidFill>
                            <a:srgbClr val="1B2A3A"/>
                          </a:solidFill>
                          <a:latin typeface="Segoe UI" pitchFamily="34" charset="0"/>
                          <a:ea typeface="Segoe UI" pitchFamily="34" charset="-122"/>
                          <a:cs typeface="Segoe UI" pitchFamily="34" charset="-120"/>
                        </a:rPr>
                        <a:t>aussitôt</a:t>
                      </a:r>
                      <a:pPr indent="0" marL="0">
                        <a:buNone/>
                      </a:pPr>
                      <a:r>
                        <a:rPr lang="en-US" sz="1100" dirty="0">
                          <a:solidFill>
                            <a:srgbClr val="1B2A3A"/>
                          </a:solidFill>
                          <a:latin typeface="Segoe UI" pitchFamily="34" charset="0"/>
                          <a:ea typeface="Segoe UI" pitchFamily="34" charset="-122"/>
                          <a:cs typeface="Segoe UI" pitchFamily="34" charset="-120"/>
                        </a:rPr>
                        <a:t>. Une UGPM est rattachée à sa PRMP de tutelle : elle n’a pas d’entité propre et partage le périmètre de sa tutelle.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que le poste d’administration surveille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poste compte les inscriptions et rattachements en attente, les procédures en ligne sans responsable, les mandats de PRMP qui arrivent à terme dans les </a:t>
                      </a:r>
                      <a:pPr indent="0" marL="0">
                        <a:buNone/>
                      </a:pPr>
                      <a:r>
                        <a:rPr lang="en-US" sz="1100" b="1" dirty="0">
                          <a:solidFill>
                            <a:srgbClr val="1B2A3A"/>
                          </a:solidFill>
                          <a:latin typeface="Segoe UI" pitchFamily="34" charset="0"/>
                          <a:ea typeface="Segoe UI" pitchFamily="34" charset="-122"/>
                          <a:cs typeface="Segoe UI" pitchFamily="34" charset="-120"/>
                        </a:rPr>
                        <a:t>30 jours</a:t>
                      </a:r>
                      <a:pPr indent="0" marL="0">
                        <a:buNone/>
                      </a:pPr>
                      <a:r>
                        <a:rPr lang="en-US" sz="1100" dirty="0">
                          <a:solidFill>
                            <a:srgbClr val="1B2A3A"/>
                          </a:solidFill>
                          <a:latin typeface="Segoe UI" pitchFamily="34" charset="0"/>
                          <a:ea typeface="Segoe UI" pitchFamily="34" charset="-122"/>
                          <a:cs typeface="Segoe UI" pitchFamily="34" charset="-120"/>
                        </a:rPr>
                        <a:t>, les comptes actifs et suspendus, les sessions ouvertes depuis moins de 12 heures et les connexions refusées sur 24 heures ; il liste les derniers changements de paramétrage avec leur auteur.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Administration des UGPM ; écran « Créer une PRMP » · api-endpoints.md § KPIs / Tableau de bord (compteurs de l’Administrateur)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443</a:t>
            </a:r>
            <a:endParaRPr lang="en-US" sz="1100" dirty="0"/>
          </a:p>
        </p:txBody>
      </p:sp>
    </p:spTree>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name="Slide 4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et entités de la PRMP</a:t>
            </a:r>
            <a:endParaRPr lang="en-US" sz="2600" dirty="0"/>
          </a:p>
        </p:txBody>
      </p:sp>
      <p:graphicFrame>
        <p:nvGraphicFramePr>
          <p:cNvPr id="44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Mandat de trois ans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mandat d’une PRMP est déclaré par l’Administrateur et dure </a:t>
                      </a:r>
                      <a:pPr indent="0" marL="0">
                        <a:buNone/>
                      </a:pPr>
                      <a:r>
                        <a:rPr lang="en-US" sz="1100" b="1" dirty="0">
                          <a:solidFill>
                            <a:srgbClr val="1B2A3A"/>
                          </a:solidFill>
                          <a:latin typeface="Segoe UI" pitchFamily="34" charset="0"/>
                          <a:ea typeface="Segoe UI" pitchFamily="34" charset="-122"/>
                          <a:cs typeface="Segoe UI" pitchFamily="34" charset="-120"/>
                        </a:rPr>
                        <a:t>trois ans</a:t>
                      </a:r>
                      <a:pPr indent="0" marL="0">
                        <a:buNone/>
                      </a:pPr>
                      <a:r>
                        <a:rPr lang="en-US" sz="1100" dirty="0">
                          <a:solidFill>
                            <a:srgbClr val="1B2A3A"/>
                          </a:solidFill>
                          <a:latin typeface="Segoe UI" pitchFamily="34" charset="0"/>
                          <a:ea typeface="Segoe UI" pitchFamily="34" charset="-122"/>
                          <a:cs typeface="Segoe UI" pitchFamily="34" charset="-120"/>
                        </a:rPr>
                        <a:t> au plus. Une reconduction est un nouveau mandat, avec un nouvel arrêté ; aucun mandat ne se prolonge, et une même personne n’en porte pas plus de deux. Détail dans la partie « Intérim et mandats ».</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Vacance : traitement suspendu</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Sans mandat actif à la date de l’action, tout traitement côté PRMP et UGPM attend la nomination ; le circuit de la Commission continue. Un nouveau mandat en cours rouvre le compte de la PRMP, si son inscription était </a:t>
                      </a:r>
                      <a:pPr indent="0" marL="0">
                        <a:buNone/>
                      </a:pPr>
                      <a:r>
                        <a:rPr lang="en-US" sz="1100" b="1" dirty="0">
                          <a:solidFill>
                            <a:srgbClr val="1B2A3A"/>
                          </a:solidFill>
                          <a:latin typeface="Segoe UI" pitchFamily="34" charset="0"/>
                          <a:ea typeface="Segoe UI" pitchFamily="34" charset="-122"/>
                          <a:cs typeface="Segoe UI" pitchFamily="34" charset="-120"/>
                        </a:rPr>
                        <a:t>validée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Une entité, une seule PRMP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entité contractante n’est rattachée qu’à </a:t>
                      </a:r>
                      <a:pPr indent="0" marL="0">
                        <a:buNone/>
                      </a:pPr>
                      <a:r>
                        <a:rPr lang="en-US" sz="1100" b="1" dirty="0">
                          <a:solidFill>
                            <a:srgbClr val="1B2A3A"/>
                          </a:solidFill>
                          <a:latin typeface="Segoe UI" pitchFamily="34" charset="0"/>
                          <a:ea typeface="Segoe UI" pitchFamily="34" charset="-122"/>
                          <a:cs typeface="Segoe UI" pitchFamily="34" charset="-120"/>
                        </a:rPr>
                        <a:t>une seule PRMP active</a:t>
                      </a:r>
                      <a:pPr indent="0" marL="0">
                        <a:buNone/>
                      </a:pPr>
                      <a:r>
                        <a:rPr lang="en-US" sz="1100" dirty="0">
                          <a:solidFill>
                            <a:srgbClr val="1B2A3A"/>
                          </a:solidFill>
                          <a:latin typeface="Segoe UI" pitchFamily="34" charset="0"/>
                          <a:ea typeface="Segoe UI" pitchFamily="34" charset="-122"/>
                          <a:cs typeface="Segoe UI" pitchFamily="34" charset="-120"/>
                        </a:rPr>
                        <a:t> ; une PRMP peut en gérer plusieurs. L’entité créée par une PRMP ou son UGPM à l’import d’un plan naît rattachée en attente : l’Administrateur approuve ou rejette le rattachement, l’entité restant au référentiel.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Standby de transition — vacance de PRMP · api-endpoints.md § Entités-PRMP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444</a:t>
            </a:r>
            <a:endParaRPr lang="en-US" sz="1100" dirty="0"/>
          </a:p>
        </p:txBody>
      </p:sp>
    </p:spTree>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name="Slide 4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(1/2)</a:t>
            </a:r>
            <a:endParaRPr lang="en-US" sz="2600" dirty="0"/>
          </a:p>
        </p:txBody>
      </p:sp>
      <p:graphicFrame>
        <p:nvGraphicFramePr>
          <p:cNvPr id="44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Chaînes Membre, Vérificateur, Assistant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Membre a son Vérificateur, chaque Vérificateur son Assistant, de même localité et du profil attendu. La chaîne oriente les notifications sans rien verrouiller ; incomplète, elle est signalée et tous les Vérificateurs de la localité peuvent agir.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Délégations par paires listées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délégation est une paire de profils : le Président exerce les tâches de cinq profils, le Chef de commission de quatre ; la fiche d’une personne les énumère. La relation </a:t>
                      </a:r>
                      <a:pPr indent="0" marL="0">
                        <a:buNone/>
                      </a:pPr>
                      <a:r>
                        <a:rPr lang="en-US" sz="1100" b="1" dirty="0">
                          <a:solidFill>
                            <a:srgbClr val="1B2A3A"/>
                          </a:solidFill>
                          <a:latin typeface="Segoe UI" pitchFamily="34" charset="0"/>
                          <a:ea typeface="Segoe UI" pitchFamily="34" charset="-122"/>
                          <a:cs typeface="Segoe UI" pitchFamily="34" charset="-120"/>
                        </a:rPr>
                        <a:t>n’est pas transitive</a:t>
                      </a:r>
                      <a:pPr indent="0" marL="0">
                        <a:buNone/>
                      </a:pPr>
                      <a:r>
                        <a:rPr lang="en-US" sz="1100" dirty="0">
                          <a:solidFill>
                            <a:srgbClr val="1B2A3A"/>
                          </a:solidFill>
                          <a:latin typeface="Segoe UI" pitchFamily="34" charset="0"/>
                          <a:ea typeface="Segoe UI" pitchFamily="34" charset="-122"/>
                          <a:cs typeface="Segoe UI" pitchFamily="34" charset="-120"/>
                        </a:rPr>
                        <a:t>. Les signatures du procès-verbal et des lettres de renvoi ne se délèguent jamais.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Délais standards en heures ouvrées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délai de chaque étape du circuit se fixe en </a:t>
                      </a:r>
                      <a:pPr indent="0" marL="0">
                        <a:buNone/>
                      </a:pPr>
                      <a:r>
                        <a:rPr lang="en-US" sz="1100" b="1" dirty="0">
                          <a:solidFill>
                            <a:srgbClr val="1B2A3A"/>
                          </a:solidFill>
                          <a:latin typeface="Segoe UI" pitchFamily="34" charset="0"/>
                          <a:ea typeface="Segoe UI" pitchFamily="34" charset="-122"/>
                          <a:cs typeface="Segoe UI" pitchFamily="34" charset="-120"/>
                        </a:rPr>
                        <a:t>heures ouvrées</a:t>
                      </a:r>
                      <a:pPr indent="0" marL="0">
                        <a:buNone/>
                      </a:pPr>
                      <a:r>
                        <a:rPr lang="en-US" sz="1100" dirty="0">
                          <a:solidFill>
                            <a:srgbClr val="1B2A3A"/>
                          </a:solidFill>
                          <a:latin typeface="Segoe UI" pitchFamily="34" charset="0"/>
                          <a:ea typeface="Segoe UI" pitchFamily="34" charset="-122"/>
                          <a:cs typeface="Segoe UI" pitchFamily="34" charset="-120"/>
                        </a:rPr>
                        <a:t>, par l’Administrateur seul ; tous peuvent le lire. Il donne la date de fin annoncée à la PRMP dès la soumission ; à la prise en charge, la prévision du porteur le remplace pour ce dossier. Un délai de moins d’une heure est refusé.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Huit étapes, fenêtre de service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référentiel rend toujours les </a:t>
                      </a:r>
                      <a:pPr indent="0" marL="0">
                        <a:buNone/>
                      </a:pPr>
                      <a:r>
                        <a:rPr lang="en-US" sz="1100" b="1" dirty="0">
                          <a:solidFill>
                            <a:srgbClr val="1B2A3A"/>
                          </a:solidFill>
                          <a:latin typeface="Segoe UI" pitchFamily="34" charset="0"/>
                          <a:ea typeface="Segoe UI" pitchFamily="34" charset="-122"/>
                          <a:cs typeface="Segoe UI" pitchFamily="34" charset="-120"/>
                        </a:rPr>
                        <a:t>huit étapes</a:t>
                      </a:r>
                      <a:pPr indent="0" marL="0">
                        <a:buNone/>
                      </a:pPr>
                      <a:r>
                        <a:rPr lang="en-US" sz="1100" dirty="0">
                          <a:solidFill>
                            <a:srgbClr val="1B2A3A"/>
                          </a:solidFill>
                          <a:latin typeface="Segoe UI" pitchFamily="34" charset="0"/>
                          <a:ea typeface="Segoe UI" pitchFamily="34" charset="-122"/>
                          <a:cs typeface="Segoe UI" pitchFamily="34" charset="-120"/>
                        </a:rPr>
                        <a:t>, de la réception à l’archivage (hors compteur global), avec un repli de 8 heures pour une étape manquante. Le temps écoulé se compte de 8 h à 16 h, du lundi au vendredi.</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Points communs ou par sous-type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point de contrôle se rattache à une famille de dossier : sans sous-type il est </a:t>
                      </a:r>
                      <a:pPr indent="0" marL="0">
                        <a:buNone/>
                      </a:pPr>
                      <a:r>
                        <a:rPr lang="en-US" sz="1100" b="1" dirty="0">
                          <a:solidFill>
                            <a:srgbClr val="1B2A3A"/>
                          </a:solidFill>
                          <a:latin typeface="Segoe UI" pitchFamily="34" charset="0"/>
                          <a:ea typeface="Segoe UI" pitchFamily="34" charset="-122"/>
                          <a:cs typeface="Segoe UI" pitchFamily="34" charset="-120"/>
                        </a:rPr>
                        <a:t>commun</a:t>
                      </a:r>
                      <a:pPr indent="0" marL="0">
                        <a:buNone/>
                      </a:pPr>
                      <a:r>
                        <a:rPr lang="en-US" sz="1100" dirty="0">
                          <a:solidFill>
                            <a:srgbClr val="1B2A3A"/>
                          </a:solidFill>
                          <a:latin typeface="Segoe UI" pitchFamily="34" charset="0"/>
                          <a:ea typeface="Segoe UI" pitchFamily="34" charset="-122"/>
                          <a:cs typeface="Segoe UI" pitchFamily="34" charset="-120"/>
                        </a:rPr>
                        <a:t>, avec un sous-type il lui est propre ; il peut aussi ne valoir que pour une catégorie ou une forme de marché. Certains sous-types ont une grille propre, sans les points communs de leur famille.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 · regles-gestion.md § 3.8. Administrateur › Module 03 — Référentiels &amp; paramétrage › délégation ascendante de profils · regles-gestion.md § Chronométrage et prévision des délais (transversal au circuit) · regles-gestion.md § 3.1. PRMP › Module 03 — FAMILLES et SOUS-TYPES de dossier ; encadré « les grilles de contrôle par sous-type » (2026-10-08)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445</a:t>
            </a:r>
            <a:endParaRPr lang="en-US" sz="1100" dirty="0"/>
          </a:p>
        </p:txBody>
      </p:sp>
    </p:spTree>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name="Slide 4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(2/2)</a:t>
            </a:r>
            <a:endParaRPr lang="en-US" sz="2600" dirty="0"/>
          </a:p>
        </p:txBody>
      </p:sp>
      <p:graphicFrame>
        <p:nvGraphicFramePr>
          <p:cNvPr id="4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Seuil AGPM de l’AMI</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appel à manifestation d’intérêt rend l’avis général de passation requis à partir du seuil fixé par l’Administrateur, comparé </a:t>
                      </a:r>
                      <a:pPr indent="0" marL="0">
                        <a:buNone/>
                      </a:pPr>
                      <a:r>
                        <a:rPr lang="en-US" sz="1100" b="1" dirty="0">
                          <a:solidFill>
                            <a:srgbClr val="1B2A3A"/>
                          </a:solidFill>
                          <a:latin typeface="Segoe UI" pitchFamily="34" charset="0"/>
                          <a:ea typeface="Segoe UI" pitchFamily="34" charset="-122"/>
                          <a:cs typeface="Segoe UI" pitchFamily="34" charset="-120"/>
                        </a:rPr>
                        <a:t>marché par marché</a:t>
                      </a:r>
                      <a:pPr indent="0" marL="0">
                        <a:buNone/>
                      </a:pPr>
                      <a:r>
                        <a:rPr lang="en-US" sz="1100" dirty="0">
                          <a:solidFill>
                            <a:srgbClr val="1B2A3A"/>
                          </a:solidFill>
                          <a:latin typeface="Segoe UI" pitchFamily="34" charset="0"/>
                          <a:ea typeface="Segoe UI" pitchFamily="34" charset="-122"/>
                          <a:cs typeface="Segoe UI" pitchFamily="34" charset="-120"/>
                        </a:rPr>
                        <a:t>, borne incluse, sur le nouveau montant estimatif s’il existe, sinon l’initial. Un seuil à 0 fait déclencher tout marché en AMI. Les autres appels d’offres le déclenchent toujours ; le gré à gré et la consultation, jamais.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Règles d’alerte paramétrables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règle d’alerte fixe un jalon, le nombre de jours avant l’échéance et le profil destinataire ; elle s’active ou se désactive. Tous la lisent, l’Administrateur seul l’écrit.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Sous-type PPM / PPM-AGPM et référence du dossier · api-endpoints.md § Règles d’alerte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446</a:t>
            </a:r>
            <a:endParaRPr lang="en-US" sz="1100" dirty="0"/>
          </a:p>
        </p:txBody>
      </p:sp>
    </p:spTree>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name="Slide 4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 (1/2)</a:t>
            </a:r>
            <a:endParaRPr lang="en-US" sz="2600" dirty="0"/>
          </a:p>
        </p:txBody>
      </p:sp>
      <p:graphicFrame>
        <p:nvGraphicFramePr>
          <p:cNvPr id="44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Statut de marché encadré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statut d’un marché est une valeur du référentiel. « Prévu » sert de défaut et </a:t>
                      </a:r>
                      <a:pPr indent="0" marL="0">
                        <a:buNone/>
                      </a:pPr>
                      <a:r>
                        <a:rPr lang="en-US" sz="1100" b="1" dirty="0">
                          <a:solidFill>
                            <a:srgbClr val="1B2A3A"/>
                          </a:solidFill>
                          <a:latin typeface="Segoe UI" pitchFamily="34" charset="0"/>
                          <a:ea typeface="Segoe UI" pitchFamily="34" charset="-122"/>
                          <a:cs typeface="Segoe UI" pitchFamily="34" charset="-120"/>
                        </a:rPr>
                        <a:t>ne se supprime pas</a:t>
                      </a:r>
                      <a:pPr indent="0" marL="0">
                        <a:buNone/>
                      </a:pPr>
                      <a:r>
                        <a:rPr lang="en-US" sz="1100" dirty="0">
                          <a:solidFill>
                            <a:srgbClr val="1B2A3A"/>
                          </a:solidFill>
                          <a:latin typeface="Segoe UI" pitchFamily="34" charset="0"/>
                          <a:ea typeface="Segoe UI" pitchFamily="34" charset="-122"/>
                          <a:cs typeface="Segoe UI" pitchFamily="34" charset="-120"/>
                        </a:rPr>
                        <a:t> ; un statut désactivé reste accepté sur les marchés qui le portent. Une valeur inconnue est refusée avec la liste des valeurs possibles.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nature donne la catégorie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catégorie de fiche DAO (fournitures et services, travaux, prestations intellectuelles) vient de la </a:t>
                      </a:r>
                      <a:pPr indent="0" marL="0">
                        <a:buNone/>
                      </a:pPr>
                      <a:r>
                        <a:rPr lang="en-US" sz="1100" b="1" dirty="0">
                          <a:solidFill>
                            <a:srgbClr val="1B2A3A"/>
                          </a:solidFill>
                          <a:latin typeface="Segoe UI" pitchFamily="34" charset="0"/>
                          <a:ea typeface="Segoe UI" pitchFamily="34" charset="-122"/>
                          <a:cs typeface="Segoe UI" pitchFamily="34" charset="-120"/>
                        </a:rPr>
                        <a:t>nature</a:t>
                      </a:r>
                      <a:pPr indent="0" marL="0">
                        <a:buNone/>
                      </a:pPr>
                      <a:r>
                        <a:rPr lang="en-US" sz="1100" dirty="0">
                          <a:solidFill>
                            <a:srgbClr val="1B2A3A"/>
                          </a:solidFill>
                          <a:latin typeface="Segoe UI" pitchFamily="34" charset="0"/>
                          <a:ea typeface="Segoe UI" pitchFamily="34" charset="-122"/>
                          <a:cs typeface="Segoe UI" pitchFamily="34" charset="-120"/>
                        </a:rPr>
                        <a:t> de la ligne, par une correspondance que l’Administrateur tient à jour. Une nature sans catégorie empêche de préparer la fiche.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Mode de passation, type de dossier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mode de passation est rattaché à un type de dossier de mise en concurrence (DAO, dossier de consultation, bon de commande…), liste ouverte. Sans rattachement à un type </a:t>
                      </a:r>
                      <a:pPr indent="0" marL="0">
                        <a:buNone/>
                      </a:pPr>
                      <a:r>
                        <a:rPr lang="en-US" sz="1100" b="1" dirty="0">
                          <a:solidFill>
                            <a:srgbClr val="1B2A3A"/>
                          </a:solidFill>
                          <a:latin typeface="Segoe UI" pitchFamily="34" charset="0"/>
                          <a:ea typeface="Segoe UI" pitchFamily="34" charset="-122"/>
                          <a:cs typeface="Segoe UI" pitchFamily="34" charset="-120"/>
                        </a:rPr>
                        <a:t>actif</a:t>
                      </a:r>
                      <a:pPr indent="0" marL="0">
                        <a:buNone/>
                      </a:pPr>
                      <a:r>
                        <a:rPr lang="en-US" sz="1100" dirty="0">
                          <a:solidFill>
                            <a:srgbClr val="1B2A3A"/>
                          </a:solidFill>
                          <a:latin typeface="Segoe UI" pitchFamily="34" charset="0"/>
                          <a:ea typeface="Segoe UI" pitchFamily="34" charset="-122"/>
                          <a:cs typeface="Segoe UI" pitchFamily="34" charset="-120"/>
                        </a:rPr>
                        <a:t>, aucune ligne de ce mode ne peut recevoir de fiche ; l’écran signale les modes non rattachés.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Sous-types et pièces attendues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sous-types forment un référentiel ouvert, rattaché aux familles plan, mise en concurrence et marché ; celui d’un plan est déduit par l’application. Les pièces attendues se rattachent à la famille ; une pièce </a:t>
                      </a:r>
                      <a:pPr indent="0" marL="0">
                        <a:buNone/>
                      </a:pPr>
                      <a:r>
                        <a:rPr lang="en-US" sz="1100" b="1" dirty="0">
                          <a:solidFill>
                            <a:srgbClr val="1B2A3A"/>
                          </a:solidFill>
                          <a:latin typeface="Segoe UI" pitchFamily="34" charset="0"/>
                          <a:ea typeface="Segoe UI" pitchFamily="34" charset="-122"/>
                          <a:cs typeface="Segoe UI" pitchFamily="34" charset="-120"/>
                        </a:rPr>
                        <a:t>obligatoire</a:t>
                      </a:r>
                      <a:pPr indent="0" marL="0">
                        <a:buNone/>
                      </a:pPr>
                      <a:r>
                        <a:rPr lang="en-US" sz="1100" dirty="0">
                          <a:solidFill>
                            <a:srgbClr val="1B2A3A"/>
                          </a:solidFill>
                          <a:latin typeface="Segoe UI" pitchFamily="34" charset="0"/>
                          <a:ea typeface="Segoe UI" pitchFamily="34" charset="-122"/>
                          <a:cs typeface="Segoe UI" pitchFamily="34" charset="-120"/>
                        </a:rPr>
                        <a:t> est exigée à la soumission.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champ se désactive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champ de la fiche DAO se crée ou se modifie, jamais ne se supprime : il se </a:t>
                      </a:r>
                      <a:pPr indent="0" marL="0">
                        <a:buNone/>
                      </a:pPr>
                      <a:r>
                        <a:rPr lang="en-US" sz="1100" b="1" dirty="0">
                          <a:solidFill>
                            <a:srgbClr val="1B2A3A"/>
                          </a:solidFill>
                          <a:latin typeface="Segoe UI" pitchFamily="34" charset="0"/>
                          <a:ea typeface="Segoe UI" pitchFamily="34" charset="-122"/>
                          <a:cs typeface="Segoe UI" pitchFamily="34" charset="-120"/>
                        </a:rPr>
                        <a:t>désactive</a:t>
                      </a:r>
                      <a:pPr indent="0" marL="0">
                        <a:buNone/>
                      </a:pPr>
                      <a:r>
                        <a:rPr lang="en-US" sz="1100" dirty="0">
                          <a:solidFill>
                            <a:srgbClr val="1B2A3A"/>
                          </a:solidFill>
                          <a:latin typeface="Segoe UI" pitchFamily="34" charset="0"/>
                          <a:ea typeface="Segoe UI" pitchFamily="34" charset="-122"/>
                          <a:cs typeface="Segoe UI" pitchFamily="34" charset="-120"/>
                        </a:rPr>
                        <a:t>, et les valeurs déjà saisies restent lisibles. Blocs et rubriques sont figés ; chaque champ dit sa source, son document et sa condition.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03 — Référentiels &amp; paramétrage › Statuts de marché · regles-gestion.md § Les trois catégories de fiche DAO (lot 5, 2026-09-24) · api-endpoints.md § Types de DMC (dossier de mise en concurrence) · regles-gestion.md § 3.1. PRMP › Module 03 — FAMILLES et SOUS-TYPES de dossier · api-endpoints.md § Référentiel champs-fiche-marche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447</a:t>
            </a:r>
            <a:endParaRPr lang="en-US" sz="1100" dirty="0"/>
          </a:p>
        </p:txBody>
      </p:sp>
    </p:spTree>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name="Slide 4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 (2/2)</a:t>
            </a:r>
            <a:endParaRPr lang="en-US" sz="2600" dirty="0"/>
          </a:p>
        </p:txBody>
      </p:sp>
      <p:graphicFrame>
        <p:nvGraphicFramePr>
          <p:cNvPr id="44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Seuils datés, pour signaler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seuils de l’arrêté vivent dans un référentiel daté, hors taxes, en deux barèmes, central et déconcentré. Ils servent seulement à </a:t>
                      </a:r>
                      <a:pPr indent="0" marL="0">
                        <a:buNone/>
                      </a:pPr>
                      <a:r>
                        <a:rPr lang="en-US" sz="1100" b="1" dirty="0">
                          <a:solidFill>
                            <a:srgbClr val="1B2A3A"/>
                          </a:solidFill>
                          <a:latin typeface="Segoe UI" pitchFamily="34" charset="0"/>
                          <a:ea typeface="Segoe UI" pitchFamily="34" charset="-122"/>
                          <a:cs typeface="Segoe UI" pitchFamily="34" charset="-120"/>
                        </a:rPr>
                        <a:t>signaler</a:t>
                      </a:r>
                      <a:pPr indent="0" marL="0">
                        <a:buNone/>
                      </a:pPr>
                      <a:r>
                        <a:rPr lang="en-US" sz="1100" dirty="0">
                          <a:solidFill>
                            <a:srgbClr val="1B2A3A"/>
                          </a:solidFill>
                          <a:latin typeface="Segoe UI" pitchFamily="34" charset="0"/>
                          <a:ea typeface="Segoe UI" pitchFamily="34" charset="-122"/>
                          <a:cs typeface="Segoe UI" pitchFamily="34" charset="-120"/>
                        </a:rPr>
                        <a:t> : aucun mode n’est imposé, et une case vide ne produit aucun signalement.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Référentiel des seuils de marchés publics (pré-contrôle du PPM)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448</a:t>
            </a:r>
            <a:endParaRPr lang="en-US" sz="1100" dirty="0"/>
          </a:p>
        </p:txBody>
      </p:sp>
    </p:spTree>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name="Slide 4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(1/2)</a:t>
            </a:r>
            <a:endParaRPr lang="en-US" sz="2600" dirty="0"/>
          </a:p>
        </p:txBody>
      </p:sp>
      <p:graphicFrame>
        <p:nvGraphicFramePr>
          <p:cNvPr id="45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Défauts et bornes de la remise électronique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fixe les défauts de la remise électronique — plateforme, fuseau, assistance, quorum de déchiffrement proposé — et ses bornes : signature minimale, taille maximale, délai minimal de publication. Un défaut se recopie à la </a:t>
                      </a:r>
                      <a:pPr indent="0" marL="0">
                        <a:buNone/>
                      </a:pPr>
                      <a:r>
                        <a:rPr lang="en-US" sz="1100" b="1" dirty="0">
                          <a:solidFill>
                            <a:srgbClr val="1B2A3A"/>
                          </a:solidFill>
                          <a:latin typeface="Segoe UI" pitchFamily="34" charset="0"/>
                          <a:ea typeface="Segoe UI" pitchFamily="34" charset="-122"/>
                          <a:cs typeface="Segoe UI" pitchFamily="34" charset="-120"/>
                        </a:rPr>
                        <a:t>création</a:t>
                      </a:r>
                      <a:pPr indent="0" marL="0">
                        <a:buNone/>
                      </a:pPr>
                      <a:r>
                        <a:rPr lang="en-US" sz="1100" dirty="0">
                          <a:solidFill>
                            <a:srgbClr val="1B2A3A"/>
                          </a:solidFill>
                          <a:latin typeface="Segoe UI" pitchFamily="34" charset="0"/>
                          <a:ea typeface="Segoe UI" pitchFamily="34" charset="-122"/>
                          <a:cs typeface="Segoe UI" pitchFamily="34" charset="-120"/>
                        </a:rPr>
                        <a:t> de la fiche ; une borne s’applique à chaque validation.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Signature minimale et mise en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signature minimale vaut « Avancée » par défaut, alors que la plateforme n’accepte encore que la signature simple : tant que l’Administrateur ne l’abaisse pas à </a:t>
                      </a:r>
                      <a:pPr indent="0" marL="0">
                        <a:buNone/>
                      </a:pPr>
                      <a:r>
                        <a:rPr lang="en-US" sz="1100" b="1" dirty="0">
                          <a:solidFill>
                            <a:srgbClr val="1B2A3A"/>
                          </a:solidFill>
                          <a:latin typeface="Segoe UI" pitchFamily="34" charset="0"/>
                          <a:ea typeface="Segoe UI" pitchFamily="34" charset="-122"/>
                          <a:cs typeface="Segoe UI" pitchFamily="34" charset="-120"/>
                        </a:rPr>
                        <a:t>Simple</a:t>
                      </a:r>
                      <a:pPr indent="0" marL="0">
                        <a:buNone/>
                      </a:pPr>
                      <a:r>
                        <a:rPr lang="en-US" sz="1100" dirty="0">
                          <a:solidFill>
                            <a:srgbClr val="1B2A3A"/>
                          </a:solidFill>
                          <a:latin typeface="Segoe UI" pitchFamily="34" charset="0"/>
                          <a:ea typeface="Segoe UI" pitchFamily="34" charset="-122"/>
                          <a:cs typeface="Segoe UI" pitchFamily="34" charset="-120"/>
                        </a:rPr>
                        <a:t>, aucune procédure ne paraît en ligne. Sur la base de démonstration, elle est réglée à Simple.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Compte bancaire de l’ARMP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Banque, titulaire et numéro du compte de l’ARMP se règlent par l’Administrateur seul, tous trois exigés. Le compte s’imprime dans l’avis spécifique ; un document déjà produit garde le compte du moment, et sans réglage il imprime des </a:t>
                      </a:r>
                      <a:pPr indent="0" marL="0">
                        <a:buNone/>
                      </a:pPr>
                      <a:r>
                        <a:rPr lang="en-US" sz="1100" b="1" dirty="0">
                          <a:solidFill>
                            <a:srgbClr val="1B2A3A"/>
                          </a:solidFill>
                          <a:latin typeface="Segoe UI" pitchFamily="34" charset="0"/>
                          <a:ea typeface="Segoe UI" pitchFamily="34" charset="-122"/>
                          <a:cs typeface="Segoe UI" pitchFamily="34" charset="-120"/>
                        </a:rPr>
                        <a:t>pointillés</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Paramètres de l’espace candidat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règle l’espace candidat : vérification du NIF, confirmation par téléphone, inscriptions par jour, délais de confirmation et d’inactivité, taille des pièces. Chaque nuit, un compte jamais confirmé est supprimé, un compte inactif </a:t>
                      </a:r>
                      <a:pPr indent="0" marL="0">
                        <a:buNone/>
                      </a:pPr>
                      <a:r>
                        <a:rPr lang="en-US" sz="1100" b="1" dirty="0">
                          <a:solidFill>
                            <a:srgbClr val="1B2A3A"/>
                          </a:solidFill>
                          <a:latin typeface="Segoe UI" pitchFamily="34" charset="0"/>
                          <a:ea typeface="Segoe UI" pitchFamily="34" charset="-122"/>
                          <a:cs typeface="Segoe UI" pitchFamily="34" charset="-120"/>
                        </a:rPr>
                        <a:t>archivé</a:t>
                      </a:r>
                      <a:pPr indent="0" marL="0">
                        <a:buNone/>
                      </a:pPr>
                      <a:r>
                        <a:rPr lang="en-US" sz="1100" dirty="0">
                          <a:solidFill>
                            <a:srgbClr val="1B2A3A"/>
                          </a:solidFill>
                          <a:latin typeface="Segoe UI" pitchFamily="34" charset="0"/>
                          <a:ea typeface="Segoe UI" pitchFamily="34" charset="-122"/>
                          <a:cs typeface="Segoe UI" pitchFamily="34" charset="-120"/>
                        </a:rPr>
                        <a:t> — jamais supprimé.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NIF vérifié sur pièces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vérifie sur pièces le NIF d’une entreprise candidate, ou le refuse avec un motif obligatoire ; chaque décision est journalisée. La vérification ne </a:t>
                      </a:r>
                      <a:pPr indent="0" marL="0">
                        <a:buNone/>
                      </a:pPr>
                      <a:r>
                        <a:rPr lang="en-US" sz="1100" b="1" dirty="0">
                          <a:solidFill>
                            <a:srgbClr val="1B2A3A"/>
                          </a:solidFill>
                          <a:latin typeface="Segoe UI" pitchFamily="34" charset="0"/>
                          <a:ea typeface="Segoe UI" pitchFamily="34" charset="-122"/>
                          <a:cs typeface="Segoe UI" pitchFamily="34" charset="-120"/>
                        </a:rPr>
                        <a:t>bloque jamais</a:t>
                      </a:r>
                      <a:pPr indent="0" marL="0">
                        <a:buNone/>
                      </a:pPr>
                      <a:r>
                        <a:rPr lang="en-US" sz="1100" dirty="0">
                          <a:solidFill>
                            <a:srgbClr val="1B2A3A"/>
                          </a:solidFill>
                          <a:latin typeface="Segoe UI" pitchFamily="34" charset="0"/>
                          <a:ea typeface="Segoe UI" pitchFamily="34" charset="-122"/>
                          <a:cs typeface="Segoe UI" pitchFamily="34" charset="-120"/>
                        </a:rPr>
                        <a:t> le dépôt d’une offre : la commission la lit à l’ouverture des plis.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Paramètres système (remise électronique, 2026-09-27) · api-endpoints.md § Procédures ouvertes en ligne et retrait du DAO · api-endpoints.md § l’avis aligné sur un avis réel (§B7) et le compte de l’ARMP (§B8) · api-endpoints.md § Comptes candidats · api-endpoints.md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449</a:t>
            </a:r>
            <a:endParaRPr lang="en-US" sz="1100" dirty="0"/>
          </a:p>
        </p:txBody>
      </p:sp>
    </p:spTree>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name="Slide 4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(2/2)</a:t>
            </a:r>
            <a:endParaRPr lang="en-US" sz="2600" dirty="0"/>
          </a:p>
        </p:txBody>
      </p:sp>
      <p:graphicFrame>
        <p:nvGraphicFramePr>
          <p:cNvPr id="45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Exclusions ARMP indélébiles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exclusion de l’ARMP ne se supprime pas : on la corrige ou on avance sa fin, chaque changement journalisé. Rapprochée par le NIF, elle </a:t>
                      </a:r>
                      <a:pPr indent="0" marL="0">
                        <a:buNone/>
                      </a:pPr>
                      <a:r>
                        <a:rPr lang="en-US" sz="1100" b="1" dirty="0">
                          <a:solidFill>
                            <a:srgbClr val="1B2A3A"/>
                          </a:solidFill>
                          <a:latin typeface="Segoe UI" pitchFamily="34" charset="0"/>
                          <a:ea typeface="Segoe UI" pitchFamily="34" charset="-122"/>
                          <a:cs typeface="Segoe UI" pitchFamily="34" charset="-120"/>
                        </a:rPr>
                        <a:t>interdit le dépôt</a:t>
                      </a:r>
                      <a:pPr indent="0" marL="0">
                        <a:buNone/>
                      </a:pPr>
                      <a:r>
                        <a:rPr lang="en-US" sz="1100" dirty="0">
                          <a:solidFill>
                            <a:srgbClr val="1B2A3A"/>
                          </a:solidFill>
                          <a:latin typeface="Segoe UI" pitchFamily="34" charset="0"/>
                          <a:ea typeface="Segoe UI" pitchFamily="34" charset="-122"/>
                          <a:cs typeface="Segoe UI" pitchFamily="34" charset="-120"/>
                        </a:rPr>
                        <a:t> ; l’offre d’une entreprise exclue après son dépôt est écartée sans être ouverte.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Un responsable par procédure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désigne le </a:t>
                      </a:r>
                      <a:pPr indent="0" marL="0">
                        <a:buNone/>
                      </a:pPr>
                      <a:r>
                        <a:rPr lang="en-US" sz="1100" b="1" dirty="0">
                          <a:solidFill>
                            <a:srgbClr val="1B2A3A"/>
                          </a:solidFill>
                          <a:latin typeface="Segoe UI" pitchFamily="34" charset="0"/>
                          <a:ea typeface="Segoe UI" pitchFamily="34" charset="-122"/>
                          <a:cs typeface="Segoe UI" pitchFamily="34" charset="-120"/>
                        </a:rPr>
                        <a:t>responsable</a:t>
                      </a:r>
                      <a:pPr indent="0" marL="0">
                        <a:buNone/>
                      </a:pPr>
                      <a:r>
                        <a:rPr lang="en-US" sz="1100" dirty="0">
                          <a:solidFill>
                            <a:srgbClr val="1B2A3A"/>
                          </a:solidFill>
                          <a:latin typeface="Segoe UI" pitchFamily="34" charset="0"/>
                          <a:ea typeface="Segoe UI" pitchFamily="34" charset="-122"/>
                          <a:cs typeface="Segoe UI" pitchFamily="34" charset="-120"/>
                        </a:rPr>
                        <a:t> de chaque procédure en ligne, une personne à la fois, jamais détentrice d’une part de clé. Une procédure sans responsable est comptée au poste d’administration et remonte en tête des procédures en ligne.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Conservation et purge des offres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fixe la durée de conservation des offres, comptée depuis la clôture de la séance ; sans durée, rien n’est supprimé. Au terme, il purge les procédures échues </a:t>
                      </a:r>
                      <a:pPr indent="0" marL="0">
                        <a:buNone/>
                      </a:pPr>
                      <a:r>
                        <a:rPr lang="en-US" sz="1100" b="1" dirty="0">
                          <a:solidFill>
                            <a:srgbClr val="1B2A3A"/>
                          </a:solidFill>
                          <a:latin typeface="Segoe UI" pitchFamily="34" charset="0"/>
                          <a:ea typeface="Segoe UI" pitchFamily="34" charset="-122"/>
                          <a:cs typeface="Segoe UI" pitchFamily="34" charset="-120"/>
                        </a:rPr>
                        <a:t>une à une</a:t>
                      </a:r>
                      <a:pPr indent="0" marL="0">
                        <a:buNone/>
                      </a:pPr>
                      <a:r>
                        <a:rPr lang="en-US" sz="1100" dirty="0">
                          <a:solidFill>
                            <a:srgbClr val="1B2A3A"/>
                          </a:solidFill>
                          <a:latin typeface="Segoe UI" pitchFamily="34" charset="0"/>
                          <a:ea typeface="Segoe UI" pitchFamily="34" charset="-122"/>
                          <a:cs typeface="Segoe UI" pitchFamily="34" charset="-120"/>
                        </a:rPr>
                        <a:t> ; journal, empreintes, lecture et procès-verbal demeurent.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Confirmation par téléphone désactivée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confirmation d’un compte candidat par un code envoyé au téléphone peut s’exiger, mais </a:t>
                      </a:r>
                      <a:pPr indent="0" marL="0">
                        <a:buNone/>
                      </a:pPr>
                      <a:r>
                        <a:rPr lang="en-US" sz="1100" b="1" dirty="0">
                          <a:solidFill>
                            <a:srgbClr val="1B2A3A"/>
                          </a:solidFill>
                          <a:latin typeface="Segoe UI" pitchFamily="34" charset="0"/>
                          <a:ea typeface="Segoe UI" pitchFamily="34" charset="-122"/>
                          <a:cs typeface="Segoe UI" pitchFamily="34" charset="-120"/>
                        </a:rPr>
                        <a:t>aucune passerelle d’envoi n’est raccordée</a:t>
                      </a:r>
                      <a:pPr indent="0" marL="0">
                        <a:buNone/>
                      </a:pPr>
                      <a:r>
                        <a:rPr lang="en-US" sz="1100" dirty="0">
                          <a:solidFill>
                            <a:srgbClr val="1B2A3A"/>
                          </a:solidFill>
                          <a:latin typeface="Segoe UI" pitchFamily="34" charset="0"/>
                          <a:ea typeface="Segoe UI" pitchFamily="34" charset="-122"/>
                          <a:cs typeface="Segoe UI" pitchFamily="34" charset="-120"/>
                        </a:rPr>
                        <a:t> : le réglage doit rester désactivé. Le téléphone est alors déclaré sans être confirmé ; la confirmation passe par le courriel.</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rappel des parts de clé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nombre de jours avant la date limite de remise (7 par défaut), chaque membre de la commission dont la part de clé n’a pas été vérifiée depuis la clôture de la cérémonie reçoit un rappel, </a:t>
                      </a:r>
                      <a:pPr indent="0" marL="0">
                        <a:buNone/>
                      </a:pPr>
                      <a:r>
                        <a:rPr lang="en-US" sz="1100" b="1" dirty="0">
                          <a:solidFill>
                            <a:srgbClr val="1B2A3A"/>
                          </a:solidFill>
                          <a:latin typeface="Segoe UI" pitchFamily="34" charset="0"/>
                          <a:ea typeface="Segoe UI" pitchFamily="34" charset="-122"/>
                          <a:cs typeface="Segoe UI" pitchFamily="34" charset="-120"/>
                        </a:rPr>
                        <a:t>une fois</a:t>
                      </a:r>
                      <a:pPr indent="0" marL="0">
                        <a:buNone/>
                      </a:pPr>
                      <a:r>
                        <a:rPr lang="en-US" sz="1100" dirty="0">
                          <a:solidFill>
                            <a:srgbClr val="1B2A3A"/>
                          </a:solidFill>
                          <a:latin typeface="Segoe UI" pitchFamily="34" charset="0"/>
                          <a:ea typeface="Segoe UI" pitchFamily="34" charset="-122"/>
                          <a:cs typeface="Segoe UI" pitchFamily="34" charset="-120"/>
                        </a:rPr>
                        <a:t>. Le quorum de déchiffrement réglé ici (3 sur 5 par défaut) n’est qu’une </a:t>
                      </a:r>
                      <a:pPr indent="0" marL="0">
                        <a:buNone/>
                      </a:pPr>
                      <a:r>
                        <a:rPr lang="en-US" sz="1100" b="1" dirty="0">
                          <a:solidFill>
                            <a:srgbClr val="1B2A3A"/>
                          </a:solidFill>
                          <a:latin typeface="Segoe UI" pitchFamily="34" charset="0"/>
                          <a:ea typeface="Segoe UI" pitchFamily="34" charset="-122"/>
                          <a:cs typeface="Segoe UI" pitchFamily="34" charset="-120"/>
                        </a:rPr>
                        <a:t>proposition</a:t>
                      </a:r>
                      <a:pPr indent="0" marL="0">
                        <a:buNone/>
                      </a:pPr>
                      <a:r>
                        <a:rPr lang="en-US" sz="1100" dirty="0">
                          <a:solidFill>
                            <a:srgbClr val="1B2A3A"/>
                          </a:solidFill>
                          <a:latin typeface="Segoe UI" pitchFamily="34" charset="0"/>
                          <a:ea typeface="Segoe UI" pitchFamily="34" charset="-122"/>
                          <a:cs typeface="Segoe UI" pitchFamily="34" charset="-120"/>
                        </a:rPr>
                        <a:t> : il se fixe dans les paramètres de chaque procédure, entre 2 et le nombre de membres.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Entreprise du candidat, vérification du NIF, exclusions de l’ARMP · regles-gestion.md § La remise électronique des offres (cahier des charges du pilote du 27/09) · api-endpoints.md § Comptes candidats (les codes) · api-endpoints.md § La cérémonie des clés et la procédure de secours S1 à S4 ; § Paramètres système (remise électronique)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450</a:t>
            </a:r>
            <a:endParaRPr lang="en-US" sz="1100" dirty="0"/>
          </a:p>
        </p:txBody>
      </p:sp>
    </p:spTree>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name="Slide 4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Traces et communication</a:t>
            </a:r>
            <a:endParaRPr lang="en-US" sz="2600" dirty="0"/>
          </a:p>
        </p:txBody>
      </p:sp>
      <p:graphicFrame>
        <p:nvGraphicFramePr>
          <p:cNvPr id="45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Journal d’audit immuable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Toute écriture est tracée au journal, qui se filtre par objet, acteur et période, du plus récent au plus ancien. Il est </a:t>
                      </a:r>
                      <a:pPr indent="0" marL="0">
                        <a:buNone/>
                      </a:pPr>
                      <a:r>
                        <a:rPr lang="en-US" sz="1100" b="1" dirty="0">
                          <a:solidFill>
                            <a:srgbClr val="1B2A3A"/>
                          </a:solidFill>
                          <a:latin typeface="Segoe UI" pitchFamily="34" charset="0"/>
                          <a:ea typeface="Segoe UI" pitchFamily="34" charset="-122"/>
                          <a:cs typeface="Segoe UI" pitchFamily="34" charset="-120"/>
                        </a:rPr>
                        <a:t>immuable</a:t>
                      </a:r>
                      <a:pPr indent="0" marL="0">
                        <a:buNone/>
                      </a:pPr>
                      <a:r>
                        <a:rPr lang="en-US" sz="1100" dirty="0">
                          <a:solidFill>
                            <a:srgbClr val="1B2A3A"/>
                          </a:solidFill>
                          <a:latin typeface="Segoe UI" pitchFamily="34" charset="0"/>
                          <a:ea typeface="Segoe UI" pitchFamily="34" charset="-122"/>
                          <a:cs typeface="Segoe UI" pitchFamily="34" charset="-120"/>
                        </a:rPr>
                        <a:t> : nul n’y ajoute, n’y modifie ni n’y supprime une entrée.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Connexions journalisées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connexion réussie ou refusée et chaque déconnexion sont enregistrées avec l’adresse, le poste et l’heure. Une tentative sur un identifiant inconnu n’est attribuée à personne. Aucune purge n’est prévue : la durée de conservation reste </a:t>
                      </a:r>
                      <a:pPr indent="0" marL="0">
                        <a:buNone/>
                      </a:pPr>
                      <a:r>
                        <a:rPr lang="en-US" sz="1100" b="1" dirty="0">
                          <a:solidFill>
                            <a:srgbClr val="1B2A3A"/>
                          </a:solidFill>
                          <a:latin typeface="Segoe UI" pitchFamily="34" charset="0"/>
                          <a:ea typeface="Segoe UI" pitchFamily="34" charset="-122"/>
                          <a:cs typeface="Segoe UI" pitchFamily="34" charset="-120"/>
                        </a:rPr>
                        <a:t>à arbitrer</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Actualités ciblées et archivées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actualité, en texte simple sans mise en page libre, vise au moins un profil et s’affiche à l’ouverture de session dans sa période de publication. Elle naît </a:t>
                      </a:r>
                      <a:pPr indent="0" marL="0">
                        <a:buNone/>
                      </a:pPr>
                      <a:r>
                        <a:rPr lang="en-US" sz="1100" b="1" dirty="0">
                          <a:solidFill>
                            <a:srgbClr val="1B2A3A"/>
                          </a:solidFill>
                          <a:latin typeface="Segoe UI" pitchFamily="34" charset="0"/>
                          <a:ea typeface="Segoe UI" pitchFamily="34" charset="-122"/>
                          <a:cs typeface="Segoe UI" pitchFamily="34" charset="-120"/>
                        </a:rPr>
                        <a:t>inactive</a:t>
                      </a:r>
                      <a:pPr indent="0" marL="0">
                        <a:buNone/>
                      </a:pPr>
                      <a:r>
                        <a:rPr lang="en-US" sz="1100" dirty="0">
                          <a:solidFill>
                            <a:srgbClr val="1B2A3A"/>
                          </a:solidFill>
                          <a:latin typeface="Segoe UI" pitchFamily="34" charset="0"/>
                          <a:ea typeface="Segoe UI" pitchFamily="34" charset="-122"/>
                          <a:cs typeface="Segoe UI" pitchFamily="34" charset="-120"/>
                        </a:rPr>
                        <a:t> ; supprimée, elle est archivée. Un interrupteur général les coupe toutes.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08 — Journal d’audit · regles-gestion.md § 3.8. Administrateur › Module 10 — Administration &amp; sécurité › Journal des connexions · regles-gestion.md § Actualités à l’ouverture de session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451</a:t>
            </a:r>
            <a:endParaRPr lang="en-US" sz="1100" dirty="0"/>
          </a:p>
        </p:txBody>
      </p:sp>
    </p:spTree>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name="Slide 4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Pré-contrôle</a:t>
            </a:r>
            <a:endParaRPr lang="en-US" sz="2600" dirty="0"/>
          </a:p>
        </p:txBody>
      </p:sp>
      <p:graphicFrame>
        <p:nvGraphicFramePr>
          <p:cNvPr id="45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Taux d’écartement par règle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tableau donne, règle par règle, la part des signalements écartés, en compteurs seuls, sans aucun plan. Une règle écartée dans </a:t>
                      </a:r>
                      <a:pPr indent="0" marL="0">
                        <a:buNone/>
                      </a:pPr>
                      <a:r>
                        <a:rPr lang="en-US" sz="1100" b="1" dirty="0">
                          <a:solidFill>
                            <a:srgbClr val="1B2A3A"/>
                          </a:solidFill>
                          <a:latin typeface="Segoe UI" pitchFamily="34" charset="0"/>
                          <a:ea typeface="Segoe UI" pitchFamily="34" charset="-122"/>
                          <a:cs typeface="Segoe UI" pitchFamily="34" charset="-120"/>
                        </a:rPr>
                        <a:t>80 % des cas</a:t>
                      </a:r>
                      <a:pPr indent="0" marL="0">
                        <a:buNone/>
                      </a:pPr>
                      <a:r>
                        <a:rPr lang="en-US" sz="1100" dirty="0">
                          <a:solidFill>
                            <a:srgbClr val="1B2A3A"/>
                          </a:solidFill>
                          <a:latin typeface="Segoe UI" pitchFamily="34" charset="0"/>
                          <a:ea typeface="Segoe UI" pitchFamily="34" charset="-122"/>
                          <a:cs typeface="Segoe UI" pitchFamily="34" charset="-120"/>
                        </a:rPr>
                        <a:t> s’éteint depuis l’administration ; les motifs déjà saisis sont conservés.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Levé n’est pas écarté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signalement </a:t>
                      </a:r>
                      <a:pPr indent="0" marL="0">
                        <a:buNone/>
                      </a:pPr>
                      <a:r>
                        <a:rPr lang="en-US" sz="1100" b="1" dirty="0">
                          <a:solidFill>
                            <a:srgbClr val="1B2A3A"/>
                          </a:solidFill>
                          <a:latin typeface="Segoe UI" pitchFamily="34" charset="0"/>
                          <a:ea typeface="Segoe UI" pitchFamily="34" charset="-122"/>
                          <a:cs typeface="Segoe UI" pitchFamily="34" charset="-120"/>
                        </a:rPr>
                        <a:t>levé</a:t>
                      </a:r>
                      <a:pPr indent="0" marL="0">
                        <a:buNone/>
                      </a:pPr>
                      <a:r>
                        <a:rPr lang="en-US" sz="1100" dirty="0">
                          <a:solidFill>
                            <a:srgbClr val="1B2A3A"/>
                          </a:solidFill>
                          <a:latin typeface="Segoe UI" pitchFamily="34" charset="0"/>
                          <a:ea typeface="Segoe UI" pitchFamily="34" charset="-122"/>
                          <a:cs typeface="Segoe UI" pitchFamily="34" charset="-120"/>
                        </a:rPr>
                        <a:t> — la PRMP a corrigé son plan — est une réussite et ne compte pas dans le taux. Le seuil ne joue qu’à partir de cinq signalements ; l’accueil annonce la règle qui le dépasse.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452</a:t>
            </a:r>
            <a:endParaRPr lang="en-US" sz="1100" dirty="0"/>
          </a:p>
        </p:txBody>
      </p:sp>
    </p:spTree>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name="Slide 4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Paramètres du manuel révisé (1/2)</a:t>
            </a:r>
            <a:endParaRPr lang="en-US" sz="2600" dirty="0"/>
          </a:p>
        </p:txBody>
      </p:sp>
      <p:graphicFrame>
        <p:nvGraphicFramePr>
          <p:cNvPr id="45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quorum de la commission d’appel d’offres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commission ne délibère valablement qu’au </a:t>
                      </a:r>
                      <a:pPr indent="0" marL="0">
                        <a:buNone/>
                      </a:pPr>
                      <a:r>
                        <a:rPr lang="en-US" sz="1100" b="1" dirty="0">
                          <a:solidFill>
                            <a:srgbClr val="1B2A3A"/>
                          </a:solidFill>
                          <a:latin typeface="Segoe UI" pitchFamily="34" charset="0"/>
                          <a:ea typeface="Segoe UI" pitchFamily="34" charset="-122"/>
                          <a:cs typeface="Segoe UI" pitchFamily="34" charset="-120"/>
                        </a:rPr>
                        <a:t>quorum</a:t>
                      </a:r>
                      <a:pPr indent="0" marL="0">
                        <a:buNone/>
                      </a:pPr>
                      <a:r>
                        <a:rPr lang="en-US" sz="1100" dirty="0">
                          <a:solidFill>
                            <a:srgbClr val="1B2A3A"/>
                          </a:solidFill>
                          <a:latin typeface="Segoe UI" pitchFamily="34" charset="0"/>
                          <a:ea typeface="Segoe UI" pitchFamily="34" charset="-122"/>
                          <a:cs typeface="Segoe UI" pitchFamily="34" charset="-120"/>
                        </a:rPr>
                        <a:t>, réglé par l’Administrateur pour toutes les procédures : la majorité des membres désignés (par défaut), tous, ou un nombre. Une procédure peut avoir sa propre règle. Le président, ou le représentant qu’il désigne pour la séance, est toujours requis en plus ; dans une commission de deux membres, la majorité vaut l’unanimité.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Là où le quorum bloque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quorum bloque la clôture de la séance d’ouverture et de la seconde séance, la production du rapport d’évaluation et l’arrêt de la liste de l’AMI, ainsi que tout </a:t>
                      </a:r>
                      <a:pPr indent="0" marL="0">
                        <a:buNone/>
                      </a:pPr>
                      <a:r>
                        <a:rPr lang="en-US" sz="1100" b="1" dirty="0">
                          <a:solidFill>
                            <a:srgbClr val="1B2A3A"/>
                          </a:solidFill>
                          <a:latin typeface="Segoe UI" pitchFamily="34" charset="0"/>
                          <a:ea typeface="Segoe UI" pitchFamily="34" charset="-122"/>
                          <a:cs typeface="Segoe UI" pitchFamily="34" charset="-120"/>
                        </a:rPr>
                        <a:t>empêchement</a:t>
                      </a:r>
                      <a:pPr indent="0" marL="0">
                        <a:buNone/>
                      </a:pPr>
                      <a:r>
                        <a:rPr lang="en-US" sz="1100" dirty="0">
                          <a:solidFill>
                            <a:srgbClr val="1B2A3A"/>
                          </a:solidFill>
                          <a:latin typeface="Segoe UI" pitchFamily="34" charset="0"/>
                          <a:ea typeface="Segoe UI" pitchFamily="34" charset="-122"/>
                          <a:cs typeface="Segoe UI" pitchFamily="34" charset="-120"/>
                        </a:rPr>
                        <a:t> qui le rendrait inatteignable : aucun procès-verbal ni rapport ne reste sans issue. Le quorum constaté s’imprime au procès-verbal et au rapport.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recours suspensifs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types de recours qui suspendent la signature du marché sont un réglage de l’Administrateur : par défaut la révision par l’ARMP (art. 80) et le référé précontractuel (art. 78) ; le réexamen par la PRMP (art. 79) peut être ajouté. La suspension dure jusqu’à la décision, vingt jours au plus. Le réglage vaut </a:t>
                      </a:r>
                      <a:pPr indent="0" marL="0">
                        <a:buNone/>
                      </a:pPr>
                      <a:r>
                        <a:rPr lang="en-US" sz="1100" b="1" dirty="0">
                          <a:solidFill>
                            <a:srgbClr val="1B2A3A"/>
                          </a:solidFill>
                          <a:latin typeface="Segoe UI" pitchFamily="34" charset="0"/>
                          <a:ea typeface="Segoe UI" pitchFamily="34" charset="-122"/>
                          <a:cs typeface="Segoe UI" pitchFamily="34" charset="-120"/>
                        </a:rPr>
                        <a:t>immédiatement</a:t>
                      </a:r>
                      <a:pPr indent="0" marL="0">
                        <a:buNone/>
                      </a:pPr>
                      <a:r>
                        <a:rPr lang="en-US" sz="1100" dirty="0">
                          <a:solidFill>
                            <a:srgbClr val="1B2A3A"/>
                          </a:solidFill>
                          <a:latin typeface="Segoe UI" pitchFamily="34" charset="0"/>
                          <a:ea typeface="Segoe UI" pitchFamily="34" charset="-122"/>
                          <a:cs typeface="Segoe UI" pitchFamily="34" charset="-120"/>
                        </a:rPr>
                        <a:t>, y compris pour les recours déjà déclarés.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transition SIGMP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L’avis spécifique et les lettres d’invitation produits par l’application remplacent les imprimés du SIGMP. Pendant la transition, l’imprimé reste accepté en pièce </a:t>
                      </a:r>
                      <a:pPr indent="0" marL="0">
                        <a:buNone/>
                      </a:pPr>
                      <a:r>
                        <a:rPr lang="en-US" sz="1100" b="1" dirty="0">
                          <a:solidFill>
                            <a:srgbClr val="1B2A3A"/>
                          </a:solidFill>
                          <a:latin typeface="Segoe UI" pitchFamily="34" charset="0"/>
                          <a:ea typeface="Segoe UI" pitchFamily="34" charset="-122"/>
                          <a:cs typeface="Segoe UI" pitchFamily="34" charset="-120"/>
                        </a:rPr>
                        <a:t>facultative</a:t>
                      </a:r>
                      <a:pPr indent="0" marL="0">
                        <a:buNone/>
                      </a:pPr>
                      <a:r>
                        <a:rPr lang="en-US" sz="1100" dirty="0">
                          <a:solidFill>
                            <a:srgbClr val="1B2A3A"/>
                          </a:solidFill>
                          <a:latin typeface="Segoe UI" pitchFamily="34" charset="0"/>
                          <a:ea typeface="Segoe UI" pitchFamily="34" charset="-122"/>
                          <a:cs typeface="Segoe UI" pitchFamily="34" charset="-120"/>
                        </a:rPr>
                        <a:t> des procédures en ligne ; dès la date de fin réglée par l’Administrateur, il n’est plus demandé. Sans date, la transition dure. Les dossiers saisis hors de l’application continuent d’exiger l’imprimé.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décision d’équivalence au pied des documents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Chaque page des documents générés porte en pied la décision formelle d’équivalence (« Document produit par la plateforme PRS 2.0 en application de la décision n° … du … ») dès que l’Administrateur l’a réglée ; auparavant, « Projet — équivalence SIGMP en attente ». Référence et date vont ensemble. Un document déjà imprimé </a:t>
                      </a:r>
                      <a:pPr indent="0" marL="0">
                        <a:buNone/>
                      </a:pPr>
                      <a:r>
                        <a:rPr lang="en-US" sz="1100" b="1" dirty="0">
                          <a:solidFill>
                            <a:srgbClr val="1B2A3A"/>
                          </a:solidFill>
                          <a:latin typeface="Segoe UI" pitchFamily="34" charset="0"/>
                          <a:ea typeface="Segoe UI" pitchFamily="34" charset="-122"/>
                          <a:cs typeface="Segoe UI" pitchFamily="34" charset="-120"/>
                        </a:rPr>
                        <a:t>garde</a:t>
                      </a:r>
                      <a:pPr indent="0" marL="0">
                        <a:buNone/>
                      </a:pPr>
                      <a:r>
                        <a:rPr lang="en-US" sz="1100" dirty="0">
                          <a:solidFill>
                            <a:srgbClr val="1B2A3A"/>
                          </a:solidFill>
                          <a:latin typeface="Segoe UI" pitchFamily="34" charset="0"/>
                          <a:ea typeface="Segoe UI" pitchFamily="34" charset="-122"/>
                          <a:cs typeface="Segoe UI" pitchFamily="34" charset="-120"/>
                        </a:rPr>
                        <a:t> le pied du moment.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 encadré du 2026-10-10 (manuel révisé, lot 1, R1) · regles-gestion.md § Le dossier soumis — encadré du 2026-10-14 (manuel révisé, lot 2, R9a, titre VIII) · regles-gestion.md § Le dossier soumis — encadré du 2026-10-13 (manuel révisé, lot 1, R3a) · api-endpoints.md § Le manuel révisé, lot 1, tranche R3a : la transition SIGMP et le pied d’équivalence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453</a:t>
            </a:r>
            <a:endParaRPr lang="en-US" sz="1100" dirty="0"/>
          </a:p>
        </p:txBody>
      </p:sp>
    </p:spTree>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name="Slide 4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Paramètres du manuel révisé (2/2)</a:t>
            </a:r>
            <a:endParaRPr lang="en-US" sz="2600" dirty="0"/>
          </a:p>
        </p:txBody>
      </p:sp>
      <p:graphicFrame>
        <p:nvGraphicFramePr>
          <p:cNvPr id="45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signature de l’offre en ligne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Pendant une procédure en ligne, le dépôt de l’offre depuis le compte authentifié du candidat, scellé par la plateforme, vaut signature de l’offre et de l’acte d’engagement. Le réglage « Signature de l’offre » se tient dans les paramètres internes de la procédure ; la signature </a:t>
                      </a:r>
                      <a:pPr indent="0" marL="0">
                        <a:buNone/>
                      </a:pPr>
                      <a:r>
                        <a:rPr lang="en-US" sz="1100" b="1" dirty="0">
                          <a:solidFill>
                            <a:srgbClr val="1B2A3A"/>
                          </a:solidFill>
                          <a:latin typeface="Segoe UI" pitchFamily="34" charset="0"/>
                          <a:ea typeface="Segoe UI" pitchFamily="34" charset="-122"/>
                          <a:cs typeface="Segoe UI" pitchFamily="34" charset="-120"/>
                        </a:rPr>
                        <a:t>certifiée</a:t>
                      </a:r>
                      <a:pPr indent="0" marL="0">
                        <a:buNone/>
                      </a:pPr>
                      <a:r>
                        <a:rPr lang="en-US" sz="1100" dirty="0">
                          <a:solidFill>
                            <a:srgbClr val="1B2A3A"/>
                          </a:solidFill>
                          <a:latin typeface="Segoe UI" pitchFamily="34" charset="0"/>
                          <a:ea typeface="Segoe UI" pitchFamily="34" charset="-122"/>
                          <a:cs typeface="Segoe UI" pitchFamily="34" charset="-120"/>
                        </a:rPr>
                        <a:t> y est une option réservée qui, choisie, ne change encore rien.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 encadré du 2026-10-14 (manuel révisé, lot 2, R10)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454</a:t>
            </a:r>
            <a:endParaRPr lang="en-US" sz="1100" dirty="0"/>
          </a:p>
        </p:txBody>
      </p:sp>
    </p:spTree>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name="Slide 4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a:t>
            </a:r>
            <a:endParaRPr lang="en-US" sz="2600" dirty="0"/>
          </a:p>
        </p:txBody>
      </p:sp>
      <p:graphicFrame>
        <p:nvGraphicFramePr>
          <p:cNvPr id="4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neuf délais de la loi ne se règlent pas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Neuf délais de la loi n° 2016-055 font foi : publicité de l’appel d’offres ouvert national (30 jours) et international (45 jours, art. 35-II), questions des candidats jusqu’à J−10, consultation ouverte (10 jours, art. 41-II), plan réputé approuvé après 10 jours ouvrables (art. 26-IV), 10 jours francs avant la signature (art. 52-I et 58), pièces de l’attributaire sous 15 jours (art. 20-I), avis d’attribution sous 30 jours (art. 53), avis sur une déclaration sans suite sous 5 jours (art. 55-II). Le jour de départ n’est pas compté ; les délais </a:t>
                      </a:r>
                      <a:pPr indent="0" marL="0">
                        <a:buNone/>
                      </a:pPr>
                      <a:r>
                        <a:rPr lang="en-US" sz="1100" b="1" dirty="0">
                          <a:solidFill>
                            <a:srgbClr val="1B2A3A"/>
                          </a:solidFill>
                          <a:latin typeface="Segoe UI" pitchFamily="34" charset="0"/>
                          <a:ea typeface="Segoe UI" pitchFamily="34" charset="-122"/>
                          <a:cs typeface="Segoe UI" pitchFamily="34" charset="-120"/>
                        </a:rPr>
                        <a:t>bloquants</a:t>
                      </a:r>
                      <a:pPr indent="0" marL="0">
                        <a:buNone/>
                      </a:pPr>
                      <a:r>
                        <a:rPr lang="en-US" sz="1100" dirty="0">
                          <a:solidFill>
                            <a:srgbClr val="1B2A3A"/>
                          </a:solidFill>
                          <a:latin typeface="Segoe UI" pitchFamily="34" charset="0"/>
                          <a:ea typeface="Segoe UI" pitchFamily="34" charset="-122"/>
                          <a:cs typeface="Segoe UI" pitchFamily="34" charset="-120"/>
                        </a:rPr>
                        <a:t> refusent le geste qui les enfreint.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Les délais réglables sont signalés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délais issus des décrets, des documents types ou du manuel (appel d’offres restreint, prestations intellectuelles, AMI, contrat-cadre, pré-qualification, délai aménagé, réception présumée d’une lettre) se règlent par l’Administrateur. Tant que le pilote ne les a pas confirmés, ils sont </a:t>
                      </a:r>
                      <a:pPr indent="0" marL="0">
                        <a:buNone/>
                      </a:pPr>
                      <a:r>
                        <a:rPr lang="en-US" sz="1100" b="1" dirty="0">
                          <a:solidFill>
                            <a:srgbClr val="1B2A3A"/>
                          </a:solidFill>
                          <a:latin typeface="Segoe UI" pitchFamily="34" charset="0"/>
                          <a:ea typeface="Segoe UI" pitchFamily="34" charset="-122"/>
                          <a:cs typeface="Segoe UI" pitchFamily="34" charset="-120"/>
                        </a:rPr>
                        <a:t>signalés, jamais bloquants</a:t>
                      </a:r>
                      <a:pPr indent="0" marL="0">
                        <a:buNone/>
                      </a:pPr>
                      <a:r>
                        <a:rPr lang="en-US" sz="1100" dirty="0">
                          <a:solidFill>
                            <a:srgbClr val="1B2A3A"/>
                          </a:solidFill>
                          <a:latin typeface="Segoe UI" pitchFamily="34" charset="0"/>
                          <a:ea typeface="Segoe UI" pitchFamily="34" charset="-122"/>
                          <a:cs typeface="Segoe UI" pitchFamily="34" charset="-120"/>
                        </a:rPr>
                        <a:t> ; un délai inactif n’est plus évalué.</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Délais par type de dossier et alerte d’examen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peut régler, pour un sous-type de dossier, un délai propre à une étape ; sans réglage, le délai standard s’applique. La date de fin annoncée à la PRMP suit ces réglages. Un dossier ne reste pas plus de </a:t>
                      </a:r>
                      <a:pPr indent="0" marL="0">
                        <a:buNone/>
                      </a:pPr>
                      <a:r>
                        <a:rPr lang="en-US" sz="1100" b="1" dirty="0">
                          <a:solidFill>
                            <a:srgbClr val="1B2A3A"/>
                          </a:solidFill>
                          <a:latin typeface="Segoe UI" pitchFamily="34" charset="0"/>
                          <a:ea typeface="Segoe UI" pitchFamily="34" charset="-122"/>
                          <a:cs typeface="Segoe UI" pitchFamily="34" charset="-120"/>
                        </a:rPr>
                        <a:t>5 jours ouvrés</a:t>
                      </a:r>
                      <a:pPr indent="0" marL="0">
                        <a:buNone/>
                      </a:pPr>
                      <a:r>
                        <a:rPr lang="en-US" sz="1100" dirty="0">
                          <a:solidFill>
                            <a:srgbClr val="1B2A3A"/>
                          </a:solidFill>
                          <a:latin typeface="Segoe UI" pitchFamily="34" charset="0"/>
                          <a:ea typeface="Segoe UI" pitchFamily="34" charset="-122"/>
                          <a:cs typeface="Segoe UI" pitchFamily="34" charset="-120"/>
                        </a:rPr>
                        <a:t> en examen : au-delà, le Membre examinateur, le Chef de commission et le Président sont avertis, une fois par passage.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Le dossier soumis — encadré du 2026-10-13 (manuel révisé, lot 2, R6a) · regles-gestion.md § Le dossier soumis — encadré du 2026-10-13 (R6a) ; api-endpoints.md § délais administrables · regles-gestion.md § Le dossier soumis — encadré du 2026-10-09 (tranche M5b)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455</a:t>
            </a:r>
            <a:endParaRPr lang="en-US" sz="1100" dirty="0"/>
          </a:p>
        </p:txBody>
      </p:sp>
    </p:spTree>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name="Slide 4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Suivi des dossiers</a:t>
            </a:r>
            <a:endParaRPr lang="en-US" sz="2600" dirty="0"/>
          </a:p>
        </p:txBody>
      </p:sp>
      <p:graphicFrame>
        <p:nvGraphicFramePr>
          <p:cNvPr id="45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Fin prévue dès la soumission</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voit, pour chaque dossier, la date de dépôt et la </a:t>
                      </a:r>
                      <a:pPr indent="0" marL="0">
                        <a:buNone/>
                      </a:pPr>
                      <a:r>
                        <a:rPr lang="en-US" sz="1100" b="1" dirty="0">
                          <a:solidFill>
                            <a:srgbClr val="1B2A3A"/>
                          </a:solidFill>
                          <a:latin typeface="Segoe UI" pitchFamily="34" charset="0"/>
                          <a:ea typeface="Segoe UI" pitchFamily="34" charset="-122"/>
                          <a:cs typeface="Segoe UI" pitchFamily="34" charset="-120"/>
                        </a:rPr>
                        <a:t>fin de traitement prévue</a:t>
                      </a:r>
                      <a:pPr indent="0" marL="0">
                        <a:buNone/>
                      </a:pPr>
                      <a:r>
                        <a:rPr lang="en-US" sz="1100" dirty="0">
                          <a:solidFill>
                            <a:srgbClr val="1B2A3A"/>
                          </a:solidFill>
                          <a:latin typeface="Segoe UI" pitchFamily="34" charset="0"/>
                          <a:ea typeface="Segoe UI" pitchFamily="34" charset="-122"/>
                          <a:cs typeface="Segoe UI" pitchFamily="34" charset="-120"/>
                        </a:rPr>
                        <a:t>, calculée par l’application dès la soumission à partir des délais standards de la Commission (et, s’il en a, de ceux de son sous-type).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La date glisse, sans promesse</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Quand le dossier attend la PRMP (compléments, pièces, décision), la date reste calculée mais </a:t>
                      </a:r>
                      <a:pPr indent="0" marL="0">
                        <a:buNone/>
                      </a:pPr>
                      <a:r>
                        <a:rPr lang="en-US" sz="1100" b="1" dirty="0">
                          <a:solidFill>
                            <a:srgbClr val="1B2A3A"/>
                          </a:solidFill>
                          <a:latin typeface="Segoe UI" pitchFamily="34" charset="0"/>
                          <a:ea typeface="Segoe UI" pitchFamily="34" charset="-122"/>
                          <a:cs typeface="Segoe UI" pitchFamily="34" charset="-120"/>
                        </a:rPr>
                        <a:t>glisse</a:t>
                      </a:r>
                      <a:pPr indent="0" marL="0">
                        <a:buNone/>
                      </a:pPr>
                      <a:r>
                        <a:rPr lang="en-US" sz="1100" dirty="0">
                          <a:solidFill>
                            <a:srgbClr val="1B2A3A"/>
                          </a:solidFill>
                          <a:latin typeface="Segoe UI" pitchFamily="34" charset="0"/>
                          <a:ea typeface="Segoe UI" pitchFamily="34" charset="-122"/>
                          <a:cs typeface="Segoe UI" pitchFamily="34" charset="-120"/>
                        </a:rPr>
                        <a:t> jusqu’à sa réponse. Une étape en dépassement ne compte plus : la date recule au lieu de promettre un rattrapage.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Rien d’interne pour la PRMP</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PRMP suit l’avancement de ses dossiers, mais ne voit ni les acteurs internes de la Commission ni la grille point par point : du procès-verbal, elle reçoit la </a:t>
                      </a:r>
                      <a:pPr indent="0" marL="0">
                        <a:buNone/>
                      </a:pPr>
                      <a:r>
                        <a:rPr lang="en-US" sz="1100" b="1" dirty="0">
                          <a:solidFill>
                            <a:srgbClr val="1B2A3A"/>
                          </a:solidFill>
                          <a:latin typeface="Segoe UI" pitchFamily="34" charset="0"/>
                          <a:ea typeface="Segoe UI" pitchFamily="34" charset="-122"/>
                          <a:cs typeface="Segoe UI" pitchFamily="34" charset="-120"/>
                        </a:rPr>
                        <a:t>synthèse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Date prévisionnelle de fin de traitement ; encadré du 2026-10-09 (M5b) · regles-gestion.md § Chronométrage et prévision des délais (transversal au circuit) · regles-gestion.md § 3.1. PRMP › Module 03 — Soumission &amp; retours › Consultation du PV d’examen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456</a:t>
            </a:r>
            <a:endParaRPr lang="en-US" sz="1100" dirty="0"/>
          </a:p>
        </p:txBody>
      </p:sp>
    </p:spTree>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name="Slide 4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Rapports et tableaux de pilotage</a:t>
            </a:r>
            <a:endParaRPr lang="en-US" sz="2600" dirty="0"/>
          </a:p>
        </p:txBody>
      </p:sp>
      <p:graphicFrame>
        <p:nvGraphicFramePr>
          <p:cNvPr id="45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Rapports bornés par la localité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Les rapports de dossiers se téléchargent en PDF ou en tableur, sur une période facultative : sans dates, tous les dossiers sont inclus. Président et Administrateur couvrent toutes les commissions ; le Chef de commission n’obtient que </a:t>
                      </a:r>
                      <a:pPr indent="0" marL="0">
                        <a:buNone/>
                      </a:pPr>
                      <a:r>
                        <a:rPr lang="en-US" sz="1100" b="1" dirty="0">
                          <a:solidFill>
                            <a:srgbClr val="1B2A3A"/>
                          </a:solidFill>
                          <a:latin typeface="Segoe UI" pitchFamily="34" charset="0"/>
                          <a:ea typeface="Segoe UI" pitchFamily="34" charset="-122"/>
                          <a:cs typeface="Segoe UI" pitchFamily="34" charset="-120"/>
                        </a:rPr>
                        <a:t>sa localité</a:t>
                      </a:r>
                      <a:pPr indent="0" marL="0">
                        <a:buNone/>
                      </a:pPr>
                      <a:r>
                        <a:rPr lang="en-US" sz="1100" dirty="0">
                          <a:solidFill>
                            <a:srgbClr val="1B2A3A"/>
                          </a:solidFill>
                          <a:latin typeface="Segoe UI" pitchFamily="34" charset="0"/>
                          <a:ea typeface="Segoe UI" pitchFamily="34" charset="-122"/>
                          <a:cs typeface="Segoe UI" pitchFamily="34" charset="-120"/>
                        </a:rPr>
                        <a:t>. L’écran ne propose pas encore de cibler une commission précise, que l’application sait pourtant produire.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Indicateurs selon le profil</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tableau de bord — dossiers par statut, dossiers conformes, taux de conformité, cinq points les plus souvent non conformes — est lu par le Président et l’Administrateur pour </a:t>
                      </a:r>
                      <a:pPr indent="0" marL="0">
                        <a:buNone/>
                      </a:pPr>
                      <a:r>
                        <a:rPr lang="en-US" sz="1100" b="1" dirty="0">
                          <a:solidFill>
                            <a:srgbClr val="1B2A3A"/>
                          </a:solidFill>
                          <a:latin typeface="Segoe UI" pitchFamily="34" charset="0"/>
                          <a:ea typeface="Segoe UI" pitchFamily="34" charset="-122"/>
                          <a:cs typeface="Segoe UI" pitchFamily="34" charset="-120"/>
                        </a:rPr>
                        <a:t>toutes les localités</a:t>
                      </a:r>
                      <a:pPr indent="0" marL="0">
                        <a:buNone/>
                      </a:pPr>
                      <a:r>
                        <a:rPr lang="en-US" sz="1100" dirty="0">
                          <a:solidFill>
                            <a:srgbClr val="1B2A3A"/>
                          </a:solidFill>
                          <a:latin typeface="Segoe UI" pitchFamily="34" charset="0"/>
                          <a:ea typeface="Segoe UI" pitchFamily="34" charset="-122"/>
                          <a:cs typeface="Segoe UI" pitchFamily="34" charset="-120"/>
                        </a:rPr>
                        <a:t>, par le Chef de commission pour la sienne seulement. La PRMP n’a pas accès aux statistiques de la CNM.</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que mesure la conformité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dossier est conforme quand le Vérificateur constate les observations levées au dernier passage. Le taux de conformité mesure la </a:t>
                      </a:r>
                      <a:pPr indent="0" marL="0">
                        <a:buNone/>
                      </a:pPr>
                      <a:r>
                        <a:rPr lang="en-US" sz="1100" b="1" dirty="0">
                          <a:solidFill>
                            <a:srgbClr val="1B2A3A"/>
                          </a:solidFill>
                          <a:latin typeface="Segoe UI" pitchFamily="34" charset="0"/>
                          <a:ea typeface="Segoe UI" pitchFamily="34" charset="-122"/>
                          <a:cs typeface="Segoe UI" pitchFamily="34" charset="-120"/>
                        </a:rPr>
                        <a:t>qualité initiale</a:t>
                      </a:r>
                      <a:pPr indent="0" marL="0">
                        <a:buNone/>
                      </a:pPr>
                      <a:r>
                        <a:rPr lang="en-US" sz="1100" dirty="0">
                          <a:solidFill>
                            <a:srgbClr val="1B2A3A"/>
                          </a:solidFill>
                          <a:latin typeface="Segoe UI" pitchFamily="34" charset="0"/>
                          <a:ea typeface="Segoe UI" pitchFamily="34" charset="-122"/>
                          <a:cs typeface="Segoe UI" pitchFamily="34" charset="-120"/>
                        </a:rPr>
                        <a:t> des soumissions : 100 % signifie aucun retour.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Le taux se compte sur les dossiers soumis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taux de conformité rapporte les dossiers conformes aux dossiers </a:t>
                      </a:r>
                      <a:pPr indent="0" marL="0">
                        <a:buNone/>
                      </a:pPr>
                      <a:r>
                        <a:rPr lang="en-US" sz="1100" b="1" dirty="0">
                          <a:solidFill>
                            <a:srgbClr val="1B2A3A"/>
                          </a:solidFill>
                          <a:latin typeface="Segoe UI" pitchFamily="34" charset="0"/>
                          <a:ea typeface="Segoe UI" pitchFamily="34" charset="-122"/>
                          <a:cs typeface="Segoe UI" pitchFamily="34" charset="-120"/>
                        </a:rPr>
                        <a:t>soumis</a:t>
                      </a:r>
                      <a:pPr indent="0" marL="0">
                        <a:buNone/>
                      </a:pPr>
                      <a:r>
                        <a:rPr lang="en-US" sz="1100" dirty="0">
                          <a:solidFill>
                            <a:srgbClr val="1B2A3A"/>
                          </a:solidFill>
                          <a:latin typeface="Segoe UI" pitchFamily="34" charset="0"/>
                          <a:ea typeface="Segoe UI" pitchFamily="34" charset="-122"/>
                          <a:cs typeface="Segoe UI" pitchFamily="34" charset="-120"/>
                        </a:rPr>
                        <a:t> : les brouillons n’entrent pas dans le compte des dossiers déposés, mais restent visibles dans la répartition par statut.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Rapports · api-endpoints.md § KPIs / Tableau de bord ; § Instantanés de statistiques · regles-gestion.md § 3.2. Président › Module 01 — Tableau de bord &amp; KPIs › Taux de conformité · api-endpoints.md § KPIs / Tableau de bord</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457</a:t>
            </a:r>
            <a:endParaRPr lang="en-US" sz="1100" dirty="0"/>
          </a:p>
        </p:txBody>
      </p:sp>
    </p:spTree>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name="Slide 4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Publication et transparence</a:t>
            </a:r>
            <a:endParaRPr lang="en-US" sz="2600" dirty="0"/>
          </a:p>
        </p:txBody>
      </p:sp>
      <p:graphicFrame>
        <p:nvGraphicFramePr>
          <p:cNvPr id="4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Chargé de publication cloisonné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Chargé de publication gère le portail de transparence sans accès au circuit interne, au journal d’audit ni aux statistiques de la CNM. Il est </a:t>
                      </a:r>
                      <a:pPr indent="0" marL="0">
                        <a:buNone/>
                      </a:pPr>
                      <a:r>
                        <a:rPr lang="en-US" sz="1100" b="1" dirty="0">
                          <a:solidFill>
                            <a:srgbClr val="1B2A3A"/>
                          </a:solidFill>
                          <a:latin typeface="Segoe UI" pitchFamily="34" charset="0"/>
                          <a:ea typeface="Segoe UI" pitchFamily="34" charset="-122"/>
                          <a:cs typeface="Segoe UI" pitchFamily="34" charset="-120"/>
                        </a:rPr>
                        <a:t>avisé</a:t>
                      </a:r>
                      <a:pPr indent="0" marL="0">
                        <a:buNone/>
                      </a:pPr>
                      <a:r>
                        <a:rPr lang="en-US" sz="1100" dirty="0">
                          <a:solidFill>
                            <a:srgbClr val="1B2A3A"/>
                          </a:solidFill>
                          <a:latin typeface="Segoe UI" pitchFamily="34" charset="0"/>
                          <a:ea typeface="Segoe UI" pitchFamily="34" charset="-122"/>
                          <a:cs typeface="Segoe UI" pitchFamily="34" charset="-120"/>
                        </a:rPr>
                        <a:t> à chaque clôture conforme éligible à publication.</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Publier, puis retirer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publication naît </a:t>
                      </a:r>
                      <a:pPr indent="0" marL="0">
                        <a:buNone/>
                      </a:pPr>
                      <a:r>
                        <a:rPr lang="en-US" sz="1100" b="1" dirty="0">
                          <a:solidFill>
                            <a:srgbClr val="1B2A3A"/>
                          </a:solidFill>
                          <a:latin typeface="Segoe UI" pitchFamily="34" charset="0"/>
                          <a:ea typeface="Segoe UI" pitchFamily="34" charset="-122"/>
                          <a:cs typeface="Segoe UI" pitchFamily="34" charset="-120"/>
                        </a:rPr>
                        <a:t>en attente</a:t>
                      </a:r>
                      <a:pPr indent="0" marL="0">
                        <a:buNone/>
                      </a:pPr>
                      <a:r>
                        <a:rPr lang="en-US" sz="1100" dirty="0">
                          <a:solidFill>
                            <a:srgbClr val="1B2A3A"/>
                          </a:solidFill>
                          <a:latin typeface="Segoe UI" pitchFamily="34" charset="0"/>
                          <a:ea typeface="Segoe UI" pitchFamily="34" charset="-122"/>
                          <a:cs typeface="Segoe UI" pitchFamily="34" charset="-120"/>
                        </a:rPr>
                        <a:t> ; seule une publication en attente se publie, seule une publication publiée se retire. Chaque consultation incrémente son compteur.</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Retrait toujours motivé</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Retirer une publication exige un </a:t>
                      </a:r>
                      <a:pPr indent="0" marL="0">
                        <a:buNone/>
                      </a:pPr>
                      <a:r>
                        <a:rPr lang="en-US" sz="1100" b="1" dirty="0">
                          <a:solidFill>
                            <a:srgbClr val="1B2A3A"/>
                          </a:solidFill>
                          <a:latin typeface="Segoe UI" pitchFamily="34" charset="0"/>
                          <a:ea typeface="Segoe UI" pitchFamily="34" charset="-122"/>
                          <a:cs typeface="Segoe UI" pitchFamily="34" charset="-120"/>
                        </a:rPr>
                        <a:t>motif</a:t>
                      </a:r>
                      <a:pPr indent="0" marL="0">
                        <a:buNone/>
                      </a:pPr>
                      <a:r>
                        <a:rPr lang="en-US" sz="1100" dirty="0">
                          <a:solidFill>
                            <a:srgbClr val="1B2A3A"/>
                          </a:solidFill>
                          <a:latin typeface="Segoe UI" pitchFamily="34" charset="0"/>
                          <a:ea typeface="Segoe UI" pitchFamily="34" charset="-122"/>
                          <a:cs typeface="Segoe UI" pitchFamily="34" charset="-120"/>
                        </a:rPr>
                        <a:t>, conservé avec la date du retrait : la dépublication reste documentée.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Documents publics vérifiables</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 document public est mis en ligne en PDF avec son </a:t>
                      </a:r>
                      <a:pPr indent="0" marL="0">
                        <a:buNone/>
                      </a:pPr>
                      <a:r>
                        <a:rPr lang="en-US" sz="1100" b="1" dirty="0">
                          <a:solidFill>
                            <a:srgbClr val="1B2A3A"/>
                          </a:solidFill>
                          <a:latin typeface="Segoe UI" pitchFamily="34" charset="0"/>
                          <a:ea typeface="Segoe UI" pitchFamily="34" charset="-122"/>
                          <a:cs typeface="Segoe UI" pitchFamily="34" charset="-120"/>
                        </a:rPr>
                        <a:t>empreinte numérique</a:t>
                      </a:r>
                      <a:pPr indent="0" marL="0">
                        <a:buNone/>
                      </a:pPr>
                      <a:r>
                        <a:rPr lang="en-US" sz="1100" dirty="0">
                          <a:solidFill>
                            <a:srgbClr val="1B2A3A"/>
                          </a:solidFill>
                          <a:latin typeface="Segoe UI" pitchFamily="34" charset="0"/>
                          <a:ea typeface="Segoe UI" pitchFamily="34" charset="-122"/>
                          <a:cs typeface="Segoe UI" pitchFamily="34" charset="-120"/>
                        </a:rPr>
                        <a:t> (SHA-256) ; l’intégrité d’un fichier se vérifie à tout moment en recalculant l’empreinte.</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3.7. Chargé de publication · api-endpoints.md § Publications · regles-gestion.md § 3.7. Chargé de publication › Module 09 — Portail de publication · api-endpoints.md § Documents publics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458</a:t>
            </a:r>
            <a:endParaRPr lang="en-US" sz="1100" dirty="0"/>
          </a:p>
        </p:txBody>
      </p:sp>
    </p:spTree>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name="Slide 4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A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Procédures en ligne</a:t>
            </a:r>
            <a:endParaRPr lang="en-US" sz="2600" dirty="0"/>
          </a:p>
        </p:txBody>
      </p:sp>
      <p:graphicFrame>
        <p:nvGraphicFramePr>
          <p:cNvPr id="4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88720"/>
                <a:gridCol w="2377440"/>
                <a:gridCol w="78638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Vue complète de l’Administrateur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L’Administrateur voit toutes les fiches en remise électronique, brouillons compris, pour désigner les responsables et suivre les procédures. Chaque autre agent ne voit que celles dont il est le </a:t>
                      </a:r>
                      <a:pPr indent="0" marL="0">
                        <a:buNone/>
                      </a:pPr>
                      <a:r>
                        <a:rPr lang="en-US" sz="1100" b="1" dirty="0">
                          <a:solidFill>
                            <a:srgbClr val="1B2A3A"/>
                          </a:solidFill>
                          <a:latin typeface="Segoe UI" pitchFamily="34" charset="0"/>
                          <a:ea typeface="Segoe UI" pitchFamily="34" charset="-122"/>
                          <a:cs typeface="Segoe UI" pitchFamily="34" charset="-120"/>
                        </a:rPr>
                        <a:t>responsable</a:t>
                      </a:r>
                      <a:pPr indent="0" marL="0">
                        <a:buNone/>
                      </a:pPr>
                      <a:r>
                        <a:rPr lang="en-US" sz="1100" dirty="0">
                          <a:solidFill>
                            <a:srgbClr val="1B2A3A"/>
                          </a:solidFill>
                          <a:latin typeface="Segoe UI" pitchFamily="34" charset="0"/>
                          <a:ea typeface="Segoe UI" pitchFamily="34" charset="-122"/>
                          <a:cs typeface="Segoe UI" pitchFamily="34" charset="-120"/>
                        </a:rPr>
                        <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À traiter d’abord</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La liste place en tête les procédures à traiter — sans responsable, cérémonie des clés non close, séance en cours ou du jour —, les séances closes en dernier. Seul le </a:t>
                      </a:r>
                      <a:pPr indent="0" marL="0">
                        <a:buNone/>
                      </a:pPr>
                      <a:r>
                        <a:rPr lang="en-US" sz="1100" b="1" dirty="0">
                          <a:solidFill>
                            <a:srgbClr val="1B2A3A"/>
                          </a:solidFill>
                          <a:latin typeface="Segoe UI" pitchFamily="34" charset="0"/>
                          <a:ea typeface="Segoe UI" pitchFamily="34" charset="-122"/>
                          <a:cs typeface="Segoe UI" pitchFamily="34" charset="-120"/>
                        </a:rPr>
                        <a:t>nombre</a:t>
                      </a:r>
                      <a:pPr indent="0" marL="0">
                        <a:buNone/>
                      </a:pPr>
                      <a:r>
                        <a:rPr lang="en-US" sz="1100" dirty="0">
                          <a:solidFill>
                            <a:srgbClr val="1B2A3A"/>
                          </a:solidFill>
                          <a:latin typeface="Segoe UI" pitchFamily="34" charset="0"/>
                          <a:ea typeface="Segoe UI" pitchFamily="34" charset="-122"/>
                          <a:cs typeface="Segoe UI" pitchFamily="34" charset="-120"/>
                        </a:rPr>
                        <a:t> d’offres déposées y figure, jamais leur contenu.</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L’intérimaire voit, sans agir</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Une procédure suivie par intérim est signalée : l’intérimaire la voit, mais les gestes du responsable restent au </a:t>
                      </a:r>
                      <a:pPr indent="0" marL="0">
                        <a:buNone/>
                      </a:pPr>
                      <a:r>
                        <a:rPr lang="en-US" sz="1100" b="1" dirty="0">
                          <a:solidFill>
                            <a:srgbClr val="1B2A3A"/>
                          </a:solidFill>
                          <a:latin typeface="Segoe UI" pitchFamily="34" charset="0"/>
                          <a:ea typeface="Segoe UI" pitchFamily="34" charset="-122"/>
                          <a:cs typeface="Segoe UI" pitchFamily="34" charset="-120"/>
                        </a:rPr>
                        <a:t>titulaire</a:t>
                      </a:r>
                      <a:pPr indent="0" marL="0">
                        <a:buNone/>
                      </a:pPr>
                      <a:r>
                        <a:rPr lang="en-US" sz="1100" dirty="0">
                          <a:solidFill>
                            <a:srgbClr val="1B2A3A"/>
                          </a:solidFill>
                          <a:latin typeface="Segoe UI" pitchFamily="34" charset="0"/>
                          <a:ea typeface="Segoe UI" pitchFamily="34" charset="-122"/>
                          <a:cs typeface="Segoe UI" pitchFamily="34" charset="-120"/>
                        </a:rPr>
                        <a:t>. Une procédure close reste listée jusqu’au terme de la conservation des offres.</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Ce que le public voit</a:t>
                      </a:r>
                      <a:endParaRPr lang="en-US" sz="110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00" dirty="0">
                          <a:solidFill>
                            <a:srgbClr val="1B2A3A"/>
                          </a:solidFill>
                          <a:latin typeface="Segoe UI" pitchFamily="34" charset="0"/>
                          <a:ea typeface="Segoe UI" pitchFamily="34" charset="-122"/>
                          <a:cs typeface="Segoe UI" pitchFamily="34" charset="-120"/>
                        </a:rPr>
                        <a:t>Le public ne voit en ligne qu’une procédure électronique lancée, en signature simple et avant sa date limite. Aucun </a:t>
                      </a:r>
                      <a:pPr indent="0" marL="0">
                        <a:buNone/>
                      </a:pPr>
                      <a:r>
                        <a:rPr lang="en-US" sz="1100" b="1" dirty="0">
                          <a:solidFill>
                            <a:srgbClr val="1B2A3A"/>
                          </a:solidFill>
                          <a:latin typeface="Segoe UI" pitchFamily="34" charset="0"/>
                          <a:ea typeface="Segoe UI" pitchFamily="34" charset="-122"/>
                          <a:cs typeface="Segoe UI" pitchFamily="34" charset="-120"/>
                        </a:rPr>
                        <a:t>paramètre interne</a:t>
                      </a:r>
                      <a:pPr indent="0" marL="0">
                        <a:buNone/>
                      </a:pPr>
                      <a:r>
                        <a:rPr lang="en-US" sz="1100" dirty="0">
                          <a:solidFill>
                            <a:srgbClr val="1B2A3A"/>
                          </a:solidFill>
                          <a:latin typeface="Segoe UI" pitchFamily="34" charset="0"/>
                          <a:ea typeface="Segoe UI" pitchFamily="34" charset="-122"/>
                          <a:cs typeface="Segoe UI" pitchFamily="34" charset="-120"/>
                        </a:rPr>
                        <a:t> n’est publié ; les documents ne se retirent qu’avec un compte candidat.</a:t>
                      </a:r>
                      <a:endParaRPr lang="en-US" sz="110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5905500"/>
            <a:ext cx="10540736" cy="508000"/>
          </a:xfrm>
          <a:prstGeom prst="rect">
            <a:avLst/>
          </a:prstGeom>
          <a:noFill/>
          <a:ln/>
        </p:spPr>
        <p:txBody>
          <a:bodyPr wrap="square" rtlCol="0" anchor="b">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La liste des procédures en ligne, pour le responsable et l’Administrateur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459</a:t>
            </a:r>
            <a:endParaRPr lang="en-US" sz="1100" dirty="0"/>
          </a:p>
        </p:txBody>
      </p:sp>
    </p:spTree>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name="Slide 460">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B</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Annexe B — La référence des données</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Partie par partie, les objets que l’application crée ou modifie, et toutes leurs informations : nom, type et valeurs, caractère obligatoire, description tirée du serveur.</a:t>
            </a:r>
            <a:endParaRPr lang="en-US" sz="17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460</a:t>
            </a:r>
            <a:endParaRPr lang="en-US" sz="1100" dirty="0"/>
          </a:p>
        </p:txBody>
      </p:sp>
    </p:spTree>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name="Slide 4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6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de connexion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t_compte_auth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Compte d'authentification. Table dédiée à la connexion : elle unifie les deux populations qui s'authentifient — contrôleurs (tr_controleur) et PRMP (t_prmp) — sans ajouter de mot de passe aux tables métier. refActeur pointe vers IM_CONTROLEUR ou ID_PRMP selon typeActeur.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d’inscription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Déclaration d'entité contractante faite par une PRMP à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pièces de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Pièce jointe à une inscription PRMP : arrêté de nomination, CIN, photo.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t_notification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passage d’un dossier par une étape (« À faire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t_tache_dossier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Actualité affichée à l'ouverture de session. Mini-page façon lettre d'information : contenu markdown brut (aucun HTML accepté — la surface XSS soldée par l'audit du 16-17/08 ne se rouvre pas), images en table dédiée (t_actualite_image), ciblage par profils (t_actualite_profil).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profils visés par 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Ciblage d'une actualité par profil. Une actualité vise un ou plusieurs profils ; aucun profil ⇒ visible de personne (le ciblage est un acte délibéré, jamais « tous » implicitement). Le profil est stocké par son nom d'enum cnm.prs.enums.ProfilUtilisateur (colonne PROFIL) 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L’image d’une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t_actualite_image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Image d'une actualité., même approche que t_piece_demande_retrait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461</a:t>
            </a:r>
            <a:endParaRPr lang="en-US" sz="1100" dirty="0"/>
          </a:p>
        </p:txBody>
      </p:sp>
    </p:spTree>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name="Slide 4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46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de connexion  ·  t_compte_auth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MOT_DE_PASSE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 de passe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Hash BCrypt du mot de passe (jamais le mot de passe en clair).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d'acteur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contrôleur (IM_CONTROLEUR) ou identifiant PRMP (ID_PRMP).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ACTIF,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vie de l'inscription.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lorsque l'inscription est refusée par l'Administrateur.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du dépôt de la demande, à ne pas confondre avec dateDecision, qui date la validation ou le refus et n'existe donc jamais pour une inscription en attente.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de la décision (validation ou refus).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IM_VALIDATEUR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validateur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de l'Administrateur ayant pris la décision.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d’inscription d’une PRMP  ·  t_prmp_entite_demande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 propriétaire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existante déclarée (null si entité proposée non listée).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(entité non listée) :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adresse.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localité.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catégorie.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VALIDEE, REFUSEE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si la déclaration est refusée (ex. entité déjà rattachée à une autre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DATE_DECLARATION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déclaration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462</a:t>
            </a:r>
            <a:endParaRPr lang="en-US" sz="1100" dirty="0"/>
          </a:p>
        </p:txBody>
      </p:sp>
    </p:spTree>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name="Slide 4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46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pièces de l’inscription  ·  t_piece_jointe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l'inscription/compte propriétaire de la pièce.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(cf. cnm.prs.enums.TypePieceJointe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du fichier (ex. application/pdf, image/jpeg).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notification  ·  t_notification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TYPE_NOTIF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notif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Destinataire unifié : matricule contrôleur ou identifiant PRMP (selon DESTINATAIRE_TYPE).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du destinataire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l'objet métier concerné (selon TYPE_OBJET).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463</a:t>
            </a:r>
            <a:endParaRPr lang="en-US" sz="1100" dirty="0"/>
          </a:p>
        </p:txBody>
      </p:sp>
    </p:spTree>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name="Slide 4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46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DOSSIER, PV, MESSAGE, PROCEDURE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d'objet concerné : DOSSIER / PV / MESSAGE.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Copie adressée à l'intérimaire actif du titulaire nommé ici ; la ligne du titulaire, elle, ne porte rien.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passage d’un dossier par une étape (« À faire »)  ·  t_tache_dossier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(LONGUEUR_ETAPE)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Longueurs des colonnes texte, declarees UNE fois : l'annotation @Column et la validation prealable de ChronometrageService lisent la meme constante, pour que la garde ne puisse pas diverger du schema.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OCCURRENCE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Occurrence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l'occurrence pour ce dossier et cette etape (1 = premier passage).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controleur, ou identifiant de la PRMP (resoumission, rectification), a qui l'etape revenait ; nul si aucun acteur n'est identifiable.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(LONGUEUR_PROFIL)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sous lequel l'etape a ete tenue (delegation ou interim compris).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Instant ou l'etape s'est TERMINEE — le geste metier de cloture. Jamais nul : une ligne n'existe que parce qu'un passage s'est acheve (2026-09-12).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Passage tenu PAR INTERIM de ce titulaire : imActeur reste l'interimaire (celui qui a agi), profil le profil du titulaire (celui sous lequel l'etape a ete 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L’actualité  ·  t_actualite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CONTENU_MD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md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Markdown brut, stocké tel quel (jamais de HTML).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INACTIF,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Cf. cnm.prs.enums.StatutActualite : ACTIF / INACTIF /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visible dès activation.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sans terme. Atteinte (jour J compris) → archivage automatique.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Auteur (Administrateur),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464</a:t>
            </a:r>
            <a:endParaRPr lang="en-US" sz="1100" dirty="0"/>
          </a:p>
        </p:txBody>
      </p:sp>
    </p:spTree>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name="Slide 4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01 ENTRER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46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Archiveur (Administrateur) — null si archivage automatique à l'expiration.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profils visés par une actualité  ·  t_actualite_profil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PRMP, PRESIDENT, CHEF_COMMISSION, SECRETAIRE, MEMBRE, VERIFICATEUR, ASSISTANT_CONTROLEUR, CHARGE_PUBLICATION, ADMINISTRATEUR,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d'enum cnm.prs.enums.ProfilUtilisateur (ex. MEMBRE,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L’image d’une actualité  ·  t_actualite_image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ID_IMAGE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image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(image/jpeg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Taille stockée (octets), après redimensionnement éventuel.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SHA_256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stocké.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Position dans la mini-page (1, 2,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465</a:t>
            </a:r>
            <a:endParaRPr lang="en-US" sz="1100" dirty="0"/>
          </a:p>
        </p:txBody>
      </p:sp>
    </p:spTree>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name="Slide 4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6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(plan, DMC ou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plan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dates prévues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calendrier prévisionnel (CAPM)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jalons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t_echeance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service bénéficiaire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t_service_beneficiaire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jointe au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version d’un plan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En-tête d'une version archivée du contenu d'un dossier de planification, figée au moment où une rectification la remplace.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changement d’une ligne entre deux versions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t_changement_ligne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Trace figée du diff entre une version de PPM et son prédécesseur, au niveau de 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466</a:t>
            </a:r>
            <a:endParaRPr lang="en-US" sz="1100" dirty="0"/>
          </a:p>
        </p:txBody>
      </p:sp>
    </p:spTree>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name="Slide 4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6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signalement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visée par un signalement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ligne visée par un signalement inter-lignes (t_anomalie_ligne).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pièce par demande.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Règle ajoutée (spec « Mandats PRMP ») — journal des actions d'un dossier, horodaté par auteur.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467</a:t>
            </a:r>
            <a:endParaRPr lang="en-US" sz="1100" dirty="0"/>
          </a:p>
        </p:txBody>
      </p:sp>
    </p:spTree>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name="Slide 4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6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(plan, DMC ou marché)  ·  t_dossier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dossier (tr_type_dossier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du dossier (FK tr_sous_type_dossier), la famille (idTypeDossier) s'en déduisant.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par …/soumettre ; laisser vide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Renseignée à la soumission si vide.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soumission du dossier par la PRMP — « la date de soumission EST la date de dépôt du dossier » (pilote, 2026-09-06). Posée à la soumission (POST /api/dossiers/{id/soumettre}) depuis le 2026-09-06 (V20) ; elle l'était à la création du brouillon, ce qui en faisait une date 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REPUTE_APPROUVE_LE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Repute approuve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 plan de passation soumis depuis dix jours ouvrables sans PV signé est réputé approuvé (art. 26-IV) : la date du constat, posée par le planificateur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dossier (§1). Renseignée à la soumission ; rend le dossier visible/réceptionnable par les contrôleurs de cette localité même sans PPM ni réception.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propriétaire du dossier (§3.1). Posée à la saisie ; le périmètre de propriété.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ID_MANDAT_ATTRIB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attrib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(spec « Mandats PRMP ») — mandat d'attribution figé : le mandat (t_mandat) sous lequel le dossier a été créé.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créé le dossier (PRMP ou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SOUMIS_PAR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Soumis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soumis le dossier (PRMP uniquement).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contractante concernée par le dossier (§1) — choisie à la saisie parmi les entités de la PRMP ; c'est elle qui détermine la localité (idLocalite en est dérivé).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DMC dont la fiche marché a produit ce dossier (POST /api/fiches-marche/{idDmc/dossier}), ou auquel il a été rattaché en secours (PUT /api/dossiers/{id/fiche-marche}).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VERSION_FICHE_SOUMISE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soumise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marché que ce dossier a soumise : posée à la soumission, avancée à chaque resoumission / transmission de compléments.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468</a:t>
            </a:r>
            <a:endParaRPr lang="en-US" sz="1100" dirty="0"/>
          </a:p>
        </p:txBody>
      </p:sp>
    </p:spTree>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name="Slide 4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47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VERSION_FICHE_EXAMINEE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examinee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que la Commission a examinée : celle de la soumission, puis l'ancienne version soumise quand les compléments sont transmis (le réexamen compare à 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plan de passation  ·  t_ppm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DATE_PPM_INIT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PPM init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Auparavant déclarées mais jamais écrites). datePpmInit = date du PPM INITIAL, propagée inchangée de version en version (repère stable de la chaîne) ; numMaj = numéro de la mise à jour (null/0 = initial, puis 1,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DATE_RECEPTION_CNM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cnm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 Justification : » du bas du formulaire officiel, globale à la fiche et non rattachée à une ligne (arbitrage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la mise à jour, exigé à la création d'une nouvelle version. null sur un PPM initial.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469</a:t>
            </a:r>
            <a:endParaRPr lang="en-US" sz="1100" dirty="0"/>
          </a:p>
        </p:txBody>
      </p:sp>
    </p:spTree>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name="Slide 4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47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de marché  ·  t_marche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de la ligne à travers les versions. idDetail n'identifie la ligne que DANS un dossier : une copie en v2 reçoit une nouvelle PK. idLigneOrigine vaut l'idDetail de la PREMIÈRE apparition de la ligne et est hérité tel quel à chaque nouvelle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Suppression logique d'une ligne dans une version. La ligne est bien recopiée dans la nouvelle version, marquée supprimée : elle reste visible, restaurable, et n'est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A_COMMANDE, CONTRAT_CADRE, QUANTITE_FIXE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Forme du marché (à commande / contrat cadre / à quantité 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mode dérogatoire de ce marché (liste ① de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délai aménagé (liste ②). Distincte de justifModeDerogatoire : un marché peut cumuler les deux, et les deux questions sont distinctes (pourquoi ce mode ? pourquoi ce délai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 de prestations de l'arrêté n° 13 156/2019-MEF, qui choisit la ligne du barème de seuils.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470</a:t>
            </a:r>
            <a:endParaRPr lang="en-US" sz="1100" dirty="0"/>
          </a:p>
        </p:txBody>
      </p:sp>
    </p:spTree>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name="Slide 4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4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dates prévues d’une ligne  ·  t_marche_prevision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ID_PREVISION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prévision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Marché concerné (FK vers t_marche.ID_DETAIL).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Processus de marché (FK vers t_capm.ID_CAPM).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début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fin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calendrier prévisionnel (CAPM)  ·  t_capm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d'affichage des processus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mixte (comme les points de contrôle par sous-type) : null = processus commun (modèle par défaut) ; sinon = processus SPÉCIFIQUE au mode de passation (t_mode_passation.ID_MODE, ex. modèle détaillé « Appel d'offres ouvert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Phase du modèle (ex. « 2 - LANCEMENT ») — regroupe les tâches à l'affichage ; null = sans phase.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jalons d’une ligne  ·  t_echeance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DATE_PREVUE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ALERTE_ENVOYEE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envoyée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lot  ·  t_lot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471</a:t>
            </a:r>
            <a:endParaRPr lang="en-US" sz="1100" dirty="0"/>
          </a:p>
        </p:txBody>
      </p:sp>
    </p:spTree>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name="Slide 4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4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tranche  ·  t_tranche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service bénéficiaire  ·  t_service_beneficiaire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Compte budgétaire du bénéficiaire (FK tr_compte) — compte et montant sont par bénéficiaire.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jointe au dossier  ·  t_piece_jointe_dossier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472</a:t>
            </a:r>
            <a:endParaRPr lang="en-US" sz="1100" dirty="0"/>
          </a:p>
        </p:txBody>
      </p:sp>
    </p:spTree>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name="Slide 4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47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APRES_LETTRE_RENVOI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Apres lettre renvoi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Contenu binaire du fichier (bytea). */ @Column(name = "CONTENU") @JsonIgnore private byte[] contenu; @Column(name = "FORMAT", length = 10) private String format; @Column(name = "TAILLE") private Long taille; @Column(name = "DATE_UPLOAD") private LocalDateTime dateUpload; /** Vrai si la pièce 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Lettre de renvoi concernée (FK t_lettre_renvoi), si apresLettreRenvoi.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VERSION_CORRIGEE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corrigee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CORRIGÉE d'une pièce, déposée pendant la RECTIFICATION (dossier EN_ATTENTE_DECISION_PRMP, observations du PV) : distinguée de l'originale dans toutes les listes (l'originale est conservée). null = pièce ordinaire (lignes antérieures).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document de fiche marché dont cette pièce est la copie jointe au dossier ; null pour une pièce téléversée.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version d’un plan  ·  t_version_dossier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d'ordre d'archivage dans le dossier (1, 2, …) — unique par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RECTIFICATION, MISE_A_JOUR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cnm.prs.enums.OrigineVersion.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Itération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opératrice au moment du gel (celle du jeton, ou la PRMP de tutelle d'un agent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Prénoms Nom » de la PRMP opératrice, figé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NB_LIGNES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lignes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473</a:t>
            </a:r>
            <a:endParaRPr lang="en-US" sz="1100" dirty="0"/>
          </a:p>
        </p:txBody>
      </p:sp>
    </p:spTree>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name="Slide 4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47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changement d’une ligne entre deux versions  ·  t_changement_ligne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Dossier de la version qui PORTE le changement (le successeur), jamais le prédécesseur.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de la ligne à travers les versions (cf. Marche.idLigneOrigine).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Désignation de la ligne au moment du figeage — lisible même si la ligne évolue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Champ modifié (ex. montEstim) — null hors TypeChangementLigneMODIFIEE.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VALEUR_APRES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signalement du pré-contrôle  ·  t_anomalie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 « PRIORITAIRE »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DATE_DETECTION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detection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Sans quoi elle n'aurait jamais pu être enregistrée comme ayant écarté un signalement.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CONTROLEUR ou PRMP, comme la claim acteurType du jeton. Un agent d'UGPM est enregistré comme sa PRMP de tutelle : c'est son ID_PRMP que porte le jeton (claim ref), et le périmètre d'une UGPM est celui de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474</a:t>
            </a:r>
            <a:endParaRPr lang="en-US" sz="1100" dirty="0"/>
          </a:p>
        </p:txBody>
      </p:sp>
    </p:spTree>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name="Slide 4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47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l'écartement — obligatoire quand un signalement est écarté (3.f).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la grille de contrôle du PPM (tr_points_ctrl) que le signalement éclaire (« Mode de passation conforme », « Conformité de la désignation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CLE_SIGNALEMENT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signalement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du signalement dans son PPM : code de règle + objet visé, normalisé.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SUGGESTION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Suggestion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Correction proposée, rédigée comme l'annexe d'un PV (« Au lieu de : … Lire : … ») pour que le contrôleur puisse la reprendre, la modifier ou l'ignorer.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à laquelle le signalement a cessé de ressortir, le plan ayant changé.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 qui a changé dans le plan et a fait disparaître le signalement. C'est ce que le contrôleur lit quand une PRMP a fait taire l'alarme en modifiant ses lignes : rien ne s'efface.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dès la soumission du plan : un écartement figé ne se défait plus (3.f, condition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visée par un signalement  ·  t_anomalie_ligne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en vigueur de la ligne au moment de la détection (NOUV_MONT_ESTIM, sinon MONT_ESTIM).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retrait  ·  t_demande_retrait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serveur (IDENTITY)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Dérivé du JWT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 serveur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Forcé serveur (EN_ATTENTE)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475</a:t>
            </a:r>
            <a:endParaRPr lang="en-US" sz="1100" dirty="0"/>
          </a:p>
        </p:txBody>
      </p:sp>
    </p:spTree>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name="Slide 4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02 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47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la demande de retrait  ·  t_piece_demande_retrait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Demande propriétaire (une seule pièce par demande).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tel que déposé par la PRMP (affiché au décideur).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(application/pdf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du dossier  ·  t_action_dossier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Nature de l'action (ex. CREATION, SOUMISSION, RESOUMISSION).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en fonction au moment de l'action — l'opérateur, pas l'attributaire.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l'opérateur figé au moment de l'action.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Mandat sous lequel l'action a été faite (null si mandat implicite, non déclaré).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Détail suffixé « — par intérim de NOM » quand l'action a été posée par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Geste posé PAR INTÉRIM de ce titulaire ; l'auteur reste celui qui a agi.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476</a:t>
            </a:r>
            <a:endParaRPr lang="en-US" sz="1100" dirty="0"/>
          </a:p>
        </p:txBody>
      </p:sp>
    </p:spTree>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name="Slide 4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7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résultat d’un contrôle (A automatique, B du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t_controle_resultat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résultat de contrôle d'un dossier à une soumission : automatique (auteur = SERVEUR, règle codée, valeurs constatées) ou posé par un contrôleur (matricule, point de grille ou règle, observation obligatoire si non conforme).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L’écran figé à la soumission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t_dossier_instantane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instantané figé à la soumission d'un dossier : le JSON du DTO de lecture d'un écran (SEANCE, EVALUATION, AMI, ATTRIBUTION, CAO, AVIS, PLAN, ACTE, DSS) tel qu'il était servi à cet instant, son empreinte SHA-256, le numéro de la soumission (1 à la…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L’alerte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t_alerte_examen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L'alerte de dépassement d'un passage en examen : une seule par passage, repéré par le dossier et l'entrée dans l'étape.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d’un sous-type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t_piece_sous_type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type de pièce exigé pour un sous-type de dossier : son obligation, son ordre, et sa condition sur la catégorie de la fiche (FOURNITURES_SERVICES, TRAVAUX, PRESTATIONS_INTELLECTUELLES) et sur la forme (CONTRAT_CADRE, ou AUTRE : toute autre forme).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motif-type de la conclusion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tr_motif_type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motif-type de la conclusion : motif de renvoi (lettre de demande de compléments) ou d'avis défavorable, commun à une famille (idSousType nul) ou propre à un sous-type.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d’examen d’un sous-type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tr_delai_sous_type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délai d'une étape surchargé pour un sous-type de dossier (tr_delai_sous_type) ; sans ligne, le sous-type prend le délai standard de l'étape.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recevabilité d’une pièce au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t_verification_piece_depot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Vérification PIÈCE PAR PIÈCE des pièces jointes par le SECRÉTAIRE avant enregistrement de la réception (contrôle de complétude).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réception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t_reception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dispatch</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t_dispatch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copie d’un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t_copie_dossier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réponse à un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t_examen_detail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477</a:t>
            </a:r>
            <a:endParaRPr lang="en-US" sz="1100" dirty="0"/>
          </a:p>
        </p:txBody>
      </p:sp>
    </p:spTree>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name="Slide 4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7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 d’une pièce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Entité JPA mappée sur t_examen_piece (table additive ddl-auto) : résultat d'examen d'une pièce jointe du dossier, une par une (miroir de ExamenDetail pour les lignes de marché). conforme = RAS ; sinon observation porte le constat.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procès-verbal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navette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t_pv_navette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t_observation_pv</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PÉRIMÈTRE FIGÉ des observations transmises à la PRMP : snapshot des observations de l'EXAMEN telles qu'arrêtées dans le PV (lignes « Au lieu de / Lire » des points non conformes + observations des pièces non conformes), généré à la signature du PV FAVR.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t_observation_controle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suivi d’une observation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t_suivi_observation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HISTORIQUE append-only des décisions du vérificateur sur une observation du périmètre figé ObservationPv : une ligne par décision et par itération (LEVÉE = satisfaite, définitive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vérification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lecture d’une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t_lettre_renvoi_lue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transmission à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t_transmission_sigmp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Transmission du sens de la décision de la Commission vers SIGMP (application tierce, interop PRS 2.0 ↔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suspension (dossier chez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t_suspension_dossier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ligne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Instantané pré-correction d'une ligne de marché, figé au premier PUT /api/saisies/ppm/{id} d'un cycle de rectification (dossier EN_ATTENTE_DECISION_PRMP).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478</a:t>
            </a:r>
            <a:endParaRPr lang="en-US" sz="1100" dirty="0"/>
          </a:p>
        </p:txBody>
      </p:sp>
    </p:spTree>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name="Slide 4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8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lot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lot d'une ligne figée (SnapshotRectifLigne), copié de Lot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prévision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date prévisionnelle (processus idCapm) d'une ligne figée (SnapshotRectifLigne), copiée de MarchePrevision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bénéficiaire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service bénéficiaire d'une ligne figée (SnapshotRectifLigne), copié de ServiceBeneficiaire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479</a:t>
            </a:r>
            <a:endParaRPr lang="en-US" sz="1100" dirty="0"/>
          </a:p>
        </p:txBody>
      </p:sp>
    </p:spTree>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name="Slide 4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(1/12)</a:t>
            </a:r>
            <a:endParaRPr lang="en-US" sz="2600" dirty="0"/>
          </a:p>
        </p:txBody>
      </p:sp>
      <p:graphicFrame>
        <p:nvGraphicFramePr>
          <p:cNvPr id="48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résultat d’un contrôle (A automatique, B du contrôleur)  ·  t_controle_resultat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L'auteur d'un contrôle automatique. */ public static final String SERVEUR = "SERVEUR"; @Id @GeneratedValue(strategy = GenerationType.IDENTITY) @Column(name = "ID_CONTROLE") private Long idControle; @Column(name = "ID_DOSSIER", nullable = false) private Integer idDossier;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point de grille d'un contrôle B, ou null.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code de la règle (DOCUMENTS_EVALUATION_SIGNES…), ou POINT_ pour un point de grille.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valeurs constatées, en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RESULTAT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Résultat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BLOQUANT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Bloquant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SERVEUR, ou le matricule du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L’écran figé à la soumission  ·  t_dossier_instantane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ID_INSTANTANE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instantane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ECRAN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Ecran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JSON du DTO de lecture, tel que servi à la 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L’alerte d’examen  ·  t_alerte_examen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480</a:t>
            </a:r>
            <a:endParaRPr lang="en-US" sz="1100" dirty="0"/>
          </a:p>
        </p:txBody>
      </p:sp>
    </p:spTree>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name="Slide 4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(2/12)</a:t>
            </a:r>
            <a:endParaRPr lang="en-US" sz="2600" dirty="0"/>
          </a:p>
        </p:txBody>
      </p:sp>
      <p:graphicFrame>
        <p:nvGraphicFramePr>
          <p:cNvPr id="48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ENTREE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Entrée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ECOULE_HEURES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Ecoule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d’un sous-type  ·  t_piece_sous_type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motif-type de la conclusion  ·  tr_motif_type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obligatoire.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 commun à la famille.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RENVOI, AVIS_DEFAVORABLE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RENVOI ou AVIS_DEFAVORABLE.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200 : le nom du motif dans la liste.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Condition : catégorie de la fiche (nul : toutes).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Condition : CONTRAT_CADRE, AUTRE (nul : toutes formes).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Absent à l'écriture : actif à la création, inchangé à la modification. Désactivé : plus servi à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d’examen d’un sous-type  ·  tr_delai_sous_type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481</a:t>
            </a:r>
            <a:endParaRPr lang="en-US" sz="1100" dirty="0"/>
          </a:p>
        </p:txBody>
      </p:sp>
    </p:spTree>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name="Slide 4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(3/12)</a:t>
            </a:r>
            <a:endParaRPr lang="en-US" sz="2600" dirty="0"/>
          </a:p>
        </p:txBody>
      </p:sp>
      <p:graphicFrame>
        <p:nvGraphicFramePr>
          <p:cNvPr id="48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idSousType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recevabilité d’une pièce au dépôt  ·  t_verification_piece_depot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verif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attendu (référentiel t_type_piece_jointe).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déposée vérifiée (t_piece_jointe_dossier) — null si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CONFORME / NON_CONFORME /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libre (motif du rejet / nature du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IM_SECRETAIRE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secrétaire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Secrétaire auteur de la décision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réception  ·  t_reception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allouée par le serveur au POST (id client ignoré, non envoyé) ; présente en réponse, utilisée par le dispatch.</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IM_CTRL_RECEPT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réception par le secrétariat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COMPLET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le dossier passe en PRET_DISPATCH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Référence officielle de la réception — snapshot immuable de la forme /// figé au POST.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482</a:t>
            </a:r>
            <a:endParaRPr lang="en-US" sz="1100" dirty="0"/>
          </a:p>
        </p:txBody>
      </p:sp>
    </p:spTree>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name="Slide 4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(4/12)</a:t>
            </a:r>
            <a:endParaRPr lang="en-US" sz="2600" dirty="0"/>
          </a:p>
        </p:txBody>
      </p:sp>
      <p:graphicFrame>
        <p:nvGraphicFramePr>
          <p:cNvPr id="48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dispatch  ·  t_dispatch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du dispatch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DATE_CTRL_ASSIGNE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 assigne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INSTRUCTIONS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Instructions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Président → false ; CC dans sa localité → false ; CC hors localité → true (sinon 409). Forcé à false sous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Non nul quand le dispatch (ou la réattribution) a été posé par un intérimaire désigné (t_interim). imCtrlDispatch porte alors le titulaire, pas l'intérimaire (ADR-0008) : c'est le dispatcheur que l'aval reconnaît — visa, retrait, discriminant de la navette à deux niveaux.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copie d’un dossier  ·  t_copie_dossier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IM_DESTINATAIRE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destinataire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ACCUSE_RECEPTION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Accusé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accusé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  t_examen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483</a:t>
            </a:r>
            <a:endParaRPr lang="en-US" sz="1100" dirty="0"/>
          </a:p>
        </p:txBody>
      </p:sp>
    </p:spTree>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name="Slide 4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(5/12)</a:t>
            </a:r>
            <a:endParaRPr lang="en-US" sz="2600" dirty="0"/>
          </a:p>
        </p:txBody>
      </p:sp>
      <p:graphicFrame>
        <p:nvGraphicFramePr>
          <p:cNvPr id="48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réponse à un point de contrôle  ·  t_examen_detail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examinée (FK t_marche, colonne additive ddl-auto, nullable) : résultat porté par ligne pour un point de portée LIGNE (un ExamenDetail par marché × point) ; null pour un point de portée DOSSIER (inter-lignes) et pour les examens historiques (résultat au niveau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ID_PT_CONTROLE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OBS_SI_NON_CONFORME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si non 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d’une pièce  ·  t_examen_piece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jointe examinée (t_piece_jointe_dossier.ID_PIECE).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RAS = true ; sinon observation porte le constat.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si non conforme (texte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procès-verbal d’examen  ·  t_pv_examen  ·  27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l'avis n'est posé qu'à la clôture de navette (accepter).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484</a:t>
            </a:r>
            <a:endParaRPr lang="en-US" sz="1100" dirty="0"/>
          </a:p>
        </p:txBody>
      </p:sp>
    </p:spTree>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name="Slide 4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(6/12)</a:t>
            </a:r>
            <a:endParaRPr lang="en-US" sz="2600" dirty="0"/>
          </a:p>
        </p:txBody>
      </p:sp>
      <p:graphicFrame>
        <p:nvGraphicFramePr>
          <p:cNvPr id="48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SYNTHESE_OBSERVATIONS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Synthese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NB_NAVETTES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navettes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DATE_SOUMISSION_INITIALE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 initiale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DATE_ACCEPTATION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acceptation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dérivée du dossier (refeDossier avec /PV avant l'année) — auto-générée à la création,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ID_SECRETAIRE_SEANCE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secrétaire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désigné Secrétaire de séance à la soumission de l'examen (FK tr_controleur).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IM_MEMBRE_COSIGNATAIRE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membre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 désigné par le Président ou le Chef de commission au moment de signer, seul habilité à poser la part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VISE_PAR_INTERIM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Vise par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le visa a été posé par un P/CC autre que le dispatcheur, justifié par la note ci-dessous.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d'intérim (PDF) justifiant l'absence du dispatcheur — stockée en base, comme les pièces jointes et non comme le PDF du PV : le visa étant atomique, un rollback ne doit pas laisser de fichier orphelin sur le FSX. / @Column(name = "NOTE_INTERIM") private byte[] noteInterim;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titulaire suppléé au visa (dispatcheur, ou Président sur deux niveaux) ; nul hors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Étage courant du projet dans la navette Président ↔ CC ↔ Membre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IM_CC_COSIGNATAIRE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cc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Chef de commission désigné par le Président au visa, appelé à poser SA part de signature.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Chemin du PDF du Projet de PV sur le FSX (renseigné si le PV est éligible à la génération).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485</a:t>
            </a:r>
            <a:endParaRPr lang="en-US" sz="1100" dirty="0"/>
          </a:p>
        </p:txBody>
      </p:sp>
    </p:spTree>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name="Slide 4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(7/12)</a:t>
            </a:r>
            <a:endParaRPr lang="en-US" sz="2600" dirty="0"/>
          </a:p>
        </p:txBody>
      </p:sp>
      <p:graphicFrame>
        <p:nvGraphicFramePr>
          <p:cNvPr id="48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du PV par l'Assistant contrôleur (l'archivage clôt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navette du PV  ·  t_pv_navette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du PV  ·  t_observation_pv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PV signé (FAVR) dont les observations constituent le périmètre.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Origine : POINT (grille de contrôle) ou PIECE (pièce 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d'observation d'origine (t_observation_controle.ID_OBSERVATION) — POINT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Résultat de pièce d'origine (t_examen_piece.ID_EXAMEN_PIECE) — PIECE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d'examen visée (t_examen_detail.ID_DETAIL_EXAMEN), figée au snapshot pour toute observation POINT, avec ou sans ligne détaillée « Au lieu de / Lire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Cellule visée, recopiée de la ligne d'observation (t_observation_controle) au snapshot ; null pour une PIECE ou un point sans ligne détaillée.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recopiée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recopié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recopiée de la ligne d'observation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de la fiche visée (CODE ou CODEn),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486</a:t>
            </a:r>
            <a:endParaRPr lang="en-US" sz="1100" dirty="0"/>
          </a:p>
        </p:txBody>
      </p:sp>
    </p:spTree>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name="Slide 4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(8/12)</a:t>
            </a:r>
            <a:endParaRPr lang="en-US" sz="2600" dirty="0"/>
          </a:p>
        </p:txBody>
      </p:sp>
      <p:graphicFrame>
        <p:nvGraphicFramePr>
          <p:cNvPr id="48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figé à l'observation et recopié.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à l'observation et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recopiée ; null si inconnue.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FIGÉ de l'observation (contexte + demande), tel qu'arrêté au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de contrôle  ·  t_observation_controle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 IDENTITY).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contrôle concerné (FK vers t_examen_detail.ID_DETAIL_EXAMEN).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AU_LIEU_DE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 lieu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de saisie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 : NATURE, OBJET, MONT_ESTIM, NOUV_MONT_ESTIM, MODE, FINANCEMENT, LANCEMENT, OUVERTURE, ATTRIBUTION, SOA, COMPTE, MONT_BENEF, NOUV_MONT_BENEF, DEROGATOIRES_OBJET…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de la cellule du document visée par la ligne ; null = aucune cellule, comportement antérieur.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sans FK ; null sans champ.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colonnes par bénéficiaire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(t_dossier_mec.ID_DMC) : celle du dossier examiné, validée par ObservationFicheValidateur.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visée : B04-VO-01, ou B05-GS-032 pour le lot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au référentiel, figé quand l'observation est posée.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quand l'observation est posée (la fiche peut être révisée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 null si inconnue (avant V49).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suivi d’une observation  ·  t_suivi_observation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ID_SUIVI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suivi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487</a:t>
            </a:r>
            <a:endParaRPr lang="en-US" sz="1100" dirty="0"/>
          </a:p>
        </p:txBody>
      </p:sp>
    </p:spTree>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name="Slide 4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(9/12)</a:t>
            </a:r>
            <a:endParaRPr lang="en-US" sz="2600" dirty="0"/>
          </a:p>
        </p:txBody>
      </p:sp>
      <p:graphicFrame>
        <p:nvGraphicFramePr>
          <p:cNvPr id="48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ITERATION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Iteration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d'itération du cycle rectification / vérification (1, 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LEVEE ou MAINTENUE.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Précision du vérificateur sur ce qui manque (MAINTENUE seulement, facultative).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vérification  ·  t_verification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côté serveur (IDENTITY) ; non envoyé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OBS_LEVEES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levees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dossier CLOTURE + notification publication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motif de rectification saisi par la PRMP à la resoumission (visible côté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renvoi  ·  t_lettre_renvoi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Lecture seule (dérivé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serveur : ///LR/.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Corps libre de la lettre de renvoi (TEXT, nullable).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d'examen du dossier (reprise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 la lettre, posée serveur (jour de la soumission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BROUILLON / SOUMIS / SIGNE (forcé serveur).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488</a:t>
            </a:r>
            <a:endParaRPr lang="en-US" sz="1100" dirty="0"/>
          </a:p>
        </p:txBody>
      </p:sp>
    </p:spTree>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name="Slide 4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(10/12)</a:t>
            </a:r>
            <a:endParaRPr lang="en-US" sz="2600" dirty="0"/>
          </a:p>
        </p:txBody>
      </p:sp>
      <p:graphicFrame>
        <p:nvGraphicFramePr>
          <p:cNvPr id="49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IM du signataire (CC ou Président), posé à la signature depuis le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PDF de la lettre signée (bytea ; H2 : grand varbinary).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de la lettre par l'Assistant contrôleur (même circuit que les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lecture d’une lettre de renvoi  ·  t_lettre_renvoi_lue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Périmètre de tutelle de la trace (PRMP du dossier) — conservé, mais ne porte plus l'unicité.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LOGIN_AGENT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agent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Agent auteur de la lecture : login du compte (t_compte_auth.LOGIN, claim sub).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transmission à SIGMP  ·  t_transmission_sigmp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Sens transmis : APPROUVE (FAV, ou FAVR après levée) / NON_APPROUVE (DEF, NSP).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LEVEE_OBSERVATIONS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Levée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la transmission porte AUSSI la levée des observations (cas 2, fin de boucle FAVR).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auteur de la transmission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d'envoi vers SIGMP : ENREGISTREE (interop réelle à brancher plus tard).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suspension (dossier chez la PRMP)  ·  t_suspension_dossier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(LONGUEUR_STATUT)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de STATUT, lue aussi par la garde prealable du chronometrage. */ public static final int LONGUEUR_STATUT = 40; @Id @Column(name = "ID_SUSPENSION", nullable = false) private Integer idSuspension; @Column(name = "ID_DOSSIER", nullable = false) private Integer idDossier; /** Statut suspensif…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489</a:t>
            </a:r>
            <a:endParaRPr lang="en-US" sz="1100" dirty="0"/>
          </a:p>
        </p:txBody>
      </p:sp>
    </p:spTree>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name="Slide 4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(11/12)</a:t>
            </a:r>
            <a:endParaRPr lang="en-US" sz="2600" dirty="0"/>
          </a:p>
        </p:txBody>
      </p:sp>
      <p:graphicFrame>
        <p:nvGraphicFramePr>
          <p:cNvPr id="49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tant que la PRMP n'a pas rendu la main.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ligne avant rectification  ·  t_snapshot_rectif_ligne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archivée à laquelle la ligne appartient (t_version_dossier.ID_VERSION).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de la ligne de marché (t_marche.ID_DETAIL) — stable en rectification (structure figée).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l'énumération FormeMarche au moment du gel (null si non renseignée).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EMP_BENEFICIAIRES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beneficiaires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Empreintes normalisées des collections au moment du gel (mêmes formats que le diff des versions).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490</a:t>
            </a:r>
            <a:endParaRPr lang="en-US" sz="1100" dirty="0"/>
          </a:p>
        </p:txBody>
      </p:sp>
    </p:spTree>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name="Slide 4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03 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(12/12)</a:t>
            </a:r>
            <a:endParaRPr lang="en-US" sz="2600" dirty="0"/>
          </a:p>
        </p:txBody>
      </p:sp>
      <p:graphicFrame>
        <p:nvGraphicFramePr>
          <p:cNvPr id="49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lot avant rectification  ·  t_snapshot_rectif_lot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prévision avant rectification  ·  t_snapshot_rectif_prevision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ID_SNAPSHOT_PREV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prévu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bénéficiaire avant rectification  ·  t_snapshot_rectif_beneficiaire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491</a:t>
            </a:r>
            <a:endParaRPr lang="en-US" sz="1100" dirty="0"/>
          </a:p>
        </p:txBody>
      </p:sp>
    </p:spTree>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name="Slide 4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9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question d’un candidat et sa réponse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t_question_candidat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question d'un candidat ayant retiré le DAO d'une procédure en ligne (art. 35-II), recevable jusqu'à dix jours avant la date limite de remise des offres, et la réponse de la PRMP, diffusée à sa publication à tous les candidats ayant retiré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représentant présent à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t_cao_representant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représentant du président de la CAO, désigné par lui pour un contexte (SEANCE, SEANCE_FINANCIERE, RAPPORT, AMI) : sa signature vaut celle du président pour le quorum.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de mise en concurrence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t_dossier_mec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Dossier de mise en concurrence (DMC) : un par ligne de marché (relation 1-1 sur ID_DETAIL).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fiche marché (DAO)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version de la fiche marché d'un DMC de type DAO (t_fiche_marche, V35)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valeur d’une information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t_fiche_marche_valeur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ligne par champ de source SAISIE renseigné.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bloc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tr_bloc_fiche_marche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B01 identification et données du PPM … B10 modifications, résiliation, litiges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rubrique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tr_rubrique_fiche_marche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 une rubrique = une carte à l'écran ». nbAttendu est le nombre d'informations que le fichier de correspondance annonce pour la rubrique : tant que ses champs ne sont pas chargés, le front affiche « n informations attendues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L’information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tr_champ_fiche_marche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information du fichier de correspondance (tr_champ_fiche_marche, V35) : le front dessine l'écran depuis ce référentiel, comme la grille de contrôle depuis PointsCtrl.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L’article du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t_fiche_article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article du besoin d'une version de fiche DAO (t_fiche_article), dans un lot du plan (rang ; null pour une ligne non allotie).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caractéristique exigée d’un article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t_fiche_caracteristique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caractéristique exigée d'un article du besoin (t_fiche_caracteristique).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matériel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t_fiche_materiel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engin exigé d'une version de fiche DAO de travaux (t_fiche_materiel) : désignation, caractéristique (« ≥ 350 l »), nombre, minimum en propre (null : propriété ou location indifférente), et parLot (le nombre vaut pour chaque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personnel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t_fiche_personnel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poste clé exigé d'une version de fiche DAO de travaux (t_fiche_personnel) : poste, nombre, diplôme, expérience (années et domaine), justificatifs, et parLot (chaque lot mobilise son équipe).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492</a:t>
            </a:r>
            <a:endParaRPr lang="en-US" sz="1100" dirty="0"/>
          </a:p>
        </p:txBody>
      </p:sp>
    </p:spTree>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name="Slide 4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9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de 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pièce exigée d'une version de fiche DAO de travaux (t_fiche_piece) : rubrique (ADMINISTRATIVE, 2° de la clause 6.2 du DPAO-T, ou OFFRE, 1°), numéro donné par le DAO, libellé, forme, ancienneté maximale en mois, une par lot, modèle.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spécifications techniques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t_specifications_fiche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Les spécifications techniques d'une version de fiche DAO : un .docx joint par la PRMP ou l'UGPM, inséré au rang 5 bis du DAO complet.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produit par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document généré à la validation d'une version de la fiche (t_document_fiche_marche, V38)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commission d'appel d'offres d'un DAO : la décision de nomination de la PRMP (référence, date, PDF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membre de 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t_cao_membre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membre de la CAO : qualité MEMBRE (siège, détient une part, compte MEMBRE_CAO) ou EXPERT_ADJOINT (évalue, pas de part, pas de compte) ; un MEMBRE a une origine (ENTITE_CONTRACTANTE avec son service, EXPERT_OBJET avec son organisme et son domaine) ; un président parmi les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d’un membre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compte d'un membre de CAO (profil MEMBRE_CAO,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responsable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t_responsable_procedure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rôle nominatif « Responsable de la procédure » (t_responsable_procedure) : par DMC, un seul titulaire actif (DATE_RETRAIT nulle, index partiel unique), désigné et retiré par l'Administrateur.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paramètres internes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Les paramètres internes d'une procédure en remise électronique (t_parametre_interne_procedure) : les membres de la commission détenteurs d'une part de clé (INT-SE-01, liste de matricules), le quorum de déchiffrement (INT-SE-03) et la date de la cérémonie des clés (INT-SE-04).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paramètres internes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journal dédié des paramètres internes d'une procédure (t_parametre_interne_journal) : qui, quand, quel champ, ancienne et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cérémonie des clés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t_ceremonie_cles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cérémonie des clés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clé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t_cle_detenteur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clé d'un détenteur de part : un membre désigné (role = MEMBRE, im) ou la part de secours (role = SECOURS, sans matricule). clePublique (SPKI en base64) et empreinte (SHA-256 de la SPKI, hexadécimal minuscule) sont publiques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défi de vérification d’une clé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t_defi_cle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défi de vérification d'une part : le serveur a tiré 32 octets, les a chiffrés avec la clé publique du détenteur, et ne garde que le SHA-256 du clair (empreinteClair), cinq minutes, à usage unique.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493</a:t>
            </a:r>
            <a:endParaRPr lang="en-US" sz="1100" dirty="0"/>
          </a:p>
        </p:txBody>
      </p:sp>
    </p:spTree>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name="Slide 4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49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dépositaire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t_compte_depositaire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compte d'un dépositaire (profil DEPOSITAIRE,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494</a:t>
            </a:r>
            <a:endParaRPr lang="en-US" sz="1100" dirty="0"/>
          </a:p>
        </p:txBody>
      </p:sp>
    </p:spTree>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name="Slide 4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(1/11)</a:t>
            </a:r>
            <a:endParaRPr lang="en-US" sz="2600" dirty="0"/>
          </a:p>
        </p:txBody>
      </p:sp>
      <p:graphicFrame>
        <p:nvGraphicFramePr>
          <p:cNvPr id="49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question d’un candidat et sa réponse  ·  t_question_candidat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fichier joint à la réponse (nom, taille) ; nul sans fichier.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diffusion : répondre = diffuser (arbitrage du 13/10), donc égale à repondueLe.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représentant présent à la commission  ·  t_cao_representant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(K…) du membre représentant.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de mise en concurrence (DMC)  ·  t_dossier_mec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rattachée (unique — relation 1-1 stricte).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DMC dérivé du mode de passation du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495</a:t>
            </a:r>
            <a:endParaRPr lang="en-US" sz="1100" dirty="0"/>
          </a:p>
        </p:txBody>
      </p:sp>
    </p:spTree>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name="Slide 4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(2/11)</a:t>
            </a:r>
            <a:endParaRPr lang="en-US" sz="2600" dirty="0"/>
          </a:p>
        </p:txBody>
      </p:sp>
      <p:graphicFrame>
        <p:nvGraphicFramePr>
          <p:cNvPr id="49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A_PREPARER, ENGAGE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fiche marché (DAO)  ·  t_fiche_marche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VALIDEE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Cnm.prs.enums.StatutFicheMarche.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Cnm.prs.enums.TypeMarcheDao, fixé par le cadrage ; nul tant que le cadrage n'est pas 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Réponses du cadrage, objet JSON ({"typeMarche":"QUANTITE_FIXE","alloti":"OUI",…}).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MODE_MIGRE_LE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migre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migration documentée du mode de remise par l'Administrateur : cette version porte le nouveau mode, la date, l'auteur et le motif ; nulles sur toute autre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MODE_MIGRE_PAR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migre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MODE_MIGRE_MOTIF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 migre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PRMP qui a validé (matricule).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valeur d’une information de la fiche  ·  t_fiche_marche_valeur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Tr_champ_fiche_marche.CODE, sans clé étrangère (un code ancien ne bloque pas l'import du référentiel).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telle que normalisée à l'enregistrement (nombre en chiffres, date ISO, code de liste, OUI/NON,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496</a:t>
            </a:r>
            <a:endParaRPr lang="en-US" sz="1100" dirty="0"/>
          </a:p>
        </p:txBody>
      </p:sp>
    </p:spTree>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name="Slide 4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(3/11)</a:t>
            </a:r>
            <a:endParaRPr lang="en-US" sz="2600" dirty="0"/>
          </a:p>
        </p:txBody>
      </p:sp>
      <p:graphicFrame>
        <p:nvGraphicFramePr>
          <p:cNvPr id="49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CALCULEE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Calculee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Posée par le serveur à l'enregistrement du bloc (échéance calculée, date d'ouverture des plis…) : servie dans champsCalcules, affichée « calculée » en lecture seule.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bloc du référentiel de la fiche  ·  tr_bloc_fiche_marche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Types de marché où le bloc existe,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bloc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Rendu du bloc à l'écran : null, la liste de ses champs ; BESOIN, la grille du besoin (/articles).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rubrique du référentiel de la fiche  ·  tr_rubrique_fiche_marche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complet, bloc-rubrique (« B05-GS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CODE_BLOC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CODE_COURT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court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court dans le bloc (« 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maître de la rubrique (DPAO, DPAC, AE, CCAP, AUCUN) ; nul si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NB_ATTENDU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attendu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la rubrique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L’information du référentiel de la fiche  ·  tr_champ_fiche_marche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métier « bloc-rubrique-rang » (« B05-GS-02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497</a:t>
            </a:r>
            <a:endParaRPr lang="en-US" sz="1100" dirty="0"/>
          </a:p>
        </p:txBody>
      </p:sp>
    </p:spTree>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name="Slide 4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(4/11)</a:t>
            </a:r>
            <a:endParaRPr lang="en-US" sz="2600" dirty="0"/>
          </a:p>
        </p:txBody>
      </p:sp>
      <p:graphicFrame>
        <p:nvGraphicFramePr>
          <p:cNvPr id="49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TEXTE, TEXTE_LONG, NOMBRE, MONTANT, POURCENTAGE, DATE, DATE_HEURE, URL, LISTE, LISTE_MULTIPLE, OUI_NON, 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PPM, SAISIE, 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Cnm.prs.enums.SourceChampFiche.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REPRISES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champ vaut, séparées par des virgules, comme typesMarche.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OPTIONS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Options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CADRAGE : la clé de la réponse reflétée.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PPM : la clé de la dérivation (ValeursPpmService).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Une valeur par lot : quand la ligne est allotie (plus d'un lot au plan), la valeur s'enregistre sous CODEn, n = rang du lot ; sinon sous le code 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L’article du besoin  ·  t_fiche_article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498</a:t>
            </a:r>
            <a:endParaRPr lang="en-US" sz="1100" dirty="0"/>
          </a:p>
        </p:txBody>
      </p:sp>
    </p:spTree>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name="Slide 4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(5/11)</a:t>
            </a:r>
            <a:endParaRPr lang="en-US" sz="2600" dirty="0"/>
          </a:p>
        </p:txBody>
      </p:sp>
      <p:graphicFrame>
        <p:nvGraphicFramePr>
          <p:cNvPr id="5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QUANTITE_MAX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max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REDIGE_PAR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Rédigé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PROFIL_REDACTEUR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rédacteur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NUMERO_PRIX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SERIE_LIBELLE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 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LIBELLE_BORDEREAU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bordereau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PLAFOND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caractéristique exigée d’un article  ·  t_fiche_caracteristique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Mémoire vive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EXIGENCE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Exigence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8 Go au minimum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matériel exigé  ·  t_fiche_materiel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ID_MATERIEL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matériel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499</a:t>
            </a:r>
            <a:endParaRPr lang="en-US" sz="1100" dirty="0"/>
          </a:p>
        </p:txBody>
      </p:sp>
    </p:spTree>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name="Slide 5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(6/11)</a:t>
            </a:r>
            <a:endParaRPr lang="en-US" sz="2600" dirty="0"/>
          </a:p>
        </p:txBody>
      </p:sp>
      <p:graphicFrame>
        <p:nvGraphicFramePr>
          <p:cNvPr id="5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MINIMUM_EN_PROPRE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Minimum en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personnel exigé  ·  t_fiche_personnel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ID_PERSONNEL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personnel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DIPLOME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Diplôme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EXPERIENCE_ANNEES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Expérience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DOMAINE_EXPERIENCE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expérience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de l’offre  ·  t_fiche_piece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ANCIENNETE_MAX_MOIS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Anciennete max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500</a:t>
            </a:r>
            <a:endParaRPr lang="en-US" sz="1100" dirty="0"/>
          </a:p>
        </p:txBody>
      </p:sp>
    </p:spTree>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name="Slide 5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(7/11)</a:t>
            </a:r>
            <a:endParaRPr lang="en-US" sz="2600" dirty="0"/>
          </a:p>
        </p:txBody>
      </p:sp>
      <p:graphicFrame>
        <p:nvGraphicFramePr>
          <p:cNvPr id="5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spécifications techniques  ·  t_specifications_fiche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produit par la fiche  ·  t_document_fiche_marche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EXTENSION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Extension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DPAO · DPAC · AE · CCAP. */ @Column(name = "TYPE", nullable = false, length = 20) // V57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DATE_GENERATION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génération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du lot d'un document établi par lot ; null : document commun.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informations de publication saisies à l'impression de l'avis (JSON : datePublication, jmpNumero, jmpDate, supports), conservées en trace avec le document ; null pour les documents du DAO.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commission d’appel d’offres  ·  t_cao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501</a:t>
            </a:r>
            <a:endParaRPr lang="en-US" sz="1100" dirty="0"/>
          </a:p>
        </p:txBody>
      </p:sp>
    </p:spTree>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name="Slide 5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(8/11)</a:t>
            </a:r>
            <a:endParaRPr lang="en-US" sz="2600" dirty="0"/>
          </a:p>
        </p:txBody>
      </p:sp>
      <p:graphicFrame>
        <p:nvGraphicFramePr>
          <p:cNvPr id="5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membre de la commission d’appel d’offres  ·  t_cao_membre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SERVICE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L'identifiant court du compte MEMBRE_CAO (K + 9 chiffres) ; null pour un expert adjoint.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d’un membre de la commission  ·  t_compte_cao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502</a:t>
            </a:r>
            <a:endParaRPr lang="en-US" sz="1100" dirty="0"/>
          </a:p>
        </p:txBody>
      </p:sp>
    </p:spTree>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name="Slide 5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(9/11)</a:t>
            </a:r>
            <a:endParaRPr lang="en-US" sz="2600" dirty="0"/>
          </a:p>
        </p:txBody>
      </p:sp>
      <p:graphicFrame>
        <p:nvGraphicFramePr>
          <p:cNvPr id="5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responsable de la procédure  ·  t_responsable_procedure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titulaire (tr_controleur.IM_CONTROLEUR).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au moment de la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Nulle tant que la désignation est active.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paramètres internes de la procédure  ·  t_parametre_interne_procedure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MEMBRES_CLE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Membres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Matricules des membres détenteurs d'une part de clé, séparés par des virgules (INT-SE-01).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Quorum de déchiffrement (INT-SE-03).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DATE_CEREMONIE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cérémonie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la cérémonie des clés (INT-SE-04).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(matricule du titulaire du rôle).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dépositaire de la part de secours (ADR-0013 S3) : une désignation nominative.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DEPOSITAIRE_CONTACT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contact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L'adresse du dépositaire (obligatoire au PUT), son téléphone, son compte 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503</a:t>
            </a:r>
            <a:endParaRPr lang="en-US" sz="1100" dirty="0"/>
          </a:p>
        </p:txBody>
      </p:sp>
    </p:spTree>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name="Slide 5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(10/11)</a:t>
            </a:r>
            <a:endParaRPr lang="en-US" sz="2600" dirty="0"/>
          </a:p>
        </p:txBody>
      </p:sp>
      <p:graphicFrame>
        <p:nvGraphicFramePr>
          <p:cNvPr id="50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CAO_QUORUM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CAO 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surcharge de la règle de quorum de la CAO (MAJORITE, TOUS, nombre) ; nul : la règle globale.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SIGNATURE_OFFRE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Signature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SCELLE_PLUS_ORIGINAL (nul : défaut) ou CERTIFIEE (réservé, sans effet).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paramètres internes  ·  t_parametre_interne_journal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de l'acteur, résolu à l'écriture.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MembresCommission, quorum, dateCeremonie ou responsable.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cérémonie des clés  ·  t_ceremonie_cles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A_VENIR, CLOSE, A_REFAIRE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DATE_CLOTURE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clôture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PREMIER_DEPOT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Premier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DATE_DEPOTS_CLOS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depots clos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clôture des dépôts notifiée (DEPOTS_CLOS),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RAPPEL_VEILLE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veille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de la veille,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RAPPEL_HEURE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heure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une heure avant,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504</a:t>
            </a:r>
            <a:endParaRPr lang="en-US" sz="1100" dirty="0"/>
          </a:p>
        </p:txBody>
      </p:sp>
    </p:spTree>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name="Slide 5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04 PRÉPARER LE DAO</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(11/11)</a:t>
            </a:r>
            <a:endParaRPr lang="en-US" sz="2600" dirty="0"/>
          </a:p>
        </p:txBody>
      </p:sp>
      <p:graphicFrame>
        <p:nvGraphicFramePr>
          <p:cNvPr id="50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clé d’un détenteur  ·  t_cle_detenteur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GENERE_PAR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Généré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généré la part de secours. */ public static final String PAR_RESPONSABLE = "RESPONSABLE"; public static final String PAR_DEPOSITAIRE = "DEPOSITAIRE"; public static final String PUBLIEE = "PUBLIEE"; public static final String VERIFIEE = "VERIFIEE"; public static final String PERDUE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du dépositaire qui a publié la part de secours (D…, nouveau geste).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défi de vérification d’une clé  ·  t_defi_cle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ID_DEFI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défi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IM_APPELANT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appelant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EMPREINTE_CLAIR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clair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CONSOMME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Consomme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dépositaire  ·  t_compte_depositaire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505</a:t>
            </a:r>
            <a:endParaRPr lang="en-US" sz="1100" dirty="0"/>
          </a:p>
        </p:txBody>
      </p:sp>
    </p:spTree>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name="Slide 5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0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L’appel à manifestation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L'appel à manifestation d'intérêt d'une procédure de prestations intellectuelles : en préparation (BROUILLON), publié (PUBLIE, figé), ou dispensé de publicité (DISPENSE : la liste restreinte se saisit alors comme avant).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L’expression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expression d'intérêt déposée par un candidat : en clair, sans scellement, mais illisible de l'administration avant la date limite (arbitrage Q2).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d’une expression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pièce d'une expression d'intérêt : son libellé (une des pièces attendues), le fichier, son empreinte.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déclaration préalable d'un membre de la commission sur l'AMI (conflit d'intérêts, confidentialité).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d’un critère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t_ami_note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note retenue par la commission pour une expression d'intérêt sur un critère publié (de 0 au poids du critère), avec son motif ; une seule par expression et par critère (une nouvelle saisie la remplace, le journal garde la trace).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liste restreinte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t_ami_liste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candidat de la liste restreinte arrêtée : son rang, son compte, sa note.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 de présélection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signature du rapport de présélection par un membre, ou son empêchement constaté.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L’invité de la consultation restreinte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t_invitation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invité de la consultation restreinte : un candidat de la liste de l'AMI (AMI, son compte), ou saisi par la PRMP (SAISIE, son adresse électronique, par laquelle son compte lui est rattaché) ; son rang et sa lettre d'invitation (le PDF).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506</a:t>
            </a:r>
            <a:endParaRPr lang="en-US" sz="1100" dirty="0"/>
          </a:p>
        </p:txBody>
      </p:sp>
    </p:spTree>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name="Slide 5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50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L’appel à manifestation d’intérêt  ·  t_ami  ·  24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PUBLIE, DISPENSE,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Criteres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NOTE_MINIMALE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 minimale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NOMBRE_RETENUS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MOTIF_DISPENSE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dispense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LISTE_DEFINITIVE_LE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definitive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dernière signature du rapport : la liste est définitive, publiée et notifiée (Q5).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NOMBRE_RELANCES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relances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MOTIF_INFRUCTUEUX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507</a:t>
            </a:r>
            <a:endParaRPr lang="en-US" sz="1100" dirty="0"/>
          </a:p>
        </p:txBody>
      </p:sp>
    </p:spTree>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name="Slide 5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5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L’expression d’intérêt  ·  t_ami_expression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DEPOSEE, REMPLACEE,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d’une expression  ·  t_ami_expression_piece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508</a:t>
            </a:r>
            <a:endParaRPr lang="en-US" sz="1100" dirty="0"/>
          </a:p>
        </p:txBody>
      </p:sp>
    </p:spTree>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name="Slide 5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51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d’un membre  ·  t_ami_declaration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d’un critère  ·  t_ami_note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liste restreinte  ·  t_ami_liste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509</a:t>
            </a:r>
            <a:endParaRPr lang="en-US" sz="1100" dirty="0"/>
          </a:p>
        </p:txBody>
      </p:sp>
    </p:spTree>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name="Slide 5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05 L’APPEL À MANIFESTATION D’INTÉRÊT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51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de présélection  ·  t_ami_signature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L’invité de la consultation restreinte (lot 3)  ·  t_invitation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INVITE_LE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Invite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510</a:t>
            </a:r>
            <a:endParaRPr lang="en-US" sz="1100" dirty="0"/>
          </a:p>
        </p:txBody>
      </p:sp>
    </p:spTree>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name="Slide 5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1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tentative de dépôt refusée hors délai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t_offre_tentative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tentative de dépôt refusée hors délai : le geste refusé, horodaté par le serveur, le candidat et ce qui est connu de son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candidat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fiche d'un candidat : une entreprise externe inscrite par elle-même.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de confirmation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t_code_candidat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code de confirmation d'un compte candidat : six chiffres, à usage unique, valable 15 minutes, 5 essais au plus ; stocké haché (BCrypt), par canal (EMAIL, TELEPHONE).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L'entreprise d'un compte candidat (un compte = une entreprise)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pièce de l'entreprise d'un candidat (carte fiscale, statuts, pouvoir, autre)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ligne du journal d'une entreprise : un changement de statut de vérification du NIF, avec l'ancienne et la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rapprochement de deux comptes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t_rapprochement_candidat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rapprochement entre deux comptes candidats (même téléphone, même signataire, même adresse) : une alerte pour la commission (lot 4), jamais un refus. idCandidatA &lt; idCandidatB.</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L’exclusion prononcée par l’ARMP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exclusion des marchés publics prononcée par l'ARMP, tenue par l'Administrateur ; jamais supprimée (on la corrige, ou on avance sa date de fin).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exclusions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ligne du journal d'une exclusion : anciennes et nouvelles valeurs (JSON), qui, quand.</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retrait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t_retrait_dao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retrait du DAO : un document téléchargé par un candidat (compte, entreprise si déclarée, document, version de la fiche, date).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reçu des frais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reçu du paiement des frais de dossier, déposé par un candidat pour son entreprise (la clé est le NIF : deux comptes de la même entreprise le partagent), sur un ou plusieurs lots (lots nul : tout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reçus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journal des reçus de frais de dossier : RECU_DEPOSE, RECU_VALIDE, RECU_REFUSE.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511</a:t>
            </a:r>
            <a:endParaRPr lang="en-US" sz="1100" dirty="0"/>
          </a:p>
        </p:txBody>
      </p:sp>
    </p:spTree>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name="Slide 5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1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offre déposée en ligne : un conteneur scellé dans le navigateur du candidat, que le serveur ne peut pas lire.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morceau chiffré d’une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t_offre_morceau</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morceau reçu d'une offre en cours de dépôt : taille et empreinte ; le contenu est sur disque.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journal des offres : création, morceaux, scellement, remplacement, retrait, purge.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512</a:t>
            </a:r>
            <a:endParaRPr lang="en-US" sz="1100" dirty="0"/>
          </a:p>
        </p:txBody>
      </p:sp>
    </p:spTree>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name="Slide 5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(1/8)</a:t>
            </a:r>
            <a:endParaRPr lang="en-US" sz="2600" dirty="0"/>
          </a:p>
        </p:txBody>
      </p:sp>
      <p:graphicFrame>
        <p:nvGraphicFramePr>
          <p:cNvPr id="51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tentative de dépôt refusée hors délai  ·  t_offre_tentative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Geste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HORODATAGE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Horodatage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candidat  ·  t_compte_candidat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A_CONFIRMER, CONFIRME,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TELEPHONE_CONFIRME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confirme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DATE_CONFIRMATION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confirmation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513</a:t>
            </a:r>
            <a:endParaRPr lang="en-US" sz="1100" dirty="0"/>
          </a:p>
        </p:txBody>
      </p:sp>
    </p:spTree>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name="Slide 5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(2/8)</a:t>
            </a:r>
            <a:endParaRPr lang="en-US" sz="2600" dirty="0"/>
          </a:p>
        </p:txBody>
      </p:sp>
      <p:graphicFrame>
        <p:nvGraphicFramePr>
          <p:cNvPr id="51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de confirmation  ·  t_code_candidat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ESSAIS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UTILISE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Utilise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L’entreprise  ·  t_entreprise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RCS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ADRESSE_NORMALISEE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normalisee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514</a:t>
            </a:r>
            <a:endParaRPr lang="en-US" sz="1100" dirty="0"/>
          </a:p>
        </p:txBody>
      </p:sp>
    </p:spTree>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name="Slide 5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(3/8)</a:t>
            </a:r>
            <a:endParaRPr lang="en-US" sz="2600" dirty="0"/>
          </a:p>
        </p:txBody>
      </p:sp>
      <p:graphicFrame>
        <p:nvGraphicFramePr>
          <p:cNvPr id="5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l’entreprise  ·  t_piece_entreprise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Octets.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l’entreprise  ·  t_entreprise_journal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rapprochement de deux comptes  ·  t_rapprochement_candidat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ID_RAPPROCHEMENT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rapprochement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ID_CANDIDAT_A</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a</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515</a:t>
            </a:r>
            <a:endParaRPr lang="en-US" sz="1100" dirty="0"/>
          </a:p>
        </p:txBody>
      </p:sp>
    </p:spTree>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name="Slide 5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(4/8)</a:t>
            </a:r>
            <a:endParaRPr lang="en-US" sz="2600" dirty="0"/>
          </a:p>
        </p:txBody>
      </p:sp>
      <p:graphicFrame>
        <p:nvGraphicFramePr>
          <p:cNvPr id="51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DATE_CALCUL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L’exclusion prononcée par l’ARMP  ·  t_exclusion_armp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exclusions  ·  t_exclusion_armp_journal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retrait du dossier  ·  t_retrait_dao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516</a:t>
            </a:r>
            <a:endParaRPr lang="en-US" sz="1100" dirty="0"/>
          </a:p>
        </p:txBody>
      </p:sp>
    </p:spTree>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name="Slide 5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(5/8)</a:t>
            </a:r>
            <a:endParaRPr lang="en-US" sz="2600" dirty="0"/>
          </a:p>
        </p:txBody>
      </p:sp>
      <p:graphicFrame>
        <p:nvGraphicFramePr>
          <p:cNvPr id="5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reçu de frais de dossier qui a ouvert ce retrait ; null pour un retrait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reçu des frais de dossier  ·  t_recu_dao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qui l'a déposé.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lots couverts, séparés par des virgules ; null : tout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BANQUE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Banque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EN_ATTENTE, VALIDE,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fonction de qui a décidé (PRMP ou UGPM), pas son nom (servie au candidat).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LOGIN_DECIDEUR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decideur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517</a:t>
            </a:r>
            <a:endParaRPr lang="en-US" sz="1100" dirty="0"/>
          </a:p>
        </p:txBody>
      </p:sp>
    </p:spTree>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name="Slide 5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(6/8)</a:t>
            </a:r>
            <a:endParaRPr lang="en-US" sz="2600" dirty="0"/>
          </a:p>
        </p:txBody>
      </p:sp>
      <p:graphicFrame>
        <p:nvGraphicFramePr>
          <p:cNvPr id="5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purge de conservation (V70) : le fichier supprimé, la ligne gardée.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reçus  ·  t_recu_journal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L’offre  ·  t_offre  ·  33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UUID tiré par le navigateur — l'identifiant de l'offre, dans l'en-tête et les données authentifiées.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DEPOSEE, REMPLACEE, RETIREE, ECARTEE, TECHNIQUE, FINANCIERE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d'arrivée dans la procédure.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EN_TETE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 tete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L'en-tête JSON, tel que le navigateur l'a sérialisé et haché.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518</a:t>
            </a:r>
            <a:endParaRPr lang="en-US" sz="1100" dirty="0"/>
          </a:p>
        </p:txBody>
      </p:sp>
    </p:spTree>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name="Slide 5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(7/8)</a:t>
            </a:r>
            <a:endParaRPr lang="en-US" sz="2600" dirty="0"/>
          </a:p>
        </p:txBody>
      </p:sp>
      <p:graphicFrame>
        <p:nvGraphicFramePr>
          <p:cNvPr id="5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NOMBRE_MORCEAUX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morceaux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octets reçus (morceaux).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de l'en-tête puis des morceaux, posée au scellement.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EMPREINTES_DETENTEURS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Empreintes detenteurs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empreintes des clés publiques pour lesquelles l'offre est scellée, dans l'ordre, séparées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GROUPEMENT_NIFS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nifs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NIF normalisés des membres d'un groupement, pour le seul contrôle des exclusions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Dernier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INTEGRITE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Integrite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INTACTE, ALTEREE (empreinte différente), LECTURE_IMPOSSIBLE.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lecture tirée du manifeste à l'ouverture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raison d'une lecture 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motif de l'écartement (entreprise exclue après son dépôt).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L'enveloppe d'une proposition de prestations intellectuelles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Conteneur et contenu déchiffré supprimés au terme de la conservation.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morceau chiffré d’une offre  ·  t_offre_morceau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519</a:t>
            </a:r>
            <a:endParaRPr lang="en-US" sz="1100" dirty="0"/>
          </a:p>
        </p:txBody>
      </p:sp>
    </p:spTree>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name="Slide 5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06 RECEVOIR LES OFFRES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(8/8)</a:t>
            </a:r>
            <a:endParaRPr lang="en-US" sz="2600" dirty="0"/>
          </a:p>
        </p:txBody>
      </p:sp>
      <p:graphicFrame>
        <p:nvGraphicFramePr>
          <p:cNvPr id="5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offres  ·  t_offre_journal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520</a:t>
            </a:r>
            <a:endParaRPr lang="en-US" sz="1100" dirty="0"/>
          </a:p>
        </p:txBody>
      </p:sp>
    </p:spTree>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name="Slide 5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2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de la seconde séance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signature électronique simple du PV de la seconde séance (propositions financières, PI) par un membre présent, ou son empêchement constaté ; sur le modèle de SeanceSignature, par ronde.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séance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séance d'ouverture des plis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L’apport des parts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apport de parts en séance : qui (K… ou SECOURS), combien, quand. Jamais les parts.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signature électronique simple du PV d'ouverture par un membre présent de la CAO (l'acte authentifié du membre connecté, horodaté), ou son empêchement constaté par le président, avec un motif porté au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la séance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journal de la séance ; jamais une part.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seconde séance (propositions financières,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seconde séance d'ouverture d'une consultation de prestations intellectuelles : les enveloppes financières à ouvrir (A_OUVRIR, identifiants séparés par des virgules, fixés à l'ouverture), son état, ses présents, son PV. V89 (PI-d2a) : une ligne par ronde — 1 = la seconde séance, 2…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521</a:t>
            </a:r>
            <a:endParaRPr lang="en-US" sz="1100" dirty="0"/>
          </a:p>
        </p:txBody>
      </p:sp>
    </p:spTree>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name="Slide 5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5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de la seconde séance (lot 3)  ·  t_seance_financiere_signature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séance d’ouverture  ·  t_seance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est produit, les membres présents le signent. */ public static final String PV_A_SIGNER = "PV_A_SIGNER"; public static final String ILLISIBLE = "ILLISIBLE"; public static final String CLOSE = "CLOSE"; @Id @Column(name = "ID_DMC", nullable = false) private Long idDmc; @Column(name = "ETAT",…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autres présents, en JSON : [{ nom, qualite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part de secours demandée au dépositaire par le responsable : motif et 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MOTIF_ILLISIBLE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illisible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tel qu'il se publie (B04-OP-13 = OUI) : sans les alertes de rapprochement ni la vérification des NIF. */ @Basic(fetch = FetchType.LAZY) @Column(name = "PV_PUBLIC") private byte[] pvPublic; @Column(name = "PV_PUBLIE", nullable = false) private Boolean pvPublie = Boolean.FALSE; /** V70 (§B2)…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entièrement signé (ou les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522</a:t>
            </a:r>
            <a:endParaRPr lang="en-US" sz="1100" dirty="0"/>
          </a:p>
        </p:txBody>
      </p:sp>
    </p:spTree>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name="Slide 5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5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L’apport des parts d’un détenteur  ·  t_seance_apport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DETENTEUR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Detenteur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d’ouverture  ·  t_seance_signature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la séance  ·  t_seance_journal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seconde séance (propositions financières, lot 3)  ·  t_seance_financiere  ·  19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523</a:t>
            </a:r>
            <a:endParaRPr lang="en-US" sz="1100" dirty="0"/>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name="Slide 5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07 LA SÉANCE D’OUVERTURE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52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 : OUVERTE, DECHIFFREE,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METHODE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Methode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méthode de sélection (B02-MS-01) : elle décide quelles enveloppes s'ouvrent.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A_OUVRIR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 ouvrir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DECHIFFREE_LE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Dechiffree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Close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présents appelés à signer le PV (comptes,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R1 — le PV entièrement signé (ou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524</a:t>
            </a:r>
            <a:endParaRPr lang="en-US" sz="1100" dirty="0"/>
          </a:p>
        </p:txBody>
      </p:sp>
    </p:spTree>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name="Slide 5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2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L'évaluation d'une procédure, ouverte une fois le PV d'ouverture signé.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préalable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déclaration préalable d'un membre de la CAO : absence de conflit d'intérêts et confidentialité (art. 21-d, 12-V).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L’étape arrêtée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t_evaluation_etape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L'arrêt d'une étape de l'évaluation d'un lot, par le président de la CAO. En vigueur tant que rouverteLe est nul ; rouvert, il reste au registre avec la date, l'auteur et le motif de sa réouverture.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décision sur 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décision de la CAO sur une offre, à une étape : la décision (CONFORME / ECARTEE à l'examen préliminaire), la qualification, le motif, la clause du DAO, et le détail de l'étape en JSON (contenu : la grille des vérifications).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précision ou de justification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demande adressée par la PRMP au candidat d'une offre : une précision (art. 35-VI, examen préliminaire) ou une justification de prix (art. 48, tranche suivante), avec son délai, et la réponse du candidat (texte et fichier joint).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départage d’une égalité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t_evaluation_departage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départage, par la CAO, d'offres d'un lot classées à égalité de montant évalué : ordre (identifiants d'offres séparés par des virgules, du premier au dernier) et son motif.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rapport d’évaluation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t_evaluation_rapport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rapport d'évaluation d'une procédure, ses signataires appelés et ses deux formats.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signature du rapport d'évaluation par un membre de la CAO (signature électronique simple, observation en cas de désaccord), ou son empêchement constaté par le président.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journal de l'évaluation : chaque décision et chaque réouverture, avec son auteur et son détail.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technique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L'étape technique d'un lot : son arrêt par le président, et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technique d’un membre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t_evaluation_note_technique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note d'un membre de la commission sur un élément de la grille technique (un sous-critère de la fiche, B06-TP-032, ou un critère noté globalement, B06-TP-02) d'une proposition technique,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financière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saisie d'une proposition financière ouverte : prix lu hors taxes, corrections arithmétiques (JSON), prix corrigé, dépenses remboursables (arbitrage du pilote : saisies par la commission) ; ou le refus d'une correction par le candidat, qui l'écarte.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525</a:t>
            </a:r>
            <a:endParaRPr lang="en-US" sz="1100" dirty="0"/>
          </a:p>
        </p:txBody>
      </p:sp>
    </p:spTree>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name="Slide 5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2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classement des propositions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t_evaluation_classement_pi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Le classement d'un lot : son départage motivé (DEPARTAGE : les propositions techniques dans l'ordre retenu, séparées par des virgules), son arrêt par le président,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négociation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t_negociation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négociation avec un candidat classé : conduite par la PRMP (ou son UGPM), une seule en cours et une seule réussie par lot ; son procès-verbal (texte, date, lieu, pièce jointe, PDF et Word) ; l'échec, motivé, ouvre la voie au suivant (Q7, en attente du juriste).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sous-critère technique de la fiche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t_fiche_sous_critere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sous-critère technique d'une version de fiche de prestations intellectuelles : son critère (B06-TP-02 à B06-TP-06), son rang, son libellé, ses points.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526</a:t>
            </a:r>
            <a:endParaRPr lang="en-US" sz="1100" dirty="0"/>
          </a:p>
        </p:txBody>
      </p:sp>
    </p:spTree>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name="Slide 5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52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  t_evaluation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EN_COURS, RAPPORT_A_SIGNER,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préalable d’un membre  ·  t_evaluation_declaration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L’étape arrêtée d’un lot  ·  t_evaluation_etape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décision sur une offre  ·  t_evaluation_decision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527</a:t>
            </a:r>
            <a:endParaRPr lang="en-US" sz="1100" dirty="0"/>
          </a:p>
        </p:txBody>
      </p:sp>
    </p:spTree>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name="Slide 5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52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CONFORME, ECARTEE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précision ou de justification  ·  t_evaluation_demande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PRECISION, JUSTIFICATION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528</a:t>
            </a:r>
            <a:endParaRPr lang="en-US" sz="1100" dirty="0"/>
          </a:p>
        </p:txBody>
      </p:sp>
    </p:spTree>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name="Slide 5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53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départage d’une égalité  ·  t_evaluation_departage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rapport d’évaluation  ·  t_evaluation_rapport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identifiants des membres appelés à signer,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  t_evaluation_signature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529</a:t>
            </a:r>
            <a:endParaRPr lang="en-US" sz="1100" dirty="0"/>
          </a:p>
        </p:txBody>
      </p:sp>
    </p:spTree>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name="Slide 5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53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l’évaluation  ·  t_evaluation_journal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technique (lot 3)  ·  t_evaluation_technique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technique d’un membre (lot 3)  ·  t_evaluation_note_technique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530</a:t>
            </a:r>
            <a:endParaRPr lang="en-US" sz="1100" dirty="0"/>
          </a:p>
        </p:txBody>
      </p:sp>
    </p:spTree>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name="Slide 5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53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financière (lot 3)  ·  t_evaluation_financiere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CORRECTIONS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Corrections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PRIX_CORRIGE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corrige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classement des propositions (lot 3)  ·  t_evaluation_classement_pi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531</a:t>
            </a:r>
            <a:endParaRPr lang="en-US" sz="1100" dirty="0"/>
          </a:p>
        </p:txBody>
      </p:sp>
    </p:spTree>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name="Slide 5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53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négociation (lot 3)  ·  t_negociation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négociation réussie dont le marché a été retiré faute de pièces : le suivant est invité. */ public static final String RETIREE = "RETIREE"; @Id @GeneratedValue(strategy = GenerationType.IDENTITY) @Column(name = "ID") private Long id; @Column(name = "ID_DMC", nullable = false) private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ID_FINANCIERE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financiere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REUSSIE, ECHOUEE,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PREVUE_LE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Prévue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DATE_NEGOCIATION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negociation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MOTIF_ECHEC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echec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532</a:t>
            </a:r>
            <a:endParaRPr lang="en-US" sz="1100" dirty="0"/>
          </a:p>
        </p:txBody>
      </p:sp>
    </p:spTree>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name="Slide 5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08 ÉVALUER LES OFFRES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53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sous-critère technique de la fiche (lot 3)  ·  t_fiche_sous_critere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POINTS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533</a:t>
            </a:r>
            <a:endParaRPr lang="en-US" sz="1100" dirty="0"/>
          </a:p>
        </p:txBody>
      </p:sp>
    </p:spTree>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name="Slide 5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3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reprise de l’évaluation ou la réattribution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reprise de l'évaluation après l'avis défavorable de la Commission sur le dossier de marché : le dossier refusé et son avis, le motif de la PRMP, et le rapport d'évaluation archivé (il cède la place au nouveau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sans suite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t_sans_suite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demande de déclaration sans suite : les motifs de la PRMP, le dossier DSS soumis à la Commission, l'avis constaté (FAV ou DEF), puis la déclaration (décision de la PRMP) après un avis favorable.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L’acte de gestion du marché (avenant…)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t_acte_gestion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acte de gestion contractuelle (dossier DGC) et le marché (dossier DDM au PV favorable) qu'il concerne.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L’attribution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L'attribution d'un lot d'une procédure, après le rapport d'évaluation signé : son état, l'offre proposée, le dossier de marché (famille DDM) soumis au contrôle de la Commission et le projet de marché produit par le serveur (arbitrage Q1 du pilote).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aux candidats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t_attribution_lettre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lettre produite à l'information des candidats : la lettre d'attribution, ou celle d'un candidat non retenu et ses motifs ; signée de la PRMP (signature électronique simple, Q9).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d’explication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t_attribution_explication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demande d'explication d'un candidat non retenu sur le rejet de son offre, et la réponse écrite de la PRMP (texte, fichier joint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recours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t_attribution_recours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recours reçu par la PRMP sur l'attribution d'un lot, et sa décision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l’attributaire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fichier de l'attribution d'un lot : rapport de mise au point, marché signé, justificatif d'enregistrement, pièce d'un recours ou de sa décision (déposés par la PRMP), pièce fiscale ou sociale de l'attributaire (art. 20-I : date de délivrance, vérification de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534</a:t>
            </a:r>
            <a:endParaRPr lang="en-US" sz="1100" dirty="0"/>
          </a:p>
        </p:txBody>
      </p:sp>
    </p:spTree>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name="Slide 5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(1/6)</a:t>
            </a:r>
            <a:endParaRPr lang="en-US" sz="2600" dirty="0"/>
          </a:p>
        </p:txBody>
      </p:sp>
      <p:graphicFrame>
        <p:nvGraphicFramePr>
          <p:cNvPr id="53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reprise de l’évaluation ou la réattribution  ·  t_attribution_reprise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ID_OFFRE_PROPOSEE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proposée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RAPPORT_SIGNATURES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signatures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REPRISE, REATTRIBUTION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sans suite  ·  t_sans_suite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AVIS_CONSTATE_LE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constate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535</a:t>
            </a:r>
            <a:endParaRPr lang="en-US" sz="1100" dirty="0"/>
          </a:p>
        </p:txBody>
      </p:sp>
    </p:spTree>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name="Slide 5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(2/6)</a:t>
            </a:r>
            <a:endParaRPr lang="en-US" sz="2600" dirty="0"/>
          </a:p>
        </p:txBody>
      </p:sp>
      <p:graphicFrame>
        <p:nvGraphicFramePr>
          <p:cNvPr id="53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RELANCE_LE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Relance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relance à J+5 sans avis,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L’acte de gestion du marché (avenant…)  ·  t_acte_gestion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dossier DGC de l'acte.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l'avenant (1, 2…) ; nul hors avenant.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MONTANT_HT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HT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HT de l'avenant (hausse positive, baisse négative) ; nul hors avenant ou sans incidence financière.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MONTANT_INITIAL_HT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initial HT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DATE_RECEPTION_PROVISOIRE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provisoire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DATE_RECEPTION_DEFINITIVE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definitive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DATE_SOLDE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solde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L’attribution d’un lot  ·  t_attribution  ·  41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lot déclaré infructueux par la PRMP. */ public static final String INFRUCTUEUX = "INFRUCTUEUX"; @Id @Column(name = "ID_DMC", nullable = false) private Long idDmc; @Id @Column(name = "LOT", nullable = false) private Integer lot; @Column(name = "ETAT", nullable = false, length = 20) private…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536</a:t>
            </a:r>
            <a:endParaRPr lang="en-US" sz="1100" dirty="0"/>
          </a:p>
        </p:txBody>
      </p:sp>
    </p:spTree>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name="Slide 5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(3/6)</a:t>
            </a:r>
            <a:endParaRPr lang="en-US" sz="2600" dirty="0"/>
          </a:p>
        </p:txBody>
      </p:sp>
      <p:graphicFrame>
        <p:nvGraphicFramePr>
          <p:cNvPr id="53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nom de la PRMP qui a signé les lettres (signature électronique simple, Q9).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DATE_AFFICHAGE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affichage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RAPPORT_MISE_AU_POINT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mise au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ENREGISTRE_LE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Enregistre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APPROBATION_AUTORITE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Approbation autorite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L'approbation du marché par l'autorité compétente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APPROBATION_DATE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Approbation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APPROUVE_LE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Approuve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APPROUVE_PAR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Approuve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NOTIFICATION_RECUE_LE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Notification recue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réception de la notification par l'attributaire : la date d'effet du marché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RECEPTION_DECLAREE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declaree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réception déclarée par la PRMP ; faux : accusé de lecture de la plateforme.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537</a:t>
            </a:r>
            <a:endParaRPr lang="en-US" sz="1100" dirty="0"/>
          </a:p>
        </p:txBody>
      </p:sp>
    </p:spTree>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name="Slide 5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(4/6)</a:t>
            </a:r>
            <a:endParaRPr lang="en-US" sz="2600" dirty="0"/>
          </a:p>
        </p:txBody>
      </p:sp>
      <p:graphicFrame>
        <p:nvGraphicFramePr>
          <p:cNvPr id="53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INFRUCTUEUX_LE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Infructueux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INFRUCTUEUX_PAR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Infructueux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MOTIF_INFRUCTUOSITE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infructuosite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 : AU_CONTROLE, ATTRIBUE, INFORME, SIGNE, NOTIFIE, PUBLIE, RETIRE,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ALERTE_DELAI_LE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délai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ALERTE_AVIS_LE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avis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aux candidats  ·  t_attribution_lettre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ATTRIBUTION, NON_RETENU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ENVOYEE_LE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Envoyée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538</a:t>
            </a:r>
            <a:endParaRPr lang="en-US" sz="1100" dirty="0"/>
          </a:p>
        </p:txBody>
      </p:sp>
    </p:spTree>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name="Slide 5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(5/6)</a:t>
            </a:r>
            <a:endParaRPr lang="en-US" sz="2600" dirty="0"/>
          </a:p>
        </p:txBody>
      </p:sp>
      <p:graphicFrame>
        <p:nvGraphicFramePr>
          <p:cNvPr id="54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ARCHIVE_LE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Archive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L'archivage du cycle retiré : nul tant que la pièce (le recours, la lettre) vaut pour le lot en cours.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d’explication  ·  t_attribution_explication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recours  ·  t_attribution_recours  ·  16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REQUERANT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Requerant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539</a:t>
            </a:r>
            <a:endParaRPr lang="en-US" sz="1100" dirty="0"/>
          </a:p>
        </p:txBody>
      </p:sp>
    </p:spTree>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name="Slide 5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09 ATTRIBUER ET NOTIFIER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(6/6)</a:t>
            </a:r>
            <a:endParaRPr lang="en-US" sz="2600" dirty="0"/>
          </a:p>
        </p:txBody>
      </p:sp>
      <p:graphicFrame>
        <p:nvGraphicFramePr>
          <p:cNvPr id="5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ISSUE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Issue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L'alerte de l'échéance d'un réexamen, déjà émise à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ARCHIVE_LE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Archive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L'archivage du cycle retiré : nul tant que la pièce (le recours, la lettre) vaut pour le lot en cours.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l’attributaire  ·  t_attribution_piece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ARCHIVE_LE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Archive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L'original signé de l'acte d'engagement de l'attributaire ; dateDelivrance = sa date de remise. */ public static final String ACTE_ENGAGEMENT_ORIGINAL = "ACTE_ENGAGEMENT_ORIGINAL"; @Id…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540</a:t>
            </a:r>
            <a:endParaRPr lang="en-US" sz="1100" dirty="0"/>
          </a:p>
        </p:txBody>
      </p:sp>
    </p:spTree>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name="Slide 5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42"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intérim désigné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La note de service ou la décision qui désigne l'intérimaire, obligatoire (arbitrage Q4 du pilote, 2026-09-21).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mandat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t_mandat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Règle ajoutée (spec « Mandats PRMP ») — mandat d'une PRMP : l'acte de nomination qui l'habilite à traiter, borné dans le temps (3 ans).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541</a:t>
            </a:r>
            <a:endParaRPr lang="en-US" sz="1100" dirty="0"/>
          </a:p>
        </p:txBody>
      </p:sp>
    </p:spTree>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name="Slide 5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a:t>
            </a:r>
            <a:endParaRPr lang="en-US" sz="2600" dirty="0"/>
          </a:p>
        </p:txBody>
      </p:sp>
      <p:graphicFrame>
        <p:nvGraphicFramePr>
          <p:cNvPr id="54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L’intérim  ·  t_interim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d'une référence d'acteur (matricule), alignée sur V29/V31. */ public static final int LONGUEUR_IM = 10; @Id @GeneratedValue(strategy = GenerationType.IDENTITY) @Column(name = "ID_INTERIM", nullable = false) private Integer idInterim; /** Le contrôleur absent.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désignation (« NOM Prénoms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du titulaire à la désignation (PRESIDENT ou CHEF_COMMISSION) : celui que l'intérimaire exerce.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titulaire à la désignation ; null pour le Président (toutes localités).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désigné (≠ titulaire, contrainte ck_interim_personnes).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Période inclusive.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Borne incluse ; nulle seulement pour VACANCE_POSTE.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CONGE, MISSION, MALADIE, VACANCE_POSTE, AUTRE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cnm.prs.enums.MotifInterim.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de service ou décision de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de la pièce (le contenu est dans InterimPiece).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créé : le titulaire lui-même, ou l'Administrateur (repli).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avant terme, à effet à cette date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REVOQUE_PAR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Révoqué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542</a:t>
            </a:r>
            <a:endParaRPr lang="en-US" sz="1100" dirty="0"/>
          </a:p>
        </p:txBody>
      </p:sp>
    </p:spTree>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name="Slide 5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10 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(2/2)</a:t>
            </a:r>
            <a:endParaRPr lang="en-US" sz="2600" dirty="0"/>
          </a:p>
        </p:txBody>
      </p:sp>
      <p:graphicFrame>
        <p:nvGraphicFramePr>
          <p:cNvPr id="54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l’intérim  ·  t_interim_piece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L'intérim propriétaire (une pièce par intérim, clé partagée).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mandat d’une PRMP  ·  t_mandat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Titulaire du mandat (FK t_prmp).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nomination (l'historique reste lisible même si la fiche change).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Prise de fonction (date d'effet de l'arrêté).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de mandat — par défaut dateDebut + 3 ans - 1 jour (durée légale de 3 ans).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REF_ARRETE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arrêté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de l'arrêté de nomination — obligatoire et propre à ce mandat.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EN_TRANSITION, ACHEVE,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cnm.prs.enums.StatutMandat : dérivé des dates, sauf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1 = mandat initial, 2 = reconduction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Renseignés uniquement en cas d'abrogation avant terme.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543</a:t>
            </a:r>
            <a:endParaRPr lang="en-US" sz="1100" dirty="0"/>
          </a:p>
        </p:txBody>
      </p:sp>
    </p:spTree>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name="Slide 5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4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légal paramétré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t_delai_parametre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 délai de publicité administrable (hors des neuf délais de la loi, qui sont en code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contrôleur (profils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tr_controleur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rattachement d’une PRMP à une 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L’UGPM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t_ugpm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Unité de Gestion de la Passation des Marchés (UGPM) — acteur rattaché à exactement une PRMP de tutelle (ID_PRMP_TUTELLE → t_prmp).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tr_profile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délégation entre profils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t_delegation_profil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standard d’une 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tr_delai_standard</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tr_points_ctrl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seuil des marchés publics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tr_seuil_marche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Une valeur du référentiel de seuils (tr_seuil_marche).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d’alerte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t_regle_alerte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544</a:t>
            </a:r>
            <a:endParaRPr lang="en-US" sz="1100" dirty="0"/>
          </a:p>
        </p:txBody>
      </p:sp>
    </p:spTree>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name="Slide 5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4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paramètre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Paramètre système général — clé/valeur éditable sans redéploiement. Introduit pour l'interrupteur global des actualités (ACTUALITES_ACTIVES, spec du 2026-08-18) ; conçu pour servir au-delà de ce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tr_entite_contract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tr_categorie_entite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Catégorie d'entité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ministère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tr_ministere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L’organigramme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t_organigramme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localité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tr_localite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nature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mode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tr_mode_passation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t_type_dmc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Référentiel administrable des types de dossier de mise en concurrence (DMC) : DAO (Dossier d'Appel d'Offres), DC (Dossier de Consultation), BC (Bon de Commande)… Liste ouverte, complétable en administration.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tr_sous_type_dossier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pièce jointe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545</a:t>
            </a:r>
            <a:endParaRPr lang="en-US" sz="1100" dirty="0"/>
          </a:p>
        </p:txBody>
      </p:sp>
    </p:spTree>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name="Slide 5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statut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tr_statut_marche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Table tr_statut_marche. t_marche.STATUT stockait un texte libre : en pratique toujours PREVU, mais rien ne l'imposait ni ne permettait à l'Administrateur d'en ajouter.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L’avis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tr_avis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d’imputation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 compte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SOA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tr_soa_beneficiaire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(audit)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t_audit_log</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546</a:t>
            </a:r>
            <a:endParaRPr lang="en-US" sz="1100" dirty="0"/>
          </a:p>
        </p:txBody>
      </p:sp>
    </p:spTree>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name="Slide 5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54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légal paramétré  ·  t_delai_parametre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contrôleur (profils de la Commission)  ·  tr_controleur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toutes localités (cas Président).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IM_RATTACHE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rattache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Contrôleur rattaché à celui-ci : un Vérificateur si le porteur est Membre, un Assistant si le porteur est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ID_SUPERIEUR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superieur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TRANSVERSAL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Transversal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PRMP  ·  t_prmp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la PRMP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547</a:t>
            </a:r>
            <a:endParaRPr lang="en-US" sz="1100" dirty="0"/>
          </a:p>
        </p:txBody>
      </p:sp>
    </p:spTree>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name="Slide 5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5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rattachement d’une PRMP à une entité  ·  t_prmp_entite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DATE_AFFECTATION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affectation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L’UGPM  ·  t_ugpm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l'UGPM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ID_PRMP_TUTELLE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tutelle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de tutelle (= matricule de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profil  ·  tr_profile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profil (ex. « Chef de commission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548</a:t>
            </a:r>
            <a:endParaRPr lang="en-US" sz="1100" dirty="0"/>
          </a:p>
        </p:txBody>
      </p:sp>
    </p:spTree>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name="Slide 5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5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délégation entre profils  ·  t_delegation_profil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ID_DELEGATION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delegant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délégué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standard d’une étape  ·  tr_delai_standard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de cnm.prs.enums.EtapeCircuit (PK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HEURES ouvrées (8 h = 1 jour ouvré), ≥ 1 (400 sinon) ; repli serveur à 8 h si l'étape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d'affichage, servi par le backend.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point de contrôle  ·  tr_points_ctrl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DECRIPT_POINT_CTRL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Decript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(DDP/DMC/DDM).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ciblé (FK tr_sous_type_dossier, facultatif) : null = point commun à toute la famille (idTypeDossier) ; renseigné = point spécifique à ce sous-type (ex. contrôle AGPM du seul PPM-AGPM).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PORTEE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Portee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LIGNE, DOSSIER, FICHE, AGPM, SUPPRESSION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Portée du point : PorteePointCtrlLIGNE (évalué par ligne de marché) ou PorteePointCtrlDOSSIER (inter-lignes, ex. fractionnement illicite).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condition du point : catégorie de la fiche (nul : toutes).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CONTRAT_CADRE, AUTRE (toute autre forme) ; nul : toutes formes.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549</a:t>
            </a:r>
            <a:endParaRPr lang="en-US" sz="1100" dirty="0"/>
          </a:p>
        </p:txBody>
      </p:sp>
    </p:spTree>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name="Slide 5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5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seuil des marchés publics  ·  tr_seuil_marche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CONTROLE_A_PRIORI, APPEL_OFFRES_OUVERT, CONSULTATION, MANIFESTATION_INTERET_PRESSE, MANIFESTATION_INTERET_AFFICHAGE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BAREME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Bareme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CENTRAL, DECONCENTRE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hors taxes, en ariary, à partir duquel la conséquence du typeSeuil s'applique.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Délai minimal de publicité attaché au franchissement, quand le texte en attache un (prestations intellectuelles : 30 jours par voie de presse, 10 jours par affichage).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DATE_EFFET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valeur en vigueur. Une valeur remplacée est bornée,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qui fixe la valeur — cité tel quel dans le signalement, pour qu'il soit opposable.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Acteur de la dernière saisie administrative (null pour les valeurs semées par V32).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d’alerte  ·  t_regle_alerte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JOURS_AVANT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Jours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550</a:t>
            </a:r>
            <a:endParaRPr lang="en-US" sz="1100" dirty="0"/>
          </a:p>
        </p:txBody>
      </p:sp>
    </p:spTree>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name="Slide 5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5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du pré-contrôle  ·  t_regle_anomalie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PARAMETRE_NUM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PARAMETRE_TXT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txt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GRAVITE_DEFAUT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A_VERIFIER, PRIORITAIRE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(pré-contrôle du PPM, lot 3) : la gravité PRIORITAIRE de cnm.prs.enums.GraviteSignalement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paramètre  ·  t_parametre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L’entité contractante  ·  tr_entite_contract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de l'entité contractante (§1). C'est elle qui fixe la localité d'un dossier la concernant.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Sigle tel qu'il figure dans les références (« MESupReS », « JIRAMA ») ; facultatif, sans 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551</a:t>
            </a:r>
            <a:endParaRPr lang="en-US" sz="1100" dirty="0"/>
          </a:p>
        </p:txBody>
      </p:sp>
    </p:spTree>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name="Slide 5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5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d’entité  ·  tr_categorie_entite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ministère  ·  tr_ministere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L’organigramme  ·  t_organigramme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localité  ·  tr_localite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CHEF_LIEU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Chef 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la localité CENTRALE (Commission Nationale des Marchés) — source unique : références officielles (segment CNM au lieu de CRM-), choix du modèle de PV (variante centrale) et signature des lettres de renvoi. / public static final String ID_CENTRALE = "ANT"; /** Vrai si l'identifiant…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nature de marché  ·  tr_nature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CATEGORIE_DAO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DAO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catégorie de fiche DAO des lignes de cette nature ; null : ses lignes ne se préparent pas.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552</a:t>
            </a:r>
            <a:endParaRPr lang="en-US" sz="1100" dirty="0"/>
          </a:p>
        </p:txBody>
      </p:sp>
    </p:spTree>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name="Slide 5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5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mode de passation  ·  tr_mode_passation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PUBLICITE_REQUISE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Publicite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Mapping (administrable) vers le type de DMC dérivé pour les marchés de ce mode.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AGPM_SI_SEUIL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AGPM si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Marqueur administrable « appel d'offres ouvert » : si vrai, tout marché de ce mode déclenche l'exigence d'un AGPM (Avis Général de Passation de Marché) sur le PPM.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DECLENCHE_AGPM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Declenche AGPM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data-driven (tr_mode_passation.DECLENCHE_AGPM) : ce mode (ex. « appel d'offres ouvert ») rend la pièce AGPM obligatoire à la soumission d'un PPM. Administrable via mode-passations.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PROCEDURE_SEUIL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APPEL_OFFRES_OUVERT, CONSULTATION, ACHAT_DIRECT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Palier de l'arrêté n° 13 156/2019-MEF auquel ce mode appartient (art. 2,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NORMAL, DEROGATOIRE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Étape 2 — palier déduit du libellé, pour poser la valeur initiale de procedureSeuil sur les modes qui n'en portent pas encore (dont ceux créés à la volée par un import PDF, qui n'apporte qu'un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ID_MODE_MODELE_CAPM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 modele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CAPM partagé : mode dont ce mode réutilise le modèle détaillé de processus CAPM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DMC  ·  t_type_dmc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dossier  ·  tr_type_dossier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553</a:t>
            </a:r>
            <a:endParaRPr lang="en-US" sz="1100" dirty="0"/>
          </a:p>
        </p:txBody>
      </p:sp>
    </p:spTree>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name="Slide 5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5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sous-type de dossier  ·  tr_sous_type_dossier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rattachement (FK tr_type_dossier.ID_TYPE_DOSSIER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GRILLE_BASE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 base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sous-type dont la grille s'ajoute à celle-ci (DAOR = DAOO + ses points).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GRILLE_PROPRE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Grille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les points communs de la famille ne s'appliquent pas (MPI, MGG, DC, AVN…).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pièce jointe  ·  t_type_piece_jointe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stable (administrable, facultatif) identifiant le type de pièce indépendamment du libellé —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dossier concerné (FK tr_type_dossier.ID_TYPE_DOSSIER).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statut de marché  ·  tr_statut_marche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d'affichage dans les listes déroulantes ; null se range en dernier.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d'usage : un statut désactivé n'est plus proposé. Il reste accepté à l'écriture — refuser un code déjà porté par des marchés empêcherait de ré-enregistrer une ligne parfaitement légitime, ce qui ferait de la désactivation une opération destructrice.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L’avis  ·  tr_avis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554</a:t>
            </a:r>
            <a:endParaRPr lang="en-US" sz="1100" dirty="0"/>
          </a:p>
        </p:txBody>
      </p:sp>
    </p:spTree>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name="Slide 5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11 ADMINISTRER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5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d’imputation  ·  tr_compte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 compte  ·  tr_cat_compte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SOA  ·  tr_soa_beneficiaire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(audit)  ·  t_audit_log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CHAMP_MODIFIE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modifie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IP_ADRESSE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Ip 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SESSION_ID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Session 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555</a:t>
            </a:r>
            <a:endParaRPr lang="en-US" sz="1100" dirty="0"/>
          </a:p>
        </p:txBody>
      </p:sp>
    </p:spTree>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name="Slide 5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conserve et le nombre de ses informations.</a:t>
            </a:r>
            <a:endParaRPr lang="en-US" sz="1300" dirty="0"/>
          </a:p>
        </p:txBody>
      </p:sp>
      <p:graphicFrame>
        <p:nvGraphicFramePr>
          <p:cNvPr id="55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des statistiques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t_snapshot_stats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publication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t_publication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public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t_document_public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465568"/>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556</a:t>
            </a:r>
            <a:endParaRPr lang="en-US" sz="1100" dirty="0"/>
          </a:p>
        </p:txBody>
      </p:sp>
    </p:spTree>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name="Slide 5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5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 contrôleur  ·  t_indicateur_ctrl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PERIODE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NB_EXAMENS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examens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NB_OBS_EMISES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observation emises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d’une PRMP  ·  t_indicateur_prmp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NB_PPM_SOUMIS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PPM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NB_DOSSIERS_NON_CONFORMES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non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NB_RETRAITS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retraits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DELAI_MOY_CORRECTION_JOURS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 correction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des statistiques  ·  t_snapshot_stats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557</a:t>
            </a:r>
            <a:endParaRPr lang="en-US" sz="1100" dirty="0"/>
          </a:p>
        </p:txBody>
      </p:sp>
    </p:spTree>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name="Slide 5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55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NB_DOSSIERS_RECUS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reçus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NB_DOSSIERS_CLOTURES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clotures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NB_DOSSIERS_EN_COURS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en 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NB_RETOURS_MOYEN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publication  ·  t_publication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STATUT_PUBLI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NB_CONSULTATIONS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consultations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public  ·  t_document_public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ID_DOC_PUBLIC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 public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558</a:t>
            </a:r>
            <a:endParaRPr lang="en-US" sz="1100" dirty="0"/>
          </a:p>
        </p:txBody>
      </p:sp>
    </p:spTree>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name="Slide 5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B · 12 PILOTER ET PUBLIER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56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 par l'action empreinte.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559</a:t>
            </a:r>
            <a:endParaRPr lang="en-US" sz="1100" dirty="0"/>
          </a:p>
        </p:txBody>
      </p:sp>
    </p:spTree>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name="Slide 560">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698500"/>
            <a:ext cx="3809905" cy="952500"/>
          </a:xfrm>
          <a:prstGeom prst="rect">
            <a:avLst/>
          </a:prstGeom>
          <a:noFill/>
          <a:ln/>
        </p:spPr>
        <p:txBody>
          <a:bodyPr wrap="square" rtlCol="0" anchor="ctr"/>
          <a:lstStyle/>
          <a:p>
            <a:pPr indent="0" marL="0">
              <a:buNone/>
            </a:pPr>
            <a:r>
              <a:rPr lang="en-US" sz="7200" b="1" dirty="0">
                <a:solidFill>
                  <a:srgbClr val="E3AE2E"/>
                </a:solidFill>
                <a:latin typeface="Segoe UI" pitchFamily="34" charset="0"/>
                <a:ea typeface="Segoe UI" pitchFamily="34" charset="-122"/>
                <a:cs typeface="Segoe UI" pitchFamily="34" charset="-120"/>
              </a:rPr>
              <a:t>C</a:t>
            </a:r>
            <a:endParaRPr lang="en-US" sz="7200" dirty="0"/>
          </a:p>
        </p:txBody>
      </p:sp>
      <p:sp>
        <p:nvSpPr>
          <p:cNvPr id="4" name="Text 2"/>
          <p:cNvSpPr/>
          <p:nvPr/>
        </p:nvSpPr>
        <p:spPr>
          <a:xfrm>
            <a:off x="812780" y="1714500"/>
            <a:ext cx="10477238" cy="635000"/>
          </a:xfrm>
          <a:prstGeom prst="rect">
            <a:avLst/>
          </a:prstGeom>
          <a:noFill/>
          <a:ln/>
        </p:spPr>
        <p:txBody>
          <a:bodyPr wrap="square" rtlCol="0" anchor="ctr">
            <a:normAutofit/>
          </a:bodyPr>
          <a:lstStyle/>
          <a:p>
            <a:pPr indent="0" marL="0">
              <a:buNone/>
            </a:pPr>
            <a:r>
              <a:rPr lang="en-US" sz="4000" b="1" dirty="0">
                <a:solidFill>
                  <a:srgbClr val="FCFCFA"/>
                </a:solidFill>
                <a:latin typeface="Segoe UI" pitchFamily="34" charset="0"/>
                <a:ea typeface="Segoe UI" pitchFamily="34" charset="-122"/>
                <a:cs typeface="Segoe UI" pitchFamily="34" charset="-120"/>
              </a:rPr>
              <a:t>Annexe C — Pour l’équipe projet et recette</a:t>
            </a:r>
            <a:endParaRPr lang="en-US" sz="4000" dirty="0"/>
          </a:p>
        </p:txBody>
      </p:sp>
      <p:sp>
        <p:nvSpPr>
          <p:cNvPr id="5" name="Text 3"/>
          <p:cNvSpPr/>
          <p:nvPr/>
        </p:nvSpPr>
        <p:spPr>
          <a:xfrm>
            <a:off x="812780" y="2413000"/>
            <a:ext cx="10159746" cy="698500"/>
          </a:xfrm>
          <a:prstGeom prst="rect">
            <a:avLst/>
          </a:prstGeom>
          <a:noFill/>
          <a:ln/>
        </p:spPr>
        <p:txBody>
          <a:bodyPr wrap="square" rtlCol="0" anchor="t">
            <a:normAutofit/>
          </a:bodyPr>
          <a:lstStyle/>
          <a:p>
            <a:pPr indent="0" marL="0">
              <a:buNone/>
            </a:pPr>
            <a:r>
              <a:rPr lang="en-US" sz="1700" dirty="0">
                <a:solidFill>
                  <a:srgbClr val="C9D6E2"/>
                </a:solidFill>
                <a:latin typeface="Segoe UI" pitchFamily="34" charset="0"/>
                <a:ea typeface="Segoe UI" pitchFamily="34" charset="-122"/>
                <a:cs typeface="Segoe UI" pitchFamily="34" charset="-120"/>
              </a:rPr>
              <a:t>Ce que la présentation montre et d’où elle le tient : la provenance de chaque écran, la couverture, les états non capturés, les anomalies relevées pendant la refonte, les données de démonstration, et la façon de la régénérer.</a:t>
            </a:r>
            <a:endParaRPr lang="en-US" sz="1700" dirty="0"/>
          </a:p>
        </p:txBody>
      </p:sp>
      <p:sp>
        <p:nvSpPr>
          <p:cNvPr id="6" name="Text 4"/>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dossier de recette · 560</a:t>
            </a:r>
            <a:endParaRPr lang="en-US" sz="1100" dirty="0"/>
          </a:p>
        </p:txBody>
      </p:sp>
    </p:spTree>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name="Slide 5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Lire la présentation en recette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La présentation sert deux publics : la direction lit les parties ; l’équipe projet et recette dispose en plus des notes, des codes et des annexes.</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notes de l’orateur</a:t>
            </a:r>
            <a:endParaRPr lang="en-US" sz="1500" dirty="0"/>
          </a:p>
        </p:txBody>
      </p:sp>
      <p:sp>
        <p:nvSpPr>
          <p:cNvPr id="8" name="Text 6"/>
          <p:cNvSpPr/>
          <p:nvPr/>
        </p:nvSpPr>
        <p:spPr>
          <a:xfrm>
            <a:off x="952476" y="2209800"/>
            <a:ext cx="2247844"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diapositive d’écran porte en note sa </a:t>
            </a:r>
            <a:pPr indent="0" marL="0">
              <a:buNone/>
            </a:pPr>
            <a:r>
              <a:rPr lang="en-US" sz="1200" b="1" dirty="0">
                <a:solidFill>
                  <a:srgbClr val="1B2A3A"/>
                </a:solidFill>
                <a:latin typeface="Segoe UI" pitchFamily="34" charset="0"/>
                <a:ea typeface="Segoe UI" pitchFamily="34" charset="-122"/>
                <a:cs typeface="Segoe UI" pitchFamily="34" charset="-120"/>
              </a:rPr>
              <a:t>provenance</a:t>
            </a:r>
            <a:pPr indent="0" marL="0">
              <a:buNone/>
            </a:pPr>
            <a:r>
              <a:rPr lang="en-US" sz="1200" dirty="0">
                <a:solidFill>
                  <a:srgbClr val="465568"/>
                </a:solidFill>
                <a:latin typeface="Segoe UI" pitchFamily="34" charset="0"/>
                <a:ea typeface="Segoe UI" pitchFamily="34" charset="-122"/>
                <a:cs typeface="Segoe UI" pitchFamily="34" charset="-120"/>
              </a:rPr>
              <a:t> : identifiant de capture, adresse de l’écran, compte utilisé, date ; ou, pour une capture reprise, le fichier de la présentation du 08/10 et la raison de la reprise.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codes de règles</a:t>
            </a:r>
            <a:endParaRPr lang="en-US" sz="1500" dirty="0"/>
          </a:p>
        </p:txBody>
      </p:sp>
      <p:sp>
        <p:nvSpPr>
          <p:cNvPr id="12" name="Text 10"/>
          <p:cNvSpPr/>
          <p:nvPr/>
        </p:nvSpPr>
        <p:spPr>
          <a:xfrm>
            <a:off x="3632109"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codes </a:t>
            </a:r>
            <a:pPr indent="0" marL="0">
              <a:buNone/>
            </a:pPr>
            <a:r>
              <a:rPr lang="en-US" sz="1200" b="1" dirty="0">
                <a:solidFill>
                  <a:srgbClr val="1B2A3A"/>
                </a:solidFill>
                <a:latin typeface="Segoe UI" pitchFamily="34" charset="0"/>
                <a:ea typeface="Segoe UI" pitchFamily="34" charset="-122"/>
                <a:cs typeface="Segoe UI" pitchFamily="34" charset="-120"/>
              </a:rPr>
              <a:t>RG-‹partie›-nn</a:t>
            </a:r>
            <a:pPr indent="0" marL="0">
              <a:buNone/>
            </a:pPr>
            <a:r>
              <a:rPr lang="en-US" sz="1200" dirty="0">
                <a:solidFill>
                  <a:srgbClr val="465568"/>
                </a:solidFill>
                <a:latin typeface="Segoe UI" pitchFamily="34" charset="0"/>
                <a:ea typeface="Segoe UI" pitchFamily="34" charset="-122"/>
                <a:cs typeface="Segoe UI" pitchFamily="34" charset="-120"/>
              </a:rPr>
              <a:t> cités sous chaque écran renvoient à l’annexe A ; chaque règle y cite sa source (règles de gestion du serveur, contrats, manuel de contrôle révisé, encadrés des demandes).</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données</a:t>
            </a:r>
            <a:endParaRPr lang="en-US" sz="1500" dirty="0"/>
          </a:p>
        </p:txBody>
      </p:sp>
      <p:sp>
        <p:nvSpPr>
          <p:cNvPr id="16" name="Text 14"/>
          <p:cNvSpPr/>
          <p:nvPr/>
        </p:nvSpPr>
        <p:spPr>
          <a:xfrm>
            <a:off x="6311742"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L’annexe B est ré-extraite du code du serveur le 14/10 (171 entités) : colonne, type et valeurs, caractère obligatoire, description tirée de la Javadoc.</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noms</a:t>
            </a:r>
            <a:endParaRPr lang="en-US" sz="1500" dirty="0"/>
          </a:p>
        </p:txBody>
      </p:sp>
      <p:sp>
        <p:nvSpPr>
          <p:cNvPr id="20" name="Text 18"/>
          <p:cNvSpPr/>
          <p:nvPr/>
        </p:nvSpPr>
        <p:spPr>
          <a:xfrm>
            <a:off x="8991375"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captures sont masquées </a:t>
            </a:r>
            <a:pPr indent="0" marL="0">
              <a:buNone/>
            </a:pPr>
            <a:r>
              <a:rPr lang="en-US" sz="1200" b="1" dirty="0">
                <a:solidFill>
                  <a:srgbClr val="1B2A3A"/>
                </a:solidFill>
                <a:latin typeface="Segoe UI" pitchFamily="34" charset="0"/>
                <a:ea typeface="Segoe UI" pitchFamily="34" charset="-122"/>
                <a:cs typeface="Segoe UI" pitchFamily="34" charset="-120"/>
              </a:rPr>
              <a:t>dans la page</a:t>
            </a:r>
            <a:pPr indent="0" marL="0">
              <a:buNone/>
            </a:pPr>
            <a:r>
              <a:rPr lang="en-US" sz="1200" dirty="0">
                <a:solidFill>
                  <a:srgbClr val="465568"/>
                </a:solidFill>
                <a:latin typeface="Segoe UI" pitchFamily="34" charset="0"/>
                <a:ea typeface="Segoe UI" pitchFamily="34" charset="-122"/>
                <a:cs typeface="Segoe UI" pitchFamily="34" charset="-120"/>
              </a:rPr>
              <a:t> avant la prise de vue : personnes et matricules remplacés par leur rôle, initiales d’avatar, photos et adresses électroniques réelles effacées.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561</a:t>
            </a:r>
            <a:endParaRPr lang="en-US" sz="1100" dirty="0"/>
          </a:p>
        </p:txBody>
      </p:sp>
    </p:spTree>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name="Slide 5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couverture, partie par partie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Une capture est </a:t>
            </a:r>
            <a:pPr indent="0" marL="0">
              <a:buNone/>
            </a:pPr>
            <a:r>
              <a:rPr lang="en-US" sz="1300" b="1" dirty="0">
                <a:solidFill>
                  <a:srgbClr val="1B2A3A"/>
                </a:solidFill>
                <a:latin typeface="Segoe UI" pitchFamily="34" charset="0"/>
                <a:ea typeface="Segoe UI" pitchFamily="34" charset="-122"/>
                <a:cs typeface="Segoe UI" pitchFamily="34" charset="-120"/>
              </a:rPr>
              <a:t>reprise</a:t>
            </a:r>
            <a:pPr indent="0" marL="0">
              <a:buNone/>
            </a:pPr>
            <a:r>
              <a:rPr lang="en-US" sz="1300" dirty="0">
                <a:solidFill>
                  <a:srgbClr val="465568"/>
                </a:solidFill>
                <a:latin typeface="Segoe UI" pitchFamily="34" charset="0"/>
                <a:ea typeface="Segoe UI" pitchFamily="34" charset="-122"/>
                <a:cs typeface="Segoe UI" pitchFamily="34" charset="-120"/>
              </a:rPr>
              <a:t> de la présentation du 08/10 seulement quand l’état qu’elle montre ne se reproduit plus sur la base du 14/10 et que l’écran n’a pas changé sur ce qu’il montre. La note de chaque écran le précise.</a:t>
            </a:r>
            <a:endParaRPr lang="en-US" sz="1300" dirty="0"/>
          </a:p>
        </p:txBody>
      </p:sp>
      <p:graphicFrame>
        <p:nvGraphicFramePr>
          <p:cNvPr id="56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4114800"/>
                <a:gridCol w="1645920"/>
                <a:gridCol w="1920240"/>
                <a:gridCol w="1920240"/>
                <a:gridCol w="18288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Partie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Écrans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Captures neuves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Reprises du 08/10</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01 · Entrer</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14</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02 · Planifier</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16</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03 · Contrôler</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31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24</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57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04 · Préparer le DAO</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23</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4</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60</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05 · L’appel à manifestation d’intérêt</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10</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4</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6</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26</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06 · Recevoir les offres en ligne</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38</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35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07 · La séance d’ouverture</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18</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13</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31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08 · Évaluer les offres</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22</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11</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38</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09 · Attribuer et notifier</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22</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14</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8</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36</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10 · Intérim et mandats</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0</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11 · Administrer</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28</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28</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0</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47</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12 · Piloter et publier</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6</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6</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0</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dirty="0">
                          <a:solidFill>
                            <a:srgbClr val="1B2A3A"/>
                          </a:solidFill>
                          <a:latin typeface="Segoe UI" pitchFamily="34" charset="0"/>
                          <a:ea typeface="Segoe UI" pitchFamily="34" charset="-122"/>
                          <a:cs typeface="Segoe UI" pitchFamily="34" charset="-120"/>
                        </a:rPr>
                        <a:t>15</a:t>
                      </a:r>
                      <a:endParaRPr lang="en-US" sz="110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100" b="1" dirty="0">
                          <a:solidFill>
                            <a:srgbClr val="1B2A3A"/>
                          </a:solidFill>
                          <a:latin typeface="Segoe UI" pitchFamily="34" charset="0"/>
                          <a:ea typeface="Segoe UI" pitchFamily="34" charset="-122"/>
                          <a:cs typeface="Segoe UI" pitchFamily="34" charset="-120"/>
                        </a:rPr>
                        <a:t>Total</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b="1" dirty="0">
                          <a:solidFill>
                            <a:srgbClr val="1B6FA8"/>
                          </a:solidFill>
                          <a:latin typeface="Segoe UI" pitchFamily="34" charset="0"/>
                          <a:ea typeface="Segoe UI" pitchFamily="34" charset="-122"/>
                          <a:cs typeface="Segoe UI" pitchFamily="34" charset="-120"/>
                        </a:rPr>
                        <a:t>238</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b="1" dirty="0">
                          <a:solidFill>
                            <a:srgbClr val="1B6FA8"/>
                          </a:solidFill>
                          <a:latin typeface="Segoe UI" pitchFamily="34" charset="0"/>
                          <a:ea typeface="Segoe UI" pitchFamily="34" charset="-122"/>
                          <a:cs typeface="Segoe UI" pitchFamily="34" charset="-120"/>
                        </a:rPr>
                        <a:t>156</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b="1" dirty="0">
                          <a:solidFill>
                            <a:srgbClr val="1B6FA8"/>
                          </a:solidFill>
                          <a:latin typeface="Segoe UI" pitchFamily="34" charset="0"/>
                          <a:ea typeface="Segoe UI" pitchFamily="34" charset="-122"/>
                          <a:cs typeface="Segoe UI" pitchFamily="34" charset="-120"/>
                        </a:rPr>
                        <a:t>82</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100" b="1" dirty="0">
                          <a:solidFill>
                            <a:srgbClr val="1B6FA8"/>
                          </a:solidFill>
                          <a:latin typeface="Segoe UI" pitchFamily="34" charset="0"/>
                          <a:ea typeface="Segoe UI" pitchFamily="34" charset="-122"/>
                          <a:cs typeface="Segoe UI" pitchFamily="34" charset="-120"/>
                        </a:rPr>
                        <a:t>416</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562</a:t>
            </a:r>
            <a:endParaRPr lang="en-US" sz="1100" dirty="0"/>
          </a:p>
        </p:txBody>
      </p:sp>
    </p:spTree>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name="Slide 5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 présentation ne montre pas encore</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Ces états n’existent pas dans la base de recette du 14/10 ; aucune capture n’a été fabriquée pour eux.</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signature et ses suites</a:t>
            </a:r>
            <a:endParaRPr lang="en-US" sz="1500" dirty="0"/>
          </a:p>
        </p:txBody>
      </p:sp>
      <p:sp>
        <p:nvSpPr>
          <p:cNvPr id="8" name="Text 6"/>
          <p:cNvSpPr/>
          <p:nvPr/>
        </p:nvSpPr>
        <p:spPr>
          <a:xfrm>
            <a:off x="952476" y="20383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Signature, approbation, enregistrement, notification : aucun lot n’a dépassé « informé » dans la base (procédure 44, lot 1 : délai d’attente jusqu’au 20/10, recours en cours). Décrits par les règles RG-ATT et les garanties de la partie 09.</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Avis d’attribution publié et en retard</a:t>
            </a:r>
            <a:endParaRPr lang="en-US" sz="1500" dirty="0"/>
          </a:p>
        </p:txBody>
      </p:sp>
      <p:sp>
        <p:nvSpPr>
          <p:cNvPr id="12" name="Text 10"/>
          <p:cNvSpPr/>
          <p:nvPr/>
        </p:nvSpPr>
        <p:spPr>
          <a:xfrm>
            <a:off x="4525320"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Dépend de la notification ; la pastille d’alerte de « Fiches DAO » est couverte par les tests unitaires.</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Plan « réputé approuvé » (art. 26-IV)</a:t>
            </a:r>
            <a:endParaRPr lang="en-US" sz="1500" dirty="0"/>
          </a:p>
        </p:txBody>
      </p:sp>
      <p:sp>
        <p:nvSpPr>
          <p:cNvPr id="16" name="Text 14"/>
          <p:cNvSpPr/>
          <p:nvPr/>
        </p:nvSpPr>
        <p:spPr>
          <a:xfrm>
            <a:off x="8098164"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dossier ne porte le marqueur en base. Règle RG-ATT-36, sans capture.</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B6FA8"/>
          </a:solidFill>
          <a:ln/>
        </p:spPr>
      </p:sp>
      <p:sp>
        <p:nvSpPr>
          <p:cNvPr id="19" name="Text 17"/>
          <p:cNvSpPr/>
          <p:nvPr/>
        </p:nvSpPr>
        <p:spPr>
          <a:xfrm>
            <a:off x="952476" y="40640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Migration effective du mode de remise</a:t>
            </a:r>
            <a:endParaRPr lang="en-US" sz="1500" dirty="0"/>
          </a:p>
        </p:txBody>
      </p:sp>
      <p:sp>
        <p:nvSpPr>
          <p:cNvPr id="20" name="Text 18"/>
          <p:cNvSpPr/>
          <p:nvPr/>
        </p:nvSpPr>
        <p:spPr>
          <a:xfrm>
            <a:off x="952476" y="45212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fenêtre est montrée ouverte, jamais envoyée : la migration écrirait en base.</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Questions des candidats et réponses</a:t>
            </a:r>
            <a:endParaRPr lang="en-US" sz="1500" dirty="0"/>
          </a:p>
        </p:txBody>
      </p:sp>
      <p:sp>
        <p:nvSpPr>
          <p:cNvPr id="24" name="Text 22"/>
          <p:cNvSpPr/>
          <p:nvPr/>
        </p:nvSpPr>
        <p:spPr>
          <a:xfrm>
            <a:off x="4525320" y="45212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Aucune question en base : l’écran de la PRMP et la section publique sont montrés vides, avec leur explication.</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12324A"/>
          </a:solidFill>
          <a:ln/>
        </p:spPr>
      </p:sp>
      <p:sp>
        <p:nvSpPr>
          <p:cNvPr id="27" name="Text 25"/>
          <p:cNvSpPr/>
          <p:nvPr/>
        </p:nvSpPr>
        <p:spPr>
          <a:xfrm>
            <a:off x="8098164" y="40640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Archivage par l’Assistant</a:t>
            </a:r>
            <a:endParaRPr lang="en-US" sz="1500" dirty="0"/>
          </a:p>
        </p:txBody>
      </p:sp>
      <p:sp>
        <p:nvSpPr>
          <p:cNvPr id="28" name="Text 26"/>
          <p:cNvSpPr/>
          <p:nvPr/>
        </p:nvSpPr>
        <p:spPr>
          <a:xfrm>
            <a:off x="8098164" y="43497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compte de l’Assistant n’a pas le mot de passe de recette : l’écran est montré depuis le Président, qui archive par délégation, et par une capture du 08/10.</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563</a:t>
            </a:r>
            <a:endParaRPr lang="en-US" sz="1100" dirty="0"/>
          </a:p>
        </p:txBody>
      </p:sp>
    </p:spTree>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name="Slide 5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anomalies relevées pendant la refonte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 Confirmée » : constatée sur l’écran capturé ; « Expliquée » : un effet des données de recette ; « À examiner » : signalée, cause à établir. Aucune n’a été corrigée dans le cadre de la refonte.</a:t>
            </a:r>
            <a:endParaRPr lang="en-US" sz="1300" dirty="0"/>
          </a:p>
        </p:txBody>
      </p:sp>
      <p:graphicFrame>
        <p:nvGraphicFramePr>
          <p:cNvPr id="56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468880"/>
                <a:gridCol w="6309360"/>
                <a:gridCol w="1188720"/>
                <a:gridCol w="14630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Écran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Constat</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Statut</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Piste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05 · AMI public (procédure 49)</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La lecture publique de l’appel répond en erreur serveur (500) ; la page n’affiche que « L’appel n’a pas pu être chargé ». La liste publique des AMI est vide.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Serveur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08-09 · Attribution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Codes bruts affichés : « INFORME », « EN_VERIFICATION », « REMPLACEE », « RETIREE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08 · Évaluation (40, 44)</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L’onglet du lot dit « Rapport — en cours » alors que le rapport est « Signé de tous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03 · Examen (dossier 100378)</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L’étape « Contrôles du dossier » affiche « Terminé · RAS » alors que l’en-tête compte « 1 non conforme(s) sur 2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02 · Suivi des dossiers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L’introduction dit « les brouillons ne sont pas ici », la liste en montre deux.</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11 · Mode de passation → type de DMC</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Chaque liste affiche « — Non mappé — » alors que la colonne État indique la correspondance enregistrée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 à confirmer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06 · Page publique (procédure 40)</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Le lot 2 infructueux s’affiche « Lot 2 — / Résultat communiqué le · affiché le », champs vides.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564</a:t>
            </a:r>
            <a:endParaRPr lang="en-US" sz="1100" dirty="0"/>
          </a:p>
        </p:txBody>
      </p:sp>
    </p:spTree>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name="Slide 5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anomalies relevées pendant la refonte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 Confirmée » : constatée sur l’écran capturé ; « Expliquée » : un effet des données de recette ; « À examiner » : signalée, cause à établir. Aucune n’a été corrigée dans le cadre de la refonte.</a:t>
            </a:r>
            <a:endParaRPr lang="en-US" sz="1300" dirty="0"/>
          </a:p>
        </p:txBody>
      </p:sp>
      <p:graphicFrame>
        <p:nvGraphicFramePr>
          <p:cNvPr id="56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468880"/>
                <a:gridCol w="6309360"/>
                <a:gridCol w="1188720"/>
                <a:gridCol w="146304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Écran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Constat</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Statut</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Piste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06 · Mes offres (candidat)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 Remplacer » et « Retirer… » restent proposés sur des offres dont la date limite est passée (procédure 50).</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01 · Notifications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Le filtre par type affiche des libellés sans accents (« Cles publiees », « Recu a valider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b="1" dirty="0">
                          <a:solidFill>
                            <a:srgbClr val="B23B3B"/>
                          </a:solidFill>
                          <a:latin typeface="Segoe UI" pitchFamily="34" charset="0"/>
                          <a:ea typeface="Segoe UI" pitchFamily="34" charset="-122"/>
                          <a:cs typeface="Segoe UI" pitchFamily="34" charset="-120"/>
                        </a:rPr>
                        <a:t>Confirmée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07 · Séance (procédure 44)</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PV « signé » mais « Quorum non atteint, 1 sur 2 » : PV du 05/10, antérieur à la règle du quorum (10/10), second membre empêché.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2E8B57"/>
                          </a:solidFill>
                          <a:latin typeface="Segoe UI" pitchFamily="34" charset="0"/>
                          <a:ea typeface="Segoe UI" pitchFamily="34" charset="-122"/>
                          <a:cs typeface="Segoe UI" pitchFamily="34" charset="-120"/>
                        </a:rPr>
                        <a:t>Expliquée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Données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03 · Vérifier (dossier 100372)</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Le bandeau décrit le cas « avis favorable avec réserve » sur un dossier « Favorable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b="1" dirty="0">
                          <a:solidFill>
                            <a:srgbClr val="E3AE2E"/>
                          </a:solidFill>
                          <a:latin typeface="Segoe UI" pitchFamily="34" charset="0"/>
                          <a:ea typeface="Segoe UI" pitchFamily="34" charset="-122"/>
                          <a:cs typeface="Segoe UI" pitchFamily="34" charset="-120"/>
                        </a:rPr>
                        <a:t>À examiner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04 · Paramètres internes (40)</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Mentions internes visibles (« arbitrage du pilote, 04/10 », « (règle 8) ») ; adresse du dépositaire sous « Contact », champ obligatoire vide.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E3AE2E"/>
                          </a:solidFill>
                          <a:latin typeface="Segoe UI" pitchFamily="34" charset="0"/>
                          <a:ea typeface="Segoe UI" pitchFamily="34" charset="-122"/>
                          <a:cs typeface="Segoe UI" pitchFamily="34" charset="-120"/>
                        </a:rPr>
                        <a:t>À examiner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09 · Acte de gestion en brouillon (100374)</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Deux boutons de soumission : « Soumettre le dossier » et « Soumettre l’acte à la Commission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b="1" dirty="0">
                          <a:solidFill>
                            <a:srgbClr val="E3AE2E"/>
                          </a:solidFill>
                          <a:latin typeface="Segoe UI" pitchFamily="34" charset="0"/>
                          <a:ea typeface="Segoe UI" pitchFamily="34" charset="-122"/>
                          <a:cs typeface="Segoe UI" pitchFamily="34" charset="-120"/>
                        </a:rPr>
                        <a:t>À examiner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03 · Écrans figés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2A3A"/>
                          </a:solidFill>
                          <a:latin typeface="Segoe UI" pitchFamily="34" charset="0"/>
                          <a:ea typeface="Segoe UI" pitchFamily="34" charset="-122"/>
                          <a:cs typeface="Segoe UI" pitchFamily="34" charset="-120"/>
                        </a:rPr>
                        <a:t>La ligne du plan figée affiche des codes bruts (« Nature 1 », « CONTRAT_CADRE ») et des libellés sans accents (« Entite », « Prmp email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b="1" dirty="0">
                          <a:solidFill>
                            <a:srgbClr val="E3AE2E"/>
                          </a:solidFill>
                          <a:latin typeface="Segoe UI" pitchFamily="34" charset="0"/>
                          <a:ea typeface="Segoe UI" pitchFamily="34" charset="-122"/>
                          <a:cs typeface="Segoe UI" pitchFamily="34" charset="-120"/>
                        </a:rPr>
                        <a:t>À examiner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Serveur et front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565</a:t>
            </a:r>
            <a:endParaRPr lang="en-US" sz="1100" dirty="0"/>
          </a:p>
        </p:txBody>
      </p:sp>
    </p:spTree>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name="Slide 5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démonstration utilisées</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Les captures neuves ont été prises le 14/10/2026 sur la base de recette, en lecture seule : aucune donnée n’a été créée ni modifiée pour la présentation.</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Fiche 40 · travaux, électronique, 5 lots</a:t>
            </a:r>
            <a:endParaRPr lang="en-US" sz="1500" dirty="0"/>
          </a:p>
        </p:txBody>
      </p:sp>
      <p:sp>
        <p:nvSpPr>
          <p:cNvPr id="8" name="Text 6"/>
          <p:cNvSpPr/>
          <p:nvPr/>
        </p:nvSpPr>
        <p:spPr>
          <a:xfrm>
            <a:off x="952476"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Recette de bout en bout : séance, évaluation, lot 1 au contrôle (dossier 100371 en brouillon), lot 2 infructueux. Commission « recette ».</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Fiche 44 · fournitures, électronique</a:t>
            </a:r>
            <a:endParaRPr lang="en-US" sz="1500" dirty="0"/>
          </a:p>
        </p:txBody>
      </p:sp>
      <p:sp>
        <p:nvSpPr>
          <p:cNvPr id="12" name="Text 10"/>
          <p:cNvSpPr/>
          <p:nvPr/>
        </p:nvSpPr>
        <p:spPr>
          <a:xfrm>
            <a:off x="4525320"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Lot 1 informé, recours en cours, pièces de l’attributaire, original de l’AE exigé ; dossier de marché 100372 soumis (étapes closes). Commission « démonstration ».</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4191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Fiche 50 · prestations intellectuelles</a:t>
            </a:r>
            <a:endParaRPr lang="en-US" sz="1500" dirty="0"/>
          </a:p>
        </p:txBody>
      </p:sp>
      <p:sp>
        <p:nvSpPr>
          <p:cNvPr id="16" name="Text 14"/>
          <p:cNvSpPr/>
          <p:nvPr/>
        </p:nvSpPr>
        <p:spPr>
          <a:xfrm>
            <a:off x="8098164" y="2209800"/>
            <a:ext cx="3141055" cy="15367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Consultation restreinte : deux séances, évaluation technique et financière, négociation ; dossier MPI 100376.</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Fiche 49 · AMI</a:t>
            </a:r>
            <a:endParaRPr lang="en-US" sz="1500" dirty="0"/>
          </a:p>
        </p:txBody>
      </p:sp>
      <p:sp>
        <p:nvSpPr>
          <p:cNvPr id="20" name="Text 18"/>
          <p:cNvSpPr/>
          <p:nvPr/>
        </p:nvSpPr>
        <p:spPr>
          <a:xfrm>
            <a:off x="952476" y="43497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Présélection close, liste restreinte définitive.</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Fiches 32 et 39 · papier</a:t>
            </a:r>
            <a:endParaRPr lang="en-US" sz="1500" dirty="0"/>
          </a:p>
        </p:txBody>
      </p:sp>
      <p:sp>
        <p:nvSpPr>
          <p:cNvPr id="24" name="Text 22"/>
          <p:cNvSpPr/>
          <p:nvPr/>
        </p:nvSpPr>
        <p:spPr>
          <a:xfrm>
            <a:off x="4525320" y="43497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Mode de remise figé en papier (R8) ; dossier 100378 dispatché, examen en cours avec contrôles du Membre et écrans figés.</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Plans 100359 et 100363</a:t>
            </a:r>
            <a:endParaRPr lang="en-US" sz="1500" dirty="0"/>
          </a:p>
        </p:txBody>
      </p:sp>
      <p:sp>
        <p:nvSpPr>
          <p:cNvPr id="28" name="Text 26"/>
          <p:cNvSpPr/>
          <p:nvPr/>
        </p:nvSpPr>
        <p:spPr>
          <a:xfrm>
            <a:off x="8098164" y="4349750"/>
            <a:ext cx="3141055"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Plan transmis à SIGMP et plan clôturé ; dossiers 100373 et 100374 : actes de gestion ; 100377 : déclaration sans suite.</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566</a:t>
            </a:r>
            <a:endParaRPr lang="en-US" sz="1100" dirty="0"/>
          </a:p>
        </p:txBody>
      </p:sp>
    </p:spTree>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name="Slide 5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ANNEXE 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Régénérer la présentation</a:t>
            </a:r>
            <a:endParaRPr lang="en-US" sz="2600" dirty="0"/>
          </a:p>
        </p:txBody>
      </p:sp>
      <p:sp>
        <p:nvSpPr>
          <p:cNvPr id="4" name="Text 2"/>
          <p:cNvSpPr/>
          <p:nvPr/>
        </p:nvSpPr>
        <p:spPr>
          <a:xfrm>
            <a:off x="812780" y="1066800"/>
            <a:ext cx="10413740" cy="508000"/>
          </a:xfrm>
          <a:prstGeom prst="rect">
            <a:avLst/>
          </a:prstGeom>
          <a:noFill/>
          <a:ln/>
        </p:spPr>
        <p:txBody>
          <a:bodyPr wrap="square" rtlCol="0" anchor="t">
            <a:normAutofit/>
          </a:bodyPr>
          <a:lstStyle/>
          <a:p>
            <a:pPr indent="0" marL="0">
              <a:buNone/>
            </a:pPr>
            <a:r>
              <a:rPr lang="en-US" sz="1300" dirty="0">
                <a:solidFill>
                  <a:srgbClr val="465568"/>
                </a:solidFill>
                <a:latin typeface="Segoe UI" pitchFamily="34" charset="0"/>
                <a:ea typeface="Segoe UI" pitchFamily="34" charset="-122"/>
                <a:cs typeface="Segoe UI" pitchFamily="34" charset="-120"/>
              </a:rPr>
              <a:t>Le générateur réécrit tout le fichier à chaque exécution : on corrige les contenus, jamais le .pptx à la main.</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 Captures</a:t>
            </a:r>
            <a:endParaRPr lang="en-US" sz="1500" dirty="0"/>
          </a:p>
        </p:txBody>
      </p:sp>
      <p:sp>
        <p:nvSpPr>
          <p:cNvPr id="8" name="Text 6"/>
          <p:cNvSpPr/>
          <p:nvPr/>
        </p:nvSpPr>
        <p:spPr>
          <a:xfrm>
            <a:off x="952476"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Serveur de dev et backend démarrés ; </a:t>
            </a:r>
            <a:pPr indent="0" marL="0">
              <a:buNone/>
            </a:pPr>
            <a:r>
              <a:rPr lang="en-US" sz="1200" b="1" dirty="0">
                <a:solidFill>
                  <a:srgbClr val="1B2A3A"/>
                </a:solidFill>
                <a:latin typeface="Segoe UI" pitchFamily="34" charset="0"/>
                <a:ea typeface="Segoe UI" pitchFamily="34" charset="-122"/>
                <a:cs typeface="Segoe UI" pitchFamily="34" charset="-120"/>
              </a:rPr>
              <a:t>node capturer.mjs man/‹partie›.mjs</a:t>
            </a:r>
            <a:pPr indent="0" marL="0">
              <a:buNone/>
            </a:pPr>
            <a:r>
              <a:rPr lang="en-US" sz="1200" dirty="0">
                <a:solidFill>
                  <a:srgbClr val="465568"/>
                </a:solidFill>
                <a:latin typeface="Segoe UI" pitchFamily="34" charset="0"/>
                <a:ea typeface="Segoe UI" pitchFamily="34" charset="-122"/>
                <a:cs typeface="Segoe UI" pitchFamily="34" charset="-120"/>
              </a:rPr>
              <a:t> (navigation seule, masquage dans la page) → cap/.</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2. Images</a:t>
            </a:r>
            <a:endParaRPr lang="en-US" sz="1500" dirty="0"/>
          </a:p>
        </p:txBody>
      </p:sp>
      <p:sp>
        <p:nvSpPr>
          <p:cNvPr id="12" name="Text 10"/>
          <p:cNvSpPr/>
          <p:nvPr/>
        </p:nvSpPr>
        <p:spPr>
          <a:xfrm>
            <a:off x="3632109" y="2038350"/>
            <a:ext cx="2247844" cy="1708150"/>
          </a:xfrm>
          <a:prstGeom prst="rect">
            <a:avLst/>
          </a:prstGeom>
          <a:noFill/>
          <a:ln/>
        </p:spPr>
        <p:txBody>
          <a:bodyPr wrap="square" rtlCol="0" anchor="t">
            <a:normAutofit/>
          </a:bodyPr>
          <a:lstStyle/>
          <a:p>
            <a:pPr indent="0" marL="0">
              <a:buNone/>
            </a:pPr>
            <a:r>
              <a:rPr lang="en-US" sz="1200" b="1" dirty="0">
                <a:solidFill>
                  <a:srgbClr val="1B2A3A"/>
                </a:solidFill>
                <a:latin typeface="Segoe UI" pitchFamily="34" charset="0"/>
                <a:ea typeface="Segoe UI" pitchFamily="34" charset="-122"/>
                <a:cs typeface="Segoe UI" pitchFamily="34" charset="-120"/>
              </a:rPr>
              <a:t>convertir.ps1</a:t>
            </a:r>
            <a:pPr indent="0" marL="0">
              <a:buNone/>
            </a:pPr>
            <a:r>
              <a:rPr lang="en-US" sz="1200" dirty="0">
                <a:solidFill>
                  <a:srgbClr val="465568"/>
                </a:solidFill>
                <a:latin typeface="Segoe UI" pitchFamily="34" charset="0"/>
                <a:ea typeface="Segoe UI" pitchFamily="34" charset="-122"/>
                <a:cs typeface="Segoe UI" pitchFamily="34" charset="-120"/>
              </a:rPr>
              <a:t> : PNG → JPEG 1600 px, qualité 76.</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3. Contenus</a:t>
            </a:r>
            <a:endParaRPr lang="en-US" sz="1500" dirty="0"/>
          </a:p>
        </p:txBody>
      </p:sp>
      <p:sp>
        <p:nvSpPr>
          <p:cNvPr id="16" name="Text 14"/>
          <p:cNvSpPr/>
          <p:nvPr/>
        </p:nvSpPr>
        <p:spPr>
          <a:xfrm>
            <a:off x="6311742" y="2038350"/>
            <a:ext cx="2247844" cy="170815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 fichier </a:t>
            </a:r>
            <a:pPr indent="0" marL="0">
              <a:buNone/>
            </a:pPr>
            <a:r>
              <a:rPr lang="en-US" sz="1200" b="1" dirty="0">
                <a:solidFill>
                  <a:srgbClr val="1B2A3A"/>
                </a:solidFill>
                <a:latin typeface="Segoe UI" pitchFamily="34" charset="0"/>
                <a:ea typeface="Segoe UI" pitchFamily="34" charset="-122"/>
                <a:cs typeface="Segoe UI" pitchFamily="34" charset="-120"/>
              </a:rPr>
              <a:t>contenu/‹NN›.json</a:t>
            </a:r>
            <a:pPr indent="0" marL="0">
              <a:buNone/>
            </a:pPr>
            <a:r>
              <a:rPr lang="en-US" sz="1200" dirty="0">
                <a:solidFill>
                  <a:srgbClr val="465568"/>
                </a:solidFill>
                <a:latin typeface="Segoe UI" pitchFamily="34" charset="0"/>
                <a:ea typeface="Segoe UI" pitchFamily="34" charset="-122"/>
                <a:cs typeface="Segoe UI" pitchFamily="34" charset="-120"/>
              </a:rPr>
              <a:t> par partie (écrans, garanties, règles), plus ouverture.json et recette.json.</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24765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4. Génération</a:t>
            </a:r>
            <a:endParaRPr lang="en-US" sz="1500" dirty="0"/>
          </a:p>
        </p:txBody>
      </p:sp>
      <p:sp>
        <p:nvSpPr>
          <p:cNvPr id="20" name="Text 18"/>
          <p:cNvSpPr/>
          <p:nvPr/>
        </p:nvSpPr>
        <p:spPr>
          <a:xfrm>
            <a:off x="8991375" y="2038350"/>
            <a:ext cx="2247844" cy="1708150"/>
          </a:xfrm>
          <a:prstGeom prst="rect">
            <a:avLst/>
          </a:prstGeom>
          <a:noFill/>
          <a:ln/>
        </p:spPr>
        <p:txBody>
          <a:bodyPr wrap="square" rtlCol="0" anchor="t">
            <a:normAutofit/>
          </a:bodyPr>
          <a:lstStyle/>
          <a:p>
            <a:pPr indent="0" marL="0">
              <a:buNone/>
            </a:pPr>
            <a:r>
              <a:rPr lang="en-US" sz="1200" b="1" dirty="0">
                <a:solidFill>
                  <a:srgbClr val="1B2A3A"/>
                </a:solidFill>
                <a:latin typeface="Segoe UI" pitchFamily="34" charset="0"/>
                <a:ea typeface="Segoe UI" pitchFamily="34" charset="-122"/>
                <a:cs typeface="Segoe UI" pitchFamily="34" charset="-120"/>
              </a:rPr>
              <a:t>node gen.cjs</a:t>
            </a:r>
            <a:pPr indent="0" marL="0">
              <a:buNone/>
            </a:pPr>
            <a:r>
              <a:rPr lang="en-US" sz="1200" dirty="0">
                <a:solidFill>
                  <a:srgbClr val="465568"/>
                </a:solidFill>
                <a:latin typeface="Segoe UI" pitchFamily="34" charset="0"/>
                <a:ea typeface="Segoe UI" pitchFamily="34" charset="-122"/>
                <a:cs typeface="Segoe UI" pitchFamily="34" charset="-120"/>
              </a:rPr>
              <a:t> : vérifie la cohérence écrans ↔ règles, écrit et recompresse le .pptx ; relecture par export PowerPoint et planches.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dossier de recette · 567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567</Slides>
  <Notes>567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567</vt:i4>
      </vt:variant>
    </vt:vector>
  </HeadingPairs>
  <TitlesOfParts>
    <vt:vector size="5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lpstr>Slide 425</vt:lpstr>
      <vt:lpstr>Slide 426</vt:lpstr>
      <vt:lpstr>Slide 427</vt:lpstr>
      <vt:lpstr>Slide 428</vt:lpstr>
      <vt:lpstr>Slide 429</vt:lpstr>
      <vt:lpstr>Slide 430</vt:lpstr>
      <vt:lpstr>Slide 431</vt:lpstr>
      <vt:lpstr>Slide 432</vt:lpstr>
      <vt:lpstr>Slide 433</vt:lpstr>
      <vt:lpstr>Slide 434</vt:lpstr>
      <vt:lpstr>Slide 435</vt:lpstr>
      <vt:lpstr>Slide 436</vt:lpstr>
      <vt:lpstr>Slide 437</vt:lpstr>
      <vt:lpstr>Slide 438</vt:lpstr>
      <vt:lpstr>Slide 439</vt:lpstr>
      <vt:lpstr>Slide 440</vt:lpstr>
      <vt:lpstr>Slide 441</vt:lpstr>
      <vt:lpstr>Slide 442</vt:lpstr>
      <vt:lpstr>Slide 443</vt:lpstr>
      <vt:lpstr>Slide 444</vt:lpstr>
      <vt:lpstr>Slide 445</vt:lpstr>
      <vt:lpstr>Slide 446</vt:lpstr>
      <vt:lpstr>Slide 447</vt:lpstr>
      <vt:lpstr>Slide 448</vt:lpstr>
      <vt:lpstr>Slide 449</vt:lpstr>
      <vt:lpstr>Slide 450</vt:lpstr>
      <vt:lpstr>Slide 451</vt:lpstr>
      <vt:lpstr>Slide 452</vt:lpstr>
      <vt:lpstr>Slide 453</vt:lpstr>
      <vt:lpstr>Slide 454</vt:lpstr>
      <vt:lpstr>Slide 455</vt:lpstr>
      <vt:lpstr>Slide 456</vt:lpstr>
      <vt:lpstr>Slide 457</vt:lpstr>
      <vt:lpstr>Slide 458</vt:lpstr>
      <vt:lpstr>Slide 459</vt:lpstr>
      <vt:lpstr>Slide 460</vt:lpstr>
      <vt:lpstr>Slide 461</vt:lpstr>
      <vt:lpstr>Slide 462</vt:lpstr>
      <vt:lpstr>Slide 463</vt:lpstr>
      <vt:lpstr>Slide 464</vt:lpstr>
      <vt:lpstr>Slide 465</vt:lpstr>
      <vt:lpstr>Slide 466</vt:lpstr>
      <vt:lpstr>Slide 467</vt:lpstr>
      <vt:lpstr>Slide 468</vt:lpstr>
      <vt:lpstr>Slide 469</vt:lpstr>
      <vt:lpstr>Slide 470</vt:lpstr>
      <vt:lpstr>Slide 471</vt:lpstr>
      <vt:lpstr>Slide 472</vt:lpstr>
      <vt:lpstr>Slide 473</vt:lpstr>
      <vt:lpstr>Slide 474</vt:lpstr>
      <vt:lpstr>Slide 475</vt:lpstr>
      <vt:lpstr>Slide 476</vt:lpstr>
      <vt:lpstr>Slide 477</vt:lpstr>
      <vt:lpstr>Slide 478</vt:lpstr>
      <vt:lpstr>Slide 479</vt:lpstr>
      <vt:lpstr>Slide 480</vt:lpstr>
      <vt:lpstr>Slide 481</vt:lpstr>
      <vt:lpstr>Slide 482</vt:lpstr>
      <vt:lpstr>Slide 483</vt:lpstr>
      <vt:lpstr>Slide 484</vt:lpstr>
      <vt:lpstr>Slide 485</vt:lpstr>
      <vt:lpstr>Slide 486</vt:lpstr>
      <vt:lpstr>Slide 487</vt:lpstr>
      <vt:lpstr>Slide 488</vt:lpstr>
      <vt:lpstr>Slide 489</vt:lpstr>
      <vt:lpstr>Slide 490</vt:lpstr>
      <vt:lpstr>Slide 491</vt:lpstr>
      <vt:lpstr>Slide 492</vt:lpstr>
      <vt:lpstr>Slide 493</vt:lpstr>
      <vt:lpstr>Slide 494</vt:lpstr>
      <vt:lpstr>Slide 495</vt:lpstr>
      <vt:lpstr>Slide 496</vt:lpstr>
      <vt:lpstr>Slide 497</vt:lpstr>
      <vt:lpstr>Slide 498</vt:lpstr>
      <vt:lpstr>Slide 499</vt:lpstr>
      <vt:lpstr>Slide 500</vt:lpstr>
      <vt:lpstr>Slide 501</vt:lpstr>
      <vt:lpstr>Slide 502</vt:lpstr>
      <vt:lpstr>Slide 503</vt:lpstr>
      <vt:lpstr>Slide 504</vt:lpstr>
      <vt:lpstr>Slide 505</vt:lpstr>
      <vt:lpstr>Slide 506</vt:lpstr>
      <vt:lpstr>Slide 507</vt:lpstr>
      <vt:lpstr>Slide 508</vt:lpstr>
      <vt:lpstr>Slide 509</vt:lpstr>
      <vt:lpstr>Slide 510</vt:lpstr>
      <vt:lpstr>Slide 511</vt:lpstr>
      <vt:lpstr>Slide 512</vt:lpstr>
      <vt:lpstr>Slide 513</vt:lpstr>
      <vt:lpstr>Slide 514</vt:lpstr>
      <vt:lpstr>Slide 515</vt:lpstr>
      <vt:lpstr>Slide 516</vt:lpstr>
      <vt:lpstr>Slide 517</vt:lpstr>
      <vt:lpstr>Slide 518</vt:lpstr>
      <vt:lpstr>Slide 519</vt:lpstr>
      <vt:lpstr>Slide 520</vt:lpstr>
      <vt:lpstr>Slide 521</vt:lpstr>
      <vt:lpstr>Slide 522</vt:lpstr>
      <vt:lpstr>Slide 523</vt:lpstr>
      <vt:lpstr>Slide 524</vt:lpstr>
      <vt:lpstr>Slide 525</vt:lpstr>
      <vt:lpstr>Slide 526</vt:lpstr>
      <vt:lpstr>Slide 527</vt:lpstr>
      <vt:lpstr>Slide 528</vt:lpstr>
      <vt:lpstr>Slide 529</vt:lpstr>
      <vt:lpstr>Slide 530</vt:lpstr>
      <vt:lpstr>Slide 531</vt:lpstr>
      <vt:lpstr>Slide 532</vt:lpstr>
      <vt:lpstr>Slide 533</vt:lpstr>
      <vt:lpstr>Slide 534</vt:lpstr>
      <vt:lpstr>Slide 535</vt:lpstr>
      <vt:lpstr>Slide 536</vt:lpstr>
      <vt:lpstr>Slide 537</vt:lpstr>
      <vt:lpstr>Slide 538</vt:lpstr>
      <vt:lpstr>Slide 539</vt:lpstr>
      <vt:lpstr>Slide 540</vt:lpstr>
      <vt:lpstr>Slide 541</vt:lpstr>
      <vt:lpstr>Slide 542</vt:lpstr>
      <vt:lpstr>Slide 543</vt:lpstr>
      <vt:lpstr>Slide 544</vt:lpstr>
      <vt:lpstr>Slide 545</vt:lpstr>
      <vt:lpstr>Slide 546</vt:lpstr>
      <vt:lpstr>Slide 547</vt:lpstr>
      <vt:lpstr>Slide 548</vt:lpstr>
      <vt:lpstr>Slide 549</vt:lpstr>
      <vt:lpstr>Slide 550</vt:lpstr>
      <vt:lpstr>Slide 551</vt:lpstr>
      <vt:lpstr>Slide 552</vt:lpstr>
      <vt:lpstr>Slide 553</vt:lpstr>
      <vt:lpstr>Slide 554</vt:lpstr>
      <vt:lpstr>Slide 555</vt:lpstr>
      <vt:lpstr>Slide 556</vt:lpstr>
      <vt:lpstr>Slide 557</vt:lpstr>
      <vt:lpstr>Slide 558</vt:lpstr>
      <vt:lpstr>Slide 559</vt:lpstr>
      <vt:lpstr>Slide 560</vt:lpstr>
      <vt:lpstr>Slide 561</vt:lpstr>
      <vt:lpstr>Slide 562</vt:lpstr>
      <vt:lpstr>Slide 563</vt:lpstr>
      <vt:lpstr>Slide 564</vt:lpstr>
      <vt:lpstr>Slide 565</vt:lpstr>
      <vt:lpstr>Slide 566</vt:lpstr>
      <vt:lpstr>Slide 567</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L’application de bout en bout · dossier de recette</dc:title>
  <dc:subject>PptxGenJS Presentation</dc:subject>
  <dc:creator>PRS 2.0</dc:creator>
  <cp:lastModifiedBy>PRS 2.0</cp:lastModifiedBy>
  <cp:revision>1</cp:revision>
  <dcterms:created xsi:type="dcterms:W3CDTF">2026-10-14T11:36:02Z</dcterms:created>
  <dcterms:modified xsi:type="dcterms:W3CDTF">2026-10-14T11:36:02Z</dcterms:modified>
</cp:coreProperties>
</file>