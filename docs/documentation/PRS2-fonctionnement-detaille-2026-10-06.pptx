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</p:sldIdLst>
  <p:notesMasterIdLst>
    <p:notesMasterId r:id="rId10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notesMaster" Target="notesMasters/notesMaster1.xml"/><Relationship Id="rId108" Type="http://schemas.openxmlformats.org/officeDocument/2006/relationships/presProps" Target="presProps.xml"/><Relationship Id="rId109" Type="http://schemas.openxmlformats.org/officeDocument/2006/relationships/viewProps" Target="viewProps.xml"/><Relationship Id="rId110" Type="http://schemas.openxmlformats.org/officeDocument/2006/relationships/theme" Target="theme/theme1.xml"/><Relationship Id="rId1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Une seule chaîne réelle, suivie de bout en bout : un plan de passation créé ce jour-là, contrôlé par la Commission, puis le DAO d’une de ses lignes, sa commission d’appel d’offres, la cérémonie des clés, le dépôt d’une offre scellée et la séance d’ouverture.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étapes 2 à 5 sont montrées sur une seconde fiche brouillon de démonstration, parcourue à l’écran comme le ferait une PRMP.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2396" cy="6858000"/>
          </a:xfrm>
          <a:prstGeom prst="rect">
            <a:avLst/>
          </a:prstGeom>
          <a:solidFill>
            <a:srgbClr val="E3AE2E"/>
          </a:solidFill>
          <a:ln w="12700">
            <a:solidFill>
              <a:srgbClr val="E3AE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12780" y="812800"/>
            <a:ext cx="10159746" cy="31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COMMISSION NATIONALE DES MARCHÉS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12780" y="1206500"/>
            <a:ext cx="10477238" cy="1079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— Fonctionnement détaillé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12780" y="2476500"/>
            <a:ext cx="9207270" cy="952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 dossier de planification à la séance d’ouverture des plis : chaque étape, chaque acteur, chaque écran.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12780" y="5080000"/>
            <a:ext cx="9842254" cy="889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Captures de l’application réelle, sur des chaînes de démonstration et de recette déroulées les 5 et 6 octobre 2026.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Noms de personnes remplacés par leur rôle. Ministère de l’Économie et des Finances · octobre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VUE D’ENSEMBLE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Quatre temps, une même chaîne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270000"/>
            <a:ext cx="10286743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marché inscrit au plan de passation va, dans PRS 2.0, jusqu’à l’ouverture des offres reçues en ligne.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780" y="2032000"/>
            <a:ext cx="2527237" cy="1587500"/>
          </a:xfrm>
          <a:prstGeom prst="roundRect">
            <a:avLst>
              <a:gd name="adj" fmla="val 3456"/>
            </a:avLst>
          </a:prstGeom>
          <a:solidFill>
            <a:srgbClr val="FCFCFA"/>
          </a:solidFill>
          <a:ln w="19050">
            <a:solidFill>
              <a:srgbClr val="1232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1677" y="2120900"/>
            <a:ext cx="2349441" cy="215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01677" y="2349500"/>
            <a:ext cx="2349441" cy="635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01677" y="3048000"/>
            <a:ext cx="2349441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PRMP crée et soumet son plan de passation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52716" y="2825750"/>
            <a:ext cx="126997" cy="0"/>
          </a:xfrm>
          <a:prstGeom prst="line">
            <a:avLst/>
          </a:prstGeom>
          <a:noFill/>
          <a:ln w="19050">
            <a:solidFill>
              <a:srgbClr val="6A7787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492413" y="2032000"/>
            <a:ext cx="2527237" cy="1587500"/>
          </a:xfrm>
          <a:prstGeom prst="roundRect">
            <a:avLst>
              <a:gd name="adj" fmla="val 3456"/>
            </a:avLst>
          </a:prstGeom>
          <a:solidFill>
            <a:srgbClr val="FCFCFA"/>
          </a:solidFill>
          <a:ln w="19050">
            <a:solidFill>
              <a:srgbClr val="1232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81310" y="2120900"/>
            <a:ext cx="2349441" cy="215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81310" y="2349500"/>
            <a:ext cx="2349441" cy="635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Contrôler le plan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81310" y="3048000"/>
            <a:ext cx="2349441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Secrétaire, Président, Membre, Vérificateur, Assistant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2349" y="2825750"/>
            <a:ext cx="126997" cy="0"/>
          </a:xfrm>
          <a:prstGeom prst="line">
            <a:avLst/>
          </a:prstGeom>
          <a:noFill/>
          <a:ln w="19050">
            <a:solidFill>
              <a:srgbClr val="6A778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172046" y="2032000"/>
            <a:ext cx="2527237" cy="1587500"/>
          </a:xfrm>
          <a:prstGeom prst="roundRect">
            <a:avLst>
              <a:gd name="adj" fmla="val 3456"/>
            </a:avLst>
          </a:prstGeom>
          <a:solidFill>
            <a:srgbClr val="FCFCFA"/>
          </a:solidFill>
          <a:ln w="19050">
            <a:solidFill>
              <a:srgbClr val="1232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0943" y="2120900"/>
            <a:ext cx="2349441" cy="215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60943" y="2349500"/>
            <a:ext cx="2349441" cy="635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Préparer le DAO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60943" y="3048000"/>
            <a:ext cx="2349441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Fiche, commission, cérémonie des clés, contrôle, avis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711982" y="2825750"/>
            <a:ext cx="126997" cy="0"/>
          </a:xfrm>
          <a:prstGeom prst="line">
            <a:avLst/>
          </a:prstGeom>
          <a:noFill/>
          <a:ln w="19050">
            <a:solidFill>
              <a:srgbClr val="6A7787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851679" y="2032000"/>
            <a:ext cx="2527237" cy="1587500"/>
          </a:xfrm>
          <a:prstGeom prst="roundRect">
            <a:avLst>
              <a:gd name="adj" fmla="val 3456"/>
            </a:avLst>
          </a:prstGeom>
          <a:solidFill>
            <a:srgbClr val="12324A"/>
          </a:solidFill>
          <a:ln w="19050">
            <a:solidFill>
              <a:srgbClr val="1232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40576" y="2120900"/>
            <a:ext cx="2349441" cy="215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940576" y="2349500"/>
            <a:ext cx="2349441" cy="635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Recevoir les offres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940576" y="3048000"/>
            <a:ext cx="2349441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Frais de dossier, offre remplie en ligne, dépôt scellé, séance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12780" y="3937000"/>
            <a:ext cx="104137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temps a son intercalaire ; chaque diapositive qui suit montre </a:t>
            </a:r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écran réel</a:t>
            </a:r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au moment précis où l’acteur intervient.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ACTEURS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Qui intervient, et où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270000"/>
            <a:ext cx="10286743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Chacun travaille dans son espace : la coquille interne pour la PRMP et la Commission, des espaces à part pour les candidats, la commission d’appel d’offres et le dépositaire.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780" y="19050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2780" y="1905000"/>
            <a:ext cx="3403515" cy="38100"/>
          </a:xfrm>
          <a:prstGeom prst="rect">
            <a:avLst/>
          </a:prstGeom>
          <a:solidFill>
            <a:srgbClr val="1B6FA8"/>
          </a:solidFill>
          <a:ln/>
        </p:spPr>
      </p:sp>
      <p:sp>
        <p:nvSpPr>
          <p:cNvPr id="7" name="Text 5"/>
          <p:cNvSpPr/>
          <p:nvPr/>
        </p:nvSpPr>
        <p:spPr>
          <a:xfrm>
            <a:off x="965176" y="20193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 (et UGPM)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5176" y="25146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Crée le plan et les DAO, désigne la commission d’appel d’offres, imprime l’avis, suit ses dossiers.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4090" y="19050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4090" y="1905000"/>
            <a:ext cx="3403515" cy="38100"/>
          </a:xfrm>
          <a:prstGeom prst="rect">
            <a:avLst/>
          </a:prstGeom>
          <a:solidFill>
            <a:srgbClr val="6A7787"/>
          </a:solidFill>
          <a:ln/>
        </p:spPr>
      </p:sp>
      <p:sp>
        <p:nvSpPr>
          <p:cNvPr id="11" name="Text 9"/>
          <p:cNvSpPr/>
          <p:nvPr/>
        </p:nvSpPr>
        <p:spPr>
          <a:xfrm>
            <a:off x="4546486" y="20193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Secrétaire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46486" y="25146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la recevabilité pièce par pièce et enregistre la réception.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75401" y="19050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75401" y="1905000"/>
            <a:ext cx="3403515" cy="38100"/>
          </a:xfrm>
          <a:prstGeom prst="rect">
            <a:avLst/>
          </a:prstGeom>
          <a:solidFill>
            <a:srgbClr val="12324A"/>
          </a:solidFill>
          <a:ln/>
        </p:spPr>
      </p:sp>
      <p:sp>
        <p:nvSpPr>
          <p:cNvPr id="15" name="Text 13"/>
          <p:cNvSpPr/>
          <p:nvPr/>
        </p:nvSpPr>
        <p:spPr>
          <a:xfrm>
            <a:off x="8127797" y="20193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Président / Chef de commission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27797" y="25146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Dispatche à un Membre, vise le projet de PV et désigne le co-signataire.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2780" y="39878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2780" y="3987800"/>
            <a:ext cx="3403515" cy="3810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9" name="Text 17"/>
          <p:cNvSpPr/>
          <p:nvPr/>
        </p:nvSpPr>
        <p:spPr>
          <a:xfrm>
            <a:off x="965176" y="41021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Membre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5176" y="45974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Examine ligne par ligne, rédige le projet de PV, signe en co-signataire.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94090" y="39878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94090" y="3987800"/>
            <a:ext cx="3403515" cy="38100"/>
          </a:xfrm>
          <a:prstGeom prst="rect">
            <a:avLst/>
          </a:prstGeom>
          <a:solidFill>
            <a:srgbClr val="8A5A9E"/>
          </a:solidFill>
          <a:ln/>
        </p:spPr>
      </p:sp>
      <p:sp>
        <p:nvSpPr>
          <p:cNvPr id="23" name="Text 21"/>
          <p:cNvSpPr/>
          <p:nvPr/>
        </p:nvSpPr>
        <p:spPr>
          <a:xfrm>
            <a:off x="4546486" y="41021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Vérificateur, Assistant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46486" y="45974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Transmet la décision à SIGMP ; archive le PV et clôt le dossier.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975401" y="39878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75401" y="3987800"/>
            <a:ext cx="3403515" cy="38100"/>
          </a:xfrm>
          <a:prstGeom prst="rect">
            <a:avLst/>
          </a:prstGeom>
          <a:solidFill>
            <a:srgbClr val="E3AE2E"/>
          </a:solidFill>
          <a:ln/>
        </p:spPr>
      </p:sp>
      <p:sp>
        <p:nvSpPr>
          <p:cNvPr id="27" name="Text 25"/>
          <p:cNvSpPr/>
          <p:nvPr/>
        </p:nvSpPr>
        <p:spPr>
          <a:xfrm>
            <a:off x="8127797" y="41021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Candidat, CAO, dépositaire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127797" y="45974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Déposent et ouvrent les offres en ligne : chacun dans son espace externe.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1397000"/>
            <a:ext cx="2539937" cy="1079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12780" y="2667000"/>
            <a:ext cx="10159746" cy="698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Planifier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12780" y="3556000"/>
            <a:ext cx="8254794" cy="101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PRMP saisit son plan de passation, le vérifie à l’aperçu et le soumet à la Commission nationale des marchés.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L’accueil « À faire » de la PRMP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À la connexion, ce que le circuit attend d’elle,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 urgence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menu : son travail (dont «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Appels d’offres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»), ses décisions, la planification.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accueil « À faire » de la PRM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actualité à l’ouverture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L’Administrateur publie des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actualités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ciblées par profil : rappel de règles, fermeture technique…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Elles s’affichent à la connexion ; une fenêtre se ferme par son bouton ou par Échap.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Une actualité à l’ouver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Créer un dossier : choisir son 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Dossier de planification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(le plan de passation), dossier de mise en concurrence, ou dossier de marché.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mise à jour d’un plan déjà validé passe par « Mettre à jour un PPM » : une nouvelle version, jamais un écrasement.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Créer un dossier : choisir son typ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L’en-tête du plan, et l’import PDF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Importer un PPM (PDF)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pré-remplit tout depuis le plan officiel — à vérifier ligne par ligne avant création.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 la saisie : l’entité contractante (celles de la PRMP), l’exercice, la date de signature.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localité et le signataire se déduisent seuls.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en-tête du plan, et l’import PD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ligne de marché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Nature, objet, montant estimatif,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 de passation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forme, financement, statut.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bénéficiaires, les lots, et le calendrier prévisionnel (CAPM) par ligne.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Ici : des travaux de réhabilitation, en appel d’offres ouvert.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Une ligne de march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calendrier prévisionnel (CAPM)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processus du mode de passation, chacun avec sa date de début (et de fin).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chronologie est contrôlée ; un délai trop court ou un mode dérogatoire appelle une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justification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331327" y="1473200"/>
            <a:ext cx="4907157" cy="4610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calendrier prévisionnel (CAPM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7525" y="1549400"/>
            <a:ext cx="4754761" cy="4457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pièces jointes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pièces exigées dépendent du type de dossier, fixé dans les référentiels de l’Administrateur.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Formats acceptés : PDF, JPEG, PNG ; chaque fichier est contrôlé (type, taille).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pièces joi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L’aperçu avant création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fiche de présentation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de passation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et le projet d’AGPM, tels que la Commission les lira.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Rien ne part tant que la PRMP n’a pas créé le dossier.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aperçu avant cré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brouillon, puis la soumission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« Créer le dossier » enregistre un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brouillon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: on peut le reprendre, le vérifier, le supprimer.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«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Soumettre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» l’envoie à la Commission ; seule la PRMP soumet (l’UGPM prépare).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brouillon, puis la soumis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suivi des dossiers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dossier à la Commission, avec son statut et la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 de traitement prévue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suivi des dossi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page du dossier : la frise des sept étapes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Réception, dispatch, examen, projet de PV, PV signé, vérification, clôture.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L’étape en cours, qui agit, le délai qui court ; le plan lui-même, en lecture.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même page pour tous les profils : chacun y voit son geste.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page du dossier : la frise des sept étap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1397000"/>
            <a:ext cx="2539937" cy="1079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12780" y="2667000"/>
            <a:ext cx="10159746" cy="698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Contrôler le plan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12780" y="3556000"/>
            <a:ext cx="8254794" cy="101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dossier traverse la Commission : réception, dispatch, examen, projet de PV, visa, signature, transmission à SIGMP et archivage.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SECRÉTAIRE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dossier arrive chez le Secrétaire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Dans son « À faire » : les dépôts à numéroter, du plus ancien au plus récent.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dossier arrive chez le Secrétai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SECRÉTAIRE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Recevabilité et réception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de complétude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pièce par pièce ; une pièce manquante se signale à la PRMP.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date de réception ; le dossier reçoit son numéro.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Recevabilité et récep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PRÉSIDENT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dossier attend son dispatch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Président (ou le Chef de commission) voit les dossiers reçus à attribuer.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dossier attend son disp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PRÉSIDENT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Dispatcher à un Membre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Membre assigné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avec sa charge en cours pour équilibrer ; une consigne facultative.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Chef de commission est associé d’office.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Dispatcher à un Memb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Membre reçoit le dossier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Dans son « À faire », avec le délai d’examen et la consigne du dispatch.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Membre reçoit le dossi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L’examen séquentiel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étapes dans l’ordre :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fiche de présentation, lignes du plan, projet d’AGPM, pièces, contrôles du dossier, synthèse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point est « RAS » ou porte une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observation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; pas de texte, pas d’observation.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synthèse propose un avis cohérent avec ce qui a été relevé (ici, en lecture après la signature).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examen séquenti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projet de PV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L’examen soumis produit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projet de PV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avec l’avis et les observations.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Membre le soumet au Président.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projet de PV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PRÉSIDENT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visa du Président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arrête l’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avis global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désigne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Membre co-signataire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et pose sa part de signature, en un geste.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 il retourne le projet, ou il rédige une lettre de renvoi.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visa du Présid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MEMBRE CO-SIGNATAIRE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seconde signature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PV est signé par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deux personnes distinctes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; la seconde signature clôt la navette.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seconde signa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VÉRIFICATEUR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Après la signature : le Vérificateur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PV signés à vérifier, et les décisions à transmettre.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Après la signature : le Vérificate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VÉRIFICATEUR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Transmettre la décision à SIGMP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Pour un avis favorable, la décision part vers le système SIGMP ; pour un avis avec réserves, il suit d’abord leur levée.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Transmettre la décision à SIGM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ASSISTANT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L’archivage du PV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L’Assistant archive le PV définitif : le dossier est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archivage du PV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 que voit la PRMP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frise avance à chaque geste ; la PRMP est notifiée.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Ce que voit la PRM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 PV définitifs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PV signé est à elle dès sa signature ; la ligne du plan peut désormais porter un DAO.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Ses PV définitif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30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1397000"/>
            <a:ext cx="2539937" cy="1079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12780" y="2667000"/>
            <a:ext cx="10159746" cy="698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Préparer le DAO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12780" y="3556000"/>
            <a:ext cx="8254794" cy="101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 une ligne du plan contrôlé : la fiche du marché, d’où naissent tous les documents ; en remise électronique, la commission d’appel d’offres et la cérémonie des clés ; puis le contrôle du DAO et l’avis.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31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« Appels d’offres » : les lignes et leurs fiches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 menu de la PRMP et de l’UGPM. Les lignes d’un plan au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PV signé favorable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dont le mode de passation appelle un DAO.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« Préparer l’appel d’offres », ou « Reprendre la fiche » ; sous chaque fiche, les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offres déposées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et les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reçus à valider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(pastille au menu).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« Appels d’offres » : les lignes et leurs fich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32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fiche, et les écrans de la procédure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repères : catégorie, forme, paramètres internes, commission, cérémonie, offres.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écrans de la procédure : séance, dépôts, commission, retraits, reçus des frais — ces trois derniers une fois la fiche validée.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445404"/>
            <a:ext cx="10540736" cy="2316692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fiche, et les écrans de la procéd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521604"/>
            <a:ext cx="10388340" cy="21642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33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Étape 1 : la ligne du plan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informations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reprises du plan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verrouillées : rien n’est ressaisi.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repères en tête : paramètres internes, commission, cérémonie, offres déposées.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Étape 1 : la ligne du pl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34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Étape 2 : le cadrage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Dix questions qui ouvrent ou ferment des rubriques : allotissement, tranches, variantes, groupement, prix, garantie…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 de remise des offres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: papier, ou électronique.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Étape 2 : le cad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35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Étape 3 : la saisie par bloc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Onze blocs ; chaque information est saisie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fois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et se reporte dans tous les documents qui l’utilisent (DPAO, AE, CCAP…).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contrôles se mettent à jour à droite, en continu.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Étape 3 : la saisie par blo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36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besoin : le détail quantitatif et estimatif, en entier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Pour des travaux : série, n° de prix, désignation, libellé au bordereau, unité, quantité,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plafond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sous-détail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produit le bordereau des prix, et pré-remplit le formulaire que le candidat remplira en ligne.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410496"/>
            <a:ext cx="10540736" cy="2386508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besoin : le détail quantitatif et estimatif, en enti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486696"/>
            <a:ext cx="10388340" cy="22341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37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pièces de l’offre, listées une à une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remise électronique, chaque pièce exigée est une ligne : le candidat joindra un fichier par pièce.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«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Proposer la liste à partir du texte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» part du texte du DAO.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852861" y="3060700"/>
            <a:ext cx="8485973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pièces de l’offre, listées une à u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9059" y="3136900"/>
            <a:ext cx="8333577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38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texte découpé, à relire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pièce par ligne ou par « ; » ; la PRMP relit, ajoute, corrige, enregistre.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694929" y="1473200"/>
            <a:ext cx="6179953" cy="4610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texte découpé, à reli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1127" y="1549400"/>
            <a:ext cx="6027557" cy="4457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39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Étape 4 : les reprises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champs repris d’un document maître, jamais ressaisis.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Étape 4 : les repris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40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Étape 5 : les contrôles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informations obligatoires manquantes, l’ordre des dates, et, en remise électronique, la commission, le responsable, le dépositaire.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 la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liste des pièces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l’offre. Tant qu’un contrôle bloque, la validation est fermée.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Étape 5 : les contrô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41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commission d’appel d’offres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Désignée par la PRMP, par une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décision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: des agents de l’entité, au plus un expert de l’objet, un président.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membre reçoit un compte et détient une part de la clé qui ouvrira les offres.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commission d’appel d’off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42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cérémonie des clés, close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membre, puis le dépositaire de la part de secours, publient leur clé depuis leur poste ; le responsable clôt.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détail de la cérémonie fait l’objet d’une présentation à part : « La cérémonie des clés ».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50418" y="3060700"/>
            <a:ext cx="8890859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cérémonie des clés, clo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6616" y="3136900"/>
            <a:ext cx="8738462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43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ADMINISTRATEUR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procédures sans responsable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 le Poste d’administration : les procédures en remise électronique qui attendent la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désignation de leur responsable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415097"/>
            <a:ext cx="10540736" cy="2377306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procédures sans responsab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491297"/>
            <a:ext cx="10388340" cy="22249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44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 · ADMINISTRATEUR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procédures en ligne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responsable y retrouve ses procédures («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 procédures en ligne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», au menu dès qu’il en a une) : paramètres et cérémonie, séance.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L’Administrateur les voit toutes, et désigne le responsable depuis la fiche. Seul le titulaire conduit : l’intérimaire lit.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procédures en lig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45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Étape 6 : la validation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PRMP valide : la fiche est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figée et versionnée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Une modification ouvre une nouvelle version.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Étape 6 : la valid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46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Étape 7 : les documents produits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DPAO, DPAC, CCAP, acte d’engagement, bordereau des prix, fiches de renseignements, modèles de garantie :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remplis depuis la fiche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Word et en PDF ; le dossier à soumettre est créé depuis la fiche.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Étape 7 : les documents produi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47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CONTRÔLE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dossier DAO à la Commission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documents produits y sont joints ; la PRMP ajoute les pièces qui ne sortent pas de la fiche, puis soumet.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dossier DAO à la Commis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48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L’examen du DAO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même circuit que pour le plan ; l’examen lit la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fiche DAO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et ses pièces, une à une.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examen du DA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49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L’avis spécifique d’appel d’offres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Après le PV signé favorable : l’avis s’imprime depuis la fiche, avec ses références de publication.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remise électronique, la procédure paraît alors aux candidats.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avis spécifique d’appel d’off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50</a:t>
            </a:r>
            <a:endParaRPr lang="en-US" sz="1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1397000"/>
            <a:ext cx="2539937" cy="1079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12780" y="2667000"/>
            <a:ext cx="10159746" cy="698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Recevoir les offres en ligne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12780" y="3556000"/>
            <a:ext cx="8254794" cy="101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entreprises consultent, retirent le dossier, déposent une offre chiffrée sur leur poste ; la commission l’ouvre en séance, au quorum, à l’heure prévue.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51</a:t>
            </a:r>
            <a:endParaRPr lang="en-US" sz="1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page d’accueil des entreprises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entrée publique propre aux entreprises : ce qu’elles peuvent faire, dans l’ordre.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page d’accueil des entrepris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52</a:t>
            </a:r>
            <a:endParaRPr lang="en-US" sz="1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procédures ouvertes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Sans compte : référence, objet, lots, date limite, heure de référence.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procédures ouver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53</a:t>
            </a:r>
            <a:endParaRPr lang="en-US" sz="1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détail d’une procédure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 que l’offre doit contenir, les formats et tailles acceptés, l’assistance.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retrait du dossier demande un compte.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détail d’une procéd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54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Créer un compte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Nom, adresse, téléphone, mot de passe ; un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à six chiffres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reçu par courriel confirme le compte.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Créer un comp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55</a:t>
            </a:r>
            <a:endParaRPr lang="en-US" sz="1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procédure, une fois connecté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documents du DAO à retirer, et «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Déposer une offre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» quand les dépôts sont ouverts.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procédure, une fois connect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56</a:t>
            </a:r>
            <a:endParaRPr lang="en-US" sz="1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retrait du dossier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document retiré est enregistré sur le poste et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inscrit au registre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la PRMP.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Ici, une procédure lancée avant le 6 octobre : retrait libre. Depuis, un dossier payant attend le reçu validé (ci-après).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retrait du dossi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57</a:t>
            </a:r>
            <a:endParaRPr lang="en-US" sz="1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Son entreprise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Raison sociale, NIF, STAT, RCS, représentant, pièces : déclarés une fois, vérifiés par l’Administrateur.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vérification ne bloque jamais un dépôt ; une entreprise exclue par l’ARMP ne peut pas déposer.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Son entrepri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58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DOSSIER PAYANT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reçu des frais, validé avant le retrait et le dépôt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270000"/>
            <a:ext cx="10286743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frais de dossier se versent au compte de l’ARMP, hors de la plateforme ; le reçu est déposé en ligne et validé par la PRMP ou l’UGPM.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780" y="19050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2780" y="1905000"/>
            <a:ext cx="5194170" cy="38100"/>
          </a:xfrm>
          <a:prstGeom prst="rect">
            <a:avLst/>
          </a:prstGeom>
          <a:solidFill>
            <a:srgbClr val="1B6FA8"/>
          </a:solidFill>
          <a:ln/>
        </p:spPr>
      </p:sp>
      <p:sp>
        <p:nvSpPr>
          <p:cNvPr id="7" name="Text 5"/>
          <p:cNvSpPr/>
          <p:nvPr/>
        </p:nvSpPr>
        <p:spPr>
          <a:xfrm>
            <a:off x="965176" y="20193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candidat dépose son reçu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5176" y="25146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Montant, référence, date, banque, fichier ; un reçu par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entreprise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pour un ou plusieurs lots.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84745" y="19050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84745" y="1905000"/>
            <a:ext cx="5194170" cy="3810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1" name="Text 9"/>
          <p:cNvSpPr/>
          <p:nvPr/>
        </p:nvSpPr>
        <p:spPr>
          <a:xfrm>
            <a:off x="6337142" y="20193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PRMP ou l’UGPM décide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37142" y="25146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Notifiée ; valide, ou refuse avec un motif. Un montant insuffisant est signalé. Une décision ne se reprend pas.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2780" y="39878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2780" y="3987800"/>
            <a:ext cx="5194170" cy="38100"/>
          </a:xfrm>
          <a:prstGeom prst="rect">
            <a:avLst/>
          </a:prstGeom>
          <a:solidFill>
            <a:srgbClr val="E3AE2E"/>
          </a:solidFill>
          <a:ln/>
        </p:spPr>
      </p:sp>
      <p:sp>
        <p:nvSpPr>
          <p:cNvPr id="15" name="Text 13"/>
          <p:cNvSpPr/>
          <p:nvPr/>
        </p:nvSpPr>
        <p:spPr>
          <a:xfrm>
            <a:off x="965176" y="41021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Tout s’ouvre à la validation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65176" y="45974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retrait des documents, les formulaires de l’offre et le dépôt. Avant, ils restent fermés.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84745" y="39878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84745" y="3987800"/>
            <a:ext cx="5194170" cy="38100"/>
          </a:xfrm>
          <a:prstGeom prst="rect">
            <a:avLst/>
          </a:prstGeom>
          <a:solidFill>
            <a:srgbClr val="12324A"/>
          </a:solidFill>
          <a:ln/>
        </p:spPr>
      </p:sp>
      <p:sp>
        <p:nvSpPr>
          <p:cNvPr id="19" name="Text 17"/>
          <p:cNvSpPr/>
          <p:nvPr/>
        </p:nvSpPr>
        <p:spPr>
          <a:xfrm>
            <a:off x="6337142" y="41021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séance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337142" y="45974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ligne « Frais de dossier » ; une offre sans reçu validé lève une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jamais un rejet.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59</a:t>
            </a:r>
            <a:endParaRPr lang="en-US" sz="1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retrait attend le reçu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frais du dossier ; les boutons « Retirer » restent inactifs, la raison est dite.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917869" y="1473200"/>
            <a:ext cx="5734072" cy="4610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retrait attend le reç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4067" y="1549400"/>
            <a:ext cx="5581676" cy="4457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60</a:t>
            </a:r>
            <a:endParaRPr lang="en-US" sz="12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Déposer le reçu du versement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Montant, référence, date, banque, et le reçu (PDF ou image).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50898" y="3060700"/>
            <a:ext cx="10289899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Déposer le reçu du vers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096" y="3136900"/>
            <a:ext cx="10137503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61</a:t>
            </a:r>
            <a:endParaRPr lang="en-US" sz="1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reçu attend la décision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L’état du reçu, et « Voir mon reçu ».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798213"/>
            <a:ext cx="10540736" cy="1611073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reçu attend la déci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874413"/>
            <a:ext cx="10388340" cy="145867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62</a:t>
            </a:r>
            <a:endParaRPr lang="en-US" sz="1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reçus des frais de dossier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reçus en attente d’abord ; le montant insuffisant signalé ; « Voir le reçu », « Valider », « Refuser… » (motif).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reçus des frais de dossi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63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Refuser, avec un motif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motif part par courriel ; l’entreprise dépose un nouveau reçu.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183368" y="3060700"/>
            <a:ext cx="7824958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Refuser, avec un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9567" y="3136900"/>
            <a:ext cx="7672562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64</a:t>
            </a:r>
            <a:endParaRPr lang="en-US" sz="12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Reçu validé : le dossier se retire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boutons « Retirer » s’ouvrent, et « Déposer une offre ».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798213"/>
            <a:ext cx="10540736" cy="1611073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Reçu validé : le dossier se reti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874413"/>
            <a:ext cx="10388340" cy="145867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65</a:t>
            </a:r>
            <a:endParaRPr lang="en-US" sz="1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Reçu refusé : le motif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L’ancien reçu et son motif restent ; un nouveau dépôt est proposé.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380179"/>
            <a:ext cx="10540736" cy="2447142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Reçu refusé : le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456379"/>
            <a:ext cx="10388340" cy="22947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66</a:t>
            </a:r>
            <a:endParaRPr lang="en-US" sz="1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Sans reçu validé, pas de dépôt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L’écran de dépôt ne s’ouvre pas, et renvoie aux frais de dossier ; les formulaires (le contenu du DAO) ne sont pas servis.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409333"/>
            <a:ext cx="10540736" cy="2388835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Sans reçu validé, pas de dépô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485533"/>
            <a:ext cx="10388340" cy="22364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67</a:t>
            </a:r>
            <a:endParaRPr lang="en-US" sz="12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L’OFFRE REMPLIE EN LIGNE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Remplir son offre, plus seulement la joindre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270000"/>
            <a:ext cx="10286743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Dès que la fiche porte un </a:t>
            </a:r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besoin</a:t>
            </a:r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le dépôt présente des formulaires pré-remplis ; tout est scellé avec l’offre.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780" y="19050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2780" y="1905000"/>
            <a:ext cx="3403515" cy="38100"/>
          </a:xfrm>
          <a:prstGeom prst="rect">
            <a:avLst/>
          </a:prstGeom>
          <a:solidFill>
            <a:srgbClr val="1B6FA8"/>
          </a:solidFill>
          <a:ln/>
        </p:spPr>
      </p:sp>
      <p:sp>
        <p:nvSpPr>
          <p:cNvPr id="7" name="Text 5"/>
          <p:cNvSpPr/>
          <p:nvPr/>
        </p:nvSpPr>
        <p:spPr>
          <a:xfrm>
            <a:off x="965176" y="20193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Pré-rempli depuis la fiche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5176" y="25146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Articles, quantités, caractéristiques, séries du DQE, matériel, personnel, seuils de qualification.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4090" y="19050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4090" y="1905000"/>
            <a:ext cx="3403515" cy="3810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1" name="Text 9"/>
          <p:cNvSpPr/>
          <p:nvPr/>
        </p:nvSpPr>
        <p:spPr>
          <a:xfrm>
            <a:off x="4546486" y="20193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Calculé sur le poste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46486" y="25146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Totaux, TVA, prix en lettres, K1, sous-détail ; les montants de l’acte d’engagement en découlent.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75401" y="19050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75401" y="1905000"/>
            <a:ext cx="3403515" cy="38100"/>
          </a:xfrm>
          <a:prstGeom prst="rect">
            <a:avLst/>
          </a:prstGeom>
          <a:solidFill>
            <a:srgbClr val="E3AE2E"/>
          </a:solidFill>
          <a:ln/>
        </p:spPr>
      </p:sp>
      <p:sp>
        <p:nvSpPr>
          <p:cNvPr id="15" name="Text 13"/>
          <p:cNvSpPr/>
          <p:nvPr/>
        </p:nvSpPr>
        <p:spPr>
          <a:xfrm>
            <a:off x="8127797" y="20193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Averti, jamais refusé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27797" y="25146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Seul un prix manquant bloque ; le reste est averti au candidat, puis signalé à la commission.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2780" y="39878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2780" y="3987800"/>
            <a:ext cx="3403515" cy="38100"/>
          </a:xfrm>
          <a:prstGeom prst="rect">
            <a:avLst/>
          </a:prstGeom>
          <a:solidFill>
            <a:srgbClr val="12324A"/>
          </a:solidFill>
          <a:ln/>
        </p:spPr>
      </p:sp>
      <p:sp>
        <p:nvSpPr>
          <p:cNvPr id="19" name="Text 17"/>
          <p:cNvSpPr/>
          <p:nvPr/>
        </p:nvSpPr>
        <p:spPr>
          <a:xfrm>
            <a:off x="965176" y="41021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Recalculé à l’ouverture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5176" y="45974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serveur refait les totaux depuis le bordereau scellé et compare avec l’acte d’engagement.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68</a:t>
            </a:r>
            <a:endParaRPr lang="en-US" sz="12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FOURNITURES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bordereau des prix et le calendrier de livraison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prix unitaire et la date de livraison de chaque article ; au minimum et au maximum des quantités pour un marché à commande.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977712" y="3060700"/>
            <a:ext cx="8236272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bordereau des prix et le calendrier de livrais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3910" y="3136900"/>
            <a:ext cx="8083875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69</a:t>
            </a:r>
            <a:endParaRPr lang="en-US" sz="12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FOURNITURES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conformité technique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Marque, modèle, et pour chaque caractéristique exigée : ce qui est proposé, et si c’est conforme.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92834"/>
            <a:ext cx="7162621" cy="4370832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conformité techn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669034"/>
            <a:ext cx="7010225" cy="42184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70</a:t>
            </a:r>
            <a:endParaRPr lang="en-US" sz="12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FOURNITURES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avertissements, avant de déposer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Non-conformité déclarée, livraison au-delà du délai : averti, on peut déposer.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07819" y="3060700"/>
            <a:ext cx="9576057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avertissements, avant de dépo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4017" y="3136900"/>
            <a:ext cx="9423661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71</a:t>
            </a:r>
            <a:endParaRPr lang="en-US" sz="12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L’acte d’engagement, calculé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montants ne se saisissent plus : ce sont ceux du bordereau. Restent le délai, la validité, le rabais.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263836"/>
            <a:ext cx="10540736" cy="2679828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acte d’engagement, calcul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340036"/>
            <a:ext cx="10388340" cy="25274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72</a:t>
            </a:r>
            <a:endParaRPr lang="en-US" sz="12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DQE et les prix en lettres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prix par série ; le prix s’écrit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lettres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sous la désignation — ce sont les lettres qui font foi.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627889" y="3060700"/>
            <a:ext cx="6935916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DQE et les prix en lett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4088" y="3136900"/>
            <a:ext cx="6783520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73</a:t>
            </a:r>
            <a:endParaRPr lang="en-US" sz="12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coefficient K1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neuf frais de l’annexe 2 de l’acte d’engagement ; le siège à Madagascar ou à l’étranger.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617218"/>
            <a:ext cx="7162621" cy="4322064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coefficient K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693418"/>
            <a:ext cx="7010225" cy="41696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74</a:t>
            </a:r>
            <a:endParaRPr lang="en-US" sz="12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sous-détail d’un prix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déboursés secs, le rendement ; le prix calculé est comparé au bordereau (écart de plus de 1 % signalé).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87025" y="3060700"/>
            <a:ext cx="8817646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sous-détail d’un pri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3223" y="3136900"/>
            <a:ext cx="8665250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75</a:t>
            </a:r>
            <a:endParaRPr lang="en-US" sz="12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capacités financières et techniques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Chiffre d’affaires et moyenne des meilleures années, liquidité contre le seuil, références de la période.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800498" y="3060700"/>
            <a:ext cx="6590699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capacités financières et techn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6696" y="3136900"/>
            <a:ext cx="6438303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76</a:t>
            </a:r>
            <a:endParaRPr lang="en-US" sz="12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personnel proposé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ligne par personne exigée ; les CV et diplômes restent à joindre.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59144" y="3060700"/>
            <a:ext cx="10273408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personnel propos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342" y="3136900"/>
            <a:ext cx="10121012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77</a:t>
            </a:r>
            <a:endParaRPr lang="en-US" sz="1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matériel proposé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nombre proposé, et combien en propre.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704594"/>
            <a:ext cx="7162621" cy="4147312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matériel propos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780794"/>
            <a:ext cx="7010225" cy="3994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78</a:t>
            </a:r>
            <a:endParaRPr lang="en-US" sz="12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avertissements des travaux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écart dit, chiffres à l’appui ; la commission le lira en séance.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573809"/>
            <a:ext cx="10540736" cy="2059882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avertissements des travau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650009"/>
            <a:ext cx="10388340" cy="19074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79</a:t>
            </a:r>
            <a:endParaRPr lang="en-US" sz="12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saisie jamais perdue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 fermée ou rechargée : la saisie est reprise. Gardée sur le poste seulement, jamais envoyée ; effacée au dépôt.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4148058"/>
            <a:ext cx="10540736" cy="911384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Une saisie jamais perd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4224258"/>
            <a:ext cx="10388340" cy="7589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80</a:t>
            </a:r>
            <a:endParaRPr lang="en-US" sz="12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pièces remplies en ligne, et le reçu déjà fourni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bordereau, la conformité, le calendrier : « Remplie en ligne ». Les autres pièces se joignent.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265565" y="3060700"/>
            <a:ext cx="7660565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pièces remplies en ligne, et le reçu déjà fourn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1763" y="3136900"/>
            <a:ext cx="7508169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81</a:t>
            </a:r>
            <a:endParaRPr lang="en-US" sz="12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dépôt sans formulaires : l’acte d’engagement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procédure sans besoin (prestations intellectuelles) : les montants de l’acte se saisissent.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temps restant, à l’horloge du serveur.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dépôt sans formulaires : l’acte d’engag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82</a:t>
            </a:r>
            <a:endParaRPr lang="en-US" sz="12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dépôt : les pièces, puis le scellement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pièce attendue, contrôlée ; puis «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Sceller et déposer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» : l’offre est chiffrée sur le poste, pour les détenteurs de la procédure.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dépôt : les pièces, puis le scell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83</a:t>
            </a:r>
            <a:endParaRPr lang="en-US" sz="12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L’accusé de dépôt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L’heure de dépôt, le numéro d’arrivée, l’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empreinte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l’offre ; l’accusé en PDF.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Personne ne peut lire l’offre avant la séance.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accusé de dépô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84</a:t>
            </a:r>
            <a:endParaRPr lang="en-US" sz="12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 offres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Jusqu’à la date limite, si la procédure le permet :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remplacer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ou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retirer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son offre.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Mes off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85</a:t>
            </a:r>
            <a:endParaRPr lang="en-US" sz="12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registre des dépôts, avant l’échéance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Avant la date limite, la PRMP ne connaît que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nombre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d’offres.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registre des dépôts, avant l’éché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86</a:t>
            </a:r>
            <a:endParaRPr lang="en-US" sz="12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registre des retraits du dossier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Qui a retiré quel document, et quand ; et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reçu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qui a ouvert le retrait.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registre des retraits du dossi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87</a:t>
            </a:r>
            <a:endParaRPr lang="en-US" sz="12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séance, avant l’heure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séance ne s’ouvre qu’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après la date limite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: le serveur refuse avant.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séance, avant l’he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88</a:t>
            </a:r>
            <a:endParaRPr lang="en-US" sz="12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membre attend l’ouverture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apportera ses parts depuis son espace, avec sa phrase secrète.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membre attend l’ouver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89</a:t>
            </a:r>
            <a:endParaRPr lang="en-US" sz="12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L’ouverture et les présences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responsable ouvre la séance, coche les présents, ajoute les autres présents.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ouverture et les présen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90</a:t>
            </a:r>
            <a:endParaRPr lang="en-US" sz="12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Apporter ses parts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 phrase déverrouille sa clé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 son poste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qui déchiffre sa part de chaque offre ; seules ces parts partent.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558066"/>
            <a:ext cx="10540736" cy="2091368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Apporter ses par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634266"/>
            <a:ext cx="10388340" cy="19389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91</a:t>
            </a:r>
            <a:endParaRPr lang="en-US" sz="12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quorum se remplit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offres s’ouvriront dès que le quorum sera atteint ; un membre absent peut être suppléé par la part de secours.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4016125"/>
            <a:ext cx="10540736" cy="117525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quorum se rempl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4092325"/>
            <a:ext cx="10388340" cy="10228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92</a:t>
            </a:r>
            <a:endParaRPr lang="en-US" sz="12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Toutes les offres s’ouvrent ensemble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 quorum, chaque offre est vérifiée (empreinte), déchiffrée, comparée aux pièces attendues.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Toutes les offres s’ouvrent ensemb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93</a:t>
            </a:r>
            <a:endParaRPr lang="en-US" sz="12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lecture d’une offre remplie : fournitures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totaux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recalculés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par le serveur ; les alertes (non-conformité, livraison hors délai) ; le bordereau et la conformité remplis, en PDF.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113413" y="3060700"/>
            <a:ext cx="7964870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lecture d’une offre remplie : fournitu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9611" y="3136900"/>
            <a:ext cx="7812473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94</a:t>
            </a:r>
            <a:endParaRPr lang="en-US" sz="12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lecture d’une offre remplie : travaux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offre en défaut : chiffre d’affaires, liquidité, références, personnel, matériel, sous-détail — des alertes, jamais un rejet.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484722"/>
            <a:ext cx="7162621" cy="4587055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lecture d’une offre remplie : travau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60922"/>
            <a:ext cx="7010225" cy="443465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95</a:t>
            </a:r>
            <a:endParaRPr lang="en-US" sz="12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frais de dossier, lus en séance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ligne « Frais de dossier » de chaque offre ; sans reçu validé, l’alerte « Frais de dossier non réglés ».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152182" y="3060700"/>
            <a:ext cx="7887331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frais de dossier, lus en sé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8380" y="3136900"/>
            <a:ext cx="7734935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96</a:t>
            </a:r>
            <a:endParaRPr lang="en-US" sz="12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lecture, projetée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Offre par offre : soumissionnaire, montants, délai, garantie, pièces manquantes, alertes — en grand pour la salle.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lecture, projeté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97</a:t>
            </a:r>
            <a:endParaRPr lang="en-US" sz="12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pièces, pour la commission seule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Seuls les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membres de la commission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ouvrent les pièces des offres.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273447"/>
            <a:ext cx="10540736" cy="2660607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pièces, pour la commission seu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349647"/>
            <a:ext cx="10388340" cy="25082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98</a:t>
            </a:r>
            <a:endParaRPr lang="en-US" sz="12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PV d’ouverture, à signer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responsable produit le PV ; il attend la signature de chaque membre présent.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PV d’ouverture, à sign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99</a:t>
            </a:r>
            <a:endParaRPr lang="en-US" sz="12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Signer le PV en ligne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Relire le PV, puis signer : la signature est horodatée et imprimée au PV.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président peut constater l’empêchement d’un membre, avec un motif.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802551"/>
            <a:ext cx="10540736" cy="1602399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Signer le PV en lig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878751"/>
            <a:ext cx="10388340" cy="144999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100</a:t>
            </a:r>
            <a:endParaRPr lang="en-US" sz="12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PV est signé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À la dernière signature, la séance est close.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 la fiche prévoit la publication, un extrait du PV (sans les alertes) paraît alors sur la procédure publique.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PV est sign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101</a:t>
            </a:r>
            <a:endParaRPr lang="en-US" sz="12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procédure, après la séance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procédure publique passe à « close » : les dépôts sont clos.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Quand la fiche prévoit la publication du PV, son extrait s’y lit ; ce n’était pas le cas de la fiche de démonstration.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procédure, après la sé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102</a:t>
            </a:r>
            <a:endParaRPr lang="en-US" sz="12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registre complet, après l’échéance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Après la date limite : entreprise, NIF, lot, heure, état, empreinte de chaque offre.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registre complet, après l’éché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103</a:t>
            </a:r>
            <a:endParaRPr lang="en-US" sz="12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séance, vue par la PRMP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PRMP lit la séance et la lecture des offres, sans en ouvrir les pièces.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séance, vue par la PRM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104</a:t>
            </a:r>
            <a:endParaRPr lang="en-US" sz="12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2396" cy="6858000"/>
          </a:xfrm>
          <a:prstGeom prst="rect">
            <a:avLst/>
          </a:prstGeom>
          <a:solidFill>
            <a:srgbClr val="E3AE2E"/>
          </a:solidFill>
          <a:ln w="12700">
            <a:solidFill>
              <a:srgbClr val="E3AE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12780" y="1905000"/>
            <a:ext cx="10159746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seule chaîne, de bout en bout.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12780" y="2857500"/>
            <a:ext cx="9207270" cy="101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 plan de passation saisi par la PRMP au PV d’ouverture signé par la commission : chaque geste est tracé, chronométré, et attribué à son acteur.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12780" y="4191000"/>
            <a:ext cx="8889778" cy="31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Commission nationale des marchés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105</Slides>
  <Notes>105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105</vt:i4>
      </vt:variant>
    </vt:vector>
  </HeadingPairs>
  <TitlesOfParts>
    <vt:vector size="10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</vt:vector>
  </TitlesOfParts>
  <Company>Commission nationale des marchés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PRS 2.0 — Fonctionnement détaillé</dc:title>
  <dc:subject>PptxGenJS Presentation</dc:subject>
  <dc:creator>PRS 2.0</dc:creator>
  <cp:lastModifiedBy>PRS 2.0</cp:lastModifiedBy>
  <cp:revision>1</cp:revision>
  <dcterms:created xsi:type="dcterms:W3CDTF">2026-10-06T09:35:58Z</dcterms:created>
  <dcterms:modified xsi:type="dcterms:W3CDTF">2026-10-06T09:35:58Z</dcterms:modified>
</cp:coreProperties>
</file>