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notesMasterIdLst>
    <p:notesMasterId r:id="rId1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notesMaster" Target="notesMasters/notesMaster1.xml"/><Relationship Id="rId111" Type="http://schemas.openxmlformats.org/officeDocument/2006/relationships/presProps" Target="presProps.xml"/><Relationship Id="rId112" Type="http://schemas.openxmlformats.org/officeDocument/2006/relationships/viewProps" Target="viewProps.xml"/><Relationship Id="rId113" Type="http://schemas.openxmlformats.org/officeDocument/2006/relationships/theme" Target="theme/theme1.xml"/><Relationship Id="rId1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seule chaîne réelle, suivie de bout en bout : un plan de passation créé ce jour-là, contrôlé par la Commission, puis le DAO d’une de ses lignes, sa commission d’appel d’offres, la cérémonie des clés, le dépôt d’une offre scellée et la séance d’ouverture.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étapes 2 à 5 sont montrées sur une seconde fiche brouillon de démonstration, parcourue à l’écran comme le ferait une PRMP.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812800"/>
            <a:ext cx="10159746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COMMISSION NATIONALE DES MARCHÉS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780" y="1206500"/>
            <a:ext cx="10477238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— Fonctionnement détaillé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780" y="2476500"/>
            <a:ext cx="920727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dossier de planification à la séance d’ouverture des plis : chaque étape, chaque acteur, chaque écran.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2780" y="5080000"/>
            <a:ext cx="9842254" cy="8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de l’application réelle, sur des chaînes de démonstration et de recette déroulées les 5 et 6 octobre 2026.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Noms de personnes remplacés par leur rôle. Ministère de l’Économie et des Finances ·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 D’ENSEMBLE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Quatre temps, une même chaîne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marché inscrit au plan de passation va, dans PRS 2.0, jusqu’à l’ouverture des offres reçues en ligne.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1677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1677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1677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crée et soumet son plan de passation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2716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92413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1310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1310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81310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Secrétaire, Président, Membre, Vérificateur, Assistant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2349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72046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0943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0943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0943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Fiche, commission, cérémonie des clés, contrôle, avis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711982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51679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12324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40576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40576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940576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Frais de dossier, offre remplie en ligne, dépôt scellé, séance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2780" y="3937000"/>
            <a:ext cx="104137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temps a son intercalaire ; chaque diapositive qui suit montre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écran réel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au moment précis où l’acteur intervient.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ACTEURS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intervient, et où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Chacun travaille dans son espace : la coquille interne pour la PRMP et la Commission, des espaces à part pour les candidats, la commission d’appel d’offres et le dépositaire.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 (et UGPM)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 le plan et les DAO, désigne la commission d’appel d’offres, imprime l’avis, suit ses dossiers.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la recevabilité pièce par pièce et enregistre la réception.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/ Chef de commission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 à un Membre, vise le projet de PV et désigne le co-signataire.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Examine ligne par ligne, rédige le projet de PV, signe en co-signataire.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Vérificateur, Assistant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 la décision à SIGMP ; archive le PV et clôt le dossier.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Candidat, CAO, dépositaire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Déposent et ouvrent les offres en ligne : chacun dans son espace externe.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saisit son plan de passation, le vérifie à l’aperçu et le soumet à la Commission nationale des marchés.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L’accueil « À faire » de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connexion, ce que le circuit attend d’elle,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 urgence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menu : son travail (dont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Appels d’offres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»), ses décisions, la planification.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eil « À faire » de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actualité à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publie des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actualités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ciblées par profil : rappel de règles, fermeture technique…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Elles s’affichent à la connexion ; une fenêtre se ferme par son bouton ou par Échap.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actualité à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dossier : choisir son 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de planification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(le plan de passation), dossier de mise en concurrence, ou dossier de marché.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mise à jour d’un plan déjà validé passe par « Mettre à jour un PPM » : une nouvelle version, jamais un écrasement.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dossier : choisir son ty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L’en-tête du plan, et l’import PDF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Importer un PPM (PDF)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pré-remplit tout depuis le plan officiel — à vérifier ligne par ligne avant création.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la saisie : l’entité contractante (celles de la PRMP), l’exercice, la date de signature.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localité et le signataire se déduisent seuls.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n-tête du plan, et l’import 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de marché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Nature, objet, montant estimatif,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forme, financement, statut.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bénéficiaires, les lots, et le calendrier prévisionnel (CAPM) par ligne.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 : des travaux de réhabilitation, en appel d’offres ouvert.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ligne de march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calendrier prévisionnel (CAPM)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processus du mode de passation, chacun avec sa date de début (et de fin).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chronologie est contrôlée ; un délai trop court ou un mode dérogatoire appelle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31327" y="1473200"/>
            <a:ext cx="490715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alendrier prévisionnel (CAPM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7525" y="1549400"/>
            <a:ext cx="475476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jointes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exigées dépendent du type de dossier, fixé dans les référentiels de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Formats acceptés : PDF, JPEG, PNG ; chaque fichier est contrôlé (type, taille).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joi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L’aperçu avant création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 projet d’AGPM, tels que la Commission les lira.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Rien ne part tant que la PRMP n’a pas créé le dossier.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perçu avant cré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brouillon, puis la soumission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Créer le dossier » enregistre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brouillon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on peut le reprendre, le vérifier, le supprimer.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Soumettre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l’envoie à la Commission ; seule la PRMP soumet (l’UGPM prépare).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rouillon, puis la sou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suivi des dossiers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dossier à la Commission, avec son statut 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 de traitement prévue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uivi des dossi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du dossier : la frise des sept étapes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Réception, dispatch, examen, projet de PV, PV signé, vérification, clôture.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L’étape en cours, qui agit, le délai qui court ; le plan lui-même, en lecture.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même page pour tous les profils : chacun y voit son geste.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u dossier : la frise des sept éta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traverse la Commission : réception, dispatch, examen, projet de PV, visa, signature, transmission à SIGMP et archivage.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arrive chez le Secrétaire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 : les dépôts à numéroter, du plus ancien au plus récent.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rrive chez le Secrét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Recevabilité et réception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de complétude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pièce par pièce ; une pièce manquante se signale à la PRMP.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date de réception ; le dossier reçoit son numéro.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cevabilité et récep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attend son dispatch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(ou le Chef de commission) voit les dossiers reçus à attribuer.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ttend son disp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Dispatcher à un Membre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assigné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sa charge en cours pour équilibrer ; une consigne facultative.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Chef de commission est associé d’office.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ispatcher à un Mem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reçoit le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», avec le délai d’examen et la consigne du dispatch.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reçoit l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séquentiel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étapes dans l’ordre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présentation, lignes du plan, projet d’AGPM, pièces, contrôles du dossier, synthèse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point est « RAS » ou porte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pas de texte, pas d’observation.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synthèse propose un avis cohérent avec ce qui a été relevé (ici, en lecture après la signature).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séqu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projet de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soumis produit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 de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l’avis et les observations.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le soumet au Président.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rojet de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visa du Président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arrête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avis global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désigne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co-signataire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pose sa part de signature, en un geste.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il retourne le projet, ou il rédige une lettre de renvoi.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visa du Prés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 CO-SIGNATAIRE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seconde signature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personnes distinctes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seconde signature clôt la navette.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econde sign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signature : le Vérificateur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PV signés à vérifier, et les décisions à transmettre.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rès la signature : le Vérific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Transmettre la décision à SIGMP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un avis favorable, la décision part vers le système SIGMP ; pour un avis avec réserves, il suit d’abord leur levée.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ransmettre la décision à SIG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ASSISTANT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L’archivage du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L’Assistant archive le PV définitif : le dossier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rchivage du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voit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frise avance à chaque geste ; la PRMP est notifiée.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e que voit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 PV définitifs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signé est à elle dès sa signature ; la ligne du plan peut désormais porter un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es PV défini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une ligne du plan contrôlé : la fiche du marché, d’où naissent tous les documents ; en remise électronique, la commission d’appel d’offres et la cérémonie des clés ; puis le contrôle du DAO et l’avis.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Appels d’offres » : les lignes et leurs fiches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menu de la PRMP et de l’UGPM. Les lignes d’un plan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PV signé favorable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dont le mode de passation appelle un DAO.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Préparer l’appel d’offres », ou « Reprendre la fiche » ; sous chaque fiche,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offres déposées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reçus à valider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(pastille au menu).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« Appels d’offres » : les lignes et leurs fi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fiche, et les écrans de la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: catégorie, forme, paramètres internes, commission, cérémonie, offres.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écrans de la procédure : séance, dépôts, commission, retraits, reçus des frais — ces trois derniers une fois la fiche validée.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45404"/>
            <a:ext cx="10540736" cy="231669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fiche, et les écrans de la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521604"/>
            <a:ext cx="10388340" cy="21642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1 : la ligne du plan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informations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reprises du plan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verrouillées : rien n’est ressaisi.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en tête : paramètres internes, commission, cérémonie, offres déposées.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1 : la ligne du 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2 : le cadrage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Dix questions qui ouvrent ou ferment des rubriques : allotissement, tranches, variantes, groupement, prix, garantie…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remise des 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papier, ou électronique.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2 : le cad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3 : la saisie par bloc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Onze blocs ; chaque information est saisie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 reporte dans tous les documents qui l’utilisent (DPAO, AE, CCAP…).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contrôles se mettent à jour à droite, en continu.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3 : la saisie par blo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besoin : le détail quantitatif et estimatif, en entier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des travaux : série, n° de prix, désignation, libellé au bordereau, unité, quantité,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plafond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produit le bordereau des prix, et pré-remplit le formulaire que le candidat remplira en ligne.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0496"/>
            <a:ext cx="10540736" cy="238650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esoin : le détail quantitatif et estimatif, en en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6696"/>
            <a:ext cx="10388340" cy="22341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de l’offre, listées une à une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chaque pièce exigée est une ligne : le candidat joindra un fichier par pièce.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Proposer la liste à partir du texte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part du texte du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52861" y="3060700"/>
            <a:ext cx="848597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de l’offre, listées une à u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059" y="3136900"/>
            <a:ext cx="833357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texte découpé, à relire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par ligne ou par « ; » ; la PRMP relit, ajoute, corrige, enregistre.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94929" y="1473200"/>
            <a:ext cx="6179953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texte découpé, à rel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1127" y="1549400"/>
            <a:ext cx="6027557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4 : les 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champs repris d’un document maître, jamais ressaisis.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4 : les 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5 : les contrôles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informations obligatoires manquantes, l’ordre des dates, et, en remise électronique, la commission, le responsable, le dépositaire.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des pièces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l’offre. Tant qu’un contrôle bloque, la validation est fermée.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5 : les contrô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Désignée par la PRMP, par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des agents de l’entité, au plus un expert de l’objet, un président.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reçoit un compte et détient une part de la clé qui ouvrira les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mmission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clés, close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membre, puis le dépositaire de la part de secours, publient leur clé depuis leur poste ; le responsable clôt.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de la cérémonie fait l’objet d’une présentation à part : « La cérémonie des clés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50418" y="3060700"/>
            <a:ext cx="889085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des clés,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616" y="3136900"/>
            <a:ext cx="87384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sans responsable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le Poste d’administration : les procédures en remise électronique qui attendent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désignation de leur responsable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5097"/>
            <a:ext cx="10540736" cy="2377306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sans respons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91297"/>
            <a:ext cx="10388340" cy="22249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 · 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y retrouve ses procédures («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procédures en ligne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», au menu dès qu’il en a une) : paramètres et cérémonie, séance.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les voit toutes, et désigne le responsable depuis la fiche. Seul le titulaire conduit : l’intérimaire lit.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6 : la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valide : la fiche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figée et versionnée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Une modification ouvre une nouvelle version.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6 : la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DAO COMPLET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seul document, comme les DAO réels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validation, les documents remplis depuis la fiche sont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assemblés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 un seul dossier d’appel d’offres, en Word et en PDF, sur le plan des documents types de l’ARMP.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de garde et sommaire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Emblème, ministère, PRMP, UGPM, « Dossier d’appel d’offres ouvert », numéro, objet, lots, « Lancé le », financement, imputation, compte ; puis le sommaire paginé.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Première partie : la procédure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 Instructions aux candidats (texte fixe de l’ARMP) ; 1.2 DPAO ; 1.3 Formulaires de soumission (fiches A1 à A4, garanties).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Deuxième partie : le marché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2.1 Acte d’engagement ; 2.2 CCAP et ses annexes, puis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spécifications techniques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jointes par la PRMP ; 2.3 CCAG (texte fixe).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Figé à la validation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En-tête « DAO n° … — objet », pages numérotées « n / N ». Les classeurs (bordereau, DQE) restent à part, en Excel. Une version validée ne se régénère jamais.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7 : le DAO complet en tête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d’appel d’offres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ouvrir le PDF, l’enregistrer en PDF ou en Word.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Puis les classeurs (bordereau des prix, DQE) ; le dossier à soumettre est créé depuis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867934"/>
            <a:ext cx="7162621" cy="382063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7 : le DAO complet en tê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944134"/>
            <a:ext cx="7010225" cy="36682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DOCUMENT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de garde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Celle des DAO réels : l’emblème, le ministère (une seule fois), la PRMP et l’UGPM, l’intitulé qui porte le mode de passation.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numéro du DAO, l’objet, « Lancé le …… » à compléter, le financement, l’imputation administrative et le compte, lus sur le plan.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33057" y="1473200"/>
            <a:ext cx="330369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e ga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255" y="1549400"/>
            <a:ext cx="315130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DOCUMENT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sommaire général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deux parties et leurs sous-parties, dans la numérotation de l’ARMP, avec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numéros de page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seule présentation à tous les niveaux ; dans le Word, c’est une table des matières mise à jour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33057" y="1473200"/>
            <a:ext cx="330369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mmaire géné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255" y="1549400"/>
            <a:ext cx="315130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spécifications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bloc B14 : la PRMP joint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du devis descriptif, des prescriptions et des plans (20 Mo au plus).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est inséré tel quel au rang 2.2, entre le CCAP et le CCAG. Sans fichier, la partie n’apparaît pas, et le contrôle le signale.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69258"/>
            <a:ext cx="10540736" cy="16689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spécifications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45458"/>
            <a:ext cx="10388340" cy="15165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CONTRÔLE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DAO à la Commission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Créé depuis la fiche : le PDF du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est joint, comme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pièce unique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du DAO (pastille « fiche DAO »).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ajoute les pièces qui ne sortent pas de la fiche (estimation, garantie…), puis soumet.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dossier créé avant le 6 octobre garde ses documents séparés : un dossier déjà soumis n’est jamais modifié.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73191" y="3060700"/>
            <a:ext cx="624531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DAO à la Com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389" y="3136900"/>
            <a:ext cx="609291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du DAO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même circuit que pour le plan ; l’examen lit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DAO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ses pièces, une à une.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Pièce 1 :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lu à l’écran de bout en bout (page de garde, sommaire, les deux parties), RAS ou observation.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du DA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L’avis spécifique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le PV signé favorable : l’avis s’imprime depuis la fiche, avec ses références de publication.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la procédure paraît alors aux candidats.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vis spécifique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 en ligne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entreprises consultent, retirent le dossier, déposent une offre chiffrée sur leur poste ; la commission l’ouvre en séance, au quorum, à l’heure prévue.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d’accueil des entreprises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entrée publique propre aux entreprises : ce qu’elles peuvent faire, dans l’ordre.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’accueil des ent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ouvertes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compte : référence, objet, lots, date limite, heure de référence.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ouv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d’une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l’offre doit contenir, les formats et tailles acceptés, l’assistance.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 demande un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tail d’une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compte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Nom, adresse, téléphone, mot de passe ;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à six chiffres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reçu par courriel confirme le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comp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une fois connecté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calendrier, les lots, les règles de la remise électronique ;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une offre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tant que les dépôts sont ouverts.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à retirer :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d’appel d’offres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en Word et en PDF, puis le bordereau à remplir (Excel).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document retiré est enregistré sur le poste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inscrit au registre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PRMP. Ici, une procédure lancée avant le 6 octobre : retrait libre ; depuis, un dossier payant attend le reçu validé (ci-après).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une fois connec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PAYANT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des frais, validé avant le retrait et le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 se versent au compte de l’ARMP, hors de la plateforme ; le reçu est déposé en ligne et validé par la PRMP ou l’UGPM.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 dépose son reçu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fichier ; un reçu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pour un ou plusieurs lots.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ou l’UGPM décide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Notifiée ; valide, ou refuse avec un motif. Un montant insuffisant est signalé. Une décision ne se reprend pas.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 s’ouvre à la validation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des documents, les formulaires de l’offre et le dépôt. Avant, ils restent fermés.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séance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; une offre sans reçu validé lève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attend le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du dossier ; les boutons « Retirer » du DAO complet restent inactifs, la raison est dite.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19250" y="3060700"/>
            <a:ext cx="815319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attend l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448" y="3136900"/>
            <a:ext cx="800080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le reçu du versement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et le reçu (PDF ou image).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898" y="3060700"/>
            <a:ext cx="102898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poser le reçu du ver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096" y="3136900"/>
            <a:ext cx="101375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attend la décision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L’état du reçu, et « Voir mon reçu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çu attend la déc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des frais de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en attente d’abord ; le montant insuffisant signalé ; « Voir le reçu », « Valider », « Refuser… » (motif).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reçus des frais d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Refuser, avec un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motif part par courriel ; l’entreprise dépose un nouveau reçu.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83368" y="3060700"/>
            <a:ext cx="782495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fuser, avec u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9567" y="3136900"/>
            <a:ext cx="76725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validé : le dossier se retire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boutons « Retirer » s’ouvrent, et « Déposer une offre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validé : le dossier se ret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refusé : le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L’ancien reçu et son motif restent ; un nouveau dépôt est proposé.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380179"/>
            <a:ext cx="10540736" cy="244714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refusé : le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56379"/>
            <a:ext cx="10388340" cy="22947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reçu validé, pas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L’écran de dépôt ne s’ouvre pas, et renvoie aux frais de dossier ; les formulaires (le contenu du DAO) ne sont pas servis.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09333"/>
            <a:ext cx="10540736" cy="238883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ns reçu validé, pas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5533"/>
            <a:ext cx="10388340" cy="22364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 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Raison sociale, NIF, STAT, RCS, représentant, pièces : déclarés une fois, vérifiés par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ne bloque jamais un dépôt ; une entreprise exclue par l’ARMP ne peut pas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on 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REMPLIE EN LIGNE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son offre, plus seulement la joindre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que la fiche porte un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besoin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dépôt présente des formulaires pré-remplis ; tout est scellé avec l’offre.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 depuis la fiche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Articles, quantités, caractéristiques, séries du DQE, matériel, personnel, seuils de qualification.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 sur le poste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Totaux, TVA, prix en lettres, K1, sous-détail ; les montants de l’acte d’engagement en découlent.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Averti, jamais refusé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 un prix manquant bloque ; le reste est averti au candidat, puis signalé à la commission.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 à l’ouverture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refait les totaux depuis le bordereau scellé et compare avec l’acte d’engagement.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des prix et le calendrier de livraison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prix unitaire et la date de livraison de chaque article ; au minimum et au maximum des quantités pour un marché à commande.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77712" y="3060700"/>
            <a:ext cx="8236272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ordereau des prix et le calendrier de livra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910" y="3136900"/>
            <a:ext cx="808387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conformité technique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Marque, modèle, et pour chaque caractéristique exigée : ce qui est proposé, et si c’est conforme.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92834"/>
            <a:ext cx="7162621" cy="437083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nformit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69034"/>
            <a:ext cx="7010225" cy="4218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avertissements, avant de déposer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Non-conformité déclarée, livraison au-delà du délai : averti, on peut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7819" y="3060700"/>
            <a:ext cx="957605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, avant de dépo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17" y="3136900"/>
            <a:ext cx="942366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L’acte d’engagement, calculé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montants ne se saisissent plus : ce sont ceux du bordereau. Restent le délai, la validité, le rabais.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63836"/>
            <a:ext cx="10540736" cy="267982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te d’engagement, calcu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0036"/>
            <a:ext cx="10388340" cy="2527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 et les prix en lettres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prix par série ; le prix s’écrit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lettres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sous la désignation — ce sont les lettres qui font foi.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7889" y="3060700"/>
            <a:ext cx="693591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 et les prix en let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4088" y="3136900"/>
            <a:ext cx="678352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coefficient K1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neuf frais de l’annexe 2 de l’acte d’engagement ; le siège à Madagascar ou à l’étranger.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617218"/>
            <a:ext cx="7162621" cy="432206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oefficient K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93418"/>
            <a:ext cx="7010225" cy="41696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sous-détail d’un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déboursés secs, le rendement ; le prix calculé est comparé au bordereau (écart de plus de 1 % signalé).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87025" y="3060700"/>
            <a:ext cx="881764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us-détail d’un p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223" y="3136900"/>
            <a:ext cx="866525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capacités financières et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Chiffre d’affaires et moyenne des meilleures années, liquidité contre le seuil, références de la période.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0498" y="3060700"/>
            <a:ext cx="65906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apacités financières et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6696" y="3136900"/>
            <a:ext cx="64383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79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personnel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par personne exigée ; les CV et diplômes restent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9144" y="3060700"/>
            <a:ext cx="1027340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ersonn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342" y="3136900"/>
            <a:ext cx="1012101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matériel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nombre proposé, et combien en propre.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704594"/>
            <a:ext cx="7162621" cy="414731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atéri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780794"/>
            <a:ext cx="7010225" cy="3994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81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 des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écart dit, chiffres à l’appui ; la commission le lira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73809"/>
            <a:ext cx="10540736" cy="205988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 des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50009"/>
            <a:ext cx="10388340" cy="190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saisie jamais perdue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fermée ou rechargée : la saisie est reprise. Gardée sur le poste seulement, jamais envoyée ; effacée au dépôt.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148058"/>
            <a:ext cx="10540736" cy="9113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saisie jamais perd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224258"/>
            <a:ext cx="10388340" cy="758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83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remplies en ligne, et le reçu déjà fourni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bordereau, la conformité, le calendrier : « Remplie en ligne ». Les autres pièces se joignent.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65565" y="3060700"/>
            <a:ext cx="7660565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remplies en ligne, et le reçu déjà fou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763" y="3136900"/>
            <a:ext cx="7508169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84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sans formulaires : l’acte d’engagement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procédure sans besoin (prestations intellectuelles) : les montants de l’acte se saisissent.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temps restant, à l’horloge du serveur.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sans formulaires : l’acte d’enga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85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: les pièces, puis le scellement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pièce attendue, contrôlée ; puis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Sceller et déposer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: l’offre est chiffrée sur le poste, pour les détenteurs de la procédure.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: les pièces, puis le scell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86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L’accusé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L’heure de dépôt, le numéro d’arrivée,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 ; l’accusé en PDF.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ne peut lire l’offre avant la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sé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87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Jusqu’à la date limite, si la procédure le permet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remplacer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son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88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dépôts, avant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limite, la PRMP ne connaît que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d’offres.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dépôts, avant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89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a retiré quel document, et quand ;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 a ouvert le retrait.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90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avant l’heure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 ne s’ouvre qu’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le serveur refuse avant.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avant l’he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91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attend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apportera ses parts depuis son espace, avec sa phrase secrète.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attend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L’ouverture et les présences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ouvre la séance, coche les présents, ajoute les autres présents.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ouverture et les prés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93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Apporter ses parts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phrase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qui déchiffre sa part de chaque offre ; seules ces parts partent.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58066"/>
            <a:ext cx="10540736" cy="209136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porter ses p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34266"/>
            <a:ext cx="10388340" cy="19389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94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se remplit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offres s’ouvriront dès que le quorum sera atteint ; un membre absent peut être suppléé par la part de secours.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016125"/>
            <a:ext cx="10540736" cy="117525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quorum se rem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92325"/>
            <a:ext cx="10388340" cy="102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95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offres s’ouvrent ensemble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quorum, chaque offre est vérifiée (empreinte), déchiffrée, comparée aux pièces attendues.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offres s’ouvrent ensem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96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fournitures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totaux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 le serveur ; les alertes (non-conformité, livraison hors délai) ; le bordereau et la conformité remplis, en PDF.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13413" y="3060700"/>
            <a:ext cx="7964870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fourni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611" y="3136900"/>
            <a:ext cx="781247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97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en défaut : chiffre d’affaires, liquidité, références, personnel, matériel, sous-détail — des alertes, jamais un rejet.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484722"/>
            <a:ext cx="7162621" cy="458705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60922"/>
            <a:ext cx="7010225" cy="44346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98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dossier, lus en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de chaque offre ; sans reçu validé, l’alerte « Frais de dossier non réglés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52182" y="3060700"/>
            <a:ext cx="788733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frais de dossier, lus en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380" y="3136900"/>
            <a:ext cx="773493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99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lecture, projetée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 par offre : soumissionnaire, montants, délai, garantie, pièces manquantes, alertes — en grand pour la salle.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, proje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100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pièces, pour la commission seule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membres de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ouvrent les pièces des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73447"/>
            <a:ext cx="10540736" cy="2660607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, pour la commission se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9647"/>
            <a:ext cx="10388340" cy="25082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101</a:t>
            </a:r>
            <a:endParaRPr lang="en-US" sz="1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d’ouverture, à signer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produit le PV ; il attend la signature de chaque membre présent.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d’ouverture, à sig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102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le PV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Relire le PV, puis signer : la signature est horodatée et imprimée au PV.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peut constater l’empêchement d’un membre, avec un motif.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802551"/>
            <a:ext cx="10540736" cy="160239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igner le PV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8751"/>
            <a:ext cx="10388340" cy="14499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103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dernière signature, la séance est close.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la fiche prévoit la publication, un extrait du PV (sans les alertes) paraît alors sur la procédure publique.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est sign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104</a:t>
            </a:r>
            <a:endParaRPr lang="en-US" sz="12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après la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 publique passe à « close » : les dépôts sont clos.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 la fiche prévoit la publication du PV, son extrait s’y lit ; ce n’était pas le cas de la fiche de démonstration.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après la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105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complet, après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 : entreprise, NIF, lot, heure, état, empreinte de chaque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complet, après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106</a:t>
            </a:r>
            <a:endParaRPr lang="en-US" sz="12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vue par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lit la séance et la lecture des offres, sans en ouvrir les pièces.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vue par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107</a:t>
            </a:r>
            <a:endParaRPr lang="en-US" sz="12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1905000"/>
            <a:ext cx="10159746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seule chaîne, de bout en bout.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780" y="2857500"/>
            <a:ext cx="9207270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plan de passation saisi par la PRMP au PV d’ouverture signé par la commission : chaque geste est tracé, chronométré, et attribué à son acteur.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780" y="4191000"/>
            <a:ext cx="8889778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108</Slides>
  <Notes>108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</vt:vector>
  </TitlesOfParts>
  <Company>Commission nationale des marchés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PRS 2.0 — Fonctionnement détaillé</dc:title>
  <dc:subject>PptxGenJS Presentation</dc:subject>
  <dc:creator>PRS 2.0</dc:creator>
  <cp:lastModifiedBy>PRS 2.0</cp:lastModifiedBy>
  <cp:revision>1</cp:revision>
  <dcterms:created xsi:type="dcterms:W3CDTF">2026-10-06T18:26:20Z</dcterms:created>
  <dcterms:modified xsi:type="dcterms:W3CDTF">2026-10-06T18:26:20Z</dcterms:modified>
</cp:coreProperties>
</file>