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notesMasterIdLst>
    <p:notesMasterId r:id="rId1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chaîne réelle, suivie de bout en bout : un plan de passation créé ce jour-là, contrôlé par la Commission, puis le DAO d’une de ses lignes, sa commission d’appel d’offres, la cérémonie des clés, le dépôt d’une offre scellée et la séance d’ouverture.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étapes 2 à 5 sont montrées sur une seconde fiche brouillon de démonstration, parcourue à l’écran comme le ferait une PRMP.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812800"/>
            <a:ext cx="10159746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NATIONALE DES MARCHÉS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80" y="1206500"/>
            <a:ext cx="10477238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— Fonctionnement détaillé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780" y="2476500"/>
            <a:ext cx="920727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dossier de planification à la séance d’ouverture des plis : chaque étape, chaque acteur, chaque écran.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780" y="5080000"/>
            <a:ext cx="9842254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de l’application réelle, sur des chaînes de démonstration et de recette déroulées les 5 et 6 octobre 2026.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Noms de personnes remplacés par leur rôle. Ministère de l’Économie et des Finances · octobre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Quatre temps, une même chaîne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marché inscrit au plan de passation va, dans PRS 2.0, jusqu’à l’ouverture des offres reçues en ligne.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1677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1677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crée et soumet son plan de passation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2716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92413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1310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1310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 le 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1310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Secrétaire, Président, Membre, Vérificateur, Assistant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2349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046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0943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0943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le DAO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0943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Fiche, commission, cérémonie des clés, contrôle, avis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11982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51679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0576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40576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les offres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40576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Frais de dossier, offre remplie en ligne, dépôt scellé, séance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2780" y="3937000"/>
            <a:ext cx="104137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temps a son intercalaire ; chaque diapositive qui suit montre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écran réel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au moment précis où l’acteur intervient.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ACTEURS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intervient, et où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 travaille dans son espace : la coquille interne pour la PRMP et la Commission, des espaces à part pour les candidats, la commission d’appel d’offres et le dépositaire.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 (et UGPM)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 le plan et les DAO, désigne la commission d’appel d’offres, imprime l’avis, suit ses dossiers.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409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4090" y="1905000"/>
            <a:ext cx="3403515" cy="38100"/>
          </a:xfrm>
          <a:prstGeom prst="rect">
            <a:avLst/>
          </a:prstGeom>
          <a:solidFill>
            <a:srgbClr val="6A7787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48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la recevabilité pièce par pièce et enregistre la réception.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1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5401" y="1905000"/>
            <a:ext cx="3403515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 / Chef de commission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797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 à un Membre, vise le projet de PV et désigne le co-signataire.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8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878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96517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17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 ligne par ligne, rédige le projet de PV, signe en co-signataire.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9409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4090" y="3987800"/>
            <a:ext cx="3403515" cy="38100"/>
          </a:xfrm>
          <a:prstGeom prst="rect">
            <a:avLst/>
          </a:prstGeom>
          <a:solidFill>
            <a:srgbClr val="8A5A9E"/>
          </a:solidFill>
          <a:ln/>
        </p:spPr>
      </p:sp>
      <p:sp>
        <p:nvSpPr>
          <p:cNvPr id="23" name="Text 21"/>
          <p:cNvSpPr/>
          <p:nvPr/>
        </p:nvSpPr>
        <p:spPr>
          <a:xfrm>
            <a:off x="454648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Vérificateur, Assistant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648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Transmet la décision à SIGMP ; archive le PV et clôt le dossier.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75401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5401" y="39878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127797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Candidat, CAO, dépositaire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7797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Déposent et ouvrent les offres en ligne : chacun dans son espace externe.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saisit son plan de passation, le vérifie à l’aperçu et le soumet à la Commission nationale des marchés.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L’accueil « À faire » de la PRMP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connexion, ce que le circuit attend d’elle,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urgence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menu : son travail (dont 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Appels d’offres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»), ses décisions, la planification.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ccueil « À faire » de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actualité à l’ouverture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 publie des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actualités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ciblées par profil : rappel de règles, fermeture technique…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Elles s’affichent à la connexion ; une fenêtre se ferme par son bouton ou par Échap.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Une actualité à l’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un dossier : choisir son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de planification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 plan de passation), dossier de mise en concurrence, ou dossier de marché.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mise à jour d’un plan déjà validé passe par « Mettre à jour un PPM » : une nouvelle version, jamais un écrasement.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Créer un dossier : choisir son 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L’en-tête du plan, et l’import PDF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Importer un PPM (PDF)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pré-remplit tout depuis le plan officiel — à vérifier ligne par ligne avant création.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la saisie : l’entité contractante (celles de la PRMP), l’exercice, la date de signature.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localité et le signataire se déduisent seuls.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en-tête du plan, et l’import 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de marché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Nature, objet, montant estimatif,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de passation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forme, financement, statut.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bénéficiaires, les lots, et le calendrier prévisionnel (CAPM) par ligne.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Ici : des travaux de réhabilitation, en appel d’offres ouvert.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Une ligne de march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calendrier prévisionnel (CAPM)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processus du mode de passation, chacun avec sa date de début (et de fin).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chronologie est contrôlée ; un délai trop court ou un mode dérogatoire appelle une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31327" y="1473200"/>
            <a:ext cx="4907157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calendrier prévisionnel (CAP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7525" y="1549400"/>
            <a:ext cx="4754761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jointes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exigées dépendent du type de dossier, fixé dans les référentiels de l’Administrateur.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Formats acceptés : PDF, JPEG, PNG ; chaque fichier est contrôlé (type, taille).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ièces joi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L’aperçu avant création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de présentation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passation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le projet d’AGPM, tels que la Commission les lira.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Rien ne part tant que la PRMP n’a pas créé le dossier.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perçu avant cré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brouillon, puis la soumission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Créer le dossier » enregistre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brouillon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on peut le reprendre, le vérifier, le supprimer.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Soumettre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l’envoie à la Commission ; seule la PRMP soumet (l’UGPM prépare).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brouillon, puis la sou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suivi des dossiers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dossier à la Commission, avec son statut et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 de traitement prévue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suivi des dossi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du dossier : la frise des sept étapes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Réception, dispatch, examen, projet de PV, PV signé, vérification, clôture.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L’étape en cours, qui agit, le délai qui court ; le plan lui-même, en lecture.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même page pour tous les profils : chacun y voit son geste.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age du dossier : la frise des sept éta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 le plan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traverse la Commission : réception, dispatch, examen, projet de PV, visa, signature, transmission à SIGMP et archivage.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SECRÉTAIRE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arrive chez le Secrétaire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son « À faire » : les dépôts à numéroter, du plus ancien au plus récent.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arrive chez le Secrét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SECRÉTAIRE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Recevabilité et réception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de complétude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pièce par pièce ; une pièce manquante se signale à la PRMP.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date de réception ; le dossier reçoit son numéro.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Recevabilité et récep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attend son dispatch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(ou le Chef de commission) voit les dossiers reçus à attribuer.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attend son disp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Dispatcher à un Membre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assigné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sa charge en cours pour équilibrer ; une consigne facultative.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Chef de commission est associé d’office.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Dispatcher à un Memb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reçoit le 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son « À faire », avec le délai d’examen et la consigne du dispatch.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embre reçoit le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séquentiel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étapes dans l’ordre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de présentation, lignes du plan, projet d’AGPM, pièces, contrôles du dossier, synthèse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point est « RAS » ou porte une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pas de texte, pas d’observation.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synthèse propose un avis cohérent avec ce qui a été relevé (ici, en lecture après la signature).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examen séqu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projet de PV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soumis produit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de PV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l’avis et les observations.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le soumet au Président.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projet de P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visa du Président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arrête l’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global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désigne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co-signataire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pose sa part de signature, en un geste.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il retourne le projet, ou il rédige une lettre de renvoi.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visa du Prési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 CO-SIGNATAIRE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seconde signature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est signé par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personnes distinctes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la seconde signature clôt la navette.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seconde sign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VÉRIFICATEUR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signature : le Vérificateur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PV signés à vérifier, et les décisions à transmettre.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Après la signature : le Vérifica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VÉRIFICATEUR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Transmettre la décision à SIGMP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un avis favorable, la décision part vers le système SIGMP ; pour un avis avec réserves, il suit d’abord leur levée.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Transmettre la décision à SIG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ASSISTANT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L’archivage du PV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L’Assistant archive le PV définitif : le dossier est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rchivage du P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voit la PRMP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frise avance à chaque geste ; la PRMP est notifiée.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Ce que voit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 PV définitifs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signé est à elle dès sa signature ; la ligne du plan peut désormais porter un DAO.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es PV défini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le DAO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une ligne du plan contrôlé : la fiche du marché, d’où naissent tous les documents ; en remise électronique, la commission d’appel d’offres et la cérémonie des clés ; puis le contrôle du DAO et l’avis.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Appels d’offres » : les lignes et leurs fiches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menu de la PRMP et de l’UGPM. Les lignes d’un plan au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PV signé favorable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dont le mode de passation appelle un DAO.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Préparer l’appel d’offres », ou « Reprendre la fiche » ; sous chaque fiche, 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offres déposées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reçus à valider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(pastille au menu).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« Appels d’offres » : les lignes et leurs fi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fiche, et les écrans de la procédure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repères : catégorie, forme, paramètres internes, commission, cérémonie, offres.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écrans de la procédure : séance, dépôts, commission, retraits, reçus des frais — ces trois derniers une fois la fiche validée.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445404"/>
            <a:ext cx="10540736" cy="2316692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fiche, et les écrans de la procé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521604"/>
            <a:ext cx="10388340" cy="21642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1 : la ligne du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informations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reprises du plan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verrouillées : rien n’est ressaisi.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repères en tête : paramètres internes, commission, cérémonie, offres déposées.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1 : la ligne du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: le cadrage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Dix questions qui ouvrent ou ferment des rubriques : allotissement, tranches, variantes, groupement, prix, garantie…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de remise des offres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papier, ou électronique.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2 : le cad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: la saisie par bloc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Onze blocs ; chaque information est saisie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fois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se reporte dans tous les documents qui l’utilisent (DPAO, AE, CCAP…).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contrôles se mettent à jour à droite, en continu.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3 : la saisie par blo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besoin : le détail quantitatif et estimatif, en entier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des travaux : série, n° de prix, désignation, libellé au bordereau, unité, quantité,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plafond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sous-détail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produit le bordereau des prix, et pré-remplit le formulaire que le candidat remplira en ligne.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410496"/>
            <a:ext cx="10540736" cy="238650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besoin : le détail quantitatif et estimatif, en ent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486696"/>
            <a:ext cx="10388340" cy="22341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de l’offre, listées une à une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remise électronique, chaque pièce exigée est une ligne : le candidat joindra un fichier par pièce.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Proposer la liste à partir du texte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part du texte du DAO.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52861" y="3060700"/>
            <a:ext cx="8485973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ièces de l’offre, listées une à u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059" y="3136900"/>
            <a:ext cx="8333577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texte découpé, à relire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pièce par ligne ou par « ; » ; la PRMP relit, ajoute, corrige, enregistre.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94929" y="1473200"/>
            <a:ext cx="6179953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texte découpé, à rel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1127" y="1549400"/>
            <a:ext cx="6027557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: les reprises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champs repris d’un document maître, jamais ressaisis.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4 : les repri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: les contrôles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informations obligatoires manquantes, l’ordre des dates, et, en remise électronique, la commission, le responsable, le dépositaire.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des pièces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l’offre. Tant qu’un contrôle bloque, la validation est fermée.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5 : les contrô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Désignée par la PRMP, par une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des agents de l’entité, au plus un expert de l’objet, un président.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reçoit un compte et détient une part de la clé qui ouvrira les offres.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commission d’appel d’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cérémonie des clés, 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membre, puis le dépositaire de la part de secours, publient leur clé depuis leur poste ; le responsable clôt.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détail de la cérémonie fait l’objet d’une présentation à part : « La cérémonie des clés 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50418" y="3060700"/>
            <a:ext cx="8890859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cérémonie des clés, clo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616" y="3136900"/>
            <a:ext cx="873846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sans responsable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le Poste d’administration : les procédures en remise électronique qui attendent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désignation de leur responsable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415097"/>
            <a:ext cx="10540736" cy="2377306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rocédures sans respons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491297"/>
            <a:ext cx="10388340" cy="22249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 · ADMINISTRATEUR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en ligne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y retrouve ses procédures («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procédures en ligne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», au menu dès qu’il en a une) : paramètres et cérémonie, séance.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 les voit toutes, et désigne le responsable depuis la fiche. Seul le titulaire conduit : l’intérimaire lit.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rocédures en 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6 : la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valide : la fiche est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figée et versionnée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Une modification ouvre une nouvelle version.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6 : la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DAO COMPLET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seul document, comme les DAO réels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validation, les documents remplis depuis la fiche sont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assemblés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 seul dossier d’appel d’offres, en Word et en PDF, sur le plan des documents types de l’ARMP.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5194170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de garde et sommaire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Emblème, ministère, PRMP, UGPM, « Dossier d’appel d’offres ouvert », numéro, objet, lots, « Lancé le », financement, imputation, compte ; puis le sommaire paginé.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745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4745" y="1905000"/>
            <a:ext cx="5194170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337142" y="20193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Première partie : la procédure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7142" y="25146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 Instructions aux candidats (texte fixe de l’ARMP) ; 1.2 DPAO ; 1.3 Formulaires de soumission (fiches A1 à A4, garanties).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80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780" y="3987800"/>
            <a:ext cx="51941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5176" y="41021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Deuxième partie : le marché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176" y="45974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 Acte d’engagement ; 2.2 CCAP et ses annexes, puis 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spécifications techniques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jointes par la PRMP ; 2.3 CCAG (texte fixe).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4745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4745" y="3987800"/>
            <a:ext cx="5194170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37142" y="41021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Figé à la validation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7142" y="45974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En-tête « DAO n° … — objet », pages numérotées « n / N ». Les classeurs (bordereau, DQE) restent à part, en Excel. Une version validée ne se régénère jamais.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7 : le DAO complet en tête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d’appel d’offres complet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ouvrir le PDF, l’enregistrer en PDF ou en Word.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Puis les classeurs (bordereau des prix, DQE) ; le dossier à soumettre est créé depuis la fiche.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867934"/>
            <a:ext cx="7162621" cy="3820633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7 : le DAO complet en tê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944134"/>
            <a:ext cx="7010225" cy="36682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DOCUMENT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de garde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Celle des DAO réels : l’emblème, le ministère (une seule fois), la PRMP et l’UGPM, l’intitulé qui porte le mode de passation.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numéro du DAO, l’objet, « Lancé le …… » à compléter, le financement, l’imputation administrative et le compte, lus sur le plan.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33057" y="1473200"/>
            <a:ext cx="3303697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age de gar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255" y="1549400"/>
            <a:ext cx="3151301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DOCUMENT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sommaire général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deux parties et leurs sous-parties, dans la numérotation de l’ARMP, avec 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numéros de page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seule présentation à tous les niveaux ; dans le Word, c’est une table des matières mise à jour à l’ouverture.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33057" y="1473200"/>
            <a:ext cx="3303697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sommaire géné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255" y="1549400"/>
            <a:ext cx="3151301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spécifications techniques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bloc B14 : la PRMP joint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 devis descriptif, des prescriptions et des plans (20 Mo au plus).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est inséré tel quel au rang 2.2, entre le CCAP et le CCAG. Sans fichier, la partie n’apparaît pas, et le contrôle le signale.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769258"/>
            <a:ext cx="10540736" cy="166898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spécifications techn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45458"/>
            <a:ext cx="10388340" cy="1516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CONTRÔLE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DAO à la Commission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PDF du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complet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est joint ; la PRMP ajoute les pièces qui ne sortent pas de la fiche, puis soumet.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DAO à la Com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du DAO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même circuit que pour le plan ; l’examen lit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DAO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ses pièces, une à une.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examen du D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L’avis spécifique d’appel d’offres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le PV signé favorable : l’avis s’imprime depuis la fiche, avec ses références de publication.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remise électronique, la procédure paraît alors aux candidats.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vis spécifique d’appel d’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les offres en ligne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entreprises consultent, retirent le dossier, déposent une offre chiffrée sur leur poste ; la commission l’ouvre en séance, au quorum, à l’heure prévue.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d’accueil des entreprises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entrée publique propre aux entreprises : ce qu’elles peuvent faire, dans l’ordre.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age d’accueil des entrepri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ouvertes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 compte : référence, objet, lots, date limite, heure de référence.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rocédures ouve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détail d’une procédure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l’offre doit contenir, les formats et tailles acceptés, l’assistance.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du dossier demande un compte.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tail d’une procé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un compte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Nom, adresse, téléphone, mot de passe ;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à six chiffres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reçu par courriel confirme le compte.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Créer un comp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procédure, une fois connecté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documents du DAO à retirer, et 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Déposer une offre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quand les dépôts sont ouverts.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rocédure, une fois connec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à retirer : le DAO complet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d’appel d’offres complet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Word et en PDF, puis les classeurs à remplir.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candidat y trouve l’acte d’engagement et les formulaires, qu’il recopie depuis le Word.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472087"/>
            <a:ext cx="10540736" cy="2263326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à retirer : le DAO comp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548287"/>
            <a:ext cx="10388340" cy="21109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du 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document retiré est enregistré sur le poste et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inscrit au registre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PRMP.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Ici, une procédure lancée avant le 6 octobre : retrait libre. Depuis, un dossier payant attend le reçu validé (ci-après).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trait du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PAYANT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reçu des frais, validé avant le retrait et le dépôt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frais de dossier se versent au compte de l’ARMP, hors de la plateforme ; le reçu est déposé en ligne et validé par la PRMP ou l’UGPM.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5194170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candidat dépose son reçu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Montant, référence, date, banque, fichier ; un reçu par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entreprise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pour un ou plusieurs lots.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745" y="19050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4745" y="1905000"/>
            <a:ext cx="5194170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337142" y="20193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ou l’UGPM décide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7142" y="25146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Notifiée ; valide, ou refuse avec un motif. Un montant insuffisant est signalé. Une décision ne se reprend pas.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80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780" y="3987800"/>
            <a:ext cx="5194170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5176" y="41021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s’ouvre à la 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176" y="45974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des documents, les formulaires de l’offre et le dépôt. Avant, ils restent fermés.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4745" y="3987800"/>
            <a:ext cx="5194170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4745" y="3987800"/>
            <a:ext cx="5194170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37142" y="4102100"/>
            <a:ext cx="4889378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séance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7142" y="4597400"/>
            <a:ext cx="4889378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ligne « Frais de dossier » ; une offre sans reçu validé lève une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jamais un rejet.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attend le reçu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frais du dossier ; les boutons « Retirer » restent inactifs, la raison est dite.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17869" y="1473200"/>
            <a:ext cx="5734072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trait attend le reç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4067" y="1549400"/>
            <a:ext cx="5581676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Déposer le reçu du versement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Montant, référence, date, banque, et le reçu (PDF ou image).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898" y="3060700"/>
            <a:ext cx="10289899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Déposer le reçu du vers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096" y="3136900"/>
            <a:ext cx="10137503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reçu attend la décision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L’état du reçu, et « Voir mon reçu 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798213"/>
            <a:ext cx="10540736" cy="1611073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çu attend la déci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74413"/>
            <a:ext cx="10388340" cy="14586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reçus des frais de 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reçus en attente d’abord ; le montant insuffisant signalé ; « Voir le reçu », « Valider », « Refuser… » (motif).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reçus des frais de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Refuser, avec un motif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motif part par courriel ; l’entreprise dépose un nouveau reçu.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83368" y="3060700"/>
            <a:ext cx="7824958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Refuser, avec u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9567" y="3136900"/>
            <a:ext cx="767256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 validé : le dossier se retire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boutons « Retirer » s’ouvrent, et « Déposer une offre 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798213"/>
            <a:ext cx="10540736" cy="1611073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Reçu validé : le dossier se ret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74413"/>
            <a:ext cx="10388340" cy="14586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 refusé : le motif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L’ancien reçu et son motif restent ; un nouveau dépôt est proposé.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380179"/>
            <a:ext cx="10540736" cy="2447142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Reçu refusé : l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456379"/>
            <a:ext cx="10388340" cy="22947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 reçu validé, pas de dépôt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L’écran de dépôt ne s’ouvre pas, et renvoie aux frais de dossier ; les formulaires (le contenu du DAO) ne sont pas servis.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409333"/>
            <a:ext cx="10540736" cy="238883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ans reçu validé, pas de dépô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485533"/>
            <a:ext cx="10388340" cy="22364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entreprise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Raison sociale, NIF, STAT, RCS, représentant, pièces : déclarés une fois, vérifiés par l’Administrateur.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vérification ne bloque jamais un dépôt ; une entreprise exclue par l’ARMP ne peut pas déposer.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on entrepr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L’OFFRE REMPLIE EN LIGNE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Remplir son offre, plus seulement la joindre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Dès que la fiche porte un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besoin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le dépôt présente des formulaires pré-remplis ; tout est scellé avec l’offre.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Pré-rempli depuis la fiche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Articles, quantités, caractéristiques, séries du DQE, matériel, personnel, seuils de qualification.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409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4090" y="19050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Calculé sur le poste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48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Totaux, TVA, prix en lettres, K1, sous-détail ; les montants de l’acte d’engagement en découlent.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1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5401" y="19050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Averti, jamais refusé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797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Seul un prix manquant bloque ; le reste est averti au candidat, puis signalé à la commission.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8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87800"/>
            <a:ext cx="3403515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9" name="Text 17"/>
          <p:cNvSpPr/>
          <p:nvPr/>
        </p:nvSpPr>
        <p:spPr>
          <a:xfrm>
            <a:off x="96517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Recalculé à l’ouverture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17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refait les totaux depuis le bordereau scellé et compare avec l’acte d’engagement.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FOURNITURES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bordereau des prix et le calendrier de livraison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prix unitaire et la date de livraison de chaque article ; au minimum et au maximum des quantités pour un marché à commande.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77712" y="3060700"/>
            <a:ext cx="8236272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bordereau des prix et le calendrier de livr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3910" y="3136900"/>
            <a:ext cx="8083875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FOURNITURES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conformité technique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Marque, modèle, et pour chaque caractéristique exigée : ce qui est proposé, et si c’est conforme.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92834"/>
            <a:ext cx="7162621" cy="4370832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conformité tech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669034"/>
            <a:ext cx="7010225" cy="4218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FOURNITURES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avertissements, avant de déposer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Non-conformité déclarée, livraison au-delà du délai : averti, on peut déposer.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07819" y="3060700"/>
            <a:ext cx="9576057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avertissements, avant de dépo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017" y="3136900"/>
            <a:ext cx="9423661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L’acte d’engagement, calculé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montants ne se saisissent plus : ce sont ceux du bordereau. Restent le délai, la validité, le rabais.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263836"/>
            <a:ext cx="10540736" cy="267982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cte d’engagement, calcul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340036"/>
            <a:ext cx="10388340" cy="25274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DQE et les prix en lettres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prix par série ; le prix s’écrit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lettres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sous la désignation — ce sont les lettres qui font foi.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27889" y="3060700"/>
            <a:ext cx="6935916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QE et les prix en lett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4088" y="3136900"/>
            <a:ext cx="6783520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coefficient K1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neuf frais de l’annexe 2 de l’acte d’engagement ; le siège à Madagascar ou à l’étranger.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617218"/>
            <a:ext cx="7162621" cy="432206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coefficient K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693418"/>
            <a:ext cx="7010225" cy="41696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79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sous-détail d’un prix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déboursés secs, le rendement ; le prix calculé est comparé au bordereau (écart de plus de 1 % signalé).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87025" y="3060700"/>
            <a:ext cx="8817646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sous-détail d’un p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223" y="3136900"/>
            <a:ext cx="8665250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capacités financières et techniques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Chiffre d’affaires et moyenne des meilleures années, liquidité contre le seuil, références de la période.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00498" y="3060700"/>
            <a:ext cx="6590699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capacités financières et techn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696" y="3136900"/>
            <a:ext cx="6438303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81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personnel proposé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par personne exigée ; les CV et diplômes restent à joindre.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9144" y="3060700"/>
            <a:ext cx="10273408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personnel propos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342" y="3136900"/>
            <a:ext cx="1012101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82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matériel proposé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nombre proposé, et combien en propre.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704594"/>
            <a:ext cx="7162621" cy="4147312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atériel propos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780794"/>
            <a:ext cx="7010225" cy="399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83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 ·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avertissements des travaux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écart dit, chiffres à l’appui ; la commission le lira en séance.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573809"/>
            <a:ext cx="10540736" cy="2059882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avertissements des trava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650009"/>
            <a:ext cx="10388340" cy="190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84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saisie jamais perdue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fermée ou rechargée : la saisie est reprise. Gardée sur le poste seulement, jamais envoyée ; effacée au dépôt.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4148058"/>
            <a:ext cx="10540736" cy="911384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Une saisie jamais perd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4224258"/>
            <a:ext cx="10388340" cy="7589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85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remplies en ligne, et le reçu déjà fourni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bordereau, la conformité, le calendrier : « Remplie en ligne ». Les autres pièces se joignent.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65565" y="3060700"/>
            <a:ext cx="7660565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ièces remplies en ligne, et le reçu déjà four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763" y="3136900"/>
            <a:ext cx="7508169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86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dépôt sans formulaires : l’acte d’engagement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procédure sans besoin (prestations intellectuelles) : les montants de l’acte se saisissent.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temps restant, à l’horloge du serveur.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pôt sans formulaires : l’acte d’eng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87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dépôt : les pièces, puis le scellement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pièce attendue, contrôlée ; puis 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Sceller et déposer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: l’offre est chiffrée sur le poste, pour les détenteurs de la procédure.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pôt : les pièces, puis le scell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88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L’accusé de dépôt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L’heure de dépôt, le numéro d’arrivée, l’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empreinte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l’offre ; l’accusé en PDF.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ne peut lire l’offre avant la séance.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ccusé de dépô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89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offres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Jusqu’à la date limite, si la procédure le permet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remplacer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offre.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Mes 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des dépôts, avant l’échéance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la date limite, la PRMP ne connaît que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d’offres.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gistre des dépôts, avant l’éch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91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des retraits du 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a retiré quel document, et quand ; et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reçu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 a ouvert le retrait.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gistre des retraits du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92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séance, avant l’heure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 ne s’ouvre qu’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date limite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le serveur refuse avant.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séance, avant l’he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93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attend l’ouverture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apportera ses parts depuis son espace, avec sa phrase secrète.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embre attend l’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94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L’ouverture et les présences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ouvre la séance, coche les présents, ajoute les autres présents.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ouverture et les prése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95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Apporter ses parts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phrase déverrouille sa clé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son poste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qui déchiffre sa part de chaque offre ; seules ces parts partent.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558066"/>
            <a:ext cx="10540736" cy="209136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Apporter ses p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634266"/>
            <a:ext cx="10388340" cy="1938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96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quorum se remplit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offres s’ouvriront dès que le quorum sera atteint ; un membre absent peut être suppléé par la part de secours.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4016125"/>
            <a:ext cx="10540736" cy="117525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quorum se rem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4092325"/>
            <a:ext cx="10388340" cy="1022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97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offres s’ouvrent ensemble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quorum, chaque offre est vérifiée (empreinte), déchiffrée, comparée aux pièces attendues.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Toutes les offres s’ouvrent ensem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98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lecture d’une offre remplie : fournitures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totaux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recalculés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 le serveur ; les alertes (non-conformité, livraison hors délai) ; le bordereau et la conformité remplis, en PDF.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13413" y="3060700"/>
            <a:ext cx="7964870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lecture d’une offre remplie : fournit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611" y="3136900"/>
            <a:ext cx="7812473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99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lecture d’une offre remplie : travaux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offre en défaut : chiffre d’affaires, liquidité, références, personnel, matériel, sous-détail — des alertes, jamais un rejet.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484722"/>
            <a:ext cx="7162621" cy="4587055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lecture d’une offre remplie : trava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60922"/>
            <a:ext cx="7010225" cy="44346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100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frais de dossier, lus en séance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ligne « Frais de dossier » de chaque offre ; sans reçu validé, l’alerte « Frais de dossier non réglés 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52182" y="3060700"/>
            <a:ext cx="7887331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frais de dossier, lus en s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380" y="3136900"/>
            <a:ext cx="7734935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101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lecture, projetée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 par offre : soumissionnaire, montants, délai, garantie, pièces manquantes, alertes — en grand pour la salle.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lecture, projet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102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pièces, pour la commission seule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Seuls 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membres de la commission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ouvrent les pièces des offres.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273447"/>
            <a:ext cx="10540736" cy="2660607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ièces, pour la commission se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349647"/>
            <a:ext cx="10388340" cy="25082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103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d’ouverture, à signer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produit le PV ; il attend la signature de chaque membre présent.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PV d’ouverture, à sig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104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 le PV en ligne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Relire le PV, puis signer : la signature est horodatée et imprimée au PV.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peut constater l’empêchement d’un membre, avec un motif.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802551"/>
            <a:ext cx="10540736" cy="1602399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igner le PV en 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78751"/>
            <a:ext cx="10388340" cy="14499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105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est signé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dernière signature, la séance est close.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fiche prévoit la publication, un extrait du PV (sans les alertes) paraît alors sur la procédure publique.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PV est sign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106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procédure, après la séance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 publique passe à « close » : les dépôts sont clos.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la fiche prévoit la publication du PV, son extrait s’y lit ; ce n’était pas le cas de la fiche de démonstration.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rocédure, après la s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107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complet, après l’échéance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date limite : entreprise, NIF, lot, heure, état, empreinte de chaque offre.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gistre complet, après l’éch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108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séance, vue par la PRMP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lit la séance et la lecture des offres, sans en ouvrir les pièces.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séance, vue par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109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1905000"/>
            <a:ext cx="10159746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seule chaîne, de bout en bout.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0" y="2857500"/>
            <a:ext cx="9207270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plan de passation saisi par la PRMP au PV d’ouverture signé par la commission : chaque geste est tracé, chronométré, et attribué à son acteur.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80" y="4191000"/>
            <a:ext cx="8889778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Commission nationale des marchés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Commission nationale des marchés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 2.0 — Fonctionnement détaillé</dc:title>
  <dc:subject>PptxGenJS Presentation</dc:subject>
  <dc:creator>PRS 2.0</dc:creator>
  <cp:lastModifiedBy>PRS 2.0</cp:lastModifiedBy>
  <cp:revision>1</cp:revision>
  <dcterms:created xsi:type="dcterms:W3CDTF">2026-10-06T17:21:34Z</dcterms:created>
  <dcterms:modified xsi:type="dcterms:W3CDTF">2026-10-06T17:21:34Z</dcterms:modified>
</cp:coreProperties>
</file>