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slideMasters/slideMaster374.xml" ContentType="application/vnd.openxmlformats-officedocument.presentationml.slideMaster+xml"/>
  <Override PartName="/ppt/slides/slide374.xml" ContentType="application/vnd.openxmlformats-officedocument.presentationml.slide+xml"/>
  <Override PartName="/ppt/slideMasters/slideMaster375.xml" ContentType="application/vnd.openxmlformats-officedocument.presentationml.slideMaster+xml"/>
  <Override PartName="/ppt/slides/slide375.xml" ContentType="application/vnd.openxmlformats-officedocument.presentationml.slide+xml"/>
  <Override PartName="/ppt/slideMasters/slideMaster376.xml" ContentType="application/vnd.openxmlformats-officedocument.presentationml.slideMaster+xml"/>
  <Override PartName="/ppt/slides/slide376.xml" ContentType="application/vnd.openxmlformats-officedocument.presentationml.slide+xml"/>
  <Override PartName="/ppt/slideMasters/slideMaster377.xml" ContentType="application/vnd.openxmlformats-officedocument.presentationml.slideMaster+xml"/>
  <Override PartName="/ppt/slides/slide377.xml" ContentType="application/vnd.openxmlformats-officedocument.presentationml.slide+xml"/>
  <Override PartName="/ppt/slideMasters/slideMaster378.xml" ContentType="application/vnd.openxmlformats-officedocument.presentationml.slideMaster+xml"/>
  <Override PartName="/ppt/slides/slide378.xml" ContentType="application/vnd.openxmlformats-officedocument.presentationml.slide+xml"/>
  <Override PartName="/ppt/slideMasters/slideMaster379.xml" ContentType="application/vnd.openxmlformats-officedocument.presentationml.slideMaster+xml"/>
  <Override PartName="/ppt/slides/slide379.xml" ContentType="application/vnd.openxmlformats-officedocument.presentationml.slide+xml"/>
  <Override PartName="/ppt/slideMasters/slideMaster380.xml" ContentType="application/vnd.openxmlformats-officedocument.presentationml.slideMaster+xml"/>
  <Override PartName="/ppt/slides/slide380.xml" ContentType="application/vnd.openxmlformats-officedocument.presentationml.slide+xml"/>
  <Override PartName="/ppt/slideMasters/slideMaster381.xml" ContentType="application/vnd.openxmlformats-officedocument.presentationml.slideMaster+xml"/>
  <Override PartName="/ppt/slides/slide381.xml" ContentType="application/vnd.openxmlformats-officedocument.presentationml.slide+xml"/>
  <Override PartName="/ppt/slideMasters/slideMaster382.xml" ContentType="application/vnd.openxmlformats-officedocument.presentationml.slideMaster+xml"/>
  <Override PartName="/ppt/slides/slide382.xml" ContentType="application/vnd.openxmlformats-officedocument.presentationml.slide+xml"/>
  <Override PartName="/ppt/slideMasters/slideMaster383.xml" ContentType="application/vnd.openxmlformats-officedocument.presentationml.slideMaster+xml"/>
  <Override PartName="/ppt/slides/slide383.xml" ContentType="application/vnd.openxmlformats-officedocument.presentationml.slide+xml"/>
  <Override PartName="/ppt/slideMasters/slideMaster384.xml" ContentType="application/vnd.openxmlformats-officedocument.presentationml.slideMaster+xml"/>
  <Override PartName="/ppt/slides/slide384.xml" ContentType="application/vnd.openxmlformats-officedocument.presentationml.slide+xml"/>
  <Override PartName="/ppt/slideMasters/slideMaster385.xml" ContentType="application/vnd.openxmlformats-officedocument.presentationml.slideMaster+xml"/>
  <Override PartName="/ppt/slides/slide385.xml" ContentType="application/vnd.openxmlformats-officedocument.presentationml.slide+xml"/>
  <Override PartName="/ppt/slideMasters/slideMaster386.xml" ContentType="application/vnd.openxmlformats-officedocument.presentationml.slideMaster+xml"/>
  <Override PartName="/ppt/slides/slide386.xml" ContentType="application/vnd.openxmlformats-officedocument.presentationml.slide+xml"/>
  <Override PartName="/ppt/slideMasters/slideMaster387.xml" ContentType="application/vnd.openxmlformats-officedocument.presentationml.slideMaster+xml"/>
  <Override PartName="/ppt/slides/slide387.xml" ContentType="application/vnd.openxmlformats-officedocument.presentationml.slide+xml"/>
  <Override PartName="/ppt/slideMasters/slideMaster388.xml" ContentType="application/vnd.openxmlformats-officedocument.presentationml.slideMaster+xml"/>
  <Override PartName="/ppt/slides/slide388.xml" ContentType="application/vnd.openxmlformats-officedocument.presentationml.slide+xml"/>
  <Override PartName="/ppt/slideMasters/slideMaster389.xml" ContentType="application/vnd.openxmlformats-officedocument.presentationml.slideMaster+xml"/>
  <Override PartName="/ppt/slides/slide389.xml" ContentType="application/vnd.openxmlformats-officedocument.presentationml.slide+xml"/>
  <Override PartName="/ppt/slideMasters/slideMaster390.xml" ContentType="application/vnd.openxmlformats-officedocument.presentationml.slideMaster+xml"/>
  <Override PartName="/ppt/slides/slide390.xml" ContentType="application/vnd.openxmlformats-officedocument.presentationml.slide+xml"/>
  <Override PartName="/ppt/slideMasters/slideMaster391.xml" ContentType="application/vnd.openxmlformats-officedocument.presentationml.slideMaster+xml"/>
  <Override PartName="/ppt/slides/slide39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Lst>
  <p:notesMasterIdLst>
    <p:notesMasterId r:id="rId39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notesMaster" Target="notesMasters/notesMaster1.xml"/><Relationship Id="rId394" Type="http://schemas.openxmlformats.org/officeDocument/2006/relationships/presProps" Target="presProps.xml"/><Relationship Id="rId395" Type="http://schemas.openxmlformats.org/officeDocument/2006/relationships/viewProps" Target="viewProps.xml"/><Relationship Id="rId396" Type="http://schemas.openxmlformats.org/officeDocument/2006/relationships/theme" Target="theme/theme1.xml"/><Relationship Id="rId39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_rels/notesSlide3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4.xml"/>
		</Relationships>
</file>

<file path=ppt/notesSlides/_rels/notesSlide3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5.xml"/>
		</Relationships>
</file>

<file path=ppt/notesSlides/_rels/notesSlide3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6.xml"/>
		</Relationships>
</file>

<file path=ppt/notesSlides/_rels/notesSlide3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7.xml"/>
		</Relationships>
</file>

<file path=ppt/notesSlides/_rels/notesSlide3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8.xml"/>
		</Relationships>
</file>

<file path=ppt/notesSlides/_rels/notesSlide3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9.xml"/>
		</Relationships>
</file>

<file path=ppt/notesSlides/_rels/notesSlide3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0.xml"/>
		</Relationships>
</file>

<file path=ppt/notesSlides/_rels/notesSlide3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1.xml"/>
		</Relationships>
</file>

<file path=ppt/notesSlides/_rels/notesSlide3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2.xml"/>
		</Relationships>
</file>

<file path=ppt/notesSlides/_rels/notesSlide3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3.xml"/>
		</Relationships>
</file>

<file path=ppt/notesSlides/_rels/notesSlide3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4.xml"/>
		</Relationships>
</file>

<file path=ppt/notesSlides/_rels/notesSlide3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5.xml"/>
		</Relationships>
</file>

<file path=ppt/notesSlides/_rels/notesSlide3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6.xml"/>
		</Relationships>
</file>

<file path=ppt/notesSlides/_rels/notesSlide3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7.xml"/>
		</Relationships>
</file>

<file path=ppt/notesSlides/_rels/notesSlide3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8.xml"/>
		</Relationships>
</file>

<file path=ppt/notesSlides/_rels/notesSlide3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9.xml"/>
		</Relationships>
</file>

<file path=ppt/notesSlides/_rels/notesSlide3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0.xml"/>
		</Relationships>
</file>

<file path=ppt/notesSlides/_rels/notesSlide3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Édition de travail (phase 1) : les parties déjà illustrées sont reprises des présentations « Fonctionnement détaillé » (06/10) et « Évaluation et attribution » (07/10) ; les écrans annoncés « à venir » seront capturés aux phases 2 et 3, à la phase 4, chaque partie reçoit la référence de ses données (tables du serveur) et le catalogue de ses règles de 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étapes 2 à 5 sont montrées sur une seconde fiche brouillon de démonstration, parcourue à l’écran comme le ferait une PRMP.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jp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jp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jp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image-179-1.jp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jp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image-181-1.jpg"/><Relationship Id="rId2" Type="http://schemas.openxmlformats.org/officeDocument/2006/relationships/slideLayout" Target="../slideLayouts/slideLayout1.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image-183-1.jp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184-1.jp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image-185-1.jp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image-186-1.jp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image-187-1.jpg"/><Relationship Id="rId2" Type="http://schemas.openxmlformats.org/officeDocument/2006/relationships/slideLayout" Target="../slideLayouts/slideLayou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jp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jpg"/><Relationship Id="rId2" Type="http://schemas.openxmlformats.org/officeDocument/2006/relationships/slideLayout" Target="../slideLayouts/slideLayout1.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jp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jp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image-193-1.jp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jp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jp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jp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image" Target="../media/image-209-1.jpg"/><Relationship Id="rId2" Type="http://schemas.openxmlformats.org/officeDocument/2006/relationships/slideLayout" Target="../slideLayouts/slideLayout1.xml"/><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211-1.jp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image" Target="../media/image-229-1.jpg"/><Relationship Id="rId2" Type="http://schemas.openxmlformats.org/officeDocument/2006/relationships/slideLayout" Target="../slideLayouts/slideLayout1.xml"/><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230-1.jp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image" Target="../media/image-231-1.jpg"/><Relationship Id="rId2" Type="http://schemas.openxmlformats.org/officeDocument/2006/relationships/slideLayout" Target="../slideLayouts/slideLayout1.xml"/><Relationship Id="rId3"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image" Target="../media/image-232-1.jpg"/><Relationship Id="rId2" Type="http://schemas.openxmlformats.org/officeDocument/2006/relationships/slideLayout" Target="../slideLayouts/slideLayout1.xml"/><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image" Target="../media/image-233-1.jpg"/><Relationship Id="rId2" Type="http://schemas.openxmlformats.org/officeDocument/2006/relationships/slideLayout" Target="../slideLayouts/slideLayout1.xml"/><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image-234-1.jp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image" Target="../media/image-235-1.jpg"/><Relationship Id="rId2" Type="http://schemas.openxmlformats.org/officeDocument/2006/relationships/slideLayout" Target="../slideLayouts/slideLayout1.xml"/><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image" Target="../media/image-236-1.jpg"/><Relationship Id="rId2" Type="http://schemas.openxmlformats.org/officeDocument/2006/relationships/slideLayout" Target="../slideLayouts/slideLayout1.xml"/><Relationship Id="rId3"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image" Target="../media/image-237-1.jpg"/><Relationship Id="rId2" Type="http://schemas.openxmlformats.org/officeDocument/2006/relationships/slideLayout" Target="../slideLayouts/slideLayout1.xml"/><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image-238-1.jpg"/><Relationship Id="rId2" Type="http://schemas.openxmlformats.org/officeDocument/2006/relationships/slideLayout" Target="../slideLayouts/slideLayout1.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image" Target="../media/image-239-1.jpg"/><Relationship Id="rId2" Type="http://schemas.openxmlformats.org/officeDocument/2006/relationships/slideLayout" Target="../slideLayouts/slideLayout1.xml"/><Relationship Id="rId3"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jpg"/><Relationship Id="rId2" Type="http://schemas.openxmlformats.org/officeDocument/2006/relationships/slideLayout" Target="../slideLayouts/slideLayout1.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image" Target="../media/image-241-1.jpg"/><Relationship Id="rId2" Type="http://schemas.openxmlformats.org/officeDocument/2006/relationships/slideLayout" Target="../slideLayouts/slideLayout1.xml"/><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image" Target="../media/image-242-1.jpg"/><Relationship Id="rId2" Type="http://schemas.openxmlformats.org/officeDocument/2006/relationships/slideLayout" Target="../slideLayouts/slideLayout1.xml"/><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image" Target="../media/image-243-1.jpg"/><Relationship Id="rId2" Type="http://schemas.openxmlformats.org/officeDocument/2006/relationships/slideLayout" Target="../slideLayouts/slideLayout1.xml"/><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image" Target="../media/image-244-1.jpg"/><Relationship Id="rId2" Type="http://schemas.openxmlformats.org/officeDocument/2006/relationships/slideLayout" Target="../slideLayouts/slideLayout1.xml"/><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image" Target="../media/image-245-1.jpg"/><Relationship Id="rId2" Type="http://schemas.openxmlformats.org/officeDocument/2006/relationships/slideLayout" Target="../slideLayouts/slideLayout1.xml"/><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262-1.jpg"/><Relationship Id="rId2" Type="http://schemas.openxmlformats.org/officeDocument/2006/relationships/slideLayout" Target="../slideLayouts/slideLayout1.xml"/><Relationship Id="rId3"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263-1.jp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264-1.jp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265-1.jpg"/><Relationship Id="rId2" Type="http://schemas.openxmlformats.org/officeDocument/2006/relationships/slideLayout" Target="../slideLayouts/slideLayout1.xml"/><Relationship Id="rId3"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266-1.jp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267-1.jp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268-1.jp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269-1.jp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270-1.jp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271-1.jp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273-1.jp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274-1.jp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275-1.jpg"/><Relationship Id="rId2" Type="http://schemas.openxmlformats.org/officeDocument/2006/relationships/slideLayout" Target="../slideLayouts/slideLayout1.xml"/><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276-1.jp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277-1.jpg"/><Relationship Id="rId2" Type="http://schemas.openxmlformats.org/officeDocument/2006/relationships/slideLayout" Target="../slideLayouts/slideLayout1.xml"/><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278-1.jp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279-1.jpg"/><Relationship Id="rId2" Type="http://schemas.openxmlformats.org/officeDocument/2006/relationships/slideLayout" Target="../slideLayouts/slideLayout1.xml"/><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image" Target="../media/image-280-1.jp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image" Target="../media/image-299-1.jpg"/><Relationship Id="rId2" Type="http://schemas.openxmlformats.org/officeDocument/2006/relationships/slideLayout" Target="../slideLayouts/slideLayout1.xml"/><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image" Target="../media/image-300-1.jpg"/><Relationship Id="rId2" Type="http://schemas.openxmlformats.org/officeDocument/2006/relationships/slideLayout" Target="../slideLayouts/slideLayout1.xml"/><Relationship Id="rId3"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image" Target="../media/image-301-1.jpg"/><Relationship Id="rId2" Type="http://schemas.openxmlformats.org/officeDocument/2006/relationships/slideLayout" Target="../slideLayouts/slideLayout1.xml"/><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image" Target="../media/image-302-1.jpg"/><Relationship Id="rId2" Type="http://schemas.openxmlformats.org/officeDocument/2006/relationships/slideLayout" Target="../slideLayouts/slideLayout1.xml"/><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image" Target="../media/image-303-1.jpg"/><Relationship Id="rId2" Type="http://schemas.openxmlformats.org/officeDocument/2006/relationships/slideLayout" Target="../slideLayouts/slideLayout1.xml"/><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image" Target="../media/image-304-1.jpg"/><Relationship Id="rId2" Type="http://schemas.openxmlformats.org/officeDocument/2006/relationships/slideLayout" Target="../slideLayouts/slideLayout1.xml"/><Relationship Id="rId3"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image" Target="../media/image-305-1.jpg"/><Relationship Id="rId2" Type="http://schemas.openxmlformats.org/officeDocument/2006/relationships/slideLayout" Target="../slideLayouts/slideLayout1.xml"/><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image" Target="../media/image-306-1.jpg"/><Relationship Id="rId2" Type="http://schemas.openxmlformats.org/officeDocument/2006/relationships/slideLayout" Target="../slideLayouts/slideLayout1.xml"/><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image" Target="../media/image-307-1.jpg"/><Relationship Id="rId2" Type="http://schemas.openxmlformats.org/officeDocument/2006/relationships/slideLayout" Target="../slideLayouts/slideLayout1.xml"/><Relationship Id="rId3"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image" Target="../media/image-308-1.jpg"/><Relationship Id="rId2" Type="http://schemas.openxmlformats.org/officeDocument/2006/relationships/slideLayout" Target="../slideLayouts/slideLayout1.xml"/><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image" Target="../media/image-324-1.jpg"/><Relationship Id="rId2" Type="http://schemas.openxmlformats.org/officeDocument/2006/relationships/slideLayout" Target="../slideLayouts/slideLayout1.xml"/><Relationship Id="rId3"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image" Target="../media/image-325-1.jpg"/><Relationship Id="rId2" Type="http://schemas.openxmlformats.org/officeDocument/2006/relationships/slideLayout" Target="../slideLayouts/slideLayout1.xml"/><Relationship Id="rId3"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image" Target="../media/image-326-1.jpg"/><Relationship Id="rId2" Type="http://schemas.openxmlformats.org/officeDocument/2006/relationships/slideLayout" Target="../slideLayouts/slideLayout1.xml"/><Relationship Id="rId3"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image" Target="../media/image-337-1.jpg"/><Relationship Id="rId2" Type="http://schemas.openxmlformats.org/officeDocument/2006/relationships/slideLayout" Target="../slideLayouts/slideLayout1.xml"/><Relationship Id="rId3"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image" Target="../media/image-338-1.jpg"/><Relationship Id="rId2" Type="http://schemas.openxmlformats.org/officeDocument/2006/relationships/slideLayout" Target="../slideLayouts/slideLayout1.xml"/><Relationship Id="rId3"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image" Target="../media/image-339-1.jpg"/><Relationship Id="rId2" Type="http://schemas.openxmlformats.org/officeDocument/2006/relationships/slideLayout" Target="../slideLayouts/slideLayout1.xml"/><Relationship Id="rId3"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image" Target="../media/image-340-1.jpg"/><Relationship Id="rId2" Type="http://schemas.openxmlformats.org/officeDocument/2006/relationships/slideLayout" Target="../slideLayouts/slideLayout1.xml"/><Relationship Id="rId3"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image" Target="../media/image-341-1.jpg"/><Relationship Id="rId2" Type="http://schemas.openxmlformats.org/officeDocument/2006/relationships/slideLayout" Target="../slideLayouts/slideLayout1.xml"/><Relationship Id="rId3"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image" Target="../media/image-342-1.jpg"/><Relationship Id="rId2" Type="http://schemas.openxmlformats.org/officeDocument/2006/relationships/slideLayout" Target="../slideLayouts/slideLayout1.xml"/><Relationship Id="rId3"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image" Target="../media/image-343-1.jpg"/><Relationship Id="rId2" Type="http://schemas.openxmlformats.org/officeDocument/2006/relationships/slideLayout" Target="../slideLayouts/slideLayout1.xml"/><Relationship Id="rId3"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image" Target="../media/image-344-1.jpg"/><Relationship Id="rId2" Type="http://schemas.openxmlformats.org/officeDocument/2006/relationships/slideLayout" Target="../slideLayouts/slideLayout1.xml"/><Relationship Id="rId3"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image" Target="../media/image-345-1.jpg"/><Relationship Id="rId2" Type="http://schemas.openxmlformats.org/officeDocument/2006/relationships/slideLayout" Target="../slideLayouts/slideLayout1.xml"/><Relationship Id="rId3"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image" Target="../media/image-346-1.jpg"/><Relationship Id="rId2" Type="http://schemas.openxmlformats.org/officeDocument/2006/relationships/slideLayout" Target="../slideLayouts/slideLayout1.xml"/><Relationship Id="rId3"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image" Target="../media/image-347-1.jpg"/><Relationship Id="rId2" Type="http://schemas.openxmlformats.org/officeDocument/2006/relationships/slideLayout" Target="../slideLayouts/slideLayout1.xml"/><Relationship Id="rId3"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image" Target="../media/image-348-1.jpg"/><Relationship Id="rId2" Type="http://schemas.openxmlformats.org/officeDocument/2006/relationships/slideLayout" Target="../slideLayouts/slideLayout1.xml"/><Relationship Id="rId3"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image" Target="../media/image-349-1.jpg"/><Relationship Id="rId2" Type="http://schemas.openxmlformats.org/officeDocument/2006/relationships/slideLayout" Target="../slideLayouts/slideLayout1.xml"/><Relationship Id="rId3"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image" Target="../media/image-350-1.jpg"/><Relationship Id="rId2" Type="http://schemas.openxmlformats.org/officeDocument/2006/relationships/slideLayout" Target="../slideLayouts/slideLayout1.xml"/><Relationship Id="rId3"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image" Target="../media/image-351-1.jpg"/><Relationship Id="rId2" Type="http://schemas.openxmlformats.org/officeDocument/2006/relationships/slideLayout" Target="../slideLayouts/slideLayout1.xml"/><Relationship Id="rId3"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image" Target="../media/image-352-1.jpg"/><Relationship Id="rId2" Type="http://schemas.openxmlformats.org/officeDocument/2006/relationships/slideLayout" Target="../slideLayouts/slideLayout1.xml"/><Relationship Id="rId3"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image" Target="../media/image-353-1.jpg"/><Relationship Id="rId2" Type="http://schemas.openxmlformats.org/officeDocument/2006/relationships/slideLayout" Target="../slideLayouts/slideLayout1.xml"/><Relationship Id="rId3"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image" Target="../media/image-354-1.jpg"/><Relationship Id="rId2" Type="http://schemas.openxmlformats.org/officeDocument/2006/relationships/slideLayout" Target="../slideLayouts/slideLayout1.xml"/><Relationship Id="rId3"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image" Target="../media/image-378-1.jpg"/><Relationship Id="rId2" Type="http://schemas.openxmlformats.org/officeDocument/2006/relationships/slideLayout" Target="../slideLayouts/slideLayout1.xml"/><Relationship Id="rId3"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image" Target="../media/image-379-1.jpg"/><Relationship Id="rId2" Type="http://schemas.openxmlformats.org/officeDocument/2006/relationships/slideLayout" Target="../slideLayouts/slideLayout1.xml"/><Relationship Id="rId3"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image" Target="../media/image-380-1.jpg"/><Relationship Id="rId2" Type="http://schemas.openxmlformats.org/officeDocument/2006/relationships/slideLayout" Target="../slideLayouts/slideLayout1.xml"/><Relationship Id="rId3"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image" Target="../media/image-381-1.jpg"/><Relationship Id="rId2" Type="http://schemas.openxmlformats.org/officeDocument/2006/relationships/slideLayout" Target="../slideLayouts/slideLayout1.xml"/><Relationship Id="rId3"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image" Target="../media/image-382-1.jpg"/><Relationship Id="rId2" Type="http://schemas.openxmlformats.org/officeDocument/2006/relationships/slideLayout" Target="../slideLayouts/slideLayout1.xml"/><Relationship Id="rId3"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812800"/>
            <a:ext cx="10159746" cy="317500"/>
          </a:xfrm>
          <a:prstGeom prst="rect">
            <a:avLst/>
          </a:prstGeom>
          <a:noFill/>
          <a:ln/>
        </p:spPr>
        <p:txBody>
          <a:bodyPr wrap="square" rtlCol="0" anchor="ctr"/>
          <a:lstStyle/>
          <a:p>
            <a:pPr indent="0" marL="0">
              <a:buNone/>
            </a:pPr>
            <a:r>
              <a:rPr lang="en-US" sz="1400" b="1" spc="300" kern="0" dirty="0">
                <a:solidFill>
                  <a:srgbClr val="E3AE2E"/>
                </a:solidFill>
                <a:latin typeface="Segoe UI" pitchFamily="34" charset="0"/>
                <a:ea typeface="Segoe UI" pitchFamily="34" charset="-122"/>
                <a:cs typeface="Segoe UI" pitchFamily="34" charset="-120"/>
              </a:rPr>
              <a:t>COMMISSION NATIONALE DES MARCHÉS</a:t>
            </a:r>
            <a:endParaRPr lang="en-US" sz="1400" dirty="0"/>
          </a:p>
        </p:txBody>
      </p:sp>
      <p:sp>
        <p:nvSpPr>
          <p:cNvPr id="4" name="Text 2"/>
          <p:cNvSpPr/>
          <p:nvPr/>
        </p:nvSpPr>
        <p:spPr>
          <a:xfrm>
            <a:off x="812780" y="1206500"/>
            <a:ext cx="10477238" cy="1270000"/>
          </a:xfrm>
          <a:prstGeom prst="rect">
            <a:avLst/>
          </a:prstGeom>
          <a:noFill/>
          <a:ln/>
        </p:spPr>
        <p:txBody>
          <a:bodyPr wrap="square" rtlCol="0" anchor="t"/>
          <a:lstStyle/>
          <a:p>
            <a:pPr indent="0" marL="0">
              <a:buNone/>
            </a:pPr>
            <a:r>
              <a:rPr lang="en-US" sz="4800" b="1" dirty="0">
                <a:solidFill>
                  <a:srgbClr val="FCFCFA"/>
                </a:solidFill>
                <a:latin typeface="Segoe UI" pitchFamily="34" charset="0"/>
                <a:ea typeface="Segoe UI" pitchFamily="34" charset="-122"/>
                <a:cs typeface="Segoe UI" pitchFamily="34" charset="-120"/>
              </a:rPr>
              <a:t>PRS 2.0 — L’application de bout en bout</a:t>
            </a:r>
            <a:endParaRPr lang="en-US" sz="4800" dirty="0"/>
          </a:p>
        </p:txBody>
      </p:sp>
      <p:sp>
        <p:nvSpPr>
          <p:cNvPr id="5" name="Text 3"/>
          <p:cNvSpPr/>
          <p:nvPr/>
        </p:nvSpPr>
        <p:spPr>
          <a:xfrm>
            <a:off x="812780" y="2730500"/>
            <a:ext cx="9524762" cy="1079500"/>
          </a:xfrm>
          <a:prstGeom prst="rect">
            <a:avLst/>
          </a:prstGeom>
          <a:noFill/>
          <a:ln/>
        </p:spPr>
        <p:txBody>
          <a:bodyPr wrap="square" rtlCol="0" anchor="t"/>
          <a:lstStyle/>
          <a:p>
            <a:pPr indent="0" marL="0">
              <a:buNone/>
            </a:pPr>
            <a:r>
              <a:rPr lang="en-US" sz="2200" dirty="0">
                <a:solidFill>
                  <a:srgbClr val="FCFCFA"/>
                </a:solidFill>
                <a:latin typeface="Segoe UI" pitchFamily="34" charset="0"/>
                <a:ea typeface="Segoe UI" pitchFamily="34" charset="-122"/>
                <a:cs typeface="Segoe UI" pitchFamily="34" charset="-120"/>
              </a:rPr>
              <a:t>Toutes les étapes, du plan de passation au marché notifié : chaque écran, qui y agit, ce qui s’y passe, et les règles de gestion que le serveur applique.</a:t>
            </a:r>
            <a:endParaRPr lang="en-US" sz="2200" dirty="0"/>
          </a:p>
        </p:txBody>
      </p:sp>
      <p:sp>
        <p:nvSpPr>
          <p:cNvPr id="6" name="Text 4"/>
          <p:cNvSpPr/>
          <p:nvPr/>
        </p:nvSpPr>
        <p:spPr>
          <a:xfrm>
            <a:off x="812780" y="5270500"/>
            <a:ext cx="9842254" cy="762000"/>
          </a:xfrm>
          <a:prstGeom prst="rect">
            <a:avLst/>
          </a:prstGeom>
          <a:noFill/>
          <a:ln/>
        </p:spPr>
        <p:txBody>
          <a:bodyPr wrap="square" rtlCol="0" anchor="ctr"/>
          <a:lstStyle/>
          <a:p>
            <a:pPr indent="0" marL="0">
              <a:buNone/>
            </a:pPr>
            <a:r>
              <a:rPr lang="en-US" sz="1400" dirty="0">
                <a:solidFill>
                  <a:srgbClr val="C9D6E2"/>
                </a:solidFill>
                <a:latin typeface="Segoe UI" pitchFamily="34" charset="0"/>
                <a:ea typeface="Segoe UI" pitchFamily="34" charset="-122"/>
                <a:cs typeface="Segoe UI" pitchFamily="34" charset="-120"/>
              </a:rPr>
              <a:t>Captures de l’application réelle sur des dossiers de démonstration · noms de personnes remplacés par leur rôle</a:t>
            </a:r>
            <a:endParaRPr lang="en-US" sz="1400" dirty="0"/>
          </a:p>
          <a:p>
            <a:pPr indent="0" marL="0">
              <a:buNone/>
            </a:pPr>
            <a:r>
              <a:rPr lang="en-US" sz="1400" dirty="0">
                <a:solidFill>
                  <a:srgbClr val="C9D6E2"/>
                </a:solidFill>
                <a:latin typeface="Segoe UI" pitchFamily="34" charset="0"/>
                <a:ea typeface="Segoe UI" pitchFamily="34" charset="-122"/>
                <a:cs typeface="Segoe UI" pitchFamily="34" charset="-120"/>
              </a:rPr>
              <a:t>Ministère de l’Économie et des Finances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SOMMAIRE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Douze parties, une seule chaîne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partie s’ouvre sur son parcours, montre chaque écran (qui agit, ce qui se passe, les règles appliquées), et se termine par le catalogue de ses règles de gestion.</a:t>
            </a:r>
            <a:endParaRPr lang="en-US" sz="1300" dirty="0"/>
          </a:p>
        </p:txBody>
      </p:sp>
      <p:sp>
        <p:nvSpPr>
          <p:cNvPr id="5" name="Shape 3"/>
          <p:cNvSpPr/>
          <p:nvPr/>
        </p:nvSpPr>
        <p:spPr>
          <a:xfrm>
            <a:off x="812780" y="1651000"/>
            <a:ext cx="2527237" cy="1443567"/>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01 · Entrer dans l’application</a:t>
            </a:r>
            <a:endParaRPr lang="en-US" sz="1500" dirty="0"/>
          </a:p>
        </p:txBody>
      </p:sp>
      <p:sp>
        <p:nvSpPr>
          <p:cNvPr id="8" name="Text 6"/>
          <p:cNvSpPr/>
          <p:nvPr/>
        </p:nvSpPr>
        <p:spPr>
          <a:xfrm>
            <a:off x="952476"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Portail public, connexion, inscription, accueil « À faire », actualités, notifications, mon compte.</a:t>
            </a:r>
            <a:endParaRPr lang="en-US" sz="1200" dirty="0"/>
          </a:p>
        </p:txBody>
      </p:sp>
      <p:sp>
        <p:nvSpPr>
          <p:cNvPr id="9" name="Shape 7"/>
          <p:cNvSpPr/>
          <p:nvPr/>
        </p:nvSpPr>
        <p:spPr>
          <a:xfrm>
            <a:off x="3492413" y="1651000"/>
            <a:ext cx="2527237" cy="1443567"/>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02 · Planifier</a:t>
            </a:r>
            <a:endParaRPr lang="en-US" sz="1500" dirty="0"/>
          </a:p>
        </p:txBody>
      </p:sp>
      <p:sp>
        <p:nvSpPr>
          <p:cNvPr id="12" name="Text 10"/>
          <p:cNvSpPr/>
          <p:nvPr/>
        </p:nvSpPr>
        <p:spPr>
          <a:xfrm>
            <a:off x="3632109"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plan de passation : saisie ou import, calendrier, pièces, pré-contrôle, soumission, mises à jour.</a:t>
            </a:r>
            <a:endParaRPr lang="en-US" sz="1200" dirty="0"/>
          </a:p>
        </p:txBody>
      </p:sp>
      <p:sp>
        <p:nvSpPr>
          <p:cNvPr id="13" name="Shape 11"/>
          <p:cNvSpPr/>
          <p:nvPr/>
        </p:nvSpPr>
        <p:spPr>
          <a:xfrm>
            <a:off x="6172046" y="1651000"/>
            <a:ext cx="2527237" cy="1443567"/>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03 · Contrôler</a:t>
            </a:r>
            <a:endParaRPr lang="en-US" sz="1500" dirty="0"/>
          </a:p>
        </p:txBody>
      </p:sp>
      <p:sp>
        <p:nvSpPr>
          <p:cNvPr id="16" name="Text 14"/>
          <p:cNvSpPr/>
          <p:nvPr/>
        </p:nvSpPr>
        <p:spPr>
          <a:xfrm>
            <a:off x="6311742"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circuit de la Commission : recevabilité, dispatch, examen, PV, visa, signature, vérification, renvoi, archivage.</a:t>
            </a:r>
            <a:endParaRPr lang="en-US" sz="1200" dirty="0"/>
          </a:p>
        </p:txBody>
      </p:sp>
      <p:sp>
        <p:nvSpPr>
          <p:cNvPr id="17" name="Shape 15"/>
          <p:cNvSpPr/>
          <p:nvPr/>
        </p:nvSpPr>
        <p:spPr>
          <a:xfrm>
            <a:off x="8851679" y="1651000"/>
            <a:ext cx="2527237" cy="1443567"/>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04 · Préparer le DAO</a:t>
            </a:r>
            <a:endParaRPr lang="en-US" sz="1500" dirty="0"/>
          </a:p>
        </p:txBody>
      </p:sp>
      <p:sp>
        <p:nvSpPr>
          <p:cNvPr id="20" name="Text 18"/>
          <p:cNvSpPr/>
          <p:nvPr/>
        </p:nvSpPr>
        <p:spPr>
          <a:xfrm>
            <a:off x="8991375"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fiche marché, ses documents, le DAO complet, la commission d’appel d’offres, le contrôle et l’avis.</a:t>
            </a:r>
            <a:endParaRPr lang="en-US" sz="1200" dirty="0"/>
          </a:p>
        </p:txBody>
      </p:sp>
      <p:sp>
        <p:nvSpPr>
          <p:cNvPr id="21" name="Shape 19"/>
          <p:cNvSpPr/>
          <p:nvPr/>
        </p:nvSpPr>
        <p:spPr>
          <a:xfrm>
            <a:off x="812780" y="3246967"/>
            <a:ext cx="2527237" cy="1443567"/>
          </a:xfrm>
          <a:prstGeom prst="rect">
            <a:avLst/>
          </a:prstGeom>
          <a:solidFill>
            <a:srgbClr val="FCFCFA"/>
          </a:solidFill>
          <a:ln w="9525">
            <a:solidFill>
              <a:srgbClr val="D5DCE4"/>
            </a:solidFill>
            <a:prstDash val="solid"/>
          </a:ln>
        </p:spPr>
      </p:sp>
      <p:sp>
        <p:nvSpPr>
          <p:cNvPr id="22" name="Shape 20"/>
          <p:cNvSpPr/>
          <p:nvPr/>
        </p:nvSpPr>
        <p:spPr>
          <a:xfrm>
            <a:off x="812780" y="3246967"/>
            <a:ext cx="2527237" cy="38100"/>
          </a:xfrm>
          <a:prstGeom prst="rect">
            <a:avLst/>
          </a:prstGeom>
          <a:solidFill>
            <a:srgbClr val="1B6FA8"/>
          </a:solidFill>
          <a:ln/>
        </p:spPr>
      </p:sp>
      <p:sp>
        <p:nvSpPr>
          <p:cNvPr id="23" name="Text 21"/>
          <p:cNvSpPr/>
          <p:nvPr/>
        </p:nvSpPr>
        <p:spPr>
          <a:xfrm>
            <a:off x="952476"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05 · Consulter : l’AMI</a:t>
            </a:r>
            <a:endParaRPr lang="en-US" sz="1500" dirty="0"/>
          </a:p>
        </p:txBody>
      </p:sp>
      <p:sp>
        <p:nvSpPr>
          <p:cNvPr id="24" name="Text 22"/>
          <p:cNvSpPr/>
          <p:nvPr/>
        </p:nvSpPr>
        <p:spPr>
          <a:xfrm>
            <a:off x="952476"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Prestations intellectuelles : appel à manifestation d’intérêt, présélection, liste restreinte, invitations.</a:t>
            </a:r>
            <a:endParaRPr lang="en-US" sz="1200" dirty="0"/>
          </a:p>
        </p:txBody>
      </p:sp>
      <p:sp>
        <p:nvSpPr>
          <p:cNvPr id="25" name="Shape 23"/>
          <p:cNvSpPr/>
          <p:nvPr/>
        </p:nvSpPr>
        <p:spPr>
          <a:xfrm>
            <a:off x="3492413" y="3246967"/>
            <a:ext cx="2527237" cy="1443567"/>
          </a:xfrm>
          <a:prstGeom prst="rect">
            <a:avLst/>
          </a:prstGeom>
          <a:solidFill>
            <a:srgbClr val="FCFCFA"/>
          </a:solidFill>
          <a:ln w="9525">
            <a:solidFill>
              <a:srgbClr val="D5DCE4"/>
            </a:solidFill>
            <a:prstDash val="solid"/>
          </a:ln>
        </p:spPr>
      </p:sp>
      <p:sp>
        <p:nvSpPr>
          <p:cNvPr id="26" name="Shape 24"/>
          <p:cNvSpPr/>
          <p:nvPr/>
        </p:nvSpPr>
        <p:spPr>
          <a:xfrm>
            <a:off x="3492413" y="3246967"/>
            <a:ext cx="2527237" cy="38100"/>
          </a:xfrm>
          <a:prstGeom prst="rect">
            <a:avLst/>
          </a:prstGeom>
          <a:solidFill>
            <a:srgbClr val="2E8B57"/>
          </a:solidFill>
          <a:ln/>
        </p:spPr>
      </p:sp>
      <p:sp>
        <p:nvSpPr>
          <p:cNvPr id="27" name="Text 25"/>
          <p:cNvSpPr/>
          <p:nvPr/>
        </p:nvSpPr>
        <p:spPr>
          <a:xfrm>
            <a:off x="3632109"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06 · Recevoir les offres en ligne</a:t>
            </a:r>
            <a:endParaRPr lang="en-US" sz="1500" dirty="0"/>
          </a:p>
        </p:txBody>
      </p:sp>
      <p:sp>
        <p:nvSpPr>
          <p:cNvPr id="28" name="Text 26"/>
          <p:cNvSpPr/>
          <p:nvPr/>
        </p:nvSpPr>
        <p:spPr>
          <a:xfrm>
            <a:off x="3632109"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 compte, frais de dossier, retrait, offre remplie en ligne, dépôt scellé.</a:t>
            </a:r>
            <a:endParaRPr lang="en-US" sz="1200" dirty="0"/>
          </a:p>
        </p:txBody>
      </p:sp>
      <p:sp>
        <p:nvSpPr>
          <p:cNvPr id="29" name="Shape 27"/>
          <p:cNvSpPr/>
          <p:nvPr/>
        </p:nvSpPr>
        <p:spPr>
          <a:xfrm>
            <a:off x="6172046" y="3246967"/>
            <a:ext cx="2527237" cy="1443567"/>
          </a:xfrm>
          <a:prstGeom prst="rect">
            <a:avLst/>
          </a:prstGeom>
          <a:solidFill>
            <a:srgbClr val="FCFCFA"/>
          </a:solidFill>
          <a:ln w="9525">
            <a:solidFill>
              <a:srgbClr val="D5DCE4"/>
            </a:solidFill>
            <a:prstDash val="solid"/>
          </a:ln>
        </p:spPr>
      </p:sp>
      <p:sp>
        <p:nvSpPr>
          <p:cNvPr id="30" name="Shape 28"/>
          <p:cNvSpPr/>
          <p:nvPr/>
        </p:nvSpPr>
        <p:spPr>
          <a:xfrm>
            <a:off x="6172046" y="3246967"/>
            <a:ext cx="2527237" cy="38100"/>
          </a:xfrm>
          <a:prstGeom prst="rect">
            <a:avLst/>
          </a:prstGeom>
          <a:solidFill>
            <a:srgbClr val="E3AE2E"/>
          </a:solidFill>
          <a:ln/>
        </p:spPr>
      </p:sp>
      <p:sp>
        <p:nvSpPr>
          <p:cNvPr id="31" name="Text 29"/>
          <p:cNvSpPr/>
          <p:nvPr/>
        </p:nvSpPr>
        <p:spPr>
          <a:xfrm>
            <a:off x="6311742"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07 · La séance d’ouverture</a:t>
            </a:r>
            <a:endParaRPr lang="en-US" sz="1500" dirty="0"/>
          </a:p>
        </p:txBody>
      </p:sp>
      <p:sp>
        <p:nvSpPr>
          <p:cNvPr id="32" name="Text 30"/>
          <p:cNvSpPr/>
          <p:nvPr/>
        </p:nvSpPr>
        <p:spPr>
          <a:xfrm>
            <a:off x="6311742"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clés, le quorum, l’ouverture, la lecture, le PV signé en ligne.</a:t>
            </a:r>
            <a:endParaRPr lang="en-US" sz="1200" dirty="0"/>
          </a:p>
        </p:txBody>
      </p:sp>
      <p:sp>
        <p:nvSpPr>
          <p:cNvPr id="33" name="Shape 31"/>
          <p:cNvSpPr/>
          <p:nvPr/>
        </p:nvSpPr>
        <p:spPr>
          <a:xfrm>
            <a:off x="8851679" y="3246967"/>
            <a:ext cx="2527237" cy="1443567"/>
          </a:xfrm>
          <a:prstGeom prst="rect">
            <a:avLst/>
          </a:prstGeom>
          <a:solidFill>
            <a:srgbClr val="FCFCFA"/>
          </a:solidFill>
          <a:ln w="9525">
            <a:solidFill>
              <a:srgbClr val="D5DCE4"/>
            </a:solidFill>
            <a:prstDash val="solid"/>
          </a:ln>
        </p:spPr>
      </p:sp>
      <p:sp>
        <p:nvSpPr>
          <p:cNvPr id="34" name="Shape 32"/>
          <p:cNvSpPr/>
          <p:nvPr/>
        </p:nvSpPr>
        <p:spPr>
          <a:xfrm>
            <a:off x="8851679" y="3246967"/>
            <a:ext cx="2527237" cy="38100"/>
          </a:xfrm>
          <a:prstGeom prst="rect">
            <a:avLst/>
          </a:prstGeom>
          <a:solidFill>
            <a:srgbClr val="12324A"/>
          </a:solidFill>
          <a:ln/>
        </p:spPr>
      </p:sp>
      <p:sp>
        <p:nvSpPr>
          <p:cNvPr id="35" name="Text 33"/>
          <p:cNvSpPr/>
          <p:nvPr/>
        </p:nvSpPr>
        <p:spPr>
          <a:xfrm>
            <a:off x="8991375"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08 · Évaluer les offres</a:t>
            </a:r>
            <a:endParaRPr lang="en-US" sz="1500" dirty="0"/>
          </a:p>
        </p:txBody>
      </p:sp>
      <p:sp>
        <p:nvSpPr>
          <p:cNvPr id="36" name="Text 34"/>
          <p:cNvSpPr/>
          <p:nvPr/>
        </p:nvSpPr>
        <p:spPr>
          <a:xfrm>
            <a:off x="8991375"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étapes 2 à 5 du guide, le rapport signé de la commission.</a:t>
            </a:r>
            <a:endParaRPr lang="en-US" sz="1200" dirty="0"/>
          </a:p>
        </p:txBody>
      </p:sp>
      <p:sp>
        <p:nvSpPr>
          <p:cNvPr id="37" name="Shape 35"/>
          <p:cNvSpPr/>
          <p:nvPr/>
        </p:nvSpPr>
        <p:spPr>
          <a:xfrm>
            <a:off x="812780" y="4842933"/>
            <a:ext cx="2527237" cy="1443567"/>
          </a:xfrm>
          <a:prstGeom prst="rect">
            <a:avLst/>
          </a:prstGeom>
          <a:solidFill>
            <a:srgbClr val="FCFCFA"/>
          </a:solidFill>
          <a:ln w="9525">
            <a:solidFill>
              <a:srgbClr val="D5DCE4"/>
            </a:solidFill>
            <a:prstDash val="solid"/>
          </a:ln>
        </p:spPr>
      </p:sp>
      <p:sp>
        <p:nvSpPr>
          <p:cNvPr id="38" name="Shape 36"/>
          <p:cNvSpPr/>
          <p:nvPr/>
        </p:nvSpPr>
        <p:spPr>
          <a:xfrm>
            <a:off x="812780" y="4842933"/>
            <a:ext cx="2527237" cy="38100"/>
          </a:xfrm>
          <a:prstGeom prst="rect">
            <a:avLst/>
          </a:prstGeom>
          <a:solidFill>
            <a:srgbClr val="1B6FA8"/>
          </a:solidFill>
          <a:ln/>
        </p:spPr>
      </p:sp>
      <p:sp>
        <p:nvSpPr>
          <p:cNvPr id="39" name="Text 37"/>
          <p:cNvSpPr/>
          <p:nvPr/>
        </p:nvSpPr>
        <p:spPr>
          <a:xfrm>
            <a:off x="952476"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09 · Attribuer et notifier</a:t>
            </a:r>
            <a:endParaRPr lang="en-US" sz="1500" dirty="0"/>
          </a:p>
        </p:txBody>
      </p:sp>
      <p:sp>
        <p:nvSpPr>
          <p:cNvPr id="40" name="Text 38"/>
          <p:cNvSpPr/>
          <p:nvPr/>
        </p:nvSpPr>
        <p:spPr>
          <a:xfrm>
            <a:off x="952476"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dossier de marché, l’information des candidats, les recours, la signature, la notification, l’avis.</a:t>
            </a:r>
            <a:endParaRPr lang="en-US" sz="1200" dirty="0"/>
          </a:p>
        </p:txBody>
      </p:sp>
      <p:sp>
        <p:nvSpPr>
          <p:cNvPr id="41" name="Shape 39"/>
          <p:cNvSpPr/>
          <p:nvPr/>
        </p:nvSpPr>
        <p:spPr>
          <a:xfrm>
            <a:off x="3492413" y="4842933"/>
            <a:ext cx="2527237" cy="1443567"/>
          </a:xfrm>
          <a:prstGeom prst="rect">
            <a:avLst/>
          </a:prstGeom>
          <a:solidFill>
            <a:srgbClr val="FCFCFA"/>
          </a:solidFill>
          <a:ln w="9525">
            <a:solidFill>
              <a:srgbClr val="D5DCE4"/>
            </a:solidFill>
            <a:prstDash val="solid"/>
          </a:ln>
        </p:spPr>
      </p:sp>
      <p:sp>
        <p:nvSpPr>
          <p:cNvPr id="42" name="Shape 40"/>
          <p:cNvSpPr/>
          <p:nvPr/>
        </p:nvSpPr>
        <p:spPr>
          <a:xfrm>
            <a:off x="3492413" y="4842933"/>
            <a:ext cx="2527237" cy="38100"/>
          </a:xfrm>
          <a:prstGeom prst="rect">
            <a:avLst/>
          </a:prstGeom>
          <a:solidFill>
            <a:srgbClr val="2E8B57"/>
          </a:solidFill>
          <a:ln/>
        </p:spPr>
      </p:sp>
      <p:sp>
        <p:nvSpPr>
          <p:cNvPr id="43" name="Text 41"/>
          <p:cNvSpPr/>
          <p:nvPr/>
        </p:nvSpPr>
        <p:spPr>
          <a:xfrm>
            <a:off x="3632109"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10 · Intérim et mandats</a:t>
            </a:r>
            <a:endParaRPr lang="en-US" sz="1500" dirty="0"/>
          </a:p>
        </p:txBody>
      </p:sp>
      <p:sp>
        <p:nvSpPr>
          <p:cNvPr id="44" name="Text 42"/>
          <p:cNvSpPr/>
          <p:nvPr/>
        </p:nvSpPr>
        <p:spPr>
          <a:xfrm>
            <a:off x="3632109"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titulaire absent, l’intérim désigné, la vacance de la PRMP.</a:t>
            </a:r>
            <a:endParaRPr lang="en-US" sz="1200" dirty="0"/>
          </a:p>
        </p:txBody>
      </p:sp>
      <p:sp>
        <p:nvSpPr>
          <p:cNvPr id="45" name="Shape 43"/>
          <p:cNvSpPr/>
          <p:nvPr/>
        </p:nvSpPr>
        <p:spPr>
          <a:xfrm>
            <a:off x="6172046" y="4842933"/>
            <a:ext cx="2527237" cy="1443567"/>
          </a:xfrm>
          <a:prstGeom prst="rect">
            <a:avLst/>
          </a:prstGeom>
          <a:solidFill>
            <a:srgbClr val="FCFCFA"/>
          </a:solidFill>
          <a:ln w="9525">
            <a:solidFill>
              <a:srgbClr val="D5DCE4"/>
            </a:solidFill>
            <a:prstDash val="solid"/>
          </a:ln>
        </p:spPr>
      </p:sp>
      <p:sp>
        <p:nvSpPr>
          <p:cNvPr id="46" name="Shape 44"/>
          <p:cNvSpPr/>
          <p:nvPr/>
        </p:nvSpPr>
        <p:spPr>
          <a:xfrm>
            <a:off x="6172046" y="4842933"/>
            <a:ext cx="2527237" cy="38100"/>
          </a:xfrm>
          <a:prstGeom prst="rect">
            <a:avLst/>
          </a:prstGeom>
          <a:solidFill>
            <a:srgbClr val="E3AE2E"/>
          </a:solidFill>
          <a:ln/>
        </p:spPr>
      </p:sp>
      <p:sp>
        <p:nvSpPr>
          <p:cNvPr id="47" name="Text 45"/>
          <p:cNvSpPr/>
          <p:nvPr/>
        </p:nvSpPr>
        <p:spPr>
          <a:xfrm>
            <a:off x="6311742"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11 · Administrer</a:t>
            </a:r>
            <a:endParaRPr lang="en-US" sz="1500" dirty="0"/>
          </a:p>
        </p:txBody>
      </p:sp>
      <p:sp>
        <p:nvSpPr>
          <p:cNvPr id="48" name="Text 46"/>
          <p:cNvSpPr/>
          <p:nvPr/>
        </p:nvSpPr>
        <p:spPr>
          <a:xfrm>
            <a:off x="6311742"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Comptes, référentiels, seuils, paramètres, procédures, actualités.</a:t>
            </a:r>
            <a:endParaRPr lang="en-US" sz="1200" dirty="0"/>
          </a:p>
        </p:txBody>
      </p:sp>
      <p:sp>
        <p:nvSpPr>
          <p:cNvPr id="49" name="Shape 47"/>
          <p:cNvSpPr/>
          <p:nvPr/>
        </p:nvSpPr>
        <p:spPr>
          <a:xfrm>
            <a:off x="8851679" y="4842933"/>
            <a:ext cx="2527237" cy="1443567"/>
          </a:xfrm>
          <a:prstGeom prst="rect">
            <a:avLst/>
          </a:prstGeom>
          <a:solidFill>
            <a:srgbClr val="FCFCFA"/>
          </a:solidFill>
          <a:ln w="9525">
            <a:solidFill>
              <a:srgbClr val="D5DCE4"/>
            </a:solidFill>
            <a:prstDash val="solid"/>
          </a:ln>
        </p:spPr>
      </p:sp>
      <p:sp>
        <p:nvSpPr>
          <p:cNvPr id="50" name="Shape 48"/>
          <p:cNvSpPr/>
          <p:nvPr/>
        </p:nvSpPr>
        <p:spPr>
          <a:xfrm>
            <a:off x="8851679" y="4842933"/>
            <a:ext cx="2527237" cy="38100"/>
          </a:xfrm>
          <a:prstGeom prst="rect">
            <a:avLst/>
          </a:prstGeom>
          <a:solidFill>
            <a:srgbClr val="12324A"/>
          </a:solidFill>
          <a:ln/>
        </p:spPr>
      </p:sp>
      <p:sp>
        <p:nvSpPr>
          <p:cNvPr id="51" name="Text 49"/>
          <p:cNvSpPr/>
          <p:nvPr/>
        </p:nvSpPr>
        <p:spPr>
          <a:xfrm>
            <a:off x="8991375"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12 · Piloter et publier</a:t>
            </a:r>
            <a:endParaRPr lang="en-US" sz="1500" dirty="0"/>
          </a:p>
        </p:txBody>
      </p:sp>
      <p:sp>
        <p:nvSpPr>
          <p:cNvPr id="52" name="Text 50"/>
          <p:cNvSpPr/>
          <p:nvPr/>
        </p:nvSpPr>
        <p:spPr>
          <a:xfrm>
            <a:off x="8991375"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Tableaux de pilotage, publication, transparence.</a:t>
            </a:r>
            <a:endParaRPr lang="en-US" sz="1200" dirty="0"/>
          </a:p>
        </p:txBody>
      </p:sp>
      <p:sp>
        <p:nvSpPr>
          <p:cNvPr id="53" name="Text 5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plan de passation au marché notifié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marché inscrit au plan traverse deux contrôles de la Commission nationale des marchés : celui du plan, puis celui de son dossier de consultation — et, après l’évaluation, celui du marché lui-même.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Planifier</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PRMP saisit et soumet son plan</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Contrôler</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examine, le PV est signé</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04 · 05</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Préparer</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fiche DAO produit le dossier</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06 · 07</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Consulter</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Les offres arrivent en ligne, scellées</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08</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Évaluer</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d’appel d’offres classe</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09</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Attribuer</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Le marché est contrôlé, signé, notifié</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Autour de la chaîne : l’</a:t>
            </a:r>
            <a:pPr indent="0" marL="0">
              <a:buNone/>
            </a:pPr>
            <a:r>
              <a:rPr lang="en-US" sz="1400" b="1" dirty="0">
                <a:solidFill>
                  <a:srgbClr val="1B2A3A"/>
                </a:solidFill>
                <a:latin typeface="Segoe UI" pitchFamily="34" charset="0"/>
                <a:ea typeface="Segoe UI" pitchFamily="34" charset="-122"/>
                <a:cs typeface="Segoe UI" pitchFamily="34" charset="-120"/>
              </a:rPr>
              <a:t>entrée</a:t>
            </a:r>
            <a:pPr indent="0" marL="0">
              <a:buNone/>
            </a:pPr>
            <a:r>
              <a:rPr lang="en-US" sz="1400" dirty="0">
                <a:solidFill>
                  <a:srgbClr val="465568"/>
                </a:solidFill>
                <a:latin typeface="Segoe UI" pitchFamily="34" charset="0"/>
                <a:ea typeface="Segoe UI" pitchFamily="34" charset="-122"/>
                <a:cs typeface="Segoe UI" pitchFamily="34" charset="-120"/>
              </a:rPr>
              <a:t> dans l’application (01), l’</a:t>
            </a:r>
            <a:pPr indent="0" marL="0">
              <a:buNone/>
            </a:pPr>
            <a:r>
              <a:rPr lang="en-US" sz="1400" b="1" dirty="0">
                <a:solidFill>
                  <a:srgbClr val="1B2A3A"/>
                </a:solidFill>
                <a:latin typeface="Segoe UI" pitchFamily="34" charset="0"/>
                <a:ea typeface="Segoe UI" pitchFamily="34" charset="-122"/>
                <a:cs typeface="Segoe UI" pitchFamily="34" charset="-120"/>
              </a:rPr>
              <a:t>intérim</a:t>
            </a:r>
            <a:pPr indent="0" marL="0">
              <a:buNone/>
            </a:pPr>
            <a:r>
              <a:rPr lang="en-US" sz="1400" dirty="0">
                <a:solidFill>
                  <a:srgbClr val="465568"/>
                </a:solidFill>
                <a:latin typeface="Segoe UI" pitchFamily="34" charset="0"/>
                <a:ea typeface="Segoe UI" pitchFamily="34" charset="-122"/>
                <a:cs typeface="Segoe UI" pitchFamily="34" charset="-120"/>
              </a:rPr>
              <a:t> (10), l’</a:t>
            </a:r>
            <a:pPr indent="0" marL="0">
              <a:buNone/>
            </a:pPr>
            <a:r>
              <a:rPr lang="en-US" sz="1400" b="1" dirty="0">
                <a:solidFill>
                  <a:srgbClr val="1B2A3A"/>
                </a:solidFill>
                <a:latin typeface="Segoe UI" pitchFamily="34" charset="0"/>
                <a:ea typeface="Segoe UI" pitchFamily="34" charset="-122"/>
                <a:cs typeface="Segoe UI" pitchFamily="34" charset="-120"/>
              </a:rPr>
              <a:t>administration</a:t>
            </a:r>
            <a:pPr indent="0" marL="0">
              <a:buNone/>
            </a:pPr>
            <a:r>
              <a:rPr lang="en-US" sz="1400" dirty="0">
                <a:solidFill>
                  <a:srgbClr val="465568"/>
                </a:solidFill>
                <a:latin typeface="Segoe UI" pitchFamily="34" charset="0"/>
                <a:ea typeface="Segoe UI" pitchFamily="34" charset="-122"/>
                <a:cs typeface="Segoe UI" pitchFamily="34" charset="-120"/>
              </a:rPr>
              <a:t> (11) et le </a:t>
            </a:r>
            <a:pPr indent="0" marL="0">
              <a:buNone/>
            </a:pPr>
            <a:r>
              <a:rPr lang="en-US" sz="1400" b="1" dirty="0">
                <a:solidFill>
                  <a:srgbClr val="1B2A3A"/>
                </a:solidFill>
                <a:latin typeface="Segoe UI" pitchFamily="34" charset="0"/>
                <a:ea typeface="Segoe UI" pitchFamily="34" charset="-122"/>
                <a:cs typeface="Segoe UI" pitchFamily="34" charset="-120"/>
              </a:rPr>
              <a:t>pilotage</a:t>
            </a:r>
            <a:pPr indent="0" marL="0">
              <a:buNone/>
            </a:pPr>
            <a:r>
              <a:rPr lang="en-US" sz="1400" dirty="0">
                <a:solidFill>
                  <a:srgbClr val="465568"/>
                </a:solidFill>
                <a:latin typeface="Segoe UI" pitchFamily="34" charset="0"/>
                <a:ea typeface="Segoe UI" pitchFamily="34" charset="-122"/>
                <a:cs typeface="Segoe UI" pitchFamily="34" charset="-120"/>
              </a:rPr>
              <a:t> (12).</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LES ACTEURS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Qui intervient, et dans quel espace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coquille interne réunit la PRMP, l’UGPM et les huit profils de la Commission ; les candidats, la commission d’appel d’offres et le dépositaire ont chacun un espace à part.</a:t>
            </a:r>
            <a:endParaRPr lang="en-US" sz="1300" dirty="0"/>
          </a:p>
        </p:txBody>
      </p:sp>
      <p:sp>
        <p:nvSpPr>
          <p:cNvPr id="5" name="Shape 3"/>
          <p:cNvSpPr/>
          <p:nvPr/>
        </p:nvSpPr>
        <p:spPr>
          <a:xfrm>
            <a:off x="812780" y="1651000"/>
            <a:ext cx="2527237" cy="2159000"/>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 et UGPM</a:t>
            </a:r>
            <a:endParaRPr lang="en-US" sz="1500" dirty="0"/>
          </a:p>
        </p:txBody>
      </p:sp>
      <p:sp>
        <p:nvSpPr>
          <p:cNvPr id="8" name="Text 6"/>
          <p:cNvSpPr/>
          <p:nvPr/>
        </p:nvSpPr>
        <p:spPr>
          <a:xfrm>
            <a:off x="952476"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personne responsable des marchés publics prépare, soumet, valide et signe ; son unité de gestion prépare avec elle.</a:t>
            </a:r>
            <a:endParaRPr lang="en-US" sz="1200" dirty="0"/>
          </a:p>
        </p:txBody>
      </p:sp>
      <p:sp>
        <p:nvSpPr>
          <p:cNvPr id="9" name="Shape 7"/>
          <p:cNvSpPr/>
          <p:nvPr/>
        </p:nvSpPr>
        <p:spPr>
          <a:xfrm>
            <a:off x="3492413" y="1651000"/>
            <a:ext cx="2527237" cy="2159000"/>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Secrétaire</a:t>
            </a:r>
            <a:endParaRPr lang="en-US" sz="1500" dirty="0"/>
          </a:p>
        </p:txBody>
      </p:sp>
      <p:sp>
        <p:nvSpPr>
          <p:cNvPr id="12" name="Text 10"/>
          <p:cNvSpPr/>
          <p:nvPr/>
        </p:nvSpPr>
        <p:spPr>
          <a:xfrm>
            <a:off x="3632109"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dossiers, contrôle la recevabilité pièce par pièce.</a:t>
            </a:r>
            <a:endParaRPr lang="en-US" sz="1200" dirty="0"/>
          </a:p>
        </p:txBody>
      </p:sp>
      <p:sp>
        <p:nvSpPr>
          <p:cNvPr id="13" name="Shape 11"/>
          <p:cNvSpPr/>
          <p:nvPr/>
        </p:nvSpPr>
        <p:spPr>
          <a:xfrm>
            <a:off x="6172046" y="1651000"/>
            <a:ext cx="2527237" cy="2159000"/>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et Chef de commission</a:t>
            </a:r>
            <a:endParaRPr lang="en-US" sz="1500" dirty="0"/>
          </a:p>
        </p:txBody>
      </p:sp>
      <p:sp>
        <p:nvSpPr>
          <p:cNvPr id="16" name="Text 14"/>
          <p:cNvSpPr/>
          <p:nvPr/>
        </p:nvSpPr>
        <p:spPr>
          <a:xfrm>
            <a:off x="6311742"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Dispatchent, visent les PV, désignent le co-signataire ; peuvent être suppléés par intérim.</a:t>
            </a:r>
            <a:endParaRPr lang="en-US" sz="1200" dirty="0"/>
          </a:p>
        </p:txBody>
      </p:sp>
      <p:sp>
        <p:nvSpPr>
          <p:cNvPr id="17" name="Shape 15"/>
          <p:cNvSpPr/>
          <p:nvPr/>
        </p:nvSpPr>
        <p:spPr>
          <a:xfrm>
            <a:off x="8851679" y="1651000"/>
            <a:ext cx="2527237" cy="2159000"/>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a:t>
            </a:r>
            <a:endParaRPr lang="en-US" sz="1500" dirty="0"/>
          </a:p>
        </p:txBody>
      </p:sp>
      <p:sp>
        <p:nvSpPr>
          <p:cNvPr id="20" name="Text 18"/>
          <p:cNvSpPr/>
          <p:nvPr/>
        </p:nvSpPr>
        <p:spPr>
          <a:xfrm>
            <a:off x="8991375"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Examine, émet l’avis, signe le PV.</a:t>
            </a:r>
            <a:endParaRPr lang="en-US" sz="1200" dirty="0"/>
          </a:p>
        </p:txBody>
      </p:sp>
      <p:sp>
        <p:nvSpPr>
          <p:cNvPr id="21" name="Shape 19"/>
          <p:cNvSpPr/>
          <p:nvPr/>
        </p:nvSpPr>
        <p:spPr>
          <a:xfrm>
            <a:off x="812780" y="3962400"/>
            <a:ext cx="2527237" cy="2159000"/>
          </a:xfrm>
          <a:prstGeom prst="rect">
            <a:avLst/>
          </a:prstGeom>
          <a:solidFill>
            <a:srgbClr val="FCFCFA"/>
          </a:solidFill>
          <a:ln w="9525">
            <a:solidFill>
              <a:srgbClr val="D5DCE4"/>
            </a:solidFill>
            <a:prstDash val="solid"/>
          </a:ln>
        </p:spPr>
      </p:sp>
      <p:sp>
        <p:nvSpPr>
          <p:cNvPr id="22" name="Shape 20"/>
          <p:cNvSpPr/>
          <p:nvPr/>
        </p:nvSpPr>
        <p:spPr>
          <a:xfrm>
            <a:off x="812780" y="3962400"/>
            <a:ext cx="2527237" cy="38100"/>
          </a:xfrm>
          <a:prstGeom prst="rect">
            <a:avLst/>
          </a:prstGeom>
          <a:solidFill>
            <a:srgbClr val="1B6FA8"/>
          </a:solidFill>
          <a:ln/>
        </p:spPr>
      </p:sp>
      <p:sp>
        <p:nvSpPr>
          <p:cNvPr id="23" name="Text 21"/>
          <p:cNvSpPr/>
          <p:nvPr/>
        </p:nvSpPr>
        <p:spPr>
          <a:xfrm>
            <a:off x="952476"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Vérificateur et Assistant</a:t>
            </a:r>
            <a:endParaRPr lang="en-US" sz="1500" dirty="0"/>
          </a:p>
        </p:txBody>
      </p:sp>
      <p:sp>
        <p:nvSpPr>
          <p:cNvPr id="24" name="Text 22"/>
          <p:cNvSpPr/>
          <p:nvPr/>
        </p:nvSpPr>
        <p:spPr>
          <a:xfrm>
            <a:off x="952476"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Vérifient la levée des réserves, transmettent à SIGMP ; l’Assistant archive.</a:t>
            </a:r>
            <a:endParaRPr lang="en-US" sz="1200" dirty="0"/>
          </a:p>
        </p:txBody>
      </p:sp>
      <p:sp>
        <p:nvSpPr>
          <p:cNvPr id="25" name="Shape 23"/>
          <p:cNvSpPr/>
          <p:nvPr/>
        </p:nvSpPr>
        <p:spPr>
          <a:xfrm>
            <a:off x="3492413" y="3962400"/>
            <a:ext cx="2527237" cy="2159000"/>
          </a:xfrm>
          <a:prstGeom prst="rect">
            <a:avLst/>
          </a:prstGeom>
          <a:solidFill>
            <a:srgbClr val="FCFCFA"/>
          </a:solidFill>
          <a:ln w="9525">
            <a:solidFill>
              <a:srgbClr val="D5DCE4"/>
            </a:solidFill>
            <a:prstDash val="solid"/>
          </a:ln>
        </p:spPr>
      </p:sp>
      <p:sp>
        <p:nvSpPr>
          <p:cNvPr id="26" name="Shape 24"/>
          <p:cNvSpPr/>
          <p:nvPr/>
        </p:nvSpPr>
        <p:spPr>
          <a:xfrm>
            <a:off x="3492413" y="3962400"/>
            <a:ext cx="2527237" cy="38100"/>
          </a:xfrm>
          <a:prstGeom prst="rect">
            <a:avLst/>
          </a:prstGeom>
          <a:solidFill>
            <a:srgbClr val="2E8B57"/>
          </a:solidFill>
          <a:ln/>
        </p:spPr>
      </p:sp>
      <p:sp>
        <p:nvSpPr>
          <p:cNvPr id="27" name="Text 25"/>
          <p:cNvSpPr/>
          <p:nvPr/>
        </p:nvSpPr>
        <p:spPr>
          <a:xfrm>
            <a:off x="3632109"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Chargé de publication, Administrateur</a:t>
            </a:r>
            <a:endParaRPr lang="en-US" sz="1500" dirty="0"/>
          </a:p>
        </p:txBody>
      </p:sp>
      <p:sp>
        <p:nvSpPr>
          <p:cNvPr id="28" name="Text 26"/>
          <p:cNvSpPr/>
          <p:nvPr/>
        </p:nvSpPr>
        <p:spPr>
          <a:xfrm>
            <a:off x="3632109"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Publie ; administre comptes, référentiels et paramètres.</a:t>
            </a:r>
            <a:endParaRPr lang="en-US" sz="1200" dirty="0"/>
          </a:p>
        </p:txBody>
      </p:sp>
      <p:sp>
        <p:nvSpPr>
          <p:cNvPr id="29" name="Shape 27"/>
          <p:cNvSpPr/>
          <p:nvPr/>
        </p:nvSpPr>
        <p:spPr>
          <a:xfrm>
            <a:off x="6172046" y="3962400"/>
            <a:ext cx="2527237" cy="2159000"/>
          </a:xfrm>
          <a:prstGeom prst="rect">
            <a:avLst/>
          </a:prstGeom>
          <a:solidFill>
            <a:srgbClr val="FCFCFA"/>
          </a:solidFill>
          <a:ln w="9525">
            <a:solidFill>
              <a:srgbClr val="D5DCE4"/>
            </a:solidFill>
            <a:prstDash val="solid"/>
          </a:ln>
        </p:spPr>
      </p:sp>
      <p:sp>
        <p:nvSpPr>
          <p:cNvPr id="30" name="Shape 28"/>
          <p:cNvSpPr/>
          <p:nvPr/>
        </p:nvSpPr>
        <p:spPr>
          <a:xfrm>
            <a:off x="6172046" y="3962400"/>
            <a:ext cx="2527237" cy="38100"/>
          </a:xfrm>
          <a:prstGeom prst="rect">
            <a:avLst/>
          </a:prstGeom>
          <a:solidFill>
            <a:srgbClr val="E3AE2E"/>
          </a:solidFill>
          <a:ln/>
        </p:spPr>
      </p:sp>
      <p:sp>
        <p:nvSpPr>
          <p:cNvPr id="31" name="Text 29"/>
          <p:cNvSpPr/>
          <p:nvPr/>
        </p:nvSpPr>
        <p:spPr>
          <a:xfrm>
            <a:off x="6311742"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Commission d’appel d’offres</a:t>
            </a:r>
            <a:endParaRPr lang="en-US" sz="1500" dirty="0"/>
          </a:p>
        </p:txBody>
      </p:sp>
      <p:sp>
        <p:nvSpPr>
          <p:cNvPr id="32" name="Text 30"/>
          <p:cNvSpPr/>
          <p:nvPr/>
        </p:nvSpPr>
        <p:spPr>
          <a:xfrm>
            <a:off x="6311742"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Ses membres ouvrent les offres en séance, évaluent, présélectionnent, signent les rapports (espace /cao).</a:t>
            </a:r>
            <a:endParaRPr lang="en-US" sz="1200" dirty="0"/>
          </a:p>
        </p:txBody>
      </p:sp>
      <p:sp>
        <p:nvSpPr>
          <p:cNvPr id="33" name="Shape 31"/>
          <p:cNvSpPr/>
          <p:nvPr/>
        </p:nvSpPr>
        <p:spPr>
          <a:xfrm>
            <a:off x="8851679" y="3962400"/>
            <a:ext cx="2527237" cy="2159000"/>
          </a:xfrm>
          <a:prstGeom prst="rect">
            <a:avLst/>
          </a:prstGeom>
          <a:solidFill>
            <a:srgbClr val="FCFCFA"/>
          </a:solidFill>
          <a:ln w="9525">
            <a:solidFill>
              <a:srgbClr val="D5DCE4"/>
            </a:solidFill>
            <a:prstDash val="solid"/>
          </a:ln>
        </p:spPr>
      </p:sp>
      <p:sp>
        <p:nvSpPr>
          <p:cNvPr id="34" name="Shape 32"/>
          <p:cNvSpPr/>
          <p:nvPr/>
        </p:nvSpPr>
        <p:spPr>
          <a:xfrm>
            <a:off x="8851679" y="3962400"/>
            <a:ext cx="2527237" cy="38100"/>
          </a:xfrm>
          <a:prstGeom prst="rect">
            <a:avLst/>
          </a:prstGeom>
          <a:solidFill>
            <a:srgbClr val="12324A"/>
          </a:solidFill>
          <a:ln/>
        </p:spPr>
      </p:sp>
      <p:sp>
        <p:nvSpPr>
          <p:cNvPr id="35" name="Text 33"/>
          <p:cNvSpPr/>
          <p:nvPr/>
        </p:nvSpPr>
        <p:spPr>
          <a:xfrm>
            <a:off x="8991375"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Candidats et dépositaire</a:t>
            </a:r>
            <a:endParaRPr lang="en-US" sz="1500" dirty="0"/>
          </a:p>
        </p:txBody>
      </p:sp>
      <p:sp>
        <p:nvSpPr>
          <p:cNvPr id="36" name="Text 34"/>
          <p:cNvSpPr/>
          <p:nvPr/>
        </p:nvSpPr>
        <p:spPr>
          <a:xfrm>
            <a:off x="8991375"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retirent, déposent, suivent leur résultat ; le dépositaire garde la part de secours.</a:t>
            </a:r>
            <a:endParaRPr lang="en-US" sz="1200" dirty="0"/>
          </a:p>
        </p:txBody>
      </p:sp>
      <p:sp>
        <p:nvSpPr>
          <p:cNvPr id="37" name="Text 3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Entrer dans l’application</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portail public, la connexion, l’accueil « À faire » de chaque profil, les actualités, les notifications et le compte.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54194" y="1752600"/>
            <a:ext cx="101597" cy="69850"/>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connexion, ce que le circuit attend d’elle,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par urgence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menu : son travail (dont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Appels d’offres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ses décisions, la planification.</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actualité à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actualité à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publie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actualités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ciblées par profil : rappel de règles, fermeture technique…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Elles s’affichent à la connexion ; une fenêtre se ferme par son bouton ou par Échap.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audience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PRMP, Commission, entreprises. Pour la PRMP : déposer ses plans, suivre leur contrôle, consulter les PV définitifs.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Se connecter », ou « Créer un compte PRMP » ; les mots-clés mènent à l’écran qu’ils nomment.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RG-ENT-05 · RG-ENT-08 · RG-ENT-09 · RG-ENT-10 · RG-ENT-14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profils de la Commission : le circuit, du dépôt à l’archivage — recevoir et dispatcher, examiner et viser, vérifier et clore.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entreprises : trouver la procédure, retirer le dossier, déposer son offre en ligne ; « Voir les procédures ouvertes » sans compte.</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connexion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nnex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Identifiant (ou adresse) et mot de passe. La session est portée par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cookie sécurisé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aucun jeton n’est gardé dans le navigateur.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Liens vers l’inscription d’une PRMP et vers l’espace des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RG-ENT-01 · RG-ENT-02 · RG-ENT-03 · RG-ENT-04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L’inscription d’une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inscription d’une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s’inscrit elle-même : identité, fonction, entité contractante, acte de nomination et pièces.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Son compte attend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validation de l’Administrateur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Demandes d’accès ») ; son UGPM sera créée ensuite par elle.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RG-ENT-02 · RG-ENT-03 · RG-ENT-05 · RG-ENT-06 · RG-ENT-07 · RG-ENT-08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le circuit attend de lui, par urgence : dossiers à recevoir et à numéroter ; ici, rien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dispatcher, les PV à viser, les demandes de retrait à statuer ; le menu porte aussi les tâches exercées par délégation.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examiner, avec leur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panneau du dossier choisi ouvre l’examen d’un clic.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qui l’attendent : transmettre la décision à SIGMP, ou statuer sur les réserves ; le retard de chacun est affiché.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L’écran des notifications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cran des notif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Toutes les notifications, filtrables ; chacune mène à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écran où l’action attendue s’accomplit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Arrivée en temps réel, relève toutes les soixante secondes ; le compteur est tenu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cloche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loch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la barre du haut : les dernières notifications et leur compteur, sans quitter l’écran.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de connexion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t_compte_auth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Compte d'authentification. Table dédiée à la connexion : elle unifie les deux populations qui s'authentifient — contrôleurs (tr_controleur) et PRMP (t_prmp) — sans ajouter de mot de passe aux tables métier. refActeur pointe vers IM_CONTROLEUR ou ID_PRMP selon typeActeur.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d’inscription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Déclaration d'entité contractante faite par une PRMP à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pièces de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Pièce jointe à une inscription PRMP : arrêté de nomination, CIN, photo.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t_notification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passage d’un dossier par une étape (« À faire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t_tache_dossier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Actualité affichée à l'ouverture de session. Mini-page façon lettre d'information : contenu markdown brut (aucun HTML accepté — la surface XSS soldée par l'audit du 16-17/08 ne se rouvre pas), images en table dédiée (t_actualite_image), ciblage par profils (t_actualite_profil).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profils visés par 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Ciblage d'une actualité par profil. Une actualité vise un ou plusieurs profils ; aucun profil ⇒ visible de personne (le ciblage est un acte délibéré, jamais « tous » implicitement). Le profil est stocké par son nom d'enum cnm.prs.enums.ProfilUtilisateur (colonne PROFIL) 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L’image d’une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t_actualite_image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Image d'une actualité., même approche que t_piece_demande_retrait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de connexion  ·  t_compte_auth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MOT_DE_PASSE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 de passe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Hash BCrypt du mot de passe (jamais le mot de passe en clair).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d'acteur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contrôleur (IM_CONTROLEUR) ou identifiant PRMP (ID_PRMP).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ACTIF,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vie de l'inscription.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lorsque l'inscription est refusée par l'Administrateur.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du dépôt de la demande, à ne pas confondre avec dateDecision, qui date la validation ou le refus et n'existe donc jamais pour une inscription en attente.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de la décision (validation ou refus).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IM_VALIDATEUR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validateur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de l'Administrateur ayant pris la décision.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d’inscription d’une PRMP  ·  t_prmp_entite_demande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 propriétaire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existante déclarée (null si entité proposée non listée).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(entité non listée) :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adresse.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localité.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catégorie.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VALIDEE, REFUSEE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si la déclaration est refusée (ex. entité déjà rattachée à une autre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DATE_DECLARATION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déclaration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pièces de l’inscription  ·  t_piece_jointe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l'inscription/compte propriétaire de la pièce.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(cf. cnm.prs.enums.TypePieceJointe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du fichier (ex. application/pdf, image/jpeg).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notification  ·  t_notification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TYPE_NOTIF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notif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Destinataire unifié : matricule contrôleur ou identifiant PRMP (selon DESTINATAIRE_TYPE).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du destinataire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l'objet métier concerné (selon TYPE_OBJET).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DOSSIER, PV, MESSAGE, PROCEDURE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d'objet concerné : DOSSIER / PV / MESSAGE.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Copie adressée à l'intérimaire actif du titulaire nommé ici ; la ligne du titulaire, elle, ne porte rien.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passage d’un dossier par une étape (« À faire »)  ·  t_tache_dossier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(LONGUEUR_ETAPE)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Longueurs des colonnes texte, declarees UNE fois : l'annotation @Column et la validation prealable de ChronometrageService lisent la meme constante, pour que la garde ne puisse pas diverger du schema.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OCCURRENCE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Occurrence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de l'occurrence pour ce dossier et cette etape (1 = premier passage).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controleur, ou identifiant de la PRMP (resoumission, rectification), a qui l'etape revenait ; nul si aucun acteur n'est identifiable.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(LONGUEUR_PROFIL)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sous lequel l'etape a ete tenue (delegation ou interim compris).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Instant ou l'etape s'est TERMINEE — le geste metier de cloture. Jamais nul : une ligne n'existe que parce qu'un passage s'est acheve (2026-09-12).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Passage tenu PAR INTERIM de ce titulaire : imActeur reste l'interimaire (celui qui a agi), profil le profil du titulaire (celui sous lequel l'etape a ete 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L’actualité  ·  t_actualite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CONTENU_MD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md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Markdown brut, stocké tel quel (jamais de HTML).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INACTIF,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Cf. cnm.prs.enums.StatutActualite : ACTIF / INACTIF /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visible dès activation.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sans terme. Atteinte (jour J compris) → archivage automatique.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Auteur (Administrateur),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Archiveur (Administrateur) — null si archivage automatique à l'expiration.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profils visés par une actualité  ·  t_actualite_profil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PRMP, PRESIDENT, CHEF_COMMISSION, SECRETAIRE, MEMBRE, VERIFICATEUR, ASSISTANT_CONTROLEUR, CHARGE_PUBLICATION, ADMINISTRATEUR,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d'enum cnm.prs.enums.ProfilUtilisateur (ex. MEMBRE,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L’image d’une actualité  ·  t_actualite_image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ID_IMAGE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image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(image/jpeg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Taille stockée (octets), après redimensionnement éventuel.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SHA_256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stocké.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Position dans la mini-page (1, 2,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Session et accès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session portée par le serveur · Tentatives de connexion limitées · Un mot de passe robuste · Chaque tentative est journalisée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Inscription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RG-ENT-05 → 11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s’inscrit elle-même · L’Administrateur vérifie et décide · Une validation entité par entité · Une entité, une seule PRMP · L’UGPM rattachée à sa tutelle · L’UGPM saisit, la PRMP engage · Un mandat de trois ans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Profils et visibilité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RG-ENT-12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Président voit tout · Les contrôleurs bornés à leur localité · La PRMP voit ses seuls dossiers · Un rattachement cible, sans verrouiller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L’accueil « À faire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RG-ENT-16 → 20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gestes qui vous attendent · Un geste proposé est permis · Les délégations à part · Une urgence mesurée, jamais inventée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Actualités, notifications et assistant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RG-ENT-21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actualité à l’ouverture · Une notification à chaque transmission · Chacun ne lit que les siennes · L’assistant IA cite, il ne décide pas · Un assistant local et tracé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Session et accès</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session portée par le serveur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connexion ouvre une session portée par un </a:t>
                      </a:r>
                      <a:pPr indent="0" marL="0">
                        <a:buNone/>
                      </a:pPr>
                      <a:r>
                        <a:rPr lang="en-US" sz="1150" b="1" dirty="0">
                          <a:solidFill>
                            <a:srgbClr val="1B2A3A"/>
                          </a:solidFill>
                          <a:latin typeface="Segoe UI" pitchFamily="34" charset="0"/>
                          <a:ea typeface="Segoe UI" pitchFamily="34" charset="-122"/>
                          <a:cs typeface="Segoe UI" pitchFamily="34" charset="-120"/>
                        </a:rPr>
                        <a:t>cookie protégé</a:t>
                      </a:r>
                      <a:pPr indent="0" marL="0">
                        <a:buNone/>
                      </a:pPr>
                      <a:r>
                        <a:rPr lang="en-US" sz="1150" dirty="0">
                          <a:solidFill>
                            <a:srgbClr val="1B2A3A"/>
                          </a:solidFill>
                          <a:latin typeface="Segoe UI" pitchFamily="34" charset="0"/>
                          <a:ea typeface="Segoe UI" pitchFamily="34" charset="-122"/>
                          <a:cs typeface="Segoe UI" pitchFamily="34" charset="-120"/>
                        </a:rPr>
                        <a:t>, que les scripts de la page ne peuvent pas lire et qui ne part vers aucun autre site. Aucun jeton n'est remis à l'écran ; la déconnexion est demandée au serveur, qui efface la session.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Tentatives de connexion limitées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Cinq échecs en quinze minutes verrouillent l'identifiant depuis un même poste ; vingt échecs bloquent le poste. Une connexion réussie remet à zéro le compteur de l'identifiant. Les inscriptions publiques sont limitées à </a:t>
                      </a:r>
                      <a:pPr indent="0" marL="0">
                        <a:buNone/>
                      </a:pPr>
                      <a:r>
                        <a:rPr lang="en-US" sz="1150" b="1" dirty="0">
                          <a:solidFill>
                            <a:srgbClr val="1B2A3A"/>
                          </a:solidFill>
                          <a:latin typeface="Segoe UI" pitchFamily="34" charset="0"/>
                          <a:ea typeface="Segoe UI" pitchFamily="34" charset="-122"/>
                          <a:cs typeface="Segoe UI" pitchFamily="34" charset="-120"/>
                        </a:rPr>
                        <a:t>dix par heure</a:t>
                      </a:r>
                      <a:pPr indent="0" marL="0">
                        <a:buNone/>
                      </a:pPr>
                      <a:r>
                        <a:rPr lang="en-US" sz="1150" dirty="0">
                          <a:solidFill>
                            <a:srgbClr val="1B2A3A"/>
                          </a:solidFill>
                          <a:latin typeface="Segoe UI" pitchFamily="34" charset="0"/>
                          <a:ea typeface="Segoe UI" pitchFamily="34" charset="-122"/>
                          <a:cs typeface="Segoe UI" pitchFamily="34" charset="-120"/>
                        </a:rPr>
                        <a:t> et par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mot de passe robuste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nouveau mot de passe compte </a:t>
                      </a:r>
                      <a:pPr indent="0" marL="0">
                        <a:buNone/>
                      </a:pPr>
                      <a:r>
                        <a:rPr lang="en-US" sz="1150" b="1" dirty="0">
                          <a:solidFill>
                            <a:srgbClr val="1B2A3A"/>
                          </a:solidFill>
                          <a:latin typeface="Segoe UI" pitchFamily="34" charset="0"/>
                          <a:ea typeface="Segoe UI" pitchFamily="34" charset="-122"/>
                          <a:cs typeface="Segoe UI" pitchFamily="34" charset="-120"/>
                        </a:rPr>
                        <a:t>8 à 72 caractères</a:t>
                      </a:r>
                      <a:pPr indent="0" marL="0">
                        <a:buNone/>
                      </a:pPr>
                      <a:r>
                        <a:rPr lang="en-US" sz="1150" dirty="0">
                          <a:solidFill>
                            <a:srgbClr val="1B2A3A"/>
                          </a:solidFill>
                          <a:latin typeface="Segoe UI" pitchFamily="34" charset="0"/>
                          <a:ea typeface="Segoe UI" pitchFamily="34" charset="-122"/>
                          <a:cs typeface="Segoe UI" pitchFamily="34" charset="-120"/>
                        </a:rPr>
                        <a:t>, dont au moins une lettre et un chiffre : à l'inscription, à la création d'un compte, à la réinitialisation et au changement. La règle ne s'applique jamais à la connexion : un ancien mot de passe reste valable jusqu'à son prochain changement.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tentative est journalisée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tentative de connexion, réussie ou refusée, est consignée avec l'identifiant tenté ; la déconnexion date la fin de la session. L'Administrateur consulte ce </a:t>
                      </a:r>
                      <a:pPr indent="0" marL="0">
                        <a:buNone/>
                      </a:pPr>
                      <a:r>
                        <a:rPr lang="en-US" sz="1150" b="1" dirty="0">
                          <a:solidFill>
                            <a:srgbClr val="1B2A3A"/>
                          </a:solidFill>
                          <a:latin typeface="Segoe UI" pitchFamily="34" charset="0"/>
                          <a:ea typeface="Segoe UI" pitchFamily="34" charset="-122"/>
                          <a:cs typeface="Segoe UI" pitchFamily="34" charset="-120"/>
                        </a:rPr>
                        <a:t>journal des connexions</a:t>
                      </a:r>
                      <a:pPr indent="0" marL="0">
                        <a:buNone/>
                      </a:pPr>
                      <a:r>
                        <a:rPr lang="en-US" sz="1150" dirty="0">
                          <a:solidFill>
                            <a:srgbClr val="1B2A3A"/>
                          </a:solidFill>
                          <a:latin typeface="Segoe UI" pitchFamily="34" charset="0"/>
                          <a:ea typeface="Segoe UI" pitchFamily="34" charset="-122"/>
                          <a:cs typeface="Segoe UI" pitchFamily="34" charset="-120"/>
                        </a:rPr>
                        <a:t>. Une panne du journal ne bloque jamais la connexion.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Authentification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(1/2)</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s’inscrit elle-même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renseigne son identité, déclare ses entités contractantes — choisies dans le référentiel ou proposées si absentes — et joint son </a:t>
                      </a:r>
                      <a:pPr indent="0" marL="0">
                        <a:buNone/>
                      </a:pPr>
                      <a:r>
                        <a:rPr lang="en-US" sz="1150" b="1" dirty="0">
                          <a:solidFill>
                            <a:srgbClr val="1B2A3A"/>
                          </a:solidFill>
                          <a:latin typeface="Segoe UI" pitchFamily="34" charset="0"/>
                          <a:ea typeface="Segoe UI" pitchFamily="34" charset="-122"/>
                          <a:cs typeface="Segoe UI" pitchFamily="34" charset="-120"/>
                        </a:rPr>
                        <a:t>arrêté de nomination</a:t>
                      </a:r>
                      <a:pPr indent="0" marL="0">
                        <a:buNone/>
                      </a:pPr>
                      <a:r>
                        <a:rPr lang="en-US" sz="1150" dirty="0">
                          <a:solidFill>
                            <a:srgbClr val="1B2A3A"/>
                          </a:solidFill>
                          <a:latin typeface="Segoe UI" pitchFamily="34" charset="0"/>
                          <a:ea typeface="Segoe UI" pitchFamily="34" charset="-122"/>
                          <a:cs typeface="Segoe UI" pitchFamily="34" charset="-120"/>
                        </a:rPr>
                        <a:t> et sa CIN, la photo restant facultative. Le compte naît en attente et ne peut pas se connecter.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L’Administrateur vérifie et décide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inscription est notifiée aux Administrateurs. L'Administrateur télécharge et </a:t>
                      </a:r>
                      <a:pPr indent="0" marL="0">
                        <a:buNone/>
                      </a:pPr>
                      <a:r>
                        <a:rPr lang="en-US" sz="1150" b="1" dirty="0">
                          <a:solidFill>
                            <a:srgbClr val="1B2A3A"/>
                          </a:solidFill>
                          <a:latin typeface="Segoe UI" pitchFamily="34" charset="0"/>
                          <a:ea typeface="Segoe UI" pitchFamily="34" charset="-122"/>
                          <a:cs typeface="Segoe UI" pitchFamily="34" charset="-120"/>
                        </a:rPr>
                        <a:t>vérifie l'arrêté</a:t>
                      </a:r>
                      <a:pPr indent="0" marL="0">
                        <a:buNone/>
                      </a:pPr>
                      <a:r>
                        <a:rPr lang="en-US" sz="1150" dirty="0">
                          <a:solidFill>
                            <a:srgbClr val="1B2A3A"/>
                          </a:solidFill>
                          <a:latin typeface="Segoe UI" pitchFamily="34" charset="0"/>
                          <a:ea typeface="Segoe UI" pitchFamily="34" charset="-122"/>
                          <a:cs typeface="Segoe UI" pitchFamily="34" charset="-120"/>
                        </a:rPr>
                        <a:t>, puis valide ou refuse : la vérification n'est jamais automatique. Un refus porte un motif, notifié à la PRMP, et le compte reste non connectable.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validation, chaque entité disponible est rattachée ; une entité déjà tenue par une autre PRMP active est </a:t>
                      </a:r>
                      <a:pPr indent="0" marL="0">
                        <a:buNone/>
                      </a:pPr>
                      <a:r>
                        <a:rPr lang="en-US" sz="1150" b="1" dirty="0">
                          <a:solidFill>
                            <a:srgbClr val="1B2A3A"/>
                          </a:solidFill>
                          <a:latin typeface="Segoe UI" pitchFamily="34" charset="0"/>
                          <a:ea typeface="Segoe UI" pitchFamily="34" charset="-122"/>
                          <a:cs typeface="Segoe UI" pitchFamily="34" charset="-120"/>
                        </a:rPr>
                        <a:t>signalée en conflit</a:t>
                      </a:r>
                      <a:pPr indent="0" marL="0">
                        <a:buNone/>
                      </a:pPr>
                      <a:r>
                        <a:rPr lang="en-US" sz="1150" dirty="0">
                          <a:solidFill>
                            <a:srgbClr val="1B2A3A"/>
                          </a:solidFill>
                          <a:latin typeface="Segoe UI" pitchFamily="34" charset="0"/>
                          <a:ea typeface="Segoe UI" pitchFamily="34" charset="-122"/>
                          <a:cs typeface="Segoe UI" pitchFamily="34" charset="-120"/>
                        </a:rPr>
                        <a:t>, sans bloquer. Le compte devient actif dès qu'une entité est rattachée ; sinon il reste en attente.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PRMP gère plusieurs entités contractantes, mais chaque entité n'a qu'</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La PRMP n'a pas de localité propre : celle d'un dossier vient de l'entité choisie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UGPM est rattachée à </a:t>
                      </a:r>
                      <a:pPr indent="0" marL="0">
                        <a:buNone/>
                      </a:pPr>
                      <a:r>
                        <a:rPr lang="en-US" sz="1150" b="1" dirty="0">
                          <a:solidFill>
                            <a:srgbClr val="1B2A3A"/>
                          </a:solidFill>
                          <a:latin typeface="Segoe UI" pitchFamily="34" charset="0"/>
                          <a:ea typeface="Segoe UI" pitchFamily="34" charset="-122"/>
                          <a:cs typeface="Segoe UI" pitchFamily="34" charset="-120"/>
                        </a:rPr>
                        <a:t>une seule PRMP de tutelle</a:t>
                      </a:r>
                      <a:pPr indent="0" marL="0">
                        <a:buNone/>
                      </a:pPr>
                      <a:r>
                        <a:rPr lang="en-US" sz="1150" dirty="0">
                          <a:solidFill>
                            <a:srgbClr val="1B2A3A"/>
                          </a:solidFill>
                          <a:latin typeface="Segoe UI" pitchFamily="34" charset="0"/>
                          <a:ea typeface="Segoe UI" pitchFamily="34" charset="-122"/>
                          <a:cs typeface="Segoe UI" pitchFamily="34" charset="-120"/>
                        </a:rPr>
                        <a:t>. Elle s'inscrit en désignant cette PRMP, avec sa CIN, sans arrêté ni entité, ou son compte est créé par l'Administrateur. Son inscription suit la même validation que celle d'une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saisit, la PRMP engage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L'UGPM voit tout le périmètre de sa PRMP de tutelle et prépare les dossiers en brouillon. Les actes qui engagent l'entité —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resoumission, compléments, retraits — restent à la PRMP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Inscriptions PRMP / UGPM (validation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(2/2)</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de la PRMP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reconductible une seule fois par un nouvel arrêté. Des alertes partent à J-90, J-30 et J-7 ; à l'échéance le compte est désactivé, et un nouveau mandat en cours le rouvre de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Profils et visibilité</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voit tout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n'est rattaché à aucune localité : il voit </a:t>
                      </a:r>
                      <a:pPr indent="0" marL="0">
                        <a:buNone/>
                      </a:pPr>
                      <a:r>
                        <a:rPr lang="en-US" sz="1150" b="1" dirty="0">
                          <a:solidFill>
                            <a:srgbClr val="1B2A3A"/>
                          </a:solidFill>
                          <a:latin typeface="Segoe UI" pitchFamily="34" charset="0"/>
                          <a:ea typeface="Segoe UI" pitchFamily="34" charset="-122"/>
                          <a:cs typeface="Segoe UI" pitchFamily="34" charset="-120"/>
                        </a:rPr>
                        <a:t>toutes les localités</a:t>
                      </a:r>
                      <a:pPr indent="0" marL="0">
                        <a:buNone/>
                      </a:pPr>
                      <a:r>
                        <a:rPr lang="en-US" sz="1150" dirty="0">
                          <a:solidFill>
                            <a:srgbClr val="1B2A3A"/>
                          </a:solidFill>
                          <a:latin typeface="Segoe UI" pitchFamily="34" charset="0"/>
                          <a:ea typeface="Segoe UI" pitchFamily="34" charset="-122"/>
                          <a:cs typeface="Segoe UI" pitchFamily="34" charset="-120"/>
                        </a:rPr>
                        <a:t> et peut exercer les tâches du Secrétaire, du Membre et du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contrôleurs bornés à leur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voit </a:t>
                      </a:r>
                      <a:pPr indent="0" marL="0">
                        <a:buNone/>
                      </a:pPr>
                      <a:r>
                        <a:rPr lang="en-US" sz="1150" b="1" dirty="0">
                          <a:solidFill>
                            <a:srgbClr val="1B2A3A"/>
                          </a:solidFill>
                          <a:latin typeface="Segoe UI" pitchFamily="34" charset="0"/>
                          <a:ea typeface="Segoe UI" pitchFamily="34" charset="-122"/>
                          <a:cs typeface="Segoe UI" pitchFamily="34" charset="-120"/>
                        </a:rPr>
                        <a:t>uniquement sa localité</a:t>
                      </a:r>
                      <a:pPr indent="0" marL="0">
                        <a:buNone/>
                      </a:pPr>
                      <a:r>
                        <a:rPr lang="en-US" sz="1150" dirty="0">
                          <a:solidFill>
                            <a:srgbClr val="1B2A3A"/>
                          </a:solidFill>
                          <a:latin typeface="Segoe UI" pitchFamily="34" charset="0"/>
                          <a:ea typeface="Segoe UI" pitchFamily="34" charset="-122"/>
                          <a:cs typeface="Segoe UI" pitchFamily="34" charset="-120"/>
                        </a:rPr>
                        <a:t>, avec son Secrétaire et ses Membres ; il peut exercer leurs tâches et celles du Vérificateur. Secrétaire, Membre, Vérificateur et Assistant relèvent de la même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voit ses seuls dossiers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acteur externe, n'est pas bornée par une localité : elle ne voit que </a:t>
                      </a:r>
                      <a:pPr indent="0" marL="0">
                        <a:buNone/>
                      </a:pPr>
                      <a:r>
                        <a:rPr lang="en-US" sz="1150" b="1" dirty="0">
                          <a:solidFill>
                            <a:srgbClr val="1B2A3A"/>
                          </a:solidFill>
                          <a:latin typeface="Segoe UI" pitchFamily="34" charset="0"/>
                          <a:ea typeface="Segoe UI" pitchFamily="34" charset="-122"/>
                          <a:cs typeface="Segoe UI" pitchFamily="34" charset="-120"/>
                        </a:rPr>
                        <a:t>ses propres dossiers</a:t>
                      </a:r>
                      <a:pPr indent="0" marL="0">
                        <a:buNone/>
                      </a:pPr>
                      <a:r>
                        <a:rPr lang="en-US" sz="1150" dirty="0">
                          <a:solidFill>
                            <a:srgbClr val="1B2A3A"/>
                          </a:solidFill>
                          <a:latin typeface="Segoe UI" pitchFamily="34" charset="0"/>
                          <a:ea typeface="Segoe UI" pitchFamily="34" charset="-122"/>
                          <a:cs typeface="Segoe UI" pitchFamily="34" charset="-120"/>
                        </a:rPr>
                        <a:t>, ceux dont elle est propriétaire.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rattachement cible, sans verrouiller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Ce lien décide </a:t>
                      </a:r>
                      <a:pPr indent="0" marL="0">
                        <a:buNone/>
                      </a:pPr>
                      <a:r>
                        <a:rPr lang="en-US" sz="1150" b="1" dirty="0">
                          <a:solidFill>
                            <a:srgbClr val="1B2A3A"/>
                          </a:solidFill>
                          <a:latin typeface="Segoe UI" pitchFamily="34" charset="0"/>
                          <a:ea typeface="Segoe UI" pitchFamily="34" charset="-122"/>
                          <a:cs typeface="Segoe UI" pitchFamily="34" charset="-120"/>
                        </a:rPr>
                        <a:t>qui est notifié</a:t>
                      </a:r>
                      <a:pPr indent="0" marL="0">
                        <a:buNone/>
                      </a:pPr>
                      <a:r>
                        <a:rPr lang="en-US" sz="1150" dirty="0">
                          <a:solidFill>
                            <a:srgbClr val="1B2A3A"/>
                          </a:solidFill>
                          <a:latin typeface="Segoe UI" pitchFamily="34" charset="0"/>
                          <a:ea typeface="Segoe UI" pitchFamily="34" charset="-122"/>
                          <a:cs typeface="Segoe UI" pitchFamily="34" charset="-120"/>
                        </a:rPr>
                        <a:t> et quel dossier paraît « le mien », jamais qui peut agir. Sans rattachement, tous les porteurs du rôle dans la localité sont avisés.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gestes qui vous attendent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profil du circuit arrive sur « À faire » : les gestes qui l'attendent, regroupés par section, </a:t>
                      </a:r>
                      <a:pPr indent="0" marL="0">
                        <a:buNone/>
                      </a:pPr>
                      <a:r>
                        <a:rPr lang="en-US" sz="1150" b="1" dirty="0">
                          <a:solidFill>
                            <a:srgbClr val="1B2A3A"/>
                          </a:solidFill>
                          <a:latin typeface="Segoe UI" pitchFamily="34" charset="0"/>
                          <a:ea typeface="Segoe UI" pitchFamily="34" charset="-122"/>
                          <a:cs typeface="Segoe UI" pitchFamily="34" charset="-120"/>
                        </a:rPr>
                        <a:t>triés par urgence</a:t>
                      </a:r>
                      <a:pPr indent="0" marL="0">
                        <a:buNone/>
                      </a:pPr>
                      <a:r>
                        <a:rPr lang="en-US" sz="1150" dirty="0">
                          <a:solidFill>
                            <a:srgbClr val="1B2A3A"/>
                          </a:solidFill>
                          <a:latin typeface="Segoe UI" pitchFamily="34" charset="0"/>
                          <a:ea typeface="Segoe UI" pitchFamily="34" charset="-122"/>
                          <a:cs typeface="Segoe UI" pitchFamily="34" charset="-120"/>
                        </a:rPr>
                        <a:t>, un geste principal par ligne avec son délai en heures ouvrées. L'Administrateur et le Chargé de publication gardent leur propre accueil.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geste proposé est permis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règle du circuit n'est réécrite pour l'accueil : un geste n'est proposé que si le serveur </a:t>
                      </a:r>
                      <a:pPr indent="0" marL="0">
                        <a:buNone/>
                      </a:pPr>
                      <a:r>
                        <a:rPr lang="en-US" sz="1150" b="1" dirty="0">
                          <a:solidFill>
                            <a:srgbClr val="1B2A3A"/>
                          </a:solidFill>
                          <a:latin typeface="Segoe UI" pitchFamily="34" charset="0"/>
                          <a:ea typeface="Segoe UI" pitchFamily="34" charset="-122"/>
                          <a:cs typeface="Segoe UI" pitchFamily="34" charset="-120"/>
                        </a:rPr>
                        <a:t>l'accepterait</a:t>
                      </a:r>
                      <a:pPr indent="0" marL="0">
                        <a:buNone/>
                      </a:pPr>
                      <a:r>
                        <a:rPr lang="en-US" sz="1150" dirty="0">
                          <a:solidFill>
                            <a:srgbClr val="1B2A3A"/>
                          </a:solidFill>
                          <a:latin typeface="Segoe UI" pitchFamily="34" charset="0"/>
                          <a:ea typeface="Segoe UI" pitchFamily="34" charset="-122"/>
                          <a:cs typeface="Segoe UI" pitchFamily="34" charset="-120"/>
                        </a:rPr>
                        <a:t> à l'exécution. La page d'un dossier rejoue le même calcul, dossier par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délégations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gestes faisables par délégation, intérim, collègue ou suppléance sont </a:t>
                      </a:r>
                      <a:pPr indent="0" marL="0">
                        <a:buNone/>
                      </a:pPr>
                      <a:r>
                        <a:rPr lang="en-US" sz="1150" b="1" dirty="0">
                          <a:solidFill>
                            <a:srgbClr val="1B2A3A"/>
                          </a:solidFill>
                          <a:latin typeface="Segoe UI" pitchFamily="34" charset="0"/>
                          <a:ea typeface="Segoe UI" pitchFamily="34" charset="-122"/>
                          <a:cs typeface="Segoe UI" pitchFamily="34" charset="-120"/>
                        </a:rPr>
                        <a:t>repliés</a:t>
                      </a:r>
                      <a:pPr indent="0" marL="0">
                        <a:buNone/>
                      </a:pPr>
                      <a:r>
                        <a:rPr lang="en-US" sz="1150" dirty="0">
                          <a:solidFill>
                            <a:srgbClr val="1B2A3A"/>
                          </a:solidFill>
                          <a:latin typeface="Segoe UI" pitchFamily="34" charset="0"/>
                          <a:ea typeface="Segoe UI" pitchFamily="34" charset="-122"/>
                          <a:cs typeface="Segoe UI" pitchFamily="34" charset="-120"/>
                        </a:rPr>
                        <a:t> dans un bloc séparé et ne comptent ni dans les compteurs ni dans le badge. Sans ce repli, le Président verrait toutes les réceptions et vérifications du pays.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urgence mesurée, jamais inventée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Délai dépassé : </a:t>
                      </a:r>
                      <a:pPr indent="0" marL="0">
                        <a:buNone/>
                      </a:pPr>
                      <a:r>
                        <a:rPr lang="en-US" sz="1150" b="1" dirty="0">
                          <a:solidFill>
                            <a:srgbClr val="1B2A3A"/>
                          </a:solidFill>
                          <a:latin typeface="Segoe UI" pitchFamily="34" charset="0"/>
                          <a:ea typeface="Segoe UI" pitchFamily="34" charset="-122"/>
                          <a:cs typeface="Segoe UI" pitchFamily="34" charset="-120"/>
                        </a:rPr>
                        <a:t>en retard</a:t>
                      </a:r>
                      <a:pPr indent="0" marL="0">
                        <a:buNone/>
                      </a:pPr>
                      <a:r>
                        <a:rPr lang="en-US" sz="1150" dirty="0">
                          <a:solidFill>
                            <a:srgbClr val="1B2A3A"/>
                          </a:solidFill>
                          <a:latin typeface="Segoe UI" pitchFamily="34" charset="0"/>
                          <a:ea typeface="Segoe UI" pitchFamily="34" charset="-122"/>
                          <a:cs typeface="Segoe UI" pitchFamily="34" charset="-120"/>
                        </a:rPr>
                        <a:t>. Reste inférieur ou égal à deux heures ou à 35 % du délai standard : bientôt. Au-delà : dans les délais. Un dossier sans entrée connue reste « sans délai » ; les attentes de la PRMP sont « en pause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voient leurs brouillons, les pièces à compléter, les rectifications et le suivi de leurs dossiers, mais </a:t>
                      </a:r>
                      <a:pPr indent="0" marL="0">
                        <a:buNone/>
                      </a:pPr>
                      <a:r>
                        <a:rPr lang="en-US" sz="1150" b="1" dirty="0">
                          <a:solidFill>
                            <a:srgbClr val="1B2A3A"/>
                          </a:solidFill>
                          <a:latin typeface="Segoe UI" pitchFamily="34" charset="0"/>
                          <a:ea typeface="Segoe UI" pitchFamily="34" charset="-122"/>
                          <a:cs typeface="Segoe UI" pitchFamily="34" charset="-120"/>
                        </a:rPr>
                        <a:t>rien d'interne</a:t>
                      </a:r>
                      <a:pPr indent="0" marL="0">
                        <a:buNone/>
                      </a:pPr>
                      <a:r>
                        <a:rPr lang="en-US" sz="1150" dirty="0">
                          <a:solidFill>
                            <a:srgbClr val="1B2A3A"/>
                          </a:solidFill>
                          <a:latin typeface="Segoe UI" pitchFamily="34" charset="0"/>
                          <a:ea typeface="Segoe UI" pitchFamily="34" charset="-122"/>
                          <a:cs typeface="Segoe UI" pitchFamily="34" charset="-120"/>
                        </a:rPr>
                        <a:t> à la CNM : ni acteurs, ni consignes de dispatch, ni étapes de navette.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Accueil « À faire »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Actualités, notifications et assistant</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actualité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ouverture de session, une fenêtre présente les actualités </a:t>
                      </a:r>
                      <a:pPr indent="0" marL="0">
                        <a:buNone/>
                      </a:pPr>
                      <a:r>
                        <a:rPr lang="en-US" sz="1150" b="1" dirty="0">
                          <a:solidFill>
                            <a:srgbClr val="1B2A3A"/>
                          </a:solidFill>
                          <a:latin typeface="Segoe UI" pitchFamily="34" charset="0"/>
                          <a:ea typeface="Segoe UI" pitchFamily="34" charset="-122"/>
                          <a:cs typeface="Segoe UI" pitchFamily="34" charset="-120"/>
                        </a:rPr>
                        <a:t>ciblées sur le profil</a:t>
                      </a:r>
                      <a:pPr indent="0" marL="0">
                        <a:buNone/>
                      </a:pPr>
                      <a:r>
                        <a:rPr lang="en-US" sz="1150" dirty="0">
                          <a:solidFill>
                            <a:srgbClr val="1B2A3A"/>
                          </a:solidFill>
                          <a:latin typeface="Segoe UI" pitchFamily="34" charset="0"/>
                          <a:ea typeface="Segoe UI" pitchFamily="34" charset="-122"/>
                          <a:cs typeface="Segoe UI" pitchFamily="34" charset="-120"/>
                        </a:rPr>
                        <a:t>, actives et dans leur période de publication. L'Administrateur les rédige sans redéploiement : texte sans balise HTML, images JPEG de 10 Mo au plus ; une actualité expirée s'archive d'elle-même.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notification à chaque transmission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transmission avise le ou les responsables de l'</a:t>
                      </a:r>
                      <a:pPr indent="0" marL="0">
                        <a:buNone/>
                      </a:pPr>
                      <a:r>
                        <a:rPr lang="en-US" sz="1150" b="1" dirty="0">
                          <a:solidFill>
                            <a:srgbClr val="1B2A3A"/>
                          </a:solidFill>
                          <a:latin typeface="Segoe UI" pitchFamily="34" charset="0"/>
                          <a:ea typeface="Segoe UI" pitchFamily="34" charset="-122"/>
                          <a:cs typeface="Segoe UI" pitchFamily="34" charset="-120"/>
                        </a:rPr>
                        <a:t>étape suivante</a:t>
                      </a:r>
                      <a:pPr indent="0" marL="0">
                        <a:buNone/>
                      </a:pPr>
                      <a:r>
                        <a:rPr lang="en-US" sz="1150" dirty="0">
                          <a:solidFill>
                            <a:srgbClr val="1B2A3A"/>
                          </a:solidFill>
                          <a:latin typeface="Segoe UI" pitchFamily="34" charset="0"/>
                          <a:ea typeface="Segoe UI" pitchFamily="34" charset="-122"/>
                          <a:cs typeface="Segoe UI" pitchFamily="34" charset="-120"/>
                        </a:rPr>
                        <a:t>, dans le même mouvement que l'événement. Le destinataire se déduit du rôle et de la localité du dossier, ou de l'assignation. Un rattachement manquant ne fait jamais disparaître une notification.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ne lit que les siennes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utilisateur ne consulte que </a:t>
                      </a:r>
                      <a:pPr indent="0" marL="0">
                        <a:buNone/>
                      </a:pPr>
                      <a:r>
                        <a:rPr lang="en-US" sz="1150" b="1" dirty="0">
                          <a:solidFill>
                            <a:srgbClr val="1B2A3A"/>
                          </a:solidFill>
                          <a:latin typeface="Segoe UI" pitchFamily="34" charset="0"/>
                          <a:ea typeface="Segoe UI" pitchFamily="34" charset="-122"/>
                          <a:cs typeface="Segoe UI" pitchFamily="34" charset="-120"/>
                        </a:rPr>
                        <a:t>ses notifications</a:t>
                      </a:r>
                      <a:pPr indent="0" marL="0">
                        <a:buNone/>
                      </a:pPr>
                      <a:r>
                        <a:rPr lang="en-US" sz="1150" dirty="0">
                          <a:solidFill>
                            <a:srgbClr val="1B2A3A"/>
                          </a:solidFill>
                          <a:latin typeface="Segoe UI" pitchFamily="34" charset="0"/>
                          <a:ea typeface="Segoe UI" pitchFamily="34" charset="-122"/>
                          <a:cs typeface="Segoe UI" pitchFamily="34" charset="-120"/>
                        </a:rPr>
                        <a:t>, les marque lues ou non lues. Le compteur de la cloche est calculé par le serveur et suivi en temps réel, avec un repli toutes les 60 secondes. La liste globale est réservée à l'Administrateur.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L’assistant IA cite, il ne décide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Ouvert aux dix profils, l'assistant répond sur les règles du contrôle et sur PRS à partir du </a:t>
                      </a:r>
                      <a:pPr indent="0" marL="0">
                        <a:buNone/>
                      </a:pPr>
                      <a:r>
                        <a:rPr lang="en-US" sz="1150" b="1" dirty="0">
                          <a:solidFill>
                            <a:srgbClr val="1B2A3A"/>
                          </a:solidFill>
                          <a:latin typeface="Segoe UI" pitchFamily="34" charset="0"/>
                          <a:ea typeface="Segoe UI" pitchFamily="34" charset="-122"/>
                          <a:cs typeface="Segoe UI" pitchFamily="34" charset="-120"/>
                        </a:rPr>
                        <a:t>manuel de contrôle</a:t>
                      </a:r>
                      <a:pPr indent="0" marL="0">
                        <a:buNone/>
                      </a:pPr>
                      <a:r>
                        <a:rPr lang="en-US" sz="1150" dirty="0">
                          <a:solidFill>
                            <a:srgbClr val="1B2A3A"/>
                          </a:solidFill>
                          <a:latin typeface="Segoe UI" pitchFamily="34" charset="0"/>
                          <a:ea typeface="Segoe UI" pitchFamily="34" charset="-122"/>
                          <a:cs typeface="Segoe UI" pitchFamily="34" charset="-120"/>
                        </a:rPr>
                        <a:t> et des règles de gestion, en citant ses extraits. Il ne donne aucun avis sur un dossier réel ; sans passage pertinent, il le 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assistant local et tracé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modèle tourne sur les serveurs de la CNM : aucune question ne sort du réseau. L'assistant est </a:t>
                      </a:r>
                      <a:pPr indent="0" marL="0">
                        <a:buNone/>
                      </a:pPr>
                      <a:r>
                        <a:rPr lang="en-US" sz="1150" b="1" dirty="0">
                          <a:solidFill>
                            <a:srgbClr val="1B2A3A"/>
                          </a:solidFill>
                          <a:latin typeface="Segoe UI" pitchFamily="34" charset="0"/>
                          <a:ea typeface="Segoe UI" pitchFamily="34" charset="-122"/>
                          <a:cs typeface="Segoe UI" pitchFamily="34" charset="-120"/>
                        </a:rPr>
                        <a:t>désactivé par défaut</a:t>
                      </a:r>
                      <a:pPr indent="0" marL="0">
                        <a:buNone/>
                      </a:pPr>
                      <a:r>
                        <a:rPr lang="en-US" sz="1150" dirty="0">
                          <a:solidFill>
                            <a:srgbClr val="1B2A3A"/>
                          </a:solidFill>
                          <a:latin typeface="Segoe UI" pitchFamily="34" charset="0"/>
                          <a:ea typeface="Segoe UI" pitchFamily="34" charset="-122"/>
                          <a:cs typeface="Segoe UI" pitchFamily="34" charset="-120"/>
                        </a:rPr>
                        <a:t> et masqué tant qu'il l'est ; chaque échange est journalisé avec sa question, sa réponse et ses sources.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Actualités à l'ouverture de session (transversal) · Notifications (transversal au circuit) · Notifications · Assistant IA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Planifier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 PRMP saisit son plan de passation (ou l’importe), le vérifie à l’aperçu et le soumet à la Commission ; un plan validé se met à jour par une nouvelle version.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dossier : choisir son 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dossier : choisir son 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Dossier de planification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plan de passation), dossier de mise en concurrence, ou dossier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d’un plan déjà validé passe par « Mettre à jour un PPM » : une nouvelle version, jamais un écrasement.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L’en-tête du plan, et l’import PDF</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n-tête du plan, et l’import PDF">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Importer un PPM (PDF)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pré-remplit tout depuis le plan officiel — à vérifier ligne par ligne avant création.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la saisie : l’entité contractante (celles de la PRMP), l’exercice, la date de signature.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localité et le signataire se déduisent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ligne de marché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ligne de march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Nature, objet, montant estimatif,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forme, financement,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bénéficiaires, les lots, et le calendrier prévisionnel (CAPM) par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 des travaux de réhabilitation, en appel d’offres ouvert.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RG-PLA-03 · RG-PLA-04 · RG-PLA-05 · RG-PLA-06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prévisionnel (CAPM)</a:t>
            </a:r>
            <a:endParaRPr lang="en-US" sz="2600" dirty="0"/>
          </a:p>
        </p:txBody>
      </p:sp>
      <p:sp>
        <p:nvSpPr>
          <p:cNvPr id="4" name="Shape 2"/>
          <p:cNvSpPr/>
          <p:nvPr/>
        </p:nvSpPr>
        <p:spPr>
          <a:xfrm>
            <a:off x="800080" y="1193800"/>
            <a:ext cx="5443931" cy="5105400"/>
          </a:xfrm>
          <a:prstGeom prst="rect">
            <a:avLst/>
          </a:prstGeom>
          <a:solidFill>
            <a:srgbClr val="FCFCFA"/>
          </a:solidFill>
          <a:ln w="9525">
            <a:solidFill>
              <a:srgbClr val="D5DCE4"/>
            </a:solidFill>
            <a:prstDash val="solid"/>
          </a:ln>
        </p:spPr>
      </p:sp>
      <p:pic>
        <p:nvPicPr>
          <p:cNvPr id="5" name="Image 0" descr="Le calendrier prévisionnel (CAPM)">    </p:cNvPr>
          <p:cNvPicPr>
            <a:picLocks noChangeAspect="1"/>
          </p:cNvPicPr>
          <p:nvPr/>
        </p:nvPicPr>
        <p:blipFill>
          <a:blip r:embed="rId1"/>
          <a:stretch>
            <a:fillRect/>
          </a:stretch>
        </p:blipFill>
        <p:spPr>
          <a:xfrm>
            <a:off x="812780" y="1206500"/>
            <a:ext cx="541853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processus du mode de passation, chacun avec sa date de début (et de fin).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chronologie est contrôlée ; un délai trop court ou un mode dérogatoire appelle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justification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RG-PLA-07 · RG-PLA-08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jointes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ièces join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exigées dépendent du type de dossier, fixé dans les référentiels de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Formats acceptés : PDF, JPEG, PNG ; chaque fichier est contrôlé (type, taille).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L’aperçu avant création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erçu avant cré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plan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 projet d’AGPM, tels que la Commission les lira.</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part tant que la PRMP n’a pas créé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RG-PLA-10 · RG-PLA-11 · RG-PLA-12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brouillon, puis la soumission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brouillon, puis la sou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Créer le dossier » enregistre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on peut le reprendre, le vérifier, le supprimer.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l’envoie à la Commission ; seule la PRMP soumet (l’UGPM prépare).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RG-PLA-11 · RG-PLA-12 · RG-PLA-13 · RG-PLA-14 · RG-PLA-15 · RG-PLA-16 · RG-PLA-17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à la Commission, avec son statut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fin de traitement 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du dossier : la frise des sept étapes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u dossier : la frise des sept étap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Réception, dispatch, examen, projet de PV, PV signé, vérification, clôture.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en cours, qui agit, le délai qui court ; le plan lui-même, en lecture.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page pour tous les profils : chacun y voit son geste.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Mettre à jour un PPM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ttre à jour un PP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Seule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dernière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validée de chaque plan ; la ligne ouvre la mise à jour.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crée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nouvelle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l’écart figé : un plan validé ne se modifie jamais en place.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RG-PLA-20 · RG-PLA-21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le retrait d’un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emander le retrait d’un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le motif et la lettre signée (PDF) ; le Président ou le Chef de commission statue.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se retire jusqu’à son examen ; dès le PV signé, le retrait est refusé.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RG-PLA-23 · RG-PLA-24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des jalons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alendrier des jal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dates prévues de chaque ligne des plans — lancement, ouverture des offres, attribution, notification — lues du calendrier prévisionnel.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plans et leurs marchés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plans et leurs march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plan et ses lignes ; depuis le plan, ses appels d’offres en préparation.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RG-PLA-04 · RG-PLA-17 · RG-PLA-20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planification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pré-contrôle des seuils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signalements du plan, écartables avec un motif, jamais effacés.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versions archivées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L’historique des versions d’un plan, en consultation.</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(plan, DMC ou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plan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dates prévues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calendrier prévisionnel (CAPM)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jalons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t_echeance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service bénéficiaire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t_service_beneficiaire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jointe au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version d’un plan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En-tête d'une version archivée du contenu d'un dossier de planification, figée au moment où une rectification la remplace.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changement d’une ligne entre deux versions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t_changement_ligne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Trace figée du diff entre une version de PPM et son prédécesseur, au niveau de 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signalement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visée par un signalement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visée par un signalement inter-lignes (t_anomalie_ligne).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par demande.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journal des actions d'un dossier, horodaté par auteur.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(plan, DMC ou marché)  ·  t_dossier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dossier (tr_type_dossier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du dossier (FK tr_sous_type_dossier), la famille (idTypeDossier) s'en déduisant.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par …/soumettre ; laisser vide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Renseignée à la soumission si vide.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soumission du dossier par la PRMP — « la date de soumission EST la date de dépôt du dossier » (pilote, 2026-09-06). Posée à la soumission (POST /api/dossiers/{id/soumettre}) depuis le 2026-09-06 (V20) ; elle l'était à la création du brouillon, ce qui en faisait une date 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dossier (§1). Renseignée à la soumission ; rend le dossier visible/réceptionnable par les contrôleurs de cette localité même sans PPM ni réception.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propriétaire du dossier (§3.1). Posée à la saisie ; le périmètre de propriété.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ID_MANDAT_ATTRIB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attrib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(spec « Mandats PRMP ») — mandat d'attribution figé : le mandat (t_mandat) sous lequel le dossier a été créé.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créé le dossier (PRMP ou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SOUMIS_PAR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Soumis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soumis le dossier (PRMP uniquement).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contractante concernée par le dossier (§1) — choisie à la saisie parmi les entités de la PRMP ; c'est elle qui détermine la localité (idLocalite en est dérivé).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DMC dont la fiche marché a produit ce dossier (POST /api/fiches-marche/{idDmc/dossier}), ou auquel il a été rattaché en secours (PUT /api/dossiers/{id/fiche-marche}).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VERSION_FICHE_SOUMISE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soumise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marché que ce dossier a soumise : posée à la soumission, avancée à chaque resoumission / transmission de compléments.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VERSION_FICHE_EXAMINEE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examinee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que la Commission a examinée : celle de la soumission, puis l'ancienne version soumise quand les compléments sont transmis (le réexamen compare à 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plan de passation  ·  t_ppm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DATE_PPM_INIT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PPM init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Auparavant déclarées mais jamais écrites). datePpmInit = date du PPM INITIAL, propagée inchangée de version en version (repère stable de la chaîne) ; numMaj = numéro de la mise à jour (null/0 = initial, puis 1,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DATE_RECEPTION_CNM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 cnm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 Justification : » du bas du formulaire officiel, globale à la fiche et non rattachée à une ligne (arbitrage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la mise à jour, exigé à la création d'une nouvelle version. null sur un PPM initial.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de marché  ·  t_marche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de la ligne à travers les versions. idDetail n'identifie la ligne que DANS un dossier : une copie en v2 reçoit une nouvelle PK. idLigneOrigine vaut l'idDetail de la PREMIÈRE apparition de la ligne et est hérité tel quel à chaque nouvelle 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Suppression logique d'une ligne dans une version. La ligne est bien recopiée dans la nouvelle version, marquée supprimée : elle reste visible, restaurable, et n'est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A_COMMANDE, CONTRAT_CADRE, QUANTITE_FIXE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Forme du marché (à commande / contrat cadre / à quantité 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mode dérogatoire de ce marché (liste ① de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délai aménagé (liste ②). Distincte de justifModeDerogatoire : un marché peut cumuler les deux, et les deux questions sont distinctes (pourquoi ce mode ? pourquoi ce délai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 de prestations de l'arrêté n° 13 156/2019-MEF, qui choisit la ligne du barème de seuils.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dates prévues d’une ligne  ·  t_marche_prevision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ID_PREVISION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prévision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Marché concerné (FK vers t_marche.ID_DETAIL).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Processus de marché (FK vers t_capm.ID_CAPM).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début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fin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calendrier prévisionnel (CAPM)  ·  t_capm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d'affichage des processus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mixte (comme les points de contrôle par sous-type) : null = processus commun (modèle par défaut) ; sinon = processus SPÉCIFIQUE au mode de passation (t_mode_passation.ID_MODE, ex. modèle détaillé « Appel d'offres ouvert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Phase du modèle (ex. « 2 - LANCEMENT ») — regroupe les tâches à l'affichage ; null = sans phase.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jalons d’une ligne  ·  t_echeance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DATE_PREVUE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ALERTE_ENVOYEE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envoyée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lot  ·  t_lot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tranche  ·  t_tranche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service bénéficiaire  ·  t_service_beneficiaire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Compte budgétaire du bénéficiaire (FK tr_compte) — compte et montant sont par bénéficiaire.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jointe au dossier  ·  t_piece_jointe_dossier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APRES_LETTRE_RENVOI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Apres lettre renvoi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Contenu binaire du fichier (bytea). */ @Column(name = "CONTENU") @JsonIgnore private byte[] contenu; @Column(name = "FORMAT", length = 10) private String format; @Column(name = "TAILLE") private Long taille; @Column(name = "DATE_UPLOAD") private LocalDateTime dateUpload; /** Vrai si la pièce 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Lettre de renvoi concernée (FK t_lettre_renvoi), si apresLettreRenvoi.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VERSION_CORRIGEE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corrigee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CORRIGÉE d'une pièce, déposée pendant la RECTIFICATION (dossier EN_ATTENTE_DECISION_PRMP, observations du PV) : distinguée de l'originale dans toutes les listes (l'originale est conservée). null = pièce ordinaire (lignes antérieures).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document de fiche marché dont cette pièce est la copie jointe au dossier ; null pour une pièce téléversée.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version d’un plan  ·  t_version_dossier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d'ordre d'archivage dans le dossier (1, 2, …) — unique par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RECTIFICATION, MISE_A_JOUR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cnm.prs.enums.OrigineVersion.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Itération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opératrice au moment du gel (celle du jeton, ou la PRMP de tutelle d'un agent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Prénoms Nom » de la PRMP opératrice, figé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NB_LIGNES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lignes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changement d’une ligne entre deux versions  ·  t_changement_ligne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Dossier de la version qui PORTE le changement (le successeur), jamais le prédécesseur.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de la ligne à travers les versions (cf. Marche.idLigneOrigine).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Désignation de la ligne au moment du figeage — lisible même si la ligne évolue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Champ modifié (ex. montEstim) — null hors TypeChangementLigneMODIFIEE.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VALEUR_APRES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apres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signalement du pré-contrôle  ·  t_anomalie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 « PRIORITAIRE »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DATE_DETECTION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detection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Sans quoi elle n'aurait jamais pu être enregistrée comme ayant écarté un signalement.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CONTROLEUR ou PRMP, comme la claim acteurType du jeton. Un agent d'UGPM est enregistré comme sa PRMP de tutelle : c'est son ID_PRMP que porte le jeton (claim ref), et le périmètre d'une UGPM est celui de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l'écartement — obligatoire quand un signalement est écarté (3.f).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la grille de contrôle du PPM (tr_points_ctrl) que le signalement éclaire (« Mode de passation conforme », « Conformité de la désignation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CLE_SIGNALEMENT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signalement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du signalement dans son PPM : code de règle + objet visé, normalisé.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SUGGESTION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Suggestion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Correction proposée, rédigée comme l'annexe d'un PV (« Au lieu de : … Lire : … ») pour que le contrôleur puisse la reprendre, la modifier ou l'ignorer.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à laquelle le signalement a cessé de ressortir, le plan ayant changé.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 qui a changé dans le plan et a fait disparaître le signalement. C'est ce que le contrôleur lit quand une PRMP a fait taire l'alarme en modifiant ses lignes : rien ne s'efface.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dès la soumission du plan : un écartement figé ne se défait plus (3.f, condition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visée par un signalement  ·  t_anomalie_ligne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en vigueur de la ligne au moment de la détection (NOUV_MONT_ESTIM, sinon MONT_ESTIM).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retrait  ·  t_demande_retrait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serveur (IDENTITY)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Dérivé du JWT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 serveur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Forcé serveur (EN_ATTENTE)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la demande de retrait  ·  t_piece_demande_retrait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Demande propriétaire (une seule pièce par demande).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tel que déposé par la PRMP (affiché au décideur).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(application/pdf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du dossier  ·  t_action_dossier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Nature de l'action (ex. CREATION, SOUMISSION, RESOUMISSION).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en fonction au moment de l'action — l'opérateur, pas l'attributaire.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l'opérateur figé au moment de l'action.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Mandat sous lequel l'action a été faite (null si mandat implicite, non déclaré).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Détail suffixé « — par intérim de NOM » quand l'action a été posée par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Geste posé PAR INTÉRIM de ce titulaire ; l'auteur reste celui qui a agi.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plan et ses lignes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Trois familles de dossier · Saisir, c’est créer le brouillon · Un mode de passation saisi · Tout appel d’offres appelle l’AGPM · Les bénéficiaires couvrent la ligne · Les justifications de la fiche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Calendrier et pièces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calendrier prévisionnel du mode · Des dates qui s’enchaînent · Des pièces contrôlées, aux bons moments · L’import PDF pré-remplit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RG-PLA-11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seuils signalent, sans bloquer · Le référentiel muet se tait · Écarter, avec un motif · Figé à la soumission, jamais effacé · Une piste n’est pas un constat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soumission et le suivi</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RG-PLA-16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Seule la PRMP soumet · Seul le brouillon se modifie · Une fin prévue dès le dépôt · L’avancement, pas les coulisses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versions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RG-PLA-20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mise à jour, une nouvelle version · Les lignes absentes sont supprimées · La bascule à la soumission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Retrait et jalons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RG-PLA-23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retrait jusqu’au PV signé · Retrait accepté, retour au brouillon · Une alerte par jalon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plan et ses lignes</a:t>
            </a:r>
            <a:endParaRPr lang="en-US" sz="2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Trois familles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relève d'une famille : </a:t>
                      </a:r>
                      <a:pPr indent="0" marL="0">
                        <a:buNone/>
                      </a:pPr>
                      <a:r>
                        <a:rPr lang="en-US" sz="1150" b="1" dirty="0">
                          <a:solidFill>
                            <a:srgbClr val="1B2A3A"/>
                          </a:solidFill>
                          <a:latin typeface="Segoe UI" pitchFamily="34" charset="0"/>
                          <a:ea typeface="Segoe UI" pitchFamily="34" charset="-122"/>
                          <a:cs typeface="Segoe UI" pitchFamily="34" charset="-120"/>
                        </a:rPr>
                        <a:t>planification</a:t>
                      </a:r>
                      <a:pPr indent="0" marL="0">
                        <a:buNone/>
                      </a:pPr>
                      <a:r>
                        <a:rPr lang="en-US" sz="1150" dirty="0">
                          <a:solidFill>
                            <a:srgbClr val="1B2A3A"/>
                          </a:solidFill>
                          <a:latin typeface="Segoe UI" pitchFamily="34" charset="0"/>
                          <a:ea typeface="Segoe UI" pitchFamily="34" charset="-122"/>
                          <a:cs typeface="Segoe UI" pitchFamily="34" charset="-120"/>
                        </a:rPr>
                        <a:t> (DDP), mise en concurrence (DMC) ou marché (DDM). Pour la planification, le sous-type — PPM ou PPM-AGPM — est déduit par le serveur ; pour les deux autres familles, il est choisi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Saisir, c’est créer le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saisie crée le dossier au statut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propriété de la PRMP, et son contenu en une seule opération. La PRMP choisit l'entité parmi ses entités actives, et cette entité fixe la localité du dossier. Les identifiants sont attribués par le serveur.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mode de passation saisi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passation est </a:t>
                      </a:r>
                      <a:pPr indent="0" marL="0">
                        <a:buNone/>
                      </a:pPr>
                      <a:r>
                        <a:rPr lang="en-US" sz="1150" b="1" dirty="0">
                          <a:solidFill>
                            <a:srgbClr val="1B2A3A"/>
                          </a:solidFill>
                          <a:latin typeface="Segoe UI" pitchFamily="34" charset="0"/>
                          <a:ea typeface="Segoe UI" pitchFamily="34" charset="-122"/>
                          <a:cs typeface="Segoe UI" pitchFamily="34" charset="-120"/>
                        </a:rPr>
                        <a:t>purement saisi</a:t>
                      </a:r>
                      <a:pPr indent="0" marL="0">
                        <a:buNone/>
                      </a:pPr>
                      <a:r>
                        <a:rPr lang="en-US" sz="1150" dirty="0">
                          <a:solidFill>
                            <a:srgbClr val="1B2A3A"/>
                          </a:solidFill>
                          <a:latin typeface="Segoe UI" pitchFamily="34" charset="0"/>
                          <a:ea typeface="Segoe UI" pitchFamily="34" charset="-122"/>
                          <a:cs typeface="Segoe UI" pitchFamily="34" charset="-120"/>
                        </a:rPr>
                        <a:t> par la PRMP ou repris de l'import, et conservé tel quel : aucune détermination automatique, aucun refus par seuil. Les montants des lignes sont saisis hors taxes.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appel d’offres appelle l’AGPM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plan comptant un marché en </a:t>
                      </a:r>
                      <a:pPr indent="0" marL="0">
                        <a:buNone/>
                      </a:pPr>
                      <a:r>
                        <a:rPr lang="en-US" sz="1150" b="1" dirty="0">
                          <a:solidFill>
                            <a:srgbClr val="1B2A3A"/>
                          </a:solidFill>
                          <a:latin typeface="Segoe UI" pitchFamily="34" charset="0"/>
                          <a:ea typeface="Segoe UI" pitchFamily="34" charset="-122"/>
                          <a:cs typeface="Segoe UI" pitchFamily="34" charset="-120"/>
                        </a:rPr>
                        <a:t>appel d'offres</a:t>
                      </a:r>
                      <a:pPr indent="0" marL="0">
                        <a:buNone/>
                      </a:pPr>
                      <a:r>
                        <a:rPr lang="en-US" sz="1150" dirty="0">
                          <a:solidFill>
                            <a:srgbClr val="1B2A3A"/>
                          </a:solidFill>
                          <a:latin typeface="Segoe UI" pitchFamily="34" charset="0"/>
                          <a:ea typeface="Segoe UI" pitchFamily="34" charset="-122"/>
                          <a:cs typeface="Segoe UI" pitchFamily="34" charset="-120"/>
                        </a:rPr>
                        <a:t>, quelle qu'en soit la variante, devient PPM-AGPM. L'appel à manifestation d'intérêt ne le déclenche qu'au-delà d'un seuil administrable, apprécié marché par marché. La référence du dossier suit le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bénéficiaires couvrent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somme des montants par service bénéficiaire doit égaler le </a:t>
                      </a:r>
                      <a:pPr indent="0" marL="0">
                        <a:buNone/>
                      </a:pPr>
                      <a:r>
                        <a:rPr lang="en-US" sz="1150" b="1" dirty="0">
                          <a:solidFill>
                            <a:srgbClr val="1B2A3A"/>
                          </a:solidFill>
                          <a:latin typeface="Segoe UI" pitchFamily="34" charset="0"/>
                          <a:ea typeface="Segoe UI" pitchFamily="34" charset="-122"/>
                          <a:cs typeface="Segoe UI" pitchFamily="34" charset="-120"/>
                        </a:rPr>
                        <a:t>montant du marché</a:t>
                      </a:r>
                      <a:pPr indent="0" marL="0">
                        <a:buNone/>
                      </a:pPr>
                      <a:r>
                        <a:rPr lang="en-US" sz="1150" dirty="0">
                          <a:solidFill>
                            <a:srgbClr val="1B2A3A"/>
                          </a:solidFill>
                          <a:latin typeface="Segoe UI" pitchFamily="34" charset="0"/>
                          <a:ea typeface="Segoe UI" pitchFamily="34" charset="-122"/>
                          <a:cs typeface="Segoe UI" pitchFamily="34" charset="-120"/>
                        </a:rPr>
                        <a:t>. La règle est vérifiée à chaque enregistrement de la grille ; un import la signale sans rejeter, et ne complète seul qu'une ligne à un unique bénéficiaire.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justifications de la fiche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en </a:t>
                      </a:r>
                      <a:pPr indent="0" marL="0">
                        <a:buNone/>
                      </a:pPr>
                      <a:r>
                        <a:rPr lang="en-US" sz="1150" b="1" dirty="0">
                          <a:solidFill>
                            <a:srgbClr val="1B2A3A"/>
                          </a:solidFill>
                          <a:latin typeface="Segoe UI" pitchFamily="34" charset="0"/>
                          <a:ea typeface="Segoe UI" pitchFamily="34" charset="-122"/>
                          <a:cs typeface="Segoe UI" pitchFamily="34" charset="-120"/>
                        </a:rPr>
                        <a:t>mode dérogatoire</a:t>
                      </a:r>
                      <a:pPr indent="0" marL="0">
                        <a:buNone/>
                      </a:pPr>
                      <a:r>
                        <a:rPr lang="en-US" sz="1150" dirty="0">
                          <a:solidFill>
                            <a:srgbClr val="1B2A3A"/>
                          </a:solidFill>
                          <a:latin typeface="Segoe UI" pitchFamily="34" charset="0"/>
                          <a:ea typeface="Segoe UI" pitchFamily="34" charset="-122"/>
                          <a:cs typeface="Segoe UI" pitchFamily="34" charset="-120"/>
                        </a:rPr>
                        <a:t> ou à délai aménagé porte sa justification ; une justification globale couvre en outre les contrats-cadres. Elles sont exigées à la saisie et à la soumission, et le serveur reclasse lui-même les marchés concernés.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Calendrier et pièces</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calendrier prévisionnel du mode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compte </a:t>
                      </a:r>
                      <a:pPr indent="0" marL="0">
                        <a:buNone/>
                      </a:pPr>
                      <a:r>
                        <a:rPr lang="en-US" sz="1150" b="1" dirty="0">
                          <a:solidFill>
                            <a:srgbClr val="1B2A3A"/>
                          </a:solidFill>
                          <a:latin typeface="Segoe UI" pitchFamily="34" charset="0"/>
                          <a:ea typeface="Segoe UI" pitchFamily="34" charset="-122"/>
                          <a:cs typeface="Segoe UI" pitchFamily="34" charset="-120"/>
                        </a:rPr>
                        <a:t>au moins une étape</a:t>
                      </a:r>
                      <a:pPr indent="0" marL="0">
                        <a:buNone/>
                      </a:pPr>
                      <a:r>
                        <a:rPr lang="en-US" sz="1150" dirty="0">
                          <a:solidFill>
                            <a:srgbClr val="1B2A3A"/>
                          </a:solidFill>
                          <a:latin typeface="Segoe UI" pitchFamily="34" charset="0"/>
                          <a:ea typeface="Segoe UI" pitchFamily="34" charset="-122"/>
                          <a:cs typeface="Segoe UI" pitchFamily="34" charset="-120"/>
                        </a:rPr>
                        <a:t> du calendrier prévisionnel, avec sa date de début ; la date de fin reste facultative. Les étapes proposées sont celles du mode de passation, à défaut celles de son modèle, à défaut les étapes communes.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dates qui s’enchaînent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date de fin suit sa date de début, et chaque étape commence </a:t>
                      </a:r>
                      <a:pPr indent="0" marL="0">
                        <a:buNone/>
                      </a:pPr>
                      <a:r>
                        <a:rPr lang="en-US" sz="1150" b="1" dirty="0">
                          <a:solidFill>
                            <a:srgbClr val="1B2A3A"/>
                          </a:solidFill>
                          <a:latin typeface="Segoe UI" pitchFamily="34" charset="0"/>
                          <a:ea typeface="Segoe UI" pitchFamily="34" charset="-122"/>
                          <a:cs typeface="Segoe UI" pitchFamily="34" charset="-120"/>
                        </a:rPr>
                        <a:t>après la fin</a:t>
                      </a:r>
                      <a:pPr indent="0" marL="0">
                        <a:buNone/>
                      </a:pPr>
                      <a:r>
                        <a:rPr lang="en-US" sz="1150" dirty="0">
                          <a:solidFill>
                            <a:srgbClr val="1B2A3A"/>
                          </a:solidFill>
                          <a:latin typeface="Segoe UI" pitchFamily="34" charset="0"/>
                          <a:ea typeface="Segoe UI" pitchFamily="34" charset="-122"/>
                          <a:cs typeface="Segoe UI" pitchFamily="34" charset="-120"/>
                        </a:rPr>
                        <a:t> de la précédente lorsque celle-ci est connue. Une date de fin absente est ouverte et ne contraint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contrôlées, aux bons moments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sont des </a:t>
                      </a:r>
                      <a:pPr indent="0" marL="0">
                        <a:buNone/>
                      </a:pPr>
                      <a:r>
                        <a:rPr lang="en-US" sz="1150" b="1" dirty="0">
                          <a:solidFill>
                            <a:srgbClr val="1B2A3A"/>
                          </a:solidFill>
                          <a:latin typeface="Segoe UI" pitchFamily="34" charset="0"/>
                          <a:ea typeface="Segoe UI" pitchFamily="34" charset="-122"/>
                          <a:cs typeface="Segoe UI" pitchFamily="34" charset="-120"/>
                        </a:rPr>
                        <a:t>PDF, JPEG ou PNG</a:t>
                      </a:r>
                      <a:pPr indent="0" marL="0">
                        <a:buNone/>
                      </a:pPr>
                      <a:r>
                        <a:rPr lang="en-US" sz="1150" dirty="0">
                          <a:solidFill>
                            <a:srgbClr val="1B2A3A"/>
                          </a:solidFill>
                          <a:latin typeface="Segoe UI" pitchFamily="34" charset="0"/>
                          <a:ea typeface="Segoe UI" pitchFamily="34" charset="-122"/>
                          <a:cs typeface="Segoe UI" pitchFamily="34" charset="-120"/>
                        </a:rPr>
                        <a:t>, reconnus à leur contenu. Le dépôt initial n'est ouvert qu'en brouillon, à la soumission et pendant les attentes de la PRMP ; après une lettre de renvoi, il s'ouvre aussi à la reprise de l'examen.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L’import PDF pré-remplit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L'import lit le plan en PDF et propose l'exercice, l'autorité contractante, les lignes, leurs étapes et leurs lots. Il </a:t>
                      </a:r>
                      <a:pPr indent="0" marL="0">
                        <a:buNone/>
                      </a:pPr>
                      <a:r>
                        <a:rPr lang="en-US" sz="1150" b="1" dirty="0">
                          <a:solidFill>
                            <a:srgbClr val="1B2A3A"/>
                          </a:solidFill>
                          <a:latin typeface="Segoe UI" pitchFamily="34" charset="0"/>
                          <a:ea typeface="Segoe UI" pitchFamily="34" charset="-122"/>
                          <a:cs typeface="Segoe UI" pitchFamily="34" charset="-120"/>
                        </a:rPr>
                        <a:t>ne crée rien</a:t>
                      </a:r>
                      <a:pPr indent="0" marL="0">
                        <a:buNone/>
                      </a:pPr>
                      <a:r>
                        <a:rPr lang="en-US" sz="1150" dirty="0">
                          <a:solidFill>
                            <a:srgbClr val="1B2A3A"/>
                          </a:solidFill>
                          <a:latin typeface="Segoe UI" pitchFamily="34" charset="0"/>
                          <a:ea typeface="Segoe UI" pitchFamily="34" charset="-122"/>
                          <a:cs typeface="Segoe UI" pitchFamily="34" charset="-120"/>
                        </a:rPr>
                        <a:t> : la PRMP vérifie, complète puis crée le dossier. Les incohérences sont signalées, ligne par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CAPM — processus de marché · Saisies (façade de création)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pré-contrôle</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seuils signalent, sans bloquer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référentiel des seuils, daté et administrable, compare chaque ligne aux montants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de l'arrêté : barème central pour la CNM, déconcentré pour une CRM. Un écart produit un signalement écartable ; aucun mode n'est imposé, aucun dossier bloqué.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référentiel muet se tait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seuil au référentiel, </a:t>
                      </a:r>
                      <a:pPr indent="0" marL="0">
                        <a:buNone/>
                      </a:pPr>
                      <a:r>
                        <a:rPr lang="en-US" sz="1150" b="1" dirty="0">
                          <a:solidFill>
                            <a:srgbClr val="1B2A3A"/>
                          </a:solidFill>
                          <a:latin typeface="Segoe UI" pitchFamily="34" charset="0"/>
                          <a:ea typeface="Segoe UI" pitchFamily="34" charset="-122"/>
                          <a:cs typeface="Segoe UI" pitchFamily="34" charset="-120"/>
                        </a:rPr>
                        <a:t>rien n'est signalé</a:t>
                      </a:r>
                      <a:pPr indent="0" marL="0">
                        <a:buNone/>
                      </a:pPr>
                      <a:r>
                        <a:rPr lang="en-US" sz="1150" dirty="0">
                          <a:solidFill>
                            <a:srgbClr val="1B2A3A"/>
                          </a:solidFill>
                          <a:latin typeface="Segoe UI" pitchFamily="34" charset="0"/>
                          <a:ea typeface="Segoe UI" pitchFamily="34" charset="-122"/>
                          <a:cs typeface="Segoe UI" pitchFamily="34" charset="-120"/>
                        </a:rPr>
                        <a:t> : aucun montant de repli n'existe. Un mode dérogatoire n'est pas signalé par les seuils, et un mode plus ouvert que nécessaire ne l'est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s'écarte par un </a:t>
                      </a:r>
                      <a:pPr indent="0" marL="0">
                        <a:buNone/>
                      </a:pPr>
                      <a:r>
                        <a:rPr lang="en-US" sz="1150" b="1" dirty="0">
                          <a:solidFill>
                            <a:srgbClr val="1B2A3A"/>
                          </a:solidFill>
                          <a:latin typeface="Segoe UI" pitchFamily="34" charset="0"/>
                          <a:ea typeface="Segoe UI" pitchFamily="34" charset="-122"/>
                          <a:cs typeface="Segoe UI" pitchFamily="34" charset="-120"/>
                        </a:rPr>
                        <a:t>motif d'au moins 20 caractères</a:t>
                      </a:r>
                      <a:pPr indent="0" marL="0">
                        <a:buNone/>
                      </a:pPr>
                      <a:r>
                        <a:rPr lang="en-US" sz="1150" dirty="0">
                          <a:solidFill>
                            <a:srgbClr val="1B2A3A"/>
                          </a:solidFill>
                          <a:latin typeface="Segoe UI" pitchFamily="34" charset="0"/>
                          <a:ea typeface="Segoe UI" pitchFamily="34" charset="-122"/>
                          <a:cs typeface="Segoe UI" pitchFamily="34" charset="-120"/>
                        </a:rPr>
                        <a:t>, après l'avertissement que le contrôleur le verra. L'auteur est enregistré ; un seul écartement par signalement. Avant la soumission, son auteur peut le reprendre.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Figé à la soumission, jamais effacé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soumission, les règles tournent une dernière fois et les écartements sont </a:t>
                      </a:r>
                      <a:pPr indent="0" marL="0">
                        <a:buNone/>
                      </a:pPr>
                      <a:r>
                        <a:rPr lang="en-US" sz="1150" b="1" dirty="0">
                          <a:solidFill>
                            <a:srgbClr val="1B2A3A"/>
                          </a:solidFill>
                          <a:latin typeface="Segoe UI" pitchFamily="34" charset="0"/>
                          <a:ea typeface="Segoe UI" pitchFamily="34" charset="-122"/>
                          <a:cs typeface="Segoe UI" pitchFamily="34" charset="-120"/>
                        </a:rPr>
                        <a:t>figés</a:t>
                      </a:r>
                      <a:pPr indent="0" marL="0">
                        <a:buNone/>
                      </a:pPr>
                      <a:r>
                        <a:rPr lang="en-US" sz="1150" dirty="0">
                          <a:solidFill>
                            <a:srgbClr val="1B2A3A"/>
                          </a:solidFill>
                          <a:latin typeface="Segoe UI" pitchFamily="34" charset="0"/>
                          <a:ea typeface="Segoe UI" pitchFamily="34" charset="-122"/>
                          <a:cs typeface="Segoe UI" pitchFamily="34" charset="-120"/>
                        </a:rPr>
                        <a:t>. Un signalement que le plan corrigé ne fait plus ressortir est levé, jamais effacé. Une panne du pré-contrôle n'empêche jamais de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piste n’est pas un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Sur demande explicite, l'assistant propose des </a:t>
                      </a:r>
                      <a:pPr indent="0" marL="0">
                        <a:buNone/>
                      </a:pPr>
                      <a:r>
                        <a:rPr lang="en-US" sz="1150" b="1" dirty="0">
                          <a:solidFill>
                            <a:srgbClr val="1B2A3A"/>
                          </a:solidFill>
                          <a:latin typeface="Segoe UI" pitchFamily="34" charset="0"/>
                          <a:ea typeface="Segoe UI" pitchFamily="34" charset="-122"/>
                          <a:cs typeface="Segoe UI" pitchFamily="34" charset="-120"/>
                        </a:rPr>
                        <a:t>pistes</a:t>
                      </a:r>
                      <a:pPr indent="0" marL="0">
                        <a:buNone/>
                      </a:pPr>
                      <a:r>
                        <a:rPr lang="en-US" sz="1150" dirty="0">
                          <a:solidFill>
                            <a:srgbClr val="1B2A3A"/>
                          </a:solidFill>
                          <a:latin typeface="Segoe UI" pitchFamily="34" charset="0"/>
                          <a:ea typeface="Segoe UI" pitchFamily="34" charset="-122"/>
                          <a:cs typeface="Segoe UI" pitchFamily="34" charset="-120"/>
                        </a:rPr>
                        <a:t> : fractionnement déguisé, objet imprécis, nature incohérente. Présentées autrement que les constats des règles, elles s'écartent de même et ne touchent jamais aux seuils, montants ni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Référentiel des seuils de marchés publics (pré-contrôle du PPM)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soumission et le suivi</a:t>
            </a:r>
            <a:endParaRPr lang="en-US" sz="2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Seule la PRMP soumet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est l'acte de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 elle attribue la référence du dossier. Un plan sans aucune ligne de marché est refusé. Sans mandat en cours, toute action est suspendue « en attente de nomination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brouillon se modifie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ou un plan ne se supprime qu'en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par sa PRMP, avec ses dates prévisionnelles. Après la soumission, le dossier ne se modifie plus, sauf retour officiel des observations ou retrait accepté.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fin prévue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la soumission, le dossier porte sa </a:t>
                      </a:r>
                      <a:pPr indent="0" marL="0">
                        <a:buNone/>
                      </a:pPr>
                      <a:r>
                        <a:rPr lang="en-US" sz="1150" b="1" dirty="0">
                          <a:solidFill>
                            <a:srgbClr val="1B2A3A"/>
                          </a:solidFill>
                          <a:latin typeface="Segoe UI" pitchFamily="34" charset="0"/>
                          <a:ea typeface="Segoe UI" pitchFamily="34" charset="-122"/>
                          <a:cs typeface="Segoe UI" pitchFamily="34" charset="-120"/>
                        </a:rPr>
                        <a:t>date prévisionnelle de fin</a:t>
                      </a:r>
                      <a:pPr indent="0" marL="0">
                        <a:buNone/>
                      </a:pPr>
                      <a:r>
                        <a:rPr lang="en-US" sz="1150" dirty="0">
                          <a:solidFill>
                            <a:srgbClr val="1B2A3A"/>
                          </a:solidFill>
                          <a:latin typeface="Segoe UI" pitchFamily="34" charset="0"/>
                          <a:ea typeface="Segoe UI" pitchFamily="34" charset="-122"/>
                          <a:cs typeface="Segoe UI" pitchFamily="34" charset="-120"/>
                        </a:rPr>
                        <a:t>, calculée en jours ouvrés ; elle glisse tant que la main est à la PRMP. La frise date chacune des sept étapes franchies, de la réception à la clôture.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L’avancement, pas les coulisses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suivent l'avancement, pas </a:t>
                      </a:r>
                      <a:pPr indent="0" marL="0">
                        <a:buNone/>
                      </a:pPr>
                      <a:r>
                        <a:rPr lang="en-US" sz="1150" b="1" dirty="0">
                          <a:solidFill>
                            <a:srgbClr val="1B2A3A"/>
                          </a:solidFill>
                          <a:latin typeface="Segoe UI" pitchFamily="34" charset="0"/>
                          <a:ea typeface="Segoe UI" pitchFamily="34" charset="-122"/>
                          <a:cs typeface="Segoe UI" pitchFamily="34" charset="-120"/>
                        </a:rPr>
                        <a:t>qui traite</a:t>
                      </a:r>
                      <a:pPr indent="0" marL="0">
                        <a:buNone/>
                      </a:pPr>
                      <a:r>
                        <a:rPr lang="en-US" sz="1150" dirty="0">
                          <a:solidFill>
                            <a:srgbClr val="1B2A3A"/>
                          </a:solidFill>
                          <a:latin typeface="Segoe UI" pitchFamily="34" charset="0"/>
                          <a:ea typeface="Segoe UI" pitchFamily="34" charset="-122"/>
                          <a:cs typeface="Segoe UI" pitchFamily="34" charset="-120"/>
                        </a:rPr>
                        <a:t> : ni journal interne, ni acteurs des étapes. Du PV, elles reçoivent l'avis, la synthèse des observations et le document officiel, jamais le détail point par point.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versions</a:t>
            </a:r>
            <a:endParaRPr lang="en-US" sz="2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à jour, une nouvelle version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mise à jour ne modifie jamais le plan en place : elle ouvre un </a:t>
                      </a:r>
                      <a:pPr indent="0" marL="0">
                        <a:buNone/>
                      </a:pPr>
                      <a:r>
                        <a:rPr lang="en-US" sz="1150" b="1" dirty="0">
                          <a:solidFill>
                            <a:srgbClr val="1B2A3A"/>
                          </a:solidFill>
                          <a:latin typeface="Segoe UI" pitchFamily="34" charset="0"/>
                          <a:ea typeface="Segoe UI" pitchFamily="34" charset="-122"/>
                          <a:cs typeface="Segoe UI" pitchFamily="34" charset="-120"/>
                        </a:rPr>
                        <a:t>nouveau brouillon</a:t>
                      </a:r>
                      <a:pPr indent="0" marL="0">
                        <a:buNone/>
                      </a:pPr>
                      <a:r>
                        <a:rPr lang="en-US" sz="1150" dirty="0">
                          <a:solidFill>
                            <a:srgbClr val="1B2A3A"/>
                          </a:solidFill>
                          <a:latin typeface="Segoe UI" pitchFamily="34" charset="0"/>
                          <a:ea typeface="Segoe UI" pitchFamily="34" charset="-122"/>
                          <a:cs typeface="Segoe UI" pitchFamily="34" charset="-120"/>
                        </a:rPr>
                        <a:t>, copie complète du précédent, avec un motif obligatoire. Elle n'est possible que sur un plan dont la décision est transmise ou le dossier clôturé, et une seule à la fois.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lignes absentes sont supprimées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à jour s'importe en PDF : chaque ligne est rapprochée par son contenu. Une ligne absente devient </a:t>
                      </a:r>
                      <a:pPr indent="0" marL="0">
                        <a:buNone/>
                      </a:pPr>
                      <a:r>
                        <a:rPr lang="en-US" sz="1150" b="1" dirty="0">
                          <a:solidFill>
                            <a:srgbClr val="1B2A3A"/>
                          </a:solidFill>
                          <a:latin typeface="Segoe UI" pitchFamily="34" charset="0"/>
                          <a:ea typeface="Segoe UI" pitchFamily="34" charset="-122"/>
                          <a:cs typeface="Segoe UI" pitchFamily="34" charset="-120"/>
                        </a:rPr>
                        <a:t>supprimée</a:t>
                      </a:r>
                      <a:pPr indent="0" marL="0">
                        <a:buNone/>
                      </a:pPr>
                      <a:r>
                        <a:rPr lang="en-US" sz="1150" dirty="0">
                          <a:solidFill>
                            <a:srgbClr val="1B2A3A"/>
                          </a:solidFill>
                          <a:latin typeface="Segoe UI" pitchFamily="34" charset="0"/>
                          <a:ea typeface="Segoe UI" pitchFamily="34" charset="-122"/>
                          <a:cs typeface="Segoe UI" pitchFamily="34" charset="-120"/>
                        </a:rPr>
                        <a:t>, conservée et restaurable ; une ligne inconnue est créée. L'entité contractante reste celle du plan d'origine.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bascule à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version précédente passe « remplacée » à la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de la nouvelle, pas avant : une mise à jour abandonnée se supprime sans rien neutraliser. L'écart entre versions est alors figé, et l'examen ne porte que sur les lignes changées.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 et jalons</a:t>
            </a:r>
            <a:endParaRPr lang="en-US" sz="2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retrait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avec un motif et sa </a:t>
                      </a:r>
                      <a:pPr indent="0" marL="0">
                        <a:buNone/>
                      </a:pPr>
                      <a:r>
                        <a:rPr lang="en-US" sz="1150" b="1" dirty="0">
                          <a:solidFill>
                            <a:srgbClr val="1B2A3A"/>
                          </a:solidFill>
                          <a:latin typeface="Segoe UI" pitchFamily="34" charset="0"/>
                          <a:ea typeface="Segoe UI" pitchFamily="34" charset="-122"/>
                          <a:cs typeface="Segoe UI" pitchFamily="34" charset="-120"/>
                        </a:rPr>
                        <a:t>lettre datée et signée</a:t>
                      </a:r>
                      <a:pPr indent="0" marL="0">
                        <a:buNone/>
                      </a:pPr>
                      <a:r>
                        <a:rPr lang="en-US" sz="1150" dirty="0">
                          <a:solidFill>
                            <a:srgbClr val="1B2A3A"/>
                          </a:solidFill>
                          <a:latin typeface="Segoe UI" pitchFamily="34" charset="0"/>
                          <a:ea typeface="Segoe UI" pitchFamily="34" charset="-122"/>
                          <a:cs typeface="Segoe UI" pitchFamily="34" charset="-120"/>
                        </a:rPr>
                        <a:t> (PDF de 10 Mo au plus), tant que le PV n'est pas signé. Une seule demande en attente par dossier ; le Chef de commission ou le Président décide, et la demande devient caduque si le PV est signé entre-temps.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retrait accepté remet le dossier 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et efface son passage dans le circuit ; le journal et le chronométrage sont conservés. Un refus laisse le dossier inchangé. La PRMP suit le statut de sa demande, sans voir qui l'a tranchée.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alerte par jalon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calendrier présente les jalons de lancement, d'ouverture et d'attribution. Chaque jalon donne lieu à </a:t>
                      </a:r>
                      <a:pPr indent="0" marL="0">
                        <a:buNone/>
                      </a:pPr>
                      <a:r>
                        <a:rPr lang="en-US" sz="1150" b="1" dirty="0">
                          <a:solidFill>
                            <a:srgbClr val="1B2A3A"/>
                          </a:solidFill>
                          <a:latin typeface="Segoe UI" pitchFamily="34" charset="0"/>
                          <a:ea typeface="Segoe UI" pitchFamily="34" charset="-122"/>
                          <a:cs typeface="Segoe UI" pitchFamily="34" charset="-120"/>
                        </a:rPr>
                        <a:t>une seule alerte</a:t>
                      </a:r>
                      <a:pPr indent="0" marL="0">
                        <a:buNone/>
                      </a:pPr>
                      <a:r>
                        <a:rPr lang="en-US" sz="1150" dirty="0">
                          <a:solidFill>
                            <a:srgbClr val="1B2A3A"/>
                          </a:solidFill>
                          <a:latin typeface="Segoe UI" pitchFamily="34" charset="0"/>
                          <a:ea typeface="Segoe UI" pitchFamily="34" charset="-122"/>
                          <a:cs typeface="Segoe UI" pitchFamily="34" charset="-120"/>
                        </a:rPr>
                        <a:t>, à son entrée dans les sept jours qui le précèdent, sans second rappel.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03</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Contrôler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dossier traverse la Commission : recevabilité, dispatch, examen séquentiel, projet de PV, visa, co-signature ; puis vérification, transmission à SIGMP et archivage.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arrive chez le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rrive chez le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38099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 les dépôts à numéroter, du plus ancien au plus récent.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RG-CTL-05</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Recevabilité et récep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contrôle de complétude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pièce par pièce ; une pièce manquante se signale à la PRMP.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de réception ; le dossier reçoit son numéro.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RG-CTL-02 · RG-CTL-03 · RG-CTL-04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attend son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ttend son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266693" cy="80962"/>
          </a:xfrm>
          <a:prstGeom prst="rect">
            <a:avLst/>
          </a:prstGeom>
          <a:solidFill>
            <a:srgbClr val="E9EDF2"/>
          </a:solidFill>
          <a:ln w="6350">
            <a:solidFill>
              <a:srgbClr val="D5DCE4"/>
            </a:solidFill>
            <a:prstDash val="solid"/>
          </a:ln>
        </p:spPr>
      </p:sp>
      <p:sp>
        <p:nvSpPr>
          <p:cNvPr id="7" name="Shape 4"/>
          <p:cNvSpPr/>
          <p:nvPr/>
        </p:nvSpPr>
        <p:spPr>
          <a:xfrm>
            <a:off x="6360953" y="3578225"/>
            <a:ext cx="652446" cy="76200"/>
          </a:xfrm>
          <a:prstGeom prst="rect">
            <a:avLst/>
          </a:prstGeom>
          <a:solidFill>
            <a:srgbClr val="E9EDF2"/>
          </a:solidFill>
          <a:ln w="6350">
            <a:solidFill>
              <a:srgbClr val="D5DCE4"/>
            </a:solidFill>
            <a:prstDash val="solid"/>
          </a:ln>
        </p:spPr>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(ou le Chef de commission) voit les dossiers reçus à attribuer.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RG-CTL-06 · RG-CTL-07 · RG-CTL-08</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Dispatcher à un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ispatcher à un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assigné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charge en cours pour équilibrer ; une consigne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Chef de commission est associé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RG-CTL-08 · RG-CTL-09 · RG-CTL-10 · RG-CTL-11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reçoit le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reçoit l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18097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avec le délai d’examen et la consigne du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RG-CTL-37</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séquentiel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séquenti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Six étapes dans l’ordre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 lignes du plan, projet d’AGPM, pièces, contrôles du dossier, synthèse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point est « RAS » ou porte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observation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pas de texte, pas d’observation.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synthèse propose un avis cohérent avec ce qui a été relevé (ici, en lecture après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RG-CTL-15 · RG-CTL-16 · RG-CTL-17 · RG-CTL-18 · RG-CTL-19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projet de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rojet de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soumis produit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l’avis et les observations.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le soumet au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RG-CTL-19 · RG-CTL-20 · RG-CTL-21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visa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visa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arrête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global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désigne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co-signataire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pose sa part de signature, en un geste.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il retourne le projet, ou il rédige une lettre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RG-CTL-22 · RG-CTL-23 · RG-CTL-24 · RG-CTL-25 · RG-CTL-26 · RG-CTL-28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 CO-SIGNATAIRE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signature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econde signa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 co-signataire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est signé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deux personnes distinctes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seconde signature clôt la navette.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RG-CTL-26 · RG-CTL-27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signature : le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près la signature : le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1494" y="1744663"/>
            <a:ext cx="414327"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à vérifier, et les décisions à transmettre.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 · RG-CTL-30 · RG-CTL-31</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Transmettre la décision à SIGMP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ransmettre la décision à SIG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un avis favorable, la décision part vers le système SIGMP ; pour un avis avec réserves, il suit d’abord leur levée.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L’archivage du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rchivage du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L’Assistant archive le PV définitif : le dossier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voit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e que voit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frise avance à chaque geste ; la PRMP est notifiée.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RG-CTL-03 · RG-CTL-29 · RG-CTL-43 · RG-CTL-44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définitifs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définitif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signé est à elle dès sa signature ; la ligne du plan peut désormais porter un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du périmètre (national pour le Président, sa localité pour le Chef de commission), chacun avec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frise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actions se font dans la ligne : numéroter, dispatcher, examiner — selon les délégations actives.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RG-CTL-10 · RG-CTL-42 · RG-CTL-45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 vus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vus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liste, au périmètre du Secrétaire ; l’étape en cours de chaque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RG-CTL-04 · RG-CTL-05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répartition du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épartition du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charge de chaque membre : dossiers dispatchés, examens en cours ; pour équilibrer le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RG-CTL-11 · RG-CTL-12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de dossiers : trois productions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e dossiers : trois produc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cartes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projets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définitifs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lettres de renvoi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productions d’un même examen ; la liste s’ouvre sous la carte.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PV et lettres de renvoi, vus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V et lettres de renvoi, vus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regroupement pour le Membre : ses projets de PV, les PV définitifs, les lettres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rattaché à un Vérificateur, chaque Vérificateur à un Assistant.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oriente les files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contrôle des réserves ; il n’interdit rien. Tenu par l’Administrateur, le Président, et le Chef de commission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Statuer sur les demandes de retrait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tatuer sur les demandes de retra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Accepter remet le dossier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chez la PRMP et purge son circuit ; refuser garde le dossier dans le circuit.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RG-CTL-39 · RG-CTL-40 · RG-CTL-41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vérifier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vér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 avis favorable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transmettre la décision à SIGMP</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avec réserves → statuer sur chaque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RG-CTL-32 · RG-CTL-33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vérifiés et clôturés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vérifiés et clôtur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de ses vérifications, avec leur issue.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PV reçus par l’Assistant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V reçus par l’Assista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reçus en copie ;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archivage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clôt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et lettres de renvoi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et lettres de renvo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de ses dossiers, et les lettres de renvoi qui lui demandent des compléments.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rectifier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rect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revenus avec des observations maintenues : rectifier, puis resoumettre.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du contrôle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Avis favorable avec réserves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Vérificateur statue sur chaque observation ; la PRMP rectifie par import.</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lettre de renvoi</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observations maintenues ; les compléments transmis ; le réexamen.</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navette du PV à deux niveaux</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projet de PV renvoyé au Membre, puis repris.</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délais de la frise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dates et l’acteur de chaque étape, en infobulle.</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recevabilité d’une pièce au dépôt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t_verification_piece_depot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Vérification PIÈCE PAR PIÈCE des pièces jointes par le SECRÉTAIRE avant enregistrement de la réception (contrôle de complétude).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réception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t_reception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dispatch</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t_dispatch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copie d’un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t_copie_dossier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réponse à un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t_examen_detail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 d’une pièce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Entité JPA mappée sur t_examen_piece (table additive ddl-auto) : résultat d'examen d'une pièce jointe du dossier, une par une (miroir de ExamenDetail pour les lignes de marché). conforme = RAS ; sinon observation porte le constat.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procès-verbal d’examen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navette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t_pv_navette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t_observation_pv</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PÉRIMÈTRE FIGÉ des observations transmises à la PRMP : snapshot des observations de l'EXAMEN telles qu'arrêtées dans le PV (lignes « Au lieu de / Lire » des points non conformes + observations des pièces non conformes), généré à la signature du PV FAVR.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t_observation_controle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suivi d’une observation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t_suivi_observation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HISTORIQUE append-only des décisions du vérificateur sur une observation du périmètre figé ObservationPv : une ligne par décision et par itération (LEVÉE = satisfaite, définitive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vérification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lecture d’une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t_lettre_renvoi_lue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transmission à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t_transmission_sigmp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Transmission du sens de la décision de la Commission vers SIGMP (application tierce, interop PRS 2.0 ↔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suspension (dossier chez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t_suspension_dossier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ligne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Instantané pré-correction d'une ligne de marché, figé au premier PUT /api/saisies/ppm/{id} d'un cycle de rectification (dossier EN_ATTENTE_DECISION_PRMP).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lot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lot d'une ligne figée (SnapshotRectifLigne), copié de Lot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prévision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date prévisionnelle (processus idCapm) d'une ligne figée (SnapshotRectifLigne), copiée de MarchePrevision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bénéficiaire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service bénéficiaire d'une ligne figée (SnapshotRectifLigne), copié de ServiceBeneficiaire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recevabilité d’une pièce au dépôt  ·  t_verification_piece_depot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verif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attendu (référentiel t_type_piece_jointe).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déposée vérifiée (t_piece_jointe_dossier) — null si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CONFORME / NON_CONFORME /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libre (motif du rejet / nature du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IM_SECRETAIRE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secrétaire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Secrétaire auteur de la décision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réception  ·  t_reception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allouée par le serveur au POST (id client ignoré, non envoyé) ; présente en réponse, utilisée par le dispatch.</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IM_CTRL_RECEPT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réception par le secrétariat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COMPLET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Complet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le dossier passe en PRET_DISPATCH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Référence officielle de la réception — snapshot immuable de la forme /// figé au POST.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dispatch  ·  t_dispatch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du dispatch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DATE_CTRL_ASSIGNE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contrôle assigne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INSTRUCTIONS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Instructions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Président → false ; CC dans sa localité → false ; CC hors localité → true (sinon 409). Forcé à false sous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Non nul quand le dispatch (ou la réattribution) a été posé par un intérimaire désigné (t_interim). imCtrlDispatch porte alors le titulaire, pas l'intérimaire (ADR-0008) : c'est le dispatcheur que l'aval reconnaît — visa, retrait, discriminant de la navette à deux niveaux.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copie d’un dossier  ·  t_copie_dossier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IM_DESTINATAIRE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destinataire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ACCUSE_RECEPTION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Accusé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accusé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  t_examen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réponse à un point de contrôle  ·  t_examen_detail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examinée (FK t_marche, colonne additive ddl-auto, nullable) : résultat porté par ligne pour un point de portée LIGNE (un ExamenDetail par marché × point) ; null pour un point de portée DOSSIER (inter-lignes) et pour les examens historiques (résultat au niveau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ID_PT_CONTROLE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OBS_SI_NON_CONFORME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si non 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d’une pièce  ·  t_examen_piece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jointe examinée (t_piece_jointe_dossier.ID_PIECE).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RAS = true ; sinon observation porte le constat.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si non conforme (texte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procès-verbal d’examen  ·  t_pv_examen  ·  27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l'avis n'est posé qu'à la clôture de navette (accepter).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SYNTHESE_OBSERVATIONS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Synthese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NB_NAVETTES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navettes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DATE_SOUMISSION_INITIALE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 initiale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DATE_ACCEPTATION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acceptation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dérivée du dossier (refeDossier avec /PV avant l'année) — auto-générée à la création,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ID_SECRETAIRE_SEANCE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secrétaire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désigné Secrétaire de séance à la soumission de l'examen (FK tr_controleur).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IM_MEMBRE_COSIGNATAIRE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membre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 désigné par le Président ou le Chef de commission au moment de signer, seul habilité à poser la part Membre.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VISE_PAR_INTERIM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Vise par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le visa a été posé par un P/CC autre que le dispatcheur, justifié par la note ci-dessous.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d'intérim (PDF) justifiant l'absence du dispatcheur — stockée en base, comme les pièces jointes et non comme le PDF du PV : le visa étant atomique, un rollback ne doit pas laisser de fichier orphelin sur le FSX. / @Column(name = "NOTE_INTERIM") private byte[] noteInterim; @Column(name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titulaire suppléé au visa (dispatcheur, ou Président sur deux niveaux) ; nul hors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Étage courant du projet dans la navette Président ↔ CC ↔ Membre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IM_CC_COSIGNATAIRE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cc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Chef de commission désigné par le Président au visa, appelé à poser SA part de signature.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Chemin du PDF du Projet de PV sur le FSX (renseigné si le PV est éligible à la génération).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du PV par l'Assistant contrôleur (l'archivage clôt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navette du PV  ·  t_pv_navette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du PV  ·  t_observation_pv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PV signé (FAVR) dont les observations constituent le périmètre.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Origine : POINT (grille de contrôle) ou PIECE (pièce 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d'observation d'origine (t_observation_controle.ID_OBSERVATION) — POINT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Résultat de pièce d'origine (t_examen_piece.ID_EXAMEN_PIECE) — PIECE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d'examen visée (t_examen_detail.ID_DETAIL_EXAMEN), figée au snapshot pour toute observation POINT, avec ou sans ligne détaillée « Au lieu de / Lire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Cellule visée, recopiée de la ligne d'observation (t_observation_controle) au snapshot ; null pour une PIECE ou un point sans ligne détaillée.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recopiée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recopié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recopiée de la ligne d'observation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de la fiche visée (CODE ou CODEn),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figé à l'observation et recopié.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à l'observation et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recopiée ; null si inconnue.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FIGÉ de l'observation (contexte + demande), tel qu'arrêté au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de contrôle  ·  t_observation_controle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 IDENTITY).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contrôle concerné (FK vers t_examen_detail.ID_DETAIL_EXAMEN).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AU_LIEU_DE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 lieu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de saisie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 : NATURE, OBJET, MONT_ESTIM, NOUV_MONT_ESTIM, MODE, FINANCEMENT, LANCEMENT, OUVERTURE, ATTRIBUTION, SOA, COMPTE, MONT_BENEF, NOUV_MONT_BENEF, DEROGATOIRES_OBJET…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de la cellule du document visée par la ligne ; null = aucune cellule, comportement antérieur.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sans FK ; null sans champ.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colonnes par bénéficiaire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(t_dossier_mec.ID_DMC) : celle du dossier examiné, validée par ObservationFicheValidateur.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visée : B04-VO-01, ou B05-GS-032 pour le lot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au référentiel, figé quand l'observation est posée.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quand l'observation est posée (la fiche peut être révisée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 null si inconnue (avant V49).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suivi d’une observation  ·  t_suivi_observation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ID_SUIVI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suivi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ITERATION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Iteration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d'itération du cycle rectification / vérification (1, 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LEVEE ou MAINTENUE.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Précision du vérificateur sur ce qui manque (MAINTENUE seulement, facultative).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vérification  ·  t_verification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vérification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côté serveur (IDENTITY) ; non envoyé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OBS_LEVEES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levees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dossier CLOTURE + notification publication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motif de rectification saisi par la PRMP à la resoumission (visible côté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renvoi  ·  t_lettre_renvoi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Lecture seule (dérivé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serveur : ///LR/.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Corps libre de la lettre de renvoi (TEXT, nullable).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d'examen du dossier (reprise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 la lettre, posée serveur (jour de la soumission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BROUILLON / SOUMIS / SIGNE (forcé serveur).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IM du signataire (CC ou Président), posé à la signature depuis le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PDF de la lettre signée (bytea ; H2 : grand varbinary).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de la lettre par l'Assistant contrôleur (même circuit que les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lecture d’une lettre de renvoi  ·  t_lettre_renvoi_lue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Périmètre de tutelle de la trace (PRMP du dossier) — conservé, mais ne porte plus l'unicité.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LOGIN_AGENT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agent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Agent auteur de la lecture : login du compte (t_compte_auth.LOGIN, claim sub).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transmission à SIGMP  ·  t_transmission_sigmp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Sens transmis : APPROUVE (FAV, ou FAVR après levée) / NON_APPROUVE (DEF, NSP).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LEVEE_OBSERVATIONS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Levée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la transmission porte AUSSI la levée des observations (cas 2, fin de boucle FAVR).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auteur de la transmission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d'envoi vers SIGMP : ENREGISTREE (interop réelle à brancher plus tard).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suspension (dossier chez la PRMP)  ·  t_suspension_dossier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(LONGUEUR_STATUT)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de STATUT, lue aussi par la garde prealable du chronometrage. */ public static final int LONGUEUR_STATUT = 40; @Id @Column(name = "ID_SUSPENSION", nullable = false) private Integer idSuspension; @Column(name = "ID_DOSSIER", nullable = false) private Integer idDossier; /** Statut suspensif…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 tant que la PRMP n'a pas rendu la main.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ligne avant rectification  ·  t_snapshot_rectif_ligne  ·  23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archivée à laquelle la ligne appartient (t_version_dossier.ID_VERSION).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de la ligne de marché (t_marche.ID_DETAIL) — stable en rectification (structure figée).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l'énumération FormeMarche au moment du gel (null si non renseignée).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EMP_BENEFICIAIRES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beneficiaires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Empreintes normalisées des collections au moment du gel (mêmes formats que le diff des versions).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lot avant rectification  ·  t_snapshot_rectif_lot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prévision avant rectification  ·  t_snapshot_rectif_prevision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ID_SNAPSHOT_PREV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prévu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bénéficiaire avant rectification  ·  t_snapshot_rectif_beneficiaire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45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Recevabilité et réception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Contrôle pièce par pièce au dépôt · Pas de réception sans pièces obligatoires · Signalement des pièces manquantes · Référence officielle générée à la réception · Réception dans sa seule localité · Dossier complet, prêt à dispatcher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Dispatch et délégation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RG-CTL-07 → 13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dispatch : attribuer à un Membre · Centrale : dispatch réservé au Président · Un attributaire capable d’examiner · Délégation ascendante : neuf paires · Réattribution par le Chef de commission · Seul le dispatcheur retire le dispatch · Chaînes Membre, Vérificateur, Assistant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Examen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RG-CTL-14 → 20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Seul l’attributaire examine · Examen point par point, en brouillon · Observation ciblée sur une cellule · On ne contrôle pas le vide · Réinitialiser un examen non soumis · La soumission porte l’avis du Membre · Soumettre engage le seul examinateur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PV : navette, visa et signature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RG-CTL-21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Navette du projet de PV · Visa réservé au dispatcheur · Visa par intérim sur note · L’examinateur ne vise pas · Navette à deux niveaux · Deux signataires distincts au moins · PV définitif quand toutes parts signées · Plus de Secrétaire de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Vérification et réserves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RG-CTL-29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Tout PV signé passe au Vérificateur · FAVR : la PRMP rectifie d’abord · Observations figées au PV · Lever ou maintenir chaque observation · Le Vérificateur voit la rectification · Transmission du sens à SIGMP · L’archivage clôt le dossier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Renvoi et rectification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RG-CTL-36 → 38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Lettre de renvoi signée par la Commission · Renvoi : examen suspendu, puis réexamen · Rectification bornée à trois lignes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Retraits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RG-CTL-39 → 41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Retrait possible jusqu’au PV signé · Décision du Chef de commission ou Président · Retrait accepté : retour au brouillon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Délais et chronométrage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RG-CTL-42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délai se mesure, sans saisie · L’attente de la PRMP est suspendue · Date prévisionnelle annoncée dès le dépôt · Chaque passage imputé à son auteur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Contrôle pièce par pièce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d'enregistrer la réception, le Secrétaire confronte chaque pièce déposée à la liste de référence du type de dossier et la déclare conforme, non conforme ou manquante. Chaque décision est historisée avec son auteur et son heure.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réception sans pièces obligatoires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est refusée tant qu'une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n'a pas pour dernière décision « conforme » ; le message nomme les pièces en cause.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Signalement des pièces manquantes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signale les pièces en défaut : la PRMP est notifiée et le dossier attend ses compléments au dépôt. À la reprise, les pièces déjà conformes restent acquises ; seules les pièces en défaut sont revérifiées.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Référence officielle générée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donne au dossier sa </a:t>
                      </a:r>
                      <a:pPr indent="0" marL="0">
                        <a:buNone/>
                      </a:pPr>
                      <a:r>
                        <a:rPr lang="en-US" sz="1150" b="1" dirty="0">
                          <a:solidFill>
                            <a:srgbClr val="1B2A3A"/>
                          </a:solidFill>
                          <a:latin typeface="Segoe UI" pitchFamily="34" charset="0"/>
                          <a:ea typeface="Segoe UI" pitchFamily="34" charset="-122"/>
                          <a:cs typeface="Segoe UI" pitchFamily="34" charset="-120"/>
                        </a:rPr>
                        <a:t>référence officielle</a:t>
                      </a:r>
                      <a:pPr indent="0" marL="0">
                        <a:buNone/>
                      </a:pPr>
                      <a:r>
                        <a:rPr lang="en-US" sz="1150" dirty="0">
                          <a:solidFill>
                            <a:srgbClr val="1B2A3A"/>
                          </a:solidFill>
                          <a:latin typeface="Segoe UI" pitchFamily="34" charset="0"/>
                          <a:ea typeface="Segoe UI" pitchFamily="34" charset="-122"/>
                          <a:cs typeface="Segoe UI" pitchFamily="34" charset="-120"/>
                        </a:rPr>
                        <a:t> : numéro à cinq chiffres, type de dossier, CNM ou CRM et localité, exercice. Chaque contexte a son propre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Réception dans sa seule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ne réceptionne que les dossiers de sa localité, au passage initial seulement. Le Président et le Chef de commission peuvent enregistrer la réception à sa place, par délégation.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Dossier complet, prêt à dispatcher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que la réception est complète, le dossier passe « prêt à dispatcher » et le Président et le Chef de commission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Contrôle de complétude des pièces au dépôt (spec recevabilité 2026-08-02) · Réceptions · 3.4. Secrétaire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(1/2)</a:t>
            </a:r>
            <a:endParaRPr lang="en-US" sz="26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 : attribuer à un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voit la file des dossiers complets de toutes les localités et les attribue à un Membre, avec instructions et date limite. Le Chef de commission dispatche les dossiers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Centrale : dispatch réservé au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 dossier de la Centrale, seul le Président dispatche et seul lui est notifié. Le Chef de commission n'y agit que sur un dossier que le Président lui a confié ou qu'il a lui-même réattribué.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attributaire capable d’examiner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ne s'attribue qu'à un Membre titulaire ou à un contrôleur autorisé par délégation à la tâche de Membre. Le Président ou le Chef de commission peut ainsi se l'attribuer à lui-même : c'est le circuit court.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 ascendante : neuf paires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exercer les tâches du Secrétaire, du Chef de commission, du Membre, du Vérificateur et de l'Assistant ; le Chef de commission celles du Secrétaire, du Membre, du Vérificateur et de l'Assistant. La délégation n'est pas transitive et n'ouvre aucun </a:t>
                      </a:r>
                      <a:pPr indent="0" marL="0">
                        <a:buNone/>
                      </a:pPr>
                      <a:r>
                        <a:rPr lang="en-US" sz="1150" b="1" dirty="0">
                          <a:solidFill>
                            <a:srgbClr val="1B2A3A"/>
                          </a:solidFill>
                          <a:latin typeface="Segoe UI" pitchFamily="34" charset="0"/>
                          <a:ea typeface="Segoe UI" pitchFamily="34" charset="-122"/>
                          <a:cs typeface="Segoe UI" pitchFamily="34" charset="-120"/>
                        </a:rPr>
                        <a:t>acte d'identité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Réattribution par le Chef de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peut réattribuer à un Membre le dossier que le Président lui a dispatché ; le nouvel attributaire est notifié, l'ancien est prévenu. La réattribution est refusée dès qu'un examen est entamé.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dispatcheur retire le dispatch</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le dispatcheur retire un dispatch. Le Chef de commission à la fois dispatcheur et attributaire ne se retire pas le dossier : c'est le Président qui le lui retire.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3.3. Chef de commission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(2/2)</a:t>
            </a:r>
            <a:endParaRPr lang="en-US" sz="26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dans la même localité. Ce </a:t>
                      </a:r>
                      <a:pPr indent="0" marL="0">
                        <a:buNone/>
                      </a:pPr>
                      <a:r>
                        <a:rPr lang="en-US" sz="1150" b="1" dirty="0">
                          <a:solidFill>
                            <a:srgbClr val="1B2A3A"/>
                          </a:solidFill>
                          <a:latin typeface="Segoe UI" pitchFamily="34" charset="0"/>
                          <a:ea typeface="Segoe UI" pitchFamily="34" charset="-122"/>
                          <a:cs typeface="Segoe UI" pitchFamily="34" charset="-120"/>
                        </a:rPr>
                        <a:t>rattachement</a:t>
                      </a:r>
                      <a:pPr indent="0" marL="0">
                        <a:buNone/>
                      </a:pPr>
                      <a:r>
                        <a:rPr lang="en-US" sz="1150" dirty="0">
                          <a:solidFill>
                            <a:srgbClr val="1B2A3A"/>
                          </a:solidFill>
                          <a:latin typeface="Segoe UI" pitchFamily="34" charset="0"/>
                          <a:ea typeface="Segoe UI" pitchFamily="34" charset="-122"/>
                          <a:cs typeface="Segoe UI" pitchFamily="34" charset="-120"/>
                        </a:rPr>
                        <a:t> oriente notifications et files sans rien verrouiller : sans chaîne, tous les porteurs du rôle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(1/2)</a:t>
            </a:r>
            <a:endParaRPr lang="en-US" sz="26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l’attributaire examine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Quel que soit son profil, seul l'</a:t>
                      </a:r>
                      <a:pPr indent="0" marL="0">
                        <a:buNone/>
                      </a:pPr>
                      <a:r>
                        <a:rPr lang="en-US" sz="1150" b="1" dirty="0">
                          <a:solidFill>
                            <a:srgbClr val="1B2A3A"/>
                          </a:solidFill>
                          <a:latin typeface="Segoe UI" pitchFamily="34" charset="0"/>
                          <a:ea typeface="Segoe UI" pitchFamily="34" charset="-122"/>
                          <a:cs typeface="Segoe UI" pitchFamily="34" charset="-120"/>
                        </a:rPr>
                        <a:t>attributaire</a:t>
                      </a:r>
                      <a:pPr indent="0" marL="0">
                        <a:buNone/>
                      </a:pPr>
                      <a:r>
                        <a:rPr lang="en-US" sz="1150" dirty="0">
                          <a:solidFill>
                            <a:srgbClr val="1B2A3A"/>
                          </a:solidFill>
                          <a:latin typeface="Segoe UI" pitchFamily="34" charset="0"/>
                          <a:ea typeface="Segoe UI" pitchFamily="34" charset="-122"/>
                          <a:cs typeface="Segoe UI" pitchFamily="34" charset="-120"/>
                        </a:rPr>
                        <a:t> courant du dispatch crée, modifie et soumet l'examen. Ni le dispatcheur ni le Chef de commission en copie ne peuvent examiner.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Examen point par point, en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statue chaque point de contrôle, conforme ou non, avec son observation ; il enregistre et reprend plus tard sans faire avancer le dossier. L'examen reste modifiable jusqu'à la signature du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 ciblée sur une cellule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ligne « Au lieu de / Lire » peut viser la cellule qu'elle corrige : colonne du PPM, de la fiche de présentation ou du projet d'AGPM, ou information de la fiche DAO. Cette cible suit l'observation jusqu'à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contrôle pas le vide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points de contrôle de la fiche de présentation et du projet d'AGPM ne sont exigés que si le document a du contenu. Chaque document est jugé séparément.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Réinitialiser un examen non soumis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peut </a:t>
                      </a:r>
                      <a:pPr indent="0" marL="0">
                        <a:buNone/>
                      </a:pPr>
                      <a:r>
                        <a:rPr lang="en-US" sz="1150" b="1" dirty="0">
                          <a:solidFill>
                            <a:srgbClr val="1B2A3A"/>
                          </a:solidFill>
                          <a:latin typeface="Segoe UI" pitchFamily="34" charset="0"/>
                          <a:ea typeface="Segoe UI" pitchFamily="34" charset="-122"/>
                          <a:cs typeface="Segoe UI" pitchFamily="34" charset="-120"/>
                        </a:rPr>
                        <a:t>réinitialiser</a:t>
                      </a:r>
                      <a:pPr indent="0" marL="0">
                        <a:buNone/>
                      </a:pPr>
                      <a:r>
                        <a:rPr lang="en-US" sz="1150" dirty="0">
                          <a:solidFill>
                            <a:srgbClr val="1B2A3A"/>
                          </a:solidFill>
                          <a:latin typeface="Segoe UI" pitchFamily="34" charset="0"/>
                          <a:ea typeface="Segoe UI" pitchFamily="34" charset="-122"/>
                          <a:cs typeface="Segoe UI" pitchFamily="34" charset="-120"/>
                        </a:rPr>
                        <a:t> son examen tant qu'aucun projet de PV n'existe : points, observations et résultats de pièces sont effacés d'un geste. Le temps écoulé continue de compter et l'effacement est tracé au journal.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soumission porte l’avis du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soumet son examen avec son avis (FAV, FAVR, DEF ou NSP) ; la soumission crée le projet de PV et le dossier devient « examiné ». L'avis doit être cohérent avec les observations relevées.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3.5. Membre · 2. Circuit de contrôle (workflow) · « On ne contrôle pas le vide » (règle du pilote, 2026-09-04) · Réinitialiser un examen en cours (demande front du 2026-09-21, question du pilote sur le dossier 00002)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(2/2)</a:t>
            </a:r>
            <a:endParaRPr lang="en-US" sz="26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Soumettre engage le seul examinateur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et la re-soumission du projet de PV sont réservées à l'examinateur, même face à un supérieur agissant par délégation. Corriger le projet pour un collègue absent reste permis : seul le geste qui engage est nominatif.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(1/2)</a:t>
            </a:r>
            <a:endParaRPr lang="en-US" sz="26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du projet de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peut retourner le projet au Membre autant de fois que nécessaire, avec un commentaire obligatoire ; le Membre corrige synthèse et avis puis resoumet. Chaque aller-retour est tracé.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réservé au dispatcheur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navette se clôt par le </a:t>
                      </a:r>
                      <a:pPr indent="0" marL="0">
                        <a:buNone/>
                      </a:pPr>
                      <a:r>
                        <a:rPr lang="en-US" sz="1150" b="1" dirty="0">
                          <a:solidFill>
                            <a:srgbClr val="1B2A3A"/>
                          </a:solidFill>
                          <a:latin typeface="Segoe UI" pitchFamily="34" charset="0"/>
                          <a:ea typeface="Segoe UI" pitchFamily="34" charset="-122"/>
                          <a:cs typeface="Segoe UI" pitchFamily="34" charset="-120"/>
                        </a:rPr>
                        <a:t>visa</a:t>
                      </a:r>
                      <a:pPr indent="0" marL="0">
                        <a:buNone/>
                      </a:pPr>
                      <a:r>
                        <a:rPr lang="en-US" sz="1150" dirty="0">
                          <a:solidFill>
                            <a:srgbClr val="1B2A3A"/>
                          </a:solidFill>
                          <a:latin typeface="Segoe UI" pitchFamily="34" charset="0"/>
                          <a:ea typeface="Segoe UI" pitchFamily="34" charset="-122"/>
                          <a:cs typeface="Segoe UI" pitchFamily="34" charset="-120"/>
                        </a:rPr>
                        <a:t> du Président ou du Chef de commission qui a dispatché : il arrête l'avis, désigne le co-signataire et signe sa part. Tout autre ne vise que par 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par intérim sur note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Président ou Chef de commission non dispatcheur, compétent pour la localité, vise en joignant une note d'intérim en PDF. La mention « par intérim » ne figure que sur les PV régionaux ; la note reste fermée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L’examinateur ne vise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Celui qui a examiné un dossier ne vise ni ne retourne le projet de PV, même par intérim, sauf s'il s'est dispatché le dossier à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à deux niveaux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Président a dispatché au Chef de commission, qui a réattribué à un Membre, le Membre soumet au Chef de commission, qui retourne ou transmet au Président ; le Président retourne au Chef de commission ou vise. Rien ne saute d'étage.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Deux signataires distincts au moins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viseur désigne ses co-signataires : au moins une autre personne, trois signataires au plus, un seul par rôle. Le PV n'imprime que les lignes des désignés.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2. Circuit de contrôle (workflow) · À qui appartient un passage (constats de recette, 2026-09-04 ; revus le 2026-09-12) · La navette du PV à DEUX NIVEAUX et la co-signature élargie (règle du pilote, 2026-09-04) · La co-signature élargie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(2/2)</a:t>
            </a:r>
            <a:endParaRPr lang="en-US" sz="26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PV définitif quand toutes parts 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est signé quand la part du viseur et celle de chaque désigné sont posées. La part Membre ne se délègue pas : seul le Membre désigné la signe.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Plus de Secrétaire de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ne désigne plus de Secrétaire de séance, ni au visa ni à la soumission de l'examen. Les PV visés avant ce retrait gardent leur mention.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co-signature élargie · Le Secrétaire de séance est retiré du cycle du PV (règle du pilote, 2026-09-02)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(1/2)</a:t>
            </a:r>
            <a:endParaRPr lang="en-US" sz="26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PV signé passe au Vérificateur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 avis ne clôt le dossier à la signature : le PV est transmis à la PRMP et le dossier part en vérification. Pour un avis FAV, DEF ou NSP, le Vérificateur n'a plus qu'à transmettre la décision à SIGMP.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FAVR : la PRMP rectifie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co-signature d'un PV FAVR, le PV et ses observations partent à la PRMP, qui rectifie. Sa </a:t>
                      </a:r>
                      <a:pPr indent="0" marL="0">
                        <a:buNone/>
                      </a:pPr>
                      <a:r>
                        <a:rPr lang="en-US" sz="1150" b="1" dirty="0">
                          <a:solidFill>
                            <a:srgbClr val="1B2A3A"/>
                          </a:solidFill>
                          <a:latin typeface="Segoe UI" pitchFamily="34" charset="0"/>
                          <a:ea typeface="Segoe UI" pitchFamily="34" charset="-122"/>
                          <a:cs typeface="Segoe UI" pitchFamily="34" charset="-120"/>
                        </a:rPr>
                        <a:t>resoumission</a:t>
                      </a:r>
                      <a:pPr indent="0" marL="0">
                        <a:buNone/>
                      </a:pPr>
                      <a:r>
                        <a:rPr lang="en-US" sz="1150" dirty="0">
                          <a:solidFill>
                            <a:srgbClr val="1B2A3A"/>
                          </a:solidFill>
                          <a:latin typeface="Segoe UI" pitchFamily="34" charset="0"/>
                          <a:ea typeface="Segoe UI" pitchFamily="34" charset="-122"/>
                          <a:cs typeface="Segoe UI" pitchFamily="34" charset="-120"/>
                        </a:rPr>
                        <a:t>, motivée, ouvre la vérification et notifie le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Observations figées au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observations suivies sont exclusivement celles arrêtées au PV signé, aux libellés figés ; aucun acteur ne peut en ajouter, et le Vérificateur ne rédige aucun texte libre.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Lever ou maintenir chaque observation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passage, le Vérificateur statue chaque observation : levée ou maintenue, avec une précision facultative. Une levée est acquise ; une seule maintenue renvoie le dossier à la PRMP, et la boucle reprend.</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Vérificateur voit la rectification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statuer, le Vérificateur compare la version d'avant et celle d'après la rectification. Chaque version remplacée est archivée, en lecture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Transmission du sens à SIGMP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Vérificateur transmet le sens de la décision, déduit de l'avis : FAV donne approuvé, DEF et NSP non approuvé, FAVR approuvé une fois toutes les observations levées. Le dossier passe alors de « à vérifier » à « vérifiés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2. Circuit de contrôle (workflow) · 3.6. Contrôleur vérificateur · Vérifications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(2/2)</a:t>
            </a:r>
            <a:endParaRPr lang="en-US" sz="26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L’archivage clôt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a:t>
                      </a:r>
                      <a:pPr indent="0" marL="0">
                        <a:buNone/>
                      </a:pPr>
                      <a:r>
                        <a:rPr lang="en-US" sz="1150" b="1" dirty="0">
                          <a:solidFill>
                            <a:srgbClr val="1B2A3A"/>
                          </a:solidFill>
                          <a:latin typeface="Segoe UI" pitchFamily="34" charset="0"/>
                          <a:ea typeface="Segoe UI" pitchFamily="34" charset="-122"/>
                          <a:cs typeface="Segoe UI" pitchFamily="34" charset="-120"/>
                        </a:rPr>
                        <a:t>archivage</a:t>
                      </a:r>
                      <a:pPr indent="0" marL="0">
                        <a:buNone/>
                      </a:pPr>
                      <a:r>
                        <a:rPr lang="en-US" sz="1150" dirty="0">
                          <a:solidFill>
                            <a:srgbClr val="1B2A3A"/>
                          </a:solidFill>
                          <a:latin typeface="Segoe UI" pitchFamily="34" charset="0"/>
                          <a:ea typeface="Segoe UI" pitchFamily="34" charset="-122"/>
                          <a:cs typeface="Segoe UI" pitchFamily="34" charset="-120"/>
                        </a:rPr>
                        <a:t> du PV par l'Assistant de la localité clôt le dossier ; il prévient le Chargé de publication. L'Assistant archive aussi les lettres de renvoi signées.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Transmissions SIGMP (spec navette 2026-08-02)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Renvoi et rectification</a:t>
            </a:r>
            <a:endParaRPr lang="en-US" sz="26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Lettre de renvoi signée par la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établit la lettre de renvoi. En Centrale, l'un ou l'autre la signe ; en région, seul le Chef de commission de la localité. Le Membre ne la signe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Renvoi : examen suspendu, puis réexamen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signature de la lettre, l'examen est suspendu et la PRMP est notifiée. Après dépôt et transmission des pièces demandées, le dossier revient au Membre, qui </a:t>
                      </a:r>
                      <a:pPr indent="0" marL="0">
                        <a:buNone/>
                      </a:pPr>
                      <a:r>
                        <a:rPr lang="en-US" sz="1150" b="1" dirty="0">
                          <a:solidFill>
                            <a:srgbClr val="1B2A3A"/>
                          </a:solidFill>
                          <a:latin typeface="Segoe UI" pitchFamily="34" charset="0"/>
                          <a:ea typeface="Segoe UI" pitchFamily="34" charset="-122"/>
                          <a:cs typeface="Segoe UI" pitchFamily="34" charset="-120"/>
                        </a:rPr>
                        <a:t>réexamine</a:t>
                      </a:r>
                      <a:pPr indent="0" marL="0">
                        <a:buNone/>
                      </a:pPr>
                      <a:r>
                        <a:rPr lang="en-US" sz="1150" dirty="0">
                          <a:solidFill>
                            <a:srgbClr val="1B2A3A"/>
                          </a:solidFill>
                          <a:latin typeface="Segoe UI" pitchFamily="34" charset="0"/>
                          <a:ea typeface="Segoe UI" pitchFamily="34" charset="-122"/>
                          <a:cs typeface="Segoe UI" pitchFamily="34" charset="-120"/>
                        </a:rPr>
                        <a:t> puis resoumet le projet de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Rectification bornée à trois lignes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En rectification, la PRMP ajoute ou retire au plus trois lignes du PPM dans chaque sens. Elle ne peut pas retirer une ligne portant une observation non levée.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Lettres de renvoi · Transmissions SIGMP (spec navette 2026-08-02)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Retraits</a:t>
            </a:r>
            <a:endParaRPr lang="en-US" sz="26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possible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motivé, lettre signée en PDF à l'appui, d'un dossier soumis, prêt à dispatcher, dispatché ou examiné. Dès la signature du PV, la demande est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Décision du Chef de commission ou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Seuls le Chef de commission de la localité ou le Président statuent. Une demande devenue </a:t>
                      </a:r>
                      <a:pPr indent="0" marL="0">
                        <a:buNone/>
                      </a:pPr>
                      <a:r>
                        <a:rPr lang="en-US" sz="1150" b="1" dirty="0">
                          <a:solidFill>
                            <a:srgbClr val="1B2A3A"/>
                          </a:solidFill>
                          <a:latin typeface="Segoe UI" pitchFamily="34" charset="0"/>
                          <a:ea typeface="Segoe UI" pitchFamily="34" charset="-122"/>
                          <a:cs typeface="Segoe UI" pitchFamily="34" charset="-120"/>
                        </a:rPr>
                        <a:t>caduque</a:t>
                      </a:r>
                      <a:pPr indent="0" marL="0">
                        <a:buNone/>
                      </a:pPr>
                      <a:r>
                        <a:rPr lang="en-US" sz="1150" dirty="0">
                          <a:solidFill>
                            <a:srgbClr val="1B2A3A"/>
                          </a:solidFill>
                          <a:latin typeface="Segoe UI" pitchFamily="34" charset="0"/>
                          <a:ea typeface="Segoe UI" pitchFamily="34" charset="-122"/>
                          <a:cs typeface="Segoe UI" pitchFamily="34" charset="-120"/>
                        </a:rPr>
                        <a:t>, le PV ayant été signé entre-temps, ne peut plus qu'être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L'acceptation ramène le dossier au brouillon et efface son circuit : dispatch, examen, PV, navettes. Le journal et le chronométrage sont conservés ; un refus laisse le dossier inchangé.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Délais et chronométrage</a:t>
            </a:r>
            <a:endParaRPr lang="en-US" sz="26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délai se mesure, sans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étape est chronométrée sans saisie : elle commence à la fin de la précédente et s'achève au geste qui la clôt. Le calcul se fait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de 8 h à 16 h du lundi au vendredi, 8 h valant un jour.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L’attente de la PRMP est suspendue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compteur net de la Commission se suspend pendant les attentes de la PRMP : compléments au dépôt, pièces après renvoi, rectification. Le délai propre de la PRMP est mesuré à part, hors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Date prévisionnelle annoncée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date annoncée à la PRMP additionne le reste de l'étape en cours et les délais standards des étapes restantes. Une étape en dépassement compte zéro : la date glisse.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passage imputé à son auteur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L'examen est mesuré au nom de son attributaire ; une réattribution clôt l'examen du sortant à son nom. À deux niveaux, chaque étage a sa durée, et chaque co-signataire sa part.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Chronométrage et prévision des délais (transversal au circuit) · Le délai propre de la PRMP (`RECTIFICATION_PRMP`, 2026-09-07 ; revu le 2026-09-12)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04</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Préparer le DAO</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Sur une ligne du plan contrôlé, la fiche marché : d’elle naissent tous les documents et le DAO complet ; en remise électronique, la commission d’appel d’offres et la cérémonie des clés. Le détail, information par information : présentation « La fiche DAO par nature et par forme ».</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 Appels d’offres » : les lignes et leurs fiches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 Appels d’offres » : les lignes et leurs fich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menu de la PRMP et de l’UGPM. Les lignes d’un plan au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signé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le mode de passation appelle un DAO.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Préparer l’appel d’offres », ou « Reprendre la fiche » ; sous chaque fiche,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offres déposées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reçus à valider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(pastille au menu).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RG-DAO-02 · RG-DAO-03 · RG-DAO-04 · RG-DAO-05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fiche, et les écrans de la procédure</a:t>
            </a:r>
            <a:endParaRPr lang="en-US" sz="2600" dirty="0"/>
          </a:p>
        </p:txBody>
      </p:sp>
      <p:sp>
        <p:nvSpPr>
          <p:cNvPr id="4" name="Shape 2"/>
          <p:cNvSpPr/>
          <p:nvPr/>
        </p:nvSpPr>
        <p:spPr>
          <a:xfrm>
            <a:off x="800080" y="1193800"/>
            <a:ext cx="10591535" cy="2224532"/>
          </a:xfrm>
          <a:prstGeom prst="rect">
            <a:avLst/>
          </a:prstGeom>
          <a:solidFill>
            <a:srgbClr val="FCFCFA"/>
          </a:solidFill>
          <a:ln w="9525">
            <a:solidFill>
              <a:srgbClr val="D5DCE4"/>
            </a:solidFill>
            <a:prstDash val="solid"/>
          </a:ln>
        </p:spPr>
      </p:sp>
      <p:pic>
        <p:nvPicPr>
          <p:cNvPr id="5" name="Image 0" descr="La fiche, et les écrans de la procédure">    </p:cNvPr>
          <p:cNvPicPr>
            <a:picLocks noChangeAspect="1"/>
          </p:cNvPicPr>
          <p:nvPr/>
        </p:nvPicPr>
        <p:blipFill>
          <a:blip r:embed="rId1"/>
          <a:stretch>
            <a:fillRect/>
          </a:stretch>
        </p:blipFill>
        <p:spPr>
          <a:xfrm>
            <a:off x="812780" y="1206500"/>
            <a:ext cx="10566136" cy="2199132"/>
          </a:xfrm>
          <a:prstGeom prst="rect">
            <a:avLst/>
          </a:prstGeom>
        </p:spPr>
      </p:pic>
      <p:sp>
        <p:nvSpPr>
          <p:cNvPr id="6" name="Shape 3"/>
          <p:cNvSpPr/>
          <p:nvPr/>
        </p:nvSpPr>
        <p:spPr>
          <a:xfrm>
            <a:off x="812780" y="3558032"/>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58032"/>
            <a:ext cx="38099" cy="2197100"/>
          </a:xfrm>
          <a:prstGeom prst="rect">
            <a:avLst/>
          </a:prstGeom>
          <a:solidFill>
            <a:srgbClr val="1B6FA8"/>
          </a:solidFill>
          <a:ln/>
        </p:spPr>
      </p:sp>
      <p:sp>
        <p:nvSpPr>
          <p:cNvPr id="8" name="Text 5"/>
          <p:cNvSpPr/>
          <p:nvPr/>
        </p:nvSpPr>
        <p:spPr>
          <a:xfrm>
            <a:off x="977876" y="3659632"/>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 catégorie, forme, paramètres internes, commission, cérémonie, 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écrans de la procédure : séance, dépôts, commission, retraits, reçus des frais — ces trois derniers une fois la fiche validée.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1 : la ligne du plan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1 : la ligne du pla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23 informations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reprises du plan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verrouillées : rien n’est ressaisi.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en tête : paramètres internes, commission, cérémonie, offres déposées.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RG-DAO-05 · RG-DAO-08 · RG-DAO-09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 cadrage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2 : le cadrag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Dix questions qui ouvrent ou ferment des rubriques : allotissement, tranches, variantes, groupement, prix, garantie…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remise des 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papier, ou électronique.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RG-DAO-12 · RG-DAO-41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la saisie par bloc</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3 : la saisie par bloc">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Onze blocs ; chaque information est saisie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une fois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 reporte dans tous les documents qui l’utilisent (DPAO, AE, CCAP…).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contrôles se mettent à jour à droite, en continu.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RG-DAO-13 · RG-DAO-15 · RG-DAO-18 · RG-DAO-19 · RG-DAO-26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besoin : le détail quantitatif et estimatif, en entier</a:t>
            </a:r>
            <a:endParaRPr lang="en-US" sz="2600" dirty="0"/>
          </a:p>
        </p:txBody>
      </p:sp>
      <p:sp>
        <p:nvSpPr>
          <p:cNvPr id="4" name="Shape 2"/>
          <p:cNvSpPr/>
          <p:nvPr/>
        </p:nvSpPr>
        <p:spPr>
          <a:xfrm>
            <a:off x="800080" y="1193800"/>
            <a:ext cx="10591535" cy="2297744"/>
          </a:xfrm>
          <a:prstGeom prst="rect">
            <a:avLst/>
          </a:prstGeom>
          <a:solidFill>
            <a:srgbClr val="FCFCFA"/>
          </a:solidFill>
          <a:ln w="9525">
            <a:solidFill>
              <a:srgbClr val="D5DCE4"/>
            </a:solidFill>
            <a:prstDash val="solid"/>
          </a:ln>
        </p:spPr>
      </p:sp>
      <p:pic>
        <p:nvPicPr>
          <p:cNvPr id="5" name="Image 0" descr="Le besoin : le détail quantitatif et estimatif, en entier">    </p:cNvPr>
          <p:cNvPicPr>
            <a:picLocks noChangeAspect="1"/>
          </p:cNvPicPr>
          <p:nvPr/>
        </p:nvPicPr>
        <p:blipFill>
          <a:blip r:embed="rId1"/>
          <a:stretch>
            <a:fillRect/>
          </a:stretch>
        </p:blipFill>
        <p:spPr>
          <a:xfrm>
            <a:off x="812780" y="1206500"/>
            <a:ext cx="10566136" cy="2272344"/>
          </a:xfrm>
          <a:prstGeom prst="rect">
            <a:avLst/>
          </a:prstGeom>
        </p:spPr>
      </p:pic>
      <p:sp>
        <p:nvSpPr>
          <p:cNvPr id="6" name="Shape 3"/>
          <p:cNvSpPr/>
          <p:nvPr/>
        </p:nvSpPr>
        <p:spPr>
          <a:xfrm>
            <a:off x="812780" y="363124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1244"/>
            <a:ext cx="38099" cy="1993900"/>
          </a:xfrm>
          <a:prstGeom prst="rect">
            <a:avLst/>
          </a:prstGeom>
          <a:solidFill>
            <a:srgbClr val="1B6FA8"/>
          </a:solidFill>
          <a:ln/>
        </p:spPr>
      </p:sp>
      <p:sp>
        <p:nvSpPr>
          <p:cNvPr id="8" name="Text 5"/>
          <p:cNvSpPr/>
          <p:nvPr/>
        </p:nvSpPr>
        <p:spPr>
          <a:xfrm>
            <a:off x="977876" y="373284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des travaux : série, n° de prix, désignation, libellé au bordereau, unité, quantité,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plafond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sous-détail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produit le bordereau des prix, et pré-remplit le formulaire que le candidat remplira en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RG-DAO-18 · RG-DAO-21 · RG-DAO-22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l’offre, listées une à une</a:t>
            </a:r>
            <a:endParaRPr lang="en-US" sz="2600" dirty="0"/>
          </a:p>
        </p:txBody>
      </p:sp>
      <p:sp>
        <p:nvSpPr>
          <p:cNvPr id="4" name="Shape 2"/>
          <p:cNvSpPr/>
          <p:nvPr/>
        </p:nvSpPr>
        <p:spPr>
          <a:xfrm>
            <a:off x="1393256" y="1193800"/>
            <a:ext cx="9405183" cy="3327400"/>
          </a:xfrm>
          <a:prstGeom prst="rect">
            <a:avLst/>
          </a:prstGeom>
          <a:solidFill>
            <a:srgbClr val="FCFCFA"/>
          </a:solidFill>
          <a:ln w="9525">
            <a:solidFill>
              <a:srgbClr val="D5DCE4"/>
            </a:solidFill>
            <a:prstDash val="solid"/>
          </a:ln>
        </p:spPr>
      </p:sp>
      <p:pic>
        <p:nvPicPr>
          <p:cNvPr id="5" name="Image 0" descr="Les pièces de l’offre, listées une à une">    </p:cNvPr>
          <p:cNvPicPr>
            <a:picLocks noChangeAspect="1"/>
          </p:cNvPicPr>
          <p:nvPr/>
        </p:nvPicPr>
        <p:blipFill>
          <a:blip r:embed="rId1"/>
          <a:stretch>
            <a:fillRect/>
          </a:stretch>
        </p:blipFill>
        <p:spPr>
          <a:xfrm>
            <a:off x="1405956" y="1206500"/>
            <a:ext cx="93797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chaque pièce exigée est une ligne : le candidat joindra un fichier par pièce.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Proposer la liste à partir du texte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part du texte du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RG-DAO-15 · 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texte découpé, à relire</a:t>
            </a:r>
            <a:endParaRPr lang="en-US" sz="2600" dirty="0"/>
          </a:p>
        </p:txBody>
      </p:sp>
      <p:sp>
        <p:nvSpPr>
          <p:cNvPr id="4" name="Shape 2"/>
          <p:cNvSpPr/>
          <p:nvPr/>
        </p:nvSpPr>
        <p:spPr>
          <a:xfrm>
            <a:off x="800080" y="1193800"/>
            <a:ext cx="6883228" cy="5097130"/>
          </a:xfrm>
          <a:prstGeom prst="rect">
            <a:avLst/>
          </a:prstGeom>
          <a:solidFill>
            <a:srgbClr val="FCFCFA"/>
          </a:solidFill>
          <a:ln w="9525">
            <a:solidFill>
              <a:srgbClr val="D5DCE4"/>
            </a:solidFill>
            <a:prstDash val="solid"/>
          </a:ln>
        </p:spPr>
      </p:sp>
      <p:pic>
        <p:nvPicPr>
          <p:cNvPr id="5" name="Image 0" descr="Le texte découpé, à relire">    </p:cNvPr>
          <p:cNvPicPr>
            <a:picLocks noChangeAspect="1"/>
          </p:cNvPicPr>
          <p:nvPr/>
        </p:nvPicPr>
        <p:blipFill>
          <a:blip r:embed="rId1"/>
          <a:stretch>
            <a:fillRect/>
          </a:stretch>
        </p:blipFill>
        <p:spPr>
          <a:xfrm>
            <a:off x="812780" y="1206500"/>
            <a:ext cx="6857829" cy="507173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pièce par ligne ou par « ; » ; la PRMP relit, ajoute, corrige, enregistre.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4 : les 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3641634" y="4640263"/>
            <a:ext cx="942951" cy="80962"/>
          </a:xfrm>
          <a:prstGeom prst="rect">
            <a:avLst/>
          </a:prstGeom>
          <a:solidFill>
            <a:srgbClr val="E9EDF2"/>
          </a:solidFill>
          <a:ln w="6350">
            <a:solidFill>
              <a:srgbClr val="D5DCE4"/>
            </a:solidFill>
            <a:prstDash val="solid"/>
          </a:ln>
        </p:spPr>
      </p:sp>
      <p:sp>
        <p:nvSpPr>
          <p:cNvPr id="7" name="Text 4"/>
          <p:cNvSpPr/>
          <p:nvPr/>
        </p:nvSpPr>
        <p:spPr>
          <a:xfrm>
            <a:off x="3641634" y="4640263"/>
            <a:ext cx="942951" cy="80962"/>
          </a:xfrm>
          <a:prstGeom prst="rect">
            <a:avLst/>
          </a:prstGeom>
          <a:noFill/>
          <a:ln/>
        </p:spPr>
        <p:txBody>
          <a:bodyPr wrap="square" rtlCol="0" anchor="ctr"/>
          <a:lstStyle/>
          <a:p>
            <a:pPr algn="ctr" indent="0" marL="0">
              <a:buNone/>
            </a:pPr>
            <a:r>
              <a:rPr lang="en-US" sz="900" i="1" dirty="0">
                <a:solidFill>
                  <a:srgbClr val="465568"/>
                </a:solidFill>
                <a:latin typeface="Segoe UI" pitchFamily="34" charset="0"/>
                <a:ea typeface="Segoe UI" pitchFamily="34" charset="-122"/>
                <a:cs typeface="Segoe UI" pitchFamily="34" charset="-120"/>
              </a:rPr>
              <a:t>nom masqué</a:t>
            </a:r>
            <a:endParaRPr lang="en-US" sz="900" dirty="0"/>
          </a:p>
        </p:txBody>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champs repris d’un document maître, jamais ressaisis.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RG-DAO-26</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les contrôles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5 : les contrôl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informations obligatoires manquantes, l’ordre des dates, et, en remise électronique, la commission, le responsable, le dépositaire.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liste des pièces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Tant qu’un contrôle bloque, la validation est fermée.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RG-DAO-14 · RG-DAO-15 · RG-DAO-17 · 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mmission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Désignée par la PRMP, par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des agents de l’entité, au plus un expert de l’objet, un président.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reçoit un compte et détient une part de la clé qui ouvrira les offres.</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cérémonie des clés, close</a:t>
            </a:r>
            <a:endParaRPr lang="en-US" sz="2600" dirty="0"/>
          </a:p>
        </p:txBody>
      </p:sp>
      <p:sp>
        <p:nvSpPr>
          <p:cNvPr id="4" name="Shape 2"/>
          <p:cNvSpPr/>
          <p:nvPr/>
        </p:nvSpPr>
        <p:spPr>
          <a:xfrm>
            <a:off x="1165399" y="1193800"/>
            <a:ext cx="9860898" cy="3327400"/>
          </a:xfrm>
          <a:prstGeom prst="rect">
            <a:avLst/>
          </a:prstGeom>
          <a:solidFill>
            <a:srgbClr val="FCFCFA"/>
          </a:solidFill>
          <a:ln w="9525">
            <a:solidFill>
              <a:srgbClr val="D5DCE4"/>
            </a:solidFill>
            <a:prstDash val="solid"/>
          </a:ln>
        </p:spPr>
      </p:sp>
      <p:pic>
        <p:nvPicPr>
          <p:cNvPr id="5" name="Image 0" descr="La cérémonie des clés, close">    </p:cNvPr>
          <p:cNvPicPr>
            <a:picLocks noChangeAspect="1"/>
          </p:cNvPicPr>
          <p:nvPr/>
        </p:nvPicPr>
        <p:blipFill>
          <a:blip r:embed="rId1"/>
          <a:stretch>
            <a:fillRect/>
          </a:stretch>
        </p:blipFill>
        <p:spPr>
          <a:xfrm>
            <a:off x="1178098" y="1206500"/>
            <a:ext cx="9835499" cy="3302000"/>
          </a:xfrm>
          <a:prstGeom prst="rect">
            <a:avLst/>
          </a:prstGeom>
        </p:spPr>
      </p:pic>
      <p:sp>
        <p:nvSpPr>
          <p:cNvPr id="6" name="Shape 3"/>
          <p:cNvSpPr/>
          <p:nvPr/>
        </p:nvSpPr>
        <p:spPr>
          <a:xfrm>
            <a:off x="812780" y="4660900"/>
            <a:ext cx="10566136" cy="1517650"/>
          </a:xfrm>
          <a:prstGeom prst="rect">
            <a:avLst/>
          </a:prstGeom>
          <a:solidFill>
            <a:srgbClr val="FCFCFA"/>
          </a:solidFill>
          <a:ln w="9525">
            <a:solidFill>
              <a:srgbClr val="D5DCE4"/>
            </a:solidFill>
            <a:prstDash val="solid"/>
          </a:ln>
        </p:spPr>
      </p:sp>
      <p:sp>
        <p:nvSpPr>
          <p:cNvPr id="7" name="Shape 4"/>
          <p:cNvSpPr/>
          <p:nvPr/>
        </p:nvSpPr>
        <p:spPr>
          <a:xfrm>
            <a:off x="812780" y="4660900"/>
            <a:ext cx="38099" cy="1517650"/>
          </a:xfrm>
          <a:prstGeom prst="rect">
            <a:avLst/>
          </a:prstGeom>
          <a:solidFill>
            <a:srgbClr val="1B6FA8"/>
          </a:solidFill>
          <a:ln/>
        </p:spPr>
      </p:sp>
      <p:sp>
        <p:nvSpPr>
          <p:cNvPr id="8" name="Text 5"/>
          <p:cNvSpPr/>
          <p:nvPr/>
        </p:nvSpPr>
        <p:spPr>
          <a:xfrm>
            <a:off x="977876" y="4762500"/>
            <a:ext cx="10274043" cy="13271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puis le dépositaire de la part de secours, publient leur clé depuis leur poste ; le responsable clôt.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détail de la cérémonie fait l’objet d’une présentation à part : « La cérémonie des clés ».</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sans responsable</a:t>
            </a:r>
            <a:endParaRPr lang="en-US" sz="2600" dirty="0"/>
          </a:p>
        </p:txBody>
      </p:sp>
      <p:sp>
        <p:nvSpPr>
          <p:cNvPr id="4" name="Shape 2"/>
          <p:cNvSpPr/>
          <p:nvPr/>
        </p:nvSpPr>
        <p:spPr>
          <a:xfrm>
            <a:off x="800080" y="1193800"/>
            <a:ext cx="10591535" cy="2288385"/>
          </a:xfrm>
          <a:prstGeom prst="rect">
            <a:avLst/>
          </a:prstGeom>
          <a:solidFill>
            <a:srgbClr val="FCFCFA"/>
          </a:solidFill>
          <a:ln w="9525">
            <a:solidFill>
              <a:srgbClr val="D5DCE4"/>
            </a:solidFill>
            <a:prstDash val="solid"/>
          </a:ln>
        </p:spPr>
      </p:sp>
      <p:pic>
        <p:nvPicPr>
          <p:cNvPr id="5" name="Image 0" descr="Les procédures sans responsable">    </p:cNvPr>
          <p:cNvPicPr>
            <a:picLocks noChangeAspect="1"/>
          </p:cNvPicPr>
          <p:nvPr/>
        </p:nvPicPr>
        <p:blipFill>
          <a:blip r:embed="rId1"/>
          <a:stretch>
            <a:fillRect/>
          </a:stretch>
        </p:blipFill>
        <p:spPr>
          <a:xfrm>
            <a:off x="812780" y="1206500"/>
            <a:ext cx="10566136" cy="2262985"/>
          </a:xfrm>
          <a:prstGeom prst="rect">
            <a:avLst/>
          </a:prstGeom>
        </p:spPr>
      </p:pic>
      <p:sp>
        <p:nvSpPr>
          <p:cNvPr id="6" name="Shape 3"/>
          <p:cNvSpPr/>
          <p:nvPr/>
        </p:nvSpPr>
        <p:spPr>
          <a:xfrm>
            <a:off x="812780" y="3621885"/>
            <a:ext cx="10566136" cy="1314450"/>
          </a:xfrm>
          <a:prstGeom prst="rect">
            <a:avLst/>
          </a:prstGeom>
          <a:solidFill>
            <a:srgbClr val="FCFCFA"/>
          </a:solidFill>
          <a:ln w="9525">
            <a:solidFill>
              <a:srgbClr val="D5DCE4"/>
            </a:solidFill>
            <a:prstDash val="solid"/>
          </a:ln>
        </p:spPr>
      </p:sp>
      <p:sp>
        <p:nvSpPr>
          <p:cNvPr id="7" name="Shape 4"/>
          <p:cNvSpPr/>
          <p:nvPr/>
        </p:nvSpPr>
        <p:spPr>
          <a:xfrm>
            <a:off x="812780" y="3621885"/>
            <a:ext cx="38099" cy="1314450"/>
          </a:xfrm>
          <a:prstGeom prst="rect">
            <a:avLst/>
          </a:prstGeom>
          <a:solidFill>
            <a:srgbClr val="1B6FA8"/>
          </a:solidFill>
          <a:ln/>
        </p:spPr>
      </p:sp>
      <p:sp>
        <p:nvSpPr>
          <p:cNvPr id="8" name="Text 5"/>
          <p:cNvSpPr/>
          <p:nvPr/>
        </p:nvSpPr>
        <p:spPr>
          <a:xfrm>
            <a:off x="977876" y="3723485"/>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le Poste d’administration : les procédures en remise électronique qui attendent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désignation de leur responsable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y retrouve ses procédures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Mes procédures en ligne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 menu dès qu’il en a une) : paramètres et cérémonie, séance.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les voit toutes, et désigne le responsable depuis la fiche. Seul le titulaire conduit : l’intérimaire lit.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6 : la validation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6 : la valid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valide : la fiche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figée et versionnée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modification ouvre une nouvelle version.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RG-DAO-06 · RG-DAO-16 · RG-DAO-24 · RG-DAO-25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DAO COMPLET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seul document, comme les DAO réels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À la validation, les documents remplis depuis la fiche sont </a:t>
            </a:r>
            <a:pPr indent="0" marL="0">
              <a:buNone/>
            </a:pPr>
            <a:r>
              <a:rPr lang="en-US" sz="1300" b="1" dirty="0">
                <a:solidFill>
                  <a:srgbClr val="1B2A3A"/>
                </a:solidFill>
                <a:latin typeface="Segoe UI" pitchFamily="34" charset="0"/>
                <a:ea typeface="Segoe UI" pitchFamily="34" charset="-122"/>
                <a:cs typeface="Segoe UI" pitchFamily="34" charset="-120"/>
              </a:rPr>
              <a:t>assemblés</a:t>
            </a:r>
            <a:pPr indent="0" marL="0">
              <a:buNone/>
            </a:pPr>
            <a:r>
              <a:rPr lang="en-US" sz="1300" dirty="0">
                <a:solidFill>
                  <a:srgbClr val="465568"/>
                </a:solidFill>
                <a:latin typeface="Segoe UI" pitchFamily="34" charset="0"/>
                <a:ea typeface="Segoe UI" pitchFamily="34" charset="-122"/>
                <a:cs typeface="Segoe UI" pitchFamily="34" charset="-120"/>
              </a:rPr>
              <a:t> en un seul dossier d’appel d’offres, en Word et en PDF, sur le plan des documents types de l’ARMP.</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Page de garde et sommaire</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Emblème, ministère, PRMP, UGPM, « Dossier d’appel d’offres ouvert », numéro, objet, lots, « Lancé le », financement, imputation, compte ; puis le sommaire paginé.</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Première partie : la procédure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1.1 Instructions aux candidats (texte fixe de l’ARMP) ; 1.2 DPAO ; 1.3 Formulaires de soumission (fiches A1 à A4, garanties).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Deuxième partie : le marché</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2.1 Acte d’engagement ; 2.2 CCAP et ses annexes, puis les </a:t>
            </a:r>
            <a:pPr indent="0" marL="0">
              <a:buNone/>
            </a:pPr>
            <a:r>
              <a:rPr lang="en-US" sz="1200" b="1" dirty="0">
                <a:solidFill>
                  <a:srgbClr val="1B2A3A"/>
                </a:solidFill>
                <a:latin typeface="Segoe UI" pitchFamily="34" charset="0"/>
                <a:ea typeface="Segoe UI" pitchFamily="34" charset="-122"/>
                <a:cs typeface="Segoe UI" pitchFamily="34" charset="-120"/>
              </a:rPr>
              <a:t>spécifications techniques</a:t>
            </a:r>
            <a:pPr indent="0" marL="0">
              <a:buNone/>
            </a:pPr>
            <a:r>
              <a:rPr lang="en-US" sz="1200" dirty="0">
                <a:solidFill>
                  <a:srgbClr val="465568"/>
                </a:solidFill>
                <a:latin typeface="Segoe UI" pitchFamily="34" charset="0"/>
                <a:ea typeface="Segoe UI" pitchFamily="34" charset="-122"/>
                <a:cs typeface="Segoe UI" pitchFamily="34" charset="-120"/>
              </a:rPr>
              <a:t> jointes par la PRMP ; 2.3 CCAG (texte fixe).</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Figé à la validation</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En-tête « DAO n° … — objet », pages numérotées « n / N ». Les classeurs (bordereau, DQE) restent à part, en Excel. Une version validée ne se régénère jamais.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7 : le DAO complet en tête</a:t>
            </a:r>
            <a:endParaRPr lang="en-US" sz="2600" dirty="0"/>
          </a:p>
        </p:txBody>
      </p:sp>
      <p:sp>
        <p:nvSpPr>
          <p:cNvPr id="4" name="Shape 2"/>
          <p:cNvSpPr/>
          <p:nvPr/>
        </p:nvSpPr>
        <p:spPr>
          <a:xfrm>
            <a:off x="2927982" y="1193800"/>
            <a:ext cx="6335730" cy="3327400"/>
          </a:xfrm>
          <a:prstGeom prst="rect">
            <a:avLst/>
          </a:prstGeom>
          <a:solidFill>
            <a:srgbClr val="FCFCFA"/>
          </a:solidFill>
          <a:ln w="9525">
            <a:solidFill>
              <a:srgbClr val="D5DCE4"/>
            </a:solidFill>
            <a:prstDash val="solid"/>
          </a:ln>
        </p:spPr>
      </p:sp>
      <p:pic>
        <p:nvPicPr>
          <p:cNvPr id="5" name="Image 0" descr="Étape 7 : le DAO complet en tête">    </p:cNvPr>
          <p:cNvPicPr>
            <a:picLocks noChangeAspect="1"/>
          </p:cNvPicPr>
          <p:nvPr/>
        </p:nvPicPr>
        <p:blipFill>
          <a:blip r:embed="rId1"/>
          <a:stretch>
            <a:fillRect/>
          </a:stretch>
        </p:blipFill>
        <p:spPr>
          <a:xfrm>
            <a:off x="2940682" y="1206500"/>
            <a:ext cx="631033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ouvrir le PDF, l’enregistrer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classeurs (bordereau des prix, DQE) ; le dossier à soumettre est créé depuis la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RG-DAO-27 · RG-DAO-30 · RG-DAO-32 · RG-DAO-33 · RG-DAO-36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de garde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a page de gar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Celle des DAO réels : l’emblème, le ministère (une seule fois), la PRMP et l’UGPM, l’intitulé qui porte le mode de passation.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numéro du DAO, l’objet, « Lancé le …… » à compléter, le financement, l’imputation administrative et le compte, lus sur le plan.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sommaire général</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sommaire général">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deux parties et leurs sous-parties, dans la numérotation de l’ARMP, avec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numéros de page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seule présentation à tous les niveaux ; dans le Word, c’est une table des matières mise à jour à l’ouverture.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spécifications techniques</a:t>
            </a:r>
            <a:endParaRPr lang="en-US" sz="2600" dirty="0"/>
          </a:p>
        </p:txBody>
      </p:sp>
      <p:sp>
        <p:nvSpPr>
          <p:cNvPr id="4" name="Shape 2"/>
          <p:cNvSpPr/>
          <p:nvPr/>
        </p:nvSpPr>
        <p:spPr>
          <a:xfrm>
            <a:off x="800080" y="1193800"/>
            <a:ext cx="10591535" cy="1567940"/>
          </a:xfrm>
          <a:prstGeom prst="rect">
            <a:avLst/>
          </a:prstGeom>
          <a:solidFill>
            <a:srgbClr val="FCFCFA"/>
          </a:solidFill>
          <a:ln w="9525">
            <a:solidFill>
              <a:srgbClr val="D5DCE4"/>
            </a:solidFill>
            <a:prstDash val="solid"/>
          </a:ln>
        </p:spPr>
      </p:sp>
      <p:pic>
        <p:nvPicPr>
          <p:cNvPr id="5" name="Image 0" descr="Les spécifications techniques">    </p:cNvPr>
          <p:cNvPicPr>
            <a:picLocks noChangeAspect="1"/>
          </p:cNvPicPr>
          <p:nvPr/>
        </p:nvPicPr>
        <p:blipFill>
          <a:blip r:embed="rId1"/>
          <a:stretch>
            <a:fillRect/>
          </a:stretch>
        </p:blipFill>
        <p:spPr>
          <a:xfrm>
            <a:off x="812780" y="1206500"/>
            <a:ext cx="10566136" cy="1542540"/>
          </a:xfrm>
          <a:prstGeom prst="rect">
            <a:avLst/>
          </a:prstGeom>
        </p:spPr>
      </p:pic>
      <p:sp>
        <p:nvSpPr>
          <p:cNvPr id="6" name="Shape 3"/>
          <p:cNvSpPr/>
          <p:nvPr/>
        </p:nvSpPr>
        <p:spPr>
          <a:xfrm>
            <a:off x="812780" y="2901440"/>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01440"/>
            <a:ext cx="38099" cy="2197100"/>
          </a:xfrm>
          <a:prstGeom prst="rect">
            <a:avLst/>
          </a:prstGeom>
          <a:solidFill>
            <a:srgbClr val="1B6FA8"/>
          </a:solidFill>
          <a:ln/>
        </p:spPr>
      </p:sp>
      <p:sp>
        <p:nvSpPr>
          <p:cNvPr id="8" name="Text 5"/>
          <p:cNvSpPr/>
          <p:nvPr/>
        </p:nvSpPr>
        <p:spPr>
          <a:xfrm>
            <a:off x="977876" y="3003040"/>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bloc B14 : la PRMP joint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Word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devis descriptif, des prescriptions et des plans (20 Mo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est inséré tel quel au rang 2.2, entre le CCAP et le CCAG. Sans fichier, la partie n’apparaît pas, et le contrôle le signale.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du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u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circuit que pour le plan ; l’examen lit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ses pièces, une à une.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 1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DAO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lu à l’écran de bout en bout (page de garde, sommaire, les deux parties), RAS ou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RG-DAO-36 · RG-DAO-37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L’avis spécifique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vis spécifique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le PV signé favorable : l’avis s’imprime depuis la fiche, avec ses références de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la procédure paraît alors aux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de mise en concurrence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t_dossier_mec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Dossier de mise en concurrence (DMC) : un par ligne de marché (relation 1-1 sur ID_DETAIL).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fiche marché (DAO)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version de la fiche marché d'un DMC de type DAO (t_fiche_marche, V35)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valeur d’une information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t_fiche_marche_valeur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par champ de source SAISIE renseigné.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bloc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tr_bloc_fiche_marche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B01 identification et données du PPM … B10 modifications, résiliation, litiges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rubrique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tr_rubrique_fiche_marche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 une rubrique = une carte à l'écran ». nbAttendu est le nombre d'informations que le fichier de correspondance annonce pour la rubrique : tant que ses champs ne sont pas chargés, le front affiche « n informations attendues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L’information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tr_champ_fiche_marche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information du fichier de correspondance (tr_champ_fiche_marche, V35) : le front dessine l'écran depuis ce référentiel, comme la grille de contrôle depuis PointsCtrl.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L’article du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t_fiche_article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article du besoin d'une version de fiche DAO (t_fiche_article), dans un lot du plan (rang ; null pour une ligne non allotie).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caractéristique exigée d’un article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t_fiche_caracteristique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caractéristique exigée d'un article du besoin (t_fiche_caracteristique).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matériel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t_fiche_materiel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engin exigé d'une version de fiche DAO de travaux (t_fiche_materiel) : désignation, caractéristique (« ≥ 350 l »), nombre, minimum en propre (null : propriété ou location indifférente), et parLot (le nombre vaut pour chaque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personnel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t_fiche_personnel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poste clé exigé d'une version de fiche DAO de travaux (t_fiche_personnel) : poste, nombre, diplôme, expérience (années et domaine), justificatifs, et parLot (chaque lot mobilise son équipe).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exigée de 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exigée d'une version de fiche DAO de travaux (t_fiche_piece) : rubrique (ADMINISTRATIVE, 2° de la clause 6.2 du DPAO-T, ou OFFRE, 1°), numéro donné par le DAO, libellé, forme, ancienneté maximale en mois, une par lot, modèle.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spécifications techniques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t_specifications_fiche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spécifications techniques d'une version de fiche DAO : un .docx joint par la PRMP ou l'UGPM, inséré au rang 5 bis du DAO complet.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produit par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document généré à la validation d'une version de la fiche (t_document_fiche_marche, V38)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commission d'appel d'offres d'un DAO : la décision de nomination de la PRMP (référence, date, PDF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membre de 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t_cao_membre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membre de la CAO : qualité MEMBRE (siège, détient une part, compte MEMBRE_CAO) ou EXPERT_ADJOINT (évalue, pas de part, pas de compte) ; un MEMBRE a une origine (ENTITE_CONTRACTANTE avec son service, EXPERT_OBJET avec son organisme et son domaine) ; un président parmi les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d’un membre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membre de CAO (profil MEMBRE_CAO,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responsable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t_responsable_procedure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rôle nominatif « Responsable de la procédure » (t_responsable_procedure) : par DMC, un seul titulaire actif (DATE_RETRAIT nulle, index partiel unique), désigné et retiré par l'Administrateur.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paramètres internes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paramètres internes d'une procédure en remise électronique (t_parametre_interne_procedure) : les membres de la commission détenteurs d'une part de clé (INT-SE-01, liste de matricules), le quorum de déchiffrement (INT-SE-03) et la date de la cérémonie des clés (INT-SE-04).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paramètres internes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dédié des paramètres internes d'une procédure (t_parametre_interne_journal) : qui, quand, quel champ, ancienne et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cérémonie des clés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t_ceremonie_cles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cérémonie des clés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clé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t_cle_detenteur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clé d'un détenteur de part : un membre désigné (role = MEMBRE, im) ou la part de secours (role = SECOURS, sans matricule). clePublique (SPKI en base64) et empreinte (SHA-256 de la SPKI, hexadécimal minuscule) sont publiques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défi de vérification d’une clé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t_defi_cle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défi de vérification d'une part : le serveur a tiré 32 octets, les a chiffrés avec la clé publique du détenteur, et ne garde que le SHA-256 du clair (empreinteClair), cinq minutes, à usage unique.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dépositaire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t_compte_depositaire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dépositaire (profil DEPOSITAIRE,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14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de mise en concurrence (DMC)  ·  t_dossier_mec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rattachée (unique — relation 1-1 stricte).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DMC dérivé du mode de passation du marché.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A_PREPARER, ENGAGE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fiche marché (DAO)  ·  t_fiche_marche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VALIDEE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Cnm.prs.enums.StatutFicheMarche.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Cnm.prs.enums.TypeMarcheDao, fixé par le cadrage ; nul tant que le cadrage n'est pas 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Réponses du cadrage, objet JSON ({"typeMarche":"QUANTITE_FIXE","alloti":"OUI",…}).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PRMP qui a validé (matricule).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valeur d’une information de la fiche  ·  t_fiche_marche_valeur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Tr_champ_fiche_marche.CODE, sans clé étrangère (un code ancien ne bloque pas l'import du référentiel).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telle que normalisée à l'enregistrement (nombre en chiffres, date ISO, code de liste, OUI/NON,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CALCULEE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Calculee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Posée par le serveur à l'enregistrement du bloc (échéance calculée, date d'ouverture des plis…) : servie dans champsCalcules, affichée « calculée » en lecture seule.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bloc du référentiel de la fiche  ·  tr_bloc_fiche_marche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Types de marché où le bloc existe,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bloc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Rendu du bloc à l'écran : null, la liste de ses champs ; BESOIN, la grille du besoin (/articles).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rubrique du référentiel de la fiche  ·  tr_rubrique_fiche_marche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complet, bloc-rubrique (« B05-GS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CODE_BLOC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CODE_COURT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court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court dans le bloc (« 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maître de la rubrique (DPAO, DPAC, AE, CCAP, AUCUN) ; nul si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NB_ATTENDU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attendu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la rubrique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L’information du référentiel de la fiche  ·  tr_champ_fiche_marche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métier « bloc-rubrique-rang » (« B05-GS-02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14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TEXTE, TEXTE_LONG, NOMBRE, MONTANT, POURCENTAGE, DATE, DATE_HEURE, URL, LISTE, LISTE_MULTIPLE, OUI_NON, 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PPM, SAISIE, 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Cnm.prs.enums.SourceChampFiche.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REPRISES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champ vaut, séparées par des virgules, comme typesMarche.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CONDITION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OPTIONS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Options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CADRAGE : la clé de la réponse reflétée.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PPM : la clé de la dérivation (ValeursPpmService).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Une valeur par lot : quand la ligne est allotie (plus d'un lot au plan), la valeur s'enregistre sous CODEn, n = rang du lot ; sinon sous le code 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L’article du besoin  ·  t_fiche_article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14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QUANTITE_MAX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max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REDIGE_PAR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Rédigé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PROFIL_REDACTEUR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rédacteur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NUMERO_PRIX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SERIE_LIBELLE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 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LIBELLE_BORDEREAU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bordereau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SOUS_DETAIL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PLAFOND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caractéristique exigée d’un article  ·  t_fiche_caracteristique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Mémoire vive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EXIGENCE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Exigence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8 Go au minimum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matériel exigé  ·  t_fiche_materiel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ID_MATERIEL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matériel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MINIMUM_EN_PROPRE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Minimum en propre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personnel exigé  ·  t_fiche_personnel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ID_PERSONNEL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personnel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POSTE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Poste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DIPLOME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Diplôme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EXPERIENCE_ANNEES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Expérience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DOMAINE_EXPERIENCE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 expérience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exigée de l’offre  ·  t_fiche_piece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ANCIENNETE_MAX_MOIS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Anciennete max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spécifications techniques  ·  t_specifications_fiche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produit par la fiche  ·  t_document_fiche_marche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EXTENSION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Extension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DPAO · DPAC · AE · CCAP. */ @Column(name = "TYPE", nullable = false, length = 20) // V57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du contenu, en hexadécimal.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DATE_GENERATION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génération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du lot d'un document établi par lot ; null : document commun.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informations de publication saisies à l'impression de l'avis (JSON : datePublication, jmpNumero, jmpDate, supports), conservées en trace avec le document ; null pour les documents du DAO.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commission d’appel d’offres  ·  t_cao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membre de la commission d’appel d’offres  ·  t_cao_membre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SERVICE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L'identifiant court du compte MEMBRE_CAO (K + 9 chiffres) ; null pour un expert adjoint.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d’un membre de la commission  ·  t_compte_cao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responsable de la procédure  ·  t_responsable_procedure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titulaire (tr_controleur.IM_CONTROLEUR).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au moment de la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Nulle tant que la désignation est active.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paramètres internes de la procédure  ·  t_parametre_interne_procedure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MEMBRES_CLE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Membres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Matricules des membres détenteurs d'une part de clé, séparés par des virgules (INT-SE-01).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Quorum de déchiffrement (INT-SE-03).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DATE_CEREMONIE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cérémonie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la cérémonie des clés (INT-SE-04).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(matricule du titulaire du rôle).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dépositaire de la part de secours (ADR-0013 S3) : une désignation nominative.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DEPOSITAIRE_CONTACT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contact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L'adresse du dépositaire (obligatoire au PUT), son téléphone, son compte 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paramètres internes  ·  t_parametre_interne_journal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de l'acteur, résolu à l'écriture.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MembresCommission, quorum, dateCeremonie ou responsable.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cérémonie des clés  ·  t_ceremonie_cles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A_VENIR, CLOSE, A_REFAIRE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DATE_CLOTURE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clôture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PREMIER_DEPOT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Premier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DATE_DEPOTS_CLOS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depots clos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clôture des dépôts notifiée (DEPOTS_CLOS), une fois.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RAPPEL_VEILLE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veille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de la veille,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RAPPEL_HEURE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heure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une heure avant,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clé d’un détenteur  ·  t_cle_detenteur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GENERE_PAR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Généré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généré la part de secours. */ public static final String PAR_RESPONSABLE = "RESPONSABLE"; public static final String PAR_DEPOSITAIRE = "DEPOSITAIRE"; public static final String PUBLIEE = "PUBLIEE"; public static final String VERIFIEE = "VERIFIEE"; public static final String PERDUE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du dépositaire qui a publié la part de secours (D…, nouveau geste).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défi de vérification d’une clé  ·  t_defi_cle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ID_DEFI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défi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IM_APPELANT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appelant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EMPREINTE_CLAIR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clair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CONSOMME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Consomme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dépositaire  ·  t_compte_depositaire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45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Préparer une fiche : qui, et sur quelle ligne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fiche par DMC, versionnée · Qui prépare, qui valide · Les gardes, dans l’ordre · Le mode de passation · La ligne à travers les versions du plan · Une fiche ouverte par erreur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deux axes de la fiche viennent du plan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RG-DAO-07 → 11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catégorie = la nature de la ligne · La forme = la forme de la ligne · Ligne sans forme · Fiche saisie sous un autre type · Les règles de la catégorie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Cadrer, saisir, contrôler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RG-DAO-12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cadrage ferme des rubriques · Enregistrer n’est pas valider · Le bilan des contrôles · On ne demande que ce qui sert · Une version validée n’est jamais convertie · La garantie de soumission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lots, le besoin, les formulaires du candidat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RG-DAO-18 → 23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Ce qui varie par lot · Obligatoire pour chaque lot · Un acte d’engagement par lot · Le besoin (fournitures et services) · Les formulaires du candidat · Valeurs par défaut administrables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Valider, produire, réviser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RG-DAO-24 → 29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Valider fige, réviser ouvre · Produits à la validation · Le document type de l’ARMP, rempli · Jamais régénérés · On corrige la fiche, pas son produit · Montants en lettres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DAO complet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RG-DAO-30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plan du document · Il assemble, il ne réécrit rien · Où il est servi · Ce qui reste à part · Les spécifications techniques · Une pièce ne s’imprime qu’une fois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RG-DAO-36 → 40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produit le dossier · La rectification est une révision · L’avis spécifique · Prestations intellectuelles : l’AMI · Les lettres et la demande de propositions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L’import du DAO</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RG-DAO-41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reste la source de vérité · Chaque proposition dit sa confiance · Le plan fait foi · Rien ne contourne la saisie · Une écriture d’un seul tenant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une fiche : qui, et sur quelle ligne</a:t>
            </a:r>
            <a:endParaRPr lang="en-US" sz="26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par DMC, versionnée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t>
                      </a:r>
                      <a:pPr indent="0" marL="0">
                        <a:buNone/>
                      </a:pPr>
                      <a:r>
                        <a:rPr lang="en-US" sz="1150" b="1" dirty="0">
                          <a:solidFill>
                            <a:srgbClr val="1B2A3A"/>
                          </a:solidFill>
                          <a:latin typeface="Segoe UI" pitchFamily="34" charset="0"/>
                          <a:ea typeface="Segoe UI" pitchFamily="34" charset="-122"/>
                          <a:cs typeface="Segoe UI" pitchFamily="34" charset="-120"/>
                        </a:rPr>
                        <a:t>référentiel du serveur</a:t>
                      </a:r>
                      <a:pPr indent="0" marL="0">
                        <a:buNone/>
                      </a:pPr>
                      <a:r>
                        <a:rPr lang="en-US" sz="1150" dirty="0">
                          <a:solidFill>
                            <a:srgbClr val="1B2A3A"/>
                          </a:solidFill>
                          <a:latin typeface="Segoe UI" pitchFamily="34" charset="0"/>
                          <a:ea typeface="Segoe UI" pitchFamily="34" charset="-122"/>
                          <a:cs typeface="Segoe UI" pitchFamily="34" charset="-120"/>
                        </a:rPr>
                        <a:t> dessine l’écran. Les informations reprises du plan sont </a:t>
                      </a:r>
                      <a:pPr indent="0" marL="0">
                        <a:buNone/>
                      </a:pPr>
                      <a:r>
                        <a:rPr lang="en-US" sz="1150" b="1" dirty="0">
                          <a:solidFill>
                            <a:srgbClr val="1B2A3A"/>
                          </a:solidFill>
                          <a:latin typeface="Segoe UI" pitchFamily="34" charset="0"/>
                          <a:ea typeface="Segoe UI" pitchFamily="34" charset="-122"/>
                          <a:cs typeface="Segoe UI" pitchFamily="34" charset="-120"/>
                        </a:rPr>
                        <a:t>relues à chaque lecture</a:t>
                      </a:r>
                      <a:pPr indent="0" marL="0">
                        <a:buNone/>
                      </a:pPr>
                      <a:r>
                        <a:rPr lang="en-US" sz="1150" dirty="0">
                          <a:solidFill>
                            <a:srgbClr val="1B2A3A"/>
                          </a:solidFill>
                          <a:latin typeface="Segoe UI" pitchFamily="34" charset="0"/>
                          <a:ea typeface="Segoe UI" pitchFamily="34" charset="-122"/>
                          <a:cs typeface="Segoe UI" pitchFamily="34" charset="-120"/>
                        </a:rPr>
                        <a:t> : elles se corrigent dans le plan, jamais dans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prépare, qui valide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a:t>
                      </a:r>
                      <a:pPr indent="0" marL="0">
                        <a:buNone/>
                      </a:pPr>
                      <a:r>
                        <a:rPr lang="en-US" sz="1150" b="1" dirty="0">
                          <a:solidFill>
                            <a:srgbClr val="1B2A3A"/>
                          </a:solidFill>
                          <a:latin typeface="Segoe UI" pitchFamily="34" charset="0"/>
                          <a:ea typeface="Segoe UI" pitchFamily="34" charset="-122"/>
                          <a:cs typeface="Segoe UI" pitchFamily="34" charset="-120"/>
                        </a:rPr>
                        <a:t>PRMP propriétaire du plan et son UGPM</a:t>
                      </a:r>
                      <a:pPr indent="0" marL="0">
                        <a:buNone/>
                      </a:pPr>
                      <a:r>
                        <a:rPr lang="en-US" sz="1150" dirty="0">
                          <a:solidFill>
                            <a:srgbClr val="1B2A3A"/>
                          </a:solidFill>
                          <a:latin typeface="Segoe UI" pitchFamily="34" charset="0"/>
                          <a:ea typeface="Segoe UI" pitchFamily="34" charset="-122"/>
                          <a:cs typeface="Segoe UI" pitchFamily="34" charset="-120"/>
                        </a:rPr>
                        <a:t> préparent.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valide la fiche et crée le dossier à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gardes, dans l’ordre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Ligne inconnue ; hors périmètre (refusé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tout autre motif : une PRMP étrangère n’apprend rien) ; vacance de mandat ; puis ligne retirée, version du plan dépassée, mode non rattaché au type DAO, plan sans PV signé favorable (FAV, ou FAVR réserves levées), DAO déjà existant.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de passation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Il doit être rattaché au type </a:t>
                      </a:r>
                      <a:pPr indent="0" marL="0">
                        <a:buNone/>
                      </a:pPr>
                      <a:r>
                        <a:rPr lang="en-US" sz="1150" b="1" dirty="0">
                          <a:solidFill>
                            <a:srgbClr val="1B2A3A"/>
                          </a:solidFill>
                          <a:latin typeface="Segoe UI" pitchFamily="34" charset="0"/>
                          <a:ea typeface="Segoe UI" pitchFamily="34" charset="-122"/>
                          <a:cs typeface="Segoe UI" pitchFamily="34" charset="-120"/>
                        </a:rPr>
                        <a:t>DAO</a:t>
                      </a:r>
                      <a:pPr indent="0" marL="0">
                        <a:buNone/>
                      </a:pPr>
                      <a:r>
                        <a:rPr lang="en-US" sz="1150" dirty="0">
                          <a:solidFill>
                            <a:srgbClr val="1B2A3A"/>
                          </a:solidFill>
                          <a:latin typeface="Segoe UI" pitchFamily="34" charset="0"/>
                          <a:ea typeface="Segoe UI" pitchFamily="34" charset="-122"/>
                          <a:cs typeface="Segoe UI" pitchFamily="34" charset="-120"/>
                        </a:rPr>
                        <a:t> (acte de l’Administrateur, « Types de DMC »). ⚠️ 08/10 : le mode « Appel à manifestation d’intérêt » y est rattaché par migration ; les lignes de prestations intellectuelles en AMI créent leur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ligne à travers les versions du plan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suit sa ligne (filiation) jusqu’à la </a:t>
                      </a:r>
                      <a:pPr indent="0" marL="0">
                        <a:buNone/>
                      </a:pPr>
                      <a:r>
                        <a:rPr lang="en-US" sz="1150" b="1" dirty="0">
                          <a:solidFill>
                            <a:srgbClr val="1B2A3A"/>
                          </a:solidFill>
                          <a:latin typeface="Segoe UI" pitchFamily="34" charset="0"/>
                          <a:ea typeface="Segoe UI" pitchFamily="34" charset="-122"/>
                          <a:cs typeface="Segoe UI" pitchFamily="34" charset="-120"/>
                        </a:rPr>
                        <a:t>dernière version signée</a:t>
                      </a:r>
                      <a:pPr indent="0" marL="0">
                        <a:buNone/>
                      </a:pPr>
                      <a:r>
                        <a:rPr lang="en-US" sz="1150" dirty="0">
                          <a:solidFill>
                            <a:srgbClr val="1B2A3A"/>
                          </a:solidFill>
                          <a:latin typeface="Segoe UI" pitchFamily="34" charset="0"/>
                          <a:ea typeface="Segoe UI" pitchFamily="34" charset="-122"/>
                          <a:cs typeface="Segoe UI" pitchFamily="34" charset="-120"/>
                        </a:rPr>
                        <a:t> du plan ; une mise à jour encore en instruction ne la change pas. Une ligne retirée entre-temps est signalée.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ouverte par erreur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se </a:t>
                      </a:r>
                      <a:pPr indent="0" marL="0">
                        <a:buNone/>
                      </a:pPr>
                      <a:r>
                        <a:rPr lang="en-US" sz="1150" b="1" dirty="0">
                          <a:solidFill>
                            <a:srgbClr val="1B2A3A"/>
                          </a:solidFill>
                          <a:latin typeface="Segoe UI" pitchFamily="34" charset="0"/>
                          <a:ea typeface="Segoe UI" pitchFamily="34" charset="-122"/>
                          <a:cs typeface="Segoe UI" pitchFamily="34" charset="-120"/>
                        </a:rPr>
                        <a:t>supprime</a:t>
                      </a:r>
                      <a:pPr indent="0" marL="0">
                        <a:buNone/>
                      </a:pPr>
                      <a:r>
                        <a:rPr lang="en-US" sz="1150" dirty="0">
                          <a:solidFill>
                            <a:srgbClr val="1B2A3A"/>
                          </a:solidFill>
                          <a:latin typeface="Segoe UI" pitchFamily="34" charset="0"/>
                          <a:ea typeface="Segoe UI" pitchFamily="34" charset="-122"/>
                          <a:cs typeface="Segoe UI" pitchFamily="34" charset="-120"/>
                        </a:rPr>
                        <a:t> tant qu’elle n’a pas d’histoire (jamais validée, sans document, sans dossier) ; la ligne redevient préparable. Une fiche validée ne se supprime pas : elle se </a:t>
                      </a:r>
                      <a:pPr indent="0" marL="0">
                        <a:buNone/>
                      </a:pPr>
                      <a:r>
                        <a:rPr lang="en-US" sz="1150" b="1" dirty="0">
                          <a:solidFill>
                            <a:srgbClr val="1B2A3A"/>
                          </a:solidFill>
                          <a:latin typeface="Segoe UI" pitchFamily="34" charset="0"/>
                          <a:ea typeface="Segoe UI" pitchFamily="34" charset="-122"/>
                          <a:cs typeface="Segoe UI" pitchFamily="34" charset="-120"/>
                        </a:rPr>
                        <a:t>révise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deux axes de la fiche viennent du plan</a:t>
            </a:r>
            <a:endParaRPr lang="en-US" sz="26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catégorie = la nature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Traduite par la correspondance que l’Administrateur tient dans le référentiel des natures ; jamais une réponse de cadrage. Ligne sans nature, ou nature sans catégorie : la création est refusée, avec le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forme = la forme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Quantité fixe, à commande ou contrat-cadre, relue à chaque lecture sur la ligne courante. Elle figure parmi les informations reprises (« Forme du marché ») ; la question n’est plus posée au cadrage.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Ligne sans forme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se lit, mais ne se crée ni ne s’écrit : le message nomme le champ « Forme du marché » à compléter dans le plan. Le défaut « quantité fixe » ne décide jamais à la place du plan.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Fiche saisie sous un autre 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brouillon est signalé (« type changé ») et se réaligne en reprenant son cadrage ; une version validée ne change ni de version ni de contenu.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règles de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fiche se valide avec les règles de </a:t>
                      </a:r>
                      <a:pPr indent="0" marL="0">
                        <a:buNone/>
                      </a:pPr>
                      <a:r>
                        <a:rPr lang="en-US" sz="1150" b="1" dirty="0">
                          <a:solidFill>
                            <a:srgbClr val="1B2A3A"/>
                          </a:solidFill>
                          <a:latin typeface="Segoe UI" pitchFamily="34" charset="0"/>
                          <a:ea typeface="Segoe UI" pitchFamily="34" charset="-122"/>
                          <a:cs typeface="Segoe UI" pitchFamily="34" charset="-120"/>
                        </a:rPr>
                        <a:t>sa</a:t>
                      </a:r>
                      <a:pPr indent="0" marL="0">
                        <a:buNone/>
                      </a:pPr>
                      <a:r>
                        <a:rPr lang="en-US" sz="1150" dirty="0">
                          <a:solidFill>
                            <a:srgbClr val="1B2A3A"/>
                          </a:solidFill>
                          <a:latin typeface="Segoe UI" pitchFamily="34" charset="0"/>
                          <a:ea typeface="Segoe UI" pitchFamily="34" charset="-122"/>
                          <a:cs typeface="Segoe UI" pitchFamily="34" charset="-120"/>
                        </a:rPr>
                        <a:t> catégorie : quand deux catégories posent la même question (allotissement, forme de prix…), c’est la définition de la catégorie de la fiche qui s’applique.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Cadrer, saisir, contrôler</a:t>
            </a:r>
            <a:endParaRPr lang="en-US" sz="26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cadrage ferme des rubriques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peut porter une </a:t>
                      </a:r>
                      <a:pPr indent="0" marL="0">
                        <a:buNone/>
                      </a:pPr>
                      <a:r>
                        <a:rPr lang="en-US" sz="1150" b="1" dirty="0">
                          <a:solidFill>
                            <a:srgbClr val="1B2A3A"/>
                          </a:solidFill>
                          <a:latin typeface="Segoe UI" pitchFamily="34" charset="0"/>
                          <a:ea typeface="Segoe UI" pitchFamily="34" charset="-122"/>
                          <a:cs typeface="Segoe UI" pitchFamily="34" charset="-120"/>
                        </a:rPr>
                        <a:t>condition</a:t>
                      </a:r>
                      <a:pPr indent="0" marL="0">
                        <a:buNone/>
                      </a:pPr>
                      <a:r>
                        <a:rPr lang="en-US" sz="1150" dirty="0">
                          <a:solidFill>
                            <a:srgbClr val="1B2A3A"/>
                          </a:solidFill>
                          <a:latin typeface="Segoe UI" pitchFamily="34" charset="0"/>
                          <a:ea typeface="Segoe UI" pitchFamily="34" charset="-122"/>
                          <a:cs typeface="Segoe UI" pitchFamily="34" charset="-120"/>
                        </a:rPr>
                        <a:t> sur les réponses du cadrage. Condition fausse, ou question sans réponse : l’information est ignorée à l’enregistrement et absente du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n’est pas valider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bloc s’enregistre </a:t>
                      </a:r>
                      <a:pPr indent="0" marL="0">
                        <a:buNone/>
                      </a:pPr>
                      <a:r>
                        <a:rPr lang="en-US" sz="1150" b="1" dirty="0">
                          <a:solidFill>
                            <a:srgbClr val="1B2A3A"/>
                          </a:solidFill>
                          <a:latin typeface="Segoe UI" pitchFamily="34" charset="0"/>
                          <a:ea typeface="Segoe UI" pitchFamily="34" charset="-122"/>
                          <a:cs typeface="Segoe UI" pitchFamily="34" charset="-120"/>
                        </a:rPr>
                        <a:t>incomplet</a:t>
                      </a:r>
                      <a:pPr indent="0" marL="0">
                        <a:buNone/>
                      </a:pPr>
                      <a:r>
                        <a:rPr lang="en-US" sz="1150" dirty="0">
                          <a:solidFill>
                            <a:srgbClr val="1B2A3A"/>
                          </a:solidFill>
                          <a:latin typeface="Segoe UI" pitchFamily="34" charset="0"/>
                          <a:ea typeface="Segoe UI" pitchFamily="34" charset="-122"/>
                          <a:cs typeface="Segoe UI" pitchFamily="34" charset="-120"/>
                        </a:rPr>
                        <a:t>. Une valeur illisible (type, option, montant négatif) est refusée champ par champ ; l’obligatoire manquant ne bloque qu’au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bilan des contrôles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Recalculé à chaque lecture : obligatoire renseigné, montant positif, ordre des dates (repli sur celles du plan), garantie valable plus longtemps que les offres, avance au plus 20 %, garantie exigée au-delà de 5 % d’avance, forfait 60/40 ; et des avertissements.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demande que ce qui sert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ne demande que ce que le dossier </a:t>
                      </a:r>
                      <a:pPr indent="0" marL="0">
                        <a:buNone/>
                      </a:pPr>
                      <a:r>
                        <a:rPr lang="en-US" sz="1150" b="1" dirty="0">
                          <a:solidFill>
                            <a:srgbClr val="1B2A3A"/>
                          </a:solidFill>
                          <a:latin typeface="Segoe UI" pitchFamily="34" charset="0"/>
                          <a:ea typeface="Segoe UI" pitchFamily="34" charset="-122"/>
                          <a:cs typeface="Segoe UI" pitchFamily="34" charset="-120"/>
                        </a:rPr>
                        <a:t>imprime</a:t>
                      </a:r>
                      <a:pPr indent="0" marL="0">
                        <a:buNone/>
                      </a:pPr>
                      <a:r>
                        <a:rPr lang="en-US" sz="1150" dirty="0">
                          <a:solidFill>
                            <a:srgbClr val="1B2A3A"/>
                          </a:solidFill>
                          <a:latin typeface="Segoe UI" pitchFamily="34" charset="0"/>
                          <a:ea typeface="Segoe UI" pitchFamily="34" charset="-122"/>
                          <a:cs typeface="Segoe UI" pitchFamily="34" charset="-120"/>
                        </a:rPr>
                        <a:t> ou ce qu’un </a:t>
                      </a:r>
                      <a:pPr indent="0" marL="0">
                        <a:buNone/>
                      </a:pPr>
                      <a:r>
                        <a:rPr lang="en-US" sz="1150" b="1" dirty="0">
                          <a:solidFill>
                            <a:srgbClr val="1B2A3A"/>
                          </a:solidFill>
                          <a:latin typeface="Segoe UI" pitchFamily="34" charset="0"/>
                          <a:ea typeface="Segoe UI" pitchFamily="34" charset="-122"/>
                          <a:cs typeface="Segoe UI" pitchFamily="34" charset="-120"/>
                        </a:rPr>
                        <a:t>contrôle lit</a:t>
                      </a:r>
                      <a:pPr indent="0" marL="0">
                        <a:buNone/>
                      </a:pPr>
                      <a:r>
                        <a:rPr lang="en-US" sz="1150" dirty="0">
                          <a:solidFill>
                            <a:srgbClr val="1B2A3A"/>
                          </a:solidFill>
                          <a:latin typeface="Segoe UI" pitchFamily="34" charset="0"/>
                          <a:ea typeface="Segoe UI" pitchFamily="34" charset="-122"/>
                          <a:cs typeface="Segoe UI" pitchFamily="34" charset="-120"/>
                        </a:rPr>
                        <a:t> : 25 informations retirées en fournitures, 17 en travaux (61 en contrat-cadre de travaux), 13 en prestations intellectuelles. Une information lue par un contrôle reste, facultative. Rien de saisi n’est perdu.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version validée n’est jamais convertie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référentiel change, l’ancienne valeur reste lisible dans sa version, n’est pas reprise à la révision suivante, et se ressaisit.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de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Plusieurs formes peuvent être admises (au moins une si elle est exigée) ; le candidat choisit. Le modèle joint (C1, C2) se choisit. Son taux, rapporté au montant de chaque lot, est comparé aux bornes de l’Administrateur (référence 2 %) : un </a:t>
                      </a:r>
                      <a:pPr indent="0" marL="0">
                        <a:buNone/>
                      </a:pPr>
                      <a:r>
                        <a:rPr lang="en-US" sz="1150" b="1" dirty="0">
                          <a:solidFill>
                            <a:srgbClr val="1B2A3A"/>
                          </a:solidFill>
                          <a:latin typeface="Segoe UI" pitchFamily="34" charset="0"/>
                          <a:ea typeface="Segoe UI" pitchFamily="34" charset="-122"/>
                          <a:cs typeface="Segoe UI" pitchFamily="34" charset="-120"/>
                        </a:rPr>
                        <a:t>avertissement</a:t>
                      </a:r>
                      <a:pPr indent="0" marL="0">
                        <a:buNone/>
                      </a:pPr>
                      <a:r>
                        <a:rPr lang="en-US" sz="1150" dirty="0">
                          <a:solidFill>
                            <a:srgbClr val="1B2A3A"/>
                          </a:solidFill>
                          <a:latin typeface="Segoe UI" pitchFamily="34" charset="0"/>
                          <a:ea typeface="Segoe UI" pitchFamily="34" charset="-122"/>
                          <a:cs typeface="Segoe UI" pitchFamily="34" charset="-120"/>
                        </a:rPr>
                        <a:t>, jamais un blocage.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lots, le besoin, les formulaires du candidat</a:t>
            </a:r>
            <a:endParaRPr lang="en-US" sz="26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varie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montant de la garantie de soumission, les montants minimum et maximum annuels, le délai maximum de livraison… Le nombre de lots est celui du </a:t>
                      </a:r>
                      <a:pPr indent="0" marL="0">
                        <a:buNone/>
                      </a:pPr>
                      <a:r>
                        <a:rPr lang="en-US" sz="1150" b="1" dirty="0">
                          <a:solidFill>
                            <a:srgbClr val="1B2A3A"/>
                          </a:solidFill>
                          <a:latin typeface="Segoe UI" pitchFamily="34" charset="0"/>
                          <a:ea typeface="Segoe UI" pitchFamily="34" charset="-122"/>
                          <a:cs typeface="Segoe UI" pitchFamily="34" charset="-120"/>
                        </a:rPr>
                        <a:t>plan</a:t>
                      </a:r>
                      <a:pPr indent="0" marL="0">
                        <a:buNone/>
                      </a:pPr>
                      <a:r>
                        <a:rPr lang="en-US" sz="1150" dirty="0">
                          <a:solidFill>
                            <a:srgbClr val="1B2A3A"/>
                          </a:solidFill>
                          <a:latin typeface="Segoe UI" pitchFamily="34" charset="0"/>
                          <a:ea typeface="Segoe UI" pitchFamily="34" charset="-122"/>
                          <a:cs typeface="Segoe UI" pitchFamily="34" charset="-120"/>
                        </a:rPr>
                        <a:t> : la fiche n’en invente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Obligatoire pour chaque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par lot obligatoire l’est pour chaque lot : la fiche ne se valide pas tant qu’un lot en manque, et le bilan dit lequel.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d’engagement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Chacun porte les montants de son lot ; les autres documents sont communs et écrivent la valeur lot par lot (« Lot n° 1 : … ; Lot n° 2 : …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besoin (fournitures et services)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Article par article, lot par lot : désignation, unité, quantités, caractéristiques exigées. La fiche ne se valide pas sans besoin complet (un article au moins par lot, une caractéristique au moins par article, minimum ≤ maximum). Travaux : DQE par séries ; prestations intellectuelles : pas de besoin par article.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formulaires du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Produits sur les modèles officiels, seuls les blancs remplis : fiches A1 à A4 une fois pour le dossier ; garanties C1, C2 une fois par lot, au montant du lot. Bordereau des prix et tableau de conformité générés depuis le besoin.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Valeurs par défaut administrables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durées d’antécédents juridiques (5 ans) et financiers (3 ans) sont recopiées dans la fiche à sa création : changer le défaut ne touche pas les fiches déjà ouvertes.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Valider, produire, réviser</a:t>
            </a:r>
            <a:endParaRPr lang="en-US" sz="2600" dirty="0"/>
          </a:p>
        </p:txBody>
      </p:sp>
      <p:graphicFrame>
        <p:nvGraphicFramePr>
          <p:cNvPr id="15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Valider fige, réviser ouvre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valide ; un contrôle bloquant l’empêche. La version validée est figée et reste lisible ; réviser ouvre la version suivante en brouillon, copie de la validée.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Produits à la validation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sur un brouillon. La production a lieu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de figer : si elle échoue, la validation est annulée.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document type de l’ARMP, rempli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Texte fixe repris tel quel, trous remplis par la fiche, rédaction choisie par des </a:t>
                      </a:r>
                      <a:pPr indent="0" marL="0">
                        <a:buNone/>
                      </a:pPr>
                      <a:r>
                        <a:rPr lang="en-US" sz="1150" b="1" dirty="0">
                          <a:solidFill>
                            <a:srgbClr val="1B2A3A"/>
                          </a:solidFill>
                          <a:latin typeface="Segoe UI" pitchFamily="34" charset="0"/>
                          <a:ea typeface="Segoe UI" pitchFamily="34" charset="-122"/>
                          <a:cs typeface="Segoe UI" pitchFamily="34" charset="-120"/>
                        </a:rPr>
                        <a:t>conditions écrites dans le modèle</a:t>
                      </a:r>
                      <a:pPr indent="0" marL="0">
                        <a:buNone/>
                      </a:pPr>
                      <a:r>
                        <a:rPr lang="en-US" sz="1150" dirty="0">
                          <a:solidFill>
                            <a:srgbClr val="1B2A3A"/>
                          </a:solidFill>
                          <a:latin typeface="Segoe UI" pitchFamily="34" charset="0"/>
                          <a:ea typeface="Segoe UI" pitchFamily="34" charset="-122"/>
                          <a:cs typeface="Segoe UI" pitchFamily="34" charset="-120"/>
                        </a:rPr>
                        <a:t> ; ce que remplissent le candidat ou la notification reste entre chevrons. Un modèle illisible empêche le démarrage : un document ne sort jamais faux en silence.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régénérés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d’une version validée sont ce que la Commission a examiné et ce que les candidats ont retiré. Une règle nouvelle des modèles ne vaut que pour les versions validées après 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corrige la fiche, pas son produit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pièce produite ne se supprime pas à la main — Administrateur compris — et ne se double pas d’une pièce manuelle du même 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Montants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convertisseur écrit jusqu’aux milliards, pour la fiche comme pour les PV et les lettres.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DAO complet</a:t>
            </a:r>
            <a:endParaRPr lang="en-US" sz="2600" dirty="0"/>
          </a:p>
        </p:txBody>
      </p:sp>
      <p:graphicFrame>
        <p:nvGraphicFramePr>
          <p:cNvPr id="1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document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Page de garde, sommaire, deux parties : 1.1 instructions aux candidats, 1.2 données particulières (DPAO, DPAC ou DPIC), 1.3 formulaires ; 2.1 acte d’engagement lot par lot, 2.2 cahier des prescriptions spéciales, spécifications techniques et liste des fournitures, 2.3 CCAG.</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Il assemble, il ne réécrit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partie est le document que la fiche produit déjà ; seul l’assemblage peut être refait.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Où il est servi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Dans les documents de la fiche ; au dossier soumis à la Commission, dont il est la </a:t>
                      </a:r>
                      <a:pPr indent="0" marL="0">
                        <a:buNone/>
                      </a:pPr>
                      <a:r>
                        <a:rPr lang="en-US" sz="1150" b="1" dirty="0">
                          <a:solidFill>
                            <a:srgbClr val="1B2A3A"/>
                          </a:solidFill>
                          <a:latin typeface="Segoe UI" pitchFamily="34" charset="0"/>
                          <a:ea typeface="Segoe UI" pitchFamily="34" charset="-122"/>
                          <a:cs typeface="Segoe UI" pitchFamily="34" charset="-120"/>
                        </a:rPr>
                        <a:t>pièce unique</a:t>
                      </a:r>
                      <a:pPr indent="0" marL="0">
                        <a:buNone/>
                      </a:pPr>
                      <a:r>
                        <a:rPr lang="en-US" sz="1150" dirty="0">
                          <a:solidFill>
                            <a:srgbClr val="1B2A3A"/>
                          </a:solidFill>
                          <a:latin typeface="Segoe UI" pitchFamily="34" charset="0"/>
                          <a:ea typeface="Segoe UI" pitchFamily="34" charset="-122"/>
                          <a:cs typeface="Segoe UI" pitchFamily="34" charset="-120"/>
                        </a:rPr>
                        <a:t> du DAO ; au retrait par les candidats, sous la garde des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reste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classeurs (bordereau des prix, DQE, tableau de conformité), l’avis spécifique, les lettres d’invitation. Prestations intellectuelles : titre « Dossier de consultation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spécifications techniques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Word joint par la PRMP ou son UGPM (20 Mo au plus, sans macros), figé à la validation et recopié à la révision. Tant qu’il manque : un avertissement, non bloquant.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pièce ne s’imprime qu’une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liste des pièces de l’offre est saisie, le texte libre de la même rubrique n’est plus imprimé.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26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produit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Par la PRMP, depuis une dernière version validée ; un dossier par fiche. Entité, localité et PRMP viennent du plan : rien n’est redemandé. Le dossier naît en brouillon ; la Commission lit la fiche avec lui, l’examen porte sur les pièces.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rectification est une révision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un nouveau dossier : la fiche ne se révise pas tant que la Commission tient le dossier ; resoumettre sans avoir revalidé est refusé ; les documents de la révision remplacent les pièces produites, l’ancienne version gardée.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spécifique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Fournitures et travaux : après un PV signé favorable, ou favorable avec réserves une fois les réserves levées ; sur la dernière version validée ; chaque impression conservée ; ce n’est pas une pièce du DAO.</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 :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Pas d’avis public. L’appel à manifestation d’intérêt se prépare (critères pondérés sur 100), se publie, reçoit les expressions en ligne, lues </a:t>
                      </a:r>
                      <a:pPr indent="0" marL="0">
                        <a:buNone/>
                      </a:pPr>
                      <a:r>
                        <a:rPr lang="en-US" sz="1150" b="1" dirty="0">
                          <a:solidFill>
                            <a:srgbClr val="1B2A3A"/>
                          </a:solidFill>
                          <a:latin typeface="Segoe UI" pitchFamily="34" charset="0"/>
                          <a:ea typeface="Segoe UI" pitchFamily="34" charset="-122"/>
                          <a:cs typeface="Segoe UI" pitchFamily="34" charset="-120"/>
                        </a:rPr>
                        <a:t>après la date limite</a:t>
                      </a:r>
                      <a:pPr indent="0" marL="0">
                        <a:buNone/>
                      </a:pPr>
                      <a:r>
                        <a:rPr lang="en-US" sz="1150" dirty="0">
                          <a:solidFill>
                            <a:srgbClr val="1B2A3A"/>
                          </a:solidFill>
                          <a:latin typeface="Segoe UI" pitchFamily="34" charset="0"/>
                          <a:ea typeface="Segoe UI" pitchFamily="34" charset="-122"/>
                          <a:cs typeface="Segoe UI" pitchFamily="34" charset="-120"/>
                        </a:rPr>
                        <a:t> seulement ; la commission note et arrête une liste restreinte de six, publiée et notifiée.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lettres et la demande de propositions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vont aux candidats de la liste définitive. Le dossier de la demande de propositions ne se crée qu’avec la liste définitive ; le rapport de présélection signé y est joint d’office.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L’import du DAO</a:t>
            </a:r>
            <a:endParaRPr lang="en-US" sz="26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reste la source de vérité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document est lu « à l’envers » avec les modèles ; rien n’est écrit sans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proposition dit sa confiance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Haute, moyenne ou basse, avec le passage lu et la valeur déjà saisie. L’écran ne coche jamais d’office une case qui écraserait une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fait foi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reprise du plan n’est jamais importée : un écart est signalé comme divergence. Les valeurs calculées et les pièces ne s’importent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contourne la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valeur que la saisie refuserait est une anomalie ; une information fermée par le cadrage aussi. Deux lectures possibles d’un passage sont montrées, jamais tranchées.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écriture d’un seul tenant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ajoute sans effacer ; un seul refus et rien n’est écrit. Sur un brouillon, par la PRMP ou son UGPM. Le fichier n’est pas conservé (nom et empreinte au journal). PDF texte accepté, PDF scanné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05</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Consulter : l’appel à manifestation d’intérêt</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Pour les prestations intellectuelles, la liste restreinte naît d’un appel à manifestation d’intérêt mené dans l’application : publié, reçu en ligne, noté par la commission.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l’AMI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Préparer l’appel</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Critères pondérés sur 100, pièces attendues, note minimale, six retenus.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Publier, ou dispenser</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supports de publication, l’avis signé ; la dispense motivée.</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L’expression d’intérêt</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dépôt du consultant, l’accusé et son empreinte ; remplacer, retirer.</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présélection</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déclaration, la notation par critère, l’écartement, le classement.</a:t>
            </a:r>
            <a:endParaRPr lang="en-US" sz="1200" dirty="0"/>
          </a:p>
        </p:txBody>
      </p:sp>
      <p:sp>
        <p:nvSpPr>
          <p:cNvPr id="21" name="Shape 19"/>
          <p:cNvSpPr/>
          <p:nvPr/>
        </p:nvSpPr>
        <p:spPr>
          <a:xfrm>
            <a:off x="4385624" y="3962400"/>
            <a:ext cx="3420448" cy="2159000"/>
          </a:xfrm>
          <a:prstGeom prst="rect">
            <a:avLst/>
          </a:prstGeom>
          <a:solidFill>
            <a:srgbClr val="FFF7E0"/>
          </a:solidFill>
          <a:ln w="9525">
            <a:solidFill>
              <a:srgbClr val="D5DCE4"/>
            </a:solidFill>
            <a:prstDash val="solid"/>
          </a:ln>
        </p:spPr>
      </p:sp>
      <p:sp>
        <p:nvSpPr>
          <p:cNvPr id="22" name="Shape 20"/>
          <p:cNvSpPr/>
          <p:nvPr/>
        </p:nvSpPr>
        <p:spPr>
          <a:xfrm>
            <a:off x="4385624" y="3962400"/>
            <a:ext cx="3420448" cy="38100"/>
          </a:xfrm>
          <a:prstGeom prst="rect">
            <a:avLst/>
          </a:prstGeom>
          <a:solidFill>
            <a:srgbClr val="E3AE2E"/>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liste et le rapport</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L’arrêt par le président, la signature, la liste publiée et notifiée.</a:t>
            </a:r>
            <a:endParaRPr lang="en-US" sz="1200" dirty="0"/>
          </a:p>
        </p:txBody>
      </p:sp>
      <p:sp>
        <p:nvSpPr>
          <p:cNvPr id="25" name="Shape 23"/>
          <p:cNvSpPr/>
          <p:nvPr/>
        </p:nvSpPr>
        <p:spPr>
          <a:xfrm>
            <a:off x="7958468" y="3962400"/>
            <a:ext cx="3420448" cy="2159000"/>
          </a:xfrm>
          <a:prstGeom prst="rect">
            <a:avLst/>
          </a:prstGeom>
          <a:solidFill>
            <a:srgbClr val="FFF7E0"/>
          </a:solidFill>
          <a:ln w="9525">
            <a:solidFill>
              <a:srgbClr val="D5DCE4"/>
            </a:solidFill>
            <a:prstDash val="solid"/>
          </a:ln>
        </p:spPr>
      </p:sp>
      <p:sp>
        <p:nvSpPr>
          <p:cNvPr id="26" name="Shape 24"/>
          <p:cNvSpPr/>
          <p:nvPr/>
        </p:nvSpPr>
        <p:spPr>
          <a:xfrm>
            <a:off x="7958468" y="3962400"/>
            <a:ext cx="3420448" cy="38100"/>
          </a:xfrm>
          <a:prstGeom prst="rect">
            <a:avLst/>
          </a:prstGeom>
          <a:solidFill>
            <a:srgbClr val="E3AE2E"/>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lettres d’invitation</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Tirées de la liste définitive ; le dossier de la demande de propositions.</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L’appel à manifestation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L'appel à manifestation d'intérêt d'une procédure de prestations intellectuelles : en préparation (BROUILLON), publié (PUBLIE, figé), ou dispensé de publicité (DISPENSE : la liste restreinte se saisit alors comme avant).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L’expression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expression d'intérêt déposée par un candidat : en clair, sans scellement, mais illisible de l'administration avant la date limite (arbitrage Q2).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d’une expression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d'une expression d'intérêt : son libellé (une des pièces attendues), le fichier, son empreinte.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commission sur l'AMI (conflit d'intérêts, confidentialité).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d’un critère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t_ami_note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retenue par la commission pour une expression d'intérêt sur un critère publié (de 0 au poids du critère), avec son motif ; une seule par expression et par critère (une nouvelle saisie la remplace, le journal garde la trace).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liste restreinte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t_ami_liste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candidat de la liste restreinte arrêtée : son rang, son compte, sa note.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 de présélection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de présélection par un membre, ou son empêchement constaté.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L’invité de la consultation restreinte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t_invitation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invité de la consultation restreinte : un candidat de la liste de l'AMI (AMI, son compte), ou saisi par la PRMP (SAISIE, son adresse électronique, par laquelle son compte lui est rattaché) ; son rang et sa lettre d'invitation (le PDF).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L’appel à manifestation d’intérêt  ·  t_ami  ·  24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PUBLIE, DISPENSE, INFRUCTUEUX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DATE_LIMITE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Criteres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NOTE_MINIMALE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 minimale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NOMBRE_RETENUS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MOTIF_DISPENSE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dispense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LISTE_DEFINITIVE_LE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definitive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dernière signature du rapport : la liste est définitive, publiée et notifiée (Q5).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NOMBRE_RELANCES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relances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MOTIF_INFRUCTUEUX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infructueux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L’expression d’intérêt  ·  t_ami_expression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DEPOSEE, REMPLACEE, RETIREE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d’une expression  ·  t_ami_expression_piece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16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d’un membre  ·  t_ami_declaration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d’un critère  ·  t_ami_note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liste restreinte  ·  t_ami_liste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16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de présélection  ·  t_ami_signature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L’invité de la consultation restreinte (lot 3)  ·  t_invitation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INVITE_LE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Invite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23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6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Préparer l’appel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RG-AMI-01 → 05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mode AMI ouvre une fiche DAO · Préparé par la PRMP ou l’UGPM · Des critères qui totalisent 100 · Six candidats à retenir · Modifiable jusqu’à la publication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Publier ou dispenser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RG-AMI-06 → 07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seule publie l’avis · La dispense de publicité motivée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expressions d’intérêt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RG-AMI-08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Déposer son expression en ligne · Remplacer, retirer, recevoir un accusé · Lues après la date limite seulement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présélection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RG-AMI-11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déclaration propre à l’AMI · Une notation collégiale et motivée · Écarter une expression, avec un motif · Qualifiée, puis classée par total · Le président arrête la liste · Moins de six qualifiés : motiver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rapport et la liste restreinte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RG-AMI-17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rapport signé des membres · Une liste publiée et notifiée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demande de propositions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RG-AMI-19 → 21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Pas de dossier sans liste définitive · Les invitations tirées de la liste · Les invitations après l’avis favorable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Relance et infructuosité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RG-AMI-22 → 23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Relancer l’AMI, avec un motif · Sans qualifié, l’AMI infructueux</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graphicFrame>
        <p:nvGraphicFramePr>
          <p:cNvPr id="17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AMI ouvre une fiche DAO</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 Appel à manifestation d’intérêt » des lignes de prestations intellectuelles est rattaché au type de dossier « appel d’offres » : la PRMP crée la fiche de la ligne, qui porte d’abord l’AMI, puis la demande de propositions.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Préparé par la PRMP ou l’UGPM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prépare l’AMI de la procédure, sur une fiche de </a:t>
                      </a:r>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a:t>
                      </a:r>
                      <a:pPr indent="0" marL="0">
                        <a:buNone/>
                      </a:pPr>
                      <a:r>
                        <a:rPr lang="en-US" sz="1150" dirty="0">
                          <a:solidFill>
                            <a:srgbClr val="1B2A3A"/>
                          </a:solidFill>
                          <a:latin typeface="Segoe UI" pitchFamily="34" charset="0"/>
                          <a:ea typeface="Segoe UI" pitchFamily="34" charset="-122"/>
                          <a:cs typeface="Segoe UI" pitchFamily="34" charset="-120"/>
                        </a:rPr>
                        <a:t> seulement ; son objet est repris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critères qui totalisent 100</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de sélection (aptitude, références, expérience…) portent chacun un poids positif ; les poids </a:t>
                      </a:r>
                      <a:pPr indent="0" marL="0">
                        <a:buNone/>
                      </a:pPr>
                      <a:r>
                        <a:rPr lang="en-US" sz="1150" b="1" dirty="0">
                          <a:solidFill>
                            <a:srgbClr val="1B2A3A"/>
                          </a:solidFill>
                          <a:latin typeface="Segoe UI" pitchFamily="34" charset="0"/>
                          <a:ea typeface="Segoe UI" pitchFamily="34" charset="-122"/>
                          <a:cs typeface="Segoe UI" pitchFamily="34" charset="-120"/>
                        </a:rPr>
                        <a:t>totalisent 100</a:t>
                      </a:r>
                      <a:pPr indent="0" marL="0">
                        <a:buNone/>
                      </a:pPr>
                      <a:r>
                        <a:rPr lang="en-US" sz="1150" dirty="0">
                          <a:solidFill>
                            <a:srgbClr val="1B2A3A"/>
                          </a:solidFill>
                          <a:latin typeface="Segoe UI" pitchFamily="34" charset="0"/>
                          <a:ea typeface="Segoe UI" pitchFamily="34" charset="-122"/>
                          <a:cs typeface="Segoe UI" pitchFamily="34" charset="-120"/>
                        </a:rPr>
                        <a:t>. Une note minimale de qualification, sur 100, est facultative.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Six candidats à retenir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L’AMI fixe les pièces attendues, une date limite à venir et le nombre de candidats à retenir : </a:t>
                      </a:r>
                      <a:pPr indent="0" marL="0">
                        <a:buNone/>
                      </a:pPr>
                      <a:r>
                        <a:rPr lang="en-US" sz="1150" b="1" dirty="0">
                          <a:solidFill>
                            <a:srgbClr val="1B2A3A"/>
                          </a:solidFill>
                          <a:latin typeface="Segoe UI" pitchFamily="34" charset="0"/>
                          <a:ea typeface="Segoe UI" pitchFamily="34" charset="-122"/>
                          <a:cs typeface="Segoe UI" pitchFamily="34" charset="-120"/>
                        </a:rPr>
                        <a:t>six</a:t>
                      </a:r>
                      <a:pPr indent="0" marL="0">
                        <a:buNone/>
                      </a:pPr>
                      <a:r>
                        <a:rPr lang="en-US" sz="1150" dirty="0">
                          <a:solidFill>
                            <a:srgbClr val="1B2A3A"/>
                          </a:solidFill>
                          <a:latin typeface="Segoe UI" pitchFamily="34" charset="0"/>
                          <a:ea typeface="Segoe UI" pitchFamily="34" charset="-122"/>
                          <a:cs typeface="Segoe UI" pitchFamily="34" charset="-120"/>
                        </a:rPr>
                        <a:t> par défaut.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Modifiable jusqu’à la publication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qu’il n’est pas publié, l’AMI se modifie et son avis se lit en projet. Ses critères vivent sur l’AMI, non dans la fiche, et se figent à la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ou dispenser</a:t>
            </a:r>
            <a:endParaRPr lang="en-US" sz="26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seule publie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publie l’AMI, en déclarant au moins un support daté (journal des marchés de l’ARMP, journal national…). L’AMI est figé ; l’avis, </a:t>
                      </a:r>
                      <a:pPr indent="0" marL="0">
                        <a:buNone/>
                      </a:pPr>
                      <a:r>
                        <a:rPr lang="en-US" sz="1150" b="1" dirty="0">
                          <a:solidFill>
                            <a:srgbClr val="1B2A3A"/>
                          </a:solidFill>
                          <a:latin typeface="Segoe UI" pitchFamily="34" charset="0"/>
                          <a:ea typeface="Segoe UI" pitchFamily="34" charset="-122"/>
                          <a:cs typeface="Segoe UI" pitchFamily="34" charset="-120"/>
                        </a:rPr>
                        <a:t>signé électroniquement</a:t>
                      </a:r>
                      <a:pPr indent="0" marL="0">
                        <a:buNone/>
                      </a:pPr>
                      <a:r>
                        <a:rPr lang="en-US" sz="1150" dirty="0">
                          <a:solidFill>
                            <a:srgbClr val="1B2A3A"/>
                          </a:solidFill>
                          <a:latin typeface="Segoe UI" pitchFamily="34" charset="0"/>
                          <a:ea typeface="Segoe UI" pitchFamily="34" charset="-122"/>
                          <a:cs typeface="Segoe UI" pitchFamily="34" charset="-120"/>
                        </a:rPr>
                        <a:t> par elle, paraît sur la liste publique des 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dispense de publicité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peut déclarer la </a:t>
                      </a:r>
                      <a:pPr indent="0" marL="0">
                        <a:buNone/>
                      </a:pPr>
                      <a:r>
                        <a:rPr lang="en-US" sz="1150" b="1" dirty="0">
                          <a:solidFill>
                            <a:srgbClr val="1B2A3A"/>
                          </a:solidFill>
                          <a:latin typeface="Segoe UI" pitchFamily="34" charset="0"/>
                          <a:ea typeface="Segoe UI" pitchFamily="34" charset="-122"/>
                          <a:cs typeface="Segoe UI" pitchFamily="34" charset="-120"/>
                        </a:rPr>
                        <a:t>dispense de publicité</a:t>
                      </a:r>
                      <a:pPr indent="0" marL="0">
                        <a:buNone/>
                      </a:pPr>
                      <a:r>
                        <a:rPr lang="en-US" sz="1150" dirty="0">
                          <a:solidFill>
                            <a:srgbClr val="1B2A3A"/>
                          </a:solidFill>
                          <a:latin typeface="Segoe UI" pitchFamily="34" charset="0"/>
                          <a:ea typeface="Segoe UI" pitchFamily="34" charset="-122"/>
                          <a:cs typeface="Segoe UI" pitchFamily="34" charset="-120"/>
                        </a:rPr>
                        <a:t>, avec son motif : l’AMI n’a alors ni avis ni dépôt, et la liste restreinte se saisit directement aux lettres d’invitation. Le seuil de dispense reste à préciser par le juriste.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a:t>
            </a:r>
            <a:endParaRPr lang="en-US" sz="26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Déposer son expression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candidat dont l’entreprise est déclarée dépose en ligne son expression d’intérêt avant la date limite : lettre, qualifications, références, groupement, et un fichier par pièce attendue.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retirer, recevoir un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peut remplacer ou retirer son expression jusqu’à la date limite. Il reçoit un accusé portant le numéro, la date et l’</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son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Lues après la date limite seulement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expressions ne sont pas scellées, mais </a:t>
                      </a:r>
                      <a:pPr indent="0" marL="0">
                        <a:buNone/>
                      </a:pPr>
                      <a:r>
                        <a:rPr lang="en-US" sz="1150" b="1" dirty="0">
                          <a:solidFill>
                            <a:srgbClr val="1B2A3A"/>
                          </a:solidFill>
                          <a:latin typeface="Segoe UI" pitchFamily="34" charset="0"/>
                          <a:ea typeface="Segoe UI" pitchFamily="34" charset="-122"/>
                          <a:cs typeface="Segoe UI" pitchFamily="34" charset="-120"/>
                        </a:rPr>
                        <a:t>personne ne les lit avant la date limite</a:t>
                      </a:r>
                      <a:pPr indent="0" marL="0">
                        <a:buNone/>
                      </a:pPr>
                      <a:r>
                        <a:rPr lang="en-US" sz="1150" dirty="0">
                          <a:solidFill>
                            <a:srgbClr val="1B2A3A"/>
                          </a:solidFill>
                          <a:latin typeface="Segoe UI" pitchFamily="34" charset="0"/>
                          <a:ea typeface="Segoe UI" pitchFamily="34" charset="-122"/>
                          <a:cs typeface="Segoe UI" pitchFamily="34" charset="-120"/>
                        </a:rPr>
                        <a:t> : l’administration n’en voit que le nombre.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a:t>
            </a:r>
            <a:endParaRPr lang="en-US" sz="2600" dirty="0"/>
          </a:p>
        </p:txBody>
      </p:sp>
      <p:graphicFrame>
        <p:nvGraphicFramePr>
          <p:cNvPr id="17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déclaration propre à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d’appel d’offres signe une déclaration propre à l’AMI. Un membre en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ne décide rien et ne signe pas le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notation collégiale et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note chaque expression critère par critère, de zéro aux points du critère, toujours 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Une nouvelle note remplace la précédente ; le journal garde chaque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une expression,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peut écarter une expression avec un motif, ou la rétablir. Une expression écartée ne se note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Qualifiée, puis classée par total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Est </a:t>
                      </a:r>
                      <a:pPr indent="0" marL="0">
                        <a:buNone/>
                      </a:pPr>
                      <a:r>
                        <a:rPr lang="en-US" sz="1150" b="1" dirty="0">
                          <a:solidFill>
                            <a:srgbClr val="1B2A3A"/>
                          </a:solidFill>
                          <a:latin typeface="Segoe UI" pitchFamily="34" charset="0"/>
                          <a:ea typeface="Segoe UI" pitchFamily="34" charset="-122"/>
                          <a:cs typeface="Segoe UI" pitchFamily="34" charset="-120"/>
                        </a:rPr>
                        <a:t>qualifiée</a:t>
                      </a:r>
                      <a:pPr indent="0" marL="0">
                        <a:buNone/>
                      </a:pPr>
                      <a:r>
                        <a:rPr lang="en-US" sz="1150" dirty="0">
                          <a:solidFill>
                            <a:srgbClr val="1B2A3A"/>
                          </a:solidFill>
                          <a:latin typeface="Segoe UI" pitchFamily="34" charset="0"/>
                          <a:ea typeface="Segoe UI" pitchFamily="34" charset="-122"/>
                          <a:cs typeface="Segoe UI" pitchFamily="34" charset="-120"/>
                        </a:rPr>
                        <a:t> une expression notée sur tous les critères, non écartée, qui atteint la note minimale. Le serveur totalise sur 100 et classe les qualifiées par total décroissant.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arrête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fois toutes les expressions non écartées notées,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la liste des premières qualifiées, dans la limite du nombre de l’AMI. Une égalité au seuil se départage.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Moins de six qualifiés : motiver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S’il y a moins de qualifiées que de places, la liste s’arrête avec elles et le nombre est </a:t>
                      </a:r>
                      <a:pPr indent="0" marL="0">
                        <a:buNone/>
                      </a:pPr>
                      <a:r>
                        <a:rPr lang="en-US" sz="1150" b="1" dirty="0">
                          <a:solidFill>
                            <a:srgbClr val="1B2A3A"/>
                          </a:solidFill>
                          <a:latin typeface="Segoe UI" pitchFamily="34" charset="0"/>
                          <a:ea typeface="Segoe UI" pitchFamily="34" charset="-122"/>
                          <a:cs typeface="Segoe UI" pitchFamily="34" charset="-120"/>
                        </a:rPr>
                        <a:t>motivé</a:t>
                      </a:r>
                      <a:pPr indent="0" marL="0">
                        <a:buNone/>
                      </a:pPr>
                      <a:r>
                        <a:rPr lang="en-US" sz="1150" dirty="0">
                          <a:solidFill>
                            <a:srgbClr val="1B2A3A"/>
                          </a:solidFill>
                          <a:latin typeface="Segoe UI" pitchFamily="34" charset="0"/>
                          <a:ea typeface="Segoe UI" pitchFamily="34" charset="-122"/>
                          <a:cs typeface="Segoe UI" pitchFamily="34" charset="-120"/>
                        </a:rPr>
                        <a:t> au rapport ; la PRMP peut à la place relancer l’AMI.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et la liste restreinte</a:t>
            </a:r>
            <a:endParaRPr lang="en-US" sz="26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rapport signé des membres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L’arrêt produit le rapport de présélection : commission, notes par critère et leurs motifs, écartements, liste, motif du nombre, observations. Il est signé des membres ; un empêchement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liste publiée et notifiée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liste est </a:t>
                      </a:r>
                      <a:pPr indent="0" marL="0">
                        <a:buNone/>
                      </a:pPr>
                      <a:r>
                        <a:rPr lang="en-US" sz="1150" b="1" dirty="0">
                          <a:solidFill>
                            <a:srgbClr val="1B2A3A"/>
                          </a:solidFill>
                          <a:latin typeface="Segoe UI" pitchFamily="34" charset="0"/>
                          <a:ea typeface="Segoe UI" pitchFamily="34" charset="-122"/>
                          <a:cs typeface="Segoe UI" pitchFamily="34" charset="-120"/>
                        </a:rPr>
                        <a:t>définitive</a:t>
                      </a:r>
                      <a:pPr indent="0" marL="0">
                        <a:buNone/>
                      </a:pPr>
                      <a:r>
                        <a:rPr lang="en-US" sz="1150" dirty="0">
                          <a:solidFill>
                            <a:srgbClr val="1B2A3A"/>
                          </a:solidFill>
                          <a:latin typeface="Segoe UI" pitchFamily="34" charset="0"/>
                          <a:ea typeface="Segoe UI" pitchFamily="34" charset="-122"/>
                          <a:cs typeface="Segoe UI" pitchFamily="34" charset="-120"/>
                        </a:rPr>
                        <a:t> : publiée sur la page de l’AMI et notifiée à chaque candidat, les non retenus avec leur motif (écartement, note sous le minimum, rang au-delà des places).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demande de propositions</a:t>
            </a:r>
            <a:endParaRPr lang="en-US" sz="2600" dirty="0"/>
          </a:p>
        </p:txBody>
      </p:sp>
      <p:graphicFrame>
        <p:nvGraphicFramePr>
          <p:cNvPr id="17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dossier sans liste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de la demande de propositions ne se crée qu’une fois la liste définitive ; avant, il est refusé (liste non arrêtée). Il reçoit d’office le </a:t>
                      </a:r>
                      <a:pPr indent="0" marL="0">
                        <a:buNone/>
                      </a:pPr>
                      <a:r>
                        <a:rPr lang="en-US" sz="1150" b="1" dirty="0">
                          <a:solidFill>
                            <a:srgbClr val="1B2A3A"/>
                          </a:solidFill>
                          <a:latin typeface="Segoe UI" pitchFamily="34" charset="0"/>
                          <a:ea typeface="Segoe UI" pitchFamily="34" charset="-122"/>
                          <a:cs typeface="Segoe UI" pitchFamily="34" charset="-120"/>
                        </a:rPr>
                        <a:t>rapport signé</a:t>
                      </a:r>
                      <a:pPr indent="0" marL="0">
                        <a:buNone/>
                      </a:pPr>
                      <a:r>
                        <a:rPr lang="en-US" sz="1150" dirty="0">
                          <a:solidFill>
                            <a:srgbClr val="1B2A3A"/>
                          </a:solidFill>
                          <a:latin typeface="Segoe UI" pitchFamily="34" charset="0"/>
                          <a:ea typeface="Segoe UI" pitchFamily="34" charset="-122"/>
                          <a:cs typeface="Segoe UI" pitchFamily="34" charset="-120"/>
                        </a:rPr>
                        <a:t>, que la Commission examine avec lui.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tirées de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Avec une liste définitive, les lettres d’invitation vont aux candidats </a:t>
                      </a:r>
                      <a:pPr indent="0" marL="0">
                        <a:buNone/>
                      </a:pPr>
                      <a:r>
                        <a:rPr lang="en-US" sz="1150" b="1" dirty="0">
                          <a:solidFill>
                            <a:srgbClr val="1B2A3A"/>
                          </a:solidFill>
                          <a:latin typeface="Segoe UI" pitchFamily="34" charset="0"/>
                          <a:ea typeface="Segoe UI" pitchFamily="34" charset="-122"/>
                          <a:cs typeface="Segoe UI" pitchFamily="34" charset="-120"/>
                        </a:rPr>
                        <a:t>de la liste</a:t>
                      </a:r>
                      <a:pPr indent="0" marL="0">
                        <a:buNone/>
                      </a:pPr>
                      <a:r>
                        <a:rPr lang="en-US" sz="1150" dirty="0">
                          <a:solidFill>
                            <a:srgbClr val="1B2A3A"/>
                          </a:solidFill>
                          <a:latin typeface="Segoe UI" pitchFamily="34" charset="0"/>
                          <a:ea typeface="Segoe UI" pitchFamily="34" charset="-122"/>
                          <a:cs typeface="Segoe UI" pitchFamily="34" charset="-120"/>
                        </a:rPr>
                        <a:t>, sans autre saisie ; chacun est averti en ligne et par courriel. Sans AMI, ou après une dispense, la liste se saisit comme avant.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attendent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réserves levées le cas échéant. Leur première impression fait passer la ligne du plan à « Lancé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Lettres d'invitation (2026-10-01, lot AV-4.1)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Relance et infructuosité</a:t>
            </a:r>
            <a:endParaRPr lang="en-US" sz="2600" dirty="0"/>
          </a:p>
        </p:txBody>
      </p:sp>
      <p:graphicFrame>
        <p:nvGraphicFramePr>
          <p:cNvPr id="17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Relancer l’AMI,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et avant l’arrêt de la liste, la PRMP peut </a:t>
                      </a:r>
                      <a:pPr indent="0" marL="0">
                        <a:buNone/>
                      </a:pPr>
                      <a:r>
                        <a:rPr lang="en-US" sz="1150" b="1" dirty="0">
                          <a:solidFill>
                            <a:srgbClr val="1B2A3A"/>
                          </a:solidFill>
                          <a:latin typeface="Segoe UI" pitchFamily="34" charset="0"/>
                          <a:ea typeface="Segoe UI" pitchFamily="34" charset="-122"/>
                          <a:cs typeface="Segoe UI" pitchFamily="34" charset="-120"/>
                        </a:rPr>
                        <a:t>relancer</a:t>
                      </a:r>
                      <a:pPr indent="0" marL="0">
                        <a:buNone/>
                      </a:pPr>
                      <a:r>
                        <a:rPr lang="en-US" sz="1150" dirty="0">
                          <a:solidFill>
                            <a:srgbClr val="1B2A3A"/>
                          </a:solidFill>
                          <a:latin typeface="Segoe UI" pitchFamily="34" charset="0"/>
                          <a:ea typeface="Segoe UI" pitchFamily="34" charset="-122"/>
                          <a:cs typeface="Segoe UI" pitchFamily="34" charset="-120"/>
                        </a:rPr>
                        <a:t> l’AMI avec une nouvelle date limite et un motif : il reparaît dans la liste publique ; expressions et notes restent.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qualifié, l’AMI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expression qualifiée, la PRMP déclare l’AMI </a:t>
                      </a:r>
                      <a:pPr indent="0" marL="0">
                        <a:buNone/>
                      </a:pPr>
                      <a:r>
                        <a:rPr lang="en-US" sz="1150" b="1" dirty="0">
                          <a:solidFill>
                            <a:srgbClr val="1B2A3A"/>
                          </a:solidFill>
                          <a:latin typeface="Segoe UI" pitchFamily="34" charset="0"/>
                          <a:ea typeface="Segoe UI" pitchFamily="34" charset="-122"/>
                          <a:cs typeface="Segoe UI" pitchFamily="34" charset="-120"/>
                        </a:rPr>
                        <a:t>infructueux</a:t>
                      </a:r>
                      <a:pPr indent="0" marL="0">
                        <a:buNone/>
                      </a:pPr>
                      <a:r>
                        <a:rPr lang="en-US" sz="1150" dirty="0">
                          <a:solidFill>
                            <a:srgbClr val="1B2A3A"/>
                          </a:solidFill>
                          <a:latin typeface="Segoe UI" pitchFamily="34" charset="0"/>
                          <a:ea typeface="Segoe UI" pitchFamily="34" charset="-122"/>
                          <a:cs typeface="Segoe UI" pitchFamily="34" charset="-120"/>
                        </a:rPr>
                        <a:t>, avec un motif ; la relance reste possible.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06</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Recevoir les offres en ligne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entreprises consultent les procédures, créent leur compte, règlent les frais de dossier, retirent le DAO, remplissent leur offre en ligne et la déposent scellée sur leur poste.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d’accueil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accueil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propre aux entreprises : ce qu’elles peuvent faire, dans l’ordre.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ouver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Sans compte : référence, objet, lots, date limite, heure de référence.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détail d’une procédure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tail d’une procéd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l’offre doit contenir, les formats et tailles acceptés, l’assistance.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retrait du dossier demande un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 · RG-OFF-07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compte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comp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Nom, adresse, téléphone, mot de passe ;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code à six chiffres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reçu par courriel confirme le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une fois connecté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une fois connect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calendrier, les lots, les règles de la remise électronique ;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Déposer une offre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tant que les dépôts sont ouverts.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à retirer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Word et en PDF, puis le bordereau à remplir (Excel).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document retiré est enregistré sur le poste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inscrit au registre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PRMP. Ici, une procédure lancée avant le 6 octobre : retrait libre ; depuis, un dossier payant attend le reçu validé (ci-après).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DOSSIER PAYANT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des frais, validé avant le retrait et le dépôt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frais de dossier se versent au compte de l’ARMP, hors de la plateforme ; le reçu est déposé en ligne et validé par la PRMP ou l’UGPM.</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candidat dépose son reçu</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référence, date, banque, fichier ; un reçu par </a:t>
            </a:r>
            <a:pPr indent="0" marL="0">
              <a:buNone/>
            </a:pPr>
            <a:r>
              <a:rPr lang="en-US" sz="1200" b="1" dirty="0">
                <a:solidFill>
                  <a:srgbClr val="1B2A3A"/>
                </a:solidFill>
                <a:latin typeface="Segoe UI" pitchFamily="34" charset="0"/>
                <a:ea typeface="Segoe UI" pitchFamily="34" charset="-122"/>
                <a:cs typeface="Segoe UI" pitchFamily="34" charset="-120"/>
              </a:rPr>
              <a:t>entreprise</a:t>
            </a:r>
            <a:pPr indent="0" marL="0">
              <a:buNone/>
            </a:pPr>
            <a:r>
              <a:rPr lang="en-US" sz="1200" dirty="0">
                <a:solidFill>
                  <a:srgbClr val="465568"/>
                </a:solidFill>
                <a:latin typeface="Segoe UI" pitchFamily="34" charset="0"/>
                <a:ea typeface="Segoe UI" pitchFamily="34" charset="-122"/>
                <a:cs typeface="Segoe UI" pitchFamily="34" charset="-120"/>
              </a:rPr>
              <a:t>, pour un ou plusieurs lots.</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PRMP ou l’UGPM décide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Notifiée ; valide, ou refuse avec un motif. Un montant insuffisant est signalé. Une décision ne se reprend pas.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s’ouvre à la validation</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retrait des documents, les formulaires de l’offre et le dépôt. Avant, ils restent fermés.</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ligne « Frais de dossier » ; une offre sans reçu validé lève une </a:t>
            </a:r>
            <a:pPr indent="0" marL="0">
              <a:buNone/>
            </a:pPr>
            <a:r>
              <a:rPr lang="en-US" sz="1200" b="1" dirty="0">
                <a:solidFill>
                  <a:srgbClr val="1B2A3A"/>
                </a:solidFill>
                <a:latin typeface="Segoe UI" pitchFamily="34" charset="0"/>
                <a:ea typeface="Segoe UI" pitchFamily="34" charset="-122"/>
                <a:cs typeface="Segoe UI" pitchFamily="34" charset="-120"/>
              </a:rPr>
              <a:t>alerte</a:t>
            </a:r>
            <a:pPr indent="0" marL="0">
              <a:buNone/>
            </a:pPr>
            <a:r>
              <a:rPr lang="en-US" sz="1200" dirty="0">
                <a:solidFill>
                  <a:srgbClr val="465568"/>
                </a:solidFill>
                <a:latin typeface="Segoe UI" pitchFamily="34" charset="0"/>
                <a:ea typeface="Segoe UI" pitchFamily="34" charset="-122"/>
                <a:cs typeface="Segoe UI" pitchFamily="34" charset="-120"/>
              </a:rPr>
              <a:t>, jamais un rejet.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retrait attend le reçu</a:t>
            </a:r>
            <a:endParaRPr lang="en-US" sz="2600" dirty="0"/>
          </a:p>
        </p:txBody>
      </p:sp>
      <p:sp>
        <p:nvSpPr>
          <p:cNvPr id="4" name="Shape 2"/>
          <p:cNvSpPr/>
          <p:nvPr/>
        </p:nvSpPr>
        <p:spPr>
          <a:xfrm>
            <a:off x="1583090" y="1193800"/>
            <a:ext cx="9025515" cy="3327400"/>
          </a:xfrm>
          <a:prstGeom prst="rect">
            <a:avLst/>
          </a:prstGeom>
          <a:solidFill>
            <a:srgbClr val="FCFCFA"/>
          </a:solidFill>
          <a:ln w="9525">
            <a:solidFill>
              <a:srgbClr val="D5DCE4"/>
            </a:solidFill>
            <a:prstDash val="solid"/>
          </a:ln>
        </p:spPr>
      </p:sp>
      <p:pic>
        <p:nvPicPr>
          <p:cNvPr id="5" name="Image 0" descr="Le retrait attend le reçu">    </p:cNvPr>
          <p:cNvPicPr>
            <a:picLocks noChangeAspect="1"/>
          </p:cNvPicPr>
          <p:nvPr/>
        </p:nvPicPr>
        <p:blipFill>
          <a:blip r:embed="rId1"/>
          <a:stretch>
            <a:fillRect/>
          </a:stretch>
        </p:blipFill>
        <p:spPr>
          <a:xfrm>
            <a:off x="1595790" y="1206500"/>
            <a:ext cx="900011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frais du dossier ; les boutons « Retirer » du DAO complet restent inactifs, la raison est dite.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 reçu du versement</a:t>
            </a:r>
            <a:endParaRPr lang="en-US" sz="2600" dirty="0"/>
          </a:p>
        </p:txBody>
      </p:sp>
      <p:sp>
        <p:nvSpPr>
          <p:cNvPr id="4" name="Shape 2"/>
          <p:cNvSpPr/>
          <p:nvPr/>
        </p:nvSpPr>
        <p:spPr>
          <a:xfrm>
            <a:off x="800080" y="1193800"/>
            <a:ext cx="10591535" cy="3083142"/>
          </a:xfrm>
          <a:prstGeom prst="rect">
            <a:avLst/>
          </a:prstGeom>
          <a:solidFill>
            <a:srgbClr val="FCFCFA"/>
          </a:solidFill>
          <a:ln w="9525">
            <a:solidFill>
              <a:srgbClr val="D5DCE4"/>
            </a:solidFill>
            <a:prstDash val="solid"/>
          </a:ln>
        </p:spPr>
      </p:sp>
      <p:pic>
        <p:nvPicPr>
          <p:cNvPr id="5" name="Image 0" descr="Déposer le reçu du versement">    </p:cNvPr>
          <p:cNvPicPr>
            <a:picLocks noChangeAspect="1"/>
          </p:cNvPicPr>
          <p:nvPr/>
        </p:nvPicPr>
        <p:blipFill>
          <a:blip r:embed="rId1"/>
          <a:stretch>
            <a:fillRect/>
          </a:stretch>
        </p:blipFill>
        <p:spPr>
          <a:xfrm>
            <a:off x="812780" y="1206500"/>
            <a:ext cx="10566136" cy="3057742"/>
          </a:xfrm>
          <a:prstGeom prst="rect">
            <a:avLst/>
          </a:prstGeom>
        </p:spPr>
      </p:pic>
      <p:sp>
        <p:nvSpPr>
          <p:cNvPr id="6" name="Shape 3"/>
          <p:cNvSpPr/>
          <p:nvPr/>
        </p:nvSpPr>
        <p:spPr>
          <a:xfrm>
            <a:off x="812780" y="4416642"/>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16642"/>
            <a:ext cx="38099" cy="1790700"/>
          </a:xfrm>
          <a:prstGeom prst="rect">
            <a:avLst/>
          </a:prstGeom>
          <a:solidFill>
            <a:srgbClr val="1B6FA8"/>
          </a:solidFill>
          <a:ln/>
        </p:spPr>
      </p:sp>
      <p:sp>
        <p:nvSpPr>
          <p:cNvPr id="8" name="Text 5"/>
          <p:cNvSpPr/>
          <p:nvPr/>
        </p:nvSpPr>
        <p:spPr>
          <a:xfrm>
            <a:off x="977876" y="451824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référence, date, banque, et le reçu (PDF ou image).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 · RG-OFF-10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attend la décision</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Le reçu attend la décision">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reçu, et « Voir mon reçu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reçus des frais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eçus des frais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reçus en attente d’abord ; le montant insuffisant signalé ; « Voir le reçu », « Valider », « Refuser… »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RG-OFF-10 · 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Refuser, avec un motif</a:t>
            </a:r>
            <a:endParaRPr lang="en-US" sz="2600" dirty="0"/>
          </a:p>
        </p:txBody>
      </p:sp>
      <p:sp>
        <p:nvSpPr>
          <p:cNvPr id="4" name="Shape 2"/>
          <p:cNvSpPr/>
          <p:nvPr/>
        </p:nvSpPr>
        <p:spPr>
          <a:xfrm>
            <a:off x="1765256" y="1193800"/>
            <a:ext cx="8661183" cy="3327400"/>
          </a:xfrm>
          <a:prstGeom prst="rect">
            <a:avLst/>
          </a:prstGeom>
          <a:solidFill>
            <a:srgbClr val="FCFCFA"/>
          </a:solidFill>
          <a:ln w="9525">
            <a:solidFill>
              <a:srgbClr val="D5DCE4"/>
            </a:solidFill>
            <a:prstDash val="solid"/>
          </a:ln>
        </p:spPr>
      </p:sp>
      <p:pic>
        <p:nvPicPr>
          <p:cNvPr id="5" name="Image 0" descr="Refuser, avec un motif">    </p:cNvPr>
          <p:cNvPicPr>
            <a:picLocks noChangeAspect="1"/>
          </p:cNvPicPr>
          <p:nvPr/>
        </p:nvPicPr>
        <p:blipFill>
          <a:blip r:embed="rId1"/>
          <a:stretch>
            <a:fillRect/>
          </a:stretch>
        </p:blipFill>
        <p:spPr>
          <a:xfrm>
            <a:off x="1777956" y="1206500"/>
            <a:ext cx="8635784"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motif part par courriel ; l’entreprise dépose un nouveau reçu.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validé : le dossier se retire</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Reçu validé : le dossier se retire">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boutons « Retirer » s’ouvrent, et « Déposer une offre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refusé : le motif</a:t>
            </a:r>
            <a:endParaRPr lang="en-US" sz="2600" dirty="0"/>
          </a:p>
        </p:txBody>
      </p:sp>
      <p:sp>
        <p:nvSpPr>
          <p:cNvPr id="4" name="Shape 2"/>
          <p:cNvSpPr/>
          <p:nvPr/>
        </p:nvSpPr>
        <p:spPr>
          <a:xfrm>
            <a:off x="800080" y="1193800"/>
            <a:ext cx="10591535" cy="2359416"/>
          </a:xfrm>
          <a:prstGeom prst="rect">
            <a:avLst/>
          </a:prstGeom>
          <a:solidFill>
            <a:srgbClr val="FCFCFA"/>
          </a:solidFill>
          <a:ln w="9525">
            <a:solidFill>
              <a:srgbClr val="D5DCE4"/>
            </a:solidFill>
            <a:prstDash val="solid"/>
          </a:ln>
        </p:spPr>
      </p:sp>
      <p:pic>
        <p:nvPicPr>
          <p:cNvPr id="5" name="Image 0" descr="Reçu refusé : le motif">    </p:cNvPr>
          <p:cNvPicPr>
            <a:picLocks noChangeAspect="1"/>
          </p:cNvPicPr>
          <p:nvPr/>
        </p:nvPicPr>
        <p:blipFill>
          <a:blip r:embed="rId1"/>
          <a:stretch>
            <a:fillRect/>
          </a:stretch>
        </p:blipFill>
        <p:spPr>
          <a:xfrm>
            <a:off x="812780" y="1206500"/>
            <a:ext cx="10566136" cy="2334016"/>
          </a:xfrm>
          <a:prstGeom prst="rect">
            <a:avLst/>
          </a:prstGeom>
        </p:spPr>
      </p:pic>
      <p:sp>
        <p:nvSpPr>
          <p:cNvPr id="6" name="Shape 3"/>
          <p:cNvSpPr/>
          <p:nvPr/>
        </p:nvSpPr>
        <p:spPr>
          <a:xfrm>
            <a:off x="812780" y="369291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692916"/>
            <a:ext cx="38099" cy="1790700"/>
          </a:xfrm>
          <a:prstGeom prst="rect">
            <a:avLst/>
          </a:prstGeom>
          <a:solidFill>
            <a:srgbClr val="1B6FA8"/>
          </a:solidFill>
          <a:ln/>
        </p:spPr>
      </p:sp>
      <p:sp>
        <p:nvSpPr>
          <p:cNvPr id="8" name="Text 5"/>
          <p:cNvSpPr/>
          <p:nvPr/>
        </p:nvSpPr>
        <p:spPr>
          <a:xfrm>
            <a:off x="977876" y="379451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L’ancien reçu et son motif restent ; un nouveau dépôt est proposé.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Sans reçu validé, pas de dépôt</a:t>
            </a:r>
            <a:endParaRPr lang="en-US" sz="2600" dirty="0"/>
          </a:p>
        </p:txBody>
      </p:sp>
      <p:sp>
        <p:nvSpPr>
          <p:cNvPr id="4" name="Shape 2"/>
          <p:cNvSpPr/>
          <p:nvPr/>
        </p:nvSpPr>
        <p:spPr>
          <a:xfrm>
            <a:off x="800080" y="1193800"/>
            <a:ext cx="10591535" cy="2300111"/>
          </a:xfrm>
          <a:prstGeom prst="rect">
            <a:avLst/>
          </a:prstGeom>
          <a:solidFill>
            <a:srgbClr val="FCFCFA"/>
          </a:solidFill>
          <a:ln w="9525">
            <a:solidFill>
              <a:srgbClr val="D5DCE4"/>
            </a:solidFill>
            <a:prstDash val="solid"/>
          </a:ln>
        </p:spPr>
      </p:sp>
      <p:pic>
        <p:nvPicPr>
          <p:cNvPr id="5" name="Image 0" descr="Sans reçu validé, pas de dépôt">    </p:cNvPr>
          <p:cNvPicPr>
            <a:picLocks noChangeAspect="1"/>
          </p:cNvPicPr>
          <p:nvPr/>
        </p:nvPicPr>
        <p:blipFill>
          <a:blip r:embed="rId1"/>
          <a:stretch>
            <a:fillRect/>
          </a:stretch>
        </p:blipFill>
        <p:spPr>
          <a:xfrm>
            <a:off x="812780" y="1206500"/>
            <a:ext cx="10566136" cy="2274711"/>
          </a:xfrm>
          <a:prstGeom prst="rect">
            <a:avLst/>
          </a:prstGeom>
        </p:spPr>
      </p:pic>
      <p:sp>
        <p:nvSpPr>
          <p:cNvPr id="6" name="Shape 3"/>
          <p:cNvSpPr/>
          <p:nvPr/>
        </p:nvSpPr>
        <p:spPr>
          <a:xfrm>
            <a:off x="812780" y="3633611"/>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3611"/>
            <a:ext cx="38099" cy="1993900"/>
          </a:xfrm>
          <a:prstGeom prst="rect">
            <a:avLst/>
          </a:prstGeom>
          <a:solidFill>
            <a:srgbClr val="1B6FA8"/>
          </a:solidFill>
          <a:ln/>
        </p:spPr>
      </p:sp>
      <p:sp>
        <p:nvSpPr>
          <p:cNvPr id="8" name="Text 5"/>
          <p:cNvSpPr/>
          <p:nvPr/>
        </p:nvSpPr>
        <p:spPr>
          <a:xfrm>
            <a:off x="977876" y="373521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de dépôt ne s’ouvre pas, et renvoie aux frais de dossier ; les formulaires (le contenu du DAO) ne sont pas servis.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Son entreprise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on entrepris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Raison sociale, NIF, STAT, RCS, représentant, pièces : déclarés une fois, vérifiés par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vérification ne bloque jamais un dépôt ; une entreprise exclue par l’ARMP ne peut pas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RG-OFF-02 · RG-OFF-03 · RG-OFF-04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L’OFFRE REMPLIE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Remplir son offre, plus seulement la joindre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Dès que la fiche porte un </a:t>
            </a:r>
            <a:pPr indent="0" marL="0">
              <a:buNone/>
            </a:pPr>
            <a:r>
              <a:rPr lang="en-US" sz="1300" b="1" dirty="0">
                <a:solidFill>
                  <a:srgbClr val="1B2A3A"/>
                </a:solidFill>
                <a:latin typeface="Segoe UI" pitchFamily="34" charset="0"/>
                <a:ea typeface="Segoe UI" pitchFamily="34" charset="-122"/>
                <a:cs typeface="Segoe UI" pitchFamily="34" charset="-120"/>
              </a:rPr>
              <a:t>besoin</a:t>
            </a:r>
            <a:pPr indent="0" marL="0">
              <a:buNone/>
            </a:pPr>
            <a:r>
              <a:rPr lang="en-US" sz="1300" dirty="0">
                <a:solidFill>
                  <a:srgbClr val="465568"/>
                </a:solidFill>
                <a:latin typeface="Segoe UI" pitchFamily="34" charset="0"/>
                <a:ea typeface="Segoe UI" pitchFamily="34" charset="-122"/>
                <a:cs typeface="Segoe UI" pitchFamily="34" charset="-120"/>
              </a:rPr>
              <a:t>, le dépôt présente des formulaires pré-remplis ; tout est scellé avec l’offre.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Pré-rempli depuis la fiche</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Articles, quantités, caractéristiques, séries du DQE, matériel, personnel, seuils de qualification.</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Calculé sur le poste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Totaux, TVA, prix en lettres, K1, sous-détail ; les montants de l’acte d’engagement en découlent.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Averti, jamais refusé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Seul un prix manquant bloque ; le reste est averti au candidat, puis signalé à la commission.</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Recalculé à l’ouverture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serveur refait les totaux depuis le bordereau scellé et compare avec l’acte d’engagement.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bordereau des prix et le calendrier de livraison</a:t>
            </a:r>
            <a:endParaRPr lang="en-US" sz="2600" dirty="0"/>
          </a:p>
        </p:txBody>
      </p:sp>
      <p:sp>
        <p:nvSpPr>
          <p:cNvPr id="4" name="Shape 2"/>
          <p:cNvSpPr/>
          <p:nvPr/>
        </p:nvSpPr>
        <p:spPr>
          <a:xfrm>
            <a:off x="1536618" y="1193800"/>
            <a:ext cx="9118459" cy="3327400"/>
          </a:xfrm>
          <a:prstGeom prst="rect">
            <a:avLst/>
          </a:prstGeom>
          <a:solidFill>
            <a:srgbClr val="FCFCFA"/>
          </a:solidFill>
          <a:ln w="9525">
            <a:solidFill>
              <a:srgbClr val="D5DCE4"/>
            </a:solidFill>
            <a:prstDash val="solid"/>
          </a:ln>
        </p:spPr>
      </p:sp>
      <p:pic>
        <p:nvPicPr>
          <p:cNvPr id="5" name="Image 0" descr="Le bordereau des prix et le calendrier de livraison">    </p:cNvPr>
          <p:cNvPicPr>
            <a:picLocks noChangeAspect="1"/>
          </p:cNvPicPr>
          <p:nvPr/>
        </p:nvPicPr>
        <p:blipFill>
          <a:blip r:embed="rId1"/>
          <a:stretch>
            <a:fillRect/>
          </a:stretch>
        </p:blipFill>
        <p:spPr>
          <a:xfrm>
            <a:off x="1549318" y="1206500"/>
            <a:ext cx="9093060"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prix unitaire et la date de livraison de chaque article ; au minimum et au maximum des quantités pour un marché à commande.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conformité technique</a:t>
            </a:r>
            <a:endParaRPr lang="en-US" sz="2600" dirty="0"/>
          </a:p>
        </p:txBody>
      </p:sp>
      <p:sp>
        <p:nvSpPr>
          <p:cNvPr id="4" name="Shape 2"/>
          <p:cNvSpPr/>
          <p:nvPr/>
        </p:nvSpPr>
        <p:spPr>
          <a:xfrm>
            <a:off x="800080" y="1193800"/>
            <a:ext cx="6883228" cy="4153059"/>
          </a:xfrm>
          <a:prstGeom prst="rect">
            <a:avLst/>
          </a:prstGeom>
          <a:solidFill>
            <a:srgbClr val="FCFCFA"/>
          </a:solidFill>
          <a:ln w="9525">
            <a:solidFill>
              <a:srgbClr val="D5DCE4"/>
            </a:solidFill>
            <a:prstDash val="solid"/>
          </a:ln>
        </p:spPr>
      </p:sp>
      <p:pic>
        <p:nvPicPr>
          <p:cNvPr id="5" name="Image 0" descr="La conformité technique">    </p:cNvPr>
          <p:cNvPicPr>
            <a:picLocks noChangeAspect="1"/>
          </p:cNvPicPr>
          <p:nvPr/>
        </p:nvPicPr>
        <p:blipFill>
          <a:blip r:embed="rId1"/>
          <a:stretch>
            <a:fillRect/>
          </a:stretch>
        </p:blipFill>
        <p:spPr>
          <a:xfrm>
            <a:off x="812780" y="1206500"/>
            <a:ext cx="6857829" cy="4127659"/>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Marque, modèle, et pour chaque caractéristique exigée : ce qui est proposé, et si c’est conforme.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avant de déposer</a:t>
            </a:r>
            <a:endParaRPr lang="en-US" sz="2600" dirty="0"/>
          </a:p>
        </p:txBody>
      </p:sp>
      <p:sp>
        <p:nvSpPr>
          <p:cNvPr id="4" name="Shape 2"/>
          <p:cNvSpPr/>
          <p:nvPr/>
        </p:nvSpPr>
        <p:spPr>
          <a:xfrm>
            <a:off x="800080" y="1193800"/>
            <a:ext cx="10591535" cy="3314192"/>
          </a:xfrm>
          <a:prstGeom prst="rect">
            <a:avLst/>
          </a:prstGeom>
          <a:solidFill>
            <a:srgbClr val="FCFCFA"/>
          </a:solidFill>
          <a:ln w="9525">
            <a:solidFill>
              <a:srgbClr val="D5DCE4"/>
            </a:solidFill>
            <a:prstDash val="solid"/>
          </a:ln>
        </p:spPr>
      </p:sp>
      <p:pic>
        <p:nvPicPr>
          <p:cNvPr id="5" name="Image 0" descr="Les avertissements, avant de déposer">    </p:cNvPr>
          <p:cNvPicPr>
            <a:picLocks noChangeAspect="1"/>
          </p:cNvPicPr>
          <p:nvPr/>
        </p:nvPicPr>
        <p:blipFill>
          <a:blip r:embed="rId1"/>
          <a:stretch>
            <a:fillRect/>
          </a:stretch>
        </p:blipFill>
        <p:spPr>
          <a:xfrm>
            <a:off x="812780" y="1206500"/>
            <a:ext cx="10566136" cy="3288792"/>
          </a:xfrm>
          <a:prstGeom prst="rect">
            <a:avLst/>
          </a:prstGeom>
        </p:spPr>
      </p:pic>
      <p:sp>
        <p:nvSpPr>
          <p:cNvPr id="6" name="Shape 3"/>
          <p:cNvSpPr/>
          <p:nvPr/>
        </p:nvSpPr>
        <p:spPr>
          <a:xfrm>
            <a:off x="812780" y="4647692"/>
            <a:ext cx="10566136" cy="1638808"/>
          </a:xfrm>
          <a:prstGeom prst="rect">
            <a:avLst/>
          </a:prstGeom>
          <a:solidFill>
            <a:srgbClr val="FCFCFA"/>
          </a:solidFill>
          <a:ln w="9525">
            <a:solidFill>
              <a:srgbClr val="D5DCE4"/>
            </a:solidFill>
            <a:prstDash val="solid"/>
          </a:ln>
        </p:spPr>
      </p:sp>
      <p:sp>
        <p:nvSpPr>
          <p:cNvPr id="7" name="Shape 4"/>
          <p:cNvSpPr/>
          <p:nvPr/>
        </p:nvSpPr>
        <p:spPr>
          <a:xfrm>
            <a:off x="812780" y="4647692"/>
            <a:ext cx="38099" cy="1638808"/>
          </a:xfrm>
          <a:prstGeom prst="rect">
            <a:avLst/>
          </a:prstGeom>
          <a:solidFill>
            <a:srgbClr val="1B6FA8"/>
          </a:solidFill>
          <a:ln/>
        </p:spPr>
      </p:sp>
      <p:sp>
        <p:nvSpPr>
          <p:cNvPr id="8" name="Text 5"/>
          <p:cNvSpPr/>
          <p:nvPr/>
        </p:nvSpPr>
        <p:spPr>
          <a:xfrm>
            <a:off x="977876" y="4749292"/>
            <a:ext cx="10274043" cy="1448308"/>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Non-conformité déclarée, livraison au-delà du délai : averti, on peut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d’engagement, calculé</a:t>
            </a:r>
            <a:endParaRPr lang="en-US" sz="2600" dirty="0"/>
          </a:p>
        </p:txBody>
      </p:sp>
      <p:sp>
        <p:nvSpPr>
          <p:cNvPr id="4" name="Shape 2"/>
          <p:cNvSpPr/>
          <p:nvPr/>
        </p:nvSpPr>
        <p:spPr>
          <a:xfrm>
            <a:off x="800080" y="1193800"/>
            <a:ext cx="10591535" cy="2594356"/>
          </a:xfrm>
          <a:prstGeom prst="rect">
            <a:avLst/>
          </a:prstGeom>
          <a:solidFill>
            <a:srgbClr val="FCFCFA"/>
          </a:solidFill>
          <a:ln w="9525">
            <a:solidFill>
              <a:srgbClr val="D5DCE4"/>
            </a:solidFill>
            <a:prstDash val="solid"/>
          </a:ln>
        </p:spPr>
      </p:sp>
      <p:pic>
        <p:nvPicPr>
          <p:cNvPr id="5" name="Image 0" descr="L’acte d’engagement, calculé">    </p:cNvPr>
          <p:cNvPicPr>
            <a:picLocks noChangeAspect="1"/>
          </p:cNvPicPr>
          <p:nvPr/>
        </p:nvPicPr>
        <p:blipFill>
          <a:blip r:embed="rId1"/>
          <a:stretch>
            <a:fillRect/>
          </a:stretch>
        </p:blipFill>
        <p:spPr>
          <a:xfrm>
            <a:off x="812780" y="1206500"/>
            <a:ext cx="10566136" cy="2568956"/>
          </a:xfrm>
          <a:prstGeom prst="rect">
            <a:avLst/>
          </a:prstGeom>
        </p:spPr>
      </p:pic>
      <p:sp>
        <p:nvSpPr>
          <p:cNvPr id="6" name="Shape 3"/>
          <p:cNvSpPr/>
          <p:nvPr/>
        </p:nvSpPr>
        <p:spPr>
          <a:xfrm>
            <a:off x="812780" y="39278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27856"/>
            <a:ext cx="38099" cy="1790700"/>
          </a:xfrm>
          <a:prstGeom prst="rect">
            <a:avLst/>
          </a:prstGeom>
          <a:solidFill>
            <a:srgbClr val="1B6FA8"/>
          </a:solidFill>
          <a:ln/>
        </p:spPr>
      </p:sp>
      <p:sp>
        <p:nvSpPr>
          <p:cNvPr id="8" name="Text 5"/>
          <p:cNvSpPr/>
          <p:nvPr/>
        </p:nvSpPr>
        <p:spPr>
          <a:xfrm>
            <a:off x="977876" y="40294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montants ne se saisissent plus : ce sont ceux du bordereau. Restent le délai, la validité, le rabais.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 · RG-OFF-17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DQE et les prix en lettres</a:t>
            </a:r>
            <a:endParaRPr lang="en-US" sz="2600" dirty="0"/>
          </a:p>
        </p:txBody>
      </p:sp>
      <p:sp>
        <p:nvSpPr>
          <p:cNvPr id="4" name="Shape 2"/>
          <p:cNvSpPr/>
          <p:nvPr/>
        </p:nvSpPr>
        <p:spPr>
          <a:xfrm>
            <a:off x="2265902" y="1193800"/>
            <a:ext cx="7659891" cy="3327400"/>
          </a:xfrm>
          <a:prstGeom prst="rect">
            <a:avLst/>
          </a:prstGeom>
          <a:solidFill>
            <a:srgbClr val="FCFCFA"/>
          </a:solidFill>
          <a:ln w="9525">
            <a:solidFill>
              <a:srgbClr val="D5DCE4"/>
            </a:solidFill>
            <a:prstDash val="solid"/>
          </a:ln>
        </p:spPr>
      </p:sp>
      <p:pic>
        <p:nvPicPr>
          <p:cNvPr id="5" name="Image 0" descr="Le DQE et les prix en lettres">    </p:cNvPr>
          <p:cNvPicPr>
            <a:picLocks noChangeAspect="1"/>
          </p:cNvPicPr>
          <p:nvPr/>
        </p:nvPicPr>
        <p:blipFill>
          <a:blip r:embed="rId1"/>
          <a:stretch>
            <a:fillRect/>
          </a:stretch>
        </p:blipFill>
        <p:spPr>
          <a:xfrm>
            <a:off x="2278602" y="1206500"/>
            <a:ext cx="763449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prix par série ; le prix s’écrit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lettres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sous la désignation — ce sont les lettres qui font foi.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coefficient K1</a:t>
            </a:r>
            <a:endParaRPr lang="en-US" sz="2600" dirty="0"/>
          </a:p>
        </p:txBody>
      </p:sp>
      <p:sp>
        <p:nvSpPr>
          <p:cNvPr id="4" name="Shape 2"/>
          <p:cNvSpPr/>
          <p:nvPr/>
        </p:nvSpPr>
        <p:spPr>
          <a:xfrm>
            <a:off x="800080" y="1193800"/>
            <a:ext cx="6883228" cy="4105910"/>
          </a:xfrm>
          <a:prstGeom prst="rect">
            <a:avLst/>
          </a:prstGeom>
          <a:solidFill>
            <a:srgbClr val="FCFCFA"/>
          </a:solidFill>
          <a:ln w="9525">
            <a:solidFill>
              <a:srgbClr val="D5DCE4"/>
            </a:solidFill>
            <a:prstDash val="solid"/>
          </a:ln>
        </p:spPr>
      </p:sp>
      <p:pic>
        <p:nvPicPr>
          <p:cNvPr id="5" name="Image 0" descr="Le coefficient K1">    </p:cNvPr>
          <p:cNvPicPr>
            <a:picLocks noChangeAspect="1"/>
          </p:cNvPicPr>
          <p:nvPr/>
        </p:nvPicPr>
        <p:blipFill>
          <a:blip r:embed="rId1"/>
          <a:stretch>
            <a:fillRect/>
          </a:stretch>
        </p:blipFill>
        <p:spPr>
          <a:xfrm>
            <a:off x="812780" y="1206500"/>
            <a:ext cx="6857829" cy="408051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neuf frais de l’annexe 2 de l’acte d’engagement ; le siège à Madagascar ou à l’étranger.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sous-détail d’un prix</a:t>
            </a:r>
            <a:endParaRPr lang="en-US" sz="2600" dirty="0"/>
          </a:p>
        </p:txBody>
      </p:sp>
      <p:sp>
        <p:nvSpPr>
          <p:cNvPr id="4" name="Shape 2"/>
          <p:cNvSpPr/>
          <p:nvPr/>
        </p:nvSpPr>
        <p:spPr>
          <a:xfrm>
            <a:off x="1209469" y="1193800"/>
            <a:ext cx="9772757" cy="3327400"/>
          </a:xfrm>
          <a:prstGeom prst="rect">
            <a:avLst/>
          </a:prstGeom>
          <a:solidFill>
            <a:srgbClr val="FCFCFA"/>
          </a:solidFill>
          <a:ln w="9525">
            <a:solidFill>
              <a:srgbClr val="D5DCE4"/>
            </a:solidFill>
            <a:prstDash val="solid"/>
          </a:ln>
        </p:spPr>
      </p:sp>
      <p:pic>
        <p:nvPicPr>
          <p:cNvPr id="5" name="Image 0" descr="Le sous-détail d’un prix">    </p:cNvPr>
          <p:cNvPicPr>
            <a:picLocks noChangeAspect="1"/>
          </p:cNvPicPr>
          <p:nvPr/>
        </p:nvPicPr>
        <p:blipFill>
          <a:blip r:embed="rId1"/>
          <a:stretch>
            <a:fillRect/>
          </a:stretch>
        </p:blipFill>
        <p:spPr>
          <a:xfrm>
            <a:off x="1222169" y="1206500"/>
            <a:ext cx="9747358"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déboursés secs, le rendement ; le prix calculé est comparé au bordereau (écart de plus de 1 % signalé).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capacités financières et techniques</a:t>
            </a:r>
            <a:endParaRPr lang="en-US" sz="2600" dirty="0"/>
          </a:p>
        </p:txBody>
      </p:sp>
      <p:sp>
        <p:nvSpPr>
          <p:cNvPr id="4" name="Shape 2"/>
          <p:cNvSpPr/>
          <p:nvPr/>
        </p:nvSpPr>
        <p:spPr>
          <a:xfrm>
            <a:off x="2459645" y="1193800"/>
            <a:ext cx="7272406" cy="3327400"/>
          </a:xfrm>
          <a:prstGeom prst="rect">
            <a:avLst/>
          </a:prstGeom>
          <a:solidFill>
            <a:srgbClr val="FCFCFA"/>
          </a:solidFill>
          <a:ln w="9525">
            <a:solidFill>
              <a:srgbClr val="D5DCE4"/>
            </a:solidFill>
            <a:prstDash val="solid"/>
          </a:ln>
        </p:spPr>
      </p:sp>
      <p:pic>
        <p:nvPicPr>
          <p:cNvPr id="5" name="Image 0" descr="Les capacités financières et techniques">    </p:cNvPr>
          <p:cNvPicPr>
            <a:picLocks noChangeAspect="1"/>
          </p:cNvPicPr>
          <p:nvPr/>
        </p:nvPicPr>
        <p:blipFill>
          <a:blip r:embed="rId1"/>
          <a:stretch>
            <a:fillRect/>
          </a:stretch>
        </p:blipFill>
        <p:spPr>
          <a:xfrm>
            <a:off x="2472344" y="1206500"/>
            <a:ext cx="724700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Chiffre d’affaires et moyenne des meilleures années, liquidité contre le seuil, références de la période.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personnel proposé</a:t>
            </a:r>
            <a:endParaRPr lang="en-US" sz="2600" dirty="0"/>
          </a:p>
        </p:txBody>
      </p:sp>
      <p:sp>
        <p:nvSpPr>
          <p:cNvPr id="4" name="Shape 2"/>
          <p:cNvSpPr/>
          <p:nvPr/>
        </p:nvSpPr>
        <p:spPr>
          <a:xfrm>
            <a:off x="800080" y="1193800"/>
            <a:ext cx="10591535" cy="3089656"/>
          </a:xfrm>
          <a:prstGeom prst="rect">
            <a:avLst/>
          </a:prstGeom>
          <a:solidFill>
            <a:srgbClr val="FCFCFA"/>
          </a:solidFill>
          <a:ln w="9525">
            <a:solidFill>
              <a:srgbClr val="D5DCE4"/>
            </a:solidFill>
            <a:prstDash val="solid"/>
          </a:ln>
        </p:spPr>
      </p:sp>
      <p:pic>
        <p:nvPicPr>
          <p:cNvPr id="5" name="Image 0" descr="Le personnel proposé">    </p:cNvPr>
          <p:cNvPicPr>
            <a:picLocks noChangeAspect="1"/>
          </p:cNvPicPr>
          <p:nvPr/>
        </p:nvPicPr>
        <p:blipFill>
          <a:blip r:embed="rId1"/>
          <a:stretch>
            <a:fillRect/>
          </a:stretch>
        </p:blipFill>
        <p:spPr>
          <a:xfrm>
            <a:off x="812780" y="1206500"/>
            <a:ext cx="10566136" cy="3064256"/>
          </a:xfrm>
          <a:prstGeom prst="rect">
            <a:avLst/>
          </a:prstGeom>
        </p:spPr>
      </p:pic>
      <p:sp>
        <p:nvSpPr>
          <p:cNvPr id="6" name="Shape 3"/>
          <p:cNvSpPr/>
          <p:nvPr/>
        </p:nvSpPr>
        <p:spPr>
          <a:xfrm>
            <a:off x="812780" y="44231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23156"/>
            <a:ext cx="38099" cy="1790700"/>
          </a:xfrm>
          <a:prstGeom prst="rect">
            <a:avLst/>
          </a:prstGeom>
          <a:solidFill>
            <a:srgbClr val="1B6FA8"/>
          </a:solidFill>
          <a:ln/>
        </p:spPr>
      </p:sp>
      <p:sp>
        <p:nvSpPr>
          <p:cNvPr id="8" name="Text 5"/>
          <p:cNvSpPr/>
          <p:nvPr/>
        </p:nvSpPr>
        <p:spPr>
          <a:xfrm>
            <a:off x="977876" y="45247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personne exigée ; les CV et diplômes restent à joindre.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matériel proposé</a:t>
            </a:r>
            <a:endParaRPr lang="en-US" sz="2600" dirty="0"/>
          </a:p>
        </p:txBody>
      </p:sp>
      <p:sp>
        <p:nvSpPr>
          <p:cNvPr id="4" name="Shape 2"/>
          <p:cNvSpPr/>
          <p:nvPr/>
        </p:nvSpPr>
        <p:spPr>
          <a:xfrm>
            <a:off x="800080" y="1193800"/>
            <a:ext cx="6883228" cy="3934460"/>
          </a:xfrm>
          <a:prstGeom prst="rect">
            <a:avLst/>
          </a:prstGeom>
          <a:solidFill>
            <a:srgbClr val="FCFCFA"/>
          </a:solidFill>
          <a:ln w="9525">
            <a:solidFill>
              <a:srgbClr val="D5DCE4"/>
            </a:solidFill>
            <a:prstDash val="solid"/>
          </a:ln>
        </p:spPr>
      </p:sp>
      <p:pic>
        <p:nvPicPr>
          <p:cNvPr id="5" name="Image 0" descr="Le matériel proposé">    </p:cNvPr>
          <p:cNvPicPr>
            <a:picLocks noChangeAspect="1"/>
          </p:cNvPicPr>
          <p:nvPr/>
        </p:nvPicPr>
        <p:blipFill>
          <a:blip r:embed="rId1"/>
          <a:stretch>
            <a:fillRect/>
          </a:stretch>
        </p:blipFill>
        <p:spPr>
          <a:xfrm>
            <a:off x="812780" y="1206500"/>
            <a:ext cx="6857829" cy="390906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nombre proposé, et combien en propre.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des travaux</a:t>
            </a:r>
            <a:endParaRPr lang="en-US" sz="2600" dirty="0"/>
          </a:p>
        </p:txBody>
      </p:sp>
      <p:sp>
        <p:nvSpPr>
          <p:cNvPr id="4" name="Shape 2"/>
          <p:cNvSpPr/>
          <p:nvPr/>
        </p:nvSpPr>
        <p:spPr>
          <a:xfrm>
            <a:off x="800080" y="1193800"/>
            <a:ext cx="10591535" cy="1965529"/>
          </a:xfrm>
          <a:prstGeom prst="rect">
            <a:avLst/>
          </a:prstGeom>
          <a:solidFill>
            <a:srgbClr val="FCFCFA"/>
          </a:solidFill>
          <a:ln w="9525">
            <a:solidFill>
              <a:srgbClr val="D5DCE4"/>
            </a:solidFill>
            <a:prstDash val="solid"/>
          </a:ln>
        </p:spPr>
      </p:sp>
      <p:pic>
        <p:nvPicPr>
          <p:cNvPr id="5" name="Image 0" descr="Les avertissements des travaux">    </p:cNvPr>
          <p:cNvPicPr>
            <a:picLocks noChangeAspect="1"/>
          </p:cNvPicPr>
          <p:nvPr/>
        </p:nvPicPr>
        <p:blipFill>
          <a:blip r:embed="rId1"/>
          <a:stretch>
            <a:fillRect/>
          </a:stretch>
        </p:blipFill>
        <p:spPr>
          <a:xfrm>
            <a:off x="812780" y="1206500"/>
            <a:ext cx="10566136" cy="1940129"/>
          </a:xfrm>
          <a:prstGeom prst="rect">
            <a:avLst/>
          </a:prstGeom>
        </p:spPr>
      </p:pic>
      <p:sp>
        <p:nvSpPr>
          <p:cNvPr id="6" name="Shape 3"/>
          <p:cNvSpPr/>
          <p:nvPr/>
        </p:nvSpPr>
        <p:spPr>
          <a:xfrm>
            <a:off x="812780" y="3299029"/>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99029"/>
            <a:ext cx="38099" cy="1790700"/>
          </a:xfrm>
          <a:prstGeom prst="rect">
            <a:avLst/>
          </a:prstGeom>
          <a:solidFill>
            <a:srgbClr val="1B6FA8"/>
          </a:solidFill>
          <a:ln/>
        </p:spPr>
      </p:sp>
      <p:sp>
        <p:nvSpPr>
          <p:cNvPr id="8" name="Text 5"/>
          <p:cNvSpPr/>
          <p:nvPr/>
        </p:nvSpPr>
        <p:spPr>
          <a:xfrm>
            <a:off x="977876" y="3400629"/>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écart dit, chiffres à l’appui ; la commission le lira en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saisie jamais perdue</a:t>
            </a:r>
            <a:endParaRPr lang="en-US" sz="2600" dirty="0"/>
          </a:p>
        </p:txBody>
      </p:sp>
      <p:sp>
        <p:nvSpPr>
          <p:cNvPr id="4" name="Shape 2"/>
          <p:cNvSpPr/>
          <p:nvPr/>
        </p:nvSpPr>
        <p:spPr>
          <a:xfrm>
            <a:off x="800080" y="1193800"/>
            <a:ext cx="10591535" cy="798068"/>
          </a:xfrm>
          <a:prstGeom prst="rect">
            <a:avLst/>
          </a:prstGeom>
          <a:solidFill>
            <a:srgbClr val="FCFCFA"/>
          </a:solidFill>
          <a:ln w="9525">
            <a:solidFill>
              <a:srgbClr val="D5DCE4"/>
            </a:solidFill>
            <a:prstDash val="solid"/>
          </a:ln>
        </p:spPr>
      </p:sp>
      <p:pic>
        <p:nvPicPr>
          <p:cNvPr id="5" name="Image 0" descr="Une saisie jamais perdue">    </p:cNvPr>
          <p:cNvPicPr>
            <a:picLocks noChangeAspect="1"/>
          </p:cNvPicPr>
          <p:nvPr/>
        </p:nvPicPr>
        <p:blipFill>
          <a:blip r:embed="rId1"/>
          <a:stretch>
            <a:fillRect/>
          </a:stretch>
        </p:blipFill>
        <p:spPr>
          <a:xfrm>
            <a:off x="812780" y="1206500"/>
            <a:ext cx="10566136" cy="772668"/>
          </a:xfrm>
          <a:prstGeom prst="rect">
            <a:avLst/>
          </a:prstGeom>
        </p:spPr>
      </p:pic>
      <p:sp>
        <p:nvSpPr>
          <p:cNvPr id="6" name="Shape 3"/>
          <p:cNvSpPr/>
          <p:nvPr/>
        </p:nvSpPr>
        <p:spPr>
          <a:xfrm>
            <a:off x="812780" y="2131568"/>
            <a:ext cx="10566136" cy="1314450"/>
          </a:xfrm>
          <a:prstGeom prst="rect">
            <a:avLst/>
          </a:prstGeom>
          <a:solidFill>
            <a:srgbClr val="FCFCFA"/>
          </a:solidFill>
          <a:ln w="9525">
            <a:solidFill>
              <a:srgbClr val="D5DCE4"/>
            </a:solidFill>
            <a:prstDash val="solid"/>
          </a:ln>
        </p:spPr>
      </p:sp>
      <p:sp>
        <p:nvSpPr>
          <p:cNvPr id="7" name="Shape 4"/>
          <p:cNvSpPr/>
          <p:nvPr/>
        </p:nvSpPr>
        <p:spPr>
          <a:xfrm>
            <a:off x="812780" y="2131568"/>
            <a:ext cx="38099" cy="1314450"/>
          </a:xfrm>
          <a:prstGeom prst="rect">
            <a:avLst/>
          </a:prstGeom>
          <a:solidFill>
            <a:srgbClr val="1B6FA8"/>
          </a:solidFill>
          <a:ln/>
        </p:spPr>
      </p:sp>
      <p:sp>
        <p:nvSpPr>
          <p:cNvPr id="8" name="Text 5"/>
          <p:cNvSpPr/>
          <p:nvPr/>
        </p:nvSpPr>
        <p:spPr>
          <a:xfrm>
            <a:off x="977876" y="2233168"/>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Page fermée ou rechargée : la saisie est reprise. Gardée sur le poste seulement, jamais envoyée ; effacée au dépôt.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remplies en ligne, et le reçu déjà fourni</a:t>
            </a:r>
            <a:endParaRPr lang="en-US" sz="2600" dirty="0"/>
          </a:p>
        </p:txBody>
      </p:sp>
      <p:sp>
        <p:nvSpPr>
          <p:cNvPr id="4" name="Shape 2"/>
          <p:cNvSpPr/>
          <p:nvPr/>
        </p:nvSpPr>
        <p:spPr>
          <a:xfrm>
            <a:off x="1856694" y="1193800"/>
            <a:ext cx="8478308" cy="3327400"/>
          </a:xfrm>
          <a:prstGeom prst="rect">
            <a:avLst/>
          </a:prstGeom>
          <a:solidFill>
            <a:srgbClr val="FCFCFA"/>
          </a:solidFill>
          <a:ln w="9525">
            <a:solidFill>
              <a:srgbClr val="D5DCE4"/>
            </a:solidFill>
            <a:prstDash val="solid"/>
          </a:ln>
        </p:spPr>
      </p:sp>
      <p:pic>
        <p:nvPicPr>
          <p:cNvPr id="5" name="Image 0" descr="Les pièces remplies en ligne, et le reçu déjà fourni">    </p:cNvPr>
          <p:cNvPicPr>
            <a:picLocks noChangeAspect="1"/>
          </p:cNvPicPr>
          <p:nvPr/>
        </p:nvPicPr>
        <p:blipFill>
          <a:blip r:embed="rId1"/>
          <a:stretch>
            <a:fillRect/>
          </a:stretch>
        </p:blipFill>
        <p:spPr>
          <a:xfrm>
            <a:off x="1869393" y="1206500"/>
            <a:ext cx="8452909"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bordereau, la conformité, le calendrier : « Remplie en ligne ». Les autres pièces se joignent.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RG-OFF-13 · 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sans formulaires : l’acte d’engagement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sans formulaires : l’acte d’engag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procédure sans besoin (prestations intellectuelles) : les montants de l’acte se saisissent.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temps restant, à l’horloge du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 les pièces, puis le scellement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 les pièces, puis le scell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pièce attendue, contrôlée ; puis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Sceller et déposer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l’offre est chiffrée sur le poste, pour les détenteurs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RG-OFF-19 · RG-OFF-20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de dépôt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sé de dépô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L’heure de dépôt, le numéro d’arrivée,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 l’accusé en PDF.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Personne ne peut lire l’offre avant la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Jusqu’à la date limite, si la procédure le permet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remplacer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retirer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RG-OFF-21 · RG-OFF-22 · RG-OFF-23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dépôts, avant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dépôts, avant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la PRMP ne connaît que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retraits du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retraits du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Qui a retiré quel document, et quand ; 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a ouvert le retrait.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1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candidat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fiche d'un candidat : une entreprise externe inscrite par elle-même.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de confirmation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t_code_candidat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code de confirmation d'un compte candidat : six chiffres, à usage unique, valable 15 minutes, 5 essais au plus ; stocké haché (BCrypt), par canal (EMAIL, TELEPHONE).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L'entreprise d'un compte candidat (un compte = une entreprise)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de l'entreprise d'un candidat (carte fiscale, statuts, pouvoir, autre)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entreprise : un changement de statut de vérification du NIF, avec l'ancienne et la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rapprochement de deux comptes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t_rapprochement_candidat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rapprochement entre deux comptes candidats (même téléphone, même signataire, même adresse) : une alerte pour la commission (lot 4), jamais un refus. idCandidatA &lt; idCandidatB.</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L’exclusion prononcée par l’ARMP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exclusion des marchés publics prononcée par l'ARMP, tenue par l'Administrateur ; jamais supprimée (on la corrige, ou on avance sa date de fin).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exclusions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exclusion : anciennes et nouvelles valeurs (JSON), qui, quand.</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retrait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t_retrait_dao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retrait du DAO : un document téléchargé par un candidat (compte, entreprise si déclarée, document, version de la fiche, date).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reçu des frais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reçu du paiement des frais de dossier, déposé par un candidat pour son entreprise (la clé est le NIF : deux comptes de la même entreprise le partagent), sur un ou plusieurs lots (lots nul : tout le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reçus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reçus de frais de dossier : RECU_DEPOSE, RECU_VALIDE, RECU_REFUSE.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offre déposée en ligne : un conteneur scellé dans le navigateur du candidat, que le serveur ne peut pas lire.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1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morceau chiffré d’une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t_offre_morceau</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morceau reçu d'une offre en cours de dépôt : taille et empreinte ; le contenu est sur disque.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offres : création, morceaux, scellement, remplacement, retrait, purge.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21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candidat  ·  t_compte_candidat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A_CONFIRMER, CONFIRME,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TELEPHONE_CONFIRME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confirme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DATE_CONFIRMATION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confirmation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de confirmation  ·  t_code_candidat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ESSAIS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UTILISE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Utilise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L’entreprise  ·  t_entreprise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21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RCS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ADRESSE_NORMALISEE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normalisee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l’entreprise  ·  t_piece_entreprise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Octets.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21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l’entreprise  ·  t_entreprise_journal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rapprochement de deux comptes  ·  t_rapprochement_candidat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ID_RAPPROCHEMENT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rapprochement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ID_CANDIDAT_A</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a</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DATE_CALCUL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calcul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L’exclusion prononcée par l’ARMP  ·  t_exclusion_armp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21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exclusions  ·  t_exclusion_armp_journal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retrait du dossier  ·  t_retrait_dao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reçu de frais de dossier qui a ouvert ce retrait ; null pour un retrait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reçu des frais de dossier  ·  t_recu_dao  ·  22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qui l'a déposé.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lots couverts, séparés par des virgules ; null : tout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21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BANQUE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Banque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EN_ATTENTE, VALIDE,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fonction de qui a décidé (PRMP ou UGPM), pas son nom (servie au candidat).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LOGIN_DECIDEUR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decideur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purge de conservation (V70) : le fichier supprimé, la ligne gardée.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reçus  ·  t_recu_journal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L’offre  ·  t_offre  ·  33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UUID tiré par le navigateur — l'identifiant de l'offre, dans l'en-tête et les données authentifiées.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22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DEPOSEE, REMPLACEE, RETIREE, ECARTEE, TECHNIQUE, FINANCIERE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d'arrivée dans la procédure.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EN_TETE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 tete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L'en-tête JSON, tel que le navigateur l'a sérialisé et haché.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NOMBRE_MORCEAUX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morceaux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octets reçus (morceaux).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de l'en-tête puis des morceaux, posée au scellement.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EMPREINTES_DETENTEURS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Empreintes detenteurs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empreintes des clés publiques pour lesquelles l'offre est scellée, dans l'ordre, séparées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2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GROUPEMENT_NIFS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nifs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NIF normalisés des membres d'un groupement, pour le seul contrôle des exclusions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Dernier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INTEGRITE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Integrite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INTACTE, ALTEREE (empreinte différente), LECTURE_IMPOSSIBLE.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lecture tirée du manifeste à l'ouverture (JSON).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raison d'une lecture 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motif de l'écartement (entreprise exclue après son dépôt).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ENVELOPPE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L'enveloppe d'une proposition de prestations intellectuelles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Conteneur et contenu déchiffré supprimés au terme de la conservation.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morceau chiffré d’une offre  ·  t_offre_morceau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offres  ·  t_offre_journal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30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2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compte et l’entreprise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compte confirmé par code · Une entreprise par compte, NIF unique · Vérification du NIF, jamais bloquante · Exclusions de l’ARMP : refus au dépôt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procédures ouvertes et le retrait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RG-OFF-05 → 08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Papier ou électronique, jamais mixte · Ce que montre la liste publique · La signature simple seule acceptée · Chaque retrait inscrit au registre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frais de dossier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RG-OFF-09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Reçu validé avant le retrait · Un reçu par entreprise, par lots · Un refus motivé, une décision définitive · Sans reçu validé, pas de dépôt · Le reçu validé vaut preuve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L’offre remplie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RG-OFF-14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saisie dans des formulaires · Les capacités déclarées aux travaux · L’acte d’engagement suit le bordereau · Un rabais déclaré de façon structurée · Des avertissements, jamais un refus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dépôt scellé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RG-OFF-19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scellée dans le navigateur · Les conditions du dépôt · Une offre par entreprise et par lot · Un accusé portant l’empreinte · Remplacer ou retirer avant l’échéance · Avant l’échéance, le nombre seul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commission, les clés et le dépositaire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RG-OFF-25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commission désignée par la PRMP · Un responsable désigné par procédure · La cérémonie des clés avant l’avis · Un quorum entre deux et tous · Le dépositaire génère la part de secours · Le dépositaire ne voit pas les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et l’entreprise</a:t>
            </a:r>
            <a:endParaRPr lang="en-US" sz="2600" dirty="0"/>
          </a:p>
        </p:txBody>
      </p:sp>
      <p:graphicFrame>
        <p:nvGraphicFramePr>
          <p:cNvPr id="2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compte confirmé par code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s’inscrit avec son adresse électronique, qui devient son identifiant. Le compte s’active par un </a:t>
                      </a:r>
                      <a:pPr indent="0" marL="0">
                        <a:buNone/>
                      </a:pPr>
                      <a:r>
                        <a:rPr lang="en-US" sz="1150" b="1" dirty="0">
                          <a:solidFill>
                            <a:srgbClr val="1B2A3A"/>
                          </a:solidFill>
                          <a:latin typeface="Segoe UI" pitchFamily="34" charset="0"/>
                          <a:ea typeface="Segoe UI" pitchFamily="34" charset="-122"/>
                          <a:cs typeface="Segoe UI" pitchFamily="34" charset="-120"/>
                        </a:rPr>
                        <a:t>code</a:t>
                      </a:r>
                      <a:pPr indent="0" marL="0">
                        <a:buNone/>
                      </a:pPr>
                      <a:r>
                        <a:rPr lang="en-US" sz="1150" dirty="0">
                          <a:solidFill>
                            <a:srgbClr val="1B2A3A"/>
                          </a:solidFill>
                          <a:latin typeface="Segoe UI" pitchFamily="34" charset="0"/>
                          <a:ea typeface="Segoe UI" pitchFamily="34" charset="-122"/>
                          <a:cs typeface="Segoe UI" pitchFamily="34" charset="-120"/>
                        </a:rPr>
                        <a:t> à six chiffres reçu par courriel, valable 15 minutes. Un compte jamais confirmé est supprimé ; un compte inactif est archivé, jamais supprimé.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entreprise par compte, NIF unique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compte déclare une seule entreprise. Le </a:t>
                      </a:r>
                      <a:pPr indent="0" marL="0">
                        <a:buNone/>
                      </a:pPr>
                      <a:r>
                        <a:rPr lang="en-US" sz="1150" b="1" dirty="0">
                          <a:solidFill>
                            <a:srgbClr val="1B2A3A"/>
                          </a:solidFill>
                          <a:latin typeface="Segoe UI" pitchFamily="34" charset="0"/>
                          <a:ea typeface="Segoe UI" pitchFamily="34" charset="-122"/>
                          <a:cs typeface="Segoe UI" pitchFamily="34" charset="-120"/>
                        </a:rPr>
                        <a:t>NIF</a:t>
                      </a:r>
                      <a:pPr indent="0" marL="0">
                        <a:buNone/>
                      </a:pPr>
                      <a:r>
                        <a:rPr lang="en-US" sz="1150" dirty="0">
                          <a:solidFill>
                            <a:srgbClr val="1B2A3A"/>
                          </a:solidFill>
                          <a:latin typeface="Segoe UI" pitchFamily="34" charset="0"/>
                          <a:ea typeface="Segoe UI" pitchFamily="34" charset="-122"/>
                          <a:cs typeface="Segoe UI" pitchFamily="34" charset="-120"/>
                        </a:rPr>
                        <a:t>, le STAT et le RCS sont uniques sur la plateforme : un NIF déjà déclaré est refusé, avec un renvoi vers le compte qui l’a déclaré, sans le nommer.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Vérification du NIF, jamais bloquante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NIF se vérifie sur pièces par l’Administrateur, ou auprès de la DGI quand le raccordement existera. Un NIF nouveau ou changé redevient non vérifié. La vérification ne bloque </a:t>
                      </a:r>
                      <a:pPr indent="0" marL="0">
                        <a:buNone/>
                      </a:pPr>
                      <a:r>
                        <a:rPr lang="en-US" sz="1150" b="1" dirty="0">
                          <a:solidFill>
                            <a:srgbClr val="1B2A3A"/>
                          </a:solidFill>
                          <a:latin typeface="Segoe UI" pitchFamily="34" charset="0"/>
                          <a:ea typeface="Segoe UI" pitchFamily="34" charset="-122"/>
                          <a:cs typeface="Segoe UI" pitchFamily="34" charset="-120"/>
                        </a:rPr>
                        <a:t>jamais</a:t>
                      </a:r>
                      <a:pPr indent="0" marL="0">
                        <a:buNone/>
                      </a:pPr>
                      <a:r>
                        <a:rPr lang="en-US" sz="1150" dirty="0">
                          <a:solidFill>
                            <a:srgbClr val="1B2A3A"/>
                          </a:solidFill>
                          <a:latin typeface="Segoe UI" pitchFamily="34" charset="0"/>
                          <a:ea typeface="Segoe UI" pitchFamily="34" charset="-122"/>
                          <a:cs typeface="Segoe UI" pitchFamily="34" charset="-120"/>
                        </a:rPr>
                        <a:t> le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de l’ARMP : refus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tient le répertoire des exclusions de l’ARMP ; une exclusion ne se supprime pas, elle se corrige. L’entreprise exclue est signalée à sa déclaration, puis </a:t>
                      </a:r>
                      <a:pPr indent="0" marL="0">
                        <a:buNone/>
                      </a:pPr>
                      <a:r>
                        <a:rPr lang="en-US" sz="1150" b="1" dirty="0">
                          <a:solidFill>
                            <a:srgbClr val="1B2A3A"/>
                          </a:solidFill>
                          <a:latin typeface="Segoe UI" pitchFamily="34" charset="0"/>
                          <a:ea typeface="Segoe UI" pitchFamily="34" charset="-122"/>
                          <a:cs typeface="Segoe UI" pitchFamily="34" charset="-120"/>
                        </a:rPr>
                        <a:t>refusée</a:t>
                      </a:r>
                      <a:pPr indent="0" marL="0">
                        <a:buNone/>
                      </a:pPr>
                      <a:r>
                        <a:rPr lang="en-US" sz="1150" dirty="0">
                          <a:solidFill>
                            <a:srgbClr val="1B2A3A"/>
                          </a:solidFill>
                          <a:latin typeface="Segoe UI" pitchFamily="34" charset="0"/>
                          <a:ea typeface="Segoe UI" pitchFamily="34" charset="-122"/>
                          <a:cs typeface="Segoe UI" pitchFamily="34" charset="-120"/>
                        </a:rPr>
                        <a:t> au dépôt du reçu et de l’offre, groupement compris.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Comptes candidats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 et le retrait</a:t>
            </a:r>
            <a:endParaRPr lang="en-US" sz="2600" dirty="0"/>
          </a:p>
        </p:txBody>
      </p:sp>
      <p:graphicFrame>
        <p:nvGraphicFramePr>
          <p:cNvPr id="22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Papier ou électronique, jamais mixte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remise se choisit au cadrage de la fiche DAO : papier ou électronique, </a:t>
                      </a:r>
                      <a:pPr indent="0" marL="0">
                        <a:buNone/>
                      </a:pPr>
                      <a:r>
                        <a:rPr lang="en-US" sz="1150" b="1" dirty="0">
                          <a:solidFill>
                            <a:srgbClr val="1B2A3A"/>
                          </a:solidFill>
                          <a:latin typeface="Segoe UI" pitchFamily="34" charset="0"/>
                          <a:ea typeface="Segoe UI" pitchFamily="34" charset="-122"/>
                          <a:cs typeface="Segoe UI" pitchFamily="34" charset="-120"/>
                        </a:rPr>
                        <a:t>jamais mixte</a:t>
                      </a:r>
                      <a:pPr indent="0" marL="0">
                        <a:buNone/>
                      </a:pPr>
                      <a:r>
                        <a:rPr lang="en-US" sz="1150" dirty="0">
                          <a:solidFill>
                            <a:srgbClr val="1B2A3A"/>
                          </a:solidFill>
                          <a:latin typeface="Segoe UI" pitchFamily="34" charset="0"/>
                          <a:ea typeface="Segoe UI" pitchFamily="34" charset="-122"/>
                          <a:cs typeface="Segoe UI" pitchFamily="34" charset="-120"/>
                        </a:rPr>
                        <a:t>. Une fiche qui ne le porte pas est papier. Les règles propres à la remise électronique ne jouent qu’en mode électronique.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montre la liste publique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publique ne montre que les procédures en remise électronique, lancées par l’impression de leur avis, dont la date limite n’est pas passée. Aucun paramètre interne n’y figure ; une procédure close reste lisible par son lien.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signature simple seule acceptée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la liste officielle des prestataires de certification n’existe pas, seule la </a:t>
                      </a:r>
                      <a:pPr indent="0" marL="0">
                        <a:buNone/>
                      </a:pPr>
                      <a:r>
                        <a:rPr lang="en-US" sz="1150" b="1" dirty="0">
                          <a:solidFill>
                            <a:srgbClr val="1B2A3A"/>
                          </a:solidFill>
                          <a:latin typeface="Segoe UI" pitchFamily="34" charset="0"/>
                          <a:ea typeface="Segoe UI" pitchFamily="34" charset="-122"/>
                          <a:cs typeface="Segoe UI" pitchFamily="34" charset="-120"/>
                        </a:rPr>
                        <a:t>signature simple</a:t>
                      </a:r>
                      <a:pPr indent="0" marL="0">
                        <a:buNone/>
                      </a:pPr>
                      <a:r>
                        <a:rPr lang="en-US" sz="1150" dirty="0">
                          <a:solidFill>
                            <a:srgbClr val="1B2A3A"/>
                          </a:solidFill>
                          <a:latin typeface="Segoe UI" pitchFamily="34" charset="0"/>
                          <a:ea typeface="Segoe UI" pitchFamily="34" charset="-122"/>
                          <a:cs typeface="Segoe UI" pitchFamily="34" charset="-120"/>
                        </a:rPr>
                        <a:t> est acceptée : une fiche qui exige une signature avancée ou qualifiée ne peut pas paraître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retrait inscrit au registre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 dossier se téléchargent par un candidat connecté. Chaque téléchargement inscrit une ligne au </a:t>
                      </a:r>
                      <a:pPr indent="0" marL="0">
                        <a:buNone/>
                      </a:pPr>
                      <a:r>
                        <a:rPr lang="en-US" sz="1150" b="1" dirty="0">
                          <a:solidFill>
                            <a:srgbClr val="1B2A3A"/>
                          </a:solidFill>
                          <a:latin typeface="Segoe UI" pitchFamily="34" charset="0"/>
                          <a:ea typeface="Segoe UI" pitchFamily="34" charset="-122"/>
                          <a:cs typeface="Segoe UI" pitchFamily="34" charset="-120"/>
                        </a:rPr>
                        <a:t>registre des retraits</a:t>
                      </a:r>
                      <a:pPr indent="0" marL="0">
                        <a:buNone/>
                      </a:pPr>
                      <a:r>
                        <a:rPr lang="en-US" sz="1150" dirty="0">
                          <a:solidFill>
                            <a:srgbClr val="1B2A3A"/>
                          </a:solidFill>
                          <a:latin typeface="Segoe UI" pitchFamily="34" charset="0"/>
                          <a:ea typeface="Segoe UI" pitchFamily="34" charset="-122"/>
                          <a:cs typeface="Segoe UI" pitchFamily="34" charset="-120"/>
                        </a:rPr>
                        <a:t> : compte, entreprise, document, version. Seule la PRMP de la fiche lit ce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Procédures ouvertes en ligne et retrait du DAO · Les arbitrages du pilote après le lot 4 — V70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a:t>
            </a:r>
            <a:endParaRPr lang="en-US" sz="2600" dirty="0"/>
          </a:p>
        </p:txBody>
      </p:sp>
      <p:graphicFrame>
        <p:nvGraphicFramePr>
          <p:cNvPr id="22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Reçu validé avant le retrait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fixe des frais, le candidat ne télécharge le dossier qu’après avoir déposé le reçu de son versement sur le compte de l’ARMP, et que la PRMP ou son UGPM l’a </a:t>
                      </a:r>
                      <a:pPr indent="0" marL="0">
                        <a:buNone/>
                      </a:pPr>
                      <a:r>
                        <a:rPr lang="en-US" sz="1150" b="1" dirty="0">
                          <a:solidFill>
                            <a:srgbClr val="1B2A3A"/>
                          </a:solidFill>
                          <a:latin typeface="Segoe UI" pitchFamily="34" charset="0"/>
                          <a:ea typeface="Segoe UI" pitchFamily="34" charset="-122"/>
                          <a:cs typeface="Segoe UI" pitchFamily="34" charset="-120"/>
                        </a:rPr>
                        <a:t>validé</a:t>
                      </a:r>
                      <a:pPr indent="0" marL="0">
                        <a:buNone/>
                      </a:pPr>
                      <a:r>
                        <a:rPr lang="en-US" sz="1150" dirty="0">
                          <a:solidFill>
                            <a:srgbClr val="1B2A3A"/>
                          </a:solidFill>
                          <a:latin typeface="Segoe UI" pitchFamily="34" charset="0"/>
                          <a:ea typeface="Segoe UI" pitchFamily="34" charset="-122"/>
                          <a:cs typeface="Segoe UI" pitchFamily="34" charset="-120"/>
                        </a:rPr>
                        <a:t>. La plateforme n’encaisse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reçu par entreprise, par lots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vaut pour l’entreprise, identifiée par son NIF, pour un ou plusieurs lots ; un lot payé ouvre tout le dossier. Un nouveau reçu ne vaut que pour des lots non couverts. Un montant inférieur aux frais n’est pas refusé : la PRMP le voit.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refus motivé, une décision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valide ou refuse le reçu ; un refus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et le candidat dépose un nouveau reçu. Une décision ne se reprend pas. Le candidat en est averti par courriel.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reçu validé, pas de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reçu validé, le candidat ne lit pas les formulaires pré-remplis du dossier et ne peut pas déposer d’offre pour un lot que son reçu ne couvre pas. Un reçu en attente de décision ne suffit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reçu validé vaut preuve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validé est la preuve du paiement : il n’est plus redemandé dans l’offre. Un dossier gratuit, ou une procédure lancée avant cette règle, garde le </a:t>
                      </a:r>
                      <a:pPr indent="0" marL="0">
                        <a:buNone/>
                      </a:pPr>
                      <a:r>
                        <a:rPr lang="en-US" sz="1150" b="1" dirty="0">
                          <a:solidFill>
                            <a:srgbClr val="1B2A3A"/>
                          </a:solidFill>
                          <a:latin typeface="Segoe UI" pitchFamily="34" charset="0"/>
                          <a:ea typeface="Segoe UI" pitchFamily="34" charset="-122"/>
                          <a:cs typeface="Segoe UI" pitchFamily="34" charset="-120"/>
                        </a:rPr>
                        <a:t>retrait libre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retrait du DAO après paiement des frais — V72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L’offre remplie en ligne</a:t>
            </a:r>
            <a:endParaRPr lang="en-US" sz="2600" dirty="0"/>
          </a:p>
        </p:txBody>
      </p:sp>
      <p:graphicFrame>
        <p:nvGraphicFramePr>
          <p:cNvPr id="2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saisie dans des formulaires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porte un besoin (fournitures, travaux), le candidat </a:t>
                      </a:r>
                      <a:pPr indent="0" marL="0">
                        <a:buNone/>
                      </a:pPr>
                      <a:r>
                        <a:rPr lang="en-US" sz="1150" b="1" dirty="0">
                          <a:solidFill>
                            <a:srgbClr val="1B2A3A"/>
                          </a:solidFill>
                          <a:latin typeface="Segoe UI" pitchFamily="34" charset="0"/>
                          <a:ea typeface="Segoe UI" pitchFamily="34" charset="-122"/>
                          <a:cs typeface="Segoe UI" pitchFamily="34" charset="-120"/>
                        </a:rPr>
                        <a:t>remplit</a:t>
                      </a:r>
                      <a:pPr indent="0" marL="0">
                        <a:buNone/>
                      </a:pPr>
                      <a:r>
                        <a:rPr lang="en-US" sz="1150" dirty="0">
                          <a:solidFill>
                            <a:srgbClr val="1B2A3A"/>
                          </a:solidFill>
                          <a:latin typeface="Segoe UI" pitchFamily="34" charset="0"/>
                          <a:ea typeface="Segoe UI" pitchFamily="34" charset="-122"/>
                          <a:cs typeface="Segoe UI" pitchFamily="34" charset="-120"/>
                        </a:rPr>
                        <a:t> son bordereau ou son DQE, sa conformité et son calendrier dans des formulaires pré-remplis depuis la fiche ; les pièces correspondantes ne sont plus exigées en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capacités déclarées aux travaux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candidat déclare aussi le coefficient K1, les sous-détails de prix, ses capacités financières et techniques, son personnel et son matériel, face aux exigences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L’acte d’engagement suit le bordereau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de l’acte d’engagement sont ceux du bordereau. L’acte d’engagement signé, la garantie de soumission et le reçu des frais restent des </a:t>
                      </a:r>
                      <a:pPr indent="0" marL="0">
                        <a:buNone/>
                      </a:pPr>
                      <a:r>
                        <a:rPr lang="en-US" sz="1150" b="1" dirty="0">
                          <a:solidFill>
                            <a:srgbClr val="1B2A3A"/>
                          </a:solidFill>
                          <a:latin typeface="Segoe UI" pitchFamily="34" charset="0"/>
                          <a:ea typeface="Segoe UI" pitchFamily="34" charset="-122"/>
                          <a:cs typeface="Segoe UI" pitchFamily="34" charset="-120"/>
                        </a:rPr>
                        <a:t>pièces</a:t>
                      </a:r>
                      <a:pPr indent="0" marL="0">
                        <a:buNone/>
                      </a:pPr>
                      <a:r>
                        <a:rPr lang="en-US" sz="1150" dirty="0">
                          <a:solidFill>
                            <a:srgbClr val="1B2A3A"/>
                          </a:solidFill>
                          <a:latin typeface="Segoe UI" pitchFamily="34" charset="0"/>
                          <a:ea typeface="Segoe UI" pitchFamily="34" charset="-122"/>
                          <a:cs typeface="Segoe UI" pitchFamily="34" charset="-120"/>
                        </a:rPr>
                        <a:t> à joindre ; sans formulaires, l’offre se dépose par pièces seules.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rabais déclaré de façon structurée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déclare son rabais : un pourcentage ou un montant hors taxes, sans condition ou subordonné à l’attribution de plusieurs lots. Sa cohérence est contrôlée dans le navigateur, avant le scellement.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avertissements, jamais un refus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serveur ne lit rien de l’offre avant l’ouverture : les contrôles faits avant le scellement avertissent le candidat, puis sont rejoués à l’ouverture en </a:t>
                      </a:r>
                      <a:pPr indent="0" marL="0">
                        <a:buNone/>
                      </a:pPr>
                      <a:r>
                        <a:rPr lang="en-US" sz="1150" b="1" dirty="0">
                          <a:solidFill>
                            <a:srgbClr val="1B2A3A"/>
                          </a:solidFill>
                          <a:latin typeface="Segoe UI" pitchFamily="34" charset="0"/>
                          <a:ea typeface="Segoe UI" pitchFamily="34" charset="-122"/>
                          <a:cs typeface="Segoe UI" pitchFamily="34" charset="-120"/>
                        </a:rPr>
                        <a:t>alertes</a:t>
                      </a:r>
                      <a:pPr indent="0" marL="0">
                        <a:buNone/>
                      </a:pPr>
                      <a:r>
                        <a:rPr lang="en-US" sz="1150" dirty="0">
                          <a:solidFill>
                            <a:srgbClr val="1B2A3A"/>
                          </a:solidFill>
                          <a:latin typeface="Segoe UI" pitchFamily="34" charset="0"/>
                          <a:ea typeface="Segoe UI" pitchFamily="34" charset="-122"/>
                          <a:cs typeface="Segoe UI" pitchFamily="34" charset="-120"/>
                        </a:rPr>
                        <a:t> pour la commission, jamais en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L'offre saisie dans des formulaires — lot 5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scellé</a:t>
            </a:r>
            <a:endParaRPr lang="en-US" sz="2600" dirty="0"/>
          </a:p>
        </p:txBody>
      </p:sp>
      <p:graphicFrame>
        <p:nvGraphicFramePr>
          <p:cNvPr id="2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scellée dans le navigateur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a:t>
                      </a:r>
                      <a:pPr indent="0" marL="0">
                        <a:buNone/>
                      </a:pPr>
                      <a:r>
                        <a:rPr lang="en-US" sz="1150" b="1" dirty="0">
                          <a:solidFill>
                            <a:srgbClr val="1B2A3A"/>
                          </a:solidFill>
                          <a:latin typeface="Segoe UI" pitchFamily="34" charset="0"/>
                          <a:ea typeface="Segoe UI" pitchFamily="34" charset="-122"/>
                          <a:cs typeface="Segoe UI" pitchFamily="34" charset="-120"/>
                        </a:rPr>
                        <a:t>scelle</a:t>
                      </a:r>
                      <a:pPr indent="0" marL="0">
                        <a:buNone/>
                      </a:pPr>
                      <a:r>
                        <a:rPr lang="en-US" sz="1150" dirty="0">
                          <a:solidFill>
                            <a:srgbClr val="1B2A3A"/>
                          </a:solidFill>
                          <a:latin typeface="Segoe UI" pitchFamily="34" charset="0"/>
                          <a:ea typeface="Segoe UI" pitchFamily="34" charset="-122"/>
                          <a:cs typeface="Segoe UI" pitchFamily="34" charset="-120"/>
                        </a:rPr>
                        <a:t> son offre dans son navigateur, avec les clés publiques de la procédure. Le serveur reçoit un contenu qu’il ne peut pas lire : il sait qui a déposé, quand, pour quel lot et combien d’octets, jamais un prix.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On dépose si la procédure est en ligne et ses dépôts ouverts à l’</a:t>
                      </a:r>
                      <a:pPr indent="0" marL="0">
                        <a:buNone/>
                      </a:pPr>
                      <a:r>
                        <a:rPr lang="en-US" sz="1150" b="1" dirty="0">
                          <a:solidFill>
                            <a:srgbClr val="1B2A3A"/>
                          </a:solidFill>
                          <a:latin typeface="Segoe UI" pitchFamily="34" charset="0"/>
                          <a:ea typeface="Segoe UI" pitchFamily="34" charset="-122"/>
                          <a:cs typeface="Segoe UI" pitchFamily="34" charset="-120"/>
                        </a:rPr>
                        <a:t>horloge du serveur</a:t>
                      </a:r>
                      <a:pPr indent="0" marL="0">
                        <a:buNone/>
                      </a:pPr>
                      <a:r>
                        <a:rPr lang="en-US" sz="1150" dirty="0">
                          <a:solidFill>
                            <a:srgbClr val="1B2A3A"/>
                          </a:solidFill>
                          <a:latin typeface="Segoe UI" pitchFamily="34" charset="0"/>
                          <a:ea typeface="Segoe UI" pitchFamily="34" charset="-122"/>
                          <a:cs typeface="Segoe UI" pitchFamily="34" charset="-120"/>
                        </a:rPr>
                        <a:t>, la cérémonie des clés close, l’entreprise déclarée et non exclue. Date limite et exclusion sont revérifiées au scellement : un dépôt non scellé à l’échéance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par entreprise et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seule offre déposée par entreprise et par lot. Un dépôt commencé et non scellé est purgé au bout de 24 heures sans envoi, ou à la date limite.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accusé portant l’empreinte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scellement donne un accusé de dépôt, en PDF et par courriel : numéro d’arrivée, date à l’horloge du serveur, </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l’offre et empreintes des clés employées.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ou retirer avant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Remplacer ou retirer une offre n’est possible qu’avant la date limite, et si la fiche l’autorise. L’ancienne offre n’est remplacée qu’au scellement de la nouvelle ; une offre retirée est conservée et ne s’ouvre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Avant l’échéance, le nombre seul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la date limite, la PRMP ne connaît que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de dépôts. Le registre (qui, quand, quel lot, empreinte) ne se lit qu’après l’échéance. L’Administrateur ne lit pas les dépôts.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dépôt scellé d'une offre — V68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les clés et le dépositaire</a:t>
            </a:r>
            <a:endParaRPr lang="en-US" sz="2600" dirty="0"/>
          </a:p>
        </p:txBody>
      </p:sp>
      <p:graphicFrame>
        <p:nvGraphicFramePr>
          <p:cNvPr id="2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commission désignée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constitue la commission d’appel d’offres par une décision : au moins deux membres, un président parmi eux, un seul expert de l’objet. Ni la PRMP, ni l’UGPM, ni un contrôleur de la CNM, ni un candidat n’y siège.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désigné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est désigné par l’Administrateur pour cette procédure. Lui seul lit et modifie les </a:t>
                      </a:r>
                      <a:pPr indent="0" marL="0">
                        <a:buNone/>
                      </a:pPr>
                      <a:r>
                        <a:rPr lang="en-US" sz="1150" b="1" dirty="0">
                          <a:solidFill>
                            <a:srgbClr val="1B2A3A"/>
                          </a:solidFill>
                          <a:latin typeface="Segoe UI" pitchFamily="34" charset="0"/>
                          <a:ea typeface="Segoe UI" pitchFamily="34" charset="-122"/>
                          <a:cs typeface="Segoe UI" pitchFamily="34" charset="-120"/>
                        </a:rPr>
                        <a:t>paramètres internes</a:t>
                      </a:r>
                      <a:pPr indent="0" marL="0">
                        <a:buNone/>
                      </a:pPr>
                      <a:r>
                        <a:rPr lang="en-US" sz="1150" dirty="0">
                          <a:solidFill>
                            <a:srgbClr val="1B2A3A"/>
                          </a:solidFill>
                          <a:latin typeface="Segoe UI" pitchFamily="34" charset="0"/>
                          <a:ea typeface="Segoe UI" pitchFamily="34" charset="-122"/>
                          <a:cs typeface="Segoe UI" pitchFamily="34" charset="-120"/>
                        </a:rPr>
                        <a:t> (quorum, cérémonie, dépositaire), qui ne paraissent dans aucun document.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cérémonie des clés avant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génère sa clé dans son navigateur ; le serveur ne détient jamais une clé privée en clair. L’avis ne se publie qu’une fois la </a:t>
                      </a:r>
                      <a:pPr indent="0" marL="0">
                        <a:buNone/>
                      </a:pPr>
                      <a:r>
                        <a:rPr lang="en-US" sz="1150" b="1" dirty="0">
                          <a:solidFill>
                            <a:srgbClr val="1B2A3A"/>
                          </a:solidFill>
                          <a:latin typeface="Segoe UI" pitchFamily="34" charset="0"/>
                          <a:ea typeface="Segoe UI" pitchFamily="34" charset="-122"/>
                          <a:cs typeface="Segoe UI" pitchFamily="34" charset="-120"/>
                        </a:rPr>
                        <a:t>cérémonie des clés</a:t>
                      </a:r>
                      <a:pPr indent="0" marL="0">
                        <a:buNone/>
                      </a:pPr>
                      <a:r>
                        <a:rPr lang="en-US" sz="1150" dirty="0">
                          <a:solidFill>
                            <a:srgbClr val="1B2A3A"/>
                          </a:solidFill>
                          <a:latin typeface="Segoe UI" pitchFamily="34" charset="0"/>
                          <a:ea typeface="Segoe UI" pitchFamily="34" charset="-122"/>
                          <a:cs typeface="Segoe UI" pitchFamily="34" charset="-120"/>
                        </a:rPr>
                        <a:t> close, toutes les clés publiées.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quorum entre deux et tous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quorum de déchiffrement est compris entre 2 et le nombre de membres. S’il égale ce nombre, un avertissement rappelle que la perte d’une seule part rendrait les offres illisibles.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génère la part de secours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choisi librement pour chaque procédure, génère la part de secours sur son propre poste ; lui seul en connaît la phrase secrète. Il ne peut être ni la PRMP, ni une UGPM, ni le responsable, ni un membre de la commission, ni un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ne voit pas les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ne voit ni les offres, ni leurs pièces, ni le PV : seulement sa clé, l’état de la cérémonie et celui de la séance. Changer de dépositaire reste possible tant que les paramètres internes sont modifiables.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commission d'appel d'offres (CAO), détentrice des parts de clé — V67 · La remise électronique des offres (demande front du 2026-09-27, cahier des charges du pilote du 27/09) · La cérémonie des clés et la procédure de secours S1 à S4 — V66 · Le dépositaire génère lui-même la part de secours — V71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07</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La séance d’ouverture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À l’heure prévue, le responsable ouvre la séance ; les membres apportent leurs parts de clé ; au quorum, toutes les offres s’ouvrent ensemble ; le PV est signé en ligne.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avant l’heure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avant l’he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séance ne s’ouvre qu’</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après la date limite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serveur refuse avant.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attend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attend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apportera ses parts depuis son espace, avec sa phrase secrète.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et les présences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ouverture et les présenc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ouvre la séance, coche les présents, ajoute les autres présents.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Apporter ses parts</a:t>
            </a:r>
            <a:endParaRPr lang="en-US" sz="2600" dirty="0"/>
          </a:p>
        </p:txBody>
      </p:sp>
      <p:sp>
        <p:nvSpPr>
          <p:cNvPr id="4" name="Shape 2"/>
          <p:cNvSpPr/>
          <p:nvPr/>
        </p:nvSpPr>
        <p:spPr>
          <a:xfrm>
            <a:off x="800080" y="1193800"/>
            <a:ext cx="10591535" cy="1997553"/>
          </a:xfrm>
          <a:prstGeom prst="rect">
            <a:avLst/>
          </a:prstGeom>
          <a:solidFill>
            <a:srgbClr val="FCFCFA"/>
          </a:solidFill>
          <a:ln w="9525">
            <a:solidFill>
              <a:srgbClr val="D5DCE4"/>
            </a:solidFill>
            <a:prstDash val="solid"/>
          </a:ln>
        </p:spPr>
      </p:sp>
      <p:pic>
        <p:nvPicPr>
          <p:cNvPr id="5" name="Image 0" descr="Apporter ses parts">    </p:cNvPr>
          <p:cNvPicPr>
            <a:picLocks noChangeAspect="1"/>
          </p:cNvPicPr>
          <p:nvPr/>
        </p:nvPicPr>
        <p:blipFill>
          <a:blip r:embed="rId1"/>
          <a:stretch>
            <a:fillRect/>
          </a:stretch>
        </p:blipFill>
        <p:spPr>
          <a:xfrm>
            <a:off x="812780" y="1206500"/>
            <a:ext cx="10566136" cy="1972153"/>
          </a:xfrm>
          <a:prstGeom prst="rect">
            <a:avLst/>
          </a:prstGeom>
        </p:spPr>
      </p:pic>
      <p:sp>
        <p:nvSpPr>
          <p:cNvPr id="6" name="Shape 3"/>
          <p:cNvSpPr/>
          <p:nvPr/>
        </p:nvSpPr>
        <p:spPr>
          <a:xfrm>
            <a:off x="812780" y="3331053"/>
            <a:ext cx="10566136" cy="1790700"/>
          </a:xfrm>
          <a:prstGeom prst="rect">
            <a:avLst/>
          </a:prstGeom>
          <a:solidFill>
            <a:srgbClr val="FCFCFA"/>
          </a:solidFill>
          <a:ln w="9525">
            <a:solidFill>
              <a:srgbClr val="D5DCE4"/>
            </a:solidFill>
            <a:prstDash val="solid"/>
          </a:ln>
        </p:spPr>
      </p:sp>
      <p:sp>
        <p:nvSpPr>
          <p:cNvPr id="7" name="Shape 4"/>
          <p:cNvSpPr/>
          <p:nvPr/>
        </p:nvSpPr>
        <p:spPr>
          <a:xfrm>
            <a:off x="812780" y="3331053"/>
            <a:ext cx="38099" cy="1790700"/>
          </a:xfrm>
          <a:prstGeom prst="rect">
            <a:avLst/>
          </a:prstGeom>
          <a:solidFill>
            <a:srgbClr val="1B6FA8"/>
          </a:solidFill>
          <a:ln/>
        </p:spPr>
      </p:sp>
      <p:sp>
        <p:nvSpPr>
          <p:cNvPr id="8" name="Text 5"/>
          <p:cNvSpPr/>
          <p:nvPr/>
        </p:nvSpPr>
        <p:spPr>
          <a:xfrm>
            <a:off x="977876" y="3432653"/>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 phrase déverrouille sa clé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sur son poste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déchiffre sa part de chaque offre ; seules ces parts partent.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quorum se remplit</a:t>
            </a:r>
            <a:endParaRPr lang="en-US" sz="2600" dirty="0"/>
          </a:p>
        </p:txBody>
      </p:sp>
      <p:sp>
        <p:nvSpPr>
          <p:cNvPr id="4" name="Shape 2"/>
          <p:cNvSpPr/>
          <p:nvPr/>
        </p:nvSpPr>
        <p:spPr>
          <a:xfrm>
            <a:off x="800080" y="1193800"/>
            <a:ext cx="10591535" cy="1065756"/>
          </a:xfrm>
          <a:prstGeom prst="rect">
            <a:avLst/>
          </a:prstGeom>
          <a:solidFill>
            <a:srgbClr val="FCFCFA"/>
          </a:solidFill>
          <a:ln w="9525">
            <a:solidFill>
              <a:srgbClr val="D5DCE4"/>
            </a:solidFill>
            <a:prstDash val="solid"/>
          </a:ln>
        </p:spPr>
      </p:sp>
      <p:pic>
        <p:nvPicPr>
          <p:cNvPr id="5" name="Image 0" descr="Le quorum se remplit">    </p:cNvPr>
          <p:cNvPicPr>
            <a:picLocks noChangeAspect="1"/>
          </p:cNvPicPr>
          <p:nvPr/>
        </p:nvPicPr>
        <p:blipFill>
          <a:blip r:embed="rId1"/>
          <a:stretch>
            <a:fillRect/>
          </a:stretch>
        </p:blipFill>
        <p:spPr>
          <a:xfrm>
            <a:off x="812780" y="1206500"/>
            <a:ext cx="10566136" cy="1040356"/>
          </a:xfrm>
          <a:prstGeom prst="rect">
            <a:avLst/>
          </a:prstGeom>
        </p:spPr>
      </p:pic>
      <p:sp>
        <p:nvSpPr>
          <p:cNvPr id="6" name="Shape 3"/>
          <p:cNvSpPr/>
          <p:nvPr/>
        </p:nvSpPr>
        <p:spPr>
          <a:xfrm>
            <a:off x="812780" y="23992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2399256"/>
            <a:ext cx="38099" cy="1790700"/>
          </a:xfrm>
          <a:prstGeom prst="rect">
            <a:avLst/>
          </a:prstGeom>
          <a:solidFill>
            <a:srgbClr val="1B6FA8"/>
          </a:solidFill>
          <a:ln/>
        </p:spPr>
      </p:sp>
      <p:sp>
        <p:nvSpPr>
          <p:cNvPr id="8" name="Text 5"/>
          <p:cNvSpPr/>
          <p:nvPr/>
        </p:nvSpPr>
        <p:spPr>
          <a:xfrm>
            <a:off x="977876" y="25008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offres s’ouvriront dès que le quorum sera atteint ; un membre absent peut être suppléé par la part de secours.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RG-SEA-07 · RG-SEA-08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offres s’ouvrent ensemble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tes les offres s’ouvrent ensem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quorum, chaque offre est vérifiée (empreinte), déchiffrée, comparée aux pièces attendues.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RG-SEA-08 · RG-SEA-10 · RG-SEA-11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fournitures</a:t>
            </a:r>
            <a:endParaRPr lang="en-US" sz="2600" dirty="0"/>
          </a:p>
        </p:txBody>
      </p:sp>
      <p:sp>
        <p:nvSpPr>
          <p:cNvPr id="4" name="Shape 2"/>
          <p:cNvSpPr/>
          <p:nvPr/>
        </p:nvSpPr>
        <p:spPr>
          <a:xfrm>
            <a:off x="1687917" y="1193800"/>
            <a:ext cx="8815862" cy="3327400"/>
          </a:xfrm>
          <a:prstGeom prst="rect">
            <a:avLst/>
          </a:prstGeom>
          <a:solidFill>
            <a:srgbClr val="FCFCFA"/>
          </a:solidFill>
          <a:ln w="9525">
            <a:solidFill>
              <a:srgbClr val="D5DCE4"/>
            </a:solidFill>
            <a:prstDash val="solid"/>
          </a:ln>
        </p:spPr>
      </p:sp>
      <p:pic>
        <p:nvPicPr>
          <p:cNvPr id="5" name="Image 0" descr="La lecture d’une offre remplie : fournitures">    </p:cNvPr>
          <p:cNvPicPr>
            <a:picLocks noChangeAspect="1"/>
          </p:cNvPicPr>
          <p:nvPr/>
        </p:nvPicPr>
        <p:blipFill>
          <a:blip r:embed="rId1"/>
          <a:stretch>
            <a:fillRect/>
          </a:stretch>
        </p:blipFill>
        <p:spPr>
          <a:xfrm>
            <a:off x="1700616" y="1206500"/>
            <a:ext cx="879046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totaux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recalculés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 les alertes (non-conformité, livraison hors délai) ; le bordereau et la conformité remplis,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travaux</a:t>
            </a:r>
            <a:endParaRPr lang="en-US" sz="2600" dirty="0"/>
          </a:p>
        </p:txBody>
      </p:sp>
      <p:sp>
        <p:nvSpPr>
          <p:cNvPr id="4" name="Shape 2"/>
          <p:cNvSpPr/>
          <p:nvPr/>
        </p:nvSpPr>
        <p:spPr>
          <a:xfrm>
            <a:off x="800080" y="1193800"/>
            <a:ext cx="6883228" cy="4363085"/>
          </a:xfrm>
          <a:prstGeom prst="rect">
            <a:avLst/>
          </a:prstGeom>
          <a:solidFill>
            <a:srgbClr val="FCFCFA"/>
          </a:solidFill>
          <a:ln w="9525">
            <a:solidFill>
              <a:srgbClr val="D5DCE4"/>
            </a:solidFill>
            <a:prstDash val="solid"/>
          </a:ln>
        </p:spPr>
      </p:sp>
      <p:pic>
        <p:nvPicPr>
          <p:cNvPr id="5" name="Image 0" descr="La lecture d’une offre remplie : travaux">    </p:cNvPr>
          <p:cNvPicPr>
            <a:picLocks noChangeAspect="1"/>
          </p:cNvPicPr>
          <p:nvPr/>
        </p:nvPicPr>
        <p:blipFill>
          <a:blip r:embed="rId1"/>
          <a:stretch>
            <a:fillRect/>
          </a:stretch>
        </p:blipFill>
        <p:spPr>
          <a:xfrm>
            <a:off x="812780" y="1206500"/>
            <a:ext cx="6857829" cy="4337685"/>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offre en défaut : chiffre d’affaires, liquidité, références, personnel, matériel, sous-détail — des alertes, jamais un rejet.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 lus en séance</a:t>
            </a:r>
            <a:endParaRPr lang="en-US" sz="2600" dirty="0"/>
          </a:p>
        </p:txBody>
      </p:sp>
      <p:sp>
        <p:nvSpPr>
          <p:cNvPr id="4" name="Shape 2"/>
          <p:cNvSpPr/>
          <p:nvPr/>
        </p:nvSpPr>
        <p:spPr>
          <a:xfrm>
            <a:off x="1731362" y="1193800"/>
            <a:ext cx="8728971" cy="3327400"/>
          </a:xfrm>
          <a:prstGeom prst="rect">
            <a:avLst/>
          </a:prstGeom>
          <a:solidFill>
            <a:srgbClr val="FCFCFA"/>
          </a:solidFill>
          <a:ln w="9525">
            <a:solidFill>
              <a:srgbClr val="D5DCE4"/>
            </a:solidFill>
            <a:prstDash val="solid"/>
          </a:ln>
        </p:spPr>
      </p:sp>
      <p:pic>
        <p:nvPicPr>
          <p:cNvPr id="5" name="Image 0" descr="Les frais de dossier, lus en séance">    </p:cNvPr>
          <p:cNvPicPr>
            <a:picLocks noChangeAspect="1"/>
          </p:cNvPicPr>
          <p:nvPr/>
        </p:nvPicPr>
        <p:blipFill>
          <a:blip r:embed="rId1"/>
          <a:stretch>
            <a:fillRect/>
          </a:stretch>
        </p:blipFill>
        <p:spPr>
          <a:xfrm>
            <a:off x="1744062" y="1206500"/>
            <a:ext cx="870357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 Frais de dossier » de chaque offre ; sans reçu validé, l’alerte « Frais de dossier non réglés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projetée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ecture, proje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Offre par offre : soumissionnaire, montants, délai, garantie, pièces manquantes, alertes — en grand pour la salle.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RG-SEA-15 · RG-SEA-17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pour la commission seule</a:t>
            </a:r>
            <a:endParaRPr lang="en-US" sz="2600" dirty="0"/>
          </a:p>
        </p:txBody>
      </p:sp>
      <p:sp>
        <p:nvSpPr>
          <p:cNvPr id="4" name="Shape 2"/>
          <p:cNvSpPr/>
          <p:nvPr/>
        </p:nvSpPr>
        <p:spPr>
          <a:xfrm>
            <a:off x="800080" y="1193800"/>
            <a:ext cx="10591535" cy="2576534"/>
          </a:xfrm>
          <a:prstGeom prst="rect">
            <a:avLst/>
          </a:prstGeom>
          <a:solidFill>
            <a:srgbClr val="FCFCFA"/>
          </a:solidFill>
          <a:ln w="9525">
            <a:solidFill>
              <a:srgbClr val="D5DCE4"/>
            </a:solidFill>
            <a:prstDash val="solid"/>
          </a:ln>
        </p:spPr>
      </p:sp>
      <p:pic>
        <p:nvPicPr>
          <p:cNvPr id="5" name="Image 0" descr="Les pièces, pour la commission seule">    </p:cNvPr>
          <p:cNvPicPr>
            <a:picLocks noChangeAspect="1"/>
          </p:cNvPicPr>
          <p:nvPr/>
        </p:nvPicPr>
        <p:blipFill>
          <a:blip r:embed="rId1"/>
          <a:stretch>
            <a:fillRect/>
          </a:stretch>
        </p:blipFill>
        <p:spPr>
          <a:xfrm>
            <a:off x="812780" y="1206500"/>
            <a:ext cx="10566136" cy="2551134"/>
          </a:xfrm>
          <a:prstGeom prst="rect">
            <a:avLst/>
          </a:prstGeom>
        </p:spPr>
      </p:pic>
      <p:sp>
        <p:nvSpPr>
          <p:cNvPr id="6" name="Shape 3"/>
          <p:cNvSpPr/>
          <p:nvPr/>
        </p:nvSpPr>
        <p:spPr>
          <a:xfrm>
            <a:off x="812780" y="39100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10034"/>
            <a:ext cx="38099" cy="1790700"/>
          </a:xfrm>
          <a:prstGeom prst="rect">
            <a:avLst/>
          </a:prstGeom>
          <a:solidFill>
            <a:srgbClr val="1B6FA8"/>
          </a:solidFill>
          <a:ln/>
        </p:spPr>
      </p:sp>
      <p:sp>
        <p:nvSpPr>
          <p:cNvPr id="8" name="Text 5"/>
          <p:cNvSpPr/>
          <p:nvPr/>
        </p:nvSpPr>
        <p:spPr>
          <a:xfrm>
            <a:off x="977876" y="40116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Seuls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membres de la commission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ouvrent les pièces des 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d’ouverture,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produit le PV ; il attend la signature de chaque membre présent.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RG-SEA-20 · RG-SEA-22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le PV en ligne</a:t>
            </a:r>
            <a:endParaRPr lang="en-US" sz="2600" dirty="0"/>
          </a:p>
        </p:txBody>
      </p:sp>
      <p:sp>
        <p:nvSpPr>
          <p:cNvPr id="4" name="Shape 2"/>
          <p:cNvSpPr/>
          <p:nvPr/>
        </p:nvSpPr>
        <p:spPr>
          <a:xfrm>
            <a:off x="800080" y="1193800"/>
            <a:ext cx="10591535" cy="1500216"/>
          </a:xfrm>
          <a:prstGeom prst="rect">
            <a:avLst/>
          </a:prstGeom>
          <a:solidFill>
            <a:srgbClr val="FCFCFA"/>
          </a:solidFill>
          <a:ln w="9525">
            <a:solidFill>
              <a:srgbClr val="D5DCE4"/>
            </a:solidFill>
            <a:prstDash val="solid"/>
          </a:ln>
        </p:spPr>
      </p:sp>
      <p:pic>
        <p:nvPicPr>
          <p:cNvPr id="5" name="Image 0" descr="Signer le PV en ligne">    </p:cNvPr>
          <p:cNvPicPr>
            <a:picLocks noChangeAspect="1"/>
          </p:cNvPicPr>
          <p:nvPr/>
        </p:nvPicPr>
        <p:blipFill>
          <a:blip r:embed="rId1"/>
          <a:stretch>
            <a:fillRect/>
          </a:stretch>
        </p:blipFill>
        <p:spPr>
          <a:xfrm>
            <a:off x="812780" y="1206500"/>
            <a:ext cx="10566136" cy="1474816"/>
          </a:xfrm>
          <a:prstGeom prst="rect">
            <a:avLst/>
          </a:prstGeom>
        </p:spPr>
      </p:pic>
      <p:sp>
        <p:nvSpPr>
          <p:cNvPr id="6" name="Shape 3"/>
          <p:cNvSpPr/>
          <p:nvPr/>
        </p:nvSpPr>
        <p:spPr>
          <a:xfrm>
            <a:off x="812780" y="2833716"/>
            <a:ext cx="10566136" cy="1993900"/>
          </a:xfrm>
          <a:prstGeom prst="rect">
            <a:avLst/>
          </a:prstGeom>
          <a:solidFill>
            <a:srgbClr val="FCFCFA"/>
          </a:solidFill>
          <a:ln w="9525">
            <a:solidFill>
              <a:srgbClr val="D5DCE4"/>
            </a:solidFill>
            <a:prstDash val="solid"/>
          </a:ln>
        </p:spPr>
      </p:sp>
      <p:sp>
        <p:nvSpPr>
          <p:cNvPr id="7" name="Shape 4"/>
          <p:cNvSpPr/>
          <p:nvPr/>
        </p:nvSpPr>
        <p:spPr>
          <a:xfrm>
            <a:off x="812780" y="2833716"/>
            <a:ext cx="38099" cy="1993900"/>
          </a:xfrm>
          <a:prstGeom prst="rect">
            <a:avLst/>
          </a:prstGeom>
          <a:solidFill>
            <a:srgbClr val="1B6FA8"/>
          </a:solidFill>
          <a:ln/>
        </p:spPr>
      </p:sp>
      <p:sp>
        <p:nvSpPr>
          <p:cNvPr id="8" name="Text 5"/>
          <p:cNvSpPr/>
          <p:nvPr/>
        </p:nvSpPr>
        <p:spPr>
          <a:xfrm>
            <a:off x="977876" y="293531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Relire le PV, puis signer : la signature est horodatée et imprimée au PV.</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peut constater l’empêchement d’un membre,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est signé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est sign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séance est close.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 la fiche prévoit la publication, un extrait du PV (sans les alertes) paraît alors sur la procédure publique.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après la séance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après la s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procédure publique passe à « close » : les dépôts sont clos.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la fiche prévoit la publication du PV, son extrait s’y lit ; ce n’était pas le cas de la fiche de démonstration.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 · RG-SEA-24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complet, après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complet, après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 date limite : entreprise, NIF, lot, heure, état, empreinte de chaque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vue par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vue par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lit la séance et la lecture des offres, sans en ouvrir les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séance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séance d'ouverture des plis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L’apport des parts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apport de parts en séance : qui (K… ou SECOURS), combien, quand. Jamais les parts.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PV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électronique simple du PV d'ouverture par un membre présent de la CAO (l'acte authentifié du membre connecté, horodaté), ou son empêchement constaté par le président, avec un motif porté au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la séance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la séance ; jamais une part.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seconde séance (propositions financières,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seconde séance d'ouverture d'une consultation de prestations intellectuelles : les enveloppes financières à ouvrir (A_OUVRIR, identifiants séparés par des virgules, fixés à l'ouverture), son état, ses présents, son PV. V89 (PI-d2a) : une ligne par ronde — 1 = la seconde séance, 2…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24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séance d’ouverture  ·  t_seance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est produit, les membres présents le signent. */ public static final String PV_A_SIGNER = "PV_A_SIGNER"; public static final String ILLISIBLE = "ILLISIBLE"; public static final String CLOSE = "CLOSE"; @Id @Column(name = "ID_DMC", nullable = false) private Long idDmc; @Column(name = "ETAT",…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autres présents, en JSON : [{ nom, qualite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part de secours demandée au dépositaire par le responsable : motif et 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MOTIF_ILLISIBLE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illisible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tel qu'il se publie (B04-OP-13 = OUI) : sans les alertes de rapprochement ni la vérification des NIF. */ @Basic(fetch = FetchType.LAZY) @Column(name = "PV_PUBLIC") private byte[] pvPublic; @Column(name = "PV_PUBLIE", nullable = false) private Boolean pvPublie = Boolean.FALSE; /** V70 (§B2)…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PV_SIGNE_LE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PV 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entièrement signé (ou les empêchements constatés).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L’apport des parts d’un détenteur  ·  t_seance_apport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DETENTEUR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Detenteur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PV d’ouverture  ·  t_seance_signature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247</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2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la séance  ·  t_seance_journal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seconde séance (propositions financières, lot 3)  ·  t_seance_financiere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 : OUVERTE, DECHIFFREE,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METHODE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Methode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A_OUVRIR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 ouvrir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DECHIFFREE_LE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Dechiffree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248</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2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Close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249</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26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5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Ouvrir la séance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L’ouverture à l’heure fixée · Des rappels avant la séance · Les présences consignées · Sans offre, un PV de carence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parts et le quorum</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RG-SEA-05 → 09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Toutes ses parts en une fois · Des parts jamais conservées · La part de secours, sur demande motivée · Au quorum, tout s’ouvre ensemble · Quorum impossible : PV de constat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L’ouverture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RG-SEA-10 → 11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L’exclusion après dépôt écarte l’offre · L’intégrité de chaque offre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lecture et les alertes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RG-SEA-12 → 17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lecture informe, ne refuse pas · Les totaux recalculés à l’ouverture · Aux travaux, capacités et prix en lettres · La garantie lue en séance · Les frais de dossier lus · Le rabais lu chiffré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pièces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RG-SEA-18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pièces, pour la commission seule · Le registre complet après l’échéance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PV d’ouverture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RG-SEA-20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PV produit par le responsable · Signé par chaque membre présent · L’empêchement constaté avec motif · Clôture à la dernière signature · L’extrait public, sans les alertes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conservation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RG-SEA-25 → 26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durée fixée par l’Administrateur · Une purge manuelle et tracée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250</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la séance</a:t>
            </a:r>
            <a:endParaRPr lang="en-US" sz="2600" dirty="0"/>
          </a:p>
        </p:txBody>
      </p:sp>
      <p:graphicFrame>
        <p:nvGraphicFramePr>
          <p:cNvPr id="25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L’ouverture à l’heure fixée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la séance à l’</a:t>
                      </a:r>
                      <a:pPr indent="0" marL="0">
                        <a:buNone/>
                      </a:pPr>
                      <a:r>
                        <a:rPr lang="en-US" sz="1150" b="1" dirty="0">
                          <a:solidFill>
                            <a:srgbClr val="1B2A3A"/>
                          </a:solidFill>
                          <a:latin typeface="Segoe UI" pitchFamily="34" charset="0"/>
                          <a:ea typeface="Segoe UI" pitchFamily="34" charset="-122"/>
                          <a:cs typeface="Segoe UI" pitchFamily="34" charset="-120"/>
                        </a:rPr>
                        <a:t>heure d’ouverture</a:t>
                      </a:r>
                      <a:pPr indent="0" marL="0">
                        <a:buNone/>
                      </a:pPr>
                      <a:r>
                        <a:rPr lang="en-US" sz="1150" dirty="0">
                          <a:solidFill>
                            <a:srgbClr val="1B2A3A"/>
                          </a:solidFill>
                          <a:latin typeface="Segoe UI" pitchFamily="34" charset="0"/>
                          <a:ea typeface="Segoe UI" pitchFamily="34" charset="-122"/>
                          <a:cs typeface="Segoe UI" pitchFamily="34" charset="-120"/>
                        </a:rPr>
                        <a:t> fixée par la fiche, une fois la date limite passée. Avant, personne ne reçoit rien, pas même les parts chiffrées.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rappels avant la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membres de la commission et le responsable reçoivent un rappel la veille, puis une heure avant l’heure d’ouverture.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présences consignées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enregistre les présents : membres de la commission et autres personnes, avec leur qualité. Un membre qui apporte ses parts est </a:t>
                      </a:r>
                      <a:pPr indent="0" marL="0">
                        <a:buNone/>
                      </a:pPr>
                      <a:r>
                        <a:rPr lang="en-US" sz="1150" b="1" dirty="0">
                          <a:solidFill>
                            <a:srgbClr val="1B2A3A"/>
                          </a:solidFill>
                          <a:latin typeface="Segoe UI" pitchFamily="34" charset="0"/>
                          <a:ea typeface="Segoe UI" pitchFamily="34" charset="-122"/>
                          <a:cs typeface="Segoe UI" pitchFamily="34" charset="-120"/>
                        </a:rPr>
                        <a:t>présent d’office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offre, un PV de carence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offre déposée, la séance s’ouvre directement et le PV est un </a:t>
                      </a:r>
                      <a:pPr indent="0" marL="0">
                        <a:buNone/>
                      </a:pPr>
                      <a:r>
                        <a:rPr lang="en-US" sz="1150" b="1" dirty="0">
                          <a:solidFill>
                            <a:srgbClr val="1B2A3A"/>
                          </a:solidFill>
                          <a:latin typeface="Segoe UI" pitchFamily="34" charset="0"/>
                          <a:ea typeface="Segoe UI" pitchFamily="34" charset="-122"/>
                          <a:cs typeface="Segoe UI" pitchFamily="34" charset="-120"/>
                        </a:rPr>
                        <a:t>PV de carence</a:t>
                      </a:r>
                      <a:pPr indent="0" marL="0">
                        <a:buNone/>
                      </a:pPr>
                      <a:r>
                        <a:rPr lang="en-US" sz="1150" dirty="0">
                          <a:solidFill>
                            <a:srgbClr val="1B2A3A"/>
                          </a:solidFill>
                          <a:latin typeface="Segoe UI" pitchFamily="34" charset="0"/>
                          <a:ea typeface="Segoe UI" pitchFamily="34" charset="-122"/>
                          <a:cs typeface="Segoe UI" pitchFamily="34" charset="-120"/>
                        </a:rPr>
                        <a:t>, signé selon la même règle que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L'ouverture des plis en séance — V69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251</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parts et le quorum</a:t>
            </a:r>
            <a:endParaRPr lang="en-US" sz="2600" dirty="0"/>
          </a:p>
        </p:txBody>
      </p:sp>
      <p:graphicFrame>
        <p:nvGraphicFramePr>
          <p:cNvPr id="25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Toutes ses parts en 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déverrouille sa clé dans son navigateur et apporte </a:t>
                      </a:r>
                      <a:pPr indent="0" marL="0">
                        <a:buNone/>
                      </a:pPr>
                      <a:r>
                        <a:rPr lang="en-US" sz="1150" b="1" dirty="0">
                          <a:solidFill>
                            <a:srgbClr val="1B2A3A"/>
                          </a:solidFill>
                          <a:latin typeface="Segoe UI" pitchFamily="34" charset="0"/>
                          <a:ea typeface="Segoe UI" pitchFamily="34" charset="-122"/>
                          <a:cs typeface="Segoe UI" pitchFamily="34" charset="-120"/>
                        </a:rPr>
                        <a:t>toutes ses parts</a:t>
                      </a:r>
                      <a:pPr indent="0" marL="0">
                        <a:buNone/>
                      </a:pPr>
                      <a:r>
                        <a:rPr lang="en-US" sz="1150" dirty="0">
                          <a:solidFill>
                            <a:srgbClr val="1B2A3A"/>
                          </a:solidFill>
                          <a:latin typeface="Segoe UI" pitchFamily="34" charset="0"/>
                          <a:ea typeface="Segoe UI" pitchFamily="34" charset="-122"/>
                          <a:cs typeface="Segoe UI" pitchFamily="34" charset="-120"/>
                        </a:rPr>
                        <a:t> en une fois, une par offre. Il peut les rapporter : elles remplacent les précédentes.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parts jamais conservées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parts apportées vivent en mémoire du serveur seulement, jamais en base ni au journal, et s’effacent au déchiffrement. Un redémarrage du serveur pendant la séance oblige les membres à les rapporter.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part de secours, sur demande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une part manque, le responsable </a:t>
                      </a:r>
                      <a:pPr indent="0" marL="0">
                        <a:buNone/>
                      </a:pPr>
                      <a:r>
                        <a:rPr lang="en-US" sz="1150" b="1" dirty="0">
                          <a:solidFill>
                            <a:srgbClr val="1B2A3A"/>
                          </a:solidFill>
                          <a:latin typeface="Segoe UI" pitchFamily="34" charset="0"/>
                          <a:ea typeface="Segoe UI" pitchFamily="34" charset="-122"/>
                          <a:cs typeface="Segoe UI" pitchFamily="34" charset="-120"/>
                        </a:rPr>
                        <a:t>demande</a:t>
                      </a:r>
                      <a:pPr indent="0" marL="0">
                        <a:buNone/>
                      </a:pPr>
                      <a:r>
                        <a:rPr lang="en-US" sz="1150" dirty="0">
                          <a:solidFill>
                            <a:srgbClr val="1B2A3A"/>
                          </a:solidFill>
                          <a:latin typeface="Segoe UI" pitchFamily="34" charset="0"/>
                          <a:ea typeface="Segoe UI" pitchFamily="34" charset="-122"/>
                          <a:cs typeface="Segoe UI" pitchFamily="34" charset="-120"/>
                        </a:rPr>
                        <a:t> la part de secours avec un motif, porté au PV ; le dépositaire l’apporte depuis son propre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 quorum, tout s’ouvre ensemble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a:t>
                      </a:r>
                      <a:pPr indent="0" marL="0">
                        <a:buNone/>
                      </a:pPr>
                      <a:r>
                        <a:rPr lang="en-US" sz="1150" b="1" dirty="0">
                          <a:solidFill>
                            <a:srgbClr val="1B2A3A"/>
                          </a:solidFill>
                          <a:latin typeface="Segoe UI" pitchFamily="34" charset="0"/>
                          <a:ea typeface="Segoe UI" pitchFamily="34" charset="-122"/>
                          <a:cs typeface="Segoe UI" pitchFamily="34" charset="-120"/>
                        </a:rPr>
                        <a:t>quorum</a:t>
                      </a:r>
                      <a:pPr indent="0" marL="0">
                        <a:buNone/>
                      </a:pPr>
                      <a:r>
                        <a:rPr lang="en-US" sz="1150" dirty="0">
                          <a:solidFill>
                            <a:srgbClr val="1B2A3A"/>
                          </a:solidFill>
                          <a:latin typeface="Segoe UI" pitchFamily="34" charset="0"/>
                          <a:ea typeface="Segoe UI" pitchFamily="34" charset="-122"/>
                          <a:cs typeface="Segoe UI" pitchFamily="34" charset="-120"/>
                        </a:rPr>
                        <a:t>, toutes les offres s’ouvrent ensemble, dans un même geste ; aucune ne s’ouvre avant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Quorum impossible : PV de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quorum ne peut plus être atteint, part de secours comprise, le responsable constate l’illisibilité : un PV de constat est dressé, les soumissionnaires sont avertis et la procédure est à relancer.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L'ouverture des plis en séance — V69 · Le dépositaire génère lui-même la part de secours — V71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252</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des offres</a:t>
            </a:r>
            <a:endParaRPr lang="en-US" sz="2600" dirty="0"/>
          </a:p>
        </p:txBody>
      </p:sp>
      <p:graphicFrame>
        <p:nvGraphicFramePr>
          <p:cNvPr id="25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L’exclusion après dépôt écarte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dont l’entreprise, ou un membre du groupement, a été exclue par l’ARMP depuis son dépôt est </a:t>
                      </a:r>
                      <a:pPr indent="0" marL="0">
                        <a:buNone/>
                      </a:pPr>
                      <a:r>
                        <a:rPr lang="en-US" sz="1150" b="1" dirty="0">
                          <a:solidFill>
                            <a:srgbClr val="1B2A3A"/>
                          </a:solidFill>
                          <a:latin typeface="Segoe UI" pitchFamily="34" charset="0"/>
                          <a:ea typeface="Segoe UI" pitchFamily="34" charset="-122"/>
                          <a:cs typeface="Segoe UI" pitchFamily="34" charset="-120"/>
                        </a:rPr>
                        <a:t>écartée sans être ouverte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L’intégrité de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L’empreinte de chaque offre est recalculée : une offre altérée est signalée. Une offre qu’on ne peut pas lire ne bloque pas les autres. Les offres retirées et remplacées ne s’ouvrent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253</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et les alertes</a:t>
            </a:r>
            <a:endParaRPr lang="en-US" sz="2600" dirty="0"/>
          </a:p>
        </p:txBody>
      </p:sp>
      <p:graphicFrame>
        <p:nvGraphicFramePr>
          <p:cNvPr id="25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lecture informe, ne refuse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lecture — montants, délai, validité, garantie, pièces manquantes, vérification du NIF, rapprochements entre déposants — est une information pour la commission, </a:t>
                      </a:r>
                      <a:pPr indent="0" marL="0">
                        <a:buNone/>
                      </a:pPr>
                      <a:r>
                        <a:rPr lang="en-US" sz="1150" b="1" dirty="0">
                          <a:solidFill>
                            <a:srgbClr val="1B2A3A"/>
                          </a:solidFill>
                          <a:latin typeface="Segoe UI" pitchFamily="34" charset="0"/>
                          <a:ea typeface="Segoe UI" pitchFamily="34" charset="-122"/>
                          <a:cs typeface="Segoe UI" pitchFamily="34" charset="-120"/>
                        </a:rPr>
                        <a:t>jamais un refus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totaux recalculés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une offre remplie en ligne, le serveur </a:t>
                      </a:r>
                      <a:pPr indent="0" marL="0">
                        <a:buNone/>
                      </a:pPr>
                      <a:r>
                        <a:rPr lang="en-US" sz="1150" b="1" dirty="0">
                          <a:solidFill>
                            <a:srgbClr val="1B2A3A"/>
                          </a:solidFill>
                          <a:latin typeface="Segoe UI" pitchFamily="34" charset="0"/>
                          <a:ea typeface="Segoe UI" pitchFamily="34" charset="-122"/>
                          <a:cs typeface="Segoe UI" pitchFamily="34" charset="-120"/>
                        </a:rPr>
                        <a:t>recalcule les totaux</a:t>
                      </a:r>
                      <a:pPr indent="0" marL="0">
                        <a:buNone/>
                      </a:pPr>
                      <a:r>
                        <a:rPr lang="en-US" sz="1150" dirty="0">
                          <a:solidFill>
                            <a:srgbClr val="1B2A3A"/>
                          </a:solidFill>
                          <a:latin typeface="Segoe UI" pitchFamily="34" charset="0"/>
                          <a:ea typeface="Segoe UI" pitchFamily="34" charset="-122"/>
                          <a:cs typeface="Segoe UI" pitchFamily="34" charset="-120"/>
                        </a:rPr>
                        <a:t> et signale les écarts avec l’acte d’engagement, les prix manquants, les prix en lettres divergents, les plafonds dépassés, les non-conformités et les livraisons hors délai.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Aux travaux, capacités et prix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prix en lettres fait foi ; le serveur signale aussi les capacités, le personnel et le matériel insuffisants, ainsi que les sous-détails de prix incohérents. Le détail des prix n’est lu que par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lue en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garantie de soumission est lue en séance, montant et émetteur imprimés au PV. Un montant inférieur au minimum fixé par la fiche, par lot le cas échéant, donne une </a:t>
                      </a:r>
                      <a:pPr indent="0" marL="0">
                        <a:buNone/>
                      </a:pPr>
                      <a:r>
                        <a:rPr lang="en-US" sz="1150" b="1" dirty="0">
                          <a:solidFill>
                            <a:srgbClr val="1B2A3A"/>
                          </a:solidFill>
                          <a:latin typeface="Segoe UI" pitchFamily="34" charset="0"/>
                          <a:ea typeface="Segoe UI" pitchFamily="34" charset="-122"/>
                          <a:cs typeface="Segoe UI" pitchFamily="34" charset="-120"/>
                        </a:rPr>
                        <a:t>alerte</a:t>
                      </a:r>
                      <a:pPr indent="0" marL="0">
                        <a:buNone/>
                      </a:pPr>
                      <a:r>
                        <a:rPr lang="en-US" sz="1150" dirty="0">
                          <a:solidFill>
                            <a:srgbClr val="1B2A3A"/>
                          </a:solidFill>
                          <a:latin typeface="Segoe UI" pitchFamily="34" charset="0"/>
                          <a:ea typeface="Segoe UI" pitchFamily="34" charset="-122"/>
                          <a:cs typeface="Segoe UI" pitchFamily="34" charset="-120"/>
                        </a:rPr>
                        <a:t>, jamais un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frais de dossier lus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séance indique, offre par offre, si les frais de dossier sont réglés. Une offre sans reçu validé couvrant son lot est </a:t>
                      </a:r>
                      <a:pPr indent="0" marL="0">
                        <a:buNone/>
                      </a:pPr>
                      <a:r>
                        <a:rPr lang="en-US" sz="1150" b="1" dirty="0">
                          <a:solidFill>
                            <a:srgbClr val="1B2A3A"/>
                          </a:solidFill>
                          <a:latin typeface="Segoe UI" pitchFamily="34" charset="0"/>
                          <a:ea typeface="Segoe UI" pitchFamily="34" charset="-122"/>
                          <a:cs typeface="Segoe UI" pitchFamily="34" charset="-120"/>
                        </a:rPr>
                        <a:t>signalée</a:t>
                      </a:r>
                      <a:pPr indent="0" marL="0">
                        <a:buNone/>
                      </a:pPr>
                      <a:r>
                        <a:rPr lang="en-US" sz="1150" dirty="0">
                          <a:solidFill>
                            <a:srgbClr val="1B2A3A"/>
                          </a:solidFill>
                          <a:latin typeface="Segoe UI" pitchFamily="34" charset="0"/>
                          <a:ea typeface="Segoe UI" pitchFamily="34" charset="-122"/>
                          <a:cs typeface="Segoe UI" pitchFamily="34" charset="-120"/>
                        </a:rPr>
                        <a:t> à la commission, jamais écartée.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lu chiffré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se lit chiffré : un rabais sans condition est calculé sur le montant hors taxes lu ; un rabais lié à plusieurs lots est lu avec sa condition. Le PV et son extrait public en impriment la phrase.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254</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des offres</a:t>
            </a:r>
            <a:endParaRPr lang="en-US" sz="2600" dirty="0"/>
          </a:p>
        </p:txBody>
      </p:sp>
      <p:graphicFrame>
        <p:nvGraphicFramePr>
          <p:cNvPr id="25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pièces, pour la commission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des offres ne s’ouvrent que par les </a:t>
                      </a:r>
                      <a:pPr indent="0" marL="0">
                        <a:buNone/>
                      </a:pPr>
                      <a:r>
                        <a:rPr lang="en-US" sz="1150" b="1" dirty="0">
                          <a:solidFill>
                            <a:srgbClr val="1B2A3A"/>
                          </a:solidFill>
                          <a:latin typeface="Segoe UI" pitchFamily="34" charset="0"/>
                          <a:ea typeface="Segoe UI" pitchFamily="34" charset="-122"/>
                          <a:cs typeface="Segoe UI" pitchFamily="34" charset="-120"/>
                        </a:rPr>
                        <a:t>membres de la commission</a:t>
                      </a:r>
                      <a:pPr indent="0" marL="0">
                        <a:buNone/>
                      </a:pPr>
                      <a:r>
                        <a:rPr lang="en-US" sz="1150" dirty="0">
                          <a:solidFill>
                            <a:srgbClr val="1B2A3A"/>
                          </a:solidFill>
                          <a:latin typeface="Segoe UI" pitchFamily="34" charset="0"/>
                          <a:ea typeface="Segoe UI" pitchFamily="34" charset="-122"/>
                          <a:cs typeface="Segoe UI" pitchFamily="34" charset="-120"/>
                        </a:rPr>
                        <a:t>. Le responsable, la PRMP et l’UGPM lisent ce qui est lu en séance, sans ouvrir aucun fichier ; pour montrer une pièce à la salle, un membre l’ouvre.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registre complet après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la PRMP lit le registre complet des dépôts : chaque offre, son entreprise, son lot, sa date de dépôt ou de retrait, son empreinte et son état.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dépôt scellé d'une offre — V68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255</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a:t>
            </a:r>
            <a:endParaRPr lang="en-US" sz="2600" dirty="0"/>
          </a:p>
        </p:txBody>
      </p:sp>
      <p:graphicFrame>
        <p:nvGraphicFramePr>
          <p:cNvPr id="25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PV produit par le responsable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PV : présents, emploi de la part de secours et son motif, lecture offre par offre, offres non ouvertes et pourquoi, observations. Les présences ne se modifient plus ensuite.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par chaque membre présent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présent signe le PV d’une </a:t>
                      </a:r>
                      <a:pPr indent="0" marL="0">
                        <a:buNone/>
                      </a:pPr>
                      <a:r>
                        <a:rPr lang="en-US" sz="1150" b="1" dirty="0">
                          <a:solidFill>
                            <a:srgbClr val="1B2A3A"/>
                          </a:solidFill>
                          <a:latin typeface="Segoe UI" pitchFamily="34" charset="0"/>
                          <a:ea typeface="Segoe UI" pitchFamily="34" charset="-122"/>
                          <a:cs typeface="Segoe UI" pitchFamily="34" charset="-120"/>
                        </a:rPr>
                        <a:t>signature électronique simple</a:t>
                      </a:r>
                      <a:pPr indent="0" marL="0">
                        <a:buNone/>
                      </a:pPr>
                      <a:r>
                        <a:rPr lang="en-US" sz="1150" dirty="0">
                          <a:solidFill>
                            <a:srgbClr val="1B2A3A"/>
                          </a:solidFill>
                          <a:latin typeface="Segoe UI" pitchFamily="34" charset="0"/>
                          <a:ea typeface="Segoe UI" pitchFamily="34" charset="-122"/>
                          <a:cs typeface="Segoe UI" pitchFamily="34" charset="-120"/>
                        </a:rPr>
                        <a:t> : l’acte authentifié du membre connecté, horodaté et journalisé.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L’empêchement constaté avec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présent qui ne peut pas signer ne bloque pas la séance : le président de la commission, ou à défaut le responsable, constate son </a:t>
                      </a:r>
                      <a:pPr indent="0" marL="0">
                        <a:buNone/>
                      </a:pPr>
                      <a:r>
                        <a:rPr lang="en-US" sz="1150" b="1" dirty="0">
                          <a:solidFill>
                            <a:srgbClr val="1B2A3A"/>
                          </a:solidFill>
                          <a:latin typeface="Segoe UI" pitchFamily="34" charset="0"/>
                          <a:ea typeface="Segoe UI" pitchFamily="34" charset="-122"/>
                          <a:cs typeface="Segoe UI" pitchFamily="34" charset="-120"/>
                        </a:rPr>
                        <a:t>empêchement</a:t>
                      </a:r>
                      <a:pPr indent="0" marL="0">
                        <a:buNone/>
                      </a:pPr>
                      <a:r>
                        <a:rPr lang="en-US" sz="1150" dirty="0">
                          <a:solidFill>
                            <a:srgbClr val="1B2A3A"/>
                          </a:solidFill>
                          <a:latin typeface="Segoe UI" pitchFamily="34" charset="0"/>
                          <a:ea typeface="Segoe UI" pitchFamily="34" charset="-122"/>
                          <a:cs typeface="Segoe UI" pitchFamily="34" charset="-120"/>
                        </a:rPr>
                        <a:t>, avec un motif porté au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Clôture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séance est close, l’extrait du PV est publié si la fiche le prévoit, et les intéressés sont avertis. Avant, rien n’est publié.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L’extrait public, sans les alertes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L’extrait publié du PV ne porte ni les alertes ni la vérification des NIF : elles restent réservées à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Les arbitrages du pilote après le lot 4 — V70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256</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conservation des offres</a:t>
            </a:r>
            <a:endParaRPr lang="en-US" sz="2600" dirty="0"/>
          </a:p>
        </p:txBody>
      </p:sp>
      <p:graphicFrame>
        <p:nvGraphicFramePr>
          <p:cNvPr id="25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durée fixée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durée de conservation des offres est fixée par l’Administrateur et court depuis la clôture de la séance. Tant qu’elle ne l’est pas, </a:t>
                      </a:r>
                      <a:pPr indent="0" marL="0">
                        <a:buNone/>
                      </a:pPr>
                      <a:r>
                        <a:rPr lang="en-US" sz="1150" b="1" dirty="0">
                          <a:solidFill>
                            <a:srgbClr val="1B2A3A"/>
                          </a:solidFill>
                          <a:latin typeface="Segoe UI" pitchFamily="34" charset="0"/>
                          <a:ea typeface="Segoe UI" pitchFamily="34" charset="-122"/>
                          <a:cs typeface="Segoe UI" pitchFamily="34" charset="-120"/>
                        </a:rPr>
                        <a:t>rien n’est supprimé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purge manuelle et tracée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terme, l’Administrateur purge les procédures échues, une à une, sans suppression automatique : le contenu des offres disparaît ; le journal, les empreintes, la lecture et le PV restent, et la purge est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257</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08</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Évaluer les offres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PV d’ouverture signé, la commission évalue en ligne, lot par lot, selon le guide d’évaluation : examen préliminaire, montant évalué et classement, offres anormales, post-qualification, puis le rapport.</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258</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étapes 2 à 5 du guide, le rapport, puis le marché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Après la séance d’ouverture (étape 1 du guide), chaque offre traverse les étapes 2 à 5 ; elle peut être écartée, toujours avec un motif et la clause du DAO visée.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Examen préliminaire</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Recevabilité, conformité (art. 46)</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Montant évalué</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Corrections, rabais ; classement</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4</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Offres anormales</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Justification écrite (art. 48)</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5</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Post-qualification</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Capacités du premier classé</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RAPPORT</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Rapport signé</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Transmis à la PRMP</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MARCHÉ</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Dossier de marché</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Au contrôle de la Commission</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Chaque étape se conduit </a:t>
            </a:r>
            <a:pPr indent="0" marL="0">
              <a:buNone/>
            </a:pPr>
            <a:r>
              <a:rPr lang="en-US" sz="1400" b="1" dirty="0">
                <a:solidFill>
                  <a:srgbClr val="1B2A3A"/>
                </a:solidFill>
                <a:latin typeface="Segoe UI" pitchFamily="34" charset="0"/>
                <a:ea typeface="Segoe UI" pitchFamily="34" charset="-122"/>
                <a:cs typeface="Segoe UI" pitchFamily="34" charset="-120"/>
              </a:rPr>
              <a:t>lot par lot</a:t>
            </a:r>
            <a:pPr indent="0" marL="0">
              <a:buNone/>
            </a:pPr>
            <a:r>
              <a:rPr lang="en-US" sz="1400" dirty="0">
                <a:solidFill>
                  <a:srgbClr val="465568"/>
                </a:solidFill>
                <a:latin typeface="Segoe UI" pitchFamily="34" charset="0"/>
                <a:ea typeface="Segoe UI" pitchFamily="34" charset="-122"/>
                <a:cs typeface="Segoe UI" pitchFamily="34" charset="-120"/>
              </a:rPr>
              <a:t> ; le président de la commission l’</a:t>
            </a:r>
            <a:pPr indent="0" marL="0">
              <a:buNone/>
            </a:pPr>
            <a:r>
              <a:rPr lang="en-US" sz="1400" b="1" dirty="0">
                <a:solidFill>
                  <a:srgbClr val="1B2A3A"/>
                </a:solidFill>
                <a:latin typeface="Segoe UI" pitchFamily="34" charset="0"/>
                <a:ea typeface="Segoe UI" pitchFamily="34" charset="-122"/>
                <a:cs typeface="Segoe UI" pitchFamily="34" charset="-120"/>
              </a:rPr>
              <a:t>arrête</a:t>
            </a:r>
            <a:pPr indent="0" marL="0">
              <a:buNone/>
            </a:pPr>
            <a:r>
              <a:rPr lang="en-US" sz="1400" dirty="0">
                <a:solidFill>
                  <a:srgbClr val="465568"/>
                </a:solidFill>
                <a:latin typeface="Segoe UI" pitchFamily="34" charset="0"/>
                <a:ea typeface="Segoe UI" pitchFamily="34" charset="-122"/>
                <a:cs typeface="Segoe UI" pitchFamily="34" charset="-120"/>
              </a:rPr>
              <a:t>, ce qui fige ses décisions et ouvre la suivante.</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259</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QUI FAIT QUOI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acteurs et leurs gestes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même écran, deux espaces : celui des membres de la commission, et la coquille interne de la PRMP, de l’UGPM et du responsable de la procédure.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 de la commission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Signe sa </a:t>
            </a:r>
            <a:pPr indent="0" marL="0">
              <a:buNone/>
            </a:pPr>
            <a:r>
              <a:rPr lang="en-US" sz="1200" b="1" dirty="0">
                <a:solidFill>
                  <a:srgbClr val="1B2A3A"/>
                </a:solidFill>
                <a:latin typeface="Segoe UI" pitchFamily="34" charset="0"/>
                <a:ea typeface="Segoe UI" pitchFamily="34" charset="-122"/>
                <a:cs typeface="Segoe UI" pitchFamily="34" charset="-120"/>
              </a:rPr>
              <a:t>déclaration</a:t>
            </a:r>
            <a:pPr indent="0" marL="0">
              <a:buNone/>
            </a:pPr>
            <a:r>
              <a:rPr lang="en-US" sz="1200" dirty="0">
                <a:solidFill>
                  <a:srgbClr val="465568"/>
                </a:solidFill>
                <a:latin typeface="Segoe UI" pitchFamily="34" charset="0"/>
                <a:ea typeface="Segoe UI" pitchFamily="34" charset="-122"/>
                <a:cs typeface="Segoe UI" pitchFamily="34" charset="-120"/>
              </a:rPr>
              <a:t> d’absence de conflit d’intérêts, puis décide, étape par étape ; signe le rapport, avec une observation s’il est en désaccord.</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de la commission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 plus : </a:t>
            </a:r>
            <a:pPr indent="0" marL="0">
              <a:buNone/>
            </a:pPr>
            <a:r>
              <a:rPr lang="en-US" sz="1200" b="1" dirty="0">
                <a:solidFill>
                  <a:srgbClr val="1B2A3A"/>
                </a:solidFill>
                <a:latin typeface="Segoe UI" pitchFamily="34" charset="0"/>
                <a:ea typeface="Segoe UI" pitchFamily="34" charset="-122"/>
                <a:cs typeface="Segoe UI" pitchFamily="34" charset="-120"/>
              </a:rPr>
              <a:t>arrête</a:t>
            </a:r>
            <a:pPr indent="0" marL="0">
              <a:buNone/>
            </a:pPr>
            <a:r>
              <a:rPr lang="en-US" sz="1200" dirty="0">
                <a:solidFill>
                  <a:srgbClr val="465568"/>
                </a:solidFill>
                <a:latin typeface="Segoe UI" pitchFamily="34" charset="0"/>
                <a:ea typeface="Segoe UI" pitchFamily="34" charset="-122"/>
                <a:cs typeface="Segoe UI" pitchFamily="34" charset="-120"/>
              </a:rPr>
              <a:t> chaque étape, la rouvre avec un motif, constate l’empêchement d’un signataire.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Responsable de la procédure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Ouvre l’évaluation une fois le PV d’ouverture signé ; </a:t>
            </a:r>
            <a:pPr indent="0" marL="0">
              <a:buNone/>
            </a:pPr>
            <a:r>
              <a:rPr lang="en-US" sz="1200" b="1" dirty="0">
                <a:solidFill>
                  <a:srgbClr val="1B2A3A"/>
                </a:solidFill>
                <a:latin typeface="Segoe UI" pitchFamily="34" charset="0"/>
                <a:ea typeface="Segoe UI" pitchFamily="34" charset="-122"/>
                <a:cs typeface="Segoe UI" pitchFamily="34" charset="-120"/>
              </a:rPr>
              <a:t>produit le rapport</a:t>
            </a:r>
            <a:pPr indent="0" marL="0">
              <a:buNone/>
            </a:pPr>
            <a:r>
              <a:rPr lang="en-US" sz="1200" dirty="0">
                <a:solidFill>
                  <a:srgbClr val="465568"/>
                </a:solidFill>
                <a:latin typeface="Segoe UI" pitchFamily="34" charset="0"/>
                <a:ea typeface="Segoe UI" pitchFamily="34" charset="-122"/>
                <a:cs typeface="Segoe UI" pitchFamily="34" charset="-120"/>
              </a:rPr>
              <a:t> quand toutes les étapes sont arrêtées.</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Demande des </a:t>
            </a:r>
            <a:pPr indent="0" marL="0">
              <a:buNone/>
            </a:pPr>
            <a:r>
              <a:rPr lang="en-US" sz="1200" b="1" dirty="0">
                <a:solidFill>
                  <a:srgbClr val="1B2A3A"/>
                </a:solidFill>
                <a:latin typeface="Segoe UI" pitchFamily="34" charset="0"/>
                <a:ea typeface="Segoe UI" pitchFamily="34" charset="-122"/>
                <a:cs typeface="Segoe UI" pitchFamily="34" charset="-120"/>
              </a:rPr>
              <a:t>précisions</a:t>
            </a:r>
            <a:pPr indent="0" marL="0">
              <a:buNone/>
            </a:pPr>
            <a:r>
              <a:rPr lang="en-US" sz="1200" dirty="0">
                <a:solidFill>
                  <a:srgbClr val="465568"/>
                </a:solidFill>
                <a:latin typeface="Segoe UI" pitchFamily="34" charset="0"/>
                <a:ea typeface="Segoe UI" pitchFamily="34" charset="-122"/>
                <a:cs typeface="Segoe UI" pitchFamily="34" charset="-120"/>
              </a:rPr>
              <a:t> (art. 35-VI) et des </a:t>
            </a:r>
            <a:pPr indent="0" marL="0">
              <a:buNone/>
            </a:pPr>
            <a:r>
              <a:rPr lang="en-US" sz="1200" b="1" dirty="0">
                <a:solidFill>
                  <a:srgbClr val="1B2A3A"/>
                </a:solidFill>
                <a:latin typeface="Segoe UI" pitchFamily="34" charset="0"/>
                <a:ea typeface="Segoe UI" pitchFamily="34" charset="-122"/>
                <a:cs typeface="Segoe UI" pitchFamily="34" charset="-120"/>
              </a:rPr>
              <a:t>justifications de prix</a:t>
            </a:r>
            <a:pPr indent="0" marL="0">
              <a:buNone/>
            </a:pPr>
            <a:r>
              <a:rPr lang="en-US" sz="1200" dirty="0">
                <a:solidFill>
                  <a:srgbClr val="465568"/>
                </a:solidFill>
                <a:latin typeface="Segoe UI" pitchFamily="34" charset="0"/>
                <a:ea typeface="Segoe UI" pitchFamily="34" charset="-122"/>
                <a:cs typeface="Segoe UI" pitchFamily="34" charset="-120"/>
              </a:rPr>
              <a:t> (art. 48) ; crée le dossier de marché.</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UGPM</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Lit l’évaluation ; crée le dossier de marché avec la PRMP.</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demandes sur son offre et y répond en ligne, par un texte et une pièce.</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260</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PRINCIPES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règles du guide d’évaluation, appliquées par le serveur — l’écran les rappelle, il ne les invente pas.</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règle d’or</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critère, aucune pièce, aucune pondération hors du DAO : les critères viennent de la fiche, il n’existe aucun moyen d’en ajouter.</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1B6FA8"/>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constats, jamais des décisions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alertes de la séance pré-remplissent chaque étape ; c’est toujours la commission qui décide.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2E8B57"/>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est motivé et tracé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décision porte son auteur, sa date, son motif et la clause du DAO ; une décision corrigée reste au journal.</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serveur calcule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évalué (hors taxes), rang, offre dont c’est le tour, proposition d’attribution : l’écran affiche, il ne recalcule pas.</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Confidentiel</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Rien n’est visible des candidats avant l’information officielle (art. 12-V, 35-V).</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E3AE2E"/>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 rejet sans demande écrite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offre jugée anormale n’est rejetée qu’après une justification demandée, puis reçue ou son délai expiré.</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261</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avant son 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valuation, avant son 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 s’ouvre quand le PV d’ouverture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signé de tous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avant, le serveur le refuse et l’écran le dit.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Accès : la fiche DAO, la séance d’ouverture close, ou la notification reçue.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RG-EVA-01 · RG-EVA-02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262</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L’entrée depuis l’espace de la commission</a:t>
            </a:r>
            <a:endParaRPr lang="en-US" sz="2600" dirty="0"/>
          </a:p>
        </p:txBody>
      </p:sp>
      <p:sp>
        <p:nvSpPr>
          <p:cNvPr id="4" name="Shape 2"/>
          <p:cNvSpPr/>
          <p:nvPr/>
        </p:nvSpPr>
        <p:spPr>
          <a:xfrm>
            <a:off x="800080" y="1193800"/>
            <a:ext cx="10591535" cy="1060328"/>
          </a:xfrm>
          <a:prstGeom prst="rect">
            <a:avLst/>
          </a:prstGeom>
          <a:solidFill>
            <a:srgbClr val="FCFCFA"/>
          </a:solidFill>
          <a:ln w="9525">
            <a:solidFill>
              <a:srgbClr val="D5DCE4"/>
            </a:solidFill>
            <a:prstDash val="solid"/>
          </a:ln>
        </p:spPr>
      </p:sp>
      <p:pic>
        <p:nvPicPr>
          <p:cNvPr id="5" name="Image 0" descr="L’entrée depuis l’espace de la commission">    </p:cNvPr>
          <p:cNvPicPr>
            <a:picLocks noChangeAspect="1"/>
          </p:cNvPicPr>
          <p:nvPr/>
        </p:nvPicPr>
        <p:blipFill>
          <a:blip r:embed="rId1"/>
          <a:stretch>
            <a:fillRect/>
          </a:stretch>
        </p:blipFill>
        <p:spPr>
          <a:xfrm>
            <a:off x="812780" y="1206500"/>
            <a:ext cx="10566136" cy="1034928"/>
          </a:xfrm>
          <a:prstGeom prst="rect">
            <a:avLst/>
          </a:prstGeom>
        </p:spPr>
      </p:pic>
      <p:sp>
        <p:nvSpPr>
          <p:cNvPr id="6" name="Shape 3"/>
          <p:cNvSpPr/>
          <p:nvPr/>
        </p:nvSpPr>
        <p:spPr>
          <a:xfrm>
            <a:off x="812780" y="23938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393828"/>
            <a:ext cx="38099" cy="1993900"/>
          </a:xfrm>
          <a:prstGeom prst="rect">
            <a:avLst/>
          </a:prstGeom>
          <a:solidFill>
            <a:srgbClr val="1B6FA8"/>
          </a:solidFill>
          <a:ln/>
        </p:spPr>
      </p:sp>
      <p:sp>
        <p:nvSpPr>
          <p:cNvPr id="8" name="Text 5"/>
          <p:cNvSpPr/>
          <p:nvPr/>
        </p:nvSpPr>
        <p:spPr>
          <a:xfrm>
            <a:off x="977876" y="24954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de la procédure, « Ouvrir l’évaluation » ; « Mes procédures » compte les évaluations en cours et les rapports à signer.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RG-EVA-02 · RG-EVA-04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263</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déclaration préalable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déclaration préala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Absence de conflit d’intérêts (art. 21-d) et engagement de confidentialité (art. 12-V)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avant toute 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pour toutes.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membre qui déclare un conflit lit l’évaluation, mais n’y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264</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de l’offre, et sa décision</a:t>
            </a:r>
            <a:endParaRPr lang="en-US" sz="2600" dirty="0"/>
          </a:p>
        </p:txBody>
      </p:sp>
      <p:sp>
        <p:nvSpPr>
          <p:cNvPr id="4" name="Shape 2"/>
          <p:cNvSpPr/>
          <p:nvPr/>
        </p:nvSpPr>
        <p:spPr>
          <a:xfrm>
            <a:off x="800080" y="1193800"/>
            <a:ext cx="6641469" cy="5105400"/>
          </a:xfrm>
          <a:prstGeom prst="rect">
            <a:avLst/>
          </a:prstGeom>
          <a:solidFill>
            <a:srgbClr val="FCFCFA"/>
          </a:solidFill>
          <a:ln w="9525">
            <a:solidFill>
              <a:srgbClr val="D5DCE4"/>
            </a:solidFill>
            <a:prstDash val="solid"/>
          </a:ln>
        </p:spPr>
      </p:sp>
      <p:pic>
        <p:nvPicPr>
          <p:cNvPr id="5" name="Image 0" descr="La grille de l’offre, et sa décision">    </p:cNvPr>
          <p:cNvPicPr>
            <a:picLocks noChangeAspect="1"/>
          </p:cNvPicPr>
          <p:nvPr/>
        </p:nvPicPr>
        <p:blipFill>
          <a:blip r:embed="rId1"/>
          <a:stretch>
            <a:fillRect/>
          </a:stretch>
        </p:blipFill>
        <p:spPr>
          <a:xfrm>
            <a:off x="812780" y="1206500"/>
            <a:ext cx="6616070"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Neuf vérifications : acte d’engagement et prix, garantie, offre unique, exclusion, pouvoirs, pièces, conformité technique, intégrité, frais de dossier.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Chacune pré-remplie (« ce que la séance a établi ») ; la commission confirme ou corrige.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Écarter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qualification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(irrecevable, non conforme, inappropriée, inacceptable),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clause du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RG-EVA-08 · RG-EVA-09 · RG-EVA-10 · RG-EVA-11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265</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L’étape arrêtée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tape arrê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étapes du lot, arrêtées ou en cours ; l’offre n° 2 écartée pour garantie insuffisante, avec son motif et sa clause.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Arrêter fige les décisions ; rouvrir exige un motif, porté au journal.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RG-EVA-04 · RG-EVA-05 · RG-EVA-06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266</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une précision au candidat</a:t>
            </a:r>
            <a:endParaRPr lang="en-US" sz="2600" dirty="0"/>
          </a:p>
        </p:txBody>
      </p:sp>
      <p:sp>
        <p:nvSpPr>
          <p:cNvPr id="4" name="Shape 2"/>
          <p:cNvSpPr/>
          <p:nvPr/>
        </p:nvSpPr>
        <p:spPr>
          <a:xfrm>
            <a:off x="800080" y="1193800"/>
            <a:ext cx="10591535" cy="1892706"/>
          </a:xfrm>
          <a:prstGeom prst="rect">
            <a:avLst/>
          </a:prstGeom>
          <a:solidFill>
            <a:srgbClr val="FCFCFA"/>
          </a:solidFill>
          <a:ln w="9525">
            <a:solidFill>
              <a:srgbClr val="D5DCE4"/>
            </a:solidFill>
            <a:prstDash val="solid"/>
          </a:ln>
        </p:spPr>
      </p:sp>
      <p:pic>
        <p:nvPicPr>
          <p:cNvPr id="5" name="Image 0" descr="Demander une précision au candidat">    </p:cNvPr>
          <p:cNvPicPr>
            <a:picLocks noChangeAspect="1"/>
          </p:cNvPicPr>
          <p:nvPr/>
        </p:nvPicPr>
        <p:blipFill>
          <a:blip r:embed="rId1"/>
          <a:stretch>
            <a:fillRect/>
          </a:stretch>
        </p:blipFill>
        <p:spPr>
          <a:xfrm>
            <a:off x="812780" y="1206500"/>
            <a:ext cx="10566136" cy="1867306"/>
          </a:xfrm>
          <a:prstGeom prst="rect">
            <a:avLst/>
          </a:prstGeom>
        </p:spPr>
      </p:pic>
      <p:sp>
        <p:nvSpPr>
          <p:cNvPr id="6" name="Shape 3"/>
          <p:cNvSpPr/>
          <p:nvPr/>
        </p:nvSpPr>
        <p:spPr>
          <a:xfrm>
            <a:off x="812780" y="3226206"/>
            <a:ext cx="10566136" cy="1993900"/>
          </a:xfrm>
          <a:prstGeom prst="rect">
            <a:avLst/>
          </a:prstGeom>
          <a:solidFill>
            <a:srgbClr val="FCFCFA"/>
          </a:solidFill>
          <a:ln w="9525">
            <a:solidFill>
              <a:srgbClr val="D5DCE4"/>
            </a:solidFill>
            <a:prstDash val="solid"/>
          </a:ln>
        </p:spPr>
      </p:sp>
      <p:sp>
        <p:nvSpPr>
          <p:cNvPr id="7" name="Shape 4"/>
          <p:cNvSpPr/>
          <p:nvPr/>
        </p:nvSpPr>
        <p:spPr>
          <a:xfrm>
            <a:off x="812780" y="3226206"/>
            <a:ext cx="38099" cy="1993900"/>
          </a:xfrm>
          <a:prstGeom prst="rect">
            <a:avLst/>
          </a:prstGeom>
          <a:solidFill>
            <a:srgbClr val="1B6FA8"/>
          </a:solidFill>
          <a:ln/>
        </p:spPr>
      </p:sp>
      <p:sp>
        <p:nvSpPr>
          <p:cNvPr id="8" name="Text 5"/>
          <p:cNvSpPr/>
          <p:nvPr/>
        </p:nvSpPr>
        <p:spPr>
          <a:xfrm>
            <a:off x="977876" y="332780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Art. 35-VI : la PRMP demande par écrit ; le délai est celui de la fiche, ou 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précision ne sert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jamais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compléter une pièce essentielle ni à changer le prix (guide, §2.4).</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 · RG-EVA-13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267</a:t>
            </a:r>
            <a:endParaRPr lang="en-US" sz="11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L’EXAMEN PRÉLIMINAIRE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Répondre depuis « Mes offres »</a:t>
            </a:r>
            <a:endParaRPr lang="en-US" sz="2600" dirty="0"/>
          </a:p>
        </p:txBody>
      </p:sp>
      <p:sp>
        <p:nvSpPr>
          <p:cNvPr id="4" name="Shape 2"/>
          <p:cNvSpPr/>
          <p:nvPr/>
        </p:nvSpPr>
        <p:spPr>
          <a:xfrm>
            <a:off x="915246" y="1193800"/>
            <a:ext cx="10361203" cy="3327400"/>
          </a:xfrm>
          <a:prstGeom prst="rect">
            <a:avLst/>
          </a:prstGeom>
          <a:solidFill>
            <a:srgbClr val="FCFCFA"/>
          </a:solidFill>
          <a:ln w="9525">
            <a:solidFill>
              <a:srgbClr val="D5DCE4"/>
            </a:solidFill>
            <a:prstDash val="solid"/>
          </a:ln>
        </p:spPr>
      </p:sp>
      <p:pic>
        <p:nvPicPr>
          <p:cNvPr id="5" name="Image 0" descr="Répondre depuis « Mes offres »">    </p:cNvPr>
          <p:cNvPicPr>
            <a:picLocks noChangeAspect="1"/>
          </p:cNvPicPr>
          <p:nvPr/>
        </p:nvPicPr>
        <p:blipFill>
          <a:blip r:embed="rId1"/>
          <a:stretch>
            <a:fillRect/>
          </a:stretch>
        </p:blipFill>
        <p:spPr>
          <a:xfrm>
            <a:off x="927946" y="1206500"/>
            <a:ext cx="1033580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arrive par notification et par courriel ; le candidat répond une fois, dans le délai, par un texte et une pièce (PDF, JPEG, PNG).</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et la réponse sont jointes au rapport.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268</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Corrections, rabais, préférence, critères</a:t>
            </a:r>
            <a:endParaRPr lang="en-US" sz="2600" dirty="0"/>
          </a:p>
        </p:txBody>
      </p:sp>
      <p:sp>
        <p:nvSpPr>
          <p:cNvPr id="4" name="Shape 2"/>
          <p:cNvSpPr/>
          <p:nvPr/>
        </p:nvSpPr>
        <p:spPr>
          <a:xfrm>
            <a:off x="800080" y="1193800"/>
            <a:ext cx="6883228" cy="4008677"/>
          </a:xfrm>
          <a:prstGeom prst="rect">
            <a:avLst/>
          </a:prstGeom>
          <a:solidFill>
            <a:srgbClr val="FCFCFA"/>
          </a:solidFill>
          <a:ln w="9525">
            <a:solidFill>
              <a:srgbClr val="D5DCE4"/>
            </a:solidFill>
            <a:prstDash val="solid"/>
          </a:ln>
        </p:spPr>
      </p:sp>
      <p:pic>
        <p:nvPicPr>
          <p:cNvPr id="5" name="Image 0" descr="Corrections, rabais, préférence, critères">    </p:cNvPr>
          <p:cNvPicPr>
            <a:picLocks noChangeAspect="1"/>
          </p:cNvPicPr>
          <p:nvPr/>
        </p:nvPicPr>
        <p:blipFill>
          <a:blip r:embed="rId1"/>
          <a:stretch>
            <a:fillRect/>
          </a:stretch>
        </p:blipFill>
        <p:spPr>
          <a:xfrm>
            <a:off x="812780" y="1206500"/>
            <a:ext cx="6857829" cy="3983277"/>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corrections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depuis le bordereau scellé (le prix unitaire prévaut, les lettres prévalent), et celles que la commission saisit.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rabais, la marge de préférence (si le DAO la prévoit), les critères additionnels du DAO — eux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RG-EVA-14 · RG-EVA-15 · RG-EVA-17 · RG-EVA-18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269</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montant évalué, calculé par le serveur</a:t>
            </a:r>
            <a:endParaRPr lang="en-US" sz="2600" dirty="0"/>
          </a:p>
        </p:txBody>
      </p:sp>
      <p:sp>
        <p:nvSpPr>
          <p:cNvPr id="4" name="Shape 2"/>
          <p:cNvSpPr/>
          <p:nvPr/>
        </p:nvSpPr>
        <p:spPr>
          <a:xfrm>
            <a:off x="800080" y="1193800"/>
            <a:ext cx="10591535" cy="1422191"/>
          </a:xfrm>
          <a:prstGeom prst="rect">
            <a:avLst/>
          </a:prstGeom>
          <a:solidFill>
            <a:srgbClr val="FCFCFA"/>
          </a:solidFill>
          <a:ln w="9525">
            <a:solidFill>
              <a:srgbClr val="D5DCE4"/>
            </a:solidFill>
            <a:prstDash val="solid"/>
          </a:ln>
        </p:spPr>
      </p:sp>
      <p:pic>
        <p:nvPicPr>
          <p:cNvPr id="5" name="Image 0" descr="Le montant évalué, calculé par le serveur">    </p:cNvPr>
          <p:cNvPicPr>
            <a:picLocks noChangeAspect="1"/>
          </p:cNvPicPr>
          <p:nvPr/>
        </p:nvPicPr>
        <p:blipFill>
          <a:blip r:embed="rId1"/>
          <a:stretch>
            <a:fillRect/>
          </a:stretch>
        </p:blipFill>
        <p:spPr>
          <a:xfrm>
            <a:off x="812780" y="1206500"/>
            <a:ext cx="10566136" cy="1396791"/>
          </a:xfrm>
          <a:prstGeom prst="rect">
            <a:avLst/>
          </a:prstGeom>
        </p:spPr>
      </p:pic>
      <p:sp>
        <p:nvSpPr>
          <p:cNvPr id="6" name="Shape 3"/>
          <p:cNvSpPr/>
          <p:nvPr/>
        </p:nvSpPr>
        <p:spPr>
          <a:xfrm>
            <a:off x="812780" y="2755691"/>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55691"/>
            <a:ext cx="38099" cy="1993900"/>
          </a:xfrm>
          <a:prstGeom prst="rect">
            <a:avLst/>
          </a:prstGeom>
          <a:solidFill>
            <a:srgbClr val="1B6FA8"/>
          </a:solidFill>
          <a:ln/>
        </p:spPr>
      </p:sp>
      <p:sp>
        <p:nvSpPr>
          <p:cNvPr id="8" name="Text 5"/>
          <p:cNvSpPr/>
          <p:nvPr/>
        </p:nvSpPr>
        <p:spPr>
          <a:xfrm>
            <a:off x="977876" y="285729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évalué = prix lu ± corrections − rabais + ajustement de préférence + critères monétisés,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hors taxes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(arbitrage du 07/10).</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270</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tableau d’évaluation du guide</a:t>
            </a:r>
            <a:endParaRPr lang="en-US" sz="2600" dirty="0"/>
          </a:p>
        </p:txBody>
      </p:sp>
      <p:sp>
        <p:nvSpPr>
          <p:cNvPr id="4" name="Shape 2"/>
          <p:cNvSpPr/>
          <p:nvPr/>
        </p:nvSpPr>
        <p:spPr>
          <a:xfrm>
            <a:off x="800080" y="1193800"/>
            <a:ext cx="10591535" cy="1588648"/>
          </a:xfrm>
          <a:prstGeom prst="rect">
            <a:avLst/>
          </a:prstGeom>
          <a:solidFill>
            <a:srgbClr val="FCFCFA"/>
          </a:solidFill>
          <a:ln w="9525">
            <a:solidFill>
              <a:srgbClr val="D5DCE4"/>
            </a:solidFill>
            <a:prstDash val="solid"/>
          </a:ln>
        </p:spPr>
      </p:sp>
      <p:pic>
        <p:nvPicPr>
          <p:cNvPr id="5" name="Image 0" descr="Le tableau d’évaluation du guide">    </p:cNvPr>
          <p:cNvPicPr>
            <a:picLocks noChangeAspect="1"/>
          </p:cNvPicPr>
          <p:nvPr/>
        </p:nvPicPr>
        <p:blipFill>
          <a:blip r:embed="rId1"/>
          <a:stretch>
            <a:fillRect/>
          </a:stretch>
        </p:blipFill>
        <p:spPr>
          <a:xfrm>
            <a:off x="812780" y="1206500"/>
            <a:ext cx="10566136" cy="1563248"/>
          </a:xfrm>
          <a:prstGeom prst="rect">
            <a:avLst/>
          </a:prstGeom>
        </p:spPr>
      </p:pic>
      <p:sp>
        <p:nvSpPr>
          <p:cNvPr id="6" name="Shape 3"/>
          <p:cNvSpPr/>
          <p:nvPr/>
        </p:nvSpPr>
        <p:spPr>
          <a:xfrm>
            <a:off x="812780" y="2922148"/>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22148"/>
            <a:ext cx="38099" cy="2197100"/>
          </a:xfrm>
          <a:prstGeom prst="rect">
            <a:avLst/>
          </a:prstGeom>
          <a:solidFill>
            <a:srgbClr val="1B6FA8"/>
          </a:solidFill>
          <a:ln/>
        </p:spPr>
      </p:sp>
      <p:sp>
        <p:nvSpPr>
          <p:cNvPr id="8" name="Text 5"/>
          <p:cNvSpPr/>
          <p:nvPr/>
        </p:nvSpPr>
        <p:spPr>
          <a:xfrm>
            <a:off x="977876" y="3023748"/>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offre : prix lu, garantie, conformité, motif de rejet, prix corrigé, rabais, ajustements, montant évalué, rang, qualification.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égalité en tête se départage par la commission,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271</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RABAIS STRUCTURÉ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rabais, déclaré au dépôt et chiffré par le serveur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Arbitrage du 07/10 (Q4) : le rabais n’est plus un texte libre, mais une donnée de l’offre scellée.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 dépôt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rabais, un pourcentage ou un montant hors taxes ; sans condition, ou lié à l’attribution de plusieurs lots. Contrôlé avant le scellement.</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Lu chiffré : « 2 % du montant hors taxes, soit … Ariary », ou avec sa condition ; imprimé au PV.</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l’évaluation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Proposé sur le prix corrigé ; le corriger demande un motif. Lié à plusieurs lots : non appliqué lot par lot, repris au rapport.</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272</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indicateurs de prix</a:t>
            </a:r>
            <a:endParaRPr lang="en-US" sz="2600" dirty="0"/>
          </a:p>
        </p:txBody>
      </p:sp>
      <p:sp>
        <p:nvSpPr>
          <p:cNvPr id="4" name="Shape 2"/>
          <p:cNvSpPr/>
          <p:nvPr/>
        </p:nvSpPr>
        <p:spPr>
          <a:xfrm>
            <a:off x="800080" y="1193800"/>
            <a:ext cx="10591535" cy="1429428"/>
          </a:xfrm>
          <a:prstGeom prst="rect">
            <a:avLst/>
          </a:prstGeom>
          <a:solidFill>
            <a:srgbClr val="FCFCFA"/>
          </a:solidFill>
          <a:ln w="9525">
            <a:solidFill>
              <a:srgbClr val="D5DCE4"/>
            </a:solidFill>
            <a:prstDash val="solid"/>
          </a:ln>
        </p:spPr>
      </p:sp>
      <p:pic>
        <p:nvPicPr>
          <p:cNvPr id="5" name="Image 0" descr="Les indicateurs de prix">    </p:cNvPr>
          <p:cNvPicPr>
            <a:picLocks noChangeAspect="1"/>
          </p:cNvPicPr>
          <p:nvPr/>
        </p:nvPicPr>
        <p:blipFill>
          <a:blip r:embed="rId1"/>
          <a:stretch>
            <a:fillRect/>
          </a:stretch>
        </p:blipFill>
        <p:spPr>
          <a:xfrm>
            <a:off x="812780" y="1206500"/>
            <a:ext cx="10566136" cy="1404028"/>
          </a:xfrm>
          <a:prstGeom prst="rect">
            <a:avLst/>
          </a:prstGeom>
        </p:spPr>
      </p:pic>
      <p:sp>
        <p:nvSpPr>
          <p:cNvPr id="6" name="Shape 3"/>
          <p:cNvSpPr/>
          <p:nvPr/>
        </p:nvSpPr>
        <p:spPr>
          <a:xfrm>
            <a:off x="812780" y="27629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62928"/>
            <a:ext cx="38099" cy="1993900"/>
          </a:xfrm>
          <a:prstGeom prst="rect">
            <a:avLst/>
          </a:prstGeom>
          <a:solidFill>
            <a:srgbClr val="1B6FA8"/>
          </a:solidFill>
          <a:ln/>
        </p:spPr>
      </p:sp>
      <p:sp>
        <p:nvSpPr>
          <p:cNvPr id="8" name="Text 5"/>
          <p:cNvSpPr/>
          <p:nvPr/>
        </p:nvSpPr>
        <p:spPr>
          <a:xfrm>
            <a:off x="977876" y="28645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L’écart à l’estimation du plan et à la moyenne des offres, la méthode du DAO s’il en fixe une :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indicateurs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jamais une décision.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273</a:t>
            </a:r>
            <a:endParaRPr lang="en-US" sz="11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décision sur un prix</a:t>
            </a:r>
            <a:endParaRPr lang="en-US" sz="2600" dirty="0"/>
          </a:p>
        </p:txBody>
      </p:sp>
      <p:sp>
        <p:nvSpPr>
          <p:cNvPr id="4" name="Shape 2"/>
          <p:cNvSpPr/>
          <p:nvPr/>
        </p:nvSpPr>
        <p:spPr>
          <a:xfrm>
            <a:off x="800080" y="1193800"/>
            <a:ext cx="10591535" cy="1386005"/>
          </a:xfrm>
          <a:prstGeom prst="rect">
            <a:avLst/>
          </a:prstGeom>
          <a:solidFill>
            <a:srgbClr val="FCFCFA"/>
          </a:solidFill>
          <a:ln w="9525">
            <a:solidFill>
              <a:srgbClr val="D5DCE4"/>
            </a:solidFill>
            <a:prstDash val="solid"/>
          </a:ln>
        </p:spPr>
      </p:sp>
      <p:pic>
        <p:nvPicPr>
          <p:cNvPr id="5" name="Image 0" descr="La décision sur un prix">    </p:cNvPr>
          <p:cNvPicPr>
            <a:picLocks noChangeAspect="1"/>
          </p:cNvPicPr>
          <p:nvPr/>
        </p:nvPicPr>
        <p:blipFill>
          <a:blip r:embed="rId1"/>
          <a:stretch>
            <a:fillRect/>
          </a:stretch>
        </p:blipFill>
        <p:spPr>
          <a:xfrm>
            <a:off x="812780" y="1206500"/>
            <a:ext cx="10566136" cy="1360605"/>
          </a:xfrm>
          <a:prstGeom prst="rect">
            <a:avLst/>
          </a:prstGeom>
        </p:spPr>
      </p:pic>
      <p:sp>
        <p:nvSpPr>
          <p:cNvPr id="6" name="Shape 3"/>
          <p:cNvSpPr/>
          <p:nvPr/>
        </p:nvSpPr>
        <p:spPr>
          <a:xfrm>
            <a:off x="812780" y="2719505"/>
            <a:ext cx="10566136" cy="2197100"/>
          </a:xfrm>
          <a:prstGeom prst="rect">
            <a:avLst/>
          </a:prstGeom>
          <a:solidFill>
            <a:srgbClr val="FCFCFA"/>
          </a:solidFill>
          <a:ln w="9525">
            <a:solidFill>
              <a:srgbClr val="D5DCE4"/>
            </a:solidFill>
            <a:prstDash val="solid"/>
          </a:ln>
        </p:spPr>
      </p:sp>
      <p:sp>
        <p:nvSpPr>
          <p:cNvPr id="7" name="Shape 4"/>
          <p:cNvSpPr/>
          <p:nvPr/>
        </p:nvSpPr>
        <p:spPr>
          <a:xfrm>
            <a:off x="812780" y="2719505"/>
            <a:ext cx="38099" cy="2197100"/>
          </a:xfrm>
          <a:prstGeom prst="rect">
            <a:avLst/>
          </a:prstGeom>
          <a:solidFill>
            <a:srgbClr val="1B6FA8"/>
          </a:solidFill>
          <a:ln/>
        </p:spPr>
      </p:sp>
      <p:sp>
        <p:nvSpPr>
          <p:cNvPr id="8" name="Text 5"/>
          <p:cNvSpPr/>
          <p:nvPr/>
        </p:nvSpPr>
        <p:spPr>
          <a:xfrm>
            <a:off x="977876" y="2821105"/>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suspectée, suspectée, maintenue, rejetée.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Aucun rejet sans demande écrite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demande la justification, le candidat répond (ou le délai expire), puis la commission décide — le serveur refuse tout raccourci.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RG-EVA-21 · RG-EVA-22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274</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post-qualification, critère par critère</a:t>
            </a:r>
            <a:endParaRPr lang="en-US" sz="2600" dirty="0"/>
          </a:p>
        </p:txBody>
      </p:sp>
      <p:sp>
        <p:nvSpPr>
          <p:cNvPr id="4" name="Shape 2"/>
          <p:cNvSpPr/>
          <p:nvPr/>
        </p:nvSpPr>
        <p:spPr>
          <a:xfrm>
            <a:off x="800080" y="1193800"/>
            <a:ext cx="6749438" cy="5105400"/>
          </a:xfrm>
          <a:prstGeom prst="rect">
            <a:avLst/>
          </a:prstGeom>
          <a:solidFill>
            <a:srgbClr val="FCFCFA"/>
          </a:solidFill>
          <a:ln w="9525">
            <a:solidFill>
              <a:srgbClr val="D5DCE4"/>
            </a:solidFill>
            <a:prstDash val="solid"/>
          </a:ln>
        </p:spPr>
      </p:sp>
      <p:pic>
        <p:nvPicPr>
          <p:cNvPr id="5" name="Image 0" descr="La post-qualification, critère par critère">    </p:cNvPr>
          <p:cNvPicPr>
            <a:picLocks noChangeAspect="1"/>
          </p:cNvPicPr>
          <p:nvPr/>
        </p:nvPicPr>
        <p:blipFill>
          <a:blip r:embed="rId1"/>
          <a:stretch>
            <a:fillRect/>
          </a:stretch>
        </p:blipFill>
        <p:spPr>
          <a:xfrm>
            <a:off x="812780" y="1206500"/>
            <a:ext cx="67240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L’offre dont c’est le tour (la mieux classée qui n’a pas échoué), et les critères de la fiche : juridiques, financiers, techniques, matériel, personnel.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qualifiée : motif et clause ; le tour passe à l’offre suivante.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RG-EVA-23 · RG-EVA-24 · RG-EVA-25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275</a:t>
            </a:r>
            <a:endParaRPr lang="en-US" sz="11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proposition d’attribution</a:t>
            </a:r>
            <a:endParaRPr lang="en-US" sz="2600" dirty="0"/>
          </a:p>
        </p:txBody>
      </p:sp>
      <p:sp>
        <p:nvSpPr>
          <p:cNvPr id="4" name="Shape 2"/>
          <p:cNvSpPr/>
          <p:nvPr/>
        </p:nvSpPr>
        <p:spPr>
          <a:xfrm>
            <a:off x="800080" y="1193800"/>
            <a:ext cx="10591535" cy="611618"/>
          </a:xfrm>
          <a:prstGeom prst="rect">
            <a:avLst/>
          </a:prstGeom>
          <a:solidFill>
            <a:srgbClr val="FCFCFA"/>
          </a:solidFill>
          <a:ln w="9525">
            <a:solidFill>
              <a:srgbClr val="D5DCE4"/>
            </a:solidFill>
            <a:prstDash val="solid"/>
          </a:ln>
        </p:spPr>
      </p:sp>
      <p:pic>
        <p:nvPicPr>
          <p:cNvPr id="5" name="Image 0" descr="La proposition d’attribution">    </p:cNvPr>
          <p:cNvPicPr>
            <a:picLocks noChangeAspect="1"/>
          </p:cNvPicPr>
          <p:nvPr/>
        </p:nvPicPr>
        <p:blipFill>
          <a:blip r:embed="rId1"/>
          <a:stretch>
            <a:fillRect/>
          </a:stretch>
        </p:blipFill>
        <p:spPr>
          <a:xfrm>
            <a:off x="812780" y="1206500"/>
            <a:ext cx="10566136" cy="586218"/>
          </a:xfrm>
          <a:prstGeom prst="rect">
            <a:avLst/>
          </a:prstGeom>
        </p:spPr>
      </p:pic>
      <p:sp>
        <p:nvSpPr>
          <p:cNvPr id="6" name="Shape 3"/>
          <p:cNvSpPr/>
          <p:nvPr/>
        </p:nvSpPr>
        <p:spPr>
          <a:xfrm>
            <a:off x="812780" y="1945118"/>
            <a:ext cx="10566136" cy="1993900"/>
          </a:xfrm>
          <a:prstGeom prst="rect">
            <a:avLst/>
          </a:prstGeom>
          <a:solidFill>
            <a:srgbClr val="FCFCFA"/>
          </a:solidFill>
          <a:ln w="9525">
            <a:solidFill>
              <a:srgbClr val="D5DCE4"/>
            </a:solidFill>
            <a:prstDash val="solid"/>
          </a:ln>
        </p:spPr>
      </p:sp>
      <p:sp>
        <p:nvSpPr>
          <p:cNvPr id="7" name="Shape 4"/>
          <p:cNvSpPr/>
          <p:nvPr/>
        </p:nvSpPr>
        <p:spPr>
          <a:xfrm>
            <a:off x="812780" y="1945118"/>
            <a:ext cx="38099" cy="1993900"/>
          </a:xfrm>
          <a:prstGeom prst="rect">
            <a:avLst/>
          </a:prstGeom>
          <a:solidFill>
            <a:srgbClr val="1B6FA8"/>
          </a:solidFill>
          <a:ln/>
        </p:spPr>
      </p:sp>
      <p:sp>
        <p:nvSpPr>
          <p:cNvPr id="8" name="Text 5"/>
          <p:cNvSpPr/>
          <p:nvPr/>
        </p:nvSpPr>
        <p:spPr>
          <a:xfrm>
            <a:off x="977876" y="204671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arrêtée, le lot porte sa proposition : l’offre, le candidat, le montant hors taxes et le délai — ou l’infructuosité proposée si aucune offre n’est qualifiée.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276</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Produire le rapport</a:t>
            </a:r>
            <a:endParaRPr lang="en-US" sz="2600" dirty="0"/>
          </a:p>
        </p:txBody>
      </p:sp>
      <p:sp>
        <p:nvSpPr>
          <p:cNvPr id="4" name="Shape 2"/>
          <p:cNvSpPr/>
          <p:nvPr/>
        </p:nvSpPr>
        <p:spPr>
          <a:xfrm>
            <a:off x="800080" y="1193800"/>
            <a:ext cx="10591535" cy="2217327"/>
          </a:xfrm>
          <a:prstGeom prst="rect">
            <a:avLst/>
          </a:prstGeom>
          <a:solidFill>
            <a:srgbClr val="FCFCFA"/>
          </a:solidFill>
          <a:ln w="9525">
            <a:solidFill>
              <a:srgbClr val="D5DCE4"/>
            </a:solidFill>
            <a:prstDash val="solid"/>
          </a:ln>
        </p:spPr>
      </p:sp>
      <p:pic>
        <p:nvPicPr>
          <p:cNvPr id="5" name="Image 0" descr="Produire le rapport">    </p:cNvPr>
          <p:cNvPicPr>
            <a:picLocks noChangeAspect="1"/>
          </p:cNvPicPr>
          <p:nvPr/>
        </p:nvPicPr>
        <p:blipFill>
          <a:blip r:embed="rId1"/>
          <a:stretch>
            <a:fillRect/>
          </a:stretch>
        </p:blipFill>
        <p:spPr>
          <a:xfrm>
            <a:off x="812780" y="1206500"/>
            <a:ext cx="10566136" cy="2191927"/>
          </a:xfrm>
          <a:prstGeom prst="rect">
            <a:avLst/>
          </a:prstGeom>
        </p:spPr>
      </p:pic>
      <p:sp>
        <p:nvSpPr>
          <p:cNvPr id="6" name="Shape 3"/>
          <p:cNvSpPr/>
          <p:nvPr/>
        </p:nvSpPr>
        <p:spPr>
          <a:xfrm>
            <a:off x="812780" y="3550827"/>
            <a:ext cx="10566136" cy="1790700"/>
          </a:xfrm>
          <a:prstGeom prst="rect">
            <a:avLst/>
          </a:prstGeom>
          <a:solidFill>
            <a:srgbClr val="FCFCFA"/>
          </a:solidFill>
          <a:ln w="9525">
            <a:solidFill>
              <a:srgbClr val="D5DCE4"/>
            </a:solidFill>
            <a:prstDash val="solid"/>
          </a:ln>
        </p:spPr>
      </p:sp>
      <p:sp>
        <p:nvSpPr>
          <p:cNvPr id="7" name="Shape 4"/>
          <p:cNvSpPr/>
          <p:nvPr/>
        </p:nvSpPr>
        <p:spPr>
          <a:xfrm>
            <a:off x="812780" y="3550827"/>
            <a:ext cx="38099" cy="1790700"/>
          </a:xfrm>
          <a:prstGeom prst="rect">
            <a:avLst/>
          </a:prstGeom>
          <a:solidFill>
            <a:srgbClr val="1B6FA8"/>
          </a:solidFill>
          <a:ln/>
        </p:spPr>
      </p:sp>
      <p:sp>
        <p:nvSpPr>
          <p:cNvPr id="8" name="Text 5"/>
          <p:cNvSpPr/>
          <p:nvPr/>
        </p:nvSpPr>
        <p:spPr>
          <a:xfrm>
            <a:off x="977876" y="3652427"/>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toutes les étapes de tous les lots sont arrêtées ; ses observations y sont portées.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277</a:t>
            </a:r>
            <a:endParaRPr lang="en-US" sz="11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avec une observation</a:t>
            </a:r>
            <a:endParaRPr lang="en-US" sz="2600" dirty="0"/>
          </a:p>
        </p:txBody>
      </p:sp>
      <p:sp>
        <p:nvSpPr>
          <p:cNvPr id="4" name="Shape 2"/>
          <p:cNvSpPr/>
          <p:nvPr/>
        </p:nvSpPr>
        <p:spPr>
          <a:xfrm>
            <a:off x="997916" y="1193800"/>
            <a:ext cx="10195862" cy="3327400"/>
          </a:xfrm>
          <a:prstGeom prst="rect">
            <a:avLst/>
          </a:prstGeom>
          <a:solidFill>
            <a:srgbClr val="FCFCFA"/>
          </a:solidFill>
          <a:ln w="9525">
            <a:solidFill>
              <a:srgbClr val="D5DCE4"/>
            </a:solidFill>
            <a:prstDash val="solid"/>
          </a:ln>
        </p:spPr>
      </p:sp>
      <p:pic>
        <p:nvPicPr>
          <p:cNvPr id="5" name="Image 0" descr="Signer, avec une observation">    </p:cNvPr>
          <p:cNvPicPr>
            <a:picLocks noChangeAspect="1"/>
          </p:cNvPicPr>
          <p:nvPr/>
        </p:nvPicPr>
        <p:blipFill>
          <a:blip r:embed="rId1"/>
          <a:stretch>
            <a:fillRect/>
          </a:stretch>
        </p:blipFill>
        <p:spPr>
          <a:xfrm>
            <a:off x="1010616" y="1206500"/>
            <a:ext cx="1017046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Signature électronique simple, horodatée ; un membre en désaccord porte son observation au rapport.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empêchement est constaté par le président,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278</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signé de tous</a:t>
            </a:r>
            <a:endParaRPr lang="en-US" sz="2600" dirty="0"/>
          </a:p>
        </p:txBody>
      </p:sp>
      <p:sp>
        <p:nvSpPr>
          <p:cNvPr id="4" name="Shape 2"/>
          <p:cNvSpPr/>
          <p:nvPr/>
        </p:nvSpPr>
        <p:spPr>
          <a:xfrm>
            <a:off x="800080" y="1193800"/>
            <a:ext cx="10591535" cy="1552462"/>
          </a:xfrm>
          <a:prstGeom prst="rect">
            <a:avLst/>
          </a:prstGeom>
          <a:solidFill>
            <a:srgbClr val="FCFCFA"/>
          </a:solidFill>
          <a:ln w="9525">
            <a:solidFill>
              <a:srgbClr val="D5DCE4"/>
            </a:solidFill>
            <a:prstDash val="solid"/>
          </a:ln>
        </p:spPr>
      </p:sp>
      <p:pic>
        <p:nvPicPr>
          <p:cNvPr id="5" name="Image 0" descr="Le rapport signé de tous">    </p:cNvPr>
          <p:cNvPicPr>
            <a:picLocks noChangeAspect="1"/>
          </p:cNvPicPr>
          <p:nvPr/>
        </p:nvPicPr>
        <p:blipFill>
          <a:blip r:embed="rId1"/>
          <a:stretch>
            <a:fillRect/>
          </a:stretch>
        </p:blipFill>
        <p:spPr>
          <a:xfrm>
            <a:off x="812780" y="1206500"/>
            <a:ext cx="10566136" cy="1527062"/>
          </a:xfrm>
          <a:prstGeom prst="rect">
            <a:avLst/>
          </a:prstGeom>
        </p:spPr>
      </p:pic>
      <p:sp>
        <p:nvSpPr>
          <p:cNvPr id="6" name="Shape 3"/>
          <p:cNvSpPr/>
          <p:nvPr/>
        </p:nvSpPr>
        <p:spPr>
          <a:xfrm>
            <a:off x="812780" y="2885962"/>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85962"/>
            <a:ext cx="38099" cy="1790700"/>
          </a:xfrm>
          <a:prstGeom prst="rect">
            <a:avLst/>
          </a:prstGeom>
          <a:solidFill>
            <a:srgbClr val="1B6FA8"/>
          </a:solidFill>
          <a:ln/>
        </p:spPr>
      </p:sp>
      <p:sp>
        <p:nvSpPr>
          <p:cNvPr id="8" name="Text 5"/>
          <p:cNvSpPr/>
          <p:nvPr/>
        </p:nvSpPr>
        <p:spPr>
          <a:xfrm>
            <a:off x="977876" y="298756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l’évaluation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et les membres sont notifiés. Le rapport n’est pas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279</a:t>
            </a:r>
            <a:endParaRPr lang="en-US" sz="11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sur le plan du guide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rapport, sur le plan du gui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Références, plis reçus, puis lot par lot : examen préliminaire, corrections, montant évalué et classement, offres anormales, post-qualification, proposition d’attribution.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signatures et deux annexes : les déclarations, les demandes aux candidats et leurs réponses.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280</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8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L'évaluation d'une procédure, ouverte une fois le PV d'ouverture signé.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préalable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CAO : absence de conflit d'intérêts et confidentialité (art. 21-d, 12-V).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L’étape arrêtée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t_evaluation_etape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L'arrêt d'une étape de l'évaluation d'un lot, par le président de la CAO. En vigueur tant que rouverteLe est nul ; rouvert, il reste au registre avec la date, l'auteur et le motif de sa réouverture.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décision sur 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décision de la CAO sur une offre, à une étape : la décision (CONFORME / ECARTEE à l'examen préliminaire), la qualification, le motif, la clause du DAO, et le détail de l'étape en JSON (contenu : la grille des vérifications).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précision ou de justification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adressée par la PRMP au candidat d'une offre : une précision (art. 35-VI, examen préliminaire) ou une justification de prix (art. 48, tranche suivante), avec son délai, et la réponse du candidat (texte et fichier joint).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départage d’une égalité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t_evaluation_departage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départage, par la CAO, d'offres d'un lot classées à égalité de montant évalué : ordre (identifiants d'offres séparés par des virgules, du premier au dernier) et son motif.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rapport d’évaluation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t_evaluation_rapport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rapport d'évaluation d'une procédure, ses signataires appelés et ses deux formats.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d'évaluation par un membre de la CAO (signature électronique simple, observation en cas de désaccord), ou son empêchement constaté par le président.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l'évaluation : chaque décision et chaque réouverture, avec son auteur et son détail.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technique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L'étape technique d'un lot : son arrêt par le président, et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technique d’un membre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t_evaluation_note_technique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d'un membre de la commission sur un élément de la grille technique (un sous-critère de la fiche, B06-TP-032, ou un critère noté globalement, B06-TP-02) d'une proposition technique,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financière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saisie d'une proposition financière ouverte : prix lu hors taxes, corrections arithmétiques (JSON), prix corrigé, dépenses remboursables (arbitrage du pilote : saisies par la commission) ; ou le refus d'une correction par le candidat, qui l'écarte.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281</a:t>
            </a:r>
            <a:endParaRPr lang="en-US" sz="11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8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classement des propositions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t_evaluation_classement_pi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classement d'un lot : son départage motivé (DEPARTAGE : les propositions techniques dans l'ordre retenu, séparées par des virgules), son arrêt par le président,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négociation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t_negociation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négociation avec un candidat classé : conduite par la PRMP (ou son UGPM), une seule en cours et une seule réussie par lot ; son procès-verbal (texte, date, lieu, pièce jointe, PDF et Word) ; l'échec, motivé, ouvre la voie au suivant (Q7, en attente du juriste).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sous-critère technique de la fiche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t_fiche_sous_critere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sous-critère technique d'une version de fiche de prestations intellectuelles : son critère (B06-TP-02 à B06-TP-06), son rang, son libellé, ses points.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282</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28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  t_evaluation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EN_COURS, RAPPORT_A_SIGNER,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préalable d’un membre  ·  t_evaluation_declaration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L’étape arrêtée d’un lot  ·  t_evaluation_etape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décision sur une offre  ·  t_evaluation_decision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283</a:t>
            </a:r>
            <a:endParaRPr lang="en-US" sz="11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28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CONFORME, ECARTEE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précision ou de justification  ·  t_evaluation_demande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 : PRECISION, JUSTIFICATION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284</a:t>
            </a:r>
            <a:endParaRPr lang="en-US" sz="11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28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départage d’une égalité  ·  t_evaluation_departage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rapport d’évaluation  ·  t_evaluation_rapport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identifiants des membres appelés à signer,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  t_evaluation_signature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285</a:t>
            </a:r>
            <a:endParaRPr lang="en-US" sz="11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28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l’évaluation  ·  t_evaluation_journal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technique (lot 3)  ·  t_evaluation_technique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technique d’un membre (lot 3)  ·  t_evaluation_note_technique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286</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28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financière (lot 3)  ·  t_evaluation_financiere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CORRECTIONS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Corrections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PRIX_CORRIGE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corrige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classement des propositions (lot 3)  ·  t_evaluation_classement_pi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287</a:t>
            </a:r>
            <a:endParaRPr lang="en-US" sz="11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28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négociation (lot 3)  ·  t_negociation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proposition (son enveloppe technique).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ID_FINANCIERE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financiere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REUSSIE, ECHOUEE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PREVUE_LE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Prévue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DATE_NEGOCIATION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negociation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MOTIF_ECHEC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echec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288</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29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sous-critère technique de la fiche (lot 3)  ·  t_fiche_sous_critere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POINTS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289</a:t>
            </a:r>
            <a:endParaRPr lang="en-US" sz="11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30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9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Ouvrir l’évaluation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offres en ligne, lot par lot · Ouverte après le PV signé · La déclaration préalable de chaque membre · Les membres décident, le président arrête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Arrêter et tracer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RG-EVA-05 → 07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décision pour chaque offre · Rouvrir une étape, avec un motif · Rien ne s’efface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Étape 2 : l’examen préliminaire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RG-EVA-08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grille de neuf vérifications · Les alertes sont des constats · Aucune offre écartée d’office · Écarter : motif, clause, qualification · Demander une précision au candidat · Une précision ne change pas l’offre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Étape 3 : montant évalué et classement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RG-EVA-14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Des corrections proposées, retenues ou non · Le refus d’une correction constaté · Un montant évalué hors taxes · La préférence, si le DAO la prévoit · Le rabais proposé sur le prix corrigé · Le classement, et l’égalité départagée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Étape 4 : les offres anormales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RG-EVA-20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Des indicateurs, pas une décision · Chaque offre classée examinée · Pas de rejet sans justification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Étape 5 : la post-qualification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RG-EVA-23 → 26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premier classé, puis le suivant · Les critères du DAO, et eux seuls · Une offre non qualifiée est écartée · La proposition d’attribution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rapport d’évaluation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RG-EVA-27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Produit quand tout est arrêté · Le plan du guide · Signé, avec une observation possible · Clos à la dernière signature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290</a:t>
            </a:r>
            <a:endParaRPr lang="en-US" sz="11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l’évaluation</a:t>
            </a:r>
            <a:endParaRPr lang="en-US" sz="2600" dirty="0"/>
          </a:p>
        </p:txBody>
      </p:sp>
      <p:graphicFrame>
        <p:nvGraphicFramePr>
          <p:cNvPr id="29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offres en ligne, lot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évalue les offres dans l’application, lot par lot, en suivant le guide d’évaluation. Les offres papier n’y entrent pas ; les offres écartées au dépôt, retirées ou remplacées ne sont pas évaluées.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Ouverte après le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l’évaluation une fois le </a:t>
                      </a:r>
                      <a:pPr indent="0" marL="0">
                        <a:buNone/>
                      </a:pPr>
                      <a:r>
                        <a:rPr lang="en-US" sz="1150" b="1" dirty="0">
                          <a:solidFill>
                            <a:srgbClr val="1B2A3A"/>
                          </a:solidFill>
                          <a:latin typeface="Segoe UI" pitchFamily="34" charset="0"/>
                          <a:ea typeface="Segoe UI" pitchFamily="34" charset="-122"/>
                          <a:cs typeface="Segoe UI" pitchFamily="34" charset="-120"/>
                        </a:rPr>
                        <a:t>PV d’ouverture signé</a:t>
                      </a:r>
                      <a:pPr indent="0" marL="0">
                        <a:buNone/>
                      </a:pPr>
                      <a:r>
                        <a:rPr lang="en-US" sz="1150" dirty="0">
                          <a:solidFill>
                            <a:srgbClr val="1B2A3A"/>
                          </a:solidFill>
                          <a:latin typeface="Segoe UI" pitchFamily="34" charset="0"/>
                          <a:ea typeface="Segoe UI" pitchFamily="34" charset="-122"/>
                          <a:cs typeface="Segoe UI" pitchFamily="34" charset="-120"/>
                        </a:rPr>
                        <a:t>. Les membres de la commission et la PRMP en sont avertis.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déclaration préalable de chaque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président compris, signe d’abord une déclaration d’absence de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et de confidentialité, qui ne se reprend pas. Un membre qui déclare un conflit lit tout mais ne décide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membres décident, le président arrête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sans conflit enregistre les décisions, visibles des autres ;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l’étape d’un lot, ce qui fige ses décisions. La PRMP demande les précisions ; la PRMP et l’UGPM lisent.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291</a:t>
            </a:r>
            <a:endParaRPr lang="en-US" sz="11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et tracer</a:t>
            </a:r>
            <a:endParaRPr lang="en-US" sz="2600" dirty="0"/>
          </a:p>
        </p:txBody>
      </p:sp>
      <p:graphicFrame>
        <p:nvGraphicFramePr>
          <p:cNvPr id="29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décision pour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étape ne s’arrête que lorsque chaque offre du lot a sa décision, et après l’arrêt de l’étape précédente.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Rouvrir une étape,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a:t>
                      </a:r>
                      <a:pPr indent="0" marL="0">
                        <a:buNone/>
                      </a:pPr>
                      <a:r>
                        <a:rPr lang="en-US" sz="1150" b="1" dirty="0">
                          <a:solidFill>
                            <a:srgbClr val="1B2A3A"/>
                          </a:solidFill>
                          <a:latin typeface="Segoe UI" pitchFamily="34" charset="0"/>
                          <a:ea typeface="Segoe UI" pitchFamily="34" charset="-122"/>
                          <a:cs typeface="Segoe UI" pitchFamily="34" charset="-120"/>
                        </a:rPr>
                        <a:t>rouvrir</a:t>
                      </a:r>
                      <a:pPr indent="0" marL="0">
                        <a:buNone/>
                      </a:pPr>
                      <a:r>
                        <a:rPr lang="en-US" sz="1150" dirty="0">
                          <a:solidFill>
                            <a:srgbClr val="1B2A3A"/>
                          </a:solidFill>
                          <a:latin typeface="Segoe UI" pitchFamily="34" charset="0"/>
                          <a:ea typeface="Segoe UI" pitchFamily="34" charset="-122"/>
                          <a:cs typeface="Segoe UI" pitchFamily="34" charset="-120"/>
                        </a:rPr>
                        <a:t> une étape avec un motif : elle et les suivantes du lot se rouvrent, et l’arrêt rouvert reste au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s’efface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décision corrigée laisse la précédente au registre, et le journal dit qui a décidé quoi, quand, et pourquoi.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lot 1, tranche 1a : examen préliminaire et précisions — V76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292</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l’examen préliminaire</a:t>
            </a:r>
            <a:endParaRPr lang="en-US" sz="2600" dirty="0"/>
          </a:p>
        </p:txBody>
      </p:sp>
      <p:graphicFrame>
        <p:nvGraphicFramePr>
          <p:cNvPr id="29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de neuf vérifications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l’application pré-remplit une grille de neuf vérifications : acte d’engagement et prix, garantie, offre unique par candidat et par lot, exclusion, pouvoirs, pièces, conformité technique, intégrité,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alertes sont des constats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alertes de la séance sont des constats, </a:t>
                      </a:r>
                      <a:pPr indent="0" marL="0">
                        <a:buNone/>
                      </a:pPr>
                      <a:r>
                        <a:rPr lang="en-US" sz="1150" b="1" dirty="0">
                          <a:solidFill>
                            <a:srgbClr val="1B2A3A"/>
                          </a:solidFill>
                          <a:latin typeface="Segoe UI" pitchFamily="34" charset="0"/>
                          <a:ea typeface="Segoe UI" pitchFamily="34" charset="-122"/>
                          <a:cs typeface="Segoe UI" pitchFamily="34" charset="-120"/>
                        </a:rPr>
                        <a:t>jamais des décisions</a:t>
                      </a:r>
                      <a:pPr indent="0" marL="0">
                        <a:buNone/>
                      </a:pPr>
                      <a:r>
                        <a:rPr lang="en-US" sz="1150" dirty="0">
                          <a:solidFill>
                            <a:srgbClr val="1B2A3A"/>
                          </a:solidFill>
                          <a:latin typeface="Segoe UI" pitchFamily="34" charset="0"/>
                          <a:ea typeface="Segoe UI" pitchFamily="34" charset="-122"/>
                          <a:cs typeface="Segoe UI" pitchFamily="34" charset="-120"/>
                        </a:rPr>
                        <a:t>. La commission confirme ou corrige chaque vérification, puis décide ; elle peut retenir une offre malgré une vérification non satisfaite.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Aucune offre écartée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altérée ou illisible, ou sans frais de dossier réglés, n’est </a:t>
                      </a:r>
                      <a:pPr indent="0" marL="0">
                        <a:buNone/>
                      </a:pPr>
                      <a:r>
                        <a:rPr lang="en-US" sz="1150" b="1" dirty="0">
                          <a:solidFill>
                            <a:srgbClr val="1B2A3A"/>
                          </a:solidFill>
                          <a:latin typeface="Segoe UI" pitchFamily="34" charset="0"/>
                          <a:ea typeface="Segoe UI" pitchFamily="34" charset="-122"/>
                          <a:cs typeface="Segoe UI" pitchFamily="34" charset="-120"/>
                        </a:rPr>
                        <a:t>jamais écartée d’office</a:t>
                      </a:r>
                      <a:pPr indent="0" marL="0">
                        <a:buNone/>
                      </a:pPr>
                      <a:r>
                        <a:rPr lang="en-US" sz="1150" dirty="0">
                          <a:solidFill>
                            <a:srgbClr val="1B2A3A"/>
                          </a:solidFill>
                          <a:latin typeface="Segoe UI" pitchFamily="34" charset="0"/>
                          <a:ea typeface="Segoe UI" pitchFamily="34" charset="-122"/>
                          <a:cs typeface="Segoe UI" pitchFamily="34" charset="-120"/>
                        </a:rPr>
                        <a:t> : la vérification est proposée « non satisfaite », la commission tranche.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 motif, clause, qualification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Écarter une offre exige un motif, la </a:t>
                      </a:r>
                      <a:pPr indent="0" marL="0">
                        <a:buNone/>
                      </a:pPr>
                      <a:r>
                        <a:rPr lang="en-US" sz="1150" b="1" dirty="0">
                          <a:solidFill>
                            <a:srgbClr val="1B2A3A"/>
                          </a:solidFill>
                          <a:latin typeface="Segoe UI" pitchFamily="34" charset="0"/>
                          <a:ea typeface="Segoe UI" pitchFamily="34" charset="-122"/>
                          <a:cs typeface="Segoe UI" pitchFamily="34" charset="-120"/>
                        </a:rPr>
                        <a:t>clause du DAO</a:t>
                      </a:r>
                      <a:pPr indent="0" marL="0">
                        <a:buNone/>
                      </a:pPr>
                      <a:r>
                        <a:rPr lang="en-US" sz="1150" dirty="0">
                          <a:solidFill>
                            <a:srgbClr val="1B2A3A"/>
                          </a:solidFill>
                          <a:latin typeface="Segoe UI" pitchFamily="34" charset="0"/>
                          <a:ea typeface="Segoe UI" pitchFamily="34" charset="-122"/>
                          <a:cs typeface="Segoe UI" pitchFamily="34" charset="-120"/>
                        </a:rPr>
                        <a:t> visée et une qualification : irrecevable, non conforme, inappropriée ou inacceptable.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Demander une précision au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pose une question au candidat d’une offre, avec un délai, celui de la fiche par défaut. Le candidat répond </a:t>
                      </a:r>
                      <a:pPr indent="0" marL="0">
                        <a:buNone/>
                      </a:pPr>
                      <a:r>
                        <a:rPr lang="en-US" sz="1150" b="1" dirty="0">
                          <a:solidFill>
                            <a:srgbClr val="1B2A3A"/>
                          </a:solidFill>
                          <a:latin typeface="Segoe UI" pitchFamily="34" charset="0"/>
                          <a:ea typeface="Segoe UI" pitchFamily="34" charset="-122"/>
                          <a:cs typeface="Segoe UI" pitchFamily="34" charset="-120"/>
                        </a:rPr>
                        <a:t>une fois</a:t>
                      </a:r>
                      <a:pPr indent="0" marL="0">
                        <a:buNone/>
                      </a:pPr>
                      <a:r>
                        <a:rPr lang="en-US" sz="1150" dirty="0">
                          <a:solidFill>
                            <a:srgbClr val="1B2A3A"/>
                          </a:solidFill>
                          <a:latin typeface="Segoe UI" pitchFamily="34" charset="0"/>
                          <a:ea typeface="Segoe UI" pitchFamily="34" charset="-122"/>
                          <a:cs typeface="Segoe UI" pitchFamily="34" charset="-120"/>
                        </a:rPr>
                        <a:t>, dans le délai, par un texte et, s’il le veut, un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précision ne change pas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précision ne peut changer ni le prix ni la substance de l’offre. L’application ne le contrôle pas : la demande et la réponse vont au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293</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montant évalué et classement</a:t>
            </a:r>
            <a:endParaRPr lang="en-US" sz="2600" dirty="0"/>
          </a:p>
        </p:txBody>
      </p:sp>
      <p:graphicFrame>
        <p:nvGraphicFramePr>
          <p:cNvPr id="29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corrections proposées, retenues ou non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L’application propose les corrections arithmétiques : le prix en lettres prévaut sur les chiffres, le prix unitaire sur le total. La commission les retient ou non, et peut en saisir d’autres.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refus d’une correction constaté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qui refuse une correction voit son offre écartée si les instructions aux candidats le prévoient : la commission le constate, avec la clause.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montant évalué hors taxes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se comparent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 prix lu, corrigé, diminué du rabais, plus la marge de préférence appliquée aux offres qui n’y ont pas droit, plus les critères monétisés du DAO. Le serveur fait le calcul.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préférence, si le DAO la prévoit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marge de préférence et les critères additionnels ne s’appliquent que si le DAO les prévoit. La commission marque, avec un motif, les offres éligibles ; la préférence sert à comparer, jamais au prix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proposé sur le prix corrigé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sans condition est proposé sur le prix corrigé ; la commission ne s’en écarte qu’avec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 rabais lié à plusieurs lots n’est pas appliqué lot par lot : il est seulement rapporté.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classement, et l’égalité départagée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classement suit le montant évalué croissant. Deux offres premières à </a:t>
                      </a:r>
                      <a:pPr indent="0" marL="0">
                        <a:buNone/>
                      </a:pPr>
                      <a:r>
                        <a:rPr lang="en-US" sz="1150" b="1" dirty="0">
                          <a:solidFill>
                            <a:srgbClr val="1B2A3A"/>
                          </a:solidFill>
                          <a:latin typeface="Segoe UI" pitchFamily="34" charset="0"/>
                          <a:ea typeface="Segoe UI" pitchFamily="34" charset="-122"/>
                          <a:cs typeface="Segoe UI" pitchFamily="34" charset="-120"/>
                        </a:rPr>
                        <a:t>égalité</a:t>
                      </a:r>
                      <a:pPr indent="0" marL="0">
                        <a:buNone/>
                      </a:pPr>
                      <a:r>
                        <a:rPr lang="en-US" sz="1150" dirty="0">
                          <a:solidFill>
                            <a:srgbClr val="1B2A3A"/>
                          </a:solidFill>
                          <a:latin typeface="Segoe UI" pitchFamily="34" charset="0"/>
                          <a:ea typeface="Segoe UI" pitchFamily="34" charset="-122"/>
                          <a:cs typeface="Segoe UI" pitchFamily="34" charset="-120"/>
                        </a:rPr>
                        <a:t> sont départagées par la commission, avec un motif, avant que l’étape puisse être arrêtée.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294</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offres anormales</a:t>
            </a:r>
            <a:endParaRPr lang="en-US" sz="2600" dirty="0"/>
          </a:p>
        </p:txBody>
      </p:sp>
      <p:graphicFrame>
        <p:nvGraphicFramePr>
          <p:cNvPr id="29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indicateurs, pas une décision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classée, l’application donne son écart à l’estimation du plan et à la moyenne des offres, et rappelle la méthode du DAO s’il en porte une : ce sont des </a:t>
                      </a:r>
                      <a:pPr indent="0" marL="0">
                        <a:buNone/>
                      </a:pPr>
                      <a:r>
                        <a:rPr lang="en-US" sz="1150" b="1" dirty="0">
                          <a:solidFill>
                            <a:srgbClr val="1B2A3A"/>
                          </a:solidFill>
                          <a:latin typeface="Segoe UI" pitchFamily="34" charset="0"/>
                          <a:ea typeface="Segoe UI" pitchFamily="34" charset="-122"/>
                          <a:cs typeface="Segoe UI" pitchFamily="34" charset="-120"/>
                        </a:rPr>
                        <a:t>indicateurs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offre classée examinée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examine chaque offre classée : non suspectée, ou suspectée avec un motif. L’étape ne s’arrête pas tant qu’une offre suspectée reste en suspens.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rejet sans justification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offre n’est rejetée sans une </a:t>
                      </a:r>
                      <a:pPr indent="0" marL="0">
                        <a:buNone/>
                      </a:pPr>
                      <a:r>
                        <a:rPr lang="en-US" sz="1150" b="1" dirty="0">
                          <a:solidFill>
                            <a:srgbClr val="1B2A3A"/>
                          </a:solidFill>
                          <a:latin typeface="Segoe UI" pitchFamily="34" charset="0"/>
                          <a:ea typeface="Segoe UI" pitchFamily="34" charset="-122"/>
                          <a:cs typeface="Segoe UI" pitchFamily="34" charset="-120"/>
                        </a:rPr>
                        <a:t>demande écrite de justification</a:t>
                      </a:r>
                      <a:pPr indent="0" marL="0">
                        <a:buNone/>
                      </a:pPr>
                      <a:r>
                        <a:rPr lang="en-US" sz="1150" dirty="0">
                          <a:solidFill>
                            <a:srgbClr val="1B2A3A"/>
                          </a:solidFill>
                          <a:latin typeface="Segoe UI" pitchFamily="34" charset="0"/>
                          <a:ea typeface="Segoe UI" pitchFamily="34" charset="-122"/>
                          <a:cs typeface="Segoe UI" pitchFamily="34" charset="-120"/>
                        </a:rPr>
                        <a:t> de la PRMP, et sans la réponse du candidat ou l’expiration de son délai. La commission maintient ou rejette, avec un motif ; l’offre rejetée sort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L'évaluation des offres, tranche 1c : offres anormales et post-qualification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295</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la post-qualification</a:t>
            </a:r>
            <a:endParaRPr lang="en-US" sz="2600" dirty="0"/>
          </a:p>
        </p:txBody>
      </p:sp>
      <p:graphicFrame>
        <p:nvGraphicFramePr>
          <p:cNvPr id="29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premier classé, puis le suivant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post-qualification porte sur le </a:t>
                      </a:r>
                      <a:pPr indent="0" marL="0">
                        <a:buNone/>
                      </a:pPr>
                      <a:r>
                        <a:rPr lang="en-US" sz="1150" b="1" dirty="0">
                          <a:solidFill>
                            <a:srgbClr val="1B2A3A"/>
                          </a:solidFill>
                          <a:latin typeface="Segoe UI" pitchFamily="34" charset="0"/>
                          <a:ea typeface="Segoe UI" pitchFamily="34" charset="-122"/>
                          <a:cs typeface="Segoe UI" pitchFamily="34" charset="-120"/>
                        </a:rPr>
                        <a:t>premier classé</a:t>
                      </a:r>
                      <a:pPr indent="0" marL="0">
                        <a:buNone/>
                      </a:pPr>
                      <a:r>
                        <a:rPr lang="en-US" sz="1150" dirty="0">
                          <a:solidFill>
                            <a:srgbClr val="1B2A3A"/>
                          </a:solidFill>
                          <a:latin typeface="Segoe UI" pitchFamily="34" charset="0"/>
                          <a:ea typeface="Segoe UI" pitchFamily="34" charset="-122"/>
                          <a:cs typeface="Segoe UI" pitchFamily="34" charset="-120"/>
                        </a:rPr>
                        <a:t>, puis, s’il échoue, sur le suivant, jusqu’à une offre qualifiée ou la fin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critères du DAO, et eux seuls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sont ceux du DAO, et eux seuls : capacité juridique, capacité financière, capacité technique et expérience, matériel et personnel exigés. Chacun est jugé satisfait ou non ; un échec se motive.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non qualifiée est écartée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non qualifiée est écartée avec un motif et la clause du DAO ; le tour passe à la suivante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proposition d’attribution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L’étape arrêtée, le lot porte sa </a:t>
                      </a:r>
                      <a:pPr indent="0" marL="0">
                        <a:buNone/>
                      </a:pPr>
                      <a:r>
                        <a:rPr lang="en-US" sz="1150" b="1" dirty="0">
                          <a:solidFill>
                            <a:srgbClr val="1B2A3A"/>
                          </a:solidFill>
                          <a:latin typeface="Segoe UI" pitchFamily="34" charset="0"/>
                          <a:ea typeface="Segoe UI" pitchFamily="34" charset="-122"/>
                          <a:cs typeface="Segoe UI" pitchFamily="34" charset="-120"/>
                        </a:rPr>
                        <a:t>proposition d’attribution</a:t>
                      </a:r>
                      <a:pPr indent="0" marL="0">
                        <a:buNone/>
                      </a:pPr>
                      <a:r>
                        <a:rPr lang="en-US" sz="1150" dirty="0">
                          <a:solidFill>
                            <a:srgbClr val="1B2A3A"/>
                          </a:solidFill>
                          <a:latin typeface="Segoe UI" pitchFamily="34" charset="0"/>
                          <a:ea typeface="Segoe UI" pitchFamily="34" charset="-122"/>
                          <a:cs typeface="Segoe UI" pitchFamily="34" charset="-120"/>
                        </a:rPr>
                        <a:t> (offre, montant hors taxes, délai), ou l’infructuosité si aucune offre n’est qualifiée. L’attribution elle-même revient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296</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d’évaluation</a:t>
            </a:r>
            <a:endParaRPr lang="en-US" sz="2600" dirty="0"/>
          </a:p>
        </p:txBody>
      </p:sp>
      <p:graphicFrame>
        <p:nvGraphicFramePr>
          <p:cNvPr id="29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 quand tout est arrêté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rapport quand toutes les étapes de tous les lots sont arrêtées ; dès lors, plus aucune décision ne change.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rapport suit le plan du guide : références, plis reçus, chaque étape lot par lot, proposition d’attribution, signatures. En annexe, les déclarations des membres et les échanges avec les candidats.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avec une observation possible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signe, hors ceux qui ont déclaré un conflit d’intérêts ; un membre en désaccord joint une </a:t>
                      </a:r>
                      <a:pPr indent="0" marL="0">
                        <a:buNone/>
                      </a:pPr>
                      <a:r>
                        <a:rPr lang="en-US" sz="1150" b="1" dirty="0">
                          <a:solidFill>
                            <a:srgbClr val="1B2A3A"/>
                          </a:solidFill>
                          <a:latin typeface="Segoe UI" pitchFamily="34" charset="0"/>
                          <a:ea typeface="Segoe UI" pitchFamily="34" charset="-122"/>
                          <a:cs typeface="Segoe UI" pitchFamily="34" charset="-120"/>
                        </a:rPr>
                        <a:t>observation</a:t>
                      </a:r>
                      <a:pPr indent="0" marL="0">
                        <a:buNone/>
                      </a:pPr>
                      <a:r>
                        <a:rPr lang="en-US" sz="1150" dirty="0">
                          <a:solidFill>
                            <a:srgbClr val="1B2A3A"/>
                          </a:solidFill>
                          <a:latin typeface="Segoe UI" pitchFamily="34" charset="0"/>
                          <a:ea typeface="Segoe UI" pitchFamily="34" charset="-122"/>
                          <a:cs typeface="Segoe UI" pitchFamily="34" charset="-120"/>
                        </a:rPr>
                        <a:t>. L’empêchement d’un membre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Clos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l’évaluation est close et la PRMP est avertie. Le rapport </a:t>
                      </a:r>
                      <a:pPr indent="0" marL="0">
                        <a:buNone/>
                      </a:pPr>
                      <a:r>
                        <a:rPr lang="en-US" sz="1150" b="1" dirty="0">
                          <a:solidFill>
                            <a:srgbClr val="1B2A3A"/>
                          </a:solidFill>
                          <a:latin typeface="Segoe UI" pitchFamily="34" charset="0"/>
                          <a:ea typeface="Segoe UI" pitchFamily="34" charset="-122"/>
                          <a:cs typeface="Segoe UI" pitchFamily="34" charset="-120"/>
                        </a:rPr>
                        <a:t>n’est pas public</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297</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09</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Attribuer et notifier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rapport signé, la PRMP crée le dossier de marché, que la Commission contrôle ; puis elle attribue, informe les candidats, respecte le délai d’attente et les recours, signe, fait enregistrer, notifie et publie l’avis.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298</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L’attribution, lot par lot</a:t>
            </a:r>
            <a:endParaRPr lang="en-US" sz="2600" dirty="0"/>
          </a:p>
        </p:txBody>
      </p:sp>
      <p:sp>
        <p:nvSpPr>
          <p:cNvPr id="4" name="Shape 2"/>
          <p:cNvSpPr/>
          <p:nvPr/>
        </p:nvSpPr>
        <p:spPr>
          <a:xfrm>
            <a:off x="800080" y="1193800"/>
            <a:ext cx="10591535" cy="1926041"/>
          </a:xfrm>
          <a:prstGeom prst="rect">
            <a:avLst/>
          </a:prstGeom>
          <a:solidFill>
            <a:srgbClr val="FCFCFA"/>
          </a:solidFill>
          <a:ln w="9525">
            <a:solidFill>
              <a:srgbClr val="D5DCE4"/>
            </a:solidFill>
            <a:prstDash val="solid"/>
          </a:ln>
        </p:spPr>
      </p:sp>
      <p:pic>
        <p:nvPicPr>
          <p:cNvPr id="5" name="Image 0" descr="L’attribution, lot par lot">    </p:cNvPr>
          <p:cNvPicPr>
            <a:picLocks noChangeAspect="1"/>
          </p:cNvPicPr>
          <p:nvPr/>
        </p:nvPicPr>
        <p:blipFill>
          <a:blip r:embed="rId1"/>
          <a:stretch>
            <a:fillRect/>
          </a:stretch>
        </p:blipFill>
        <p:spPr>
          <a:xfrm>
            <a:off x="812780" y="1206500"/>
            <a:ext cx="10566136" cy="1900641"/>
          </a:xfrm>
          <a:prstGeom prst="rect">
            <a:avLst/>
          </a:prstGeom>
        </p:spPr>
      </p:pic>
      <p:sp>
        <p:nvSpPr>
          <p:cNvPr id="6" name="Shape 3"/>
          <p:cNvSpPr/>
          <p:nvPr/>
        </p:nvSpPr>
        <p:spPr>
          <a:xfrm>
            <a:off x="812780" y="3259541"/>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59541"/>
            <a:ext cx="38099" cy="1790700"/>
          </a:xfrm>
          <a:prstGeom prst="rect">
            <a:avLst/>
          </a:prstGeom>
          <a:solidFill>
            <a:srgbClr val="1B6FA8"/>
          </a:solidFill>
          <a:ln/>
        </p:spPr>
      </p:sp>
      <p:sp>
        <p:nvSpPr>
          <p:cNvPr id="8" name="Text 5"/>
          <p:cNvSpPr/>
          <p:nvPr/>
        </p:nvSpPr>
        <p:spPr>
          <a:xfrm>
            <a:off x="977876" y="3361141"/>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lot et la proposition du rapport ; « Créer le dossier de marché », pour 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RG-ATT-01 · RG-ATT-02 · RG-ATT-25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299</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créé</a:t>
            </a:r>
            <a:endParaRPr lang="en-US" sz="2600" dirty="0"/>
          </a:p>
        </p:txBody>
      </p:sp>
      <p:sp>
        <p:nvSpPr>
          <p:cNvPr id="4" name="Shape 2"/>
          <p:cNvSpPr/>
          <p:nvPr/>
        </p:nvSpPr>
        <p:spPr>
          <a:xfrm>
            <a:off x="800080" y="1193800"/>
            <a:ext cx="10591535" cy="1765834"/>
          </a:xfrm>
          <a:prstGeom prst="rect">
            <a:avLst/>
          </a:prstGeom>
          <a:solidFill>
            <a:srgbClr val="FCFCFA"/>
          </a:solidFill>
          <a:ln w="9525">
            <a:solidFill>
              <a:srgbClr val="D5DCE4"/>
            </a:solidFill>
            <a:prstDash val="solid"/>
          </a:ln>
        </p:spPr>
      </p:sp>
      <p:pic>
        <p:nvPicPr>
          <p:cNvPr id="5" name="Image 0" descr="Le dossier de marché créé">    </p:cNvPr>
          <p:cNvPicPr>
            <a:picLocks noChangeAspect="1"/>
          </p:cNvPicPr>
          <p:nvPr/>
        </p:nvPicPr>
        <p:blipFill>
          <a:blip r:embed="rId1"/>
          <a:stretch>
            <a:fillRect/>
          </a:stretch>
        </p:blipFill>
        <p:spPr>
          <a:xfrm>
            <a:off x="812780" y="1206500"/>
            <a:ext cx="10566136" cy="1740434"/>
          </a:xfrm>
          <a:prstGeom prst="rect">
            <a:avLst/>
          </a:prstGeom>
        </p:spPr>
      </p:pic>
      <p:sp>
        <p:nvSpPr>
          <p:cNvPr id="6" name="Shape 3"/>
          <p:cNvSpPr/>
          <p:nvPr/>
        </p:nvSpPr>
        <p:spPr>
          <a:xfrm>
            <a:off x="812780" y="30993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099334"/>
            <a:ext cx="38099" cy="1790700"/>
          </a:xfrm>
          <a:prstGeom prst="rect">
            <a:avLst/>
          </a:prstGeom>
          <a:solidFill>
            <a:srgbClr val="1B6FA8"/>
          </a:solidFill>
          <a:ln/>
        </p:spPr>
      </p:sp>
      <p:sp>
        <p:nvSpPr>
          <p:cNvPr id="8" name="Text 5"/>
          <p:cNvSpPr/>
          <p:nvPr/>
        </p:nvSpPr>
        <p:spPr>
          <a:xfrm>
            <a:off x="977876" y="32009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lot passe « au contrôle de la Commission » ; le projet de marché, produit par le serveur, se lit en PDF ou en Word.</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RG-ATT-02 · RG-ATT-03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300</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prêt à soumettre</a:t>
            </a:r>
            <a:endParaRPr lang="en-US" sz="2600" dirty="0"/>
          </a:p>
        </p:txBody>
      </p:sp>
      <p:sp>
        <p:nvSpPr>
          <p:cNvPr id="4" name="Shape 2"/>
          <p:cNvSpPr/>
          <p:nvPr/>
        </p:nvSpPr>
        <p:spPr>
          <a:xfrm>
            <a:off x="800080" y="1193800"/>
            <a:ext cx="6883228" cy="4577398"/>
          </a:xfrm>
          <a:prstGeom prst="rect">
            <a:avLst/>
          </a:prstGeom>
          <a:solidFill>
            <a:srgbClr val="FCFCFA"/>
          </a:solidFill>
          <a:ln w="9525">
            <a:solidFill>
              <a:srgbClr val="D5DCE4"/>
            </a:solidFill>
            <a:prstDash val="solid"/>
          </a:ln>
        </p:spPr>
      </p:sp>
      <p:pic>
        <p:nvPicPr>
          <p:cNvPr id="5" name="Image 0" descr="Le dossier de marché, prêt à soumettre">    </p:cNvPr>
          <p:cNvPicPr>
            <a:picLocks noChangeAspect="1"/>
          </p:cNvPicPr>
          <p:nvPr/>
        </p:nvPicPr>
        <p:blipFill>
          <a:blip r:embed="rId1"/>
          <a:stretch>
            <a:fillRect/>
          </a:stretch>
        </p:blipFill>
        <p:spPr>
          <a:xfrm>
            <a:off x="812780" y="1206500"/>
            <a:ext cx="6857829" cy="4551998"/>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Pièces jointes d’office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marché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cahier des charges (DAO complet), le PV d’ouverture, le rapport d’évaluation ; le devis rempli de l’offre quand elle a été déposée en formulaires.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suit ensuite le circuit de la Commission ; une grille de neuf points, tirée de la check-list du guide, sert à l’examiner.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RG-ATT-03 · RG-ATT-04 · RG-ATT-05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301</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après l’avis favorable de la Commission</a:t>
            </a:r>
            <a:endParaRPr lang="en-US" sz="2600" dirty="0"/>
          </a:p>
        </p:txBody>
      </p:sp>
      <p:sp>
        <p:nvSpPr>
          <p:cNvPr id="4" name="Shape 2"/>
          <p:cNvSpPr/>
          <p:nvPr/>
        </p:nvSpPr>
        <p:spPr>
          <a:xfrm>
            <a:off x="800080" y="1193800"/>
            <a:ext cx="10591535" cy="2646974"/>
          </a:xfrm>
          <a:prstGeom prst="rect">
            <a:avLst/>
          </a:prstGeom>
          <a:solidFill>
            <a:srgbClr val="FCFCFA"/>
          </a:solidFill>
          <a:ln w="9525">
            <a:solidFill>
              <a:srgbClr val="D5DCE4"/>
            </a:solidFill>
            <a:prstDash val="solid"/>
          </a:ln>
        </p:spPr>
      </p:sp>
      <p:pic>
        <p:nvPicPr>
          <p:cNvPr id="5" name="Image 0" descr="Le lot, après l’avis favorable de la Commission">    </p:cNvPr>
          <p:cNvPicPr>
            <a:picLocks noChangeAspect="1"/>
          </p:cNvPicPr>
          <p:nvPr/>
        </p:nvPicPr>
        <p:blipFill>
          <a:blip r:embed="rId1"/>
          <a:stretch>
            <a:fillRect/>
          </a:stretch>
        </p:blipFill>
        <p:spPr>
          <a:xfrm>
            <a:off x="812780" y="1206500"/>
            <a:ext cx="10566136" cy="2621574"/>
          </a:xfrm>
          <a:prstGeom prst="rect">
            <a:avLst/>
          </a:prstGeom>
        </p:spPr>
      </p:pic>
      <p:sp>
        <p:nvSpPr>
          <p:cNvPr id="6" name="Shape 3"/>
          <p:cNvSpPr/>
          <p:nvPr/>
        </p:nvSpPr>
        <p:spPr>
          <a:xfrm>
            <a:off x="812780" y="39804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980474"/>
            <a:ext cx="38099" cy="1993900"/>
          </a:xfrm>
          <a:prstGeom prst="rect">
            <a:avLst/>
          </a:prstGeom>
          <a:solidFill>
            <a:srgbClr val="1B6FA8"/>
          </a:solidFill>
          <a:ln/>
        </p:spPr>
      </p:sp>
      <p:sp>
        <p:nvSpPr>
          <p:cNvPr id="8" name="Text 5"/>
          <p:cNvSpPr/>
          <p:nvPr/>
        </p:nvSpPr>
        <p:spPr>
          <a:xfrm>
            <a:off x="977876" y="40820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de marché a reçu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Commission : le lot peut être attribué.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Attribuer à l’offre proposée » : seule l’offre proposée par la commission d’appel d’offres peut l’être.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RG-ATT-06 · RG-ATT-07 · RG-ATT-08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302</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sp>
        <p:nvSpPr>
          <p:cNvPr id="4" name="Shape 2"/>
          <p:cNvSpPr/>
          <p:nvPr/>
        </p:nvSpPr>
        <p:spPr>
          <a:xfrm>
            <a:off x="800080" y="1193800"/>
            <a:ext cx="10591535" cy="2183381"/>
          </a:xfrm>
          <a:prstGeom prst="rect">
            <a:avLst/>
          </a:prstGeom>
          <a:solidFill>
            <a:srgbClr val="FCFCFA"/>
          </a:solidFill>
          <a:ln w="9525">
            <a:solidFill>
              <a:srgbClr val="D5DCE4"/>
            </a:solidFill>
            <a:prstDash val="solid"/>
          </a:ln>
        </p:spPr>
      </p:sp>
      <p:pic>
        <p:nvPicPr>
          <p:cNvPr id="5" name="Image 0" descr="Informer les candidats">    </p:cNvPr>
          <p:cNvPicPr>
            <a:picLocks noChangeAspect="1"/>
          </p:cNvPicPr>
          <p:nvPr/>
        </p:nvPicPr>
        <p:blipFill>
          <a:blip r:embed="rId1"/>
          <a:stretch>
            <a:fillRect/>
          </a:stretch>
        </p:blipFill>
        <p:spPr>
          <a:xfrm>
            <a:off x="812780" y="1206500"/>
            <a:ext cx="10566136" cy="2157981"/>
          </a:xfrm>
          <a:prstGeom prst="rect">
            <a:avLst/>
          </a:prstGeom>
        </p:spPr>
      </p:pic>
      <p:sp>
        <p:nvSpPr>
          <p:cNvPr id="6" name="Shape 3"/>
          <p:cNvSpPr/>
          <p:nvPr/>
        </p:nvSpPr>
        <p:spPr>
          <a:xfrm>
            <a:off x="812780" y="3516881"/>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16881"/>
            <a:ext cx="38099" cy="2197100"/>
          </a:xfrm>
          <a:prstGeom prst="rect">
            <a:avLst/>
          </a:prstGeom>
          <a:solidFill>
            <a:srgbClr val="1B6FA8"/>
          </a:solidFill>
          <a:ln/>
        </p:spPr>
      </p:sp>
      <p:sp>
        <p:nvSpPr>
          <p:cNvPr id="8" name="Text 5"/>
          <p:cNvSpPr/>
          <p:nvPr/>
        </p:nvSpPr>
        <p:spPr>
          <a:xfrm>
            <a:off x="977876" y="3618481"/>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affichage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déclarée ; « Signer et envoyer les lettres » : une lettre par offre évaluée, signée électroniquement, envoyée en ligne et par courriel.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de rejet sont tirés du rapport d’évaluation.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RG-ATT-09 · RG-ATT-10 · RG-ATT-11 · RG-ATT-14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303</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informé, et le délai d’attente</a:t>
            </a:r>
            <a:endParaRPr lang="en-US" sz="2600" dirty="0"/>
          </a:p>
        </p:txBody>
      </p:sp>
      <p:sp>
        <p:nvSpPr>
          <p:cNvPr id="4" name="Shape 2"/>
          <p:cNvSpPr/>
          <p:nvPr/>
        </p:nvSpPr>
        <p:spPr>
          <a:xfrm>
            <a:off x="800080" y="1193800"/>
            <a:ext cx="5952638" cy="5105400"/>
          </a:xfrm>
          <a:prstGeom prst="rect">
            <a:avLst/>
          </a:prstGeom>
          <a:solidFill>
            <a:srgbClr val="FCFCFA"/>
          </a:solidFill>
          <a:ln w="9525">
            <a:solidFill>
              <a:srgbClr val="D5DCE4"/>
            </a:solidFill>
            <a:prstDash val="solid"/>
          </a:ln>
        </p:spPr>
      </p:sp>
      <p:pic>
        <p:nvPicPr>
          <p:cNvPr id="5" name="Image 0" descr="Le lot informé, et le délai d’attente">    </p:cNvPr>
          <p:cNvPicPr>
            <a:picLocks noChangeAspect="1"/>
          </p:cNvPicPr>
          <p:nvPr/>
        </p:nvPicPr>
        <p:blipFill>
          <a:blip r:embed="rId1"/>
          <a:stretch>
            <a:fillRect/>
          </a:stretch>
        </p:blipFill>
        <p:spPr>
          <a:xfrm>
            <a:off x="812780" y="1206500"/>
            <a:ext cx="59272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produites,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 d’attente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dix jours francs, compté depuis la plus tardive de l’information et de l’affichage (art. 78).</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signature n’est possible qu’à son terme : la date « signable le » est affichée.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304</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candidat écarté : résultat et explication</a:t>
            </a:r>
            <a:endParaRPr lang="en-US" sz="2600" dirty="0"/>
          </a:p>
        </p:txBody>
      </p:sp>
      <p:sp>
        <p:nvSpPr>
          <p:cNvPr id="4" name="Shape 2"/>
          <p:cNvSpPr/>
          <p:nvPr/>
        </p:nvSpPr>
        <p:spPr>
          <a:xfrm>
            <a:off x="800080" y="1193800"/>
            <a:ext cx="10591535" cy="2894274"/>
          </a:xfrm>
          <a:prstGeom prst="rect">
            <a:avLst/>
          </a:prstGeom>
          <a:solidFill>
            <a:srgbClr val="FCFCFA"/>
          </a:solidFill>
          <a:ln w="9525">
            <a:solidFill>
              <a:srgbClr val="D5DCE4"/>
            </a:solidFill>
            <a:prstDash val="solid"/>
          </a:ln>
        </p:spPr>
      </p:sp>
      <p:pic>
        <p:nvPicPr>
          <p:cNvPr id="5" name="Image 0" descr="Le candidat écarté : résultat et explication">    </p:cNvPr>
          <p:cNvPicPr>
            <a:picLocks noChangeAspect="1"/>
          </p:cNvPicPr>
          <p:nvPr/>
        </p:nvPicPr>
        <p:blipFill>
          <a:blip r:embed="rId1"/>
          <a:stretch>
            <a:fillRect/>
          </a:stretch>
        </p:blipFill>
        <p:spPr>
          <a:xfrm>
            <a:off x="812780" y="1206500"/>
            <a:ext cx="10566136" cy="2868874"/>
          </a:xfrm>
          <a:prstGeom prst="rect">
            <a:avLst/>
          </a:prstGeom>
        </p:spPr>
      </p:pic>
      <p:sp>
        <p:nvSpPr>
          <p:cNvPr id="6" name="Shape 3"/>
          <p:cNvSpPr/>
          <p:nvPr/>
        </p:nvSpPr>
        <p:spPr>
          <a:xfrm>
            <a:off x="812780" y="42277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4227774"/>
            <a:ext cx="38099" cy="1993900"/>
          </a:xfrm>
          <a:prstGeom prst="rect">
            <a:avLst/>
          </a:prstGeom>
          <a:solidFill>
            <a:srgbClr val="1B6FA8"/>
          </a:solidFill>
          <a:ln/>
        </p:spPr>
      </p:sp>
      <p:sp>
        <p:nvSpPr>
          <p:cNvPr id="8" name="Text 5"/>
          <p:cNvSpPr/>
          <p:nvPr/>
        </p:nvSpPr>
        <p:spPr>
          <a:xfrm>
            <a:off x="977876" y="43293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 Mes offres » : le résultat,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la lettre à lire en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Demander une explication » : la question part à la PRMP, qui répond par écrit.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RG-ATT-10 · RG-ATT-13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305</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 ATTRIBUTAIRE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L’attributaire dépose ses pièces</a:t>
            </a:r>
            <a:endParaRPr lang="en-US" sz="2600" dirty="0"/>
          </a:p>
        </p:txBody>
      </p:sp>
      <p:sp>
        <p:nvSpPr>
          <p:cNvPr id="4" name="Shape 2"/>
          <p:cNvSpPr/>
          <p:nvPr/>
        </p:nvSpPr>
        <p:spPr>
          <a:xfrm>
            <a:off x="800080" y="1193800"/>
            <a:ext cx="10591535" cy="2745242"/>
          </a:xfrm>
          <a:prstGeom prst="rect">
            <a:avLst/>
          </a:prstGeom>
          <a:solidFill>
            <a:srgbClr val="FCFCFA"/>
          </a:solidFill>
          <a:ln w="9525">
            <a:solidFill>
              <a:srgbClr val="D5DCE4"/>
            </a:solidFill>
            <a:prstDash val="solid"/>
          </a:ln>
        </p:spPr>
      </p:sp>
      <p:pic>
        <p:nvPicPr>
          <p:cNvPr id="5" name="Image 0" descr="L’attributaire dépose ses pièces">    </p:cNvPr>
          <p:cNvPicPr>
            <a:picLocks noChangeAspect="1"/>
          </p:cNvPicPr>
          <p:nvPr/>
        </p:nvPicPr>
        <p:blipFill>
          <a:blip r:embed="rId1"/>
          <a:stretch>
            <a:fillRect/>
          </a:stretch>
        </p:blipFill>
        <p:spPr>
          <a:xfrm>
            <a:off x="812780" y="1206500"/>
            <a:ext cx="10566136" cy="2719842"/>
          </a:xfrm>
          <a:prstGeom prst="rect">
            <a:avLst/>
          </a:prstGeom>
        </p:spPr>
      </p:pic>
      <p:sp>
        <p:nvSpPr>
          <p:cNvPr id="6" name="Shape 3"/>
          <p:cNvSpPr/>
          <p:nvPr/>
        </p:nvSpPr>
        <p:spPr>
          <a:xfrm>
            <a:off x="812780" y="4078742"/>
            <a:ext cx="10566136" cy="1993900"/>
          </a:xfrm>
          <a:prstGeom prst="rect">
            <a:avLst/>
          </a:prstGeom>
          <a:solidFill>
            <a:srgbClr val="FCFCFA"/>
          </a:solidFill>
          <a:ln w="9525">
            <a:solidFill>
              <a:srgbClr val="D5DCE4"/>
            </a:solidFill>
            <a:prstDash val="solid"/>
          </a:ln>
        </p:spPr>
      </p:sp>
      <p:sp>
        <p:nvSpPr>
          <p:cNvPr id="7" name="Shape 4"/>
          <p:cNvSpPr/>
          <p:nvPr/>
        </p:nvSpPr>
        <p:spPr>
          <a:xfrm>
            <a:off x="812780" y="4078742"/>
            <a:ext cx="38099" cy="1993900"/>
          </a:xfrm>
          <a:prstGeom prst="rect">
            <a:avLst/>
          </a:prstGeom>
          <a:solidFill>
            <a:srgbClr val="1B6FA8"/>
          </a:solidFill>
          <a:ln/>
        </p:spPr>
      </p:sp>
      <p:sp>
        <p:nvSpPr>
          <p:cNvPr id="8" name="Text 5"/>
          <p:cNvSpPr/>
          <p:nvPr/>
        </p:nvSpPr>
        <p:spPr>
          <a:xfrm>
            <a:off x="977876" y="4180342"/>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 attributaire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attestations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fiscale et sociale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déposer dans les quinze jours de la lettre d’attribution (art. 20-I).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les vérifie une à une ; une pièce non conforme bloque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RG-ATT-18 · RG-ATT-19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306</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recours, et la signature refusée</a:t>
            </a:r>
            <a:endParaRPr lang="en-US" sz="2600" dirty="0"/>
          </a:p>
        </p:txBody>
      </p:sp>
      <p:sp>
        <p:nvSpPr>
          <p:cNvPr id="4" name="Shape 2"/>
          <p:cNvSpPr/>
          <p:nvPr/>
        </p:nvSpPr>
        <p:spPr>
          <a:xfrm>
            <a:off x="800080" y="1193800"/>
            <a:ext cx="3446080" cy="5105400"/>
          </a:xfrm>
          <a:prstGeom prst="rect">
            <a:avLst/>
          </a:prstGeom>
          <a:solidFill>
            <a:srgbClr val="FCFCFA"/>
          </a:solidFill>
          <a:ln w="9525">
            <a:solidFill>
              <a:srgbClr val="D5DCE4"/>
            </a:solidFill>
            <a:prstDash val="solid"/>
          </a:ln>
        </p:spPr>
      </p:sp>
      <p:pic>
        <p:nvPicPr>
          <p:cNvPr id="5" name="Image 0" descr="Un recours, et la signature refusée">    </p:cNvPr>
          <p:cNvPicPr>
            <a:picLocks noChangeAspect="1"/>
          </p:cNvPicPr>
          <p:nvPr/>
        </p:nvPicPr>
        <p:blipFill>
          <a:blip r:embed="rId1"/>
          <a:stretch>
            <a:fillRect/>
          </a:stretch>
        </p:blipFill>
        <p:spPr>
          <a:xfrm>
            <a:off x="812780" y="1206500"/>
            <a:ext cx="342068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recours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 (réexamen, révision par l’ARMP, référé) : la révision et le référé suspendent la signature jusqu’à leur décision, vingt jours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fin du délai d’attente, la signature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refusée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raison ; la mise au point, sans changer ni le prix ni les prestations, reste possible.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RG-ATT-15 · RG-ATT-16 · RG-ATT-17 · RG-ATT-21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307</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résultat public de la procédure</a:t>
            </a:r>
            <a:endParaRPr lang="en-US" sz="2600" dirty="0"/>
          </a:p>
        </p:txBody>
      </p:sp>
      <p:sp>
        <p:nvSpPr>
          <p:cNvPr id="4" name="Shape 2"/>
          <p:cNvSpPr/>
          <p:nvPr/>
        </p:nvSpPr>
        <p:spPr>
          <a:xfrm>
            <a:off x="800080" y="1193800"/>
            <a:ext cx="10591535" cy="922820"/>
          </a:xfrm>
          <a:prstGeom prst="rect">
            <a:avLst/>
          </a:prstGeom>
          <a:solidFill>
            <a:srgbClr val="FCFCFA"/>
          </a:solidFill>
          <a:ln w="9525">
            <a:solidFill>
              <a:srgbClr val="D5DCE4"/>
            </a:solidFill>
            <a:prstDash val="solid"/>
          </a:ln>
        </p:spPr>
      </p:sp>
      <p:pic>
        <p:nvPicPr>
          <p:cNvPr id="5" name="Image 0" descr="Le résultat public de la procédure">    </p:cNvPr>
          <p:cNvPicPr>
            <a:picLocks noChangeAspect="1"/>
          </p:cNvPicPr>
          <p:nvPr/>
        </p:nvPicPr>
        <p:blipFill>
          <a:blip r:embed="rId1"/>
          <a:stretch>
            <a:fillRect/>
          </a:stretch>
        </p:blipFill>
        <p:spPr>
          <a:xfrm>
            <a:off x="812780" y="1206500"/>
            <a:ext cx="10566136" cy="897420"/>
          </a:xfrm>
          <a:prstGeom prst="rect">
            <a:avLst/>
          </a:prstGeom>
        </p:spPr>
      </p:pic>
      <p:sp>
        <p:nvSpPr>
          <p:cNvPr id="6" name="Shape 3"/>
          <p:cNvSpPr/>
          <p:nvPr/>
        </p:nvSpPr>
        <p:spPr>
          <a:xfrm>
            <a:off x="812780" y="2256320"/>
            <a:ext cx="10566136" cy="1790700"/>
          </a:xfrm>
          <a:prstGeom prst="rect">
            <a:avLst/>
          </a:prstGeom>
          <a:solidFill>
            <a:srgbClr val="FCFCFA"/>
          </a:solidFill>
          <a:ln w="9525">
            <a:solidFill>
              <a:srgbClr val="D5DCE4"/>
            </a:solidFill>
            <a:prstDash val="solid"/>
          </a:ln>
        </p:spPr>
      </p:sp>
      <p:sp>
        <p:nvSpPr>
          <p:cNvPr id="7" name="Shape 4"/>
          <p:cNvSpPr/>
          <p:nvPr/>
        </p:nvSpPr>
        <p:spPr>
          <a:xfrm>
            <a:off x="812780" y="2256320"/>
            <a:ext cx="38099" cy="1790700"/>
          </a:xfrm>
          <a:prstGeom prst="rect">
            <a:avLst/>
          </a:prstGeom>
          <a:solidFill>
            <a:srgbClr val="1B6FA8"/>
          </a:solidFill>
          <a:ln/>
        </p:spPr>
      </p:sp>
      <p:sp>
        <p:nvSpPr>
          <p:cNvPr id="8" name="Text 5"/>
          <p:cNvSpPr/>
          <p:nvPr/>
        </p:nvSpPr>
        <p:spPr>
          <a:xfrm>
            <a:off x="977876" y="2357920"/>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publique de la procédure, sans compte : le résultat par lot, puis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d’attribution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publié.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RG-ATT-11 · RG-ATT-24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308</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fin de l’attribution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signature du marché</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marché signé déposé par la PRMP, une fois le délai et les recours épuisés.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L’enregistrement</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date et la pièce de l’enregistrement ; rien ne se notifie sans lui.</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notification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notification à l’attributaire, l’accusé de lecture ou la réception déclarée.</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L’avis d’attribution</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Produit en PDF et Word, publié dans les trente jours.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309</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1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L’attribution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L'attribution d'un lot d'une procédure, après le rapport d'évaluation signé : son état, l'offre proposée, le dossier de marché (famille DDM) soumis au contrôle de la Commission et le projet de marché produit par le serveur (arbitrage Q1 du pilote).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aux candidats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t_attribution_lettre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lettre produite à l'information des candidats : la lettre d'attribution, ou celle d'un candidat non retenu et ses motifs ; signée de la PRMP (signature électronique simple, Q9).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d’explication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t_attribution_explication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d'explication d'un candidat non retenu sur le rejet de son offre, et la réponse écrite de la PRMP (texte, fichier joint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recours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t_attribution_recours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recours reçu par la PRMP sur l'attribution d'un lot, et sa décision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l’attributaire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fichier de l'attribution d'un lot : rapport de mise au point, marché signé, justificatif d'enregistrement, pièce d'un recours ou de sa décision (déposés par la PRMP), pièce fiscale ou sociale de l'attributaire (art. 20-I : date de délivrance, vérification de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310</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31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L’attribution d’un lot  ·  t_attribution  ·  40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AU_CONTROLE, ATTRIBUE, INFORME, SIGNE, NOTIFIE, PUBLIE, RETIRE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ID_OFFRE_PROPOSEE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proposée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ID_OFFRE_ATTRIBUEE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attribuee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MOTIF_ATTRIBUTION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montant hors taxes du marché (prix corrigé − rabais), le TTC lu et le délai de l'offre attribuée, figés au choix.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nom de la PRMP qui a signé les lettres (signature électronique simple, Q9).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DATE_AFFICHAGE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affichage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RAPPORT_MISE_AU_POINT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mise au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311</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31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ENREGISTRE_LE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Enregistre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NOTIFICATION_RECUE_LE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Notification recue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réception de la notification par l'attributaire : la date d'effet du marché (art. 54).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RECEPTION_DECLAREE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Réception declaree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 réception déclarée par la PRMP ; faux : accusé de lecture de la plateforme.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aux candidats  ·  t_attribution_lettre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ATTRIBUTION, NON_RETENU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312</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31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ENVOYEE_LE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Envoyée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d’explication  ·  t_attribution_explication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recours  ·  t_attribution_recours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REQUERANT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Requerant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313</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31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ISSUE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Issue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l’attributaire  ·  t_attribution_piece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MISE_AU_POINT, MARCHE_SIGNE, ENREGISTREMENT, RECOURS, DECISION_RECOURS, FISCALE, SOCIALE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DATE_DELIVRANCE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delivrance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314</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26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1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dossier de marché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Chaque marché en ligne contrôlé · Un dossier de marché par lot · Des pièces jointes d’office · Un projet de marché tiré de l’offre · Le DAO complet dispense du CCAG · Une grille tirée du guide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Attribuer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RG-ATT-07 → 08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attribue après l’avis favorable · L’offre proposée, et elle seule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Informer les candidats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RG-ATT-09 → 14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lettre à chaque candidat évalué · Signées en ligne, lues avec accusé · L’affichage déclaré, le résultat publié · Dix jours francs d’attente · Les explications, par écrit · Des modèles provisoires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recours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RG-ATT-15 → 17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recours déclarés par la PRMP · Le réexamen ne suspend rien · Révision et référé suspendent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pièces de l’attributaire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RG-ATT-18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Pièces fiscales et sociales en quinze jours · Vérifiées, ou le marché retiré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Signer, enregistrer, notifier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RG-ATT-20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mise au point sans changement substantiel · Les conditions de la signature · Enregistrer avant de notifier · L’effet à la réception · L’avis d’attribution sous trente jours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L’infructuosité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RG-ATT-25 → 26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lot proposé infructueux · Jamais après l’attribution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315</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a:t>
            </a:r>
            <a:endParaRPr lang="en-US" sz="2600" dirty="0"/>
          </a:p>
        </p:txBody>
      </p:sp>
      <p:graphicFrame>
        <p:nvGraphicFramePr>
          <p:cNvPr id="3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marché en ligne contrôlé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issu d’une procédure en ligne passe au </a:t>
                      </a:r>
                      <a:pPr indent="0" marL="0">
                        <a:buNone/>
                      </a:pPr>
                      <a:r>
                        <a:rPr lang="en-US" sz="1150" b="1" dirty="0">
                          <a:solidFill>
                            <a:srgbClr val="1B2A3A"/>
                          </a:solidFill>
                          <a:latin typeface="Segoe UI" pitchFamily="34" charset="0"/>
                          <a:ea typeface="Segoe UI" pitchFamily="34" charset="-122"/>
                          <a:cs typeface="Segoe UI" pitchFamily="34" charset="-120"/>
                        </a:rPr>
                        <a:t>contrôle a priori</a:t>
                      </a:r>
                      <a:pPr indent="0" marL="0">
                        <a:buNone/>
                      </a:pPr>
                      <a:r>
                        <a:rPr lang="en-US" sz="1150" dirty="0">
                          <a:solidFill>
                            <a:srgbClr val="1B2A3A"/>
                          </a:solidFill>
                          <a:latin typeface="Segoe UI" pitchFamily="34" charset="0"/>
                          <a:ea typeface="Segoe UI" pitchFamily="34" charset="-122"/>
                          <a:cs typeface="Segoe UI" pitchFamily="34" charset="-120"/>
                        </a:rPr>
                        <a:t> de la Commission, sans seuil.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Depuis l’évaluation close, la PRMP ou son UGPM crée </a:t>
                      </a:r>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pPr indent="0" marL="0">
                        <a:buNone/>
                      </a:pPr>
                      <a:r>
                        <a:rPr lang="en-US" sz="1150" dirty="0">
                          <a:solidFill>
                            <a:srgbClr val="1B2A3A"/>
                          </a:solidFill>
                          <a:latin typeface="Segoe UI" pitchFamily="34" charset="0"/>
                          <a:ea typeface="Segoe UI" pitchFamily="34" charset="-122"/>
                          <a:cs typeface="Segoe UI" pitchFamily="34" charset="-120"/>
                        </a:rPr>
                        <a:t> attribuable, ouvert ou restreint selon le mode de passation. Un lot que le rapport propose infructueux n’en a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jointes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reçoit d’office le </a:t>
                      </a:r>
                      <a:pPr indent="0" marL="0">
                        <a:buNone/>
                      </a:pPr>
                      <a:r>
                        <a:rPr lang="en-US" sz="1150" b="1" dirty="0">
                          <a:solidFill>
                            <a:srgbClr val="1B2A3A"/>
                          </a:solidFill>
                          <a:latin typeface="Segoe UI" pitchFamily="34" charset="0"/>
                          <a:ea typeface="Segoe UI" pitchFamily="34" charset="-122"/>
                          <a:cs typeface="Segoe UI" pitchFamily="34" charset="-120"/>
                        </a:rPr>
                        <a:t>projet de marché</a:t>
                      </a:r>
                      <a:pPr indent="0" marL="0">
                        <a:buNone/>
                      </a:pPr>
                      <a:r>
                        <a:rPr lang="en-US" sz="1150" dirty="0">
                          <a:solidFill>
                            <a:srgbClr val="1B2A3A"/>
                          </a:solidFill>
                          <a:latin typeface="Segoe UI" pitchFamily="34" charset="0"/>
                          <a:ea typeface="Segoe UI" pitchFamily="34" charset="-122"/>
                          <a:cs typeface="Segoe UI" pitchFamily="34" charset="-120"/>
                        </a:rPr>
                        <a:t> produit par l’application, le DAO, le bordereau de l’offre, le PV d’ouverture et le rapport d’évaluation. Restent à joindre par la PRMP, selon le cas, la capacité financière et la non-objection.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projet de marché tiré de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projet de marché porte les parties, l’objet, les pièces constitutives, le montant hors taxes en chiffres et en lettres et le délai de l’offre retenue, sans modification substantielle.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DAO complet dispense du CCAG</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qui porte le DAO complet produit par la fiche n’a plus à joindre le CCAG, ni le CCTP quand la fiche porte ses spécifications techniques.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tirée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suit le circuit ordinaire. La Commission l’examine sur une grille tirée du guide : commission, PV, motivation des rejets, montant évalué, offres anormales, classement, post-qualification, signatures, conformité du projet à l’offre.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2a : le dossier de marché au contrôle de la Commission — V79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316</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Attribuer</a:t>
            </a:r>
            <a:endParaRPr lang="en-US" sz="2600" dirty="0"/>
          </a:p>
        </p:txBody>
      </p:sp>
      <p:graphicFrame>
        <p:nvGraphicFramePr>
          <p:cNvPr id="31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attribue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de marché, avec ou sans réserves, la PRMP, et elle seule, attribue le lot.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proposée, et elle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L’attribution va à l’offre </a:t>
                      </a:r>
                      <a:pPr indent="0" marL="0">
                        <a:buNone/>
                      </a:pPr>
                      <a:r>
                        <a:rPr lang="en-US" sz="1150" b="1" dirty="0">
                          <a:solidFill>
                            <a:srgbClr val="1B2A3A"/>
                          </a:solidFill>
                          <a:latin typeface="Segoe UI" pitchFamily="34" charset="0"/>
                          <a:ea typeface="Segoe UI" pitchFamily="34" charset="-122"/>
                          <a:cs typeface="Segoe UI" pitchFamily="34" charset="-120"/>
                        </a:rPr>
                        <a:t>proposée</a:t>
                      </a:r>
                      <a:pPr indent="0" marL="0">
                        <a:buNone/>
                      </a:pPr>
                      <a:r>
                        <a:rPr lang="en-US" sz="1150" dirty="0">
                          <a:solidFill>
                            <a:srgbClr val="1B2A3A"/>
                          </a:solidFill>
                          <a:latin typeface="Segoe UI" pitchFamily="34" charset="0"/>
                          <a:ea typeface="Segoe UI" pitchFamily="34" charset="-122"/>
                          <a:cs typeface="Segoe UI" pitchFamily="34" charset="-120"/>
                        </a:rPr>
                        <a:t> par la commission d’appel d’offres, jamais à une autre. En désaccord, la PRMP ne peut que déclarer le lot infructueux ou la procédure sans 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317</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graphicFrame>
        <p:nvGraphicFramePr>
          <p:cNvPr id="31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lettre à chaque candidat évalué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informe tous les candidats dont l’offre a été évaluée : lettre d’attribution à l’attributaire, lettre de rejet aux autres, avec les </a:t>
                      </a:r>
                      <a:pPr indent="0" marL="0">
                        <a:buNone/>
                      </a:pPr>
                      <a:r>
                        <a:rPr lang="en-US" sz="1150" b="1" dirty="0">
                          <a:solidFill>
                            <a:srgbClr val="1B2A3A"/>
                          </a:solidFill>
                          <a:latin typeface="Segoe UI" pitchFamily="34" charset="0"/>
                          <a:ea typeface="Segoe UI" pitchFamily="34" charset="-122"/>
                          <a:cs typeface="Segoe UI" pitchFamily="34" charset="-120"/>
                        </a:rPr>
                        <a:t>motifs tirés du rapport</a:t>
                      </a:r>
                      <a:pPr indent="0" marL="0">
                        <a:buNone/>
                      </a:pPr>
                      <a:r>
                        <a:rPr lang="en-US" sz="1150" dirty="0">
                          <a:solidFill>
                            <a:srgbClr val="1B2A3A"/>
                          </a:solidFill>
                          <a:latin typeface="Segoe UI" pitchFamily="34" charset="0"/>
                          <a:ea typeface="Segoe UI" pitchFamily="34" charset="-122"/>
                          <a:cs typeface="Segoe UI" pitchFamily="34" charset="-120"/>
                        </a:rPr>
                        <a:t>, le nom de l’attributaire et le montant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Signées en ligne, lues avec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signe ces lettres électroniquement ; elles partent sur la plateforme et par courriel. La première lecture par le candidat sur la plateforme vaut </a:t>
                      </a:r>
                      <a:pPr indent="0" marL="0">
                        <a:buNone/>
                      </a:pPr>
                      <a:r>
                        <a:rPr lang="en-US" sz="1150" b="1" dirty="0">
                          <a:solidFill>
                            <a:srgbClr val="1B2A3A"/>
                          </a:solidFill>
                          <a:latin typeface="Segoe UI" pitchFamily="34" charset="0"/>
                          <a:ea typeface="Segoe UI" pitchFamily="34" charset="-122"/>
                          <a:cs typeface="Segoe UI" pitchFamily="34" charset="-120"/>
                        </a:rPr>
                        <a:t>accusé de réception</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L’affichage déclaré, le résultat publié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la date d’</a:t>
                      </a:r>
                      <a:pPr indent="0" marL="0">
                        <a:buNone/>
                      </a:pPr>
                      <a:r>
                        <a:rPr lang="en-US" sz="1150" b="1" dirty="0">
                          <a:solidFill>
                            <a:srgbClr val="1B2A3A"/>
                          </a:solidFill>
                          <a:latin typeface="Segoe UI" pitchFamily="34" charset="0"/>
                          <a:ea typeface="Segoe UI" pitchFamily="34" charset="-122"/>
                          <a:cs typeface="Segoe UI" pitchFamily="34" charset="-120"/>
                        </a:rPr>
                        <a:t>affichage</a:t>
                      </a:r>
                      <a:pPr indent="0" marL="0">
                        <a:buNone/>
                      </a:pPr>
                      <a:r>
                        <a:rPr lang="en-US" sz="1150" dirty="0">
                          <a:solidFill>
                            <a:srgbClr val="1B2A3A"/>
                          </a:solidFill>
                          <a:latin typeface="Segoe UI" pitchFamily="34" charset="0"/>
                          <a:ea typeface="Segoe UI" pitchFamily="34" charset="-122"/>
                          <a:cs typeface="Segoe UI" pitchFamily="34" charset="-120"/>
                        </a:rPr>
                        <a:t> du résultat à son siège ; l’attributaire et le montant paraissent sur la page publique de la procédure.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Dix jours francs d’attente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 se signe qu’après </a:t>
                      </a:r>
                      <a:pPr indent="0" marL="0">
                        <a:buNone/>
                      </a:pPr>
                      <a:r>
                        <a:rPr lang="en-US" sz="1150" b="1" dirty="0">
                          <a:solidFill>
                            <a:srgbClr val="1B2A3A"/>
                          </a:solidFill>
                          <a:latin typeface="Segoe UI" pitchFamily="34" charset="0"/>
                          <a:ea typeface="Segoe UI" pitchFamily="34" charset="-122"/>
                          <a:cs typeface="Segoe UI" pitchFamily="34" charset="-120"/>
                        </a:rPr>
                        <a:t>dix jours francs</a:t>
                      </a:r>
                      <a:pPr indent="0" marL="0">
                        <a:buNone/>
                      </a:pPr>
                      <a:r>
                        <a:rPr lang="en-US" sz="1150" dirty="0">
                          <a:solidFill>
                            <a:srgbClr val="1B2A3A"/>
                          </a:solidFill>
                          <a:latin typeface="Segoe UI" pitchFamily="34" charset="0"/>
                          <a:ea typeface="Segoe UI" pitchFamily="34" charset="-122"/>
                          <a:cs typeface="Segoe UI" pitchFamily="34" charset="-120"/>
                        </a:rPr>
                        <a:t>, comptés depuis la plus tardive de l’information et de l’affichage (art. 78) : ni ce jour ni le dixième ne comptent ; la signature est possible le lendemain du dixième.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explications, par écrit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non retenu peut demander par écrit des </a:t>
                      </a:r>
                      <a:pPr indent="0" marL="0">
                        <a:buNone/>
                      </a:pPr>
                      <a:r>
                        <a:rPr lang="en-US" sz="1150" b="1" dirty="0">
                          <a:solidFill>
                            <a:srgbClr val="1B2A3A"/>
                          </a:solidFill>
                          <a:latin typeface="Segoe UI" pitchFamily="34" charset="0"/>
                          <a:ea typeface="Segoe UI" pitchFamily="34" charset="-122"/>
                          <a:cs typeface="Segoe UI" pitchFamily="34" charset="-120"/>
                        </a:rPr>
                        <a:t>explications</a:t>
                      </a:r>
                      <a:pPr indent="0" marL="0">
                        <a:buNone/>
                      </a:pPr>
                      <a:r>
                        <a:rPr lang="en-US" sz="1150" dirty="0">
                          <a:solidFill>
                            <a:srgbClr val="1B2A3A"/>
                          </a:solidFill>
                          <a:latin typeface="Segoe UI" pitchFamily="34" charset="0"/>
                          <a:ea typeface="Segoe UI" pitchFamily="34" charset="-122"/>
                          <a:cs typeface="Segoe UI" pitchFamily="34" charset="-120"/>
                        </a:rPr>
                        <a:t> sur le rejet de son offre ; la PRMP y répond par écrit, avec un fichier si elle le souhaite.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modèles provisoires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les modèles officiels ne sont pas remis, les lettres et l’avis d’attribution suivent un </a:t>
                      </a:r>
                      <a:pPr indent="0" marL="0">
                        <a:buNone/>
                      </a:pPr>
                      <a:r>
                        <a:rPr lang="en-US" sz="1150" b="1" dirty="0">
                          <a:solidFill>
                            <a:srgbClr val="1B2A3A"/>
                          </a:solidFill>
                          <a:latin typeface="Segoe UI" pitchFamily="34" charset="0"/>
                          <a:ea typeface="Segoe UI" pitchFamily="34" charset="-122"/>
                          <a:cs typeface="Segoe UI" pitchFamily="34" charset="-120"/>
                        </a:rPr>
                        <a:t>modèle provisoire</a:t>
                      </a:r>
                      <a:pPr indent="0" marL="0">
                        <a:buNone/>
                      </a:pPr>
                      <a:r>
                        <a:rPr lang="en-US" sz="1150" dirty="0">
                          <a:solidFill>
                            <a:srgbClr val="1B2A3A"/>
                          </a:solidFill>
                          <a:latin typeface="Segoe UI" pitchFamily="34" charset="0"/>
                          <a:ea typeface="Segoe UI" pitchFamily="34" charset="-122"/>
                          <a:cs typeface="Segoe UI" pitchFamily="34" charset="-120"/>
                        </a:rPr>
                        <a:t> de l’application.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318</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recours</a:t>
            </a:r>
            <a:endParaRPr lang="en-US" sz="2600" dirty="0"/>
          </a:p>
        </p:txBody>
      </p:sp>
      <p:graphicFrame>
        <p:nvGraphicFramePr>
          <p:cNvPr id="32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recours déclarés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les recours reçus, chacun typé : demande de réexamen, demande de révision auprès de l’ARMP, référé. Leur décision se déclare ensuite, avec son issue et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réexamen ne suspend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a:t>
                      </a:r>
                      <a:pPr indent="0" marL="0">
                        <a:buNone/>
                      </a:pPr>
                      <a:r>
                        <a:rPr lang="en-US" sz="1150" b="1" dirty="0">
                          <a:solidFill>
                            <a:srgbClr val="1B2A3A"/>
                          </a:solidFill>
                          <a:latin typeface="Segoe UI" pitchFamily="34" charset="0"/>
                          <a:ea typeface="Segoe UI" pitchFamily="34" charset="-122"/>
                          <a:cs typeface="Segoe UI" pitchFamily="34" charset="-120"/>
                        </a:rPr>
                        <a:t>réexamen</a:t>
                      </a:r>
                      <a:pPr indent="0" marL="0">
                        <a:buNone/>
                      </a:pPr>
                      <a:r>
                        <a:rPr lang="en-US" sz="1150" dirty="0">
                          <a:solidFill>
                            <a:srgbClr val="1B2A3A"/>
                          </a:solidFill>
                          <a:latin typeface="Segoe UI" pitchFamily="34" charset="0"/>
                          <a:ea typeface="Segoe UI" pitchFamily="34" charset="-122"/>
                          <a:cs typeface="Segoe UI" pitchFamily="34" charset="-120"/>
                        </a:rPr>
                        <a:t> ne suspend rien, mais la PRMP doit y répondre sous dix 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Révision et référé suspendent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révision à l’ARMP ou un référé </a:t>
                      </a:r>
                      <a:pPr indent="0" marL="0">
                        <a:buNone/>
                      </a:pPr>
                      <a:r>
                        <a:rPr lang="en-US" sz="1150" b="1" dirty="0">
                          <a:solidFill>
                            <a:srgbClr val="1B2A3A"/>
                          </a:solidFill>
                          <a:latin typeface="Segoe UI" pitchFamily="34" charset="0"/>
                          <a:ea typeface="Segoe UI" pitchFamily="34" charset="-122"/>
                          <a:cs typeface="Segoe UI" pitchFamily="34" charset="-120"/>
                        </a:rPr>
                        <a:t>suspend la signature</a:t>
                      </a:r>
                      <a:pPr indent="0" marL="0">
                        <a:buNone/>
                      </a:pPr>
                      <a:r>
                        <a:rPr lang="en-US" sz="1150" dirty="0">
                          <a:solidFill>
                            <a:srgbClr val="1B2A3A"/>
                          </a:solidFill>
                          <a:latin typeface="Segoe UI" pitchFamily="34" charset="0"/>
                          <a:ea typeface="Segoe UI" pitchFamily="34" charset="-122"/>
                          <a:cs typeface="Segoe UI" pitchFamily="34" charset="-120"/>
                        </a:rPr>
                        <a:t> jusqu’à la décision, vingt jours au plus après sa réception.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L'attribution, lot 2, tranche 2c : mise au point, recours, pièces de l'attributaire, signature, notification, avis — V81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319</a:t>
            </a:r>
            <a:endParaRPr lang="en-US" sz="11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l’attributaire</a:t>
            </a:r>
            <a:endParaRPr lang="en-US" sz="2600" dirty="0"/>
          </a:p>
        </p:txBody>
      </p:sp>
      <p:graphicFrame>
        <p:nvGraphicFramePr>
          <p:cNvPr id="32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Pièces fiscales et sociales en quinze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dépose, dans les </a:t>
                      </a:r>
                      <a:pPr indent="0" marL="0">
                        <a:buNone/>
                      </a:pPr>
                      <a:r>
                        <a:rPr lang="en-US" sz="1150" b="1" dirty="0">
                          <a:solidFill>
                            <a:srgbClr val="1B2A3A"/>
                          </a:solidFill>
                          <a:latin typeface="Segoe UI" pitchFamily="34" charset="0"/>
                          <a:ea typeface="Segoe UI" pitchFamily="34" charset="-122"/>
                          <a:cs typeface="Segoe UI" pitchFamily="34" charset="-120"/>
                        </a:rPr>
                        <a:t>quinze jours</a:t>
                      </a:r>
                      <a:pPr indent="0" marL="0">
                        <a:buNone/>
                      </a:pPr>
                      <a:r>
                        <a:rPr lang="en-US" sz="1150" dirty="0">
                          <a:solidFill>
                            <a:srgbClr val="1B2A3A"/>
                          </a:solidFill>
                          <a:latin typeface="Segoe UI" pitchFamily="34" charset="0"/>
                          <a:ea typeface="Segoe UI" pitchFamily="34" charset="-122"/>
                          <a:cs typeface="Segoe UI" pitchFamily="34" charset="-120"/>
                        </a:rPr>
                        <a:t> de la lettre d’attribution, une attestation fiscale de moins de six mois et une attestation sociale de moins de trois mois. Il peut redéposer jusqu’à l’échéance ; la dernière pièce fait foi.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Vérifiées, ou le marché retiré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vérifie chaque pièce, avec un motif si elle n’est pas conforme. Faute de pièces conformes à l’échéance, elle </a:t>
                      </a:r>
                      <a:pPr indent="0" marL="0">
                        <a:buNone/>
                      </a:pPr>
                      <a:r>
                        <a:rPr lang="en-US" sz="1150" b="1" dirty="0">
                          <a:solidFill>
                            <a:srgbClr val="1B2A3A"/>
                          </a:solidFill>
                          <a:latin typeface="Segoe UI" pitchFamily="34" charset="0"/>
                          <a:ea typeface="Segoe UI" pitchFamily="34" charset="-122"/>
                          <a:cs typeface="Segoe UI" pitchFamily="34" charset="-120"/>
                        </a:rPr>
                        <a:t>retire</a:t>
                      </a:r>
                      <a:pPr indent="0" marL="0">
                        <a:buNone/>
                      </a:pPr>
                      <a:r>
                        <a:rPr lang="en-US" sz="1150" dirty="0">
                          <a:solidFill>
                            <a:srgbClr val="1B2A3A"/>
                          </a:solidFill>
                          <a:latin typeface="Segoe UI" pitchFamily="34" charset="0"/>
                          <a:ea typeface="Segoe UI" pitchFamily="34" charset="-122"/>
                          <a:cs typeface="Segoe UI" pitchFamily="34" charset="-120"/>
                        </a:rPr>
                        <a:t> le marché, avant sa signature.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320</a:t>
            </a:r>
            <a:endParaRPr lang="en-US" sz="11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enregistrer, notifier</a:t>
            </a:r>
            <a:endParaRPr lang="en-US" sz="2600" dirty="0"/>
          </a:p>
        </p:txBody>
      </p:sp>
      <p:graphicFrame>
        <p:nvGraphicFramePr>
          <p:cNvPr id="32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au point sans changement substantiel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au point avec l’attributaire fait l’objet d’un rapport. Elle ne peut changer les caractéristiques substantielles du marché, ce que l’application ne contrôle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de la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n’est signé qu’après le délai d’attente, sans recours suspensif en cours, et une fois les deux pièces de l’attributaire reconnues conformes. La PRMP dépose le marché signé.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avant de notifier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est </a:t>
                      </a:r>
                      <a:pPr indent="0" marL="0">
                        <a:buNone/>
                      </a:pPr>
                      <a:r>
                        <a:rPr lang="en-US" sz="1150" b="1" dirty="0">
                          <a:solidFill>
                            <a:srgbClr val="1B2A3A"/>
                          </a:solidFill>
                          <a:latin typeface="Segoe UI" pitchFamily="34" charset="0"/>
                          <a:ea typeface="Segoe UI" pitchFamily="34" charset="-122"/>
                          <a:cs typeface="Segoe UI" pitchFamily="34" charset="-120"/>
                        </a:rPr>
                        <a:t>enregistré</a:t>
                      </a:r>
                      <a:pPr indent="0" marL="0">
                        <a:buNone/>
                      </a:pPr>
                      <a:r>
                        <a:rPr lang="en-US" sz="1150" dirty="0">
                          <a:solidFill>
                            <a:srgbClr val="1B2A3A"/>
                          </a:solidFill>
                          <a:latin typeface="Segoe UI" pitchFamily="34" charset="0"/>
                          <a:ea typeface="Segoe UI" pitchFamily="34" charset="-122"/>
                          <a:cs typeface="Segoe UI" pitchFamily="34" charset="-120"/>
                        </a:rPr>
                        <a:t> — une date et le justificatif — avant d’être notifié : aucune notification sans enregistrement.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L’effet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prend effet à sa </a:t>
                      </a:r>
                      <a:pPr indent="0" marL="0">
                        <a:buNone/>
                      </a:pPr>
                      <a:r>
                        <a:rPr lang="en-US" sz="1150" b="1" dirty="0">
                          <a:solidFill>
                            <a:srgbClr val="1B2A3A"/>
                          </a:solidFill>
                          <a:latin typeface="Segoe UI" pitchFamily="34" charset="0"/>
                          <a:ea typeface="Segoe UI" pitchFamily="34" charset="-122"/>
                          <a:cs typeface="Segoe UI" pitchFamily="34" charset="-120"/>
                        </a:rPr>
                        <a:t>réception</a:t>
                      </a:r>
                      <a:pPr indent="0" marL="0">
                        <a:buNone/>
                      </a:pPr>
                      <a:r>
                        <a:rPr lang="en-US" sz="1150" dirty="0">
                          <a:solidFill>
                            <a:srgbClr val="1B2A3A"/>
                          </a:solidFill>
                          <a:latin typeface="Segoe UI" pitchFamily="34" charset="0"/>
                          <a:ea typeface="Segoe UI" pitchFamily="34" charset="-122"/>
                          <a:cs typeface="Segoe UI" pitchFamily="34" charset="-120"/>
                        </a:rPr>
                        <a:t> par l’attributaire : la date déclarée par la PRMP, ou sa première consultation du marché ou du résultat sur la plateforme.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d’attribution sous trente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L’avis d’attribution est publié dans les </a:t>
                      </a:r>
                      <a:pPr indent="0" marL="0">
                        <a:buNone/>
                      </a:pPr>
                      <a:r>
                        <a:rPr lang="en-US" sz="1150" b="1" dirty="0">
                          <a:solidFill>
                            <a:srgbClr val="1B2A3A"/>
                          </a:solidFill>
                          <a:latin typeface="Segoe UI" pitchFamily="34" charset="0"/>
                          <a:ea typeface="Segoe UI" pitchFamily="34" charset="-122"/>
                          <a:cs typeface="Segoe UI" pitchFamily="34" charset="-120"/>
                        </a:rPr>
                        <a:t>trente jours</a:t>
                      </a:r>
                      <a:pPr indent="0" marL="0">
                        <a:buNone/>
                      </a:pPr>
                      <a:r>
                        <a:rPr lang="en-US" sz="1150" dirty="0">
                          <a:solidFill>
                            <a:srgbClr val="1B2A3A"/>
                          </a:solidFill>
                          <a:latin typeface="Segoe UI" pitchFamily="34" charset="0"/>
                          <a:ea typeface="Segoe UI" pitchFamily="34" charset="-122"/>
                          <a:cs typeface="Segoe UI" pitchFamily="34" charset="-120"/>
                        </a:rPr>
                        <a:t> de la notification, sur la page publique de la procédure ; une publication tardive est acceptée et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321</a:t>
            </a:r>
            <a:endParaRPr lang="en-US" sz="11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L’infructuosité</a:t>
            </a:r>
            <a:endParaRPr lang="en-US" sz="2600" dirty="0"/>
          </a:p>
        </p:txBody>
      </p:sp>
      <p:graphicFrame>
        <p:nvGraphicFramePr>
          <p:cNvPr id="3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lot proposé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aucune offre n’est qualifiée, le rapport propose le lot infructueux : il n’a pas de dossier de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après l’attribution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L’infructuosité ne peut en aucun cas intervenir après la décision d’attribution (art. 56-VI) : après un retrait du marché, elle n’est pas proposée.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322</a:t>
            </a:r>
            <a:endParaRPr lang="en-US" sz="11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10</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Intérim et mandats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Un titulaire absent est suppléé par un intérimaire désigné ; une PRMP sans mandat en vigueur met ses dossiers en attente.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323</a:t>
            </a:r>
            <a:endParaRPr lang="en-US" sz="11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Mon intérim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n intéri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titulaire désigne lui-même qui agit à sa place pendant son absence : le Président, un Chef de commission ; un Chef de commission, un Chef de commission ou un Membre de sa localité.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pièce, pour une période ; historique et révocation.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 · RG-INT-07 · RG-INT-08 · RG-INT-09 · RG-INT-10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324</a:t>
            </a:r>
            <a:endParaRPr lang="en-US" sz="11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intérims des contrôleurs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intérims des contrôleu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voit tous les intérims et peut en désigner (repli) : titulaire, intérimaire, période, motif, référence, état.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325</a:t>
            </a:r>
            <a:endParaRPr lang="en-US" sz="11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MANDATS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mandats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mandats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indélébile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des mandats de chaque PRMP ; sans mandat en vigueur, la vacance met ses dossiers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RG-INT-11 · RG-INT-12 · RG-INT-13 · RG-INT-14 · RG-INT-15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326</a:t>
            </a:r>
            <a:endParaRPr lang="en-US" sz="11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l’intérim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Désigner un intérim</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période, l’intérimaire, la pièce.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Exercé par intérim</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rubrique de l’intérimaire, les bannières, les gestes au nom du titulaire.</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visa par intérim</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note du PV, la mention régionale.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327</a:t>
            </a:r>
            <a:endParaRPr lang="en-US" sz="11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2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intérim désigné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de service ou la décision qui désigne l'intérimaire, obligatoire (arbitrage Q4 du pilote, 2026-09-21).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mandat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t_mandat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mandat d'une PRMP : l'acte de nomination qui l'habilite à traiter, borné dans le temps (3 ans).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328</a:t>
            </a:r>
            <a:endParaRPr lang="en-US" sz="11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(1/2)</a:t>
            </a:r>
            <a:endParaRPr lang="en-US" sz="2600" dirty="0"/>
          </a:p>
        </p:txBody>
      </p:sp>
      <p:graphicFrame>
        <p:nvGraphicFramePr>
          <p:cNvPr id="33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L’intérim  ·  t_interim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d'une référence d'acteur (matricule), alignée sur V29/V31. */ public static final int LONGUEUR_IM = 10; @Id @GeneratedValue(strategy = GenerationType.IDENTITY) @Column(name = "ID_INTERIM", nullable = false) private Integer idInterim; /** Le contrôleur absent.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désignation (« NOM Prénoms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du titulaire à la désignation (PRESIDENT ou CHEF_COMMISSION) : celui que l'intérimaire exerce.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titulaire à la désignation ; null pour le Président (toutes localités).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désigné (≠ titulaire, contrainte ck_interim_personnes).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Période inclusive.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Borne incluse ; nulle seulement pour VACANCE_POSTE.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CONGE, MISSION, MALADIE, VACANCE_POSTE, AUTRE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cnm.prs.enums.MotifInterim.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de service ou décision de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de la pièce (le contenu est dans InterimPiece).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créé : le titulaire lui-même, ou l'Administrateur (repli).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avant terme, à effet à cette date ;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REVOQUE_PAR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Révoqué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329</a:t>
            </a:r>
            <a:endParaRPr lang="en-US" sz="11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(2/2)</a:t>
            </a:r>
            <a:endParaRPr lang="en-US" sz="2600" dirty="0"/>
          </a:p>
        </p:txBody>
      </p:sp>
      <p:graphicFrame>
        <p:nvGraphicFramePr>
          <p:cNvPr id="33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l’intérim  ·  t_interim_piece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L'intérim propriétaire (une pièce par intérim, clé partagée).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mandat d’une PRMP  ·  t_mandat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Titulaire du mandat (FK t_prmp).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nomination (l'historique reste lisible même si la fiche change).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Prise de fonction (date d'effet de l'arrêté).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de mandat — par défaut dateDebut + 3 ans - 1 jour (durée légale de 3 ans).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REF_ARRETE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arrêté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de l'arrêté de nomination — obligatoire et propre à ce mandat.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EN_TRANSITION, ACHEVE,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cnm.prs.enums.StatutMandat : dérivé des dates, sauf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1 = mandat initial, 2 = reconduction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Renseignés uniquement en cas d'abrogation avant terme.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330</a:t>
            </a:r>
            <a:endParaRPr lang="en-US" sz="11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3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L’intérim désigné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acte daté, avec pièce · Qui peut suppléer qui · Chacun déclare sa propre absence · Un seul intérim à la fois · Statut déduit des dates · Révocation sans effet rétroactif</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Effets de l’intérim</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Agir dans le périmètre du titulaire · Le dispatcheur enregistré reste le titulaire · Visa sans note, une part par personne · Notifications copiées, jamais détournées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RG-INT-11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déclaré par l’Administrateur · Reconduction unique, jamais prolongation · Statut du mandat déduit des dates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Vacance et 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RG-INT-14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Vacance : traitement suspendu · Reprise par le nouveau titulaire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331</a:t>
            </a:r>
            <a:endParaRPr lang="en-US" sz="11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L’intérim désigné</a:t>
            </a:r>
            <a:endParaRPr lang="en-US" sz="2600" dirty="0"/>
          </a:p>
        </p:txBody>
      </p:sp>
      <p:graphicFrame>
        <p:nvGraphicFramePr>
          <p:cNvPr id="33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daté, avec pièce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absent désigne son intérimaire pour une période, sur note de service ou décision jointe en PDF. Un intérim ne se modifie ni ne s'efface : une prolongation est un nouvel intérim, une fin avant terme une révocation.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peut suppléer qui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est suppléé par un Chef de commission de toute localité ; un Chef de commission de la Centrale, par un autre de la Centrale ou un Membre de sa localité ; un Chef de commission régional, par un Membre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déclare sa propre absence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et le Chef de commission déclarent eux-mêmes leur absence ; l'Administrateur désigne et révoque en repli. Les autres profils ne déclarent pas d'absence : réattribution et délégation les couvrent.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seul intérim à la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titulaire n'a qu'un intérim actif ou à venir à une date donnée : tout chevauchement est refusé. Le cumul côté intérimaire est signalé, jamais interdit.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se déduit des dates : à venir, actif, achevé ou révoqué. Seul l'intérim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ouvre des droits, et il n'est pas transitif.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Révocation sans effet rétroactif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le désignateur ou l'Administrateur révoque l'intérim, au plus tôt à la date du jour. Les droits tombent aussitôt ; les actes déjà posés restent ceux de l'intérimaire.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332</a:t>
            </a:r>
            <a:endParaRPr lang="en-US" sz="11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Effets de l’intérim</a:t>
            </a:r>
            <a:endParaRPr lang="en-US" sz="2600" dirty="0"/>
          </a:p>
        </p:txBody>
      </p:sp>
      <p:graphicFrame>
        <p:nvGraphicFramePr>
          <p:cNvPr id="33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Agir dans le périmètre du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agit dans le périmètre du titulaire, sous sa propre identité : dispatch, visa, retour, réattribution, retraits, part de signature. L'examen, la part Membre et les lettres de renvoi restent hors de l'intérim.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dispatcheur enregistré reste le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dispatch posé par intérim est enregistré au nom du titulaire, l'auteur réel restant tracé. À son retour, le titulaire vise donc le PV que son intérimaire a dispatché.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sans note, une part par personne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désigné vise sans note : la désignation suffit. Il ne vise pas le PV de son propre examen et ne signe jamais deux parts d'un même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Notifications copiées, jamais détournées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notification adressée au titulaire est copiée à son intérimaire actif ; le titulaire garde ses tâches et son historique. Journal et chronométrage portent la mention « par intérim de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333</a:t>
            </a:r>
            <a:endParaRPr lang="en-US" sz="11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PRMP</a:t>
            </a:r>
            <a:endParaRPr lang="en-US" sz="2600" dirty="0"/>
          </a:p>
        </p:txBody>
      </p:sp>
      <p:graphicFrame>
        <p:nvGraphicFramePr>
          <p:cNvPr id="33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déclaré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matérialise son arrêté de nomination : seul l'Administrateur le déclare. Il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Reconduction unique, jamais prolongation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reconduction est un nouveau mandat, avec un nouvel arrêté et des dates qui succèdent au précédent. Une même personne porte au plus deux mandats ; aucun mandat ne s'allonge.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du mandat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mandat est en transition avant la prise de fonction, actif pendant, achevé après. L'abrogation, fin avant terme motivée, prime sur les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Mandats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334</a:t>
            </a:r>
            <a:endParaRPr lang="en-US" sz="11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Vacance et reprise</a:t>
            </a:r>
            <a:endParaRPr lang="en-US" sz="2600" dirty="0"/>
          </a:p>
        </p:txBody>
      </p:sp>
      <p:graphicFrame>
        <p:nvGraphicFramePr>
          <p:cNvPr id="33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par la PRMP ou l'UGPM est bloqué (VACANCE_PRMP) : le dossier attend, sans obligation d'intérim. Le circuit de la Commission n'est jamais suspendu.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Reprise par le nouveau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qu'un mandat redevient actif, le blocage tombe de lui-même et le compte de la PRMP reconduite est réactivé. Le nouveau titulaire reprend le traitement comme opérateur ; l'attribution des dossiers ne change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335</a:t>
            </a:r>
            <a:endParaRPr lang="en-US" sz="11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Administrer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L’Administrateur tient les comptes, les référentiels (natures, modes, types de DMC, statuts, seuils), les paramètres et les actualités.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336</a:t>
            </a:r>
            <a:endParaRPr lang="en-US" sz="11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poste d’administration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ste d’administr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qui attend l’Administrateur : inscriptions, rattachements, procédures sans responsable ; les derniers changements de paramètres ; les accès.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RG-ADM-03 · RG-ADM-05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337</a:t>
            </a:r>
            <a:endParaRPr lang="en-US" sz="11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demandes d’accès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emandes d’accè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inscriptions des PRMP (et des UGPM) en attente : valider ouvre le compte, refuser le dit au demandeur.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RG-ADM-01 · RG-ADM-02 · RG-ADM-03 · RG-ADM-04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338</a:t>
            </a:r>
            <a:endParaRPr lang="en-US" sz="11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Comptes et personnes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omptes et person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L’annuaire : chaque personne, son profil, son rattachement, l’état de son compte ; sa fiche réunit ses accès et les gestes qui la concernent.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RG-ADM-04 · RG-ADM-05 · RG-ADM-06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339</a:t>
            </a:r>
            <a:endParaRPr lang="en-US" sz="11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mêmes chaînes Membre → Vérificateur → Assistant, pour toutes les localités.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340</a:t>
            </a:r>
            <a:endParaRPr lang="en-US" sz="11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standards du circuit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élais standards du circu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délai de chaque étape (réception, dispatch, examen, visa…) : la base des alertes de retard et des fins de traitement prévues.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RG-ADM-12 · RG-ADM-13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341</a:t>
            </a:r>
            <a:endParaRPr lang="en-US" sz="11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points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oint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grille d’examen : des points communs, et des points propres à un sous-type de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342</a:t>
            </a:r>
            <a:endParaRPr lang="en-US" sz="11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seuil AGPM de l’AMI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euil AGPM de l’AM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seuil qui déclenche l’avis général de passation pour une ligne en appel à manifestation d’intérêt.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343</a:t>
            </a:r>
            <a:endParaRPr lang="en-US" sz="11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d’alerte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ègles d’aler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règles qui déclenchent les alertes du pilotage.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344</a:t>
            </a:r>
            <a:endParaRPr lang="en-US" sz="11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nomenclatures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nomenclatu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Tous les référentiels : entités, localités, natures, modes de passation, types et sous-types de dossiers, pièces, statuts de marché…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RG-ADM-17 · RG-ADM-18 · RG-ADM-20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345</a:t>
            </a:r>
            <a:endParaRPr lang="en-US" sz="11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Mode de passation → type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de de passation → type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de chaque mode à un type de dossier de mise en concurrence ; sans lui, aucune fiche ne se crée sur les lignes de ce mode.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346</a:t>
            </a:r>
            <a:endParaRPr lang="en-US" sz="11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champs de la fiche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mps de la fiche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référentiel des informations de la fiche, par forme et par catégorie ; un champ retiré se réactive en une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347</a:t>
            </a:r>
            <a:endParaRPr lang="en-US" sz="11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remise électronique : défauts et bornes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emise électronique : défauts et bor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valeurs par défaut et les bornes de la remise électronique (délais, tailles de fichiers, quorum).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RG-ADM-23 · RG-ADM-24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348</a:t>
            </a:r>
            <a:endParaRPr lang="en-US" sz="11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bancaire de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ompte bancaire de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compte où se versent les frais de dossier ; les DAO le citent.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349</a:t>
            </a:r>
            <a:endParaRPr lang="en-US" sz="11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exclues par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exclues par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exclusions prononcées par l’ARMP ; une entreprise exclue ne peut pas déposer d’offre.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350</a:t>
            </a:r>
            <a:endParaRPr lang="en-US" sz="11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candidates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candida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entreprises inscrites, leur NIF et sa vérification, leurs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351</a:t>
            </a:r>
            <a:endParaRPr lang="en-US" sz="11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journal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journa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 écriture enregistrée — acteur, table, action — et toute connexion ; filtrable par table, acteur et dates.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RG-ADM-31 · RG-ADM-32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352</a:t>
            </a:r>
            <a:endParaRPr lang="en-US" sz="11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actualités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actualit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Publier une actualité ciblée par profil, affichée à la connexion ; l’historique des actualités.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353</a:t>
            </a:r>
            <a:endParaRPr lang="en-US" sz="11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PRÉ-CONTRÔLE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taux d’écartement des règles du pré-contrôle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taux d’écartement des règles du pré-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règle du pré-contrôle du plan : combien de signalements, combien écartés ; pour corriger les règles qui alertent à tort.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RG-ADM-34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354</a:t>
            </a:r>
            <a:endParaRPr lang="en-US" sz="11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5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contrôleur (profils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tr_controleur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rattachement d’une PRMP à une 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L’UGPM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t_ugpm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Unité de Gestion de la Passation des Marchés (UGPM) — acteur rattaché à exactement une PRMP de tutelle (ID_PRMP_TUTELLE → t_prmp).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tr_profile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délégation entre profils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t_delegation_profil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délai standard d’une étape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tr_delai_standard</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tr_points_ctrl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seuil des marchés publics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tr_seuil_marche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valeur du référentiel de seuils (tr_seuil_marche).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d’alerte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t_regle_alerte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paramètre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Paramètre système général — clé/valeur éditable sans redéploiement. Introduit pour l'interrupteur global des actualités (ACTUALITES_ACTIVES, spec du 2026-08-18) ; conçu pour servir au-delà de ce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355</a:t>
            </a:r>
            <a:endParaRPr lang="en-US" sz="11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5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tr_entite_contract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tr_categorie_entite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Catégorie d'entité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ministère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tr_ministere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L’organigramme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t_organigramme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localité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tr_localite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nature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mode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tr_mode_passation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t_type_dmc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Référentiel administrable des types de dossier de mise en concurrence (DMC) : DAO (Dossier d'Appel d'Offres), DC (Dossier de Consultation), BC (Bon de Commande)… Liste ouverte, complétable en administration.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tr_sous_type_dossier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pièce jointe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statut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tr_statut_marche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Table tr_statut_marche. t_marche.STATUT stockait un texte libre : en pratique toujours PREVU, mais rien ne l'imposait ni ne permettait à l'Administrateur d'en ajouter.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356</a:t>
            </a:r>
            <a:endParaRPr lang="en-US" sz="11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(3/3)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5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L’avis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tr_avis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d’imputation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 compte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SOA</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tr_soa_beneficiaire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(audit)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t_audit_log</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357</a:t>
            </a:r>
            <a:endParaRPr lang="en-US" sz="11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35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contrôleur (profils de la Commission)  ·  tr_controleur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toutes localités (cas Président).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IM_RATTACHE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rattache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Contrôleur rattaché à celui-ci : un Vérificateur si le porteur est Membre, un Assistant si le porteur est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ID_SUPERIEUR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superieur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TRANSVERSAL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Transversal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PRMP  ·  t_prmp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la PRMP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rattachement d’une PRMP à une entité  ·  t_prmp_entite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358</a:t>
            </a:r>
            <a:endParaRPr lang="en-US" sz="11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36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DATE_AFFECTATION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affectation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L’UGPM  ·  t_ugpm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l'UGPM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ID_PRMP_TUTELLE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tutelle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de tutelle (= matricule de la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profil  ·  tr_profile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profil (ex. « Chef de commission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délégation entre profils  ·  t_delegation_profil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ID_DELEGATION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delegant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délégué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359</a:t>
            </a:r>
            <a:endParaRPr lang="en-US" sz="11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36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délai standard d’une étape  ·  tr_delai_standard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de cnm.prs.enums.EtapeCircuit (PK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DELAI_HEURES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HEURES ouvrées (8 h = 1 jour ouvré), ≥ 1 (400 sinon) ; repli serveur à 8 h si l'étape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d'affichage, servi par le backend.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point de contrôle  ·  tr_points_ctrl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DECRIPT_POINT_CTRL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Decript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(DDP/DMC/DDM).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ciblé (FK tr_sous_type_dossier, facultatif) : null = point commun à toute la famille (idTypeDossier) ; renseigné = point spécifique à ce sous-type (ex. contrôle AGPM du seul PPM-AGPM).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PORTEE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Portee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LIGNE, DOSSIER, FICHE, AGPM, SUPPRESSION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Portée du point : PorteePointCtrlLIGNE (évalué par ligne de marché) ou PorteePointCtrlDOSSIER (inter-lignes, ex. fractionnement illicite).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seuil des marchés publics  ·  tr_seuil_marche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CONTROLE_A_PRIORI, APPEL_OFFRES_OUVERT, CONSULTATION, MANIFESTATION_INTERET_PRESSE, MANIFESTATION_INTERET_AFFICHAGE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360</a:t>
            </a:r>
            <a:endParaRPr lang="en-US" sz="11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36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BAREME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Bareme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CENTRAL, DECONCENTRE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hors taxes, en ariary, à partir duquel la conséquence du typeSeuil s'applique.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Délai minimal de publicité attaché au franchissement, quand le texte en attache un (prestations intellectuelles : 30 jours par voie de presse, 10 jours par affichage).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DATE_EFFET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effet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valeur en vigueur. Une valeur remplacée est bornée,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qui fixe la valeur — cité tel quel dans le signalement, pour qu'il soit opposable.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Acteur de la dernière saisie administrative (null pour les valeurs semées par V32).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d’alerte  ·  t_regle_alerte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ID_REGLE_ALERTE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alerte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JOURS_AVANT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Jours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du pré-contrôle  ·  t_regle_anomalie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CODE_REGLE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règle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PARAMETRE_NUM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PARAMETRE_TXT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txt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361</a:t>
            </a:r>
            <a:endParaRPr lang="en-US" sz="11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36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GRAVITE_DEFAUT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A_VERIFIER, PRIORITAIRE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(pré-contrôle du PPM, lot 3) : la gravité PRIORITAIRE de cnm.prs.enums.GraviteSignalement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paramètre  ·  t_parametre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L’entité contractante  ·  tr_entite_contract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de l'entité contractante (§1). C'est elle qui fixe la localité d'un dossier la concernant.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Sigle tel qu'il figure dans les références (« MESupReS », « JIRAMA ») ; facultatif, sans 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d’entité  ·  tr_categorie_entite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ministère  ·  tr_ministere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362</a:t>
            </a:r>
            <a:endParaRPr lang="en-US" sz="11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36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L’organigramme  ·  t_organigramme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localité  ·  tr_localite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CHEF_LIEU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Chef 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la localité CENTRALE (Commission Nationale des Marchés) — source unique : références officielles (segment CNM au lieu de CRM-), choix du modèle de PV (variante centrale) et signature des lettres de renvoi. / public static final String ID_CENTRALE = "ANT"; /** Vrai si l'identifiant…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nature de marché  ·  tr_nature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CATEGORIE_DAO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DAO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catégorie de fiche DAO des lignes de cette nature ; null : ses lignes ne se préparent pas.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mode de passation  ·  tr_mode_passation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PUBLICITE_REQUISE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Publicite requise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Mapping (administrable) vers le type de DMC dérivé pour les marchés de ce mode.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363</a:t>
            </a:r>
            <a:endParaRPr lang="en-US" sz="11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36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AGPM_SI_SEUIL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AGPM si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Marqueur administrable « appel d'offres ouvert » : si vrai, tout marché de ce mode déclenche l'exigence d'un AGPM (Avis Général de Passation de Marché) sur le PPM.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DECLENCHE_AGPM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Declenche AGPM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data-driven (tr_mode_passation.DECLENCHE_AGPM) : ce mode (ex. « appel d'offres ouvert ») rend la pièce AGPM obligatoire à la soumission d'un PPM. Administrable via mode-passations.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PROCEDURE_SEUIL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APPEL_OFFRES_OUVERT, CONSULTATION, ACHAT_DIRECT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Palier de l'arrêté n° 13 156/2019-MEF auquel ce mode appartient (art. 2,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NORMAL, DEROGATOIRE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Étape 2 — palier déduit du libellé, pour poser la valeur initiale de procedureSeuil sur les modes qui n'en portent pas encore (dont ceux créés à la volée par un import PDF, qui n'apporte qu'un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ID_MODE_MODELE_CAPM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 modele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CAPM partagé : mode dont ce mode réutilise le modèle détaillé de processus CAPM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DMC  ·  t_type_dmc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dossier  ·  tr_type_dossier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sous-type de dossier  ·  tr_sous_type_dossier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rattachement (FK tr_type_dossier.ID_TYPE_DOSSIER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pièce jointe  ·  t_type_piece_jointe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364</a:t>
            </a:r>
            <a:endParaRPr lang="en-US" sz="11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36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stable (administrable, facultatif) identifiant le type de pièce indépendamment du libellé —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dossier concerné (FK tr_type_dossier.ID_TYPE_DOSSIER).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statut de marché  ·  tr_statut_marche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d'affichage dans les listes déroulantes ; null se range en dernier.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d'usage : un statut désactivé n'est plus proposé. Il reste accepté à l'écriture — refuser un code déjà porté par des marchés empêcherait de ré-enregistrer une ligne parfaitement légitime, ce qui ferait de la désactivation une opération destructrice.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L’avis  ·  tr_avis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d’imputation  ·  tr_compte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 compte  ·  tr_cat_compte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SOA  ·  tr_soa_beneficiaire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365</a:t>
            </a:r>
            <a:endParaRPr lang="en-US" sz="11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36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(audit)  ·  t_audit_log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CHAMP_MODIFIE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modifie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IP_ADRESSE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Ip 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SESSION_ID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Session 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366</a:t>
            </a:r>
            <a:endParaRPr lang="en-US" sz="11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6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Accès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Inscription vérifiée par l’Administrateur · Validation entité par entité · Refus toujours motivé · Une seule porte pour décider · Suspendu n’est pas refusé · UGPM rattachée à sa tutelle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et entités de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RG-ADM-07 → 09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de trois ans · Vacance : traitement suspendu · Une entité, une seule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Organisation du 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RG-ADM-10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Chaînes Membre, Vérificateur, Assistant · Délégations par paires listées · Délais standards en heures ouvrées · Huit étapes, fenêtre de service · Points communs ou par sous-type · Seuil AGPM de l’AMI · Règles d’alerte paramétrables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Nomenclatures et fiche DAO</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RG-ADM-17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Statut de marché encadré · La nature donne la catégorie · Mode de passation, type de dossier · Sous-types et pièces attendues · Un champ se désactive · Seuils datés, pour signaler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Remise électronique et entreprises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RG-ADM-23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Défauts de la remise électronique · Signature minimale et mise en ligne · Compte bancaire de l’ARMP · Paramètres de l’espace candidat · NIF vérifié sur pièces · Exclusions ARMP indélébiles · Un responsable par procédure · Conservation et purge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Traces et communication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RG-ADM-31 → 33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Journal d’audit immuable · Connexions journalisées · Actualités ciblées et archivées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RG-ADM-34 → 35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Taux d’écartement par règle · Levé n’est pas écarté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367</a:t>
            </a:r>
            <a:endParaRPr lang="en-US" sz="11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Accès et comptes</a:t>
            </a:r>
            <a:endParaRPr lang="en-US" sz="2600" dirty="0"/>
          </a:p>
        </p:txBody>
      </p:sp>
      <p:graphicFrame>
        <p:nvGraphicFramePr>
          <p:cNvPr id="36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Inscription vérifiée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s’inscrit en ligne avec son arrêté de nomination et sa CIN ; son compte reste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et ne peut pas se connecter. L’Administrateur télécharge et vérifie l’arrêté, puis valide ou refuse.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entité déclarée disponible est rattachée ; une entité déjà tenue par une autre PRMP est signalée en conflit, sans bloquer. Le compte s’ouvre dès qu’</a:t>
                      </a:r>
                      <a:pPr indent="0" marL="0">
                        <a:buNone/>
                      </a:pPr>
                      <a:r>
                        <a:rPr lang="en-US" sz="1150" b="1" dirty="0">
                          <a:solidFill>
                            <a:srgbClr val="1B2A3A"/>
                          </a:solidFill>
                          <a:latin typeface="Segoe UI" pitchFamily="34" charset="0"/>
                          <a:ea typeface="Segoe UI" pitchFamily="34" charset="-122"/>
                          <a:cs typeface="Segoe UI" pitchFamily="34" charset="-120"/>
                        </a:rPr>
                        <a:t>une entité</a:t>
                      </a:r>
                      <a:pPr indent="0" marL="0">
                        <a:buNone/>
                      </a:pPr>
                      <a:r>
                        <a:rPr lang="en-US" sz="1150" dirty="0">
                          <a:solidFill>
                            <a:srgbClr val="1B2A3A"/>
                          </a:solidFill>
                          <a:latin typeface="Segoe UI" pitchFamily="34" charset="0"/>
                          <a:ea typeface="Segoe UI" pitchFamily="34" charset="-122"/>
                          <a:cs typeface="Segoe UI" pitchFamily="34" charset="-120"/>
                        </a:rPr>
                        <a:t> est rattachée. Une entité proposée n’est créée que si l’Administrateur l’accepte.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Refus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refus d’inscription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 le compte passe « refusé », reste fermé, et la PRMP est avisée du motif. Les demandes d’accès réunissent les inscriptions des PRMP et des UGPM ; le compteur du menu les compte toutes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seule porte pour décider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inscription ne se décide que dans les demandes d’accès. Suspendre ou réactiver un compte en attente ou refusé est impossible : réactiver ouvrirait un accès jamais accordé et contournerait le rattachement des entités.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Suspendu n’est pas refusé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L’annuaire réunit contrôleurs, PRMP et UGPM avec cinq états : actif, </a:t>
                      </a:r>
                      <a:pPr indent="0" marL="0">
                        <a:buNone/>
                      </a:pPr>
                      <a:r>
                        <a:rPr lang="en-US" sz="1150" b="1" dirty="0">
                          <a:solidFill>
                            <a:srgbClr val="1B2A3A"/>
                          </a:solidFill>
                          <a:latin typeface="Segoe UI" pitchFamily="34" charset="0"/>
                          <a:ea typeface="Segoe UI" pitchFamily="34" charset="-122"/>
                          <a:cs typeface="Segoe UI" pitchFamily="34" charset="-120"/>
                        </a:rPr>
                        <a:t>suspendu</a:t>
                      </a:r>
                      <a:pPr indent="0" marL="0">
                        <a:buNone/>
                      </a:pPr>
                      <a:r>
                        <a:rPr lang="en-US" sz="1150" dirty="0">
                          <a:solidFill>
                            <a:srgbClr val="1B2A3A"/>
                          </a:solidFill>
                          <a:latin typeface="Segoe UI" pitchFamily="34" charset="0"/>
                          <a:ea typeface="Segoe UI" pitchFamily="34" charset="-122"/>
                          <a:cs typeface="Segoe UI" pitchFamily="34" charset="-120"/>
                        </a:rPr>
                        <a:t>, refusé, en attente, sans compte. Un compte suspendu a été fermé après coup ; un compte refusé n’a jamais été ouvert. La recherche ignore la casse et les accents.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crée une UGPM rattachée à sa </a:t>
                      </a:r>
                      <a:pPr indent="0" marL="0">
                        <a:buNone/>
                      </a:pPr>
                      <a:r>
                        <a:rPr lang="en-US" sz="1150" b="1" dirty="0">
                          <a:solidFill>
                            <a:srgbClr val="1B2A3A"/>
                          </a:solidFill>
                          <a:latin typeface="Segoe UI" pitchFamily="34" charset="0"/>
                          <a:ea typeface="Segoe UI" pitchFamily="34" charset="-122"/>
                          <a:cs typeface="Segoe UI" pitchFamily="34" charset="-120"/>
                        </a:rPr>
                        <a:t>PRMP de tutelle</a:t>
                      </a:r>
                      <a:pPr indent="0" marL="0">
                        <a:buNone/>
                      </a:pPr>
                      <a:r>
                        <a:rPr lang="en-US" sz="1150" dirty="0">
                          <a:solidFill>
                            <a:srgbClr val="1B2A3A"/>
                          </a:solidFill>
                          <a:latin typeface="Segoe UI" pitchFamily="34" charset="0"/>
                          <a:ea typeface="Segoe UI" pitchFamily="34" charset="-122"/>
                          <a:cs typeface="Segoe UI" pitchFamily="34" charset="-120"/>
                        </a:rPr>
                        <a:t>, avec son compte actif. L’UGPM n’a pas d’entité propre : elle partage le périmètre de sa tutelle.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Inscription et validation du compte · api-endpoints.md § Inscriptions PRMP / UGPM (validation Administrateur) · regles-gestion.md § 3.8. Administrateur › Module 10 — Administration &amp; sécurité › Cycle de vie d’un compte d’authentification · api-endpoints.md § Annuaire des personnes · api-endpoints.md § Administration des UGPM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368</a:t>
            </a:r>
            <a:endParaRPr lang="en-US" sz="11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et entités de la PRMP</a:t>
            </a:r>
            <a:endParaRPr lang="en-US" sz="2600" dirty="0"/>
          </a:p>
        </p:txBody>
      </p:sp>
      <p:graphicFrame>
        <p:nvGraphicFramePr>
          <p:cNvPr id="37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est déclaré par l’Administrateur et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 Une reconduction est un nouveau mandat, avec un nouvel arrêté ; aucun mandat ne se prolonge, et une même personne n’en porte pas plus de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côté PRMP et UGPM attend la nomination ; le circuit de la Commission continue. Un nouveau mandat en cours rouvre le compte de la PRMP, si son inscription était </a:t>
                      </a:r>
                      <a:pPr indent="0" marL="0">
                        <a:buNone/>
                      </a:pPr>
                      <a:r>
                        <a:rPr lang="en-US" sz="1150" b="1" dirty="0">
                          <a:solidFill>
                            <a:srgbClr val="1B2A3A"/>
                          </a:solidFill>
                          <a:latin typeface="Segoe UI" pitchFamily="34" charset="0"/>
                          <a:ea typeface="Segoe UI" pitchFamily="34" charset="-122"/>
                          <a:cs typeface="Segoe UI" pitchFamily="34" charset="-120"/>
                        </a:rPr>
                        <a:t>validée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entité contractante n’est rattachée qu’à </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 une PRMP peut en gérer plusieurs. L’entité créée par une PRMP ou son UGPM naît rattachée en attente : l’Administrateur approuve ou rejette le rattachement.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Mandats de la PRMP · regles-gestion.md § 3.1. PRMP › Standby de transition — vacance de PRMP · api-endpoints.md § Entités-PRMP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369</a:t>
            </a:r>
            <a:endParaRPr lang="en-US" sz="110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(1/2)</a:t>
            </a:r>
            <a:endParaRPr lang="en-US" sz="2600" dirty="0"/>
          </a:p>
        </p:txBody>
      </p:sp>
      <p:graphicFrame>
        <p:nvGraphicFramePr>
          <p:cNvPr id="37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a son Vérificateur, chaque Vérificateur son Assistant, de même localité et du profil attendu. La chaîne oriente les notifications sans rien verrouiller ; incomplète, elle est signalée et tous les Vérificateurs de la localité peuvent agir.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Délégations par paires listées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délégation est une paire de profils, activable : le Président exerce les tâches de cinq profils, le Chef de commission de quatre. La relation </a:t>
                      </a:r>
                      <a:pPr indent="0" marL="0">
                        <a:buNone/>
                      </a:pPr>
                      <a:r>
                        <a:rPr lang="en-US" sz="1150" b="1" dirty="0">
                          <a:solidFill>
                            <a:srgbClr val="1B2A3A"/>
                          </a:solidFill>
                          <a:latin typeface="Segoe UI" pitchFamily="34" charset="0"/>
                          <a:ea typeface="Segoe UI" pitchFamily="34" charset="-122"/>
                          <a:cs typeface="Segoe UI" pitchFamily="34" charset="-120"/>
                        </a:rPr>
                        <a:t>n’est pas transitive</a:t>
                      </a:r>
                      <a:pPr indent="0" marL="0">
                        <a:buNone/>
                      </a:pPr>
                      <a:r>
                        <a:rPr lang="en-US" sz="1150" dirty="0">
                          <a:solidFill>
                            <a:srgbClr val="1B2A3A"/>
                          </a:solidFill>
                          <a:latin typeface="Segoe UI" pitchFamily="34" charset="0"/>
                          <a:ea typeface="Segoe UI" pitchFamily="34" charset="-122"/>
                          <a:cs typeface="Segoe UI" pitchFamily="34" charset="-120"/>
                        </a:rPr>
                        <a:t>. Les signatures du PV et des lettres de renvoi ne se délèguent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Délais standards en heures ouvrées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délai de chaque étape se fixe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par l’Administrateur seul ; tous peuvent le lire. Il donne la date annoncée à la PRMP dès la soumission. Un délai de moins d’une heure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Huit étapes, fenêtre de service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référentiel rend toujours les </a:t>
                      </a:r>
                      <a:pPr indent="0" marL="0">
                        <a:buNone/>
                      </a:pPr>
                      <a:r>
                        <a:rPr lang="en-US" sz="1150" b="1" dirty="0">
                          <a:solidFill>
                            <a:srgbClr val="1B2A3A"/>
                          </a:solidFill>
                          <a:latin typeface="Segoe UI" pitchFamily="34" charset="0"/>
                          <a:ea typeface="Segoe UI" pitchFamily="34" charset="-122"/>
                          <a:cs typeface="Segoe UI" pitchFamily="34" charset="-120"/>
                        </a:rPr>
                        <a:t>huit étapes</a:t>
                      </a:r>
                      <a:pPr indent="0" marL="0">
                        <a:buNone/>
                      </a:pPr>
                      <a:r>
                        <a:rPr lang="en-US" sz="1150" dirty="0">
                          <a:solidFill>
                            <a:srgbClr val="1B2A3A"/>
                          </a:solidFill>
                          <a:latin typeface="Segoe UI" pitchFamily="34" charset="0"/>
                          <a:ea typeface="Segoe UI" pitchFamily="34" charset="-122"/>
                          <a:cs typeface="Segoe UI" pitchFamily="34" charset="-120"/>
                        </a:rPr>
                        <a:t>, avec un repli de 8 h pour une étape manquante. Le temps écoulé se compte de 8 h à 16 h, du lundi au vendredi.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Points communs ou par sous-type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point de contrôle se rattache à une famille de dossier : sans sous-type il est </a:t>
                      </a:r>
                      <a:pPr indent="0" marL="0">
                        <a:buNone/>
                      </a:pPr>
                      <a:r>
                        <a:rPr lang="en-US" sz="1150" b="1" dirty="0">
                          <a:solidFill>
                            <a:srgbClr val="1B2A3A"/>
                          </a:solidFill>
                          <a:latin typeface="Segoe UI" pitchFamily="34" charset="0"/>
                          <a:ea typeface="Segoe UI" pitchFamily="34" charset="-122"/>
                          <a:cs typeface="Segoe UI" pitchFamily="34" charset="-120"/>
                        </a:rPr>
                        <a:t>commun</a:t>
                      </a:r>
                      <a:pPr indent="0" marL="0">
                        <a:buNone/>
                      </a:pPr>
                      <a:r>
                        <a:rPr lang="en-US" sz="1150" dirty="0">
                          <a:solidFill>
                            <a:srgbClr val="1B2A3A"/>
                          </a:solidFill>
                          <a:latin typeface="Segoe UI" pitchFamily="34" charset="0"/>
                          <a:ea typeface="Segoe UI" pitchFamily="34" charset="-122"/>
                          <a:cs typeface="Segoe UI" pitchFamily="34" charset="-120"/>
                        </a:rPr>
                        <a:t>, avec un sous-type il lui est propre. La grille d’un dossier réunit les communs de sa famille et les points de son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 AGPM de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appel à manifestation d’intérêt rend l’AGPM requis à partir du seuil fixé par l’Administrateur, comparé </a:t>
                      </a:r>
                      <a:pPr indent="0" marL="0">
                        <a:buNone/>
                      </a:pPr>
                      <a:r>
                        <a:rPr lang="en-US" sz="1150" b="1" dirty="0">
                          <a:solidFill>
                            <a:srgbClr val="1B2A3A"/>
                          </a:solidFill>
                          <a:latin typeface="Segoe UI" pitchFamily="34" charset="0"/>
                          <a:ea typeface="Segoe UI" pitchFamily="34" charset="-122"/>
                          <a:cs typeface="Segoe UI" pitchFamily="34" charset="-120"/>
                        </a:rPr>
                        <a:t>marché par marché</a:t>
                      </a:r>
                      <a:pPr indent="0" marL="0">
                        <a:buNone/>
                      </a:pPr>
                      <a:r>
                        <a:rPr lang="en-US" sz="1150" dirty="0">
                          <a:solidFill>
                            <a:srgbClr val="1B2A3A"/>
                          </a:solidFill>
                          <a:latin typeface="Segoe UI" pitchFamily="34" charset="0"/>
                          <a:ea typeface="Segoe UI" pitchFamily="34" charset="-122"/>
                          <a:cs typeface="Segoe UI" pitchFamily="34" charset="-120"/>
                        </a:rPr>
                        <a:t>, borne incluse. Sans seuil saisi, tout marché de ce mode le déclenche. Tout appel d’offres, lui, le déclenche toujours.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1. Hiérarchie des contrôleurs et visibilité · regles-gestion.md § 3.8. Administrateur › Module 03 — Référentiels &amp; paramétrage › délégation ascendante de profils, pilotée par les données · regles-gestion.md § 3.8. Administrateur › Module 03 — Référentiels &amp; paramétrage › Délais standards du circuit · regles-gestion.md § Chronométrage et prévision des délais (transversal au circuit) · regles-gestion.md § 3.1. PRMP › Module 03 — Soumission &amp; retours › FAMILLES et SOUS-TYPES de dossier · regles-gestion.md § 3.1. PRMP › Module 02 — Saisie &amp; gestion PPM › Sous-type PPM / PPM-AGPM et référence du dossier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370</a:t>
            </a:r>
            <a:endParaRPr lang="en-US" sz="110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(2/2)</a:t>
            </a:r>
            <a:endParaRPr lang="en-US" sz="2600" dirty="0"/>
          </a:p>
        </p:txBody>
      </p:sp>
      <p:graphicFrame>
        <p:nvGraphicFramePr>
          <p:cNvPr id="37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Règles d’alerte paramétrables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règle d’alerte fixe un jalon, le nombre de jours avant l’échéance et le profil destinataire ; elle s’active ou se désactive. Tous la lisent, l’Administrateur seul l’écrit.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Règles d'alerte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371</a:t>
            </a:r>
            <a:endParaRPr lang="en-US" sz="110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Nomenclatures et fiche DAO</a:t>
            </a:r>
            <a:endParaRPr lang="en-US" sz="2600" dirty="0"/>
          </a:p>
        </p:txBody>
      </p:sp>
      <p:graphicFrame>
        <p:nvGraphicFramePr>
          <p:cNvPr id="37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de marché encadré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d’un marché est un code du référentiel. « Prévu » sert de défaut et </a:t>
                      </a:r>
                      <a:pPr indent="0" marL="0">
                        <a:buNone/>
                      </a:pPr>
                      <a:r>
                        <a:rPr lang="en-US" sz="1150" b="1" dirty="0">
                          <a:solidFill>
                            <a:srgbClr val="1B2A3A"/>
                          </a:solidFill>
                          <a:latin typeface="Segoe UI" pitchFamily="34" charset="0"/>
                          <a:ea typeface="Segoe UI" pitchFamily="34" charset="-122"/>
                          <a:cs typeface="Segoe UI" pitchFamily="34" charset="-120"/>
                        </a:rPr>
                        <a:t>ne se supprime pas</a:t>
                      </a:r>
                      <a:pPr indent="0" marL="0">
                        <a:buNone/>
                      </a:pPr>
                      <a:r>
                        <a:rPr lang="en-US" sz="1150" dirty="0">
                          <a:solidFill>
                            <a:srgbClr val="1B2A3A"/>
                          </a:solidFill>
                          <a:latin typeface="Segoe UI" pitchFamily="34" charset="0"/>
                          <a:ea typeface="Segoe UI" pitchFamily="34" charset="-122"/>
                          <a:cs typeface="Segoe UI" pitchFamily="34" charset="-120"/>
                        </a:rPr>
                        <a:t> ; un statut désactivé reste accepté sur les marchés qui le portent. Un code inconnu est refusé avec la liste des valeurs possibles.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nature donne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catégorie de fiche DAO (fournitures et services, travaux, prestations intellectuelles) vient de la </a:t>
                      </a:r>
                      <a:pPr indent="0" marL="0">
                        <a:buNone/>
                      </a:pPr>
                      <a:r>
                        <a:rPr lang="en-US" sz="1150" b="1" dirty="0">
                          <a:solidFill>
                            <a:srgbClr val="1B2A3A"/>
                          </a:solidFill>
                          <a:latin typeface="Segoe UI" pitchFamily="34" charset="0"/>
                          <a:ea typeface="Segoe UI" pitchFamily="34" charset="-122"/>
                          <a:cs typeface="Segoe UI" pitchFamily="34" charset="-120"/>
                        </a:rPr>
                        <a:t>nature</a:t>
                      </a:r>
                      <a:pPr indent="0" marL="0">
                        <a:buNone/>
                      </a:pPr>
                      <a:r>
                        <a:rPr lang="en-US" sz="1150" dirty="0">
                          <a:solidFill>
                            <a:srgbClr val="1B2A3A"/>
                          </a:solidFill>
                          <a:latin typeface="Segoe UI" pitchFamily="34" charset="0"/>
                          <a:ea typeface="Segoe UI" pitchFamily="34" charset="-122"/>
                          <a:cs typeface="Segoe UI" pitchFamily="34" charset="-120"/>
                        </a:rPr>
                        <a:t> de la ligne, par une correspondance que l’Administrateur tient à jour. Une nature sans catégorie empêche de préparer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Mode de passation, type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mode de passation est rattaché à un type de dossier de mise en concurrence (DAO, DC, BC…), liste ouverte. Sans rattachement à un type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aucune ligne de ce mode ne peut recevoir de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Sous-types et pièces attendues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sous-types forment un référentiel ouvert, rattaché aux familles DDP, DMC et DDM ; celui d’un plan est dérivé par le serveur. Les pièces attendues se rattachent à la famille ; 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est exigée à la soumission.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champ se désactive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champ de la fiche DAO se crée ou se modifie, jamais ne se supprime : il se </a:t>
                      </a:r>
                      <a:pPr indent="0" marL="0">
                        <a:buNone/>
                      </a:pPr>
                      <a:r>
                        <a:rPr lang="en-US" sz="1150" b="1" dirty="0">
                          <a:solidFill>
                            <a:srgbClr val="1B2A3A"/>
                          </a:solidFill>
                          <a:latin typeface="Segoe UI" pitchFamily="34" charset="0"/>
                          <a:ea typeface="Segoe UI" pitchFamily="34" charset="-122"/>
                          <a:cs typeface="Segoe UI" pitchFamily="34" charset="-120"/>
                        </a:rPr>
                        <a:t>désactive</a:t>
                      </a:r>
                      <a:pPr indent="0" marL="0">
                        <a:buNone/>
                      </a:pPr>
                      <a:r>
                        <a:rPr lang="en-US" sz="1150" dirty="0">
                          <a:solidFill>
                            <a:srgbClr val="1B2A3A"/>
                          </a:solidFill>
                          <a:latin typeface="Segoe UI" pitchFamily="34" charset="0"/>
                          <a:ea typeface="Segoe UI" pitchFamily="34" charset="-122"/>
                          <a:cs typeface="Segoe UI" pitchFamily="34" charset="-120"/>
                        </a:rPr>
                        <a:t>, et les valeurs déjà saisies restent lisibles. Blocs et rubriques sont figés ; chaque champ dit sa source, son document et sa condition.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Seuils datés, pour signaler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seuils de l’arrêté vivent dans un référentiel daté, hors taxes, en deux barèmes, central et déconcentré. Ils servent seulement à </a:t>
                      </a:r>
                      <a:pPr indent="0" marL="0">
                        <a:buNone/>
                      </a:pPr>
                      <a:r>
                        <a:rPr lang="en-US" sz="1150" b="1" dirty="0">
                          <a:solidFill>
                            <a:srgbClr val="1B2A3A"/>
                          </a:solidFill>
                          <a:latin typeface="Segoe UI" pitchFamily="34" charset="0"/>
                          <a:ea typeface="Segoe UI" pitchFamily="34" charset="-122"/>
                          <a:cs typeface="Segoe UI" pitchFamily="34" charset="-120"/>
                        </a:rPr>
                        <a:t>signaler</a:t>
                      </a:r>
                      <a:pPr indent="0" marL="0">
                        <a:buNone/>
                      </a:pPr>
                      <a:r>
                        <a:rPr lang="en-US" sz="1150" dirty="0">
                          <a:solidFill>
                            <a:srgbClr val="1B2A3A"/>
                          </a:solidFill>
                          <a:latin typeface="Segoe UI" pitchFamily="34" charset="0"/>
                          <a:ea typeface="Segoe UI" pitchFamily="34" charset="-122"/>
                          <a:cs typeface="Segoe UI" pitchFamily="34" charset="-120"/>
                        </a:rPr>
                        <a:t> : aucun mode n’est imposé, et une case vide ne produit aucun signalement.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03 — Référentiels &amp; paramétrage › Statuts de marché · regles-gestion.md § Les trois catégories de fiche DAO (lot 5, demande front du 2026-09-24, pilote) · api-endpoints.md § Types de DMC (dossier de mise en concurrence) · regles-gestion.md § 3.1. PRMP › Module 03 — Soumission &amp; retours › FAMILLES et SOUS-TYPES de dossier · api-endpoints.md § Référentiel champs-fiche-marche · regles-gestion.md § Référentiel des seuils de marchés publics (pré-contrôle du PPM)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372</a:t>
            </a:r>
            <a:endParaRPr lang="en-US" sz="110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(1/2)</a:t>
            </a:r>
            <a:endParaRPr lang="en-US" sz="2600" dirty="0"/>
          </a:p>
        </p:txBody>
      </p:sp>
      <p:graphicFrame>
        <p:nvGraphicFramePr>
          <p:cNvPr id="37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Défauts de la remise électronique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les défauts de la remise électronique : plateforme, fuseau, signature minimale, tailles, délai minimal de publication, assistance, quorum proposé. Un défaut se recopie à la </a:t>
                      </a:r>
                      <a:pPr indent="0" marL="0">
                        <a:buNone/>
                      </a:pPr>
                      <a:r>
                        <a:rPr lang="en-US" sz="1150" b="1" dirty="0">
                          <a:solidFill>
                            <a:srgbClr val="1B2A3A"/>
                          </a:solidFill>
                          <a:latin typeface="Segoe UI" pitchFamily="34" charset="0"/>
                          <a:ea typeface="Segoe UI" pitchFamily="34" charset="-122"/>
                          <a:cs typeface="Segoe UI" pitchFamily="34" charset="-120"/>
                        </a:rPr>
                        <a:t>création</a:t>
                      </a:r>
                      <a:pPr indent="0" marL="0">
                        <a:buNone/>
                      </a:pPr>
                      <a:r>
                        <a:rPr lang="en-US" sz="1150" dirty="0">
                          <a:solidFill>
                            <a:srgbClr val="1B2A3A"/>
                          </a:solidFill>
                          <a:latin typeface="Segoe UI" pitchFamily="34" charset="0"/>
                          <a:ea typeface="Segoe UI" pitchFamily="34" charset="-122"/>
                          <a:cs typeface="Segoe UI" pitchFamily="34" charset="-120"/>
                        </a:rPr>
                        <a:t>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Signature minimale et mise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signature minimale vaut « Avancée » par défaut, alors que la plateforme n’accepte encore que la signature simple. Tant que l’Administrateur ne l’abaisse pas à </a:t>
                      </a:r>
                      <a:pPr indent="0" marL="0">
                        <a:buNone/>
                      </a:pPr>
                      <a:r>
                        <a:rPr lang="en-US" sz="1150" b="1" dirty="0">
                          <a:solidFill>
                            <a:srgbClr val="1B2A3A"/>
                          </a:solidFill>
                          <a:latin typeface="Segoe UI" pitchFamily="34" charset="0"/>
                          <a:ea typeface="Segoe UI" pitchFamily="34" charset="-122"/>
                          <a:cs typeface="Segoe UI" pitchFamily="34" charset="-120"/>
                        </a:rPr>
                        <a:t>Simple</a:t>
                      </a:r>
                      <a:pPr indent="0" marL="0">
                        <a:buNone/>
                      </a:pPr>
                      <a:r>
                        <a:rPr lang="en-US" sz="1150" dirty="0">
                          <a:solidFill>
                            <a:srgbClr val="1B2A3A"/>
                          </a:solidFill>
                          <a:latin typeface="Segoe UI" pitchFamily="34" charset="0"/>
                          <a:ea typeface="Segoe UI" pitchFamily="34" charset="-122"/>
                          <a:cs typeface="Segoe UI" pitchFamily="34" charset="-120"/>
                        </a:rPr>
                        <a:t>, aucune procédure ne paraît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Compte bancaire de l’ARMP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Banque, titulaire et numéro du compte de l’ARMP se règlent par l’Administrateur seul, tous trois exigés. Le compte s’imprime dans les documents ; un document figé garde le compte du moment, et sans réglage il imprime des pointillés.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Paramètres de l’espace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règle l’espace candidat : vérification du NIF, confirmation par téléphone, inscriptions par jour, délais de confirmation et d’inactivité, taille des pièces. Un compte jamais confirmé est supprimé, un compte inactif </a:t>
                      </a:r>
                      <a:pPr indent="0" marL="0">
                        <a:buNone/>
                      </a:pPr>
                      <a:r>
                        <a:rPr lang="en-US" sz="1150" b="1" dirty="0">
                          <a:solidFill>
                            <a:srgbClr val="1B2A3A"/>
                          </a:solidFill>
                          <a:latin typeface="Segoe UI" pitchFamily="34" charset="0"/>
                          <a:ea typeface="Segoe UI" pitchFamily="34" charset="-122"/>
                          <a:cs typeface="Segoe UI" pitchFamily="34" charset="-120"/>
                        </a:rPr>
                        <a:t>archivé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NIF vérifié sur pièces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vérifie sur pièces le NIF d’une entreprise candidate, ou le refuse avec un motif obligatoire ; chaque décision est journalisée. La vérification ne </a:t>
                      </a:r>
                      <a:pPr indent="0" marL="0">
                        <a:buNone/>
                      </a:pPr>
                      <a:r>
                        <a:rPr lang="en-US" sz="1150" b="1" dirty="0">
                          <a:solidFill>
                            <a:srgbClr val="1B2A3A"/>
                          </a:solidFill>
                          <a:latin typeface="Segoe UI" pitchFamily="34" charset="0"/>
                          <a:ea typeface="Segoe UI" pitchFamily="34" charset="-122"/>
                          <a:cs typeface="Segoe UI" pitchFamily="34" charset="-120"/>
                        </a:rPr>
                        <a:t>bloque jamais</a:t>
                      </a:r>
                      <a:pPr indent="0" marL="0">
                        <a:buNone/>
                      </a:pPr>
                      <a:r>
                        <a:rPr lang="en-US" sz="1150" dirty="0">
                          <a:solidFill>
                            <a:srgbClr val="1B2A3A"/>
                          </a:solidFill>
                          <a:latin typeface="Segoe UI" pitchFamily="34" charset="0"/>
                          <a:ea typeface="Segoe UI" pitchFamily="34" charset="-122"/>
                          <a:cs typeface="Segoe UI" pitchFamily="34" charset="-120"/>
                        </a:rPr>
                        <a:t> le dépôt d’une 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ARMP indélébiles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exclusion de l’ARMP ne se supprime pas : on la corrige ou on avance sa fin, chaque changement journalisé. Rapprochée par le NIF, elle </a:t>
                      </a:r>
                      <a:pPr indent="0" marL="0">
                        <a:buNone/>
                      </a:pPr>
                      <a:r>
                        <a:rPr lang="en-US" sz="1150" b="1" dirty="0">
                          <a:solidFill>
                            <a:srgbClr val="1B2A3A"/>
                          </a:solidFill>
                          <a:latin typeface="Segoe UI" pitchFamily="34" charset="0"/>
                          <a:ea typeface="Segoe UI" pitchFamily="34" charset="-122"/>
                          <a:cs typeface="Segoe UI" pitchFamily="34" charset="-120"/>
                        </a:rPr>
                        <a:t>interdit le dépôt</a:t>
                      </a:r>
                      <a:pPr indent="0" marL="0">
                        <a:buNone/>
                      </a:pPr>
                      <a:r>
                        <a:rPr lang="en-US" sz="1150" dirty="0">
                          <a:solidFill>
                            <a:srgbClr val="1B2A3A"/>
                          </a:solidFill>
                          <a:latin typeface="Segoe UI" pitchFamily="34" charset="0"/>
                          <a:ea typeface="Segoe UI" pitchFamily="34" charset="-122"/>
                          <a:cs typeface="Segoe UI" pitchFamily="34" charset="-120"/>
                        </a:rPr>
                        <a:t> ; l’offre d’une entreprise exclue après dépôt est écartée sans être ouverte.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Paramètres système · api-endpoints.md § Procédures ouvertes en ligne et retrait du DAO · api-endpoints.md § l'avis aligné sur un avis réel (§B7) et le compte de l'ARMP (§B8) · api-endpoints.md § Comptes candidats · api-endpoints.md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373</a:t>
            </a:r>
            <a:endParaRPr lang="en-US" sz="1100" dirty="0"/>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(2/2)</a:t>
            </a:r>
            <a:endParaRPr lang="en-US" sz="2600" dirty="0"/>
          </a:p>
        </p:txBody>
      </p:sp>
      <p:graphicFrame>
        <p:nvGraphicFramePr>
          <p:cNvPr id="37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désigne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 de chaque procédure en ligne, une personne à la fois, jamais détentrice d’une part de clé. Une procédure sans responsable remonte en tête des procédures à traiter.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Conservation et purge des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la durée de conservation des offres, comptée depuis la clôture de la séance ; sans durée, rien n’est supprimé. Au terme, il purge les procédures échues </a:t>
                      </a:r>
                      <a:pPr indent="0" marL="0">
                        <a:buNone/>
                      </a:pPr>
                      <a:r>
                        <a:rPr lang="en-US" sz="1150" b="1" dirty="0">
                          <a:solidFill>
                            <a:srgbClr val="1B2A3A"/>
                          </a:solidFill>
                          <a:latin typeface="Segoe UI" pitchFamily="34" charset="0"/>
                          <a:ea typeface="Segoe UI" pitchFamily="34" charset="-122"/>
                          <a:cs typeface="Segoe UI" pitchFamily="34" charset="-120"/>
                        </a:rPr>
                        <a:t>une à une</a:t>
                      </a:r>
                      <a:pPr indent="0" marL="0">
                        <a:buNone/>
                      </a:pPr>
                      <a:r>
                        <a:rPr lang="en-US" sz="1150" dirty="0">
                          <a:solidFill>
                            <a:srgbClr val="1B2A3A"/>
                          </a:solidFill>
                          <a:latin typeface="Segoe UI" pitchFamily="34" charset="0"/>
                          <a:ea typeface="Segoe UI" pitchFamily="34" charset="-122"/>
                          <a:cs typeface="Segoe UI" pitchFamily="34" charset="-120"/>
                        </a:rPr>
                        <a:t> ; journal, empreintes et PV demeurent.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374</a:t>
            </a:r>
            <a:endParaRPr lang="en-US" sz="1100" dirty="0"/>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Traces et communication</a:t>
            </a:r>
            <a:endParaRPr lang="en-US" sz="2600" dirty="0"/>
          </a:p>
        </p:txBody>
      </p:sp>
      <p:graphicFrame>
        <p:nvGraphicFramePr>
          <p:cNvPr id="37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Journal d’audit immuable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écriture est tracée au journal, qui se filtre par table, acteur et période, du plus récent au plus ancien. Il est </a:t>
                      </a:r>
                      <a:pPr indent="0" marL="0">
                        <a:buNone/>
                      </a:pPr>
                      <a:r>
                        <a:rPr lang="en-US" sz="1150" b="1" dirty="0">
                          <a:solidFill>
                            <a:srgbClr val="1B2A3A"/>
                          </a:solidFill>
                          <a:latin typeface="Segoe UI" pitchFamily="34" charset="0"/>
                          <a:ea typeface="Segoe UI" pitchFamily="34" charset="-122"/>
                          <a:cs typeface="Segoe UI" pitchFamily="34" charset="-120"/>
                        </a:rPr>
                        <a:t>immuable</a:t>
                      </a:r>
                      <a:pPr indent="0" marL="0">
                        <a:buNone/>
                      </a:pPr>
                      <a:r>
                        <a:rPr lang="en-US" sz="1150" dirty="0">
                          <a:solidFill>
                            <a:srgbClr val="1B2A3A"/>
                          </a:solidFill>
                          <a:latin typeface="Segoe UI" pitchFamily="34" charset="0"/>
                          <a:ea typeface="Segoe UI" pitchFamily="34" charset="-122"/>
                          <a:cs typeface="Segoe UI" pitchFamily="34" charset="-120"/>
                        </a:rPr>
                        <a:t> : nul n’y ajoute, n’y modifie ni n’y supprime une entrée.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Connexions journalisées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connexion réussie ou refusée et chaque déconnexion sont enregistrées avec l’adresse et l’heure. Une tentative sur un identifiant inconnu n’est attribuée à personne. Aucune purge n’est prévue : la durée de rétention reste </a:t>
                      </a:r>
                      <a:pPr indent="0" marL="0">
                        <a:buNone/>
                      </a:pPr>
                      <a:r>
                        <a:rPr lang="en-US" sz="1150" b="1" dirty="0">
                          <a:solidFill>
                            <a:srgbClr val="1B2A3A"/>
                          </a:solidFill>
                          <a:latin typeface="Segoe UI" pitchFamily="34" charset="0"/>
                          <a:ea typeface="Segoe UI" pitchFamily="34" charset="-122"/>
                          <a:cs typeface="Segoe UI" pitchFamily="34" charset="-120"/>
                        </a:rPr>
                        <a:t>à arbitrer</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Actualités ciblées et archivées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actualité, en markdown sans HTML, vise au moins un profil et s’affiche à l’ouverture de session dans sa fenêtre de dates. Elle naît </a:t>
                      </a:r>
                      <a:pPr indent="0" marL="0">
                        <a:buNone/>
                      </a:pPr>
                      <a:r>
                        <a:rPr lang="en-US" sz="1150" b="1" dirty="0">
                          <a:solidFill>
                            <a:srgbClr val="1B2A3A"/>
                          </a:solidFill>
                          <a:latin typeface="Segoe UI" pitchFamily="34" charset="0"/>
                          <a:ea typeface="Segoe UI" pitchFamily="34" charset="-122"/>
                          <a:cs typeface="Segoe UI" pitchFamily="34" charset="-120"/>
                        </a:rPr>
                        <a:t>inactive</a:t>
                      </a:r>
                      <a:pPr indent="0" marL="0">
                        <a:buNone/>
                      </a:pPr>
                      <a:r>
                        <a:rPr lang="en-US" sz="1150" dirty="0">
                          <a:solidFill>
                            <a:srgbClr val="1B2A3A"/>
                          </a:solidFill>
                          <a:latin typeface="Segoe UI" pitchFamily="34" charset="0"/>
                          <a:ea typeface="Segoe UI" pitchFamily="34" charset="-122"/>
                          <a:cs typeface="Segoe UI" pitchFamily="34" charset="-120"/>
                        </a:rPr>
                        <a:t> ; supprimée, elle est archivée. Un interrupteur général les coupe toutes.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08 — Journal d'audit · regles-gestion.md § 3.8. Administrateur › Module 10 — Administration &amp; sécurité › Journal des connexions · regles-gestion.md § Actualités à l'ouverture de session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375</a:t>
            </a:r>
            <a:endParaRPr lang="en-US" sz="1100" dirty="0"/>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Pré-contrôle</a:t>
            </a:r>
            <a:endParaRPr lang="en-US" sz="2600" dirty="0"/>
          </a:p>
        </p:txBody>
      </p:sp>
      <p:graphicFrame>
        <p:nvGraphicFramePr>
          <p:cNvPr id="37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Taux d’écartement par règle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tableau donne, règle par règle, la part des signalements écartés, en compteurs seuls, sans aucun plan. Une règle écartée dans </a:t>
                      </a:r>
                      <a:pPr indent="0" marL="0">
                        <a:buNone/>
                      </a:pPr>
                      <a:r>
                        <a:rPr lang="en-US" sz="1150" b="1" dirty="0">
                          <a:solidFill>
                            <a:srgbClr val="1B2A3A"/>
                          </a:solidFill>
                          <a:latin typeface="Segoe UI" pitchFamily="34" charset="0"/>
                          <a:ea typeface="Segoe UI" pitchFamily="34" charset="-122"/>
                          <a:cs typeface="Segoe UI" pitchFamily="34" charset="-120"/>
                        </a:rPr>
                        <a:t>80 % des cas</a:t>
                      </a:r>
                      <a:pPr indent="0" marL="0">
                        <a:buNone/>
                      </a:pPr>
                      <a:r>
                        <a:rPr lang="en-US" sz="1150" dirty="0">
                          <a:solidFill>
                            <a:srgbClr val="1B2A3A"/>
                          </a:solidFill>
                          <a:latin typeface="Segoe UI" pitchFamily="34" charset="0"/>
                          <a:ea typeface="Segoe UI" pitchFamily="34" charset="-122"/>
                          <a:cs typeface="Segoe UI" pitchFamily="34" charset="-120"/>
                        </a:rPr>
                        <a:t> s’éteint depuis l’administration ; les motifs déjà saisis sont conservés.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Levé n’est pas écarté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a:t>
                      </a:r>
                      <a:pPr indent="0" marL="0">
                        <a:buNone/>
                      </a:pPr>
                      <a:r>
                        <a:rPr lang="en-US" sz="1150" b="1" dirty="0">
                          <a:solidFill>
                            <a:srgbClr val="1B2A3A"/>
                          </a:solidFill>
                          <a:latin typeface="Segoe UI" pitchFamily="34" charset="0"/>
                          <a:ea typeface="Segoe UI" pitchFamily="34" charset="-122"/>
                          <a:cs typeface="Segoe UI" pitchFamily="34" charset="-120"/>
                        </a:rPr>
                        <a:t>levé</a:t>
                      </a:r>
                      <a:pPr indent="0" marL="0">
                        <a:buNone/>
                      </a:pPr>
                      <a:r>
                        <a:rPr lang="en-US" sz="1150" dirty="0">
                          <a:solidFill>
                            <a:srgbClr val="1B2A3A"/>
                          </a:solidFill>
                          <a:latin typeface="Segoe UI" pitchFamily="34" charset="0"/>
                          <a:ea typeface="Segoe UI" pitchFamily="34" charset="-122"/>
                          <a:cs typeface="Segoe UI" pitchFamily="34" charset="-120"/>
                        </a:rPr>
                        <a:t> — la PRMP a corrigé son plan — est une réussite et ne compte pas dans le taux. Le seuil ne joue qu’à partir de cinq signalements ; l’accueil annonce la règle qui le dépasse.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376</a:t>
            </a:r>
            <a:endParaRPr lang="en-US" sz="1100" dirty="0"/>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Piloter et publier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tableaux de pilotage de la Commission, la publication des décisions, la transparence.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377</a:t>
            </a:r>
            <a:endParaRPr lang="en-US" sz="1100" dirty="0"/>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 à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à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soumis, son statut et sa fin de traitement prévue.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RG-PIL-01 · RG-PIL-02 · RG-PIL-03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378</a:t>
            </a:r>
            <a:endParaRPr lang="en-US" sz="1100" dirty="0"/>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rapports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apport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des dossiers sur une période, en PDF ou en tableur.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379</a:t>
            </a:r>
            <a:endParaRPr lang="en-US" sz="1100" dirty="0"/>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publications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ubl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Chargé de publication publie les décisions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RG-PIL-07 · RG-PIL-08 · RG-PIL-09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380</a:t>
            </a:r>
            <a:endParaRPr lang="en-US" sz="1100" dirty="0"/>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documents publics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cuments public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documents mis à la disposition du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381</a:t>
            </a:r>
            <a:endParaRPr lang="en-US" sz="1100" dirty="0"/>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procédures en remise électronique : état, calendrier, commission et cérémonie, responsable.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Désigner le responsable » pour celles qui n’en ont pas.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RG-PIL-11 · RG-PIL-12 · RG-PIL-13 · RG-PIL-14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382</a:t>
            </a:r>
            <a:endParaRPr lang="en-US" sz="110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8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 contrôleur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des statistiques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t_snapshot_stats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publication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t_publication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public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t_document_public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383</a:t>
            </a:r>
            <a:endParaRPr lang="en-US" sz="1100" dirty="0"/>
          </a:p>
        </p:txBody>
      </p:sp>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38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 contrôleur  ·  t_indicateur_ctrl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PERIODE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NB_EXAMENS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examens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NB_OBS_EMISES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observation emises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d’une PRMP  ·  t_indicateur_prmp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NB_PPM_SOUMIS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PPM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NB_DOSSIERS_NON_CONFORMES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non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NB_RETRAITS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retraits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DELAI_MOY_CORRECTION_JOURS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 correction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des statistiques  ·  t_snapshot_stats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384</a:t>
            </a:r>
            <a:endParaRPr lang="en-US" sz="1100" dirty="0"/>
          </a:p>
        </p:txBody>
      </p:sp>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38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NB_DOSSIERS_RECUS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reçus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NB_DOSSIERS_CLOTURES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clotures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NB_DOSSIERS_EN_COURS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en 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NB_RETOURS_MOYEN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publication  ·  t_publication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STATUT_PUBLI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NB_CONSULTATIONS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consultations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public  ·  t_document_public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ID_DOC_PUBLIC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 public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385</a:t>
            </a:r>
            <a:endParaRPr lang="en-US" sz="1100" dirty="0"/>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38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 par l'action empreinte.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386</a:t>
            </a:r>
            <a:endParaRPr lang="en-US" sz="1100" dirty="0"/>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14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8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Suivi des dossiers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RG-PIL-01 → 03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Fin prévue dès la soumission · La date glisse, sans promesse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Rapports et tableaux de pilotage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RG-PIL-04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Rapports bornés par la localité · Indicateurs globaux réservés · Ce que mesure la conformité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Publication et transparence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Chargé de publication cloisonné · Publier, puis retirer · Retrait toujours motivé · Documents publics vérifiables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Procédures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RG-PIL-11 → 14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Vue complète de l’Administrateur · À traiter d’abord · L’intérimaire voit, sans agir · Ce que le public voit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387</a:t>
            </a:r>
            <a:endParaRPr lang="en-US" sz="1100" dirty="0"/>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Suivi des dossiers</a:t>
            </a:r>
            <a:endParaRPr lang="en-US" sz="2600" dirty="0"/>
          </a:p>
        </p:txBody>
      </p:sp>
      <p:graphicFrame>
        <p:nvGraphicFramePr>
          <p:cNvPr id="38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Fin prévue dès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voit, pour chaque dossier, la date de dépôt, la date d’enregistrement et la </a:t>
                      </a:r>
                      <a:pPr indent="0" marL="0">
                        <a:buNone/>
                      </a:pPr>
                      <a:r>
                        <a:rPr lang="en-US" sz="1150" b="1" dirty="0">
                          <a:solidFill>
                            <a:srgbClr val="1B2A3A"/>
                          </a:solidFill>
                          <a:latin typeface="Segoe UI" pitchFamily="34" charset="0"/>
                          <a:ea typeface="Segoe UI" pitchFamily="34" charset="-122"/>
                          <a:cs typeface="Segoe UI" pitchFamily="34" charset="-120"/>
                        </a:rPr>
                        <a:t>fin prévue</a:t>
                      </a:r>
                      <a:pPr indent="0" marL="0">
                        <a:buNone/>
                      </a:pPr>
                      <a:r>
                        <a:rPr lang="en-US" sz="1150" dirty="0">
                          <a:solidFill>
                            <a:srgbClr val="1B2A3A"/>
                          </a:solidFill>
                          <a:latin typeface="Segoe UI" pitchFamily="34" charset="0"/>
                          <a:ea typeface="Segoe UI" pitchFamily="34" charset="-122"/>
                          <a:cs typeface="Segoe UI" pitchFamily="34" charset="-120"/>
                        </a:rPr>
                        <a:t>, calculée par le serveur dès la soumission à partir des délais standards.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date glisse, sans promesse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le dossier attend la PRMP (compléments, pièces, décision), la date reste calculée mais </a:t>
                      </a:r>
                      <a:pPr indent="0" marL="0">
                        <a:buNone/>
                      </a:pPr>
                      <a:r>
                        <a:rPr lang="en-US" sz="1150" b="1" dirty="0">
                          <a:solidFill>
                            <a:srgbClr val="1B2A3A"/>
                          </a:solidFill>
                          <a:latin typeface="Segoe UI" pitchFamily="34" charset="0"/>
                          <a:ea typeface="Segoe UI" pitchFamily="34" charset="-122"/>
                          <a:cs typeface="Segoe UI" pitchFamily="34" charset="-120"/>
                        </a:rPr>
                        <a:t>glisse</a:t>
                      </a:r>
                      <a:pPr indent="0" marL="0">
                        <a:buNone/>
                      </a:pPr>
                      <a:r>
                        <a:rPr lang="en-US" sz="1150" dirty="0">
                          <a:solidFill>
                            <a:srgbClr val="1B2A3A"/>
                          </a:solidFill>
                          <a:latin typeface="Segoe UI" pitchFamily="34" charset="0"/>
                          <a:ea typeface="Segoe UI" pitchFamily="34" charset="-122"/>
                          <a:cs typeface="Segoe UI" pitchFamily="34" charset="-120"/>
                        </a:rPr>
                        <a:t> jusqu’à sa réponse. Une étape en dépassement ne compte plus : la date recule au lieu de promettre un rattrapage.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suit l’avancement de ses dossiers, mais ne voit ni les acteurs internes de la Commission ni la grille point par point : du PV, elle reçoit la </a:t>
                      </a:r>
                      <a:pPr indent="0" marL="0">
                        <a:buNone/>
                      </a:pPr>
                      <a:r>
                        <a:rPr lang="en-US" sz="1150" b="1" dirty="0">
                          <a:solidFill>
                            <a:srgbClr val="1B2A3A"/>
                          </a:solidFill>
                          <a:latin typeface="Segoe UI" pitchFamily="34" charset="0"/>
                          <a:ea typeface="Segoe UI" pitchFamily="34" charset="-122"/>
                          <a:cs typeface="Segoe UI" pitchFamily="34" charset="-120"/>
                        </a:rPr>
                        <a:t>synthèse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Module 02 — Saisie &amp; gestion PPM › Date prévisionnelle de fin de traitement · regles-gestion.md § Chronométrage et prévision des délais (transversal au circuit) · regles-gestion.md § 3.1. PRMP › Module 03 — Soumission &amp; retours › Consultation du PV d'examen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388</a:t>
            </a:r>
            <a:endParaRPr lang="en-US" sz="1100" dirty="0"/>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Rapports et tableaux de pilotage</a:t>
            </a:r>
            <a:endParaRPr lang="en-US" sz="2600" dirty="0"/>
          </a:p>
        </p:txBody>
      </p:sp>
      <p:graphicFrame>
        <p:nvGraphicFramePr>
          <p:cNvPr id="39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Rapports bornés par la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rapports de dossiers se téléchargent en PDF ou en Excel, sur une période. Président et Administrateur couvrent toutes les commissions ou en ciblent une ; le Chef de commission n’obtient que </a:t>
                      </a:r>
                      <a:pPr indent="0" marL="0">
                        <a:buNone/>
                      </a:pPr>
                      <a:r>
                        <a:rPr lang="en-US" sz="1150" b="1" dirty="0">
                          <a:solidFill>
                            <a:srgbClr val="1B2A3A"/>
                          </a:solidFill>
                          <a:latin typeface="Segoe UI" pitchFamily="34" charset="0"/>
                          <a:ea typeface="Segoe UI" pitchFamily="34" charset="-122"/>
                          <a:cs typeface="Segoe UI" pitchFamily="34" charset="-120"/>
                        </a:rPr>
                        <a:t>sa localité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Indicateurs globaux réservés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indicateurs globaux — dossiers reçus et clôturés, taux de conformité, délai moyen, montant contrôlé — sont lus par le Président et l’Administrateur seuls. La PRMP n’a </a:t>
                      </a:r>
                      <a:pPr indent="0" marL="0">
                        <a:buNone/>
                      </a:pPr>
                      <a:r>
                        <a:rPr lang="en-US" sz="1150" b="1" dirty="0">
                          <a:solidFill>
                            <a:srgbClr val="1B2A3A"/>
                          </a:solidFill>
                          <a:latin typeface="Segoe UI" pitchFamily="34" charset="0"/>
                          <a:ea typeface="Segoe UI" pitchFamily="34" charset="-122"/>
                          <a:cs typeface="Segoe UI" pitchFamily="34" charset="-120"/>
                        </a:rPr>
                        <a:t>pas accès</a:t>
                      </a:r>
                      <a:pPr indent="0" marL="0">
                        <a:buNone/>
                      </a:pPr>
                      <a:r>
                        <a:rPr lang="en-US" sz="1150" dirty="0">
                          <a:solidFill>
                            <a:srgbClr val="1B2A3A"/>
                          </a:solidFill>
                          <a:latin typeface="Segoe UI" pitchFamily="34" charset="0"/>
                          <a:ea typeface="Segoe UI" pitchFamily="34" charset="-122"/>
                          <a:cs typeface="Segoe UI" pitchFamily="34" charset="-120"/>
                        </a:rPr>
                        <a:t> aux statistiques de la CNM.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mesure la conformité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est conforme quand le Vérificateur constate les observations levées au dernier passage. Le taux de conformité mesure la </a:t>
                      </a:r>
                      <a:pPr indent="0" marL="0">
                        <a:buNone/>
                      </a:pPr>
                      <a:r>
                        <a:rPr lang="en-US" sz="1150" b="1" dirty="0">
                          <a:solidFill>
                            <a:srgbClr val="1B2A3A"/>
                          </a:solidFill>
                          <a:latin typeface="Segoe UI" pitchFamily="34" charset="0"/>
                          <a:ea typeface="Segoe UI" pitchFamily="34" charset="-122"/>
                          <a:cs typeface="Segoe UI" pitchFamily="34" charset="-120"/>
                        </a:rPr>
                        <a:t>qualité initiale</a:t>
                      </a:r>
                      <a:pPr indent="0" marL="0">
                        <a:buNone/>
                      </a:pPr>
                      <a:r>
                        <a:rPr lang="en-US" sz="1150" dirty="0">
                          <a:solidFill>
                            <a:srgbClr val="1B2A3A"/>
                          </a:solidFill>
                          <a:latin typeface="Segoe UI" pitchFamily="34" charset="0"/>
                          <a:ea typeface="Segoe UI" pitchFamily="34" charset="-122"/>
                          <a:cs typeface="Segoe UI" pitchFamily="34" charset="-120"/>
                        </a:rPr>
                        <a:t> des soumissions : 100 % signifie aucun retour.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Rapports · api-endpoints.md § Instantanés de statistiques · regles-gestion.md § 3.2. Président › Module 01 — Tableau de bord &amp; KPIs › Taux de conformité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389</a:t>
            </a:r>
            <a:endParaRPr lang="en-US" sz="1100" dirty="0"/>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Publication et transparence</a:t>
            </a:r>
            <a:endParaRPr lang="en-US" sz="2600" dirty="0"/>
          </a:p>
        </p:txBody>
      </p:sp>
      <p:graphicFrame>
        <p:nvGraphicFramePr>
          <p:cNvPr id="39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Chargé de publication cloisonné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Chargé de publication gère le portail de transparence sans accès au circuit interne, au journal d’audit ni aux statistiques de la CNM. Il est </a:t>
                      </a:r>
                      <a:pPr indent="0" marL="0">
                        <a:buNone/>
                      </a:pPr>
                      <a:r>
                        <a:rPr lang="en-US" sz="1150" b="1" dirty="0">
                          <a:solidFill>
                            <a:srgbClr val="1B2A3A"/>
                          </a:solidFill>
                          <a:latin typeface="Segoe UI" pitchFamily="34" charset="0"/>
                          <a:ea typeface="Segoe UI" pitchFamily="34" charset="-122"/>
                          <a:cs typeface="Segoe UI" pitchFamily="34" charset="-120"/>
                        </a:rPr>
                        <a:t>avisé</a:t>
                      </a:r>
                      <a:pPr indent="0" marL="0">
                        <a:buNone/>
                      </a:pPr>
                      <a:r>
                        <a:rPr lang="en-US" sz="1150" dirty="0">
                          <a:solidFill>
                            <a:srgbClr val="1B2A3A"/>
                          </a:solidFill>
                          <a:latin typeface="Segoe UI" pitchFamily="34" charset="0"/>
                          <a:ea typeface="Segoe UI" pitchFamily="34" charset="-122"/>
                          <a:cs typeface="Segoe UI" pitchFamily="34" charset="-120"/>
                        </a:rPr>
                        <a:t> à chaque clôture conforme éligible à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Publier, puis retirer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publication naît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 seule une publication en attente se publie, seule une publication publiée se retire. Chaque consultation incrémente son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Retirer une publication exige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conservé avec la date du retrait : la dépublication reste documentée.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Documents publics vérifiables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document public est mis en ligne en PDF avec son </a:t>
                      </a:r>
                      <a:pPr indent="0" marL="0">
                        <a:buNone/>
                      </a:pPr>
                      <a:r>
                        <a:rPr lang="en-US" sz="1150" b="1" dirty="0">
                          <a:solidFill>
                            <a:srgbClr val="1B2A3A"/>
                          </a:solidFill>
                          <a:latin typeface="Segoe UI" pitchFamily="34" charset="0"/>
                          <a:ea typeface="Segoe UI" pitchFamily="34" charset="-122"/>
                          <a:cs typeface="Segoe UI" pitchFamily="34" charset="-120"/>
                        </a:rPr>
                        <a:t>empreinte SHA-256</a:t>
                      </a:r>
                      <a:pPr indent="0" marL="0">
                        <a:buNone/>
                      </a:pPr>
                      <a:r>
                        <a:rPr lang="en-US" sz="1150" dirty="0">
                          <a:solidFill>
                            <a:srgbClr val="1B2A3A"/>
                          </a:solidFill>
                          <a:latin typeface="Segoe UI" pitchFamily="34" charset="0"/>
                          <a:ea typeface="Segoe UI" pitchFamily="34" charset="-122"/>
                          <a:cs typeface="Segoe UI" pitchFamily="34" charset="-120"/>
                        </a:rPr>
                        <a:t> ; l’intégrité d’un fichier se vérifie à tout moment en recalculant l’empreinte.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3.7. Chargé de publication · api-endpoints.md § Publications · regles-gestion.md § 3.7. Chargé de publication › Module 09 — Portail de publication · api-endpoints.md § Documents publics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390</a:t>
            </a:r>
            <a:endParaRPr lang="en-US" sz="1100" dirty="0"/>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Procédures en ligne</a:t>
            </a:r>
            <a:endParaRPr lang="en-US" sz="2600" dirty="0"/>
          </a:p>
        </p:txBody>
      </p:sp>
      <p:graphicFrame>
        <p:nvGraphicFramePr>
          <p:cNvPr id="39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Vue complète de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voit toutes les fiches en remise électronique, brouillons compris, pour désigner les responsables et suivre les procédures. Chaque autre agent ne voit que celles dont il est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À traiter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place en tête les procédures à traiter — sans responsable, cérémonie des clés non close, séance en cours ou du jour —, les séances closes en dernier. Seul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d’offres déposées y figure.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L’intérimaire voit, sans agir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procédure suivie par intérim est signalée : l’intérimaire la voit, mais les gestes du responsable restent au </a:t>
                      </a:r>
                      <a:pPr indent="0" marL="0">
                        <a:buNone/>
                      </a:pPr>
                      <a:r>
                        <a:rPr lang="en-US" sz="1150" b="1" dirty="0">
                          <a:solidFill>
                            <a:srgbClr val="1B2A3A"/>
                          </a:solidFill>
                          <a:latin typeface="Segoe UI" pitchFamily="34" charset="0"/>
                          <a:ea typeface="Segoe UI" pitchFamily="34" charset="-122"/>
                          <a:cs typeface="Segoe UI" pitchFamily="34" charset="-120"/>
                        </a:rPr>
                        <a:t>titulaire</a:t>
                      </a:r>
                      <a:pPr indent="0" marL="0">
                        <a:buNone/>
                      </a:pPr>
                      <a:r>
                        <a:rPr lang="en-US" sz="1150" dirty="0">
                          <a:solidFill>
                            <a:srgbClr val="1B2A3A"/>
                          </a:solidFill>
                          <a:latin typeface="Segoe UI" pitchFamily="34" charset="0"/>
                          <a:ea typeface="Segoe UI" pitchFamily="34" charset="-122"/>
                          <a:cs typeface="Segoe UI" pitchFamily="34" charset="-120"/>
                        </a:rPr>
                        <a:t>. Une procédure close reste listée jusqu’au terme de la conservation des offres.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le public 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public ne voit en ligne qu’une procédure électronique lancée, en signature simple et avant sa date limite. Aucun </a:t>
                      </a:r>
                      <a:pPr indent="0" marL="0">
                        <a:buNone/>
                      </a:pPr>
                      <a:r>
                        <a:rPr lang="en-US" sz="1150" b="1" dirty="0">
                          <a:solidFill>
                            <a:srgbClr val="1B2A3A"/>
                          </a:solidFill>
                          <a:latin typeface="Segoe UI" pitchFamily="34" charset="0"/>
                          <a:ea typeface="Segoe UI" pitchFamily="34" charset="-122"/>
                          <a:cs typeface="Segoe UI" pitchFamily="34" charset="-120"/>
                        </a:rPr>
                        <a:t>paramètre interne</a:t>
                      </a:r>
                      <a:pPr indent="0" marL="0">
                        <a:buNone/>
                      </a:pPr>
                      <a:r>
                        <a:rPr lang="en-US" sz="1150" dirty="0">
                          <a:solidFill>
                            <a:srgbClr val="1B2A3A"/>
                          </a:solidFill>
                          <a:latin typeface="Segoe UI" pitchFamily="34" charset="0"/>
                          <a:ea typeface="Segoe UI" pitchFamily="34" charset="-122"/>
                          <a:cs typeface="Segoe UI" pitchFamily="34" charset="-120"/>
                        </a:rPr>
                        <a:t> n’est publié ; les documents ne se retirent qu’avec un compte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La liste des procédures en ligne, pour le responsable et l'Administrateur · api-endpoints.md § Procédures ouvertes en ligne et retrait du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391</Slides>
  <Notes>391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391</vt:i4>
      </vt:variant>
    </vt:vector>
  </HeadingPairs>
  <TitlesOfParts>
    <vt:vector size="39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vector>
  </TitlesOfParts>
  <Company>Commission nationale des marchés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PRS 2.0 — L’application de bout en bout</dc:title>
  <dc:subject>PptxGenJS Presentation</dc:subject>
  <dc:creator>PRS 2.0</dc:creator>
  <cp:lastModifiedBy>PRS 2.0</cp:lastModifiedBy>
  <cp:revision>1</cp:revision>
  <dcterms:created xsi:type="dcterms:W3CDTF">2026-10-08T07:51:34Z</dcterms:created>
  <dcterms:modified xsi:type="dcterms:W3CDTF">2026-10-08T07:51:34Z</dcterms:modified>
</cp:coreProperties>
</file>