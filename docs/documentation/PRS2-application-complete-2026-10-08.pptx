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notesMasterIdLst>
    <p:notesMasterId r:id="rId1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Édition de travail (phase 1) : les parties déjà illustrées sont reprises des présentations « Fonctionnement détaillé » (06/10) et « Évaluation et attribution » (07/10) ; les écrans annoncés « à venir » seront capturés aux phases 2 et 3, les règles de gestion ajoutées à la phase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étapes 2 à 5 sont montrées sur une seconde fiche brouillon de démonstration, parcourue à l’écran comme le ferait une PRMP.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812800"/>
            <a:ext cx="10159746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NATIONALE DES MARCHÉS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80" y="1206500"/>
            <a:ext cx="10477238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— L’application de bout en bout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780" y="2730500"/>
            <a:ext cx="9524762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étapes, du plan de passation au marché notifié : chaque écran, qui y agit, ce qui s’y passe, et les règles de gestion que le serveur applique.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80" y="5270500"/>
            <a:ext cx="9842254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de l’application réelle sur des dossiers de démonstration · noms de personnes remplacés par leur rôle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Ministère de l’Économie et des Finances ·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Douze parties, une seule chaîne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partie s’ouvre sur son parcours, montre chaque écran (qui agit, ce qui se passe, les règles appliquées), et se termine par le catalogue de ses règles de gestion.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2527237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Entrer dans l’application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Portail public, connexion, inscription, accueil « À faire », actualités, notifications, mon compte.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413" y="1651000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413" y="1651000"/>
            <a:ext cx="2527237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3632109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Planifier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2109" y="2146300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plan de passation : saisie ou import, calendrier, pièces, pré-contrôle, soumission, mises à jour.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046" y="1651000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046" y="1651000"/>
            <a:ext cx="2527237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11742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Contrôler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1742" y="2146300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circuit de la Commission : recevabilité, dispatch, examen, PV, visa, signature, vérification, renvoi, archivage.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1679" y="1651000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51679" y="1651000"/>
            <a:ext cx="2527237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8991375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Préparer le DAO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91375" y="2146300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fiche marché, ses documents, le DAO complet, la commission d’appel d’offres, le contrôle et l’avis.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780" y="3246967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780" y="3246967"/>
            <a:ext cx="2527237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52476" y="3348567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Consulter : l’AMI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476" y="3742267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Prestations intellectuelles : appel à manifestation d’intérêt, présélection, liste restreinte, invitations.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92413" y="3246967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2413" y="3246967"/>
            <a:ext cx="2527237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3632109" y="3348567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Recevoir les offres en ligne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32109" y="3742267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entreprises : compte, frais de dossier, retrait, offre remplie en ligne, dépôt scellé.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046" y="3246967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046" y="3246967"/>
            <a:ext cx="2527237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31" name="Text 29"/>
          <p:cNvSpPr/>
          <p:nvPr/>
        </p:nvSpPr>
        <p:spPr>
          <a:xfrm>
            <a:off x="6311742" y="3348567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La séance d’ouverture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11742" y="3742267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clés, le quorum, l’ouverture, la lecture, le PV signé en ligne.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51679" y="3246967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679" y="3246967"/>
            <a:ext cx="2527237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35" name="Text 33"/>
          <p:cNvSpPr/>
          <p:nvPr/>
        </p:nvSpPr>
        <p:spPr>
          <a:xfrm>
            <a:off x="8991375" y="3348567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Évaluer les offres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991375" y="3742267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étapes 2 à 5 du guide, le rapport signé de la commission.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2780" y="4842933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2780" y="4842933"/>
            <a:ext cx="2527237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39" name="Text 37"/>
          <p:cNvSpPr/>
          <p:nvPr/>
        </p:nvSpPr>
        <p:spPr>
          <a:xfrm>
            <a:off x="952476" y="4944533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Attribuer et notifier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52476" y="5338233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de marché, l’information des candidats, les recours, la signature, la notification, l’avis.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92413" y="4842933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92413" y="4842933"/>
            <a:ext cx="2527237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3" name="Text 41"/>
          <p:cNvSpPr/>
          <p:nvPr/>
        </p:nvSpPr>
        <p:spPr>
          <a:xfrm>
            <a:off x="3632109" y="4944533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Intérim et mandats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632109" y="5338233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titulaire absent, l’intérim désigné, la vacance de la PRMP.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72046" y="4842933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046" y="4842933"/>
            <a:ext cx="2527237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47" name="Text 45"/>
          <p:cNvSpPr/>
          <p:nvPr/>
        </p:nvSpPr>
        <p:spPr>
          <a:xfrm>
            <a:off x="6311742" y="4944533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Administrer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311742" y="5338233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Comptes, référentiels, seuils, paramètres, procédures, actualités.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851679" y="4842933"/>
            <a:ext cx="2527237" cy="144356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51679" y="4842933"/>
            <a:ext cx="2527237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51" name="Text 49"/>
          <p:cNvSpPr/>
          <p:nvPr/>
        </p:nvSpPr>
        <p:spPr>
          <a:xfrm>
            <a:off x="8991375" y="4944533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Piloter et publier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991375" y="5338233"/>
            <a:ext cx="2247844" cy="8847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Tableaux de pilotage, publication, transparence.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plan de passation au marché notifié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marché inscrit au plan traverse deux contrôles de la Commission nationale des marchés : celui du plan, puis celui de son dossier de consultation — et, après l’évaluation, celui du marché lui-même.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1677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77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saisit et soumet son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70088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97085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5983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85983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85983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examine, le PV est signé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4394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1390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0288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0288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70288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fiche DAO produit le dossier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8699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65696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594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4594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54594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offres arrivent en ligne, scellées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23004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0001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8899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38899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38899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 classe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7310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34307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3204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23204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23204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marché est contrôlé, signé, notifié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780" y="3746500"/>
            <a:ext cx="104137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Autour de la chaîne : l’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entrée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dans l’application (01), l’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intérim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(10), l’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administration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(11) et le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pilotage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(12).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ACTEURS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intervient, et dans quel espace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coquille interne réunit la PRMP, l’UGPM et les huit profils de la Commission ; les candidats, la commission d’appel d’offres et le dépositaire ont chacun un espace à part.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2527237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 et UGPM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personne responsable des marchés publics prépare, soumet, valide et signe ; son unité de gestion prépare avec elle.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413" y="16510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413" y="1651000"/>
            <a:ext cx="2527237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3632109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2109" y="21463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Reçoit les dossiers, contrôle la recevabilité pièce par pièce.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046" y="16510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046" y="1651000"/>
            <a:ext cx="2527237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11742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 et Chef de commission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1742" y="21463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Dispatchent, visent les PV, désignent le co-signataire ; peuvent être suppléés par intérim.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1679" y="16510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51679" y="1651000"/>
            <a:ext cx="2527237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8991375" y="17526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91375" y="21463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Examine, émet l’avis, signe le PV.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780" y="39624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780" y="3962400"/>
            <a:ext cx="2527237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52476" y="40640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Vérificateur et Assistant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476" y="44577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Vérifient la levée des réserves, transmettent à SIGMP ; l’Assistant archive.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92413" y="39624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2413" y="3962400"/>
            <a:ext cx="2527237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3632109" y="40640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Chargé de publication, Administrateur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32109" y="44577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 ; administre comptes, référentiels et paramètres.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046" y="39624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046" y="3962400"/>
            <a:ext cx="2527237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31" name="Text 29"/>
          <p:cNvSpPr/>
          <p:nvPr/>
        </p:nvSpPr>
        <p:spPr>
          <a:xfrm>
            <a:off x="6311742" y="40640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d’appel d’offres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11742" y="44577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 membres ouvrent les offres en séance, évaluent, présélectionnent, signent les rapports (espace /cao).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51679" y="3962400"/>
            <a:ext cx="2527237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679" y="3962400"/>
            <a:ext cx="2527237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35" name="Text 33"/>
          <p:cNvSpPr/>
          <p:nvPr/>
        </p:nvSpPr>
        <p:spPr>
          <a:xfrm>
            <a:off x="8991375" y="4064000"/>
            <a:ext cx="2247844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Candidats et dépositaire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991375" y="4457700"/>
            <a:ext cx="2247844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entreprises retirent, déposent, suivent leur résultat ; le dépositaire garde la part de secours.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Entrer dans l’application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portail public, la connexion, l’accueil « À faire » de chaque profil, les actualités, les notifications et le compte.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ACCUEIL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L’accueil « À faire 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ccueil « À fair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connexion, ce que le circuit attend d’elle,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urgence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menu : son travail (dont 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Appels d’offres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»), ses décisions, la planification.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ACCUEIL · TOUS LES PROFILS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actualité à l’ouverture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Une actualité à l’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 les profils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publie des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actualités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ciblées par profil : rappel de règles, fermeture technique…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Elles s’affichent à la connexion ; une fenêtre se ferme par son bouton ou par Échap.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autres écrans de l’entrée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2)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portail public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L’entrée par audience (PRMP, Commission, entreprises), la phrase de rôle, les liens.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connexion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compte, le mot de passe, la session par cookie ; la déconnexion.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L’inscription PRMP et UGPM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s’inscrit, l’Administrateur valide ; l’UGPM est créée par la PRMP.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À faire » des autres profils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Secrétaire, Président, Membre, Vérificateur : ce que le circuit attend de chacun.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5624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5624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5320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notifications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5320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cloche en temps réel, l’écran des notifications, le lien vers l’écran d’action.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8468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8468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098164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 compte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98164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profil, le mot de passe, le menu compact.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saisit son plan de passation (ou l’importe), le vérifie à l’aperçu et le soumet à la Commission ; un plan validé se met à jour par une nouvelle version.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dossier : choisir son 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Créer un dossier : choisir son 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de planification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 plan de passation), dossier de mise en concurrence, ou dossier de marché.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mise à jour d’un plan déjà validé passe par « Mettre à jour un PPM » : une nouvelle version, jamais un écrasement.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L’en-tête du plan, et l’import PDF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en-tête du plan, et l’import 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Importer un PPM (PDF)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pré-remplit tout depuis le plan officiel — à vérifier ligne par ligne avant création.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la saisie : l’entité contractante (celles de la PRMP), l’exercice, la date de signature.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localité et le signataire se déduisent seuls.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de marché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Une ligne de march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Nature, objet, montant estimatif,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de passation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forme, financement, statut.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bénéficiaires, les lots, et le calendrier prévisionnel (CAPM) par ligne.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Ici : des travaux de réhabilitation, en appel d’offres ouvert.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calendrier prévisionnel (CAPM)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5443931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calendrier prévisionnel (CAP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5418531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processus du mode de passation, chacun avec sa date de début (et de fin).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chronologie est contrôlée ; un délai trop court ou un mode dérogatoire appelle une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jointes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ièces joi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exigées dépendent du type de dossier, fixé dans les référentiels de l’Administrateur.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Formats acceptés : PDF, JPEG, PNG ; chaque fichier est contrôlé (type, taille).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L’aperçu avant création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perçu avant cré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de présentation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passation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le projet d’AGPM, tels que la Commission les lira.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Rien ne part tant que la PRMP n’a pas créé le dossier.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brouillon, puis la soumission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brouillon, puis la sou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Créer le dossier » enregistre un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brouillon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on peut le reprendre, le vérifier, le supprimer.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Soumettre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l’envoie à la Commission ; seule la PRMP soumet (l’UGPM prépare).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suivi des dossiers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suivi des doss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dossier à la Commission, avec son statut et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 de traitement prévue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du dossier : la frise des sept étapes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age du dossier : la frise des sept éta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Réception, dispatch, examen, projet de PV, PV signé, vérification, clôture.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en cours, qui agit, le délai qui court ; le plan lui-même, en lecture.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même page pour tous les profils : chacun y voit son geste.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la planification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2)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pré-contrôle des seuils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signalements du plan, écartables avec un motif, jamais effacés.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Mettre à jour un PPM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dernière version seule, une nouvelle version, le diff figé.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versions archivées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L’historique des versions d’un plan, en consultation.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demandes de retrait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Retirer un dossier avant le PV signé ; la décision du Président.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traverse la Commission : recevabilité, dispatch, examen séquentiel, projet de PV, visa, co-signature ; puis vérification, transmission à SIGMP et archivage.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SECRÉTAIRE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arrive chez le Secrétaire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ossier arrive chez le Secrét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son « À faire » : les dépôts à numéroter, du plus ancien au plus récent.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SECRÉTAIRE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Recevabilité et réception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Recevabilité et réce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de complétude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pièce par pièce ; une pièce manquante se signale à la PRMP.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date de réception ; le dossier reçoit son numéro.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attend son dispatch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ossier attend son disp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(ou le Chef de commission) voit les dossiers reçus à attribuer.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Dispatcher à un Membre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Dispatcher à un Mem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assigné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sa charge en cours pour équilibrer ; une consigne facultative.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Chef de commission est associé d’office.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reçoit le dossier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Membre reçoit le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son « À faire », avec le délai d’examen et la consigne du dispatch.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séquentiel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examen séqu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étapes dans l’ordre 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de présentation, lignes du plan, projet d’AGPM, pièces, contrôles du dossier, synthèse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point est « RAS » ou porte une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pas de texte, pas d’observation.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synthèse propose un avis cohérent avec ce qui a été relevé (ici, en lecture après la signature).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de PV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projet de P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soumis produit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de PV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l’avis et les observations.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le soumet au Président.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visa du Président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visa du Prési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arrête l’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global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désigne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co-signataire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pose sa part de signature, en un geste.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il retourne le projet, ou il rédige une lettre de renvoi.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 CO-SIGNATAIRE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seconde signature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seconde sign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co-signataire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est signé par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personnes distinctes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la seconde signature clôt la navette.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VÉRIFICATEUR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signature : le Vérificateur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Après la signature : le Vérific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Vérificateur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PV signés à vérifier, et les décisions à transmettre.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VÉRIFICATEUR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Transmettre la décision à SIGMP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Transmettre la décision à SIG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Vérificateur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un avis favorable, la décision part vers le système SIGMP ; pour un avis avec réserves, il suit d’abord leur levée.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ASSISTANT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L’archivage du PV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rchivage du P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L’Assistant archive le PV définitif : le dossier est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voit la PRMP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Ce que voit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frise avance à chaque geste ; la PRMP est notifiée.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 PV définitifs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Ses PV défini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signé est à elle dès sa signature ; la ligne du plan peut désormais porter un DAO.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du contrôle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(phases 2 et 3)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favorable avec réserves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Vérificateur statue sur chaque observation ; la PRMP rectifie par import.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lettre de renvoi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observations maintenues ; les compléments transmis ; le réexamen.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navette du PV à deux niveaux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de PV renvoyé au Membre, puis repris.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 les dossiers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de pilotage du Président et du Chef de commission, avec les actions sur la ligne.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5624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5624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5320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délais de traitement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5320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frise et ses dates par étape, l’acteur de chaque étape.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8468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8468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098164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délégation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98164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dispatche au Chef de commission ; la reprise.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le DAO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une ligne du plan contrôlé, la fiche marché : d’elle naissent tous les documents et le DAO complet ; en remise électronique, la commission d’appel d’offres et la cérémonie des clés. Le détail, information par information : présentation « La fiche DAO par nature et par forme ».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Appels d’offres » : les lignes et leurs fiches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« Appels d’offres » : les lignes et leurs fi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menu de la PRMP et de l’UGPM. Les lignes d’un plan au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PV signé favorable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dont le mode de passation appelle un DAO.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Préparer l’appel d’offres », ou « Reprendre la fiche » ; sous chaque fiche, les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offres déposées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reçus à valider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(pastille au menu).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fiche, et les écrans de la procédure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224532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fiche, et les écrans de la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1991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558032"/>
            <a:ext cx="10566136" cy="17208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558032"/>
            <a:ext cx="38099" cy="17208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659632"/>
            <a:ext cx="10274043" cy="1530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repères : catégorie, forme, paramètres internes, commission, cérémonie, offres.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la procédure : séance, dépôts, commission, retraits, reçus des frais — ces trois derniers une fois la fiche validée.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1 : la ligne du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1 : la ligne du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informations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reprises du plan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verrouillées : rien n’est ressaisi.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repères en tête : paramètres internes, commission, cérémonie, offres déposées.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: le cadrage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2 : le cad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Dix questions qui ouvrent ou ferment des rubriques : allotissement, tranches, variantes, groupement, prix, garantie…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de remise des offres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papier, ou électronique.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: la saisie par bloc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3 : la saisie par bl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Onze blocs ; chaque information est saisie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fois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 reporte dans tous les documents qui l’utilisent (DPAO, AE, CCAP…).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contrôles se mettent à jour à droite, en continu.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besoin : le détail quantitatif et estimatif, en entier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297744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besoin : le détail quantitatif et estimatif, en ent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272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631244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631244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732844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des travaux : série, n° de prix, désignation, libellé au bordereau, unité, quantité,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plafond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sous-détail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produit le bordereau des prix, et pré-remplit le formulaire que le candidat remplira en ligne.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de l’offre, listées une à une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93256" y="1193800"/>
            <a:ext cx="9405183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ièces de l’offre, listées une à u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956" y="1206500"/>
            <a:ext cx="9379783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remise électronique, chaque pièce exigée est une ligne : le candidat joindra un fichier par pièce.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Proposer la liste à partir du texte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part du texte du DAO.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texte découpé, à relire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509713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texte découpé, à rel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50717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pièce par ligne ou par « ; » ; la PRMP relit, ajoute, corrige, enregistre.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: les reprises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4 : les repr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13060" y="4592638"/>
            <a:ext cx="2419290" cy="180975"/>
          </a:xfrm>
          <a:prstGeom prst="rect">
            <a:avLst/>
          </a:prstGeom>
          <a:solidFill>
            <a:srgbClr val="E9EDF2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13060" y="4592638"/>
            <a:ext cx="2419290" cy="18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de la PRMP (masqué)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10" name="Text 7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champs repris d’un document maître, jamais ressaisis.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: les contrôles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5 : les contrô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informations obligatoires manquantes, l’ordre des dates, et, en remise électronique, la commission, le responsable, le dépositaire.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des pièces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l’offre. Tant qu’un contrôle bloque, la validation est fermée.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commission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Désignée par la PRMP, par une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des agents de l’entité, au plus un expert de l’objet, un président.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reçoit un compte et détient une part de la clé qui ouvrira les offres.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 des clés, close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5399" y="1193800"/>
            <a:ext cx="9860898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cérémonie des clés, cl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098" y="1206500"/>
            <a:ext cx="9835499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membre, puis le dépositaire de la part de secours, publient leur clé depuis leur poste ; le responsable clôt.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de la cérémonie fait l’objet d’une présentation à part : « La cérémonie des clés ».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sans responsable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28838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rocédures sans respons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2629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621885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621885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723485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le Poste d’administration : les procédures en remise électronique qui attendent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désignation de leur responsable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 · ADMINISTRATEUR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en ligne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rocédures en 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y retrouve ses procédures («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procédures en ligne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», au menu dès qu’il en a une) : paramètres et cérémonie, séance.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les voit toutes, et désigne le responsable depuis la fiche. Seul le titulaire conduit : l’intérimaire lit.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: la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6 : la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valide : la fiche est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figée et versionnée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Une modification ouvre une nouvelle version.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DAO COMPLET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seul document, comme les DAO réels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validation, les documents remplis depuis la fiche sont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assemblés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seul dossier d’appel d’offres, en Word et en PDF, sur le plan des documents types de l’ARMP.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5206870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de garde et sommaire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Emblème, ministère, PRMP, UGPM, « Dossier d’appel d’offres ouvert », numéro, objet, lots, « Lancé le », financement, imputation, compte ; puis le sommaire paginé.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046" y="16510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046" y="1651000"/>
            <a:ext cx="5206870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11742" y="17526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Première partie : la procédure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11742" y="21463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 Instructions aux candidats (texte fixe de l’ARMP) ; 1.2 DPAO ; 1.3 Formulaires de soumission (fiches A1 à A4, garanties).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80" y="39624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80" y="3962400"/>
            <a:ext cx="52068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476" y="40640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Deuxième partie : le marché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2476" y="44577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 Acte d’engagement ; 2.2 CCAP et ses annexes, puis les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spécifications techniques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jointes par la PRMP ; 2.3 CCAG (texte fixe).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046" y="39624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046" y="3962400"/>
            <a:ext cx="5206870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11742" y="40640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Figé à la validation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1742" y="44577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En-tête « DAO n° … — objet », pages numérotées « n / N ». Les classeurs (bordereau, DQE) restent à part, en Excel. Une version validée ne se régénère jamais.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7 : le DAO complet en tête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7982" y="1193800"/>
            <a:ext cx="6335730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Étape 7 : le DAO complet en tê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682" y="1206500"/>
            <a:ext cx="6310331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d’appel d’offres complet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ouvrir le PDF, l’enregistrer en PDF ou en Word.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Puis les classeurs (bordereau des prix, DQE) ; le dossier à soumettre est créé depuis la fiche.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DOCUMENT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de garde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3616625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age de ga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3591226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: document produit par le serveur.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Celle des DAO réels : l’emblème, le ministère (une seule fois), la PRMP et l’UGPM, l’intitulé qui porte le mode de passation.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numéro du DAO, l’objet, « Lancé le …… » à compléter, le financement, l’imputation administrative et le compte, lus sur le plan.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DOCUMENT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sommaire général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3616625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sommaire géné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3591226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: document produit par le serveur.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deux parties et leurs sous-parties, dans la numérotation de l’ARMP, avec les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numéros de page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seule présentation à tous les niveaux ; dans le Word, c’est une table des matières mise à jour à l’ouverture.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55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spécifications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56794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spécifications techn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5425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901440"/>
            <a:ext cx="10566136" cy="17208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901440"/>
            <a:ext cx="38099" cy="17208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003040"/>
            <a:ext cx="10274043" cy="1530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bloc B14 : la PRMP joint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 devis descriptif, des prescriptions et des plans (20 Mo au plus).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est inséré tel quel au rang 2.2, entre le CCAP et le CCAG. Sans fichier, la partie n’apparaît pas, et le contrôle le signale.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du DAO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examen du D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même circuit que pour le plan ; l’examen lit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DAO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ses pièces, une à une.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Pièce 1 :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complet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lu à l’écran de bout en bout (page de garde, sommaire, les deux parties), RAS ou observation.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57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L’avis spécifique d’appel d’offres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vis spécifique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le PV signé favorable : l’avis s’imprime depuis la fiche, avec ses références de publication.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remise électronique, la procédure paraît alors aux candidats.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58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Consulter : l’appel à manifestation d’intérêt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les prestations intellectuelles, la liste restreinte naît d’un appel à manifestation d’intérêt mené dans l’application : publié, reçu en ligne, noté par la commission.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59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l’AMI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3)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l’appel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Critères pondérés sur 100, pièces attendues, note minimale, six retenus.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Publier, ou dispenser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supports de publication, l’avis signé ; la dispense motivée.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L’expression d’intérêt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du consultant, l’accusé et son empreinte ; remplacer, retirer.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présélection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déclaration, la notation par critère, l’écartement, le classement.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5624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5624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5320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et le rapport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5320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L’arrêt par le président, la signature, la liste publiée et notifiée.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8468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8468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098164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lettres d’invitation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98164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Tirées de la liste définitive ; le dossier de la demande de propositions.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60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les offres en ligne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entreprises consultent les procédures, créent leur compte, règlent les frais de dossier, retirent le DAO, remplissent leur offre en ligne et la déposent scellée sur leur poste.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61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d’accueil des entreprises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age d’accueil des entrepr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entrée publique propre aux entreprises : ce qu’elles peuvent faire, dans l’ordre.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62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ouvertes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rocédures ouve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compte : référence, objet, lots, date limite, heure de référence.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63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d’une procédure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étail d’une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l’offre doit contenir, les formats et tailles acceptés, l’assistance.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du dossier demande un compte.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64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compte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Créer un comp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Nom, adresse, téléphone, mot de passe ; un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à six chiffres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reçu par courriel confirme le compte.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65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procédure, une fois connecté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rocédure, une fois connec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calendrier, les lots, les règles de la remise électronique ; 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Déposer une offre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tant que les dépôts sont ouverts.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à retirer :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d’appel d’offres complet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 Word et en PDF, puis le bordereau à remplir (Excel).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document retiré est enregistré sur le poste et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inscrit au registre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PRMP. Ici, une procédure lancée avant le 6 octobre : retrait libre ; depuis, un dossier payant attend le reçu validé (ci-après).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PAYANT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reçu des frais, validé avant le retrait et le dépôt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frais de dossier se versent au compte de l’ARMP, hors de la plateforme ; le reçu est déposé en ligne et validé par la PRMP ou l’UGPM.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5206870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candidat dépose son reçu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Montant, référence, date, banque, fichier ; un reçu par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entreprise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pour un ou plusieurs lots.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046" y="16510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046" y="1651000"/>
            <a:ext cx="5206870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11742" y="17526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ou l’UGPM décide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11742" y="21463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Notifiée ; valide, ou refuse avec un motif. Un montant insuffisant est signalé. Une décision ne se reprend pas.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80" y="39624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80" y="3962400"/>
            <a:ext cx="52068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476" y="40640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s’ouvre à la validation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2476" y="44577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des documents, les formulaires de l’offre et le dépôt. Avant, ils restent fermés.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046" y="3962400"/>
            <a:ext cx="5206870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046" y="3962400"/>
            <a:ext cx="5206870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11742" y="4064000"/>
            <a:ext cx="4927477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séance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1742" y="4457700"/>
            <a:ext cx="4927477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ligne « Frais de dossier » ; une offre sans reçu validé lève une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alerte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jamais un rejet.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67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attend le reçu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83090" y="1193800"/>
            <a:ext cx="9025515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etrait attend le reç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790" y="1206500"/>
            <a:ext cx="9000116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frais du dossier ; les boutons « Retirer » du DAO complet restent inactifs, la raison est dite.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68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Déposer le reçu du versement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3083142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Déposer le reçu du vers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30577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416642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416642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518242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Montant, référence, date, banque, et le reçu (PDF ou image).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69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reçu attend la décision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50903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eçu attend la déci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4836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842538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842538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944138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L’état du reçu, et « Voir mon reçu ».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reçus des frais de dossier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reçus des frais de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reçus en attente d’abord ; le montant insuffisant signalé ; « Voir le reçu », « Valider », « Refuser… » (motif).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71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Refuser, avec un motif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65256" y="1193800"/>
            <a:ext cx="8661183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Refuser, avec u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956" y="1206500"/>
            <a:ext cx="8635784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motif part par courriel ; l’entreprise dépose un nouveau reçu.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72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 validé : le dossier se retire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50903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Reçu validé : le dossier se ret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4836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842538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842538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944138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boutons « Retirer » s’ouvrent, et « Déposer une offre ».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73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 refusé : le motif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359416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Reçu refusé : l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3340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692916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692916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794516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L’ancien reçu et son motif restent ; un nouveau dépôt est proposé.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74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reçu validé, pas de dépôt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300111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Sans reçu validé, pas de dépô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2747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633611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633611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735211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L’écran de dépôt ne s’ouvre pas, et renvoie aux frais de dossier ; les formulaires (le contenu du DAO) ne sont pas servis.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75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entreprise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Son entrep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Raison sociale, NIF, STAT, RCS, représentant, pièces : déclarés une fois, vérifiés par l’Administrateur.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vérification ne bloque jamais un dépôt ; une entreprise exclue par l’ARMP ne peut pas déposer.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L’OFFRE REMPLIE EN LIGNE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Remplir son offre, plus seulement la joindre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Dès que la fiche porte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besoin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dépôt présente des formulaires pré-remplis ; tout est scellé avec l’offre.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Pré-rempli depuis la fiche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quantités, caractéristiques, séries du DQE, matériel, personnel, seuils de qualification.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Calculé sur le poste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Totaux, TVA, prix en lettres, K1, sous-détail ; les montants de l’acte d’engagement en découlent.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Averti, jamais refusé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Seul un prix manquant bloque ; le reste est averti au candidat, puis signalé à la commission.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Recalculé à l’ouverture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refait les totaux depuis le bordereau scellé et compare avec l’acte d’engagement.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77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FOURNITURES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bordereau des prix et le calendrier de livraison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36618" y="1193800"/>
            <a:ext cx="9118459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bordereau des prix et le calendrier de livr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318" y="1206500"/>
            <a:ext cx="9093060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prix unitaire et la date de livraison de chaque article ; au minimum et au maximum des quantités pour un marché à commande.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78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FOURNITURES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conformité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153059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conformité tech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1276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Marque, modèle, et pour chaque caractéristique exigée : ce qui est proposé, et si c’est conforme.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79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FOURNITURES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avertissements, avant de déposer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3314192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avertissements, avant de dépo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3288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47692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47692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49292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Non-conformité déclarée, livraison au-delà du délai : averti, on peut déposer.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80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L’acte d’engagement, calculé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594356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cte d’engagement, calcul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5689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927856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927856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029456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montants ne se saisissent plus : ce sont ceux du bordereau. Restent le délai, la validité, le rabais.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DQE et les prix en lettres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65902" y="1193800"/>
            <a:ext cx="7659891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QE et les prix en lett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8602" y="1206500"/>
            <a:ext cx="7634491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prix par série ; le prix s’écrit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lettres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sous la désignation — ce sont les lettres qui font foi.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82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coefficient K1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10591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coefficient K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0805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neuf frais de l’annexe 2 de l’acte d’engagement ; le siège à Madagascar ou à l’étranger.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83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sous-détail d’un prix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09469" y="1193800"/>
            <a:ext cx="9772757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sous-détail d’un p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169" y="1206500"/>
            <a:ext cx="9747358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déboursés secs, le rendement ; le prix calculé est comparé au bordereau (écart de plus de 1 % signalé).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84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capacités financières et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59645" y="1193800"/>
            <a:ext cx="7272406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capacités financières et techn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2344" y="1206500"/>
            <a:ext cx="7247007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Chiffre d’affaires et moyenne des meilleures années, liquidité contre le seuil, références de la période.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85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personnel proposé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3089656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personnel propos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30642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423156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423156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524756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par personne exigée ; les CV et diplômes restent à joindre.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86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matériel proposé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393446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matériel propos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3909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nombre proposé, et combien en propre.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87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avertissements des travaux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965529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avertissements des trav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9401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299029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299029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400629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écart dit, chiffres à l’appui ; la commission le lira en séance.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88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saisie jamais perdue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79806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Une saisie jamais perd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7726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131568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131568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233168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fermée ou rechargée : la saisie est reprise. Gardée sur le poste seulement, jamais envoyée ; effacée au dépôt.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89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remplies en ligne, et le reçu déjà fourni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56694" y="1193800"/>
            <a:ext cx="8478308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ièces remplies en ligne, et le reçu déjà four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393" y="1206500"/>
            <a:ext cx="8452909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bordereau, la conformité, le calendrier : « Remplie en ligne ». Les autres pièces se joignent.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90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sans formulaires : l’acte d’engagement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épôt sans formulaires : l’acte d’eng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procédure sans besoin (prestations intellectuelles) : les montants de l’acte se saisissent.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temps restant, à l’horloge du serveur.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91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: les pièces, puis le scellement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épôt : les pièces, puis le scell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pièce attendue, contrôlée ; puis 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Sceller et déposer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: l’offre est chiffrée sur le poste, pour les détenteurs de la procédure.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92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L’accusé de dépôt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ccusé de dépô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L’heure de dépôt, le numéro d’arrivée, l’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empreinte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l’offre ; l’accusé en PDF.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ne peut lire l’offre avant la séance.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93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offres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Mes 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Jusqu’à la date limite, si la procédure le permet 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remplacer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retirer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offre.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94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des dépôts, avant l’échéance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egistre des dépôts, avant l’éch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la date limite, la PRMP ne connaît que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d’offres.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95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des retraits du dossier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egistre des retraits du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a retiré quel document, et quand ; et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a ouvert le retrait.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96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 d’ouverture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l’heure prévue, le responsable ouvre la séance ; les membres apportent leurs parts de clé ; au quorum, toutes les offres s’ouvrent ensemble ; le PV est signé en ligne.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97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séance, avant l’heure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séance, avant l’he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 ne s’ouvre qu’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date limite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le serveur refuse avant.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98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attend l’ouverture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membre attend l’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apportera ses parts depuis son espace, avec sa phrase secrète.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99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L’ouverture et les présences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ouverture et les prése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ouvre la séance, coche les présents, ajoute les autres présents.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100</a:t>
            </a:r>
            <a:endParaRPr lang="en-US" sz="11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Apporter ses parts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99755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Apporter ses p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9721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331053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331053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432653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phrase déverrouille sa clé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son poste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 déchiffre sa part de chaque offre ; seules ces parts partent.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101</a:t>
            </a:r>
            <a:endParaRPr lang="en-US" sz="11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quorum se remplit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065756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quorum se rem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0403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399256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399256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500856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offres s’ouvriront dès que le quorum sera atteint ; un membre absent peut être suppléé par la part de secours.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102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offres s’ouvrent ensemble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Toutes les offres s’ouvrent ensem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quorum, chaque offre est vérifiée (empreinte), déchiffrée, comparée aux pièces attendues.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103</a:t>
            </a:r>
            <a:endParaRPr lang="en-US" sz="1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 d’une offre remplie : fournitures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87917" y="1193800"/>
            <a:ext cx="8815862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lecture d’une offre remplie : fourni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616" y="1206500"/>
            <a:ext cx="8790462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totaux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recalculés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le serveur ; les alertes (non-conformité, livraison hors délai) ; le bordereau et la conformité remplis, en PDF.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104</a:t>
            </a:r>
            <a:endParaRPr lang="en-US" sz="11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 d’une offre remplie : travaux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6308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lecture d’une offre remplie : trav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3376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offre en défaut : chiffre d’affaires, liquidité, références, personnel, matériel, sous-détail — des alertes, jamais un rejet.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105</a:t>
            </a:r>
            <a:endParaRPr lang="en-US" sz="11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frais de dossier, lus en séance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31362" y="1193800"/>
            <a:ext cx="8728971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frais de dossier, lus en s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062" y="1206500"/>
            <a:ext cx="8703572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ligne « Frais de dossier » de chaque offre ; sans reçu validé, l’alerte « Frais de dossier non réglés ».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106</a:t>
            </a:r>
            <a:endParaRPr lang="en-US" sz="11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lecture, projetée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lecture, projet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 par offre : soumissionnaire, montants, délai, garantie, pièces manquantes, alertes — en grand pour la salle.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107</a:t>
            </a:r>
            <a:endParaRPr lang="en-US" sz="11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pièces, pour la commission seule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576534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pièces, pour la commission se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551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910034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910034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011634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Seuls les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 de la commission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ouvrent les pièces des offres.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108</a:t>
            </a:r>
            <a:endParaRPr lang="en-US" sz="11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d’ouverture, à signer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PV d’ouverture, à sig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produit le PV ; il attend la signature de chaque membre présent.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109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le PV en ligne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500216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Signer le PV en 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474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833716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833716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935316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Relire le PV, puis signer : la signature est horodatée et imprimée au PV.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peut constater l’empêchement d’un membre, avec un motif.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110</a:t>
            </a:r>
            <a:endParaRPr lang="en-US" sz="11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est signé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PV est sig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dernière signature, la séance est close.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fiche prévoit la publication, un extrait du PV (sans les alertes) paraît alors sur la procédure publique.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111</a:t>
            </a:r>
            <a:endParaRPr lang="en-US" sz="11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procédure, après la séance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rocédure, après la s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 publique passe à « close » : les dépôts sont clos.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la fiche prévoit la publication du PV, son extrait s’y lit ; ce n’était pas le cas de la fiche de démonstration.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112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complet, après l’échéance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egistre complet, après l’éch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date limite : entreprise, NIF, lot, heure, état, empreinte de chaque offre.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113</a:t>
            </a:r>
            <a:endParaRPr lang="en-US" sz="11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séance, vue par la PRMP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séance, vue par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lit la séance et la lecture des offres, sans en ouvrir les pièces.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114</a:t>
            </a:r>
            <a:endParaRPr lang="en-US" sz="11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Évaluer les offres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d’ouverture signé, la commission évalue en ligne, lot par lot, selon le guide d’évaluation : examen préliminaire, montant évalué et classement, offres anormales, post-qualification, puis le rapport.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115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étapes 2 à 5 du guide, le rapport, puis le marché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séance d’ouverture (étape 1 du guide), chaque offre traverse les étapes 2 à 5 ; elle peut être écartée, toujours avec un motif et la clause du DAO visée.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01677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Examen préliminaire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77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Recevabilité, conformité (art. 46)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70088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97085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5983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85983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 évalué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85983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Corrections, rabais ; classement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4394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1390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0288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0288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Offres anormales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70288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 écrite (art. 48)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8699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65696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594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4594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Post-qualification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54594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Capacités du premier classé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23004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0001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8899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38899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signé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38899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 à la PRMP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7310" y="2603500"/>
            <a:ext cx="1142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34307" y="1778000"/>
            <a:ext cx="1644609" cy="1651000"/>
          </a:xfrm>
          <a:prstGeom prst="roundRect">
            <a:avLst>
              <a:gd name="adj" fmla="val 3336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3204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23204" y="2095500"/>
            <a:ext cx="1466813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de marché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23204" y="2768600"/>
            <a:ext cx="1466813" cy="609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contrôle de la Commission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780" y="3746500"/>
            <a:ext cx="104137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étape se conduit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 par lot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le président de la commission l’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ce qui fige ses décisions et ouvre la suivante.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116</a:t>
            </a:r>
            <a:endParaRPr lang="en-US" sz="11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FAIT QUOI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acteurs et leurs gestes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même écran, deux espaces : celui des membres de la commission, et la coquille interne de la PRMP, de l’UGPM et du responsable de la procédure.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 sa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déclaration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d’absence de conflit d’intérêts, puis décide, étape par étape ; signe le rapport, avec une observation s’il est en désaccord.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 de la commission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plus :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chaque étape, la rouvre avec un motif, constate l’empêchement d’un signataire.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 de la procédure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Ouvre l’évaluation une fois le PV d’ouverture signé ;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 le rapport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quand toutes les étapes sont arrêtées.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Demande des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précisions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(art. 35-VI) et des </a:t>
            </a:r>
            <a:pPr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justifications de prix</a:t>
            </a:r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(art. 48) ; crée le dossier de marché.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5624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5624" y="39624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25320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UGPM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5320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 l’évaluation ; crée le dossier de marché avec la PRMP.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8468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8468" y="39624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8098164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98164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Reçoit les demandes sur son offre et y répond en ligne, par un texte et une pièce.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117</a:t>
            </a:r>
            <a:endParaRPr lang="en-US" sz="1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l’application garantit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règles du guide d’évaluation, appliquées par le serveur — l’écran les rappelle, il ne les invente 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règle d’or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critère, aucune pièce, aucune pondération hors du DAO : les critères viennent de la fiche, il n’existe aucun moyen d’en ajouter.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constats, jamais des décisions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alertes de la séance pré-remplissent chaque étape ; c’est toujours la commission qui décide.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est motivé et tracé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décision porte son auteur, sa date, son motif et la clause du DAO ; une décision corrigée reste au journal.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calcule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 évalué (hors taxes), rang, offre dont c’est le tour, proposition d’attribution : l’écran affiche, il ne recalcule pas.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5624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5624" y="39624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25320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5320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Rien n’est visible des candidats avant l’information officielle (art. 12-V, 35-V).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8468" y="39624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8468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098164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rejet sans demande écrite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98164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offre jugée anormale n’est rejetée qu’après une justification demandée, puis reçue ou son délai expiré.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118</a:t>
            </a:r>
            <a:endParaRPr lang="en-US" sz="11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L’évaluation, avant son ouverture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évaluation, avant son 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 s’ouvre quand le PV d’ouverture est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signé de tous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avant, le serveur le refuse et l’écran le dit.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 : la fiche DAO, la séance d’ouverture close, ou la notification reçue.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119</a:t>
            </a:r>
            <a:endParaRPr lang="en-US" sz="11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L’entrée depuis l’espace de la commission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06032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entrée depuis l’espace de la com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034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393828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393828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495428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de la commission d’appel d’offres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la page de la procédure, « Ouvrir l’évaluation » ; « Mes procédures » compte les évaluations en cours et les rapports à signer.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120</a:t>
            </a:r>
            <a:endParaRPr lang="en-US" sz="11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déclaration préalable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déclaration préal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de la commission d’appel d’offres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de conflit d’intérêts (art. 21-d) et engagement de confidentialité (art. 12-V) 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toute décision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une fois pour toutes.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qui déclare un conflit lit l’évaluation, mais n’y décide rien.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121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grille de l’offre, et sa décision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641469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grille de l’offre, et sa déci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616070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Neuf vérifications : acte d’engagement et prix, garantie, offre unique, exclusion, pouvoirs, pièces, conformité technique, intégrité, frais de dossier.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Chacune pré-remplie (« ce que la séance a établi ») ; la commission confirme ou corrige.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Écarter :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qualification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(irrecevable, non conforme, inappropriée, inacceptable),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du DAO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122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arrêtée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311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étape arrêt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286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étapes du lot, arrêtées ou en cours ; l’offre n° 2 écartée pour garantie insuffisante, avec son motif et sa clause.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Arrêter fige les décisions ; rouvrir exige un motif, porté au journal.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123</a:t>
            </a:r>
            <a:endParaRPr lang="en-US" sz="11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Demander une précision au candidat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892706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Demander une précision au candid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867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226206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226206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327806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Art. 35-VI : la PRMP demande par écrit ; le délai est celui de la fiche, ou saisi.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précision ne sert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jamais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compléter une pièce essentielle ni à changer le prix (guide, §2.4).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124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PRÉLIMINAIRE · 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Répondre depuis « Mes offres 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5246" y="1193800"/>
            <a:ext cx="10361203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Répondre depuis « Mes offres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946" y="1206500"/>
            <a:ext cx="10335803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6256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6256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4351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demande arrive par notification et par courriel ; le candidat répond une fois, dans le délai, par un texte et une pièce (PDF, JPEG, PNG).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demande et la réponse sont jointes au rapport.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125</a:t>
            </a:r>
            <a:endParaRPr lang="en-US" sz="11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Corrections, rabais, préférence, critères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00867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Corrections, rabais, préférence, critè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39832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corrections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proposées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le serveur depuis le bordereau scellé (le prix unitaire prévaut, les lettres prévalent), et celles que la commission saisit.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rabais, la marge de préférence (si le DAO la prévoit), les critères additionnels du DAO — eux seuls.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126</a:t>
            </a:r>
            <a:endParaRPr lang="en-US" sz="11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montant évalué, calculé par le serveur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422191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montant évalué, calculé par le serv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3967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755691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755691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857291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 évalué = prix lu ± corrections − rabais + ajustement de préférence + critères monétisés,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hors taxes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(arbitrage du 07/10).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127</a:t>
            </a:r>
            <a:endParaRPr lang="en-US" sz="11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tableau d’évaluation du guide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58864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tableau d’évaluation du gu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5632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922148"/>
            <a:ext cx="10566136" cy="17208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922148"/>
            <a:ext cx="38099" cy="17208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023748"/>
            <a:ext cx="10274043" cy="1530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par offre : prix lu, garantie, conformité, motif de rejet, prix corrigé, rabais, ajustements, montant évalué, rang, qualification.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égalité en tête se départage par la commission, avec un motif.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128</a:t>
            </a:r>
            <a:endParaRPr lang="en-US" sz="11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RABAIS STRUCTURÉ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rabais, déclaré au dépôt et chiffré par le serveur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Arbitrage du 07/10 (Q4) : le rabais n’est plus un texte libre, mais une donnée de l’offre scellée.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dépôt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rabais, un pourcentage ou un montant hors taxes ; sans condition, ou lié à l’attribution de plusieurs lots. Contrôlé avant le scellement.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séance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 chiffré : « 2 % du montant hors taxes, soit … Ariary », ou avec sa condition ; imprimé au PV.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l’évaluation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Proposé sur le prix corrigé ; le corriger demande un motif. Lié à plusieurs lots : non appliqué lot par lot, repris au rapport.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129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indicateurs de prix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42942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indicateurs de p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4040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762928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762928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864528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L’écart à l’estimation du plan et à la moyenne des offres, la méthode du DAO s’il en fixe une : des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jamais une décision.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130</a:t>
            </a:r>
            <a:endParaRPr lang="en-US" sz="11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décision sur un prix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38600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décision sur un p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3606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719505"/>
            <a:ext cx="10566136" cy="17208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719505"/>
            <a:ext cx="38099" cy="17208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821105"/>
            <a:ext cx="10274043" cy="1530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suspectée, suspectée, maintenue, rejetée.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rejet sans demande écrite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la PRMP demande la justification, le candidat répond (ou le délai expire), puis la commission décide — le serveur refuse tout raccourci.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131</a:t>
            </a:r>
            <a:endParaRPr lang="en-US" sz="11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post-qualification, critère par critère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749438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ost-qualification, critère par crit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724039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L’offre dont c’est le tour (la mieux classée qui n’a pas échoué), et les critères de la fiche : juridiques, financiers, techniques, matériel, personnel.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qualifiée : motif et clause ; le tour passe à l’offre suivante.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132</a:t>
            </a:r>
            <a:endParaRPr lang="en-US" sz="11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proposition d’attribution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61161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proposition d’at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5862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1945118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1945118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046718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arrêtée, le lot porte sa proposition : l’offre, le candidat, le montant hors taxes et le délai — ou l’infructuosité proposée si aucune offre n’est qualifiée.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133</a:t>
            </a:r>
            <a:endParaRPr lang="en-US" sz="11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D’ÉVALUATION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Produire le rapport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217327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Produire le rap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1919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550827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550827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652427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la procédure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toutes les étapes de tous les lots sont arrêtées ; ses observations y sont portées.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134</a:t>
            </a:r>
            <a:endParaRPr lang="en-US" sz="11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D’ÉVALUATION · 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Signer, avec une observation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97916" y="1193800"/>
            <a:ext cx="10195862" cy="3327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Signer, avec une observ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616" y="1206500"/>
            <a:ext cx="10170463" cy="330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660900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660900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762500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de la commission d’appel d’offres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électronique simple, horodatée ; un membre en désaccord porte son observation au rapport.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empêchement est constaté par le président, avec un motif.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135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D’ÉVALUATION ·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signé de tous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552462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apport signé de to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5270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885962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885962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987562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dernière signature, l’évaluation est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la PRMP et les membres sont notifiés. Le rapport n’est pas public.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136</a:t>
            </a:r>
            <a:endParaRPr lang="en-US" sz="11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D’ÉVALUATION · DOCUMENT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rapport, sur le plan du guide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3616625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apport, sur le plan du gu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3591226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: document produit par le serveur.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Références, plis reçus, puis lot par lot : examen préliminaire, corrections, montant évalué et classement, offres anormales, post-qualification, proposition d’attribution.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Puis les signatures et deux annexes : les déclarations, les demandes aux candidats et leurs réponses.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137</a:t>
            </a:r>
            <a:endParaRPr lang="en-US" sz="11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Attribuer et notifier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signé, la PRMP crée le dossier de marché, que la Commission contrôle ; puis elle attribue, informe les candidats, respecte le délai d’attente et les recours, signe, fait enregistrer, notifie et publie l’avis.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138</a:t>
            </a:r>
            <a:endParaRPr lang="en-US" sz="11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L’attribution, lot par 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926041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ttribution, lot par 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9006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259541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259541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361141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L’état du lot et la proposition du rapport ; « Créer le dossier de marché », pour la PRMP et son UGPM.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139</a:t>
            </a:r>
            <a:endParaRPr lang="en-US" sz="11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de marché créé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1765834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ossier de marché cré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17404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099334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099334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200934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lot passe « au contrôle de la Commission » ; le projet de marché, produit par le serveur, se lit en PDF ou en Word.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140</a:t>
            </a:r>
            <a:endParaRPr lang="en-US" sz="11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de marché, prêt à soumettre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6883228" cy="4577398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dossier de marché, prêt à soumet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6857829" cy="45519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Pièces jointes d’office :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de marché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cahier des charges (DAO complet), le PV d’ouverture, le rapport d’évaluation ; le devis rempli de l’offre quand elle a été déposée en formulaires.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suit ensuite le circuit de la Commission ; une grille de neuf points, tirée de la check-list du guide, sert à l’examiner.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141</a:t>
            </a:r>
            <a:endParaRPr lang="en-US" sz="11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lot, après l’avis favorable de la Commission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646974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lot, après l’avis favorable de la Com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6215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980474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980474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082074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de marché a reçu l’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favorable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Commission : le lot peut être attribué.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Attribuer à l’offre proposée » : seule l’offre proposée par la commission d’appel d’offres peut l’être.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142</a:t>
            </a:r>
            <a:endParaRPr lang="en-US" sz="11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Informer les candidats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183381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Informer les candida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1579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3516881"/>
            <a:ext cx="10566136" cy="17208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3516881"/>
            <a:ext cx="38099" cy="17208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3618481"/>
            <a:ext cx="10274043" cy="15303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date d’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affichage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déclarée ; « Signer et envoyer les lettres » : une lettre par offre évaluée, signée électroniquement, envoyée en ligne et par courriel.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 de rejet sont tirés du rapport d’évaluation.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143</a:t>
            </a:r>
            <a:endParaRPr lang="en-US" sz="11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lot informé, et le délai d’attente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5952638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lot informé, et le délai d’att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5927239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lettres produites,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 d’attente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dix jours francs, compté depuis la plus tardive de l’information et de l’affichage (art. 78).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signature n’est possible qu’à son terme : la date « signable le » est affichée.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144</a:t>
            </a:r>
            <a:endParaRPr lang="en-US" sz="11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candidat écarté : résultat et explication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894274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candidat écarté : résultat et ex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868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227774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227774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329374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« Mes offres » : le résultat,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 lettre à lire en ligne.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Demander une explication » : la question part à la PRMP, qui répond par écrit.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145</a:t>
            </a:r>
            <a:endParaRPr lang="en-US" sz="11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CANDIDAT ATTRIBUTAIRE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L’attributaire dépose ses pièces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2745242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ttributaire dépose ses piè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27198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4078742"/>
            <a:ext cx="10566136" cy="15176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4078742"/>
            <a:ext cx="38099" cy="15176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4180342"/>
            <a:ext cx="10274043" cy="1327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attributaire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attestations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fiscale et sociale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à déposer dans les quinze jours de la lettre d’attribution (art. 20-I).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les vérifie une à une ; une pièce non conforme bloque la signature.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146</a:t>
            </a:r>
            <a:endParaRPr lang="en-US" sz="11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recours, et la signature refusée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3446080" cy="51054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Un recours, et la signature refus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3420681" cy="508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8404" y="1206500"/>
            <a:ext cx="3530512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48404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013500" y="1308100"/>
            <a:ext cx="3238419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recours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déclaré (réexamen, révision par l’ARMP, référé) : la révision et le référé suspendent la signature jusqu’à leur décision, vingt jours au plus.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la fin du délai d’attente, la signature est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refusée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sa raison ; la mise au point, sans changer ni le prix ni les prestations, reste possible.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147</a:t>
            </a:r>
            <a:endParaRPr lang="en-US" sz="11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· PUBLIC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résultat public de la procédure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10591535" cy="92282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résultat public de la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10566136" cy="8974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80" y="2256320"/>
            <a:ext cx="10566136" cy="131445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780" y="2256320"/>
            <a:ext cx="38099" cy="131445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977876" y="2357920"/>
            <a:ext cx="10274043" cy="1123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la page publique de la procédure, sans compte : le résultat par lot, puis l’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d’attribution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une fois publié.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148</a:t>
            </a:r>
            <a:endParaRPr lang="en-US" sz="11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la fin de l’attribution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3)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signature du marché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marché signé déposé par la PRMP, une fois le délai et les recours épuisés.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L’enregistrement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date et la pièce de l’enregistrement ; rien ne se notifie sans lui.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notification à l’attributaire, l’accusé de lecture ou la réception déclarée.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L’avis d’attribution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 en PDF et Word, publié dans les trente jours.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149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Intérim et mandats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titulaire absent est suppléé par un intérimaire désigné ; une PRMP sans mandat en vigueur met ses dossiers en attente.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150</a:t>
            </a:r>
            <a:endParaRPr lang="en-US" sz="11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INTÉRIM ET MANDATS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l’intérim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3)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Désigner un intérim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ou le Chef de commission, ou l’Administrateur ; la période, l’intérimaire.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Exercé par intérim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rubrique de l’intérimaire, les bannières, les gestes au nom du titulaire.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visa par intérim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note du PV, la mention régionale.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mandats PRMP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L’historique indélébile des mandats ; la vacance et ses effets.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151</a:t>
            </a:r>
            <a:endParaRPr lang="en-US" sz="11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tient les comptes, les référentiels (natures, modes, types de DMC, statuts, seuils), les paramètres et les actualités.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152</a:t>
            </a:r>
            <a:endParaRPr lang="en-US" sz="11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l’administration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2)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comptes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Création, activation, inscriptions PRMP en attente, rattachements.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référentiels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Natures et catégories, modes de passation et types de DMC, statuts de marché, pièces.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seuils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seuils des marchés publics, lus par le pré-contrôle.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80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476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paramètres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476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Durées, bornes de garantie, compte bancaire des frais de dossier.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5624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5624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5320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délégations et rattachements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5320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paires de délégation, les chaînes Membre → Vérificateur → Assistant.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8468" y="39624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8468" y="39624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098164" y="40640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actualités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98164" y="44577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Publier une actualité ciblée par profil.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153</a:t>
            </a:r>
            <a:endParaRPr lang="en-US" sz="11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3809905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477238" cy="698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Piloter et publier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889778" cy="139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tableaux de pilotage de la Commission, la publication des décisions, la transparence.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154</a:t>
            </a:r>
            <a:endParaRPr lang="en-US" sz="11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PILOTER ET PUBLIER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du pilotage à capturer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(phase 2)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ces écrans seront capturés sur la recette, noms masqués, puis décrits comme les autres.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52476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pilotage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476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indicateurs, les délais, la charge par membre.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24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5624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5320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publication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5320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Chargé de publication et ses gestes.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468" y="1651000"/>
            <a:ext cx="3420448" cy="2159000"/>
          </a:xfrm>
          <a:prstGeom prst="rect">
            <a:avLst/>
          </a:prstGeom>
          <a:solidFill>
            <a:srgbClr val="FFF7E0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8468" y="16510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8164" y="1752600"/>
            <a:ext cx="3141055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transparence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8164" y="2146300"/>
            <a:ext cx="3141055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le public lit sans compte.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L’application de bout en bout · 155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Commission nationale des marchés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 2.0 — L’application de bout en bout</dc:title>
  <dc:subject>PptxGenJS Presentation</dc:subject>
  <dc:creator>PRS 2.0</dc:creator>
  <cp:lastModifiedBy>PRS 2.0</cp:lastModifiedBy>
  <cp:revision>1</cp:revision>
  <dcterms:created xsi:type="dcterms:W3CDTF">2026-10-08T06:46:41Z</dcterms:created>
  <dcterms:modified xsi:type="dcterms:W3CDTF">2026-10-08T06:46:41Z</dcterms:modified>
</cp:coreProperties>
</file>