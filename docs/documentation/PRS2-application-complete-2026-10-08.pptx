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slideMasters/slideMaster425.xml" ContentType="application/vnd.openxmlformats-officedocument.presentationml.slideMaster+xml"/>
  <Override PartName="/ppt/slides/slide425.xml" ContentType="application/vnd.openxmlformats-officedocument.presentationml.slide+xml"/>
  <Override PartName="/ppt/slideMasters/slideMaster426.xml" ContentType="application/vnd.openxmlformats-officedocument.presentationml.slideMaster+xml"/>
  <Override PartName="/ppt/slides/slide426.xml" ContentType="application/vnd.openxmlformats-officedocument.presentationml.slide+xml"/>
  <Override PartName="/ppt/slideMasters/slideMaster427.xml" ContentType="application/vnd.openxmlformats-officedocument.presentationml.slideMaster+xml"/>
  <Override PartName="/ppt/slides/slide427.xml" ContentType="application/vnd.openxmlformats-officedocument.presentationml.slide+xml"/>
  <Override PartName="/ppt/slideMasters/slideMaster428.xml" ContentType="application/vnd.openxmlformats-officedocument.presentationml.slideMaster+xml"/>
  <Override PartName="/ppt/slides/slide428.xml" ContentType="application/vnd.openxmlformats-officedocument.presentationml.slide+xml"/>
  <Override PartName="/ppt/slideMasters/slideMaster429.xml" ContentType="application/vnd.openxmlformats-officedocument.presentationml.slideMaster+xml"/>
  <Override PartName="/ppt/slides/slide429.xml" ContentType="application/vnd.openxmlformats-officedocument.presentationml.slide+xml"/>
  <Override PartName="/ppt/slideMasters/slideMaster430.xml" ContentType="application/vnd.openxmlformats-officedocument.presentationml.slideMaster+xml"/>
  <Override PartName="/ppt/slides/slide430.xml" ContentType="application/vnd.openxmlformats-officedocument.presentationml.slide+xml"/>
  <Override PartName="/ppt/slideMasters/slideMaster431.xml" ContentType="application/vnd.openxmlformats-officedocument.presentationml.slideMaster+xml"/>
  <Override PartName="/ppt/slides/slide431.xml" ContentType="application/vnd.openxmlformats-officedocument.presentationml.slide+xml"/>
  <Override PartName="/ppt/slideMasters/slideMaster432.xml" ContentType="application/vnd.openxmlformats-officedocument.presentationml.slideMaster+xml"/>
  <Override PartName="/ppt/slides/slide432.xml" ContentType="application/vnd.openxmlformats-officedocument.presentationml.slide+xml"/>
  <Override PartName="/ppt/slideMasters/slideMaster433.xml" ContentType="application/vnd.openxmlformats-officedocument.presentationml.slideMaster+xml"/>
  <Override PartName="/ppt/slides/slide433.xml" ContentType="application/vnd.openxmlformats-officedocument.presentationml.slide+xml"/>
  <Override PartName="/ppt/slideMasters/slideMaster434.xml" ContentType="application/vnd.openxmlformats-officedocument.presentationml.slideMaster+xml"/>
  <Override PartName="/ppt/slides/slide434.xml" ContentType="application/vnd.openxmlformats-officedocument.presentationml.slide+xml"/>
  <Override PartName="/ppt/slideMasters/slideMaster435.xml" ContentType="application/vnd.openxmlformats-officedocument.presentationml.slideMaster+xml"/>
  <Override PartName="/ppt/slides/slide435.xml" ContentType="application/vnd.openxmlformats-officedocument.presentationml.slide+xml"/>
  <Override PartName="/ppt/slideMasters/slideMaster436.xml" ContentType="application/vnd.openxmlformats-officedocument.presentationml.slideMaster+xml"/>
  <Override PartName="/ppt/slides/slide436.xml" ContentType="application/vnd.openxmlformats-officedocument.presentationml.slide+xml"/>
  <Override PartName="/ppt/slideMasters/slideMaster437.xml" ContentType="application/vnd.openxmlformats-officedocument.presentationml.slideMaster+xml"/>
  <Override PartName="/ppt/slides/slide437.xml" ContentType="application/vnd.openxmlformats-officedocument.presentationml.slide+xml"/>
  <Override PartName="/ppt/slideMasters/slideMaster438.xml" ContentType="application/vnd.openxmlformats-officedocument.presentationml.slideMaster+xml"/>
  <Override PartName="/ppt/slides/slide438.xml" ContentType="application/vnd.openxmlformats-officedocument.presentationml.slide+xml"/>
  <Override PartName="/ppt/slideMasters/slideMaster439.xml" ContentType="application/vnd.openxmlformats-officedocument.presentationml.slideMaster+xml"/>
  <Override PartName="/ppt/slides/slide439.xml" ContentType="application/vnd.openxmlformats-officedocument.presentationml.slide+xml"/>
  <Override PartName="/ppt/slideMasters/slideMaster440.xml" ContentType="application/vnd.openxmlformats-officedocument.presentationml.slideMaster+xml"/>
  <Override PartName="/ppt/slides/slide4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 id="689" r:id="rId435"/>
    <p:sldId id="690" r:id="rId436"/>
    <p:sldId id="691" r:id="rId437"/>
    <p:sldId id="692" r:id="rId438"/>
    <p:sldId id="693" r:id="rId439"/>
    <p:sldId id="694" r:id="rId440"/>
    <p:sldId id="695" r:id="rId441"/>
  </p:sldIdLst>
  <p:notesMasterIdLst>
    <p:notesMasterId r:id="rId4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notesMaster" Target="notesMasters/notesMaster1.xml"/><Relationship Id="rId443" Type="http://schemas.openxmlformats.org/officeDocument/2006/relationships/presProps" Target="presProps.xml"/><Relationship Id="rId444" Type="http://schemas.openxmlformats.org/officeDocument/2006/relationships/viewProps" Target="viewProps.xml"/><Relationship Id="rId445" Type="http://schemas.openxmlformats.org/officeDocument/2006/relationships/theme" Target="theme/theme1.xml"/><Relationship Id="rId4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_rels/notesSlide4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5.xml"/>
		</Relationships>
</file>

<file path=ppt/notesSlides/_rels/notesSlide4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6.xml"/>
		</Relationships>
</file>

<file path=ppt/notesSlides/_rels/notesSlide4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7.xml"/>
		</Relationships>
</file>

<file path=ppt/notesSlides/_rels/notesSlide4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8.xml"/>
		</Relationships>
</file>

<file path=ppt/notesSlides/_rels/notesSlide4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9.xml"/>
		</Relationships>
</file>

<file path=ppt/notesSlides/_rels/notesSlide4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0.xml"/>
		</Relationships>
</file>

<file path=ppt/notesSlides/_rels/notesSlide4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1.xml"/>
		</Relationships>
</file>

<file path=ppt/notesSlides/_rels/notesSlide4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2.xml"/>
		</Relationships>
</file>

<file path=ppt/notesSlides/_rels/notesSlide4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3.xml"/>
		</Relationships>
</file>

<file path=ppt/notesSlides/_rels/notesSlide4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4.xml"/>
		</Relationships>
</file>

<file path=ppt/notesSlides/_rels/notesSlide4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5.xml"/>
		</Relationships>
</file>

<file path=ppt/notesSlides/_rels/notesSlide4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6.xml"/>
		</Relationships>
</file>

<file path=ppt/notesSlides/_rels/notesSlide4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7.xml"/>
		</Relationships>
</file>

<file path=ppt/notesSlides/_rels/notesSlide4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8.xml"/>
		</Relationships>
</file>

<file path=ppt/notesSlides/_rels/notesSlide4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9.xml"/>
		</Relationships>
</file>

<file path=ppt/notesSlides/_rels/notesSlide4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Édition de travail (phase 1) : les parties déjà illustrées sont reprises des présentations « Fonctionnement détaillé » (06/10) et « Évaluation et attribution » (07/10) ; les écrans annoncés « à venir » seront capturés aux phases 2 et 3, à la phase 4, chaque partie reçoit la référence de ses données (tables du serveur) et le catalogue de ses règles de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étapes 2 à 5 sont montrées sur une seconde fiche brouillon de démonstration, parcourue à l’écran comme le ferait une PRMP.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jp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jp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jp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jp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jp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1.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jp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image-228-1.jp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jp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jp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jp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232-1.jp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jp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52-1.jpg"/><Relationship Id="rId2" Type="http://schemas.openxmlformats.org/officeDocument/2006/relationships/slideLayout" Target="../slideLayouts/slideLayout1.xm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jp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jp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257-1.jp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258-1.jp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259-1.jp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60-1.jp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261-1.jp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262-1.jpg"/><Relationship Id="rId2" Type="http://schemas.openxmlformats.org/officeDocument/2006/relationships/slideLayout" Target="../slideLayouts/slideLayout1.xml"/><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jp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jp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jp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jp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jp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jp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269-1.jp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image" Target="../media/image-287-1.jpg"/><Relationship Id="rId2" Type="http://schemas.openxmlformats.org/officeDocument/2006/relationships/slideLayout" Target="../slideLayouts/slideLayout1.xml"/><Relationship Id="rId3"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jp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jp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jp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jp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image" Target="../media/image-292-1.jpg"/><Relationship Id="rId2" Type="http://schemas.openxmlformats.org/officeDocument/2006/relationships/slideLayout" Target="../slideLayouts/slideLayout1.xml"/><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image" Target="../media/image-293-1.jpg"/><Relationship Id="rId2" Type="http://schemas.openxmlformats.org/officeDocument/2006/relationships/slideLayout" Target="../slideLayouts/slideLayout1.xml"/><Relationship Id="rId3"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image" Target="../media/image-294-1.jpg"/><Relationship Id="rId2" Type="http://schemas.openxmlformats.org/officeDocument/2006/relationships/slideLayout" Target="../slideLayouts/slideLayout1.xml"/><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image" Target="../media/image-295-1.jpg"/><Relationship Id="rId2" Type="http://schemas.openxmlformats.org/officeDocument/2006/relationships/slideLayout" Target="../slideLayouts/slideLayout1.xml"/><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image" Target="../media/image-296-1.jpg"/><Relationship Id="rId2" Type="http://schemas.openxmlformats.org/officeDocument/2006/relationships/slideLayout" Target="../slideLayouts/slideLayout1.xml"/><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image" Target="../media/image-298-1.jpg"/><Relationship Id="rId2" Type="http://schemas.openxmlformats.org/officeDocument/2006/relationships/slideLayout" Target="../slideLayouts/slideLayout1.xml"/><Relationship Id="rId3"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jp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jp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image" Target="../media/image-301-1.jpg"/><Relationship Id="rId2" Type="http://schemas.openxmlformats.org/officeDocument/2006/relationships/slideLayout" Target="../slideLayouts/slideLayout1.xml"/><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jp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jp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jp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image" Target="../media/image-305-1.jpg"/><Relationship Id="rId2" Type="http://schemas.openxmlformats.org/officeDocument/2006/relationships/slideLayout" Target="../slideLayouts/slideLayout1.xml"/><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image" Target="../media/image-306-1.jpg"/><Relationship Id="rId2" Type="http://schemas.openxmlformats.org/officeDocument/2006/relationships/slideLayout" Target="../slideLayouts/slideLayout1.xml"/><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image" Target="../media/image-307-1.jpg"/><Relationship Id="rId2" Type="http://schemas.openxmlformats.org/officeDocument/2006/relationships/slideLayout" Target="../slideLayouts/slideLayout1.xml"/><Relationship Id="rId3"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image" Target="../media/image-308-1.jpg"/><Relationship Id="rId2" Type="http://schemas.openxmlformats.org/officeDocument/2006/relationships/slideLayout" Target="../slideLayouts/slideLayout1.xml"/><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image" Target="../media/image-309-1.jpg"/><Relationship Id="rId2" Type="http://schemas.openxmlformats.org/officeDocument/2006/relationships/slideLayout" Target="../slideLayouts/slideLayout1.xml"/><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image" Target="../media/image-310-1.jpg"/><Relationship Id="rId2" Type="http://schemas.openxmlformats.org/officeDocument/2006/relationships/slideLayout" Target="../slideLayouts/slideLayout1.xml"/><Relationship Id="rId3"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image" Target="../media/image-311-1.jpg"/><Relationship Id="rId2" Type="http://schemas.openxmlformats.org/officeDocument/2006/relationships/slideLayout" Target="../slideLayouts/slideLayout1.xml"/><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image" Target="../media/image-312-1.jpg"/><Relationship Id="rId2" Type="http://schemas.openxmlformats.org/officeDocument/2006/relationships/slideLayout" Target="../slideLayouts/slideLayout1.xml"/><Relationship Id="rId3"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image" Target="../media/image-332-1.jpg"/><Relationship Id="rId2" Type="http://schemas.openxmlformats.org/officeDocument/2006/relationships/slideLayout" Target="../slideLayouts/slideLayout1.xml"/><Relationship Id="rId3"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image" Target="../media/image-333-1.jpg"/><Relationship Id="rId2" Type="http://schemas.openxmlformats.org/officeDocument/2006/relationships/slideLayout" Target="../slideLayouts/slideLayout1.xml"/><Relationship Id="rId3"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image" Target="../media/image-334-1.jpg"/><Relationship Id="rId2" Type="http://schemas.openxmlformats.org/officeDocument/2006/relationships/slideLayout" Target="../slideLayouts/slideLayout1.xml"/><Relationship Id="rId3"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image" Target="../media/image-335-1.jpg"/><Relationship Id="rId2" Type="http://schemas.openxmlformats.org/officeDocument/2006/relationships/slideLayout" Target="../slideLayouts/slideLayout1.xml"/><Relationship Id="rId3"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image" Target="../media/image-336-1.jpg"/><Relationship Id="rId2" Type="http://schemas.openxmlformats.org/officeDocument/2006/relationships/slideLayout" Target="../slideLayouts/slideLayout1.xml"/><Relationship Id="rId3"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jp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image" Target="../media/image-338-1.jpg"/><Relationship Id="rId2" Type="http://schemas.openxmlformats.org/officeDocument/2006/relationships/slideLayout" Target="../slideLayouts/slideLayout1.xml"/><Relationship Id="rId3"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image" Target="../media/image-339-1.jpg"/><Relationship Id="rId2" Type="http://schemas.openxmlformats.org/officeDocument/2006/relationships/slideLayout" Target="../slideLayouts/slideLayout1.xml"/><Relationship Id="rId3"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image" Target="../media/image-340-1.jpg"/><Relationship Id="rId2" Type="http://schemas.openxmlformats.org/officeDocument/2006/relationships/slideLayout" Target="../slideLayouts/slideLayout1.xml"/><Relationship Id="rId3"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image" Target="../media/image-341-1.jpg"/><Relationship Id="rId2" Type="http://schemas.openxmlformats.org/officeDocument/2006/relationships/slideLayout" Target="../slideLayouts/slideLayout1.xml"/><Relationship Id="rId3"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image" Target="../media/image-342-1.jpg"/><Relationship Id="rId2" Type="http://schemas.openxmlformats.org/officeDocument/2006/relationships/slideLayout" Target="../slideLayouts/slideLayout1.xml"/><Relationship Id="rId3"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image" Target="../media/image-343-1.jpg"/><Relationship Id="rId2" Type="http://schemas.openxmlformats.org/officeDocument/2006/relationships/slideLayout" Target="../slideLayouts/slideLayout1.xml"/><Relationship Id="rId3"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image" Target="../media/image-344-1.jpg"/><Relationship Id="rId2" Type="http://schemas.openxmlformats.org/officeDocument/2006/relationships/slideLayout" Target="../slideLayouts/slideLayout1.xml"/><Relationship Id="rId3"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image" Target="../media/image-345-1.jpg"/><Relationship Id="rId2" Type="http://schemas.openxmlformats.org/officeDocument/2006/relationships/slideLayout" Target="../slideLayouts/slideLayout1.xml"/><Relationship Id="rId3"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image" Target="../media/image-346-1.jpg"/><Relationship Id="rId2" Type="http://schemas.openxmlformats.org/officeDocument/2006/relationships/slideLayout" Target="../slideLayouts/slideLayout1.xml"/><Relationship Id="rId3"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image" Target="../media/image-347-1.jpg"/><Relationship Id="rId2" Type="http://schemas.openxmlformats.org/officeDocument/2006/relationships/slideLayout" Target="../slideLayouts/slideLayout1.xml"/><Relationship Id="rId3"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image" Target="../media/image-348-1.jpg"/><Relationship Id="rId2" Type="http://schemas.openxmlformats.org/officeDocument/2006/relationships/slideLayout" Target="../slideLayouts/slideLayout1.xml"/><Relationship Id="rId3"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image" Target="../media/image-349-1.jpg"/><Relationship Id="rId2" Type="http://schemas.openxmlformats.org/officeDocument/2006/relationships/slideLayout" Target="../slideLayouts/slideLayout1.xml"/><Relationship Id="rId3"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image" Target="../media/image-350-1.jpg"/><Relationship Id="rId2" Type="http://schemas.openxmlformats.org/officeDocument/2006/relationships/slideLayout" Target="../slideLayouts/slideLayout1.xml"/><Relationship Id="rId3"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image" Target="../media/image-351-1.jpg"/><Relationship Id="rId2" Type="http://schemas.openxmlformats.org/officeDocument/2006/relationships/slideLayout" Target="../slideLayouts/slideLayout1.xml"/><Relationship Id="rId3"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image" Target="../media/image-352-1.jpg"/><Relationship Id="rId2" Type="http://schemas.openxmlformats.org/officeDocument/2006/relationships/slideLayout" Target="../slideLayouts/slideLayout1.xml"/><Relationship Id="rId3"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image" Target="../media/image-353-1.jpg"/><Relationship Id="rId2" Type="http://schemas.openxmlformats.org/officeDocument/2006/relationships/slideLayout" Target="../slideLayouts/slideLayout1.xml"/><Relationship Id="rId3"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image" Target="../media/image-354-1.jpg"/><Relationship Id="rId2" Type="http://schemas.openxmlformats.org/officeDocument/2006/relationships/slideLayout" Target="../slideLayouts/slideLayout1.xml"/><Relationship Id="rId3"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image" Target="../media/image-373-1.jpg"/><Relationship Id="rId2" Type="http://schemas.openxmlformats.org/officeDocument/2006/relationships/slideLayout" Target="../slideLayouts/slideLayout1.xml"/><Relationship Id="rId3"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image" Target="../media/image-374-1.jpg"/><Relationship Id="rId2" Type="http://schemas.openxmlformats.org/officeDocument/2006/relationships/slideLayout" Target="../slideLayouts/slideLayout1.xml"/><Relationship Id="rId3"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image" Target="../media/image-375-1.jpg"/><Relationship Id="rId2" Type="http://schemas.openxmlformats.org/officeDocument/2006/relationships/slideLayout" Target="../slideLayouts/slideLayout1.xml"/><Relationship Id="rId3"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image" Target="../media/image-386-1.jpg"/><Relationship Id="rId2" Type="http://schemas.openxmlformats.org/officeDocument/2006/relationships/slideLayout" Target="../slideLayouts/slideLayout1.xml"/><Relationship Id="rId3"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image" Target="../media/image-387-1.jpg"/><Relationship Id="rId2" Type="http://schemas.openxmlformats.org/officeDocument/2006/relationships/slideLayout" Target="../slideLayouts/slideLayout1.xml"/><Relationship Id="rId3"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image" Target="../media/image-388-1.jpg"/><Relationship Id="rId2" Type="http://schemas.openxmlformats.org/officeDocument/2006/relationships/slideLayout" Target="../slideLayouts/slideLayout1.xml"/><Relationship Id="rId3"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image" Target="../media/image-389-1.jpg"/><Relationship Id="rId2" Type="http://schemas.openxmlformats.org/officeDocument/2006/relationships/slideLayout" Target="../slideLayouts/slideLayout1.xml"/><Relationship Id="rId3"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image" Target="../media/image-390-1.jpg"/><Relationship Id="rId2" Type="http://schemas.openxmlformats.org/officeDocument/2006/relationships/slideLayout" Target="../slideLayouts/slideLayout1.xml"/><Relationship Id="rId3"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image" Target="../media/image-391-1.jpg"/><Relationship Id="rId2" Type="http://schemas.openxmlformats.org/officeDocument/2006/relationships/slideLayout" Target="../slideLayouts/slideLayout1.xml"/><Relationship Id="rId3"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image" Target="../media/image-392-1.jpg"/><Relationship Id="rId2" Type="http://schemas.openxmlformats.org/officeDocument/2006/relationships/slideLayout" Target="../slideLayouts/slideLayout1.xml"/><Relationship Id="rId3"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image" Target="../media/image-393-1.jpg"/><Relationship Id="rId2" Type="http://schemas.openxmlformats.org/officeDocument/2006/relationships/slideLayout" Target="../slideLayouts/slideLayout1.xml"/><Relationship Id="rId3"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image" Target="../media/image-394-1.jpg"/><Relationship Id="rId2" Type="http://schemas.openxmlformats.org/officeDocument/2006/relationships/slideLayout" Target="../slideLayouts/slideLayout1.xml"/><Relationship Id="rId3"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image" Target="../media/image-395-1.jpg"/><Relationship Id="rId2" Type="http://schemas.openxmlformats.org/officeDocument/2006/relationships/slideLayout" Target="../slideLayouts/slideLayout1.xml"/><Relationship Id="rId3"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image" Target="../media/image-396-1.jpg"/><Relationship Id="rId2" Type="http://schemas.openxmlformats.org/officeDocument/2006/relationships/slideLayout" Target="../slideLayouts/slideLayout1.xml"/><Relationship Id="rId3"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image" Target="../media/image-397-1.jpg"/><Relationship Id="rId2" Type="http://schemas.openxmlformats.org/officeDocument/2006/relationships/slideLayout" Target="../slideLayouts/slideLayout1.xml"/><Relationship Id="rId3"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image" Target="../media/image-398-1.jpg"/><Relationship Id="rId2" Type="http://schemas.openxmlformats.org/officeDocument/2006/relationships/slideLayout" Target="../slideLayouts/slideLayout1.xml"/><Relationship Id="rId3"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image" Target="../media/image-399-1.jpg"/><Relationship Id="rId2" Type="http://schemas.openxmlformats.org/officeDocument/2006/relationships/slideLayout" Target="../slideLayouts/slideLayout1.xml"/><Relationship Id="rId3"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image" Target="../media/image-400-1.jpg"/><Relationship Id="rId2" Type="http://schemas.openxmlformats.org/officeDocument/2006/relationships/slideLayout" Target="../slideLayouts/slideLayout1.xml"/><Relationship Id="rId3"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image" Target="../media/image-401-1.jpg"/><Relationship Id="rId2" Type="http://schemas.openxmlformats.org/officeDocument/2006/relationships/slideLayout" Target="../slideLayouts/slideLayout1.xml"/><Relationship Id="rId3"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image" Target="../media/image-402-1.jpg"/><Relationship Id="rId2" Type="http://schemas.openxmlformats.org/officeDocument/2006/relationships/slideLayout" Target="../slideLayouts/slideLayout1.xml"/><Relationship Id="rId3"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image" Target="../media/image-403-1.jpg"/><Relationship Id="rId2" Type="http://schemas.openxmlformats.org/officeDocument/2006/relationships/slideLayout" Target="../slideLayouts/slideLayout1.xml"/><Relationship Id="rId3"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image" Target="../media/image-427-1.jpg"/><Relationship Id="rId2" Type="http://schemas.openxmlformats.org/officeDocument/2006/relationships/slideLayout" Target="../slideLayouts/slideLayout1.xml"/><Relationship Id="rId3"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image" Target="../media/image-428-1.jpg"/><Relationship Id="rId2" Type="http://schemas.openxmlformats.org/officeDocument/2006/relationships/slideLayout" Target="../slideLayouts/slideLayout1.xml"/><Relationship Id="rId3"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image" Target="../media/image-429-1.jpg"/><Relationship Id="rId2" Type="http://schemas.openxmlformats.org/officeDocument/2006/relationships/slideLayout" Target="../slideLayouts/slideLayout1.xml"/><Relationship Id="rId3"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image" Target="../media/image-430-1.jpg"/><Relationship Id="rId2" Type="http://schemas.openxmlformats.org/officeDocument/2006/relationships/slideLayout" Target="../slideLayouts/slideLayout1.xml"/><Relationship Id="rId3"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image" Target="../media/image-431-1.jpg"/><Relationship Id="rId2" Type="http://schemas.openxmlformats.org/officeDocument/2006/relationships/slideLayout" Target="../slideLayouts/slideLayout1.xml"/><Relationship Id="rId3"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270000"/>
          </a:xfrm>
          <a:prstGeom prst="rect">
            <a:avLst/>
          </a:prstGeom>
          <a:noFill/>
          <a:ln/>
        </p:spPr>
        <p:txBody>
          <a:bodyPr wrap="square" rtlCol="0" anchor="t"/>
          <a:lstStyle/>
          <a:p>
            <a:pPr indent="0" marL="0">
              <a:buNone/>
            </a:pPr>
            <a:r>
              <a:rPr lang="en-US" sz="4800" b="1" dirty="0">
                <a:solidFill>
                  <a:srgbClr val="FCFCFA"/>
                </a:solidFill>
                <a:latin typeface="Segoe UI" pitchFamily="34" charset="0"/>
                <a:ea typeface="Segoe UI" pitchFamily="34" charset="-122"/>
                <a:cs typeface="Segoe UI" pitchFamily="34" charset="-120"/>
              </a:rPr>
              <a:t>PRS 2.0 — L’application de bout en bout</a:t>
            </a:r>
            <a:endParaRPr lang="en-US" sz="48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FCFCFA"/>
                </a:solidFill>
                <a:latin typeface="Segoe UI" pitchFamily="34" charset="0"/>
                <a:ea typeface="Segoe UI" pitchFamily="34" charset="-122"/>
                <a:cs typeface="Segoe UI" pitchFamily="34" charset="-120"/>
              </a:rPr>
              <a:t>Toutes les étapes, du plan de passation au marché notifié : chaque écran, qui y agit, ce qui s’y passe, et les règles de gestion que le serveur applique.</a:t>
            </a:r>
            <a:endParaRPr lang="en-US" sz="22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Captures de l’application réelle sur des dossiers de démonstration · noms de personnes remplacés par leur rôle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partie s’ouvre sur son parcours, montre chaque écran (qui agit, ce qui se passe, les règles appliquées), et se termine par le catalogue de ses règles de gestion.</a:t>
            </a:r>
            <a:endParaRPr lang="en-US" sz="1300" dirty="0"/>
          </a:p>
        </p:txBody>
      </p:sp>
      <p:sp>
        <p:nvSpPr>
          <p:cNvPr id="5" name="Shape 3"/>
          <p:cNvSpPr/>
          <p:nvPr/>
        </p:nvSpPr>
        <p:spPr>
          <a:xfrm>
            <a:off x="812780" y="1651000"/>
            <a:ext cx="2527237" cy="1443567"/>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 dans l’application</a:t>
            </a:r>
            <a:endParaRPr lang="en-US" sz="1500" dirty="0"/>
          </a:p>
        </p:txBody>
      </p:sp>
      <p:sp>
        <p:nvSpPr>
          <p:cNvPr id="8" name="Text 6"/>
          <p:cNvSpPr/>
          <p:nvPr/>
        </p:nvSpPr>
        <p:spPr>
          <a:xfrm>
            <a:off x="952476"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Portail public, connexion, inscription, accueil « À faire », actualités, notifications, mon compte.</a:t>
            </a:r>
            <a:endParaRPr lang="en-US" sz="1200" dirty="0"/>
          </a:p>
        </p:txBody>
      </p:sp>
      <p:sp>
        <p:nvSpPr>
          <p:cNvPr id="9" name="Shape 7"/>
          <p:cNvSpPr/>
          <p:nvPr/>
        </p:nvSpPr>
        <p:spPr>
          <a:xfrm>
            <a:off x="3492413" y="1651000"/>
            <a:ext cx="2527237" cy="1443567"/>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plan de passation : saisie ou import, calendrier, pièces, pré-contrôle, soumission, mises à jour.</a:t>
            </a:r>
            <a:endParaRPr lang="en-US" sz="1200" dirty="0"/>
          </a:p>
        </p:txBody>
      </p:sp>
      <p:sp>
        <p:nvSpPr>
          <p:cNvPr id="13" name="Shape 11"/>
          <p:cNvSpPr/>
          <p:nvPr/>
        </p:nvSpPr>
        <p:spPr>
          <a:xfrm>
            <a:off x="6172046" y="1651000"/>
            <a:ext cx="2527237" cy="1443567"/>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la Commission : recevabilité, dispatch, examen, PV, visa, signature, vérification, renvoi, archivage.</a:t>
            </a:r>
            <a:endParaRPr lang="en-US" sz="1200" dirty="0"/>
          </a:p>
        </p:txBody>
      </p:sp>
      <p:sp>
        <p:nvSpPr>
          <p:cNvPr id="17" name="Shape 15"/>
          <p:cNvSpPr/>
          <p:nvPr/>
        </p:nvSpPr>
        <p:spPr>
          <a:xfrm>
            <a:off x="8851679" y="1651000"/>
            <a:ext cx="2527237" cy="1443567"/>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fiche marché, ses documents, le DAO complet, la commission d’appel d’offres, le contrôle et l’avis.</a:t>
            </a:r>
            <a:endParaRPr lang="en-US" sz="1200" dirty="0"/>
          </a:p>
        </p:txBody>
      </p:sp>
      <p:sp>
        <p:nvSpPr>
          <p:cNvPr id="21" name="Shape 19"/>
          <p:cNvSpPr/>
          <p:nvPr/>
        </p:nvSpPr>
        <p:spPr>
          <a:xfrm>
            <a:off x="812780" y="3246967"/>
            <a:ext cx="2527237" cy="1443567"/>
          </a:xfrm>
          <a:prstGeom prst="rect">
            <a:avLst/>
          </a:prstGeom>
          <a:solidFill>
            <a:srgbClr val="FCFCFA"/>
          </a:solidFill>
          <a:ln w="9525">
            <a:solidFill>
              <a:srgbClr val="D5DCE4"/>
            </a:solidFill>
            <a:prstDash val="solid"/>
          </a:ln>
        </p:spPr>
      </p:sp>
      <p:sp>
        <p:nvSpPr>
          <p:cNvPr id="22" name="Shape 20"/>
          <p:cNvSpPr/>
          <p:nvPr/>
        </p:nvSpPr>
        <p:spPr>
          <a:xfrm>
            <a:off x="812780" y="3246967"/>
            <a:ext cx="2527237" cy="38100"/>
          </a:xfrm>
          <a:prstGeom prst="rect">
            <a:avLst/>
          </a:prstGeom>
          <a:solidFill>
            <a:srgbClr val="1B6FA8"/>
          </a:solidFill>
          <a:ln/>
        </p:spPr>
      </p:sp>
      <p:sp>
        <p:nvSpPr>
          <p:cNvPr id="23" name="Text 21"/>
          <p:cNvSpPr/>
          <p:nvPr/>
        </p:nvSpPr>
        <p:spPr>
          <a:xfrm>
            <a:off x="952476"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Consulter : l’AMI</a:t>
            </a:r>
            <a:endParaRPr lang="en-US" sz="1500" dirty="0"/>
          </a:p>
        </p:txBody>
      </p:sp>
      <p:sp>
        <p:nvSpPr>
          <p:cNvPr id="24" name="Text 22"/>
          <p:cNvSpPr/>
          <p:nvPr/>
        </p:nvSpPr>
        <p:spPr>
          <a:xfrm>
            <a:off x="952476"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Prestations intellectuelles : appel à manifestation d’intérêt, présélection, liste restreinte, invitations.</a:t>
            </a:r>
            <a:endParaRPr lang="en-US" sz="1200" dirty="0"/>
          </a:p>
        </p:txBody>
      </p:sp>
      <p:sp>
        <p:nvSpPr>
          <p:cNvPr id="25" name="Shape 23"/>
          <p:cNvSpPr/>
          <p:nvPr/>
        </p:nvSpPr>
        <p:spPr>
          <a:xfrm>
            <a:off x="3492413" y="3246967"/>
            <a:ext cx="2527237" cy="1443567"/>
          </a:xfrm>
          <a:prstGeom prst="rect">
            <a:avLst/>
          </a:prstGeom>
          <a:solidFill>
            <a:srgbClr val="FCFCFA"/>
          </a:solidFill>
          <a:ln w="9525">
            <a:solidFill>
              <a:srgbClr val="D5DCE4"/>
            </a:solidFill>
            <a:prstDash val="solid"/>
          </a:ln>
        </p:spPr>
      </p:sp>
      <p:sp>
        <p:nvSpPr>
          <p:cNvPr id="26" name="Shape 24"/>
          <p:cNvSpPr/>
          <p:nvPr/>
        </p:nvSpPr>
        <p:spPr>
          <a:xfrm>
            <a:off x="3492413" y="3246967"/>
            <a:ext cx="2527237" cy="38100"/>
          </a:xfrm>
          <a:prstGeom prst="rect">
            <a:avLst/>
          </a:prstGeom>
          <a:solidFill>
            <a:srgbClr val="2E8B57"/>
          </a:solidFill>
          <a:ln/>
        </p:spPr>
      </p:sp>
      <p:sp>
        <p:nvSpPr>
          <p:cNvPr id="27" name="Text 25"/>
          <p:cNvSpPr/>
          <p:nvPr/>
        </p:nvSpPr>
        <p:spPr>
          <a:xfrm>
            <a:off x="3632109"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 compte, frais de dossier, retrait, offre remplie en ligne, dépôt scellé.</a:t>
            </a:r>
            <a:endParaRPr lang="en-US" sz="1200" dirty="0"/>
          </a:p>
        </p:txBody>
      </p:sp>
      <p:sp>
        <p:nvSpPr>
          <p:cNvPr id="29" name="Shape 27"/>
          <p:cNvSpPr/>
          <p:nvPr/>
        </p:nvSpPr>
        <p:spPr>
          <a:xfrm>
            <a:off x="6172046" y="3246967"/>
            <a:ext cx="2527237" cy="1443567"/>
          </a:xfrm>
          <a:prstGeom prst="rect">
            <a:avLst/>
          </a:prstGeom>
          <a:solidFill>
            <a:srgbClr val="FCFCFA"/>
          </a:solidFill>
          <a:ln w="9525">
            <a:solidFill>
              <a:srgbClr val="D5DCE4"/>
            </a:solidFill>
            <a:prstDash val="solid"/>
          </a:ln>
        </p:spPr>
      </p:sp>
      <p:sp>
        <p:nvSpPr>
          <p:cNvPr id="30" name="Shape 28"/>
          <p:cNvSpPr/>
          <p:nvPr/>
        </p:nvSpPr>
        <p:spPr>
          <a:xfrm>
            <a:off x="6172046" y="3246967"/>
            <a:ext cx="2527237" cy="38100"/>
          </a:xfrm>
          <a:prstGeom prst="rect">
            <a:avLst/>
          </a:prstGeom>
          <a:solidFill>
            <a:srgbClr val="E3AE2E"/>
          </a:solidFill>
          <a:ln/>
        </p:spPr>
      </p:sp>
      <p:sp>
        <p:nvSpPr>
          <p:cNvPr id="31" name="Text 29"/>
          <p:cNvSpPr/>
          <p:nvPr/>
        </p:nvSpPr>
        <p:spPr>
          <a:xfrm>
            <a:off x="6311742"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clés, le quorum, l’ouverture, la lecture, le PV signé en ligne.</a:t>
            </a:r>
            <a:endParaRPr lang="en-US" sz="1200" dirty="0"/>
          </a:p>
        </p:txBody>
      </p:sp>
      <p:sp>
        <p:nvSpPr>
          <p:cNvPr id="33" name="Shape 31"/>
          <p:cNvSpPr/>
          <p:nvPr/>
        </p:nvSpPr>
        <p:spPr>
          <a:xfrm>
            <a:off x="8851679" y="3246967"/>
            <a:ext cx="2527237" cy="1443567"/>
          </a:xfrm>
          <a:prstGeom prst="rect">
            <a:avLst/>
          </a:prstGeom>
          <a:solidFill>
            <a:srgbClr val="FCFCFA"/>
          </a:solidFill>
          <a:ln w="9525">
            <a:solidFill>
              <a:srgbClr val="D5DCE4"/>
            </a:solidFill>
            <a:prstDash val="solid"/>
          </a:ln>
        </p:spPr>
      </p:sp>
      <p:sp>
        <p:nvSpPr>
          <p:cNvPr id="34" name="Shape 32"/>
          <p:cNvSpPr/>
          <p:nvPr/>
        </p:nvSpPr>
        <p:spPr>
          <a:xfrm>
            <a:off x="8851679" y="3246967"/>
            <a:ext cx="2527237" cy="38100"/>
          </a:xfrm>
          <a:prstGeom prst="rect">
            <a:avLst/>
          </a:prstGeom>
          <a:solidFill>
            <a:srgbClr val="12324A"/>
          </a:solidFill>
          <a:ln/>
        </p:spPr>
      </p:sp>
      <p:sp>
        <p:nvSpPr>
          <p:cNvPr id="35" name="Text 33"/>
          <p:cNvSpPr/>
          <p:nvPr/>
        </p:nvSpPr>
        <p:spPr>
          <a:xfrm>
            <a:off x="8991375"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étapes 2 à 5 du guide, le rapport signé de la commission.</a:t>
            </a:r>
            <a:endParaRPr lang="en-US" sz="1200" dirty="0"/>
          </a:p>
        </p:txBody>
      </p:sp>
      <p:sp>
        <p:nvSpPr>
          <p:cNvPr id="37" name="Shape 35"/>
          <p:cNvSpPr/>
          <p:nvPr/>
        </p:nvSpPr>
        <p:spPr>
          <a:xfrm>
            <a:off x="812780" y="4842933"/>
            <a:ext cx="2527237" cy="1443567"/>
          </a:xfrm>
          <a:prstGeom prst="rect">
            <a:avLst/>
          </a:prstGeom>
          <a:solidFill>
            <a:srgbClr val="FCFCFA"/>
          </a:solidFill>
          <a:ln w="9525">
            <a:solidFill>
              <a:srgbClr val="D5DCE4"/>
            </a:solidFill>
            <a:prstDash val="solid"/>
          </a:ln>
        </p:spPr>
      </p:sp>
      <p:sp>
        <p:nvSpPr>
          <p:cNvPr id="38" name="Shape 36"/>
          <p:cNvSpPr/>
          <p:nvPr/>
        </p:nvSpPr>
        <p:spPr>
          <a:xfrm>
            <a:off x="812780" y="4842933"/>
            <a:ext cx="2527237" cy="38100"/>
          </a:xfrm>
          <a:prstGeom prst="rect">
            <a:avLst/>
          </a:prstGeom>
          <a:solidFill>
            <a:srgbClr val="1B6FA8"/>
          </a:solidFill>
          <a:ln/>
        </p:spPr>
      </p:sp>
      <p:sp>
        <p:nvSpPr>
          <p:cNvPr id="39" name="Text 37"/>
          <p:cNvSpPr/>
          <p:nvPr/>
        </p:nvSpPr>
        <p:spPr>
          <a:xfrm>
            <a:off x="952476"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dossier de marché, l’information des candidats, les recours, la signature, la notification, l’avis.</a:t>
            </a:r>
            <a:endParaRPr lang="en-US" sz="1200" dirty="0"/>
          </a:p>
        </p:txBody>
      </p:sp>
      <p:sp>
        <p:nvSpPr>
          <p:cNvPr id="41" name="Shape 39"/>
          <p:cNvSpPr/>
          <p:nvPr/>
        </p:nvSpPr>
        <p:spPr>
          <a:xfrm>
            <a:off x="3492413" y="4842933"/>
            <a:ext cx="2527237" cy="1443567"/>
          </a:xfrm>
          <a:prstGeom prst="rect">
            <a:avLst/>
          </a:prstGeom>
          <a:solidFill>
            <a:srgbClr val="FCFCFA"/>
          </a:solidFill>
          <a:ln w="9525">
            <a:solidFill>
              <a:srgbClr val="D5DCE4"/>
            </a:solidFill>
            <a:prstDash val="solid"/>
          </a:ln>
        </p:spPr>
      </p:sp>
      <p:sp>
        <p:nvSpPr>
          <p:cNvPr id="42" name="Shape 40"/>
          <p:cNvSpPr/>
          <p:nvPr/>
        </p:nvSpPr>
        <p:spPr>
          <a:xfrm>
            <a:off x="3492413" y="4842933"/>
            <a:ext cx="2527237" cy="38100"/>
          </a:xfrm>
          <a:prstGeom prst="rect">
            <a:avLst/>
          </a:prstGeom>
          <a:solidFill>
            <a:srgbClr val="2E8B57"/>
          </a:solidFill>
          <a:ln/>
        </p:spPr>
      </p:sp>
      <p:sp>
        <p:nvSpPr>
          <p:cNvPr id="43" name="Text 41"/>
          <p:cNvSpPr/>
          <p:nvPr/>
        </p:nvSpPr>
        <p:spPr>
          <a:xfrm>
            <a:off x="3632109"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titulaire absent, l’intérim désigné, la vacance de la PRMP.</a:t>
            </a:r>
            <a:endParaRPr lang="en-US" sz="1200" dirty="0"/>
          </a:p>
        </p:txBody>
      </p:sp>
      <p:sp>
        <p:nvSpPr>
          <p:cNvPr id="45" name="Shape 43"/>
          <p:cNvSpPr/>
          <p:nvPr/>
        </p:nvSpPr>
        <p:spPr>
          <a:xfrm>
            <a:off x="6172046" y="4842933"/>
            <a:ext cx="2527237" cy="1443567"/>
          </a:xfrm>
          <a:prstGeom prst="rect">
            <a:avLst/>
          </a:prstGeom>
          <a:solidFill>
            <a:srgbClr val="FCFCFA"/>
          </a:solidFill>
          <a:ln w="9525">
            <a:solidFill>
              <a:srgbClr val="D5DCE4"/>
            </a:solidFill>
            <a:prstDash val="solid"/>
          </a:ln>
        </p:spPr>
      </p:sp>
      <p:sp>
        <p:nvSpPr>
          <p:cNvPr id="46" name="Shape 44"/>
          <p:cNvSpPr/>
          <p:nvPr/>
        </p:nvSpPr>
        <p:spPr>
          <a:xfrm>
            <a:off x="6172046" y="4842933"/>
            <a:ext cx="2527237" cy="38100"/>
          </a:xfrm>
          <a:prstGeom prst="rect">
            <a:avLst/>
          </a:prstGeom>
          <a:solidFill>
            <a:srgbClr val="E3AE2E"/>
          </a:solidFill>
          <a:ln/>
        </p:spPr>
      </p:sp>
      <p:sp>
        <p:nvSpPr>
          <p:cNvPr id="47" name="Text 45"/>
          <p:cNvSpPr/>
          <p:nvPr/>
        </p:nvSpPr>
        <p:spPr>
          <a:xfrm>
            <a:off x="6311742"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Comptes, référentiels, seuils, paramètres, procédures, actualités.</a:t>
            </a:r>
            <a:endParaRPr lang="en-US" sz="1200" dirty="0"/>
          </a:p>
        </p:txBody>
      </p:sp>
      <p:sp>
        <p:nvSpPr>
          <p:cNvPr id="49" name="Shape 47"/>
          <p:cNvSpPr/>
          <p:nvPr/>
        </p:nvSpPr>
        <p:spPr>
          <a:xfrm>
            <a:off x="8851679" y="4842933"/>
            <a:ext cx="2527237" cy="1443567"/>
          </a:xfrm>
          <a:prstGeom prst="rect">
            <a:avLst/>
          </a:prstGeom>
          <a:solidFill>
            <a:srgbClr val="FCFCFA"/>
          </a:solidFill>
          <a:ln w="9525">
            <a:solidFill>
              <a:srgbClr val="D5DCE4"/>
            </a:solidFill>
            <a:prstDash val="solid"/>
          </a:ln>
        </p:spPr>
      </p:sp>
      <p:sp>
        <p:nvSpPr>
          <p:cNvPr id="50" name="Shape 48"/>
          <p:cNvSpPr/>
          <p:nvPr/>
        </p:nvSpPr>
        <p:spPr>
          <a:xfrm>
            <a:off x="8851679" y="4842933"/>
            <a:ext cx="2527237" cy="38100"/>
          </a:xfrm>
          <a:prstGeom prst="rect">
            <a:avLst/>
          </a:prstGeom>
          <a:solidFill>
            <a:srgbClr val="12324A"/>
          </a:solidFill>
          <a:ln/>
        </p:spPr>
      </p:sp>
      <p:sp>
        <p:nvSpPr>
          <p:cNvPr id="51" name="Text 49"/>
          <p:cNvSpPr/>
          <p:nvPr/>
        </p:nvSpPr>
        <p:spPr>
          <a:xfrm>
            <a:off x="8991375"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Tableaux de pilotage, publication, transparence.</a:t>
            </a:r>
            <a:endParaRPr lang="en-US" sz="1200" dirty="0"/>
          </a:p>
        </p:txBody>
      </p:sp>
      <p:sp>
        <p:nvSpPr>
          <p:cNvPr id="53" name="Text 5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nationale des marchés : celui du plan, puis celui de son dossier de consultation — et, après l’évaluation, celui du marché lui-même.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Planifier</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PRMP saisit et soumet son plan</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Contrôler</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examine, le PV est signé</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04 · 05</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Préparer</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fiche DAO produit le dossier</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06 · 07</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Consulter</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Les offres arrivent en ligne, scellées</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08</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Évaluer</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d’appel d’offres classe</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09</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Attribuer</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Le marché est contrôlé, signé, notifié</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Autour de la chaîne : l’</a:t>
            </a:r>
            <a:pPr indent="0" marL="0">
              <a:buNone/>
            </a:pPr>
            <a:r>
              <a:rPr lang="en-US" sz="1400" b="1" dirty="0">
                <a:solidFill>
                  <a:srgbClr val="1B2A3A"/>
                </a:solidFill>
                <a:latin typeface="Segoe UI" pitchFamily="34" charset="0"/>
                <a:ea typeface="Segoe UI" pitchFamily="34" charset="-122"/>
                <a:cs typeface="Segoe UI" pitchFamily="34" charset="-120"/>
              </a:rPr>
              <a:t>entrée</a:t>
            </a:r>
            <a:pPr indent="0" marL="0">
              <a:buNone/>
            </a:pPr>
            <a:r>
              <a:rPr lang="en-US" sz="1400" dirty="0">
                <a:solidFill>
                  <a:srgbClr val="465568"/>
                </a:solidFill>
                <a:latin typeface="Segoe UI" pitchFamily="34" charset="0"/>
                <a:ea typeface="Segoe UI" pitchFamily="34" charset="-122"/>
                <a:cs typeface="Segoe UI" pitchFamily="34" charset="-120"/>
              </a:rPr>
              <a:t> dans l’application (01), l’</a:t>
            </a:r>
            <a:pPr indent="0" marL="0">
              <a:buNone/>
            </a:pPr>
            <a:r>
              <a:rPr lang="en-US" sz="1400" b="1" dirty="0">
                <a:solidFill>
                  <a:srgbClr val="1B2A3A"/>
                </a:solidFill>
                <a:latin typeface="Segoe UI" pitchFamily="34" charset="0"/>
                <a:ea typeface="Segoe UI" pitchFamily="34" charset="-122"/>
                <a:cs typeface="Segoe UI" pitchFamily="34" charset="-120"/>
              </a:rPr>
              <a:t>intérim</a:t>
            </a:r>
            <a:pPr indent="0" marL="0">
              <a:buNone/>
            </a:pPr>
            <a:r>
              <a:rPr lang="en-US" sz="1400" dirty="0">
                <a:solidFill>
                  <a:srgbClr val="465568"/>
                </a:solidFill>
                <a:latin typeface="Segoe UI" pitchFamily="34" charset="0"/>
                <a:ea typeface="Segoe UI" pitchFamily="34" charset="-122"/>
                <a:cs typeface="Segoe UI" pitchFamily="34" charset="-120"/>
              </a:rPr>
              <a:t> (10), l’</a:t>
            </a:r>
            <a:pPr indent="0" marL="0">
              <a:buNone/>
            </a:pPr>
            <a:r>
              <a:rPr lang="en-US" sz="1400" b="1" dirty="0">
                <a:solidFill>
                  <a:srgbClr val="1B2A3A"/>
                </a:solidFill>
                <a:latin typeface="Segoe UI" pitchFamily="34" charset="0"/>
                <a:ea typeface="Segoe UI" pitchFamily="34" charset="-122"/>
                <a:cs typeface="Segoe UI" pitchFamily="34" charset="-120"/>
              </a:rPr>
              <a:t>administration</a:t>
            </a:r>
            <a:pPr indent="0" marL="0">
              <a:buNone/>
            </a:pPr>
            <a:r>
              <a:rPr lang="en-US" sz="1400" dirty="0">
                <a:solidFill>
                  <a:srgbClr val="465568"/>
                </a:solidFill>
                <a:latin typeface="Segoe UI" pitchFamily="34" charset="0"/>
                <a:ea typeface="Segoe UI" pitchFamily="34" charset="-122"/>
                <a:cs typeface="Segoe UI" pitchFamily="34" charset="-120"/>
              </a:rPr>
              <a:t> (11) et le </a:t>
            </a:r>
            <a:pPr indent="0" marL="0">
              <a:buNone/>
            </a:pPr>
            <a:r>
              <a:rPr lang="en-US" sz="1400" b="1" dirty="0">
                <a:solidFill>
                  <a:srgbClr val="1B2A3A"/>
                </a:solidFill>
                <a:latin typeface="Segoe UI" pitchFamily="34" charset="0"/>
                <a:ea typeface="Segoe UI" pitchFamily="34" charset="-122"/>
                <a:cs typeface="Segoe UI" pitchFamily="34" charset="-120"/>
              </a:rPr>
              <a:t>pilotage</a:t>
            </a:r>
            <a:pPr indent="0" marL="0">
              <a:buNone/>
            </a:pPr>
            <a:r>
              <a:rPr lang="en-US" sz="1400" dirty="0">
                <a:solidFill>
                  <a:srgbClr val="465568"/>
                </a:solidFill>
                <a:latin typeface="Segoe UI" pitchFamily="34" charset="0"/>
                <a:ea typeface="Segoe UI" pitchFamily="34" charset="-122"/>
                <a:cs typeface="Segoe UI" pitchFamily="34" charset="-120"/>
              </a:rPr>
              <a:t> (12).</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coquille interne réunit la PRMP, l’UGPM et les huit profils de la Commission ; les candidats, la commission d’appel d’offres et le dépositaire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valide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contrôle la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émet l’avis,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réserves, transmettent à SIGMP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Administrateur</a:t>
            </a:r>
            <a:endParaRPr lang="en-US" sz="1500" dirty="0"/>
          </a:p>
        </p:txBody>
      </p:sp>
      <p:sp>
        <p:nvSpPr>
          <p:cNvPr id="28" name="Text 26"/>
          <p:cNvSpPr/>
          <p:nvPr/>
        </p:nvSpPr>
        <p:spPr>
          <a:xfrm>
            <a:off x="3632109"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 administre comptes, référentiels et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évaluent, présélectionnent, signent les rapports (espace /cao).</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Candidats et dépositaire</a:t>
            </a:r>
            <a:endParaRPr lang="en-US" sz="1500" dirty="0"/>
          </a:p>
        </p:txBody>
      </p:sp>
      <p:sp>
        <p:nvSpPr>
          <p:cNvPr id="36" name="Text 34"/>
          <p:cNvSpPr/>
          <p:nvPr/>
        </p:nvSpPr>
        <p:spPr>
          <a:xfrm>
            <a:off x="8991375"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déposent, suivent leur résultat ; le dépositaire garde la part de secours.</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Entrer dans l’application</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portail public, la connexion, l’accueil « À faire » de chaque profil, les actualités, les notifications et le compte.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54194" y="1752600"/>
            <a:ext cx="101597" cy="69850"/>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connexion, ce que le circuit attend d’elle,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urgence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menu : son travail (dont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Appels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ses décisions, la planification.</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ciblées par profil : rappel de règles,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Elles s’affichent à la connexion ; une fenêtre se ferme par son bouton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audience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PRMP, Commission, entreprises. Pour la PRMP : déposer ses plans, suivre leur contrôle, consulter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mots-clés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RG-ENT-05 · RG-ENT-08 · RG-ENT-09 · RG-ENT-10 · RG-ENT-14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profils de la Commission : le circuit, du dépôt à l’archivage — recevoir et dispatcher, examiner et viser, vérifier et clore.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entreprises : trouver la procédure, retirer le dossier, déposer son offre en ligne ; « Voir les procédures ouvertes » sans compte.</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cookie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jeton n’est gardé dans le navigateur.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et vers l’espace des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RG-ENT-01 · RG-ENT-02 · RG-ENT-03 · RG-ENT-04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s’inscrit elle-même : identité, fonction, entité contractante, acte de nomination et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attend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validation de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Demandes d’accès ») ; son UGPM sera créée ensuite par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circuit attend de lui, par urgence : dossiers à recevoir et à numéroter ; ici, rien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dispatcher, les PV à viser, les demandes de retrait à statuer ; le menu porte aussi les tâches exercées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examiner,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panneau du dossier choisi ouvre l’examen d’un clic.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qui l’attendent : transmettre la décision à SIGMP, ou statuer sur les réserves ; le retard de chacun est affiché.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notifications, filtrables ; chacune mène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écran où l’action attendue s’accomplit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Arrivée en temps réel, relève toutes les soixante secondes ; le compteur est tenu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la barre du haut : les dernières notifications et leur compteur,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Session et accès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session portée par le serveur · Tentatives de connexion limitées · Un mot de passe robuste · Chaque tentative est journalisée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Inscription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RG-ENT-05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s’inscrit elle-même · L’Administrateur vérifie et décide · Une validation entité par entité · Une entité, une seule PRMP · L’UGPM rattachée à sa tutelle · L’UGPM saisit, la PRMP engage · Un mandat de trois ans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Profils et visibilité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RG-ENT-12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Président voit tout · Les contrôleurs bornés à leur localité · La PRMP voit ses seuls dossiers · Un rattachement cible, sans verrouiller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L’accueil « À faire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RG-ENT-16 → 20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gestes qui vous attendent · Un geste proposé est permis · Les délégations à part · Une urgence mesurée, jamais inventée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Actualités, notifications et assistant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RG-ENT-21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actualité à l’ouverture · Une notification à chaque transmission · Chacun ne lit que les siennes · L’assistant IA cite, il ne décide pas · Un assistant local et tracé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session portée par le serveur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50" b="1" dirty="0">
                          <a:solidFill>
                            <a:srgbClr val="1B2A3A"/>
                          </a:solidFill>
                          <a:latin typeface="Segoe UI" pitchFamily="34" charset="0"/>
                          <a:ea typeface="Segoe UI" pitchFamily="34" charset="-122"/>
                          <a:cs typeface="Segoe UI" pitchFamily="34" charset="-120"/>
                        </a:rPr>
                        <a:t>cookie protégé</a:t>
                      </a:r>
                      <a:pPr indent="0" marL="0">
                        <a:buNone/>
                      </a:pPr>
                      <a:r>
                        <a:rPr lang="en-US" sz="1150" dirty="0">
                          <a:solidFill>
                            <a:srgbClr val="1B2A3A"/>
                          </a:solidFill>
                          <a:latin typeface="Segoe UI" pitchFamily="34" charset="0"/>
                          <a:ea typeface="Segoe UI" pitchFamily="34" charset="-122"/>
                          <a:cs typeface="Segoe UI" pitchFamily="34" charset="-120"/>
                        </a:rPr>
                        <a:t>, que les scripts de la page ne peuvent pas lire et qui ne part vers aucun autre site. Aucun jeton n'est remis à l'écran ; la déconnexion est demandée au serveur, qui efface la session.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Tentatives de connexion limitées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50" b="1" dirty="0">
                          <a:solidFill>
                            <a:srgbClr val="1B2A3A"/>
                          </a:solidFill>
                          <a:latin typeface="Segoe UI" pitchFamily="34" charset="0"/>
                          <a:ea typeface="Segoe UI" pitchFamily="34" charset="-122"/>
                          <a:cs typeface="Segoe UI" pitchFamily="34" charset="-120"/>
                        </a:rPr>
                        <a:t>dix par heure</a:t>
                      </a:r>
                      <a:pPr indent="0" marL="0">
                        <a:buNone/>
                      </a:pPr>
                      <a:r>
                        <a:rPr lang="en-US" sz="1150" dirty="0">
                          <a:solidFill>
                            <a:srgbClr val="1B2A3A"/>
                          </a:solidFill>
                          <a:latin typeface="Segoe UI" pitchFamily="34" charset="0"/>
                          <a:ea typeface="Segoe UI" pitchFamily="34" charset="-122"/>
                          <a:cs typeface="Segoe UI" pitchFamily="34" charset="-120"/>
                        </a:rPr>
                        <a:t> et par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mot de passe robuste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50" b="1" dirty="0">
                          <a:solidFill>
                            <a:srgbClr val="1B2A3A"/>
                          </a:solidFill>
                          <a:latin typeface="Segoe UI" pitchFamily="34" charset="0"/>
                          <a:ea typeface="Segoe UI" pitchFamily="34" charset="-122"/>
                          <a:cs typeface="Segoe UI" pitchFamily="34" charset="-120"/>
                        </a:rPr>
                        <a:t>8 à 72 caractères</a:t>
                      </a:r>
                      <a:pPr indent="0" marL="0">
                        <a:buNone/>
                      </a:pPr>
                      <a:r>
                        <a:rPr lang="en-US" sz="115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tentative est journalisée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5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50" dirty="0">
                          <a:solidFill>
                            <a:srgbClr val="1B2A3A"/>
                          </a:solidFill>
                          <a:latin typeface="Segoe UI" pitchFamily="34" charset="0"/>
                          <a:ea typeface="Segoe UI" pitchFamily="34" charset="-122"/>
                          <a:cs typeface="Segoe UI" pitchFamily="34" charset="-120"/>
                        </a:rPr>
                        <a:t>. Une panne du journal ne bloque jamais la connexion.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Authentification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s’inscrit elle-même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5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5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L’Administrateur vérifie et décide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50" b="1" dirty="0">
                          <a:solidFill>
                            <a:srgbClr val="1B2A3A"/>
                          </a:solidFill>
                          <a:latin typeface="Segoe UI" pitchFamily="34" charset="0"/>
                          <a:ea typeface="Segoe UI" pitchFamily="34" charset="-122"/>
                          <a:cs typeface="Segoe UI" pitchFamily="34" charset="-120"/>
                        </a:rPr>
                        <a:t>vérifie l'arrêté</a:t>
                      </a:r>
                      <a:pPr indent="0" marL="0">
                        <a:buNone/>
                      </a:pPr>
                      <a:r>
                        <a:rPr lang="en-US" sz="115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50" b="1" dirty="0">
                          <a:solidFill>
                            <a:srgbClr val="1B2A3A"/>
                          </a:solidFill>
                          <a:latin typeface="Segoe UI" pitchFamily="34" charset="0"/>
                          <a:ea typeface="Segoe UI" pitchFamily="34" charset="-122"/>
                          <a:cs typeface="Segoe UI" pitchFamily="34" charset="-120"/>
                        </a:rPr>
                        <a:t>signalée en conflit</a:t>
                      </a:r>
                      <a:pPr indent="0" marL="0">
                        <a:buNone/>
                      </a:pPr>
                      <a:r>
                        <a:rPr lang="en-US" sz="115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5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50" dirty="0">
                          <a:solidFill>
                            <a:srgbClr val="1B2A3A"/>
                          </a:solidFill>
                          <a:latin typeface="Segoe UI" pitchFamily="34" charset="0"/>
                          <a:ea typeface="Segoe UI" pitchFamily="34" charset="-122"/>
                          <a:cs typeface="Segoe UI" pitchFamily="34" charset="-120"/>
                        </a:rPr>
                        <a:t>. Elle s'inscrit en désignant cette PRMP, avec sa CIN, sans arrêté ni entité, ou son compte est créé par l'Administrateur. Son inscription suit la même validation que celle d'une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saisit, la PRMP engage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Inscriptions PRMP / UGPM (validation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voit tout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50" b="1" dirty="0">
                          <a:solidFill>
                            <a:srgbClr val="1B2A3A"/>
                          </a:solidFill>
                          <a:latin typeface="Segoe UI" pitchFamily="34" charset="0"/>
                          <a:ea typeface="Segoe UI" pitchFamily="34" charset="-122"/>
                          <a:cs typeface="Segoe UI" pitchFamily="34" charset="-120"/>
                        </a:rPr>
                        <a:t>toutes les localités</a:t>
                      </a:r>
                      <a:pPr indent="0" marL="0">
                        <a:buNone/>
                      </a:pPr>
                      <a:r>
                        <a:rPr lang="en-US" sz="115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contrôleurs bornés à leur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5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5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voit ses seuls dossiers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50" b="1" dirty="0">
                          <a:solidFill>
                            <a:srgbClr val="1B2A3A"/>
                          </a:solidFill>
                          <a:latin typeface="Segoe UI" pitchFamily="34" charset="0"/>
                          <a:ea typeface="Segoe UI" pitchFamily="34" charset="-122"/>
                          <a:cs typeface="Segoe UI" pitchFamily="34" charset="-120"/>
                        </a:rPr>
                        <a:t>ses propres dossiers</a:t>
                      </a:r>
                      <a:pPr indent="0" marL="0">
                        <a:buNone/>
                      </a:pPr>
                      <a:r>
                        <a:rPr lang="en-US" sz="1150" dirty="0">
                          <a:solidFill>
                            <a:srgbClr val="1B2A3A"/>
                          </a:solidFill>
                          <a:latin typeface="Segoe UI" pitchFamily="34" charset="0"/>
                          <a:ea typeface="Segoe UI" pitchFamily="34" charset="-122"/>
                          <a:cs typeface="Segoe UI" pitchFamily="34" charset="-120"/>
                        </a:rPr>
                        <a:t>, ceux dont elle est propriétaire.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rattachement cible, sans verrouiller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50" b="1" dirty="0">
                          <a:solidFill>
                            <a:srgbClr val="1B2A3A"/>
                          </a:solidFill>
                          <a:latin typeface="Segoe UI" pitchFamily="34" charset="0"/>
                          <a:ea typeface="Segoe UI" pitchFamily="34" charset="-122"/>
                          <a:cs typeface="Segoe UI" pitchFamily="34" charset="-120"/>
                        </a:rPr>
                        <a:t>qui est notifié</a:t>
                      </a:r>
                      <a:pPr indent="0" marL="0">
                        <a:buNone/>
                      </a:pPr>
                      <a:r>
                        <a:rPr lang="en-US" sz="115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gestes qui vous attendent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50" b="1" dirty="0">
                          <a:solidFill>
                            <a:srgbClr val="1B2A3A"/>
                          </a:solidFill>
                          <a:latin typeface="Segoe UI" pitchFamily="34" charset="0"/>
                          <a:ea typeface="Segoe UI" pitchFamily="34" charset="-122"/>
                          <a:cs typeface="Segoe UI" pitchFamily="34" charset="-120"/>
                        </a:rPr>
                        <a:t>triés par urgence</a:t>
                      </a:r>
                      <a:pPr indent="0" marL="0">
                        <a:buNone/>
                      </a:pPr>
                      <a:r>
                        <a:rPr lang="en-US" sz="115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geste proposé est permis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50" b="1" dirty="0">
                          <a:solidFill>
                            <a:srgbClr val="1B2A3A"/>
                          </a:solidFill>
                          <a:latin typeface="Segoe UI" pitchFamily="34" charset="0"/>
                          <a:ea typeface="Segoe UI" pitchFamily="34" charset="-122"/>
                          <a:cs typeface="Segoe UI" pitchFamily="34" charset="-120"/>
                        </a:rPr>
                        <a:t>l'accepterait</a:t>
                      </a:r>
                      <a:pPr indent="0" marL="0">
                        <a:buNone/>
                      </a:pPr>
                      <a:r>
                        <a:rPr lang="en-US" sz="115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délégations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50" b="1" dirty="0">
                          <a:solidFill>
                            <a:srgbClr val="1B2A3A"/>
                          </a:solidFill>
                          <a:latin typeface="Segoe UI" pitchFamily="34" charset="0"/>
                          <a:ea typeface="Segoe UI" pitchFamily="34" charset="-122"/>
                          <a:cs typeface="Segoe UI" pitchFamily="34" charset="-120"/>
                        </a:rPr>
                        <a:t>repliés</a:t>
                      </a:r>
                      <a:pPr indent="0" marL="0">
                        <a:buNone/>
                      </a:pPr>
                      <a:r>
                        <a:rPr lang="en-US" sz="115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urgence mesurée, jamais inventée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Délai dépassé : </a:t>
                      </a:r>
                      <a:pPr indent="0" marL="0">
                        <a:buNone/>
                      </a:pPr>
                      <a:r>
                        <a:rPr lang="en-US" sz="1150" b="1" dirty="0">
                          <a:solidFill>
                            <a:srgbClr val="1B2A3A"/>
                          </a:solidFill>
                          <a:latin typeface="Segoe UI" pitchFamily="34" charset="0"/>
                          <a:ea typeface="Segoe UI" pitchFamily="34" charset="-122"/>
                          <a:cs typeface="Segoe UI" pitchFamily="34" charset="-120"/>
                        </a:rPr>
                        <a:t>en retard</a:t>
                      </a:r>
                      <a:pPr indent="0" marL="0">
                        <a:buNone/>
                      </a:pPr>
                      <a:r>
                        <a:rPr lang="en-US" sz="1150" dirty="0">
                          <a:solidFill>
                            <a:srgbClr val="1B2A3A"/>
                          </a:solidFill>
                          <a:latin typeface="Segoe UI" pitchFamily="34" charset="0"/>
                          <a:ea typeface="Segoe UI" pitchFamily="34" charset="-122"/>
                          <a:cs typeface="Segoe UI" pitchFamily="34" charset="-120"/>
                        </a:rPr>
                        <a:t>. Reste inférieur ou égal à deux heures ou à 35 % du délai standard : bientôt. Au-delà : dans les délais. Un dossier sans entrée connue reste « sans délai » ; les attentes de la PRMP sont « en pause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50" b="1" dirty="0">
                          <a:solidFill>
                            <a:srgbClr val="1B2A3A"/>
                          </a:solidFill>
                          <a:latin typeface="Segoe UI" pitchFamily="34" charset="0"/>
                          <a:ea typeface="Segoe UI" pitchFamily="34" charset="-122"/>
                          <a:cs typeface="Segoe UI" pitchFamily="34" charset="-120"/>
                        </a:rPr>
                        <a:t>rien d'interne</a:t>
                      </a:r>
                      <a:pPr indent="0" marL="0">
                        <a:buNone/>
                      </a:pPr>
                      <a:r>
                        <a:rPr lang="en-US" sz="115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Accueil « À faire »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actualité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5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50" dirty="0">
                          <a:solidFill>
                            <a:srgbClr val="1B2A3A"/>
                          </a:solidFill>
                          <a:latin typeface="Segoe UI" pitchFamily="34" charset="0"/>
                          <a:ea typeface="Segoe UI" pitchFamily="34" charset="-122"/>
                          <a:cs typeface="Segoe UI" pitchFamily="34" charset="-120"/>
                        </a:rPr>
                        <a:t>, actives et dans leur période de publication. L'Administrateur les rédige sans redéploiement : texte sans balise HTML, images JPEG de 10 Mo au plus ; une actualité expirée s'archive d'elle-même.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notification à chaque transmission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50" b="1" dirty="0">
                          <a:solidFill>
                            <a:srgbClr val="1B2A3A"/>
                          </a:solidFill>
                          <a:latin typeface="Segoe UI" pitchFamily="34" charset="0"/>
                          <a:ea typeface="Segoe UI" pitchFamily="34" charset="-122"/>
                          <a:cs typeface="Segoe UI" pitchFamily="34" charset="-120"/>
                        </a:rPr>
                        <a:t>étape suivante</a:t>
                      </a:r>
                      <a:pPr indent="0" marL="0">
                        <a:buNone/>
                      </a:pPr>
                      <a:r>
                        <a:rPr lang="en-US" sz="115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ne lit que les siennes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50" b="1" dirty="0">
                          <a:solidFill>
                            <a:srgbClr val="1B2A3A"/>
                          </a:solidFill>
                          <a:latin typeface="Segoe UI" pitchFamily="34" charset="0"/>
                          <a:ea typeface="Segoe UI" pitchFamily="34" charset="-122"/>
                          <a:cs typeface="Segoe UI" pitchFamily="34" charset="-120"/>
                        </a:rPr>
                        <a:t>ses notifications</a:t>
                      </a:r>
                      <a:pPr indent="0" marL="0">
                        <a:buNone/>
                      </a:pPr>
                      <a:r>
                        <a:rPr lang="en-US" sz="115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L’assistant IA cite, il ne décide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50" b="1" dirty="0">
                          <a:solidFill>
                            <a:srgbClr val="1B2A3A"/>
                          </a:solidFill>
                          <a:latin typeface="Segoe UI" pitchFamily="34" charset="0"/>
                          <a:ea typeface="Segoe UI" pitchFamily="34" charset="-122"/>
                          <a:cs typeface="Segoe UI" pitchFamily="34" charset="-120"/>
                        </a:rPr>
                        <a:t>manuel de contrôle</a:t>
                      </a:r>
                      <a:pPr indent="0" marL="0">
                        <a:buNone/>
                      </a:pPr>
                      <a:r>
                        <a:rPr lang="en-US" sz="115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assistant local et tracé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5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5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Actualités à l'ouverture de session (transversal) · Notifications (transversal au circuit) · Notifications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Planifier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 PRMP saisit son plan de passation (ou l’importe), le vérifie à l’aperçu et le soumet à la Commission ; un plan validé se met à jour par une nouvelle version.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d’un plan déjà validé passe par « Mettre à jour un PPM » : une nouvelle version, jamais un écrasement.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la saisie : l’entité contractante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bénéficiaires, les lots, et le calendrier prévisionnel (CAPM) par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RG-PLA-03 · RG-PLA-04 · RG-PLA-05 · RG-PLA-06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chacun avec sa date de début (et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trop court ou un mode dérogatoire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join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 dans les référentiels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 (type, taille).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la PRMP n’a pas créé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RG-PLA-10 · RG-PLA-11 · RG-PLA-12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brouillon, puis la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brouillon, puis la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 enregistre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peut le reprendre, le vérifier, le supprimer.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l’envoie à la Commission ; seule la PRMP soumet (l’UGPM prépare).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RG-PLA-11 · RG-PLA-12 · RG-PLA-13 · RG-PLA-14 · RG-PLA-15 · RG-PLA-16 · RG-PLA-17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à la Commission, avec son statut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qui agit, le délai qui court ; le plan lui-même, en lecture.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page pour tous les profils : chacun y voit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validée de chaque plan ; la ligne ouvre la mise à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crée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l’écart figé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motif et la lettre signée (PDF) ; le Président ou le Chef de commission statue.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se retire jusqu’à son examen ; dès le PV signé, le retrait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de chaque ligne des plans — lancement, ouverture des offres, attribution, notification — lues du calendrier prévisionnel.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et ses lignes ; depuis le plan, ses appels d’offres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RG-PLA-04 · RG-PLA-17 · RG-PLA-20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planification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pré-contrôle des seuils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signalements du plan, écartables avec un motif, jamais effacés.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versions archivées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L’historique des versions d’un plan, en consultation.</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plan et ses lignes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Trois familles de dossier · Saisir, c’est créer le brouillon · Un mode de passation saisi · Tout appel d’offres appelle l’AGPM · Les bénéficiaires couvrent la ligne · Les justifications de la fiche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Calendrier et pièces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calendrier prévisionnel du mode · Des dates qui s’enchaînent · Des pièces contrôlées, aux bons moments · L’import PDF pré-remplit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RG-PLA-11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seuils signalent, sans bloquer · Le référentiel muet se tait · Écarter, avec un motif · Figé à la soumission, jamais effacé · Une piste n’est pas un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soumission et le suivi</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RG-PLA-16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Seule la PRMP soumet · Seul le brouillon se modifie · Une fin prévue dès le dépôt · L’avancement, pas les coulisses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versions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à jour, une nouvelle version · Les lignes absentes sont supprimées · La bascule à la soumission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Retrait et jalons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RG-PLA-23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retrait jusqu’au PV signé · Retrait accepté, retour au brouillon · Une alerte par jalon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Trois familles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relève d'une famille : </a:t>
                      </a:r>
                      <a:pPr indent="0" marL="0">
                        <a:buNone/>
                      </a:pPr>
                      <a:r>
                        <a:rPr lang="en-US" sz="1150" b="1" dirty="0">
                          <a:solidFill>
                            <a:srgbClr val="1B2A3A"/>
                          </a:solidFill>
                          <a:latin typeface="Segoe UI" pitchFamily="34" charset="0"/>
                          <a:ea typeface="Segoe UI" pitchFamily="34" charset="-122"/>
                          <a:cs typeface="Segoe UI" pitchFamily="34" charset="-120"/>
                        </a:rPr>
                        <a:t>planification</a:t>
                      </a:r>
                      <a:pPr indent="0" marL="0">
                        <a:buNone/>
                      </a:pPr>
                      <a:r>
                        <a:rPr lang="en-US" sz="1150" dirty="0">
                          <a:solidFill>
                            <a:srgbClr val="1B2A3A"/>
                          </a:solidFill>
                          <a:latin typeface="Segoe UI" pitchFamily="34" charset="0"/>
                          <a:ea typeface="Segoe UI" pitchFamily="34" charset="-122"/>
                          <a:cs typeface="Segoe UI" pitchFamily="34" charset="-120"/>
                        </a:rPr>
                        <a:t> (DDP), mise en concurrence (DMC) ou marché (DDM). Pour la planification, le sous-type — PPM ou PPM-AGPM — est déduit par le serveur ; pour les deux autres familles, il est choisi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Saisir, c’est créer le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mode de passation saisi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50" b="1" dirty="0">
                          <a:solidFill>
                            <a:srgbClr val="1B2A3A"/>
                          </a:solidFill>
                          <a:latin typeface="Segoe UI" pitchFamily="34" charset="0"/>
                          <a:ea typeface="Segoe UI" pitchFamily="34" charset="-122"/>
                          <a:cs typeface="Segoe UI" pitchFamily="34" charset="-120"/>
                        </a:rPr>
                        <a:t>purement saisi</a:t>
                      </a:r>
                      <a:pPr indent="0" marL="0">
                        <a:buNone/>
                      </a:pPr>
                      <a:r>
                        <a:rPr lang="en-US" sz="115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appel d’offres appelle l’AGPM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50" b="1" dirty="0">
                          <a:solidFill>
                            <a:srgbClr val="1B2A3A"/>
                          </a:solidFill>
                          <a:latin typeface="Segoe UI" pitchFamily="34" charset="0"/>
                          <a:ea typeface="Segoe UI" pitchFamily="34" charset="-122"/>
                          <a:cs typeface="Segoe UI" pitchFamily="34" charset="-120"/>
                        </a:rPr>
                        <a:t>appel d'offres</a:t>
                      </a:r>
                      <a:pPr indent="0" marL="0">
                        <a:buNone/>
                      </a:pPr>
                      <a:r>
                        <a:rPr lang="en-US" sz="115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bénéficiaires couvrent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50" b="1" dirty="0">
                          <a:solidFill>
                            <a:srgbClr val="1B2A3A"/>
                          </a:solidFill>
                          <a:latin typeface="Segoe UI" pitchFamily="34" charset="0"/>
                          <a:ea typeface="Segoe UI" pitchFamily="34" charset="-122"/>
                          <a:cs typeface="Segoe UI" pitchFamily="34" charset="-120"/>
                        </a:rPr>
                        <a:t>montant du marché</a:t>
                      </a:r>
                      <a:pPr indent="0" marL="0">
                        <a:buNone/>
                      </a:pPr>
                      <a:r>
                        <a:rPr lang="en-US" sz="115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justifications de la fiche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en </a:t>
                      </a:r>
                      <a:pPr indent="0" marL="0">
                        <a:buNone/>
                      </a:pPr>
                      <a:r>
                        <a:rPr lang="en-US" sz="1150" b="1" dirty="0">
                          <a:solidFill>
                            <a:srgbClr val="1B2A3A"/>
                          </a:solidFill>
                          <a:latin typeface="Segoe UI" pitchFamily="34" charset="0"/>
                          <a:ea typeface="Segoe UI" pitchFamily="34" charset="-122"/>
                          <a:cs typeface="Segoe UI" pitchFamily="34" charset="-120"/>
                        </a:rPr>
                        <a:t>mode dérogatoire</a:t>
                      </a:r>
                      <a:pPr indent="0" marL="0">
                        <a:buNone/>
                      </a:pPr>
                      <a:r>
                        <a:rPr lang="en-US" sz="115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calendrier prévisionnel du mode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compte </a:t>
                      </a:r>
                      <a:pPr indent="0" marL="0">
                        <a:buNone/>
                      </a:pPr>
                      <a:r>
                        <a:rPr lang="en-US" sz="1150" b="1" dirty="0">
                          <a:solidFill>
                            <a:srgbClr val="1B2A3A"/>
                          </a:solidFill>
                          <a:latin typeface="Segoe UI" pitchFamily="34" charset="0"/>
                          <a:ea typeface="Segoe UI" pitchFamily="34" charset="-122"/>
                          <a:cs typeface="Segoe UI" pitchFamily="34" charset="-120"/>
                        </a:rPr>
                        <a:t>au moins une étape</a:t>
                      </a:r>
                      <a:pPr indent="0" marL="0">
                        <a:buNone/>
                      </a:pPr>
                      <a:r>
                        <a:rPr lang="en-US" sz="115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dates qui s’enchaînent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50" b="1" dirty="0">
                          <a:solidFill>
                            <a:srgbClr val="1B2A3A"/>
                          </a:solidFill>
                          <a:latin typeface="Segoe UI" pitchFamily="34" charset="0"/>
                          <a:ea typeface="Segoe UI" pitchFamily="34" charset="-122"/>
                          <a:cs typeface="Segoe UI" pitchFamily="34" charset="-120"/>
                        </a:rPr>
                        <a:t>après la fin</a:t>
                      </a:r>
                      <a:pPr indent="0" marL="0">
                        <a:buNone/>
                      </a:pPr>
                      <a:r>
                        <a:rPr lang="en-US" sz="115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contrôlées, aux bons moments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sont des </a:t>
                      </a:r>
                      <a:pPr indent="0" marL="0">
                        <a:buNone/>
                      </a:pPr>
                      <a:r>
                        <a:rPr lang="en-US" sz="1150" b="1" dirty="0">
                          <a:solidFill>
                            <a:srgbClr val="1B2A3A"/>
                          </a:solidFill>
                          <a:latin typeface="Segoe UI" pitchFamily="34" charset="0"/>
                          <a:ea typeface="Segoe UI" pitchFamily="34" charset="-122"/>
                          <a:cs typeface="Segoe UI" pitchFamily="34" charset="-120"/>
                        </a:rPr>
                        <a:t>PDF, JPEG ou PNG</a:t>
                      </a:r>
                      <a:pPr indent="0" marL="0">
                        <a:buNone/>
                      </a:pPr>
                      <a:r>
                        <a:rPr lang="en-US" sz="1150" dirty="0">
                          <a:solidFill>
                            <a:srgbClr val="1B2A3A"/>
                          </a:solidFill>
                          <a:latin typeface="Segoe UI" pitchFamily="34" charset="0"/>
                          <a:ea typeface="Segoe UI" pitchFamily="34" charset="-122"/>
                          <a:cs typeface="Segoe UI" pitchFamily="34" charset="-120"/>
                        </a:rPr>
                        <a:t>, reconnus à leur contenu. Le dépôt initial n'est ouvert qu'en brouillon, à la soumission et pendant les attentes de la PRMP ; après une lettre de renvoi, il s'ouvre aussi à la reprise de l'examen.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L’import PDF pré-remplit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50" b="1" dirty="0">
                          <a:solidFill>
                            <a:srgbClr val="1B2A3A"/>
                          </a:solidFill>
                          <a:latin typeface="Segoe UI" pitchFamily="34" charset="0"/>
                          <a:ea typeface="Segoe UI" pitchFamily="34" charset="-122"/>
                          <a:cs typeface="Segoe UI" pitchFamily="34" charset="-120"/>
                        </a:rPr>
                        <a:t>ne crée rien</a:t>
                      </a:r>
                      <a:pPr indent="0" marL="0">
                        <a:buNone/>
                      </a:pPr>
                      <a:r>
                        <a:rPr lang="en-US" sz="115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CAPM — processus de marché · Saisies (façade de création)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seuils signalent, sans bloquer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de l'arrêté : barème central pour la CNM, déconcentré pour une CRM. Un écart produit un signalement écartable ; aucun mode n'est imposé, aucun dossier bloqué.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référentiel muet se tait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50" b="1" dirty="0">
                          <a:solidFill>
                            <a:srgbClr val="1B2A3A"/>
                          </a:solidFill>
                          <a:latin typeface="Segoe UI" pitchFamily="34" charset="0"/>
                          <a:ea typeface="Segoe UI" pitchFamily="34" charset="-122"/>
                          <a:cs typeface="Segoe UI" pitchFamily="34" charset="-120"/>
                        </a:rPr>
                        <a:t>rien n'est signalé</a:t>
                      </a:r>
                      <a:pPr indent="0" marL="0">
                        <a:buNone/>
                      </a:pPr>
                      <a:r>
                        <a:rPr lang="en-US" sz="115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5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5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Figé à la soumission, jamais effacé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50" b="1" dirty="0">
                          <a:solidFill>
                            <a:srgbClr val="1B2A3A"/>
                          </a:solidFill>
                          <a:latin typeface="Segoe UI" pitchFamily="34" charset="0"/>
                          <a:ea typeface="Segoe UI" pitchFamily="34" charset="-122"/>
                          <a:cs typeface="Segoe UI" pitchFamily="34" charset="-120"/>
                        </a:rPr>
                        <a:t>figés</a:t>
                      </a:r>
                      <a:pPr indent="0" marL="0">
                        <a:buNone/>
                      </a:pPr>
                      <a:r>
                        <a:rPr lang="en-US" sz="115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piste n’est pas un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50" b="1" dirty="0">
                          <a:solidFill>
                            <a:srgbClr val="1B2A3A"/>
                          </a:solidFill>
                          <a:latin typeface="Segoe UI" pitchFamily="34" charset="0"/>
                          <a:ea typeface="Segoe UI" pitchFamily="34" charset="-122"/>
                          <a:cs typeface="Segoe UI" pitchFamily="34" charset="-120"/>
                        </a:rPr>
                        <a:t>pistes</a:t>
                      </a:r>
                      <a:pPr indent="0" marL="0">
                        <a:buNone/>
                      </a:pPr>
                      <a:r>
                        <a:rPr lang="en-US" sz="115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Référentiel des seuils de marchés publics (pré-contrôle du PPM)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Seule la PRMP soumet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brouillon se modifie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fin prévue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5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50" dirty="0">
                          <a:solidFill>
                            <a:srgbClr val="1B2A3A"/>
                          </a:solidFill>
                          <a:latin typeface="Segoe UI" pitchFamily="34" charset="0"/>
                          <a:ea typeface="Segoe UI" pitchFamily="34" charset="-122"/>
                          <a:cs typeface="Segoe UI" pitchFamily="34" charset="-120"/>
                        </a:rPr>
                        <a:t>, calculée en jours ouvrés ; elle glisse tant que la main est à la PRMP. La frise date chacune des sept étapes franchies, de la réception à la clôture.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L’avancement, pas les coulisses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50" b="1" dirty="0">
                          <a:solidFill>
                            <a:srgbClr val="1B2A3A"/>
                          </a:solidFill>
                          <a:latin typeface="Segoe UI" pitchFamily="34" charset="0"/>
                          <a:ea typeface="Segoe UI" pitchFamily="34" charset="-122"/>
                          <a:cs typeface="Segoe UI" pitchFamily="34" charset="-120"/>
                        </a:rPr>
                        <a:t>qui traite</a:t>
                      </a:r>
                      <a:pPr indent="0" marL="0">
                        <a:buNone/>
                      </a:pPr>
                      <a:r>
                        <a:rPr lang="en-US" sz="115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à jour, une nouvelle version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50" b="1" dirty="0">
                          <a:solidFill>
                            <a:srgbClr val="1B2A3A"/>
                          </a:solidFill>
                          <a:latin typeface="Segoe UI" pitchFamily="34" charset="0"/>
                          <a:ea typeface="Segoe UI" pitchFamily="34" charset="-122"/>
                          <a:cs typeface="Segoe UI" pitchFamily="34" charset="-120"/>
                        </a:rPr>
                        <a:t>nouveau brouillon</a:t>
                      </a:r>
                      <a:pPr indent="0" marL="0">
                        <a:buNone/>
                      </a:pPr>
                      <a:r>
                        <a:rPr lang="en-US" sz="115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lignes absentes sont supprimées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50" b="1" dirty="0">
                          <a:solidFill>
                            <a:srgbClr val="1B2A3A"/>
                          </a:solidFill>
                          <a:latin typeface="Segoe UI" pitchFamily="34" charset="0"/>
                          <a:ea typeface="Segoe UI" pitchFamily="34" charset="-122"/>
                          <a:cs typeface="Segoe UI" pitchFamily="34" charset="-120"/>
                        </a:rPr>
                        <a:t>supprimée</a:t>
                      </a:r>
                      <a:pPr indent="0" marL="0">
                        <a:buNone/>
                      </a:pPr>
                      <a:r>
                        <a:rPr lang="en-US" sz="115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bascule à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retrait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5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5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alerte par jalon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calendrier présente les jalons de lancement, d'ouverture et d'attribution. Chaque jalon donne lieu à </a:t>
                      </a:r>
                      <a:pPr indent="0" marL="0">
                        <a:buNone/>
                      </a:pPr>
                      <a:r>
                        <a:rPr lang="en-US" sz="1150" b="1" dirty="0">
                          <a:solidFill>
                            <a:srgbClr val="1B2A3A"/>
                          </a:solidFill>
                          <a:latin typeface="Segoe UI" pitchFamily="34" charset="0"/>
                          <a:ea typeface="Segoe UI" pitchFamily="34" charset="-122"/>
                          <a:cs typeface="Segoe UI" pitchFamily="34" charset="-120"/>
                        </a:rPr>
                        <a:t>une seule alerte</a:t>
                      </a:r>
                      <a:pPr indent="0" marL="0">
                        <a:buNone/>
                      </a:pPr>
                      <a:r>
                        <a:rPr lang="en-US" sz="1150" dirty="0">
                          <a:solidFill>
                            <a:srgbClr val="1B2A3A"/>
                          </a:solidFill>
                          <a:latin typeface="Segoe UI" pitchFamily="34" charset="0"/>
                          <a:ea typeface="Segoe UI" pitchFamily="34" charset="-122"/>
                          <a:cs typeface="Segoe UI" pitchFamily="34" charset="-120"/>
                        </a:rPr>
                        <a:t>, à son entrée dans les sept jours qui le précèdent, sans second rappel.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Contrôler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dossier traverse la Commission : recevabilité, dispatch, examen séquentiel, projet de PV, visa, co-signature ; puis vérification, transmission à SIGMP et archivage.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arrive chez le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rrive chez le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38099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 les dépôts à numéroter, du plus ancien au plus récent.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RG-CTL-05</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une pièce manquante se signale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réception ; le dossier reçoit son numéro.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RG-CTL-02 · RG-CTL-03 · RG-CTL-04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attend son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ttend son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266693" cy="80962"/>
          </a:xfrm>
          <a:prstGeom prst="rect">
            <a:avLst/>
          </a:prstGeom>
          <a:solidFill>
            <a:srgbClr val="E9EDF2"/>
          </a:solidFill>
          <a:ln w="6350">
            <a:solidFill>
              <a:srgbClr val="D5DCE4"/>
            </a:solidFill>
            <a:prstDash val="solid"/>
          </a:ln>
        </p:spPr>
      </p:sp>
      <p:sp>
        <p:nvSpPr>
          <p:cNvPr id="7" name="Shape 4"/>
          <p:cNvSpPr/>
          <p:nvPr/>
        </p:nvSpPr>
        <p:spPr>
          <a:xfrm>
            <a:off x="6360953" y="3578225"/>
            <a:ext cx="652446" cy="76200"/>
          </a:xfrm>
          <a:prstGeom prst="rect">
            <a:avLst/>
          </a:prstGeom>
          <a:solidFill>
            <a:srgbClr val="E9EDF2"/>
          </a:solidFill>
          <a:ln w="6350">
            <a:solidFill>
              <a:srgbClr val="D5DCE4"/>
            </a:solidFill>
            <a:prstDash val="solid"/>
          </a:ln>
        </p:spPr>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(ou le Chef de commission) voit les dossiers reçus à attribuer.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RG-CTL-06 · RG-CTL-07 · RG-CTL-08</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charge en cours pour équilibrer ; une consigne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RG-CTL-08 · RG-CTL-09 · RG-CTL-10 · RG-CTL-11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reçoit le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reçoit l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18097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avec le délai d’examen et la consigne du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RG-CTL-37</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Six étapes dans l’ordre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 lignes du plan, projet d’AGPM, pièces, contrôles du dossier, synthèse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est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pas de texte, pas d’observation.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synthèse propose un avis cohérent avec ce qui a été relevé (ici, en lecture après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RG-CTL-15 · RG-CTL-16 · RG-CTL-17 · RG-CTL-18 · RG-CTL-19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soumis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l’avis et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part de signature,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il retourne le projet, ou il rédige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seconde signature clôt la navette.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signature : le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près la signature : le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1494" y="1744663"/>
            <a:ext cx="414327"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et les décisions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 · RG-CTL-30 · RG-CTL-31</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avis favorable, la décision part vers le système SIGMP ; pour un avis avec réserves, il suit d’abord leur levée.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L’Assistant archive le PV définitif : le dossier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avance à chaque geste ; la PRMP est notifiée.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RG-CTL-03 · RG-CTL-29 · RG-CTL-43 · RG-CTL-44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est à elle dès sa signature ; la ligne du plan peut désormais porter un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du périmètre (national pour le Président, sa localité pour le Chef de commission),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dans la ligne : numéroter, dispatcher, examiner — selon les délégations actives.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liste, au périmètre du Secrétaire ; l’étape en cours de chaque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RG-CTL-04 · RG-CTL-05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charge de chaque membre : dossiers dispatchés, examens en cours ; pour équilibrer le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productions d’un même examen ; la liste s’ouvre sous la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pour le Membre : ses projets de PV, les PV définitifs, les lettres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 les files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contrôle des réserves ; il n’interdit rien. Tenu par l’Administrateur, le Président, et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remet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chez la PRMP et purge son circuit ; refuser garde le dossier dans le circuit.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 avis favorable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avec réserves → statuer sur chaque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RG-CTL-32 · RG-CTL-33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avec leur issue.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par l’Assistant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V reçus par l’Assista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reçus en copie ;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et lettres de renvoi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et lettres de renvo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de ses dossiers, et les lettres de renvoi qui lui demandent des compléments.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rectifier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rect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revenus avec des observations maintenues : rectifier, puis resoumettre.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suivent le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suivent le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création d’un dossier, les pièces de la famille d’abord, puis celles du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sous-type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choisi : ici neuf pour un dossier d’appel d’offres ouvert (DAOO).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sous-types sont ceux du manuel ; l’ancien « DAO » s’appelle désormais DAOO.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RG-CTL-46 · 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exigées d’un brouillon</a:t>
            </a:r>
            <a:endParaRPr lang="en-US" sz="2600" dirty="0"/>
          </a:p>
        </p:txBody>
      </p:sp>
      <p:sp>
        <p:nvSpPr>
          <p:cNvPr id="4" name="Shape 2"/>
          <p:cNvSpPr/>
          <p:nvPr/>
        </p:nvSpPr>
        <p:spPr>
          <a:xfrm>
            <a:off x="800080" y="1193800"/>
            <a:ext cx="10591535" cy="3155696"/>
          </a:xfrm>
          <a:prstGeom prst="rect">
            <a:avLst/>
          </a:prstGeom>
          <a:solidFill>
            <a:srgbClr val="FCFCFA"/>
          </a:solidFill>
          <a:ln w="9525">
            <a:solidFill>
              <a:srgbClr val="D5DCE4"/>
            </a:solidFill>
            <a:prstDash val="solid"/>
          </a:ln>
        </p:spPr>
      </p:sp>
      <p:pic>
        <p:nvPicPr>
          <p:cNvPr id="5" name="Image 0" descr="Les pièces exigées d’un brouillon">    </p:cNvPr>
          <p:cNvPicPr>
            <a:picLocks noChangeAspect="1"/>
          </p:cNvPicPr>
          <p:nvPr/>
        </p:nvPicPr>
        <p:blipFill>
          <a:blip r:embed="rId1"/>
          <a:stretch>
            <a:fillRect/>
          </a:stretch>
        </p:blipFill>
        <p:spPr>
          <a:xfrm>
            <a:off x="812780" y="1206500"/>
            <a:ext cx="10566136" cy="3130296"/>
          </a:xfrm>
          <a:prstGeom prst="rect">
            <a:avLst/>
          </a:prstGeom>
        </p:spPr>
      </p:pic>
      <p:sp>
        <p:nvSpPr>
          <p:cNvPr id="6" name="Shape 3"/>
          <p:cNvSpPr/>
          <p:nvPr/>
        </p:nvSpPr>
        <p:spPr>
          <a:xfrm>
            <a:off x="812780" y="4489196"/>
            <a:ext cx="10566136" cy="1797304"/>
          </a:xfrm>
          <a:prstGeom prst="rect">
            <a:avLst/>
          </a:prstGeom>
          <a:solidFill>
            <a:srgbClr val="FCFCFA"/>
          </a:solidFill>
          <a:ln w="9525">
            <a:solidFill>
              <a:srgbClr val="D5DCE4"/>
            </a:solidFill>
            <a:prstDash val="solid"/>
          </a:ln>
        </p:spPr>
      </p:sp>
      <p:sp>
        <p:nvSpPr>
          <p:cNvPr id="7" name="Shape 4"/>
          <p:cNvSpPr/>
          <p:nvPr/>
        </p:nvSpPr>
        <p:spPr>
          <a:xfrm>
            <a:off x="812780" y="4489196"/>
            <a:ext cx="38099" cy="1797304"/>
          </a:xfrm>
          <a:prstGeom prst="rect">
            <a:avLst/>
          </a:prstGeom>
          <a:solidFill>
            <a:srgbClr val="1B6FA8"/>
          </a:solidFill>
          <a:ln/>
        </p:spPr>
      </p:sp>
      <p:sp>
        <p:nvSpPr>
          <p:cNvPr id="8" name="Text 5"/>
          <p:cNvSpPr/>
          <p:nvPr/>
        </p:nvSpPr>
        <p:spPr>
          <a:xfrm>
            <a:off x="977876" y="4590796"/>
            <a:ext cx="10274043" cy="1606804"/>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L’onglet Pièces d’un brouillon liste ce que la soumission exigera, coché pièce par pièce : jointe, obligatoire manquante,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refus de la soumission nomme chaque pièce qui manque.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grille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charge la grille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 ce dossier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son sous-type, sa grille de base, sans les points qui ne s’appliquent pas à sa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motifs-types de la conclusion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otifs-types de la conclu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formulations du manuel, administrables (Nomenclatures) : famille, sous-type, nature (renvoi ou avis défavorable), texte, catégorie, forme, actif.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et le Président les insèrent au curseur dans le projet de PV ou la lettre de renvoi, puis complètent les « …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par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par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étape de la Commission : le délai standard, le délai du sous-type, « Régler » ou « Revenir au standard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L’alerte d’examen (au-delà de cinq jours ouvrés) est indépendante de ces réglages.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RG-CTL-50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du contrôle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favorable avec réserves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Vérificateur statue sur chaque observation ; la PRMP rectifie par import.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lettre de renvoi</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observations maintenues ; les compléments transmis ; le réexamen.</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navette du PV à deux niveaux</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projet de PV renvoyé au Membre, puis repris.</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frise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dates et l’acteur de chaque étape, en infobulle.</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50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Recevabilité et réception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Contrôle pièce par pièce au dépôt · Pas de réception sans pièces obligatoires · Signalement des pièces manquantes · Référence officielle générée à la réception · Réception dans sa seule localité · Dossier complet, prêt à dispatcher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Dispatch et délégation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RG-CTL-07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dispatch : attribuer à un Membre · Centrale : dispatch réservé au Président · Un attributaire capable d’examiner · Délégation ascendante : neuf paires · Réattribution par le Chef de commission · Seul le dispatcheur retire le dispatch · Chaînes Membre, Vérificateur,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RG-CTL-14 → 20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Seul l’attributaire examine · Examen point par point, en brouillon · Observation ciblée sur une cellule · On ne contrôle pas le vide · Réinitialiser un examen non soumis · La soumission porte l’avis du Membre · Soumettre engage le seul examinateur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 navette, visa et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RG-CTL-21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Navette du projet de PV · Visa réservé au dispatcheur · Visa par intérim sur note · L’examinateur ne vise pas · Navette à deux niveaux · Deux signataires distincts au moins · PV définitif quand toutes parts signées · Plus de Secrétaire 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Vérification et réserves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RG-CTL-29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 PV signé passe au Vérificateur · FAVR : la PRMP rectifie d’abord · Observations figées au PV · Lever ou maintenir chaque observation · Le Vérificateur voit la rectification · Transmission du sens à SIGMP · L’archivage clôt le dossier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Renvoi et rectification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RG-CTL-36 → 38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Lettre de renvoi signée par la Commission · Renvoi : examen suspendu, puis réexamen · Rectification bornée à trois lignes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Retraits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RG-CTL-39 → 41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Retrait possible jusqu’au PV signé · Décision du Chef de commission ou Président · Retrait accepté : retour au brouillon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Délais et chronométrage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RG-CTL-42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délai se mesure, sans saisie · L’attente de la PRMP est suspendue · Date prévisionnelle annoncée dès le dépôt · Chaque passage imputé à son auteur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manuel de contrôle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RG-CTL-46 → 50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sous-types du manuel · Les pièces exigées par sous-type · La grille du dossier · Les motifs-types de la conclusion · Les délais par sous-type et l’alerte d’examen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Contrôle pièce par pièce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de référence du type de dossier et la déclare conforme, non conforme ou manquante. Chaque décision est historisée avec son auteur et son heure.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réception sans pièces obligatoires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Signalement des pièces manquantes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au dépôt. À la reprise, les pièces déjà conformes restent acquises ; seules les pièces en défaut sont revérifiées.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Référence officielle générée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5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50" dirty="0">
                          <a:solidFill>
                            <a:srgbClr val="1B2A3A"/>
                          </a:solidFill>
                          <a:latin typeface="Segoe UI" pitchFamily="34" charset="0"/>
                          <a:ea typeface="Segoe UI" pitchFamily="34" charset="-122"/>
                          <a:cs typeface="Segoe UI" pitchFamily="34" charset="-120"/>
                        </a:rPr>
                        <a:t> : numéro à cinq chiffres, type de dossier, CNM ou CRM et localité, exercice. Chaque contexte a son propre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Réception dans sa seule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ne réceptionne que les dossiers de sa localité, au passage initial seulement. Le Président et le Chef de commission peuvent enregistrer la réception à sa place, par délégation.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Dossier complet, prêt à dispatcher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que la réception est complète, le dossier passe « prêt à dispatcher » et le Président et le Chef de commission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Contrôle de complétude des pièces au dépôt (spec recevabilité 2026-08-02) · Réceptions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 : attribuer à un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voit la file des dossiers complets de toutes les localités et les attribue à un Membre, avec instructions et date limite. Le Chef de commission dispatche les dossiers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Centrale : dispatch réservé au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attributaire capable d’examiner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ne s'attribue qu'à un Membre titulaire ou à un contrôleur autorisé par délégation à la tâche de Membre. Le Président ou le Chef de commission peut ainsi se l'attribuer à lui-même : c'est le circuit court.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 ascendante : neuf paires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50" b="1" dirty="0">
                          <a:solidFill>
                            <a:srgbClr val="1B2A3A"/>
                          </a:solidFill>
                          <a:latin typeface="Segoe UI" pitchFamily="34" charset="0"/>
                          <a:ea typeface="Segoe UI" pitchFamily="34" charset="-122"/>
                          <a:cs typeface="Segoe UI" pitchFamily="34" charset="-120"/>
                        </a:rPr>
                        <a:t>acte d'identité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Réattribution par le Chef de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dispatcheur retire le dispatch</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le dispatcheur retire un dispatch. Le Chef de commission à la fois dispatcheur et attributaire ne se retire pas le dossier : c'est le Président qui le lui retire.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3.3. Chef de commission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dans la même localité. Ce </a:t>
                      </a:r>
                      <a:pPr indent="0" marL="0">
                        <a:buNone/>
                      </a:pPr>
                      <a:r>
                        <a:rPr lang="en-US" sz="1150" b="1" dirty="0">
                          <a:solidFill>
                            <a:srgbClr val="1B2A3A"/>
                          </a:solidFill>
                          <a:latin typeface="Segoe UI" pitchFamily="34" charset="0"/>
                          <a:ea typeface="Segoe UI" pitchFamily="34" charset="-122"/>
                          <a:cs typeface="Segoe UI" pitchFamily="34" charset="-120"/>
                        </a:rPr>
                        <a:t>rattachement</a:t>
                      </a:r>
                      <a:pPr indent="0" marL="0">
                        <a:buNone/>
                      </a:pPr>
                      <a:r>
                        <a:rPr lang="en-US" sz="1150" dirty="0">
                          <a:solidFill>
                            <a:srgbClr val="1B2A3A"/>
                          </a:solidFill>
                          <a:latin typeface="Segoe UI" pitchFamily="34" charset="0"/>
                          <a:ea typeface="Segoe UI" pitchFamily="34" charset="-122"/>
                          <a:cs typeface="Segoe UI" pitchFamily="34" charset="-120"/>
                        </a:rPr>
                        <a:t> oriente notifications et files sans rien verrouiller : sans chaîne, tous les porteurs du rôle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l’attributaire examine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50" b="1" dirty="0">
                          <a:solidFill>
                            <a:srgbClr val="1B2A3A"/>
                          </a:solidFill>
                          <a:latin typeface="Segoe UI" pitchFamily="34" charset="0"/>
                          <a:ea typeface="Segoe UI" pitchFamily="34" charset="-122"/>
                          <a:cs typeface="Segoe UI" pitchFamily="34" charset="-120"/>
                        </a:rPr>
                        <a:t>attributaire</a:t>
                      </a:r>
                      <a:pPr indent="0" marL="0">
                        <a:buNone/>
                      </a:pPr>
                      <a:r>
                        <a:rPr lang="en-US" sz="1150" dirty="0">
                          <a:solidFill>
                            <a:srgbClr val="1B2A3A"/>
                          </a:solidFill>
                          <a:latin typeface="Segoe UI" pitchFamily="34" charset="0"/>
                          <a:ea typeface="Segoe UI" pitchFamily="34" charset="-122"/>
                          <a:cs typeface="Segoe UI" pitchFamily="34" charset="-120"/>
                        </a:rPr>
                        <a:t> courant du dispatch crée, modifie et soumet l'examen. Ni le dispatcheur ni le Chef de commission en copie ne peuvent examiner.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Examen point par point, en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statue chaque point de contrôle, conforme ou non, avec son observation ; il enregistre et reprend plus tard sans faire avancer le dossier. L'examen reste modifiable jusqu'à la signature du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 ciblée sur une cellule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ligne « Au lieu de / Lire » peut viser la cellule qu'elle corrige : colonne du PPM, de la fiche de présentation ou du projet d'AGPM, ou information de la fiche DAO. Cette cible suit l'observation jusqu'à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contrôle pas le vide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Réinitialiser un examen non soumis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peut </a:t>
                      </a:r>
                      <a:pPr indent="0" marL="0">
                        <a:buNone/>
                      </a:pPr>
                      <a:r>
                        <a:rPr lang="en-US" sz="1150" b="1" dirty="0">
                          <a:solidFill>
                            <a:srgbClr val="1B2A3A"/>
                          </a:solidFill>
                          <a:latin typeface="Segoe UI" pitchFamily="34" charset="0"/>
                          <a:ea typeface="Segoe UI" pitchFamily="34" charset="-122"/>
                          <a:cs typeface="Segoe UI" pitchFamily="34" charset="-120"/>
                        </a:rPr>
                        <a:t>réinitialiser</a:t>
                      </a:r>
                      <a:pPr indent="0" marL="0">
                        <a:buNone/>
                      </a:pPr>
                      <a:r>
                        <a:rPr lang="en-US" sz="115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tracé au journal.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soumission porte l’avis du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soumet son examen avec son avis (FAV, FAVR, DEF ou NSP) ; la soumission crée le projet de PV et le dossier devient « examiné ». L'avis doit être cohérent avec les observations relevées.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3.5. Membre · 2. Circuit de contrôle (workflow) · « On ne contrôle pas le vide » (règle du pilote, 2026-09-04) · Réinitialiser un examen en cours (demande front du 2026-09-21, question du pilote sur le dossier 00002)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Soumettre engage le seul examinateur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du projet de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synthèse et avis puis resoumet. Chaque aller-retour est tracé.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réservé au dispatcheur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50" b="1" dirty="0">
                          <a:solidFill>
                            <a:srgbClr val="1B2A3A"/>
                          </a:solidFill>
                          <a:latin typeface="Segoe UI" pitchFamily="34" charset="0"/>
                          <a:ea typeface="Segoe UI" pitchFamily="34" charset="-122"/>
                          <a:cs typeface="Segoe UI" pitchFamily="34" charset="-120"/>
                        </a:rPr>
                        <a:t>visa</a:t>
                      </a:r>
                      <a:pPr indent="0" marL="0">
                        <a:buNone/>
                      </a:pPr>
                      <a:r>
                        <a:rPr lang="en-US" sz="115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par intérim sur note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en PDF. La mention « par intérim » ne figure que sur les PV régionaux ; la note reste fermée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L’examinateur ne vise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à deux niveaux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signataires distincts au moins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2. Circuit de contrôle (workflow) · À qui appartient un passage (constats de recette, 2026-09-04 ; revus le 2026-09-12) · La navette du PV à DEUX NIVEAUX et la co-signature élargie (règle du pilote, 2026-09-04) · La co-signature élargie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PV définitif quand toutes parts 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Membre ne se délègue pas : seul le Membre désigné la signe.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Plus de Secrétaire 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co-signature élargie · Le Secrétaire de séance est retiré du cycle du PV (règle du pilote, 2026-09-02)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PV signé passe au Vérificateur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 DEF ou NSP, le Vérificateur n'a plus qu'à transmettre la décision à SIGMP.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FAVR : la PRMP rectifie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co-signature d'un PV FAVR, le PV et ses observations partent à la PRMP, qui rectifie. Sa </a:t>
                      </a:r>
                      <a:pPr indent="0" marL="0">
                        <a:buNone/>
                      </a:pPr>
                      <a:r>
                        <a:rPr lang="en-US" sz="1150" b="1" dirty="0">
                          <a:solidFill>
                            <a:srgbClr val="1B2A3A"/>
                          </a:solidFill>
                          <a:latin typeface="Segoe UI" pitchFamily="34" charset="0"/>
                          <a:ea typeface="Segoe UI" pitchFamily="34" charset="-122"/>
                          <a:cs typeface="Segoe UI" pitchFamily="34" charset="-120"/>
                        </a:rPr>
                        <a:t>resoumission</a:t>
                      </a:r>
                      <a:pPr indent="0" marL="0">
                        <a:buNone/>
                      </a:pPr>
                      <a:r>
                        <a:rPr lang="en-US" sz="115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Observations figées au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Lever ou maintenir chaque observation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maintenue renvoie le dossier à la PRMP, et la boucle reprend.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Vérificateur voit la rectification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Transmission du sens à SIGMP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Vérificateur transmet le sens de la décision, déduit de l'avis : FAV donne approuvé, DEF et NSP non approuvé, FAVR approuvé une fois toutes les observations levées. Le dossier passe alors de « à vérifier » à « vérifiés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2. Circuit de contrôle (workflow) · 3.6. Contrôleur vérificateur ·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L’archivage clôt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a:t>
                      </a:r>
                      <a:pPr indent="0" marL="0">
                        <a:buNone/>
                      </a:pPr>
                      <a:r>
                        <a:rPr lang="en-US" sz="1150" b="1" dirty="0">
                          <a:solidFill>
                            <a:srgbClr val="1B2A3A"/>
                          </a:solidFill>
                          <a:latin typeface="Segoe UI" pitchFamily="34" charset="0"/>
                          <a:ea typeface="Segoe UI" pitchFamily="34" charset="-122"/>
                          <a:cs typeface="Segoe UI" pitchFamily="34" charset="-120"/>
                        </a:rPr>
                        <a:t>archivage</a:t>
                      </a:r>
                      <a:pPr indent="0" marL="0">
                        <a:buNone/>
                      </a:pPr>
                      <a:r>
                        <a:rPr lang="en-US" sz="1150" dirty="0">
                          <a:solidFill>
                            <a:srgbClr val="1B2A3A"/>
                          </a:solidFill>
                          <a:latin typeface="Segoe UI" pitchFamily="34" charset="0"/>
                          <a:ea typeface="Segoe UI" pitchFamily="34" charset="-122"/>
                          <a:cs typeface="Segoe UI" pitchFamily="34" charset="-120"/>
                        </a:rPr>
                        <a:t> du PV par l'Assistant de la localité clôt le dossier ; il prévient le Chargé de publication. L'Assistant archive aussi les lettres de renvoi signées.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Transmissions SIGMP (spec navette 2026-08-02)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Lettre de renvoi signée par la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Renvoi : examen suspendu, puis réexamen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50" b="1" dirty="0">
                          <a:solidFill>
                            <a:srgbClr val="1B2A3A"/>
                          </a:solidFill>
                          <a:latin typeface="Segoe UI" pitchFamily="34" charset="0"/>
                          <a:ea typeface="Segoe UI" pitchFamily="34" charset="-122"/>
                          <a:cs typeface="Segoe UI" pitchFamily="34" charset="-120"/>
                        </a:rPr>
                        <a:t>réexamine</a:t>
                      </a:r>
                      <a:pPr indent="0" marL="0">
                        <a:buNone/>
                      </a:pPr>
                      <a:r>
                        <a:rPr lang="en-US" sz="1150" dirty="0">
                          <a:solidFill>
                            <a:srgbClr val="1B2A3A"/>
                          </a:solidFill>
                          <a:latin typeface="Segoe UI" pitchFamily="34" charset="0"/>
                          <a:ea typeface="Segoe UI" pitchFamily="34" charset="-122"/>
                          <a:cs typeface="Segoe UI" pitchFamily="34" charset="-120"/>
                        </a:rPr>
                        <a:t> puis resoumet le projet de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Rectification bornée à trois lignes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En rectification, la PRMP ajoute ou retire au plus trois lignes du PPM dans chaque sens. Elle ne peut pas retirer une ligne portant une observation non levée.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Lettres de renvoi · Transmissions SIGMP (spec navette 2026-08-02)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possible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motivé, lettre signée en PDF à l'appui, d'un dossier soumis, prêt à dispatcher, dispatché ou examiné. Dès la signature du PV, la demande est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Décision du Chef de commission ou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50" b="1" dirty="0">
                          <a:solidFill>
                            <a:srgbClr val="1B2A3A"/>
                          </a:solidFill>
                          <a:latin typeface="Segoe UI" pitchFamily="34" charset="0"/>
                          <a:ea typeface="Segoe UI" pitchFamily="34" charset="-122"/>
                          <a:cs typeface="Segoe UI" pitchFamily="34" charset="-120"/>
                        </a:rPr>
                        <a:t>caduque</a:t>
                      </a:r>
                      <a:pPr indent="0" marL="0">
                        <a:buNone/>
                      </a:pPr>
                      <a:r>
                        <a:rPr lang="en-US" sz="115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délai se mesure, sans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L’attente de la PRMP est suspendue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compteur net de la Commission se suspend pendant les attentes de la PRMP : compléments au dépôt, pièces après renvoi, rectification. Le délai propre de la PRMP est mesuré à part, hors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Date prévisionnelle annoncée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passage imputé à son auteur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Chronométrage et prévision des délais (transversal au circuit) · Le délai propre de la PRMP (`RECTIFICATION_PRMP`, 2026-09-07 ; revu le 2026-09-12)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manuel de contrôle</a:t>
            </a:r>
            <a:endParaRPr lang="en-US" sz="26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sous-types du manuel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Vingt-trois sous-types de dossier : </a:t>
                      </a:r>
                      <a:pPr indent="0" marL="0">
                        <a:buNone/>
                      </a:pPr>
                      <a:r>
                        <a:rPr lang="en-US" sz="1150" b="1" dirty="0">
                          <a:solidFill>
                            <a:srgbClr val="1B2A3A"/>
                          </a:solidFill>
                          <a:latin typeface="Segoe UI" pitchFamily="34" charset="0"/>
                          <a:ea typeface="Segoe UI" pitchFamily="34" charset="-122"/>
                          <a:cs typeface="Segoe UI" pitchFamily="34" charset="-120"/>
                        </a:rPr>
                        <a:t>DAOO</a:t>
                      </a:r>
                      <a:pPr indent="0" marL="0">
                        <a:buNone/>
                      </a:pPr>
                      <a:r>
                        <a:rPr lang="en-US" sz="1150" dirty="0">
                          <a:solidFill>
                            <a:srgbClr val="1B2A3A"/>
                          </a:solidFill>
                          <a:latin typeface="Segoe UI" pitchFamily="34" charset="0"/>
                          <a:ea typeface="Segoe UI" pitchFamily="34" charset="-122"/>
                          <a:cs typeface="Segoe UI" pitchFamily="34" charset="-120"/>
                        </a:rPr>
                        <a:t> (ex-DAO), DAOOI, DAOOPREQUAL, DPREQUAL, DAOR, DAORI, DC, DP, RJ ; MAOO… MPI, MGG ; la famille des actes de gestion (</a:t>
                      </a:r>
                      <a:pPr indent="0" marL="0">
                        <a:buNone/>
                      </a:pPr>
                      <a:r>
                        <a:rPr lang="en-US" sz="1150" b="1" dirty="0">
                          <a:solidFill>
                            <a:srgbClr val="1B2A3A"/>
                          </a:solidFill>
                          <a:latin typeface="Segoe UI" pitchFamily="34" charset="0"/>
                          <a:ea typeface="Segoe UI" pitchFamily="34" charset="-122"/>
                          <a:cs typeface="Segoe UI" pitchFamily="34" charset="-120"/>
                        </a:rPr>
                        <a:t>DGC</a:t>
                      </a:r>
                      <a:pPr indent="0" marL="0">
                        <a:buNone/>
                      </a:pPr>
                      <a:r>
                        <a:rPr lang="en-US" sz="1150" dirty="0">
                          <a:solidFill>
                            <a:srgbClr val="1B2A3A"/>
                          </a:solidFill>
                          <a:latin typeface="Segoe UI" pitchFamily="34" charset="0"/>
                          <a:ea typeface="Segoe UI" pitchFamily="34" charset="-122"/>
                          <a:cs typeface="Segoe UI" pitchFamily="34" charset="-120"/>
                        </a:rPr>
                        <a:t> : avenant, résiliation, indemnité, pénalités, sursis) ; la déclaration sans suite garde sa famille propre (DSS). Le dossier produit par une fiche prend le sous-type déduit du mode du plan et de la catégorie.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exigées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qui a sa liste n’utilise qu’elle ; une pièce conditionnée par la catégorie ou la forme de la fiche ne vaut que si elle s’y applique (sans fiche, elle est servie facultative). La soumission refuse le dossier incomplet en nommant </a:t>
                      </a:r>
                      <a:pPr indent="0" marL="0">
                        <a:buNone/>
                      </a:pPr>
                      <a:r>
                        <a:rPr lang="en-US" sz="1150" b="1" dirty="0">
                          <a:solidFill>
                            <a:srgbClr val="1B2A3A"/>
                          </a:solidFill>
                          <a:latin typeface="Segoe UI" pitchFamily="34" charset="0"/>
                          <a:ea typeface="Segoe UI" pitchFamily="34" charset="-122"/>
                          <a:cs typeface="Segoe UI" pitchFamily="34" charset="-120"/>
                        </a:rPr>
                        <a:t>chaque</a:t>
                      </a:r>
                      <a:pPr indent="0" marL="0">
                        <a:buNone/>
                      </a:pPr>
                      <a:r>
                        <a:rPr lang="en-US" sz="1150" dirty="0">
                          <a:solidFill>
                            <a:srgbClr val="1B2A3A"/>
                          </a:solidFill>
                          <a:latin typeface="Segoe UI" pitchFamily="34" charset="0"/>
                          <a:ea typeface="Segoe UI" pitchFamily="34" charset="-122"/>
                          <a:cs typeface="Segoe UI" pitchFamily="34" charset="-120"/>
                        </a:rPr>
                        <a:t> pièce manquante ; la recevabilité lit la même liste.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grille du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d’un dossier réunit les points communs de sa famille (sauf grille propre : MPI, MGG, DC, RJ, DPREQUAL, DP, AVN, DSS), ceux de sa grille de base de proche en proche (DAOR ← DAOO…) et les siens, sans les points dont la condition ne s’applique pas à sa fiche. L’examen juge sa complétude sur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motifs-types de la conclusion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formulations du manuel (renvoi, avis défavorable) sont un référentiel administrable, semé du manuel, qui suit l’héritage des grilles. Le contrôleur les insère au curseur dans le projet de PV ou la lettre de renvoi et complète les « … » ; le serveur n’écrit rien à sa place. Un motif désactivé n’est plus proposé.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délais par sous-type et l’alerte d’examen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peut avoir son délai par étape de la Commission ; sans réglage, il suit le délai standard. La date prévisionnelle de fin et le délai de l’accueil « À faire » suivent le délai du sous-type. Un examen ouvert depuis plus de cinq jours ouvrés (40 heures ouvrées) alerte le Membre, le Chef de commission et le Président, une fois par passage.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M1 · Manuel de contrôle a priori (CNM, février 2026) ; demande du 08/10, tranches M1 à M5b (V94-V99), M2 · Manuel de contrôle a priori (CNM, février 2026) ; demande du 08/10, tranches M1 à M5b (V94-V99), M3 · Manuel de contrôle a priori (CNM, février 2026) ; demande du 08/10, tranches M1 à M5b (V94-V99), M4 · Manuel de contrôle a priori (CNM, février 2026) ; demande du 08/10, tranches M1 à M5b (V94-V99), M5b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Préparer le DAO</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Sur une ligne du plan contrôlé, la fiche marché : d’elle naissent tous les documents et le DAO complet ; en remise électronique, la commission d’appel d’offres et la cérémonie des clés. Le détail, information par information : présentation « La fiche DAO par nature et par forme ».</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 Appels d’offres » : les lignes et leurs fiches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 Appels d’offres » : les lignes et leurs fich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menu de la PRMP et de l’UGPM. Les lignes d’un plan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Préparer l’appel d’offres », ou « Reprendre la fiche » ; sous chaque fiche,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offres déposées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reçus à valider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(pastille au menu).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et les écrans de la procédure</a:t>
            </a:r>
            <a:endParaRPr lang="en-US" sz="2600" dirty="0"/>
          </a:p>
        </p:txBody>
      </p:sp>
      <p:sp>
        <p:nvSpPr>
          <p:cNvPr id="4" name="Shape 2"/>
          <p:cNvSpPr/>
          <p:nvPr/>
        </p:nvSpPr>
        <p:spPr>
          <a:xfrm>
            <a:off x="800080" y="1193800"/>
            <a:ext cx="10591535" cy="2224532"/>
          </a:xfrm>
          <a:prstGeom prst="rect">
            <a:avLst/>
          </a:prstGeom>
          <a:solidFill>
            <a:srgbClr val="FCFCFA"/>
          </a:solidFill>
          <a:ln w="9525">
            <a:solidFill>
              <a:srgbClr val="D5DCE4"/>
            </a:solidFill>
            <a:prstDash val="solid"/>
          </a:ln>
        </p:spPr>
      </p:sp>
      <p:pic>
        <p:nvPicPr>
          <p:cNvPr id="5" name="Image 0" descr="La fiche, et les écrans de la procédure">    </p:cNvPr>
          <p:cNvPicPr>
            <a:picLocks noChangeAspect="1"/>
          </p:cNvPicPr>
          <p:nvPr/>
        </p:nvPicPr>
        <p:blipFill>
          <a:blip r:embed="rId1"/>
          <a:stretch>
            <a:fillRect/>
          </a:stretch>
        </p:blipFill>
        <p:spPr>
          <a:xfrm>
            <a:off x="812780" y="1206500"/>
            <a:ext cx="10566136" cy="2199132"/>
          </a:xfrm>
          <a:prstGeom prst="rect">
            <a:avLst/>
          </a:prstGeom>
        </p:spPr>
      </p:pic>
      <p:sp>
        <p:nvSpPr>
          <p:cNvPr id="6" name="Shape 3"/>
          <p:cNvSpPr/>
          <p:nvPr/>
        </p:nvSpPr>
        <p:spPr>
          <a:xfrm>
            <a:off x="812780" y="3558032"/>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58032"/>
            <a:ext cx="38099" cy="2197100"/>
          </a:xfrm>
          <a:prstGeom prst="rect">
            <a:avLst/>
          </a:prstGeom>
          <a:solidFill>
            <a:srgbClr val="1B6FA8"/>
          </a:solidFill>
          <a:ln/>
        </p:spPr>
      </p:sp>
      <p:sp>
        <p:nvSpPr>
          <p:cNvPr id="8" name="Text 5"/>
          <p:cNvSpPr/>
          <p:nvPr/>
        </p:nvSpPr>
        <p:spPr>
          <a:xfrm>
            <a:off x="977876" y="3659632"/>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 catégorie, forme, paramètres internes, commission, cérémonie,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écrans de la procédure : séance, dépôts, commission, retraits, reçus des frais — ces trois derniers une fois la fiche validée.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1 : la ligne du plan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1 : la ligne du pla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23 informations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reprises du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verrouillées : rien n’est ressaisi.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en tête : paramètres internes, commission, cérémonie, offres déposées.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RG-DAO-05 · RG-DAO-08 · RG-DAO-09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questions qui ouvrent ou ferment des rubriques : allotissement, tranches, variantes, groupement, prix,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RG-DAO-12 · RG-DAO-41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 chaque information est saisie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 reporte dans tous les documents qui l’utilisent (DPAO, AE,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se mettent à jour à droite, en continu.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 le détail quantitatif et estimatif, en entier</a:t>
            </a:r>
            <a:endParaRPr lang="en-US" sz="2600" dirty="0"/>
          </a:p>
        </p:txBody>
      </p:sp>
      <p:sp>
        <p:nvSpPr>
          <p:cNvPr id="4" name="Shape 2"/>
          <p:cNvSpPr/>
          <p:nvPr/>
        </p:nvSpPr>
        <p:spPr>
          <a:xfrm>
            <a:off x="800080" y="1193800"/>
            <a:ext cx="10591535" cy="2297744"/>
          </a:xfrm>
          <a:prstGeom prst="rect">
            <a:avLst/>
          </a:prstGeom>
          <a:solidFill>
            <a:srgbClr val="FCFCFA"/>
          </a:solidFill>
          <a:ln w="9525">
            <a:solidFill>
              <a:srgbClr val="D5DCE4"/>
            </a:solidFill>
            <a:prstDash val="solid"/>
          </a:ln>
        </p:spPr>
      </p:sp>
      <p:pic>
        <p:nvPicPr>
          <p:cNvPr id="5" name="Image 0" descr="Le besoin : le détail quantitatif et estimatif, en entier">    </p:cNvPr>
          <p:cNvPicPr>
            <a:picLocks noChangeAspect="1"/>
          </p:cNvPicPr>
          <p:nvPr/>
        </p:nvPicPr>
        <p:blipFill>
          <a:blip r:embed="rId1"/>
          <a:stretch>
            <a:fillRect/>
          </a:stretch>
        </p:blipFill>
        <p:spPr>
          <a:xfrm>
            <a:off x="812780" y="1206500"/>
            <a:ext cx="10566136" cy="2272344"/>
          </a:xfrm>
          <a:prstGeom prst="rect">
            <a:avLst/>
          </a:prstGeom>
        </p:spPr>
      </p:pic>
      <p:sp>
        <p:nvSpPr>
          <p:cNvPr id="6" name="Shape 3"/>
          <p:cNvSpPr/>
          <p:nvPr/>
        </p:nvSpPr>
        <p:spPr>
          <a:xfrm>
            <a:off x="812780" y="363124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1244"/>
            <a:ext cx="38099" cy="1993900"/>
          </a:xfrm>
          <a:prstGeom prst="rect">
            <a:avLst/>
          </a:prstGeom>
          <a:solidFill>
            <a:srgbClr val="1B6FA8"/>
          </a:solidFill>
          <a:ln/>
        </p:spPr>
      </p:sp>
      <p:sp>
        <p:nvSpPr>
          <p:cNvPr id="8" name="Text 5"/>
          <p:cNvSpPr/>
          <p:nvPr/>
        </p:nvSpPr>
        <p:spPr>
          <a:xfrm>
            <a:off x="977876" y="373284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travaux : série, n° de prix, désignation, libellé au bordereau, unité, quantité,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sous-détail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produit le bordereau des prix, et pré-remplit le formulaire que le candidat remplira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un fichier par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Proposer la liste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part du texte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83228" cy="509713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57829" cy="507173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pièce par ligne ou par « ; » ; la PRMP relit, ajoute, corrige, enregistre.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3641634" y="4640263"/>
            <a:ext cx="942951" cy="80962"/>
          </a:xfrm>
          <a:prstGeom prst="rect">
            <a:avLst/>
          </a:prstGeom>
          <a:solidFill>
            <a:srgbClr val="E9EDF2"/>
          </a:solidFill>
          <a:ln w="6350">
            <a:solidFill>
              <a:srgbClr val="D5DCE4"/>
            </a:solidFill>
            <a:prstDash val="solid"/>
          </a:ln>
        </p:spPr>
      </p:sp>
      <p:sp>
        <p:nvSpPr>
          <p:cNvPr id="7" name="Text 4"/>
          <p:cNvSpPr/>
          <p:nvPr/>
        </p:nvSpPr>
        <p:spPr>
          <a:xfrm>
            <a:off x="3641634" y="4640263"/>
            <a:ext cx="942951" cy="80962"/>
          </a:xfrm>
          <a:prstGeom prst="rect">
            <a:avLst/>
          </a:prstGeom>
          <a:noFill/>
          <a:ln/>
        </p:spPr>
        <p:txBody>
          <a:bodyPr wrap="square" rtlCol="0" anchor="ctr"/>
          <a:lstStyle/>
          <a:p>
            <a:pPr algn="ctr" indent="0" marL="0">
              <a:buNone/>
            </a:pPr>
            <a:r>
              <a:rPr lang="en-US" sz="900" i="1" dirty="0">
                <a:solidFill>
                  <a:srgbClr val="465568"/>
                </a:solidFill>
                <a:latin typeface="Segoe UI" pitchFamily="34" charset="0"/>
                <a:ea typeface="Segoe UI" pitchFamily="34" charset="-122"/>
                <a:cs typeface="Segoe UI" pitchFamily="34" charset="-120"/>
              </a:rPr>
              <a:t>nom masqué</a:t>
            </a:r>
            <a:endParaRPr lang="en-US" sz="900" dirty="0"/>
          </a:p>
        </p:txBody>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champs repris d’un document maître, jamais ressaisis.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obligatoires manquantes, l’ordre des dates, et, en remise électronique, la commission, le responsable, le dépositaire.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des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Tant qu’un contrôle bloque, la validation est fermée.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RG-DAO-14 · RG-DAO-15 · RG-DAO-17 · 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Désignée par la PRMP, par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des agents de l’entité, au plus un expert de l’objet, un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un compte et détient une part de la clé qui ouvrira les offres.</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cérémonie des clés, close</a:t>
            </a:r>
            <a:endParaRPr lang="en-US" sz="2600" dirty="0"/>
          </a:p>
        </p:txBody>
      </p:sp>
      <p:sp>
        <p:nvSpPr>
          <p:cNvPr id="4" name="Shape 2"/>
          <p:cNvSpPr/>
          <p:nvPr/>
        </p:nvSpPr>
        <p:spPr>
          <a:xfrm>
            <a:off x="1165399" y="1193800"/>
            <a:ext cx="9860898" cy="3327400"/>
          </a:xfrm>
          <a:prstGeom prst="rect">
            <a:avLst/>
          </a:prstGeom>
          <a:solidFill>
            <a:srgbClr val="FCFCFA"/>
          </a:solidFill>
          <a:ln w="9525">
            <a:solidFill>
              <a:srgbClr val="D5DCE4"/>
            </a:solidFill>
            <a:prstDash val="solid"/>
          </a:ln>
        </p:spPr>
      </p:sp>
      <p:pic>
        <p:nvPicPr>
          <p:cNvPr id="5" name="Image 0" descr="La cérémonie des clés, close">    </p:cNvPr>
          <p:cNvPicPr>
            <a:picLocks noChangeAspect="1"/>
          </p:cNvPicPr>
          <p:nvPr/>
        </p:nvPicPr>
        <p:blipFill>
          <a:blip r:embed="rId1"/>
          <a:stretch>
            <a:fillRect/>
          </a:stretch>
        </p:blipFill>
        <p:spPr>
          <a:xfrm>
            <a:off x="1178098" y="1206500"/>
            <a:ext cx="9835499" cy="3302000"/>
          </a:xfrm>
          <a:prstGeom prst="rect">
            <a:avLst/>
          </a:prstGeom>
        </p:spPr>
      </p:pic>
      <p:sp>
        <p:nvSpPr>
          <p:cNvPr id="6" name="Shape 3"/>
          <p:cNvSpPr/>
          <p:nvPr/>
        </p:nvSpPr>
        <p:spPr>
          <a:xfrm>
            <a:off x="812780" y="4660900"/>
            <a:ext cx="10566136" cy="1517650"/>
          </a:xfrm>
          <a:prstGeom prst="rect">
            <a:avLst/>
          </a:prstGeom>
          <a:solidFill>
            <a:srgbClr val="FCFCFA"/>
          </a:solidFill>
          <a:ln w="9525">
            <a:solidFill>
              <a:srgbClr val="D5DCE4"/>
            </a:solidFill>
            <a:prstDash val="solid"/>
          </a:ln>
        </p:spPr>
      </p:sp>
      <p:sp>
        <p:nvSpPr>
          <p:cNvPr id="7" name="Shape 4"/>
          <p:cNvSpPr/>
          <p:nvPr/>
        </p:nvSpPr>
        <p:spPr>
          <a:xfrm>
            <a:off x="812780" y="4660900"/>
            <a:ext cx="38099" cy="1517650"/>
          </a:xfrm>
          <a:prstGeom prst="rect">
            <a:avLst/>
          </a:prstGeom>
          <a:solidFill>
            <a:srgbClr val="1B6FA8"/>
          </a:solidFill>
          <a:ln/>
        </p:spPr>
      </p:sp>
      <p:sp>
        <p:nvSpPr>
          <p:cNvPr id="8" name="Text 5"/>
          <p:cNvSpPr/>
          <p:nvPr/>
        </p:nvSpPr>
        <p:spPr>
          <a:xfrm>
            <a:off x="977876" y="4762500"/>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puis le dépositaire de la part de secours, publient leur clé depuis leur poste ; le responsable clôt.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 la cérémonie fait l’objet d’une présentation à part : « La cérémonie des clés ».</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sans responsable</a:t>
            </a:r>
            <a:endParaRPr lang="en-US" sz="2600" dirty="0"/>
          </a:p>
        </p:txBody>
      </p:sp>
      <p:sp>
        <p:nvSpPr>
          <p:cNvPr id="4" name="Shape 2"/>
          <p:cNvSpPr/>
          <p:nvPr/>
        </p:nvSpPr>
        <p:spPr>
          <a:xfrm>
            <a:off x="800080" y="1193800"/>
            <a:ext cx="10591535" cy="2288385"/>
          </a:xfrm>
          <a:prstGeom prst="rect">
            <a:avLst/>
          </a:prstGeom>
          <a:solidFill>
            <a:srgbClr val="FCFCFA"/>
          </a:solidFill>
          <a:ln w="9525">
            <a:solidFill>
              <a:srgbClr val="D5DCE4"/>
            </a:solidFill>
            <a:prstDash val="solid"/>
          </a:ln>
        </p:spPr>
      </p:sp>
      <p:pic>
        <p:nvPicPr>
          <p:cNvPr id="5" name="Image 0" descr="Les procédures sans responsable">    </p:cNvPr>
          <p:cNvPicPr>
            <a:picLocks noChangeAspect="1"/>
          </p:cNvPicPr>
          <p:nvPr/>
        </p:nvPicPr>
        <p:blipFill>
          <a:blip r:embed="rId1"/>
          <a:stretch>
            <a:fillRect/>
          </a:stretch>
        </p:blipFill>
        <p:spPr>
          <a:xfrm>
            <a:off x="812780" y="1206500"/>
            <a:ext cx="10566136" cy="2262985"/>
          </a:xfrm>
          <a:prstGeom prst="rect">
            <a:avLst/>
          </a:prstGeom>
        </p:spPr>
      </p:pic>
      <p:sp>
        <p:nvSpPr>
          <p:cNvPr id="6" name="Shape 3"/>
          <p:cNvSpPr/>
          <p:nvPr/>
        </p:nvSpPr>
        <p:spPr>
          <a:xfrm>
            <a:off x="812780" y="3621885"/>
            <a:ext cx="10566136" cy="1314450"/>
          </a:xfrm>
          <a:prstGeom prst="rect">
            <a:avLst/>
          </a:prstGeom>
          <a:solidFill>
            <a:srgbClr val="FCFCFA"/>
          </a:solidFill>
          <a:ln w="9525">
            <a:solidFill>
              <a:srgbClr val="D5DCE4"/>
            </a:solidFill>
            <a:prstDash val="solid"/>
          </a:ln>
        </p:spPr>
      </p:sp>
      <p:sp>
        <p:nvSpPr>
          <p:cNvPr id="7" name="Shape 4"/>
          <p:cNvSpPr/>
          <p:nvPr/>
        </p:nvSpPr>
        <p:spPr>
          <a:xfrm>
            <a:off x="812780" y="3621885"/>
            <a:ext cx="38099" cy="1314450"/>
          </a:xfrm>
          <a:prstGeom prst="rect">
            <a:avLst/>
          </a:prstGeom>
          <a:solidFill>
            <a:srgbClr val="1B6FA8"/>
          </a:solidFill>
          <a:ln/>
        </p:spPr>
      </p:sp>
      <p:sp>
        <p:nvSpPr>
          <p:cNvPr id="8" name="Text 5"/>
          <p:cNvSpPr/>
          <p:nvPr/>
        </p:nvSpPr>
        <p:spPr>
          <a:xfrm>
            <a:off x="977876" y="3723485"/>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le Poste d’administration : les procédures en remise électronique qui attendent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désignation de leur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y retrouve ses procédures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Mes procédures en ligne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 menu dès qu’il en a une) : paramètres et cérémonie,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les voit toutes, et désigne le responsable depuis la fiche. Seul le titulaire conduit : l’intérimaire lit.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valide : la fiche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modification ouvre une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DAO COMPLET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seul document, comme les DAO réels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À la validation, les documents remplis depuis la fiche sont </a:t>
            </a:r>
            <a:pPr indent="0" marL="0">
              <a:buNone/>
            </a:pPr>
            <a:r>
              <a:rPr lang="en-US" sz="1300" b="1" dirty="0">
                <a:solidFill>
                  <a:srgbClr val="1B2A3A"/>
                </a:solidFill>
                <a:latin typeface="Segoe UI" pitchFamily="34" charset="0"/>
                <a:ea typeface="Segoe UI" pitchFamily="34" charset="-122"/>
                <a:cs typeface="Segoe UI" pitchFamily="34" charset="-120"/>
              </a:rPr>
              <a:t>assemblés</a:t>
            </a:r>
            <a:pPr indent="0" marL="0">
              <a:buNone/>
            </a:pPr>
            <a:r>
              <a:rPr lang="en-US" sz="1300" dirty="0">
                <a:solidFill>
                  <a:srgbClr val="465568"/>
                </a:solidFill>
                <a:latin typeface="Segoe UI" pitchFamily="34" charset="0"/>
                <a:ea typeface="Segoe UI" pitchFamily="34" charset="-122"/>
                <a:cs typeface="Segoe UI" pitchFamily="34" charset="-120"/>
              </a:rPr>
              <a:t> en un seul dossier d’appel d’offres, en Word et en PDF, sur le plan des documents types de l’ARMP.</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Page de garde et sommaire</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Emblème, ministère, PRMP, UGPM, « Dossier d’appel d’offres ouvert », numéro, objet, lots, « Lancé le », financement, imputation, compte ; puis le sommaire paginé.</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Première partie : la procédure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1.1 Instructions aux candidats (texte fixe de l’ARMP) ; 1.2 DPAO ; 1.3 Formulaires de soumission (fiches A1 à A4, garanties).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Deuxième partie : le marché</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2.1 Acte d’engagement ; 2.2 CCAP et ses annexes, puis les </a:t>
            </a:r>
            <a:pPr indent="0" marL="0">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buNone/>
            </a:pPr>
            <a:r>
              <a:rPr lang="en-US" sz="1200" dirty="0">
                <a:solidFill>
                  <a:srgbClr val="465568"/>
                </a:solidFill>
                <a:latin typeface="Segoe UI" pitchFamily="34" charset="0"/>
                <a:ea typeface="Segoe UI" pitchFamily="34" charset="-122"/>
                <a:cs typeface="Segoe UI" pitchFamily="34" charset="-120"/>
              </a:rPr>
              <a:t> jointes par la PRMP ; 2.3 CCAG (texte fixe).</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Figé à la validation</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En-tête « DAO n° … — objet », pages numérotées « n / N ». Les classeurs (bordereau, DQE) restent à part, en Excel. Une version validée ne se régénère jamais.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en tête</a:t>
            </a:r>
            <a:endParaRPr lang="en-US" sz="2600" dirty="0"/>
          </a:p>
        </p:txBody>
      </p:sp>
      <p:sp>
        <p:nvSpPr>
          <p:cNvPr id="4" name="Shape 2"/>
          <p:cNvSpPr/>
          <p:nvPr/>
        </p:nvSpPr>
        <p:spPr>
          <a:xfrm>
            <a:off x="2927982" y="1193800"/>
            <a:ext cx="6335730" cy="3327400"/>
          </a:xfrm>
          <a:prstGeom prst="rect">
            <a:avLst/>
          </a:prstGeom>
          <a:solidFill>
            <a:srgbClr val="FCFCFA"/>
          </a:solidFill>
          <a:ln w="9525">
            <a:solidFill>
              <a:srgbClr val="D5DCE4"/>
            </a:solidFill>
            <a:prstDash val="solid"/>
          </a:ln>
        </p:spPr>
      </p:sp>
      <p:pic>
        <p:nvPicPr>
          <p:cNvPr id="5" name="Image 0" descr="Étape 7 : le DAO complet en tête">    </p:cNvPr>
          <p:cNvPicPr>
            <a:picLocks noChangeAspect="1"/>
          </p:cNvPicPr>
          <p:nvPr/>
        </p:nvPicPr>
        <p:blipFill>
          <a:blip r:embed="rId1"/>
          <a:stretch>
            <a:fillRect/>
          </a:stretch>
        </p:blipFill>
        <p:spPr>
          <a:xfrm>
            <a:off x="2940682" y="1206500"/>
            <a:ext cx="631033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ouvrir le PDF,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classeurs (bordereau des prix, DQE) ; le dossier à soumettre est créé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(une seule fois),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lus sur le plan.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numérotation de l’ARMP, avec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numéros de page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seule présentation à tous les niveaux ; 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10591535" cy="1567940"/>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10566136" cy="1542540"/>
          </a:xfrm>
          <a:prstGeom prst="rect">
            <a:avLst/>
          </a:prstGeom>
        </p:spPr>
      </p:pic>
      <p:sp>
        <p:nvSpPr>
          <p:cNvPr id="6" name="Shape 3"/>
          <p:cNvSpPr/>
          <p:nvPr/>
        </p:nvSpPr>
        <p:spPr>
          <a:xfrm>
            <a:off x="812780" y="2901440"/>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01440"/>
            <a:ext cx="38099" cy="2197100"/>
          </a:xfrm>
          <a:prstGeom prst="rect">
            <a:avLst/>
          </a:prstGeom>
          <a:solidFill>
            <a:srgbClr val="1B6FA8"/>
          </a:solidFill>
          <a:ln/>
        </p:spPr>
      </p:sp>
      <p:sp>
        <p:nvSpPr>
          <p:cNvPr id="8" name="Text 5"/>
          <p:cNvSpPr/>
          <p:nvPr/>
        </p:nvSpPr>
        <p:spPr>
          <a:xfrm>
            <a:off x="977876" y="3003040"/>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bloc B14 : la PRMP joint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Word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devis descriptif, des prescriptions et des plans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au rang 2.2, entre le CCAP et le CCAG. Sans fichier, la partie n’apparaît pas, et le contrôle le signale.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du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u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circuit que pour le plan ; l’examen lit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ses pièces, une à une.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 1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DAO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 à l’écran de bout en bout (page de garde, sommaire, les deux parties), RAS ou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vis spécifique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le PV signé favorable : l’avis s’imprime depuis la fiche, avec ses références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procédure paraît alors aux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Préparer une fiche : qui, et sur quelle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fiche par DMC, versionnée · Qui prépare, qui valide · Les gardes, dans l’ordre · Le mode de passation · La ligne à travers les versions du plan · Une fiche ouverte par erreur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deux axes de la fiche viennent du plan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RG-DAO-07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catégorie = la nature de la ligne · La forme = la forme de la ligne · Ligne sans forme · Fiche saisie sous un autre type · Les règles de la catégorie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Cadrer, saisir, contrôler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cadrage ferme des rubriques · Enregistrer n’est pas valider · Le bilan des contrôles · On ne demande que ce qui sert · Une version validée n’est jamais convertie · La garantie de soumission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lots, le besoin, les formulaires du candidat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RG-DAO-18 → 23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Ce qui varie par lot · Obligatoire pour chaque lot · Un acte d’engagement par lot · Le besoin (fournitures et services) · Les formulaires du candidat · Valeurs par défaut administrables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Valider, produire, réviser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RG-DAO-24 → 29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Valider fige, réviser ouvre · Produits à la validation · Le document type de l’ARMP, rempli · Jamais régénérés · On corrige la fiche, pas son produit · Montants en lettres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DAO complet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RG-DAO-30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du document · Il assemble, il ne réécrit rien · Où il est servi · Ce qui reste à part · Les spécifications techniques · Une pièce ne s’imprime qu’une fois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RG-DAO-36 → 40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produit le dossier · La rectification est une révision · L’avis spécifique · Prestations intellectuelles : l’AMI · Les lettres et la demande de propositions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L’import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RG-DAO-41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reste la source de vérité · Chaque proposition dit sa confiance · Le plan fait foi · Rien ne contourne la saisie · Une écriture d’un seul tenant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par DMC, versionnée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t>
                      </a:r>
                      <a:pPr indent="0" marL="0">
                        <a:buNone/>
                      </a:pPr>
                      <a:r>
                        <a:rPr lang="en-US" sz="11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1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1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1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prépare, qui valide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a:t>
                      </a:r>
                      <a:pPr indent="0" marL="0">
                        <a:buNone/>
                      </a:pPr>
                      <a:r>
                        <a:rPr lang="en-US" sz="11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50" dirty="0">
                          <a:solidFill>
                            <a:srgbClr val="1B2A3A"/>
                          </a:solidFill>
                          <a:latin typeface="Segoe UI" pitchFamily="34" charset="0"/>
                          <a:ea typeface="Segoe UI" pitchFamily="34" charset="-122"/>
                          <a:cs typeface="Segoe UI" pitchFamily="34" charset="-120"/>
                        </a:rPr>
                        <a:t> préparent.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valide la fiche et crée le dossier à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gardes, dans l’ordre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de passation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150" b="1" dirty="0">
                          <a:solidFill>
                            <a:srgbClr val="1B2A3A"/>
                          </a:solidFill>
                          <a:latin typeface="Segoe UI" pitchFamily="34" charset="0"/>
                          <a:ea typeface="Segoe UI" pitchFamily="34" charset="-122"/>
                          <a:cs typeface="Segoe UI" pitchFamily="34" charset="-120"/>
                        </a:rPr>
                        <a:t>DAO</a:t>
                      </a:r>
                      <a:pPr indent="0" marL="0">
                        <a:buNone/>
                      </a:pPr>
                      <a:r>
                        <a:rPr lang="en-US" sz="11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ligne à travers les versions du plan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1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ouverte par erreur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se </a:t>
                      </a:r>
                      <a:pPr indent="0" marL="0">
                        <a:buNone/>
                      </a:pPr>
                      <a:r>
                        <a:rPr lang="en-US" sz="1150" b="1" dirty="0">
                          <a:solidFill>
                            <a:srgbClr val="1B2A3A"/>
                          </a:solidFill>
                          <a:latin typeface="Segoe UI" pitchFamily="34" charset="0"/>
                          <a:ea typeface="Segoe UI" pitchFamily="34" charset="-122"/>
                          <a:cs typeface="Segoe UI" pitchFamily="34" charset="-120"/>
                        </a:rPr>
                        <a:t>supprime</a:t>
                      </a:r>
                      <a:pPr indent="0" marL="0">
                        <a:buNone/>
                      </a:pPr>
                      <a:r>
                        <a:rPr lang="en-US" sz="11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150" b="1" dirty="0">
                          <a:solidFill>
                            <a:srgbClr val="1B2A3A"/>
                          </a:solidFill>
                          <a:latin typeface="Segoe UI" pitchFamily="34" charset="0"/>
                          <a:ea typeface="Segoe UI" pitchFamily="34" charset="-122"/>
                          <a:cs typeface="Segoe UI" pitchFamily="34" charset="-120"/>
                        </a:rPr>
                        <a:t>révise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catégorie = la nature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forme = la forme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Ligne sans forme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Fiche saisie sous un autre 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règles de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50" b="1" dirty="0">
                          <a:solidFill>
                            <a:srgbClr val="1B2A3A"/>
                          </a:solidFill>
                          <a:latin typeface="Segoe UI" pitchFamily="34" charset="0"/>
                          <a:ea typeface="Segoe UI" pitchFamily="34" charset="-122"/>
                          <a:cs typeface="Segoe UI" pitchFamily="34" charset="-120"/>
                        </a:rPr>
                        <a:t>sa</a:t>
                      </a:r>
                      <a:pPr indent="0" marL="0">
                        <a:buNone/>
                      </a:pPr>
                      <a:r>
                        <a:rPr lang="en-US" sz="11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cadrage ferme des rubriques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150" b="1" dirty="0">
                          <a:solidFill>
                            <a:srgbClr val="1B2A3A"/>
                          </a:solidFill>
                          <a:latin typeface="Segoe UI" pitchFamily="34" charset="0"/>
                          <a:ea typeface="Segoe UI" pitchFamily="34" charset="-122"/>
                          <a:cs typeface="Segoe UI" pitchFamily="34" charset="-120"/>
                        </a:rPr>
                        <a:t>condition</a:t>
                      </a:r>
                      <a:pPr indent="0" marL="0">
                        <a:buNone/>
                      </a:pPr>
                      <a:r>
                        <a:rPr lang="en-US" sz="11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n’est pas valider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bloc s’enregistre </a:t>
                      </a:r>
                      <a:pPr indent="0" marL="0">
                        <a:buNone/>
                      </a:pPr>
                      <a:r>
                        <a:rPr lang="en-US" sz="1150" b="1" dirty="0">
                          <a:solidFill>
                            <a:srgbClr val="1B2A3A"/>
                          </a:solidFill>
                          <a:latin typeface="Segoe UI" pitchFamily="34" charset="0"/>
                          <a:ea typeface="Segoe UI" pitchFamily="34" charset="-122"/>
                          <a:cs typeface="Segoe UI" pitchFamily="34" charset="-120"/>
                        </a:rPr>
                        <a:t>incomplet</a:t>
                      </a:r>
                      <a:pPr indent="0" marL="0">
                        <a:buNone/>
                      </a:pPr>
                      <a:r>
                        <a:rPr lang="en-US" sz="11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bilan des contrôles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demande que ce qui sert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50" b="1" dirty="0">
                          <a:solidFill>
                            <a:srgbClr val="1B2A3A"/>
                          </a:solidFill>
                          <a:latin typeface="Segoe UI" pitchFamily="34" charset="0"/>
                          <a:ea typeface="Segoe UI" pitchFamily="34" charset="-122"/>
                          <a:cs typeface="Segoe UI" pitchFamily="34" charset="-120"/>
                        </a:rPr>
                        <a:t>imprime</a:t>
                      </a:r>
                      <a:pPr indent="0" marL="0">
                        <a:buNone/>
                      </a:pPr>
                      <a:r>
                        <a:rPr lang="en-US" sz="1150" dirty="0">
                          <a:solidFill>
                            <a:srgbClr val="1B2A3A"/>
                          </a:solidFill>
                          <a:latin typeface="Segoe UI" pitchFamily="34" charset="0"/>
                          <a:ea typeface="Segoe UI" pitchFamily="34" charset="-122"/>
                          <a:cs typeface="Segoe UI" pitchFamily="34" charset="-120"/>
                        </a:rPr>
                        <a:t> ou ce qu’un </a:t>
                      </a:r>
                      <a:pPr indent="0" marL="0">
                        <a:buNone/>
                      </a:pPr>
                      <a:r>
                        <a:rPr lang="en-US" sz="1150" b="1" dirty="0">
                          <a:solidFill>
                            <a:srgbClr val="1B2A3A"/>
                          </a:solidFill>
                          <a:latin typeface="Segoe UI" pitchFamily="34" charset="0"/>
                          <a:ea typeface="Segoe UI" pitchFamily="34" charset="-122"/>
                          <a:cs typeface="Segoe UI" pitchFamily="34" charset="-120"/>
                        </a:rPr>
                        <a:t>contrôle lit</a:t>
                      </a:r>
                      <a:pPr indent="0" marL="0">
                        <a:buNone/>
                      </a:pPr>
                      <a:r>
                        <a:rPr lang="en-US" sz="11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version validée n’est jamais convertie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de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150" b="1" dirty="0">
                          <a:solidFill>
                            <a:srgbClr val="1B2A3A"/>
                          </a:solidFill>
                          <a:latin typeface="Segoe UI" pitchFamily="34" charset="0"/>
                          <a:ea typeface="Segoe UI" pitchFamily="34" charset="-122"/>
                          <a:cs typeface="Segoe UI" pitchFamily="34" charset="-120"/>
                        </a:rPr>
                        <a:t>avertissement</a:t>
                      </a:r>
                      <a:pPr indent="0" marL="0">
                        <a:buNone/>
                      </a:pPr>
                      <a:r>
                        <a:rPr lang="en-US" sz="1150" dirty="0">
                          <a:solidFill>
                            <a:srgbClr val="1B2A3A"/>
                          </a:solidFill>
                          <a:latin typeface="Segoe UI" pitchFamily="34" charset="0"/>
                          <a:ea typeface="Segoe UI" pitchFamily="34" charset="-122"/>
                          <a:cs typeface="Segoe UI" pitchFamily="34" charset="-120"/>
                        </a:rPr>
                        <a:t>, jamais un blocage.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varie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150" b="1" dirty="0">
                          <a:solidFill>
                            <a:srgbClr val="1B2A3A"/>
                          </a:solidFill>
                          <a:latin typeface="Segoe UI" pitchFamily="34" charset="0"/>
                          <a:ea typeface="Segoe UI" pitchFamily="34" charset="-122"/>
                          <a:cs typeface="Segoe UI" pitchFamily="34" charset="-120"/>
                        </a:rPr>
                        <a:t>plan</a:t>
                      </a:r>
                      <a:pPr indent="0" marL="0">
                        <a:buNone/>
                      </a:pPr>
                      <a:r>
                        <a:rPr lang="en-US" sz="1150" dirty="0">
                          <a:solidFill>
                            <a:srgbClr val="1B2A3A"/>
                          </a:solidFill>
                          <a:latin typeface="Segoe UI" pitchFamily="34" charset="0"/>
                          <a:ea typeface="Segoe UI" pitchFamily="34" charset="-122"/>
                          <a:cs typeface="Segoe UI" pitchFamily="34" charset="-120"/>
                        </a:rPr>
                        <a:t> : la fiche n’en invente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Obligatoire pour chaque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d’engagement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besoin (fournitures et services)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formulaires du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Valeurs par défaut administrables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Valider fige, réviser ouvre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Produits à la validation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document type de l’ARMP, rempli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1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régénérés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corrige la fiche, pas son produit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Montants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document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Il assemble, il ne réécrit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Où il est servi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50" b="1" dirty="0">
                          <a:solidFill>
                            <a:srgbClr val="1B2A3A"/>
                          </a:solidFill>
                          <a:latin typeface="Segoe UI" pitchFamily="34" charset="0"/>
                          <a:ea typeface="Segoe UI" pitchFamily="34" charset="-122"/>
                          <a:cs typeface="Segoe UI" pitchFamily="34" charset="-120"/>
                        </a:rPr>
                        <a:t>pièce unique</a:t>
                      </a:r>
                      <a:pPr indent="0" marL="0">
                        <a:buNone/>
                      </a:pPr>
                      <a:r>
                        <a:rPr lang="en-US" sz="11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reste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spécifications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pièce ne s’imprime qu’une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produit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rectification est une révision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spécifique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 :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150" b="1" dirty="0">
                          <a:solidFill>
                            <a:srgbClr val="1B2A3A"/>
                          </a:solidFill>
                          <a:latin typeface="Segoe UI" pitchFamily="34" charset="0"/>
                          <a:ea typeface="Segoe UI" pitchFamily="34" charset="-122"/>
                          <a:cs typeface="Segoe UI" pitchFamily="34" charset="-120"/>
                        </a:rPr>
                        <a:t>après la date limite</a:t>
                      </a:r>
                      <a:pPr indent="0" marL="0">
                        <a:buNone/>
                      </a:pPr>
                      <a:r>
                        <a:rPr lang="en-US" sz="11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lettres et la demande de propositions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1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reste la source de vérité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proposition dit sa confiance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fait foi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contourne la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écriture d’un seul tenant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Consulter : l’appel à manifestation d’intérêt</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naît d’un appel à manifestation d’intérêt mené dans l’application : publié, reçu en ligne, noté par la commission.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fiche de prestations intellectuelles, et son 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fiche de prestations intellectuelles, et son 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du plan est en mode « Appel à manifestation d’intérêt », rattaché au type DAO : sa fiche se crée comme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L’en-tête de la fiche porte le lien « Appel à manifestation d’intérêt » (prestations intellectuelles seules).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 OU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répar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 ou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critères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pondérés (le total sur 100 est affiché), les pièces attendues, la note minimale, le nombre de candidats retenus (six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se modifie tant qu’il n’est pas publié ; le projet d’avis suit chaque enregistrement.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ubli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moins un support daté (journal des marchés publics…) ; « Publier et signer l’avis » fige l’appel et ouvre le dépôt.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seuil, la dispense de publicité se déclare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publié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pel publi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est figé : critères, pièces, publication. L’avis signé se lit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seul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d’expressions reçues est connu.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 après la date limite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xpressions d’intérêt, après la date limi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passée, chaque expression se lit : lettre, qualifications, références, groupement, pièces et leur empreinte.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lien « Présélection, liste restreinte et rapport » mène à l’écran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RG-AMI-08 · RG-AMI-09 · RG-AMI-10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 les déclarations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ésélection : les déclar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signe d’abord sa déclaration : un membre en conflit d’intérêts lit, il ne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notation, critère par critère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notation, critère par critè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note par critère, entre 0 et les points du critère, et toujours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dernière saisie fait foi, le journal garde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expression peut être écartée, ou rétablie,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lass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serveur totalise sur 100 : qualifiée = notée sur tous les critères, non écartée, au moins la note minimale ; rang et ex æquo.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la liste restreinte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rrêter la liste restrein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prend les premières qualifiées. Moins de qualifiées que de places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se motive ; une égalité au seuil se départage par un 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de présélection,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apport de présélection,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(PDF, Word) est produit à l’arrêt : notes, motifs, liste, motif du nombre. Chaque membre hors conflit le signe ; le président constate un empêchement.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liste restreinte définitive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iste restreinte définitiv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liste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définitive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publiée sur la page publique de l’appel et notifiée à chaque candidat.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d’invitation la reprennent ; le dossier de la demande de propositions peut être créé, le rapport signé y est joint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RG-AMI-19 · RG-AMI-20 · RG-AMI-21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l’AMI restant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(à la correction du serveur)</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page de l’appel, côté candidat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L’avis, les critères, le dépôt de l’expression et son accusé — la page publique répond aujourd’hui une erreur du serveur (signalée).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lettres d’invitation tirées de la liste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Après le PV favorable du dossier de la demande de propositions.</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18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1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23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8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Préparer l’appel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RG-AMI-01 → 05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mode AMI ouvre une fiche DAO · Préparé par la PRMP ou l’UGPM · Des critères qui totalisent 100 · Six candidats à retenir · Modifiable jusqu’à la publication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Publier ou dispenser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RG-AMI-06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seule publie l’avis · La dispense de publicité motivée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expressions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RG-AMI-08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Déposer son expression en ligne · Remplacer, retirer, recevoir un accusé · Lues après la date limite seulement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présélection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RG-AMI-11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déclaration propre à l’AMI · Une notation collégiale et motivée · Écarter une expression, avec un motif · Qualifiée, puis classée par total · Le président arrête la liste · Moins de six qualifiés : motiver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et la liste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RG-AMI-17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rapport signé des membres · Une liste publiée et notifiée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demande de propositions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RG-AMI-19 → 21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Pas de dossier sans liste définitive · Les invitations tirées de la liste · Les invitations après l’avis favorable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Relance et 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RG-AMI-22 → 23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Relancer l’AMI, avec un motif · Sans qualifié, l’AMI infructueux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1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AMI ouvre une fiche DAO</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de dossier « appel d’offres » : la PRMP crée la fiche de la ligne, qui porte d’abord l’AMI, puis la demande de propositions.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Préparé par la PRMP ou l’UGPM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50" dirty="0">
                          <a:solidFill>
                            <a:srgbClr val="1B2A3A"/>
                          </a:solidFill>
                          <a:latin typeface="Segoe UI" pitchFamily="34" charset="0"/>
                          <a:ea typeface="Segoe UI" pitchFamily="34" charset="-122"/>
                          <a:cs typeface="Segoe UI" pitchFamily="34" charset="-120"/>
                        </a:rPr>
                        <a:t> seulement ; son objet est repris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critères qui totalisent 100</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de sélection (aptitude, références, expérience…) portent chacun un poids positif ; les poids </a:t>
                      </a:r>
                      <a:pPr indent="0" marL="0">
                        <a:buNone/>
                      </a:pPr>
                      <a:r>
                        <a:rPr lang="en-US" sz="1150" b="1" dirty="0">
                          <a:solidFill>
                            <a:srgbClr val="1B2A3A"/>
                          </a:solidFill>
                          <a:latin typeface="Segoe UI" pitchFamily="34" charset="0"/>
                          <a:ea typeface="Segoe UI" pitchFamily="34" charset="-122"/>
                          <a:cs typeface="Segoe UI" pitchFamily="34" charset="-120"/>
                        </a:rPr>
                        <a:t>totalisent 100</a:t>
                      </a:r>
                      <a:pPr indent="0" marL="0">
                        <a:buNone/>
                      </a:pPr>
                      <a:r>
                        <a:rPr lang="en-US" sz="115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Six candidats à retenir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50" b="1" dirty="0">
                          <a:solidFill>
                            <a:srgbClr val="1B2A3A"/>
                          </a:solidFill>
                          <a:latin typeface="Segoe UI" pitchFamily="34" charset="0"/>
                          <a:ea typeface="Segoe UI" pitchFamily="34" charset="-122"/>
                          <a:cs typeface="Segoe UI" pitchFamily="34" charset="-120"/>
                        </a:rPr>
                        <a:t>six</a:t>
                      </a:r>
                      <a:pPr indent="0" marL="0">
                        <a:buNone/>
                      </a:pPr>
                      <a:r>
                        <a:rPr lang="en-US" sz="1150" dirty="0">
                          <a:solidFill>
                            <a:srgbClr val="1B2A3A"/>
                          </a:solidFill>
                          <a:latin typeface="Segoe UI" pitchFamily="34" charset="0"/>
                          <a:ea typeface="Segoe UI" pitchFamily="34" charset="-122"/>
                          <a:cs typeface="Segoe UI" pitchFamily="34" charset="-120"/>
                        </a:rPr>
                        <a:t> par défaut.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Modifiable jusqu’à la publication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vivent sur l’AMI, non dans la fiche, et se figent à la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18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seule publie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5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50" dirty="0">
                          <a:solidFill>
                            <a:srgbClr val="1B2A3A"/>
                          </a:solidFill>
                          <a:latin typeface="Segoe UI" pitchFamily="34" charset="0"/>
                          <a:ea typeface="Segoe UI" pitchFamily="34" charset="-122"/>
                          <a:cs typeface="Segoe UI" pitchFamily="34" charset="-120"/>
                        </a:rPr>
                        <a:t> par elle, paraît sur la liste publique des 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dispense de publicité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5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5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aux lettres d’invitation. Le seuil de dispense reste à préciser par le juriste.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18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Déposer son expression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retirer, recevoir un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son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Lues après la date limite seulement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5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50" dirty="0">
                          <a:solidFill>
                            <a:srgbClr val="1B2A3A"/>
                          </a:solidFill>
                          <a:latin typeface="Segoe UI" pitchFamily="34" charset="0"/>
                          <a:ea typeface="Segoe UI" pitchFamily="34" charset="-122"/>
                          <a:cs typeface="Segoe UI" pitchFamily="34" charset="-120"/>
                        </a:rPr>
                        <a:t> : l’administration n’en voit que le nombre.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a:t>
            </a:r>
            <a:endParaRPr lang="en-US" sz="2600" dirty="0"/>
          </a:p>
        </p:txBody>
      </p:sp>
      <p:graphicFrame>
        <p:nvGraphicFramePr>
          <p:cNvPr id="19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déclaration propre à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Un membre en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ne décide rien et ne signe pas le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notation collégiale et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note chaque expression critère par critère, de zéro aux points du critère, toujours 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une expression,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Qualifiée, puis classée par total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Est </a:t>
                      </a:r>
                      <a:pPr indent="0" marL="0">
                        <a:buNone/>
                      </a:pPr>
                      <a:r>
                        <a:rPr lang="en-US" sz="1150" b="1" dirty="0">
                          <a:solidFill>
                            <a:srgbClr val="1B2A3A"/>
                          </a:solidFill>
                          <a:latin typeface="Segoe UI" pitchFamily="34" charset="0"/>
                          <a:ea typeface="Segoe UI" pitchFamily="34" charset="-122"/>
                          <a:cs typeface="Segoe UI" pitchFamily="34" charset="-120"/>
                        </a:rPr>
                        <a:t>qualifiée</a:t>
                      </a:r>
                      <a:pPr indent="0" marL="0">
                        <a:buNone/>
                      </a:pPr>
                      <a:r>
                        <a:rPr lang="en-US" sz="115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Le serveur totalise sur 100 et classe les qualifiées par total décroissant.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arrête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la liste des premières qualifiées, dans la limite du nombre de l’AMI. Une égalité au seuil se départage.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Moins de six qualifiés : motiver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50" b="1" dirty="0">
                          <a:solidFill>
                            <a:srgbClr val="1B2A3A"/>
                          </a:solidFill>
                          <a:latin typeface="Segoe UI" pitchFamily="34" charset="0"/>
                          <a:ea typeface="Segoe UI" pitchFamily="34" charset="-122"/>
                          <a:cs typeface="Segoe UI" pitchFamily="34" charset="-120"/>
                        </a:rPr>
                        <a:t>motivé</a:t>
                      </a:r>
                      <a:pPr indent="0" marL="0">
                        <a:buNone/>
                      </a:pPr>
                      <a:r>
                        <a:rPr lang="en-US" sz="1150" dirty="0">
                          <a:solidFill>
                            <a:srgbClr val="1B2A3A"/>
                          </a:solidFill>
                          <a:latin typeface="Segoe UI" pitchFamily="34" charset="0"/>
                          <a:ea typeface="Segoe UI" pitchFamily="34" charset="-122"/>
                          <a:cs typeface="Segoe UI" pitchFamily="34" charset="-120"/>
                        </a:rPr>
                        <a:t> au rapport ; la PRMP peut à la place relancer l’AMI.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rapport signé des membres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liste publiée et notifiée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50" b="1" dirty="0">
                          <a:solidFill>
                            <a:srgbClr val="1B2A3A"/>
                          </a:solidFill>
                          <a:latin typeface="Segoe UI" pitchFamily="34" charset="0"/>
                          <a:ea typeface="Segoe UI" pitchFamily="34" charset="-122"/>
                          <a:cs typeface="Segoe UI" pitchFamily="34" charset="-120"/>
                        </a:rPr>
                        <a:t>définitive</a:t>
                      </a:r>
                      <a:pPr indent="0" marL="0">
                        <a:buNone/>
                      </a:pPr>
                      <a:r>
                        <a:rPr lang="en-US" sz="1150" dirty="0">
                          <a:solidFill>
                            <a:srgbClr val="1B2A3A"/>
                          </a:solidFill>
                          <a:latin typeface="Segoe UI" pitchFamily="34" charset="0"/>
                          <a:ea typeface="Segoe UI" pitchFamily="34" charset="-122"/>
                          <a:cs typeface="Segoe UI" pitchFamily="34" charset="-120"/>
                        </a:rPr>
                        <a:t> : publiée sur la page de l’AMI et notifiée à chaque candidat, les non retenus avec leur motif (écartement, note sous le minimum, rang au-delà des places).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1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dossier sans liste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 avant, il est refusé (liste non arrêtée). Il reçoit d’office le </a:t>
                      </a:r>
                      <a:pPr indent="0" marL="0">
                        <a:buNone/>
                      </a:pPr>
                      <a:r>
                        <a:rPr lang="en-US" sz="1150" b="1" dirty="0">
                          <a:solidFill>
                            <a:srgbClr val="1B2A3A"/>
                          </a:solidFill>
                          <a:latin typeface="Segoe UI" pitchFamily="34" charset="0"/>
                          <a:ea typeface="Segoe UI" pitchFamily="34" charset="-122"/>
                          <a:cs typeface="Segoe UI" pitchFamily="34" charset="-120"/>
                        </a:rPr>
                        <a:t>rapport signé</a:t>
                      </a:r>
                      <a:pPr indent="0" marL="0">
                        <a:buNone/>
                      </a:pPr>
                      <a:r>
                        <a:rPr lang="en-US" sz="1150" dirty="0">
                          <a:solidFill>
                            <a:srgbClr val="1B2A3A"/>
                          </a:solidFill>
                          <a:latin typeface="Segoe UI" pitchFamily="34" charset="0"/>
                          <a:ea typeface="Segoe UI" pitchFamily="34" charset="-122"/>
                          <a:cs typeface="Segoe UI" pitchFamily="34" charset="-120"/>
                        </a:rPr>
                        <a:t>, que la Commission examine avec lui.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tirées de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50" b="1" dirty="0">
                          <a:solidFill>
                            <a:srgbClr val="1B2A3A"/>
                          </a:solidFill>
                          <a:latin typeface="Segoe UI" pitchFamily="34" charset="0"/>
                          <a:ea typeface="Segoe UI" pitchFamily="34" charset="-122"/>
                          <a:cs typeface="Segoe UI" pitchFamily="34" charset="-120"/>
                        </a:rPr>
                        <a:t>de la liste</a:t>
                      </a:r>
                      <a:pPr indent="0" marL="0">
                        <a:buNone/>
                      </a:pPr>
                      <a:r>
                        <a:rPr lang="en-US" sz="115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19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Relancer l’AMI,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50" b="1" dirty="0">
                          <a:solidFill>
                            <a:srgbClr val="1B2A3A"/>
                          </a:solidFill>
                          <a:latin typeface="Segoe UI" pitchFamily="34" charset="0"/>
                          <a:ea typeface="Segoe UI" pitchFamily="34" charset="-122"/>
                          <a:cs typeface="Segoe UI" pitchFamily="34" charset="-120"/>
                        </a:rPr>
                        <a:t>relancer</a:t>
                      </a:r>
                      <a:pPr indent="0" marL="0">
                        <a:buNone/>
                      </a:pPr>
                      <a:r>
                        <a:rPr lang="en-US" sz="115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qualifié, l’AMI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50" b="1" dirty="0">
                          <a:solidFill>
                            <a:srgbClr val="1B2A3A"/>
                          </a:solidFill>
                          <a:latin typeface="Segoe UI" pitchFamily="34" charset="0"/>
                          <a:ea typeface="Segoe UI" pitchFamily="34" charset="-122"/>
                          <a:cs typeface="Segoe UI" pitchFamily="34" charset="-120"/>
                        </a:rPr>
                        <a:t>infructueux</a:t>
                      </a:r>
                      <a:pPr indent="0" marL="0">
                        <a:buNone/>
                      </a:pPr>
                      <a:r>
                        <a:rPr lang="en-US" sz="1150" dirty="0">
                          <a:solidFill>
                            <a:srgbClr val="1B2A3A"/>
                          </a:solidFill>
                          <a:latin typeface="Segoe UI" pitchFamily="34" charset="0"/>
                          <a:ea typeface="Segoe UI" pitchFamily="34" charset="-122"/>
                          <a:cs typeface="Segoe UI" pitchFamily="34" charset="-120"/>
                        </a:rPr>
                        <a:t>, avec un motif ; la relance reste possible.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06</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Recevoir les offres en ligne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consultent les procédures, créent leur compte, règlent les frais de dossier, retirent le DAO, remplissent leur offre en ligne et la déposent scellée sur leur poste.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d’accueil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accueil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propre aux entreprises : ce qu’elles peuvent faire, dans l’ordre.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compte : référence, objet, lots, date limite, heure de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l’offre doit contenir, les formats et tailles acceptés,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retrait du dossier demande un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 · RG-OFF-07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Nom, adresse, téléphone, mot de passe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 à six chiffres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une fois connecté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une fois connect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les lots, les règles de la remise électronique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 une 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tant que les dépôts sont ouverts.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à retirer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puis le bordereau à remplir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retiré est enregistré sur le poste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inscrit au 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Ici, une procédure lancée avant le 6 octobre : retrait libre ; depuis, un dossier payant attend le reçu validé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DOSSIER PAYANT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des frais, validé avant le retrait et le dépôt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frais de dossier se versent au compte de l’ARMP, hors de la plateforme ; le reçu est déposé en ligne et validé par la PRMP ou l’UGPM.</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candidat dépose son reçu</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référence, date, banque, fichier ; un reçu par </a:t>
            </a:r>
            <a:pPr indent="0" marL="0">
              <a:buNone/>
            </a:pPr>
            <a:r>
              <a:rPr lang="en-US" sz="1200" b="1" dirty="0">
                <a:solidFill>
                  <a:srgbClr val="1B2A3A"/>
                </a:solidFill>
                <a:latin typeface="Segoe UI" pitchFamily="34" charset="0"/>
                <a:ea typeface="Segoe UI" pitchFamily="34" charset="-122"/>
                <a:cs typeface="Segoe UI" pitchFamily="34" charset="-120"/>
              </a:rPr>
              <a:t>entreprise</a:t>
            </a:r>
            <a:pPr indent="0" marL="0">
              <a:buNone/>
            </a:pPr>
            <a:r>
              <a:rPr lang="en-US" sz="1200" dirty="0">
                <a:solidFill>
                  <a:srgbClr val="465568"/>
                </a:solidFill>
                <a:latin typeface="Segoe UI" pitchFamily="34" charset="0"/>
                <a:ea typeface="Segoe UI" pitchFamily="34" charset="-122"/>
                <a:cs typeface="Segoe UI" pitchFamily="34" charset="-120"/>
              </a:rPr>
              <a:t>, pour un ou plusieurs lots.</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PRMP ou l’UGPM décide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Notifiée ; valide, ou refuse avec un motif. Un montant insuffisant est signalé. Une décision ne se reprend pas.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s’ouvre à la validation</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retrait des documents, les formulaires de l’offre et le dépôt. Avant, ils restent fermés.</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ligne « Frais de dossier » ; une offre sans reçu validé lève une </a:t>
            </a:r>
            <a:pPr indent="0" marL="0">
              <a:buNone/>
            </a:pPr>
            <a:r>
              <a:rPr lang="en-US" sz="1200" b="1" dirty="0">
                <a:solidFill>
                  <a:srgbClr val="1B2A3A"/>
                </a:solidFill>
                <a:latin typeface="Segoe UI" pitchFamily="34" charset="0"/>
                <a:ea typeface="Segoe UI" pitchFamily="34" charset="-122"/>
                <a:cs typeface="Segoe UI" pitchFamily="34" charset="-120"/>
              </a:rPr>
              <a:t>alerte</a:t>
            </a:r>
            <a:pPr indent="0" marL="0">
              <a:buNone/>
            </a:pPr>
            <a:r>
              <a:rPr lang="en-US" sz="1200" dirty="0">
                <a:solidFill>
                  <a:srgbClr val="465568"/>
                </a:solidFill>
                <a:latin typeface="Segoe UI" pitchFamily="34" charset="0"/>
                <a:ea typeface="Segoe UI" pitchFamily="34" charset="-122"/>
                <a:cs typeface="Segoe UI" pitchFamily="34" charset="-120"/>
              </a:rPr>
              <a:t>, jamais un rejet.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 les boutons « Retirer » du DAO complet restent inactifs, la raison est dite.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 Voir mon reçu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reçus en attente d’abord ; le montant insuffisant signalé ; « Voir le reçu », « Valider », « Refuser… »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RG-OFF-10 · 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part par courriel ; l’entreprise dépose un nouveau reçu.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et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3611"/>
            <a:ext cx="38099" cy="1993900"/>
          </a:xfrm>
          <a:prstGeom prst="rect">
            <a:avLst/>
          </a:prstGeom>
          <a:solidFill>
            <a:srgbClr val="1B6FA8"/>
          </a:solidFill>
          <a:ln/>
        </p:spPr>
      </p:sp>
      <p:sp>
        <p:nvSpPr>
          <p:cNvPr id="8" name="Text 5"/>
          <p:cNvSpPr/>
          <p:nvPr/>
        </p:nvSpPr>
        <p:spPr>
          <a:xfrm>
            <a:off x="977876" y="373521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(le contenu du DAO)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représentant, pièces : déclarés une fois, vérifiés par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vérification ne bloque jamais un dépôt ; une entreprise exclue par l’ARMP ne peut pas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L’OFFRE REMPLIE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Remplir son offre, plus seulement la joindre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Dès que la fiche porte un </a:t>
            </a:r>
            <a:pPr indent="0" marL="0">
              <a:buNone/>
            </a:pPr>
            <a:r>
              <a:rPr lang="en-US" sz="1300" b="1" dirty="0">
                <a:solidFill>
                  <a:srgbClr val="1B2A3A"/>
                </a:solidFill>
                <a:latin typeface="Segoe UI" pitchFamily="34" charset="0"/>
                <a:ea typeface="Segoe UI" pitchFamily="34" charset="-122"/>
                <a:cs typeface="Segoe UI" pitchFamily="34" charset="-120"/>
              </a:rPr>
              <a:t>besoin</a:t>
            </a:r>
            <a:pPr indent="0" marL="0">
              <a:buNone/>
            </a:pPr>
            <a:r>
              <a:rPr lang="en-US" sz="1300" dirty="0">
                <a:solidFill>
                  <a:srgbClr val="465568"/>
                </a:solidFill>
                <a:latin typeface="Segoe UI" pitchFamily="34" charset="0"/>
                <a:ea typeface="Segoe UI" pitchFamily="34" charset="-122"/>
                <a:cs typeface="Segoe UI" pitchFamily="34" charset="-120"/>
              </a:rPr>
              <a:t>, le dépôt présente des formulaires pré-remplis ; tout est scellé avec l’offre.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Pré-rempli depuis la fiche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Articles, quantités, caractéristiques, séries du DQE, matériel, personnel, seuils de qualification.</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Calculé sur le poste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Totaux, TVA, prix en lettres, K1, sous-détail ; les montants de l’acte d’engagement en découlent.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Averti, jamais refusé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un prix manquant bloque ; le reste est averti au candidat, puis signalé à la commission.</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Recalculé à l’ouverture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serveur refait les totaux depuis le bordereau scellé et compare avec l’acte d’engagement.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au minimum et au maximum des quantités pour un marché à commande.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6883228" cy="4153059"/>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6857829" cy="4127659"/>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 ce qui est proposé, et si c’est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Non-conformité déclarée, livraison au-delà du délai : averti, on peut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27856"/>
            <a:ext cx="38099" cy="1790700"/>
          </a:xfrm>
          <a:prstGeom prst="rect">
            <a:avLst/>
          </a:prstGeom>
          <a:solidFill>
            <a:srgbClr val="1B6FA8"/>
          </a:solidFill>
          <a:ln/>
        </p:spPr>
      </p:sp>
      <p:sp>
        <p:nvSpPr>
          <p:cNvPr id="8" name="Text 5"/>
          <p:cNvSpPr/>
          <p:nvPr/>
        </p:nvSpPr>
        <p:spPr>
          <a:xfrm>
            <a:off x="977876" y="40294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plus : ce sont ceux du bordereau. Restent le délai, la validité, le rabais.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DQE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QE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le prix s’écrit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sous la désignation — ce sont les lettres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6883228" cy="4105910"/>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6857829" cy="408051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le rendement ; le prix calculé est comparé au bordereau (écart de plus de 1 %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contre le seuil,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6883228" cy="3934460"/>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6857829" cy="390906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dit, chiffres à l’appui ; la commission le lira en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314450"/>
          </a:xfrm>
          <a:prstGeom prst="rect">
            <a:avLst/>
          </a:prstGeom>
          <a:solidFill>
            <a:srgbClr val="FCFCFA"/>
          </a:solidFill>
          <a:ln w="9525">
            <a:solidFill>
              <a:srgbClr val="D5DCE4"/>
            </a:solidFill>
            <a:prstDash val="solid"/>
          </a:ln>
        </p:spPr>
      </p:sp>
      <p:sp>
        <p:nvSpPr>
          <p:cNvPr id="7" name="Shape 4"/>
          <p:cNvSpPr/>
          <p:nvPr/>
        </p:nvSpPr>
        <p:spPr>
          <a:xfrm>
            <a:off x="812780" y="2131568"/>
            <a:ext cx="38099" cy="1314450"/>
          </a:xfrm>
          <a:prstGeom prst="rect">
            <a:avLst/>
          </a:prstGeom>
          <a:solidFill>
            <a:srgbClr val="1B6FA8"/>
          </a:solidFill>
          <a:ln/>
        </p:spPr>
      </p:sp>
      <p:sp>
        <p:nvSpPr>
          <p:cNvPr id="8" name="Text 5"/>
          <p:cNvSpPr/>
          <p:nvPr/>
        </p:nvSpPr>
        <p:spPr>
          <a:xfrm>
            <a:off x="977876" y="2233168"/>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 Gardée sur le poste seulement, jamais envoyée ; effacée au dépôt.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 et le reçu déjà fourni</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et le reçu déjà fourni">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le calendrier : « Remplie en ligne ». Les autres pièces se joignent.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 : l’acte d’engagement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sans formulaires : l’acte d’engag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besoin (prestations intellectuelles) : les montants de l’acte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 les pièces, puis le scellement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 les pièces, puis le scell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contrôlée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de dépôt, le numéro d’arrivée,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limite, si la procédure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RG-OFF-21 · RG-OFF-22 · RG-OFF-23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dépôts, avant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dépôts, avant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retraits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Qui a retiré quel document, et quand ;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 ouvert le retrait.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invitations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invit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consultation restreinte n’est pas publiée : le candidat invité la trouve dans « Mes invitations », avec son rang, la date limite et sa lettre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l’enveloppe technique</a:t>
            </a:r>
            <a:endParaRPr lang="en-US" sz="2600" dirty="0"/>
          </a:p>
        </p:txBody>
      </p:sp>
      <p:sp>
        <p:nvSpPr>
          <p:cNvPr id="4" name="Shape 2"/>
          <p:cNvSpPr/>
          <p:nvPr/>
        </p:nvSpPr>
        <p:spPr>
          <a:xfrm>
            <a:off x="800080" y="1193800"/>
            <a:ext cx="3699441" cy="5105400"/>
          </a:xfrm>
          <a:prstGeom prst="rect">
            <a:avLst/>
          </a:prstGeom>
          <a:solidFill>
            <a:srgbClr val="FCFCFA"/>
          </a:solidFill>
          <a:ln w="9525">
            <a:solidFill>
              <a:srgbClr val="D5DCE4"/>
            </a:solidFill>
            <a:prstDash val="solid"/>
          </a:ln>
        </p:spPr>
      </p:sp>
      <p:pic>
        <p:nvPicPr>
          <p:cNvPr id="5" name="Image 0" descr="Déposer l’enveloppe technique">    </p:cNvPr>
          <p:cNvPicPr>
            <a:picLocks noChangeAspect="1"/>
          </p:cNvPicPr>
          <p:nvPr/>
        </p:nvPicPr>
        <p:blipFill>
          <a:blip r:embed="rId1"/>
          <a:stretch>
            <a:fillRect/>
          </a:stretch>
        </p:blipFill>
        <p:spPr>
          <a:xfrm>
            <a:off x="812780" y="1206500"/>
            <a:ext cx="3674042"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Deux enveloppes, déposées l’une après l’autre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ne demande ni ne scelle aucun montant, l’écran le rappelle.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de chaque enveloppe sont celles que le serveur lui attribue.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d’une proposition complète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une proposition complè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L’accusé de la seconde enveloppe porte l’empreinte de la première : la proposition est complète.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 : une proposition en deux enveloppes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 une proposition en deux envelop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enveloppe avec son accusé ; une proposition à moitié déposée le signale, avec le lien pour la compléter ; le retrait retire les deux.</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3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3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3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compte et l’entreprise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compte confirmé par code · Une entreprise par compte, NIF unique · Vérification du NIF, jamais bloquante · Exclusions de l’ARMP : refus au dépôt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procédures ouvertes et le retrait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RG-OFF-05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Papier ou électronique, jamais mixte · Ce que montre la liste publique · La signature simple seule acceptée · Chaque retrait inscrit au registre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frais de dossier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RG-OFF-09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Reçu validé avant le retrait · Un reçu par entreprise, par lots · Un refus motivé, une décision définitive · Sans reçu validé, pas de dépôt · Le reçu validé vaut preuve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L’offre remplie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RG-OFF-14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saisie dans des formulaires · Les capacités déclarées aux travaux · L’acte d’engagement suit le bordereau · Un rabais déclaré de façon structurée · Des avertissements, jamais un refus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dépôt scellé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RG-OFF-19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scellée dans le navigateur · Les conditions du dépôt · Une offre par entreprise et par lot · Un accusé portant l’empreinte · Remplacer ou retirer avant l’échéance · Avant l’échéance, le nombre seul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commission, les clés et le dépositaire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RG-OFF-25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commission désignée par la PRMP · Un responsable désigné par procédure · La cérémonie des clés avant l’avis · Un quorum entre deux et tous · Le dépositaire génère la part de secours · Le dépositaire ne voit pas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consultation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RG-OFF-31 → 32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procédure réservée aux invités · Deux enveloppes, une proposition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compte confirmé par code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50" b="1" dirty="0">
                          <a:solidFill>
                            <a:srgbClr val="1B2A3A"/>
                          </a:solidFill>
                          <a:latin typeface="Segoe UI" pitchFamily="34" charset="0"/>
                          <a:ea typeface="Segoe UI" pitchFamily="34" charset="-122"/>
                          <a:cs typeface="Segoe UI" pitchFamily="34" charset="-120"/>
                        </a:rPr>
                        <a:t>code</a:t>
                      </a:r>
                      <a:pPr indent="0" marL="0">
                        <a:buNone/>
                      </a:pPr>
                      <a:r>
                        <a:rPr lang="en-US" sz="115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entreprise par compte, NIF unique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50" b="1" dirty="0">
                          <a:solidFill>
                            <a:srgbClr val="1B2A3A"/>
                          </a:solidFill>
                          <a:latin typeface="Segoe UI" pitchFamily="34" charset="0"/>
                          <a:ea typeface="Segoe UI" pitchFamily="34" charset="-122"/>
                          <a:cs typeface="Segoe UI" pitchFamily="34" charset="-120"/>
                        </a:rPr>
                        <a:t>NIF</a:t>
                      </a:r>
                      <a:pPr indent="0" marL="0">
                        <a:buNone/>
                      </a:pPr>
                      <a:r>
                        <a:rPr lang="en-US" sz="115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Vérification du NIF, jamais bloquante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50" b="1" dirty="0">
                          <a:solidFill>
                            <a:srgbClr val="1B2A3A"/>
                          </a:solidFill>
                          <a:latin typeface="Segoe UI" pitchFamily="34" charset="0"/>
                          <a:ea typeface="Segoe UI" pitchFamily="34" charset="-122"/>
                          <a:cs typeface="Segoe UI" pitchFamily="34" charset="-120"/>
                        </a:rPr>
                        <a:t>jamais</a:t>
                      </a:r>
                      <a:pPr indent="0" marL="0">
                        <a:buNone/>
                      </a:pPr>
                      <a:r>
                        <a:rPr lang="en-US" sz="1150" dirty="0">
                          <a:solidFill>
                            <a:srgbClr val="1B2A3A"/>
                          </a:solidFill>
                          <a:latin typeface="Segoe UI" pitchFamily="34" charset="0"/>
                          <a:ea typeface="Segoe UI" pitchFamily="34" charset="-122"/>
                          <a:cs typeface="Segoe UI" pitchFamily="34" charset="-120"/>
                        </a:rPr>
                        <a:t> le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de l’ARMP : refus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50" b="1" dirty="0">
                          <a:solidFill>
                            <a:srgbClr val="1B2A3A"/>
                          </a:solidFill>
                          <a:latin typeface="Segoe UI" pitchFamily="34" charset="0"/>
                          <a:ea typeface="Segoe UI" pitchFamily="34" charset="-122"/>
                          <a:cs typeface="Segoe UI" pitchFamily="34" charset="-120"/>
                        </a:rPr>
                        <a:t>refusée</a:t>
                      </a:r>
                      <a:pPr indent="0" marL="0">
                        <a:buNone/>
                      </a:pPr>
                      <a:r>
                        <a:rPr lang="en-US" sz="1150" dirty="0">
                          <a:solidFill>
                            <a:srgbClr val="1B2A3A"/>
                          </a:solidFill>
                          <a:latin typeface="Segoe UI" pitchFamily="34" charset="0"/>
                          <a:ea typeface="Segoe UI" pitchFamily="34" charset="-122"/>
                          <a:cs typeface="Segoe UI" pitchFamily="34" charset="-120"/>
                        </a:rPr>
                        <a:t> au dépôt du reçu et de l’offre, groupement compris.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Papier ou électronique, jamais mixte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50" b="1" dirty="0">
                          <a:solidFill>
                            <a:srgbClr val="1B2A3A"/>
                          </a:solidFill>
                          <a:latin typeface="Segoe UI" pitchFamily="34" charset="0"/>
                          <a:ea typeface="Segoe UI" pitchFamily="34" charset="-122"/>
                          <a:cs typeface="Segoe UI" pitchFamily="34" charset="-120"/>
                        </a:rPr>
                        <a:t>jamais mixte</a:t>
                      </a:r>
                      <a:pPr indent="0" marL="0">
                        <a:buNone/>
                      </a:pPr>
                      <a:r>
                        <a:rPr lang="en-US" sz="1150" dirty="0">
                          <a:solidFill>
                            <a:srgbClr val="1B2A3A"/>
                          </a:solidFill>
                          <a:latin typeface="Segoe UI" pitchFamily="34" charset="0"/>
                          <a:ea typeface="Segoe UI" pitchFamily="34" charset="-122"/>
                          <a:cs typeface="Segoe UI" pitchFamily="34" charset="-120"/>
                        </a:rPr>
                        <a:t>. Une fiche qui ne le porte pas est papier. Les règles propres à la remise électronique ne jouent qu’en mode électronique.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montre la liste publique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publique ne montre que les procédures en remise électronique, lancées par l’impression de leur avis, dont la date limite n’est pas passée. Aucun paramètre interne n’y figure ; une procédure close reste lisible par son lien.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signature simple seule acceptée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50" b="1" dirty="0">
                          <a:solidFill>
                            <a:srgbClr val="1B2A3A"/>
                          </a:solidFill>
                          <a:latin typeface="Segoe UI" pitchFamily="34" charset="0"/>
                          <a:ea typeface="Segoe UI" pitchFamily="34" charset="-122"/>
                          <a:cs typeface="Segoe UI" pitchFamily="34" charset="-120"/>
                        </a:rPr>
                        <a:t>signature simple</a:t>
                      </a:r>
                      <a:pPr indent="0" marL="0">
                        <a:buNone/>
                      </a:pPr>
                      <a:r>
                        <a:rPr lang="en-US" sz="115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retrait inscrit au registre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50" b="1" dirty="0">
                          <a:solidFill>
                            <a:srgbClr val="1B2A3A"/>
                          </a:solidFill>
                          <a:latin typeface="Segoe UI" pitchFamily="34" charset="0"/>
                          <a:ea typeface="Segoe UI" pitchFamily="34" charset="-122"/>
                          <a:cs typeface="Segoe UI" pitchFamily="34" charset="-120"/>
                        </a:rPr>
                        <a:t>registre des retraits</a:t>
                      </a:r>
                      <a:pPr indent="0" marL="0">
                        <a:buNone/>
                      </a:pPr>
                      <a:r>
                        <a:rPr lang="en-US" sz="115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Procédures ouvertes en ligne et retrait du DAO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2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Reçu validé avant le retrait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50" b="1" dirty="0">
                          <a:solidFill>
                            <a:srgbClr val="1B2A3A"/>
                          </a:solidFill>
                          <a:latin typeface="Segoe UI" pitchFamily="34" charset="0"/>
                          <a:ea typeface="Segoe UI" pitchFamily="34" charset="-122"/>
                          <a:cs typeface="Segoe UI" pitchFamily="34" charset="-120"/>
                        </a:rPr>
                        <a:t>validé</a:t>
                      </a:r>
                      <a:pPr indent="0" marL="0">
                        <a:buNone/>
                      </a:pPr>
                      <a:r>
                        <a:rPr lang="en-US" sz="1150" dirty="0">
                          <a:solidFill>
                            <a:srgbClr val="1B2A3A"/>
                          </a:solidFill>
                          <a:latin typeface="Segoe UI" pitchFamily="34" charset="0"/>
                          <a:ea typeface="Segoe UI" pitchFamily="34" charset="-122"/>
                          <a:cs typeface="Segoe UI" pitchFamily="34" charset="-120"/>
                        </a:rPr>
                        <a:t>. La plateforme n’encaisse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reçu par entreprise, par lots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refus motivé, une décision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reçu validé, pas de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reçu validé vaut preuve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50" b="1" dirty="0">
                          <a:solidFill>
                            <a:srgbClr val="1B2A3A"/>
                          </a:solidFill>
                          <a:latin typeface="Segoe UI" pitchFamily="34" charset="0"/>
                          <a:ea typeface="Segoe UI" pitchFamily="34" charset="-122"/>
                          <a:cs typeface="Segoe UI" pitchFamily="34" charset="-120"/>
                        </a:rPr>
                        <a:t>retrait libre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retrait du DAO après paiement des frais — V72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saisie dans des formulaires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50" b="1" dirty="0">
                          <a:solidFill>
                            <a:srgbClr val="1B2A3A"/>
                          </a:solidFill>
                          <a:latin typeface="Segoe UI" pitchFamily="34" charset="0"/>
                          <a:ea typeface="Segoe UI" pitchFamily="34" charset="-122"/>
                          <a:cs typeface="Segoe UI" pitchFamily="34" charset="-120"/>
                        </a:rPr>
                        <a:t>remplit</a:t>
                      </a:r>
                      <a:pPr indent="0" marL="0">
                        <a:buNone/>
                      </a:pPr>
                      <a:r>
                        <a:rPr lang="en-US" sz="1150" dirty="0">
                          <a:solidFill>
                            <a:srgbClr val="1B2A3A"/>
                          </a:solidFill>
                          <a:latin typeface="Segoe UI" pitchFamily="34" charset="0"/>
                          <a:ea typeface="Segoe UI" pitchFamily="34" charset="-122"/>
                          <a:cs typeface="Segoe UI" pitchFamily="34" charset="-120"/>
                        </a:rPr>
                        <a:t> son bordereau ou son DQE, sa conformité et son calendrier dans des formulaires pré-remplis depuis la fiche ; les pièces correspondantes ne sont plus exigées en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capacités déclarées aux travaux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L’acte d’engagement suit le bordereau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de l’acte d’engagement sont ceux du bordereau. L’acte d’engagement signé, la garantie de soumission et le reçu des frais restent des </a:t>
                      </a:r>
                      <a:pPr indent="0" marL="0">
                        <a:buNone/>
                      </a:pPr>
                      <a:r>
                        <a:rPr lang="en-US" sz="1150" b="1" dirty="0">
                          <a:solidFill>
                            <a:srgbClr val="1B2A3A"/>
                          </a:solidFill>
                          <a:latin typeface="Segoe UI" pitchFamily="34" charset="0"/>
                          <a:ea typeface="Segoe UI" pitchFamily="34" charset="-122"/>
                          <a:cs typeface="Segoe UI" pitchFamily="34" charset="-120"/>
                        </a:rPr>
                        <a:t>pièces</a:t>
                      </a:r>
                      <a:pPr indent="0" marL="0">
                        <a:buNone/>
                      </a:pPr>
                      <a:r>
                        <a:rPr lang="en-US" sz="1150" dirty="0">
                          <a:solidFill>
                            <a:srgbClr val="1B2A3A"/>
                          </a:solidFill>
                          <a:latin typeface="Segoe UI" pitchFamily="34" charset="0"/>
                          <a:ea typeface="Segoe UI" pitchFamily="34" charset="-122"/>
                          <a:cs typeface="Segoe UI" pitchFamily="34" charset="-120"/>
                        </a:rPr>
                        <a:t> à joindre ; sans formulaires, l’offre se dépose par pièces seules.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rabais déclaré de façon structurée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avertissements, jamais un refus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50" b="1" dirty="0">
                          <a:solidFill>
                            <a:srgbClr val="1B2A3A"/>
                          </a:solidFill>
                          <a:latin typeface="Segoe UI" pitchFamily="34" charset="0"/>
                          <a:ea typeface="Segoe UI" pitchFamily="34" charset="-122"/>
                          <a:cs typeface="Segoe UI" pitchFamily="34" charset="-120"/>
                        </a:rPr>
                        <a:t>alertes</a:t>
                      </a:r>
                      <a:pPr indent="0" marL="0">
                        <a:buNone/>
                      </a:pPr>
                      <a:r>
                        <a:rPr lang="en-US" sz="1150" dirty="0">
                          <a:solidFill>
                            <a:srgbClr val="1B2A3A"/>
                          </a:solidFill>
                          <a:latin typeface="Segoe UI" pitchFamily="34" charset="0"/>
                          <a:ea typeface="Segoe UI" pitchFamily="34" charset="-122"/>
                          <a:cs typeface="Segoe UI" pitchFamily="34" charset="-120"/>
                        </a:rPr>
                        <a:t> pour la commission, jamais en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a:t>
            </a:r>
            <a:endParaRPr lang="en-US" sz="26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scellée dans le navigateur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a:t>
                      </a:r>
                      <a:pPr indent="0" marL="0">
                        <a:buNone/>
                      </a:pPr>
                      <a:r>
                        <a:rPr lang="en-US" sz="1150" b="1" dirty="0">
                          <a:solidFill>
                            <a:srgbClr val="1B2A3A"/>
                          </a:solidFill>
                          <a:latin typeface="Segoe UI" pitchFamily="34" charset="0"/>
                          <a:ea typeface="Segoe UI" pitchFamily="34" charset="-122"/>
                          <a:cs typeface="Segoe UI" pitchFamily="34" charset="-120"/>
                        </a:rPr>
                        <a:t>scelle</a:t>
                      </a:r>
                      <a:pPr indent="0" marL="0">
                        <a:buNone/>
                      </a:pPr>
                      <a:r>
                        <a:rPr lang="en-US" sz="115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combien d’octets, jamais un prix.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50" b="1" dirty="0">
                          <a:solidFill>
                            <a:srgbClr val="1B2A3A"/>
                          </a:solidFill>
                          <a:latin typeface="Segoe UI" pitchFamily="34" charset="0"/>
                          <a:ea typeface="Segoe UI" pitchFamily="34" charset="-122"/>
                          <a:cs typeface="Segoe UI" pitchFamily="34" charset="-120"/>
                        </a:rPr>
                        <a:t>horloge du serveur</a:t>
                      </a:r>
                      <a:pPr indent="0" marL="0">
                        <a:buNone/>
                      </a:pPr>
                      <a:r>
                        <a:rPr lang="en-US" sz="115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par entreprise et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accusé portant l’empreinte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l’offre et empreintes des clés employées.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ou retirer avant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Avant l’échéance, le nombre seul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dépôt scellé d'une offre — V68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a:t>
            </a:r>
            <a:endParaRPr lang="en-US" sz="26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commission désignée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constitue la commission d’appel d’offres par une décision : au moins deux membres, un président parmi eux, un seul expert de l’objet. Ni la PRMP, ni l’UGPM, ni un contrôleur de la CNM, ni un candidat n’y siège.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désigné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Lui seul lit et modifie les </a:t>
                      </a:r>
                      <a:pPr indent="0" marL="0">
                        <a:buNone/>
                      </a:pPr>
                      <a:r>
                        <a:rPr lang="en-US" sz="1150" b="1" dirty="0">
                          <a:solidFill>
                            <a:srgbClr val="1B2A3A"/>
                          </a:solidFill>
                          <a:latin typeface="Segoe UI" pitchFamily="34" charset="0"/>
                          <a:ea typeface="Segoe UI" pitchFamily="34" charset="-122"/>
                          <a:cs typeface="Segoe UI" pitchFamily="34" charset="-120"/>
                        </a:rPr>
                        <a:t>paramètres internes</a:t>
                      </a:r>
                      <a:pPr indent="0" marL="0">
                        <a:buNone/>
                      </a:pPr>
                      <a:r>
                        <a:rPr lang="en-US" sz="1150" dirty="0">
                          <a:solidFill>
                            <a:srgbClr val="1B2A3A"/>
                          </a:solidFill>
                          <a:latin typeface="Segoe UI" pitchFamily="34" charset="0"/>
                          <a:ea typeface="Segoe UI" pitchFamily="34" charset="-122"/>
                          <a:cs typeface="Segoe UI" pitchFamily="34" charset="-120"/>
                        </a:rPr>
                        <a:t> (quorum, cérémonie, dépositaire), qui ne paraissent dans aucun document.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cérémonie des clés avant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ne se publie qu’une fois la </a:t>
                      </a:r>
                      <a:pPr indent="0" marL="0">
                        <a:buNone/>
                      </a:pPr>
                      <a:r>
                        <a:rPr lang="en-US" sz="1150" b="1" dirty="0">
                          <a:solidFill>
                            <a:srgbClr val="1B2A3A"/>
                          </a:solidFill>
                          <a:latin typeface="Segoe UI" pitchFamily="34" charset="0"/>
                          <a:ea typeface="Segoe UI" pitchFamily="34" charset="-122"/>
                          <a:cs typeface="Segoe UI" pitchFamily="34" charset="-120"/>
                        </a:rPr>
                        <a:t>cérémonie des clés</a:t>
                      </a:r>
                      <a:pPr indent="0" marL="0">
                        <a:buNone/>
                      </a:pPr>
                      <a:r>
                        <a:rPr lang="en-US" sz="1150" dirty="0">
                          <a:solidFill>
                            <a:srgbClr val="1B2A3A"/>
                          </a:solidFill>
                          <a:latin typeface="Segoe UI" pitchFamily="34" charset="0"/>
                          <a:ea typeface="Segoe UI" pitchFamily="34" charset="-122"/>
                          <a:cs typeface="Segoe UI" pitchFamily="34" charset="-120"/>
                        </a:rPr>
                        <a:t> close, toutes les clés publiées.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quorum entre deux et tous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quorum de déchiffrement est compris entre 2 et le nombre de membres. S’il égale ce nombre, un avertissement rappelle que la perte d’une seule part rendrait les offres illisibles.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génère la part de secours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ni le responsable, ni un membre de la commission, ni un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ne voit pas les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commission d'appel d'offres (CAO), détentrice des parts de clé — V67 · La remise électronique des offres (demande front du 2026-09-27, cahier des charges du pilote du 27/09) · La cérémonie des clés et la procédure de secours S1 à S4 — V66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consultation restreinte</a:t>
            </a:r>
            <a:endParaRPr lang="en-US" sz="2600" dirty="0"/>
          </a:p>
        </p:txBody>
      </p:sp>
      <p:graphicFrame>
        <p:nvGraphicFramePr>
          <p:cNvPr id="2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procédure réservée aux invités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consultation restreinte de prestations intellectuelles naît à l’impression des lettres d’invitation ; elle n’apparaît pas parmi les procédures ouvertes et répond « introuvable » aux non-invités. Les invités sont la liste de l’AMI, ou les candidats saisis avec leur adresse : le compte qui porte cette adresse est rattaché à l’invitation, même créé après.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enveloppes, une proposition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proposition se dépose en deux enveloppes scellées l’une après l’autre : la </a:t>
                      </a:r>
                      <a:pPr indent="0" marL="0">
                        <a:buNone/>
                      </a:pPr>
                      <a:r>
                        <a:rPr lang="en-US" sz="1150" b="1" dirty="0">
                          <a:solidFill>
                            <a:srgbClr val="1B2A3A"/>
                          </a:solidFill>
                          <a:latin typeface="Segoe UI" pitchFamily="34" charset="0"/>
                          <a:ea typeface="Segoe UI" pitchFamily="34" charset="-122"/>
                          <a:cs typeface="Segoe UI" pitchFamily="34" charset="-120"/>
                        </a:rPr>
                        <a:t>technique</a:t>
                      </a:r>
                      <a:pPr indent="0" marL="0">
                        <a:buNone/>
                      </a:pPr>
                      <a:r>
                        <a:rPr lang="en-US" sz="1150" dirty="0">
                          <a:solidFill>
                            <a:srgbClr val="1B2A3A"/>
                          </a:solidFill>
                          <a:latin typeface="Segoe UI" pitchFamily="34" charset="0"/>
                          <a:ea typeface="Segoe UI" pitchFamily="34" charset="-122"/>
                          <a:cs typeface="Segoe UI" pitchFamily="34" charset="-120"/>
                        </a:rPr>
                        <a:t>, sans aucun montant, et la </a:t>
                      </a:r>
                      <a:pPr indent="0" marL="0">
                        <a:buNone/>
                      </a:pPr>
                      <a:r>
                        <a:rPr lang="en-US" sz="1150" b="1" dirty="0">
                          <a:solidFill>
                            <a:srgbClr val="1B2A3A"/>
                          </a:solidFill>
                          <a:latin typeface="Segoe UI" pitchFamily="34" charset="0"/>
                          <a:ea typeface="Segoe UI" pitchFamily="34" charset="-122"/>
                          <a:cs typeface="Segoe UI" pitchFamily="34" charset="-120"/>
                        </a:rPr>
                        <a:t>financière</a:t>
                      </a:r>
                      <a:pPr indent="0" marL="0">
                        <a:buNone/>
                      </a:pPr>
                      <a:r>
                        <a:rPr lang="en-US" sz="1150" dirty="0">
                          <a:solidFill>
                            <a:srgbClr val="1B2A3A"/>
                          </a:solidFill>
                          <a:latin typeface="Segoe UI" pitchFamily="34" charset="0"/>
                          <a:ea typeface="Segoe UI" pitchFamily="34" charset="-122"/>
                          <a:cs typeface="Segoe UI" pitchFamily="34" charset="-120"/>
                        </a:rPr>
                        <a:t>, avec l’acte d’engagement et les formulaires financiers (chaque pièce attendue dit son enveloppe). Les deux portent le même numéro ; l’accusé de la seconde porte l’empreinte de la première ; retirer l’une retire les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PI-a · Lot 3 PI : demande evaluation-pi du 07/10, tranches PI-a à PI-d2b (V84-V90), PI-b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07</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La séance d’ouverture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À l’heure prévue, le responsable ouvre la séance ; les membres apportent leurs parts de clé ; au quorum, toutes les offres s’ouvrent ensemble ; le PV est signé en ligne.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serveur refuse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ajoute les autres présents.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790700"/>
          </a:xfrm>
          <a:prstGeom prst="rect">
            <a:avLst/>
          </a:prstGeom>
          <a:solidFill>
            <a:srgbClr val="FCFCFA"/>
          </a:solidFill>
          <a:ln w="9525">
            <a:solidFill>
              <a:srgbClr val="D5DCE4"/>
            </a:solidFill>
            <a:prstDash val="solid"/>
          </a:ln>
        </p:spPr>
      </p:sp>
      <p:sp>
        <p:nvSpPr>
          <p:cNvPr id="7" name="Shape 4"/>
          <p:cNvSpPr/>
          <p:nvPr/>
        </p:nvSpPr>
        <p:spPr>
          <a:xfrm>
            <a:off x="812780" y="3331053"/>
            <a:ext cx="38099" cy="1790700"/>
          </a:xfrm>
          <a:prstGeom prst="rect">
            <a:avLst/>
          </a:prstGeom>
          <a:solidFill>
            <a:srgbClr val="1B6FA8"/>
          </a:solidFill>
          <a:ln/>
        </p:spPr>
      </p:sp>
      <p:sp>
        <p:nvSpPr>
          <p:cNvPr id="8" name="Text 5"/>
          <p:cNvSpPr/>
          <p:nvPr/>
        </p:nvSpPr>
        <p:spPr>
          <a:xfrm>
            <a:off x="977876" y="3432653"/>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2399256"/>
            <a:ext cx="38099" cy="1790700"/>
          </a:xfrm>
          <a:prstGeom prst="rect">
            <a:avLst/>
          </a:prstGeom>
          <a:solidFill>
            <a:srgbClr val="1B6FA8"/>
          </a:solidFill>
          <a:ln/>
        </p:spPr>
      </p:sp>
      <p:sp>
        <p:nvSpPr>
          <p:cNvPr id="8" name="Text 5"/>
          <p:cNvSpPr/>
          <p:nvPr/>
        </p:nvSpPr>
        <p:spPr>
          <a:xfrm>
            <a:off x="977876" y="25008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s’ouvriront dès que le quorum sera atteint ; un membre absent peut être suppléé par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(empreinte), déchiffrée, comparée aux pièces attendues.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6883228" cy="4363085"/>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6857829" cy="433768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10591535" cy="2576534"/>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10566136" cy="2551134"/>
          </a:xfrm>
          <a:prstGeom prst="rect">
            <a:avLst/>
          </a:prstGeom>
        </p:spPr>
      </p:pic>
      <p:sp>
        <p:nvSpPr>
          <p:cNvPr id="6" name="Shape 3"/>
          <p:cNvSpPr/>
          <p:nvPr/>
        </p:nvSpPr>
        <p:spPr>
          <a:xfrm>
            <a:off x="812780" y="39100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10034"/>
            <a:ext cx="38099" cy="1790700"/>
          </a:xfrm>
          <a:prstGeom prst="rect">
            <a:avLst/>
          </a:prstGeom>
          <a:solidFill>
            <a:srgbClr val="1B6FA8"/>
          </a:solidFill>
          <a:ln/>
        </p:spPr>
      </p:sp>
      <p:sp>
        <p:nvSpPr>
          <p:cNvPr id="8" name="Text 5"/>
          <p:cNvSpPr/>
          <p:nvPr/>
        </p:nvSpPr>
        <p:spPr>
          <a:xfrm>
            <a:off x="977876" y="40116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 de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des 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RG-SEA-20 · RG-SEA-22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est signé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est sign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séance est close.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 la fiche prévoit la publication, un extrait du PV (sans les alertes) paraît alors sur la procédure publique.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après la séance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après la s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publique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prévoit la publication du PV, son extrait s’y lit ; ce n’était pas le cas de la fiche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date limite : entreprise, NIF, lot, heure, état, empreinte de chaque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vue par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vue par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lit la séance et la lecture des offres, sans en ouvrir les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des enveloppes techniques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des enveloppes techniqu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première séance n’ouvre que les enveloppes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deux propositions reçues, deux enveloppes listées ; les financières restent scellées, hors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quorum se remplit à mesure que les membres apportent leurs parts ; le PV ne lit aucun montant.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séance : les enveloppes financières</a:t>
            </a:r>
            <a:endParaRPr lang="en-US" sz="2600" dirty="0"/>
          </a:p>
        </p:txBody>
      </p:sp>
      <p:sp>
        <p:nvSpPr>
          <p:cNvPr id="4" name="Shape 2"/>
          <p:cNvSpPr/>
          <p:nvPr/>
        </p:nvSpPr>
        <p:spPr>
          <a:xfrm>
            <a:off x="2274656" y="1193800"/>
            <a:ext cx="7642382" cy="3327400"/>
          </a:xfrm>
          <a:prstGeom prst="rect">
            <a:avLst/>
          </a:prstGeom>
          <a:solidFill>
            <a:srgbClr val="FCFCFA"/>
          </a:solidFill>
          <a:ln w="9525">
            <a:solidFill>
              <a:srgbClr val="D5DCE4"/>
            </a:solidFill>
            <a:prstDash val="solid"/>
          </a:ln>
        </p:spPr>
      </p:sp>
      <p:pic>
        <p:nvPicPr>
          <p:cNvPr id="5" name="Image 0" descr="La seconde séance : les enveloppes financières">    </p:cNvPr>
          <p:cNvPicPr>
            <a:picLocks noChangeAspect="1"/>
          </p:cNvPicPr>
          <p:nvPr/>
        </p:nvPicPr>
        <p:blipFill>
          <a:blip r:embed="rId1"/>
          <a:stretch>
            <a:fillRect/>
          </a:stretch>
        </p:blipFill>
        <p:spPr>
          <a:xfrm>
            <a:off x="2287356" y="1206500"/>
            <a:ext cx="76169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l’arrêt de l’évaluation technique : seules s’ouvrent les financières des propositions qualifiées, avec les mêmes clés ; les autres restent scellées, avec leur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Montants lus, présents, observations, PV en PDF et en Word ; une séance complémentaire suit l’échec d’une négociation.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7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2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2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méthode de sélection (B02-MS-01) : elle décide quelles enveloppes s'ouvrent.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27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28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7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la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L’ouverture à l’heure fixée · Des rappels avant la séance · Les présences consignées · Sans offre, un PV de carence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parts et le quorum</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RG-SEA-05 → 09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Toutes ses parts en une fois · Des parts jamais conservées · La part de secours, sur demande motivée · Au quorum, tout s’ouvre ensemble · Quorum impossible : PV de constat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L’ouverture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RG-SEA-10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L’exclusion après dépôt écarte l’offre · L’intégrité de chaque 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lecture et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lecture informe, ne refuse pas · Les totaux recalculés à l’ouverture · Aux travaux, capacités et prix en lettres · La garantie lue en séance · Les frais de dossier lus · Le rabais lu chiffré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pièces, pour la commission seule · Le registre complet après l’échéance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d’ouverture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PV produit par le responsable · Signé par chaque membre présent · L’empêchement constaté avec motif · Clôture à la dernière signature · L’extrait public, sans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conservation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durée fixée par l’Administrateur · Une purge manuelle et tracée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première séance n’ouvre que les techniques · La seconde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2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L’ouverture à l’heure fixée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50" b="1" dirty="0">
                          <a:solidFill>
                            <a:srgbClr val="1B2A3A"/>
                          </a:solidFill>
                          <a:latin typeface="Segoe UI" pitchFamily="34" charset="0"/>
                          <a:ea typeface="Segoe UI" pitchFamily="34" charset="-122"/>
                          <a:cs typeface="Segoe UI" pitchFamily="34" charset="-120"/>
                        </a:rPr>
                        <a:t>heure d’ouverture</a:t>
                      </a:r>
                      <a:pPr indent="0" marL="0">
                        <a:buNone/>
                      </a:pPr>
                      <a:r>
                        <a:rPr lang="en-US" sz="115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rappels avant la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présences consignées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50" b="1" dirty="0">
                          <a:solidFill>
                            <a:srgbClr val="1B2A3A"/>
                          </a:solidFill>
                          <a:latin typeface="Segoe UI" pitchFamily="34" charset="0"/>
                          <a:ea typeface="Segoe UI" pitchFamily="34" charset="-122"/>
                          <a:cs typeface="Segoe UI" pitchFamily="34" charset="-120"/>
                        </a:rPr>
                        <a:t>présent d’office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offre, un PV de carence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50" b="1" dirty="0">
                          <a:solidFill>
                            <a:srgbClr val="1B2A3A"/>
                          </a:solidFill>
                          <a:latin typeface="Segoe UI" pitchFamily="34" charset="0"/>
                          <a:ea typeface="Segoe UI" pitchFamily="34" charset="-122"/>
                          <a:cs typeface="Segoe UI" pitchFamily="34" charset="-120"/>
                        </a:rPr>
                        <a:t>PV de carence</a:t>
                      </a:r>
                      <a:pPr indent="0" marL="0">
                        <a:buNone/>
                      </a:pPr>
                      <a:r>
                        <a:rPr lang="en-US" sz="1150" dirty="0">
                          <a:solidFill>
                            <a:srgbClr val="1B2A3A"/>
                          </a:solidFill>
                          <a:latin typeface="Segoe UI" pitchFamily="34" charset="0"/>
                          <a:ea typeface="Segoe UI" pitchFamily="34" charset="-122"/>
                          <a:cs typeface="Segoe UI" pitchFamily="34" charset="-120"/>
                        </a:rPr>
                        <a:t>, signé selon la même règle que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L'ouverture des plis en séance — V69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a:t>
            </a:r>
            <a:endParaRPr lang="en-US" sz="2600" dirty="0"/>
          </a:p>
        </p:txBody>
      </p:sp>
      <p:graphicFrame>
        <p:nvGraphicFramePr>
          <p:cNvPr id="2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Toutes ses parts en 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50" b="1" dirty="0">
                          <a:solidFill>
                            <a:srgbClr val="1B2A3A"/>
                          </a:solidFill>
                          <a:latin typeface="Segoe UI" pitchFamily="34" charset="0"/>
                          <a:ea typeface="Segoe UI" pitchFamily="34" charset="-122"/>
                          <a:cs typeface="Segoe UI" pitchFamily="34" charset="-120"/>
                        </a:rPr>
                        <a:t>toutes ses parts</a:t>
                      </a:r>
                      <a:pPr indent="0" marL="0">
                        <a:buNone/>
                      </a:pPr>
                      <a:r>
                        <a:rPr lang="en-US" sz="115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parts jamais conservées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part de secours, sur demande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50" b="1" dirty="0">
                          <a:solidFill>
                            <a:srgbClr val="1B2A3A"/>
                          </a:solidFill>
                          <a:latin typeface="Segoe UI" pitchFamily="34" charset="0"/>
                          <a:ea typeface="Segoe UI" pitchFamily="34" charset="-122"/>
                          <a:cs typeface="Segoe UI" pitchFamily="34" charset="-120"/>
                        </a:rPr>
                        <a:t>demande</a:t>
                      </a:r>
                      <a:pPr indent="0" marL="0">
                        <a:buNone/>
                      </a:pPr>
                      <a:r>
                        <a:rPr lang="en-US" sz="115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 quorum, tout s’ouvre ensemble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a:t>
                      </a:r>
                      <a:pPr indent="0" marL="0">
                        <a:buNone/>
                      </a:pPr>
                      <a:r>
                        <a:rPr lang="en-US" sz="1150" b="1" dirty="0">
                          <a:solidFill>
                            <a:srgbClr val="1B2A3A"/>
                          </a:solidFill>
                          <a:latin typeface="Segoe UI" pitchFamily="34" charset="0"/>
                          <a:ea typeface="Segoe UI" pitchFamily="34" charset="-122"/>
                          <a:cs typeface="Segoe UI" pitchFamily="34" charset="-120"/>
                        </a:rPr>
                        <a:t>quorum</a:t>
                      </a:r>
                      <a:pPr indent="0" marL="0">
                        <a:buNone/>
                      </a:pPr>
                      <a:r>
                        <a:rPr lang="en-US" sz="1150" dirty="0">
                          <a:solidFill>
                            <a:srgbClr val="1B2A3A"/>
                          </a:solidFill>
                          <a:latin typeface="Segoe UI" pitchFamily="34" charset="0"/>
                          <a:ea typeface="Segoe UI" pitchFamily="34" charset="-122"/>
                          <a:cs typeface="Segoe UI" pitchFamily="34" charset="-120"/>
                        </a:rPr>
                        <a:t>, toutes les offres s’ouvrent ensemble, dans un même geste ; aucune ne s’ouvre avant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Quorum impossible : PV de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quorum ne peut plus être atteint, part de secours comprise, le responsable constate l’illisibilité : un PV de constat est dressé, les soumissionnaires sont avertis et la procédure est à relancer.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L'ouverture des plis en séance — V69 · Le dépositaire génère lui-même la part de secours — V71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27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L’exclusion après dépôt écarte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5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L’intégrité de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a:t>
            </a:r>
            <a:endParaRPr lang="en-US" sz="2600" dirty="0"/>
          </a:p>
        </p:txBody>
      </p:sp>
      <p:graphicFrame>
        <p:nvGraphicFramePr>
          <p:cNvPr id="27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lecture informe, ne refuse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50" b="1" dirty="0">
                          <a:solidFill>
                            <a:srgbClr val="1B2A3A"/>
                          </a:solidFill>
                          <a:latin typeface="Segoe UI" pitchFamily="34" charset="0"/>
                          <a:ea typeface="Segoe UI" pitchFamily="34" charset="-122"/>
                          <a:cs typeface="Segoe UI" pitchFamily="34" charset="-120"/>
                        </a:rPr>
                        <a:t>jamais un refus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totaux recalculés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50" b="1" dirty="0">
                          <a:solidFill>
                            <a:srgbClr val="1B2A3A"/>
                          </a:solidFill>
                          <a:latin typeface="Segoe UI" pitchFamily="34" charset="0"/>
                          <a:ea typeface="Segoe UI" pitchFamily="34" charset="-122"/>
                          <a:cs typeface="Segoe UI" pitchFamily="34" charset="-120"/>
                        </a:rPr>
                        <a:t>recalcule les totaux</a:t>
                      </a:r>
                      <a:pPr indent="0" marL="0">
                        <a:buNone/>
                      </a:pPr>
                      <a:r>
                        <a:rPr lang="en-US" sz="115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Aux travaux, capacités et prix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lue en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50" b="1" dirty="0">
                          <a:solidFill>
                            <a:srgbClr val="1B2A3A"/>
                          </a:solidFill>
                          <a:latin typeface="Segoe UI" pitchFamily="34" charset="0"/>
                          <a:ea typeface="Segoe UI" pitchFamily="34" charset="-122"/>
                          <a:cs typeface="Segoe UI" pitchFamily="34" charset="-120"/>
                        </a:rPr>
                        <a:t>alerte</a:t>
                      </a:r>
                      <a:pPr indent="0" marL="0">
                        <a:buNone/>
                      </a:pPr>
                      <a:r>
                        <a:rPr lang="en-US" sz="1150" dirty="0">
                          <a:solidFill>
                            <a:srgbClr val="1B2A3A"/>
                          </a:solidFill>
                          <a:latin typeface="Segoe UI" pitchFamily="34" charset="0"/>
                          <a:ea typeface="Segoe UI" pitchFamily="34" charset="-122"/>
                          <a:cs typeface="Segoe UI" pitchFamily="34" charset="-120"/>
                        </a:rPr>
                        <a:t>, jamais un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frais de dossier lus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50" b="1" dirty="0">
                          <a:solidFill>
                            <a:srgbClr val="1B2A3A"/>
                          </a:solidFill>
                          <a:latin typeface="Segoe UI" pitchFamily="34" charset="0"/>
                          <a:ea typeface="Segoe UI" pitchFamily="34" charset="-122"/>
                          <a:cs typeface="Segoe UI" pitchFamily="34" charset="-120"/>
                        </a:rPr>
                        <a:t>signalée</a:t>
                      </a:r>
                      <a:pPr indent="0" marL="0">
                        <a:buNone/>
                      </a:pPr>
                      <a:r>
                        <a:rPr lang="en-US" sz="1150" dirty="0">
                          <a:solidFill>
                            <a:srgbClr val="1B2A3A"/>
                          </a:solidFill>
                          <a:latin typeface="Segoe UI" pitchFamily="34" charset="0"/>
                          <a:ea typeface="Segoe UI" pitchFamily="34" charset="-122"/>
                          <a:cs typeface="Segoe UI" pitchFamily="34" charset="-120"/>
                        </a:rPr>
                        <a:t> à la commission, jamais écartée.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lu chiffré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28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pour la commission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5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5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registre complet après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a:t>
            </a:r>
            <a:endParaRPr lang="en-US" sz="2600" dirty="0"/>
          </a:p>
        </p:txBody>
      </p:sp>
      <p:graphicFrame>
        <p:nvGraphicFramePr>
          <p:cNvPr id="2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PV produit par le responsable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par chaque membre présent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5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5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L’empêchement constaté avec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50" b="1" dirty="0">
                          <a:solidFill>
                            <a:srgbClr val="1B2A3A"/>
                          </a:solidFill>
                          <a:latin typeface="Segoe UI" pitchFamily="34" charset="0"/>
                          <a:ea typeface="Segoe UI" pitchFamily="34" charset="-122"/>
                          <a:cs typeface="Segoe UI" pitchFamily="34" charset="-120"/>
                        </a:rPr>
                        <a:t>empêchement</a:t>
                      </a:r>
                      <a:pPr indent="0" marL="0">
                        <a:buNone/>
                      </a:pPr>
                      <a:r>
                        <a:rPr lang="en-US" sz="1150" dirty="0">
                          <a:solidFill>
                            <a:srgbClr val="1B2A3A"/>
                          </a:solidFill>
                          <a:latin typeface="Segoe UI" pitchFamily="34" charset="0"/>
                          <a:ea typeface="Segoe UI" pitchFamily="34" charset="-122"/>
                          <a:cs typeface="Segoe UI" pitchFamily="34" charset="-120"/>
                        </a:rPr>
                        <a:t>, avec un motif porté au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Clôture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L’extrait public, sans les alertes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2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durée fixée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50" b="1" dirty="0">
                          <a:solidFill>
                            <a:srgbClr val="1B2A3A"/>
                          </a:solidFill>
                          <a:latin typeface="Segoe UI" pitchFamily="34" charset="0"/>
                          <a:ea typeface="Segoe UI" pitchFamily="34" charset="-122"/>
                          <a:cs typeface="Segoe UI" pitchFamily="34" charset="-120"/>
                        </a:rPr>
                        <a:t>rien n’est supprimé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purge manuelle et tracée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2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première séance n’ouvre que les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Seules les enveloppes techniques sont listées, leurs parts demandées et ouvertes ; les financières restent scellées. Un montant trouvé dans une technique n’est pas lu (alerte « Montant dans l’enveloppe technique ») ; une proposition sans financière est signalée. Le PV ne lit aucun montant.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seconde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s’ouvre quand l’évaluation technique est arrêtée sur chaque lot, avec les mêmes clés et le même quorum. Seules les financières des propositions qualifiées s’ouvrent (en qualité technique exclusivement ou qualification du consultant, la seule du premier rang) ; les autres ne s’ouvrent jamais, avec leur motif. Après l’échec d’une négociation, une séance complémentaire ouvre celle du suivant.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PI-b · Lot 3 PI : demande evaluation-pi du 07/10, tranches PI-a à PI-d2b (V84-V90), PI-d1 et PI-d2a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08</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Évaluer les offres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PV d’ouverture signé, la commission évalue en ligne, lot par lot, selon le guide d’évaluation : examen préliminaire, montant évalué et classement, offres anormales, post-qualification, puis le rapport.</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étapes 2 à 5 du guide, le rapport, puis le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Après la séance d’ouverture (étape 1 du guide), chaque offre traverse les étapes 2 à 5 ; elle peut être écartée, toujours avec un motif et la clause du DAO visée.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Examen préliminaire</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Recevabilité, conformité (art. 46)</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Montant évalué</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Corrections, rabais ; classement</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4</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Offres anormales</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Justification écrite (art. 48)</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5</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Post-qualification</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Capacités du premier classé</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RAPPORT</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Rapport signé</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Transmis à la PRMP</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MARCHÉ</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Dossier de marché</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Au contrôle de la Commission</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Chaque étape se conduit </a:t>
            </a:r>
            <a:pPr indent="0" marL="0">
              <a:buNone/>
            </a:pPr>
            <a:r>
              <a:rPr lang="en-US" sz="1400" b="1" dirty="0">
                <a:solidFill>
                  <a:srgbClr val="1B2A3A"/>
                </a:solidFill>
                <a:latin typeface="Segoe UI" pitchFamily="34" charset="0"/>
                <a:ea typeface="Segoe UI" pitchFamily="34" charset="-122"/>
                <a:cs typeface="Segoe UI" pitchFamily="34" charset="-120"/>
              </a:rPr>
              <a:t>lot par lot</a:t>
            </a:r>
            <a:pPr indent="0" marL="0">
              <a:buNone/>
            </a:pPr>
            <a:r>
              <a:rPr lang="en-US" sz="1400" dirty="0">
                <a:solidFill>
                  <a:srgbClr val="465568"/>
                </a:solidFill>
                <a:latin typeface="Segoe UI" pitchFamily="34" charset="0"/>
                <a:ea typeface="Segoe UI" pitchFamily="34" charset="-122"/>
                <a:cs typeface="Segoe UI" pitchFamily="34" charset="-120"/>
              </a:rPr>
              <a:t> ; le président de la commission l’</a:t>
            </a:r>
            <a:pPr indent="0" marL="0">
              <a:buNone/>
            </a:pPr>
            <a:r>
              <a:rPr lang="en-US" sz="1400" b="1" dirty="0">
                <a:solidFill>
                  <a:srgbClr val="1B2A3A"/>
                </a:solidFill>
                <a:latin typeface="Segoe UI" pitchFamily="34" charset="0"/>
                <a:ea typeface="Segoe UI" pitchFamily="34" charset="-122"/>
                <a:cs typeface="Segoe UI" pitchFamily="34" charset="-120"/>
              </a:rPr>
              <a:t>arrête</a:t>
            </a:r>
            <a:pPr indent="0" marL="0">
              <a:buNone/>
            </a:pPr>
            <a:r>
              <a:rPr lang="en-US" sz="1400" dirty="0">
                <a:solidFill>
                  <a:srgbClr val="465568"/>
                </a:solidFill>
                <a:latin typeface="Segoe UI" pitchFamily="34" charset="0"/>
                <a:ea typeface="Segoe UI" pitchFamily="34" charset="-122"/>
                <a:cs typeface="Segoe UI" pitchFamily="34" charset="-120"/>
              </a:rPr>
              <a:t>, ce qui fige ses décisions et ouvre la suivante.</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QUI FAIT QUOI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acteurs et leurs gestes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même écran, deux espaces : celui des membres de la commission, et la coquille interne de la PRMP, de l’UGPM et du responsable de la procédure.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 de la commission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Signe sa </a:t>
            </a:r>
            <a:pPr indent="0" marL="0">
              <a:buNone/>
            </a:pPr>
            <a:r>
              <a:rPr lang="en-US" sz="1200" b="1" dirty="0">
                <a:solidFill>
                  <a:srgbClr val="1B2A3A"/>
                </a:solidFill>
                <a:latin typeface="Segoe UI" pitchFamily="34" charset="0"/>
                <a:ea typeface="Segoe UI" pitchFamily="34" charset="-122"/>
                <a:cs typeface="Segoe UI" pitchFamily="34" charset="-120"/>
              </a:rPr>
              <a:t>déclaration</a:t>
            </a:r>
            <a:pPr indent="0" marL="0">
              <a:buNone/>
            </a:pPr>
            <a:r>
              <a:rPr lang="en-US" sz="1200" dirty="0">
                <a:solidFill>
                  <a:srgbClr val="465568"/>
                </a:solidFill>
                <a:latin typeface="Segoe UI" pitchFamily="34" charset="0"/>
                <a:ea typeface="Segoe UI" pitchFamily="34" charset="-122"/>
                <a:cs typeface="Segoe UI" pitchFamily="34" charset="-120"/>
              </a:rPr>
              <a:t> d’absence de conflit d’intérêts, puis décide, étape par étape ; signe le rapport, avec une observation s’il est en désaccord.</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de la commission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plus : </a:t>
            </a:r>
            <a:pPr indent="0" marL="0">
              <a:buNone/>
            </a:pPr>
            <a:r>
              <a:rPr lang="en-US" sz="1200" b="1" dirty="0">
                <a:solidFill>
                  <a:srgbClr val="1B2A3A"/>
                </a:solidFill>
                <a:latin typeface="Segoe UI" pitchFamily="34" charset="0"/>
                <a:ea typeface="Segoe UI" pitchFamily="34" charset="-122"/>
                <a:cs typeface="Segoe UI" pitchFamily="34" charset="-120"/>
              </a:rPr>
              <a:t>arrête</a:t>
            </a:r>
            <a:pPr indent="0" marL="0">
              <a:buNone/>
            </a:pPr>
            <a:r>
              <a:rPr lang="en-US" sz="1200" dirty="0">
                <a:solidFill>
                  <a:srgbClr val="465568"/>
                </a:solidFill>
                <a:latin typeface="Segoe UI" pitchFamily="34" charset="0"/>
                <a:ea typeface="Segoe UI" pitchFamily="34" charset="-122"/>
                <a:cs typeface="Segoe UI" pitchFamily="34" charset="-120"/>
              </a:rPr>
              <a:t> chaque étape, la rouvre avec un motif, constate l’empêchement d’un signataire.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Responsable de la procédure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Ouvre l’évaluation une fois le PV d’ouverture signé ; </a:t>
            </a:r>
            <a:pPr indent="0" marL="0">
              <a:buNone/>
            </a:pPr>
            <a:r>
              <a:rPr lang="en-US" sz="1200" b="1" dirty="0">
                <a:solidFill>
                  <a:srgbClr val="1B2A3A"/>
                </a:solidFill>
                <a:latin typeface="Segoe UI" pitchFamily="34" charset="0"/>
                <a:ea typeface="Segoe UI" pitchFamily="34" charset="-122"/>
                <a:cs typeface="Segoe UI" pitchFamily="34" charset="-120"/>
              </a:rPr>
              <a:t>produit le rapport</a:t>
            </a:r>
            <a:pPr indent="0" marL="0">
              <a:buNone/>
            </a:pPr>
            <a:r>
              <a:rPr lang="en-US" sz="1200" dirty="0">
                <a:solidFill>
                  <a:srgbClr val="465568"/>
                </a:solidFill>
                <a:latin typeface="Segoe UI" pitchFamily="34" charset="0"/>
                <a:ea typeface="Segoe UI" pitchFamily="34" charset="-122"/>
                <a:cs typeface="Segoe UI" pitchFamily="34" charset="-120"/>
              </a:rPr>
              <a:t> quand toutes les étapes sont arrêtées.</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Demande des </a:t>
            </a:r>
            <a:pPr indent="0" marL="0">
              <a:buNone/>
            </a:pPr>
            <a:r>
              <a:rPr lang="en-US" sz="1200" b="1" dirty="0">
                <a:solidFill>
                  <a:srgbClr val="1B2A3A"/>
                </a:solidFill>
                <a:latin typeface="Segoe UI" pitchFamily="34" charset="0"/>
                <a:ea typeface="Segoe UI" pitchFamily="34" charset="-122"/>
                <a:cs typeface="Segoe UI" pitchFamily="34" charset="-120"/>
              </a:rPr>
              <a:t>précisions</a:t>
            </a:r>
            <a:pPr indent="0" marL="0">
              <a:buNone/>
            </a:pPr>
            <a:r>
              <a:rPr lang="en-US" sz="1200" dirty="0">
                <a:solidFill>
                  <a:srgbClr val="465568"/>
                </a:solidFill>
                <a:latin typeface="Segoe UI" pitchFamily="34" charset="0"/>
                <a:ea typeface="Segoe UI" pitchFamily="34" charset="-122"/>
                <a:cs typeface="Segoe UI" pitchFamily="34" charset="-120"/>
              </a:rPr>
              <a:t> (art. 35-VI) et des </a:t>
            </a:r>
            <a:pPr indent="0" marL="0">
              <a:buNone/>
            </a:pPr>
            <a:r>
              <a:rPr lang="en-US" sz="1200" b="1" dirty="0">
                <a:solidFill>
                  <a:srgbClr val="1B2A3A"/>
                </a:solidFill>
                <a:latin typeface="Segoe UI" pitchFamily="34" charset="0"/>
                <a:ea typeface="Segoe UI" pitchFamily="34" charset="-122"/>
                <a:cs typeface="Segoe UI" pitchFamily="34" charset="-120"/>
              </a:rPr>
              <a:t>justifications de prix</a:t>
            </a:r>
            <a:pPr indent="0" marL="0">
              <a:buNone/>
            </a:pPr>
            <a:r>
              <a:rPr lang="en-US" sz="1200" dirty="0">
                <a:solidFill>
                  <a:srgbClr val="465568"/>
                </a:solidFill>
                <a:latin typeface="Segoe UI" pitchFamily="34" charset="0"/>
                <a:ea typeface="Segoe UI" pitchFamily="34" charset="-122"/>
                <a:cs typeface="Segoe UI" pitchFamily="34" charset="-120"/>
              </a:rPr>
              <a:t> (art. 48) ; crée le dossier de marché.</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UGPM</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Lit l’évaluation ; crée le dossier de marché avec la PRMP.</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demandes sur son offre et y répond en ligne, par un texte et une pièce.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PRINCIPES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règles du guide d’évaluation, appliquées par le serveur — l’écran les rappelle, il ne les invente pas.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règle d’or</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critère, aucune pièce, aucune pondération hors du DAO : les critères viennent de la fiche, il n’existe aucun moyen d’en ajouter.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1B6FA8"/>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constats, jamais des décisions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alertes de la séance pré-remplissent chaque étape ; c’est toujours la commission qui décide.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2E8B57"/>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est motivé et tracé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porte son auteur, sa date, son motif et la clause du DAO ; une décision corrigée reste au journal.</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serveur calcule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évalué (hors taxes), rang, offre dont c’est le tour, proposition d’attribution : l’écran affiche, il ne recalcule pas.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Confidentiel</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Rien n’est visible des candidats avant l’information officielle (art. 12-V, 35-V).</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rejet sans demande écrite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jugée anormale n’est rejetée qu’après une justification demandée, puis reçue ou son délai expiré.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le serveur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Accès : la fiche DAO, la séance d’ouverture close, ou la notification reçue.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 «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pour toutes.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6641469" cy="5105400"/>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6616070"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 acte d’engagement et prix, garantie, offre unique, exclusion, pouvoirs, pièces, conformité technique, intégrité, frais de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Chacune pré-remplie (« ce que la séance a établi »)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Écarter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(irrecevable, non conforme, inappropriée, inacceptable),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clause du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RG-EVA-08 · RG-EVA-09 · RG-EVA-10 · RG-EVA-11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arrêtée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tape arrê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étapes du lot, arrêtées ou en cours ; l’offre n° 2 écartée pour garantie insuffisante, avec son motif et sa clause.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Arrêter fige les décisions ; rouvrir exige un motif, porté au journal.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RG-EVA-04 · RG-EVA-05 · RG-EVA-06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demande par écrit ; le délai est celui de la fiche, ou 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 (guide, §2.4).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une fois, dans le délai, par un texte et une pièce (PDF, JPEG,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Corrections, rabais, préférence, critères</a:t>
            </a:r>
            <a:endParaRPr lang="en-US" sz="2600" dirty="0"/>
          </a:p>
        </p:txBody>
      </p:sp>
      <p:sp>
        <p:nvSpPr>
          <p:cNvPr id="4" name="Shape 2"/>
          <p:cNvSpPr/>
          <p:nvPr/>
        </p:nvSpPr>
        <p:spPr>
          <a:xfrm>
            <a:off x="800080" y="1193800"/>
            <a:ext cx="6883228" cy="4008677"/>
          </a:xfrm>
          <a:prstGeom prst="rect">
            <a:avLst/>
          </a:prstGeom>
          <a:solidFill>
            <a:srgbClr val="FCFCFA"/>
          </a:solidFill>
          <a:ln w="9525">
            <a:solidFill>
              <a:srgbClr val="D5DCE4"/>
            </a:solidFill>
            <a:prstDash val="solid"/>
          </a:ln>
        </p:spPr>
      </p:sp>
      <p:pic>
        <p:nvPicPr>
          <p:cNvPr id="5" name="Image 0" descr="Corrections, rabais, préférence, critères">    </p:cNvPr>
          <p:cNvPicPr>
            <a:picLocks noChangeAspect="1"/>
          </p:cNvPicPr>
          <p:nvPr/>
        </p:nvPicPr>
        <p:blipFill>
          <a:blip r:embed="rId1"/>
          <a:stretch>
            <a:fillRect/>
          </a:stretch>
        </p:blipFill>
        <p:spPr>
          <a:xfrm>
            <a:off x="812780" y="1206500"/>
            <a:ext cx="6857829" cy="3983277"/>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corrections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depuis le bordereau scellé (le prix unitaire prévaut, les lettres prévalent), et celles que la commission saisit.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rabais, la marge de préférence (si le DAO la prévoit), les critères additionnels du DAO — eux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RG-EVA-14 · RG-EVA-15 · RG-EVA-17 · RG-EVA-18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calculé par le serveur</a:t>
            </a:r>
            <a:endParaRPr lang="en-US" sz="2600" dirty="0"/>
          </a:p>
        </p:txBody>
      </p:sp>
      <p:sp>
        <p:nvSpPr>
          <p:cNvPr id="4" name="Shape 2"/>
          <p:cNvSpPr/>
          <p:nvPr/>
        </p:nvSpPr>
        <p:spPr>
          <a:xfrm>
            <a:off x="800080" y="1193800"/>
            <a:ext cx="10591535" cy="1422191"/>
          </a:xfrm>
          <a:prstGeom prst="rect">
            <a:avLst/>
          </a:prstGeom>
          <a:solidFill>
            <a:srgbClr val="FCFCFA"/>
          </a:solidFill>
          <a:ln w="9525">
            <a:solidFill>
              <a:srgbClr val="D5DCE4"/>
            </a:solidFill>
            <a:prstDash val="solid"/>
          </a:ln>
        </p:spPr>
      </p:sp>
      <p:pic>
        <p:nvPicPr>
          <p:cNvPr id="5" name="Image 0" descr="Le montant évalué, calculé par le serveur">    </p:cNvPr>
          <p:cNvPicPr>
            <a:picLocks noChangeAspect="1"/>
          </p:cNvPicPr>
          <p:nvPr/>
        </p:nvPicPr>
        <p:blipFill>
          <a:blip r:embed="rId1"/>
          <a:stretch>
            <a:fillRect/>
          </a:stretch>
        </p:blipFill>
        <p:spPr>
          <a:xfrm>
            <a:off x="812780" y="1206500"/>
            <a:ext cx="10566136" cy="1396791"/>
          </a:xfrm>
          <a:prstGeom prst="rect">
            <a:avLst/>
          </a:prstGeom>
        </p:spPr>
      </p:pic>
      <p:sp>
        <p:nvSpPr>
          <p:cNvPr id="6" name="Shape 3"/>
          <p:cNvSpPr/>
          <p:nvPr/>
        </p:nvSpPr>
        <p:spPr>
          <a:xfrm>
            <a:off x="812780" y="275569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5691"/>
            <a:ext cx="38099" cy="1993900"/>
          </a:xfrm>
          <a:prstGeom prst="rect">
            <a:avLst/>
          </a:prstGeom>
          <a:solidFill>
            <a:srgbClr val="1B6FA8"/>
          </a:solidFill>
          <a:ln/>
        </p:spPr>
      </p:sp>
      <p:sp>
        <p:nvSpPr>
          <p:cNvPr id="8" name="Text 5"/>
          <p:cNvSpPr/>
          <p:nvPr/>
        </p:nvSpPr>
        <p:spPr>
          <a:xfrm>
            <a:off x="977876" y="285729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évalué = prix lu ± corrections − rabais + ajustement de préférence + critères monétisés,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taxes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(arbitrage du 07/10).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d’évaluation du guide</a:t>
            </a:r>
            <a:endParaRPr lang="en-US" sz="2600" dirty="0"/>
          </a:p>
        </p:txBody>
      </p:sp>
      <p:sp>
        <p:nvSpPr>
          <p:cNvPr id="4" name="Shape 2"/>
          <p:cNvSpPr/>
          <p:nvPr/>
        </p:nvSpPr>
        <p:spPr>
          <a:xfrm>
            <a:off x="800080" y="1193800"/>
            <a:ext cx="10591535" cy="1588648"/>
          </a:xfrm>
          <a:prstGeom prst="rect">
            <a:avLst/>
          </a:prstGeom>
          <a:solidFill>
            <a:srgbClr val="FCFCFA"/>
          </a:solidFill>
          <a:ln w="9525">
            <a:solidFill>
              <a:srgbClr val="D5DCE4"/>
            </a:solidFill>
            <a:prstDash val="solid"/>
          </a:ln>
        </p:spPr>
      </p:sp>
      <p:pic>
        <p:nvPicPr>
          <p:cNvPr id="5" name="Image 0" descr="Le tableau d’évaluation du guide">    </p:cNvPr>
          <p:cNvPicPr>
            <a:picLocks noChangeAspect="1"/>
          </p:cNvPicPr>
          <p:nvPr/>
        </p:nvPicPr>
        <p:blipFill>
          <a:blip r:embed="rId1"/>
          <a:stretch>
            <a:fillRect/>
          </a:stretch>
        </p:blipFill>
        <p:spPr>
          <a:xfrm>
            <a:off x="812780" y="1206500"/>
            <a:ext cx="10566136" cy="1563248"/>
          </a:xfrm>
          <a:prstGeom prst="rect">
            <a:avLst/>
          </a:prstGeom>
        </p:spPr>
      </p:pic>
      <p:sp>
        <p:nvSpPr>
          <p:cNvPr id="6" name="Shape 3"/>
          <p:cNvSpPr/>
          <p:nvPr/>
        </p:nvSpPr>
        <p:spPr>
          <a:xfrm>
            <a:off x="812780" y="2922148"/>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22148"/>
            <a:ext cx="38099" cy="2197100"/>
          </a:xfrm>
          <a:prstGeom prst="rect">
            <a:avLst/>
          </a:prstGeom>
          <a:solidFill>
            <a:srgbClr val="1B6FA8"/>
          </a:solidFill>
          <a:ln/>
        </p:spPr>
      </p:sp>
      <p:sp>
        <p:nvSpPr>
          <p:cNvPr id="8" name="Text 5"/>
          <p:cNvSpPr/>
          <p:nvPr/>
        </p:nvSpPr>
        <p:spPr>
          <a:xfrm>
            <a:off x="977876" y="3023748"/>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offre : prix lu, garantie, conformité, motif de rejet, prix corrigé, rabais, ajustements, montant évalué, rang, qualification.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égalité en tête se départage par la commission,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RABAIS STRUCTURÉ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rabais, déclaré au dépôt et chiffré par le serveur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Arbitrage du 07/10 (Q4) : le rabais n’est plus un texte libre, mais une donnée de l’offre scellée.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 dépôt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rabais, un pourcentage ou un montant hors taxes ; sans condition, ou lié à l’attribution de plusieurs lots. Contrôlé avant le scellement.</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Lu chiffré : « 2 % du montant hors taxes, soit … Ariary », ou avec sa condition ; imprimé au PV.</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l’évaluation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Proposé sur le prix corrigé ; le corriger demande un motif. Lié à plusieurs lots : non appliqué lot par lot, repris au rapport.</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10591535" cy="1429428"/>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10566136" cy="1404028"/>
          </a:xfrm>
          <a:prstGeom prst="rect">
            <a:avLst/>
          </a:prstGeom>
        </p:spPr>
      </p:pic>
      <p:sp>
        <p:nvSpPr>
          <p:cNvPr id="6" name="Shape 3"/>
          <p:cNvSpPr/>
          <p:nvPr/>
        </p:nvSpPr>
        <p:spPr>
          <a:xfrm>
            <a:off x="812780" y="27629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62928"/>
            <a:ext cx="38099" cy="1993900"/>
          </a:xfrm>
          <a:prstGeom prst="rect">
            <a:avLst/>
          </a:prstGeom>
          <a:solidFill>
            <a:srgbClr val="1B6FA8"/>
          </a:solidFill>
          <a:ln/>
        </p:spPr>
      </p:sp>
      <p:sp>
        <p:nvSpPr>
          <p:cNvPr id="8" name="Text 5"/>
          <p:cNvSpPr/>
          <p:nvPr/>
        </p:nvSpPr>
        <p:spPr>
          <a:xfrm>
            <a:off x="977876" y="28645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L’écart à l’estimation du plan et à la moyenne des offres, la méthode du DAO s’il en fixe une :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décision sur un prix</a:t>
            </a:r>
            <a:endParaRPr lang="en-US" sz="2600" dirty="0"/>
          </a:p>
        </p:txBody>
      </p:sp>
      <p:sp>
        <p:nvSpPr>
          <p:cNvPr id="4" name="Shape 2"/>
          <p:cNvSpPr/>
          <p:nvPr/>
        </p:nvSpPr>
        <p:spPr>
          <a:xfrm>
            <a:off x="800080" y="1193800"/>
            <a:ext cx="10591535" cy="1386005"/>
          </a:xfrm>
          <a:prstGeom prst="rect">
            <a:avLst/>
          </a:prstGeom>
          <a:solidFill>
            <a:srgbClr val="FCFCFA"/>
          </a:solidFill>
          <a:ln w="9525">
            <a:solidFill>
              <a:srgbClr val="D5DCE4"/>
            </a:solidFill>
            <a:prstDash val="solid"/>
          </a:ln>
        </p:spPr>
      </p:sp>
      <p:pic>
        <p:nvPicPr>
          <p:cNvPr id="5" name="Image 0" descr="La décision sur un prix">    </p:cNvPr>
          <p:cNvPicPr>
            <a:picLocks noChangeAspect="1"/>
          </p:cNvPicPr>
          <p:nvPr/>
        </p:nvPicPr>
        <p:blipFill>
          <a:blip r:embed="rId1"/>
          <a:stretch>
            <a:fillRect/>
          </a:stretch>
        </p:blipFill>
        <p:spPr>
          <a:xfrm>
            <a:off x="812780" y="1206500"/>
            <a:ext cx="10566136" cy="1360605"/>
          </a:xfrm>
          <a:prstGeom prst="rect">
            <a:avLst/>
          </a:prstGeom>
        </p:spPr>
      </p:pic>
      <p:sp>
        <p:nvSpPr>
          <p:cNvPr id="6" name="Shape 3"/>
          <p:cNvSpPr/>
          <p:nvPr/>
        </p:nvSpPr>
        <p:spPr>
          <a:xfrm>
            <a:off x="812780" y="2719505"/>
            <a:ext cx="10566136" cy="2197100"/>
          </a:xfrm>
          <a:prstGeom prst="rect">
            <a:avLst/>
          </a:prstGeom>
          <a:solidFill>
            <a:srgbClr val="FCFCFA"/>
          </a:solidFill>
          <a:ln w="9525">
            <a:solidFill>
              <a:srgbClr val="D5DCE4"/>
            </a:solidFill>
            <a:prstDash val="solid"/>
          </a:ln>
        </p:spPr>
      </p:sp>
      <p:sp>
        <p:nvSpPr>
          <p:cNvPr id="7" name="Shape 4"/>
          <p:cNvSpPr/>
          <p:nvPr/>
        </p:nvSpPr>
        <p:spPr>
          <a:xfrm>
            <a:off x="812780" y="2719505"/>
            <a:ext cx="38099" cy="2197100"/>
          </a:xfrm>
          <a:prstGeom prst="rect">
            <a:avLst/>
          </a:prstGeom>
          <a:solidFill>
            <a:srgbClr val="1B6FA8"/>
          </a:solidFill>
          <a:ln/>
        </p:spPr>
      </p:sp>
      <p:sp>
        <p:nvSpPr>
          <p:cNvPr id="8" name="Text 5"/>
          <p:cNvSpPr/>
          <p:nvPr/>
        </p:nvSpPr>
        <p:spPr>
          <a:xfrm>
            <a:off x="977876" y="2821105"/>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suspectée, suspectée, maintenue, rejetée.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Aucun rejet sans demande écrite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demande la justification, le candidat répond (ou le délai expire), puis la commission décide — le serveur refuse tout raccourci.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RG-EVA-21 · RG-EVA-22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critère par critère</a:t>
            </a:r>
            <a:endParaRPr lang="en-US" sz="2600" dirty="0"/>
          </a:p>
        </p:txBody>
      </p:sp>
      <p:sp>
        <p:nvSpPr>
          <p:cNvPr id="4" name="Shape 2"/>
          <p:cNvSpPr/>
          <p:nvPr/>
        </p:nvSpPr>
        <p:spPr>
          <a:xfrm>
            <a:off x="800080" y="1193800"/>
            <a:ext cx="6749438" cy="5105400"/>
          </a:xfrm>
          <a:prstGeom prst="rect">
            <a:avLst/>
          </a:prstGeom>
          <a:solidFill>
            <a:srgbClr val="FCFCFA"/>
          </a:solidFill>
          <a:ln w="9525">
            <a:solidFill>
              <a:srgbClr val="D5DCE4"/>
            </a:solidFill>
            <a:prstDash val="solid"/>
          </a:ln>
        </p:spPr>
      </p:sp>
      <p:pic>
        <p:nvPicPr>
          <p:cNvPr id="5" name="Image 0" descr="La post-qualification, critère par critère">    </p:cNvPr>
          <p:cNvPicPr>
            <a:picLocks noChangeAspect="1"/>
          </p:cNvPicPr>
          <p:nvPr/>
        </p:nvPicPr>
        <p:blipFill>
          <a:blip r:embed="rId1"/>
          <a:stretch>
            <a:fillRect/>
          </a:stretch>
        </p:blipFill>
        <p:spPr>
          <a:xfrm>
            <a:off x="812780" y="1206500"/>
            <a:ext cx="67240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dont c’est le tour (la mieux classée qui n’a pas échoué), et les critères de la fiche : juridiques, financiers, techniques, matériel, personnel.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qualifiée : motif et clause ; le tour passe à l’offre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RG-EVA-23 · RG-EVA-24 · RG-EVA-25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d’attribution</a:t>
            </a:r>
            <a:endParaRPr lang="en-US" sz="2600" dirty="0"/>
          </a:p>
        </p:txBody>
      </p:sp>
      <p:sp>
        <p:nvSpPr>
          <p:cNvPr id="4" name="Shape 2"/>
          <p:cNvSpPr/>
          <p:nvPr/>
        </p:nvSpPr>
        <p:spPr>
          <a:xfrm>
            <a:off x="800080" y="1193800"/>
            <a:ext cx="10591535" cy="611618"/>
          </a:xfrm>
          <a:prstGeom prst="rect">
            <a:avLst/>
          </a:prstGeom>
          <a:solidFill>
            <a:srgbClr val="FCFCFA"/>
          </a:solidFill>
          <a:ln w="9525">
            <a:solidFill>
              <a:srgbClr val="D5DCE4"/>
            </a:solidFill>
            <a:prstDash val="solid"/>
          </a:ln>
        </p:spPr>
      </p:sp>
      <p:pic>
        <p:nvPicPr>
          <p:cNvPr id="5" name="Image 0" descr="La proposition d’attribution">    </p:cNvPr>
          <p:cNvPicPr>
            <a:picLocks noChangeAspect="1"/>
          </p:cNvPicPr>
          <p:nvPr/>
        </p:nvPicPr>
        <p:blipFill>
          <a:blip r:embed="rId1"/>
          <a:stretch>
            <a:fillRect/>
          </a:stretch>
        </p:blipFill>
        <p:spPr>
          <a:xfrm>
            <a:off x="812780" y="1206500"/>
            <a:ext cx="10566136" cy="586218"/>
          </a:xfrm>
          <a:prstGeom prst="rect">
            <a:avLst/>
          </a:prstGeom>
        </p:spPr>
      </p:pic>
      <p:sp>
        <p:nvSpPr>
          <p:cNvPr id="6" name="Shape 3"/>
          <p:cNvSpPr/>
          <p:nvPr/>
        </p:nvSpPr>
        <p:spPr>
          <a:xfrm>
            <a:off x="812780" y="1945118"/>
            <a:ext cx="10566136" cy="1993900"/>
          </a:xfrm>
          <a:prstGeom prst="rect">
            <a:avLst/>
          </a:prstGeom>
          <a:solidFill>
            <a:srgbClr val="FCFCFA"/>
          </a:solidFill>
          <a:ln w="9525">
            <a:solidFill>
              <a:srgbClr val="D5DCE4"/>
            </a:solidFill>
            <a:prstDash val="solid"/>
          </a:ln>
        </p:spPr>
      </p:sp>
      <p:sp>
        <p:nvSpPr>
          <p:cNvPr id="7" name="Shape 4"/>
          <p:cNvSpPr/>
          <p:nvPr/>
        </p:nvSpPr>
        <p:spPr>
          <a:xfrm>
            <a:off x="812780" y="1945118"/>
            <a:ext cx="38099" cy="1993900"/>
          </a:xfrm>
          <a:prstGeom prst="rect">
            <a:avLst/>
          </a:prstGeom>
          <a:solidFill>
            <a:srgbClr val="1B6FA8"/>
          </a:solidFill>
          <a:ln/>
        </p:spPr>
      </p:sp>
      <p:sp>
        <p:nvSpPr>
          <p:cNvPr id="8" name="Text 5"/>
          <p:cNvSpPr/>
          <p:nvPr/>
        </p:nvSpPr>
        <p:spPr>
          <a:xfrm>
            <a:off x="977876" y="204671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arrêtée, le lot porte sa proposition : l’offre, le candidat, le montant hors taxes et le délai — ou l’infructuosité proposée si aucune offre n’est qualifiée.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Produire le rapport</a:t>
            </a:r>
            <a:endParaRPr lang="en-US" sz="2600" dirty="0"/>
          </a:p>
        </p:txBody>
      </p:sp>
      <p:sp>
        <p:nvSpPr>
          <p:cNvPr id="4" name="Shape 2"/>
          <p:cNvSpPr/>
          <p:nvPr/>
        </p:nvSpPr>
        <p:spPr>
          <a:xfrm>
            <a:off x="800080" y="1193800"/>
            <a:ext cx="10591535" cy="2217327"/>
          </a:xfrm>
          <a:prstGeom prst="rect">
            <a:avLst/>
          </a:prstGeom>
          <a:solidFill>
            <a:srgbClr val="FCFCFA"/>
          </a:solidFill>
          <a:ln w="9525">
            <a:solidFill>
              <a:srgbClr val="D5DCE4"/>
            </a:solidFill>
            <a:prstDash val="solid"/>
          </a:ln>
        </p:spPr>
      </p:sp>
      <p:pic>
        <p:nvPicPr>
          <p:cNvPr id="5" name="Image 0" descr="Produire le rapport">    </p:cNvPr>
          <p:cNvPicPr>
            <a:picLocks noChangeAspect="1"/>
          </p:cNvPicPr>
          <p:nvPr/>
        </p:nvPicPr>
        <p:blipFill>
          <a:blip r:embed="rId1"/>
          <a:stretch>
            <a:fillRect/>
          </a:stretch>
        </p:blipFill>
        <p:spPr>
          <a:xfrm>
            <a:off x="812780" y="1206500"/>
            <a:ext cx="10566136" cy="2191927"/>
          </a:xfrm>
          <a:prstGeom prst="rect">
            <a:avLst/>
          </a:prstGeom>
        </p:spPr>
      </p:pic>
      <p:sp>
        <p:nvSpPr>
          <p:cNvPr id="6" name="Shape 3"/>
          <p:cNvSpPr/>
          <p:nvPr/>
        </p:nvSpPr>
        <p:spPr>
          <a:xfrm>
            <a:off x="812780" y="3550827"/>
            <a:ext cx="10566136" cy="1790700"/>
          </a:xfrm>
          <a:prstGeom prst="rect">
            <a:avLst/>
          </a:prstGeom>
          <a:solidFill>
            <a:srgbClr val="FCFCFA"/>
          </a:solidFill>
          <a:ln w="9525">
            <a:solidFill>
              <a:srgbClr val="D5DCE4"/>
            </a:solidFill>
            <a:prstDash val="solid"/>
          </a:ln>
        </p:spPr>
      </p:sp>
      <p:sp>
        <p:nvSpPr>
          <p:cNvPr id="7" name="Shape 4"/>
          <p:cNvSpPr/>
          <p:nvPr/>
        </p:nvSpPr>
        <p:spPr>
          <a:xfrm>
            <a:off x="812780" y="3550827"/>
            <a:ext cx="38099" cy="1790700"/>
          </a:xfrm>
          <a:prstGeom prst="rect">
            <a:avLst/>
          </a:prstGeom>
          <a:solidFill>
            <a:srgbClr val="1B6FA8"/>
          </a:solidFill>
          <a:ln/>
        </p:spPr>
      </p:sp>
      <p:sp>
        <p:nvSpPr>
          <p:cNvPr id="8" name="Text 5"/>
          <p:cNvSpPr/>
          <p:nvPr/>
        </p:nvSpPr>
        <p:spPr>
          <a:xfrm>
            <a:off x="977876" y="3652427"/>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étapes de tous les lots sont arrêtées ; ses observations y sont portées.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Signature électronique simple, horodatée ; un membre en désaccord porte son observation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de tous</a:t>
            </a:r>
            <a:endParaRPr lang="en-US" sz="2600" dirty="0"/>
          </a:p>
        </p:txBody>
      </p:sp>
      <p:sp>
        <p:nvSpPr>
          <p:cNvPr id="4" name="Shape 2"/>
          <p:cNvSpPr/>
          <p:nvPr/>
        </p:nvSpPr>
        <p:spPr>
          <a:xfrm>
            <a:off x="800080" y="1193800"/>
            <a:ext cx="10591535" cy="1552462"/>
          </a:xfrm>
          <a:prstGeom prst="rect">
            <a:avLst/>
          </a:prstGeom>
          <a:solidFill>
            <a:srgbClr val="FCFCFA"/>
          </a:solidFill>
          <a:ln w="9525">
            <a:solidFill>
              <a:srgbClr val="D5DCE4"/>
            </a:solidFill>
            <a:prstDash val="solid"/>
          </a:ln>
        </p:spPr>
      </p:sp>
      <p:pic>
        <p:nvPicPr>
          <p:cNvPr id="5" name="Image 0" descr="Le rapport signé de tous">    </p:cNvPr>
          <p:cNvPicPr>
            <a:picLocks noChangeAspect="1"/>
          </p:cNvPicPr>
          <p:nvPr/>
        </p:nvPicPr>
        <p:blipFill>
          <a:blip r:embed="rId1"/>
          <a:stretch>
            <a:fillRect/>
          </a:stretch>
        </p:blipFill>
        <p:spPr>
          <a:xfrm>
            <a:off x="812780" y="1206500"/>
            <a:ext cx="10566136" cy="1527062"/>
          </a:xfrm>
          <a:prstGeom prst="rect">
            <a:avLst/>
          </a:prstGeom>
        </p:spPr>
      </p:pic>
      <p:sp>
        <p:nvSpPr>
          <p:cNvPr id="6" name="Shape 3"/>
          <p:cNvSpPr/>
          <p:nvPr/>
        </p:nvSpPr>
        <p:spPr>
          <a:xfrm>
            <a:off x="812780" y="2885962"/>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85962"/>
            <a:ext cx="38099" cy="1790700"/>
          </a:xfrm>
          <a:prstGeom prst="rect">
            <a:avLst/>
          </a:prstGeom>
          <a:solidFill>
            <a:srgbClr val="1B6FA8"/>
          </a:solidFill>
          <a:ln/>
        </p:spPr>
      </p:sp>
      <p:sp>
        <p:nvSpPr>
          <p:cNvPr id="8" name="Text 5"/>
          <p:cNvSpPr/>
          <p:nvPr/>
        </p:nvSpPr>
        <p:spPr>
          <a:xfrm>
            <a:off x="977876" y="298756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l’évaluation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et les membres sont notifiés. Le rapport n’est pas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deux annexes : les déclarations, les demandes aux candidats et leurs réponses.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technique : la grille d’un membre</a:t>
            </a:r>
            <a:endParaRPr lang="en-US" sz="2600" dirty="0"/>
          </a:p>
        </p:txBody>
      </p:sp>
      <p:sp>
        <p:nvSpPr>
          <p:cNvPr id="4" name="Shape 2"/>
          <p:cNvSpPr/>
          <p:nvPr/>
        </p:nvSpPr>
        <p:spPr>
          <a:xfrm>
            <a:off x="2275249" y="1193800"/>
            <a:ext cx="7641196" cy="3327400"/>
          </a:xfrm>
          <a:prstGeom prst="rect">
            <a:avLst/>
          </a:prstGeom>
          <a:solidFill>
            <a:srgbClr val="FCFCFA"/>
          </a:solidFill>
          <a:ln w="9525">
            <a:solidFill>
              <a:srgbClr val="D5DCE4"/>
            </a:solidFill>
            <a:prstDash val="solid"/>
          </a:ln>
        </p:spPr>
      </p:sp>
      <p:pic>
        <p:nvPicPr>
          <p:cNvPr id="5" name="Image 0" descr="L’évaluation technique : la grille d’un membre">    </p:cNvPr>
          <p:cNvPicPr>
            <a:picLocks noChangeAspect="1"/>
          </p:cNvPicPr>
          <p:nvPr/>
        </p:nvPicPr>
        <p:blipFill>
          <a:blip r:embed="rId1"/>
          <a:stretch>
            <a:fillRect/>
          </a:stretch>
        </p:blipFill>
        <p:spPr>
          <a:xfrm>
            <a:off x="2287949" y="1206500"/>
            <a:ext cx="76157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note chaque élément de la grille (sous-critères de la fiche) et motive ; la moyenne, le minimum et le maximum s’affichent.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surlignée : la note la plus haute et la plus basse s’écartent de plus de 20 % du maximum.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technique</a:t>
            </a:r>
            <a:endParaRPr lang="en-US" sz="2600" dirty="0"/>
          </a:p>
        </p:txBody>
      </p:sp>
      <p:sp>
        <p:nvSpPr>
          <p:cNvPr id="4" name="Shape 2"/>
          <p:cNvSpPr/>
          <p:nvPr/>
        </p:nvSpPr>
        <p:spPr>
          <a:xfrm>
            <a:off x="800080" y="1193800"/>
            <a:ext cx="10591535" cy="2855169"/>
          </a:xfrm>
          <a:prstGeom prst="rect">
            <a:avLst/>
          </a:prstGeom>
          <a:solidFill>
            <a:srgbClr val="FCFCFA"/>
          </a:solidFill>
          <a:ln w="9525">
            <a:solidFill>
              <a:srgbClr val="D5DCE4"/>
            </a:solidFill>
            <a:prstDash val="solid"/>
          </a:ln>
        </p:spPr>
      </p:sp>
      <p:pic>
        <p:nvPicPr>
          <p:cNvPr id="5" name="Image 0" descr="Le classement technique">    </p:cNvPr>
          <p:cNvPicPr>
            <a:picLocks noChangeAspect="1"/>
          </p:cNvPicPr>
          <p:nvPr/>
        </p:nvPicPr>
        <p:blipFill>
          <a:blip r:embed="rId1"/>
          <a:stretch>
            <a:fillRect/>
          </a:stretch>
        </p:blipFill>
        <p:spPr>
          <a:xfrm>
            <a:off x="812780" y="1206500"/>
            <a:ext cx="10566136" cy="2829769"/>
          </a:xfrm>
          <a:prstGeom prst="rect">
            <a:avLst/>
          </a:prstGeom>
        </p:spPr>
      </p:pic>
      <p:sp>
        <p:nvSpPr>
          <p:cNvPr id="6" name="Shape 3"/>
          <p:cNvSpPr/>
          <p:nvPr/>
        </p:nvSpPr>
        <p:spPr>
          <a:xfrm>
            <a:off x="812780" y="4188669"/>
            <a:ext cx="10566136" cy="1993900"/>
          </a:xfrm>
          <a:prstGeom prst="rect">
            <a:avLst/>
          </a:prstGeom>
          <a:solidFill>
            <a:srgbClr val="FCFCFA"/>
          </a:solidFill>
          <a:ln w="9525">
            <a:solidFill>
              <a:srgbClr val="D5DCE4"/>
            </a:solidFill>
            <a:prstDash val="solid"/>
          </a:ln>
        </p:spPr>
      </p:sp>
      <p:sp>
        <p:nvSpPr>
          <p:cNvPr id="7" name="Shape 4"/>
          <p:cNvSpPr/>
          <p:nvPr/>
        </p:nvSpPr>
        <p:spPr>
          <a:xfrm>
            <a:off x="812780" y="4188669"/>
            <a:ext cx="38099" cy="1993900"/>
          </a:xfrm>
          <a:prstGeom prst="rect">
            <a:avLst/>
          </a:prstGeom>
          <a:solidFill>
            <a:srgbClr val="1B6FA8"/>
          </a:solidFill>
          <a:ln/>
        </p:spPr>
      </p:sp>
      <p:sp>
        <p:nvSpPr>
          <p:cNvPr id="8" name="Text 5"/>
          <p:cNvSpPr/>
          <p:nvPr/>
        </p:nvSpPr>
        <p:spPr>
          <a:xfrm>
            <a:off x="977876" y="429026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note technique, somme des moyennes ; les grilles reçues ou complètes ; le rang. Le président arrête : sous le score minimum, la proposition est éliminée.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saisie d’une enveloppe financière</a:t>
            </a:r>
            <a:endParaRPr lang="en-US" sz="2600" dirty="0"/>
          </a:p>
        </p:txBody>
      </p:sp>
      <p:sp>
        <p:nvSpPr>
          <p:cNvPr id="4" name="Shape 2"/>
          <p:cNvSpPr/>
          <p:nvPr/>
        </p:nvSpPr>
        <p:spPr>
          <a:xfrm>
            <a:off x="1616405" y="1193800"/>
            <a:ext cx="8958885" cy="3327400"/>
          </a:xfrm>
          <a:prstGeom prst="rect">
            <a:avLst/>
          </a:prstGeom>
          <a:solidFill>
            <a:srgbClr val="FCFCFA"/>
          </a:solidFill>
          <a:ln w="9525">
            <a:solidFill>
              <a:srgbClr val="D5DCE4"/>
            </a:solidFill>
            <a:prstDash val="solid"/>
          </a:ln>
        </p:spPr>
      </p:sp>
      <p:pic>
        <p:nvPicPr>
          <p:cNvPr id="5" name="Image 0" descr="La saisie d’une enveloppe financière">    </p:cNvPr>
          <p:cNvPicPr>
            <a:picLocks noChangeAspect="1"/>
          </p:cNvPicPr>
          <p:nvPr/>
        </p:nvPicPr>
        <p:blipFill>
          <a:blip r:embed="rId1"/>
          <a:stretch>
            <a:fillRect/>
          </a:stretch>
        </p:blipFill>
        <p:spPr>
          <a:xfrm>
            <a:off x="1629105" y="1206500"/>
            <a:ext cx="893348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Corrections arithmétiques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dépenses remboursables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(saisies par la commission) : le montant comparé en découle.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financier</a:t>
            </a:r>
            <a:endParaRPr lang="en-US" sz="2600" dirty="0"/>
          </a:p>
        </p:txBody>
      </p:sp>
      <p:sp>
        <p:nvSpPr>
          <p:cNvPr id="4" name="Shape 2"/>
          <p:cNvSpPr/>
          <p:nvPr/>
        </p:nvSpPr>
        <p:spPr>
          <a:xfrm>
            <a:off x="1740085" y="1193800"/>
            <a:ext cx="8711525" cy="3327400"/>
          </a:xfrm>
          <a:prstGeom prst="rect">
            <a:avLst/>
          </a:prstGeom>
          <a:solidFill>
            <a:srgbClr val="FCFCFA"/>
          </a:solidFill>
          <a:ln w="9525">
            <a:solidFill>
              <a:srgbClr val="D5DCE4"/>
            </a:solidFill>
            <a:prstDash val="solid"/>
          </a:ln>
        </p:spPr>
      </p:sp>
      <p:pic>
        <p:nvPicPr>
          <p:cNvPr id="5" name="Image 0" descr="Le classement financier">    </p:cNvPr>
          <p:cNvPicPr>
            <a:picLocks noChangeAspect="1"/>
          </p:cNvPicPr>
          <p:nvPr/>
        </p:nvPicPr>
        <p:blipFill>
          <a:blip r:embed="rId1"/>
          <a:stretch>
            <a:fillRect/>
          </a:stretch>
        </p:blipFill>
        <p:spPr>
          <a:xfrm>
            <a:off x="1752785" y="1206500"/>
            <a:ext cx="868612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Selon la méthode : en qualité-coût, score financier et score combiné ; une égalité se départage, motivée ; le président arrête le classement.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à conclure</a:t>
            </a:r>
            <a:endParaRPr lang="en-US" sz="2600" dirty="0"/>
          </a:p>
        </p:txBody>
      </p:sp>
      <p:sp>
        <p:nvSpPr>
          <p:cNvPr id="4" name="Shape 2"/>
          <p:cNvSpPr/>
          <p:nvPr/>
        </p:nvSpPr>
        <p:spPr>
          <a:xfrm>
            <a:off x="2841550" y="1193800"/>
            <a:ext cx="6508596" cy="3327400"/>
          </a:xfrm>
          <a:prstGeom prst="rect">
            <a:avLst/>
          </a:prstGeom>
          <a:solidFill>
            <a:srgbClr val="FCFCFA"/>
          </a:solidFill>
          <a:ln w="9525">
            <a:solidFill>
              <a:srgbClr val="D5DCE4"/>
            </a:solidFill>
            <a:prstDash val="solid"/>
          </a:ln>
        </p:spPr>
      </p:sp>
      <p:pic>
        <p:nvPicPr>
          <p:cNvPr id="5" name="Image 0" descr="La négociation à conclure">    </p:cNvPr>
          <p:cNvPicPr>
            <a:picLocks noChangeAspect="1"/>
          </p:cNvPicPr>
          <p:nvPr/>
        </p:nvPicPr>
        <p:blipFill>
          <a:blip r:embed="rId1"/>
          <a:stretch>
            <a:fillRect/>
          </a:stretch>
        </p:blipFill>
        <p:spPr>
          <a:xfrm>
            <a:off x="2854249" y="1206500"/>
            <a:ext cx="64831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négocie avec le premier classé, sur des points non substantiels ; elle conclut : réussie, ou échouée et motivée (le suivant vient alors).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réussie</a:t>
            </a:r>
            <a:endParaRPr lang="en-US" sz="2600" dirty="0"/>
          </a:p>
        </p:txBody>
      </p:sp>
      <p:sp>
        <p:nvSpPr>
          <p:cNvPr id="4" name="Shape 2"/>
          <p:cNvSpPr/>
          <p:nvPr/>
        </p:nvSpPr>
        <p:spPr>
          <a:xfrm>
            <a:off x="800080" y="1193800"/>
            <a:ext cx="10591535" cy="2071684"/>
          </a:xfrm>
          <a:prstGeom prst="rect">
            <a:avLst/>
          </a:prstGeom>
          <a:solidFill>
            <a:srgbClr val="FCFCFA"/>
          </a:solidFill>
          <a:ln w="9525">
            <a:solidFill>
              <a:srgbClr val="D5DCE4"/>
            </a:solidFill>
            <a:prstDash val="solid"/>
          </a:ln>
        </p:spPr>
      </p:sp>
      <p:pic>
        <p:nvPicPr>
          <p:cNvPr id="5" name="Image 0" descr="La négociation réussie">    </p:cNvPr>
          <p:cNvPicPr>
            <a:picLocks noChangeAspect="1"/>
          </p:cNvPicPr>
          <p:nvPr/>
        </p:nvPicPr>
        <p:blipFill>
          <a:blip r:embed="rId1"/>
          <a:stretch>
            <a:fillRect/>
          </a:stretch>
        </p:blipFill>
        <p:spPr>
          <a:xfrm>
            <a:off x="812780" y="1206500"/>
            <a:ext cx="10566136" cy="2046284"/>
          </a:xfrm>
          <a:prstGeom prst="rect">
            <a:avLst/>
          </a:prstGeom>
        </p:spPr>
      </p:pic>
      <p:sp>
        <p:nvSpPr>
          <p:cNvPr id="6" name="Shape 3"/>
          <p:cNvSpPr/>
          <p:nvPr/>
        </p:nvSpPr>
        <p:spPr>
          <a:xfrm>
            <a:off x="812780" y="340518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405184"/>
            <a:ext cx="38099" cy="1790700"/>
          </a:xfrm>
          <a:prstGeom prst="rect">
            <a:avLst/>
          </a:prstGeom>
          <a:solidFill>
            <a:srgbClr val="1B6FA8"/>
          </a:solidFill>
          <a:ln/>
        </p:spPr>
      </p:sp>
      <p:sp>
        <p:nvSpPr>
          <p:cNvPr id="8" name="Text 5"/>
          <p:cNvSpPr/>
          <p:nvPr/>
        </p:nvSpPr>
        <p:spPr>
          <a:xfrm>
            <a:off x="977876" y="350678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négociation réussie porte la proposition d’attribution ; son PV se produit en PDF et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du lot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position du lo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est prêt : la proposition (après négociation réussie) ou l’infructuosité et son motif ; le rapport se produit alors.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1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1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3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3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3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3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3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proposition (son enveloppe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3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2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offres en ligne, lot par lot · Ouverte après le PV signé · La déclaration préalable de chaque membre · Les membres décident, le président arrête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Arrêter et tracer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RG-EVA-05 → 07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décision pour chaque offre · Rouvrir une étape, avec un motif · Rien ne s’efface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2 : l’examen préliminaire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RG-EVA-08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grille de neuf vérifications · Les alertes sont des constats · Aucune offre écartée d’office · Écarter : motif, clause, qualification · Demander une précision au candidat · Une précision ne change pas l’offre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3 : montant évalué et classement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RG-EVA-14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corrections proposées, retenues ou non · Le refus d’une correction constaté · Un montant évalué hors taxes · La préférence, si le DAO la prévoit · Le rabais proposé sur le prix corrigé · Le classement, et l’égalité départagée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4 : les offres anormales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RG-EVA-20 → 22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indicateurs, pas une décision · Chaque offre classée examinée · Pas de rejet sans justification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5 : la post-qualification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RG-EVA-23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premier classé, puis le suivant · Les critères du DAO, et eux seuls · Une offre non qualifiée est écartée · La proposition d’attribution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rapport d’évaluation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RG-EVA-27 → 30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Produit quand tout est arrêté · Le plan du guide · Signé, avec une observation possible · Clos à la dernière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RG-EVA-31 → 34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notation technique · L’évaluation financière et le classement · La négociation · La proposition et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3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offres en ligne, lot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Ouverte après le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50" b="1" dirty="0">
                          <a:solidFill>
                            <a:srgbClr val="1B2A3A"/>
                          </a:solidFill>
                          <a:latin typeface="Segoe UI" pitchFamily="34" charset="0"/>
                          <a:ea typeface="Segoe UI" pitchFamily="34" charset="-122"/>
                          <a:cs typeface="Segoe UI" pitchFamily="34" charset="-120"/>
                        </a:rPr>
                        <a:t>PV d’ouverture signé</a:t>
                      </a:r>
                      <a:pPr indent="0" marL="0">
                        <a:buNone/>
                      </a:pPr>
                      <a:r>
                        <a:rPr lang="en-US" sz="115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préalable de chaque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et de confidentialité, qui ne se reprend pas. Un membre qui déclare un conflit lit tout mais ne décide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membres décident, le président arrête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 la PRMP et l’UGPM lisent.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3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décision pour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Rouvrir une étape,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a:t>
                      </a:r>
                      <a:pPr indent="0" marL="0">
                        <a:buNone/>
                      </a:pPr>
                      <a:r>
                        <a:rPr lang="en-US" sz="1150" b="1" dirty="0">
                          <a:solidFill>
                            <a:srgbClr val="1B2A3A"/>
                          </a:solidFill>
                          <a:latin typeface="Segoe UI" pitchFamily="34" charset="0"/>
                          <a:ea typeface="Segoe UI" pitchFamily="34" charset="-122"/>
                          <a:cs typeface="Segoe UI" pitchFamily="34" charset="-120"/>
                        </a:rPr>
                        <a:t>rouvrir</a:t>
                      </a:r>
                      <a:pPr indent="0" marL="0">
                        <a:buNone/>
                      </a:pPr>
                      <a:r>
                        <a:rPr lang="en-US" sz="115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s’efface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lot 1, tranche 1a : examen préliminaire et précisions — V76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l’examen préliminaire</a:t>
            </a:r>
            <a:endParaRPr lang="en-US" sz="2600" dirty="0"/>
          </a:p>
        </p:txBody>
      </p:sp>
      <p:graphicFrame>
        <p:nvGraphicFramePr>
          <p:cNvPr id="3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de neuf vérifications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alertes sont des constats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50" b="1" dirty="0">
                          <a:solidFill>
                            <a:srgbClr val="1B2A3A"/>
                          </a:solidFill>
                          <a:latin typeface="Segoe UI" pitchFamily="34" charset="0"/>
                          <a:ea typeface="Segoe UI" pitchFamily="34" charset="-122"/>
                          <a:cs typeface="Segoe UI" pitchFamily="34" charset="-120"/>
                        </a:rPr>
                        <a:t>jamais des décisions</a:t>
                      </a:r>
                      <a:pPr indent="0" marL="0">
                        <a:buNone/>
                      </a:pPr>
                      <a:r>
                        <a:rPr lang="en-US" sz="115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Aucune offre écartée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5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5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 motif, clause, qualification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50" b="1" dirty="0">
                          <a:solidFill>
                            <a:srgbClr val="1B2A3A"/>
                          </a:solidFill>
                          <a:latin typeface="Segoe UI" pitchFamily="34" charset="0"/>
                          <a:ea typeface="Segoe UI" pitchFamily="34" charset="-122"/>
                          <a:cs typeface="Segoe UI" pitchFamily="34" charset="-120"/>
                        </a:rPr>
                        <a:t>clause du DAO</a:t>
                      </a:r>
                      <a:pPr indent="0" marL="0">
                        <a:buNone/>
                      </a:pPr>
                      <a:r>
                        <a:rPr lang="en-US" sz="115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Demander une précision au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pose une question au candidat d’une offre, avec un délai, celui de la fiche par défaut. Le candidat répond </a:t>
                      </a:r>
                      <a:pPr indent="0" marL="0">
                        <a:buNone/>
                      </a:pPr>
                      <a:r>
                        <a:rPr lang="en-US" sz="1150" b="1" dirty="0">
                          <a:solidFill>
                            <a:srgbClr val="1B2A3A"/>
                          </a:solidFill>
                          <a:latin typeface="Segoe UI" pitchFamily="34" charset="0"/>
                          <a:ea typeface="Segoe UI" pitchFamily="34" charset="-122"/>
                          <a:cs typeface="Segoe UI" pitchFamily="34" charset="-120"/>
                        </a:rPr>
                        <a:t>une fois</a:t>
                      </a:r>
                      <a:pPr indent="0" marL="0">
                        <a:buNone/>
                      </a:pPr>
                      <a:r>
                        <a:rPr lang="en-US" sz="115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précision ne change pas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montant évalué et classement</a:t>
            </a:r>
            <a:endParaRPr lang="en-US" sz="2600" dirty="0"/>
          </a:p>
        </p:txBody>
      </p:sp>
      <p:graphicFrame>
        <p:nvGraphicFramePr>
          <p:cNvPr id="3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corrections proposées, retenues ou non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L’application propose les corrections arithmétiques : le prix en lettres prévaut sur les chiffres, le prix unitaire sur le total. La commission les retient ou non, et peut en saisir d’autres.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refus d’une correction constaté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montant évalué hors taxes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Le serveur fait le calcul.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préférence, si le DAO la prévoit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proposé sur le prix corrigé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classement, et l’égalité départagée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50" b="1" dirty="0">
                          <a:solidFill>
                            <a:srgbClr val="1B2A3A"/>
                          </a:solidFill>
                          <a:latin typeface="Segoe UI" pitchFamily="34" charset="0"/>
                          <a:ea typeface="Segoe UI" pitchFamily="34" charset="-122"/>
                          <a:cs typeface="Segoe UI" pitchFamily="34" charset="-120"/>
                        </a:rPr>
                        <a:t>égalité</a:t>
                      </a:r>
                      <a:pPr indent="0" marL="0">
                        <a:buNone/>
                      </a:pPr>
                      <a:r>
                        <a:rPr lang="en-US" sz="115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offres anormales</a:t>
            </a:r>
            <a:endParaRPr lang="en-US" sz="2600" dirty="0"/>
          </a:p>
        </p:txBody>
      </p:sp>
      <p:graphicFrame>
        <p:nvGraphicFramePr>
          <p:cNvPr id="3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indicateurs, pas une décision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50" b="1" dirty="0">
                          <a:solidFill>
                            <a:srgbClr val="1B2A3A"/>
                          </a:solidFill>
                          <a:latin typeface="Segoe UI" pitchFamily="34" charset="0"/>
                          <a:ea typeface="Segoe UI" pitchFamily="34" charset="-122"/>
                          <a:cs typeface="Segoe UI" pitchFamily="34" charset="-120"/>
                        </a:rPr>
                        <a:t>indicateurs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offre classée examinée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rejet sans justification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5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50" dirty="0">
                          <a:solidFill>
                            <a:srgbClr val="1B2A3A"/>
                          </a:solidFill>
                          <a:latin typeface="Segoe UI" pitchFamily="34" charset="0"/>
                          <a:ea typeface="Segoe UI" pitchFamily="34" charset="-122"/>
                          <a:cs typeface="Segoe UI" pitchFamily="34" charset="-120"/>
                        </a:rPr>
                        <a:t> de la PRMP, et sans la réponse du candidat ou l’expiration de son délai. La commission maintient ou rejette, avec un motif ; l’offre rejetée sort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L'évaluation des offres, tranche 1c : offres anormales et post-qualification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la post-qualification</a:t>
            </a:r>
            <a:endParaRPr lang="en-US" sz="2600" dirty="0"/>
          </a:p>
        </p:txBody>
      </p:sp>
      <p:graphicFrame>
        <p:nvGraphicFramePr>
          <p:cNvPr id="3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premier classé, puis le suivant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50" b="1" dirty="0">
                          <a:solidFill>
                            <a:srgbClr val="1B2A3A"/>
                          </a:solidFill>
                          <a:latin typeface="Segoe UI" pitchFamily="34" charset="0"/>
                          <a:ea typeface="Segoe UI" pitchFamily="34" charset="-122"/>
                          <a:cs typeface="Segoe UI" pitchFamily="34" charset="-120"/>
                        </a:rPr>
                        <a:t>premier classé</a:t>
                      </a:r>
                      <a:pPr indent="0" marL="0">
                        <a:buNone/>
                      </a:pPr>
                      <a:r>
                        <a:rPr lang="en-US" sz="115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critères du DAO, et eux seuls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non qualifiée est écartée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d’attribution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5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5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3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 quand tout est arrêté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 dès lors, plus aucune décision ne change.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avec une observation possible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50" b="1" dirty="0">
                          <a:solidFill>
                            <a:srgbClr val="1B2A3A"/>
                          </a:solidFill>
                          <a:latin typeface="Segoe UI" pitchFamily="34" charset="0"/>
                          <a:ea typeface="Segoe UI" pitchFamily="34" charset="-122"/>
                          <a:cs typeface="Segoe UI" pitchFamily="34" charset="-120"/>
                        </a:rPr>
                        <a:t>observation</a:t>
                      </a:r>
                      <a:pPr indent="0" marL="0">
                        <a:buNone/>
                      </a:pPr>
                      <a:r>
                        <a:rPr lang="en-US" sz="1150" dirty="0">
                          <a:solidFill>
                            <a:srgbClr val="1B2A3A"/>
                          </a:solidFill>
                          <a:latin typeface="Segoe UI" pitchFamily="34" charset="0"/>
                          <a:ea typeface="Segoe UI" pitchFamily="34" charset="-122"/>
                          <a:cs typeface="Segoe UI" pitchFamily="34" charset="-120"/>
                        </a:rPr>
                        <a:t>. L’empêchement d’un membre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Clos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50" b="1" dirty="0">
                          <a:solidFill>
                            <a:srgbClr val="1B2A3A"/>
                          </a:solidFill>
                          <a:latin typeface="Segoe UI" pitchFamily="34" charset="0"/>
                          <a:ea typeface="Segoe UI" pitchFamily="34" charset="-122"/>
                          <a:cs typeface="Segoe UI" pitchFamily="34" charset="-120"/>
                        </a:rPr>
                        <a:t>n’est pas public</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notation technique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vient de la fiche validée : chaque sous-critère, ou le critère noté globalement. Chaque membre déclaré sans conflit note chaque élément de 0 à son maximum, et motive. La moyenne de chaque élément fait la note ; un écart de plus de 20 % du maximum entre la note haute et la basse est signalé. Le président arrête sur des grilles complètes ; sous le score minimum, la proposition est éliminée.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L’évaluation financière et le classement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Corrections arithmétiques (règles des offres), dépenses remboursables saisies par la commission : montant comparé = prix corrigé − remboursables. Qualité-coût : Sf = 100 × Fm / F, S = T × wT + Sf × wF ; budget prédéterminé : au-delà, hors budget, rang technique ; moindre coût : montant comparé croissant. Une égalité se départage, motivée, avant l’arrêt.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négociation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Conduite par la PRMP ou son UGPM avec le premier classé, sur des points non substantiels (art. 42-IV). Réussie, elle porte la proposition d’attribution ; échouée, elle se motive et le classé suivant vient (séance complémentaire si son enveloppe est scellée). Une seule en cours, une seule réussie par lot ; le PV se produit en PDF et en Word.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et le rapport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lot est prêt quand sa négociation a réussi (proposition attribuable) ou qu’il est infructueux (toutes écartées, une seule conforme, aucune au score minimum, aucune financière recevable, négociations sans accord). Le rapport se produit quand chaque lot est prêt ; ensuite, plus aucune écriture de l’évaluation.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PI-c · Lot 3 PI : demande evaluation-pi du 07/10, tranches PI-a à PI-d2b (V84-V90), PI-d2a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09</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Attribuer et notifier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rapport signé, la PRMP crée le dossier de marché, que la Commission contrôle ; puis elle attribue, informe les candidats, respecte le délai d’attente et les recours, signe, fait enregistrer, notifie et publie l’avis.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59541"/>
            <a:ext cx="38099" cy="1790700"/>
          </a:xfrm>
          <a:prstGeom prst="rect">
            <a:avLst/>
          </a:prstGeom>
          <a:solidFill>
            <a:srgbClr val="1B6FA8"/>
          </a:solidFill>
          <a:ln/>
        </p:spPr>
      </p:sp>
      <p:sp>
        <p:nvSpPr>
          <p:cNvPr id="8" name="Text 5"/>
          <p:cNvSpPr/>
          <p:nvPr/>
        </p:nvSpPr>
        <p:spPr>
          <a:xfrm>
            <a:off x="977876" y="336114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 Créer le dossier de marché », pour 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RG-ATT-01 · RG-ATT-02 · RG-ATT-25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créé</a:t>
            </a:r>
            <a:endParaRPr lang="en-US" sz="2600" dirty="0"/>
          </a:p>
        </p:txBody>
      </p:sp>
      <p:sp>
        <p:nvSpPr>
          <p:cNvPr id="4" name="Shape 2"/>
          <p:cNvSpPr/>
          <p:nvPr/>
        </p:nvSpPr>
        <p:spPr>
          <a:xfrm>
            <a:off x="800080" y="1193800"/>
            <a:ext cx="10591535" cy="1765834"/>
          </a:xfrm>
          <a:prstGeom prst="rect">
            <a:avLst/>
          </a:prstGeom>
          <a:solidFill>
            <a:srgbClr val="FCFCFA"/>
          </a:solidFill>
          <a:ln w="9525">
            <a:solidFill>
              <a:srgbClr val="D5DCE4"/>
            </a:solidFill>
            <a:prstDash val="solid"/>
          </a:ln>
        </p:spPr>
      </p:sp>
      <p:pic>
        <p:nvPicPr>
          <p:cNvPr id="5" name="Image 0" descr="Le dossier de marché créé">    </p:cNvPr>
          <p:cNvPicPr>
            <a:picLocks noChangeAspect="1"/>
          </p:cNvPicPr>
          <p:nvPr/>
        </p:nvPicPr>
        <p:blipFill>
          <a:blip r:embed="rId1"/>
          <a:stretch>
            <a:fillRect/>
          </a:stretch>
        </p:blipFill>
        <p:spPr>
          <a:xfrm>
            <a:off x="812780" y="1206500"/>
            <a:ext cx="10566136" cy="1740434"/>
          </a:xfrm>
          <a:prstGeom prst="rect">
            <a:avLst/>
          </a:prstGeom>
        </p:spPr>
      </p:pic>
      <p:sp>
        <p:nvSpPr>
          <p:cNvPr id="6" name="Shape 3"/>
          <p:cNvSpPr/>
          <p:nvPr/>
        </p:nvSpPr>
        <p:spPr>
          <a:xfrm>
            <a:off x="812780" y="30993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099334"/>
            <a:ext cx="38099" cy="1790700"/>
          </a:xfrm>
          <a:prstGeom prst="rect">
            <a:avLst/>
          </a:prstGeom>
          <a:solidFill>
            <a:srgbClr val="1B6FA8"/>
          </a:solidFill>
          <a:ln/>
        </p:spPr>
      </p:sp>
      <p:sp>
        <p:nvSpPr>
          <p:cNvPr id="8" name="Text 5"/>
          <p:cNvSpPr/>
          <p:nvPr/>
        </p:nvSpPr>
        <p:spPr>
          <a:xfrm>
            <a:off x="977876" y="32009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passe « au contrôle de la Commission » ; le projet de marché, produit par le serveur, se lit en PDF ou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RG-ATT-02 · RG-ATT-03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prêt à soumettre</a:t>
            </a:r>
            <a:endParaRPr lang="en-US" sz="2600" dirty="0"/>
          </a:p>
        </p:txBody>
      </p:sp>
      <p:sp>
        <p:nvSpPr>
          <p:cNvPr id="4" name="Shape 2"/>
          <p:cNvSpPr/>
          <p:nvPr/>
        </p:nvSpPr>
        <p:spPr>
          <a:xfrm>
            <a:off x="800080" y="1193800"/>
            <a:ext cx="6883228" cy="4577398"/>
          </a:xfrm>
          <a:prstGeom prst="rect">
            <a:avLst/>
          </a:prstGeom>
          <a:solidFill>
            <a:srgbClr val="FCFCFA"/>
          </a:solidFill>
          <a:ln w="9525">
            <a:solidFill>
              <a:srgbClr val="D5DCE4"/>
            </a:solidFill>
            <a:prstDash val="solid"/>
          </a:ln>
        </p:spPr>
      </p:sp>
      <p:pic>
        <p:nvPicPr>
          <p:cNvPr id="5" name="Image 0" descr="Le dossier de marché, prêt à soumettre">    </p:cNvPr>
          <p:cNvPicPr>
            <a:picLocks noChangeAspect="1"/>
          </p:cNvPicPr>
          <p:nvPr/>
        </p:nvPicPr>
        <p:blipFill>
          <a:blip r:embed="rId1"/>
          <a:stretch>
            <a:fillRect/>
          </a:stretch>
        </p:blipFill>
        <p:spPr>
          <a:xfrm>
            <a:off x="812780" y="1206500"/>
            <a:ext cx="6857829" cy="4551998"/>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jointes d’office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cahier des charges (DAO complet), le PV d’ouverture, le rapport d’évaluation ; le devis rempli de l’offre quand elle a été déposée en formulaires.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suit ensuite le circuit de la Commission ; une grille de neuf points, tirée de la check-list du guide, sert à l’examiner.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RG-ATT-03 · RG-ATT-04 · RG-ATT-05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RG-ATT-06 · RG-ATT-07 · RG-ATT-08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déclarée ; « Signer et envoyer les lettres » : une lettre par offre évaluée, signée électroniquement, envoyée en ligne et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informé, et le délai d’attente</a:t>
            </a:r>
            <a:endParaRPr lang="en-US" sz="2600" dirty="0"/>
          </a:p>
        </p:txBody>
      </p:sp>
      <p:sp>
        <p:nvSpPr>
          <p:cNvPr id="4" name="Shape 2"/>
          <p:cNvSpPr/>
          <p:nvPr/>
        </p:nvSpPr>
        <p:spPr>
          <a:xfrm>
            <a:off x="800080" y="1193800"/>
            <a:ext cx="5952638" cy="5105400"/>
          </a:xfrm>
          <a:prstGeom prst="rect">
            <a:avLst/>
          </a:prstGeom>
          <a:solidFill>
            <a:srgbClr val="FCFCFA"/>
          </a:solidFill>
          <a:ln w="9525">
            <a:solidFill>
              <a:srgbClr val="D5DCE4"/>
            </a:solidFill>
            <a:prstDash val="solid"/>
          </a:ln>
        </p:spPr>
      </p:sp>
      <p:pic>
        <p:nvPicPr>
          <p:cNvPr id="5" name="Image 0" descr="Le lot informé, et le délai d’attente">    </p:cNvPr>
          <p:cNvPicPr>
            <a:picLocks noChangeAspect="1"/>
          </p:cNvPicPr>
          <p:nvPr/>
        </p:nvPicPr>
        <p:blipFill>
          <a:blip r:embed="rId1"/>
          <a:stretch>
            <a:fillRect/>
          </a:stretch>
        </p:blipFill>
        <p:spPr>
          <a:xfrm>
            <a:off x="812780" y="1206500"/>
            <a:ext cx="59272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produites,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dix jours francs, compté depuis la plus tardive de l’information et de l’affichage (art. 78).</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n’est possible qu’à son terme : la date « signable le » est affichée.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explication</a:t>
            </a:r>
            <a:endParaRPr lang="en-US" sz="2600" dirty="0"/>
          </a:p>
        </p:txBody>
      </p:sp>
      <p:sp>
        <p:nvSpPr>
          <p:cNvPr id="4" name="Shape 2"/>
          <p:cNvSpPr/>
          <p:nvPr/>
        </p:nvSpPr>
        <p:spPr>
          <a:xfrm>
            <a:off x="800080" y="1193800"/>
            <a:ext cx="10591535" cy="2894274"/>
          </a:xfrm>
          <a:prstGeom prst="rect">
            <a:avLst/>
          </a:prstGeom>
          <a:solidFill>
            <a:srgbClr val="FCFCFA"/>
          </a:solidFill>
          <a:ln w="9525">
            <a:solidFill>
              <a:srgbClr val="D5DCE4"/>
            </a:solidFill>
            <a:prstDash val="solid"/>
          </a:ln>
        </p:spPr>
      </p:sp>
      <p:pic>
        <p:nvPicPr>
          <p:cNvPr id="5" name="Image 0" descr="Le candidat écarté : résultat et explication">    </p:cNvPr>
          <p:cNvPicPr>
            <a:picLocks noChangeAspect="1"/>
          </p:cNvPicPr>
          <p:nvPr/>
        </p:nvPicPr>
        <p:blipFill>
          <a:blip r:embed="rId1"/>
          <a:stretch>
            <a:fillRect/>
          </a:stretch>
        </p:blipFill>
        <p:spPr>
          <a:xfrm>
            <a:off x="812780" y="1206500"/>
            <a:ext cx="10566136" cy="2868874"/>
          </a:xfrm>
          <a:prstGeom prst="rect">
            <a:avLst/>
          </a:prstGeom>
        </p:spPr>
      </p:pic>
      <p:sp>
        <p:nvSpPr>
          <p:cNvPr id="6" name="Shape 3"/>
          <p:cNvSpPr/>
          <p:nvPr/>
        </p:nvSpPr>
        <p:spPr>
          <a:xfrm>
            <a:off x="812780" y="42277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4227774"/>
            <a:ext cx="38099" cy="1993900"/>
          </a:xfrm>
          <a:prstGeom prst="rect">
            <a:avLst/>
          </a:prstGeom>
          <a:solidFill>
            <a:srgbClr val="1B6FA8"/>
          </a:solidFill>
          <a:ln/>
        </p:spPr>
      </p:sp>
      <p:sp>
        <p:nvSpPr>
          <p:cNvPr id="8" name="Text 5"/>
          <p:cNvSpPr/>
          <p:nvPr/>
        </p:nvSpPr>
        <p:spPr>
          <a:xfrm>
            <a:off x="977876" y="43293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 Mes offres » : le résultat,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lettre à lire en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explication » : la question part à la PRMP, qui répond par écrit.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RG-ATT-10 · RG-ATT-13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10591535" cy="2745242"/>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10566136" cy="2719842"/>
          </a:xfrm>
          <a:prstGeom prst="rect">
            <a:avLst/>
          </a:prstGeom>
        </p:spPr>
      </p:pic>
      <p:sp>
        <p:nvSpPr>
          <p:cNvPr id="6" name="Shape 3"/>
          <p:cNvSpPr/>
          <p:nvPr/>
        </p:nvSpPr>
        <p:spPr>
          <a:xfrm>
            <a:off x="812780" y="4078742"/>
            <a:ext cx="10566136" cy="1993900"/>
          </a:xfrm>
          <a:prstGeom prst="rect">
            <a:avLst/>
          </a:prstGeom>
          <a:solidFill>
            <a:srgbClr val="FCFCFA"/>
          </a:solidFill>
          <a:ln w="9525">
            <a:solidFill>
              <a:srgbClr val="D5DCE4"/>
            </a:solidFill>
            <a:prstDash val="solid"/>
          </a:ln>
        </p:spPr>
      </p:sp>
      <p:sp>
        <p:nvSpPr>
          <p:cNvPr id="7" name="Shape 4"/>
          <p:cNvSpPr/>
          <p:nvPr/>
        </p:nvSpPr>
        <p:spPr>
          <a:xfrm>
            <a:off x="812780" y="4078742"/>
            <a:ext cx="38099" cy="1993900"/>
          </a:xfrm>
          <a:prstGeom prst="rect">
            <a:avLst/>
          </a:prstGeom>
          <a:solidFill>
            <a:srgbClr val="1B6FA8"/>
          </a:solidFill>
          <a:ln/>
        </p:spPr>
      </p:sp>
      <p:sp>
        <p:nvSpPr>
          <p:cNvPr id="8" name="Text 5"/>
          <p:cNvSpPr/>
          <p:nvPr/>
        </p:nvSpPr>
        <p:spPr>
          <a:xfrm>
            <a:off x="977876" y="4180342"/>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attestations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fiscale et sociale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déposer dans les quinze jours de la lettre d’attribution (art. 20-I).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les vérifie une à une ; une pièce non conforme bloque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RG-ATT-18 · RG-ATT-19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recours, et la signature refusée</a:t>
            </a:r>
            <a:endParaRPr lang="en-US" sz="2600" dirty="0"/>
          </a:p>
        </p:txBody>
      </p:sp>
      <p:sp>
        <p:nvSpPr>
          <p:cNvPr id="4" name="Shape 2"/>
          <p:cNvSpPr/>
          <p:nvPr/>
        </p:nvSpPr>
        <p:spPr>
          <a:xfrm>
            <a:off x="800080" y="1193800"/>
            <a:ext cx="3446080" cy="5105400"/>
          </a:xfrm>
          <a:prstGeom prst="rect">
            <a:avLst/>
          </a:prstGeom>
          <a:solidFill>
            <a:srgbClr val="FCFCFA"/>
          </a:solidFill>
          <a:ln w="9525">
            <a:solidFill>
              <a:srgbClr val="D5DCE4"/>
            </a:solidFill>
            <a:prstDash val="solid"/>
          </a:ln>
        </p:spPr>
      </p:sp>
      <p:pic>
        <p:nvPicPr>
          <p:cNvPr id="5" name="Image 0" descr="Un recours, et la signature refusée">    </p:cNvPr>
          <p:cNvPicPr>
            <a:picLocks noChangeAspect="1"/>
          </p:cNvPicPr>
          <p:nvPr/>
        </p:nvPicPr>
        <p:blipFill>
          <a:blip r:embed="rId1"/>
          <a:stretch>
            <a:fillRect/>
          </a:stretch>
        </p:blipFill>
        <p:spPr>
          <a:xfrm>
            <a:off x="812780" y="1206500"/>
            <a:ext cx="342068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recours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(réexamen, révision par l’ARMP, référé) : la révision et le référé suspendent la signature jusqu’à leur décision, vingt jours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fin du délai d’attente, la signature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refusée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raison ; la mise au point, sans changer ni le prix ni les prestations, reste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RG-ATT-15 · RG-ATT-16 · RG-ATT-17 · RG-ATT-21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10591535" cy="922820"/>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10566136" cy="897420"/>
          </a:xfrm>
          <a:prstGeom prst="rect">
            <a:avLst/>
          </a:prstGeom>
        </p:spPr>
      </p:pic>
      <p:sp>
        <p:nvSpPr>
          <p:cNvPr id="6" name="Shape 3"/>
          <p:cNvSpPr/>
          <p:nvPr/>
        </p:nvSpPr>
        <p:spPr>
          <a:xfrm>
            <a:off x="812780" y="2256320"/>
            <a:ext cx="10566136" cy="1790700"/>
          </a:xfrm>
          <a:prstGeom prst="rect">
            <a:avLst/>
          </a:prstGeom>
          <a:solidFill>
            <a:srgbClr val="FCFCFA"/>
          </a:solidFill>
          <a:ln w="9525">
            <a:solidFill>
              <a:srgbClr val="D5DCE4"/>
            </a:solidFill>
            <a:prstDash val="solid"/>
          </a:ln>
        </p:spPr>
      </p:sp>
      <p:sp>
        <p:nvSpPr>
          <p:cNvPr id="7" name="Shape 4"/>
          <p:cNvSpPr/>
          <p:nvPr/>
        </p:nvSpPr>
        <p:spPr>
          <a:xfrm>
            <a:off x="812780" y="2256320"/>
            <a:ext cx="38099" cy="1790700"/>
          </a:xfrm>
          <a:prstGeom prst="rect">
            <a:avLst/>
          </a:prstGeom>
          <a:solidFill>
            <a:srgbClr val="1B6FA8"/>
          </a:solidFill>
          <a:ln/>
        </p:spPr>
      </p:sp>
      <p:sp>
        <p:nvSpPr>
          <p:cNvPr id="8" name="Text 5"/>
          <p:cNvSpPr/>
          <p:nvPr/>
        </p:nvSpPr>
        <p:spPr>
          <a:xfrm>
            <a:off x="977876" y="235792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sans compte : le résultat par lot, puis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MPI</a:t>
            </a:r>
            <a:endParaRPr lang="en-US" sz="2600" dirty="0"/>
          </a:p>
        </p:txBody>
      </p:sp>
      <p:sp>
        <p:nvSpPr>
          <p:cNvPr id="4" name="Shape 2"/>
          <p:cNvSpPr/>
          <p:nvPr/>
        </p:nvSpPr>
        <p:spPr>
          <a:xfrm>
            <a:off x="800080" y="1193800"/>
            <a:ext cx="10591535" cy="1809527"/>
          </a:xfrm>
          <a:prstGeom prst="rect">
            <a:avLst/>
          </a:prstGeom>
          <a:solidFill>
            <a:srgbClr val="FCFCFA"/>
          </a:solidFill>
          <a:ln w="9525">
            <a:solidFill>
              <a:srgbClr val="D5DCE4"/>
            </a:solidFill>
            <a:prstDash val="solid"/>
          </a:ln>
        </p:spPr>
      </p:sp>
      <p:pic>
        <p:nvPicPr>
          <p:cNvPr id="5" name="Image 0" descr="Le dossier de marché MPI">    </p:cNvPr>
          <p:cNvPicPr>
            <a:picLocks noChangeAspect="1"/>
          </p:cNvPicPr>
          <p:nvPr/>
        </p:nvPicPr>
        <p:blipFill>
          <a:blip r:embed="rId1"/>
          <a:stretch>
            <a:fillRect/>
          </a:stretch>
        </p:blipFill>
        <p:spPr>
          <a:xfrm>
            <a:off x="812780" y="1206500"/>
            <a:ext cx="10566136" cy="1784127"/>
          </a:xfrm>
          <a:prstGeom prst="rect">
            <a:avLst/>
          </a:prstGeom>
        </p:spPr>
      </p:pic>
      <p:sp>
        <p:nvSpPr>
          <p:cNvPr id="6" name="Shape 3"/>
          <p:cNvSpPr/>
          <p:nvPr/>
        </p:nvSpPr>
        <p:spPr>
          <a:xfrm>
            <a:off x="812780" y="3143027"/>
            <a:ext cx="10566136" cy="1993900"/>
          </a:xfrm>
          <a:prstGeom prst="rect">
            <a:avLst/>
          </a:prstGeom>
          <a:solidFill>
            <a:srgbClr val="FCFCFA"/>
          </a:solidFill>
          <a:ln w="9525">
            <a:solidFill>
              <a:srgbClr val="D5DCE4"/>
            </a:solidFill>
            <a:prstDash val="solid"/>
          </a:ln>
        </p:spPr>
      </p:sp>
      <p:sp>
        <p:nvSpPr>
          <p:cNvPr id="7" name="Shape 4"/>
          <p:cNvSpPr/>
          <p:nvPr/>
        </p:nvSpPr>
        <p:spPr>
          <a:xfrm>
            <a:off x="812780" y="3143027"/>
            <a:ext cx="38099" cy="1993900"/>
          </a:xfrm>
          <a:prstGeom prst="rect">
            <a:avLst/>
          </a:prstGeom>
          <a:solidFill>
            <a:srgbClr val="1B6FA8"/>
          </a:solidFill>
          <a:ln/>
        </p:spPr>
      </p:sp>
      <p:sp>
        <p:nvSpPr>
          <p:cNvPr id="8" name="Text 5"/>
          <p:cNvSpPr/>
          <p:nvPr/>
        </p:nvSpPr>
        <p:spPr>
          <a:xfrm>
            <a:off x="977876" y="3244627"/>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signé, le dossier de marché se crée au sous-type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MPI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devis joint d’office est le bordereau de l’enveloppe financière.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proposé infructueux</a:t>
            </a:r>
            <a:endParaRPr lang="en-US" sz="2600" dirty="0"/>
          </a:p>
        </p:txBody>
      </p:sp>
      <p:sp>
        <p:nvSpPr>
          <p:cNvPr id="4" name="Shape 2"/>
          <p:cNvSpPr/>
          <p:nvPr/>
        </p:nvSpPr>
        <p:spPr>
          <a:xfrm>
            <a:off x="800080" y="1193800"/>
            <a:ext cx="10591535" cy="3001427"/>
          </a:xfrm>
          <a:prstGeom prst="rect">
            <a:avLst/>
          </a:prstGeom>
          <a:solidFill>
            <a:srgbClr val="FCFCFA"/>
          </a:solidFill>
          <a:ln w="9525">
            <a:solidFill>
              <a:srgbClr val="D5DCE4"/>
            </a:solidFill>
            <a:prstDash val="solid"/>
          </a:ln>
        </p:spPr>
      </p:sp>
      <p:pic>
        <p:nvPicPr>
          <p:cNvPr id="5" name="Image 0" descr="Le lot proposé infructueux">    </p:cNvPr>
          <p:cNvPicPr>
            <a:picLocks noChangeAspect="1"/>
          </p:cNvPicPr>
          <p:nvPr/>
        </p:nvPicPr>
        <p:blipFill>
          <a:blip r:embed="rId1"/>
          <a:stretch>
            <a:fillRect/>
          </a:stretch>
        </p:blipFill>
        <p:spPr>
          <a:xfrm>
            <a:off x="812780" y="1206500"/>
            <a:ext cx="10566136" cy="2976027"/>
          </a:xfrm>
          <a:prstGeom prst="rect">
            <a:avLst/>
          </a:prstGeom>
        </p:spPr>
      </p:pic>
      <p:sp>
        <p:nvSpPr>
          <p:cNvPr id="6" name="Shape 3"/>
          <p:cNvSpPr/>
          <p:nvPr/>
        </p:nvSpPr>
        <p:spPr>
          <a:xfrm>
            <a:off x="812780" y="4334927"/>
            <a:ext cx="10566136" cy="1951573"/>
          </a:xfrm>
          <a:prstGeom prst="rect">
            <a:avLst/>
          </a:prstGeom>
          <a:solidFill>
            <a:srgbClr val="FCFCFA"/>
          </a:solidFill>
          <a:ln w="9525">
            <a:solidFill>
              <a:srgbClr val="D5DCE4"/>
            </a:solidFill>
            <a:prstDash val="solid"/>
          </a:ln>
        </p:spPr>
      </p:sp>
      <p:sp>
        <p:nvSpPr>
          <p:cNvPr id="7" name="Shape 4"/>
          <p:cNvSpPr/>
          <p:nvPr/>
        </p:nvSpPr>
        <p:spPr>
          <a:xfrm>
            <a:off x="812780" y="4334927"/>
            <a:ext cx="38099" cy="1951573"/>
          </a:xfrm>
          <a:prstGeom prst="rect">
            <a:avLst/>
          </a:prstGeom>
          <a:solidFill>
            <a:srgbClr val="1B6FA8"/>
          </a:solidFill>
          <a:ln/>
        </p:spPr>
      </p:sp>
      <p:sp>
        <p:nvSpPr>
          <p:cNvPr id="8" name="Text 5"/>
          <p:cNvSpPr/>
          <p:nvPr/>
        </p:nvSpPr>
        <p:spPr>
          <a:xfrm>
            <a:off x="977876" y="4436527"/>
            <a:ext cx="10274043" cy="1761073"/>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Aucune offre qualifiée : le rapport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l’infructuosité, la PRMP décide.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(porté aux lettres des candidats et à la page publique), la référence et la date de sa décision, la suite envisagée.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RG-ATT-25 · RG-ATT-29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déclaré infructueux</a:t>
            </a:r>
            <a:endParaRPr lang="en-US" sz="2600" dirty="0"/>
          </a:p>
        </p:txBody>
      </p:sp>
      <p:sp>
        <p:nvSpPr>
          <p:cNvPr id="4" name="Shape 2"/>
          <p:cNvSpPr/>
          <p:nvPr/>
        </p:nvSpPr>
        <p:spPr>
          <a:xfrm>
            <a:off x="800080" y="1193800"/>
            <a:ext cx="10591535" cy="1408201"/>
          </a:xfrm>
          <a:prstGeom prst="rect">
            <a:avLst/>
          </a:prstGeom>
          <a:solidFill>
            <a:srgbClr val="FCFCFA"/>
          </a:solidFill>
          <a:ln w="9525">
            <a:solidFill>
              <a:srgbClr val="D5DCE4"/>
            </a:solidFill>
            <a:prstDash val="solid"/>
          </a:ln>
        </p:spPr>
      </p:sp>
      <p:pic>
        <p:nvPicPr>
          <p:cNvPr id="5" name="Image 0" descr="Le lot déclaré infructueux">    </p:cNvPr>
          <p:cNvPicPr>
            <a:picLocks noChangeAspect="1"/>
          </p:cNvPicPr>
          <p:nvPr/>
        </p:nvPicPr>
        <p:blipFill>
          <a:blip r:embed="rId1"/>
          <a:stretch>
            <a:fillRect/>
          </a:stretch>
        </p:blipFill>
        <p:spPr>
          <a:xfrm>
            <a:off x="812780" y="1206500"/>
            <a:ext cx="10566136" cy="1382801"/>
          </a:xfrm>
          <a:prstGeom prst="rect">
            <a:avLst/>
          </a:prstGeom>
        </p:spPr>
      </p:pic>
      <p:sp>
        <p:nvSpPr>
          <p:cNvPr id="6" name="Shape 3"/>
          <p:cNvSpPr/>
          <p:nvPr/>
        </p:nvSpPr>
        <p:spPr>
          <a:xfrm>
            <a:off x="812780" y="274170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41701"/>
            <a:ext cx="38099" cy="1993900"/>
          </a:xfrm>
          <a:prstGeom prst="rect">
            <a:avLst/>
          </a:prstGeom>
          <a:solidFill>
            <a:srgbClr val="1B6FA8"/>
          </a:solidFill>
          <a:ln/>
        </p:spPr>
      </p:sp>
      <p:sp>
        <p:nvSpPr>
          <p:cNvPr id="8" name="Text 5"/>
          <p:cNvSpPr/>
          <p:nvPr/>
        </p:nvSpPr>
        <p:spPr>
          <a:xfrm>
            <a:off x="977876" y="284330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est clos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infructueux</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sa décision et sa suite se relisent sous le lot.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Jamais après l’attribution : après un retrait du marché, c’est la réattribution au suivant, ou le sans suite.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un avis défavorable : infructuosité ou reprise</a:t>
            </a:r>
            <a:endParaRPr lang="en-US" sz="2600" dirty="0"/>
          </a:p>
        </p:txBody>
      </p:sp>
      <p:sp>
        <p:nvSpPr>
          <p:cNvPr id="4" name="Shape 2"/>
          <p:cNvSpPr/>
          <p:nvPr/>
        </p:nvSpPr>
        <p:spPr>
          <a:xfrm>
            <a:off x="2894620" y="1193800"/>
            <a:ext cx="6402454" cy="3327400"/>
          </a:xfrm>
          <a:prstGeom prst="rect">
            <a:avLst/>
          </a:prstGeom>
          <a:solidFill>
            <a:srgbClr val="FCFCFA"/>
          </a:solidFill>
          <a:ln w="9525">
            <a:solidFill>
              <a:srgbClr val="D5DCE4"/>
            </a:solidFill>
            <a:prstDash val="solid"/>
          </a:ln>
        </p:spPr>
      </p:sp>
      <p:pic>
        <p:nvPicPr>
          <p:cNvPr id="5" name="Image 0" descr="Après un avis défavorable : infructuosité ou reprise">    </p:cNvPr>
          <p:cNvPicPr>
            <a:picLocks noChangeAspect="1"/>
          </p:cNvPicPr>
          <p:nvPr/>
        </p:nvPicPr>
        <p:blipFill>
          <a:blip r:embed="rId1"/>
          <a:stretch>
            <a:fillRect/>
          </a:stretch>
        </p:blipFill>
        <p:spPr>
          <a:xfrm>
            <a:off x="2907320" y="1206500"/>
            <a:ext cx="637705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Dossier de marché refusé : la PRMP déclare le lot infructueux,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reprend l’évaluation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RG-ATT-29 · RG-ATT-30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reprise, le rapport archivé</a:t>
            </a:r>
            <a:endParaRPr lang="en-US" sz="2600" dirty="0"/>
          </a:p>
        </p:txBody>
      </p:sp>
      <p:sp>
        <p:nvSpPr>
          <p:cNvPr id="4" name="Shape 2"/>
          <p:cNvSpPr/>
          <p:nvPr/>
        </p:nvSpPr>
        <p:spPr>
          <a:xfrm>
            <a:off x="800080" y="1193800"/>
            <a:ext cx="10591535" cy="1423231"/>
          </a:xfrm>
          <a:prstGeom prst="rect">
            <a:avLst/>
          </a:prstGeom>
          <a:solidFill>
            <a:srgbClr val="FCFCFA"/>
          </a:solidFill>
          <a:ln w="9525">
            <a:solidFill>
              <a:srgbClr val="D5DCE4"/>
            </a:solidFill>
            <a:prstDash val="solid"/>
          </a:ln>
        </p:spPr>
      </p:sp>
      <p:pic>
        <p:nvPicPr>
          <p:cNvPr id="5" name="Image 0" descr="L’évaluation reprise, le rapport archivé">    </p:cNvPr>
          <p:cNvPicPr>
            <a:picLocks noChangeAspect="1"/>
          </p:cNvPicPr>
          <p:nvPr/>
        </p:nvPicPr>
        <p:blipFill>
          <a:blip r:embed="rId1"/>
          <a:stretch>
            <a:fillRect/>
          </a:stretch>
        </p:blipFill>
        <p:spPr>
          <a:xfrm>
            <a:off x="812780" y="1206500"/>
            <a:ext cx="10566136" cy="1397831"/>
          </a:xfrm>
          <a:prstGeom prst="rect">
            <a:avLst/>
          </a:prstGeom>
        </p:spPr>
      </p:pic>
      <p:sp>
        <p:nvSpPr>
          <p:cNvPr id="6" name="Shape 3"/>
          <p:cNvSpPr/>
          <p:nvPr/>
        </p:nvSpPr>
        <p:spPr>
          <a:xfrm>
            <a:off x="812780" y="275673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6731"/>
            <a:ext cx="38099" cy="1993900"/>
          </a:xfrm>
          <a:prstGeom prst="rect">
            <a:avLst/>
          </a:prstGeom>
          <a:solidFill>
            <a:srgbClr val="1B6FA8"/>
          </a:solidFill>
          <a:ln/>
        </p:spPr>
      </p:sp>
      <p:sp>
        <p:nvSpPr>
          <p:cNvPr id="8" name="Text 5"/>
          <p:cNvSpPr/>
          <p:nvPr/>
        </p:nvSpPr>
        <p:spPr>
          <a:xfrm>
            <a:off x="977876" y="285833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L’évaluation se rouvre en entier ; le rapport signé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lisible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nouveau rapport, puis un nouveau dossier de marché suivront.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sans suite</a:t>
            </a:r>
            <a:endParaRPr lang="en-US" sz="2600" dirty="0"/>
          </a:p>
        </p:txBody>
      </p:sp>
      <p:sp>
        <p:nvSpPr>
          <p:cNvPr id="4" name="Shape 2"/>
          <p:cNvSpPr/>
          <p:nvPr/>
        </p:nvSpPr>
        <p:spPr>
          <a:xfrm>
            <a:off x="1420550" y="1193800"/>
            <a:ext cx="9350595" cy="3327400"/>
          </a:xfrm>
          <a:prstGeom prst="rect">
            <a:avLst/>
          </a:prstGeom>
          <a:solidFill>
            <a:srgbClr val="FCFCFA"/>
          </a:solidFill>
          <a:ln w="9525">
            <a:solidFill>
              <a:srgbClr val="D5DCE4"/>
            </a:solidFill>
            <a:prstDash val="solid"/>
          </a:ln>
        </p:spPr>
      </p:sp>
      <p:pic>
        <p:nvPicPr>
          <p:cNvPr id="5" name="Image 0" descr="La déclaration sans suite">    </p:cNvPr>
          <p:cNvPicPr>
            <a:picLocks noChangeAspect="1"/>
          </p:cNvPicPr>
          <p:nvPr/>
        </p:nvPicPr>
        <p:blipFill>
          <a:blip r:embed="rId1"/>
          <a:stretch>
            <a:fillRect/>
          </a:stretch>
        </p:blipFill>
        <p:spPr>
          <a:xfrm>
            <a:off x="1433250" y="1206500"/>
            <a:ext cx="932519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fiche, à tout moment avant la signature d’un marché : la PRMP demande,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l’appui.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forment une pièce du dossier soumis à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déclaration sans suite</a:t>
            </a:r>
            <a:endParaRPr lang="en-US" sz="2600" dirty="0"/>
          </a:p>
        </p:txBody>
      </p:sp>
      <p:sp>
        <p:nvSpPr>
          <p:cNvPr id="4" name="Shape 2"/>
          <p:cNvSpPr/>
          <p:nvPr/>
        </p:nvSpPr>
        <p:spPr>
          <a:xfrm>
            <a:off x="800080" y="1193800"/>
            <a:ext cx="10591535" cy="1865269"/>
          </a:xfrm>
          <a:prstGeom prst="rect">
            <a:avLst/>
          </a:prstGeom>
          <a:solidFill>
            <a:srgbClr val="FCFCFA"/>
          </a:solidFill>
          <a:ln w="9525">
            <a:solidFill>
              <a:srgbClr val="D5DCE4"/>
            </a:solidFill>
            <a:prstDash val="solid"/>
          </a:ln>
        </p:spPr>
      </p:sp>
      <p:pic>
        <p:nvPicPr>
          <p:cNvPr id="5" name="Image 0" descr="Le dossier de déclaration sans suite">    </p:cNvPr>
          <p:cNvPicPr>
            <a:picLocks noChangeAspect="1"/>
          </p:cNvPicPr>
          <p:nvPr/>
        </p:nvPicPr>
        <p:blipFill>
          <a:blip r:embed="rId1"/>
          <a:stretch>
            <a:fillRect/>
          </a:stretch>
        </p:blipFill>
        <p:spPr>
          <a:xfrm>
            <a:off x="812780" y="1206500"/>
            <a:ext cx="10566136" cy="1839869"/>
          </a:xfrm>
          <a:prstGeom prst="rect">
            <a:avLst/>
          </a:prstGeom>
        </p:spPr>
      </p:pic>
      <p:sp>
        <p:nvSpPr>
          <p:cNvPr id="6" name="Shape 3"/>
          <p:cNvSpPr/>
          <p:nvPr/>
        </p:nvSpPr>
        <p:spPr>
          <a:xfrm>
            <a:off x="812780" y="3198769"/>
            <a:ext cx="10566136" cy="1993900"/>
          </a:xfrm>
          <a:prstGeom prst="rect">
            <a:avLst/>
          </a:prstGeom>
          <a:solidFill>
            <a:srgbClr val="FCFCFA"/>
          </a:solidFill>
          <a:ln w="9525">
            <a:solidFill>
              <a:srgbClr val="D5DCE4"/>
            </a:solidFill>
            <a:prstDash val="solid"/>
          </a:ln>
        </p:spPr>
      </p:sp>
      <p:sp>
        <p:nvSpPr>
          <p:cNvPr id="7" name="Shape 4"/>
          <p:cNvSpPr/>
          <p:nvPr/>
        </p:nvSpPr>
        <p:spPr>
          <a:xfrm>
            <a:off x="812780" y="3198769"/>
            <a:ext cx="38099" cy="1993900"/>
          </a:xfrm>
          <a:prstGeom prst="rect">
            <a:avLst/>
          </a:prstGeom>
          <a:solidFill>
            <a:srgbClr val="1B6FA8"/>
          </a:solidFill>
          <a:ln/>
        </p:spPr>
      </p:sp>
      <p:sp>
        <p:nvSpPr>
          <p:cNvPr id="8" name="Text 5"/>
          <p:cNvSpPr/>
          <p:nvPr/>
        </p:nvSpPr>
        <p:spPr>
          <a:xfrm>
            <a:off x="977876" y="330036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crée un dossier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DSS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ouvert d’un clic pour être soumis ; les motifs se lisent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Commission rend son avis sous cinq jours de la réception.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favorable : la PRMP déclare</a:t>
            </a:r>
            <a:endParaRPr lang="en-US" sz="2600" dirty="0"/>
          </a:p>
        </p:txBody>
      </p:sp>
      <p:sp>
        <p:nvSpPr>
          <p:cNvPr id="4" name="Shape 2"/>
          <p:cNvSpPr/>
          <p:nvPr/>
        </p:nvSpPr>
        <p:spPr>
          <a:xfrm>
            <a:off x="1016922" y="1193800"/>
            <a:ext cx="10157851" cy="3327400"/>
          </a:xfrm>
          <a:prstGeom prst="rect">
            <a:avLst/>
          </a:prstGeom>
          <a:solidFill>
            <a:srgbClr val="FCFCFA"/>
          </a:solidFill>
          <a:ln w="9525">
            <a:solidFill>
              <a:srgbClr val="D5DCE4"/>
            </a:solidFill>
            <a:prstDash val="solid"/>
          </a:ln>
        </p:spPr>
      </p:sp>
      <p:pic>
        <p:nvPicPr>
          <p:cNvPr id="5" name="Image 0" descr="L’avis favorable : la PRMP déclare">    </p:cNvPr>
          <p:cNvPicPr>
            <a:picLocks noChangeAspect="1"/>
          </p:cNvPicPr>
          <p:nvPr/>
        </p:nvPicPr>
        <p:blipFill>
          <a:blip r:embed="rId1"/>
          <a:stretch>
            <a:fillRect/>
          </a:stretch>
        </p:blipFill>
        <p:spPr>
          <a:xfrm>
            <a:off x="1029622" y="1206500"/>
            <a:ext cx="1013245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signé, la PRMP déclare : la référence et la date de sa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déclarée sans suite</a:t>
            </a:r>
            <a:endParaRPr lang="en-US" sz="2600" dirty="0"/>
          </a:p>
        </p:txBody>
      </p:sp>
      <p:sp>
        <p:nvSpPr>
          <p:cNvPr id="4" name="Shape 2"/>
          <p:cNvSpPr/>
          <p:nvPr/>
        </p:nvSpPr>
        <p:spPr>
          <a:xfrm>
            <a:off x="800080" y="1193800"/>
            <a:ext cx="10591535" cy="2451149"/>
          </a:xfrm>
          <a:prstGeom prst="rect">
            <a:avLst/>
          </a:prstGeom>
          <a:solidFill>
            <a:srgbClr val="FCFCFA"/>
          </a:solidFill>
          <a:ln w="9525">
            <a:solidFill>
              <a:srgbClr val="D5DCE4"/>
            </a:solidFill>
            <a:prstDash val="solid"/>
          </a:ln>
        </p:spPr>
      </p:sp>
      <p:pic>
        <p:nvPicPr>
          <p:cNvPr id="5" name="Image 0" descr="La procédure déclarée sans suite">    </p:cNvPr>
          <p:cNvPicPr>
            <a:picLocks noChangeAspect="1"/>
          </p:cNvPicPr>
          <p:nvPr/>
        </p:nvPicPr>
        <p:blipFill>
          <a:blip r:embed="rId1"/>
          <a:stretch>
            <a:fillRect/>
          </a:stretch>
        </p:blipFill>
        <p:spPr>
          <a:xfrm>
            <a:off x="812780" y="1206500"/>
            <a:ext cx="10566136" cy="2425749"/>
          </a:xfrm>
          <a:prstGeom prst="rect">
            <a:avLst/>
          </a:prstGeom>
        </p:spPr>
      </p:pic>
      <p:sp>
        <p:nvSpPr>
          <p:cNvPr id="6" name="Shape 3"/>
          <p:cNvSpPr/>
          <p:nvPr/>
        </p:nvSpPr>
        <p:spPr>
          <a:xfrm>
            <a:off x="812780" y="3784649"/>
            <a:ext cx="10566136" cy="1993900"/>
          </a:xfrm>
          <a:prstGeom prst="rect">
            <a:avLst/>
          </a:prstGeom>
          <a:solidFill>
            <a:srgbClr val="FCFCFA"/>
          </a:solidFill>
          <a:ln w="9525">
            <a:solidFill>
              <a:srgbClr val="D5DCE4"/>
            </a:solidFill>
            <a:prstDash val="solid"/>
          </a:ln>
        </p:spPr>
      </p:sp>
      <p:sp>
        <p:nvSpPr>
          <p:cNvPr id="7" name="Shape 4"/>
          <p:cNvSpPr/>
          <p:nvPr/>
        </p:nvSpPr>
        <p:spPr>
          <a:xfrm>
            <a:off x="812780" y="3784649"/>
            <a:ext cx="38099" cy="1993900"/>
          </a:xfrm>
          <a:prstGeom prst="rect">
            <a:avLst/>
          </a:prstGeom>
          <a:solidFill>
            <a:srgbClr val="1B6FA8"/>
          </a:solidFill>
          <a:ln/>
        </p:spPr>
      </p:sp>
      <p:sp>
        <p:nvSpPr>
          <p:cNvPr id="8" name="Text 5"/>
          <p:cNvSpPr/>
          <p:nvPr/>
        </p:nvSpPr>
        <p:spPr>
          <a:xfrm>
            <a:off x="977876" y="388624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est close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sans suite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candidats en sont informés.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aucun geste d’attribution n’est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 du marché</a:t>
            </a:r>
            <a:endParaRPr lang="en-US" sz="2600" dirty="0"/>
          </a:p>
        </p:txBody>
      </p:sp>
      <p:sp>
        <p:nvSpPr>
          <p:cNvPr id="4" name="Shape 2"/>
          <p:cNvSpPr/>
          <p:nvPr/>
        </p:nvSpPr>
        <p:spPr>
          <a:xfrm>
            <a:off x="800080" y="1193800"/>
            <a:ext cx="10591535" cy="2413000"/>
          </a:xfrm>
          <a:prstGeom prst="rect">
            <a:avLst/>
          </a:prstGeom>
          <a:solidFill>
            <a:srgbClr val="FCFCFA"/>
          </a:solidFill>
          <a:ln w="9525">
            <a:solidFill>
              <a:srgbClr val="D5DCE4"/>
            </a:solidFill>
            <a:prstDash val="solid"/>
          </a:ln>
        </p:spPr>
      </p:sp>
      <p:pic>
        <p:nvPicPr>
          <p:cNvPr id="5" name="Image 0" descr="Les actes de gestion du marché">    </p:cNvPr>
          <p:cNvPicPr>
            <a:picLocks noChangeAspect="1"/>
          </p:cNvPicPr>
          <p:nvPr/>
        </p:nvPicPr>
        <p:blipFill>
          <a:blip r:embed="rId1"/>
          <a:stretch>
            <a:fillRect/>
          </a:stretch>
        </p:blipFill>
        <p:spPr>
          <a:xfrm>
            <a:off x="812780" y="1206500"/>
            <a:ext cx="10566136" cy="2387600"/>
          </a:xfrm>
          <a:prstGeom prst="rect">
            <a:avLst/>
          </a:prstGeom>
        </p:spPr>
      </p:pic>
      <p:sp>
        <p:nvSpPr>
          <p:cNvPr id="6" name="Shape 3"/>
          <p:cNvSpPr/>
          <p:nvPr/>
        </p:nvSpPr>
        <p:spPr>
          <a:xfrm>
            <a:off x="812780" y="3746500"/>
            <a:ext cx="10566136" cy="1993900"/>
          </a:xfrm>
          <a:prstGeom prst="rect">
            <a:avLst/>
          </a:prstGeom>
          <a:solidFill>
            <a:srgbClr val="FCFCFA"/>
          </a:solidFill>
          <a:ln w="9525">
            <a:solidFill>
              <a:srgbClr val="D5DCE4"/>
            </a:solidFill>
            <a:prstDash val="solid"/>
          </a:ln>
        </p:spPr>
      </p:sp>
      <p:sp>
        <p:nvSpPr>
          <p:cNvPr id="7" name="Shape 4"/>
          <p:cNvSpPr/>
          <p:nvPr/>
        </p:nvSpPr>
        <p:spPr>
          <a:xfrm>
            <a:off x="812780" y="3746500"/>
            <a:ext cx="38099" cy="1993900"/>
          </a:xfrm>
          <a:prstGeom prst="rect">
            <a:avLst/>
          </a:prstGeom>
          <a:solidFill>
            <a:srgbClr val="1B6FA8"/>
          </a:solidFill>
          <a:ln/>
        </p:spPr>
      </p:sp>
      <p:sp>
        <p:nvSpPr>
          <p:cNvPr id="8" name="Text 5"/>
          <p:cNvSpPr/>
          <p:nvPr/>
        </p:nvSpPr>
        <p:spPr>
          <a:xfrm>
            <a:off x="977876" y="3848100"/>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d’un marché contrôlé favorablement : le montant initial, la catégorie, le cumul des avenants face au plafond du tiers, et les actes.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un avenant</a:t>
            </a:r>
            <a:endParaRPr lang="en-US" sz="2600" dirty="0"/>
          </a:p>
        </p:txBody>
      </p:sp>
      <p:sp>
        <p:nvSpPr>
          <p:cNvPr id="4" name="Shape 2"/>
          <p:cNvSpPr/>
          <p:nvPr/>
        </p:nvSpPr>
        <p:spPr>
          <a:xfrm>
            <a:off x="800080" y="1193800"/>
            <a:ext cx="6883228" cy="4294505"/>
          </a:xfrm>
          <a:prstGeom prst="rect">
            <a:avLst/>
          </a:prstGeom>
          <a:solidFill>
            <a:srgbClr val="FCFCFA"/>
          </a:solidFill>
          <a:ln w="9525">
            <a:solidFill>
              <a:srgbClr val="D5DCE4"/>
            </a:solidFill>
            <a:prstDash val="solid"/>
          </a:ln>
        </p:spPr>
      </p:sp>
      <p:pic>
        <p:nvPicPr>
          <p:cNvPr id="5" name="Image 0" descr="Déposer un avenant">    </p:cNvPr>
          <p:cNvPicPr>
            <a:picLocks noChangeAspect="1"/>
          </p:cNvPicPr>
          <p:nvPr/>
        </p:nvPicPr>
        <p:blipFill>
          <a:blip r:embed="rId1"/>
          <a:stretch>
            <a:fillRect/>
          </a:stretch>
        </p:blipFill>
        <p:spPr>
          <a:xfrm>
            <a:off x="812780" y="1206500"/>
            <a:ext cx="6857829" cy="426910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(avenant, résiliation, indemnité, pénalités, sursis), le montant HT de l’avenant, les faits du marché ; la projection du cumul s’affiche.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en brouillon : pièces et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te en brouillon : pièces et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né du marché se complète sur sa page : déclarations, pièces exigées de son sous-type, soumission ; le refus nomme chaque pièce manquante.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marché et ses avenants</a:t>
            </a:r>
            <a:endParaRPr lang="en-US" sz="2600" dirty="0"/>
          </a:p>
        </p:txBody>
      </p:sp>
      <p:sp>
        <p:nvSpPr>
          <p:cNvPr id="4" name="Shape 2"/>
          <p:cNvSpPr/>
          <p:nvPr/>
        </p:nvSpPr>
        <p:spPr>
          <a:xfrm>
            <a:off x="800080" y="1193800"/>
            <a:ext cx="10591535" cy="2443480"/>
          </a:xfrm>
          <a:prstGeom prst="rect">
            <a:avLst/>
          </a:prstGeom>
          <a:solidFill>
            <a:srgbClr val="FCFCFA"/>
          </a:solidFill>
          <a:ln w="9525">
            <a:solidFill>
              <a:srgbClr val="D5DCE4"/>
            </a:solidFill>
            <a:prstDash val="solid"/>
          </a:ln>
        </p:spPr>
      </p:sp>
      <p:pic>
        <p:nvPicPr>
          <p:cNvPr id="5" name="Image 0" descr="Le marché et ses avenants">    </p:cNvPr>
          <p:cNvPicPr>
            <a:picLocks noChangeAspect="1"/>
          </p:cNvPicPr>
          <p:nvPr/>
        </p:nvPicPr>
        <p:blipFill>
          <a:blip r:embed="rId1"/>
          <a:stretch>
            <a:fillRect/>
          </a:stretch>
        </p:blipFill>
        <p:spPr>
          <a:xfrm>
            <a:off x="812780" y="1206500"/>
            <a:ext cx="10566136" cy="2418080"/>
          </a:xfrm>
          <a:prstGeom prst="rect">
            <a:avLst/>
          </a:prstGeom>
        </p:spPr>
      </p:pic>
      <p:sp>
        <p:nvSpPr>
          <p:cNvPr id="6" name="Shape 3"/>
          <p:cNvSpPr/>
          <p:nvPr/>
        </p:nvSpPr>
        <p:spPr>
          <a:xfrm>
            <a:off x="812780" y="3776980"/>
            <a:ext cx="10566136" cy="1790700"/>
          </a:xfrm>
          <a:prstGeom prst="rect">
            <a:avLst/>
          </a:prstGeom>
          <a:solidFill>
            <a:srgbClr val="FCFCFA"/>
          </a:solidFill>
          <a:ln w="9525">
            <a:solidFill>
              <a:srgbClr val="D5DCE4"/>
            </a:solidFill>
            <a:prstDash val="solid"/>
          </a:ln>
        </p:spPr>
      </p:sp>
      <p:sp>
        <p:nvSpPr>
          <p:cNvPr id="7" name="Shape 4"/>
          <p:cNvSpPr/>
          <p:nvPr/>
        </p:nvSpPr>
        <p:spPr>
          <a:xfrm>
            <a:off x="812780" y="3776980"/>
            <a:ext cx="38099" cy="1790700"/>
          </a:xfrm>
          <a:prstGeom prst="rect">
            <a:avLst/>
          </a:prstGeom>
          <a:solidFill>
            <a:srgbClr val="1B6FA8"/>
          </a:solidFill>
          <a:ln/>
        </p:spPr>
      </p:sp>
      <p:sp>
        <p:nvSpPr>
          <p:cNvPr id="8" name="Text 5"/>
          <p:cNvSpPr/>
          <p:nvPr/>
        </p:nvSpPr>
        <p:spPr>
          <a:xfrm>
            <a:off x="977876" y="387858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L’avenant soumis compte dans le cumul : 20 000 000 Ar sur un plafond de 55 333 333,33 Ar.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fin de l’attribution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du marché</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marché signé déposé par la PRMP, une fois le délai et les recours épuisés.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L’enregistrement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et la pièce de l’enregistrement ; rien ne se notifie sans lui.</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notification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notification à l’attributaire, l’accusé de lecture ou la réception déclarée.</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L’avis d’attribution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Produit en PDF et Word, publié dans les trente jours.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5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3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AU_CONTROLE, ATTRIBUE, INFORME, SIGNE, NOTIFIE, PUBLIE, RETIRE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ID_OFFRE_ATTRIBUEE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attribuee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MOTIF_ATTRIBUTION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montant hors taxes du marché (prix corrigé − rabais), le TTC lu et le délai de l'offre attribuée, figés au choix.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3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3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36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MISE_AU_POINT, MARCHE_SIGNE, ENREGISTREMENT, RECOURS, DECISION_RECOURS, FISCALE, SOCIALE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DATE_DELIVRANCE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delivrance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6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dossier de marché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Chaque marché en ligne contrôlé · Un dossier de marché par lot · Des pièces jointes d’office · Un projet de marché tiré de l’offre · Le DAO complet dispense du CCAG · Une grille tirée du guide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Attribuer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RG-ATT-07 → 08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PRMP attribue après l’avis favorable · L’offre proposée, et elle seule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Informer les candidats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RG-ATT-09 → 14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lettre à chaque candidat évalué · Signées en ligne, lues avec accusé · L’affichage déclaré, le résultat publié · Dix jours francs d’attente · Les explications, par écrit · Des modèles provisoires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recours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RG-ATT-15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recours déclarés par la PRMP · Le réexamen ne suspend rien · Révision et référé suspendent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 l’attributaire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Pièces fiscales et sociales en quinze jours · Vérifiées, ou le marché retiré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Signer, enregistrer, notifier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mise au point sans changement substantiel · Les conditions de la signature · Enregistrer avant de notifier · L’effet à la réception · L’avis d’attribution sous trente jours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L’infructuosité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lot proposé infructueux · Jamais après l’attribution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actes de gestion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acte se dépose depuis le marché · Les garde-fous de l’avenant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RG-ATT-29 → 31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L’infructuosité · Reprendre l’évaluation, réattribuer · La déclaration sans suite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RG-ATT-32 → 32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dossier de marché MPI</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a:t>
            </a:r>
            <a:endParaRPr lang="en-US" sz="2600" dirty="0"/>
          </a:p>
        </p:txBody>
      </p:sp>
      <p:graphicFrame>
        <p:nvGraphicFramePr>
          <p:cNvPr id="3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marché en ligne contrôlé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50" b="1" dirty="0">
                          <a:solidFill>
                            <a:srgbClr val="1B2A3A"/>
                          </a:solidFill>
                          <a:latin typeface="Segoe UI" pitchFamily="34" charset="0"/>
                          <a:ea typeface="Segoe UI" pitchFamily="34" charset="-122"/>
                          <a:cs typeface="Segoe UI" pitchFamily="34" charset="-120"/>
                        </a:rPr>
                        <a:t>contrôle a priori</a:t>
                      </a:r>
                      <a:pPr indent="0" marL="0">
                        <a:buNone/>
                      </a:pPr>
                      <a:r>
                        <a:rPr lang="en-US" sz="1150" dirty="0">
                          <a:solidFill>
                            <a:srgbClr val="1B2A3A"/>
                          </a:solidFill>
                          <a:latin typeface="Segoe UI" pitchFamily="34" charset="0"/>
                          <a:ea typeface="Segoe UI" pitchFamily="34" charset="-122"/>
                          <a:cs typeface="Segoe UI" pitchFamily="34" charset="-120"/>
                        </a:rPr>
                        <a:t> de la Commission, sans seuil.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5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jointes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50" b="1" dirty="0">
                          <a:solidFill>
                            <a:srgbClr val="1B2A3A"/>
                          </a:solidFill>
                          <a:latin typeface="Segoe UI" pitchFamily="34" charset="0"/>
                          <a:ea typeface="Segoe UI" pitchFamily="34" charset="-122"/>
                          <a:cs typeface="Segoe UI" pitchFamily="34" charset="-120"/>
                        </a:rPr>
                        <a:t>projet de marché</a:t>
                      </a:r>
                      <a:pPr indent="0" marL="0">
                        <a:buNone/>
                      </a:pPr>
                      <a:r>
                        <a:rPr lang="en-US" sz="1150" dirty="0">
                          <a:solidFill>
                            <a:srgbClr val="1B2A3A"/>
                          </a:solidFill>
                          <a:latin typeface="Segoe UI" pitchFamily="34" charset="0"/>
                          <a:ea typeface="Segoe UI" pitchFamily="34" charset="-122"/>
                          <a:cs typeface="Segoe UI" pitchFamily="34" charset="-120"/>
                        </a:rPr>
                        <a:t> produit par l’application, le DAO, le bordereau de l’offre, le PV d’ouverture et le rapport d’évaluation. Restent à joindre par la PRMP, selon le cas, la capacité financière et la non-objection.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projet de marché tiré de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projet de marché porte les parties, l’objet, les pièces constitutives, le montant hors taxes en chiffres et en lettres et le délai de l’offre retenue, sans modification substantielle.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DAO complet dispense du CCAG</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tirée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2a : le dossier de marché au contrôle de la Commission — V79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3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attribue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proposée, et elle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50" b="1" dirty="0">
                          <a:solidFill>
                            <a:srgbClr val="1B2A3A"/>
                          </a:solidFill>
                          <a:latin typeface="Segoe UI" pitchFamily="34" charset="0"/>
                          <a:ea typeface="Segoe UI" pitchFamily="34" charset="-122"/>
                          <a:cs typeface="Segoe UI" pitchFamily="34" charset="-120"/>
                        </a:rPr>
                        <a:t>proposée</a:t>
                      </a:r>
                      <a:pPr indent="0" marL="0">
                        <a:buNone/>
                      </a:pPr>
                      <a:r>
                        <a:rPr lang="en-US" sz="1150" dirty="0">
                          <a:solidFill>
                            <a:srgbClr val="1B2A3A"/>
                          </a:solidFill>
                          <a:latin typeface="Segoe UI" pitchFamily="34" charset="0"/>
                          <a:ea typeface="Segoe UI" pitchFamily="34" charset="-122"/>
                          <a:cs typeface="Segoe UI" pitchFamily="34" charset="-120"/>
                        </a:rPr>
                        <a:t> par la commission d’appel d’offres, jamais à une autre. En désaccord, la PRMP ne peut que déclarer le lot infructueux ou la procédure sans 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graphicFrame>
        <p:nvGraphicFramePr>
          <p:cNvPr id="3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lettre à chaque candidat évalué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informe tous les candidats dont l’offre a été évaluée : lettre d’attribution à l’attributaire, lettre de rejet aux autres, avec les </a:t>
                      </a:r>
                      <a:pPr indent="0" marL="0">
                        <a:buNone/>
                      </a:pPr>
                      <a:r>
                        <a:rPr lang="en-US" sz="115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50" dirty="0">
                          <a:solidFill>
                            <a:srgbClr val="1B2A3A"/>
                          </a:solidFill>
                          <a:latin typeface="Segoe UI" pitchFamily="34" charset="0"/>
                          <a:ea typeface="Segoe UI" pitchFamily="34" charset="-122"/>
                          <a:cs typeface="Segoe UI" pitchFamily="34" charset="-120"/>
                        </a:rPr>
                        <a:t>, le nom de l’attributaire et le montant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Signées en ligne, lues avec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50" b="1" dirty="0">
                          <a:solidFill>
                            <a:srgbClr val="1B2A3A"/>
                          </a:solidFill>
                          <a:latin typeface="Segoe UI" pitchFamily="34" charset="0"/>
                          <a:ea typeface="Segoe UI" pitchFamily="34" charset="-122"/>
                          <a:cs typeface="Segoe UI" pitchFamily="34" charset="-120"/>
                        </a:rPr>
                        <a:t>accusé de réception</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L’affichage déclaré, le résultat publié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50" b="1" dirty="0">
                          <a:solidFill>
                            <a:srgbClr val="1B2A3A"/>
                          </a:solidFill>
                          <a:latin typeface="Segoe UI" pitchFamily="34" charset="0"/>
                          <a:ea typeface="Segoe UI" pitchFamily="34" charset="-122"/>
                          <a:cs typeface="Segoe UI" pitchFamily="34" charset="-120"/>
                        </a:rPr>
                        <a:t>affichage</a:t>
                      </a:r>
                      <a:pPr indent="0" marL="0">
                        <a:buNone/>
                      </a:pPr>
                      <a:r>
                        <a:rPr lang="en-US" sz="115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Dix jours francs d’attente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50" b="1" dirty="0">
                          <a:solidFill>
                            <a:srgbClr val="1B2A3A"/>
                          </a:solidFill>
                          <a:latin typeface="Segoe UI" pitchFamily="34" charset="0"/>
                          <a:ea typeface="Segoe UI" pitchFamily="34" charset="-122"/>
                          <a:cs typeface="Segoe UI" pitchFamily="34" charset="-120"/>
                        </a:rPr>
                        <a:t>dix jours francs</a:t>
                      </a:r>
                      <a:pPr indent="0" marL="0">
                        <a:buNone/>
                      </a:pPr>
                      <a:r>
                        <a:rPr lang="en-US" sz="1150" dirty="0">
                          <a:solidFill>
                            <a:srgbClr val="1B2A3A"/>
                          </a:solidFill>
                          <a:latin typeface="Segoe UI" pitchFamily="34" charset="0"/>
                          <a:ea typeface="Segoe UI" pitchFamily="34" charset="-122"/>
                          <a:cs typeface="Segoe UI" pitchFamily="34" charset="-120"/>
                        </a:rPr>
                        <a:t>, comptés depuis la plus tardive de l’information et de l’affichage (art. 78) : ni ce jour ni le dixième ne comptent ; la signature est possible le lendemain du dixième.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explications, par écrit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50" b="1" dirty="0">
                          <a:solidFill>
                            <a:srgbClr val="1B2A3A"/>
                          </a:solidFill>
                          <a:latin typeface="Segoe UI" pitchFamily="34" charset="0"/>
                          <a:ea typeface="Segoe UI" pitchFamily="34" charset="-122"/>
                          <a:cs typeface="Segoe UI" pitchFamily="34" charset="-120"/>
                        </a:rPr>
                        <a:t>explications</a:t>
                      </a:r>
                      <a:pPr indent="0" marL="0">
                        <a:buNone/>
                      </a:pPr>
                      <a:r>
                        <a:rPr lang="en-US" sz="115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modèles provisoires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50" b="1" dirty="0">
                          <a:solidFill>
                            <a:srgbClr val="1B2A3A"/>
                          </a:solidFill>
                          <a:latin typeface="Segoe UI" pitchFamily="34" charset="0"/>
                          <a:ea typeface="Segoe UI" pitchFamily="34" charset="-122"/>
                          <a:cs typeface="Segoe UI" pitchFamily="34" charset="-120"/>
                        </a:rPr>
                        <a:t>modèle provisoire</a:t>
                      </a:r>
                      <a:pPr indent="0" marL="0">
                        <a:buNone/>
                      </a:pPr>
                      <a:r>
                        <a:rPr lang="en-US" sz="1150" dirty="0">
                          <a:solidFill>
                            <a:srgbClr val="1B2A3A"/>
                          </a:solidFill>
                          <a:latin typeface="Segoe UI" pitchFamily="34" charset="0"/>
                          <a:ea typeface="Segoe UI" pitchFamily="34" charset="-122"/>
                          <a:cs typeface="Segoe UI" pitchFamily="34" charset="-120"/>
                        </a:rPr>
                        <a:t> de l’application.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3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recours déclarés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réexamen ne suspend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a:t>
                      </a:r>
                      <a:pPr indent="0" marL="0">
                        <a:buNone/>
                      </a:pPr>
                      <a:r>
                        <a:rPr lang="en-US" sz="1150" b="1" dirty="0">
                          <a:solidFill>
                            <a:srgbClr val="1B2A3A"/>
                          </a:solidFill>
                          <a:latin typeface="Segoe UI" pitchFamily="34" charset="0"/>
                          <a:ea typeface="Segoe UI" pitchFamily="34" charset="-122"/>
                          <a:cs typeface="Segoe UI" pitchFamily="34" charset="-120"/>
                        </a:rPr>
                        <a:t>réexamen</a:t>
                      </a:r>
                      <a:pPr indent="0" marL="0">
                        <a:buNone/>
                      </a:pPr>
                      <a:r>
                        <a:rPr lang="en-US" sz="1150" dirty="0">
                          <a:solidFill>
                            <a:srgbClr val="1B2A3A"/>
                          </a:solidFill>
                          <a:latin typeface="Segoe UI" pitchFamily="34" charset="0"/>
                          <a:ea typeface="Segoe UI" pitchFamily="34" charset="-122"/>
                          <a:cs typeface="Segoe UI" pitchFamily="34" charset="-120"/>
                        </a:rPr>
                        <a:t> ne suspend rien, mais la PRMP doit y répondre sous dix 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Révision et référé suspendent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révision à l’ARMP ou un référé </a:t>
                      </a:r>
                      <a:pPr indent="0" marL="0">
                        <a:buNone/>
                      </a:pPr>
                      <a:r>
                        <a:rPr lang="en-US" sz="1150" b="1" dirty="0">
                          <a:solidFill>
                            <a:srgbClr val="1B2A3A"/>
                          </a:solidFill>
                          <a:latin typeface="Segoe UI" pitchFamily="34" charset="0"/>
                          <a:ea typeface="Segoe UI" pitchFamily="34" charset="-122"/>
                          <a:cs typeface="Segoe UI" pitchFamily="34" charset="-120"/>
                        </a:rPr>
                        <a:t>suspend la signature</a:t>
                      </a:r>
                      <a:pPr indent="0" marL="0">
                        <a:buNone/>
                      </a:pPr>
                      <a:r>
                        <a:rPr lang="en-US" sz="1150" dirty="0">
                          <a:solidFill>
                            <a:srgbClr val="1B2A3A"/>
                          </a:solidFill>
                          <a:latin typeface="Segoe UI" pitchFamily="34" charset="0"/>
                          <a:ea typeface="Segoe UI" pitchFamily="34" charset="-122"/>
                          <a:cs typeface="Segoe UI" pitchFamily="34" charset="-120"/>
                        </a:rPr>
                        <a:t> jusqu’à la décision, vingt jours au plus après sa réception.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L'attribution, lot 2, tranche 2c : mise au point, recours, pièces de l'attributaire, signature, notification, avis — V81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3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Pièces fiscales et sociales en quinze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50" b="1" dirty="0">
                          <a:solidFill>
                            <a:srgbClr val="1B2A3A"/>
                          </a:solidFill>
                          <a:latin typeface="Segoe UI" pitchFamily="34" charset="0"/>
                          <a:ea typeface="Segoe UI" pitchFamily="34" charset="-122"/>
                          <a:cs typeface="Segoe UI" pitchFamily="34" charset="-120"/>
                        </a:rPr>
                        <a:t>quinze jours</a:t>
                      </a:r>
                      <a:pPr indent="0" marL="0">
                        <a:buNone/>
                      </a:pPr>
                      <a:r>
                        <a:rPr lang="en-US" sz="1150" dirty="0">
                          <a:solidFill>
                            <a:srgbClr val="1B2A3A"/>
                          </a:solidFill>
                          <a:latin typeface="Segoe UI" pitchFamily="34" charset="0"/>
                          <a:ea typeface="Segoe UI" pitchFamily="34" charset="-122"/>
                          <a:cs typeface="Segoe UI" pitchFamily="34" charset="-120"/>
                        </a:rPr>
                        <a:t> de la lettre d’attribution, une attestation fiscale de moins de six mois et une attestation sociale de moins de trois mois. Il peut redéposer jusqu’à l’échéance ; la dernière pièce fait foi.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Vérifiées, ou le marché retiré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vérifie chaque pièce, avec un motif si elle n’est pas conforme. Faute de pièces conformes à l’échéance, elle </a:t>
                      </a:r>
                      <a:pPr indent="0" marL="0">
                        <a:buNone/>
                      </a:pPr>
                      <a:r>
                        <a:rPr lang="en-US" sz="1150" b="1" dirty="0">
                          <a:solidFill>
                            <a:srgbClr val="1B2A3A"/>
                          </a:solidFill>
                          <a:latin typeface="Segoe UI" pitchFamily="34" charset="0"/>
                          <a:ea typeface="Segoe UI" pitchFamily="34" charset="-122"/>
                          <a:cs typeface="Segoe UI" pitchFamily="34" charset="-120"/>
                        </a:rPr>
                        <a:t>retire</a:t>
                      </a:r>
                      <a:pPr indent="0" marL="0">
                        <a:buNone/>
                      </a:pPr>
                      <a:r>
                        <a:rPr lang="en-US" sz="1150" dirty="0">
                          <a:solidFill>
                            <a:srgbClr val="1B2A3A"/>
                          </a:solidFill>
                          <a:latin typeface="Segoe UI" pitchFamily="34" charset="0"/>
                          <a:ea typeface="Segoe UI" pitchFamily="34" charset="-122"/>
                          <a:cs typeface="Segoe UI" pitchFamily="34" charset="-120"/>
                        </a:rPr>
                        <a:t> le marché, avant sa signature.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enregistrer, notifier</a:t>
            </a:r>
            <a:endParaRPr lang="en-US" sz="2600" dirty="0"/>
          </a:p>
        </p:txBody>
      </p:sp>
      <p:graphicFrame>
        <p:nvGraphicFramePr>
          <p:cNvPr id="36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au point sans changement substantiel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de la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n’est signé qu’après le délai d’attente, sans recours suspensif en cours, et une fois les deux pièces de l’attributaire reconnues conformes. La PRMP dépose le marché signé.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avant de notifier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est </a:t>
                      </a:r>
                      <a:pPr indent="0" marL="0">
                        <a:buNone/>
                      </a:pPr>
                      <a:r>
                        <a:rPr lang="en-US" sz="1150" b="1" dirty="0">
                          <a:solidFill>
                            <a:srgbClr val="1B2A3A"/>
                          </a:solidFill>
                          <a:latin typeface="Segoe UI" pitchFamily="34" charset="0"/>
                          <a:ea typeface="Segoe UI" pitchFamily="34" charset="-122"/>
                          <a:cs typeface="Segoe UI" pitchFamily="34" charset="-120"/>
                        </a:rPr>
                        <a:t>enregistré</a:t>
                      </a:r>
                      <a:pPr indent="0" marL="0">
                        <a:buNone/>
                      </a:pPr>
                      <a:r>
                        <a:rPr lang="en-US" sz="1150" dirty="0">
                          <a:solidFill>
                            <a:srgbClr val="1B2A3A"/>
                          </a:solidFill>
                          <a:latin typeface="Segoe UI" pitchFamily="34" charset="0"/>
                          <a:ea typeface="Segoe UI" pitchFamily="34" charset="-122"/>
                          <a:cs typeface="Segoe UI" pitchFamily="34" charset="-120"/>
                        </a:rPr>
                        <a:t> — une date et le justificatif — avant d’être notifié : aucune notification sans enregistrement.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L’effet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50" b="1" dirty="0">
                          <a:solidFill>
                            <a:srgbClr val="1B2A3A"/>
                          </a:solidFill>
                          <a:latin typeface="Segoe UI" pitchFamily="34" charset="0"/>
                          <a:ea typeface="Segoe UI" pitchFamily="34" charset="-122"/>
                          <a:cs typeface="Segoe UI" pitchFamily="34" charset="-120"/>
                        </a:rPr>
                        <a:t>réception</a:t>
                      </a:r>
                      <a:pPr indent="0" marL="0">
                        <a:buNone/>
                      </a:pPr>
                      <a:r>
                        <a:rPr lang="en-US" sz="115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ou du résultat sur la plateforme.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d’attribution sous trente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50" b="1" dirty="0">
                          <a:solidFill>
                            <a:srgbClr val="1B2A3A"/>
                          </a:solidFill>
                          <a:latin typeface="Segoe UI" pitchFamily="34" charset="0"/>
                          <a:ea typeface="Segoe UI" pitchFamily="34" charset="-122"/>
                          <a:cs typeface="Segoe UI" pitchFamily="34" charset="-120"/>
                        </a:rPr>
                        <a:t>trente jours</a:t>
                      </a:r>
                      <a:pPr indent="0" marL="0">
                        <a:buNone/>
                      </a:pPr>
                      <a:r>
                        <a:rPr lang="en-US" sz="1150" dirty="0">
                          <a:solidFill>
                            <a:srgbClr val="1B2A3A"/>
                          </a:solidFill>
                          <a:latin typeface="Segoe UI" pitchFamily="34" charset="0"/>
                          <a:ea typeface="Segoe UI" pitchFamily="34" charset="-122"/>
                          <a:cs typeface="Segoe UI" pitchFamily="34" charset="-120"/>
                        </a:rPr>
                        <a:t> de la notification, sur la page publique de la procédure ; une publication tardive est acceptée et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36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lot proposé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après l’attribution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a:t>
            </a:r>
            <a:endParaRPr lang="en-US" sz="2600" dirty="0"/>
          </a:p>
        </p:txBody>
      </p:sp>
      <p:graphicFrame>
        <p:nvGraphicFramePr>
          <p:cNvPr id="37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se dépose depuis le marché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Avenant, résiliation, indemnité, remise de pénalités, sursis : déposés depuis un dossier de marché dont le dernier PV signé est favorable ; jamais par la saisie libre. L’acte naît en brouillon au nom de la PRMP, puis suit le circuit (pièces de son sous-type, grille, motifs-types).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garde-fous de l’avenant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cumul des avenants déjà soumis (hors avis défavorable) et du nouveau ne dépasse pas le </a:t>
                      </a:r>
                      <a:pPr indent="0" marL="0">
                        <a:buNone/>
                      </a:pPr>
                      <a:r>
                        <a:rPr lang="en-US" sz="1150" b="1" dirty="0">
                          <a:solidFill>
                            <a:srgbClr val="1B2A3A"/>
                          </a:solidFill>
                          <a:latin typeface="Segoe UI" pitchFamily="34" charset="0"/>
                          <a:ea typeface="Segoe UI" pitchFamily="34" charset="-122"/>
                          <a:cs typeface="Segoe UI" pitchFamily="34" charset="-120"/>
                        </a:rPr>
                        <a:t>tiers</a:t>
                      </a:r>
                      <a:pPr indent="0" marL="0">
                        <a:buNone/>
                      </a:pPr>
                      <a:r>
                        <a:rPr lang="en-US" sz="1150" dirty="0">
                          <a:solidFill>
                            <a:srgbClr val="1B2A3A"/>
                          </a:solidFill>
                          <a:latin typeface="Segoe UI" pitchFamily="34" charset="0"/>
                          <a:ea typeface="Segoe UI" pitchFamily="34" charset="-122"/>
                          <a:cs typeface="Segoe UI" pitchFamily="34" charset="-120"/>
                        </a:rPr>
                        <a:t> du montant initial HT ; pas d’avenant après la réception (définitive en travaux, provisoire ou définitive ailleurs) ni après le solde. Contrôlé au dépôt, à la modification et de nouveau à la soumission ; le montant initial et la catégorie se déclarent s’ils ne sont pas connus.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M5a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le rapport</a:t>
            </a:r>
            <a:endParaRPr lang="en-US" sz="2600" dirty="0"/>
          </a:p>
        </p:txBody>
      </p:sp>
      <p:graphicFrame>
        <p:nvGraphicFramePr>
          <p:cNvPr id="37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L’infructuosité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la déclare (motif, sa décision, la suite envisagée) quand le rapport la propose ou que la Commission refuse le dossier de marché ; jamais une fois le lot attribué (art. 56-VI). Les candidats sont notifiés, la page publique l’affiche.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Reprendre l’évaluation, réattribuer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un avis défavorable, la PRMP peut reprendre l’évaluation (motif) : le rapport signé est archivé, l’évaluation rouverte en entier, un nouveau dossier suivra. Après le retrait du marché, elle réattribue au candidat suivant : sa post-qualification (en PI, sa négociation), une offre encore valide, une nouvelle information et un nouveau délai ; sans suivant éligible, seul le sans suite reste.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sans suite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signature d’un marché, la PRMP demande, motifs à l’appui : un dossier DSS suit le circuit et la Commission rend un avis favorable ou défavorable sous cinq jours de la réception. Favorable, la PRMP déclare : procédure close, candidats informés, sans indemnité (art. 55) ; tant qu’une demande attend, la signature est suspendue.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Attribution, tranche 2d : demande attribution-notification du 07/10, V91-V93, 2d-1 · Attribution, tranche 2d : demande attribution-notification du 07/10, V91-V93, 2d-1 et 2d-2 · Attribution, tranche 2d : demande attribution-notification du 07/10, V91-V93, 2d-3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7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dossier de marché MPI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marché d’une fiche de prestations intellectuelles se crée au sous-type MPI ; le devis joint d’office est le bordereau de l’enveloppe financière ; un lot proposé infructueux n’a pas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10</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Intérim et mandats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Un titulaire absent est suppléé par un intérimaire désigné ; une PRMP sans mandat en vigueur met ses dossiers en attente.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désigne lui-même qui agit à sa place pendant son absence : le Président, un Chef de commission ; un Chef de commission, un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pièce, pour une période ; historique et révocation.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 · RG-INT-07 · RG-INT-08 · RG-INT-09 · RG-INT-10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voit tous les intérims et peut en désigner (repli) : titulaire, intérimaire, période, motif, référence, état.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indélébile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mandats de chaque PRMP ; sans mandat en vigueur, la vacance met ses dossiers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RG-INT-11 · RG-INT-12 · RG-INT-13 · RG-INT-14 · RG-INT-15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l’intérim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Désigner un intérim</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période, l’intérimaire, la pièce.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Exercé par intérim</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rubrique de l’intérimaire, les bannières, les gestes au nom du titulaire.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visa par intérim</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note du PV, la mention régionale.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7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37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38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8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L’intérim désigné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acte daté, avec pièce · Qui peut suppléer qui · Chacun déclare sa propre absence · Un seul intérim à la fois · Statut déduit des dates · Révocation sans effet rétroactif</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Effets de l’intérim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Agir dans le périmètre du titulaire · Le dispatcheur enregistré reste le titulaire · Visa sans note, une part par personne · Notifications copiées, jamais détournées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RG-INT-11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déclaré par l’Administrateur · Reconduction unique, jamais prolongation · Statut du mandat déduit des dates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Vacance et 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RG-INT-14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Vacance : traitement suspendu · Reprise par le nouveau titulaire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a:t>
            </a:r>
            <a:endParaRPr lang="en-US" sz="2600" dirty="0"/>
          </a:p>
        </p:txBody>
      </p:sp>
      <p:graphicFrame>
        <p:nvGraphicFramePr>
          <p:cNvPr id="3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daté, avec pièce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nouvel intérim, une fin avant terme une révocation.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peut suppléer qui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est suppléé par un Chef de commission de toute localité ; un Chef de commission de la Centrale, par un autre de la Centrale ou un Membre de sa localité ; un Chef de commission régional, par un Membre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déclare sa propre absence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en repli. Les autres profils ne déclarent pas d'absence : réattribution et délégation les couvrent.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seul intérim à la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côté intérimaire est signalé, jamais interdit.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ouvre des droits, et il n'est pas transitif.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Révocation sans effet rétroactif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le désignateur ou l'Administrateur révoque l'intérim, au plus tôt à la date du jour. Les droits tombent aussitôt ; les actes déjà posés restent ceux de l'intérimaire.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3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Agir dans le périmètre du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Membre et les lettres de renvoi restent hors de l'intérim.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dispatcheur enregistré reste le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vise donc le PV que son intérimaire a dispatché.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sans note, une part par personne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désigné vise sans note : la désignation suffit. Il ne vise pas le PV de son propre examen et ne signe jamais deux parts d'un même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Notifications copiées, jamais détournées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notification adressée au titulaire est copiée à son intérimaire actif ; le titulaire garde ses tâches et son historique. Journal et chronométrage portent la mention « par intérim de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38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déclaré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Reconduction unique, jamais prolongation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reconduction est un nouveau mandat, avec un nouvel arrêté et des dates qui succèdent au précédent. Une même personne porte au plus deux mandats ; aucun mandat ne s'allonge.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du mandat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L'abrogation, fin avant terme motivée, prime sur les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Mandats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38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par la PRMP ou l'UGPM est bloqué (VACANCE_PRMP) : le dossier attend, sans obligation d'intérim. Le circuit de la Commission n'est jamais suspendu.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Reprise par le nouveau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qu'un mandat redevient actif, le blocage tombe de lui-même et le compte de la PRMP reconduite est réactivé. Le nouveau titulaire reprend le traitement comme opérateur ; l'attribution des dossiers ne change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Administrer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tient les comptes, les référentiels (natures, modes, types de DMC, statuts, seuils), les paramètres et les actualités.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attend l’Administrateur : inscriptions, rattachements, procédures sans responsable ; les derniers changements de paramètres ; les accès.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RG-ADM-03 · RG-ADM-05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inscriptions des PRMP (et des UGPM) en attente : valider ouvre le compte, refuser le dit au demandeur.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L’annuaire : chaque personne, son profil, son rattachement, l’état de son compte ; sa fiche réunit ses accès et les gestes qui la concernent.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RG-ADM-04 · RG-ADM-05 · RG-ADM-06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chaînes Membre → Vérificateur → Assistant, pour toutes les localités.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(réception, dispatch, examen, visa…) : la base des alertes de retard et des fins de traitement prévues.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RG-ADM-12 · RG-ADM-13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des points communs, et des points propres à un sous-type de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391</a:t>
            </a:r>
            <a:endParaRPr lang="en-US" sz="110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seuil qui déclenche l’avis général de passation pour une ligne en appel à manifestation d’intérêt.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392</a:t>
            </a:r>
            <a:endParaRPr lang="en-US" sz="110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règles qui déclenchent les alertes du pilotage.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393</a:t>
            </a:r>
            <a:endParaRPr lang="en-US" sz="110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référentiels : entités, localités, natures, modes de passation, types et sous-types de dossiers, pièces, statuts de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RG-ADM-17 · RG-ADM-18 · RG-ADM-20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394</a:t>
            </a:r>
            <a:endParaRPr lang="en-US" sz="110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de chaque mode à un type de dossier de mise en concurrence ; sans lui, aucune fiche ne se crée sur les lignes de ce mode.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395</a:t>
            </a:r>
            <a:endParaRPr lang="en-US" sz="110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référentiel des informations de la fiche, par forme et par catégorie ; un champ retiré se réactive en une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396</a:t>
            </a:r>
            <a:endParaRPr lang="en-US" sz="110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valeurs par défaut et les bornes de la remise électronique (délais, tailles de fichiers, quorum).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RG-ADM-23 · RG-ADM-24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397</a:t>
            </a:r>
            <a:endParaRPr lang="en-US" sz="110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où se versent les frais de dossier ; les DAO le citent.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398</a:t>
            </a:r>
            <a:endParaRPr lang="en-US" sz="110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exclusions prononcées par l’ARMP ; une entreprise exclue ne peut pas déposer d’offre.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399</a:t>
            </a:r>
            <a:endParaRPr lang="en-US" sz="110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inscrites, leur NIF et sa vérification,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400</a:t>
            </a:r>
            <a:endParaRPr lang="en-US" sz="110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journa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acteur, table, action — et toute connexion ; filtrable par table, acteur et 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RG-ADM-31 · RG-ADM-32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401</a:t>
            </a:r>
            <a:endParaRPr lang="en-US" sz="110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Publier une actualité ciblée par profil, affichée à la connexion ; l’historique des actualités.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402</a:t>
            </a:r>
            <a:endParaRPr lang="en-US" sz="110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 combien de signalements, combien écartés ; pour corriger les règles qui alertent à tort.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403</a:t>
            </a:r>
            <a:endParaRPr lang="en-US" sz="110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0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404</a:t>
            </a:r>
            <a:endParaRPr lang="en-US" sz="110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0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405</a:t>
            </a:r>
            <a:endParaRPr lang="en-US" sz="110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0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406</a:t>
            </a:r>
            <a:endParaRPr lang="en-US" sz="110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407</a:t>
            </a:r>
            <a:endParaRPr lang="en-US" sz="110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4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408</a:t>
            </a:r>
            <a:endParaRPr lang="en-US" sz="110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41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409</a:t>
            </a:r>
            <a:endParaRPr lang="en-US" sz="110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41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410</a:t>
            </a:r>
            <a:endParaRPr lang="en-US" sz="110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41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411</a:t>
            </a:r>
            <a:endParaRPr lang="en-US" sz="110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41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412</a:t>
            </a:r>
            <a:endParaRPr lang="en-US" sz="110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4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413</a:t>
            </a:r>
            <a:endParaRPr lang="en-US" sz="110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4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414</a:t>
            </a:r>
            <a:endParaRPr lang="en-US" sz="110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4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415</a:t>
            </a:r>
            <a:endParaRPr lang="en-US" sz="110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1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Accès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Inscription vérifiée par l’Administrateur · Validation entité par entité · Refus toujours motivé · Une seule porte pour décider · Suspendu n’est pas refusé · UGPM rattachée à sa tutelle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et entités de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RG-ADM-07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de trois ans · Vacance : traitement suspendu · Une entité, une seule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Organisation du 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RG-ADM-10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Chaînes Membre, Vérificateur, Assistant · Délégations par paires listées · Délais standards en heures ouvrées · Huit étapes, fenêtre de service · Points communs ou par sous-type · Seuil AGPM de l’AMI · Règles d’alerte paramétrables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Nomenclatures et fiche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RG-ADM-17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Statut de marché encadré · La nature donne la catégorie · Mode de passation, type de dossier · Sous-types et pièces attendues · Un champ se désactive · Seuils datés, pour signaler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Remise électronique et entreprises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RG-ADM-23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Défauts de la remise électronique · Signature minimale et mise en ligne · Compte bancaire de l’ARMP · Paramètres de l’espace candidat · NIF vérifié sur pièces · Exclusions ARMP indélébiles · Un responsable par procédure · Conservation et purge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Traces et communication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RG-ADM-31 → 33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Journal d’audit immuable · Connexions journalisées · Actualités ciblées et archivées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RG-ADM-34 → 35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Taux d’écartement par règle · Levé n’est pas écarté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416</a:t>
            </a:r>
            <a:endParaRPr lang="en-US" sz="110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a:t>
            </a:r>
            <a:endParaRPr lang="en-US" sz="2600" dirty="0"/>
          </a:p>
        </p:txBody>
      </p:sp>
      <p:graphicFrame>
        <p:nvGraphicFramePr>
          <p:cNvPr id="4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Inscription vérifiée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s’inscrit en ligne avec son arrêté de nomination et sa CIN ; son compte reste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50" b="1" dirty="0">
                          <a:solidFill>
                            <a:srgbClr val="1B2A3A"/>
                          </a:solidFill>
                          <a:latin typeface="Segoe UI" pitchFamily="34" charset="0"/>
                          <a:ea typeface="Segoe UI" pitchFamily="34" charset="-122"/>
                          <a:cs typeface="Segoe UI" pitchFamily="34" charset="-120"/>
                        </a:rPr>
                        <a:t>une entité</a:t>
                      </a:r>
                      <a:pPr indent="0" marL="0">
                        <a:buNone/>
                      </a:pPr>
                      <a:r>
                        <a:rPr lang="en-US" sz="115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Refus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 le compte passe « refusé », reste fermé, et la PRMP est avisée du motif. Les demandes d’accès réunissent les inscriptions des PRMP et des UGPM ; le compteur du menu les compte toutes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seule porte pour décider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réactiver ouvrirait un accès jamais accordé et contournerait le rattachement des entités.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Suspendu n’est pas refusé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50" b="1" dirty="0">
                          <a:solidFill>
                            <a:srgbClr val="1B2A3A"/>
                          </a:solidFill>
                          <a:latin typeface="Segoe UI" pitchFamily="34" charset="0"/>
                          <a:ea typeface="Segoe UI" pitchFamily="34" charset="-122"/>
                          <a:cs typeface="Segoe UI" pitchFamily="34" charset="-120"/>
                        </a:rPr>
                        <a:t>suspendu</a:t>
                      </a:r>
                      <a:pPr indent="0" marL="0">
                        <a:buNone/>
                      </a:pPr>
                      <a:r>
                        <a:rPr lang="en-US" sz="115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crée une UGPM rattachée à sa </a:t>
                      </a:r>
                      <a:pPr indent="0" marL="0">
                        <a:buNone/>
                      </a:pPr>
                      <a:r>
                        <a:rPr lang="en-US" sz="1150" b="1" dirty="0">
                          <a:solidFill>
                            <a:srgbClr val="1B2A3A"/>
                          </a:solidFill>
                          <a:latin typeface="Segoe UI" pitchFamily="34" charset="0"/>
                          <a:ea typeface="Segoe UI" pitchFamily="34" charset="-122"/>
                          <a:cs typeface="Segoe UI" pitchFamily="34" charset="-120"/>
                        </a:rPr>
                        <a:t>PRMP de tutelle</a:t>
                      </a:r>
                      <a:pPr indent="0" marL="0">
                        <a:buNone/>
                      </a:pPr>
                      <a:r>
                        <a:rPr lang="en-US" sz="1150" dirty="0">
                          <a:solidFill>
                            <a:srgbClr val="1B2A3A"/>
                          </a:solidFill>
                          <a:latin typeface="Segoe UI" pitchFamily="34" charset="0"/>
                          <a:ea typeface="Segoe UI" pitchFamily="34" charset="-122"/>
                          <a:cs typeface="Segoe UI" pitchFamily="34" charset="-120"/>
                        </a:rPr>
                        <a:t>, avec son compte actif. L’UGPM n’a pas d’entité propre : elle partage le périmètre de sa tutelle.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 · api-endpoints.md § Administration des 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417</a:t>
            </a:r>
            <a:endParaRPr lang="en-US" sz="110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4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50" b="1" dirty="0">
                          <a:solidFill>
                            <a:srgbClr val="1B2A3A"/>
                          </a:solidFill>
                          <a:latin typeface="Segoe UI" pitchFamily="34" charset="0"/>
                          <a:ea typeface="Segoe UI" pitchFamily="34" charset="-122"/>
                          <a:cs typeface="Segoe UI" pitchFamily="34" charset="-120"/>
                        </a:rPr>
                        <a:t>validée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 une PRMP peut en gérer plusieurs. L’entité créée par une PRMP ou son UGPM naît rattachée en attente : l’Administrateur approuve ou rejette le rattachement.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418</a:t>
            </a:r>
            <a:endParaRPr lang="en-US" sz="110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4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Délégations par paires listées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délégation est une paire de profils, activable : le Président exerce les tâches de cinq profils, le Chef de commission de quatre. La relation </a:t>
                      </a:r>
                      <a:pPr indent="0" marL="0">
                        <a:buNone/>
                      </a:pPr>
                      <a:r>
                        <a:rPr lang="en-US" sz="1150" b="1" dirty="0">
                          <a:solidFill>
                            <a:srgbClr val="1B2A3A"/>
                          </a:solidFill>
                          <a:latin typeface="Segoe UI" pitchFamily="34" charset="0"/>
                          <a:ea typeface="Segoe UI" pitchFamily="34" charset="-122"/>
                          <a:cs typeface="Segoe UI" pitchFamily="34" charset="-120"/>
                        </a:rPr>
                        <a:t>n’est pas transitive</a:t>
                      </a:r>
                      <a:pPr indent="0" marL="0">
                        <a:buNone/>
                      </a:pPr>
                      <a:r>
                        <a:rPr lang="en-US" sz="1150" dirty="0">
                          <a:solidFill>
                            <a:srgbClr val="1B2A3A"/>
                          </a:solidFill>
                          <a:latin typeface="Segoe UI" pitchFamily="34" charset="0"/>
                          <a:ea typeface="Segoe UI" pitchFamily="34" charset="-122"/>
                          <a:cs typeface="Segoe UI" pitchFamily="34" charset="-120"/>
                        </a:rPr>
                        <a:t>. Les signatures du PV et des lettres de renvoi ne se délèguent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Délais standards en heures ouvrées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délai de chaque étape se fixe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par l’Administrateur seul ; tous peuvent le lire. Il donne la date annoncée à la PRMP dès la soumission. Un délai de moins d’une heure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Huit étapes, fenêtre de service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50" b="1" dirty="0">
                          <a:solidFill>
                            <a:srgbClr val="1B2A3A"/>
                          </a:solidFill>
                          <a:latin typeface="Segoe UI" pitchFamily="34" charset="0"/>
                          <a:ea typeface="Segoe UI" pitchFamily="34" charset="-122"/>
                          <a:cs typeface="Segoe UI" pitchFamily="34" charset="-120"/>
                        </a:rPr>
                        <a:t>huit étapes</a:t>
                      </a:r>
                      <a:pPr indent="0" marL="0">
                        <a:buNone/>
                      </a:pPr>
                      <a:r>
                        <a:rPr lang="en-US" sz="1150" dirty="0">
                          <a:solidFill>
                            <a:srgbClr val="1B2A3A"/>
                          </a:solidFill>
                          <a:latin typeface="Segoe UI" pitchFamily="34" charset="0"/>
                          <a:ea typeface="Segoe UI" pitchFamily="34" charset="-122"/>
                          <a:cs typeface="Segoe UI" pitchFamily="34" charset="-120"/>
                        </a:rPr>
                        <a:t>, avec un repli de 8 h pour une étape manquante. Le temps écoulé se compte de 8 h à 16 h, du lundi au vendredi.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Points communs ou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50" b="1" dirty="0">
                          <a:solidFill>
                            <a:srgbClr val="1B2A3A"/>
                          </a:solidFill>
                          <a:latin typeface="Segoe UI" pitchFamily="34" charset="0"/>
                          <a:ea typeface="Segoe UI" pitchFamily="34" charset="-122"/>
                          <a:cs typeface="Segoe UI" pitchFamily="34" charset="-120"/>
                        </a:rPr>
                        <a:t>commun</a:t>
                      </a:r>
                      <a:pPr indent="0" marL="0">
                        <a:buNone/>
                      </a:pPr>
                      <a:r>
                        <a:rPr lang="en-US" sz="1150" dirty="0">
                          <a:solidFill>
                            <a:srgbClr val="1B2A3A"/>
                          </a:solidFill>
                          <a:latin typeface="Segoe UI" pitchFamily="34" charset="0"/>
                          <a:ea typeface="Segoe UI" pitchFamily="34" charset="-122"/>
                          <a:cs typeface="Segoe UI" pitchFamily="34" charset="-120"/>
                        </a:rPr>
                        <a:t>, avec un sous-type il lui est propre. La grille d’un dossier réunit les communs de sa famille et les points de son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 AGPM de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appel à manifestation d’intérêt rend l’AGPM requis à partir du seuil fixé par l’Administrateur, comparé </a:t>
                      </a:r>
                      <a:pPr indent="0" marL="0">
                        <a:buNone/>
                      </a:pPr>
                      <a:r>
                        <a:rPr lang="en-US" sz="1150" b="1" dirty="0">
                          <a:solidFill>
                            <a:srgbClr val="1B2A3A"/>
                          </a:solidFill>
                          <a:latin typeface="Segoe UI" pitchFamily="34" charset="0"/>
                          <a:ea typeface="Segoe UI" pitchFamily="34" charset="-122"/>
                          <a:cs typeface="Segoe UI" pitchFamily="34" charset="-120"/>
                        </a:rPr>
                        <a:t>marché par marché</a:t>
                      </a:r>
                      <a:pPr indent="0" marL="0">
                        <a:buNone/>
                      </a:pPr>
                      <a:r>
                        <a:rPr lang="en-US" sz="1150" dirty="0">
                          <a:solidFill>
                            <a:srgbClr val="1B2A3A"/>
                          </a:solidFill>
                          <a:latin typeface="Segoe UI" pitchFamily="34" charset="0"/>
                          <a:ea typeface="Segoe UI" pitchFamily="34" charset="-122"/>
                          <a:cs typeface="Segoe UI" pitchFamily="34" charset="-120"/>
                        </a:rPr>
                        <a:t>, borne incluse. Sans seuil saisi, tout marché de ce mode le déclenche. Tout appel d’offres, lui, le déclenche toujours.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pilotée par les données · regles-gestion.md § 3.8. Administrateur › Module 03 — Référentiels &amp; paramétrage › Délais standards du circuit · regles-gestion.md § Chronométrage et prévision des délais (transversal au circuit) · regles-gestion.md § 3.1. PRMP › Module 03 — Soumission &amp; retours › FAMILLES et SOUS-TYPES de dossier · regles-gestion.md § 3.1. PRMP › Module 02 — Saisie &amp; gestion PPM › Sous-type PPM / PPM-AGPM et référence du dossier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419</a:t>
            </a:r>
            <a:endParaRPr lang="en-US" sz="110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4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Règles d’alerte paramétrables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420</a:t>
            </a:r>
            <a:endParaRPr lang="en-US" sz="110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a:t>
            </a:r>
            <a:endParaRPr lang="en-US" sz="2600" dirty="0"/>
          </a:p>
        </p:txBody>
      </p:sp>
      <p:graphicFrame>
        <p:nvGraphicFramePr>
          <p:cNvPr id="4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de marché encadré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d’un marché est un code du référentiel. « Prévu » sert de défaut et </a:t>
                      </a:r>
                      <a:pPr indent="0" marL="0">
                        <a:buNone/>
                      </a:pPr>
                      <a:r>
                        <a:rPr lang="en-US" sz="1150" b="1" dirty="0">
                          <a:solidFill>
                            <a:srgbClr val="1B2A3A"/>
                          </a:solidFill>
                          <a:latin typeface="Segoe UI" pitchFamily="34" charset="0"/>
                          <a:ea typeface="Segoe UI" pitchFamily="34" charset="-122"/>
                          <a:cs typeface="Segoe UI" pitchFamily="34" charset="-120"/>
                        </a:rPr>
                        <a:t>ne se supprime pas</a:t>
                      </a:r>
                      <a:pPr indent="0" marL="0">
                        <a:buNone/>
                      </a:pPr>
                      <a:r>
                        <a:rPr lang="en-US" sz="1150" dirty="0">
                          <a:solidFill>
                            <a:srgbClr val="1B2A3A"/>
                          </a:solidFill>
                          <a:latin typeface="Segoe UI" pitchFamily="34" charset="0"/>
                          <a:ea typeface="Segoe UI" pitchFamily="34" charset="-122"/>
                          <a:cs typeface="Segoe UI" pitchFamily="34" charset="-120"/>
                        </a:rPr>
                        <a:t> ; un statut désactivé reste accepté sur les marchés qui le portent. Un code inconnu est refusé avec la liste des valeurs possibles.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nature donne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50" b="1" dirty="0">
                          <a:solidFill>
                            <a:srgbClr val="1B2A3A"/>
                          </a:solidFill>
                          <a:latin typeface="Segoe UI" pitchFamily="34" charset="0"/>
                          <a:ea typeface="Segoe UI" pitchFamily="34" charset="-122"/>
                          <a:cs typeface="Segoe UI" pitchFamily="34" charset="-120"/>
                        </a:rPr>
                        <a:t>nature</a:t>
                      </a:r>
                      <a:pPr indent="0" marL="0">
                        <a:buNone/>
                      </a:pPr>
                      <a:r>
                        <a:rPr lang="en-US" sz="115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Mode de passation, type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DC, BC…), liste ouverte. Sans rattachement à un type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aucune ligne de ce mode ne peut recevoir de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Sous-types et pièces attendues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sous-types forment un référentiel ouvert, rattaché aux familles DDP, DMC et DDM ; celui d’un plan est dérivé par le serveur. Les pièces attendues se rattachent à la famille ; 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est exigée à la soumission.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champ se désactive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50" b="1" dirty="0">
                          <a:solidFill>
                            <a:srgbClr val="1B2A3A"/>
                          </a:solidFill>
                          <a:latin typeface="Segoe UI" pitchFamily="34" charset="0"/>
                          <a:ea typeface="Segoe UI" pitchFamily="34" charset="-122"/>
                          <a:cs typeface="Segoe UI" pitchFamily="34" charset="-120"/>
                        </a:rPr>
                        <a:t>désactive</a:t>
                      </a:r>
                      <a:pPr indent="0" marL="0">
                        <a:buNone/>
                      </a:pPr>
                      <a:r>
                        <a:rPr lang="en-US" sz="115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Seuils datés, pour signaler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50" b="1" dirty="0">
                          <a:solidFill>
                            <a:srgbClr val="1B2A3A"/>
                          </a:solidFill>
                          <a:latin typeface="Segoe UI" pitchFamily="34" charset="0"/>
                          <a:ea typeface="Segoe UI" pitchFamily="34" charset="-122"/>
                          <a:cs typeface="Segoe UI" pitchFamily="34" charset="-120"/>
                        </a:rPr>
                        <a:t>signaler</a:t>
                      </a:r>
                      <a:pPr indent="0" marL="0">
                        <a:buNone/>
                      </a:pPr>
                      <a:r>
                        <a:rPr lang="en-US" sz="115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demande front du 2026-09-24, pilote) · api-endpoints.md § Types de DMC (dossier de mise en concurrence) · regles-gestion.md § 3.1. PRMP › Module 03 — Soumission &amp; retours › FAMILLES et SOUS-TYPES de dossier · api-endpoints.md § Référentiel champs-fiche-marche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421</a:t>
            </a:r>
            <a:endParaRPr lang="en-US" sz="110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4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Défauts de la remise électronique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les défauts de la remise électronique : plateforme, fuseau, signature minimale, tailles, délai minimal de publication, assistance, quorum proposé. Un défaut se recopie à la </a:t>
                      </a:r>
                      <a:pPr indent="0" marL="0">
                        <a:buNone/>
                      </a:pPr>
                      <a:r>
                        <a:rPr lang="en-US" sz="1150" b="1" dirty="0">
                          <a:solidFill>
                            <a:srgbClr val="1B2A3A"/>
                          </a:solidFill>
                          <a:latin typeface="Segoe UI" pitchFamily="34" charset="0"/>
                          <a:ea typeface="Segoe UI" pitchFamily="34" charset="-122"/>
                          <a:cs typeface="Segoe UI" pitchFamily="34" charset="-120"/>
                        </a:rPr>
                        <a:t>création</a:t>
                      </a:r>
                      <a:pPr indent="0" marL="0">
                        <a:buNone/>
                      </a:pPr>
                      <a:r>
                        <a:rPr lang="en-US" sz="1150" dirty="0">
                          <a:solidFill>
                            <a:srgbClr val="1B2A3A"/>
                          </a:solidFill>
                          <a:latin typeface="Segoe UI" pitchFamily="34" charset="0"/>
                          <a:ea typeface="Segoe UI" pitchFamily="34" charset="-122"/>
                          <a:cs typeface="Segoe UI" pitchFamily="34" charset="-120"/>
                        </a:rPr>
                        <a:t>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Signature minimale et mise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Tant que l’Administrateur ne l’abaisse pas à </a:t>
                      </a:r>
                      <a:pPr indent="0" marL="0">
                        <a:buNone/>
                      </a:pPr>
                      <a:r>
                        <a:rPr lang="en-US" sz="1150" b="1" dirty="0">
                          <a:solidFill>
                            <a:srgbClr val="1B2A3A"/>
                          </a:solidFill>
                          <a:latin typeface="Segoe UI" pitchFamily="34" charset="0"/>
                          <a:ea typeface="Segoe UI" pitchFamily="34" charset="-122"/>
                          <a:cs typeface="Segoe UI" pitchFamily="34" charset="-120"/>
                        </a:rPr>
                        <a:t>Simple</a:t>
                      </a:r>
                      <a:pPr indent="0" marL="0">
                        <a:buNone/>
                      </a:pPr>
                      <a:r>
                        <a:rPr lang="en-US" sz="1150" dirty="0">
                          <a:solidFill>
                            <a:srgbClr val="1B2A3A"/>
                          </a:solidFill>
                          <a:latin typeface="Segoe UI" pitchFamily="34" charset="0"/>
                          <a:ea typeface="Segoe UI" pitchFamily="34" charset="-122"/>
                          <a:cs typeface="Segoe UI" pitchFamily="34" charset="-120"/>
                        </a:rPr>
                        <a:t>, aucune procédure ne paraît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Compte bancaire de l’ARMP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les documents ; un document figé garde le compte du moment, et sans réglage il imprime des pointillés.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Paramètres de l’espace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Un compte jamais confirmé est supprimé, un compte inactif </a:t>
                      </a:r>
                      <a:pPr indent="0" marL="0">
                        <a:buNone/>
                      </a:pPr>
                      <a:r>
                        <a:rPr lang="en-US" sz="1150" b="1" dirty="0">
                          <a:solidFill>
                            <a:srgbClr val="1B2A3A"/>
                          </a:solidFill>
                          <a:latin typeface="Segoe UI" pitchFamily="34" charset="0"/>
                          <a:ea typeface="Segoe UI" pitchFamily="34" charset="-122"/>
                          <a:cs typeface="Segoe UI" pitchFamily="34" charset="-120"/>
                        </a:rPr>
                        <a:t>archivé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NIF vérifié sur pièces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50" b="1" dirty="0">
                          <a:solidFill>
                            <a:srgbClr val="1B2A3A"/>
                          </a:solidFill>
                          <a:latin typeface="Segoe UI" pitchFamily="34" charset="0"/>
                          <a:ea typeface="Segoe UI" pitchFamily="34" charset="-122"/>
                          <a:cs typeface="Segoe UI" pitchFamily="34" charset="-120"/>
                        </a:rPr>
                        <a:t>bloque jamais</a:t>
                      </a:r>
                      <a:pPr indent="0" marL="0">
                        <a:buNone/>
                      </a:pPr>
                      <a:r>
                        <a:rPr lang="en-US" sz="1150" dirty="0">
                          <a:solidFill>
                            <a:srgbClr val="1B2A3A"/>
                          </a:solidFill>
                          <a:latin typeface="Segoe UI" pitchFamily="34" charset="0"/>
                          <a:ea typeface="Segoe UI" pitchFamily="34" charset="-122"/>
                          <a:cs typeface="Segoe UI" pitchFamily="34" charset="-120"/>
                        </a:rPr>
                        <a:t> le dépôt d’une 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ARMP indélébiles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50" b="1" dirty="0">
                          <a:solidFill>
                            <a:srgbClr val="1B2A3A"/>
                          </a:solidFill>
                          <a:latin typeface="Segoe UI" pitchFamily="34" charset="0"/>
                          <a:ea typeface="Segoe UI" pitchFamily="34" charset="-122"/>
                          <a:cs typeface="Segoe UI" pitchFamily="34" charset="-120"/>
                        </a:rPr>
                        <a:t>interdit le dépôt</a:t>
                      </a:r>
                      <a:pPr indent="0" marL="0">
                        <a:buNone/>
                      </a:pPr>
                      <a:r>
                        <a:rPr lang="en-US" sz="1150" dirty="0">
                          <a:solidFill>
                            <a:srgbClr val="1B2A3A"/>
                          </a:solidFill>
                          <a:latin typeface="Segoe UI" pitchFamily="34" charset="0"/>
                          <a:ea typeface="Segoe UI" pitchFamily="34" charset="-122"/>
                          <a:cs typeface="Segoe UI" pitchFamily="34" charset="-120"/>
                        </a:rPr>
                        <a:t> ; l’offre d’une entreprise exclue après dépôt est écartée sans être ouverte.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422</a:t>
            </a:r>
            <a:endParaRPr lang="en-US" sz="110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4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remonte en tête des procédures à traiter.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Conservation et purge des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50" b="1" dirty="0">
                          <a:solidFill>
                            <a:srgbClr val="1B2A3A"/>
                          </a:solidFill>
                          <a:latin typeface="Segoe UI" pitchFamily="34" charset="0"/>
                          <a:ea typeface="Segoe UI" pitchFamily="34" charset="-122"/>
                          <a:cs typeface="Segoe UI" pitchFamily="34" charset="-120"/>
                        </a:rPr>
                        <a:t>une à une</a:t>
                      </a:r>
                      <a:pPr indent="0" marL="0">
                        <a:buNone/>
                      </a:pPr>
                      <a:r>
                        <a:rPr lang="en-US" sz="1150" dirty="0">
                          <a:solidFill>
                            <a:srgbClr val="1B2A3A"/>
                          </a:solidFill>
                          <a:latin typeface="Segoe UI" pitchFamily="34" charset="0"/>
                          <a:ea typeface="Segoe UI" pitchFamily="34" charset="-122"/>
                          <a:cs typeface="Segoe UI" pitchFamily="34" charset="-120"/>
                        </a:rPr>
                        <a:t> ; journal, empreintes et PV demeurent.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423</a:t>
            </a:r>
            <a:endParaRPr lang="en-US" sz="110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4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Journal d’audit immuable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écriture est tracée au journal, qui se filtre par table, acteur et période, du plus récent au plus ancien. Il est </a:t>
                      </a:r>
                      <a:pPr indent="0" marL="0">
                        <a:buNone/>
                      </a:pPr>
                      <a:r>
                        <a:rPr lang="en-US" sz="1150" b="1" dirty="0">
                          <a:solidFill>
                            <a:srgbClr val="1B2A3A"/>
                          </a:solidFill>
                          <a:latin typeface="Segoe UI" pitchFamily="34" charset="0"/>
                          <a:ea typeface="Segoe UI" pitchFamily="34" charset="-122"/>
                          <a:cs typeface="Segoe UI" pitchFamily="34" charset="-120"/>
                        </a:rPr>
                        <a:t>immuable</a:t>
                      </a:r>
                      <a:pPr indent="0" marL="0">
                        <a:buNone/>
                      </a:pPr>
                      <a:r>
                        <a:rPr lang="en-US" sz="115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Connexions journalisées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et l’heure. Une tentative sur un identifiant inconnu n’est attribuée à personne. Aucune purge n’est prévue : la durée de rétention reste </a:t>
                      </a:r>
                      <a:pPr indent="0" marL="0">
                        <a:buNone/>
                      </a:pPr>
                      <a:r>
                        <a:rPr lang="en-US" sz="1150" b="1" dirty="0">
                          <a:solidFill>
                            <a:srgbClr val="1B2A3A"/>
                          </a:solidFill>
                          <a:latin typeface="Segoe UI" pitchFamily="34" charset="0"/>
                          <a:ea typeface="Segoe UI" pitchFamily="34" charset="-122"/>
                          <a:cs typeface="Segoe UI" pitchFamily="34" charset="-120"/>
                        </a:rPr>
                        <a:t>à arbitrer</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Actualités ciblées et archivées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actualité, en markdown sans HTML, vise au moins un profil et s’affiche à l’ouverture de session dans sa fenêtre de dates. Elle naît </a:t>
                      </a:r>
                      <a:pPr indent="0" marL="0">
                        <a:buNone/>
                      </a:pPr>
                      <a:r>
                        <a:rPr lang="en-US" sz="1150" b="1" dirty="0">
                          <a:solidFill>
                            <a:srgbClr val="1B2A3A"/>
                          </a:solidFill>
                          <a:latin typeface="Segoe UI" pitchFamily="34" charset="0"/>
                          <a:ea typeface="Segoe UI" pitchFamily="34" charset="-122"/>
                          <a:cs typeface="Segoe UI" pitchFamily="34" charset="-120"/>
                        </a:rPr>
                        <a:t>inactive</a:t>
                      </a:r>
                      <a:pPr indent="0" marL="0">
                        <a:buNone/>
                      </a:pPr>
                      <a:r>
                        <a:rPr lang="en-US" sz="115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424</a:t>
            </a:r>
            <a:endParaRPr lang="en-US" sz="1100" dirty="0"/>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4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Taux d’écartement par règle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50" b="1" dirty="0">
                          <a:solidFill>
                            <a:srgbClr val="1B2A3A"/>
                          </a:solidFill>
                          <a:latin typeface="Segoe UI" pitchFamily="34" charset="0"/>
                          <a:ea typeface="Segoe UI" pitchFamily="34" charset="-122"/>
                          <a:cs typeface="Segoe UI" pitchFamily="34" charset="-120"/>
                        </a:rPr>
                        <a:t>80 % des cas</a:t>
                      </a:r>
                      <a:pPr indent="0" marL="0">
                        <a:buNone/>
                      </a:pPr>
                      <a:r>
                        <a:rPr lang="en-US" sz="115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Levé n’est pas écarté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a:t>
                      </a:r>
                      <a:pPr indent="0" marL="0">
                        <a:buNone/>
                      </a:pPr>
                      <a:r>
                        <a:rPr lang="en-US" sz="1150" b="1" dirty="0">
                          <a:solidFill>
                            <a:srgbClr val="1B2A3A"/>
                          </a:solidFill>
                          <a:latin typeface="Segoe UI" pitchFamily="34" charset="0"/>
                          <a:ea typeface="Segoe UI" pitchFamily="34" charset="-122"/>
                          <a:cs typeface="Segoe UI" pitchFamily="34" charset="-120"/>
                        </a:rPr>
                        <a:t>levé</a:t>
                      </a:r>
                      <a:pPr indent="0" marL="0">
                        <a:buNone/>
                      </a:pPr>
                      <a:r>
                        <a:rPr lang="en-US" sz="115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425</a:t>
            </a:r>
            <a:endParaRPr lang="en-US" sz="1100" dirty="0"/>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Piloter et publier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tableaux de pilotage de la Commission, la publication des décisions, la transparence.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426</a:t>
            </a:r>
            <a:endParaRPr lang="en-US" sz="1100" dirty="0"/>
          </a:p>
        </p:txBody>
      </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soumis, son statut et sa fin de traitement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427</a:t>
            </a:r>
            <a:endParaRPr lang="en-US" sz="1100" dirty="0"/>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sur une période, en PDF ou en tableur.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428</a:t>
            </a:r>
            <a:endParaRPr lang="en-US" sz="1100" dirty="0"/>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Chargé de publication publie les décisions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429</a:t>
            </a:r>
            <a:endParaRPr lang="en-US" sz="1100" dirty="0"/>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430</a:t>
            </a:r>
            <a:endParaRPr lang="en-US" sz="1100" dirty="0"/>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en remise électronique : état, calendrier, commission et cérémonie,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Désigner le responsable » pour celles qui n’en ont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431</a:t>
            </a:r>
            <a:endParaRPr lang="en-US" sz="1100" dirty="0"/>
          </a:p>
        </p:txBody>
      </p:sp>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3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432</a:t>
            </a:r>
            <a:endParaRPr lang="en-US" sz="1100" dirty="0"/>
          </a:p>
        </p:txBody>
      </p:sp>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43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433</a:t>
            </a:r>
            <a:endParaRPr lang="en-US" sz="1100" dirty="0"/>
          </a:p>
        </p:txBody>
      </p:sp>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name="Slide 4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43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434</a:t>
            </a:r>
            <a:endParaRPr lang="en-US" sz="1100" dirty="0"/>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name="Slide 4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43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435</a:t>
            </a:r>
            <a:endParaRPr lang="en-US" sz="1100" dirty="0"/>
          </a:p>
        </p:txBody>
      </p:sp>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name="Slide 4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3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Suivi des dossiers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RG-PIL-01 → 03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Fin prévue dès la soumission · La date glisse, sans promesse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Rapports et tableaux de pilotage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RG-PIL-04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Rapports bornés par la localité · Indicateurs globaux réservés · Ce que mesure la conformité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Publication et transparence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Chargé de publication cloisonné · Publier, puis retirer · Retrait toujours motivé · Documents publics vérifiables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Procédures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RG-PIL-11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Vue complète de l’Administrateur · À traiter d’abord · L’intérimaire voit, sans agir · Ce que le public voit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436</a:t>
            </a:r>
            <a:endParaRPr lang="en-US" sz="1100" dirty="0"/>
          </a:p>
        </p:txBody>
      </p:sp>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name="Slide 4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43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Fin prévue dès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voit, pour chaque dossier, la date de dépôt, la date d’enregistrement et la </a:t>
                      </a:r>
                      <a:pPr indent="0" marL="0">
                        <a:buNone/>
                      </a:pPr>
                      <a:r>
                        <a:rPr lang="en-US" sz="1150" b="1" dirty="0">
                          <a:solidFill>
                            <a:srgbClr val="1B2A3A"/>
                          </a:solidFill>
                          <a:latin typeface="Segoe UI" pitchFamily="34" charset="0"/>
                          <a:ea typeface="Segoe UI" pitchFamily="34" charset="-122"/>
                          <a:cs typeface="Segoe UI" pitchFamily="34" charset="-120"/>
                        </a:rPr>
                        <a:t>fin prévue</a:t>
                      </a:r>
                      <a:pPr indent="0" marL="0">
                        <a:buNone/>
                      </a:pPr>
                      <a:r>
                        <a:rPr lang="en-US" sz="1150" dirty="0">
                          <a:solidFill>
                            <a:srgbClr val="1B2A3A"/>
                          </a:solidFill>
                          <a:latin typeface="Segoe UI" pitchFamily="34" charset="0"/>
                          <a:ea typeface="Segoe UI" pitchFamily="34" charset="-122"/>
                          <a:cs typeface="Segoe UI" pitchFamily="34" charset="-120"/>
                        </a:rPr>
                        <a:t>, calculée par le serveur dès la soumission à partir des délais standards.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date glisse, sans promesse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50" b="1" dirty="0">
                          <a:solidFill>
                            <a:srgbClr val="1B2A3A"/>
                          </a:solidFill>
                          <a:latin typeface="Segoe UI" pitchFamily="34" charset="0"/>
                          <a:ea typeface="Segoe UI" pitchFamily="34" charset="-122"/>
                          <a:cs typeface="Segoe UI" pitchFamily="34" charset="-120"/>
                        </a:rPr>
                        <a:t>glisse</a:t>
                      </a:r>
                      <a:pPr indent="0" marL="0">
                        <a:buNone/>
                      </a:pPr>
                      <a:r>
                        <a:rPr lang="en-US" sz="115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PV, elle reçoit la </a:t>
                      </a:r>
                      <a:pPr indent="0" marL="0">
                        <a:buNone/>
                      </a:pPr>
                      <a:r>
                        <a:rPr lang="en-US" sz="1150" b="1" dirty="0">
                          <a:solidFill>
                            <a:srgbClr val="1B2A3A"/>
                          </a:solidFill>
                          <a:latin typeface="Segoe UI" pitchFamily="34" charset="0"/>
                          <a:ea typeface="Segoe UI" pitchFamily="34" charset="-122"/>
                          <a:cs typeface="Segoe UI" pitchFamily="34" charset="-120"/>
                        </a:rPr>
                        <a:t>synthèse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Saisie &amp; gestion PPM › Date prévisionnelle de fin de traitement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437</a:t>
            </a:r>
            <a:endParaRPr lang="en-US" sz="1100" dirty="0"/>
          </a:p>
        </p:txBody>
      </p:sp>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name="Slide 4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43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Rapports bornés par la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rapports de dossiers se téléchargent en PDF ou en Excel, sur une période. Président et Administrateur couvrent toutes les commissions ou en ciblent une ; le Chef de commission n’obtient que </a:t>
                      </a:r>
                      <a:pPr indent="0" marL="0">
                        <a:buNone/>
                      </a:pPr>
                      <a:r>
                        <a:rPr lang="en-US" sz="1150" b="1" dirty="0">
                          <a:solidFill>
                            <a:srgbClr val="1B2A3A"/>
                          </a:solidFill>
                          <a:latin typeface="Segoe UI" pitchFamily="34" charset="0"/>
                          <a:ea typeface="Segoe UI" pitchFamily="34" charset="-122"/>
                          <a:cs typeface="Segoe UI" pitchFamily="34" charset="-120"/>
                        </a:rPr>
                        <a:t>sa localité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Indicateurs globaux réservés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indicateurs globaux — dossiers reçus et clôturés, taux de conformité, délai moyen, montant contrôlé — sont lus par le Président et l’Administrateur seuls. La PRMP n’a </a:t>
                      </a:r>
                      <a:pPr indent="0" marL="0">
                        <a:buNone/>
                      </a:pPr>
                      <a:r>
                        <a:rPr lang="en-US" sz="1150" b="1" dirty="0">
                          <a:solidFill>
                            <a:srgbClr val="1B2A3A"/>
                          </a:solidFill>
                          <a:latin typeface="Segoe UI" pitchFamily="34" charset="0"/>
                          <a:ea typeface="Segoe UI" pitchFamily="34" charset="-122"/>
                          <a:cs typeface="Segoe UI" pitchFamily="34" charset="-120"/>
                        </a:rPr>
                        <a:t>pas accès</a:t>
                      </a:r>
                      <a:pPr indent="0" marL="0">
                        <a:buNone/>
                      </a:pPr>
                      <a:r>
                        <a:rPr lang="en-US" sz="1150" dirty="0">
                          <a:solidFill>
                            <a:srgbClr val="1B2A3A"/>
                          </a:solidFill>
                          <a:latin typeface="Segoe UI" pitchFamily="34" charset="0"/>
                          <a:ea typeface="Segoe UI" pitchFamily="34" charset="-122"/>
                          <a:cs typeface="Segoe UI" pitchFamily="34" charset="-120"/>
                        </a:rPr>
                        <a:t> aux statistiques de la CNM.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mesure la conformité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50" b="1" dirty="0">
                          <a:solidFill>
                            <a:srgbClr val="1B2A3A"/>
                          </a:solidFill>
                          <a:latin typeface="Segoe UI" pitchFamily="34" charset="0"/>
                          <a:ea typeface="Segoe UI" pitchFamily="34" charset="-122"/>
                          <a:cs typeface="Segoe UI" pitchFamily="34" charset="-120"/>
                        </a:rPr>
                        <a:t>qualité initiale</a:t>
                      </a:r>
                      <a:pPr indent="0" marL="0">
                        <a:buNone/>
                      </a:pPr>
                      <a:r>
                        <a:rPr lang="en-US" sz="1150" dirty="0">
                          <a:solidFill>
                            <a:srgbClr val="1B2A3A"/>
                          </a:solidFill>
                          <a:latin typeface="Segoe UI" pitchFamily="34" charset="0"/>
                          <a:ea typeface="Segoe UI" pitchFamily="34" charset="-122"/>
                          <a:cs typeface="Segoe UI" pitchFamily="34" charset="-120"/>
                        </a:rPr>
                        <a:t> des soumissions : 100 % signifie aucun retour.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Instantanés de statistiques · regles-gestion.md § 3.2. Président › Module 01 — Tableau de bord &amp; KPIs › Taux de conformité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438</a:t>
            </a:r>
            <a:endParaRPr lang="en-US" sz="1100" dirty="0"/>
          </a:p>
        </p:txBody>
      </p:sp>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name="Slide 4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44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Chargé de publication cloisonné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50" b="1" dirty="0">
                          <a:solidFill>
                            <a:srgbClr val="1B2A3A"/>
                          </a:solidFill>
                          <a:latin typeface="Segoe UI" pitchFamily="34" charset="0"/>
                          <a:ea typeface="Segoe UI" pitchFamily="34" charset="-122"/>
                          <a:cs typeface="Segoe UI" pitchFamily="34" charset="-120"/>
                        </a:rPr>
                        <a:t>avisé</a:t>
                      </a:r>
                      <a:pPr indent="0" marL="0">
                        <a:buNone/>
                      </a:pPr>
                      <a:r>
                        <a:rPr lang="en-US" sz="115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Publier, puis retirer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publication naît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Documents publics vérifiables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50" b="1" dirty="0">
                          <a:solidFill>
                            <a:srgbClr val="1B2A3A"/>
                          </a:solidFill>
                          <a:latin typeface="Segoe UI" pitchFamily="34" charset="0"/>
                          <a:ea typeface="Segoe UI" pitchFamily="34" charset="-122"/>
                          <a:cs typeface="Segoe UI" pitchFamily="34" charset="-120"/>
                        </a:rPr>
                        <a:t>empreinte SHA-256</a:t>
                      </a:r>
                      <a:pPr indent="0" marL="0">
                        <a:buNone/>
                      </a:pPr>
                      <a:r>
                        <a:rPr lang="en-US" sz="1150" dirty="0">
                          <a:solidFill>
                            <a:srgbClr val="1B2A3A"/>
                          </a:solidFill>
                          <a:latin typeface="Segoe UI" pitchFamily="34" charset="0"/>
                          <a:ea typeface="Segoe UI" pitchFamily="34" charset="-122"/>
                          <a:cs typeface="Segoe UI" pitchFamily="34" charset="-120"/>
                        </a:rPr>
                        <a:t> ; l’intégrité d’un fichier se vérifie à tout moment en recalculant l’empreinte.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439</a:t>
            </a:r>
            <a:endParaRPr lang="en-US" sz="1100" dirty="0"/>
          </a:p>
        </p:txBody>
      </p:sp>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name="Slide 4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44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Vue complète de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À traiter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d’offres déposées y figure.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L’intérimaire voit, sans agir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50" b="1" dirty="0">
                          <a:solidFill>
                            <a:srgbClr val="1B2A3A"/>
                          </a:solidFill>
                          <a:latin typeface="Segoe UI" pitchFamily="34" charset="0"/>
                          <a:ea typeface="Segoe UI" pitchFamily="34" charset="-122"/>
                          <a:cs typeface="Segoe UI" pitchFamily="34" charset="-120"/>
                        </a:rPr>
                        <a:t>titulaire</a:t>
                      </a:r>
                      <a:pPr indent="0" marL="0">
                        <a:buNone/>
                      </a:pPr>
                      <a:r>
                        <a:rPr lang="en-US" sz="115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le public 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50" b="1" dirty="0">
                          <a:solidFill>
                            <a:srgbClr val="1B2A3A"/>
                          </a:solidFill>
                          <a:latin typeface="Segoe UI" pitchFamily="34" charset="0"/>
                          <a:ea typeface="Segoe UI" pitchFamily="34" charset="-122"/>
                          <a:cs typeface="Segoe UI" pitchFamily="34" charset="-120"/>
                        </a:rPr>
                        <a:t>paramètre interne</a:t>
                      </a:r>
                      <a:pPr indent="0" marL="0">
                        <a:buNone/>
                      </a:pPr>
                      <a:r>
                        <a:rPr lang="en-US" sz="115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440</Slides>
  <Notes>440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440</vt:i4>
      </vt:variant>
    </vt:vector>
  </HeadingPairs>
  <TitlesOfParts>
    <vt:vector size="4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lpstr>Slide 434</vt:lpstr>
      <vt:lpstr>Slide 435</vt:lpstr>
      <vt:lpstr>Slide 436</vt:lpstr>
      <vt:lpstr>Slide 437</vt:lpstr>
      <vt:lpstr>Slide 438</vt:lpstr>
      <vt:lpstr>Slide 439</vt:lpstr>
      <vt:lpstr>Slide 440</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dc:title>
  <dc:subject>PptxGenJS Presentation</dc:subject>
  <dc:creator>PRS 2.0</dc:creator>
  <cp:lastModifiedBy>PRS 2.0</cp:lastModifiedBy>
  <cp:revision>1</cp:revision>
  <dcterms:created xsi:type="dcterms:W3CDTF">2026-10-09T18:22:20Z</dcterms:created>
  <dcterms:modified xsi:type="dcterms:W3CDTF">2026-10-09T18:22:20Z</dcterms:modified>
</cp:coreProperties>
</file>