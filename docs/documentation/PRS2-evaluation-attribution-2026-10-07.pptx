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96" cy="6858000"/>
          </a:xfrm>
          <a:prstGeom prst="rect">
            <a:avLst/>
          </a:prstGeom>
          <a:solidFill>
            <a:srgbClr val="E3AE2E"/>
          </a:solidFill>
          <a:ln w="12700">
            <a:solidFill>
              <a:srgbClr val="E3A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780" y="812800"/>
            <a:ext cx="10159746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COMMISSION NATIONALE DES MARCHÉS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780" y="1206500"/>
            <a:ext cx="10477238" cy="12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— L’évaluation des offres et l’attribution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780" y="2667000"/>
            <a:ext cx="920727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la séance d’ouverture au dossier de marché : la commission évalue en ligne, signe son rapport, et la PRMP soumet le marché au contrôle de la Commission.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780" y="5080000"/>
            <a:ext cx="9842254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Captures de l’application réelle, sur une procédure de recette déroulée de bout en bout le 7 octobre 2026.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Fondé sur le Guide d’évaluation des offres (loi n° 2016-055) · Noms de personnes remplacés par leur rôle · octobre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 D’ENSEMBLE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étapes 2 à 5 du guide, le rapport, puis le marché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270000"/>
            <a:ext cx="10286743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 la séance d’ouverture (étape 1 du guide), chaque offre traverse les étapes 2 à 5 ; elle peut être écartée, toujours avec un motif et la clause du DAO visée.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80" y="2032000"/>
            <a:ext cx="1634026" cy="1587500"/>
          </a:xfrm>
          <a:prstGeom prst="roundRect">
            <a:avLst>
              <a:gd name="adj" fmla="val 345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1677" y="2120900"/>
            <a:ext cx="1456230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1677" y="2349500"/>
            <a:ext cx="1456230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Examen préliminaire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1677" y="3048000"/>
            <a:ext cx="145623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Recevabilité, conformité (art. 46)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9505" y="2825750"/>
            <a:ext cx="1269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99202" y="2032000"/>
            <a:ext cx="1634026" cy="1587500"/>
          </a:xfrm>
          <a:prstGeom prst="roundRect">
            <a:avLst>
              <a:gd name="adj" fmla="val 345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099" y="2120900"/>
            <a:ext cx="1456230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88099" y="2349500"/>
            <a:ext cx="1456230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Montant évalué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88099" y="3048000"/>
            <a:ext cx="145623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Corrections, rabais ; classement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45927" y="2825750"/>
            <a:ext cx="1269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85624" y="2032000"/>
            <a:ext cx="1634026" cy="1587500"/>
          </a:xfrm>
          <a:prstGeom prst="roundRect">
            <a:avLst>
              <a:gd name="adj" fmla="val 345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4521" y="2120900"/>
            <a:ext cx="1456230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74521" y="2349500"/>
            <a:ext cx="1456230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Offres anormales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74521" y="3048000"/>
            <a:ext cx="145623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Justification écrite (art. 48)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2349" y="2825750"/>
            <a:ext cx="1269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72046" y="2032000"/>
            <a:ext cx="1634026" cy="1587500"/>
          </a:xfrm>
          <a:prstGeom prst="roundRect">
            <a:avLst>
              <a:gd name="adj" fmla="val 345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0943" y="2120900"/>
            <a:ext cx="1456230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0943" y="2349500"/>
            <a:ext cx="1456230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Post-qualification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0943" y="3048000"/>
            <a:ext cx="145623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Capacités du premier classé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18771" y="2825750"/>
            <a:ext cx="1269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958468" y="2032000"/>
            <a:ext cx="1634026" cy="1587500"/>
          </a:xfrm>
          <a:prstGeom prst="roundRect">
            <a:avLst>
              <a:gd name="adj" fmla="val 345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7365" y="2120900"/>
            <a:ext cx="1456230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7365" y="2349500"/>
            <a:ext cx="1456230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Rapport signé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7365" y="3048000"/>
            <a:ext cx="145623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Transmis à la PRMP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5193" y="2825750"/>
            <a:ext cx="1269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44890" y="2032000"/>
            <a:ext cx="1634026" cy="1587500"/>
          </a:xfrm>
          <a:prstGeom prst="roundRect">
            <a:avLst>
              <a:gd name="adj" fmla="val 3456"/>
            </a:avLst>
          </a:prstGeom>
          <a:solidFill>
            <a:srgbClr val="12324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33787" y="2120900"/>
            <a:ext cx="1456230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33787" y="2349500"/>
            <a:ext cx="1456230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 de marché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33787" y="3048000"/>
            <a:ext cx="145623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 contrôle de la Commission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2780" y="3937000"/>
            <a:ext cx="104137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étape se conduit </a:t>
            </a:r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lot par lot</a:t>
            </a:r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; le président de la commission l’</a:t>
            </a:r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arrête</a:t>
            </a:r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ce qui fige ses décisions et ouvre la suivante.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 FAIT QUOI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acteurs et leurs gestes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270000"/>
            <a:ext cx="10286743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même écran, deux espaces : celui des membres de la commission, et la coquille interne de la PRMP, de l’UGPM et du responsable de la procédure.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80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905000"/>
            <a:ext cx="3403515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5"/>
          <p:cNvSpPr/>
          <p:nvPr/>
        </p:nvSpPr>
        <p:spPr>
          <a:xfrm>
            <a:off x="965176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 de la commission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176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 sa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déclaration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d’absence de conflit d’intérêts, puis décide, étape par étape ; signe le rapport, avec une observation s’il est en désaccord.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4090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4090" y="1905000"/>
            <a:ext cx="3403515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4546486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Président de la commission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6486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plus :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arrête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chaque étape, la rouvre avec un motif, constate l’empêchement d’un signataire.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75401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5401" y="1905000"/>
            <a:ext cx="3403515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127797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Responsable de la procédure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7797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Ouvre l’évaluation une fois le PV d’ouverture signé ;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produit le rapport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quand toutes les étapes sont arrêtées.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780" y="39878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780" y="3987800"/>
            <a:ext cx="3403515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19" name="Text 17"/>
          <p:cNvSpPr/>
          <p:nvPr/>
        </p:nvSpPr>
        <p:spPr>
          <a:xfrm>
            <a:off x="965176" y="41021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5176" y="45974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Demande des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précisions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(art. 35-VI) et des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justifications de prix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(art. 48) ; crée le dossier de marché.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94090" y="39878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94090" y="3987800"/>
            <a:ext cx="3403515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23" name="Text 21"/>
          <p:cNvSpPr/>
          <p:nvPr/>
        </p:nvSpPr>
        <p:spPr>
          <a:xfrm>
            <a:off x="4546486" y="41021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UGPM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46486" y="45974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 l’évaluation ; crée le dossier de marché avec la PRMP.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75401" y="39878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5401" y="3987800"/>
            <a:ext cx="3403515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7" name="Text 25"/>
          <p:cNvSpPr/>
          <p:nvPr/>
        </p:nvSpPr>
        <p:spPr>
          <a:xfrm>
            <a:off x="8127797" y="41021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27797" y="45974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Reçoit les demandes sur son offre et y répond en ligne, par un texte et une pièce.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l’application garantit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270000"/>
            <a:ext cx="10286743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règles du guide d’évaluation, appliquées par le serveur — l’écran les rappelle, il ne les invente pas.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80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905000"/>
            <a:ext cx="3403515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7" name="Text 5"/>
          <p:cNvSpPr/>
          <p:nvPr/>
        </p:nvSpPr>
        <p:spPr>
          <a:xfrm>
            <a:off x="965176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règle d’or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176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 critère, aucune pièce, aucune pondération hors du DAO : les critères viennent de la fiche, il n’existe aucun moyen d’en ajouter.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4090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4090" y="1905000"/>
            <a:ext cx="3403515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11" name="Text 9"/>
          <p:cNvSpPr/>
          <p:nvPr/>
        </p:nvSpPr>
        <p:spPr>
          <a:xfrm>
            <a:off x="4546486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 constats, jamais des décisions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6486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alertes de la séance pré-remplissent chaque étape ; c’est toujours la commission qui décide.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75401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5401" y="1905000"/>
            <a:ext cx="3403515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8127797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 est motivé et tracé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7797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décision porte son auteur, sa date, son motif et la clause du DAO ; une décision corrigée reste au journal.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780" y="39878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780" y="3987800"/>
            <a:ext cx="3403515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19" name="Text 17"/>
          <p:cNvSpPr/>
          <p:nvPr/>
        </p:nvSpPr>
        <p:spPr>
          <a:xfrm>
            <a:off x="965176" y="41021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serveur calcule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5176" y="45974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Montant évalué (hors taxes), rang, offre dont c’est le tour, proposition d’attribution : l’écran affiche, il ne recalcule pas.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94090" y="39878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94090" y="3987800"/>
            <a:ext cx="3403515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23" name="Text 21"/>
          <p:cNvSpPr/>
          <p:nvPr/>
        </p:nvSpPr>
        <p:spPr>
          <a:xfrm>
            <a:off x="4546486" y="41021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46486" y="45974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Rien n’est visible des candidats avant l’information officielle (art. 12-V, 35-V).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75401" y="39878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5401" y="3987800"/>
            <a:ext cx="3403515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27" name="Text 25"/>
          <p:cNvSpPr/>
          <p:nvPr/>
        </p:nvSpPr>
        <p:spPr>
          <a:xfrm>
            <a:off x="8127797" y="41021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 rejet sans demande écrite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27797" y="45974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offre jugée anormale n’est rejetée qu’après une justification demandée, puis reçue ou son délai expiré.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Ouvrir l’évaluation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PV d’ouverture signé, le responsable ouvre l’évaluation ; chaque membre signe sa déclaration avant toute décision.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L’évaluation, avant son ouverture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Elle s’ouvre quand le PV d’ouverture est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signé de tous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; avant, le serveur le refuse et l’écran le dit.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Accès : la fiche DAO, la séance d’ouverture close, ou la notification reçue.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évaluation, avant son ouver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 DE LA COMMISSION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L’entrée depuis l’espace de la commission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 la page de la procédure, « Ouvrir l’évaluation » ; « Mes procédures » compte les évaluations en cours et les rapports à signer.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4018793"/>
            <a:ext cx="10540736" cy="1169914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entrée depuis l’espace de la commi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4094993"/>
            <a:ext cx="10388340" cy="10175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 DE LA COMMISSION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déclaration préalable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Absence de conflit d’intérêts (art. 21-d) et engagement de confidentialité (art. 12-V) :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avant toute décision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une fois pour toutes.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membre qui déclare un conflit lit l’évaluation, mais n’y décide rien.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déclaration préal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L’examen préliminaire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Recevabilité, éligibilité, conformité pour l’essentiel : neuf vérifications pré-remplies depuis la séance, une décision par offre.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2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grille de l’offre, et sa décision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Neuf vérifications : acte d’engagement et prix, garantie, offre unique, exclusion, pouvoirs, pièces, conformité technique, intégrité, frais de dossier.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Chacune pré-remplie (« ce que la séance a établi ») ; la commission confirme ou corrige.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Écarter : la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qualification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(irrecevable, non conforme, inappropriée, inacceptable), 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motif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la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clause du DAO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805907" y="1473200"/>
            <a:ext cx="5957998" cy="4610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grille de l’offre, et sa déci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2105" y="1549400"/>
            <a:ext cx="5805602" cy="4457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2 · PRÉSIDENT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L’étape arrêtée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étapes du lot, arrêtées ou en cours ; l’offre n° 2 écartée pour garantie insuffisante, avec son motif et sa clause.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Arrêter fige les décisions ; rouvrir exige un motif, porté au journal.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étape arrêt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2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Demander une précision au candidat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Art. 35-VI : la PRMP demande par écrit ; le délai est celui de la fiche, ou saisi.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précision ne sert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jamais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à compléter une pièce essentielle ni à changer le prix (guide, §2.4).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609608"/>
            <a:ext cx="10540736" cy="1988285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Demander une précision au candid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685808"/>
            <a:ext cx="10388340" cy="18358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Répondre depuis « Mes offres 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demande arrive par notification et par courriel ; le candidat répond une fois, dans le délai, par un texte et une pièce (PDF, JPEG, PNG).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demande et la réponse sont jointes au rapport.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28168" y="3060700"/>
            <a:ext cx="9335360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Répondre depuis « Mes offres 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366" y="3136900"/>
            <a:ext cx="9182964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montant évalué et le classement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Corrections arithmétiques, rabais, préférence et critères du DAO ; le serveur calcule, hors taxes, et classe.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3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Corrections, rabais, préférence, critères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corrections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proposées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 le serveur depuis le bordereau scellé (le prix unitaire prévaut, les lettres prévalent), et celles que la commission saisit.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rabais, la marge de préférence (si le DAO la prévoit), les critères additionnels du DAO — eux seuls.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666153"/>
            <a:ext cx="7162621" cy="4224194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Corrections, rabais, préférence, critè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742353"/>
            <a:ext cx="7010225" cy="40717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montant évalué, calculé par le serveur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Montant évalué = prix lu ± corrections − rabais + ajustement de préférence + critères monétisés,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hors taxes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(arbitrage du 07/10).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840906"/>
            <a:ext cx="10540736" cy="1525688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montant évalué, calculé par le serv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917106"/>
            <a:ext cx="10388340" cy="13732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tableau d’évaluation du guide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ligne par offre : prix lu, garantie, conformité, motif de rejet, prix corrigé, rabais, ajustements, montant évalué, rang, qualification.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égalité en tête se départage par la commission, avec un motif.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759078"/>
            <a:ext cx="10540736" cy="1689344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tableau d’évaluation du gu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835278"/>
            <a:ext cx="10388340" cy="1536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RABAIS STRUCTURÉ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rabais, déclaré au dépôt et chiffré par le serveur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270000"/>
            <a:ext cx="10286743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Arbitrage du 07/10 (Q4) : le rabais n’est plus un texte libre, mais une donnée de l’offre scellée.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80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905000"/>
            <a:ext cx="3403515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5"/>
          <p:cNvSpPr/>
          <p:nvPr/>
        </p:nvSpPr>
        <p:spPr>
          <a:xfrm>
            <a:off x="965176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 dépôt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176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 rabais, un pourcentage ou un montant hors taxes ; sans condition, ou lié à l’attribution de plusieurs lots. Contrôlé avant le scellement.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4090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4090" y="1905000"/>
            <a:ext cx="3403515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4546486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séance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6486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 chiffré : « 2 % du montant hors taxes, soit … Ariary », ou avec sa condition ; imprimé au PV.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75401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5401" y="1905000"/>
            <a:ext cx="3403515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127797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l’évaluation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7797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Proposé sur le prix corrigé ; le corriger demande un motif. Lié à plusieurs lots : non appliqué lot par lot, repris au rapport.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Prix anormaux, qualification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prix anormal ne s’écarte qu’après une justification écrite ; le premier classé est qualifié sur les seuls critères du DAO.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indicateurs de prix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L’écart à l’estimation du plan et à la moyenne des offres, la méthode du DAO s’il en fixe une : des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indicateurs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jamais une décision.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837348"/>
            <a:ext cx="10540736" cy="1532803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indicateurs de pr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913548"/>
            <a:ext cx="10388340" cy="13804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4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décision sur un prix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suspectée, suspectée, maintenue, rejetée.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 rejet sans demande écrite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la PRMP demande la justification, le candidat répond (ou le délai expire), puis la commission décide — le serveur refuse tout raccourci.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858695"/>
            <a:ext cx="10540736" cy="149011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décision sur un pr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934895"/>
            <a:ext cx="10388340" cy="13377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5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post-qualification, critère par critère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L’offre dont c’est le tour (la mieux classée qui n’a pas échoué), et les critères de la fiche : juridiques, financiers, techniques, matériel, personnel.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qualifiée : motif et clause ; le tour passe à l’offre suivante.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8535" y="1473200"/>
            <a:ext cx="6052740" cy="4610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post-qualification, critère par crit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4733" y="1549400"/>
            <a:ext cx="5900344" cy="4457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proposition d’attribution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L’étape arrêtée, le lot porte sa proposition : l’offre, le candidat, le montant hors taxes et le délai — ou l’infructuosité proposée si aucune offre n’est qualifiée.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4239373"/>
            <a:ext cx="10540736" cy="728754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proposition d’attrib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4315573"/>
            <a:ext cx="10388340" cy="5763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rapport d’évaluation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Produit par le serveur sur le plan du guide, signé par chaque membre, transmis à la PRMP.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Produire le rapport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toutes les étapes de tous les lots sont arrêtées ; ses observations y sont portées.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450028"/>
            <a:ext cx="10540736" cy="2307444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Produire le rap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526228"/>
            <a:ext cx="10388340" cy="2155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 DE LA COMMISSION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Signer, avec une observation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 électronique simple, horodatée ; un membre en désaccord porte son observation au rapport.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empêchement est constaté par le président, avec un motif.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01617" y="3060700"/>
            <a:ext cx="9188461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Signer, avec une observ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815" y="3136900"/>
            <a:ext cx="9036065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rapport signé de tous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la dernière signature, l’évaluation est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; la PRMP et les membres sont notifiés. Le rapport n’est pas public.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776867"/>
            <a:ext cx="10540736" cy="1653766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rapport signé de to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853067"/>
            <a:ext cx="10388340" cy="15013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rapport, sur le plan du guide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Références, plis reçus, puis lot par lot : examen préliminaire, corrections, montant évalué et classement, offres anormales, post-qualification, proposition d’attribution.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Puis les signatures et deux annexes : les déclarations, les demandes aux candidats et leurs réponses.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33057" y="1473200"/>
            <a:ext cx="3303697" cy="4610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rapport, sur le plan du gu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9255" y="1549400"/>
            <a:ext cx="3151301" cy="4457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 le marché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rapport signé, la PRMP crée le dossier de marché, que la Commission contrôle par son circuit habituel (art. 17).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L’attribution, lot par 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L’état du lot et la proposition du rapport ; « Créer le dossier de marché », pour la PRMP et son UGPM.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593220"/>
            <a:ext cx="10540736" cy="2021059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attribution, lot par l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669420"/>
            <a:ext cx="10388340" cy="1868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de marché créé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lot passe « au contrôle de la Commission » ; le projet de marché, produit par le serveur, se lit en PDF ou en Word.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671976"/>
            <a:ext cx="10540736" cy="1863548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ossier de marché cré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748176"/>
            <a:ext cx="10388340" cy="17111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de marché, prêt à soumettre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Pièces jointes d’office : 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 de marché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le cahier des charges (DAO complet), le PV d’ouverture, le rapport d’évaluation ; le devis rempli de l’offre quand elle a été déposée en formulaires.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suit ensuite le circuit de la Commission ; une grille de neuf points, tirée de la check-list du guide, sert à l’examiner.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51528" y="1473200"/>
            <a:ext cx="6866756" cy="4610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ossier de marché, prêt à soumet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7726" y="1549400"/>
            <a:ext cx="6714359" cy="4457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SUITE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l’avis de la Commission à la notification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270000"/>
            <a:ext cx="10286743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Livrées par tranches ; arbitrages du pilote du 07/10 déjà consignés.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80" y="1905000"/>
            <a:ext cx="5194170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905000"/>
            <a:ext cx="5194170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5"/>
          <p:cNvSpPr/>
          <p:nvPr/>
        </p:nvSpPr>
        <p:spPr>
          <a:xfrm>
            <a:off x="965176" y="2019300"/>
            <a:ext cx="4889378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176" y="2514600"/>
            <a:ext cx="4889378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l’offre proposée par la commission, et à elle seule ; en désaccord, la PRMP ne peut que déclarer l’infructuosité ou le sans suite.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4745" y="1905000"/>
            <a:ext cx="5194170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4745" y="1905000"/>
            <a:ext cx="5194170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6337142" y="2019300"/>
            <a:ext cx="4889378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et délai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37142" y="2514600"/>
            <a:ext cx="4889378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Lettres aux non retenus (modèles officiels à fournir), signées électroniquement ; 10 jours francs avant la signature ; demandes d’explication.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780" y="3987800"/>
            <a:ext cx="5194170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780" y="3987800"/>
            <a:ext cx="5194170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965176" y="4102100"/>
            <a:ext cx="4889378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Signature, notification, avis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5176" y="4597400"/>
            <a:ext cx="4889378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Mise au point, signature, notification ; avis d’attribution sous 30 jours ; pièces fiscales et sociales de l’attributaire sous 15 jours.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84745" y="3987800"/>
            <a:ext cx="5194170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4745" y="3987800"/>
            <a:ext cx="5194170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19" name="Text 17"/>
          <p:cNvSpPr/>
          <p:nvPr/>
        </p:nvSpPr>
        <p:spPr>
          <a:xfrm>
            <a:off x="6337142" y="4102100"/>
            <a:ext cx="4889378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Infructueux, sans suite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37142" y="4597400"/>
            <a:ext cx="4889378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Décisions motivées, notifiées à tous les candidats ; sans suite soumis à l’avis de l’organe de contrôle sous 5 jours.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Évaluation des offres et attribution · 33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Commission nationale des marchés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PRS 2.0 — L’évaluation des offres et l’attribution</dc:title>
  <dc:subject>PptxGenJS Presentation</dc:subject>
  <dc:creator>PRS 2.0</dc:creator>
  <cp:lastModifiedBy>PRS 2.0</cp:lastModifiedBy>
  <cp:revision>1</cp:revision>
  <dcterms:created xsi:type="dcterms:W3CDTF">2026-10-07T09:57:08Z</dcterms:created>
  <dcterms:modified xsi:type="dcterms:W3CDTF">2026-10-07T09:57:08Z</dcterms:modified>
</cp:coreProperties>
</file>