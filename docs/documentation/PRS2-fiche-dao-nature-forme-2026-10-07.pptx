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Lst>
  <p:notesMasterIdLst>
    <p:notesMasterId r:id="rId9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notesMaster" Target="notesMasters/notesMaster1.xml"/><Relationship Id="rId100" Type="http://schemas.openxmlformats.org/officeDocument/2006/relationships/presProps" Target="presProps.xml"/><Relationship Id="rId101" Type="http://schemas.openxmlformats.org/officeDocument/2006/relationships/viewProps" Target="viewProps.xml"/><Relationship Id="rId102" Type="http://schemas.openxmlformats.org/officeDocument/2006/relationships/theme" Target="theme/theme1.xml"/><Relationship Id="rId10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tableaux d’informations sont tirés du référentiel de la fiche DAO tel que le serveur le sert (7 octobre 2026) : rien n’y est recopié à la main. La partie 02 montre le parcours réel (captures masquées) ; la partie 06 reprend les règles de gestion du serveur (docs/regles-gestion.md, 8 octobre 2026). Le document se régénère après toute évolution de l’un ou de l’autre.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Référentiel Fournitures et services, quantité fixe.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Référentiel Travaux et réhabilitation, quantité fixe.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Référentiel Prestations intellectuelles, quantité fixe.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a:t>
            </a:r>
            <a:endParaRPr lang="en-US" sz="1400" dirty="0"/>
          </a:p>
        </p:txBody>
      </p:sp>
      <p:sp>
        <p:nvSpPr>
          <p:cNvPr id="4" name="Text 2"/>
          <p:cNvSpPr/>
          <p:nvPr/>
        </p:nvSpPr>
        <p:spPr>
          <a:xfrm>
            <a:off x="812780" y="1206500"/>
            <a:ext cx="10477238" cy="1333500"/>
          </a:xfrm>
          <a:prstGeom prst="rect">
            <a:avLst/>
          </a:prstGeom>
          <a:noFill/>
          <a:ln/>
        </p:spPr>
        <p:txBody>
          <a:bodyPr wrap="square" rtlCol="0" anchor="t"/>
          <a:lstStyle/>
          <a:p>
            <a:pPr indent="0" marL="0">
              <a:buNone/>
            </a:pPr>
            <a:r>
              <a:rPr lang="en-US" sz="4600" b="1" dirty="0">
                <a:solidFill>
                  <a:srgbClr val="FCFCFA"/>
                </a:solidFill>
                <a:latin typeface="Segoe UI" pitchFamily="34" charset="0"/>
                <a:ea typeface="Segoe UI" pitchFamily="34" charset="-122"/>
                <a:cs typeface="Segoe UI" pitchFamily="34" charset="-120"/>
              </a:rPr>
              <a:t>PRS 2.0 — La fiche DAO par nature et par forme du marché</a:t>
            </a:r>
            <a:endParaRPr lang="en-US" sz="4600" dirty="0"/>
          </a:p>
        </p:txBody>
      </p:sp>
      <p:sp>
        <p:nvSpPr>
          <p:cNvPr id="5" name="Text 3"/>
          <p:cNvSpPr/>
          <p:nvPr/>
        </p:nvSpPr>
        <p:spPr>
          <a:xfrm>
            <a:off x="812780" y="2730500"/>
            <a:ext cx="9524762" cy="1079500"/>
          </a:xfrm>
          <a:prstGeom prst="rect">
            <a:avLst/>
          </a:prstGeom>
          <a:noFill/>
          <a:ln/>
        </p:spPr>
        <p:txBody>
          <a:bodyPr wrap="square" rtlCol="0" anchor="t"/>
          <a:lstStyle/>
          <a:p>
            <a:pPr indent="0" marL="0">
              <a:buNone/>
            </a:pPr>
            <a:r>
              <a:rPr lang="en-US" sz="2100" dirty="0">
                <a:solidFill>
                  <a:srgbClr val="FCFCFA"/>
                </a:solidFill>
                <a:latin typeface="Segoe UI" pitchFamily="34" charset="0"/>
                <a:ea typeface="Segoe UI" pitchFamily="34" charset="-122"/>
                <a:cs typeface="Segoe UI" pitchFamily="34" charset="-120"/>
              </a:rPr>
              <a:t>Référence exhaustive : les blocs, chaque information, le document où elle s’imprime, les conditions qui l’ouvrent, et les documents produits — pour les trois natures et les trois formes du marché.</a:t>
            </a:r>
            <a:endParaRPr lang="en-US" sz="2100" dirty="0"/>
          </a:p>
        </p:txBody>
      </p:sp>
      <p:sp>
        <p:nvSpPr>
          <p:cNvPr id="6" name="Text 4"/>
          <p:cNvSpPr/>
          <p:nvPr/>
        </p:nvSpPr>
        <p:spPr>
          <a:xfrm>
            <a:off x="812780" y="5270500"/>
            <a:ext cx="9842254" cy="762000"/>
          </a:xfrm>
          <a:prstGeom prst="rect">
            <a:avLst/>
          </a:prstGeom>
          <a:noFill/>
          <a:ln/>
        </p:spPr>
        <p:txBody>
          <a:bodyPr wrap="square" rtlCol="0" anchor="ctr"/>
          <a:lstStyle/>
          <a:p>
            <a:pPr indent="0" marL="0">
              <a:buNone/>
            </a:pPr>
            <a:r>
              <a:rPr lang="en-US" sz="1400" dirty="0">
                <a:solidFill>
                  <a:srgbClr val="C9D6E2"/>
                </a:solidFill>
                <a:latin typeface="Segoe UI" pitchFamily="34" charset="0"/>
                <a:ea typeface="Segoe UI" pitchFamily="34" charset="-122"/>
                <a:cs typeface="Segoe UI" pitchFamily="34" charset="-120"/>
              </a:rPr>
              <a:t>Ministère de l’Économie et des Finances ·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MODE D’EMPLOI</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Comment lire cette référence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La fiche DAO d’une ligne du plan dépend de deux axes : la </a:t>
            </a:r>
            <a:pPr indent="0" marL="0">
              <a:buNone/>
            </a:pPr>
            <a:r>
              <a:rPr lang="en-US" sz="1300" b="1" dirty="0">
                <a:solidFill>
                  <a:srgbClr val="1B2A3A"/>
                </a:solidFill>
                <a:latin typeface="Segoe UI" pitchFamily="34" charset="0"/>
                <a:ea typeface="Segoe UI" pitchFamily="34" charset="-122"/>
                <a:cs typeface="Segoe UI" pitchFamily="34" charset="-120"/>
              </a:rPr>
              <a:t>nature</a:t>
            </a:r>
            <a:pPr indent="0" marL="0">
              <a:buNone/>
            </a:pPr>
            <a:r>
              <a:rPr lang="en-US" sz="1300" dirty="0">
                <a:solidFill>
                  <a:srgbClr val="465568"/>
                </a:solidFill>
                <a:latin typeface="Segoe UI" pitchFamily="34" charset="0"/>
                <a:ea typeface="Segoe UI" pitchFamily="34" charset="-122"/>
                <a:cs typeface="Segoe UI" pitchFamily="34" charset="-120"/>
              </a:rPr>
              <a:t> du marché (sa catégorie) et sa </a:t>
            </a:r>
            <a:pPr indent="0" marL="0">
              <a:buNone/>
            </a:pPr>
            <a:r>
              <a:rPr lang="en-US" sz="1300" b="1" dirty="0">
                <a:solidFill>
                  <a:srgbClr val="1B2A3A"/>
                </a:solidFill>
                <a:latin typeface="Segoe UI" pitchFamily="34" charset="0"/>
                <a:ea typeface="Segoe UI" pitchFamily="34" charset="-122"/>
                <a:cs typeface="Segoe UI" pitchFamily="34" charset="-120"/>
              </a:rPr>
              <a:t>forme</a:t>
            </a:r>
            <a:pPr indent="0" marL="0">
              <a:buNone/>
            </a:pPr>
            <a:r>
              <a:rPr lang="en-US" sz="1300" dirty="0">
                <a:solidFill>
                  <a:srgbClr val="465568"/>
                </a:solidFill>
                <a:latin typeface="Segoe UI" pitchFamily="34" charset="0"/>
                <a:ea typeface="Segoe UI" pitchFamily="34" charset="-122"/>
                <a:cs typeface="Segoe UI" pitchFamily="34" charset="-120"/>
              </a:rPr>
              <a:t>, reprise de la ligne du plan. Ensemble, ils fixent les informations à saisir et les documents produits.</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Huit combinaisons</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Trois natures (fournitures et services, travaux, prestations intellectuelles) × trois formes (quantité fixe, à commande, contrat-cadre). Il n’existe pas de contrat-cadre de prestations intellectuelles.</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tableau complet par référentiel distinct</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 À commande » ne diffère de « quantité fixe » que de quelques informations : on donne le tableau complet de la quantité fixe, puis </a:t>
            </a:r>
            <a:pPr indent="0" marL="0">
              <a:buNone/>
            </a:pPr>
            <a:r>
              <a:rPr lang="en-US" sz="1200" b="1" dirty="0">
                <a:solidFill>
                  <a:srgbClr val="1B2A3A"/>
                </a:solidFill>
                <a:latin typeface="Segoe UI" pitchFamily="34" charset="0"/>
                <a:ea typeface="Segoe UI" pitchFamily="34" charset="-122"/>
                <a:cs typeface="Segoe UI" pitchFamily="34" charset="-120"/>
              </a:rPr>
              <a:t>les écarts</a:t>
            </a:r>
            <a:pPr indent="0" marL="0">
              <a:buNone/>
            </a:pPr>
            <a:r>
              <a:rPr lang="en-US" sz="1200" dirty="0">
                <a:solidFill>
                  <a:srgbClr val="465568"/>
                </a:solidFill>
                <a:latin typeface="Segoe UI" pitchFamily="34" charset="0"/>
                <a:ea typeface="Segoe UI" pitchFamily="34" charset="-122"/>
                <a:cs typeface="Segoe UI" pitchFamily="34" charset="-120"/>
              </a:rPr>
              <a:t>. Le contrat-cadre a son propre tableau complet.</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colonnes</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b="1" dirty="0">
                <a:solidFill>
                  <a:srgbClr val="1B2A3A"/>
                </a:solidFill>
                <a:latin typeface="Segoe UI" pitchFamily="34" charset="0"/>
                <a:ea typeface="Segoe UI" pitchFamily="34" charset="-122"/>
                <a:cs typeface="Segoe UI" pitchFamily="34" charset="-120"/>
              </a:rPr>
              <a:t>Code</a:t>
            </a:r>
            <a:pPr indent="0" marL="0">
              <a:buNone/>
            </a:pPr>
            <a:r>
              <a:rPr lang="en-US" sz="1200" dirty="0">
                <a:solidFill>
                  <a:srgbClr val="465568"/>
                </a:solidFill>
                <a:latin typeface="Segoe UI" pitchFamily="34" charset="0"/>
                <a:ea typeface="Segoe UI" pitchFamily="34" charset="-122"/>
                <a:cs typeface="Segoe UI" pitchFamily="34" charset="-120"/>
              </a:rPr>
              <a:t> (bloc-rubrique-rang), </a:t>
            </a:r>
            <a:pPr indent="0" marL="0">
              <a:buNone/>
            </a:pPr>
            <a:r>
              <a:rPr lang="en-US" sz="1200" b="1" dirty="0">
                <a:solidFill>
                  <a:srgbClr val="1B2A3A"/>
                </a:solidFill>
                <a:latin typeface="Segoe UI" pitchFamily="34" charset="0"/>
                <a:ea typeface="Segoe UI" pitchFamily="34" charset="-122"/>
                <a:cs typeface="Segoe UI" pitchFamily="34" charset="-120"/>
              </a:rPr>
              <a:t>information</a:t>
            </a:r>
            <a:pPr indent="0" marL="0">
              <a:buNone/>
            </a:pPr>
            <a:r>
              <a:rPr lang="en-US" sz="1200" dirty="0">
                <a:solidFill>
                  <a:srgbClr val="465568"/>
                </a:solidFill>
                <a:latin typeface="Segoe UI" pitchFamily="34" charset="0"/>
                <a:ea typeface="Segoe UI" pitchFamily="34" charset="-122"/>
                <a:cs typeface="Segoe UI" pitchFamily="34" charset="-120"/>
              </a:rPr>
              <a:t>, </a:t>
            </a:r>
            <a:pPr indent="0" marL="0">
              <a:buNone/>
            </a:pPr>
            <a:r>
              <a:rPr lang="en-US" sz="1200" b="1" dirty="0">
                <a:solidFill>
                  <a:srgbClr val="1B2A3A"/>
                </a:solidFill>
                <a:latin typeface="Segoe UI" pitchFamily="34" charset="0"/>
                <a:ea typeface="Segoe UI" pitchFamily="34" charset="-122"/>
                <a:cs typeface="Segoe UI" pitchFamily="34" charset="-120"/>
              </a:rPr>
              <a:t>type et valeurs</a:t>
            </a:r>
            <a:pPr indent="0" marL="0">
              <a:buNone/>
            </a:pPr>
            <a:r>
              <a:rPr lang="en-US" sz="1200" dirty="0">
                <a:solidFill>
                  <a:srgbClr val="465568"/>
                </a:solidFill>
                <a:latin typeface="Segoe UI" pitchFamily="34" charset="0"/>
                <a:ea typeface="Segoe UI" pitchFamily="34" charset="-122"/>
                <a:cs typeface="Segoe UI" pitchFamily="34" charset="-120"/>
              </a:rPr>
              <a:t> proposées, </a:t>
            </a:r>
            <a:pPr indent="0" marL="0">
              <a:buNone/>
            </a:pPr>
            <a:r>
              <a:rPr lang="en-US" sz="1200" b="1" dirty="0">
                <a:solidFill>
                  <a:srgbClr val="1B2A3A"/>
                </a:solidFill>
                <a:latin typeface="Segoe UI" pitchFamily="34" charset="0"/>
                <a:ea typeface="Segoe UI" pitchFamily="34" charset="-122"/>
                <a:cs typeface="Segoe UI" pitchFamily="34" charset="-120"/>
              </a:rPr>
              <a:t>source</a:t>
            </a:r>
            <a:pPr indent="0" marL="0">
              <a:buNone/>
            </a:pPr>
            <a:r>
              <a:rPr lang="en-US" sz="1200" dirty="0">
                <a:solidFill>
                  <a:srgbClr val="465568"/>
                </a:solidFill>
                <a:latin typeface="Segoe UI" pitchFamily="34" charset="0"/>
                <a:ea typeface="Segoe UI" pitchFamily="34" charset="-122"/>
                <a:cs typeface="Segoe UI" pitchFamily="34" charset="-120"/>
              </a:rPr>
              <a:t> (reprise du plan, cadrage ou saisie), </a:t>
            </a:r>
            <a:pPr indent="0" marL="0">
              <a:buNone/>
            </a:pPr>
            <a:r>
              <a:rPr lang="en-US" sz="1200" b="1" dirty="0">
                <a:solidFill>
                  <a:srgbClr val="1B2A3A"/>
                </a:solidFill>
                <a:latin typeface="Segoe UI" pitchFamily="34" charset="0"/>
                <a:ea typeface="Segoe UI" pitchFamily="34" charset="-122"/>
                <a:cs typeface="Segoe UI" pitchFamily="34" charset="-120"/>
              </a:rPr>
              <a:t>document</a:t>
            </a:r>
            <a:pPr indent="0" marL="0">
              <a:buNone/>
            </a:pPr>
            <a:r>
              <a:rPr lang="en-US" sz="1200" dirty="0">
                <a:solidFill>
                  <a:srgbClr val="465568"/>
                </a:solidFill>
                <a:latin typeface="Segoe UI" pitchFamily="34" charset="0"/>
                <a:ea typeface="Segoe UI" pitchFamily="34" charset="-122"/>
                <a:cs typeface="Segoe UI" pitchFamily="34" charset="-120"/>
              </a:rPr>
              <a:t> où elle s’imprime (→ documents où elle est reprise), </a:t>
            </a:r>
            <a:pPr indent="0" marL="0">
              <a:buNone/>
            </a:pPr>
            <a:r>
              <a:rPr lang="en-US" sz="1200" b="1" dirty="0">
                <a:solidFill>
                  <a:srgbClr val="1B2A3A"/>
                </a:solidFill>
                <a:latin typeface="Segoe UI" pitchFamily="34" charset="0"/>
                <a:ea typeface="Segoe UI" pitchFamily="34" charset="-122"/>
                <a:cs typeface="Segoe UI" pitchFamily="34" charset="-120"/>
              </a:rPr>
              <a:t>obligatoire</a:t>
            </a:r>
            <a:pPr indent="0" marL="0">
              <a:buNone/>
            </a:pPr>
            <a:r>
              <a:rPr lang="en-US" sz="1200" dirty="0">
                <a:solidFill>
                  <a:srgbClr val="465568"/>
                </a:solidFill>
                <a:latin typeface="Segoe UI" pitchFamily="34" charset="0"/>
                <a:ea typeface="Segoe UI" pitchFamily="34" charset="-122"/>
                <a:cs typeface="Segoe UI" pitchFamily="34" charset="-120"/>
              </a:rPr>
              <a:t>, </a:t>
            </a:r>
            <a:pPr indent="0" marL="0">
              <a:buNone/>
            </a:pPr>
            <a:r>
              <a:rPr lang="en-US" sz="1200" b="1" dirty="0">
                <a:solidFill>
                  <a:srgbClr val="1B2A3A"/>
                </a:solidFill>
                <a:latin typeface="Segoe UI" pitchFamily="34" charset="0"/>
                <a:ea typeface="Segoe UI" pitchFamily="34" charset="-122"/>
                <a:cs typeface="Segoe UI" pitchFamily="34" charset="-120"/>
              </a:rPr>
              <a:t>condition</a:t>
            </a:r>
            <a:pPr indent="0" marL="0">
              <a:buNone/>
            </a:pPr>
            <a:r>
              <a:rPr lang="en-US" sz="1200" dirty="0">
                <a:solidFill>
                  <a:srgbClr val="465568"/>
                </a:solidFill>
                <a:latin typeface="Segoe UI" pitchFamily="34" charset="0"/>
                <a:ea typeface="Segoe UI" pitchFamily="34" charset="-122"/>
                <a:cs typeface="Segoe UI" pitchFamily="34" charset="-120"/>
              </a:rPr>
              <a:t> d’affichage.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document, selon la forme et la nature</a:t>
            </a:r>
            <a:endParaRPr lang="en-US" sz="1500" dirty="0"/>
          </a:p>
        </p:txBody>
      </p:sp>
      <p:sp>
        <p:nvSpPr>
          <p:cNvPr id="20" name="Text 18"/>
          <p:cNvSpPr/>
          <p:nvPr/>
        </p:nvSpPr>
        <p:spPr>
          <a:xfrm>
            <a:off x="952476"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En contrat-cadre, le DPAO devient le </a:t>
            </a:r>
            <a:pPr indent="0" marL="0">
              <a:buNone/>
            </a:pPr>
            <a:r>
              <a:rPr lang="en-US" sz="1200" b="1" dirty="0">
                <a:solidFill>
                  <a:srgbClr val="1B2A3A"/>
                </a:solidFill>
                <a:latin typeface="Segoe UI" pitchFamily="34" charset="0"/>
                <a:ea typeface="Segoe UI" pitchFamily="34" charset="-122"/>
                <a:cs typeface="Segoe UI" pitchFamily="34" charset="-120"/>
              </a:rPr>
              <a:t>DPAC</a:t>
            </a:r>
            <a:pPr indent="0" marL="0">
              <a:buNone/>
            </a:pPr>
            <a:r>
              <a:rPr lang="en-US" sz="1200" dirty="0">
                <a:solidFill>
                  <a:srgbClr val="465568"/>
                </a:solidFill>
                <a:latin typeface="Segoe UI" pitchFamily="34" charset="0"/>
                <a:ea typeface="Segoe UI" pitchFamily="34" charset="-122"/>
                <a:cs typeface="Segoe UI" pitchFamily="34" charset="-120"/>
              </a:rPr>
              <a:t> et le CCAP est absorbé par l’</a:t>
            </a:r>
            <a:pPr indent="0" marL="0">
              <a:buNone/>
            </a:pPr>
            <a:r>
              <a:rPr lang="en-US" sz="1200" b="1" dirty="0">
                <a:solidFill>
                  <a:srgbClr val="1B2A3A"/>
                </a:solidFill>
                <a:latin typeface="Segoe UI" pitchFamily="34" charset="0"/>
                <a:ea typeface="Segoe UI" pitchFamily="34" charset="-122"/>
                <a:cs typeface="Segoe UI" pitchFamily="34" charset="-120"/>
              </a:rPr>
              <a:t>AE</a:t>
            </a:r>
            <a:pPr indent="0" marL="0">
              <a:buNone/>
            </a:pPr>
            <a:r>
              <a:rPr lang="en-US" sz="1200" dirty="0">
                <a:solidFill>
                  <a:srgbClr val="465568"/>
                </a:solidFill>
                <a:latin typeface="Segoe UI" pitchFamily="34" charset="0"/>
                <a:ea typeface="Segoe UI" pitchFamily="34" charset="-122"/>
                <a:cs typeface="Segoe UI" pitchFamily="34" charset="-120"/>
              </a:rPr>
              <a:t> (« contrat-cadre valant acte d’engagement et CCAP »). En prestations intellectuelles, le DPAO devient le </a:t>
            </a:r>
            <a:pPr indent="0" marL="0">
              <a:buNone/>
            </a:pPr>
            <a:r>
              <a:rPr lang="en-US" sz="1200" b="1" dirty="0">
                <a:solidFill>
                  <a:srgbClr val="1B2A3A"/>
                </a:solidFill>
                <a:latin typeface="Segoe UI" pitchFamily="34" charset="0"/>
                <a:ea typeface="Segoe UI" pitchFamily="34" charset="-122"/>
                <a:cs typeface="Segoe UI" pitchFamily="34" charset="-120"/>
              </a:rPr>
              <a:t>DPIC</a:t>
            </a:r>
            <a:pPr indent="0" marL="0">
              <a:buNone/>
            </a:pPr>
            <a:r>
              <a:rPr lang="en-US" sz="1200" dirty="0">
                <a:solidFill>
                  <a:srgbClr val="465568"/>
                </a:solidFill>
                <a:latin typeface="Segoe UI" pitchFamily="34" charset="0"/>
                <a:ea typeface="Segoe UI" pitchFamily="34" charset="-122"/>
                <a:cs typeface="Segoe UI" pitchFamily="34" charset="-120"/>
              </a:rPr>
              <a:t>. Les tableaux donnent déjà le document réel.</a:t>
            </a:r>
            <a:endParaRPr lang="en-US" sz="1200" dirty="0"/>
          </a:p>
        </p:txBody>
      </p:sp>
      <p:sp>
        <p:nvSpPr>
          <p:cNvPr id="21" name="Shape 19"/>
          <p:cNvSpPr/>
          <p:nvPr/>
        </p:nvSpPr>
        <p:spPr>
          <a:xfrm>
            <a:off x="4385624" y="3962400"/>
            <a:ext cx="3420448" cy="2159000"/>
          </a:xfrm>
          <a:prstGeom prst="rect">
            <a:avLst/>
          </a:prstGeom>
          <a:solidFill>
            <a:srgbClr val="FCFCFA"/>
          </a:solidFill>
          <a:ln w="9525">
            <a:solidFill>
              <a:srgbClr val="D5DCE4"/>
            </a:solidFill>
            <a:prstDash val="solid"/>
          </a:ln>
        </p:spPr>
      </p:sp>
      <p:sp>
        <p:nvSpPr>
          <p:cNvPr id="22" name="Shape 20"/>
          <p:cNvSpPr/>
          <p:nvPr/>
        </p:nvSpPr>
        <p:spPr>
          <a:xfrm>
            <a:off x="4385624" y="3962400"/>
            <a:ext cx="3420448" cy="38100"/>
          </a:xfrm>
          <a:prstGeom prst="rect">
            <a:avLst/>
          </a:prstGeom>
          <a:solidFill>
            <a:srgbClr val="1B6FA8"/>
          </a:solidFill>
          <a:ln/>
        </p:spPr>
      </p:sp>
      <p:sp>
        <p:nvSpPr>
          <p:cNvPr id="23" name="Text 21"/>
          <p:cNvSpPr/>
          <p:nvPr/>
        </p:nvSpPr>
        <p:spPr>
          <a:xfrm>
            <a:off x="4525320"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conditions</a:t>
            </a:r>
            <a:endParaRPr lang="en-US" sz="1500" dirty="0"/>
          </a:p>
        </p:txBody>
      </p:sp>
      <p:sp>
        <p:nvSpPr>
          <p:cNvPr id="24" name="Text 22"/>
          <p:cNvSpPr/>
          <p:nvPr/>
        </p:nvSpPr>
        <p:spPr>
          <a:xfrm>
            <a:off x="4525320"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information n’apparaît que si le cadrage l’ouvre : « Si remise électronique », « Si alloti », « Si garantie de soumission »… Sans condition, elle est toujours demandée.</a:t>
            </a:r>
            <a:endParaRPr lang="en-US" sz="1200" dirty="0"/>
          </a:p>
        </p:txBody>
      </p:sp>
      <p:sp>
        <p:nvSpPr>
          <p:cNvPr id="25" name="Shape 23"/>
          <p:cNvSpPr/>
          <p:nvPr/>
        </p:nvSpPr>
        <p:spPr>
          <a:xfrm>
            <a:off x="7958468" y="3962400"/>
            <a:ext cx="3420448" cy="2159000"/>
          </a:xfrm>
          <a:prstGeom prst="rect">
            <a:avLst/>
          </a:prstGeom>
          <a:solidFill>
            <a:srgbClr val="FCFCFA"/>
          </a:solidFill>
          <a:ln w="9525">
            <a:solidFill>
              <a:srgbClr val="D5DCE4"/>
            </a:solidFill>
            <a:prstDash val="solid"/>
          </a:ln>
        </p:spPr>
      </p:sp>
      <p:sp>
        <p:nvSpPr>
          <p:cNvPr id="26" name="Shape 24"/>
          <p:cNvSpPr/>
          <p:nvPr/>
        </p:nvSpPr>
        <p:spPr>
          <a:xfrm>
            <a:off x="7958468" y="3962400"/>
            <a:ext cx="3420448" cy="38100"/>
          </a:xfrm>
          <a:prstGeom prst="rect">
            <a:avLst/>
          </a:prstGeom>
          <a:solidFill>
            <a:srgbClr val="2E8B57"/>
          </a:solidFill>
          <a:ln/>
        </p:spPr>
      </p:sp>
      <p:sp>
        <p:nvSpPr>
          <p:cNvPr id="27" name="Text 25"/>
          <p:cNvSpPr/>
          <p:nvPr/>
        </p:nvSpPr>
        <p:spPr>
          <a:xfrm>
            <a:off x="8098164"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blocs à grille</a:t>
            </a:r>
            <a:endParaRPr lang="en-US" sz="1500" dirty="0"/>
          </a:p>
        </p:txBody>
      </p:sp>
      <p:sp>
        <p:nvSpPr>
          <p:cNvPr id="28" name="Text 26"/>
          <p:cNvSpPr/>
          <p:nvPr/>
        </p:nvSpPr>
        <p:spPr>
          <a:xfrm>
            <a:off x="8098164"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besoin (B12), le matériel et le personnel (B13), les pièces de l’offre (B14) ne sont pas des listes d’informations mais des grilles : ils sont décrits à part.</a:t>
            </a:r>
            <a:endParaRPr lang="en-US" sz="1200" dirty="0"/>
          </a:p>
        </p:txBody>
      </p:sp>
      <p:sp>
        <p:nvSpPr>
          <p:cNvPr id="29" name="Text 2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3809905"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01</a:t>
            </a:r>
            <a:endParaRPr lang="en-US" sz="8000" dirty="0"/>
          </a:p>
        </p:txBody>
      </p:sp>
      <p:sp>
        <p:nvSpPr>
          <p:cNvPr id="3" name="Text 1"/>
          <p:cNvSpPr/>
          <p:nvPr/>
        </p:nvSpPr>
        <p:spPr>
          <a:xfrm>
            <a:off x="812780" y="2667000"/>
            <a:ext cx="10477238" cy="698500"/>
          </a:xfrm>
          <a:prstGeom prst="rect">
            <a:avLst/>
          </a:prstGeom>
          <a:noFill/>
          <a:ln/>
        </p:spPr>
        <p:txBody>
          <a:bodyPr wrap="square" rtlCol="0" anchor="ctr">
            <a:normAutofit/>
          </a:bodyPr>
          <a:lstStyle/>
          <a:p>
            <a:pPr indent="0" marL="0">
              <a:buNone/>
            </a:pPr>
            <a:r>
              <a:rPr lang="en-US" sz="4200" b="1" dirty="0">
                <a:solidFill>
                  <a:srgbClr val="FCFCFA"/>
                </a:solidFill>
                <a:latin typeface="Segoe UI" pitchFamily="34" charset="0"/>
                <a:ea typeface="Segoe UI" pitchFamily="34" charset="-122"/>
                <a:cs typeface="Segoe UI" pitchFamily="34" charset="-120"/>
              </a:rPr>
              <a:t>Vue d’ensemble</a:t>
            </a:r>
            <a:endParaRPr lang="en-US" sz="4200" dirty="0"/>
          </a:p>
        </p:txBody>
      </p:sp>
      <p:sp>
        <p:nvSpPr>
          <p:cNvPr id="4" name="Text 2"/>
          <p:cNvSpPr/>
          <p:nvPr/>
        </p:nvSpPr>
        <p:spPr>
          <a:xfrm>
            <a:off x="812780" y="3556000"/>
            <a:ext cx="8889778" cy="1270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Les huit combinaisons côte à côte : nombre d’informations, documents produits, questions de cadrage, ce que change la forme du marché.</a:t>
            </a:r>
            <a:endParaRPr lang="en-US" sz="1700" dirty="0"/>
          </a:p>
        </p:txBody>
      </p:sp>
      <p:sp>
        <p:nvSpPr>
          <p:cNvPr id="5"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 fiche DAO par nature et par forme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huit combinaisons en chiffres</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Nombre d’informations du référentiel ouvertes pour chaque combinaison, dont obligatoires, conditionnelles (ouvertes par le cadrage) et saisies une fois par lot.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1828800"/>
                <a:gridCol w="1143000"/>
                <a:gridCol w="594360"/>
                <a:gridCol w="914400"/>
                <a:gridCol w="914400"/>
                <a:gridCol w="1005840"/>
                <a:gridCol w="685800"/>
                <a:gridCol w="1188720"/>
                <a:gridCol w="31546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Blocs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Obligatoires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Conditionnelles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Par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Blocs à 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Répartition par 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Fournitures et services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fixe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163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 B14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104 · CCAP 45 · AE 6 · avis 6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Fournitures et services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166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 B14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105 · CCAP 46 · AE 7 · avis 6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Fournitures et services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177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DPAC 103 · AE 72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 et réhabilitation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fixe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 B13, B14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99 · CCAP 67 · AE 7 · avis 6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 et réhabilitation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 B13, B14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99 · CCAP 67 · AE 7 · avis 6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 et réhabilitation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141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67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 B13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DPAC 78 · AE 61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Prestations intellectuelles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fixe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127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61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DPIC 91 · CCAP 23 · AE 11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Prestations intellectuelles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127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61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DPIC 91 · CCAP 23 · AE 11 · fiche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032500"/>
            <a:ext cx="10540736" cy="381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 fiche » : informations qui pilotent la fiche sans s’imprimer. « avis » : informations qui ne s’impriment que dans l’avis spécifique. Une information peut aussi être </a:t>
            </a:r>
            <a:pPr indent="0" marL="0">
              <a:buNone/>
            </a:pPr>
            <a:r>
              <a:rPr lang="en-US" sz="1100" b="1" dirty="0">
                <a:solidFill>
                  <a:srgbClr val="1B2A3A"/>
                </a:solidFill>
                <a:latin typeface="Segoe UI" pitchFamily="34" charset="0"/>
                <a:ea typeface="Segoe UI" pitchFamily="34" charset="-122"/>
                <a:cs typeface="Segoe UI" pitchFamily="34" charset="-120"/>
              </a:rPr>
              <a:t>reprise</a:t>
            </a:r>
            <a:pPr indent="0" marL="0">
              <a:buNone/>
            </a:pPr>
            <a:r>
              <a:rPr lang="en-US" sz="1100" dirty="0">
                <a:solidFill>
                  <a:srgbClr val="465568"/>
                </a:solidFill>
                <a:latin typeface="Segoe UI" pitchFamily="34" charset="0"/>
                <a:ea typeface="Segoe UI" pitchFamily="34" charset="-122"/>
                <a:cs typeface="Segoe UI" pitchFamily="34" charset="-120"/>
              </a:rPr>
              <a:t> dans d’autres documents que le sien.</a:t>
            </a:r>
            <a:endParaRPr lang="en-US" sz="1100" dirty="0"/>
          </a:p>
        </p:txBody>
      </p:sp>
      <p:sp>
        <p:nvSpPr>
          <p:cNvPr id="7"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documents produits à la validation</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Chaque document est un document type de l’ARMP rempli depuis la fiche, en Word et en PDF, puis assemblé dans le DAO complet. Les classeurs restent en Excel.</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1417320"/>
                <a:gridCol w="1097280"/>
                <a:gridCol w="1143000"/>
                <a:gridCol w="1417320"/>
                <a:gridCol w="1463040"/>
                <a:gridCol w="1051560"/>
                <a:gridCol w="1463040"/>
                <a:gridCol w="1234440"/>
                <a:gridCol w="11430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Données particulières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Contrat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Cahier des charges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Formulaires du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Classeurs (Excel)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Textes fixes (DAO complet)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Publicité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Fournitures et services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fixe, 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(DPAO-F)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AE (AE-F), par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Cahier des prescriptions spéciales (CCAP-F)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A1 à A4 ; C1, C2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Bordereau des prix, tableau de conformité ; liste des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IC et CCAG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 spécifique (AVIS-F)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Fournitures et services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DPAC (DPAC-CC)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 valant AE et CCAP (AE-CC)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 (absorbé par l’AE)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A1 à A4 ; C1, C2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Bordereau des prix, tableau de conformité ; liste des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IC et CCAG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 spécifique (AVIS-F)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fixe, 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(DPAO-T)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AE (AE-T), par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CCAP et ses annexes (CCAP-T)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A1 à A4 ; B1, B2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Bordereau des prix et DQE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IC et CCAG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 spécifique (AVIS-T)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DPAC (DPAC-CC)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 valant AE et CCAP (AE-CC)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 (absorbé par l’AE)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A1 à A4 ; B1, B2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Bordereau des prix et DQE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IC et CCAG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 spécifique (AVIS-T)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Prestations intellectuelles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fixe, 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DPIC (DPIC-PI)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AE (AE-PI)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Cahier des prescriptions spéciales (CPS-PI)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A1 à A4 ; C1, C2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IC et CCAG prestations intellectuelles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Lettre d’invitation, candidat par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032500"/>
            <a:ext cx="10540736" cy="381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Source : modèles du serveur (</a:t>
            </a:r>
            <a:pPr indent="0" marL="0">
              <a:buNone/>
            </a:pPr>
            <a:r>
              <a:rPr lang="en-US" sz="1100" b="1" dirty="0">
                <a:solidFill>
                  <a:srgbClr val="1B2A3A"/>
                </a:solidFill>
                <a:latin typeface="Segoe UI" pitchFamily="34" charset="0"/>
                <a:ea typeface="Segoe UI" pitchFamily="34" charset="-122"/>
                <a:cs typeface="Segoe UI" pitchFamily="34" charset="-120"/>
              </a:rPr>
              <a:t>ModelesDao.COUVERTURES</a:t>
            </a:r>
            <a:pPr indent="0" marL="0">
              <a:buNone/>
            </a:pPr>
            <a:r>
              <a:rPr lang="en-US" sz="1100" dirty="0">
                <a:solidFill>
                  <a:srgbClr val="465568"/>
                </a:solidFill>
                <a:latin typeface="Segoe UI" pitchFamily="34" charset="0"/>
                <a:ea typeface="Segoe UI" pitchFamily="34" charset="-122"/>
                <a:cs typeface="Segoe UI" pitchFamily="34" charset="-120"/>
              </a:rPr>
              <a:t>, </a:t>
            </a:r>
            <a:pPr indent="0" marL="0">
              <a:buNone/>
            </a:pPr>
            <a:r>
              <a:rPr lang="en-US" sz="1100" b="1" dirty="0">
                <a:solidFill>
                  <a:srgbClr val="1B2A3A"/>
                </a:solidFill>
                <a:latin typeface="Segoe UI" pitchFamily="34" charset="0"/>
                <a:ea typeface="Segoe UI" pitchFamily="34" charset="-122"/>
                <a:cs typeface="Segoe UI" pitchFamily="34" charset="-120"/>
              </a:rPr>
              <a:t>modeles/candidat</a:t>
            </a:r>
            <a:pPr indent="0" marL="0">
              <a:buNone/>
            </a:pPr>
            <a:r>
              <a:rPr lang="en-US" sz="1100" dirty="0">
                <a:solidFill>
                  <a:srgbClr val="465568"/>
                </a:solidFill>
                <a:latin typeface="Segoe UI" pitchFamily="34" charset="0"/>
                <a:ea typeface="Segoe UI" pitchFamily="34" charset="-122"/>
                <a:cs typeface="Segoe UI" pitchFamily="34" charset="-120"/>
              </a:rPr>
              <a:t>, </a:t>
            </a:r>
            <a:pPr indent="0" marL="0">
              <a:buNone/>
            </a:pPr>
            <a:r>
              <a:rPr lang="en-US" sz="1100" b="1" dirty="0">
                <a:solidFill>
                  <a:srgbClr val="1B2A3A"/>
                </a:solidFill>
                <a:latin typeface="Segoe UI" pitchFamily="34" charset="0"/>
                <a:ea typeface="Segoe UI" pitchFamily="34" charset="-122"/>
                <a:cs typeface="Segoe UI" pitchFamily="34" charset="-120"/>
              </a:rPr>
              <a:t>modeles/dao-fixes</a:t>
            </a:r>
            <a:pPr indent="0" marL="0">
              <a:buNone/>
            </a:pPr>
            <a:r>
              <a:rPr lang="en-US" sz="1100" dirty="0">
                <a:solidFill>
                  <a:srgbClr val="465568"/>
                </a:solidFill>
                <a:latin typeface="Segoe UI" pitchFamily="34" charset="0"/>
                <a:ea typeface="Segoe UI" pitchFamily="34" charset="-122"/>
                <a:cs typeface="Segoe UI" pitchFamily="34" charset="-120"/>
              </a:rPr>
              <a:t>). Les garanties de soumission C1/C2 (B1/B2 en travaux) ne sont produites que dans la forme admise par la fiche.</a:t>
            </a:r>
            <a:endParaRPr lang="en-US" sz="1100" dirty="0"/>
          </a:p>
        </p:txBody>
      </p:sp>
      <p:sp>
        <p:nvSpPr>
          <p:cNvPr id="7"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questions de cadrage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Posées à l’étape 2, avant toute saisie. Leurs réponses ouvrent ou ferment des informations (colonne « Condition » des tableaux). La forme du marché ne se demande pas : elle vient de la ligne du plan.</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743200"/>
                <a:gridCol w="868680"/>
                <a:gridCol w="1051560"/>
                <a:gridCol w="1051560"/>
                <a:gridCol w="1280160"/>
                <a:gridCol w="15087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Question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Réponses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Prest. intell.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Documents touchés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 marché est-il alloti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(nombre de lots) / Non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AE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 marché comporte-t-il des tranches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 Non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AE,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Les variantes sont-elles autorisées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 Non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 groupement est-il autorisé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 Non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AE,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Quelle forme de groupement ? (si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Conjoint ou solidaire / obligatoirement solidaire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AE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D’où viennent les fournitures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Territoire national / importées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AE,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Quel type de prix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Unitaires / global forfaitaire / mixte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avec « mixte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AE,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 prix est-il révisable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Ferme / révisable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Une garantie de soumission est-elle exigée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 Non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AE,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Comment les offres sont-elles remises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Papier /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DPAO ; C1, C2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Une avance est-elle prévue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(taux) / Non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AE,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Des pénalités de retard s’appliquent-elles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Selon le CCAG / autre plafond / non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 (plafond 10 %)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Non : fixées dans l’AE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 : mono ou multi-attributaire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Mono / multi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DPAC, AE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VUE D’ENSEMBLE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change la forme du marché</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La forme vient de la ligne du plan (« contrat cadre », « à commande » relevés dans l’objet, sinon quantité fixe). Elle ne se choisit pas dans la fiche.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Quantité fixe</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quantités sont arrêtées au DAO. Le bordereau des prix porte une quantité par article (ou par prix du DQE) ; le montant de l’offre en découle.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À commande</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quantités sont des </a:t>
            </a:r>
            <a:pPr indent="0" marL="0">
              <a:buNone/>
            </a:pPr>
            <a:r>
              <a:rPr lang="en-US" sz="1200" b="1" dirty="0">
                <a:solidFill>
                  <a:srgbClr val="1B2A3A"/>
                </a:solidFill>
                <a:latin typeface="Segoe UI" pitchFamily="34" charset="0"/>
                <a:ea typeface="Segoe UI" pitchFamily="34" charset="-122"/>
                <a:cs typeface="Segoe UI" pitchFamily="34" charset="-120"/>
              </a:rPr>
              <a:t>fourchettes</a:t>
            </a:r>
            <a:pPr indent="0" marL="0">
              <a:buNone/>
            </a:pPr>
            <a:r>
              <a:rPr lang="en-US" sz="1200" dirty="0">
                <a:solidFill>
                  <a:srgbClr val="465568"/>
                </a:solidFill>
                <a:latin typeface="Segoe UI" pitchFamily="34" charset="0"/>
                <a:ea typeface="Segoe UI" pitchFamily="34" charset="-122"/>
                <a:cs typeface="Segoe UI" pitchFamily="34" charset="-120"/>
              </a:rPr>
              <a:t> : minimum et maximum par article dans le besoin, montants minimum et maximum par lot dans l’acte d’engagement. En fournitures, quatre informations de plus (durée de validité, montant maximum annuel, délai maximum de livraison) et une de moins. En travaux et en prestations intellectuelles, le référentiel est </a:t>
            </a:r>
            <a:pPr indent="0" marL="0">
              <a:buNone/>
            </a:pPr>
            <a:r>
              <a:rPr lang="en-US" sz="1200" b="1" dirty="0">
                <a:solidFill>
                  <a:srgbClr val="1B2A3A"/>
                </a:solidFill>
                <a:latin typeface="Segoe UI" pitchFamily="34" charset="0"/>
                <a:ea typeface="Segoe UI" pitchFamily="34" charset="-122"/>
                <a:cs typeface="Segoe UI" pitchFamily="34" charset="-120"/>
              </a:rPr>
              <a:t>identique</a:t>
            </a:r>
            <a:pPr indent="0" marL="0">
              <a:buNone/>
            </a:pPr>
            <a:r>
              <a:rPr lang="en-US" sz="1200" dirty="0">
                <a:solidFill>
                  <a:srgbClr val="465568"/>
                </a:solidFill>
                <a:latin typeface="Segoe UI" pitchFamily="34" charset="0"/>
                <a:ea typeface="Segoe UI" pitchFamily="34" charset="-122"/>
                <a:cs typeface="Segoe UI" pitchFamily="34" charset="-120"/>
              </a:rPr>
              <a:t> à la quantité fixe : seuls le besoin et les passages conditionnels des documents changent.</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Contrat-cadre</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 autre jeu documentaire : </a:t>
            </a:r>
            <a:pPr indent="0" marL="0">
              <a:buNone/>
            </a:pPr>
            <a:r>
              <a:rPr lang="en-US" sz="1200" b="1" dirty="0">
                <a:solidFill>
                  <a:srgbClr val="1B2A3A"/>
                </a:solidFill>
                <a:latin typeface="Segoe UI" pitchFamily="34" charset="0"/>
                <a:ea typeface="Segoe UI" pitchFamily="34" charset="-122"/>
                <a:cs typeface="Segoe UI" pitchFamily="34" charset="-120"/>
              </a:rPr>
              <a:t>DPAC</a:t>
            </a:r>
            <a:pPr indent="0" marL="0">
              <a:buNone/>
            </a:pPr>
            <a:r>
              <a:rPr lang="en-US" sz="1200" dirty="0">
                <a:solidFill>
                  <a:srgbClr val="465568"/>
                </a:solidFill>
                <a:latin typeface="Segoe UI" pitchFamily="34" charset="0"/>
                <a:ea typeface="Segoe UI" pitchFamily="34" charset="-122"/>
                <a:cs typeface="Segoe UI" pitchFamily="34" charset="-120"/>
              </a:rPr>
              <a:t> et </a:t>
            </a:r>
            <a:pPr indent="0" marL="0">
              <a:buNone/>
            </a:pPr>
            <a:r>
              <a:rPr lang="en-US" sz="1200" b="1" dirty="0">
                <a:solidFill>
                  <a:srgbClr val="1B2A3A"/>
                </a:solidFill>
                <a:latin typeface="Segoe UI" pitchFamily="34" charset="0"/>
                <a:ea typeface="Segoe UI" pitchFamily="34" charset="-122"/>
                <a:cs typeface="Segoe UI" pitchFamily="34" charset="-120"/>
              </a:rPr>
              <a:t>contrat-cadre valant AE et CCAP</a:t>
            </a:r>
            <a:pPr indent="0" marL="0">
              <a:buNone/>
            </a:pPr>
            <a:r>
              <a:rPr lang="en-US" sz="1200" dirty="0">
                <a:solidFill>
                  <a:srgbClr val="465568"/>
                </a:solidFill>
                <a:latin typeface="Segoe UI" pitchFamily="34" charset="0"/>
                <a:ea typeface="Segoe UI" pitchFamily="34" charset="-122"/>
                <a:cs typeface="Segoe UI" pitchFamily="34" charset="-120"/>
              </a:rPr>
              <a:t>. Le bloc </a:t>
            </a:r>
            <a:pPr indent="0" marL="0">
              <a:buNone/>
            </a:pPr>
            <a:r>
              <a:rPr lang="en-US" sz="1200" b="1" dirty="0">
                <a:solidFill>
                  <a:srgbClr val="1B2A3A"/>
                </a:solidFill>
                <a:latin typeface="Segoe UI" pitchFamily="34" charset="0"/>
                <a:ea typeface="Segoe UI" pitchFamily="34" charset="-122"/>
                <a:cs typeface="Segoe UI" pitchFamily="34" charset="-120"/>
              </a:rPr>
              <a:t>B07</a:t>
            </a:r>
            <a:pPr indent="0" marL="0">
              <a:buNone/>
            </a:pPr>
            <a:r>
              <a:rPr lang="en-US" sz="1200" dirty="0">
                <a:solidFill>
                  <a:srgbClr val="465568"/>
                </a:solidFill>
                <a:latin typeface="Segoe UI" pitchFamily="34" charset="0"/>
                <a:ea typeface="Segoe UI" pitchFamily="34" charset="-122"/>
                <a:cs typeface="Segoe UI" pitchFamily="34" charset="-120"/>
              </a:rPr>
              <a:t> (marchés subséquents, durée, reconduction, mono ou multi-attributaire) apparaît ; le calendrier de mise en concurrence et la remise en concurrence remplacent une large part des clauses du CCAP. Pas de question des pénalités : elles sont fixées dans l’AE.</a:t>
            </a:r>
            <a:endParaRPr lang="en-US" sz="1200" dirty="0"/>
          </a:p>
        </p:txBody>
      </p:sp>
      <p:sp>
        <p:nvSpPr>
          <p:cNvPr id="17" name="Text 1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3809905"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02</a:t>
            </a:r>
            <a:endParaRPr lang="en-US" sz="8000" dirty="0"/>
          </a:p>
        </p:txBody>
      </p:sp>
      <p:sp>
        <p:nvSpPr>
          <p:cNvPr id="3" name="Text 1"/>
          <p:cNvSpPr/>
          <p:nvPr/>
        </p:nvSpPr>
        <p:spPr>
          <a:xfrm>
            <a:off x="812780" y="2667000"/>
            <a:ext cx="10477238" cy="698500"/>
          </a:xfrm>
          <a:prstGeom prst="rect">
            <a:avLst/>
          </a:prstGeom>
          <a:noFill/>
          <a:ln/>
        </p:spPr>
        <p:txBody>
          <a:bodyPr wrap="square" rtlCol="0" anchor="ctr">
            <a:normAutofit/>
          </a:bodyPr>
          <a:lstStyle/>
          <a:p>
            <a:pPr indent="0" marL="0">
              <a:buNone/>
            </a:pPr>
            <a:r>
              <a:rPr lang="en-US" sz="4200" b="1" dirty="0">
                <a:solidFill>
                  <a:srgbClr val="FCFCFA"/>
                </a:solidFill>
                <a:latin typeface="Segoe UI" pitchFamily="34" charset="0"/>
                <a:ea typeface="Segoe UI" pitchFamily="34" charset="-122"/>
                <a:cs typeface="Segoe UI" pitchFamily="34" charset="-120"/>
              </a:rPr>
              <a:t>Le fonctionnement pas à pas</a:t>
            </a:r>
            <a:endParaRPr lang="en-US" sz="4200" dirty="0"/>
          </a:p>
        </p:txBody>
      </p:sp>
      <p:sp>
        <p:nvSpPr>
          <p:cNvPr id="4" name="Text 2"/>
          <p:cNvSpPr/>
          <p:nvPr/>
        </p:nvSpPr>
        <p:spPr>
          <a:xfrm>
            <a:off x="812780" y="3556000"/>
            <a:ext cx="8889778" cy="1270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Le parcours réel d’une fiche, écran par écran : choisir la ligne, cadrer, saisir, contrôler, valider, produire les documents et le dossier. Chaque étape renvoie aux règles de gestion qu’elle applique (partie 06).</a:t>
            </a:r>
            <a:endParaRPr lang="en-US" sz="1700" dirty="0"/>
          </a:p>
        </p:txBody>
      </p:sp>
      <p:sp>
        <p:nvSpPr>
          <p:cNvPr id="5"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 fiche DAO par nature et par forme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parcours d’une fiche en sept étapes</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L’écran de la fiche guide la PRMP (ou son UGPM) étape par étape ; la colonne « Contrôles » dit à tout moment ce qui reste à faire. La Commission ne voit rien tant que le dossier n’est pas soumis.</a:t>
            </a:r>
            <a:endParaRPr lang="en-US" sz="1300" dirty="0"/>
          </a:p>
        </p:txBody>
      </p:sp>
      <p:sp>
        <p:nvSpPr>
          <p:cNvPr id="5" name="Shape 3"/>
          <p:cNvSpPr/>
          <p:nvPr/>
        </p:nvSpPr>
        <p:spPr>
          <a:xfrm>
            <a:off x="812780" y="1651000"/>
            <a:ext cx="2527237" cy="2159000"/>
          </a:xfrm>
          <a:prstGeom prst="rect">
            <a:avLst/>
          </a:prstGeom>
          <a:solidFill>
            <a:srgbClr val="FCFCFA"/>
          </a:solidFill>
          <a:ln w="9525">
            <a:solidFill>
              <a:srgbClr val="D5DCE4"/>
            </a:solidFill>
            <a:prstDash val="solid"/>
          </a:ln>
        </p:spPr>
      </p:sp>
      <p:sp>
        <p:nvSpPr>
          <p:cNvPr id="6" name="Shape 4"/>
          <p:cNvSpPr/>
          <p:nvPr/>
        </p:nvSpPr>
        <p:spPr>
          <a:xfrm>
            <a:off x="812780" y="1651000"/>
            <a:ext cx="2527237" cy="38100"/>
          </a:xfrm>
          <a:prstGeom prst="rect">
            <a:avLst/>
          </a:prstGeom>
          <a:solidFill>
            <a:srgbClr val="12324A"/>
          </a:solidFill>
          <a:ln/>
        </p:spPr>
      </p:sp>
      <p:sp>
        <p:nvSpPr>
          <p:cNvPr id="7" name="Text 5"/>
          <p:cNvSpPr/>
          <p:nvPr/>
        </p:nvSpPr>
        <p:spPr>
          <a:xfrm>
            <a:off x="952476" y="17526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 · Choisir la ligne</a:t>
            </a:r>
            <a:endParaRPr lang="en-US" sz="1500" dirty="0"/>
          </a:p>
        </p:txBody>
      </p:sp>
      <p:sp>
        <p:nvSpPr>
          <p:cNvPr id="8" name="Text 6"/>
          <p:cNvSpPr/>
          <p:nvPr/>
        </p:nvSpPr>
        <p:spPr>
          <a:xfrm>
            <a:off x="952476" y="21463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Depuis « Créer dossier », la liste des lignes du plan que les gardes laissent passer, avec leur nature et leur forme.</a:t>
            </a:r>
            <a:endParaRPr lang="en-US" sz="1200" dirty="0"/>
          </a:p>
        </p:txBody>
      </p:sp>
      <p:sp>
        <p:nvSpPr>
          <p:cNvPr id="9" name="Shape 7"/>
          <p:cNvSpPr/>
          <p:nvPr/>
        </p:nvSpPr>
        <p:spPr>
          <a:xfrm>
            <a:off x="3492413" y="1651000"/>
            <a:ext cx="2527237" cy="2159000"/>
          </a:xfrm>
          <a:prstGeom prst="rect">
            <a:avLst/>
          </a:prstGeom>
          <a:solidFill>
            <a:srgbClr val="FCFCFA"/>
          </a:solidFill>
          <a:ln w="9525">
            <a:solidFill>
              <a:srgbClr val="D5DCE4"/>
            </a:solidFill>
            <a:prstDash val="solid"/>
          </a:ln>
        </p:spPr>
      </p:sp>
      <p:sp>
        <p:nvSpPr>
          <p:cNvPr id="10" name="Shape 8"/>
          <p:cNvSpPr/>
          <p:nvPr/>
        </p:nvSpPr>
        <p:spPr>
          <a:xfrm>
            <a:off x="3492413" y="1651000"/>
            <a:ext cx="2527237" cy="38100"/>
          </a:xfrm>
          <a:prstGeom prst="rect">
            <a:avLst/>
          </a:prstGeom>
          <a:solidFill>
            <a:srgbClr val="1B6FA8"/>
          </a:solidFill>
          <a:ln/>
        </p:spPr>
      </p:sp>
      <p:sp>
        <p:nvSpPr>
          <p:cNvPr id="11" name="Text 9"/>
          <p:cNvSpPr/>
          <p:nvPr/>
        </p:nvSpPr>
        <p:spPr>
          <a:xfrm>
            <a:off x="3632109" y="17526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 · Ligne du PPM</a:t>
            </a:r>
            <a:endParaRPr lang="en-US" sz="1500" dirty="0"/>
          </a:p>
        </p:txBody>
      </p:sp>
      <p:sp>
        <p:nvSpPr>
          <p:cNvPr id="12" name="Text 10"/>
          <p:cNvSpPr/>
          <p:nvPr/>
        </p:nvSpPr>
        <p:spPr>
          <a:xfrm>
            <a:off x="3632109" y="21463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23 informations reprises du plan, verrouillées, relues à chaque lecture.</a:t>
            </a:r>
            <a:endParaRPr lang="en-US" sz="1200" dirty="0"/>
          </a:p>
        </p:txBody>
      </p:sp>
      <p:sp>
        <p:nvSpPr>
          <p:cNvPr id="13" name="Shape 11"/>
          <p:cNvSpPr/>
          <p:nvPr/>
        </p:nvSpPr>
        <p:spPr>
          <a:xfrm>
            <a:off x="6172046" y="1651000"/>
            <a:ext cx="2527237" cy="2159000"/>
          </a:xfrm>
          <a:prstGeom prst="rect">
            <a:avLst/>
          </a:prstGeom>
          <a:solidFill>
            <a:srgbClr val="FCFCFA"/>
          </a:solidFill>
          <a:ln w="9525">
            <a:solidFill>
              <a:srgbClr val="D5DCE4"/>
            </a:solidFill>
            <a:prstDash val="solid"/>
          </a:ln>
        </p:spPr>
      </p:sp>
      <p:sp>
        <p:nvSpPr>
          <p:cNvPr id="14" name="Shape 12"/>
          <p:cNvSpPr/>
          <p:nvPr/>
        </p:nvSpPr>
        <p:spPr>
          <a:xfrm>
            <a:off x="6172046" y="1651000"/>
            <a:ext cx="2527237" cy="38100"/>
          </a:xfrm>
          <a:prstGeom prst="rect">
            <a:avLst/>
          </a:prstGeom>
          <a:solidFill>
            <a:srgbClr val="2E8B57"/>
          </a:solidFill>
          <a:ln/>
        </p:spPr>
      </p:sp>
      <p:sp>
        <p:nvSpPr>
          <p:cNvPr id="15" name="Text 13"/>
          <p:cNvSpPr/>
          <p:nvPr/>
        </p:nvSpPr>
        <p:spPr>
          <a:xfrm>
            <a:off x="6311742" y="17526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2 · Cadrage</a:t>
            </a:r>
            <a:endParaRPr lang="en-US" sz="1500" dirty="0"/>
          </a:p>
        </p:txBody>
      </p:sp>
      <p:sp>
        <p:nvSpPr>
          <p:cNvPr id="16" name="Text 14"/>
          <p:cNvSpPr/>
          <p:nvPr/>
        </p:nvSpPr>
        <p:spPr>
          <a:xfrm>
            <a:off x="6311742" y="21463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dizaine de questions qui ouvrent ou ferment des rubriques ; l’import d’un DAO existant se propose ici.</a:t>
            </a:r>
            <a:endParaRPr lang="en-US" sz="1200" dirty="0"/>
          </a:p>
        </p:txBody>
      </p:sp>
      <p:sp>
        <p:nvSpPr>
          <p:cNvPr id="17" name="Shape 15"/>
          <p:cNvSpPr/>
          <p:nvPr/>
        </p:nvSpPr>
        <p:spPr>
          <a:xfrm>
            <a:off x="8851679" y="1651000"/>
            <a:ext cx="2527237" cy="2159000"/>
          </a:xfrm>
          <a:prstGeom prst="rect">
            <a:avLst/>
          </a:prstGeom>
          <a:solidFill>
            <a:srgbClr val="FCFCFA"/>
          </a:solidFill>
          <a:ln w="9525">
            <a:solidFill>
              <a:srgbClr val="D5DCE4"/>
            </a:solidFill>
            <a:prstDash val="solid"/>
          </a:ln>
        </p:spPr>
      </p:sp>
      <p:sp>
        <p:nvSpPr>
          <p:cNvPr id="18" name="Shape 16"/>
          <p:cNvSpPr/>
          <p:nvPr/>
        </p:nvSpPr>
        <p:spPr>
          <a:xfrm>
            <a:off x="8851679" y="1651000"/>
            <a:ext cx="2527237" cy="38100"/>
          </a:xfrm>
          <a:prstGeom prst="rect">
            <a:avLst/>
          </a:prstGeom>
          <a:solidFill>
            <a:srgbClr val="E3AE2E"/>
          </a:solidFill>
          <a:ln/>
        </p:spPr>
      </p:sp>
      <p:sp>
        <p:nvSpPr>
          <p:cNvPr id="19" name="Text 17"/>
          <p:cNvSpPr/>
          <p:nvPr/>
        </p:nvSpPr>
        <p:spPr>
          <a:xfrm>
            <a:off x="8991375" y="17526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3 · Saisie par bloc</a:t>
            </a:r>
            <a:endParaRPr lang="en-US" sz="1500" dirty="0"/>
          </a:p>
        </p:txBody>
      </p:sp>
      <p:sp>
        <p:nvSpPr>
          <p:cNvPr id="20" name="Text 18"/>
          <p:cNvSpPr/>
          <p:nvPr/>
        </p:nvSpPr>
        <p:spPr>
          <a:xfrm>
            <a:off x="8991375" y="21463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blocs B02 à B14, enregistrés en brouillon ; les grilles du besoin, des moyens et des pièces.</a:t>
            </a:r>
            <a:endParaRPr lang="en-US" sz="1200" dirty="0"/>
          </a:p>
        </p:txBody>
      </p:sp>
      <p:sp>
        <p:nvSpPr>
          <p:cNvPr id="21" name="Shape 19"/>
          <p:cNvSpPr/>
          <p:nvPr/>
        </p:nvSpPr>
        <p:spPr>
          <a:xfrm>
            <a:off x="812780" y="3962400"/>
            <a:ext cx="2527237" cy="2159000"/>
          </a:xfrm>
          <a:prstGeom prst="rect">
            <a:avLst/>
          </a:prstGeom>
          <a:solidFill>
            <a:srgbClr val="FCFCFA"/>
          </a:solidFill>
          <a:ln w="9525">
            <a:solidFill>
              <a:srgbClr val="D5DCE4"/>
            </a:solidFill>
            <a:prstDash val="solid"/>
          </a:ln>
        </p:spPr>
      </p:sp>
      <p:sp>
        <p:nvSpPr>
          <p:cNvPr id="22" name="Shape 20"/>
          <p:cNvSpPr/>
          <p:nvPr/>
        </p:nvSpPr>
        <p:spPr>
          <a:xfrm>
            <a:off x="812780" y="3962400"/>
            <a:ext cx="2527237" cy="38100"/>
          </a:xfrm>
          <a:prstGeom prst="rect">
            <a:avLst/>
          </a:prstGeom>
          <a:solidFill>
            <a:srgbClr val="1B6FA8"/>
          </a:solidFill>
          <a:ln/>
        </p:spPr>
      </p:sp>
      <p:sp>
        <p:nvSpPr>
          <p:cNvPr id="23" name="Text 21"/>
          <p:cNvSpPr/>
          <p:nvPr/>
        </p:nvSpPr>
        <p:spPr>
          <a:xfrm>
            <a:off x="952476" y="40640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4 · Reprises</a:t>
            </a:r>
            <a:endParaRPr lang="en-US" sz="1500" dirty="0"/>
          </a:p>
        </p:txBody>
      </p:sp>
      <p:sp>
        <p:nvSpPr>
          <p:cNvPr id="24" name="Text 22"/>
          <p:cNvSpPr/>
          <p:nvPr/>
        </p:nvSpPr>
        <p:spPr>
          <a:xfrm>
            <a:off x="952476" y="44577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information saisie une fois s’imprime dans son document maître et se reprend dans les autres.</a:t>
            </a:r>
            <a:endParaRPr lang="en-US" sz="1200" dirty="0"/>
          </a:p>
        </p:txBody>
      </p:sp>
      <p:sp>
        <p:nvSpPr>
          <p:cNvPr id="25" name="Shape 23"/>
          <p:cNvSpPr/>
          <p:nvPr/>
        </p:nvSpPr>
        <p:spPr>
          <a:xfrm>
            <a:off x="3492413" y="3962400"/>
            <a:ext cx="2527237" cy="2159000"/>
          </a:xfrm>
          <a:prstGeom prst="rect">
            <a:avLst/>
          </a:prstGeom>
          <a:solidFill>
            <a:srgbClr val="FCFCFA"/>
          </a:solidFill>
          <a:ln w="9525">
            <a:solidFill>
              <a:srgbClr val="D5DCE4"/>
            </a:solidFill>
            <a:prstDash val="solid"/>
          </a:ln>
        </p:spPr>
      </p:sp>
      <p:sp>
        <p:nvSpPr>
          <p:cNvPr id="26" name="Shape 24"/>
          <p:cNvSpPr/>
          <p:nvPr/>
        </p:nvSpPr>
        <p:spPr>
          <a:xfrm>
            <a:off x="3492413" y="3962400"/>
            <a:ext cx="2527237" cy="38100"/>
          </a:xfrm>
          <a:prstGeom prst="rect">
            <a:avLst/>
          </a:prstGeom>
          <a:solidFill>
            <a:srgbClr val="2E8B57"/>
          </a:solidFill>
          <a:ln/>
        </p:spPr>
      </p:sp>
      <p:sp>
        <p:nvSpPr>
          <p:cNvPr id="27" name="Text 25"/>
          <p:cNvSpPr/>
          <p:nvPr/>
        </p:nvSpPr>
        <p:spPr>
          <a:xfrm>
            <a:off x="3632109" y="40640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5 · Contrôles</a:t>
            </a:r>
            <a:endParaRPr lang="en-US" sz="1500" dirty="0"/>
          </a:p>
        </p:txBody>
      </p:sp>
      <p:sp>
        <p:nvSpPr>
          <p:cNvPr id="28" name="Text 26"/>
          <p:cNvSpPr/>
          <p:nvPr/>
        </p:nvSpPr>
        <p:spPr>
          <a:xfrm>
            <a:off x="3632109" y="44577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bilan : ce qui bloque la validation, ce qui n’est qu’un avertissement, avec le lien pour corriger.</a:t>
            </a:r>
            <a:endParaRPr lang="en-US" sz="1200" dirty="0"/>
          </a:p>
        </p:txBody>
      </p:sp>
      <p:sp>
        <p:nvSpPr>
          <p:cNvPr id="29" name="Shape 27"/>
          <p:cNvSpPr/>
          <p:nvPr/>
        </p:nvSpPr>
        <p:spPr>
          <a:xfrm>
            <a:off x="6172046" y="3962400"/>
            <a:ext cx="2527237" cy="2159000"/>
          </a:xfrm>
          <a:prstGeom prst="rect">
            <a:avLst/>
          </a:prstGeom>
          <a:solidFill>
            <a:srgbClr val="FCFCFA"/>
          </a:solidFill>
          <a:ln w="9525">
            <a:solidFill>
              <a:srgbClr val="D5DCE4"/>
            </a:solidFill>
            <a:prstDash val="solid"/>
          </a:ln>
        </p:spPr>
      </p:sp>
      <p:sp>
        <p:nvSpPr>
          <p:cNvPr id="30" name="Shape 28"/>
          <p:cNvSpPr/>
          <p:nvPr/>
        </p:nvSpPr>
        <p:spPr>
          <a:xfrm>
            <a:off x="6172046" y="3962400"/>
            <a:ext cx="2527237" cy="38100"/>
          </a:xfrm>
          <a:prstGeom prst="rect">
            <a:avLst/>
          </a:prstGeom>
          <a:solidFill>
            <a:srgbClr val="E3AE2E"/>
          </a:solidFill>
          <a:ln/>
        </p:spPr>
      </p:sp>
      <p:sp>
        <p:nvSpPr>
          <p:cNvPr id="31" name="Text 29"/>
          <p:cNvSpPr/>
          <p:nvPr/>
        </p:nvSpPr>
        <p:spPr>
          <a:xfrm>
            <a:off x="6311742" y="40640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6 · Validation</a:t>
            </a:r>
            <a:endParaRPr lang="en-US" sz="1500" dirty="0"/>
          </a:p>
        </p:txBody>
      </p:sp>
      <p:sp>
        <p:nvSpPr>
          <p:cNvPr id="32" name="Text 30"/>
          <p:cNvSpPr/>
          <p:nvPr/>
        </p:nvSpPr>
        <p:spPr>
          <a:xfrm>
            <a:off x="6311742" y="44577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PRMP fige une version ; les documents sont produits ; une correction ouvre une nouvelle version.</a:t>
            </a:r>
            <a:endParaRPr lang="en-US" sz="1200" dirty="0"/>
          </a:p>
        </p:txBody>
      </p:sp>
      <p:sp>
        <p:nvSpPr>
          <p:cNvPr id="33" name="Shape 31"/>
          <p:cNvSpPr/>
          <p:nvPr/>
        </p:nvSpPr>
        <p:spPr>
          <a:xfrm>
            <a:off x="8851679" y="3962400"/>
            <a:ext cx="2527237" cy="2159000"/>
          </a:xfrm>
          <a:prstGeom prst="rect">
            <a:avLst/>
          </a:prstGeom>
          <a:solidFill>
            <a:srgbClr val="FCFCFA"/>
          </a:solidFill>
          <a:ln w="9525">
            <a:solidFill>
              <a:srgbClr val="D5DCE4"/>
            </a:solidFill>
            <a:prstDash val="solid"/>
          </a:ln>
        </p:spPr>
      </p:sp>
      <p:sp>
        <p:nvSpPr>
          <p:cNvPr id="34" name="Shape 32"/>
          <p:cNvSpPr/>
          <p:nvPr/>
        </p:nvSpPr>
        <p:spPr>
          <a:xfrm>
            <a:off x="8851679" y="3962400"/>
            <a:ext cx="2527237" cy="38100"/>
          </a:xfrm>
          <a:prstGeom prst="rect">
            <a:avLst/>
          </a:prstGeom>
          <a:solidFill>
            <a:srgbClr val="12324A"/>
          </a:solidFill>
          <a:ln/>
        </p:spPr>
      </p:sp>
      <p:sp>
        <p:nvSpPr>
          <p:cNvPr id="35" name="Text 33"/>
          <p:cNvSpPr/>
          <p:nvPr/>
        </p:nvSpPr>
        <p:spPr>
          <a:xfrm>
            <a:off x="8991375" y="4064000"/>
            <a:ext cx="2247844"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7 · Documents</a:t>
            </a:r>
            <a:endParaRPr lang="en-US" sz="1500" dirty="0"/>
          </a:p>
        </p:txBody>
      </p:sp>
      <p:sp>
        <p:nvSpPr>
          <p:cNvPr id="36" name="Text 34"/>
          <p:cNvSpPr/>
          <p:nvPr/>
        </p:nvSpPr>
        <p:spPr>
          <a:xfrm>
            <a:off x="8991375" y="4457700"/>
            <a:ext cx="2247844"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DAO complet, les classeurs, le dossier à soumettre créé depuis la fiche, puis l’avis spécifique ou les lettres d’invitation.</a:t>
            </a:r>
            <a:endParaRPr lang="en-US" sz="1200" dirty="0"/>
          </a:p>
        </p:txBody>
      </p:sp>
      <p:sp>
        <p:nvSpPr>
          <p:cNvPr id="37" name="Text 3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0</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Choisir la ligne du plan de passation</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Depuis « Créer dossier » → « Dossier de mise en concurrence — appel d’offres ».</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1-dao-lignes-eligibles.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50" b="1" dirty="0">
                <a:solidFill>
                  <a:srgbClr val="1B2A3A"/>
                </a:solidFill>
                <a:latin typeface="Segoe UI" pitchFamily="34" charset="0"/>
                <a:ea typeface="Segoe UI" pitchFamily="34" charset="-122"/>
                <a:cs typeface="Segoe UI" pitchFamily="34" charset="-120"/>
              </a:rPr>
              <a:t>PRMP</a:t>
            </a:r>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 propriétaire du plan, ou son </a:t>
            </a:r>
            <a:pPr indent="0" marL="0">
              <a:spcAft>
                <a:spcPts val="300"/>
              </a:spcAft>
              <a:buNone/>
            </a:pPr>
            <a:r>
              <a:rPr lang="en-US" sz="1250" b="1" dirty="0">
                <a:solidFill>
                  <a:srgbClr val="1B2A3A"/>
                </a:solidFill>
                <a:latin typeface="Segoe UI" pitchFamily="34" charset="0"/>
                <a:ea typeface="Segoe UI" pitchFamily="34" charset="-122"/>
                <a:cs typeface="Segoe UI" pitchFamily="34" charset="-120"/>
              </a:rPr>
              <a:t>UGPM</a:t>
            </a:r>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Seules paraissent les lignes que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gardes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laissent passer : plan signé favorable, mode rattaché au type DAO, ligne courante.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montre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nature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elles fixent les informations et les documents de la fiche.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Préparer l’appel d’offres » crée la fiche ; « Reprendre la fiche » rouvre celle qui existe déjà.</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RG-02 · RG-03 · RG-04 · RG-05 · RG-07 · RG-08</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ÉTAPES 1 ET 2</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ligne du PPM, puis le cadrage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Les 23 informations du plan sont reprises d’office ; le cadrage pose ensuite les questions qui structurent le DAO.</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3-dao-cadrage.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Étape 1 : entité, objet, montant, nature, forme, calendrier…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verrouillés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erreur se corrige dans le plan.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Étape 2 : allotissement, tranches, variantes, groupement, prix, garantie, mode de remise, avance, pénalités. Une réponse déjà dite par le plan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repris du plan de passation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réponse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 ou ferme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des rubriques ; le bloc « Contrôles » se met à jour aussitôt.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bouton « Importer le DAO » propose de pré-remplir la fiche depuis un DAO déjà rédigé.</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RG-01 · RG-07 · RG-08 · RG-11 · RG-12</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3</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saisie par bloc</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Onze blocs, de B02 (objet) à B14 (pièces de l’offre) ; un compteur rouge dit ce qui manque dans chaque bloc.</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4-dao-saisie-blocs.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information dit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code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document maître (ici DPAO) et les documents où elle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(AE, CCAP), avec la phrase exacte où elle s’imprimera.</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bloc s’enregistre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perdu, l’obligatoire ne bloque qu’au bilan.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information « par lot » se saisit une fois pour chaque lot du plan.</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RG-13 · RG-15 · RG-18 · RG-19 · RG-26</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3</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blocs à grille : le besoin</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Bloc B12 d’une fiche de travaux : le détail quantitatif et estimatif par séries de prix.</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5-dao-dqe.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(pas de rôle « service bénéficiaire »).</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Travaux : séries, n° de prix, désignation, unité, quantité, plafond, sous-détail exigé.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Fournitures : article par article, lot par lot, avec les caractéristiques exigées ; la fiche ne se valide pas sans besoin complet.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Coller depuis le tableur » reprend un tableau existant. Le besoin est figé à la validation et recopié à la révision.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produit le bordereau des prix (et DQE), et pré-remplit l’offre en ligne du candidat.</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RG-18 · RG-21 · RG-22</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4</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reprises</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information saisie une fois s’imprime partout où le dossier type l’exige.</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5b-dao-reprises.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3561203" y="4974431"/>
            <a:ext cx="2374488" cy="177624"/>
          </a:xfrm>
          <a:prstGeom prst="rect">
            <a:avLst/>
          </a:prstGeom>
          <a:solidFill>
            <a:srgbClr val="E9EDF2"/>
          </a:solidFill>
          <a:ln w="6350">
            <a:solidFill>
              <a:srgbClr val="D5DCE4"/>
            </a:solidFill>
            <a:prstDash val="solid"/>
          </a:ln>
        </p:spPr>
      </p:sp>
      <p:sp>
        <p:nvSpPr>
          <p:cNvPr id="8" name="Text 5"/>
          <p:cNvSpPr/>
          <p:nvPr/>
        </p:nvSpPr>
        <p:spPr>
          <a:xfrm>
            <a:off x="3561203" y="4974431"/>
            <a:ext cx="2374488" cy="177624"/>
          </a:xfrm>
          <a:prstGeom prst="rect">
            <a:avLst/>
          </a:prstGeom>
          <a:noFill/>
          <a:ln/>
        </p:spPr>
        <p:txBody>
          <a:bodyPr wrap="square" rtlCol="0" anchor="ctr"/>
          <a:lstStyle/>
          <a:p>
            <a:pPr algn="ctr" indent="0" marL="0">
              <a:buNone/>
            </a:pPr>
            <a:r>
              <a:rPr lang="en-US" sz="900" i="1" dirty="0">
                <a:solidFill>
                  <a:srgbClr val="465568"/>
                </a:solidFill>
                <a:latin typeface="Segoe UI" pitchFamily="34" charset="0"/>
                <a:ea typeface="Segoe UI" pitchFamily="34" charset="-122"/>
                <a:cs typeface="Segoe UI" pitchFamily="34" charset="-120"/>
              </a:rPr>
              <a:t>nom de la PRMP (masqué)</a:t>
            </a:r>
            <a:endParaRPr lang="en-US" sz="900" dirty="0"/>
          </a:p>
        </p:txBody>
      </p:sp>
      <p:sp>
        <p:nvSpPr>
          <p:cNvPr id="9" name="Shape 6"/>
          <p:cNvSpPr/>
          <p:nvPr/>
        </p:nvSpPr>
        <p:spPr>
          <a:xfrm>
            <a:off x="7746806" y="1651000"/>
            <a:ext cx="3632109" cy="4635500"/>
          </a:xfrm>
          <a:prstGeom prst="rect">
            <a:avLst/>
          </a:prstGeom>
          <a:solidFill>
            <a:srgbClr val="FCFCFA"/>
          </a:solidFill>
          <a:ln w="9525">
            <a:solidFill>
              <a:srgbClr val="D5DCE4"/>
            </a:solidFill>
            <a:prstDash val="solid"/>
          </a:ln>
        </p:spPr>
      </p:sp>
      <p:sp>
        <p:nvSpPr>
          <p:cNvPr id="10" name="Shape 7"/>
          <p:cNvSpPr/>
          <p:nvPr/>
        </p:nvSpPr>
        <p:spPr>
          <a:xfrm>
            <a:off x="7746806" y="1651000"/>
            <a:ext cx="38099" cy="4635500"/>
          </a:xfrm>
          <a:prstGeom prst="rect">
            <a:avLst/>
          </a:prstGeom>
          <a:solidFill>
            <a:srgbClr val="1B6FA8"/>
          </a:solidFill>
          <a:ln/>
        </p:spPr>
      </p:sp>
      <p:sp>
        <p:nvSpPr>
          <p:cNvPr id="11" name="Text 8"/>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Personne : l’étape est automatique, la PRMP la relit.</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information reprise affiche son document maître et les documents où elle est recopiée (DPAO → AE,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champ repris est rempli depuis son document maître,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jamais ressaisi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informations du plan (autorité contractante, exercice…) se corrigent dans le plan.</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RG-01 · RG-26</a:t>
            </a:r>
            <a:endParaRPr lang="en-US" sz="1050" dirty="0"/>
          </a:p>
        </p:txBody>
      </p:sp>
      <p:sp>
        <p:nvSpPr>
          <p:cNvPr id="12" name="Text 9"/>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5</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contrôles</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bilan se recalcule à chaque lecture : la validation reste fermée tant qu’un contrôle bloquant n’est pas levé.</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6-dao-controles.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corrige ; le serveur juge.</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rouge,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bloquants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informations obligatoires manquantes (par bloc, avec le lien « saisir »), dates dans le mauvais ordre, garantie plus courte que les offres, avance au-delà de 20 %…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orange,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avertissements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spécifications techniques absentes, taux de garantie hors des bornes… Ils ne bloquent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Passer à la validation » ne s’ouvre qu’à zéro bloquant.</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RG-14 · RG-15 · RG-17 · RG-34</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6</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validation par la PRMP</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Valider fige une version datée : c’est elle que la Commission examinera et que les candidats retireront.</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9-dao-validation.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50" b="1" dirty="0">
                <a:solidFill>
                  <a:srgbClr val="1B2A3A"/>
                </a:solidFill>
                <a:latin typeface="Segoe UI" pitchFamily="34" charset="0"/>
                <a:ea typeface="Segoe UI" pitchFamily="34" charset="-122"/>
                <a:cs typeface="Segoe UI" pitchFamily="34" charset="-120"/>
              </a:rPr>
              <a:t>PRMP seule</a:t>
            </a:r>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version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plus aucune écriture. Elle reste lisible avec ses documents (« Versions figées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documents sont produits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avant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figer : si la production échoue, la validation est annulée.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Ouvrir une nouvelle version » révise la fiche : copie de la version validée, en brouillon.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ne se supprime pas : c’est la révision qui la corrige.</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RG-24 · RG-25 · RG-16 · RG-06</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7</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documents et le dossier à soumettre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Ce que la version validée produit, et le dossier qui part vers la Commission.</a:t>
            </a:r>
            <a:endParaRPr lang="en-US" sz="1300" dirty="0"/>
          </a:p>
        </p:txBody>
      </p:sp>
      <p:sp>
        <p:nvSpPr>
          <p:cNvPr id="5" name="Shape 3"/>
          <p:cNvSpPr/>
          <p:nvPr/>
        </p:nvSpPr>
        <p:spPr>
          <a:xfrm>
            <a:off x="800080" y="1638300"/>
            <a:ext cx="6756231" cy="354743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2\n11-etape7-dao-complet.png">    </p:cNvPr>
          <p:cNvPicPr>
            <a:picLocks noChangeAspect="1"/>
          </p:cNvPicPr>
          <p:nvPr/>
        </p:nvPicPr>
        <p:blipFill>
          <a:blip r:embed="rId1"/>
          <a:stretch>
            <a:fillRect/>
          </a:stretch>
        </p:blipFill>
        <p:spPr>
          <a:xfrm>
            <a:off x="812780" y="1651000"/>
            <a:ext cx="6730832" cy="352203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50" b="1" dirty="0">
                <a:solidFill>
                  <a:srgbClr val="1B2A3A"/>
                </a:solidFill>
                <a:latin typeface="Segoe UI" pitchFamily="34" charset="0"/>
                <a:ea typeface="Segoe UI" pitchFamily="34" charset="-122"/>
                <a:cs typeface="Segoe UI" pitchFamily="34" charset="-120"/>
              </a:rPr>
              <a:t>PRMP</a:t>
            </a:r>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 crée le dossier et imprime l’avis.</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DAO 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(PDF et Word) et les classeurs (bordereau des prix, DQE) ; rien à joindre à la main pour ce qui sort de la fiche.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Créer le dossier à soumettre » : entité, localité et PRMP viennent du plan ; le dossier naît en brouillon, avec le DAO complet comme pièce. Il reste à joindre l’estimation et la garantie.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un PV signé favorable :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spécifique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chaque impression conservée.</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RG-27 · RG-32 · RG-33 · RG-36 · RG-38</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ÉTAPE 7</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DAO complet</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 seul document assemblé à la validation : page de garde, sommaire général, deux parties.</a:t>
            </a:r>
            <a:endParaRPr lang="en-US" sz="1300" dirty="0"/>
          </a:p>
        </p:txBody>
      </p:sp>
      <p:sp>
        <p:nvSpPr>
          <p:cNvPr id="5" name="Shape 3"/>
          <p:cNvSpPr/>
          <p:nvPr/>
        </p:nvSpPr>
        <p:spPr>
          <a:xfrm>
            <a:off x="800080" y="1638300"/>
            <a:ext cx="3302393" cy="4660900"/>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2\n14-dao-garde.png">    </p:cNvPr>
          <p:cNvPicPr>
            <a:picLocks noChangeAspect="1"/>
          </p:cNvPicPr>
          <p:nvPr/>
        </p:nvPicPr>
        <p:blipFill>
          <a:blip r:embed="rId1"/>
          <a:stretch>
            <a:fillRect/>
          </a:stretch>
        </p:blipFill>
        <p:spPr>
          <a:xfrm>
            <a:off x="812780" y="1651000"/>
            <a:ext cx="3276993" cy="4635500"/>
          </a:xfrm>
          <a:prstGeom prst="rect">
            <a:avLst/>
          </a:prstGeom>
        </p:spPr>
      </p:pic>
      <p:sp>
        <p:nvSpPr>
          <p:cNvPr id="7" name="Shape 4"/>
          <p:cNvSpPr/>
          <p:nvPr/>
        </p:nvSpPr>
        <p:spPr>
          <a:xfrm>
            <a:off x="4228994" y="1638300"/>
            <a:ext cx="3302393" cy="4660900"/>
          </a:xfrm>
          <a:prstGeom prst="rect">
            <a:avLst/>
          </a:prstGeom>
          <a:solidFill>
            <a:srgbClr val="FCFCFA"/>
          </a:solidFill>
          <a:ln w="9525">
            <a:solidFill>
              <a:srgbClr val="D5DCE4"/>
            </a:solidFill>
            <a:prstDash val="solid"/>
          </a:ln>
        </p:spPr>
      </p:sp>
      <p:pic>
        <p:nvPicPr>
          <p:cNvPr id="8" name="Image 1" descr="C:\Users\LANTO\AppData\Local\Temp\claude\c--Users-LANTO-frontendprs2\57414ffd-434a-4611-97c2-0065d932e3c3\scratchpad\deck\detail2\n15-dao-sommaire.png">    </p:cNvPr>
          <p:cNvPicPr>
            <a:picLocks noChangeAspect="1"/>
          </p:cNvPicPr>
          <p:nvPr/>
        </p:nvPicPr>
        <p:blipFill>
          <a:blip r:embed="rId2"/>
          <a:stretch>
            <a:fillRect/>
          </a:stretch>
        </p:blipFill>
        <p:spPr>
          <a:xfrm>
            <a:off x="4241694" y="1651000"/>
            <a:ext cx="3276993" cy="4635500"/>
          </a:xfrm>
          <a:prstGeom prst="rect">
            <a:avLst/>
          </a:prstGeom>
        </p:spPr>
      </p:pic>
      <p:sp>
        <p:nvSpPr>
          <p:cNvPr id="9" name="Shape 5"/>
          <p:cNvSpPr/>
          <p:nvPr/>
        </p:nvSpPr>
        <p:spPr>
          <a:xfrm>
            <a:off x="7746806" y="1651000"/>
            <a:ext cx="3632109" cy="4635500"/>
          </a:xfrm>
          <a:prstGeom prst="rect">
            <a:avLst/>
          </a:prstGeom>
          <a:solidFill>
            <a:srgbClr val="FCFCFA"/>
          </a:solidFill>
          <a:ln w="9525">
            <a:solidFill>
              <a:srgbClr val="D5DCE4"/>
            </a:solidFill>
            <a:prstDash val="solid"/>
          </a:ln>
        </p:spPr>
      </p:sp>
      <p:sp>
        <p:nvSpPr>
          <p:cNvPr id="10" name="Shape 6"/>
          <p:cNvSpPr/>
          <p:nvPr/>
        </p:nvSpPr>
        <p:spPr>
          <a:xfrm>
            <a:off x="7746806" y="1651000"/>
            <a:ext cx="38099" cy="4635500"/>
          </a:xfrm>
          <a:prstGeom prst="rect">
            <a:avLst/>
          </a:prstGeom>
          <a:solidFill>
            <a:srgbClr val="1B6FA8"/>
          </a:solidFill>
          <a:ln/>
        </p:spPr>
      </p:sp>
      <p:sp>
        <p:nvSpPr>
          <p:cNvPr id="11" name="Text 7"/>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Personne : il est assemblé par le serveur.</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page de garde reprend le plan : ministère, PRMP et UGPM, intitulé selon le mode, numéro, objet, financement, imputation, compte.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Partie 1 : instructions aux candidats, données particulières, formulaires (A1 à A4, garanties). Partie 2 : acte d’engagement, cahier des prescriptions spéciales, CCAG.</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est la pièce unique du DAO au dossier, et ce que retirent les candidats.</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RG-30 · RG-31 · RG-32 · RG-35</a:t>
            </a:r>
            <a:endParaRPr lang="en-US" sz="1050" dirty="0"/>
          </a:p>
        </p:txBody>
      </p:sp>
      <p:sp>
        <p:nvSpPr>
          <p:cNvPr id="12" name="Text 8"/>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 · IMPORT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Importer un DAO déjà rédigé</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À l’étape 2, une PRMP qui a déjà son DAO sur le document type peut en pré-remplir la fiche.</a:t>
            </a:r>
            <a:endParaRPr lang="en-US" sz="1300" dirty="0"/>
          </a:p>
        </p:txBody>
      </p:sp>
      <p:sp>
        <p:nvSpPr>
          <p:cNvPr id="5" name="Shape 3"/>
          <p:cNvSpPr/>
          <p:nvPr/>
        </p:nvSpPr>
        <p:spPr>
          <a:xfrm>
            <a:off x="800080" y="1638300"/>
            <a:ext cx="6756231" cy="4232275"/>
          </a:xfrm>
          <a:prstGeom prst="rect">
            <a:avLst/>
          </a:prstGeom>
          <a:solidFill>
            <a:srgbClr val="FCFCFA"/>
          </a:solidFill>
          <a:ln w="9525">
            <a:solidFill>
              <a:srgbClr val="D5DCE4"/>
            </a:solidFill>
            <a:prstDash val="solid"/>
          </a:ln>
        </p:spPr>
      </p:sp>
      <p:pic>
        <p:nvPicPr>
          <p:cNvPr id="6" name="Image 0" descr="C:\Users\LANTO\AppData\Local\Temp\claude\c--Users-LANTO-frontendprs2\57414ffd-434a-4611-97c2-0065d932e3c3\scratchpad\deck\detail\d02-dao-ligne-ppm.png">    </p:cNvPr>
          <p:cNvPicPr>
            <a:picLocks noChangeAspect="1"/>
          </p:cNvPicPr>
          <p:nvPr/>
        </p:nvPicPr>
        <p:blipFill>
          <a:blip r:embed="rId1"/>
          <a:stretch>
            <a:fillRect/>
          </a:stretch>
        </p:blipFill>
        <p:spPr>
          <a:xfrm>
            <a:off x="812780" y="1651000"/>
            <a:ext cx="6730832" cy="4206875"/>
          </a:xfrm>
          <a:prstGeom prst="rect">
            <a:avLst/>
          </a:prstGeom>
        </p:spPr>
      </p:pic>
      <p:sp>
        <p:nvSpPr>
          <p:cNvPr id="7" name="Shape 4"/>
          <p:cNvSpPr/>
          <p:nvPr/>
        </p:nvSpPr>
        <p:spPr>
          <a:xfrm>
            <a:off x="7746806" y="1651000"/>
            <a:ext cx="3632109" cy="4635500"/>
          </a:xfrm>
          <a:prstGeom prst="rect">
            <a:avLst/>
          </a:prstGeom>
          <a:solidFill>
            <a:srgbClr val="FCFCFA"/>
          </a:solidFill>
          <a:ln w="9525">
            <a:solidFill>
              <a:srgbClr val="D5DCE4"/>
            </a:solidFill>
            <a:prstDash val="solid"/>
          </a:ln>
        </p:spPr>
      </p:sp>
      <p:sp>
        <p:nvSpPr>
          <p:cNvPr id="8" name="Shape 5"/>
          <p:cNvSpPr/>
          <p:nvPr/>
        </p:nvSpPr>
        <p:spPr>
          <a:xfrm>
            <a:off x="7746806" y="1651000"/>
            <a:ext cx="38099" cy="4635500"/>
          </a:xfrm>
          <a:prstGeom prst="rect">
            <a:avLst/>
          </a:prstGeom>
          <a:solidFill>
            <a:srgbClr val="1B6FA8"/>
          </a:solidFill>
          <a:ln/>
        </p:spPr>
      </p:sp>
      <p:sp>
        <p:nvSpPr>
          <p:cNvPr id="9" name="Text 6"/>
          <p:cNvSpPr/>
          <p:nvPr/>
        </p:nvSpPr>
        <p:spPr>
          <a:xfrm>
            <a:off x="7911902" y="1765300"/>
            <a:ext cx="3340016" cy="44069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sur un </a:t>
            </a:r>
            <a:pPr indent="0" marL="0">
              <a:spcAft>
                <a:spcPts val="300"/>
              </a:spcAft>
              <a:buNone/>
            </a:pPr>
            <a:r>
              <a:rPr lang="en-US" sz="125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Word ou le PDF texte est lu « à l’envers » avec les modèles ; un PDF scanné est refusé.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proposition dit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confiance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passage lu et la valeur déjà saisie ; la PRMP retient ligne par ligne.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Réimporter » ne remplace d’office que les cases vides ; le plan fait foi, une divergence est signalée.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n’est écrit sans la PRMP ; un seul refus et rien n’est écrit.</a:t>
            </a:r>
            <a:endParaRPr lang="en-US" sz="1050" dirty="0"/>
          </a:p>
          <a:p>
            <a:pPr indent="0" marL="0">
              <a:spcAft>
                <a:spcPts val="300"/>
              </a:spcAft>
              <a:buNone/>
            </a:pPr>
            <a:r>
              <a:rPr lang="en-US" sz="6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(partie 06)</a:t>
            </a:r>
            <a:endParaRPr lang="en-US" sz="1050" dirty="0"/>
          </a:p>
          <a:p>
            <a:pPr indent="0" marL="0">
              <a:spcAft>
                <a:spcPts val="300"/>
              </a:spcAft>
              <a:buNone/>
            </a:pPr>
            <a:r>
              <a:rPr lang="en-US" sz="1200" b="1" dirty="0">
                <a:solidFill>
                  <a:srgbClr val="12324A"/>
                </a:solidFill>
                <a:latin typeface="Consolas" pitchFamily="34" charset="0"/>
                <a:ea typeface="Consolas" pitchFamily="34" charset="-122"/>
                <a:cs typeface="Consolas" pitchFamily="34" charset="-120"/>
              </a:rPr>
              <a:t>RG-41 · RG-42 · RG-43 · RG-44 · RG-45</a:t>
            </a:r>
            <a:endParaRPr lang="en-US" sz="1050" dirty="0"/>
          </a:p>
        </p:txBody>
      </p:sp>
      <p:sp>
        <p:nvSpPr>
          <p:cNvPr id="10" name="Text 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FONCTIONNEMENT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la validation : réviser, rectifier, publier</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La fiche ne s’arrête pas à la validation : elle se révise pour corriger, suit le dossier dans le circuit, et commande la publicité.</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Réviser</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 Ouvrir une nouvelle version » : copie en brouillon de la version validée, à revalider. Les documents de la version précédente restent lisibles. </a:t>
            </a:r>
            <a:pPr indent="0" marL="0">
              <a:buNone/>
            </a:pPr>
            <a:r>
              <a:rPr lang="en-US" sz="1200" b="1" dirty="0">
                <a:solidFill>
                  <a:srgbClr val="1B2A3A"/>
                </a:solidFill>
                <a:latin typeface="Segoe UI" pitchFamily="34" charset="0"/>
                <a:ea typeface="Segoe UI" pitchFamily="34" charset="-122"/>
                <a:cs typeface="Segoe UI" pitchFamily="34" charset="-120"/>
              </a:rPr>
              <a:t>RG‑24 · RG‑27</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Rectifier après le PV</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Quand le dossier revient à la PRMP (observations, lettre de renvoi, compléments), la rectification est une </a:t>
            </a:r>
            <a:pPr indent="0" marL="0">
              <a:buNone/>
            </a:pPr>
            <a:r>
              <a:rPr lang="en-US" sz="1200" b="1" dirty="0">
                <a:solidFill>
                  <a:srgbClr val="1B2A3A"/>
                </a:solidFill>
                <a:latin typeface="Segoe UI" pitchFamily="34" charset="0"/>
                <a:ea typeface="Segoe UI" pitchFamily="34" charset="-122"/>
                <a:cs typeface="Segoe UI" pitchFamily="34" charset="-120"/>
              </a:rPr>
              <a:t>révision validée</a:t>
            </a:r>
            <a:pPr indent="0" marL="0">
              <a:buNone/>
            </a:pPr>
            <a:r>
              <a:rPr lang="en-US" sz="1200" dirty="0">
                <a:solidFill>
                  <a:srgbClr val="465568"/>
                </a:solidFill>
                <a:latin typeface="Segoe UI" pitchFamily="34" charset="0"/>
                <a:ea typeface="Segoe UI" pitchFamily="34" charset="-122"/>
                <a:cs typeface="Segoe UI" pitchFamily="34" charset="-120"/>
              </a:rPr>
              <a:t> ; ses documents remplacent les pièces produites. Resoumettre sans revalider est refusé. </a:t>
            </a:r>
            <a:pPr indent="0" marL="0">
              <a:buNone/>
            </a:pPr>
            <a:r>
              <a:rPr lang="en-US" sz="1200" b="1" dirty="0">
                <a:solidFill>
                  <a:srgbClr val="1B2A3A"/>
                </a:solidFill>
                <a:latin typeface="Segoe UI" pitchFamily="34" charset="0"/>
                <a:ea typeface="Segoe UI" pitchFamily="34" charset="-122"/>
                <a:cs typeface="Segoe UI" pitchFamily="34" charset="-120"/>
              </a:rPr>
              <a:t>RG‑37</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L’avis spécifique</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Fournitures et travaux : imprimé par la PRMP après un PV signé favorable (ou réserves levées), sur la dernière version validée. </a:t>
            </a:r>
            <a:pPr indent="0" marL="0">
              <a:buNone/>
            </a:pPr>
            <a:r>
              <a:rPr lang="en-US" sz="1200" b="1" dirty="0">
                <a:solidFill>
                  <a:srgbClr val="1B2A3A"/>
                </a:solidFill>
                <a:latin typeface="Segoe UI" pitchFamily="34" charset="0"/>
                <a:ea typeface="Segoe UI" pitchFamily="34" charset="-122"/>
                <a:cs typeface="Segoe UI" pitchFamily="34" charset="-120"/>
              </a:rPr>
              <a:t>RG‑38</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Prestations intellectuelles : l’AMI</a:t>
            </a:r>
            <a:endParaRPr lang="en-US" sz="1500" dirty="0"/>
          </a:p>
        </p:txBody>
      </p:sp>
      <p:sp>
        <p:nvSpPr>
          <p:cNvPr id="20" name="Text 18"/>
          <p:cNvSpPr/>
          <p:nvPr/>
        </p:nvSpPr>
        <p:spPr>
          <a:xfrm>
            <a:off x="952476"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L’écran « Appel à manifestation d’intérêt » de la fiche : préparer (critères sur 100), publier, recevoir les expressions en ligne, lues après la date limite. </a:t>
            </a:r>
            <a:pPr indent="0" marL="0">
              <a:buNone/>
            </a:pPr>
            <a:r>
              <a:rPr lang="en-US" sz="1200" b="1" dirty="0">
                <a:solidFill>
                  <a:srgbClr val="1B2A3A"/>
                </a:solidFill>
                <a:latin typeface="Segoe UI" pitchFamily="34" charset="0"/>
                <a:ea typeface="Segoe UI" pitchFamily="34" charset="-122"/>
                <a:cs typeface="Segoe UI" pitchFamily="34" charset="-120"/>
              </a:rPr>
              <a:t>RG‑04 · RG‑39</a:t>
            </a:r>
            <a:endParaRPr lang="en-US" sz="1200" dirty="0"/>
          </a:p>
        </p:txBody>
      </p:sp>
      <p:sp>
        <p:nvSpPr>
          <p:cNvPr id="21" name="Shape 19"/>
          <p:cNvSpPr/>
          <p:nvPr/>
        </p:nvSpPr>
        <p:spPr>
          <a:xfrm>
            <a:off x="4385624" y="3962400"/>
            <a:ext cx="3420448" cy="2159000"/>
          </a:xfrm>
          <a:prstGeom prst="rect">
            <a:avLst/>
          </a:prstGeom>
          <a:solidFill>
            <a:srgbClr val="FCFCFA"/>
          </a:solidFill>
          <a:ln w="9525">
            <a:solidFill>
              <a:srgbClr val="D5DCE4"/>
            </a:solidFill>
            <a:prstDash val="solid"/>
          </a:ln>
        </p:spPr>
      </p:sp>
      <p:sp>
        <p:nvSpPr>
          <p:cNvPr id="22" name="Shape 20"/>
          <p:cNvSpPr/>
          <p:nvPr/>
        </p:nvSpPr>
        <p:spPr>
          <a:xfrm>
            <a:off x="4385624" y="3962400"/>
            <a:ext cx="3420448" cy="38100"/>
          </a:xfrm>
          <a:prstGeom prst="rect">
            <a:avLst/>
          </a:prstGeom>
          <a:solidFill>
            <a:srgbClr val="1B6FA8"/>
          </a:solidFill>
          <a:ln/>
        </p:spPr>
      </p:sp>
      <p:sp>
        <p:nvSpPr>
          <p:cNvPr id="23" name="Text 21"/>
          <p:cNvSpPr/>
          <p:nvPr/>
        </p:nvSpPr>
        <p:spPr>
          <a:xfrm>
            <a:off x="4525320"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La présélection</a:t>
            </a:r>
            <a:endParaRPr lang="en-US" sz="1500" dirty="0"/>
          </a:p>
        </p:txBody>
      </p:sp>
      <p:sp>
        <p:nvSpPr>
          <p:cNvPr id="24" name="Text 22"/>
          <p:cNvSpPr/>
          <p:nvPr/>
        </p:nvSpPr>
        <p:spPr>
          <a:xfrm>
            <a:off x="4525320"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membres de la commission notent chaque expression par critère ; le président arrête la liste restreinte ; tous signent le rapport. La liste est publiée et notifiée. </a:t>
            </a:r>
            <a:pPr indent="0" marL="0">
              <a:buNone/>
            </a:pPr>
            <a:r>
              <a:rPr lang="en-US" sz="1200" b="1" dirty="0">
                <a:solidFill>
                  <a:srgbClr val="1B2A3A"/>
                </a:solidFill>
                <a:latin typeface="Segoe UI" pitchFamily="34" charset="0"/>
                <a:ea typeface="Segoe UI" pitchFamily="34" charset="-122"/>
                <a:cs typeface="Segoe UI" pitchFamily="34" charset="-120"/>
              </a:rPr>
              <a:t>RG‑39</a:t>
            </a:r>
            <a:endParaRPr lang="en-US" sz="1200" dirty="0"/>
          </a:p>
        </p:txBody>
      </p:sp>
      <p:sp>
        <p:nvSpPr>
          <p:cNvPr id="25" name="Shape 23"/>
          <p:cNvSpPr/>
          <p:nvPr/>
        </p:nvSpPr>
        <p:spPr>
          <a:xfrm>
            <a:off x="7958468" y="3962400"/>
            <a:ext cx="3420448" cy="2159000"/>
          </a:xfrm>
          <a:prstGeom prst="rect">
            <a:avLst/>
          </a:prstGeom>
          <a:solidFill>
            <a:srgbClr val="FCFCFA"/>
          </a:solidFill>
          <a:ln w="9525">
            <a:solidFill>
              <a:srgbClr val="D5DCE4"/>
            </a:solidFill>
            <a:prstDash val="solid"/>
          </a:ln>
        </p:spPr>
      </p:sp>
      <p:sp>
        <p:nvSpPr>
          <p:cNvPr id="26" name="Shape 24"/>
          <p:cNvSpPr/>
          <p:nvPr/>
        </p:nvSpPr>
        <p:spPr>
          <a:xfrm>
            <a:off x="7958468" y="3962400"/>
            <a:ext cx="3420448" cy="38100"/>
          </a:xfrm>
          <a:prstGeom prst="rect">
            <a:avLst/>
          </a:prstGeom>
          <a:solidFill>
            <a:srgbClr val="2E8B57"/>
          </a:solidFill>
          <a:ln/>
        </p:spPr>
      </p:sp>
      <p:sp>
        <p:nvSpPr>
          <p:cNvPr id="27" name="Text 25"/>
          <p:cNvSpPr/>
          <p:nvPr/>
        </p:nvSpPr>
        <p:spPr>
          <a:xfrm>
            <a:off x="8098164"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lettres d’invitation</a:t>
            </a:r>
            <a:endParaRPr lang="en-US" sz="1500" dirty="0"/>
          </a:p>
        </p:txBody>
      </p:sp>
      <p:sp>
        <p:nvSpPr>
          <p:cNvPr id="28" name="Text 26"/>
          <p:cNvSpPr/>
          <p:nvPr/>
        </p:nvSpPr>
        <p:spPr>
          <a:xfrm>
            <a:off x="8098164"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lettres d’invitation vont aux candidats de la liste définitive ; le dossier de la demande de propositions se crée ensuite, le rapport signé joint d’office. </a:t>
            </a:r>
            <a:pPr indent="0" marL="0">
              <a:buNone/>
            </a:pPr>
            <a:r>
              <a:rPr lang="en-US" sz="1200" b="1" dirty="0">
                <a:solidFill>
                  <a:srgbClr val="1B2A3A"/>
                </a:solidFill>
                <a:latin typeface="Segoe UI" pitchFamily="34" charset="0"/>
                <a:ea typeface="Segoe UI" pitchFamily="34" charset="-122"/>
                <a:cs typeface="Segoe UI" pitchFamily="34" charset="-120"/>
              </a:rPr>
              <a:t>RG‑40</a:t>
            </a:r>
            <a:endParaRPr lang="en-US" sz="1200" dirty="0"/>
          </a:p>
        </p:txBody>
      </p:sp>
      <p:sp>
        <p:nvSpPr>
          <p:cNvPr id="29" name="Text 2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3809905"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03</a:t>
            </a:r>
            <a:endParaRPr lang="en-US" sz="8000" dirty="0"/>
          </a:p>
        </p:txBody>
      </p:sp>
      <p:sp>
        <p:nvSpPr>
          <p:cNvPr id="3" name="Text 1"/>
          <p:cNvSpPr/>
          <p:nvPr/>
        </p:nvSpPr>
        <p:spPr>
          <a:xfrm>
            <a:off x="812780" y="2667000"/>
            <a:ext cx="10477238" cy="698500"/>
          </a:xfrm>
          <a:prstGeom prst="rect">
            <a:avLst/>
          </a:prstGeom>
          <a:noFill/>
          <a:ln/>
        </p:spPr>
        <p:txBody>
          <a:bodyPr wrap="square" rtlCol="0" anchor="ctr">
            <a:normAutofit/>
          </a:bodyPr>
          <a:lstStyle/>
          <a:p>
            <a:pPr indent="0" marL="0">
              <a:buNone/>
            </a:pPr>
            <a:r>
              <a:rPr lang="en-US" sz="4200" b="1" dirty="0">
                <a:solidFill>
                  <a:srgbClr val="FCFCFA"/>
                </a:solidFill>
                <a:latin typeface="Segoe UI" pitchFamily="34" charset="0"/>
                <a:ea typeface="Segoe UI" pitchFamily="34" charset="-122"/>
                <a:cs typeface="Segoe UI" pitchFamily="34" charset="-120"/>
              </a:rPr>
              <a:t>Fournitures et services</a:t>
            </a:r>
            <a:endParaRPr lang="en-US" sz="4200" dirty="0"/>
          </a:p>
        </p:txBody>
      </p:sp>
      <p:sp>
        <p:nvSpPr>
          <p:cNvPr id="4" name="Text 2"/>
          <p:cNvSpPr/>
          <p:nvPr/>
        </p:nvSpPr>
        <p:spPr>
          <a:xfrm>
            <a:off x="812780" y="3556000"/>
            <a:ext cx="8889778" cy="1270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Biens et services courants : liste des fournitures et calendrier de livraison, bordereau des prix, tableau de conformité technique ; provenance nationale ou importée.</a:t>
            </a:r>
            <a:endParaRPr lang="en-US" sz="1700" dirty="0"/>
          </a:p>
        </p:txBody>
      </p:sp>
      <p:sp>
        <p:nvSpPr>
          <p:cNvPr id="5"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 fiche DAO par nature et par forme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Fournitures et services : les blocs selon la forme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Nombre d’informations de chaque bloc pour chaque forme ; « — » : bloc absent de cette forme ; « grille » : bloc saisi dans une grille.</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31520"/>
                <a:gridCol w="5852160"/>
                <a:gridCol w="1615440"/>
                <a:gridCol w="1615440"/>
                <a:gridCol w="161544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Intitulé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Quantité fixe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Identification &amp; données du PPM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allotissement &amp; 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Candidats : groupement, sous-traitance, qualifications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Dossier, remise &amp; ouverture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montants &amp;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Évaluation, attribution &amp;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Paiements, avances &amp; garanties financières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Exécution du marché &amp; livraison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Modifications, résiliation &amp; litiges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Besoin (grille)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de l'offre (grille)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l" indent="0" marL="0">
                        <a:buNone/>
                      </a:pPr>
                      <a:r>
                        <a:rPr lang="en-US" sz="900" b="1" dirty="0">
                          <a:solidFill>
                            <a:srgbClr val="1B2A3A"/>
                          </a:solidFill>
                          <a:latin typeface="Segoe UI" pitchFamily="34" charset="0"/>
                          <a:ea typeface="Segoe UI" pitchFamily="34" charset="-122"/>
                          <a:cs typeface="Segoe UI" pitchFamily="34" charset="-120"/>
                        </a:rPr>
                        <a:t>Total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163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166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177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Fournitures et services : les blocs à grille</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B12 — Le besoin</a:t>
            </a:r>
            <a:endParaRPr lang="en-US" sz="1500" dirty="0"/>
          </a:p>
        </p:txBody>
      </p:sp>
      <p:sp>
        <p:nvSpPr>
          <p:cNvPr id="7" name="Text 5"/>
          <p:cNvSpPr/>
          <p:nvPr/>
        </p:nvSpPr>
        <p:spPr>
          <a:xfrm>
            <a:off x="952476"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Lots, puis articles : désignation, unité, quantité (</a:t>
            </a:r>
            <a:pPr indent="0" marL="0">
              <a:buNone/>
            </a:pPr>
            <a:r>
              <a:rPr lang="en-US" sz="1200" b="1" dirty="0">
                <a:solidFill>
                  <a:srgbClr val="1B2A3A"/>
                </a:solidFill>
                <a:latin typeface="Segoe UI" pitchFamily="34" charset="0"/>
                <a:ea typeface="Segoe UI" pitchFamily="34" charset="-122"/>
                <a:cs typeface="Segoe UI" pitchFamily="34" charset="-120"/>
              </a:rPr>
              <a:t>minimum et maximum</a:t>
            </a:r>
            <a:pPr indent="0" marL="0">
              <a:buNone/>
            </a:pPr>
            <a:r>
              <a:rPr lang="en-US" sz="1200" dirty="0">
                <a:solidFill>
                  <a:srgbClr val="465568"/>
                </a:solidFill>
                <a:latin typeface="Segoe UI" pitchFamily="34" charset="0"/>
                <a:ea typeface="Segoe UI" pitchFamily="34" charset="-122"/>
                <a:cs typeface="Segoe UI" pitchFamily="34" charset="-120"/>
              </a:rPr>
              <a:t> à commande), lieu et délai de livraison, et les </a:t>
            </a:r>
            <a:pPr indent="0" marL="0">
              <a:buNone/>
            </a:pPr>
            <a:r>
              <a:rPr lang="en-US" sz="1200" b="1" dirty="0">
                <a:solidFill>
                  <a:srgbClr val="1B2A3A"/>
                </a:solidFill>
                <a:latin typeface="Segoe UI" pitchFamily="34" charset="0"/>
                <a:ea typeface="Segoe UI" pitchFamily="34" charset="-122"/>
                <a:cs typeface="Segoe UI" pitchFamily="34" charset="-120"/>
              </a:rPr>
              <a:t>caractéristiques techniques</a:t>
            </a:r>
            <a:pPr indent="0" marL="0">
              <a:buNone/>
            </a:pPr>
            <a:r>
              <a:rPr lang="en-US" sz="1200" dirty="0">
                <a:solidFill>
                  <a:srgbClr val="465568"/>
                </a:solidFill>
                <a:latin typeface="Segoe UI" pitchFamily="34" charset="0"/>
                <a:ea typeface="Segoe UI" pitchFamily="34" charset="-122"/>
                <a:cs typeface="Segoe UI" pitchFamily="34" charset="-120"/>
              </a:rPr>
              <a:t> exigées de chaque article. Il produit la liste des fournitures, le bordereau des prix et le tableau de conformité, et pré-remplit l’offre en ligne du candidat.</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B14 — Les pièces de l’offre</a:t>
            </a:r>
            <a:endParaRPr lang="en-US" sz="1500" dirty="0"/>
          </a:p>
        </p:txBody>
      </p:sp>
      <p:sp>
        <p:nvSpPr>
          <p:cNvPr id="11" name="Text 9"/>
          <p:cNvSpPr/>
          <p:nvPr/>
        </p:nvSpPr>
        <p:spPr>
          <a:xfrm>
            <a:off x="4525320"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Deux listes : les </a:t>
            </a:r>
            <a:pPr indent="0" marL="0">
              <a:buNone/>
            </a:pPr>
            <a:r>
              <a:rPr lang="en-US" sz="1200" b="1" dirty="0">
                <a:solidFill>
                  <a:srgbClr val="1B2A3A"/>
                </a:solidFill>
                <a:latin typeface="Segoe UI" pitchFamily="34" charset="0"/>
                <a:ea typeface="Segoe UI" pitchFamily="34" charset="-122"/>
                <a:cs typeface="Segoe UI" pitchFamily="34" charset="-120"/>
              </a:rPr>
              <a:t>pièces administratives</a:t>
            </a:r>
            <a:pPr indent="0" marL="0">
              <a:buNone/>
            </a:pPr>
            <a:r>
              <a:rPr lang="en-US" sz="1200" dirty="0">
                <a:solidFill>
                  <a:srgbClr val="465568"/>
                </a:solidFill>
                <a:latin typeface="Segoe UI" pitchFamily="34" charset="0"/>
                <a:ea typeface="Segoe UI" pitchFamily="34" charset="-122"/>
                <a:cs typeface="Segoe UI" pitchFamily="34" charset="-120"/>
              </a:rPr>
              <a:t> (clause 6.2, 2°) et les </a:t>
            </a:r>
            <a:pPr indent="0" marL="0">
              <a:buNone/>
            </a:pPr>
            <a:r>
              <a:rPr lang="en-US" sz="1200" b="1" dirty="0">
                <a:solidFill>
                  <a:srgbClr val="1B2A3A"/>
                </a:solidFill>
                <a:latin typeface="Segoe UI" pitchFamily="34" charset="0"/>
                <a:ea typeface="Segoe UI" pitchFamily="34" charset="-122"/>
                <a:cs typeface="Segoe UI" pitchFamily="34" charset="-120"/>
              </a:rPr>
              <a:t>autres pièces de l’offre</a:t>
            </a:r>
            <a:pPr indent="0" marL="0">
              <a:buNone/>
            </a:pPr>
            <a:r>
              <a:rPr lang="en-US" sz="1200" dirty="0">
                <a:solidFill>
                  <a:srgbClr val="465568"/>
                </a:solidFill>
                <a:latin typeface="Segoe UI" pitchFamily="34" charset="0"/>
                <a:ea typeface="Segoe UI" pitchFamily="34" charset="-122"/>
                <a:cs typeface="Segoe UI" pitchFamily="34" charset="-120"/>
              </a:rPr>
              <a:t> (1°), avec forme et ancienneté exigées. « Reprendre les pièces du document type », « Coller une liste », « Proposer la liste à partir du texte ». </a:t>
            </a:r>
            <a:pPr indent="0" marL="0">
              <a:buNone/>
            </a:pPr>
            <a:r>
              <a:rPr lang="en-US" sz="1200" b="1" dirty="0">
                <a:solidFill>
                  <a:srgbClr val="1B2A3A"/>
                </a:solidFill>
                <a:latin typeface="Segoe UI" pitchFamily="34" charset="0"/>
                <a:ea typeface="Segoe UI" pitchFamily="34" charset="-122"/>
                <a:cs typeface="Segoe UI" pitchFamily="34" charset="-120"/>
              </a:rPr>
              <a:t>Pas en contrat-cadre.</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Spécifications techniques</a:t>
            </a:r>
            <a:endParaRPr lang="en-US" sz="1500" dirty="0"/>
          </a:p>
        </p:txBody>
      </p:sp>
      <p:sp>
        <p:nvSpPr>
          <p:cNvPr id="15" name="Text 13"/>
          <p:cNvSpPr/>
          <p:nvPr/>
        </p:nvSpPr>
        <p:spPr>
          <a:xfrm>
            <a:off x="8098164"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 bloc B14 : la PRMP joint le Word des spécifications (20 Mo au plus), inséré tel quel dans le DAO complet, partie 2.2.</a:t>
            </a:r>
            <a:endParaRPr lang="en-US" sz="1200" dirty="0"/>
          </a:p>
        </p:txBody>
      </p:sp>
      <p:sp>
        <p:nvSpPr>
          <p:cNvPr id="16" name="Text 1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(1/10)</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B01 — Identification &amp; données du PPM  ·  19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B01-AC ·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Ministère ou organisme de rattachement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Commission des marchés compétente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publics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Courriel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Exercice budgétaire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dossier de planification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estimatif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 de financement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Service(s) bénéficiaire(s)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Compte(s) budgétaire(s)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Dates prévisionnelles (calendrier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B02 — Objet, allotissement &amp; forme du marché  ·  12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B02-OB · 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de fournitures à livrer et services connexes à réaliser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du dossier d'appel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(2/10)</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B02-LV · Lots et variantes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des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par lot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Marché alloti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Variantes admises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B02-VA · Offres variantes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B02-VA-01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Offres variantes prises en considération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Offre de base évaluée la moins-disante ; Toutes les offres conformes aux spécifications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variantes admises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B02-AU · Autres éléments du 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B02-AU-01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Description du projet global (marché non alloti)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non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B02-AU-02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Attribution des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Lot par lot (attribution divisible) ; Totalité des lots à un seul 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B03 — Candidats : groupement, sous-traitance, qualifications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B03-GR ·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Groupement autorisé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B03-GR-02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B03-CQ · Capacité et qualifications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Identification et situation juridique : pièces exigées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Capacité technique exigée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Capacité financière exigée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Marchés similaires : certificats de bonne fin ou PV de réception exigés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Autorisation du fabricant exigée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(3/10)</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Qualifications particulières exigées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Communautés locales et ONG admises à candidater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Préférence nationale accordée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juridiques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financiers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B03-ST · Sous-traitance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B03-ST-01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Sous-traitance autorisée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B03-NA · Nantissement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B03-NA-03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Comptable assignataire des paiements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B04 — Dossier, remise &amp; ouverture des offres  ·  45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B04-DE · Demande d'éclaircissement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pour les demandes d'éclaircissement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d'envoi des demandes par les candidats (jours avant la 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du représentant de la PRMP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B04-CO · Contenu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Documents et pièces constituant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B04-VO · Délai de validité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B04-VO-01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validité des offres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B04-LA · Langue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Langue de l'offre autre que le français admise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Langue admise en plus du français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B04-RO · Remise des offres – forme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copies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B04-RO-02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Mention et numéro à porter sur les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(4/10)</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B04-LR · Lieu, date et heure de remise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complet de la PRMP destinataire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B04-LR-02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B04-LR-03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B04-LR-04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Heure limite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B04-OP · Ouverture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de l'ouverture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l'ouverture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Heure de l'ouverture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 de la séance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Présentiel ; En ligne ; Mixte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Lien de suivi de la séance pour les soumissionnaires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Adresse web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entre l'heure limite et l'ouverture (minutes)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Publication du procès-verbal sur la plateforme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B04-DS ·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à payer pour le dossier de consultation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nom du responsable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fonction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bureau, n° de porte, étage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localité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e-mail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B04-CD · Composition du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B04-CD-01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Modèles de fiches de renseignements joints au dossier (A1, A2…)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A1 ; A2 ; A3 ; A4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B04-CD-02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Modèle de garantie de soumission joint au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C1 ; C2 ; C1 et C2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B04-SE · Remise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PAPIER ; ELECTRONIQUE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 plateforme de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Adresse web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(5/10)</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d'ouverture des dépôts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Heure de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Heure du serveur (UTC+03:00 Indian/Antananarivo)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Niveau de signature électronique exigé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Qualifiée ; Avancée ; Simple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Prestataires de certification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À définir par l'Administrateur (liste officielle des prestataires de certification)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Formats de fichiers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PDF ; PDF/A ; XLSX ; DOCX ; ZIP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fichier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offre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Remplacement et retrait avant la 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Copie de sauvegarde autorisée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Non ; Support physique sous pli scellé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Seuil d'indisponibilité déclenchant la prorogation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la prorogation (jours ouvrables)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Assistance aux candidats (contact, horaires)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des demandes d'assistance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Fenêtre avant l'échéance où le seuil s'applique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publication de l'avis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B05 — Prix, montants &amp; garantie de soumission  ·  20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B05-CP · Contenu et décomposition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B05-CP-00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Provenance des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B05-CP-01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Incoterm des fournitures importées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CIP ; CIF</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fournitures importées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B05-CP-02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Décomposition des prix des fournitures nationales (EXW hors TVA, transports intérieurs, assurance, services)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fournitures nationales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B05-CP-04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Transport intérieur jusqu'à la destination finale à la charge du fournisseur (fournitures importées)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fournitures importées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(6/10)</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B05-CP-05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(CIP) ou port (CIF) de destination des fournitures importées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fournitures importées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B05-VP · Variation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B05-VP-01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ferme ou révisable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B05-VP-02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Formule de révision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prix révisable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B05-VP-03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Indices d'actualisation des prix fermes (nature et sources)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prix ferme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B05-MO · Monnaie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Monnaie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Ariary ; Ariary et devise pour la part importée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B05-MO-02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Devise admise pour la part importée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fournitures importées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B05-GS ·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de soumission exigée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la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Dépôt en numéraire au Trésor ; Caution personnelle et solidaire d'un organisme agréé par le MEF ; Garantie bancaire ; Chèque de banque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 garantie de soumission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validité de la garantie de soumission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remise de la garantie acceptée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Dépôt direct par le garant (voie A) ; Téléversement avec code de vérification (voie B) ; Original papier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Original papier exigé en plus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du dépôt de l'original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Garants habilités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À définir par l'Administrateur (liste officielle des garants habilités)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(7/10)</a:t>
            </a:r>
            <a:endParaRPr 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et heure limite du dépôt de l'original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B05-TP · Type de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B05-TP-01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de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B06 — Évaluation, attribution &amp; notification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B06-EP · Évaluation des plis, relations candidats /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des candidats aux demandes de la PRMP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B06-EO · Évaluation des offres, montant évalué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Évaluation des offres portant sur plusieurs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Par lot ; Sur l'ensemble des lots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B06-EO-02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additionnels d'évaluation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B06-EO-09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Marge de préférence nationale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B06-EO-10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Variation maximale des quantités à l'attribution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B06-EO-11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livraison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B06-AN · Attribution et notification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B06-AN-01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la garantie de bonne exécution exigée à la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Cautionnement ; Garantie bancaire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B08 — Paiements, avances &amp; garanties financières  ·  12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B08-PA · Paiements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B08-PA-03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Établissement des décomptes, factures ou mémoires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B08-PA-05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Périodicité des paiements (prix unitaires)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À la livraison ; Mensuelle ; Trimestrielle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prix unitaires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B08-PA-06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Part réglée à la réception des fournitures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prix forfaitaire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B08-PA-07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Part réglée sur présentation du PV de réception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prix forfaitaire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B08-AV · Avance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Avance accordée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l'avance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B08-AV-04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la garantie de restitution d'avance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Garantie bancaire ; Caution personnelle et solidaire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(8/10)</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B08-IM · Intérêts moratoires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B08-IM-01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des intérêts moratoires dus au fournisseur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B08-GB · Garantie de bonne 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B08-GB-01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de bonne exécution exigée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B08-GB-02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 garantie de bonne exécution (%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B08-RG · Retenue de garantie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Retenue de garantie pratiquée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B08-RG-02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la retenue de garantie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B09 — Exécution du marché &amp; livraison  ·  30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B09-LL · Lieu de livraison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B09-LL-01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de livraison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B09-OM · Ordres de modification et avenants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communication par le fournisseur sur l'ajustement de prix ou de délai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B09-OM-02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Variation maximale des volumes ou quantités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B09-DX · Délai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B09-DX-01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d'exécution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B09-DX-02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 de départ du délai s'il diffère de la date de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B09-DX-03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et période de passation des commandes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B09-PC · Pièces contractuelles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contractuelles supplémentaires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Annexes de l'acte d'engagement (cadre du bordereau de prix, état des sommes versées à des tiers, déclaration des bénéficiaires effectifs)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B09-PS · Protection du secret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Mesures de sécurité applicables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Mesures communiquées par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(9/10)</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Mesures mentionnées en annexe du CCAP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B09-PR · Pénalités de retard</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Régime des pénalités de retard</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B09-PR-02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Plafond des pénalités de retard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pénalités : autre plafond</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B09-PR-03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Dérogation au CCAG justifiant le plafond des pénalités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pénalités : autre plafond</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B09-MC · Matériels confiés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Matériels, objets et approvisionnements confiés au fournisseur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B09-SK · Stockage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B09-SK-01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Stockage des fournitures à la charge du fournisseur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B09-EM · Emballage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B09-EM-01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Marquage requis sur les emballages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B09-EM-02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Documents requis dans les emballages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B09-RT · Responsabilité du transport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B09-RT-01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Responsabilité du transport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Selon l'incoterm ; Transport par le fournisseur jusqu'à la destination finale ; Responsabilités partagées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B09-RT-02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Responsabilités respectives de l'Autorité contractante et du fournisseur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B09-LF · Livraison des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B09-LF-01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livraison des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B09-LF-02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Documents à fournir par le fournisseur à la livraison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B09-AS · Assurance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Assurance des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Selon l'incoterm ; À la charge du fournisseur jusqu'à la livraison ; À la charge de l'Autorité contractante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Terme de la responsabilité d'assurance du fournisseur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(10/10)</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B09-CR · Contrôle des prix de revient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B09-CR-01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Contrôle des prix de revient applicable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B09-IV · Inspections, vérifications et essais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B09-IV-01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Inspections, vérifications et essais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B09-DI · Décision après inspection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B09-DI-01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après inspection et essais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B09-DG · Délai de garantie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garantie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B09-DG-03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Pénalité pour non-respect des garanties contractuelles (% du prix initial)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B09-DG-04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accordé pour remédier aux défauts pendant la garantie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B10 — Modifications, résiliation &amp; litiges  ·  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B10-IR · Indemnité de résiliation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B10-IR-01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Indemnité de résiliation prévue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B10-IR-03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l'indemnité de résiliation (%, si différent des 4 % du CCAG)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B10-AR · Arbitrage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B10-AR-01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Arbitrage et règlement des litiges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B10-DD · Dérogation aux documents généraux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B10-DD-01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Dérogations aux documents généraux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B12 — Besoin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la grille du besoin (lots, articles ou séries, quantités)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B14 — Pièces de l'offre</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la liste des pièces de l’offre (administratives, autres)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À COMMANDE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À commande — les informations en plus</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B02 — Objet, allotissement &amp; forme du marché  ·  1 information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B02-AU · Autres éléments du 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B02-AU-04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validité du marché à commande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B05 — Prix, montants &amp; garantie de soumission  ·  1 information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B05-TP · Type de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B05-TP-03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maximum annuel estimé du marché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B06 — Évaluation, attribution &amp; notification  ·  1 information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B06-EO · Évaluation des offres, montant évalué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B06-EO-12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maximum de livraison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B09 — Exécution du marché &amp; livraison  ·  1 information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B09-OM · Ordres de modification et avenants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B09-OM-03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validité du marché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À COMMANDE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À commande — les informations en moins</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Présentes à quantité fixe, absentes à commande. Toutes les autres informations sont identiques à la quantité fixe.</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1188720"/>
                <a:gridCol w="8412480"/>
                <a:gridCol w="18288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B06-EO-11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livraison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un autre référentiel</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Par rapport à la quantité fixe, </a:t>
            </a:r>
            <a:pPr indent="0" marL="0">
              <a:buNone/>
            </a:pPr>
            <a:r>
              <a:rPr lang="en-US" sz="1300" b="1" dirty="0">
                <a:solidFill>
                  <a:srgbClr val="1B2A3A"/>
                </a:solidFill>
                <a:latin typeface="Segoe UI" pitchFamily="34" charset="0"/>
                <a:ea typeface="Segoe UI" pitchFamily="34" charset="-122"/>
                <a:cs typeface="Segoe UI" pitchFamily="34" charset="-120"/>
              </a:rPr>
              <a:t>107</a:t>
            </a:r>
            <a:pPr indent="0" marL="0">
              <a:buNone/>
            </a:pPr>
            <a:r>
              <a:rPr lang="en-US" sz="1300" dirty="0">
                <a:solidFill>
                  <a:srgbClr val="465568"/>
                </a:solidFill>
                <a:latin typeface="Segoe UI" pitchFamily="34" charset="0"/>
                <a:ea typeface="Segoe UI" pitchFamily="34" charset="-122"/>
                <a:cs typeface="Segoe UI" pitchFamily="34" charset="-120"/>
              </a:rPr>
              <a:t> informations en plus et </a:t>
            </a:r>
            <a:pPr indent="0" marL="0">
              <a:buNone/>
            </a:pPr>
            <a:r>
              <a:rPr lang="en-US" sz="1300" b="1" dirty="0">
                <a:solidFill>
                  <a:srgbClr val="1B2A3A"/>
                </a:solidFill>
                <a:latin typeface="Segoe UI" pitchFamily="34" charset="0"/>
                <a:ea typeface="Segoe UI" pitchFamily="34" charset="-122"/>
                <a:cs typeface="Segoe UI" pitchFamily="34" charset="-120"/>
              </a:rPr>
              <a:t>93</a:t>
            </a:r>
            <a:pPr indent="0" marL="0">
              <a:buNone/>
            </a:pPr>
            <a:r>
              <a:rPr lang="en-US" sz="1300" dirty="0">
                <a:solidFill>
                  <a:srgbClr val="465568"/>
                </a:solidFill>
                <a:latin typeface="Segoe UI" pitchFamily="34" charset="0"/>
                <a:ea typeface="Segoe UI" pitchFamily="34" charset="-122"/>
                <a:cs typeface="Segoe UI" pitchFamily="34" charset="-120"/>
              </a:rPr>
              <a:t> en moins : le contrat-cadre suit son propre document type (DPAC-CC, AE-CC). Son tableau complet suit.</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bloc B07</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Propre au contrat-cadre : marchés subséquents, rythme de passation, remise en concurrence, durée maximale et reconduction, mono ou multi-attributaire.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calendrier de la consultation</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Dates de lancement, de remise, d’évaluation, d’attribution et de notification, offres optimisées, courriers de rejet (rubrique B04-CP).</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Ce qui disparaît</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L’essentiel des clauses du CCAP (le contrat-cadre vaut AE et CCAP), les pièces de l’offre en liste (B14), et la question des pénalités.</a:t>
            </a:r>
            <a:endParaRPr lang="en-US" sz="1200" dirty="0"/>
          </a:p>
        </p:txBody>
      </p:sp>
      <p:sp>
        <p:nvSpPr>
          <p:cNvPr id="17" name="Text 1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(1/11)</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B01 — Identification &amp; données du PPM  ·  19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B01-AC ·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Ministère ou organisme de rattachement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Commission des marchés compétente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publics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Courriel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Exercice budgétaire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dossier de planification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estimatif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 de financement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Service(s) bénéficiaire(s)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Compte(s) budgétaire(s)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Dates prévisionnelles (calendrier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B02 — Objet, allotissement &amp; forme du marché  ·  21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B02-OB · 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B02-LV · Lots et variantes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(2/11)</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des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par lot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Marché alloti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Variantes admises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B02-OE · Objet et étendue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de l'appel d'offres, de la consultation ou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B02-SG · Personne responsable et délégation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passés sur la base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Délégation de la personne responsable (décision et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Acte de nomination de la PRMP (nature, numéro,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habilitée à signer le contrat-cadre (nom, délégation, date de la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B02-PC · Procédure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B02-PC-01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de l'article du code des marchés publics de la procédure choisie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B02-PC-02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Rythme de passation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Au fur et à mesure des besoins ; Selon le calendrier fixé ci-après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B02-PC-03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Calendrier de remise en concurrence des titulaires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B02-DC · Durée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maximale du contrat-cadre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validité du contrat-cadre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 reconductible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Conditions de reconduction de la période de validité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(3/11)</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B02-AL · Allotissement et attributaires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B02-AL-02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et désignation des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B02-AL-03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 mono ou multi-attributaire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B03 — Candidats : groupement, sous-traitance, qualifications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B03-GR ·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Groupement autorisé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B03-GR-02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B03-CQ · Capacité et qualifications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juridiques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financiers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B03-SS · Sous-traitance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B03-SS-01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des sous-traitants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B03-SS-02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paiement direct des sous-traitants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B04 — Dossier, remise &amp; ouverture des offres  ·  48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B04-VO · Délai de validité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B04-VO-01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validité des offres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B04-OP · Ouverture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 de la séance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Présentiel ; En ligne ; Mixte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Lien de suivi de la séance pour les soumissionnaires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Adresse web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entre l'heure limite et l'ouverture (minutes)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B04-OP-13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Publication du procès-verbal sur la plateforme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B04-DS ·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 du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Langue du dossier de consultation et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d'acquisition du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retrait du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(4/11)</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à payer pour le dossier de consultation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Modification du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nom du responsable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fonction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bureau, n° de porte, étage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localité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e-mail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B04-PO · Présentation des candidatures et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B04-PO-01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constitutives de la candidature (capacités technique et professionnelle)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B04-PO-02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constitutives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B04-RQ ·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remise des offres sous support papier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B04-RQ-02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du contrat-cadre à porter sur le pli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B04-RQ-03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exacte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B04-RC · Renseignements complémentaires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à laquelle adresser les demandes d'informations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aux demandes d'informations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B04-CP · Calendrier prévisionnel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lancement de la mise en concurrence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et heure limites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début de la séance d'évaluation des offres et candidatures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d'attribution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notification du contrat-cadre au(x) titulaire(s)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Envoi des demandes d'offres optimisées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(5/11)</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 réception des offres optimisées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Envoi des courriers de rejet aux candidats non retenus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B04-SE · Remise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PAPIER ; ELECTRONIQUE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 plateforme de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Adresse web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d'ouverture des dépôts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Heure de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Heure du serveur (UTC+03:00 Indian/Antananarivo)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Niveau de signature électronique exigé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Qualifiée ; Avancée ; Simple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Prestataires de certification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À définir par l'Administrateur (liste officielle des prestataires de certification)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Formats de fichiers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PDF ; PDF/A ; XLSX ; DOCX ; ZIP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fichier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offre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Remplacement et retrait avant la 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Copie de sauvegarde autorisée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Non ; Support physique sous pli scellé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Seuil d'indisponibilité déclenchant la prorogation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la prorogation (jours ouvrables)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Assistance aux candidats (contact, horaires)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des demandes d'assistance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Fenêtre avant l'échéance où le seuil s'applique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publication de l'avis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B05 — Prix, montants &amp; garantie de soumission  ·  18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(6/11)</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B05-CP · Contenu et décomposition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B05-CP-00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Provenance des fournitures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B05-VP · Variation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B05-VP-01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ferme ou révisable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B05-GS ·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de soumission exigée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 garantie de soumission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remise de la garantie acceptée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Dépôt direct par le garant (voie A) ; Téléversement avec code de vérification (voie B) ; Original papier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Original papier exigé en plus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du dépôt de l'original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Garants habilités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À définir par l'Administrateur (liste officielle des garants habilités)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B05-GS-14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et heure limite du dépôt de l'original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 et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B05-TP · Type de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B05-TP-01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de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B05-UM · Unité monétaire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B05-UM-01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Monnaie en devise (appel d'offres international)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B05-MT · Montant indicatif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indicatif du contrat-cadre hors taxes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indicatif du contrat-cadre toutes taxes comprises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(7/11)</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B05-PM · Prix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prix des marchés subséquents (mono-attributaire)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Prix unitaires ; Prix forfaitaires ; Prix mixtes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 prix est un critère d'attribution du contrat-cadre (multi-attributaire)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Plafond d'augmentation des prix à chaque complétude ou remise en concurrence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Catalogue joint au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B06 — Évaluation, attribution &amp; notification  ·  11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B06-AN · Attribution et notification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B06-AN-03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Voies et délais de recours (instance chargée des recours)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B06-SC · Examen des candidatures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d'ouverture des plis par le représentant de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d'élimination des candidatures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B06-SO · Sélection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Rejet des offres hors délais et ouverture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B06-SO-02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Analyse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B06-SO-03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Rejet des offres non recevables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B06-SO-04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Comparaison des offres pour la sélection de l'offre économiquement la plus avantageuse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B06-SO-05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et mécanisme de jugement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B06-CA · Critères d'attribution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B06-CA-01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d'attribution du contrat-cadre et modalités d'appréciation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B06-NO ·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B06-NO-01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réception portée sur l'accusé de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(8/11)</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B06-NO-02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remise en main propre au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B07 — Marchés subséquents  ·  25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B07-PS · Passation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d'envoi des demandes aux titulaires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des titulaires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B07-FS · Forme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B07-FS-01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Marchés uniques non fractionnés ; Marchés fractionnés par bons de commande successifs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B07-FS-02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Interlocuteur du titulaire (service, direction, coordonnées)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B07-MA · Attribution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complétude de l'offre initiale (mono-attributaire)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 de départ du délai de complétude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À compter de la notification de la demande de complétude ; Lors de la demande de complétude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Attribution des marchés subséquents après remise en concurrence (non alloti)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d'attribution des marchés subséquents en cas d'allotissement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Titulaires des lots correspondant à l'objet du marché ; Titulaires de tous les lots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et sous-critères pondérés de la remise en concurrence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B07-TN · Termes non couverts par le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B07-TN-01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Termes non couverts par le contrat-cadre (mono-attributaire)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B07-TN-02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Termes non couverts par le contrat-cadre (multi-attributaire)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B07-PI · Pièces contractuelles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B07-PI-01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contractuelles du contrat-cadre et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(9/11)</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B07-DU · Durée et reconduction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Entrée en vigueur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marchés subséquents fixée dans le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marchés subséquents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reconductions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d'années maximum du contrat-cadre, reconductions comprises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Préavis de la décision de reconduction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B07-DE · Délais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Délais d'exécution des marchés subséquents uniques ou non fractionnés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Fixés par l'autorité contractante ; À l'initiative des candidats ; Fixés dans les marchés subséquents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d'exécution fixé par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d'exécution à l'initiative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Délais d'exécution des marchés fractionnés par bons de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B07-PE · Pénalités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Pénalités de retard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Non applicables ; Fixées dans le contrat-cadre ; Fixées dans les marchés subséquents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Régime des pénalités fixées dans le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Conformément à l'article 12 du CCAG ; Dérogation au CCAG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Pénalités dérogeant au CCAG : rédaction libre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B08 — Paiements, avances &amp; garanties financières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B08-AV · Avance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Avance accordée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l'avance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(10/11)</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B08-FI · Financement et sûretés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B08-FI-02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versement de l'avance (délai de paiement en jours calendaires)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B08-FI-04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Remboursement de l'avance (article 72.III du code des marchés publics)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B08-FI-05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Avance versée au sous-traitant du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B08-FP · Facturation et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Présentation des demandes de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facturation (service responsable de la vérification des demandes de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paiement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des intérêts moratoires (%, au moins un point)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Règlement des prestations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B09 — Exécution du marché &amp; livraison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B09-EA · Exécution administrative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B09-EA-01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générales d'exécution communes aux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B09-EA-02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 des modalités générales d'exécution communes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B09-EA-03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particulières à fixer dans les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B09-VA · Vérification et admission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B09-VA-01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Vérification et admission des prestations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Dispositions du CCAG applicables ; Clause libre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B09-VA-02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Clause libre de vérification et d'admission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B09-GP · Garanties particulières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Garanties contractuelles particulières fournies par le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des garanties particulières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garantie des prestations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FOURNITURES ET SERVICES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(11/11)</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 de départ du délai de garantie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À partir de l'admission ; À partir de la date de mise en service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exécutée conformément au CCAG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B09-AU · Assurance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B09-AU-01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Assurance exigée du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B09-AU-02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Attestation d'assurance à justifier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B09-AU-03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remise de l'attestation d'assurance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B10 — Modifications, résiliation &amp; litiges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B10-VR · Voies de recours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B10-VR-01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Juridiction compétente pour les litiges nés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B10-MT · Modifications en cours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B10-MT-01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Changement de dénomination sociale du titulaire : service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B10-MT-02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Changement de contractant en cours d'exécution : service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B10-RS · Résiliation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B10-RS-01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Résiliation sans faute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B10-RS-02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Préavis de résiliation sans faute (mois avant la date anniversaire)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B10-RS-03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Fautes du titulaire ouvrant la résiliation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B12 — Besoin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la grille du besoin (lots, articles ou séries, quantités)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3809905"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04</a:t>
            </a:r>
            <a:endParaRPr lang="en-US" sz="8000" dirty="0"/>
          </a:p>
        </p:txBody>
      </p:sp>
      <p:sp>
        <p:nvSpPr>
          <p:cNvPr id="3" name="Text 1"/>
          <p:cNvSpPr/>
          <p:nvPr/>
        </p:nvSpPr>
        <p:spPr>
          <a:xfrm>
            <a:off x="812780" y="2667000"/>
            <a:ext cx="10477238" cy="698500"/>
          </a:xfrm>
          <a:prstGeom prst="rect">
            <a:avLst/>
          </a:prstGeom>
          <a:noFill/>
          <a:ln/>
        </p:spPr>
        <p:txBody>
          <a:bodyPr wrap="square" rtlCol="0" anchor="ctr">
            <a:normAutofit/>
          </a:bodyPr>
          <a:lstStyle/>
          <a:p>
            <a:pPr indent="0" marL="0">
              <a:buNone/>
            </a:pPr>
            <a:r>
              <a:rPr lang="en-US" sz="4200" b="1" dirty="0">
                <a:solidFill>
                  <a:srgbClr val="FCFCFA"/>
                </a:solidFill>
                <a:latin typeface="Segoe UI" pitchFamily="34" charset="0"/>
                <a:ea typeface="Segoe UI" pitchFamily="34" charset="-122"/>
                <a:cs typeface="Segoe UI" pitchFamily="34" charset="-120"/>
              </a:rPr>
              <a:t>Travaux et réhabilitation</a:t>
            </a:r>
            <a:endParaRPr lang="en-US" sz="4200" dirty="0"/>
          </a:p>
        </p:txBody>
      </p:sp>
      <p:sp>
        <p:nvSpPr>
          <p:cNvPr id="4" name="Text 2"/>
          <p:cNvSpPr/>
          <p:nvPr/>
        </p:nvSpPr>
        <p:spPr>
          <a:xfrm>
            <a:off x="812780" y="3556000"/>
            <a:ext cx="8889778" cy="1270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Bâtiment, routes, réhabilitation : détail quantitatif et estimatif par série de prix, matériel et personnel exigés, tranches, prix mixtes.</a:t>
            </a:r>
            <a:endParaRPr lang="en-US" sz="1700" dirty="0"/>
          </a:p>
        </p:txBody>
      </p:sp>
      <p:sp>
        <p:nvSpPr>
          <p:cNvPr id="5"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 fiche DAO par nature et par forme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Travaux et réhabilitation : les blocs selon la forme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Nombre d’informations de chaque bloc pour chaque forme ; « — » : bloc absent de cette forme ; « grille » : bloc saisi dans une grille.</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31520"/>
                <a:gridCol w="5852160"/>
                <a:gridCol w="1615440"/>
                <a:gridCol w="1615440"/>
                <a:gridCol w="161544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Intitulé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Quantité fixe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Identification &amp; données du PPM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allotissement &amp; 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Candidats : groupement, sous-traitance, qualifications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Dossier, remise &amp; ouverture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montants &amp;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Évaluation, attribution &amp;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Paiements, avances &amp; garanties financières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Exécution du marché &amp; livraison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42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Modifications, résiliation &amp; litiges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Annexes et formulaires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Besoin (grille)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Matériel et personnel exigés (grille)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de l'offre (grille)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l" indent="0" marL="0">
                        <a:buNone/>
                      </a:pPr>
                      <a:r>
                        <a:rPr lang="en-US" sz="900" b="1" dirty="0">
                          <a:solidFill>
                            <a:srgbClr val="1B2A3A"/>
                          </a:solidFill>
                          <a:latin typeface="Segoe UI" pitchFamily="34" charset="0"/>
                          <a:ea typeface="Segoe UI" pitchFamily="34" charset="-122"/>
                          <a:cs typeface="Segoe UI" pitchFamily="34" charset="-120"/>
                        </a:rPr>
                        <a:t>Total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181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181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141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Travaux et réhabilitation : les blocs à grille</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B12 — Le besoin : le DQE</a:t>
            </a:r>
            <a:endParaRPr lang="en-US" sz="1500" dirty="0"/>
          </a:p>
        </p:txBody>
      </p:sp>
      <p:sp>
        <p:nvSpPr>
          <p:cNvPr id="7" name="Text 5"/>
          <p:cNvSpPr/>
          <p:nvPr/>
        </p:nvSpPr>
        <p:spPr>
          <a:xfrm>
            <a:off x="952476"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Par lot, des </a:t>
            </a:r>
            <a:pPr indent="0" marL="0">
              <a:buNone/>
            </a:pPr>
            <a:r>
              <a:rPr lang="en-US" sz="1200" b="1" dirty="0">
                <a:solidFill>
                  <a:srgbClr val="1B2A3A"/>
                </a:solidFill>
                <a:latin typeface="Segoe UI" pitchFamily="34" charset="0"/>
                <a:ea typeface="Segoe UI" pitchFamily="34" charset="-122"/>
                <a:cs typeface="Segoe UI" pitchFamily="34" charset="-120"/>
              </a:rPr>
              <a:t>séries</a:t>
            </a:r>
            <a:pPr indent="0" marL="0">
              <a:buNone/>
            </a:pPr>
            <a:r>
              <a:rPr lang="en-US" sz="1200" dirty="0">
                <a:solidFill>
                  <a:srgbClr val="465568"/>
                </a:solidFill>
                <a:latin typeface="Segoe UI" pitchFamily="34" charset="0"/>
                <a:ea typeface="Segoe UI" pitchFamily="34" charset="-122"/>
                <a:cs typeface="Segoe UI" pitchFamily="34" charset="-120"/>
              </a:rPr>
              <a:t> de prix : n° de prix, désignation, libellé au bordereau, unité, quantité, </a:t>
            </a:r>
            <a:pPr indent="0" marL="0">
              <a:buNone/>
            </a:pPr>
            <a:r>
              <a:rPr lang="en-US" sz="1200" b="1" dirty="0">
                <a:solidFill>
                  <a:srgbClr val="1B2A3A"/>
                </a:solidFill>
                <a:latin typeface="Segoe UI" pitchFamily="34" charset="0"/>
                <a:ea typeface="Segoe UI" pitchFamily="34" charset="-122"/>
                <a:cs typeface="Segoe UI" pitchFamily="34" charset="-120"/>
              </a:rPr>
              <a:t>plafond</a:t>
            </a:r>
            <a:pPr indent="0" marL="0">
              <a:buNone/>
            </a:pPr>
            <a:r>
              <a:rPr lang="en-US" sz="1200" dirty="0">
                <a:solidFill>
                  <a:srgbClr val="465568"/>
                </a:solidFill>
                <a:latin typeface="Segoe UI" pitchFamily="34" charset="0"/>
                <a:ea typeface="Segoe UI" pitchFamily="34" charset="-122"/>
                <a:cs typeface="Segoe UI" pitchFamily="34" charset="-120"/>
              </a:rPr>
              <a:t>, </a:t>
            </a:r>
            <a:pPr indent="0" marL="0">
              <a:buNone/>
            </a:pPr>
            <a:r>
              <a:rPr lang="en-US" sz="1200" b="1" dirty="0">
                <a:solidFill>
                  <a:srgbClr val="1B2A3A"/>
                </a:solidFill>
                <a:latin typeface="Segoe UI" pitchFamily="34" charset="0"/>
                <a:ea typeface="Segoe UI" pitchFamily="34" charset="-122"/>
                <a:cs typeface="Segoe UI" pitchFamily="34" charset="-120"/>
              </a:rPr>
              <a:t>sous-détail</a:t>
            </a:r>
            <a:pPr indent="0" marL="0">
              <a:buNone/>
            </a:pPr>
            <a:r>
              <a:rPr lang="en-US" sz="1200" dirty="0">
                <a:solidFill>
                  <a:srgbClr val="465568"/>
                </a:solidFill>
                <a:latin typeface="Segoe UI" pitchFamily="34" charset="0"/>
                <a:ea typeface="Segoe UI" pitchFamily="34" charset="-122"/>
                <a:cs typeface="Segoe UI" pitchFamily="34" charset="-120"/>
              </a:rPr>
              <a:t> exigé. Il produit le bordereau des prix et DQE, et pré-remplit le DQE du candidat (prix en lettres, K1, sous-détails).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B13 — Matériel et personnel exigés</a:t>
            </a:r>
            <a:endParaRPr lang="en-US" sz="1500" dirty="0"/>
          </a:p>
        </p:txBody>
      </p:sp>
      <p:sp>
        <p:nvSpPr>
          <p:cNvPr id="11" name="Text 9"/>
          <p:cNvSpPr/>
          <p:nvPr/>
        </p:nvSpPr>
        <p:spPr>
          <a:xfrm>
            <a:off x="4525320"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matériel minimum (nombre, en propre ou en location) et le personnel clé (fonction, diplôme, années d’expérience). Repris dans l’offre en ligne du candidat et contrôlés en séance.</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B14 — Les pièces de l’offre</a:t>
            </a:r>
            <a:endParaRPr lang="en-US" sz="1500" dirty="0"/>
          </a:p>
        </p:txBody>
      </p:sp>
      <p:sp>
        <p:nvSpPr>
          <p:cNvPr id="15" name="Text 13"/>
          <p:cNvSpPr/>
          <p:nvPr/>
        </p:nvSpPr>
        <p:spPr>
          <a:xfrm>
            <a:off x="8098164"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Comme en fournitures : pièces administratives et autres pièces, une ligne par pièce ; spécifications techniques en Word. </a:t>
            </a:r>
            <a:pPr indent="0" marL="0">
              <a:buNone/>
            </a:pPr>
            <a:r>
              <a:rPr lang="en-US" sz="1200" b="1" dirty="0">
                <a:solidFill>
                  <a:srgbClr val="1B2A3A"/>
                </a:solidFill>
                <a:latin typeface="Segoe UI" pitchFamily="34" charset="0"/>
                <a:ea typeface="Segoe UI" pitchFamily="34" charset="-122"/>
                <a:cs typeface="Segoe UI" pitchFamily="34" charset="-120"/>
              </a:rPr>
              <a:t>Pas en contrat-cadre.</a:t>
            </a:r>
            <a:endParaRPr lang="en-US" sz="1200" dirty="0"/>
          </a:p>
        </p:txBody>
      </p:sp>
      <p:sp>
        <p:nvSpPr>
          <p:cNvPr id="16" name="Text 1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(1/12)</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B01 — Identification &amp; données du PPM  ·  19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B01-AC ·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Ministère ou organisme de rattachement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Commission des marchés compétente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publics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Courriel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Exercice budgétaire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dossier de planification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estimatif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 de financement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Service(s) bénéficiaire(s)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Compte(s) budgétaire(s)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Dates prévisionnelles (calendrier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B02 — Objet, allotissement &amp; forme du marché  ·  18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B02-OB · 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du dossier d'appel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(2/12)</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B02-LV · Lots et variantes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des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par lot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B02-AU · Autres éléments du 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B02-AU-07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maximum de lots attribuables à un même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B02-LT · Lots, variantes et tranches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Description du projet global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Attribution des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Divisible ; Totalité des lots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B02-LT-03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et montant de la tranche ferme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avec tranches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B02-LT-04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et montant de la tranche conditionnelle 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avec tranches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B02-LT-05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et montant de la tranche conditionnelle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avec tranches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B02-LT-06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d'affermissement de la tranche conditionnelle 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avec tranches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B02-LT-07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d'affermissement de la tranche conditionnelle 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avec tranches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B02-MW · Maîtrise d'ouvrage et maîtrise d'œuvre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B02-MW-01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Maître d'œuvre : nom et coordonnées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B02-MW-02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Références du lien contractuel entre le maître de l'ouvrage et le maître d'œuvre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B02-MW-04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Maître d'ouvrage délégué : nom et coordonnées (laisser vide s'il n'y en a pas)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B02-OT · Objet et consistance des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Projet ou opération plus vaste dont le marché fait partie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Consistance des travaux à exécuter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B03 — Candidats : groupement, sous-traitance, qualifications  ·  23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B03-CQ · Capacité et qualifications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Identification et situation juridique : pièces exigées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(3/12)</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juridiques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financiers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B03-GT ·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B03-GT-03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Qualification des membres d'un groupement d'entreprises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B03-GT-04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Groupement conjoint : conditions particulières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B03-GT-05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Groupement solidaire : conditions particulières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B03-NT · Nantissement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B03-NT-01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Comptable assignataire des paiements (désignation seule)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B03-QT · Capacité et qualifications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Communautés locales et organisations non gouvernementales admises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Qualifications particulières requises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Chiffre d'affaires minimum exigé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Projet de nature et de complexité comparables réalisé comme entrepreneur principal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sous laquelle l'entrepreneur disposera du matériel (propriété, location…)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Années d'expérience exigées du directeur des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Période de référence des marchés similaires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Personnel clé exigé (fonctions, diplômes, années d'expérience, justificatifs)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Liquidité ou ligne de crédit bancaire minimale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Liquidité minimale en pourcentage du montant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meilleures années retenues pour le chiffre d'affaires moyen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Sur les n dernières années (chiffre d'affaires moyen)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(4/12)</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Domaine du chiffre d'affaires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B03-QT-19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maximal de marchés de référence cumulables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B03-QT-20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cumulé minimum des marchés de référence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B04 — Dossier, remise &amp; ouverture des offres  ·  41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B04-VO · Délai de validité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B04-VO-01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validité des offres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B04-DS ·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à payer pour le dossier de consultation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nom du responsable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fonction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bureau, n° de porte, étage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localité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e-mail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B04-CD · Composition du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B04-CD-01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Modèles de fiches de renseignements joints au dossier (A1, A2…)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A1 ; A2 ; A3 ; A4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B04-CD-02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Modèle de garantie de soumission joint au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C1 ; C2 ; C1 et C2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B04-CD-03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Plans joints au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B04-SE · Remise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PAPIER ; ELECTRONIQUE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 plateforme de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Adresse web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d'ouverture des dépôts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Heure de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Heure du serveur (UTC+03:00 Indian/Antananarivo)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Niveau de signature électronique exigé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Qualifiée ; Avancée ; Simple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Prestataires de certification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À définir par l'Administrateur (liste officielle des prestataires de certification)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(5/12)</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Formats de fichiers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PDF ; PDF/A ; XLSX ; DOCX ; ZIP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fichier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offre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Remplacement et retrait avant la 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Copie de sauvegarde autorisée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Non ; Support physique sous pli scellé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Seuil d'indisponibilité déclenchant la prorogation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la prorogation (jours ouvrables)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Assistance aux candidats (contact, horaires)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des demandes d'assistance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Fenêtre avant l'échéance où le seuil s'applique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publication de l'avis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B04-EQ · Demande d'éclaircissement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B04-EQ-01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d'envoi des demandes d'éclaircissement par les candidats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B04-EQ-02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du représentant de la PRMP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B04-FP · Remise des offres — forme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B04-FP-01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copies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B04-FP-02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Mention et numéro du dossier d'appel d'offres à porter sur les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B04-FP-03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et numéro du lot à porter sur les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B04-LG · Langue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Langue de l'offre si différente du français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B04-LG-02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Traduction exigée des pièces rédigées dans une autre langue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B04-OV · Ouverture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de l'ouverture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(6/12)</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B04-OV-02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et heure limites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B04-PI · Contenu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B04-PI-01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Documents et pièces constitutifs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B04-RP · Réunion préparatoire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Réunion préparatoire prévue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date et heure de la réunion préparatoire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B04-VL · Visite des lieux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B04-VL-01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d'accès des candidats aux lieux d'exécution des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B04-VL-02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Visite des lieux obligatoire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B05 — Prix, montants &amp; garantie de soumission  ·  17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B05-AG · Autres garanties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B05-AG-01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Autres garanties exigées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B05-GA · Garantie de restitution d'avance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de restitution d'avance applicable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B05-GE · Garantie de bonne 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de bonne exécution requise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Part exigée en devises étrangères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Formes admises de la garantie de bonne 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Garantie bancaire ; Caution personnelle et solidaire ; Chèque de banque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Libération de la garantie de bonne 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Libérée à 50 % puis au terme du délai de garantie ; Libérée à 100 % à la réception définitive ; Libérée à 100 % à la réception provisoire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B05-GE-05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la garantie de bonne exécution (%, au plus 5 %)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B05-GQ ·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de soumission exigée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(7/12)</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B05-GQ-02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Formes admises de la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Caution personnelle et solidaire ; Garantie bancaire ; Chèque de banque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B05-GQ-03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 garantie de soumission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B05-GQ-04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Bénéficiaire des chèques de banque, pour toutes les garanties (ex. « Monsieur le Receveur Général d'Antananarivo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B05-MN · Monnaie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B05-MN-01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Monnaie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Ariary ; Devises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B05-PT · Type de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de prix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B05-RG · Retenue de garantie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B05-RG-01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Retenue de garantie applicable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B05-RG-02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la retenue de garantie (%, au plus 5 %)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B05-VR · Variation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B05-VR-01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ferme ou révisable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B05-VR-02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Indices d'actualisation des prix fermes et sources (laisser vide sans actualisation)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B06 — Évaluation, attribution &amp; notification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B06-EO · Évaluation des offres, montant évalué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B06-EO-07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Traitement des offres anormalement hautes ou basses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B06-EV · Évaluation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B06-EV-01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Évaluation des offres portant sur plusieurs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Par lot ; Sur l'ensemble des lots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B06-PN · Marge de préférence nationale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B06-PN-01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Marge de préférence nationale accordée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B06-PN-02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la marge de préférence nationale (%, au plus 10 %)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B06-RC · Relations avec les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B06-RC-01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aux candidats pendant l'évaluation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(8/12)</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B08 — Paiements, avances &amp; garanties financières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B08-AF · Avances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B08-AF-01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Avance forfaitaire applicable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B08-AF-02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l'avance forfaitaire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B08-AF-03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Pourcentage du montant total des travaux à exécuter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B08-AF-04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Pourcentage du montant en monnaie nationale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B08-AF-05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Pourcentage du montant en devises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B08-AP · Acomptes sur approvisionnements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Acomptes sur approvisionnements applicables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d'établissement des décomptes d'approvisionnement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B08-EF · Engagements financiers du maître de l’ouvrage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B08-EF-01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remise de l'estimation des engagements financiers du maître de l'ouvrage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B08-MR · Modalités de règlement des comptes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B08-MR-01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Règlement en une fois pour un marché de moins de trois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B08-MR-05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remise du projet de décompte mensuel (jours ouvrables)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B08-RE · Règlement des comptes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règlement des comptes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 en régie applicables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Conditions des travaux en régie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Plafond des travaux en régie (% du montant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B09 — Exécution du marché &amp; livraison  ·  42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B09-PR · Pénalités de retard</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Régime des pénalités de retard</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B09-AC · Assurances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Assurance des installations et engins de chantier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(9/12)</a:t>
            </a:r>
            <a:endParaRPr lang="en-US" sz="2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Assurance de responsabilité civile en cours de chantier et après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Assurance de responsabilité civile décennale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B09-CH · Conditions de chantier et prix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B09-CH-01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 réalisés dans un établissement existant et en activité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B09-CH-02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d'exécution impératif et ses conséquences sur le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B09-CH-03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Contrainte d'horaire imposée à l'entrepreneur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B09-CH-04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Ouvrage livré clés en main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B09-CH-05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Prestations fournies par le maître de l'ouvrage à l'entrepreneur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B09-DC · Documents contractuels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Documents contractuels et leur ordre de priorité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B09-DL · Délai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B09-DL-01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d'exécution : commencement des travaux et fin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B09-DL-04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réception de l'ouvrage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B09-DL-05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Délais non cumulables en cas d'allotissement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B09-DT · Date d'effet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 de départ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À la notification de l'approbation à l'entrepreneur ; À la notification de la décision d'affermissement de la tranche conditionnelle ; À la notification de la tranche ferme au titulaire ; À la notification de l'ordre de service de commencer les travaux</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B09-FM · Cas de force majeure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B09-FM-01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Cas de force majeure retenus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B09-FM-02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Seuils caractérisant la force majeure (précipitations, vent…)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B09-GT · Délai de garantie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garantie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(10/12)</a:t>
            </a:r>
            <a:endParaRPr lang="en-US" sz="2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B09-MA · Masse des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Limite de l'augmentation dans la masse des travaux : pourcentage de la masse initiale (ex. « vingt pour cent (20 %)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Limite de la diminution dans la masse des travaux sans indemnité : pourcentage de la masse initiale (ex. « vingt pour cent (20 %)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B09-MA-03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Limite de la diminution ouvrant droit à indemnité : pourcentage de la masse initiale (ex. « vingt pour cent (20 %)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B09-MA-04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Limite du changement dans l'importance des diverses natures d'ouvrage : pourcentage de la masse initiale (ex. « vingt pour cent (20 %)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B09-MD · Modification des délais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B09-MD-01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cumulée maximale de prolongation ou de report sans avenant (ex. « soixante (60) jours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B09-MD-02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journées d'intempéries prévisibles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B09-NE · Notifications à l'entrepreneur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B09-NE-01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notification à l'entrepreneur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B09-OD · Obligation de discrétion et mesures de sécurité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B09-OD-01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Obligation de discrétion et mesures de sécurité applicables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B09-OD-02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Mesures de sécurité communiquées à la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B09-OD-03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Mesures de sécurité mentionnées en annexe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B09-PE · Pénalités et retenues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des pénalités journalières (millièmes du montant du marché ou de la tranche)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Plafond des pénalités de retard (% du montant global du marché ou de la tranche)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B09-PM · Matériaux fournis par le maître de l’ouvrage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Matériaux et produits fournis par le maître de l'ouvrage, et conditions de prise en charge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(11/12)</a:t>
            </a:r>
            <a:endParaRPr lang="en-US" sz="2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B09-PT · Préparation des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Période de préparation des travaux prévue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maximum de la période de préparation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B09-PT-03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soumission du programme d'exécution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B09-PT-04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Plan d'hygiène et de sécurité exigé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B09-PV · Contrôle des prix de revient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Contrôle des prix de revient applicable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Éléments du prix de revient soumis à contrôle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B09-RP · Réception provisoire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B09-RP-01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Réception par tranches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avec tranches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B09-RP-03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début des opérations préalables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B09-RP-04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réception des travaux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B09-VQ · Vérification qualitative des matériaux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B09-VQ-01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vérification qualitative des matériaux et produits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B09-VX · Visa des documents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B09-VX-01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visa des documents d'exécution par le maître d'œuvre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B09-BT · Travaux de bâtiment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B09-BT-01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Travaux de bâtiment (CPC, TBM, responsabilité décennale)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B10 — Modifications, résiliation &amp; litiges  ·  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B10-DR · Dérogations aux documents généraux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B10-DR-01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Dérogations aux documents généraux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B10-PC · Procédure contentieuse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B10-PC-01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Procédure contentieuse et juridiction compétente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B12 — Besoin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(12/12)</a:t>
            </a:r>
            <a:endParaRPr lang="en-US" sz="2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la grille du besoin (lots, articles ou séries, quantités)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B13 — Matériel et personnel exigés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les grilles du matériel et du personnel exigés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B14 — Pièces de l'offre</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la liste des pièces de l’offre (administratives, autres)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À COMMANDE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À commande — les mêmes informations qu’à quantité fixe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référentiel travaux et réhabilitation « à commande » est </a:t>
            </a:r>
            <a:pPr indent="0" marL="0">
              <a:buNone/>
            </a:pPr>
            <a:r>
              <a:rPr lang="en-US" sz="1300" b="1" dirty="0">
                <a:solidFill>
                  <a:srgbClr val="1B2A3A"/>
                </a:solidFill>
                <a:latin typeface="Segoe UI" pitchFamily="34" charset="0"/>
                <a:ea typeface="Segoe UI" pitchFamily="34" charset="-122"/>
                <a:cs typeface="Segoe UI" pitchFamily="34" charset="-120"/>
              </a:rPr>
              <a:t>identique</a:t>
            </a:r>
            <a:pPr indent="0" marL="0">
              <a:buNone/>
            </a:pPr>
            <a:r>
              <a:rPr lang="en-US" sz="1300" dirty="0">
                <a:solidFill>
                  <a:srgbClr val="465568"/>
                </a:solidFill>
                <a:latin typeface="Segoe UI" pitchFamily="34" charset="0"/>
                <a:ea typeface="Segoe UI" pitchFamily="34" charset="-122"/>
                <a:cs typeface="Segoe UI" pitchFamily="34" charset="-120"/>
              </a:rPr>
              <a:t> à celui de la quantité fixe (181 informations, mêmes codes). La forme agit ailleurs :</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Dans le besoin</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Quantités </a:t>
            </a:r>
            <a:pPr indent="0" marL="0">
              <a:buNone/>
            </a:pPr>
            <a:r>
              <a:rPr lang="en-US" sz="1200" b="1" dirty="0">
                <a:solidFill>
                  <a:srgbClr val="1B2A3A"/>
                </a:solidFill>
                <a:latin typeface="Segoe UI" pitchFamily="34" charset="0"/>
                <a:ea typeface="Segoe UI" pitchFamily="34" charset="-122"/>
                <a:cs typeface="Segoe UI" pitchFamily="34" charset="-120"/>
              </a:rPr>
              <a:t>minimum et maximum</a:t>
            </a:r>
            <a:pPr indent="0" marL="0">
              <a:buNone/>
            </a:pPr>
            <a:r>
              <a:rPr lang="en-US" sz="1200" dirty="0">
                <a:solidFill>
                  <a:srgbClr val="465568"/>
                </a:solidFill>
                <a:latin typeface="Segoe UI" pitchFamily="34" charset="0"/>
                <a:ea typeface="Segoe UI" pitchFamily="34" charset="-122"/>
                <a:cs typeface="Segoe UI" pitchFamily="34" charset="-120"/>
              </a:rPr>
              <a:t> par article ou par prix ; le classeur et l’offre en ligne du candidat portent les deux.</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Dans les documents</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modèles de documents ont des passages propres à la forme (condition sur le type de marché) : montants minimum et maximum de l’acte d’engagement, bons de commande.</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À l’import du DAO</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L’import d’un DAO existant est ouvert à cette forme : il propose les valeurs, la PRMP décide.</a:t>
            </a:r>
            <a:endParaRPr lang="en-US" sz="1200" dirty="0"/>
          </a:p>
        </p:txBody>
      </p:sp>
      <p:sp>
        <p:nvSpPr>
          <p:cNvPr id="17" name="Text 1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un autre référentiel</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Par rapport à la quantité fixe, </a:t>
            </a:r>
            <a:pPr indent="0" marL="0">
              <a:buNone/>
            </a:pPr>
            <a:r>
              <a:rPr lang="en-US" sz="1300" b="1" dirty="0">
                <a:solidFill>
                  <a:srgbClr val="1B2A3A"/>
                </a:solidFill>
                <a:latin typeface="Segoe UI" pitchFamily="34" charset="0"/>
                <a:ea typeface="Segoe UI" pitchFamily="34" charset="-122"/>
                <a:cs typeface="Segoe UI" pitchFamily="34" charset="-120"/>
              </a:rPr>
              <a:t>91</a:t>
            </a:r>
            <a:pPr indent="0" marL="0">
              <a:buNone/>
            </a:pPr>
            <a:r>
              <a:rPr lang="en-US" sz="1300" dirty="0">
                <a:solidFill>
                  <a:srgbClr val="465568"/>
                </a:solidFill>
                <a:latin typeface="Segoe UI" pitchFamily="34" charset="0"/>
                <a:ea typeface="Segoe UI" pitchFamily="34" charset="-122"/>
                <a:cs typeface="Segoe UI" pitchFamily="34" charset="-120"/>
              </a:rPr>
              <a:t> informations en plus et </a:t>
            </a:r>
            <a:pPr indent="0" marL="0">
              <a:buNone/>
            </a:pPr>
            <a:r>
              <a:rPr lang="en-US" sz="1300" b="1" dirty="0">
                <a:solidFill>
                  <a:srgbClr val="1B2A3A"/>
                </a:solidFill>
                <a:latin typeface="Segoe UI" pitchFamily="34" charset="0"/>
                <a:ea typeface="Segoe UI" pitchFamily="34" charset="-122"/>
                <a:cs typeface="Segoe UI" pitchFamily="34" charset="-120"/>
              </a:rPr>
              <a:t>131</a:t>
            </a:r>
            <a:pPr indent="0" marL="0">
              <a:buNone/>
            </a:pPr>
            <a:r>
              <a:rPr lang="en-US" sz="1300" dirty="0">
                <a:solidFill>
                  <a:srgbClr val="465568"/>
                </a:solidFill>
                <a:latin typeface="Segoe UI" pitchFamily="34" charset="0"/>
                <a:ea typeface="Segoe UI" pitchFamily="34" charset="-122"/>
                <a:cs typeface="Segoe UI" pitchFamily="34" charset="-120"/>
              </a:rPr>
              <a:t> en moins : le contrat-cadre suit son propre document type (DPAC-CC, AE-CC). Son tableau complet suit.</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bloc B07</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Propre au contrat-cadre : marchés subséquents, rythme de passation, remise en concurrence, durée maximale et reconduction, mono ou multi-attributaire.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calendrier de la consultation</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Dates de lancement, de remise, d’évaluation, d’attribution et de notification, offres optimisées, courriers de rejet (rubrique B04-CP).</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Ce qui disparaît</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L’essentiel des clauses du CCAP (le contrat-cadre vaut AE et CCAP), les pièces de l’offre en liste (B14), et la question des pénalités.</a:t>
            </a:r>
            <a:endParaRPr lang="en-US" sz="1200" dirty="0"/>
          </a:p>
        </p:txBody>
      </p:sp>
      <p:sp>
        <p:nvSpPr>
          <p:cNvPr id="17" name="Text 1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(1/9)</a:t>
            </a:r>
            <a:endParaRPr lang="en-US" sz="2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B01 — Identification &amp; données du PPM  ·  19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B01-AC ·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Ministère ou organisme de rattachement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Commission des marchés compétente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publics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Courriel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Exercice budgétaire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dossier de planification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estimatif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 de financement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Service(s) bénéficiaire(s)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Compte(s) budgétaire(s)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Dates prévisionnelles (calendrier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B02 — Objet, allotissement &amp; forme du marché  ·  18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B02-OB · 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B02-LV · Lots et variantes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(2/9)</a:t>
            </a:r>
            <a:endParaRPr lang="en-US" sz="2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des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par lot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B02-OE · Objet et étendue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de l'appel d'offres, de la consultation ou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B02-SG · Personne responsable et délégation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passés sur la base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Délégation de la personne responsable (décision et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Acte de nomination de la PRMP (nature, numéro,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B02-SG-04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habilitée à signer le contrat-cadre (nom, délégation, date de la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B02-PC · Procédure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B02-PC-01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de l'article du code des marchés publics de la procédure choisie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B02-PC-02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Rythme de passation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Au fur et à mesure des besoins ; Selon le calendrier fixé ci-après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B02-PC-03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Calendrier de remise en concurrence des titulaires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B02-DC · Durée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maximale du contrat-cadre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validité du contrat-cadre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 reconductible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B02-DC-04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Conditions de reconduction de la période de validité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B02-AL · Allotissement et attributaires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B02-AL-02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et désignation des 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alloti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B02-DK · Décomposition et durée de la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B02-DK-01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Décomposition de la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(3/9)</a:t>
            </a:r>
            <a:endParaRPr lang="en-US" sz="2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B03 — Candidats : groupement, sous-traitance, qualifications  ·  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B03-CQ · Capacité et qualifications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juridiques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financiers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B03-GM · Membres du groupement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groupement d'entrepreneurs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B04 — Dossier, remise &amp; ouverture des offres  ·  42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B04-VO · Délai de validité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B04-VO-01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validité des offres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B04-DS ·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 du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retrait du dossier de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à payer pour le dossier de consultation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nom du responsable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fonction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bureau, n° de porte, étage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localité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B04-DS-11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consultation du dossier : e-mail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B04-PO · Présentation des candidatures et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B04-PO-01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constitutives de la candidature (capacités technique et professionnelle)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B04-PO-02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Pièces constitutives de l'offre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B04-RQ ·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remise des offres sous support papier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B04-RQ-02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du contrat-cadre à porter sur le pli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B04-RQ-03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exacte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(4/9)</a:t>
            </a:r>
            <a:endParaRPr lang="en-US" sz="2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B04-RC · Renseignements complémentaires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à laquelle adresser les demandes d'informations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aux demandes d'informations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B04-CP · Calendrier prévisionnel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lancement de la mise en concurrence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et heure limites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début de la séance d'évaluation des offres et candidatures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d'attribution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notification du contrat-cadre au(x) titulaire(s)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Envoi des demandes d'offres optimisées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 réception des offres optimisées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B04-CP-08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Envoi des courriers de rejet aux candidats non retenus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B04-SE · Remise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PAPIER ; ELECTRONIQUE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 plateforme de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Adresse web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d'ouverture des dépôts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Heure de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Heure du serveur (UTC+03:00 Indian/Antananarivo)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Niveau de signature électronique exigé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Qualifiée ; Avancée ; Simple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Prestataires de certification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À définir par l'Administrateur (liste officielle des prestataires de certification)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Formats de fichiers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PDF ; PDF/A ; XLSX ; DOCX ; ZIP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fichier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offre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(5/9)</a:t>
            </a:r>
            <a:endParaRPr lang="en-US" sz="2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Remplacement et retrait avant la 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Copie de sauvegarde autorisée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Non ; Support physique sous pli scellé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Seuil d'indisponibilité déclenchant la prorogation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la prorogation (jours ouvrables)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Assistance aux candidats (contact, horaires)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des demandes d'assistance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Fenêtre avant l'échéance où le seuil s'applique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publication de l'avis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B04-CT · Calendrier prévisionnel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B04-CT-05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notification du contrat-cadre au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B05 — Prix, montants &amp; garantie de soumission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B05-UM · Unité monétaire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B05-UM-01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Monnaie en devise (appel d'offres international)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B05-MT · Montant indicatif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indicatif du contrat-cadre hors taxes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indicatif du contrat-cadre toutes taxes comprises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B05-PM · Prix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prix des marchés subséquents (mono-attributaire)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Prix unitaires ; Prix forfaitaires ; Prix mixtes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 prix est un critère d'attribution du contrat-cadre (multi-attributaire)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Plafond d'augmentation des prix à chaque complétude ou remise en concurrence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B05-PM-05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Catalogue joint au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(6/9)</a:t>
            </a:r>
            <a:endParaRPr lang="en-US" sz="2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B05-GQ ·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B05-GQ-03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 garantie de soumission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par lot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 → avis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garantie de 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B06 — Évaluation, attribution &amp; notification  ·  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B06-AN · Attribution et notification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B06-AN-03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Voies et délais de recours (instance chargée des recours)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B06-SC · Examen des candidatures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d'élimination des candidatures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B06-SO · Sélection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B06-SO-05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et mécanisme de jugement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B06-CA · Critères d'attribution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B06-CA-01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d'attribution du contrat-cadre et modalités d'appréciation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B07 — Marchés subséquents  ·  22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B07-PS · Passation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d'envoi des demandes aux titulaires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des titulaires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B07-FS · Forme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B07-FS-01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Marchés uniques non fractionnés ; Marchés fractionnés par bons de commande successifs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B07-FS-02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Interlocuteur du titulaire (service, direction, coordonnées)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B07-MA · Attribution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complétude de l'offre initiale (mono-attributaire)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 de départ du délai de complétude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À compter de la notification de la demande de complétude ; Lors de la demande de complétude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(7/9)</a:t>
            </a:r>
            <a:endParaRPr lang="en-US" sz="2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d'attribution des marchés subséquents en cas d'allotissement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Titulaires des lots correspondant à l'objet du marché ; Titulaires de tous les lots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B07-MA-06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Critères et sous-critères pondérés de la remise en concurrence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B07-TN · Termes non couverts par le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B07-TN-01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Termes non couverts par le contrat-cadre (mono-attributaire)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mono-attributaire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B07-TN-02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Termes non couverts par le contrat-cadre (multi-attributaire)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multi-attributaire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B07-DU · Durée et reconduction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marchés subséquents fixée dans le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marchés subséquents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reconductions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d'années maximum du contrat-cadre, reconductions comprises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B07-DU-07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Préavis de la décision de reconduction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B07-DE · Délais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Délais d'exécution des marchés subséquents uniques ou non fractionnés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Fixés par l'autorité contractante ; À l'initiative des candidats ; Fixés dans les marchés subséquents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d'exécution fixé par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B07-DE-03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d'exécution à l'initiative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B07-PE · Pénalités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Pénalités de retard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Non applicables ; Fixées dans le contrat-cadre ; Fixées dans les marchés subséquents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Régime des pénalités fixées dans le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Conformément à l'article 12 du CCAG ; Dérogation au CCAG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B07-PE-03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Pénalités dérogeant au CCAG : rédaction libre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(8/9)</a:t>
            </a:r>
            <a:endParaRPr lang="en-US" sz="2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B07-OM · Objet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B07-OM-02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Contrat-cadre mono ou multi-attributaire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B08 — Paiements, avances &amp; garanties financières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B08-FI · Financement et sûretés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B08-FI-02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versement de l'avance (délai de paiement en jours calendaires)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B08-FI-05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Avance versée au sous-traitant du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B08-FP · Facturation et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Présentation des demandes de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facturation (service responsable de la vérification des demandes de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des intérêts moratoires (%, au moins un point)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B08-AT · Financement et sûretés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Avance versée aux titulaires des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DPAC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B08-AT-03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l'avance (% du montant TTC du marché subséquent, au plus 20 %)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B08-FT · Facturation et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B08-FT-03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paiement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B09 — Exécution du marché &amp; livraison  ·  11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B09-EA · Exécution administrative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B09-EA-01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générales d'exécution communes aux marchés subséquents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B09-EA-02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 des modalités générales d'exécution communes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B09-VA · Vérification et admission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B09-VA-01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Vérification et admission des prestations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Dispositions du CCAG applicables ; Clause libre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B09-VA-02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Clause libre de vérification et d'admission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TRAVAUX ET RÉHABILITATION · CONTRAT-CADRE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Contrat-cadre — toutes les informations (9/9)</a:t>
            </a:r>
            <a:endParaRPr lang="en-US" sz="2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B09-GP · Garanties particulières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Garanties contractuelles particulières fournies par le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des garanties particulières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garantie des prestations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 de départ du délai de garantie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À partir de l'admission ; À partir de la date de mise en service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B09-GP-05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Garantie exécutée conformément au CCAG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B09-AU · Assurance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B09-AU-01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Assurance exigée du titulaire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B09-AU-03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remise de l'attestation d'assurance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B10 — Modifications, résiliation &amp; litiges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B10-VR · Voies de recours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B10-VR-01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Juridiction compétente pour les litiges nés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B10-MT · Modifications en cours d'exécution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B10-MT-01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Changement de dénomination sociale du titulaire : service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B10-MT-02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Changement de contractant en cours d'exécution : service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B10-RS · Résiliation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B10-RS-02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Préavis de résiliation sans faute (mois avant la date anniversaire)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B10-RS-03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Fautes du titulaire ouvrant la résiliation du contrat-cadre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B12 — Besoin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la grille du besoin (lots, articles ou séries, quantités)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B13 — Matériel et personnel exigés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i="1" dirty="0">
                          <a:solidFill>
                            <a:srgbClr val="465568"/>
                          </a:solidFill>
                          <a:latin typeface="Segoe UI" pitchFamily="34" charset="0"/>
                          <a:ea typeface="Segoe UI" pitchFamily="34" charset="-122"/>
                          <a:cs typeface="Segoe UI" pitchFamily="34" charset="-120"/>
                        </a:rPr>
                        <a:t>Saisi dans les grilles du matériel et du personnel exigés — voir « Les blocs à grille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7E0"/>
                    </a:solidFill>
                  </a:tcPr>
                </a:tc>
                <a:tc hMerge="1">
                  <a:tcPr/>
                </a:tc>
                <a:tc hMerge="1">
                  <a:tcPr/>
                </a:tc>
                <a:tc hMerge="1">
                  <a:tcPr/>
                </a:tc>
                <a:tc hMerge="1">
                  <a:tcPr/>
                </a:tc>
                <a:tc hMerge="1">
                  <a:tcPr/>
                </a:tc>
                <a:tc hMerge="1">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3809905"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05</a:t>
            </a:r>
            <a:endParaRPr lang="en-US" sz="8000" dirty="0"/>
          </a:p>
        </p:txBody>
      </p:sp>
      <p:sp>
        <p:nvSpPr>
          <p:cNvPr id="3" name="Text 1"/>
          <p:cNvSpPr/>
          <p:nvPr/>
        </p:nvSpPr>
        <p:spPr>
          <a:xfrm>
            <a:off x="812780" y="2667000"/>
            <a:ext cx="10477238" cy="698500"/>
          </a:xfrm>
          <a:prstGeom prst="rect">
            <a:avLst/>
          </a:prstGeom>
          <a:noFill/>
          <a:ln/>
        </p:spPr>
        <p:txBody>
          <a:bodyPr wrap="square" rtlCol="0" anchor="ctr">
            <a:normAutofit/>
          </a:bodyPr>
          <a:lstStyle/>
          <a:p>
            <a:pPr indent="0" marL="0">
              <a:buNone/>
            </a:pPr>
            <a:r>
              <a:rPr lang="en-US" sz="4200" b="1" dirty="0">
                <a:solidFill>
                  <a:srgbClr val="FCFCFA"/>
                </a:solidFill>
                <a:latin typeface="Segoe UI" pitchFamily="34" charset="0"/>
                <a:ea typeface="Segoe UI" pitchFamily="34" charset="-122"/>
                <a:cs typeface="Segoe UI" pitchFamily="34" charset="-120"/>
              </a:rPr>
              <a:t>Prestations intellectuelles</a:t>
            </a:r>
            <a:endParaRPr lang="en-US" sz="4200" dirty="0"/>
          </a:p>
        </p:txBody>
      </p:sp>
      <p:sp>
        <p:nvSpPr>
          <p:cNvPr id="4" name="Text 2"/>
          <p:cNvSpPr/>
          <p:nvPr/>
        </p:nvSpPr>
        <p:spPr>
          <a:xfrm>
            <a:off x="812780" y="3556000"/>
            <a:ext cx="8889778" cy="1270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Études, contrôle, assistance : consultation d’une liste restreinte, DPIC, cahier des prescriptions spéciales ; pas de contrat-cadre, pas de besoin chiffré au DAO.</a:t>
            </a:r>
            <a:endParaRPr lang="en-US" sz="1700" dirty="0"/>
          </a:p>
        </p:txBody>
      </p:sp>
      <p:sp>
        <p:nvSpPr>
          <p:cNvPr id="5"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 fiche DAO par nature et par forme · 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Prestations intellectuelles : les blocs selon la forme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Nombre d’informations de chaque bloc pour chaque forme ; « — » : bloc absent de cette forme ; « grille » : bloc saisi dans une grille.</a:t>
            </a:r>
            <a:endParaRPr lang="en-US" sz="13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31520"/>
                <a:gridCol w="5852160"/>
                <a:gridCol w="2423160"/>
                <a:gridCol w="24231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Intitulé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Quantité fixe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À commande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B01</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Identification &amp; données du PPM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allotissement &amp; 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Candidats : groupement, sous-traitance, qualifications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B04</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Dossier, remise &amp; ouverture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montants &amp; garantie de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15</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Évaluation, attribution &amp;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B08</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Paiements, avances &amp; garanties financières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B09</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Exécution du marché &amp; livraison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17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B10</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Modifications, résiliation &amp; litiges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l" indent="0" marL="0">
                        <a:buNone/>
                      </a:pPr>
                      <a:r>
                        <a:rPr lang="en-US" sz="900" b="1" dirty="0">
                          <a:solidFill>
                            <a:srgbClr val="1B2A3A"/>
                          </a:solidFill>
                          <a:latin typeface="Segoe UI" pitchFamily="34" charset="0"/>
                          <a:ea typeface="Segoe UI" pitchFamily="34" charset="-122"/>
                          <a:cs typeface="Segoe UI" pitchFamily="34" charset="-120"/>
                        </a:rPr>
                        <a:t>Total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127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a:txBody>
                    <a:bodyPr/>
                    <a:lstStyle/>
                    <a:p>
                      <a:pPr algn="ctr" indent="0" marL="0">
                        <a:buNone/>
                      </a:pPr>
                      <a:r>
                        <a:rPr lang="en-US" sz="900" b="1" dirty="0">
                          <a:solidFill>
                            <a:srgbClr val="1B2A3A"/>
                          </a:solidFill>
                          <a:latin typeface="Segoe UI" pitchFamily="34" charset="0"/>
                          <a:ea typeface="Segoe UI" pitchFamily="34" charset="-122"/>
                          <a:cs typeface="Segoe UI" pitchFamily="34" charset="-120"/>
                        </a:rPr>
                        <a:t>127</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75</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Prestations intellectuelles : les blocs à grille</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Pas de bloc à grille</a:t>
            </a:r>
            <a:endParaRPr lang="en-US" sz="1500" dirty="0"/>
          </a:p>
        </p:txBody>
      </p:sp>
      <p:sp>
        <p:nvSpPr>
          <p:cNvPr id="7" name="Text 5"/>
          <p:cNvSpPr/>
          <p:nvPr/>
        </p:nvSpPr>
        <p:spPr>
          <a:xfrm>
            <a:off x="952476"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prestations intellectuelles n’ont ni besoin chiffré (B12), ni matériel et personnel (B13), ni liste des pièces (B14) : la proposition technique et financière du consultant suit les formulaires-types.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AMI, liste restreinte, lettres</a:t>
            </a:r>
            <a:endParaRPr lang="en-US" sz="1500" dirty="0"/>
          </a:p>
        </p:txBody>
      </p:sp>
      <p:sp>
        <p:nvSpPr>
          <p:cNvPr id="11" name="Text 9"/>
          <p:cNvSpPr/>
          <p:nvPr/>
        </p:nvSpPr>
        <p:spPr>
          <a:xfrm>
            <a:off x="4525320"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Pas d’avis public. La liste restreinte naît de l’</a:t>
            </a:r>
            <a:pPr indent="0" marL="0">
              <a:buNone/>
            </a:pPr>
            <a:r>
              <a:rPr lang="en-US" sz="1200" b="1" dirty="0">
                <a:solidFill>
                  <a:srgbClr val="1B2A3A"/>
                </a:solidFill>
                <a:latin typeface="Segoe UI" pitchFamily="34" charset="0"/>
                <a:ea typeface="Segoe UI" pitchFamily="34" charset="-122"/>
                <a:cs typeface="Segoe UI" pitchFamily="34" charset="-120"/>
              </a:rPr>
              <a:t>appel à manifestation d’intérêt</a:t>
            </a:r>
            <a:pPr indent="0" marL="0">
              <a:buNone/>
            </a:pPr>
            <a:r>
              <a:rPr lang="en-US" sz="1200" dirty="0">
                <a:solidFill>
                  <a:srgbClr val="465568"/>
                </a:solidFill>
                <a:latin typeface="Segoe UI" pitchFamily="34" charset="0"/>
                <a:ea typeface="Segoe UI" pitchFamily="34" charset="-122"/>
                <a:cs typeface="Segoe UI" pitchFamily="34" charset="-120"/>
              </a:rPr>
              <a:t> mené dans l’application (art. 42-II) : la commission note les expressions d’intérêt et retient six candidats. Une lettre d’invitation est produite pour chaque candidat de la liste.</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Pénalités</a:t>
            </a:r>
            <a:endParaRPr lang="en-US" sz="1500" dirty="0"/>
          </a:p>
        </p:txBody>
      </p:sp>
      <p:sp>
        <p:nvSpPr>
          <p:cNvPr id="15" name="Text 13"/>
          <p:cNvSpPr/>
          <p:nvPr/>
        </p:nvSpPr>
        <p:spPr>
          <a:xfrm>
            <a:off x="8098164" y="17018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plafond du CCAG est de </a:t>
            </a:r>
            <a:pPr indent="0" marL="0">
              <a:buNone/>
            </a:pPr>
            <a:r>
              <a:rPr lang="en-US" sz="1200" b="1" dirty="0">
                <a:solidFill>
                  <a:srgbClr val="1B2A3A"/>
                </a:solidFill>
                <a:latin typeface="Segoe UI" pitchFamily="34" charset="0"/>
                <a:ea typeface="Segoe UI" pitchFamily="34" charset="-122"/>
                <a:cs typeface="Segoe UI" pitchFamily="34" charset="-120"/>
              </a:rPr>
              <a:t>10 %</a:t>
            </a:r>
            <a:pPr indent="0" marL="0">
              <a:buNone/>
            </a:pPr>
            <a:r>
              <a:rPr lang="en-US" sz="1200" dirty="0">
                <a:solidFill>
                  <a:srgbClr val="465568"/>
                </a:solidFill>
                <a:latin typeface="Segoe UI" pitchFamily="34" charset="0"/>
                <a:ea typeface="Segoe UI" pitchFamily="34" charset="-122"/>
                <a:cs typeface="Segoe UI" pitchFamily="34" charset="-120"/>
              </a:rPr>
              <a:t> (15 % ailleurs) : la question de cadrage le dit.</a:t>
            </a:r>
            <a:endParaRPr lang="en-US" sz="1200" dirty="0"/>
          </a:p>
        </p:txBody>
      </p:sp>
      <p:sp>
        <p:nvSpPr>
          <p:cNvPr id="16" name="Text 1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76</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(1/9)</a:t>
            </a:r>
            <a:endParaRPr lang="en-US" sz="26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B01 — Identification &amp; données du PPM  ·  19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B01-AC · Acheteur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l'autorité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Ministère ou organisme de rattachement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Commission des marchés compétente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publics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Courriel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 de la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Exercice budgétaire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du plan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du dossier de planification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Aucun (pilote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estimatif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 de financement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Service(s) bénéficiaire(s)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Compte(s) budgétaire(s)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Dates prévisionnelles (calendrier de passation)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B01-AC-19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B02 — Objet, allotissement &amp; forme du marché  ·  12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B02-OB · 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de l'appel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B02-OB-03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du dossier d'appel d'offres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77</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(2/9)</a:t>
            </a:r>
            <a:endParaRPr lang="en-US" sz="26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B02-LV · Lots et variantes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des lots du plan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B02-LV-03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par lot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Plan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B02-CL · Client et personne responsable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B02-CL-01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Dénomination et adresse du client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B02-CL-02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Personne responsable des marchés passés sur la base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B02-MS · Mode de sélection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B02-MS-01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sélection du consultant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Qualité technique, expérience et proposition financière ; Budget prédéterminé dont le candidat propose la meilleure utilisation ; Meilleure proposition financière parmi les candidats ayant obtenu la note technique minimale ; Qualité technique exclusivement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B02-OP · Objet des prestations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Projet ou opération plus vaste dont le marché fait partie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 principal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B02-OP-03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début des prestations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B02-SP · Signature de l'acte d'engagement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B02-SP-01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accordé au candidat pour renvoyer l'acte d'engagement signé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B03 — Candidats : groupement, sous-traitance, qualifications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B03-CQ · Capacité et qualifications des candidats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Identification et situation juridique : pièces exigées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juridiques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B03-CQ-10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des antécédents financiers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78</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(3/9)</a:t>
            </a:r>
            <a:endParaRPr lang="en-US" sz="26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B03-GP · Groupement de consultants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B03-GP-01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du groupement de consultants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 → DPIC,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groupement admis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B03-NP · Nantissement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B03-NP-01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maximum nanti, en chiffres et en lettres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B03-SP · Sous-traitance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B03-SP-01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Sous-traitance autorisée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B03-SP-02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de l'annexe indiquant la nature et le montant des prestations sous-traitées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B03-SP-03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des prestations sous-traitées, TVA incluse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B03-SP-04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de l'annexe de demande d'acceptation des sous-traitants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B04 — Dossier, remise &amp; ouverture des offres  ·  36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B04-CD · Composition du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B04-CD-01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Modèles de fiches de renseignements joints au dossier (A1, A2…)</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A1 ; A2 ; A3 ; A4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B04-CD-02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Modèle de garantie de soumission joint au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C1 ; C2 ; C1 et C2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B04-SE · Remise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remise des offres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PAPIER ; ELECTRONIQUE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 plateforme de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Adresse web</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d'ouverture des dépôts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Heure de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Heure du serveur (UTC+03:00 Indian/Antananarivo)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Niveau de signature électronique exigé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Qualifiée ; Avancée ; Simple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Prestataires de certification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À définir par l'Administrateur (liste officielle des prestataires de certification)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Formats de fichiers acceptés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Choix multiples : PDF ; PDF/A ; XLSX ; DOCX ; ZIP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fichier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79</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(4/9)</a:t>
            </a:r>
            <a:endParaRPr lang="en-US" sz="26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maximale par offre (Mo)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Remplacement et retrait avant la 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Copie de sauvegarde autorisée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Non ; Support physique sous pli scellé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Seuil d'indisponibilité déclenchant la prorogation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de la prorogation (jours ouvrables)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Assistance aux candidats (contact, horaires)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 des demandes d'assistance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Fenêtre avant l'échéance où le seuil s'applique (heures)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B04-SE-17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 publication de l'avis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remise électronique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B04-AI · Assistance du client pendant la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B04-AI-01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Intrants à fournir par le client pendant la consultation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B04-DP · Délai de validité des propositions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B04-DP-01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validité des propositions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B04-EP · Demande d'éclaircissements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B04-EP-01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 PRMP pour les demandes d'éclaircissement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B04-EP-02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électronique pour les demandes d'éclaircissement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B04-EP-03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d'envoi des demandes par les candidats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B04-EP-04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 réponse de la PRMP aux demandes d'éclaircissement (jours avant la 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B04-FL · Forme des plis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B04-FL-01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de copies de la proposition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B04-FL-02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et numéro à porter sur l'enveloppe de la proposition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B04-FL-03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du client à porter sur l'enveloppe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B04-LH · Lieu, date et heure de la remise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B04-LH-01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 l'autorité contractante pour la remise des propositions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80</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(5/9)</a:t>
            </a:r>
            <a:endParaRPr lang="en-US" sz="26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B04-LH-02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et heure limites de remise des propositions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B04-LP · Langue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Langue de la proposition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Français ; Français et une seconde langue ; Une autre langue que le français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B04-LP-02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Seconde langue admise pour la proposition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B04-NP · Contenu des propositions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B04-NP-01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 des propositions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Une proposition technique et une proposition financière sous enveloppes distinctes ; Uniquement une proposition technique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B04-QT · Proposition technique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B04-QT-03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Points sur lesquels le client attend une attention particulière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B04-RU · Réunion préparatoire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B04-RU-01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Réunion préparatoire prévue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B04-RU-02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et date de la réunion préparatoire (au moins 21 jours avant la remise)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B05 — Prix, montants &amp; garantie de soumission  ·  15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B05-MP · Monnaie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B05-MP-01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Monnaie autre que l'Ariary admise, et conditions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B05-PF · Proposition financière et mode de rémunération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de rémunération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Prix forfaitaire ; Temps passé ; Résultat ; Lié au coût estimatif ou effectif de travaux</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du forfait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prévisionnelle des prestations rémunérées au temps passé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global maximum des prestations au temps passé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supplémentaire pour aléa d'exécution, sur accord écrit du client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81</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(6/9)</a:t>
            </a:r>
            <a:endParaRPr lang="en-US" sz="26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Rémunération au résultat : montant ou mode de calcul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Événement déclenchant la rémunération finale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B05-PF-08</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Nature des montants servant de base à la rémunération et pourcentage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B05-PF-09</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Barème dégressif en fonction du volume des montants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B05-PF-10</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Profession et références du barème applicable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B05-PF-11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Frais remboursables : liste des dépenses admises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B05-PF-12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Frais divers : liste des frais de fonctionnement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B05-PF-13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Budget disponible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B05-RP · Caractère ferme ou révisable des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B05-RP-01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fermes ou révisables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 → AE,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B06 — Évaluation, attribution &amp; notification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B06-CS · Classement des propositions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B06-CS-02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Poids de la proposition technique (T)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B06-CS-03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Poids de la proposition financière (F)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B06-NG · Négociations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B06-NG-01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des négociations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B06-TP · Évaluation des propositions techniques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B06-TP-02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Points : expérience des candidats pertinente pour la 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B06-TP-03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Points : conformité du plan de travail et de la méthode aux termes de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B06-TP-04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Points : qualifications et compétence du personnel clé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B06-TP-05</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Points : adéquation du programme de transfert de connaissances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B06-TP-06</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Points : participation de ressortissants nationaux au personnel clé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B06-TP-07</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Score technique minimum (points)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DPIC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82</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(7/9)</a:t>
            </a:r>
            <a:endParaRPr lang="en-US" sz="26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B08 — Paiements, avances &amp; garanties financières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B08-AI · Avance forfaitaire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B08-AI-01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Avance forfaitaire prévue au cahier des clauses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 → 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B08-AI-03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de l'avance forfaitaire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Si avance prévue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B08-DP · Domiciliation bancaire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B08-DP-01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Titulaire du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Consultant unique ; Groupement de consultants solidaires ; Groupement de consultants conjoints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B08-IP · Intérêts moratoires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B08-IP-01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Intérêts moratoires : points ajoutés au taux directeur de la Banque centrale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B08-RP · Modalités de règlement des comptes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Règlement des prestations d'une durée inférieure à trois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Règlement des prestations rémunérées au temps passé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B08-RP-03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Règlement des prestations par étapes ou remise de documents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B09 — Exécution du marché &amp; livraison  ·  17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B09-PR · Pénalités de retard</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B09-PR-01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Régime des pénalités de retard</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B09-AI · Assistance du client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B09-AI-01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Assistance du client pendant l'exécution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B09-AI-02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Intrants à fournir par le client pendant l'exécution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B09-AP · Assurance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B09-AP-01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de l'assurance exigée du consultant (Ariary)</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B09-DK · Documents contractuels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B09-DK-01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Documents rendus contractuels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B09-DP · Durée et délais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 délai court de l'ordre de service de commencer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83</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(8/9)</a:t>
            </a:r>
            <a:endParaRPr lang="en-US" sz="26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B09-DP-03</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globale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Nombre de mois ; Date de fin de marché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B09-DP-04</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Durée en mois ou date de fin du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AE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B09-FC · Fourniture de matériel par le consultant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B09-FC-01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Documents à fournir par le consultant pour le matériel qu'il fournit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B09-MF · Matériel confié par le client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B09-MF-01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Matériel confié par le client au consultant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B09-MF-02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de la garantie de restitution du matériel confié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Garantie bancaire ; Engagement de caution personnelle et solidaire ; Cautionnement en numéraire par chèque de banque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B09-MS · Mesures de sécurité et protection du secret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B09-MS-01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Mesures de sécurité ou de protection du secret applicables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B09-MV · Modifications et avenants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B09-MV-01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des demandes d'ajustement du prix ou des délais d'achèvement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B09-NC · Notification au consultant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B09-NC-01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détaillée du consultant pour les notifications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B09-OP · Opération de vérification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Modalités de vérification et d'agrément des résultats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B09-OP-02</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des opérations de vérification (jours, à défaut les 30 jours du CCAG)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B09-UR · Utilisation des résultats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B09-UR-01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Dispositions sur l'utilisation des résultats des prestations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B10 — Modifications, résiliation &amp; litiges  ·  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c hMerge="1">
                  <a:tcPr/>
                </a:tc>
                <a:tc hMerge="1">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B10-DP · Dérogations aux documents généraux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B10-DP-01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Dérogations aux documents généraux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84</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QUANTITÉ FIXE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Quantité fixe — toutes les informations (9/9)</a:t>
            </a:r>
            <a:endParaRPr lang="en-US" sz="26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914400"/>
                <a:gridCol w="3794760"/>
                <a:gridCol w="2514600"/>
                <a:gridCol w="685800"/>
                <a:gridCol w="1417320"/>
                <a:gridCol w="548640"/>
                <a:gridCol w="155448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B10-IN · Indemnisation en cas de résiliation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B10-IN-01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Taux d'indemnisation en cas de résiliation du fait du client (%)</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Pourcentage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7">
                  <a:txBody>
                    <a:bodyPr/>
                    <a:lstStyle/>
                    <a:p>
                      <a:pPr indent="0" marL="0">
                        <a:buNone/>
                      </a:pPr>
                      <a:r>
                        <a:rPr lang="en-US" sz="900" b="1" dirty="0">
                          <a:solidFill>
                            <a:srgbClr val="1B2A3A"/>
                          </a:solidFill>
                          <a:latin typeface="Segoe UI" pitchFamily="34" charset="0"/>
                          <a:ea typeface="Segoe UI" pitchFamily="34" charset="-122"/>
                          <a:cs typeface="Segoe UI" pitchFamily="34" charset="-120"/>
                        </a:rPr>
                        <a:t>B10-PP · Procédure contentieuse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6ECF2"/>
                    </a:solidFill>
                  </a:tcPr>
                </a:tc>
                <a:tc hMerge="1">
                  <a:tcPr/>
                </a:tc>
                <a:tc hMerge="1">
                  <a:tcPr/>
                </a:tc>
                <a:tc hMerge="1">
                  <a:tcPr/>
                </a:tc>
                <a:tc hMerge="1">
                  <a:tcPr/>
                </a:tc>
                <a:tc hMerge="1">
                  <a:tcPr/>
                </a:tc>
                <a:tc hMerge="1">
                  <a:tcPr/>
                </a:tc>
              </a:tr>
              <a:tr h="0">
                <a:tc>
                  <a:txBody>
                    <a:bodyPr/>
                    <a:lstStyle/>
                    <a:p>
                      <a:pPr indent="0" marL="0">
                        <a:buNone/>
                      </a:pPr>
                      <a:r>
                        <a:rPr lang="en-US" sz="850" dirty="0">
                          <a:solidFill>
                            <a:srgbClr val="1B2A3A"/>
                          </a:solidFill>
                          <a:latin typeface="Consolas" pitchFamily="34" charset="0"/>
                          <a:ea typeface="Consolas" pitchFamily="34" charset="-122"/>
                          <a:cs typeface="Consolas" pitchFamily="34" charset="-120"/>
                        </a:rPr>
                        <a:t>B10-PP-01</a:t>
                      </a:r>
                      <a:endParaRPr lang="en-US" sz="85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Procédure contentieuse et juridiction compétente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Saisie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1B2A3A"/>
                          </a:solidFill>
                          <a:latin typeface="Segoe UI" pitchFamily="34" charset="0"/>
                          <a:ea typeface="Segoe UI" pitchFamily="34" charset="-122"/>
                          <a:cs typeface="Segoe UI" pitchFamily="34" charset="-120"/>
                        </a:rPr>
                        <a:t>CCAP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85</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À COMMANDE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À commande — les mêmes informations qu’à quantité fixe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référentiel prestations intellectuelles « à commande » est </a:t>
            </a:r>
            <a:pPr indent="0" marL="0">
              <a:buNone/>
            </a:pPr>
            <a:r>
              <a:rPr lang="en-US" sz="1300" b="1" dirty="0">
                <a:solidFill>
                  <a:srgbClr val="1B2A3A"/>
                </a:solidFill>
                <a:latin typeface="Segoe UI" pitchFamily="34" charset="0"/>
                <a:ea typeface="Segoe UI" pitchFamily="34" charset="-122"/>
                <a:cs typeface="Segoe UI" pitchFamily="34" charset="-120"/>
              </a:rPr>
              <a:t>identique</a:t>
            </a:r>
            <a:pPr indent="0" marL="0">
              <a:buNone/>
            </a:pPr>
            <a:r>
              <a:rPr lang="en-US" sz="1300" dirty="0">
                <a:solidFill>
                  <a:srgbClr val="465568"/>
                </a:solidFill>
                <a:latin typeface="Segoe UI" pitchFamily="34" charset="0"/>
                <a:ea typeface="Segoe UI" pitchFamily="34" charset="-122"/>
                <a:cs typeface="Segoe UI" pitchFamily="34" charset="-120"/>
              </a:rPr>
              <a:t> à celui de la quantité fixe (127 informations, mêmes codes). La forme agit ailleurs :</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Dans le besoin</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Sans objet : pas de besoin chiffré au DAO.</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Dans les documents</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modèles de documents ont des passages propres à la forme (condition sur le type de marché) : montants minimum et maximum de l’acte d’engagement, bons de commande.</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À l’import du DAO</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L’import d’un DAO existant est ouvert à cette forme : il propose les valeurs, la PRMP décide.</a:t>
            </a:r>
            <a:endParaRPr lang="en-US" sz="1200" dirty="0"/>
          </a:p>
        </p:txBody>
      </p:sp>
      <p:sp>
        <p:nvSpPr>
          <p:cNvPr id="17" name="Text 1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86</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3809905"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06</a:t>
            </a:r>
            <a:endParaRPr lang="en-US" sz="8000" dirty="0"/>
          </a:p>
        </p:txBody>
      </p:sp>
      <p:sp>
        <p:nvSpPr>
          <p:cNvPr id="3" name="Text 1"/>
          <p:cNvSpPr/>
          <p:nvPr/>
        </p:nvSpPr>
        <p:spPr>
          <a:xfrm>
            <a:off x="812780" y="2667000"/>
            <a:ext cx="10477238" cy="698500"/>
          </a:xfrm>
          <a:prstGeom prst="rect">
            <a:avLst/>
          </a:prstGeom>
          <a:noFill/>
          <a:ln/>
        </p:spPr>
        <p:txBody>
          <a:bodyPr wrap="square" rtlCol="0" anchor="ctr">
            <a:normAutofit/>
          </a:bodyPr>
          <a:lstStyle/>
          <a:p>
            <a:pPr indent="0" marL="0">
              <a:buNone/>
            </a:pPr>
            <a:r>
              <a:rPr lang="en-US" sz="4200" b="1" dirty="0">
                <a:solidFill>
                  <a:srgbClr val="FCFCFA"/>
                </a:solidFill>
                <a:latin typeface="Segoe UI" pitchFamily="34" charset="0"/>
                <a:ea typeface="Segoe UI" pitchFamily="34" charset="-122"/>
                <a:cs typeface="Segoe UI" pitchFamily="34" charset="-120"/>
              </a:rPr>
              <a:t>Les règles de gestion</a:t>
            </a:r>
            <a:endParaRPr lang="en-US" sz="4200" dirty="0"/>
          </a:p>
        </p:txBody>
      </p:sp>
      <p:sp>
        <p:nvSpPr>
          <p:cNvPr id="4" name="Text 2"/>
          <p:cNvSpPr/>
          <p:nvPr/>
        </p:nvSpPr>
        <p:spPr>
          <a:xfrm>
            <a:off x="812780" y="3556000"/>
            <a:ext cx="8889778" cy="1270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Ce que le serveur garantit pour chaque fiche, quelles que soient sa nature et sa forme : qui la prépare, d’où viennent ses deux axes, ce qu’elle demande, quand elle se valide, ce qu’elle produit, comment elle se corrige et ce qui la suit. Source : les règles de gestion du serveur, au 8 octobre 2026.</a:t>
            </a:r>
            <a:endParaRPr lang="en-US" sz="1700" dirty="0"/>
          </a:p>
        </p:txBody>
      </p:sp>
      <p:sp>
        <p:nvSpPr>
          <p:cNvPr id="5"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La fiche DAO par nature et par forme · 87</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Préparer une fiche : qui, et sur quelle ligne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DAO </a:t>
            </a:r>
            <a:pPr indent="0" marL="0">
              <a:buNone/>
            </a:pPr>
            <a:r>
              <a:rPr lang="en-US" sz="1300" b="1" dirty="0">
                <a:solidFill>
                  <a:srgbClr val="1B2A3A"/>
                </a:solidFill>
                <a:latin typeface="Segoe UI" pitchFamily="34" charset="0"/>
                <a:ea typeface="Segoe UI" pitchFamily="34" charset="-122"/>
                <a:cs typeface="Segoe UI" pitchFamily="34" charset="-120"/>
              </a:rPr>
              <a:t>se prépare</a:t>
            </a:r>
            <a:pPr indent="0" marL="0">
              <a:buNone/>
            </a:pPr>
            <a:r>
              <a:rPr lang="en-US" sz="1300" dirty="0">
                <a:solidFill>
                  <a:srgbClr val="465568"/>
                </a:solidFill>
                <a:latin typeface="Segoe UI" pitchFamily="34" charset="0"/>
                <a:ea typeface="Segoe UI" pitchFamily="34" charset="-122"/>
                <a:cs typeface="Segoe UI" pitchFamily="34" charset="-120"/>
              </a:rPr>
              <a:t> dans PRS : il ne s’y importe pas comme un fichier. La fiche est la seule source de vérité.</a:t>
            </a:r>
            <a:endParaRPr lang="en-US" sz="13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RG-01</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Une fiche par DMC, versionnée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 </a:t>
                      </a:r>
                      <a:pPr indent="0" marL="0">
                        <a:buNone/>
                      </a:pPr>
                      <a:r>
                        <a:rPr lang="en-US" sz="1250" b="1" dirty="0">
                          <a:solidFill>
                            <a:srgbClr val="1B2A3A"/>
                          </a:solidFill>
                          <a:latin typeface="Segoe UI" pitchFamily="34" charset="0"/>
                          <a:ea typeface="Segoe UI" pitchFamily="34" charset="-122"/>
                          <a:cs typeface="Segoe UI" pitchFamily="34" charset="-120"/>
                        </a:rPr>
                        <a:t>référentiel du serveur</a:t>
                      </a:r>
                      <a:pPr indent="0" marL="0">
                        <a:buNone/>
                      </a:pPr>
                      <a:r>
                        <a:rPr lang="en-US" sz="1250" dirty="0">
                          <a:solidFill>
                            <a:srgbClr val="1B2A3A"/>
                          </a:solidFill>
                          <a:latin typeface="Segoe UI" pitchFamily="34" charset="0"/>
                          <a:ea typeface="Segoe UI" pitchFamily="34" charset="-122"/>
                          <a:cs typeface="Segoe UI" pitchFamily="34" charset="-120"/>
                        </a:rPr>
                        <a:t> dessine l’écran. Les informations reprises du plan sont </a:t>
                      </a:r>
                      <a:pPr indent="0" marL="0">
                        <a:buNone/>
                      </a:pPr>
                      <a:r>
                        <a:rPr lang="en-US" sz="1250" b="1" dirty="0">
                          <a:solidFill>
                            <a:srgbClr val="1B2A3A"/>
                          </a:solidFill>
                          <a:latin typeface="Segoe UI" pitchFamily="34" charset="0"/>
                          <a:ea typeface="Segoe UI" pitchFamily="34" charset="-122"/>
                          <a:cs typeface="Segoe UI" pitchFamily="34" charset="-120"/>
                        </a:rPr>
                        <a:t>relues à chaque lecture</a:t>
                      </a:r>
                      <a:pPr indent="0" marL="0">
                        <a:buNone/>
                      </a:pPr>
                      <a:r>
                        <a:rPr lang="en-US" sz="1250" dirty="0">
                          <a:solidFill>
                            <a:srgbClr val="1B2A3A"/>
                          </a:solidFill>
                          <a:latin typeface="Segoe UI" pitchFamily="34" charset="0"/>
                          <a:ea typeface="Segoe UI" pitchFamily="34" charset="-122"/>
                          <a:cs typeface="Segoe UI" pitchFamily="34" charset="-120"/>
                        </a:rPr>
                        <a:t> : elles se corrigent dans le plan, jamais dans la fiche.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RG-02</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Qui prépare, qui valide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La </a:t>
                      </a:r>
                      <a:pPr indent="0" marL="0">
                        <a:buNone/>
                      </a:pPr>
                      <a:r>
                        <a:rPr lang="en-US" sz="1250" b="1" dirty="0">
                          <a:solidFill>
                            <a:srgbClr val="1B2A3A"/>
                          </a:solidFill>
                          <a:latin typeface="Segoe UI" pitchFamily="34" charset="0"/>
                          <a:ea typeface="Segoe UI" pitchFamily="34" charset="-122"/>
                          <a:cs typeface="Segoe UI" pitchFamily="34" charset="-120"/>
                        </a:rPr>
                        <a:t>PRMP propriétaire du plan et son UGPM</a:t>
                      </a:r>
                      <a:pPr indent="0" marL="0">
                        <a:buNone/>
                      </a:pPr>
                      <a:r>
                        <a:rPr lang="en-US" sz="1250" dirty="0">
                          <a:solidFill>
                            <a:srgbClr val="1B2A3A"/>
                          </a:solidFill>
                          <a:latin typeface="Segoe UI" pitchFamily="34" charset="0"/>
                          <a:ea typeface="Segoe UI" pitchFamily="34" charset="-122"/>
                          <a:cs typeface="Segoe UI" pitchFamily="34" charset="-120"/>
                        </a:rPr>
                        <a:t> préparent. La </a:t>
                      </a:r>
                      <a:pPr indent="0" marL="0">
                        <a:buNone/>
                      </a:pPr>
                      <a:r>
                        <a:rPr lang="en-US" sz="1250" b="1" dirty="0">
                          <a:solidFill>
                            <a:srgbClr val="1B2A3A"/>
                          </a:solidFill>
                          <a:latin typeface="Segoe UI" pitchFamily="34" charset="0"/>
                          <a:ea typeface="Segoe UI" pitchFamily="34" charset="-122"/>
                          <a:cs typeface="Segoe UI" pitchFamily="34" charset="-120"/>
                        </a:rPr>
                        <a:t>PRMP seule</a:t>
                      </a:r>
                      <a:pPr indent="0" marL="0">
                        <a:buNone/>
                      </a:pPr>
                      <a:r>
                        <a:rPr lang="en-US" sz="1250" dirty="0">
                          <a:solidFill>
                            <a:srgbClr val="1B2A3A"/>
                          </a:solidFill>
                          <a:latin typeface="Segoe UI" pitchFamily="34" charset="0"/>
                          <a:ea typeface="Segoe UI" pitchFamily="34" charset="-122"/>
                          <a:cs typeface="Segoe UI" pitchFamily="34" charset="-120"/>
                        </a:rPr>
                        <a:t> valide la fiche et crée le dossier à soumettre.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RG-03</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Les gardes, dans l’ordre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Ligne inconnue ; hors périmètre (refusé </a:t>
                      </a:r>
                      <a:pPr indent="0" marL="0">
                        <a:buNone/>
                      </a:pPr>
                      <a:r>
                        <a:rPr lang="en-US" sz="1250" b="1" dirty="0">
                          <a:solidFill>
                            <a:srgbClr val="1B2A3A"/>
                          </a:solidFill>
                          <a:latin typeface="Segoe UI" pitchFamily="34" charset="0"/>
                          <a:ea typeface="Segoe UI" pitchFamily="34" charset="-122"/>
                          <a:cs typeface="Segoe UI" pitchFamily="34" charset="-120"/>
                        </a:rPr>
                        <a:t>avant</a:t>
                      </a:r>
                      <a:pPr indent="0" marL="0">
                        <a:buNone/>
                      </a:pPr>
                      <a:r>
                        <a:rPr lang="en-US" sz="1250" dirty="0">
                          <a:solidFill>
                            <a:srgbClr val="1B2A3A"/>
                          </a:solidFill>
                          <a:latin typeface="Segoe UI" pitchFamily="34" charset="0"/>
                          <a:ea typeface="Segoe UI" pitchFamily="34" charset="-122"/>
                          <a:cs typeface="Segoe UI" pitchFamily="34" charset="-120"/>
                        </a:rPr>
                        <a:t> tout autre motif : une PRMP étrangère n’apprend rien) ; vacance de mandat ; puis ligne retirée, version du plan dépassée, mode non rattaché au type DAO, plan sans PV signé favorable (FAV, ou FAVR réserves levées), DAO déjà existant.</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RG-04</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 mode de passation</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Il doit être rattaché au type </a:t>
                      </a:r>
                      <a:pPr indent="0" marL="0">
                        <a:buNone/>
                      </a:pPr>
                      <a:r>
                        <a:rPr lang="en-US" sz="1250" b="1" dirty="0">
                          <a:solidFill>
                            <a:srgbClr val="1B2A3A"/>
                          </a:solidFill>
                          <a:latin typeface="Segoe UI" pitchFamily="34" charset="0"/>
                          <a:ea typeface="Segoe UI" pitchFamily="34" charset="-122"/>
                          <a:cs typeface="Segoe UI" pitchFamily="34" charset="-120"/>
                        </a:rPr>
                        <a:t>DAO</a:t>
                      </a:r>
                      <a:pPr indent="0" marL="0">
                        <a:buNone/>
                      </a:pPr>
                      <a:r>
                        <a:rPr lang="en-US" sz="1250" dirty="0">
                          <a:solidFill>
                            <a:srgbClr val="1B2A3A"/>
                          </a:solidFill>
                          <a:latin typeface="Segoe UI" pitchFamily="34" charset="0"/>
                          <a:ea typeface="Segoe UI" pitchFamily="34" charset="-122"/>
                          <a:cs typeface="Segoe UI" pitchFamily="34" charset="-120"/>
                        </a:rPr>
                        <a:t> (acte de l’Administrateur, « Types de DMC »). ⚠️ 08/10 : le mode « Appel à manifestation d’intérêt » y est rattaché par migration ; les lignes de prestations intellectuelles en AMI créent leur fiche.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RG-05</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 ligne à travers les versions du plan</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La fiche suit sa ligne (filiation) jusqu’à la </a:t>
                      </a:r>
                      <a:pPr indent="0" marL="0">
                        <a:buNone/>
                      </a:pPr>
                      <a:r>
                        <a:rPr lang="en-US" sz="1250" b="1" dirty="0">
                          <a:solidFill>
                            <a:srgbClr val="1B2A3A"/>
                          </a:solidFill>
                          <a:latin typeface="Segoe UI" pitchFamily="34" charset="0"/>
                          <a:ea typeface="Segoe UI" pitchFamily="34" charset="-122"/>
                          <a:cs typeface="Segoe UI" pitchFamily="34" charset="-120"/>
                        </a:rPr>
                        <a:t>dernière version signée</a:t>
                      </a:r>
                      <a:pPr indent="0" marL="0">
                        <a:buNone/>
                      </a:pPr>
                      <a:r>
                        <a:rPr lang="en-US" sz="1250" dirty="0">
                          <a:solidFill>
                            <a:srgbClr val="1B2A3A"/>
                          </a:solidFill>
                          <a:latin typeface="Segoe UI" pitchFamily="34" charset="0"/>
                          <a:ea typeface="Segoe UI" pitchFamily="34" charset="-122"/>
                          <a:cs typeface="Segoe UI" pitchFamily="34" charset="-120"/>
                        </a:rPr>
                        <a:t> du plan ; une mise à jour encore en instruction ne la change pas. Une ligne retirée entre-temps est signalée.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RG-06</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Une fiche ouverte par erreur</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Elle se </a:t>
                      </a:r>
                      <a:pPr indent="0" marL="0">
                        <a:buNone/>
                      </a:pPr>
                      <a:r>
                        <a:rPr lang="en-US" sz="1250" b="1" dirty="0">
                          <a:solidFill>
                            <a:srgbClr val="1B2A3A"/>
                          </a:solidFill>
                          <a:latin typeface="Segoe UI" pitchFamily="34" charset="0"/>
                          <a:ea typeface="Segoe UI" pitchFamily="34" charset="-122"/>
                          <a:cs typeface="Segoe UI" pitchFamily="34" charset="-120"/>
                        </a:rPr>
                        <a:t>supprime</a:t>
                      </a:r>
                      <a:pPr indent="0" marL="0">
                        <a:buNone/>
                      </a:pPr>
                      <a:r>
                        <a:rPr lang="en-US" sz="1250" dirty="0">
                          <a:solidFill>
                            <a:srgbClr val="1B2A3A"/>
                          </a:solidFill>
                          <a:latin typeface="Segoe UI" pitchFamily="34" charset="0"/>
                          <a:ea typeface="Segoe UI" pitchFamily="34" charset="-122"/>
                          <a:cs typeface="Segoe UI" pitchFamily="34" charset="-120"/>
                        </a:rPr>
                        <a:t> tant qu’elle n’a pas d’histoire (jamais validée, sans document, sans dossier) ; la ligne redevient préparable. Une fiche validée ne se supprime pas : elle se </a:t>
                      </a:r>
                      <a:pPr indent="0" marL="0">
                        <a:buNone/>
                      </a:pPr>
                      <a:r>
                        <a:rPr lang="en-US" sz="1250" b="1" dirty="0">
                          <a:solidFill>
                            <a:srgbClr val="1B2A3A"/>
                          </a:solidFill>
                          <a:latin typeface="Segoe UI" pitchFamily="34" charset="0"/>
                          <a:ea typeface="Segoe UI" pitchFamily="34" charset="-122"/>
                          <a:cs typeface="Segoe UI" pitchFamily="34" charset="-120"/>
                        </a:rPr>
                        <a:t>révise</a:t>
                      </a:r>
                      <a:pPr indent="0" marL="0">
                        <a:buNone/>
                      </a:pPr>
                      <a:r>
                        <a:rPr lang="en-US" sz="1250" dirty="0">
                          <a:solidFill>
                            <a:srgbClr val="1B2A3A"/>
                          </a:solidFill>
                          <a:latin typeface="Segoe UI" pitchFamily="34" charset="0"/>
                          <a:ea typeface="Segoe UI" pitchFamily="34" charset="-122"/>
                          <a:cs typeface="Segoe UI" pitchFamily="34" charset="-120"/>
                        </a:rPr>
                        <a:t>.</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88</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deux axes de la fiche viennent du plan</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La </a:t>
            </a:r>
            <a:pPr indent="0" marL="0">
              <a:buNone/>
            </a:pPr>
            <a:r>
              <a:rPr lang="en-US" sz="1300" b="1" dirty="0">
                <a:solidFill>
                  <a:srgbClr val="1B2A3A"/>
                </a:solidFill>
                <a:latin typeface="Segoe UI" pitchFamily="34" charset="0"/>
                <a:ea typeface="Segoe UI" pitchFamily="34" charset="-122"/>
                <a:cs typeface="Segoe UI" pitchFamily="34" charset="-120"/>
              </a:rPr>
              <a:t>nature</a:t>
            </a:r>
            <a:pPr indent="0" marL="0">
              <a:buNone/>
            </a:pPr>
            <a:r>
              <a:rPr lang="en-US" sz="1300" dirty="0">
                <a:solidFill>
                  <a:srgbClr val="465568"/>
                </a:solidFill>
                <a:latin typeface="Segoe UI" pitchFamily="34" charset="0"/>
                <a:ea typeface="Segoe UI" pitchFamily="34" charset="-122"/>
                <a:cs typeface="Segoe UI" pitchFamily="34" charset="-120"/>
              </a:rPr>
              <a:t> et la </a:t>
            </a:r>
            <a:pPr indent="0" marL="0">
              <a:buNone/>
            </a:pPr>
            <a:r>
              <a:rPr lang="en-US" sz="1300" b="1" dirty="0">
                <a:solidFill>
                  <a:srgbClr val="1B2A3A"/>
                </a:solidFill>
                <a:latin typeface="Segoe UI" pitchFamily="34" charset="0"/>
                <a:ea typeface="Segoe UI" pitchFamily="34" charset="-122"/>
                <a:cs typeface="Segoe UI" pitchFamily="34" charset="-120"/>
              </a:rPr>
              <a:t>forme</a:t>
            </a:r>
            <a:pPr indent="0" marL="0">
              <a:buNone/>
            </a:pPr>
            <a:r>
              <a:rPr lang="en-US" sz="1300" dirty="0">
                <a:solidFill>
                  <a:srgbClr val="465568"/>
                </a:solidFill>
                <a:latin typeface="Segoe UI" pitchFamily="34" charset="0"/>
                <a:ea typeface="Segoe UI" pitchFamily="34" charset="-122"/>
                <a:cs typeface="Segoe UI" pitchFamily="34" charset="-120"/>
              </a:rPr>
              <a:t> ne se choisissent pas dans la fiche : elles se lisent sur la ligne du plan de passation.</a:t>
            </a:r>
            <a:endParaRPr lang="en-US" sz="13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RG-07</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 catégorie = la nature de la ligne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Traduite par la correspondance que l’Administrateur tient dans le référentiel des natures ; jamais une réponse de cadrage. Ligne sans nature, ou nature sans catégorie : la création est refusée, avec le motif.</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RG-08</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 forme = la forme de la ligne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Quantité fixe, à commande ou contrat-cadre, relue à chaque lecture sur la ligne courante. Elle figure parmi les informations reprises (« Forme du marché ») ; la question n’est plus posée au cadrage.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RG-09</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Ligne sans forme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La fiche se lit, mais ne se crée ni ne s’écrit : le message nomme le champ « Forme du marché » à compléter dans le plan. Le défaut « quantité fixe » ne décide jamais à la place du plan.</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RG-10</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Fiche saisie sous un autre type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 brouillon est signalé (« type changé ») et se réaligne en reprenant son cadrage ; une version validée ne change ni de version ni de contenu.</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RG-11</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Les règles de la catégorie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Chaque fiche se valide avec les règles de </a:t>
                      </a:r>
                      <a:pPr indent="0" marL="0">
                        <a:buNone/>
                      </a:pPr>
                      <a:r>
                        <a:rPr lang="en-US" sz="1250" b="1" dirty="0">
                          <a:solidFill>
                            <a:srgbClr val="1B2A3A"/>
                          </a:solidFill>
                          <a:latin typeface="Segoe UI" pitchFamily="34" charset="0"/>
                          <a:ea typeface="Segoe UI" pitchFamily="34" charset="-122"/>
                          <a:cs typeface="Segoe UI" pitchFamily="34" charset="-120"/>
                        </a:rPr>
                        <a:t>sa</a:t>
                      </a:r>
                      <a:pPr indent="0" marL="0">
                        <a:buNone/>
                      </a:pPr>
                      <a:r>
                        <a:rPr lang="en-US" sz="1250" dirty="0">
                          <a:solidFill>
                            <a:srgbClr val="1B2A3A"/>
                          </a:solidFill>
                          <a:latin typeface="Segoe UI" pitchFamily="34" charset="0"/>
                          <a:ea typeface="Segoe UI" pitchFamily="34" charset="-122"/>
                          <a:cs typeface="Segoe UI" pitchFamily="34" charset="-120"/>
                        </a:rPr>
                        <a:t> catégorie : quand deux catégories posent la même question (allotissement, forme de prix…), c’est la définition de la catégorie de la fiche qui s’applique.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89</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Cadrer, saisir, contrôler</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cadrage ouvre les informations ; la saisie accepte un brouillon ; le </a:t>
            </a:r>
            <a:pPr indent="0" marL="0">
              <a:buNone/>
            </a:pPr>
            <a:r>
              <a:rPr lang="en-US" sz="1300" b="1" dirty="0">
                <a:solidFill>
                  <a:srgbClr val="1B2A3A"/>
                </a:solidFill>
                <a:latin typeface="Segoe UI" pitchFamily="34" charset="0"/>
                <a:ea typeface="Segoe UI" pitchFamily="34" charset="-122"/>
                <a:cs typeface="Segoe UI" pitchFamily="34" charset="-120"/>
              </a:rPr>
              <a:t>bilan</a:t>
            </a:r>
            <a:pPr indent="0" marL="0">
              <a:buNone/>
            </a:pPr>
            <a:r>
              <a:rPr lang="en-US" sz="1300" dirty="0">
                <a:solidFill>
                  <a:srgbClr val="465568"/>
                </a:solidFill>
                <a:latin typeface="Segoe UI" pitchFamily="34" charset="0"/>
                <a:ea typeface="Segoe UI" pitchFamily="34" charset="-122"/>
                <a:cs typeface="Segoe UI" pitchFamily="34" charset="-120"/>
              </a:rPr>
              <a:t> dit ce qui bloque la validation.</a:t>
            </a:r>
            <a:endParaRPr lang="en-US" sz="13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RG-12</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 cadrage ferme des rubriques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Une information peut porter une </a:t>
                      </a:r>
                      <a:pPr indent="0" marL="0">
                        <a:buNone/>
                      </a:pPr>
                      <a:r>
                        <a:rPr lang="en-US" sz="1250" b="1" dirty="0">
                          <a:solidFill>
                            <a:srgbClr val="1B2A3A"/>
                          </a:solidFill>
                          <a:latin typeface="Segoe UI" pitchFamily="34" charset="0"/>
                          <a:ea typeface="Segoe UI" pitchFamily="34" charset="-122"/>
                          <a:cs typeface="Segoe UI" pitchFamily="34" charset="-120"/>
                        </a:rPr>
                        <a:t>condition</a:t>
                      </a:r>
                      <a:pPr indent="0" marL="0">
                        <a:buNone/>
                      </a:pPr>
                      <a:r>
                        <a:rPr lang="en-US" sz="1250" dirty="0">
                          <a:solidFill>
                            <a:srgbClr val="1B2A3A"/>
                          </a:solidFill>
                          <a:latin typeface="Segoe UI" pitchFamily="34" charset="0"/>
                          <a:ea typeface="Segoe UI" pitchFamily="34" charset="-122"/>
                          <a:cs typeface="Segoe UI" pitchFamily="34" charset="-120"/>
                        </a:rPr>
                        <a:t> sur les réponses du cadrage. Condition fausse, ou question sans réponse : l’information est ignorée à l’enregistrement et absente du bilan.</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RG-13</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Enregistrer n’est pas valider</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 bloc s’enregistre </a:t>
                      </a:r>
                      <a:pPr indent="0" marL="0">
                        <a:buNone/>
                      </a:pPr>
                      <a:r>
                        <a:rPr lang="en-US" sz="1250" b="1" dirty="0">
                          <a:solidFill>
                            <a:srgbClr val="1B2A3A"/>
                          </a:solidFill>
                          <a:latin typeface="Segoe UI" pitchFamily="34" charset="0"/>
                          <a:ea typeface="Segoe UI" pitchFamily="34" charset="-122"/>
                          <a:cs typeface="Segoe UI" pitchFamily="34" charset="-120"/>
                        </a:rPr>
                        <a:t>incomplet</a:t>
                      </a:r>
                      <a:pPr indent="0" marL="0">
                        <a:buNone/>
                      </a:pPr>
                      <a:r>
                        <a:rPr lang="en-US" sz="1250" dirty="0">
                          <a:solidFill>
                            <a:srgbClr val="1B2A3A"/>
                          </a:solidFill>
                          <a:latin typeface="Segoe UI" pitchFamily="34" charset="0"/>
                          <a:ea typeface="Segoe UI" pitchFamily="34" charset="-122"/>
                          <a:cs typeface="Segoe UI" pitchFamily="34" charset="-120"/>
                        </a:rPr>
                        <a:t>. Une valeur illisible (type, option, montant négatif) est refusée champ par champ ; l’obligatoire manquant ne bloque qu’au bilan.</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RG-14</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 bilan des contrôles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Recalculé à chaque lecture : obligatoire renseigné, montant positif, ordre des dates (repli sur celles du plan), garantie valable plus longtemps que les offres, avance au plus 20 %, garantie exigée au-delà de 5 % d’avance, forfait 60/40 ; et des avertissements.</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RG-15</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On ne demande que ce qui sert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La fiche ne demande que ce que le dossier </a:t>
                      </a:r>
                      <a:pPr indent="0" marL="0">
                        <a:buNone/>
                      </a:pPr>
                      <a:r>
                        <a:rPr lang="en-US" sz="1250" b="1" dirty="0">
                          <a:solidFill>
                            <a:srgbClr val="1B2A3A"/>
                          </a:solidFill>
                          <a:latin typeface="Segoe UI" pitchFamily="34" charset="0"/>
                          <a:ea typeface="Segoe UI" pitchFamily="34" charset="-122"/>
                          <a:cs typeface="Segoe UI" pitchFamily="34" charset="-120"/>
                        </a:rPr>
                        <a:t>imprime</a:t>
                      </a:r>
                      <a:pPr indent="0" marL="0">
                        <a:buNone/>
                      </a:pPr>
                      <a:r>
                        <a:rPr lang="en-US" sz="1250" dirty="0">
                          <a:solidFill>
                            <a:srgbClr val="1B2A3A"/>
                          </a:solidFill>
                          <a:latin typeface="Segoe UI" pitchFamily="34" charset="0"/>
                          <a:ea typeface="Segoe UI" pitchFamily="34" charset="-122"/>
                          <a:cs typeface="Segoe UI" pitchFamily="34" charset="-120"/>
                        </a:rPr>
                        <a:t> ou ce qu’un </a:t>
                      </a:r>
                      <a:pPr indent="0" marL="0">
                        <a:buNone/>
                      </a:pPr>
                      <a:r>
                        <a:rPr lang="en-US" sz="1250" b="1" dirty="0">
                          <a:solidFill>
                            <a:srgbClr val="1B2A3A"/>
                          </a:solidFill>
                          <a:latin typeface="Segoe UI" pitchFamily="34" charset="0"/>
                          <a:ea typeface="Segoe UI" pitchFamily="34" charset="-122"/>
                          <a:cs typeface="Segoe UI" pitchFamily="34" charset="-120"/>
                        </a:rPr>
                        <a:t>contrôle lit</a:t>
                      </a:r>
                      <a:pPr indent="0" marL="0">
                        <a:buNone/>
                      </a:pPr>
                      <a:r>
                        <a:rPr lang="en-US" sz="1250" dirty="0">
                          <a:solidFill>
                            <a:srgbClr val="1B2A3A"/>
                          </a:solidFill>
                          <a:latin typeface="Segoe UI" pitchFamily="34" charset="0"/>
                          <a:ea typeface="Segoe UI" pitchFamily="34" charset="-122"/>
                          <a:cs typeface="Segoe UI" pitchFamily="34" charset="-120"/>
                        </a:rPr>
                        <a:t> : 25 informations retirées en fournitures, 17 en travaux (61 en contrat-cadre de travaux), 13 en prestations intellectuelles. Une information lue par un contrôle reste, facultative. Rien de saisi n’est perdu.</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RG-16</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Une version validée n’est jamais convertie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Si le référentiel change, l’ancienne valeur reste lisible dans sa version, n’est pas reprise à la révision suivante, et se ressaisit.</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RG-17</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 garantie de soumission</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Plusieurs formes peuvent être admises (au moins une si elle est exigée) ; le candidat choisit. Le modèle joint (C1, C2) se choisit. Son taux, rapporté au montant de chaque lot, est comparé aux bornes de l’Administrateur (référence 2 %) : un </a:t>
                      </a:r>
                      <a:pPr indent="0" marL="0">
                        <a:buNone/>
                      </a:pPr>
                      <a:r>
                        <a:rPr lang="en-US" sz="1250" b="1" dirty="0">
                          <a:solidFill>
                            <a:srgbClr val="1B2A3A"/>
                          </a:solidFill>
                          <a:latin typeface="Segoe UI" pitchFamily="34" charset="0"/>
                          <a:ea typeface="Segoe UI" pitchFamily="34" charset="-122"/>
                          <a:cs typeface="Segoe UI" pitchFamily="34" charset="-120"/>
                        </a:rPr>
                        <a:t>avertissement</a:t>
                      </a:r>
                      <a:pPr indent="0" marL="0">
                        <a:buNone/>
                      </a:pPr>
                      <a:r>
                        <a:rPr lang="en-US" sz="1250" dirty="0">
                          <a:solidFill>
                            <a:srgbClr val="1B2A3A"/>
                          </a:solidFill>
                          <a:latin typeface="Segoe UI" pitchFamily="34" charset="0"/>
                          <a:ea typeface="Segoe UI" pitchFamily="34" charset="-122"/>
                          <a:cs typeface="Segoe UI" pitchFamily="34" charset="-120"/>
                        </a:rPr>
                        <a:t>, jamais un blocage.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90</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lots, le besoin, les formulaires du candidat</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DAO est commun aux lots ; quelques informations, le besoin et l’acte d’engagement se donnent </a:t>
            </a:r>
            <a:pPr indent="0" marL="0">
              <a:buNone/>
            </a:pPr>
            <a:r>
              <a:rPr lang="en-US" sz="1300" b="1" dirty="0">
                <a:solidFill>
                  <a:srgbClr val="1B2A3A"/>
                </a:solidFill>
                <a:latin typeface="Segoe UI" pitchFamily="34" charset="0"/>
                <a:ea typeface="Segoe UI" pitchFamily="34" charset="-122"/>
                <a:cs typeface="Segoe UI" pitchFamily="34" charset="-120"/>
              </a:rPr>
              <a:t>lot par lot</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RG-18</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Ce qui varie par lot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Le montant de la garantie de soumission, les montants minimum et maximum annuels, le délai maximum de livraison… Le nombre de lots est celui du </a:t>
                      </a:r>
                      <a:pPr indent="0" marL="0">
                        <a:buNone/>
                      </a:pPr>
                      <a:r>
                        <a:rPr lang="en-US" sz="1250" b="1" dirty="0">
                          <a:solidFill>
                            <a:srgbClr val="1B2A3A"/>
                          </a:solidFill>
                          <a:latin typeface="Segoe UI" pitchFamily="34" charset="0"/>
                          <a:ea typeface="Segoe UI" pitchFamily="34" charset="-122"/>
                          <a:cs typeface="Segoe UI" pitchFamily="34" charset="-120"/>
                        </a:rPr>
                        <a:t>plan</a:t>
                      </a:r>
                      <a:pPr indent="0" marL="0">
                        <a:buNone/>
                      </a:pPr>
                      <a:r>
                        <a:rPr lang="en-US" sz="1250" dirty="0">
                          <a:solidFill>
                            <a:srgbClr val="1B2A3A"/>
                          </a:solidFill>
                          <a:latin typeface="Segoe UI" pitchFamily="34" charset="0"/>
                          <a:ea typeface="Segoe UI" pitchFamily="34" charset="-122"/>
                          <a:cs typeface="Segoe UI" pitchFamily="34" charset="-120"/>
                        </a:rPr>
                        <a:t> : la fiche n’en invente pas.</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RG-19</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Obligatoire pour chaque lot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Une information par lot obligatoire l’est pour chaque lot : la fiche ne se valide pas tant qu’un lot en manque, et le bilan dit lequel.</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RG-20</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Un acte d’engagement par lot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Chacun porte les montants de son lot ; les autres documents sont communs et écrivent la valeur lot par lot (« Lot n° 1 : … ; Lot n° 2 : … »).</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RG-21</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 besoin (fournitures et services)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Article par article, lot par lot : désignation, unité, quantités, caractéristiques exigées. La fiche ne se valide pas sans besoin complet (un article au moins par lot, une caractéristique au moins par article, minimum ≤ maximum). Travaux : DQE par séries ; prestations intellectuelles : pas de besoin par article.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RG-22</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Les formulaires du candidat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Produits sur les modèles officiels, seuls les blancs remplis : fiches A1 à A4 une fois pour le dossier ; garanties C1, C2 une fois par lot, au montant du lot. Bordereau des prix et tableau de conformité générés depuis le besoin.</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RG-23</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Valeurs par défaut administrables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Les durées d’antécédents juridiques (5 ans) et financiers (3 ans) sont recopiées dans la fiche à sa création : changer le défaut ne touche pas les fiches déjà ouvertes.</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91</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Valider, produire, réviser</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version validée est un </a:t>
            </a:r>
            <a:pPr indent="0" marL="0">
              <a:buNone/>
            </a:pPr>
            <a:r>
              <a:rPr lang="en-US" sz="1300" b="1" dirty="0">
                <a:solidFill>
                  <a:srgbClr val="1B2A3A"/>
                </a:solidFill>
                <a:latin typeface="Segoe UI" pitchFamily="34" charset="0"/>
                <a:ea typeface="Segoe UI" pitchFamily="34" charset="-122"/>
                <a:cs typeface="Segoe UI" pitchFamily="34" charset="-120"/>
              </a:rPr>
              <a:t>acte</a:t>
            </a:r>
            <a:pPr indent="0" marL="0">
              <a:buNone/>
            </a:pPr>
            <a:r>
              <a:rPr lang="en-US" sz="1300" dirty="0">
                <a:solidFill>
                  <a:srgbClr val="465568"/>
                </a:solidFill>
                <a:latin typeface="Segoe UI" pitchFamily="34" charset="0"/>
                <a:ea typeface="Segoe UI" pitchFamily="34" charset="-122"/>
                <a:cs typeface="Segoe UI" pitchFamily="34" charset="-120"/>
              </a:rPr>
              <a:t> : elle est figée, porte ses documents, et ne se corrige que par une révision.</a:t>
            </a:r>
            <a:endParaRPr lang="en-US" sz="13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RG-24</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Valider fige, réviser ouvre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La PRMP seule valide ; un contrôle bloquant l’empêche. La version validée est figée et reste lisible ; réviser ouvre la version suivante en brouillon, copie de la validée.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RG-25</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Produits à la validation</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Jamais sur un brouillon. La production a lieu </a:t>
                      </a:r>
                      <a:pPr indent="0" marL="0">
                        <a:buNone/>
                      </a:pPr>
                      <a:r>
                        <a:rPr lang="en-US" sz="1250" b="1" dirty="0">
                          <a:solidFill>
                            <a:srgbClr val="1B2A3A"/>
                          </a:solidFill>
                          <a:latin typeface="Segoe UI" pitchFamily="34" charset="0"/>
                          <a:ea typeface="Segoe UI" pitchFamily="34" charset="-122"/>
                          <a:cs typeface="Segoe UI" pitchFamily="34" charset="-120"/>
                        </a:rPr>
                        <a:t>avant</a:t>
                      </a:r>
                      <a:pPr indent="0" marL="0">
                        <a:buNone/>
                      </a:pPr>
                      <a:r>
                        <a:rPr lang="en-US" sz="1250" dirty="0">
                          <a:solidFill>
                            <a:srgbClr val="1B2A3A"/>
                          </a:solidFill>
                          <a:latin typeface="Segoe UI" pitchFamily="34" charset="0"/>
                          <a:ea typeface="Segoe UI" pitchFamily="34" charset="-122"/>
                          <a:cs typeface="Segoe UI" pitchFamily="34" charset="-120"/>
                        </a:rPr>
                        <a:t> de figer : si elle échoue, la validation est annulée.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RG-26</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 document type de l’ARMP, rempli</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Texte fixe repris tel quel, trous remplis par la fiche, rédaction choisie par des </a:t>
                      </a:r>
                      <a:pPr indent="0" marL="0">
                        <a:buNone/>
                      </a:pPr>
                      <a:r>
                        <a:rPr lang="en-US" sz="1250" b="1" dirty="0">
                          <a:solidFill>
                            <a:srgbClr val="1B2A3A"/>
                          </a:solidFill>
                          <a:latin typeface="Segoe UI" pitchFamily="34" charset="0"/>
                          <a:ea typeface="Segoe UI" pitchFamily="34" charset="-122"/>
                          <a:cs typeface="Segoe UI" pitchFamily="34" charset="-120"/>
                        </a:rPr>
                        <a:t>conditions écrites dans le modèle</a:t>
                      </a:r>
                      <a:pPr indent="0" marL="0">
                        <a:buNone/>
                      </a:pPr>
                      <a:r>
                        <a:rPr lang="en-US" sz="1250" dirty="0">
                          <a:solidFill>
                            <a:srgbClr val="1B2A3A"/>
                          </a:solidFill>
                          <a:latin typeface="Segoe UI" pitchFamily="34" charset="0"/>
                          <a:ea typeface="Segoe UI" pitchFamily="34" charset="-122"/>
                          <a:cs typeface="Segoe UI" pitchFamily="34" charset="-120"/>
                        </a:rPr>
                        <a:t> ; ce que remplissent le candidat ou la notification reste entre chevrons. Un modèle illisible empêche le démarrage : un document ne sort jamais faux en silence.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RG-27</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Jamais régénérés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Les documents d’une version validée sont ce que la Commission a examiné et ce que les candidats ont retiré. Une règle nouvelle des modèles ne vaut que pour les versions validées après elle.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RG-28</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On corrige la fiche, pas son produit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Une pièce produite ne se supprime pas à la main — Administrateur compris — et ne se double pas d’une pièce manuelle du même type.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RG-29</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Montants en lettres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Le convertisseur écrit jusqu’aux milliards, pour la fiche comme pour les PV et les lettres.</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92</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DAO complet</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DAO validé se lit comme un DAO réel : </a:t>
            </a:r>
            <a:pPr indent="0" marL="0">
              <a:buNone/>
            </a:pPr>
            <a:r>
              <a:rPr lang="en-US" sz="1300" b="1" dirty="0">
                <a:solidFill>
                  <a:srgbClr val="1B2A3A"/>
                </a:solidFill>
                <a:latin typeface="Segoe UI" pitchFamily="34" charset="0"/>
                <a:ea typeface="Segoe UI" pitchFamily="34" charset="-122"/>
                <a:cs typeface="Segoe UI" pitchFamily="34" charset="-120"/>
              </a:rPr>
              <a:t>un seul document</a:t>
            </a:r>
            <a:pPr indent="0" marL="0">
              <a:buNone/>
            </a:pPr>
            <a:r>
              <a:rPr lang="en-US" sz="1300" dirty="0">
                <a:solidFill>
                  <a:srgbClr val="465568"/>
                </a:solidFill>
                <a:latin typeface="Segoe UI" pitchFamily="34" charset="0"/>
                <a:ea typeface="Segoe UI" pitchFamily="34" charset="-122"/>
                <a:cs typeface="Segoe UI" pitchFamily="34" charset="-120"/>
              </a:rPr>
              <a:t>, en Word et en PDF, qui remplace les documents séparés partout où le DAO est servi.</a:t>
            </a:r>
            <a:endParaRPr lang="en-US" sz="13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RG-30</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 plan du document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Page de garde, sommaire, deux parties : 1.1 instructions aux candidats, 1.2 données particulières (DPAO, DPAC ou DPIC), 1.3 formulaires ; 2.1 acte d’engagement lot par lot, 2.2 cahier des prescriptions spéciales, spécifications techniques et liste des fournitures, 2.3 CCAG.</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RG-31</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Il assemble, il ne réécrit rien</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Chaque partie est le document que la fiche produit déjà ; seul l’assemblage peut être refait.</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RG-32</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Où il est servi</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Dans les documents de la fiche ; au dossier soumis à la Commission, dont il est la </a:t>
                      </a:r>
                      <a:pPr indent="0" marL="0">
                        <a:buNone/>
                      </a:pPr>
                      <a:r>
                        <a:rPr lang="en-US" sz="1250" b="1" dirty="0">
                          <a:solidFill>
                            <a:srgbClr val="1B2A3A"/>
                          </a:solidFill>
                          <a:latin typeface="Segoe UI" pitchFamily="34" charset="0"/>
                          <a:ea typeface="Segoe UI" pitchFamily="34" charset="-122"/>
                          <a:cs typeface="Segoe UI" pitchFamily="34" charset="-120"/>
                        </a:rPr>
                        <a:t>pièce unique</a:t>
                      </a:r>
                      <a:pPr indent="0" marL="0">
                        <a:buNone/>
                      </a:pPr>
                      <a:r>
                        <a:rPr lang="en-US" sz="1250" dirty="0">
                          <a:solidFill>
                            <a:srgbClr val="1B2A3A"/>
                          </a:solidFill>
                          <a:latin typeface="Segoe UI" pitchFamily="34" charset="0"/>
                          <a:ea typeface="Segoe UI" pitchFamily="34" charset="-122"/>
                          <a:cs typeface="Segoe UI" pitchFamily="34" charset="-120"/>
                        </a:rPr>
                        <a:t> du DAO ; au retrait par les candidats, sous la garde des frais de dossier.</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RG-33</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Ce qui reste à part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Les classeurs (bordereau des prix, DQE, tableau de conformité), l’avis spécifique, les lettres d’invitation. Prestations intellectuelles : titre « Dossier de consultation ».</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RG-34</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Les spécifications techniques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 Word joint par la PRMP ou son UGPM (20 Mo au plus, sans macros), figé à la validation et recopié à la révision. Tant qu’il manque : un avertissement, non bloquant.</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RG-35</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Une pièce ne s’imprime qu’une fois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Quand la liste des pièces de l’offre est saisie, le texte libre de la même rubrique n’est plus imprimé.</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93</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la validation : le dossier, la rectification, la publicité</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La fiche </a:t>
            </a:r>
            <a:pPr indent="0" marL="0">
              <a:buNone/>
            </a:pPr>
            <a:r>
              <a:rPr lang="en-US" sz="1300" b="1" dirty="0">
                <a:solidFill>
                  <a:srgbClr val="1B2A3A"/>
                </a:solidFill>
                <a:latin typeface="Segoe UI" pitchFamily="34" charset="0"/>
                <a:ea typeface="Segoe UI" pitchFamily="34" charset="-122"/>
                <a:cs typeface="Segoe UI" pitchFamily="34" charset="-120"/>
              </a:rPr>
              <a:t>produit</a:t>
            </a:r>
            <a:pPr indent="0" marL="0">
              <a:buNone/>
            </a:pPr>
            <a:r>
              <a:rPr lang="en-US" sz="1300" dirty="0">
                <a:solidFill>
                  <a:srgbClr val="465568"/>
                </a:solidFill>
                <a:latin typeface="Segoe UI" pitchFamily="34" charset="0"/>
                <a:ea typeface="Segoe UI" pitchFamily="34" charset="-122"/>
                <a:cs typeface="Segoe UI" pitchFamily="34" charset="-120"/>
              </a:rPr>
              <a:t> le dossier soumis à la Commission, se </a:t>
            </a:r>
            <a:pPr indent="0" marL="0">
              <a:buNone/>
            </a:pPr>
            <a:r>
              <a:rPr lang="en-US" sz="1300" b="1" dirty="0">
                <a:solidFill>
                  <a:srgbClr val="1B2A3A"/>
                </a:solidFill>
                <a:latin typeface="Segoe UI" pitchFamily="34" charset="0"/>
                <a:ea typeface="Segoe UI" pitchFamily="34" charset="-122"/>
                <a:cs typeface="Segoe UI" pitchFamily="34" charset="-120"/>
              </a:rPr>
              <a:t>révise</a:t>
            </a:r>
            <a:pPr indent="0" marL="0">
              <a:buNone/>
            </a:pPr>
            <a:r>
              <a:rPr lang="en-US" sz="1300" dirty="0">
                <a:solidFill>
                  <a:srgbClr val="465568"/>
                </a:solidFill>
                <a:latin typeface="Segoe UI" pitchFamily="34" charset="0"/>
                <a:ea typeface="Segoe UI" pitchFamily="34" charset="-122"/>
                <a:cs typeface="Segoe UI" pitchFamily="34" charset="-120"/>
              </a:rPr>
              <a:t> pour le rectifier, et commande la publicité de la consultation.</a:t>
            </a:r>
            <a:endParaRPr lang="en-US" sz="13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RG-36</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 fiche produit le dossier</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Par la PRMP, depuis une dernière version validée ; un dossier par fiche. Entité, localité et PRMP viennent du plan : rien n’est redemandé. Le dossier naît en brouillon ; la Commission lit la fiche avec lui, l’examen porte sur les pièces.</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RG-37</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 rectification est une révision</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Jamais un nouveau dossier : la fiche ne se révise pas tant que la Commission tient le dossier ; resoumettre sans avoir revalidé est refusé ; les documents de la révision remplacent les pièces produites, l’ancienne version gardée.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RG-38</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L’avis spécifique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Fournitures et travaux : après un PV signé favorable, ou favorable avec réserves une fois les réserves levées ; sur la dernière version validée ; chaque impression conservée ; ce n’est pas une pièce du DAO.</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RG-39</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Prestations intellectuelles : l’AMI</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Pas d’avis public. L’appel à manifestation d’intérêt se prépare (critères pondérés sur 100), se publie, reçoit les expressions en ligne, lues </a:t>
                      </a:r>
                      <a:pPr indent="0" marL="0">
                        <a:buNone/>
                      </a:pPr>
                      <a:r>
                        <a:rPr lang="en-US" sz="1250" b="1" dirty="0">
                          <a:solidFill>
                            <a:srgbClr val="1B2A3A"/>
                          </a:solidFill>
                          <a:latin typeface="Segoe UI" pitchFamily="34" charset="0"/>
                          <a:ea typeface="Segoe UI" pitchFamily="34" charset="-122"/>
                          <a:cs typeface="Segoe UI" pitchFamily="34" charset="-120"/>
                        </a:rPr>
                        <a:t>après la date limite</a:t>
                      </a:r>
                      <a:pPr indent="0" marL="0">
                        <a:buNone/>
                      </a:pPr>
                      <a:r>
                        <a:rPr lang="en-US" sz="1250" dirty="0">
                          <a:solidFill>
                            <a:srgbClr val="1B2A3A"/>
                          </a:solidFill>
                          <a:latin typeface="Segoe UI" pitchFamily="34" charset="0"/>
                          <a:ea typeface="Segoe UI" pitchFamily="34" charset="-122"/>
                          <a:cs typeface="Segoe UI" pitchFamily="34" charset="-120"/>
                        </a:rPr>
                        <a:t> seulement ; la commission note et arrête une liste restreinte de six, publiée et notifiée.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RG-40</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Les lettres et la demande de propositions</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Les lettres d’invitation vont aux candidats de la liste définitive. Le dossier de la demande de propositions ne se crée qu’avec la liste définitive ; le rapport de présélection signé y est joint d’office.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94</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L’import du DAO</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Une PRMP qui a déjà rédigé son DAO sur le document type peut en pré-remplir la fiche : </a:t>
            </a:r>
            <a:pPr indent="0" marL="0">
              <a:buNone/>
            </a:pPr>
            <a:r>
              <a:rPr lang="en-US" sz="1300" b="1" dirty="0">
                <a:solidFill>
                  <a:srgbClr val="1B2A3A"/>
                </a:solidFill>
                <a:latin typeface="Segoe UI" pitchFamily="34" charset="0"/>
                <a:ea typeface="Segoe UI" pitchFamily="34" charset="-122"/>
                <a:cs typeface="Segoe UI" pitchFamily="34" charset="-120"/>
              </a:rPr>
              <a:t>l’import propose, la PRMP décide</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777240"/>
                <a:gridCol w="2331720"/>
                <a:gridCol w="8321040"/>
              </a:tblGrid>
              <a:tr h="0">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N°</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Règle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200" b="1" dirty="0">
                          <a:solidFill>
                            <a:srgbClr val="FCFCFA"/>
                          </a:solidFill>
                          <a:latin typeface="Segoe UI" pitchFamily="34" charset="0"/>
                          <a:ea typeface="Segoe UI" pitchFamily="34" charset="-122"/>
                          <a:cs typeface="Segoe UI" pitchFamily="34" charset="-120"/>
                        </a:rPr>
                        <a:t>Ce qui s’applique</a:t>
                      </a:r>
                      <a:endParaRPr lang="en-US" sz="12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RG-41</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La fiche reste la source de vérité</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Le document est lu « à l’envers » avec les modèles ; rien n’est écrit sans la PRMP.</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RG-42</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Chaque proposition dit sa confiance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Haute, moyenne ou basse, avec le passage lu et la valeur déjà saisie. L’écran ne coche jamais d’office une case qui écraserait une saisie.</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RG-43</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Le plan fait foi</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Une information reprise du plan n’est jamais importée : un écart est signalé comme divergence. Les valeurs calculées et les pièces ne s’importent pas.</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RG-44</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Rien ne contourne la saisie</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Une valeur que la saisie refuserait est une anomalie ; une information fermée par le cadrage aussi. Deux lectures possibles d’un passage sont montrées, jamais tranchées.</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6FA8"/>
                          </a:solidFill>
                          <a:latin typeface="Consolas" pitchFamily="34" charset="0"/>
                          <a:ea typeface="Consolas" pitchFamily="34" charset="-122"/>
                          <a:cs typeface="Consolas" pitchFamily="34" charset="-120"/>
                        </a:rPr>
                        <a:t>RG-45</a:t>
                      </a:r>
                      <a:endParaRPr lang="en-US" sz="1100" dirty="0">
                        <a:latin typeface="Consolas" charset="0"/>
                        <a:ea typeface="Consolas" charset="0"/>
                        <a:cs typeface="Consolas"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b="1" dirty="0">
                          <a:solidFill>
                            <a:srgbClr val="1B2A3A"/>
                          </a:solidFill>
                          <a:latin typeface="Segoe UI" pitchFamily="34" charset="0"/>
                          <a:ea typeface="Segoe UI" pitchFamily="34" charset="-122"/>
                          <a:cs typeface="Segoe UI" pitchFamily="34" charset="-120"/>
                        </a:rPr>
                        <a:t>Une écriture d’un seul tenant</a:t>
                      </a:r>
                      <a:endParaRPr lang="en-US" sz="125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50" dirty="0">
                          <a:solidFill>
                            <a:srgbClr val="1B2A3A"/>
                          </a:solidFill>
                          <a:latin typeface="Segoe UI" pitchFamily="34" charset="0"/>
                          <a:ea typeface="Segoe UI" pitchFamily="34" charset="-122"/>
                          <a:cs typeface="Segoe UI" pitchFamily="34" charset="-120"/>
                        </a:rPr>
                        <a:t>Elle ajoute sans effacer ; un seul refus et rien n’est écrit. Sur un brouillon, par la PRMP ou son UGPM. Le fichier n’est pas conservé (nom et empreinte au journal). PDF texte accepté, PDF scanné refusé.</a:t>
                      </a:r>
                      <a:endParaRPr lang="en-US" sz="1250" dirty="0"/>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95</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RÈGLES DE GESTION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qui est propre à chaque nature et à chaque forme</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Ce que les règles communes ne disent pas : les choix que commandent la catégorie et la forme du marché.</a:t>
            </a:r>
            <a:endParaRPr lang="en-US" sz="13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377440"/>
                <a:gridCol w="90525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Nature ou 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Règles propres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200" b="1" dirty="0">
                          <a:solidFill>
                            <a:srgbClr val="1B2A3A"/>
                          </a:solidFill>
                          <a:latin typeface="Segoe UI" pitchFamily="34" charset="0"/>
                          <a:ea typeface="Segoe UI" pitchFamily="34" charset="-122"/>
                          <a:cs typeface="Segoe UI" pitchFamily="34" charset="-120"/>
                        </a:rPr>
                        <a:t>Fournitures et services</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Le besoin article par article produit la liste des fournitures, le bordereau des prix et le tableau de conformité. À commande : le délai de chaque commande est dans le bon de commande, seul son plafond se fixe au DAO ; le montant maximum annuel est facultatif. Le CCAP laisse au fournisseur son propre bloc d’adresse.</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b="1" dirty="0">
                          <a:solidFill>
                            <a:srgbClr val="1B2A3A"/>
                          </a:solidFill>
                          <a:latin typeface="Segoe UI" pitchFamily="34" charset="0"/>
                          <a:ea typeface="Segoe UI" pitchFamily="34" charset="-122"/>
                          <a:cs typeface="Segoe UI" pitchFamily="34" charset="-120"/>
                        </a:rPr>
                        <a:t>Travaux et réhabilitation</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Le type de prix (unitaires, forfaitaire, mixte) choisit les rédactions ; une tranche ferme et jusqu’à deux tranches conditionnelles. Les annexes du CCAP suivent la fiche (formule de révision, garantie de bonne exécution, restitution d’avance). Bâtiment : CPC, TBM et assurance décennale. Pénalités plafonnées à 15 % par le CCAG.</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200" b="1" dirty="0">
                          <a:solidFill>
                            <a:srgbClr val="1B2A3A"/>
                          </a:solidFill>
                          <a:latin typeface="Segoe UI" pitchFamily="34" charset="0"/>
                          <a:ea typeface="Segoe UI" pitchFamily="34" charset="-122"/>
                          <a:cs typeface="Segoe UI" pitchFamily="34" charset="-120"/>
                        </a:rPr>
                        <a:t>Prestations intellectuelles</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Données particulières : le DPIC. Le mode de sélection choisit les rédactions : qualité-coût (poids technique et financier de somme 1), budget prédéterminé, moindre coût (note technique minimale), qualité seule ; de même le mode de rémunération (forfait, temps passé, résultat, pourcentage). Pénalités plafonnées à 10 % ; intérêts moratoires en points au-dessus du taux directeur (au moins un). Termes de référence téléversés.</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200" b="1" dirty="0">
                          <a:solidFill>
                            <a:srgbClr val="1B2A3A"/>
                          </a:solidFill>
                          <a:latin typeface="Segoe UI" pitchFamily="34" charset="0"/>
                          <a:ea typeface="Segoe UI" pitchFamily="34" charset="-122"/>
                          <a:cs typeface="Segoe UI" pitchFamily="34" charset="-120"/>
                        </a:rPr>
                        <a:t>Contrat-cadre</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DPAC et contrat-cadre valant AE et CCAP, jamais de DPAO ni de CCAP. Mono ou multi-attributaire au cadrage. La fiche ne demande que ce que la PRMP sait (titulaire, groupement et banque relèvent de l’offre) ; les pénalités sont fixées dans le contrat-cadre. L’acte de nomination de la PRMP se reprend de son mandat. Celui des travaux suit le même document type (« CCAG Travaux »). Le plafond de durée attend le juriste.</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200" b="1" dirty="0">
                          <a:solidFill>
                            <a:srgbClr val="1B2A3A"/>
                          </a:solidFill>
                          <a:latin typeface="Segoe UI" pitchFamily="34" charset="0"/>
                          <a:ea typeface="Segoe UI" pitchFamily="34" charset="-122"/>
                          <a:cs typeface="Segoe UI" pitchFamily="34" charset="-120"/>
                        </a:rPr>
                        <a:t>À commande</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200" dirty="0">
                          <a:solidFill>
                            <a:srgbClr val="1B2A3A"/>
                          </a:solidFill>
                          <a:latin typeface="Segoe UI" pitchFamily="34" charset="0"/>
                          <a:ea typeface="Segoe UI" pitchFamily="34" charset="-122"/>
                          <a:cs typeface="Segoe UI" pitchFamily="34" charset="-120"/>
                        </a:rPr>
                        <a:t>Quantités en fourchettes (minimum et maximum par article ou par prix), montants minimum et maximum par lot dans l’acte d’engagement ; la durée de validité du marché est reprise dans l’acte d’engagement.</a:t>
                      </a:r>
                      <a:endParaRPr lang="en-US" sz="1200" dirty="0">
                        <a:latin typeface="Segoe UI" charset="0"/>
                        <a:ea typeface="Segoe UI" charset="0"/>
                        <a:cs typeface="Segoe UI" charset="0"/>
                      </a:endParaRPr>
                    </a:p>
                  </a:txBody>
                  <a:tcPr marL="76200" marR="76200" marT="63500" marB="635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032500"/>
            <a:ext cx="10540736" cy="381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Source : </a:t>
            </a:r>
            <a:pPr indent="0" marL="0">
              <a:buNone/>
            </a:pPr>
            <a:r>
              <a:rPr lang="en-US" sz="1100" b="1" dirty="0">
                <a:solidFill>
                  <a:srgbClr val="1B2A3A"/>
                </a:solidFill>
                <a:latin typeface="Segoe UI" pitchFamily="34" charset="0"/>
                <a:ea typeface="Segoe UI" pitchFamily="34" charset="-122"/>
                <a:cs typeface="Segoe UI" pitchFamily="34" charset="-120"/>
              </a:rPr>
              <a:t>docs/regles-gestion.md</a:t>
            </a:r>
            <a:pPr indent="0" marL="0">
              <a:buNone/>
            </a:pPr>
            <a:r>
              <a:rPr lang="en-US" sz="1100" dirty="0">
                <a:solidFill>
                  <a:srgbClr val="465568"/>
                </a:solidFill>
                <a:latin typeface="Segoe UI" pitchFamily="34" charset="0"/>
                <a:ea typeface="Segoe UI" pitchFamily="34" charset="-122"/>
                <a:cs typeface="Segoe UI" pitchFamily="34" charset="-120"/>
              </a:rPr>
              <a:t> du serveur, section « Fiche marché d’un appel d’offres (DAO) » et AMI en ligne, au 8 octobre 2026.</a:t>
            </a:r>
            <a:endParaRPr lang="en-US" sz="1100" dirty="0"/>
          </a:p>
        </p:txBody>
      </p:sp>
      <p:sp>
        <p:nvSpPr>
          <p:cNvPr id="7"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96</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types d’information</a:t>
            </a:r>
            <a:endParaRPr lang="en-US" sz="2600" dirty="0"/>
          </a:p>
        </p:txBody>
      </p:sp>
      <p:sp>
        <p:nvSpPr>
          <p:cNvPr id="4" name="Text 2"/>
          <p:cNvSpPr/>
          <p:nvPr/>
        </p:nvSpPr>
        <p:spPr>
          <a:xfrm>
            <a:off x="812780" y="1066800"/>
            <a:ext cx="10413740" cy="5080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type commande la saisie (et son contrôle) ; « par lot » : l’information se saisit une fois pour chaque lot.</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Texte, texte long</a:t>
            </a:r>
            <a:endParaRPr lang="en-US" sz="1500" dirty="0"/>
          </a:p>
        </p:txBody>
      </p:sp>
      <p:sp>
        <p:nvSpPr>
          <p:cNvPr id="8" name="Text 6"/>
          <p:cNvSpPr/>
          <p:nvPr/>
        </p:nvSpPr>
        <p:spPr>
          <a:xfrm>
            <a:off x="952476"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ligne, ou un paragraphe imprimé tel quel ; certains portent un texte type à adapter.</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Nombre, montant, pourcentage</a:t>
            </a:r>
            <a:endParaRPr lang="en-US" sz="1500" dirty="0"/>
          </a:p>
        </p:txBody>
      </p:sp>
      <p:sp>
        <p:nvSpPr>
          <p:cNvPr id="12" name="Text 10"/>
          <p:cNvSpPr/>
          <p:nvPr/>
        </p:nvSpPr>
        <p:spPr>
          <a:xfrm>
            <a:off x="4525320"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Contrôlés à la saisie ; un montant s’imprime aussi en lettres quand le document l’exige.</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Date, date et heure</a:t>
            </a:r>
            <a:endParaRPr lang="en-US" sz="1500" dirty="0"/>
          </a:p>
        </p:txBody>
      </p:sp>
      <p:sp>
        <p:nvSpPr>
          <p:cNvPr id="16" name="Text 14"/>
          <p:cNvSpPr/>
          <p:nvPr/>
        </p:nvSpPr>
        <p:spPr>
          <a:xfrm>
            <a:off x="8098164" y="21463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L’heure limite de remise devient obligatoire en remise électronique.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Liste, choix multiples</a:t>
            </a:r>
            <a:endParaRPr lang="en-US" sz="1500" dirty="0"/>
          </a:p>
        </p:txBody>
      </p:sp>
      <p:sp>
        <p:nvSpPr>
          <p:cNvPr id="20" name="Text 18"/>
          <p:cNvSpPr/>
          <p:nvPr/>
        </p:nvSpPr>
        <p:spPr>
          <a:xfrm>
            <a:off x="952476"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valeurs proposées sont données dans la colonne « Type et valeurs » ; choix multiples : la garantie de soumission, par exemple, peut admettre plusieurs formes.</a:t>
            </a:r>
            <a:endParaRPr lang="en-US" sz="1200" dirty="0"/>
          </a:p>
        </p:txBody>
      </p:sp>
      <p:sp>
        <p:nvSpPr>
          <p:cNvPr id="21" name="Shape 19"/>
          <p:cNvSpPr/>
          <p:nvPr/>
        </p:nvSpPr>
        <p:spPr>
          <a:xfrm>
            <a:off x="4385624" y="3962400"/>
            <a:ext cx="3420448" cy="2159000"/>
          </a:xfrm>
          <a:prstGeom prst="rect">
            <a:avLst/>
          </a:prstGeom>
          <a:solidFill>
            <a:srgbClr val="FCFCFA"/>
          </a:solidFill>
          <a:ln w="9525">
            <a:solidFill>
              <a:srgbClr val="D5DCE4"/>
            </a:solidFill>
            <a:prstDash val="solid"/>
          </a:ln>
        </p:spPr>
      </p:sp>
      <p:sp>
        <p:nvSpPr>
          <p:cNvPr id="22" name="Shape 20"/>
          <p:cNvSpPr/>
          <p:nvPr/>
        </p:nvSpPr>
        <p:spPr>
          <a:xfrm>
            <a:off x="4385624" y="3962400"/>
            <a:ext cx="3420448" cy="38100"/>
          </a:xfrm>
          <a:prstGeom prst="rect">
            <a:avLst/>
          </a:prstGeom>
          <a:solidFill>
            <a:srgbClr val="1B6FA8"/>
          </a:solidFill>
          <a:ln/>
        </p:spPr>
      </p:sp>
      <p:sp>
        <p:nvSpPr>
          <p:cNvPr id="23" name="Text 21"/>
          <p:cNvSpPr/>
          <p:nvPr/>
        </p:nvSpPr>
        <p:spPr>
          <a:xfrm>
            <a:off x="4525320"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Oui / non</a:t>
            </a:r>
            <a:endParaRPr lang="en-US" sz="1500" dirty="0"/>
          </a:p>
        </p:txBody>
      </p:sp>
      <p:sp>
        <p:nvSpPr>
          <p:cNvPr id="24" name="Text 22"/>
          <p:cNvSpPr/>
          <p:nvPr/>
        </p:nvSpPr>
        <p:spPr>
          <a:xfrm>
            <a:off x="4525320" y="4457700"/>
            <a:ext cx="3141055" cy="16002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Imprimé selon la tournure du document type.</a:t>
            </a:r>
            <a:endParaRPr lang="en-US" sz="1200" dirty="0"/>
          </a:p>
        </p:txBody>
      </p:sp>
      <p:sp>
        <p:nvSpPr>
          <p:cNvPr id="25" name="Shape 23"/>
          <p:cNvSpPr/>
          <p:nvPr/>
        </p:nvSpPr>
        <p:spPr>
          <a:xfrm>
            <a:off x="7958468" y="3962400"/>
            <a:ext cx="3420448" cy="2159000"/>
          </a:xfrm>
          <a:prstGeom prst="rect">
            <a:avLst/>
          </a:prstGeom>
          <a:solidFill>
            <a:srgbClr val="FCFCFA"/>
          </a:solidFill>
          <a:ln w="9525">
            <a:solidFill>
              <a:srgbClr val="D5DCE4"/>
            </a:solidFill>
            <a:prstDash val="solid"/>
          </a:ln>
        </p:spPr>
      </p:sp>
      <p:sp>
        <p:nvSpPr>
          <p:cNvPr id="26" name="Shape 24"/>
          <p:cNvSpPr/>
          <p:nvPr/>
        </p:nvSpPr>
        <p:spPr>
          <a:xfrm>
            <a:off x="7958468" y="3962400"/>
            <a:ext cx="3420448" cy="38100"/>
          </a:xfrm>
          <a:prstGeom prst="rect">
            <a:avLst/>
          </a:prstGeom>
          <a:solidFill>
            <a:srgbClr val="2E8B57"/>
          </a:solidFill>
          <a:ln/>
        </p:spPr>
      </p:sp>
      <p:sp>
        <p:nvSpPr>
          <p:cNvPr id="27" name="Text 25"/>
          <p:cNvSpPr/>
          <p:nvPr/>
        </p:nvSpPr>
        <p:spPr>
          <a:xfrm>
            <a:off x="8098164" y="4064000"/>
            <a:ext cx="3141055" cy="3810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Source</a:t>
            </a:r>
            <a:endParaRPr lang="en-US" sz="1500" dirty="0"/>
          </a:p>
        </p:txBody>
      </p:sp>
      <p:sp>
        <p:nvSpPr>
          <p:cNvPr id="28" name="Text 26"/>
          <p:cNvSpPr/>
          <p:nvPr/>
        </p:nvSpPr>
        <p:spPr>
          <a:xfrm>
            <a:off x="8098164" y="4457700"/>
            <a:ext cx="3141055" cy="1600200"/>
          </a:xfrm>
          <a:prstGeom prst="rect">
            <a:avLst/>
          </a:prstGeom>
          <a:noFill/>
          <a:ln/>
        </p:spPr>
        <p:txBody>
          <a:bodyPr wrap="square" rtlCol="0" anchor="t">
            <a:normAutofit/>
          </a:bodyPr>
          <a:lstStyle/>
          <a:p>
            <a:pPr indent="0" marL="0">
              <a:buNone/>
            </a:pPr>
            <a:r>
              <a:rPr lang="en-US" sz="1200" b="1" dirty="0">
                <a:solidFill>
                  <a:srgbClr val="1B2A3A"/>
                </a:solidFill>
                <a:latin typeface="Segoe UI" pitchFamily="34" charset="0"/>
                <a:ea typeface="Segoe UI" pitchFamily="34" charset="-122"/>
                <a:cs typeface="Segoe UI" pitchFamily="34" charset="-120"/>
              </a:rPr>
              <a:t>Plan</a:t>
            </a:r>
            <a:pPr indent="0" marL="0">
              <a:buNone/>
            </a:pPr>
            <a:r>
              <a:rPr lang="en-US" sz="1200" dirty="0">
                <a:solidFill>
                  <a:srgbClr val="465568"/>
                </a:solidFill>
                <a:latin typeface="Segoe UI" pitchFamily="34" charset="0"/>
                <a:ea typeface="Segoe UI" pitchFamily="34" charset="-122"/>
                <a:cs typeface="Segoe UI" pitchFamily="34" charset="-120"/>
              </a:rPr>
              <a:t> : repris de la ligne du plan de passation, non modifiable ; </a:t>
            </a:r>
            <a:pPr indent="0" marL="0">
              <a:buNone/>
            </a:pPr>
            <a:r>
              <a:rPr lang="en-US" sz="1200" b="1" dirty="0">
                <a:solidFill>
                  <a:srgbClr val="1B2A3A"/>
                </a:solidFill>
                <a:latin typeface="Segoe UI" pitchFamily="34" charset="0"/>
                <a:ea typeface="Segoe UI" pitchFamily="34" charset="-122"/>
                <a:cs typeface="Segoe UI" pitchFamily="34" charset="-120"/>
              </a:rPr>
              <a:t>Cadrage</a:t>
            </a:r>
            <a:pPr indent="0" marL="0">
              <a:buNone/>
            </a:pPr>
            <a:r>
              <a:rPr lang="en-US" sz="1200" dirty="0">
                <a:solidFill>
                  <a:srgbClr val="465568"/>
                </a:solidFill>
                <a:latin typeface="Segoe UI" pitchFamily="34" charset="0"/>
                <a:ea typeface="Segoe UI" pitchFamily="34" charset="-122"/>
                <a:cs typeface="Segoe UI" pitchFamily="34" charset="-120"/>
              </a:rPr>
              <a:t> : reflet d’une réponse de l’étape 2 ; </a:t>
            </a:r>
            <a:pPr indent="0" marL="0">
              <a:buNone/>
            </a:pPr>
            <a:r>
              <a:rPr lang="en-US" sz="1200" b="1" dirty="0">
                <a:solidFill>
                  <a:srgbClr val="1B2A3A"/>
                </a:solidFill>
                <a:latin typeface="Segoe UI" pitchFamily="34" charset="0"/>
                <a:ea typeface="Segoe UI" pitchFamily="34" charset="-122"/>
                <a:cs typeface="Segoe UI" pitchFamily="34" charset="-120"/>
              </a:rPr>
              <a:t>Saisie</a:t>
            </a:r>
            <a:pPr indent="0" marL="0">
              <a:buNone/>
            </a:pPr>
            <a:r>
              <a:rPr lang="en-US" sz="1200" dirty="0">
                <a:solidFill>
                  <a:srgbClr val="465568"/>
                </a:solidFill>
                <a:latin typeface="Segoe UI" pitchFamily="34" charset="0"/>
                <a:ea typeface="Segoe UI" pitchFamily="34" charset="-122"/>
                <a:cs typeface="Segoe UI" pitchFamily="34" charset="-120"/>
              </a:rPr>
              <a:t> : renseigné par la PRMP ou l’UGPM.</a:t>
            </a:r>
            <a:endParaRPr lang="en-US" sz="1200" dirty="0"/>
          </a:p>
        </p:txBody>
      </p:sp>
      <p:sp>
        <p:nvSpPr>
          <p:cNvPr id="29" name="Text 2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La fiche DAO par nature et par forme · 97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97</Slides>
  <Notes>97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97</vt:i4>
      </vt:variant>
    </vt:vector>
  </HeadingPairs>
  <TitlesOfParts>
    <vt:vector size="10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La fiche DAO par nature et par forme du marché</dc:title>
  <dc:subject>PptxGenJS Presentation</dc:subject>
  <dc:creator>PRS 2.0</dc:creator>
  <cp:lastModifiedBy>PRS 2.0</cp:lastModifiedBy>
  <cp:revision>1</cp:revision>
  <dcterms:created xsi:type="dcterms:W3CDTF">2026-10-08T06:23:31Z</dcterms:created>
  <dcterms:modified xsi:type="dcterms:W3CDTF">2026-10-08T06:23:31Z</dcterms:modified>
</cp:coreProperties>
</file>