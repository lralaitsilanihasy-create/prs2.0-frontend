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tableaux d’informations sont tirés du référentiel de la fiche DAO tel que le serveur le sert (7 octobre 2026) : rien n’y est recopié à la main. La partie 05 reprend les règles de gestion du serveur (docs/regles-gestion.md, 8 octobre 2026). Le document se régénère après toute évolution de l’un ou de l’autre.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Référentiel Fournitures et services, quantité fixe.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Référentiel Travaux et réhabilitation, quantité fixe.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Référentiel Prestations intellectuelles, quantité fixe.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a:t>
            </a:r>
            <a:endParaRPr lang="en-US" sz="1400" dirty="0"/>
          </a:p>
        </p:txBody>
      </p:sp>
      <p:sp>
        <p:nvSpPr>
          <p:cNvPr id="4" name="Text 2"/>
          <p:cNvSpPr/>
          <p:nvPr/>
        </p:nvSpPr>
        <p:spPr>
          <a:xfrm>
            <a:off x="812780" y="1206500"/>
            <a:ext cx="10477238" cy="1333500"/>
          </a:xfrm>
          <a:prstGeom prst="rect">
            <a:avLst/>
          </a:prstGeom>
          <a:noFill/>
          <a:ln/>
        </p:spPr>
        <p:txBody>
          <a:bodyPr wrap="square" rtlCol="0" anchor="t"/>
          <a:lstStyle/>
          <a:p>
            <a:pPr indent="0" marL="0">
              <a:buNone/>
            </a:pPr>
            <a:r>
              <a:rPr lang="en-US" sz="4600" b="1" dirty="0">
                <a:solidFill>
                  <a:srgbClr val="FCFCFA"/>
                </a:solidFill>
                <a:latin typeface="Segoe UI" pitchFamily="34" charset="0"/>
                <a:ea typeface="Segoe UI" pitchFamily="34" charset="-122"/>
                <a:cs typeface="Segoe UI" pitchFamily="34" charset="-120"/>
              </a:rPr>
              <a:t>PRS 2.0 — La fiche DAO par nature et par forme du marché</a:t>
            </a:r>
            <a:endParaRPr lang="en-US" sz="46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100" dirty="0">
                <a:solidFill>
                  <a:srgbClr val="FCFCFA"/>
                </a:solidFill>
                <a:latin typeface="Segoe UI" pitchFamily="34" charset="0"/>
                <a:ea typeface="Segoe UI" pitchFamily="34" charset="-122"/>
                <a:cs typeface="Segoe UI" pitchFamily="34" charset="-120"/>
              </a:rPr>
              <a:t>Référence exhaustive : les blocs, chaque information, le document où elle s’imprime, les conditions qui l’ouvrent, et les documents produits — pour les trois natures et les trois formes du marché.</a:t>
            </a:r>
            <a:endParaRPr lang="en-US" sz="2100" dirty="0"/>
          </a:p>
        </p:txBody>
      </p:sp>
      <p:sp>
        <p:nvSpPr>
          <p:cNvPr id="6" name="Text 4"/>
          <p:cNvSpPr/>
          <p:nvPr/>
        </p:nvSpPr>
        <p:spPr>
          <a:xfrm>
            <a:off x="812780" y="5270500"/>
            <a:ext cx="9842254" cy="762000"/>
          </a:xfrm>
          <a:prstGeom prst="rect">
            <a:avLst/>
          </a:prstGeom>
          <a:noFill/>
          <a:ln/>
        </p:spPr>
        <p:txBody>
          <a:bodyPr wrap="square" rtlCol="0" anchor="ctr"/>
          <a:lstStyle/>
          <a:p>
            <a:pPr indent="0" marL="0">
              <a:buNone/>
            </a:pPr>
            <a:r>
              <a:rPr lang="en-US" sz="1400" dirty="0">
                <a:solidFill>
                  <a:srgbClr val="C9D6E2"/>
                </a:solidFill>
                <a:latin typeface="Segoe UI" pitchFamily="34" charset="0"/>
                <a:ea typeface="Segoe UI" pitchFamily="34" charset="-122"/>
                <a:cs typeface="Segoe UI" pitchFamily="34" charset="-120"/>
              </a:rPr>
              <a:t>Ministère de l’Économie et des Finances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MODE D’EMPLOI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Comment lire cette référence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fiche DAO d’une ligne du plan dépend de deux axes : la </a:t>
            </a:r>
            <a:pPr indent="0" marL="0">
              <a:buNone/>
            </a:pPr>
            <a:r>
              <a:rPr lang="en-US" sz="1300" b="1" dirty="0">
                <a:solidFill>
                  <a:srgbClr val="1B2A3A"/>
                </a:solidFill>
                <a:latin typeface="Segoe UI" pitchFamily="34" charset="0"/>
                <a:ea typeface="Segoe UI" pitchFamily="34" charset="-122"/>
                <a:cs typeface="Segoe UI" pitchFamily="34" charset="-120"/>
              </a:rPr>
              <a:t>nature</a:t>
            </a:r>
            <a:pPr indent="0" marL="0">
              <a:buNone/>
            </a:pPr>
            <a:r>
              <a:rPr lang="en-US" sz="1300" dirty="0">
                <a:solidFill>
                  <a:srgbClr val="465568"/>
                </a:solidFill>
                <a:latin typeface="Segoe UI" pitchFamily="34" charset="0"/>
                <a:ea typeface="Segoe UI" pitchFamily="34" charset="-122"/>
                <a:cs typeface="Segoe UI" pitchFamily="34" charset="-120"/>
              </a:rPr>
              <a:t> du marché (sa catégorie) et sa </a:t>
            </a:r>
            <a:pPr indent="0" marL="0">
              <a:buNone/>
            </a:pPr>
            <a:r>
              <a:rPr lang="en-US" sz="1300" b="1" dirty="0">
                <a:solidFill>
                  <a:srgbClr val="1B2A3A"/>
                </a:solidFill>
                <a:latin typeface="Segoe UI" pitchFamily="34" charset="0"/>
                <a:ea typeface="Segoe UI" pitchFamily="34" charset="-122"/>
                <a:cs typeface="Segoe UI" pitchFamily="34" charset="-120"/>
              </a:rPr>
              <a:t>forme</a:t>
            </a:r>
            <a:pPr indent="0" marL="0">
              <a:buNone/>
            </a:pPr>
            <a:r>
              <a:rPr lang="en-US" sz="1300" dirty="0">
                <a:solidFill>
                  <a:srgbClr val="465568"/>
                </a:solidFill>
                <a:latin typeface="Segoe UI" pitchFamily="34" charset="0"/>
                <a:ea typeface="Segoe UI" pitchFamily="34" charset="-122"/>
                <a:cs typeface="Segoe UI" pitchFamily="34" charset="-120"/>
              </a:rPr>
              <a:t>, reprise de la ligne du plan. Ensemble, ils fixent les informations à saisir et les documents produits.</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Huit combinaisons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Trois natures (fournitures et services, travaux, prestations intellectuelles) × trois formes (quantité fixe, à commande, contrat-cadre). Il n’existe pas de contrat-cadre de prestations intellectuelles.</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tableau complet par référentiel distinct</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 À commande » ne diffère de « quantité fixe » que de quelques informations : on donne le tableau complet de la quantité fixe, puis </a:t>
            </a:r>
            <a:pPr indent="0" marL="0">
              <a:buNone/>
            </a:pPr>
            <a:r>
              <a:rPr lang="en-US" sz="1200" b="1" dirty="0">
                <a:solidFill>
                  <a:srgbClr val="1B2A3A"/>
                </a:solidFill>
                <a:latin typeface="Segoe UI" pitchFamily="34" charset="0"/>
                <a:ea typeface="Segoe UI" pitchFamily="34" charset="-122"/>
                <a:cs typeface="Segoe UI" pitchFamily="34" charset="-120"/>
              </a:rPr>
              <a:t>les écarts</a:t>
            </a:r>
            <a:pPr indent="0" marL="0">
              <a:buNone/>
            </a:pPr>
            <a:r>
              <a:rPr lang="en-US" sz="1200" dirty="0">
                <a:solidFill>
                  <a:srgbClr val="465568"/>
                </a:solidFill>
                <a:latin typeface="Segoe UI" pitchFamily="34" charset="0"/>
                <a:ea typeface="Segoe UI" pitchFamily="34" charset="-122"/>
                <a:cs typeface="Segoe UI" pitchFamily="34" charset="-120"/>
              </a:rPr>
              <a:t>. Le contrat-cadre a son propre tableau complet.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colonnes</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b="1" dirty="0">
                <a:solidFill>
                  <a:srgbClr val="1B2A3A"/>
                </a:solidFill>
                <a:latin typeface="Segoe UI" pitchFamily="34" charset="0"/>
                <a:ea typeface="Segoe UI" pitchFamily="34" charset="-122"/>
                <a:cs typeface="Segoe UI" pitchFamily="34" charset="-120"/>
              </a:rPr>
              <a:t>Code</a:t>
            </a:r>
            <a:pPr indent="0" marL="0">
              <a:buNone/>
            </a:pPr>
            <a:r>
              <a:rPr lang="en-US" sz="1200" dirty="0">
                <a:solidFill>
                  <a:srgbClr val="465568"/>
                </a:solidFill>
                <a:latin typeface="Segoe UI" pitchFamily="34" charset="0"/>
                <a:ea typeface="Segoe UI" pitchFamily="34" charset="-122"/>
                <a:cs typeface="Segoe UI" pitchFamily="34" charset="-120"/>
              </a:rPr>
              <a:t> (bloc-rubrique-rang), </a:t>
            </a:r>
            <a:pPr indent="0" marL="0">
              <a:buNone/>
            </a:pPr>
            <a:r>
              <a:rPr lang="en-US" sz="1200" b="1" dirty="0">
                <a:solidFill>
                  <a:srgbClr val="1B2A3A"/>
                </a:solidFill>
                <a:latin typeface="Segoe UI" pitchFamily="34" charset="0"/>
                <a:ea typeface="Segoe UI" pitchFamily="34" charset="-122"/>
                <a:cs typeface="Segoe UI" pitchFamily="34" charset="-120"/>
              </a:rPr>
              <a:t>information</a:t>
            </a:r>
            <a:pPr indent="0" marL="0">
              <a:buNone/>
            </a:pPr>
            <a:r>
              <a:rPr lang="en-US" sz="1200" dirty="0">
                <a:solidFill>
                  <a:srgbClr val="465568"/>
                </a:solidFill>
                <a:latin typeface="Segoe UI" pitchFamily="34" charset="0"/>
                <a:ea typeface="Segoe UI" pitchFamily="34" charset="-122"/>
                <a:cs typeface="Segoe UI" pitchFamily="34" charset="-120"/>
              </a:rPr>
              <a:t>, </a:t>
            </a:r>
            <a:pPr indent="0" marL="0">
              <a:buNone/>
            </a:pPr>
            <a:r>
              <a:rPr lang="en-US" sz="1200" b="1" dirty="0">
                <a:solidFill>
                  <a:srgbClr val="1B2A3A"/>
                </a:solidFill>
                <a:latin typeface="Segoe UI" pitchFamily="34" charset="0"/>
                <a:ea typeface="Segoe UI" pitchFamily="34" charset="-122"/>
                <a:cs typeface="Segoe UI" pitchFamily="34" charset="-120"/>
              </a:rPr>
              <a:t>type et valeurs</a:t>
            </a:r>
            <a:pPr indent="0" marL="0">
              <a:buNone/>
            </a:pPr>
            <a:r>
              <a:rPr lang="en-US" sz="1200" dirty="0">
                <a:solidFill>
                  <a:srgbClr val="465568"/>
                </a:solidFill>
                <a:latin typeface="Segoe UI" pitchFamily="34" charset="0"/>
                <a:ea typeface="Segoe UI" pitchFamily="34" charset="-122"/>
                <a:cs typeface="Segoe UI" pitchFamily="34" charset="-120"/>
              </a:rPr>
              <a:t> proposées, </a:t>
            </a:r>
            <a:pPr indent="0" marL="0">
              <a:buNone/>
            </a:pPr>
            <a:r>
              <a:rPr lang="en-US" sz="1200" b="1" dirty="0">
                <a:solidFill>
                  <a:srgbClr val="1B2A3A"/>
                </a:solidFill>
                <a:latin typeface="Segoe UI" pitchFamily="34" charset="0"/>
                <a:ea typeface="Segoe UI" pitchFamily="34" charset="-122"/>
                <a:cs typeface="Segoe UI" pitchFamily="34" charset="-120"/>
              </a:rPr>
              <a:t>source</a:t>
            </a:r>
            <a:pPr indent="0" marL="0">
              <a:buNone/>
            </a:pPr>
            <a:r>
              <a:rPr lang="en-US" sz="1200" dirty="0">
                <a:solidFill>
                  <a:srgbClr val="465568"/>
                </a:solidFill>
                <a:latin typeface="Segoe UI" pitchFamily="34" charset="0"/>
                <a:ea typeface="Segoe UI" pitchFamily="34" charset="-122"/>
                <a:cs typeface="Segoe UI" pitchFamily="34" charset="-120"/>
              </a:rPr>
              <a:t> (reprise du plan, cadrage ou saisie), </a:t>
            </a:r>
            <a:pPr indent="0" marL="0">
              <a:buNone/>
            </a:pPr>
            <a:r>
              <a:rPr lang="en-US" sz="1200" b="1" dirty="0">
                <a:solidFill>
                  <a:srgbClr val="1B2A3A"/>
                </a:solidFill>
                <a:latin typeface="Segoe UI" pitchFamily="34" charset="0"/>
                <a:ea typeface="Segoe UI" pitchFamily="34" charset="-122"/>
                <a:cs typeface="Segoe UI" pitchFamily="34" charset="-120"/>
              </a:rPr>
              <a:t>document</a:t>
            </a:r>
            <a:pPr indent="0" marL="0">
              <a:buNone/>
            </a:pPr>
            <a:r>
              <a:rPr lang="en-US" sz="1200" dirty="0">
                <a:solidFill>
                  <a:srgbClr val="465568"/>
                </a:solidFill>
                <a:latin typeface="Segoe UI" pitchFamily="34" charset="0"/>
                <a:ea typeface="Segoe UI" pitchFamily="34" charset="-122"/>
                <a:cs typeface="Segoe UI" pitchFamily="34" charset="-120"/>
              </a:rPr>
              <a:t> où elle s’imprime (→ documents où elle est reprise), </a:t>
            </a:r>
            <a:pPr indent="0" marL="0">
              <a:buNone/>
            </a:pPr>
            <a:r>
              <a:rPr lang="en-US" sz="1200" b="1" dirty="0">
                <a:solidFill>
                  <a:srgbClr val="1B2A3A"/>
                </a:solidFill>
                <a:latin typeface="Segoe UI" pitchFamily="34" charset="0"/>
                <a:ea typeface="Segoe UI" pitchFamily="34" charset="-122"/>
                <a:cs typeface="Segoe UI" pitchFamily="34" charset="-120"/>
              </a:rPr>
              <a:t>obligatoire</a:t>
            </a:r>
            <a:pPr indent="0" marL="0">
              <a:buNone/>
            </a:pPr>
            <a:r>
              <a:rPr lang="en-US" sz="1200" dirty="0">
                <a:solidFill>
                  <a:srgbClr val="465568"/>
                </a:solidFill>
                <a:latin typeface="Segoe UI" pitchFamily="34" charset="0"/>
                <a:ea typeface="Segoe UI" pitchFamily="34" charset="-122"/>
                <a:cs typeface="Segoe UI" pitchFamily="34" charset="-120"/>
              </a:rPr>
              <a:t>, </a:t>
            </a:r>
            <a:pPr indent="0" marL="0">
              <a:buNone/>
            </a:pPr>
            <a:r>
              <a:rPr lang="en-US" sz="1200" b="1" dirty="0">
                <a:solidFill>
                  <a:srgbClr val="1B2A3A"/>
                </a:solidFill>
                <a:latin typeface="Segoe UI" pitchFamily="34" charset="0"/>
                <a:ea typeface="Segoe UI" pitchFamily="34" charset="-122"/>
                <a:cs typeface="Segoe UI" pitchFamily="34" charset="-120"/>
              </a:rPr>
              <a:t>condition</a:t>
            </a:r>
            <a:pPr indent="0" marL="0">
              <a:buNone/>
            </a:pPr>
            <a:r>
              <a:rPr lang="en-US" sz="1200" dirty="0">
                <a:solidFill>
                  <a:srgbClr val="465568"/>
                </a:solidFill>
                <a:latin typeface="Segoe UI" pitchFamily="34" charset="0"/>
                <a:ea typeface="Segoe UI" pitchFamily="34" charset="-122"/>
                <a:cs typeface="Segoe UI" pitchFamily="34" charset="-120"/>
              </a:rPr>
              <a:t> d’affichage.</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document, selon la forme et la nature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 contrat-cadre, le DPAO devient le </a:t>
            </a:r>
            <a:pPr indent="0" marL="0">
              <a:buNone/>
            </a:pPr>
            <a:r>
              <a:rPr lang="en-US" sz="1200" b="1" dirty="0">
                <a:solidFill>
                  <a:srgbClr val="1B2A3A"/>
                </a:solidFill>
                <a:latin typeface="Segoe UI" pitchFamily="34" charset="0"/>
                <a:ea typeface="Segoe UI" pitchFamily="34" charset="-122"/>
                <a:cs typeface="Segoe UI" pitchFamily="34" charset="-120"/>
              </a:rPr>
              <a:t>DPAC</a:t>
            </a:r>
            <a:pPr indent="0" marL="0">
              <a:buNone/>
            </a:pPr>
            <a:r>
              <a:rPr lang="en-US" sz="1200" dirty="0">
                <a:solidFill>
                  <a:srgbClr val="465568"/>
                </a:solidFill>
                <a:latin typeface="Segoe UI" pitchFamily="34" charset="0"/>
                <a:ea typeface="Segoe UI" pitchFamily="34" charset="-122"/>
                <a:cs typeface="Segoe UI" pitchFamily="34" charset="-120"/>
              </a:rPr>
              <a:t> et le CCAP est absorbé par l’</a:t>
            </a:r>
            <a:pPr indent="0" marL="0">
              <a:buNone/>
            </a:pPr>
            <a:r>
              <a:rPr lang="en-US" sz="1200" b="1" dirty="0">
                <a:solidFill>
                  <a:srgbClr val="1B2A3A"/>
                </a:solidFill>
                <a:latin typeface="Segoe UI" pitchFamily="34" charset="0"/>
                <a:ea typeface="Segoe UI" pitchFamily="34" charset="-122"/>
                <a:cs typeface="Segoe UI" pitchFamily="34" charset="-120"/>
              </a:rPr>
              <a:t>AE</a:t>
            </a:r>
            <a:pPr indent="0" marL="0">
              <a:buNone/>
            </a:pPr>
            <a:r>
              <a:rPr lang="en-US" sz="1200" dirty="0">
                <a:solidFill>
                  <a:srgbClr val="465568"/>
                </a:solidFill>
                <a:latin typeface="Segoe UI" pitchFamily="34" charset="0"/>
                <a:ea typeface="Segoe UI" pitchFamily="34" charset="-122"/>
                <a:cs typeface="Segoe UI" pitchFamily="34" charset="-120"/>
              </a:rPr>
              <a:t> (« contrat-cadre valant acte d’engagement et CCAP »). En prestations intellectuelles, le DPAO devient le </a:t>
            </a:r>
            <a:pPr indent="0" marL="0">
              <a:buNone/>
            </a:pPr>
            <a:r>
              <a:rPr lang="en-US" sz="1200" b="1" dirty="0">
                <a:solidFill>
                  <a:srgbClr val="1B2A3A"/>
                </a:solidFill>
                <a:latin typeface="Segoe UI" pitchFamily="34" charset="0"/>
                <a:ea typeface="Segoe UI" pitchFamily="34" charset="-122"/>
                <a:cs typeface="Segoe UI" pitchFamily="34" charset="-120"/>
              </a:rPr>
              <a:t>DPIC</a:t>
            </a:r>
            <a:pPr indent="0" marL="0">
              <a:buNone/>
            </a:pPr>
            <a:r>
              <a:rPr lang="en-US" sz="1200" dirty="0">
                <a:solidFill>
                  <a:srgbClr val="465568"/>
                </a:solidFill>
                <a:latin typeface="Segoe UI" pitchFamily="34" charset="0"/>
                <a:ea typeface="Segoe UI" pitchFamily="34" charset="-122"/>
                <a:cs typeface="Segoe UI" pitchFamily="34" charset="-120"/>
              </a:rPr>
              <a:t>. Les tableaux donnent déjà le document réel.</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conditions</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information n’apparaît que si le cadrage l’ouvre : « Si remise électronique », « Si alloti », « Si garantie de soumission »… Sans condition, elle est toujours demandée.</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blocs à grille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besoin (B12), le matériel et le personnel (B13), les pièces de l’offre (B14) ne sont pas des listes d’informations mais des grilles : ils sont décrits à part.</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Vue d’ensemble</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huit combinaisons côte à côte : nombre d’informations, documents produits, questions de cadrage, ce que change la forme du marché.</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huit combinaisons en chiffres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du référentiel ouvertes pour chaque combinaison, dont obligatoires, conditionnelles (ouvertes par le cadrage) et saisies une fois par lot.</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1828800"/>
                <a:gridCol w="1143000"/>
                <a:gridCol w="594360"/>
                <a:gridCol w="914400"/>
                <a:gridCol w="914400"/>
                <a:gridCol w="1005840"/>
                <a:gridCol w="685800"/>
                <a:gridCol w="1188720"/>
                <a:gridCol w="31546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Conditionnelles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Blocs à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Répartition par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163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104 · CCAP 45 · AE 6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166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105 · CCAP 46 · AE 7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103 · AE 72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et réhabilitation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B13,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99 · CCAP 67 · AE 7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et réhabilitation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B13,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99 · CCAP 67 · AE 7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et réhabilitation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78 · AE 61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DPIC 91 · CCAP 23 · AE 11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DPIC 91 · CCAP 23 · AE 11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032500"/>
            <a:ext cx="10540736" cy="381000"/>
          </a:xfrm>
          <a:prstGeom prst="rect">
            <a:avLst/>
          </a:prstGeom>
          <a:noFill/>
          <a:ln/>
        </p:spPr>
        <p:txBody>
          <a:bodyPr wrap="square" rtlCol="0" anchor="t"/>
          <a:lstStyle/>
          <a:p>
            <a:pPr indent="0" marL="0">
              <a:buNone/>
            </a:pPr>
            <a:r>
              <a:rPr lang="en-US" sz="1100" dirty="0">
                <a:solidFill>
                  <a:srgbClr val="465568"/>
                </a:solidFill>
                <a:latin typeface="Segoe UI" pitchFamily="34" charset="0"/>
                <a:ea typeface="Segoe UI" pitchFamily="34" charset="-122"/>
                <a:cs typeface="Segoe UI" pitchFamily="34" charset="-120"/>
              </a:rPr>
              <a:t>« fiche » : informations qui pilotent la fiche sans s’imprimer. « avis » : informations qui ne s’impriment que dans l’avis spécifique. Une information peut aussi être </a:t>
            </a:r>
            <a:pPr indent="0" marL="0">
              <a:buNone/>
            </a:pPr>
            <a:r>
              <a:rPr lang="en-US" sz="1100" b="1" dirty="0">
                <a:solidFill>
                  <a:srgbClr val="1B2A3A"/>
                </a:solidFill>
                <a:latin typeface="Segoe UI" pitchFamily="34" charset="0"/>
                <a:ea typeface="Segoe UI" pitchFamily="34" charset="-122"/>
                <a:cs typeface="Segoe UI" pitchFamily="34" charset="-120"/>
              </a:rPr>
              <a:t>reprise</a:t>
            </a:r>
            <a:pPr indent="0" marL="0">
              <a:buNone/>
            </a:pPr>
            <a:r>
              <a:rPr lang="en-US" sz="1100" dirty="0">
                <a:solidFill>
                  <a:srgbClr val="465568"/>
                </a:solidFill>
                <a:latin typeface="Segoe UI" pitchFamily="34" charset="0"/>
                <a:ea typeface="Segoe UI" pitchFamily="34" charset="-122"/>
                <a:cs typeface="Segoe UI" pitchFamily="34" charset="-120"/>
              </a:rPr>
              <a:t> dans d’autres documents que le sien.</a:t>
            </a:r>
            <a:endParaRPr lang="en-US" sz="1100" dirty="0"/>
          </a:p>
        </p:txBody>
      </p:sp>
      <p:sp>
        <p:nvSpPr>
          <p:cNvPr id="7"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produits à la validation</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document est un document type de l’ARMP rempli depuis la fiche, en Word et en PDF, puis assemblé dans le DAO complet. Les classeurs restent en Excel.</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1417320"/>
                <a:gridCol w="1097280"/>
                <a:gridCol w="1143000"/>
                <a:gridCol w="1417320"/>
                <a:gridCol w="1463040"/>
                <a:gridCol w="1051560"/>
                <a:gridCol w="1463040"/>
                <a:gridCol w="1234440"/>
                <a:gridCol w="11430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Données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Cahier des charges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Formulaires du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Classeurs (Excel)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Textes fixes (DAO 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Publicité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 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(DPAO-F)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(AE-F), 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Cahier des prescriptions spéciales (CCAP-F)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tableau de conformité ; liste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(DPAC-CC)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valant AE et CCAP (AE-CC)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 (absorbé par l’AE)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tableau de conformité ; liste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 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(DPAO-T)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(AE-T), 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CCAP et ses annexes (CCAP-T)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B1, B2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et DQE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(DPAC-CC)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valant AE et CCAP (AE-CC)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 (absorbé par l’AE)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B1, B2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et DQE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 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DPIC (DPIC-PI)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(AE-PI)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Cahier des prescriptions spéciales (CPS-PI)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Lettre d’invitation, candidat par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032500"/>
            <a:ext cx="10540736" cy="381000"/>
          </a:xfrm>
          <a:prstGeom prst="rect">
            <a:avLst/>
          </a:prstGeom>
          <a:noFill/>
          <a:ln/>
        </p:spPr>
        <p:txBody>
          <a:bodyPr wrap="square" rtlCol="0" anchor="t"/>
          <a:lstStyle/>
          <a:p>
            <a:pPr indent="0" marL="0">
              <a:buNone/>
            </a:pPr>
            <a:r>
              <a:rPr lang="en-US" sz="1100" dirty="0">
                <a:solidFill>
                  <a:srgbClr val="465568"/>
                </a:solidFill>
                <a:latin typeface="Segoe UI" pitchFamily="34" charset="0"/>
                <a:ea typeface="Segoe UI" pitchFamily="34" charset="-122"/>
                <a:cs typeface="Segoe UI" pitchFamily="34" charset="-120"/>
              </a:rPr>
              <a:t>Source : modèles du serveur (</a:t>
            </a:r>
            <a:pPr indent="0" marL="0">
              <a:buNone/>
            </a:pPr>
            <a:r>
              <a:rPr lang="en-US" sz="1100" b="1" dirty="0">
                <a:solidFill>
                  <a:srgbClr val="1B2A3A"/>
                </a:solidFill>
                <a:latin typeface="Segoe UI" pitchFamily="34" charset="0"/>
                <a:ea typeface="Segoe UI" pitchFamily="34" charset="-122"/>
                <a:cs typeface="Segoe UI" pitchFamily="34" charset="-120"/>
              </a:rPr>
              <a:t>ModelesDao.COUVERTURES</a:t>
            </a:r>
            <a:pPr indent="0" marL="0">
              <a:buNone/>
            </a:pPr>
            <a:r>
              <a:rPr lang="en-US" sz="1100" dirty="0">
                <a:solidFill>
                  <a:srgbClr val="465568"/>
                </a:solidFill>
                <a:latin typeface="Segoe UI" pitchFamily="34" charset="0"/>
                <a:ea typeface="Segoe UI" pitchFamily="34" charset="-122"/>
                <a:cs typeface="Segoe UI" pitchFamily="34" charset="-120"/>
              </a:rPr>
              <a:t>, </a:t>
            </a:r>
            <a:pPr indent="0" marL="0">
              <a:buNone/>
            </a:pPr>
            <a:r>
              <a:rPr lang="en-US" sz="1100" b="1" dirty="0">
                <a:solidFill>
                  <a:srgbClr val="1B2A3A"/>
                </a:solidFill>
                <a:latin typeface="Segoe UI" pitchFamily="34" charset="0"/>
                <a:ea typeface="Segoe UI" pitchFamily="34" charset="-122"/>
                <a:cs typeface="Segoe UI" pitchFamily="34" charset="-120"/>
              </a:rPr>
              <a:t>modeles/candidat</a:t>
            </a:r>
            <a:pPr indent="0" marL="0">
              <a:buNone/>
            </a:pPr>
            <a:r>
              <a:rPr lang="en-US" sz="1100" dirty="0">
                <a:solidFill>
                  <a:srgbClr val="465568"/>
                </a:solidFill>
                <a:latin typeface="Segoe UI" pitchFamily="34" charset="0"/>
                <a:ea typeface="Segoe UI" pitchFamily="34" charset="-122"/>
                <a:cs typeface="Segoe UI" pitchFamily="34" charset="-120"/>
              </a:rPr>
              <a:t>, </a:t>
            </a:r>
            <a:pPr indent="0" marL="0">
              <a:buNone/>
            </a:pPr>
            <a:r>
              <a:rPr lang="en-US" sz="1100" b="1" dirty="0">
                <a:solidFill>
                  <a:srgbClr val="1B2A3A"/>
                </a:solidFill>
                <a:latin typeface="Segoe UI" pitchFamily="34" charset="0"/>
                <a:ea typeface="Segoe UI" pitchFamily="34" charset="-122"/>
                <a:cs typeface="Segoe UI" pitchFamily="34" charset="-120"/>
              </a:rPr>
              <a:t>modeles/dao-fixes</a:t>
            </a:r>
            <a:pPr indent="0" marL="0">
              <a:buNone/>
            </a:pPr>
            <a:r>
              <a:rPr lang="en-US" sz="1100" dirty="0">
                <a:solidFill>
                  <a:srgbClr val="465568"/>
                </a:solidFill>
                <a:latin typeface="Segoe UI" pitchFamily="34" charset="0"/>
                <a:ea typeface="Segoe UI" pitchFamily="34" charset="-122"/>
                <a:cs typeface="Segoe UI" pitchFamily="34" charset="-120"/>
              </a:rPr>
              <a:t>). Les garanties de soumission C1/C2 (B1/B2 en travaux) ne sont produites que dans la forme admise par la fiche.</a:t>
            </a:r>
            <a:endParaRPr lang="en-US" sz="1100" dirty="0"/>
          </a:p>
        </p:txBody>
      </p:sp>
      <p:sp>
        <p:nvSpPr>
          <p:cNvPr id="7"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questions de cadrage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Posées à l’étape 2, avant toute saisie. Leurs réponses ouvrent ou ferment des informations (colonne « Condition » des tableaux). La forme du marché ne se demande pas : elle vient de la ligne du plan.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743200"/>
                <a:gridCol w="868680"/>
                <a:gridCol w="1051560"/>
                <a:gridCol w="1051560"/>
                <a:gridCol w="1280160"/>
                <a:gridCol w="15087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Réponses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Prest. intell.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Documents touchés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marché est-il alloti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(nombre de lots)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marché comporte-t-il des tranches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Les variantes sont-elles autorisées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groupement est-il autorisé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Quelle forme de groupement ? (si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Conjoint ou solidaire / obligatoirement solidaire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D’où viennent les fournitures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Territoire national /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Quel type de prix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Unitaires / global forfaitaire / mixte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avec « mixte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prix est-il révisable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Ferme /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Une garantie de soumission est-elle exigée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 les offres sont-elles remises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Papier /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Une avance est-elle prévue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(taux)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 pénalités de retard s’appliquent-elles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Selon le CCAG / autre plafond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(plafond 10 %)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Non : fixées dans l’AE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 mono ou multi-attributaire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Mono / multi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change la forme du marché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forme vient de la ligne du plan (« contrat cadre », « à commande » relevés dans l’objet, sinon quantité fixe). Elle ne se choisit pas dans la fiche.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Quantité fixe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quantités sont arrêtées au DAO. Le bordereau des prix porte une quantité par article (ou par prix du DQE) ; le montant de l’offre en découle.</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commande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quantités sont des </a:t>
            </a:r>
            <a:pPr indent="0" marL="0">
              <a:buNone/>
            </a:pPr>
            <a:r>
              <a:rPr lang="en-US" sz="1200" b="1" dirty="0">
                <a:solidFill>
                  <a:srgbClr val="1B2A3A"/>
                </a:solidFill>
                <a:latin typeface="Segoe UI" pitchFamily="34" charset="0"/>
                <a:ea typeface="Segoe UI" pitchFamily="34" charset="-122"/>
                <a:cs typeface="Segoe UI" pitchFamily="34" charset="-120"/>
              </a:rPr>
              <a:t>fourchettes</a:t>
            </a:r>
            <a:pPr indent="0" marL="0">
              <a:buNone/>
            </a:pPr>
            <a:r>
              <a:rPr lang="en-US" sz="1200" dirty="0">
                <a:solidFill>
                  <a:srgbClr val="465568"/>
                </a:solidFill>
                <a:latin typeface="Segoe UI" pitchFamily="34" charset="0"/>
                <a:ea typeface="Segoe UI" pitchFamily="34" charset="-122"/>
                <a:cs typeface="Segoe UI" pitchFamily="34" charset="-120"/>
              </a:rPr>
              <a:t> : minimum et maximum par article dans le besoin, montants minimum et maximum par lot dans l’acte d’engagement. En fournitures, quatre informations de plus (durée de validité, montant maximum annuel, délai maximum de livraison) et une de moins. En travaux et en prestations intellectuelles, le référentiel est </a:t>
            </a:r>
            <a:pPr indent="0" marL="0">
              <a:buNone/>
            </a:pPr>
            <a:r>
              <a:rPr lang="en-US" sz="1200" b="1" dirty="0">
                <a:solidFill>
                  <a:srgbClr val="1B2A3A"/>
                </a:solidFill>
                <a:latin typeface="Segoe UI" pitchFamily="34" charset="0"/>
                <a:ea typeface="Segoe UI" pitchFamily="34" charset="-122"/>
                <a:cs typeface="Segoe UI" pitchFamily="34" charset="-120"/>
              </a:rPr>
              <a:t>identique</a:t>
            </a:r>
            <a:pPr indent="0" marL="0">
              <a:buNone/>
            </a:pPr>
            <a:r>
              <a:rPr lang="en-US" sz="1200" dirty="0">
                <a:solidFill>
                  <a:srgbClr val="465568"/>
                </a:solidFill>
                <a:latin typeface="Segoe UI" pitchFamily="34" charset="0"/>
                <a:ea typeface="Segoe UI" pitchFamily="34" charset="-122"/>
                <a:cs typeface="Segoe UI" pitchFamily="34" charset="-120"/>
              </a:rPr>
              <a:t> à la quantité fixe : seuls le besoin et les passages conditionnels des documents changent.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Contrat-cadre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 autre jeu documentaire : </a:t>
            </a:r>
            <a:pPr indent="0" marL="0">
              <a:buNone/>
            </a:pPr>
            <a:r>
              <a:rPr lang="en-US" sz="1200" b="1" dirty="0">
                <a:solidFill>
                  <a:srgbClr val="1B2A3A"/>
                </a:solidFill>
                <a:latin typeface="Segoe UI" pitchFamily="34" charset="0"/>
                <a:ea typeface="Segoe UI" pitchFamily="34" charset="-122"/>
                <a:cs typeface="Segoe UI" pitchFamily="34" charset="-120"/>
              </a:rPr>
              <a:t>DPAC</a:t>
            </a:r>
            <a:pPr indent="0" marL="0">
              <a:buNone/>
            </a:pPr>
            <a:r>
              <a:rPr lang="en-US" sz="1200" dirty="0">
                <a:solidFill>
                  <a:srgbClr val="465568"/>
                </a:solidFill>
                <a:latin typeface="Segoe UI" pitchFamily="34" charset="0"/>
                <a:ea typeface="Segoe UI" pitchFamily="34" charset="-122"/>
                <a:cs typeface="Segoe UI" pitchFamily="34" charset="-120"/>
              </a:rPr>
              <a:t> et </a:t>
            </a:r>
            <a:pPr indent="0" marL="0">
              <a:buNone/>
            </a:pPr>
            <a:r>
              <a:rPr lang="en-US" sz="1200" b="1" dirty="0">
                <a:solidFill>
                  <a:srgbClr val="1B2A3A"/>
                </a:solidFill>
                <a:latin typeface="Segoe UI" pitchFamily="34" charset="0"/>
                <a:ea typeface="Segoe UI" pitchFamily="34" charset="-122"/>
                <a:cs typeface="Segoe UI" pitchFamily="34" charset="-120"/>
              </a:rPr>
              <a:t>contrat-cadre valant AE et CCAP</a:t>
            </a:r>
            <a:pPr indent="0" marL="0">
              <a:buNone/>
            </a:pPr>
            <a:r>
              <a:rPr lang="en-US" sz="1200" dirty="0">
                <a:solidFill>
                  <a:srgbClr val="465568"/>
                </a:solidFill>
                <a:latin typeface="Segoe UI" pitchFamily="34" charset="0"/>
                <a:ea typeface="Segoe UI" pitchFamily="34" charset="-122"/>
                <a:cs typeface="Segoe UI" pitchFamily="34" charset="-120"/>
              </a:rPr>
              <a:t>. Le bloc </a:t>
            </a:r>
            <a:pPr indent="0" marL="0">
              <a:buNone/>
            </a:pPr>
            <a:r>
              <a:rPr lang="en-US" sz="1200" b="1" dirty="0">
                <a:solidFill>
                  <a:srgbClr val="1B2A3A"/>
                </a:solidFill>
                <a:latin typeface="Segoe UI" pitchFamily="34" charset="0"/>
                <a:ea typeface="Segoe UI" pitchFamily="34" charset="-122"/>
                <a:cs typeface="Segoe UI" pitchFamily="34" charset="-120"/>
              </a:rPr>
              <a:t>B07</a:t>
            </a:r>
            <a:pPr indent="0" marL="0">
              <a:buNone/>
            </a:pPr>
            <a:r>
              <a:rPr lang="en-US" sz="1200" dirty="0">
                <a:solidFill>
                  <a:srgbClr val="465568"/>
                </a:solidFill>
                <a:latin typeface="Segoe UI" pitchFamily="34" charset="0"/>
                <a:ea typeface="Segoe UI" pitchFamily="34" charset="-122"/>
                <a:cs typeface="Segoe UI" pitchFamily="34" charset="-120"/>
              </a:rPr>
              <a:t> (marchés subséquents, durée, reconduction, mono ou multi-attributaire) apparaît ; le calendrier de mise en concurrence et la remise en concurrence remplacent une large part des clauses du CCAP. Pas de question des pénalités : elles sont fixées dans l’AE.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Fournitures et services</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Biens et services courants : liste des fournitures et calendrier de livraison, bordereau des prix, tableau de conformité technique ; provenance nationale ou importée.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Fournitures et services : les blocs selon la forme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de chaque bloc pour chaque forme ; « — » : bloc absent de cette forme ; « grille » : bloc saisi dans une grille.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31520"/>
                <a:gridCol w="5852160"/>
                <a:gridCol w="1615440"/>
                <a:gridCol w="1615440"/>
                <a:gridCol w="161544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Intitulé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&amp; données du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allotissement &amp; 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Candidats : groupement, sous-traitance, qualifications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remise &amp;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montants &amp;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attribution &amp;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Paiements, avances &amp; garanties financières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Exécution du marché &amp;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Modifications, résiliation &amp;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Besoin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de l'offre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l" indent="0" marL="0">
                        <a:buNone/>
                      </a:pPr>
                      <a:r>
                        <a:rPr lang="en-US" sz="900" b="1" dirty="0">
                          <a:solidFill>
                            <a:srgbClr val="1B2A3A"/>
                          </a:solidFill>
                          <a:latin typeface="Segoe UI" pitchFamily="34" charset="0"/>
                          <a:ea typeface="Segoe UI" pitchFamily="34" charset="-122"/>
                          <a:cs typeface="Segoe UI" pitchFamily="34" charset="-120"/>
                        </a:rPr>
                        <a:t>Total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163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166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177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Fournitures et services : les blocs à grille</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B12 — Le besoin</a:t>
            </a:r>
            <a:endParaRPr lang="en-US" sz="1500" dirty="0"/>
          </a:p>
        </p:txBody>
      </p:sp>
      <p:sp>
        <p:nvSpPr>
          <p:cNvPr id="7" name="Text 5"/>
          <p:cNvSpPr/>
          <p:nvPr/>
        </p:nvSpPr>
        <p:spPr>
          <a:xfrm>
            <a:off x="952476"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Lots, puis articles : désignation, unité, quantité (</a:t>
            </a:r>
            <a:pPr indent="0" marL="0">
              <a:buNone/>
            </a:pPr>
            <a:r>
              <a:rPr lang="en-US" sz="1200" b="1" dirty="0">
                <a:solidFill>
                  <a:srgbClr val="1B2A3A"/>
                </a:solidFill>
                <a:latin typeface="Segoe UI" pitchFamily="34" charset="0"/>
                <a:ea typeface="Segoe UI" pitchFamily="34" charset="-122"/>
                <a:cs typeface="Segoe UI" pitchFamily="34" charset="-120"/>
              </a:rPr>
              <a:t>minimum et maximum</a:t>
            </a:r>
            <a:pPr indent="0" marL="0">
              <a:buNone/>
            </a:pPr>
            <a:r>
              <a:rPr lang="en-US" sz="1200" dirty="0">
                <a:solidFill>
                  <a:srgbClr val="465568"/>
                </a:solidFill>
                <a:latin typeface="Segoe UI" pitchFamily="34" charset="0"/>
                <a:ea typeface="Segoe UI" pitchFamily="34" charset="-122"/>
                <a:cs typeface="Segoe UI" pitchFamily="34" charset="-120"/>
              </a:rPr>
              <a:t> à commande), lieu et délai de livraison, et les </a:t>
            </a:r>
            <a:pPr indent="0" marL="0">
              <a:buNone/>
            </a:pPr>
            <a:r>
              <a:rPr lang="en-US" sz="1200" b="1" dirty="0">
                <a:solidFill>
                  <a:srgbClr val="1B2A3A"/>
                </a:solidFill>
                <a:latin typeface="Segoe UI" pitchFamily="34" charset="0"/>
                <a:ea typeface="Segoe UI" pitchFamily="34" charset="-122"/>
                <a:cs typeface="Segoe UI" pitchFamily="34" charset="-120"/>
              </a:rPr>
              <a:t>caractéristiques techniques</a:t>
            </a:r>
            <a:pPr indent="0" marL="0">
              <a:buNone/>
            </a:pPr>
            <a:r>
              <a:rPr lang="en-US" sz="1200" dirty="0">
                <a:solidFill>
                  <a:srgbClr val="465568"/>
                </a:solidFill>
                <a:latin typeface="Segoe UI" pitchFamily="34" charset="0"/>
                <a:ea typeface="Segoe UI" pitchFamily="34" charset="-122"/>
                <a:cs typeface="Segoe UI" pitchFamily="34" charset="-120"/>
              </a:rPr>
              <a:t> exigées de chaque article. Il produit la liste des fournitures, le bordereau des prix et le tableau de conformité, et pré-remplit l’offre en ligne du candidat.</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B14 — Les pièces de l’offre</a:t>
            </a:r>
            <a:endParaRPr lang="en-US" sz="1500" dirty="0"/>
          </a:p>
        </p:txBody>
      </p:sp>
      <p:sp>
        <p:nvSpPr>
          <p:cNvPr id="11" name="Text 9"/>
          <p:cNvSpPr/>
          <p:nvPr/>
        </p:nvSpPr>
        <p:spPr>
          <a:xfrm>
            <a:off x="4525320"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Deux listes : les </a:t>
            </a:r>
            <a:pPr indent="0" marL="0">
              <a:buNone/>
            </a:pPr>
            <a:r>
              <a:rPr lang="en-US" sz="1200" b="1" dirty="0">
                <a:solidFill>
                  <a:srgbClr val="1B2A3A"/>
                </a:solidFill>
                <a:latin typeface="Segoe UI" pitchFamily="34" charset="0"/>
                <a:ea typeface="Segoe UI" pitchFamily="34" charset="-122"/>
                <a:cs typeface="Segoe UI" pitchFamily="34" charset="-120"/>
              </a:rPr>
              <a:t>pièces administratives</a:t>
            </a:r>
            <a:pPr indent="0" marL="0">
              <a:buNone/>
            </a:pPr>
            <a:r>
              <a:rPr lang="en-US" sz="1200" dirty="0">
                <a:solidFill>
                  <a:srgbClr val="465568"/>
                </a:solidFill>
                <a:latin typeface="Segoe UI" pitchFamily="34" charset="0"/>
                <a:ea typeface="Segoe UI" pitchFamily="34" charset="-122"/>
                <a:cs typeface="Segoe UI" pitchFamily="34" charset="-120"/>
              </a:rPr>
              <a:t> (clause 6.2, 2°) et les </a:t>
            </a:r>
            <a:pPr indent="0" marL="0">
              <a:buNone/>
            </a:pPr>
            <a:r>
              <a:rPr lang="en-US" sz="1200" b="1" dirty="0">
                <a:solidFill>
                  <a:srgbClr val="1B2A3A"/>
                </a:solidFill>
                <a:latin typeface="Segoe UI" pitchFamily="34" charset="0"/>
                <a:ea typeface="Segoe UI" pitchFamily="34" charset="-122"/>
                <a:cs typeface="Segoe UI" pitchFamily="34" charset="-120"/>
              </a:rPr>
              <a:t>autres pièces de l’offre</a:t>
            </a:r>
            <a:pPr indent="0" marL="0">
              <a:buNone/>
            </a:pPr>
            <a:r>
              <a:rPr lang="en-US" sz="1200" dirty="0">
                <a:solidFill>
                  <a:srgbClr val="465568"/>
                </a:solidFill>
                <a:latin typeface="Segoe UI" pitchFamily="34" charset="0"/>
                <a:ea typeface="Segoe UI" pitchFamily="34" charset="-122"/>
                <a:cs typeface="Segoe UI" pitchFamily="34" charset="-120"/>
              </a:rPr>
              <a:t> (1°), avec forme et ancienneté exigées. « Reprendre les pièces du document type », « Coller une liste », « Proposer la liste à partir du texte ». </a:t>
            </a:r>
            <a:pPr indent="0" marL="0">
              <a:buNone/>
            </a:pPr>
            <a:r>
              <a:rPr lang="en-US" sz="1200" b="1" dirty="0">
                <a:solidFill>
                  <a:srgbClr val="1B2A3A"/>
                </a:solidFill>
                <a:latin typeface="Segoe UI" pitchFamily="34" charset="0"/>
                <a:ea typeface="Segoe UI" pitchFamily="34" charset="-122"/>
                <a:cs typeface="Segoe UI" pitchFamily="34" charset="-120"/>
              </a:rPr>
              <a:t>Pas en contrat-cadre.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Spécifications techniques</a:t>
            </a:r>
            <a:endParaRPr lang="en-US" sz="1500" dirty="0"/>
          </a:p>
        </p:txBody>
      </p:sp>
      <p:sp>
        <p:nvSpPr>
          <p:cNvPr id="15" name="Text 13"/>
          <p:cNvSpPr/>
          <p:nvPr/>
        </p:nvSpPr>
        <p:spPr>
          <a:xfrm>
            <a:off x="8098164"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 bloc B14 : la PRMP joint le Word des spécifications (20 Mo au plus), inséré tel quel dans le DAO complet, partie 2.2.</a:t>
            </a:r>
            <a:endParaRPr lang="en-US" sz="1200" dirty="0"/>
          </a:p>
        </p:txBody>
      </p:sp>
      <p:sp>
        <p:nvSpPr>
          <p:cNvPr id="16" name="Text 1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(1/10)</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fournitures à livrer et services connexes à réaliser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du dossier d'appel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(2/10)</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Variantes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B02-VA · Offres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B02-VA-01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Offres variantes prises en considération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Offre de base évaluée la moins-disante ; Toutes les offres conformes aux spécifications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variantes admises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B02-AU · Autres éléments du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 du projet global (marché non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non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Lot par lot (attribution divisible) ; Totalité des lots à un seul 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B03-GR ·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autorisé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et situation juridique : pièces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Capacité technique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Capacité financière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Marchés similaires : certificats de bonne fin ou PV de réception exigés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Autorisation du fabricant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(3/10)</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Qualifications particulières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Communautés locales et ONG admises à candidater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Préférence nationale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B03-ST · Sous-traitance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Sous-traitance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B03-NA · Nantissement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B03-NA-03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Comptable assignataire des paiements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B04-DE · Demande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pour les demandes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d'envoi des demandes par les candidats (jours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du représentant de la PRMP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B04-CO · Contenu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et pièces constituant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B04-LA ·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de l'offre autre que le français admise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admise en plus du français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B04-RO · Remise des offres – forme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copies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Mention et numéro à porter sur les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(4/10)</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B04-LR · Lieu, date et heure de remise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complet de la PRMP destinataire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limite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B04-OP · 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 de la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Présentiel ; En ligne ;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Lien de suivi de la séance pour les soumissionnaires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entre l'heure limite et l'ouverture (minutes)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 du procès-verbal sur la plateforme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B04-CD · Composition du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Modèles de fiches de renseignements joints au dossier (A1, A2…)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A1 ; A2 ; A3 ; A4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 de garantie de soumission joint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C1 ; C2 ; C1 et C2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(5/10)</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B05-CP · Contenu et décomposition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Provenance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Incoterm des fournitures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CIP ; CIF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Décomposition des prix des fournitures nationales (EXW hors TVA, transports intérieurs, assurance,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nationales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Transport intérieur jusqu'à la destination finale à la charge du fournisseur (fournitures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(6/10)</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(CIP) ou port (CIF) de destination des fournitures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B05-VP · Variation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 ou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Formule de révision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révisable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Indices d'actualisation des prix fermes (nature et sources)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ferme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B05-MO · Monnaie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Ariary ; Ariary et devise pour la part importée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Devise admise pour la part importée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B05-GS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soumission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Dépôt en numéraire au Trésor ; Caution personnelle et solidaire d'un organisme agréé par le MEF ; Garantie bancaire ;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de la garantie de soumission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remise de la garantie acceptée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Dépôt direct par le garant (voie A) ; Téléversement avec code de vérification (voie B) ; Original papier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Original papier exigé en plus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Garants habilités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garants habilités)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(7/10)</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B05-TP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B05-TP-01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B06-EP · Évaluation des plis, relations candidats /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des candidats aux demandes de la PRMP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B06-EO · Évaluation des offres, montant évalué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des offres portant sur plusieurs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Par lot ; Sur l'ensemble des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additionnels d'évaluation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Marge de préférence nationale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Variation maximale des quantités à l'attribution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livraison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B06-AN · Attribution et notification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B06-AN-01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bonne exécution exigée à la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Cautionnement ; Garantie bancaire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B08-PA · Paiements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Établissement des décomptes, factures ou mémoires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Périodicité des paiements (prix unitaires)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la livraison ; Mensuelle ; Trimestrielle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unitaires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Part réglée à la réception des fournitures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forfaitaire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Part réglée sur présentation du PV de réception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forfaitaire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B08-AV · 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l'avance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restitution d'avance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Garantie bancaire ; Caution personnelle et solidaire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(8/10)</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B08-IM · Intérêts moratoires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B08-IM-01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intérêts moratoires dus au fournisseur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B08-GB ·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B08-GB-01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bonne exécution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B08-GB-02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bonne exécution (%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B08-RG · Retenue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Retenue de garantie pratiquée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retenue de garantie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30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B09-LL · Lieu de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B09-LL-01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de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B09-OM · Ordres de modification et avenants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communication par le fournisseur sur l'ajustement de prix ou de 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Variation maximale des volumes ou quantités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B09-DX · Délai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B09-DX-01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B09-DX-02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s'il diffère de la date de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B09-DX-03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et période de passation des commandes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B09-PC · Pièces contractuelles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contractuelles supplémentaires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Annexes de l'acte d'engagement (cadre du bordereau de prix, état des sommes versées à des tiers, déclaration des bénéficiaires effectifs)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B09-PS · Protection du secret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communiquées par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(9/10)</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mentionnées en annexe du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B09-PR ·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des pénalités de retard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pénalités : autre plafond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 au CCAG justifiant le plafond des pénalités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pénalités : autre plafond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B09-MC · Matériels confiés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Matériels, objets et approvisionnements confiés au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B09-SK · Stockage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B09-SK-01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Stockage des fournitures à la charge du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B09-EM · Emballage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Marquage requis sur les emballages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requis dans les emballages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B09-RT · Responsabilité du transport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Responsabilité du transport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Selon l'incoterm ; Transport par le fournisseur jusqu'à la destination finale ; Responsabilités partagées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Responsabilités respectives de l'Autorité contractante et du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B09-LF · Livraison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B09-LF-01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livraison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B09-LF-02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à fournir par le fournisseur à la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B09-AS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Selon l'incoterm ; À la charge du fournisseur jusqu'à la livraison ; À la charge de l'Autorité contractante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 de la responsabilité d'assurance du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(10/10)</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B09-CR · Contrôle des prix de revient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 des prix de revient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B09-IV · Inspections, vérifications et 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B09-IV-01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Inspections, vérifications et 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B09-DI · Décision après inspection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après inspection et 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B09-DG ·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B09-DG-03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 pour non-respect des garanties contractuelles (% du prix initial)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B09-DG-04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accordé pour remédier aux défauts pendant la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B10-IR · Indemnité de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B10-IR-01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Indemnité de résiliation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B10-IR-03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l'indemnité de résiliation (%, si différent des 4 % du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B10-AR · Arbitrage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B10-AR-01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Arbitrage et règlement des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B10-DD · Dérogation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B10-DD-01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B14 — Pièces de l'offre</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liste des pièces de l’offre (administratives, autres)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informations en plus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B02-AU · Autres éléments du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du marché à commande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B05-TP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B05-TP-03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maximum annuel estimé du marché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B06-EO · Évaluation des offres, montant évalué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maximum de livraison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B09-OM · Ordres de modification et avenants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B09-OM-03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du marché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informations en moins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Présentes à quantité fixe, absentes à commande. Toutes les autres informations sont identiques à la quantité fixe.</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1188720"/>
                <a:gridCol w="8412480"/>
                <a:gridCol w="18288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B06-EO-11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livraison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un autre référentiel</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Par rapport à la quantité fixe, </a:t>
            </a:r>
            <a:pPr indent="0" marL="0">
              <a:buNone/>
            </a:pPr>
            <a:r>
              <a:rPr lang="en-US" sz="1300" b="1" dirty="0">
                <a:solidFill>
                  <a:srgbClr val="1B2A3A"/>
                </a:solidFill>
                <a:latin typeface="Segoe UI" pitchFamily="34" charset="0"/>
                <a:ea typeface="Segoe UI" pitchFamily="34" charset="-122"/>
                <a:cs typeface="Segoe UI" pitchFamily="34" charset="-120"/>
              </a:rPr>
              <a:t>107</a:t>
            </a:r>
            <a:pPr indent="0" marL="0">
              <a:buNone/>
            </a:pPr>
            <a:r>
              <a:rPr lang="en-US" sz="1300" dirty="0">
                <a:solidFill>
                  <a:srgbClr val="465568"/>
                </a:solidFill>
                <a:latin typeface="Segoe UI" pitchFamily="34" charset="0"/>
                <a:ea typeface="Segoe UI" pitchFamily="34" charset="-122"/>
                <a:cs typeface="Segoe UI" pitchFamily="34" charset="-120"/>
              </a:rPr>
              <a:t> informations en plus et </a:t>
            </a:r>
            <a:pPr indent="0" marL="0">
              <a:buNone/>
            </a:pPr>
            <a:r>
              <a:rPr lang="en-US" sz="1300" b="1" dirty="0">
                <a:solidFill>
                  <a:srgbClr val="1B2A3A"/>
                </a:solidFill>
                <a:latin typeface="Segoe UI" pitchFamily="34" charset="0"/>
                <a:ea typeface="Segoe UI" pitchFamily="34" charset="-122"/>
                <a:cs typeface="Segoe UI" pitchFamily="34" charset="-120"/>
              </a:rPr>
              <a:t>93</a:t>
            </a:r>
            <a:pPr indent="0" marL="0">
              <a:buNone/>
            </a:pPr>
            <a:r>
              <a:rPr lang="en-US" sz="1300" dirty="0">
                <a:solidFill>
                  <a:srgbClr val="465568"/>
                </a:solidFill>
                <a:latin typeface="Segoe UI" pitchFamily="34" charset="0"/>
                <a:ea typeface="Segoe UI" pitchFamily="34" charset="-122"/>
                <a:cs typeface="Segoe UI" pitchFamily="34" charset="-120"/>
              </a:rPr>
              <a:t> en moins : le contrat-cadre suit son propre document type (DPAC-CC, AE-CC). Son tableau complet suit.</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bloc B07</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Propre au contrat-cadre : marchés subséquents, rythme de passation, remise en concurrence, durée maximale et reconduction, mono ou multi-attributaire.</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calendrier de la consultation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Dates de lancement, de remise, d’évaluation, d’attribution et de notification, offres optimisées, courriers de rejet (rubrique B04-CP).</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Ce qui disparaît</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L’essentiel des clauses du CCAP (le contrat-cadre vaut AE et CCAP), les pièces de l’offre en liste (B14), et la question des pénalités.</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(1/11)</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21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(2/11)</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Variantes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B02-OE · Objet et étendue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l'appel d'offres, de la consultation ou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B02-SG · Personne responsable et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passés sur la base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Délégation de la personne responsable (décision et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 de nomination de la PRMP (nature, numéro,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habilitée à signer le contrat-cadre (nom, délégation, date de la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B02-PC · Procédure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de l'article du code des marchés publics de la procédure choisie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Rythme de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Au fur et à mesure des besoins ; Selon le calendrier fixé ci-après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Calendrier de remise en concurrence des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B02-DC · Durée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maximale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reconductible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Conditions de reconduction de la période de validité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(3/11)</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B02-AL · Allotissement et attributaires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et désignation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B02-AL-03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mono ou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B03-GR ·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autorisé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B03-SS · Sous-traitance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sous-traitants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paiement direct des sous-traitants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B04-OP · 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 de la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Présentiel ; En ligne ;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Lien de suivi de la séance pour les soumissionnaires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entre l'heure limite et l'ouverture (minutes)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 du procès-verbal sur la plateforme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du dossier de consultation et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d'acquisition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retrait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(4/11)</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B04-PO · Présentation des candidatures et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la candidature (capacités technique et professionnelle)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B04-RQ ·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remise des offres sous support papier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du contrat-cadre à porter sur le pli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exacte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B04-RC · Renseignements complémentaires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à laquelle adresser les demandes d'informations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aux demandes d'informations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B04-CP · Calendrier prévisionnel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lancement de la 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début de la séance d'évaluation des offres et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d'attribution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notification du contrat-cadre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demandes d'offres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(5/11)</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 réception des 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courriers de rejet aux candidats non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(6/11)</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B05-CP · Contenu et décomposition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Provenance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B05-VP · Variation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 ou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B05-GS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soumission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remise de la garantie acceptée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Dépôt direct par le garant (voie A) ; Téléversement avec code de vérification (voie B) ; Original papier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Original papier exigé en plus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Garants habilités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garants habilités)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B05-TP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B05-TP-01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B05-UM · Unité monétaire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B05-UM-01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en devise (appel d'offres international)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B05-MT · Montant indicatif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hors taxes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toutes taxes comprises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(7/11)</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B05-PM · Prix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prix des marchés subséquents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Prix unitaires ; Prix forfaitaires ; Prix mixtes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prix est un critère d'attribution du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d'augmentation des prix à chaque complétude ou remise en concurrence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Catalogue joint au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B06-AN · Attribution et notification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B06-AN-03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Voies et délais de recours (instance chargée des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B06-SC · Examen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d'ouverture des plis par le représentant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d'élimination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B06-SO · Sélection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Rejet des offres hors délais et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Analyse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Rejet des offres non recevables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Comparaison des offres pour la sélection de l'offre économiquement la plus avantageuse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mécanisme de jugement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B06-CA · Critères d'attribution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d'attribution du contrat-cadre et modalités d'appréciation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B06-NO ·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B06-NO-01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réception portée sur l'accusé de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(8/11)</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B06-NO-02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remise en main propre au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B07 — Marchés subséquents  ·  25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B07-PS ·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d'envoi des demandes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des titulaires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B07-FS · 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Marchés uniques non fractionnés ; Marchés fractionnés par bons de commande successifs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Interlocuteur du titulaire (service, direction, coordonnées)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B07-MA · Attribution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complétude de l'offre initiale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complétude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compter de la notification de la demande de complétude ; Lors de la demande de complétude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Attribution des marchés subséquents après remise en concurrence (non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d'attribution des marchés subséquents en cas d'allotissement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Titulaires des lots correspondant à l'objet du marché ; Titulaires de tous les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sous-critères pondérés de la remise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B07-TN · Termes non couverts par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B07-PI · Pièces contractuelles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contractuelles du contrat-cadre et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(9/11)</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B07-DU · Durée et reconduction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Entrée en vigueur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fixée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reconductions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d'années maximum du contrat-cadre, reconductions comprises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la décision de reconduction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B07-DE · Délais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d'exécution des marchés subséquents uniques ou non fractionnés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Fixés par l'autorité contractante ; À l'initiative des candidats ; Fixés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fixé par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à l'initiative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d'exécution des marchés fractionnés par bons de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B07-PE · Pénalités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de retard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applicables ; Fixées dans le contrat-cadre ; Fixées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fixées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Conformément à l'article 12 du CCAG ; Dérogation au CCAG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dérogeant au CCAG : rédaction libre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B08-AV · 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l'avance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(10/11)</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B08-FI · Financement et sûretés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versement de l'avance (délai de paiement en jours calendaires)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Remboursement de l'avance (article 72.III du code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versée au sous-traitant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B08-FP · Facturation et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Présentation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facturation (service responsable de la vérification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paiement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intérêts moratoires (%, au moins un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B09-EA · Exécution administrative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générales d'exécution communes aux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modalités générales d'exécution communes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particulières à fixer dans les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B09-VA · Vérification et 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Vérification et admission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Dispositions du CCAG applicables ; Clause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 libre de vérification et d'admission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B09-GP ·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Garanties contractuelles particulières fournies par 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des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des prestations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(11/11)</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partir de l'admission ; À partir de la date de mise en 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exécutée conformément au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B09-AU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exigée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Attestation d'assurance à justifier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de l'attestation d'assurance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B10-VR · Voies de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B10-VR-01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Juridiction compétente pour les litiges nés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B10-MT · Modifications en cours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dénomination sociale du titulaire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contractant en cours d'exécution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B10-RS ·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Résiliation sans faute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résiliation sans faute (mois avant la date anniversaire)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Fautes du titulaire ouvrant la résiliation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03</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Travaux et réhabilitation</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Bâtiment, routes, réhabilitation : détail quantitatif et estimatif par série de prix, matériel et personnel exigés, tranches, prix mixtes.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Travaux et réhabilitation : les blocs selon la forme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de chaque bloc pour chaque forme ; « — » : bloc absent de cette forme ; « grille » : bloc saisi dans une grille.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31520"/>
                <a:gridCol w="5852160"/>
                <a:gridCol w="1615440"/>
                <a:gridCol w="1615440"/>
                <a:gridCol w="161544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Intitulé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&amp; données du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allotissement &amp; 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Candidats : groupement, sous-traitance, qualifications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remise &amp;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montants &amp;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attribution &amp;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Paiements, avances &amp; garanties financières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Exécution du marché &amp;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Modifications, résiliation &amp;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Annexes et formulaires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Besoin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Matériel et personnel exigés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de l'offre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l" indent="0" marL="0">
                        <a:buNone/>
                      </a:pPr>
                      <a:r>
                        <a:rPr lang="en-US" sz="900" b="1" dirty="0">
                          <a:solidFill>
                            <a:srgbClr val="1B2A3A"/>
                          </a:solidFill>
                          <a:latin typeface="Segoe UI" pitchFamily="34" charset="0"/>
                          <a:ea typeface="Segoe UI" pitchFamily="34" charset="-122"/>
                          <a:cs typeface="Segoe UI" pitchFamily="34" charset="-120"/>
                        </a:rPr>
                        <a:t>Total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Travaux et réhabilitation : les blocs à grille</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B12 — Le besoin : le DQE</a:t>
            </a:r>
            <a:endParaRPr lang="en-US" sz="1500" dirty="0"/>
          </a:p>
        </p:txBody>
      </p:sp>
      <p:sp>
        <p:nvSpPr>
          <p:cNvPr id="7" name="Text 5"/>
          <p:cNvSpPr/>
          <p:nvPr/>
        </p:nvSpPr>
        <p:spPr>
          <a:xfrm>
            <a:off x="952476"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Par lot, des </a:t>
            </a:r>
            <a:pPr indent="0" marL="0">
              <a:buNone/>
            </a:pPr>
            <a:r>
              <a:rPr lang="en-US" sz="1200" b="1" dirty="0">
                <a:solidFill>
                  <a:srgbClr val="1B2A3A"/>
                </a:solidFill>
                <a:latin typeface="Segoe UI" pitchFamily="34" charset="0"/>
                <a:ea typeface="Segoe UI" pitchFamily="34" charset="-122"/>
                <a:cs typeface="Segoe UI" pitchFamily="34" charset="-120"/>
              </a:rPr>
              <a:t>séries</a:t>
            </a:r>
            <a:pPr indent="0" marL="0">
              <a:buNone/>
            </a:pPr>
            <a:r>
              <a:rPr lang="en-US" sz="1200" dirty="0">
                <a:solidFill>
                  <a:srgbClr val="465568"/>
                </a:solidFill>
                <a:latin typeface="Segoe UI" pitchFamily="34" charset="0"/>
                <a:ea typeface="Segoe UI" pitchFamily="34" charset="-122"/>
                <a:cs typeface="Segoe UI" pitchFamily="34" charset="-120"/>
              </a:rPr>
              <a:t> de prix : n° de prix, désignation, libellé au bordereau, unité, quantité, </a:t>
            </a:r>
            <a:pPr indent="0" marL="0">
              <a:buNone/>
            </a:pPr>
            <a:r>
              <a:rPr lang="en-US" sz="1200" b="1" dirty="0">
                <a:solidFill>
                  <a:srgbClr val="1B2A3A"/>
                </a:solidFill>
                <a:latin typeface="Segoe UI" pitchFamily="34" charset="0"/>
                <a:ea typeface="Segoe UI" pitchFamily="34" charset="-122"/>
                <a:cs typeface="Segoe UI" pitchFamily="34" charset="-120"/>
              </a:rPr>
              <a:t>plafond</a:t>
            </a:r>
            <a:pPr indent="0" marL="0">
              <a:buNone/>
            </a:pPr>
            <a:r>
              <a:rPr lang="en-US" sz="1200" dirty="0">
                <a:solidFill>
                  <a:srgbClr val="465568"/>
                </a:solidFill>
                <a:latin typeface="Segoe UI" pitchFamily="34" charset="0"/>
                <a:ea typeface="Segoe UI" pitchFamily="34" charset="-122"/>
                <a:cs typeface="Segoe UI" pitchFamily="34" charset="-120"/>
              </a:rPr>
              <a:t>, </a:t>
            </a:r>
            <a:pPr indent="0" marL="0">
              <a:buNone/>
            </a:pPr>
            <a:r>
              <a:rPr lang="en-US" sz="1200" b="1" dirty="0">
                <a:solidFill>
                  <a:srgbClr val="1B2A3A"/>
                </a:solidFill>
                <a:latin typeface="Segoe UI" pitchFamily="34" charset="0"/>
                <a:ea typeface="Segoe UI" pitchFamily="34" charset="-122"/>
                <a:cs typeface="Segoe UI" pitchFamily="34" charset="-120"/>
              </a:rPr>
              <a:t>sous-détail</a:t>
            </a:r>
            <a:pPr indent="0" marL="0">
              <a:buNone/>
            </a:pPr>
            <a:r>
              <a:rPr lang="en-US" sz="1200" dirty="0">
                <a:solidFill>
                  <a:srgbClr val="465568"/>
                </a:solidFill>
                <a:latin typeface="Segoe UI" pitchFamily="34" charset="0"/>
                <a:ea typeface="Segoe UI" pitchFamily="34" charset="-122"/>
                <a:cs typeface="Segoe UI" pitchFamily="34" charset="-120"/>
              </a:rPr>
              <a:t> exigé. Il produit le bordereau des prix et DQE, et pré-remplit le DQE du candidat (prix en lettres, K1, sous-détails).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B13 — Matériel et personnel exigés</a:t>
            </a:r>
            <a:endParaRPr lang="en-US" sz="1500" dirty="0"/>
          </a:p>
        </p:txBody>
      </p:sp>
      <p:sp>
        <p:nvSpPr>
          <p:cNvPr id="11" name="Text 9"/>
          <p:cNvSpPr/>
          <p:nvPr/>
        </p:nvSpPr>
        <p:spPr>
          <a:xfrm>
            <a:off x="4525320"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matériel minimum (nombre, en propre ou en location) et le personnel clé (fonction, diplôme, années d’expérience). Repris dans l’offre en ligne du candidat et contrôlés en séance.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B14 — Les pièces de l’offre</a:t>
            </a:r>
            <a:endParaRPr lang="en-US" sz="1500" dirty="0"/>
          </a:p>
        </p:txBody>
      </p:sp>
      <p:sp>
        <p:nvSpPr>
          <p:cNvPr id="15" name="Text 13"/>
          <p:cNvSpPr/>
          <p:nvPr/>
        </p:nvSpPr>
        <p:spPr>
          <a:xfrm>
            <a:off x="8098164"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Comme en fournitures : pièces administratives et autres pièces, une ligne par pièce ; spécifications techniques en Word. </a:t>
            </a:r>
            <a:pPr indent="0" marL="0">
              <a:buNone/>
            </a:pPr>
            <a:r>
              <a:rPr lang="en-US" sz="1200" b="1" dirty="0">
                <a:solidFill>
                  <a:srgbClr val="1B2A3A"/>
                </a:solidFill>
                <a:latin typeface="Segoe UI" pitchFamily="34" charset="0"/>
                <a:ea typeface="Segoe UI" pitchFamily="34" charset="-122"/>
                <a:cs typeface="Segoe UI" pitchFamily="34" charset="-120"/>
              </a:rPr>
              <a:t>Pas en contrat-cadre.</a:t>
            </a:r>
            <a:endParaRPr lang="en-US" sz="1200" dirty="0"/>
          </a:p>
        </p:txBody>
      </p:sp>
      <p:sp>
        <p:nvSpPr>
          <p:cNvPr id="16" name="Text 1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(1/12)</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du dossier d'appel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(2/12)</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B02-AU · Autres éléments du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maximum de lots attribuables à un même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B02-LT · Lots, variantes et tranches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 du projet global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Divisible ; Totalité des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et montant de la tranche ferme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et montant de la tranche conditionnelle 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et montant de la tranche conditionnelle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d'affermissement de la tranche conditionnelle 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d'affermissement de la tranche conditionnelle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B02-MW · Maîtrise d'ouvrage et maîtrise d'œuvre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B02-MW-01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Maître d'œuvre : nom et coordonnées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B02-MW-02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Références du lien contractuel entre le maître de l'ouvrage et le maître d'œuvre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B02-MW-04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Maître d'ouvrage délégué : nom et coordonnées (laisser vide s'il n'y en a pas)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B02-OT · Objet et consistance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Projet ou opération plus vaste dont le marché fait partie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Consistance des travaux à exécuter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et situation juridique : pièces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(3/12)</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B03-GT ·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 des membres d'un groupement d'entreprises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conjoint : conditions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solidaire : conditions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B03-NT · Nantissement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B03-NT-01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Comptable assignataire des paiements (désignation seule)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B03-QT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Communautés locales et organisations non gouvernementales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Qualifications particulières requises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Chiffre d'affaires minimum exigé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Projet de nature et de complexité comparables réalisé comme entrepreneur principal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sous laquelle l'entrepreneur disposera du matériel (propriété, location…)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Années d'expérience exigées du directeur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 de référence des marchés similaires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Personnel clé exigé (fonctions, diplômes, années d'expérience, 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Liquidité ou ligne de crédit bancaire minimale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Liquidité minimale en pourcentage du montant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meilleures années retenues pour le chiffre d'affaires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Sur les n dernières années (chiffre d'affaires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(4/12)</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du chiffre d'affaires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maximal de marchés de référence cumulables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B03-QT-20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cumulé minimum des marchés de référence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B04-CD · Composition du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Modèles de fiches de renseignements joints au dossier (A1, A2…)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A1 ; A2 ; A3 ; A4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 de garantie de soumission joint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C1 ; C2 ; C1 et C2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Plans joints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(5/12)</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B04-EQ · Demande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d'envoi des demandes d'éclaircissement par les candidats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du représentant de la PRMP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B04-FP · Remise des offres — forme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copies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Mention et numéro du dossier d'appel d'offres à porter sur les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et numéro du lot à porter sur les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B04-LG ·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de l'offre si différente du français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Traduction exigée des pièces rédigées dans une autre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B04-OV · 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(6/12)</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B04-PI · Contenu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et pièces constitutifs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B04-RP · Réunion préparatoire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Réunion préparatoire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date et heure de la réunion préparatoire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B04-VL · Visite des lieux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d'accès des candidats aux lieux d'exécution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Visite des lieux 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B05-AG · Autres garanties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B05-AG-01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 garanties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B05-GA · Garantie de restitution d'avance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restitution d'avance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B05-GE ·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bonne exécution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Part exigée en devises étrangères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Formes admises de la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Garantie bancaire ; Caution personnelle et solidaire ;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Libération de la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Libérée à 50 % puis au terme du délai de garantie ; Libérée à 100 % à la réception définitive ; Libérée à 100 % à la réception provisoire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garantie de bonne exécution (%, au plus 5 %)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B05-GQ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soumission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(7/12)</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Formes admises de la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Caution personnelle et solidaire ; Garantie bancaire ;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Bénéficiaire des chèques de banque, pour toutes les garanties (ex. « Monsieur le Receveur Général d'Antananarivo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B05-MN · Monnaie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Ariary ; Devises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B05-PT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prix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B05-RG · Retenue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B05-RG-01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Retenue de garantie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B05-RG-02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retenue de garantie (%, au plus 5 %)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B05-VR · Variation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 ou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Indices d'actualisation des prix fermes et sources (laisser vide sans actualisation)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B06-EO · Évaluation des offres, montant évalué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Traitement des offres anormalement hautes ou basses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B06-EV · Évaluation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des offres portant sur plusieurs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Par lot ; Sur l'ensemble des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B06-PN · Marge de préférence nationale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B06-PN-01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Marge de préférence nationale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B06-PN-02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marge de préférence nationale (%, au plus 10 %)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B06-RC · Relations avec les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B06-RC-01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aux candidats pendant l'évaluation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(8/12)</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B08-AF · Avances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forfaitaire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l'avance forfaitaire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Pourcentage du montant total des travaux à exécuter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Pourcentage du montant en monnaie nationale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Pourcentage du montant en devises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B08-AP · Acomptes sur approvisionnements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Acomptes sur approvisionnements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d'établissement des décomptes d'approvisionnement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B08-EF · Engagements financiers du maître de l’ouvrage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B08-EF-01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de l'estimation des engagements financiers du maître de l'ouvrage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B08-MR · Modalités de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B08-MR-01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en une fois pour un marché de moins de trois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B08-MR-05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du projet de décompte mensuel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B08-RE ·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en régie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Conditions des travaux en régie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des travaux en régie (% du montant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42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B09-PR ·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B09-AC · Assurances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des installations et engins de chantier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(9/12)</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 responsabilité civile en cours de chantier et après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 responsabilité civile décennale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B09-CH · Conditions de chantier et prix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réalisés dans un établissement existant et en activité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impératif et ses conséquences sur le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Contrainte d'horaire imposée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Ouvrage livré clés en main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fournies par le maître de l'ouvrage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B09-DC · Documents contractuels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contractuels et leur ordre de priorité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B09-DL · Délai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 commencement des travaux et fin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B09-DL-04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réception de l'ouvrage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B09-DL-05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non cumulables en cas d'allotissement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B09-DT · Date d'effet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la notification de l'approbation à l'entrepreneur ; À la notification de la décision d'affermissement de la tranche conditionnelle ; À la notification de la tranche ferme au titulaire ; À la notification de l'ordre de service de commencer les travaux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B09-FM · Cas de force majeure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B09-FM-01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Cas de force majeure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B09-FM-02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Seuils caractérisant la force majeure (précipitations, vent…)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B09-GT ·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(10/12)</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B09-MA · Masse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de l'augmentation dans la masse des travaux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de la diminution dans la masse des travaux sans indemnité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de la diminution ouvrant droit à indemnité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du changement dans l'importance des diverses natures d'ouvrage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B09-MD · Modification des délais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cumulée maximale de prolongation ou de report sans avenant (ex. « soixante (60) jours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journées d'intempéries prévisibles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B09-NE · Notifications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B09-NE-01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notification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B09-OD · Obligation de discrétion et mesures de sécurité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Obligation de discrétion et mesures de sécurité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communiquées à la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B09-OD-03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mentionnées en annexe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B09-PE · Pénalités et retenues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pénalités journalières (millièmes du montant du marché ou de la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des pénalités de retard (% du montant global du marché ou de la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B09-PM · Matériaux fournis par le maître de l’ouvrage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Matériaux et produits fournis par le maître de l'ouvrage, et conditions de prise en charge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(11/12)</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B09-PT · Préparation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 de préparation des travaux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maximum de la période de préparation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soumission du programme d'exécution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Plan d'hygiène et de sécurité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B09-PV · Contrôle des prix de revient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 des prix de revient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Éléments du prix de revient soumis à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B09-RP · Réception provisoire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par tranches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début des opérations préalables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réception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B09-VQ · Vérification qualitative des matériaux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vérification qualitative des matériaux et produits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B09-VX · Visa des documents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B09-VX-01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visa des documents d'exécution par le maître d'œuvre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B09-BT · Travaux de bâtiment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B09-BT-01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de bâtiment (CPC, TBM, responsabilité décennale)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B10-DR · 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B10-DR-01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B10-PC · Procédure contentieuse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contentieuse et juridiction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(12/12)</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B13 — Matériel et personnel exigés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les grilles du matériel et du personnel exigés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B14 — Pièces de l'offre</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liste des pièces de l’offre (administratives, autres)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mêmes informations qu’à quantité fixe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référentiel travaux et réhabilitation « à commande » est </a:t>
            </a:r>
            <a:pPr indent="0" marL="0">
              <a:buNone/>
            </a:pPr>
            <a:r>
              <a:rPr lang="en-US" sz="1300" b="1" dirty="0">
                <a:solidFill>
                  <a:srgbClr val="1B2A3A"/>
                </a:solidFill>
                <a:latin typeface="Segoe UI" pitchFamily="34" charset="0"/>
                <a:ea typeface="Segoe UI" pitchFamily="34" charset="-122"/>
                <a:cs typeface="Segoe UI" pitchFamily="34" charset="-120"/>
              </a:rPr>
              <a:t>identique</a:t>
            </a:r>
            <a:pPr indent="0" marL="0">
              <a:buNone/>
            </a:pPr>
            <a:r>
              <a:rPr lang="en-US" sz="1300" dirty="0">
                <a:solidFill>
                  <a:srgbClr val="465568"/>
                </a:solidFill>
                <a:latin typeface="Segoe UI" pitchFamily="34" charset="0"/>
                <a:ea typeface="Segoe UI" pitchFamily="34" charset="-122"/>
                <a:cs typeface="Segoe UI" pitchFamily="34" charset="-120"/>
              </a:rPr>
              <a:t> à celui de la quantité fixe (181 informations, mêmes codes). La forme agit ailleurs :</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 besoin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Quantités </a:t>
            </a:r>
            <a:pPr indent="0" marL="0">
              <a:buNone/>
            </a:pPr>
            <a:r>
              <a:rPr lang="en-US" sz="1200" b="1" dirty="0">
                <a:solidFill>
                  <a:srgbClr val="1B2A3A"/>
                </a:solidFill>
                <a:latin typeface="Segoe UI" pitchFamily="34" charset="0"/>
                <a:ea typeface="Segoe UI" pitchFamily="34" charset="-122"/>
                <a:cs typeface="Segoe UI" pitchFamily="34" charset="-120"/>
              </a:rPr>
              <a:t>minimum et maximum</a:t>
            </a:r>
            <a:pPr indent="0" marL="0">
              <a:buNone/>
            </a:pPr>
            <a:r>
              <a:rPr lang="en-US" sz="1200" dirty="0">
                <a:solidFill>
                  <a:srgbClr val="465568"/>
                </a:solidFill>
                <a:latin typeface="Segoe UI" pitchFamily="34" charset="0"/>
                <a:ea typeface="Segoe UI" pitchFamily="34" charset="-122"/>
                <a:cs typeface="Segoe UI" pitchFamily="34" charset="-120"/>
              </a:rPr>
              <a:t> par article ou par prix ; le classeur et l’offre en ligne du candidat portent les deux.</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les documents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modèles de documents ont des passages propres à la forme (condition sur le type de marché) : montants minimum et maximum de l’acte d’engagement, bons de commande.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l’import du DAO</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L’import d’un DAO existant est ouvert à cette forme : il propose les valeurs, la PRMP décide.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un autre référentiel</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Par rapport à la quantité fixe, </a:t>
            </a:r>
            <a:pPr indent="0" marL="0">
              <a:buNone/>
            </a:pPr>
            <a:r>
              <a:rPr lang="en-US" sz="1300" b="1" dirty="0">
                <a:solidFill>
                  <a:srgbClr val="1B2A3A"/>
                </a:solidFill>
                <a:latin typeface="Segoe UI" pitchFamily="34" charset="0"/>
                <a:ea typeface="Segoe UI" pitchFamily="34" charset="-122"/>
                <a:cs typeface="Segoe UI" pitchFamily="34" charset="-120"/>
              </a:rPr>
              <a:t>91</a:t>
            </a:r>
            <a:pPr indent="0" marL="0">
              <a:buNone/>
            </a:pPr>
            <a:r>
              <a:rPr lang="en-US" sz="1300" dirty="0">
                <a:solidFill>
                  <a:srgbClr val="465568"/>
                </a:solidFill>
                <a:latin typeface="Segoe UI" pitchFamily="34" charset="0"/>
                <a:ea typeface="Segoe UI" pitchFamily="34" charset="-122"/>
                <a:cs typeface="Segoe UI" pitchFamily="34" charset="-120"/>
              </a:rPr>
              <a:t> informations en plus et </a:t>
            </a:r>
            <a:pPr indent="0" marL="0">
              <a:buNone/>
            </a:pPr>
            <a:r>
              <a:rPr lang="en-US" sz="1300" b="1" dirty="0">
                <a:solidFill>
                  <a:srgbClr val="1B2A3A"/>
                </a:solidFill>
                <a:latin typeface="Segoe UI" pitchFamily="34" charset="0"/>
                <a:ea typeface="Segoe UI" pitchFamily="34" charset="-122"/>
                <a:cs typeface="Segoe UI" pitchFamily="34" charset="-120"/>
              </a:rPr>
              <a:t>131</a:t>
            </a:r>
            <a:pPr indent="0" marL="0">
              <a:buNone/>
            </a:pPr>
            <a:r>
              <a:rPr lang="en-US" sz="1300" dirty="0">
                <a:solidFill>
                  <a:srgbClr val="465568"/>
                </a:solidFill>
                <a:latin typeface="Segoe UI" pitchFamily="34" charset="0"/>
                <a:ea typeface="Segoe UI" pitchFamily="34" charset="-122"/>
                <a:cs typeface="Segoe UI" pitchFamily="34" charset="-120"/>
              </a:rPr>
              <a:t> en moins : le contrat-cadre suit son propre document type (DPAC-CC, AE-CC). Son tableau complet suit.</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bloc B07</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Propre au contrat-cadre : marchés subséquents, rythme de passation, remise en concurrence, durée maximale et reconduction, mono ou multi-attributaire.</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calendrier de la consultation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Dates de lancement, de remise, d’évaluation, d’attribution et de notification, offres optimisées, courriers de rejet (rubrique B04-CP).</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Ce qui disparaît</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L’essentiel des clauses du CCAP (le contrat-cadre vaut AE et CCAP), les pièces de l’offre en liste (B14), et la question des pénalités.</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(1/9)</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(2/9)</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B02-OE · Objet et étendue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l'appel d'offres, de la consultation ou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B02-SG · Personne responsable et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passés sur la base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Délégation de la personne responsable (décision et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 de nomination de la PRMP (nature, numéro,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habilitée à signer le contrat-cadre (nom, délégation, date de la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B02-PC · Procédure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de l'article du code des marchés publics de la procédure choisie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Rythme de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Au fur et à mesure des besoins ; Selon le calendrier fixé ci-après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Calendrier de remise en concurrence des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B02-DC · Durée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maximale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reconductible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Conditions de reconduction de la période de validité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B02-AL · Allotissement et attributaires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et désignation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B02-DK · Décomposition et durée de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B02-DK-01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Décomposition de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(3/9)</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B03-GM · Membres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 d'entrepreneurs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retrait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B04-PO · Présentation des candidatures et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la candidature (capacités technique et professionnelle)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B04-RQ ·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remise des offres sous support papier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du contrat-cadre à porter sur le pli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exacte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(4/9)</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B04-RC · Renseignements complémentaires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à laquelle adresser les demandes d'informations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aux demandes d'informations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B04-CP · Calendrier prévisionnel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lancement de la 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début de la séance d'évaluation des offres et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d'attribution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notification du contrat-cadre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demandes d'offres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 réception des 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courriers de rejet aux candidats non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(5/9)</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B04-CT · Calendrier prévisionnel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notification du contrat-cadre au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B05-UM · Unité monétaire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B05-UM-01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en devise (appel d'offres international)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B05-MT · Montant indicatif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hors taxes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toutes taxes comprises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B05-PM · Prix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prix des marchés subséquents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Prix unitaires ; Prix forfaitaires ; Prix mixtes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prix est un critère d'attribution du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d'augmentation des prix à chaque complétude ou remise en concurrence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Catalogue joint au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(6/9)</a:t>
            </a:r>
            <a:endParaRPr lang="en-US" sz="2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B05-GQ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B06-AN · Attribution et notification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B06-AN-03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Voies et délais de recours (instance chargée des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B06-SC · Examen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d'élimination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B06-SO · Sélection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mécanisme de jugement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B06-CA · Critères d'attribution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d'attribution du contrat-cadre et modalités d'appréciation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B07 — Marchés subséquents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B07-PS ·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d'envoi des demandes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des titulaires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B07-FS · 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Marchés uniques non fractionnés ; Marchés fractionnés par bons de commande successifs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Interlocuteur du titulaire (service, direction, coordonnées)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B07-MA · Attribution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complétude de l'offre initiale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complétude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compter de la notification de la demande de complétude ; Lors de la demande de complétude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(7/9)</a:t>
            </a:r>
            <a:endParaRPr lang="en-US" sz="2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d'attribution des marchés subséquents en cas d'allotissement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Titulaires des lots correspondant à l'objet du marché ; Titulaires de tous les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sous-critères pondérés de la remise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B07-TN · Termes non couverts par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B07-DU · Durée et reconduction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fixée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reconductions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d'années maximum du contrat-cadre, reconductions comprises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la décision de reconduction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B07-DE · Délais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d'exécution des marchés subséquents uniques ou non fractionnés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Fixés par l'autorité contractante ; À l'initiative des candidats ; Fixés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fixé par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à l'initiative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B07-PE · Pénalités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de retard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applicables ; Fixées dans le contrat-cadre ; Fixées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fixées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Conformément à l'article 12 du CCAG ; Dérogation au CCAG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dérogeant au CCAG : rédaction libre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(8/9)</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B07-OM · Objet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B07-OM-02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mono ou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B08-FI · Financement et sûretés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versement de l'avance (délai de paiement en jours calendaires)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versée au sous-traitant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B08-FP · Facturation et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Présentation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facturation (service responsable de la vérification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intérêts moratoires (%, au moins un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B08-AT · Financement et sûretés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versée aux titulaires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l'avance (% du montant TTC du marché subséquent, au plus 20 %)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B08-FT · Facturation et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paiement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B09-EA · Exécution administrative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générales d'exécution communes aux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modalités générales d'exécution communes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B09-VA · Vérification et 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Vérification et admission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Dispositions du CCAG applicables ; Clause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 libre de vérification et d'admission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(9/9)</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B09-GP ·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Garanties contractuelles particulières fournies par 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des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des prestations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partir de l'admission ; À partir de la date de mise en 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exécutée conformément au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B09-AU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exigée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de l'attestation d'assurance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B10-VR · Voies de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B10-VR-01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Juridiction compétente pour les litiges nés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B10-MT · Modifications en cours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dénomination sociale du titulaire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contractant en cours d'exécution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B10-RS ·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résiliation sans faute (mois avant la date anniversaire)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Fautes du titulaire ouvrant la résiliation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B13 — Matériel et personnel exigés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les grilles du matériel et du personnel exigés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04</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Prestations intellectuelles</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Études, contrôle, assistance : consultation d’une liste restreinte, DPIC, cahier des prescriptions spéciales ; pas de contrat-cadre, pas de besoin chiffré au DAO.</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Prestations intellectuelles : les blocs selon la forme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de chaque bloc pour chaque forme ; « — » : bloc absent de cette forme ; « grille » : bloc saisi dans une grille.</a:t>
            </a:r>
            <a:endParaRPr lang="en-US" sz="13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31520"/>
                <a:gridCol w="5852160"/>
                <a:gridCol w="2423160"/>
                <a:gridCol w="24231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Intitulé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&amp; données du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allotissement &amp; 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Candidats : groupement, sous-traitance, qualifications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remise &amp;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montants &amp;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attribution &amp;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Paiements, avances &amp; garanties financières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Exécution du marché &amp;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Modifications, résiliation &amp;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l" indent="0" marL="0">
                        <a:buNone/>
                      </a:pPr>
                      <a:r>
                        <a:rPr lang="en-US" sz="900" b="1" dirty="0">
                          <a:solidFill>
                            <a:srgbClr val="1B2A3A"/>
                          </a:solidFill>
                          <a:latin typeface="Segoe UI" pitchFamily="34" charset="0"/>
                          <a:ea typeface="Segoe UI" pitchFamily="34" charset="-122"/>
                          <a:cs typeface="Segoe UI" pitchFamily="34" charset="-120"/>
                        </a:rPr>
                        <a:t>Total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Prestations intellectuelles : les blocs à grille</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Pas de bloc à grille</a:t>
            </a:r>
            <a:endParaRPr lang="en-US" sz="1500" dirty="0"/>
          </a:p>
        </p:txBody>
      </p:sp>
      <p:sp>
        <p:nvSpPr>
          <p:cNvPr id="7" name="Text 5"/>
          <p:cNvSpPr/>
          <p:nvPr/>
        </p:nvSpPr>
        <p:spPr>
          <a:xfrm>
            <a:off x="952476"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prestations intellectuelles n’ont ni besoin chiffré (B12), ni matériel et personnel (B13), ni liste des pièces (B14) : la proposition technique et financière du consultant suit les formulaires-types.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AMI, liste restreinte, lettres</a:t>
            </a:r>
            <a:endParaRPr lang="en-US" sz="1500" dirty="0"/>
          </a:p>
        </p:txBody>
      </p:sp>
      <p:sp>
        <p:nvSpPr>
          <p:cNvPr id="11" name="Text 9"/>
          <p:cNvSpPr/>
          <p:nvPr/>
        </p:nvSpPr>
        <p:spPr>
          <a:xfrm>
            <a:off x="4525320"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Pas d’avis public. La liste restreinte naît de l’</a:t>
            </a:r>
            <a:pPr indent="0" marL="0">
              <a:buNone/>
            </a:pPr>
            <a:r>
              <a:rPr lang="en-US" sz="1200" b="1" dirty="0">
                <a:solidFill>
                  <a:srgbClr val="1B2A3A"/>
                </a:solidFill>
                <a:latin typeface="Segoe UI" pitchFamily="34" charset="0"/>
                <a:ea typeface="Segoe UI" pitchFamily="34" charset="-122"/>
                <a:cs typeface="Segoe UI" pitchFamily="34" charset="-120"/>
              </a:rPr>
              <a:t>appel à manifestation d’intérêt</a:t>
            </a:r>
            <a:pPr indent="0" marL="0">
              <a:buNone/>
            </a:pPr>
            <a:r>
              <a:rPr lang="en-US" sz="1200" dirty="0">
                <a:solidFill>
                  <a:srgbClr val="465568"/>
                </a:solidFill>
                <a:latin typeface="Segoe UI" pitchFamily="34" charset="0"/>
                <a:ea typeface="Segoe UI" pitchFamily="34" charset="-122"/>
                <a:cs typeface="Segoe UI" pitchFamily="34" charset="-120"/>
              </a:rPr>
              <a:t> mené dans l’application (art. 42-II) : la commission note les expressions d’intérêt et retient six candidats. Une lettre d’invitation est produite pour chaque candidat de la liste.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Pénalités</a:t>
            </a:r>
            <a:endParaRPr lang="en-US" sz="1500" dirty="0"/>
          </a:p>
        </p:txBody>
      </p:sp>
      <p:sp>
        <p:nvSpPr>
          <p:cNvPr id="15" name="Text 13"/>
          <p:cNvSpPr/>
          <p:nvPr/>
        </p:nvSpPr>
        <p:spPr>
          <a:xfrm>
            <a:off x="8098164"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plafond du CCAG est de </a:t>
            </a:r>
            <a:pPr indent="0" marL="0">
              <a:buNone/>
            </a:pPr>
            <a:r>
              <a:rPr lang="en-US" sz="1200" b="1" dirty="0">
                <a:solidFill>
                  <a:srgbClr val="1B2A3A"/>
                </a:solidFill>
                <a:latin typeface="Segoe UI" pitchFamily="34" charset="0"/>
                <a:ea typeface="Segoe UI" pitchFamily="34" charset="-122"/>
                <a:cs typeface="Segoe UI" pitchFamily="34" charset="-120"/>
              </a:rPr>
              <a:t>10 %</a:t>
            </a:r>
            <a:pPr indent="0" marL="0">
              <a:buNone/>
            </a:pPr>
            <a:r>
              <a:rPr lang="en-US" sz="1200" dirty="0">
                <a:solidFill>
                  <a:srgbClr val="465568"/>
                </a:solidFill>
                <a:latin typeface="Segoe UI" pitchFamily="34" charset="0"/>
                <a:ea typeface="Segoe UI" pitchFamily="34" charset="-122"/>
                <a:cs typeface="Segoe UI" pitchFamily="34" charset="-120"/>
              </a:rPr>
              <a:t> (15 % ailleurs) : la question de cadrage le dit.</a:t>
            </a:r>
            <a:endParaRPr lang="en-US" sz="1200" dirty="0"/>
          </a:p>
        </p:txBody>
      </p:sp>
      <p:sp>
        <p:nvSpPr>
          <p:cNvPr id="16" name="Text 1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(1/9)</a:t>
            </a:r>
            <a:endParaRPr lang="en-US" sz="2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du dossier d'appel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(2/9)</a:t>
            </a:r>
            <a:endParaRPr lang="en-US" sz="2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B02-CL · Client et personne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B02-CL-01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Dénomination et adresse du client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B02-CL-02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passés sur la base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B02-MS · Mode de sélection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sélection du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Qualité technique, expérience et proposition financière ; Budget prédéterminé dont le candidat propose la meilleure utilisation ; Meilleure proposition financière parmi les candidats ayant obtenu la note technique minimale ; Qualité technique exclusivement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B02-OP · Objet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Projet ou opération plus vaste dont le marché fait partie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principal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début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B02-SP · Signature de l'acte d'engagement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accordé au candidat pour renvoyer l'acte d'engagement signé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et situation juridique : pièces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(3/9)</a:t>
            </a:r>
            <a:endParaRPr lang="en-US" sz="2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B03-GP · Groupement de consultants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 de consultants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DPIC,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B03-NP · Nantissement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B03-NP-01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maximum nanti, en chiffres et en lettres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B03-SP · Sous-traitance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Sous-traitance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l'annexe indiquant la nature et le montant des prestations sous-traitées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des prestations sous-traitées, TVA incluse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l'annexe de demande d'acceptation des sous-traitants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36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B04-CD · Composition du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Modèles de fiches de renseignements joints au dossier (A1, A2…)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A1 ; A2 ; A3 ; A4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 de garantie de soumission joint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C1 ; C2 ; C1 et C2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(4/9)</a:t>
            </a:r>
            <a:endParaRPr lang="en-US" sz="2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B04-AI · Assistance du client pendant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B04-AI-01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Intrants à fournir par le client pendant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B04-DP · Délai de validité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propositions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B04-EP · Demande d'éclaircissements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PRMP pour les demandes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pour les demandes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d'envoi des demandes par les candidats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 la PRMP aux demandes d'éclaircissement (jours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B04-FL · Forme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copies de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et numéro à porter sur l'enveloppe de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B04-FL-03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du client à porter sur l'enveloppe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B04-LH · Lieu, date et heure de la remise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B04-LH-01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 pour la remise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(5/9)</a:t>
            </a:r>
            <a:endParaRPr lang="en-US" sz="2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B04-LH-02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B04-LP ·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de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Français ; Français et une seconde langue ; Une autre langue que le français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Seconde langue admise pour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B04-NP · Contenu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B04-NP-01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Une proposition technique et une proposition financière sous enveloppes distinctes ; Uniquement une proposition technique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B04-QT · Proposition technique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B04-QT-03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sur lesquels le client attend une attention particulière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B04-RU · Réunion préparatoire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Réunion préparatoire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et date de la réunion préparatoire (au moins 21 jours avant la remise)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B05-MP · Monnaie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autre que l'Ariary admise, et conditions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B05-PF · Proposition financière et mode de rémunération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rémunération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Prix forfaitaire ; Temps passé ; Résultat ; Lié au coût estimatif ou effectif de travaux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du forfait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prévisionnelle des prestations rémunérées au temps passé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global maximum des prestations au temps passé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supplémentaire pour aléa d'exécution, sur accord écrit du client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(6/9)</a:t>
            </a:r>
            <a:endParaRPr lang="en-US" sz="2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Rémunération au résultat : montant ou mode de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Événement déclenchant la rémunération finale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des montants servant de base à la rémunération et pourcentage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Barème dégressif en fonction du volume des montants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Profession et références du barème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Frais remboursables : liste des dépenses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Frais divers : liste des frais de fonctionnement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Budget disponible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B05-RP · Caractère ferme ou révisable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fermes ou révisables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B06-CS · Classement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Poids de la proposition technique (T)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Poids de la proposition financière (F)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B06-NG · Négociations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B06-NG-01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des négociations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B06-TP · Évaluation des propositions techniques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expérience des candidats pertinente pour la 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conformité du plan de travail et de la méthode aux termes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qualifications et compétence du personnel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adéquation du programme de transfert de connaissances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participation de ressortissants nationaux au personnel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Score technique minimum (points)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(7/9)</a:t>
            </a:r>
            <a:endParaRPr lang="en-US" sz="2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B08-AI · Avance forfaitaire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forfaitaire prévue au cahier des clauses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B08-AI-03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l'avance forfaitaire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B08-DP · Domiciliation bancaire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 du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Consultant unique ; Groupement de consultants solidaires ; Groupement de consultants conjoints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B08-IP · Intérêts moratoires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B08-IP-01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Intérêts moratoires : points ajoutés au taux directeur de la Banque centrale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B08-RP · Modalités de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 d'une durée inférieure à trois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 rémunérées au temps passé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 par étapes ou remise de documents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B09-PR ·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B09-AI · Assistance du client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du client pendant l'exécution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B09-AI-02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Intrants à fournir par le client pendant l'exécution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B09-AP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l'assurance exigée du consultant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B09-DK · Documents contractuels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B09-DK-01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rendus contractuels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B09-DP · Durée et délais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délai court de l'ordre de service de commencer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(8/9)</a:t>
            </a:r>
            <a:endParaRPr lang="en-US" sz="2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globale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Nombre de mois ; Date de fin de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en mois ou date de fin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B09-FC · Fourniture de matériel par le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B09-FC-01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à fournir par le consultant pour le matériel qu'il fournit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B09-MF · Matériel confié par le client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Matériel confié par le client au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restitution du matériel confié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Garantie bancaire ; Engagement de caution personnelle et solidaire ; Cautionnement en numéraire par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B09-MS · Mesures de sécurité et protection du secret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ou de protection du secret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B09-MV · Modifications et avenants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des demandes d'ajustement du prix ou des délais d'achèvement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B09-NC · Notification au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B09-NC-01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détaillée du consultant pour les notifications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B09-OP · Opération de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vérification et d'agrément des résultats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des opérations de vérification (jours, à défaut les 30 jours du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B09-UR · Utilisation des résultats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B09-UR-01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Dispositions sur l'utilisation des résultats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B10-DP · 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(9/9)</a:t>
            </a:r>
            <a:endParaRPr lang="en-US" sz="2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B10-IN · Indemnisation en cas de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B10-IN-01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d'indemnisation en cas de résiliation du fait du client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B10-PP · Procédure contentieuse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B10-PP-01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contentieuse et juridiction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mêmes informations qu’à quantité fixe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référentiel prestations intellectuelles « à commande » est </a:t>
            </a:r>
            <a:pPr indent="0" marL="0">
              <a:buNone/>
            </a:pPr>
            <a:r>
              <a:rPr lang="en-US" sz="1300" b="1" dirty="0">
                <a:solidFill>
                  <a:srgbClr val="1B2A3A"/>
                </a:solidFill>
                <a:latin typeface="Segoe UI" pitchFamily="34" charset="0"/>
                <a:ea typeface="Segoe UI" pitchFamily="34" charset="-122"/>
                <a:cs typeface="Segoe UI" pitchFamily="34" charset="-120"/>
              </a:rPr>
              <a:t>identique</a:t>
            </a:r>
            <a:pPr indent="0" marL="0">
              <a:buNone/>
            </a:pPr>
            <a:r>
              <a:rPr lang="en-US" sz="1300" dirty="0">
                <a:solidFill>
                  <a:srgbClr val="465568"/>
                </a:solidFill>
                <a:latin typeface="Segoe UI" pitchFamily="34" charset="0"/>
                <a:ea typeface="Segoe UI" pitchFamily="34" charset="-122"/>
                <a:cs typeface="Segoe UI" pitchFamily="34" charset="-120"/>
              </a:rPr>
              <a:t> à celui de la quantité fixe (127 informations, mêmes codes). La forme agit ailleurs :</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 besoin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Sans objet : pas de besoin chiffré au DAO.</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les documents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modèles de documents ont des passages propres à la forme (condition sur le type de marché) : montants minimum et maximum de l’acte d’engagement, bons de commande.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l’import du DAO</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L’import d’un DAO existant est ouvert à cette forme : il propose les valeurs, la PRMP décide.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05</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Les règles de gestion</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Ce que le serveur garantit pour chaque fiche, quelles que soient sa nature et sa forme : qui la prépare, d’où viennent ses deux axes, ce qu’elle demande, quand elle se valide, ce qu’elle produit, comment elle se corrige et ce qui la suit. Source : les règles de gestion du serveur, au 8 octobre 2026.</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DAO </a:t>
            </a:r>
            <a:pPr indent="0" marL="0">
              <a:buNone/>
            </a:pPr>
            <a:r>
              <a:rPr lang="en-US" sz="1300" b="1" dirty="0">
                <a:solidFill>
                  <a:srgbClr val="1B2A3A"/>
                </a:solidFill>
                <a:latin typeface="Segoe UI" pitchFamily="34" charset="0"/>
                <a:ea typeface="Segoe UI" pitchFamily="34" charset="-122"/>
                <a:cs typeface="Segoe UI" pitchFamily="34" charset="-120"/>
              </a:rPr>
              <a:t>se prépare</a:t>
            </a:r>
            <a:pPr indent="0" marL="0">
              <a:buNone/>
            </a:pPr>
            <a:r>
              <a:rPr lang="en-US" sz="1300" dirty="0">
                <a:solidFill>
                  <a:srgbClr val="465568"/>
                </a:solidFill>
                <a:latin typeface="Segoe UI" pitchFamily="34" charset="0"/>
                <a:ea typeface="Segoe UI" pitchFamily="34" charset="-122"/>
                <a:cs typeface="Segoe UI" pitchFamily="34" charset="-120"/>
              </a:rPr>
              <a:t> dans PRS : il ne s’y importe pas comme un fichier. La fiche est la seule source de vérité.</a:t>
            </a:r>
            <a:endParaRPr lang="en-US" sz="13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RG-01</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Une fiche par DMC, versionnée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 </a:t>
                      </a:r>
                      <a:pPr indent="0" marL="0">
                        <a:buNone/>
                      </a:pPr>
                      <a:r>
                        <a:rPr lang="en-US" sz="1250" b="1" dirty="0">
                          <a:solidFill>
                            <a:srgbClr val="1B2A3A"/>
                          </a:solidFill>
                          <a:latin typeface="Segoe UI" pitchFamily="34" charset="0"/>
                          <a:ea typeface="Segoe UI" pitchFamily="34" charset="-122"/>
                          <a:cs typeface="Segoe UI" pitchFamily="34" charset="-120"/>
                        </a:rPr>
                        <a:t>référentiel du serveur</a:t>
                      </a:r>
                      <a:pPr indent="0" marL="0">
                        <a:buNone/>
                      </a:pPr>
                      <a:r>
                        <a:rPr lang="en-US" sz="1250" dirty="0">
                          <a:solidFill>
                            <a:srgbClr val="1B2A3A"/>
                          </a:solidFill>
                          <a:latin typeface="Segoe UI" pitchFamily="34" charset="0"/>
                          <a:ea typeface="Segoe UI" pitchFamily="34" charset="-122"/>
                          <a:cs typeface="Segoe UI" pitchFamily="34" charset="-120"/>
                        </a:rPr>
                        <a:t> dessine l’écran. Les informations reprises du plan sont </a:t>
                      </a:r>
                      <a:pPr indent="0" marL="0">
                        <a:buNone/>
                      </a:pPr>
                      <a:r>
                        <a:rPr lang="en-US" sz="1250" b="1" dirty="0">
                          <a:solidFill>
                            <a:srgbClr val="1B2A3A"/>
                          </a:solidFill>
                          <a:latin typeface="Segoe UI" pitchFamily="34" charset="0"/>
                          <a:ea typeface="Segoe UI" pitchFamily="34" charset="-122"/>
                          <a:cs typeface="Segoe UI" pitchFamily="34" charset="-120"/>
                        </a:rPr>
                        <a:t>relues à chaque lecture</a:t>
                      </a:r>
                      <a:pPr indent="0" marL="0">
                        <a:buNone/>
                      </a:pPr>
                      <a:r>
                        <a:rPr lang="en-US" sz="1250" dirty="0">
                          <a:solidFill>
                            <a:srgbClr val="1B2A3A"/>
                          </a:solidFill>
                          <a:latin typeface="Segoe UI" pitchFamily="34" charset="0"/>
                          <a:ea typeface="Segoe UI" pitchFamily="34" charset="-122"/>
                          <a:cs typeface="Segoe UI" pitchFamily="34" charset="-120"/>
                        </a:rPr>
                        <a:t> : elles se corrigent dans le plan, jamais dans la fiche.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RG-02</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Qui prépare, qui valide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La </a:t>
                      </a:r>
                      <a:pPr indent="0" marL="0">
                        <a:buNone/>
                      </a:pPr>
                      <a:r>
                        <a:rPr lang="en-US" sz="1250" b="1" dirty="0">
                          <a:solidFill>
                            <a:srgbClr val="1B2A3A"/>
                          </a:solidFill>
                          <a:latin typeface="Segoe UI" pitchFamily="34" charset="0"/>
                          <a:ea typeface="Segoe UI" pitchFamily="34" charset="-122"/>
                          <a:cs typeface="Segoe UI" pitchFamily="34" charset="-120"/>
                        </a:rPr>
                        <a:t>PRMP propriétaire du plan et son UGPM</a:t>
                      </a:r>
                      <a:pPr indent="0" marL="0">
                        <a:buNone/>
                      </a:pPr>
                      <a:r>
                        <a:rPr lang="en-US" sz="1250" dirty="0">
                          <a:solidFill>
                            <a:srgbClr val="1B2A3A"/>
                          </a:solidFill>
                          <a:latin typeface="Segoe UI" pitchFamily="34" charset="0"/>
                          <a:ea typeface="Segoe UI" pitchFamily="34" charset="-122"/>
                          <a:cs typeface="Segoe UI" pitchFamily="34" charset="-120"/>
                        </a:rPr>
                        <a:t> préparent. La </a:t>
                      </a:r>
                      <a:pPr indent="0" marL="0">
                        <a:buNone/>
                      </a:pPr>
                      <a:r>
                        <a:rPr lang="en-US" sz="1250" b="1" dirty="0">
                          <a:solidFill>
                            <a:srgbClr val="1B2A3A"/>
                          </a:solidFill>
                          <a:latin typeface="Segoe UI" pitchFamily="34" charset="0"/>
                          <a:ea typeface="Segoe UI" pitchFamily="34" charset="-122"/>
                          <a:cs typeface="Segoe UI" pitchFamily="34" charset="-120"/>
                        </a:rPr>
                        <a:t>PRMP seule</a:t>
                      </a:r>
                      <a:pPr indent="0" marL="0">
                        <a:buNone/>
                      </a:pPr>
                      <a:r>
                        <a:rPr lang="en-US" sz="1250" dirty="0">
                          <a:solidFill>
                            <a:srgbClr val="1B2A3A"/>
                          </a:solidFill>
                          <a:latin typeface="Segoe UI" pitchFamily="34" charset="0"/>
                          <a:ea typeface="Segoe UI" pitchFamily="34" charset="-122"/>
                          <a:cs typeface="Segoe UI" pitchFamily="34" charset="-120"/>
                        </a:rPr>
                        <a:t> valide la fiche et crée le dossier à soumettre.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RG-03</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Les gardes, dans l’ordre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Ligne inconnue ; hors périmètre (refusé </a:t>
                      </a:r>
                      <a:pPr indent="0" marL="0">
                        <a:buNone/>
                      </a:pPr>
                      <a:r>
                        <a:rPr lang="en-US" sz="1250" b="1" dirty="0">
                          <a:solidFill>
                            <a:srgbClr val="1B2A3A"/>
                          </a:solidFill>
                          <a:latin typeface="Segoe UI" pitchFamily="34" charset="0"/>
                          <a:ea typeface="Segoe UI" pitchFamily="34" charset="-122"/>
                          <a:cs typeface="Segoe UI" pitchFamily="34" charset="-120"/>
                        </a:rPr>
                        <a:t>avant</a:t>
                      </a:r>
                      <a:pPr indent="0" marL="0">
                        <a:buNone/>
                      </a:pPr>
                      <a:r>
                        <a:rPr lang="en-US" sz="1250" dirty="0">
                          <a:solidFill>
                            <a:srgbClr val="1B2A3A"/>
                          </a:solidFill>
                          <a:latin typeface="Segoe UI" pitchFamily="34" charset="0"/>
                          <a:ea typeface="Segoe UI" pitchFamily="34" charset="-122"/>
                          <a:cs typeface="Segoe UI" pitchFamily="34" charset="-120"/>
                        </a:rPr>
                        <a:t> tout autre motif : une PRMP étrangère n’apprend rien) ; vacance de mandat ; puis ligne retirée, version du plan dépassée, mode non rattaché au type DAO, plan sans PV signé favorable (FAV, ou FAVR réserves levées), DAO déjà existant.</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RG-04</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 mode de passation</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Il doit être rattaché au type </a:t>
                      </a:r>
                      <a:pPr indent="0" marL="0">
                        <a:buNone/>
                      </a:pPr>
                      <a:r>
                        <a:rPr lang="en-US" sz="1250" b="1" dirty="0">
                          <a:solidFill>
                            <a:srgbClr val="1B2A3A"/>
                          </a:solidFill>
                          <a:latin typeface="Segoe UI" pitchFamily="34" charset="0"/>
                          <a:ea typeface="Segoe UI" pitchFamily="34" charset="-122"/>
                          <a:cs typeface="Segoe UI" pitchFamily="34" charset="-120"/>
                        </a:rPr>
                        <a:t>DAO</a:t>
                      </a:r>
                      <a:pPr indent="0" marL="0">
                        <a:buNone/>
                      </a:pPr>
                      <a:r>
                        <a:rPr lang="en-US" sz="1250" dirty="0">
                          <a:solidFill>
                            <a:srgbClr val="1B2A3A"/>
                          </a:solidFill>
                          <a:latin typeface="Segoe UI" pitchFamily="34" charset="0"/>
                          <a:ea typeface="Segoe UI" pitchFamily="34" charset="-122"/>
                          <a:cs typeface="Segoe UI" pitchFamily="34" charset="-120"/>
                        </a:rPr>
                        <a:t> (acte de l’Administrateur, « Types de DMC »). ⚠️ 08/10 : le mode « Appel à manifestation d’intérêt » y est rattaché par migration ; les lignes de prestations intellectuelles en AMI créent leur fiche.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RG-05</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 ligne à travers les versions du plan</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La fiche suit sa ligne (filiation) jusqu’à la </a:t>
                      </a:r>
                      <a:pPr indent="0" marL="0">
                        <a:buNone/>
                      </a:pPr>
                      <a:r>
                        <a:rPr lang="en-US" sz="1250" b="1" dirty="0">
                          <a:solidFill>
                            <a:srgbClr val="1B2A3A"/>
                          </a:solidFill>
                          <a:latin typeface="Segoe UI" pitchFamily="34" charset="0"/>
                          <a:ea typeface="Segoe UI" pitchFamily="34" charset="-122"/>
                          <a:cs typeface="Segoe UI" pitchFamily="34" charset="-120"/>
                        </a:rPr>
                        <a:t>dernière version signée</a:t>
                      </a:r>
                      <a:pPr indent="0" marL="0">
                        <a:buNone/>
                      </a:pPr>
                      <a:r>
                        <a:rPr lang="en-US" sz="1250" dirty="0">
                          <a:solidFill>
                            <a:srgbClr val="1B2A3A"/>
                          </a:solidFill>
                          <a:latin typeface="Segoe UI" pitchFamily="34" charset="0"/>
                          <a:ea typeface="Segoe UI" pitchFamily="34" charset="-122"/>
                          <a:cs typeface="Segoe UI" pitchFamily="34" charset="-120"/>
                        </a:rPr>
                        <a:t> du plan ; une mise à jour encore en instruction ne la change pas. Une ligne retirée entre-temps est signalée.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RG-06</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Une fiche ouverte par erreur</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Elle se </a:t>
                      </a:r>
                      <a:pPr indent="0" marL="0">
                        <a:buNone/>
                      </a:pPr>
                      <a:r>
                        <a:rPr lang="en-US" sz="1250" b="1" dirty="0">
                          <a:solidFill>
                            <a:srgbClr val="1B2A3A"/>
                          </a:solidFill>
                          <a:latin typeface="Segoe UI" pitchFamily="34" charset="0"/>
                          <a:ea typeface="Segoe UI" pitchFamily="34" charset="-122"/>
                          <a:cs typeface="Segoe UI" pitchFamily="34" charset="-120"/>
                        </a:rPr>
                        <a:t>supprime</a:t>
                      </a:r>
                      <a:pPr indent="0" marL="0">
                        <a:buNone/>
                      </a:pPr>
                      <a:r>
                        <a:rPr lang="en-US" sz="1250" dirty="0">
                          <a:solidFill>
                            <a:srgbClr val="1B2A3A"/>
                          </a:solidFill>
                          <a:latin typeface="Segoe UI" pitchFamily="34" charset="0"/>
                          <a:ea typeface="Segoe UI" pitchFamily="34" charset="-122"/>
                          <a:cs typeface="Segoe UI" pitchFamily="34" charset="-120"/>
                        </a:rPr>
                        <a:t> tant qu’elle n’a pas d’histoire (jamais validée, sans document, sans dossier) ; la ligne redevient préparable. Une fiche validée ne se supprime pas : elle se </a:t>
                      </a:r>
                      <a:pPr indent="0" marL="0">
                        <a:buNone/>
                      </a:pPr>
                      <a:r>
                        <a:rPr lang="en-US" sz="1250" b="1" dirty="0">
                          <a:solidFill>
                            <a:srgbClr val="1B2A3A"/>
                          </a:solidFill>
                          <a:latin typeface="Segoe UI" pitchFamily="34" charset="0"/>
                          <a:ea typeface="Segoe UI" pitchFamily="34" charset="-122"/>
                          <a:cs typeface="Segoe UI" pitchFamily="34" charset="-120"/>
                        </a:rPr>
                        <a:t>révise</a:t>
                      </a:r>
                      <a:pPr indent="0" marL="0">
                        <a:buNone/>
                      </a:pPr>
                      <a:r>
                        <a:rPr lang="en-US" sz="1250" dirty="0">
                          <a:solidFill>
                            <a:srgbClr val="1B2A3A"/>
                          </a:solidFill>
                          <a:latin typeface="Segoe UI" pitchFamily="34" charset="0"/>
                          <a:ea typeface="Segoe UI" pitchFamily="34" charset="-122"/>
                          <a:cs typeface="Segoe UI" pitchFamily="34" charset="-120"/>
                        </a:rPr>
                        <a:t>.</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deux axes de la fiche viennent du plan</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a:t>
            </a:r>
            <a:pPr indent="0" marL="0">
              <a:buNone/>
            </a:pPr>
            <a:r>
              <a:rPr lang="en-US" sz="1300" b="1" dirty="0">
                <a:solidFill>
                  <a:srgbClr val="1B2A3A"/>
                </a:solidFill>
                <a:latin typeface="Segoe UI" pitchFamily="34" charset="0"/>
                <a:ea typeface="Segoe UI" pitchFamily="34" charset="-122"/>
                <a:cs typeface="Segoe UI" pitchFamily="34" charset="-120"/>
              </a:rPr>
              <a:t>nature</a:t>
            </a:r>
            <a:pPr indent="0" marL="0">
              <a:buNone/>
            </a:pPr>
            <a:r>
              <a:rPr lang="en-US" sz="1300" dirty="0">
                <a:solidFill>
                  <a:srgbClr val="465568"/>
                </a:solidFill>
                <a:latin typeface="Segoe UI" pitchFamily="34" charset="0"/>
                <a:ea typeface="Segoe UI" pitchFamily="34" charset="-122"/>
                <a:cs typeface="Segoe UI" pitchFamily="34" charset="-120"/>
              </a:rPr>
              <a:t> et la </a:t>
            </a:r>
            <a:pPr indent="0" marL="0">
              <a:buNone/>
            </a:pPr>
            <a:r>
              <a:rPr lang="en-US" sz="1300" b="1" dirty="0">
                <a:solidFill>
                  <a:srgbClr val="1B2A3A"/>
                </a:solidFill>
                <a:latin typeface="Segoe UI" pitchFamily="34" charset="0"/>
                <a:ea typeface="Segoe UI" pitchFamily="34" charset="-122"/>
                <a:cs typeface="Segoe UI" pitchFamily="34" charset="-120"/>
              </a:rPr>
              <a:t>forme</a:t>
            </a:r>
            <a:pPr indent="0" marL="0">
              <a:buNone/>
            </a:pPr>
            <a:r>
              <a:rPr lang="en-US" sz="1300" dirty="0">
                <a:solidFill>
                  <a:srgbClr val="465568"/>
                </a:solidFill>
                <a:latin typeface="Segoe UI" pitchFamily="34" charset="0"/>
                <a:ea typeface="Segoe UI" pitchFamily="34" charset="-122"/>
                <a:cs typeface="Segoe UI" pitchFamily="34" charset="-120"/>
              </a:rPr>
              <a:t> ne se choisissent pas dans la fiche : elles se lisent sur la ligne du plan de passation.</a:t>
            </a:r>
            <a:endParaRPr lang="en-US" sz="13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RG-07</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 catégorie = la nature de la ligne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Traduite par la correspondance que l’Administrateur tient dans le référentiel des natures ; jamais une réponse de cadrage. Ligne sans nature, ou nature sans catégorie : la création est refusée, avec le motif.</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RG-08</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 forme = la forme de la ligne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Quantité fixe, à commande ou contrat-cadre, relue à chaque lecture sur la ligne courante. Elle figure parmi les informations reprises (« Forme du marché ») ; la question n’est plus posée au cadrage.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RG-09</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Ligne sans forme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La fiche se lit, mais ne se crée ni ne s’écrit : le message nomme le champ « Forme du marché » à compléter dans le plan. Le défaut « quantité fixe » ne décide jamais à la place du plan.</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RG-10</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Fiche saisie sous un autre type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 brouillon est signalé (« type changé ») et se réaligne en reprenant son cadrage ; une version validée ne change ni de version ni de contenu.</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RG-11</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Les règles de la catégorie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Chaque fiche se valide avec les règles de </a:t>
                      </a:r>
                      <a:pPr indent="0" marL="0">
                        <a:buNone/>
                      </a:pPr>
                      <a:r>
                        <a:rPr lang="en-US" sz="1250" b="1" dirty="0">
                          <a:solidFill>
                            <a:srgbClr val="1B2A3A"/>
                          </a:solidFill>
                          <a:latin typeface="Segoe UI" pitchFamily="34" charset="0"/>
                          <a:ea typeface="Segoe UI" pitchFamily="34" charset="-122"/>
                          <a:cs typeface="Segoe UI" pitchFamily="34" charset="-120"/>
                        </a:rPr>
                        <a:t>sa</a:t>
                      </a:r>
                      <a:pPr indent="0" marL="0">
                        <a:buNone/>
                      </a:pPr>
                      <a:r>
                        <a:rPr lang="en-US" sz="1250" dirty="0">
                          <a:solidFill>
                            <a:srgbClr val="1B2A3A"/>
                          </a:solidFill>
                          <a:latin typeface="Segoe UI" pitchFamily="34" charset="0"/>
                          <a:ea typeface="Segoe UI" pitchFamily="34" charset="-122"/>
                          <a:cs typeface="Segoe UI" pitchFamily="34" charset="-120"/>
                        </a:rPr>
                        <a:t> catégorie : quand deux catégories posent la même question (allotissement, forme de prix…), c’est la définition de la catégorie de la fiche qui s’applique.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cadrage ouvre les informations ; la saisie accepte un brouillon ; le </a:t>
            </a:r>
            <a:pPr indent="0" marL="0">
              <a:buNone/>
            </a:pPr>
            <a:r>
              <a:rPr lang="en-US" sz="1300" b="1" dirty="0">
                <a:solidFill>
                  <a:srgbClr val="1B2A3A"/>
                </a:solidFill>
                <a:latin typeface="Segoe UI" pitchFamily="34" charset="0"/>
                <a:ea typeface="Segoe UI" pitchFamily="34" charset="-122"/>
                <a:cs typeface="Segoe UI" pitchFamily="34" charset="-120"/>
              </a:rPr>
              <a:t>bilan</a:t>
            </a:r>
            <a:pPr indent="0" marL="0">
              <a:buNone/>
            </a:pPr>
            <a:r>
              <a:rPr lang="en-US" sz="1300" dirty="0">
                <a:solidFill>
                  <a:srgbClr val="465568"/>
                </a:solidFill>
                <a:latin typeface="Segoe UI" pitchFamily="34" charset="0"/>
                <a:ea typeface="Segoe UI" pitchFamily="34" charset="-122"/>
                <a:cs typeface="Segoe UI" pitchFamily="34" charset="-120"/>
              </a:rPr>
              <a:t> dit ce qui bloque la validation.</a:t>
            </a:r>
            <a:endParaRPr lang="en-US" sz="13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RG-12</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 cadrage ferme des rubriques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Une information peut porter une </a:t>
                      </a:r>
                      <a:pPr indent="0" marL="0">
                        <a:buNone/>
                      </a:pPr>
                      <a:r>
                        <a:rPr lang="en-US" sz="1250" b="1" dirty="0">
                          <a:solidFill>
                            <a:srgbClr val="1B2A3A"/>
                          </a:solidFill>
                          <a:latin typeface="Segoe UI" pitchFamily="34" charset="0"/>
                          <a:ea typeface="Segoe UI" pitchFamily="34" charset="-122"/>
                          <a:cs typeface="Segoe UI" pitchFamily="34" charset="-120"/>
                        </a:rPr>
                        <a:t>condition</a:t>
                      </a:r>
                      <a:pPr indent="0" marL="0">
                        <a:buNone/>
                      </a:pPr>
                      <a:r>
                        <a:rPr lang="en-US" sz="1250" dirty="0">
                          <a:solidFill>
                            <a:srgbClr val="1B2A3A"/>
                          </a:solidFill>
                          <a:latin typeface="Segoe UI" pitchFamily="34" charset="0"/>
                          <a:ea typeface="Segoe UI" pitchFamily="34" charset="-122"/>
                          <a:cs typeface="Segoe UI" pitchFamily="34" charset="-120"/>
                        </a:rPr>
                        <a:t> sur les réponses du cadrage. Condition fausse, ou question sans réponse : l’information est ignorée à l’enregistrement et absente du bilan.</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RG-13</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Enregistrer n’est pas valider</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 bloc s’enregistre </a:t>
                      </a:r>
                      <a:pPr indent="0" marL="0">
                        <a:buNone/>
                      </a:pPr>
                      <a:r>
                        <a:rPr lang="en-US" sz="1250" b="1" dirty="0">
                          <a:solidFill>
                            <a:srgbClr val="1B2A3A"/>
                          </a:solidFill>
                          <a:latin typeface="Segoe UI" pitchFamily="34" charset="0"/>
                          <a:ea typeface="Segoe UI" pitchFamily="34" charset="-122"/>
                          <a:cs typeface="Segoe UI" pitchFamily="34" charset="-120"/>
                        </a:rPr>
                        <a:t>incomplet</a:t>
                      </a:r>
                      <a:pPr indent="0" marL="0">
                        <a:buNone/>
                      </a:pPr>
                      <a:r>
                        <a:rPr lang="en-US" sz="1250" dirty="0">
                          <a:solidFill>
                            <a:srgbClr val="1B2A3A"/>
                          </a:solidFill>
                          <a:latin typeface="Segoe UI" pitchFamily="34" charset="0"/>
                          <a:ea typeface="Segoe UI" pitchFamily="34" charset="-122"/>
                          <a:cs typeface="Segoe UI" pitchFamily="34" charset="-120"/>
                        </a:rPr>
                        <a:t>. Une valeur illisible (type, option, montant négatif) est refusée champ par champ ; l’obligatoire manquant ne bloque qu’au bilan.</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RG-14</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 bilan des contrôles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Recalculé à chaque lecture : obligatoire renseigné, montant positif, ordre des dates (repli sur celles du plan), garantie valable plus longtemps que les offres, avance au plus 20 %, garantie exigée au-delà de 5 % d’avance, forfait 60/40 ; et des avertissements.</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RG-15</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On ne demande que ce qui sert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La fiche ne demande que ce que le dossier </a:t>
                      </a:r>
                      <a:pPr indent="0" marL="0">
                        <a:buNone/>
                      </a:pPr>
                      <a:r>
                        <a:rPr lang="en-US" sz="1250" b="1" dirty="0">
                          <a:solidFill>
                            <a:srgbClr val="1B2A3A"/>
                          </a:solidFill>
                          <a:latin typeface="Segoe UI" pitchFamily="34" charset="0"/>
                          <a:ea typeface="Segoe UI" pitchFamily="34" charset="-122"/>
                          <a:cs typeface="Segoe UI" pitchFamily="34" charset="-120"/>
                        </a:rPr>
                        <a:t>imprime</a:t>
                      </a:r>
                      <a:pPr indent="0" marL="0">
                        <a:buNone/>
                      </a:pPr>
                      <a:r>
                        <a:rPr lang="en-US" sz="1250" dirty="0">
                          <a:solidFill>
                            <a:srgbClr val="1B2A3A"/>
                          </a:solidFill>
                          <a:latin typeface="Segoe UI" pitchFamily="34" charset="0"/>
                          <a:ea typeface="Segoe UI" pitchFamily="34" charset="-122"/>
                          <a:cs typeface="Segoe UI" pitchFamily="34" charset="-120"/>
                        </a:rPr>
                        <a:t> ou ce qu’un </a:t>
                      </a:r>
                      <a:pPr indent="0" marL="0">
                        <a:buNone/>
                      </a:pPr>
                      <a:r>
                        <a:rPr lang="en-US" sz="1250" b="1" dirty="0">
                          <a:solidFill>
                            <a:srgbClr val="1B2A3A"/>
                          </a:solidFill>
                          <a:latin typeface="Segoe UI" pitchFamily="34" charset="0"/>
                          <a:ea typeface="Segoe UI" pitchFamily="34" charset="-122"/>
                          <a:cs typeface="Segoe UI" pitchFamily="34" charset="-120"/>
                        </a:rPr>
                        <a:t>contrôle lit</a:t>
                      </a:r>
                      <a:pPr indent="0" marL="0">
                        <a:buNone/>
                      </a:pPr>
                      <a:r>
                        <a:rPr lang="en-US" sz="1250" dirty="0">
                          <a:solidFill>
                            <a:srgbClr val="1B2A3A"/>
                          </a:solidFill>
                          <a:latin typeface="Segoe UI" pitchFamily="34" charset="0"/>
                          <a:ea typeface="Segoe UI" pitchFamily="34" charset="-122"/>
                          <a:cs typeface="Segoe UI" pitchFamily="34" charset="-120"/>
                        </a:rPr>
                        <a:t> : 25 informations retirées en fournitures, 17 en travaux (61 en contrat-cadre de travaux), 13 en prestations intellectuelles. Une information lue par un contrôle reste, facultative. Rien de saisi n’est perdu.</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RG-16</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Une version validée n’est jamais convertie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Si le référentiel change, l’ancienne valeur reste lisible dans sa version, n’est pas reprise à la révision suivante, et se ressaisit.</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RG-17</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 garantie de soumission</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Plusieurs formes peuvent être admises (au moins une si elle est exigée) ; le candidat choisit. Le modèle joint (C1, C2) se choisit. Son taux, rapporté au montant de chaque lot, est comparé aux bornes de l’Administrateur (référence 2 %) : un </a:t>
                      </a:r>
                      <a:pPr indent="0" marL="0">
                        <a:buNone/>
                      </a:pPr>
                      <a:r>
                        <a:rPr lang="en-US" sz="1250" b="1" dirty="0">
                          <a:solidFill>
                            <a:srgbClr val="1B2A3A"/>
                          </a:solidFill>
                          <a:latin typeface="Segoe UI" pitchFamily="34" charset="0"/>
                          <a:ea typeface="Segoe UI" pitchFamily="34" charset="-122"/>
                          <a:cs typeface="Segoe UI" pitchFamily="34" charset="-120"/>
                        </a:rPr>
                        <a:t>avertissement</a:t>
                      </a:r>
                      <a:pPr indent="0" marL="0">
                        <a:buNone/>
                      </a:pPr>
                      <a:r>
                        <a:rPr lang="en-US" sz="1250" dirty="0">
                          <a:solidFill>
                            <a:srgbClr val="1B2A3A"/>
                          </a:solidFill>
                          <a:latin typeface="Segoe UI" pitchFamily="34" charset="0"/>
                          <a:ea typeface="Segoe UI" pitchFamily="34" charset="-122"/>
                          <a:cs typeface="Segoe UI" pitchFamily="34" charset="-120"/>
                        </a:rPr>
                        <a:t>, jamais un blocage.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DAO est commun aux lots ; quelques informations, le besoin et l’acte d’engagement se donnent </a:t>
            </a:r>
            <a:pPr indent="0" marL="0">
              <a:buNone/>
            </a:pPr>
            <a:r>
              <a:rPr lang="en-US" sz="1300" b="1" dirty="0">
                <a:solidFill>
                  <a:srgbClr val="1B2A3A"/>
                </a:solidFill>
                <a:latin typeface="Segoe UI" pitchFamily="34" charset="0"/>
                <a:ea typeface="Segoe UI" pitchFamily="34" charset="-122"/>
                <a:cs typeface="Segoe UI" pitchFamily="34" charset="-120"/>
              </a:rPr>
              <a:t>lot par lot</a:t>
            </a:r>
            <a:pPr indent="0" marL="0">
              <a:buNone/>
            </a:pPr>
            <a:r>
              <a:rPr lang="en-US" sz="1300" dirty="0">
                <a:solidFill>
                  <a:srgbClr val="465568"/>
                </a:solidFill>
                <a:latin typeface="Segoe UI" pitchFamily="34" charset="0"/>
                <a:ea typeface="Segoe UI" pitchFamily="34" charset="-122"/>
                <a:cs typeface="Segoe UI" pitchFamily="34" charset="-120"/>
              </a:rPr>
              <a:t>.</a:t>
            </a:r>
            <a:endParaRPr lang="en-US" sz="13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RG-18</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Ce qui varie par lot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Le montant de la garantie de soumission, les montants minimum et maximum annuels, le délai maximum de livraison… Le nombre de lots est celui du </a:t>
                      </a:r>
                      <a:pPr indent="0" marL="0">
                        <a:buNone/>
                      </a:pPr>
                      <a:r>
                        <a:rPr lang="en-US" sz="1250" b="1" dirty="0">
                          <a:solidFill>
                            <a:srgbClr val="1B2A3A"/>
                          </a:solidFill>
                          <a:latin typeface="Segoe UI" pitchFamily="34" charset="0"/>
                          <a:ea typeface="Segoe UI" pitchFamily="34" charset="-122"/>
                          <a:cs typeface="Segoe UI" pitchFamily="34" charset="-120"/>
                        </a:rPr>
                        <a:t>plan</a:t>
                      </a:r>
                      <a:pPr indent="0" marL="0">
                        <a:buNone/>
                      </a:pPr>
                      <a:r>
                        <a:rPr lang="en-US" sz="1250" dirty="0">
                          <a:solidFill>
                            <a:srgbClr val="1B2A3A"/>
                          </a:solidFill>
                          <a:latin typeface="Segoe UI" pitchFamily="34" charset="0"/>
                          <a:ea typeface="Segoe UI" pitchFamily="34" charset="-122"/>
                          <a:cs typeface="Segoe UI" pitchFamily="34" charset="-120"/>
                        </a:rPr>
                        <a:t> : la fiche n’en invente pas.</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RG-19</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Obligatoire pour chaque lot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Une information par lot obligatoire l’est pour chaque lot : la fiche ne se valide pas tant qu’un lot en manque, et le bilan dit lequel.</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RG-20</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Un acte d’engagement par lot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Chacun porte les montants de son lot ; les autres documents sont communs et écrivent la valeur lot par lot (« Lot n° 1 : … ; Lot n° 2 : … »).</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RG-21</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 besoin (fournitures et services)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Article par article, lot par lot : désignation, unité, quantités, caractéristiques exigées. La fiche ne se valide pas sans besoin complet (un article au moins par lot, une caractéristique au moins par article, minimum ≤ maximum). Travaux : DQE par séries ; prestations intellectuelles : pas de besoin par article.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RG-22</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Les formulaires du candidat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Produits sur les modèles officiels, seuls les blancs remplis : fiches A1 à A4 une fois pour le dossier ; garanties C1, C2 une fois par lot, au montant du lot. Bordereau des prix et tableau de conformité générés depuis le besoin.</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RG-23</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Valeurs par défaut administrables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Les durées d’antécédents juridiques (5 ans) et financiers (3 ans) sont recopiées dans la fiche à sa création : changer le défaut ne touche pas les fiches déjà ouvertes.</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Une version validée est un </a:t>
            </a:r>
            <a:pPr indent="0" marL="0">
              <a:buNone/>
            </a:pPr>
            <a:r>
              <a:rPr lang="en-US" sz="1300" b="1" dirty="0">
                <a:solidFill>
                  <a:srgbClr val="1B2A3A"/>
                </a:solidFill>
                <a:latin typeface="Segoe UI" pitchFamily="34" charset="0"/>
                <a:ea typeface="Segoe UI" pitchFamily="34" charset="-122"/>
                <a:cs typeface="Segoe UI" pitchFamily="34" charset="-120"/>
              </a:rPr>
              <a:t>acte</a:t>
            </a:r>
            <a:pPr indent="0" marL="0">
              <a:buNone/>
            </a:pPr>
            <a:r>
              <a:rPr lang="en-US" sz="1300" dirty="0">
                <a:solidFill>
                  <a:srgbClr val="465568"/>
                </a:solidFill>
                <a:latin typeface="Segoe UI" pitchFamily="34" charset="0"/>
                <a:ea typeface="Segoe UI" pitchFamily="34" charset="-122"/>
                <a:cs typeface="Segoe UI" pitchFamily="34" charset="-120"/>
              </a:rPr>
              <a:t> : elle est figée, porte ses documents, et ne se corrige que par une révision.</a:t>
            </a:r>
            <a:endParaRPr lang="en-US" sz="13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RG-24</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Valider fige, réviser ouvre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La PRMP seule valide ; un contrôle bloquant l’empêche. La version validée est figée et reste lisible ; réviser ouvre la version suivante en brouillon, copie de la validée.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RG-25</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Produits à la validation</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Jamais sur un brouillon. La production a lieu </a:t>
                      </a:r>
                      <a:pPr indent="0" marL="0">
                        <a:buNone/>
                      </a:pPr>
                      <a:r>
                        <a:rPr lang="en-US" sz="1250" b="1" dirty="0">
                          <a:solidFill>
                            <a:srgbClr val="1B2A3A"/>
                          </a:solidFill>
                          <a:latin typeface="Segoe UI" pitchFamily="34" charset="0"/>
                          <a:ea typeface="Segoe UI" pitchFamily="34" charset="-122"/>
                          <a:cs typeface="Segoe UI" pitchFamily="34" charset="-120"/>
                        </a:rPr>
                        <a:t>avant</a:t>
                      </a:r>
                      <a:pPr indent="0" marL="0">
                        <a:buNone/>
                      </a:pPr>
                      <a:r>
                        <a:rPr lang="en-US" sz="1250" dirty="0">
                          <a:solidFill>
                            <a:srgbClr val="1B2A3A"/>
                          </a:solidFill>
                          <a:latin typeface="Segoe UI" pitchFamily="34" charset="0"/>
                          <a:ea typeface="Segoe UI" pitchFamily="34" charset="-122"/>
                          <a:cs typeface="Segoe UI" pitchFamily="34" charset="-120"/>
                        </a:rPr>
                        <a:t> de figer : si elle échoue, la validation est annulée.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RG-26</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 document type de l’ARMP, rempli</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Texte fixe repris tel quel, trous remplis par la fiche, rédaction choisie par des </a:t>
                      </a:r>
                      <a:pPr indent="0" marL="0">
                        <a:buNone/>
                      </a:pPr>
                      <a:r>
                        <a:rPr lang="en-US" sz="1250" b="1" dirty="0">
                          <a:solidFill>
                            <a:srgbClr val="1B2A3A"/>
                          </a:solidFill>
                          <a:latin typeface="Segoe UI" pitchFamily="34" charset="0"/>
                          <a:ea typeface="Segoe UI" pitchFamily="34" charset="-122"/>
                          <a:cs typeface="Segoe UI" pitchFamily="34" charset="-120"/>
                        </a:rPr>
                        <a:t>conditions écrites dans le modèle</a:t>
                      </a:r>
                      <a:pPr indent="0" marL="0">
                        <a:buNone/>
                      </a:pPr>
                      <a:r>
                        <a:rPr lang="en-US" sz="1250" dirty="0">
                          <a:solidFill>
                            <a:srgbClr val="1B2A3A"/>
                          </a:solidFill>
                          <a:latin typeface="Segoe UI" pitchFamily="34" charset="0"/>
                          <a:ea typeface="Segoe UI" pitchFamily="34" charset="-122"/>
                          <a:cs typeface="Segoe UI" pitchFamily="34" charset="-120"/>
                        </a:rPr>
                        <a:t> ; ce que remplissent le candidat ou la notification reste entre chevrons. Un modèle illisible empêche le démarrage : un document ne sort jamais faux en silence.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RG-27</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Jamais régénérés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Les documents d’une version validée sont ce que la Commission a examiné et ce que les candidats ont retiré. Une règle nouvelle des modèles ne vaut que pour les versions validées après elle.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RG-28</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On corrige la fiche, pas son produit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Une pièce produite ne se supprime pas à la main — Administrateur compris — et ne se double pas d’une pièce manuelle du même type.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RG-29</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Montants en lettres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Le convertisseur écrit jusqu’aux milliards, pour la fiche comme pour les PV et les lettres.</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DAO validé se lit comme un DAO réel : </a:t>
            </a:r>
            <a:pPr indent="0" marL="0">
              <a:buNone/>
            </a:pPr>
            <a:r>
              <a:rPr lang="en-US" sz="1300" b="1" dirty="0">
                <a:solidFill>
                  <a:srgbClr val="1B2A3A"/>
                </a:solidFill>
                <a:latin typeface="Segoe UI" pitchFamily="34" charset="0"/>
                <a:ea typeface="Segoe UI" pitchFamily="34" charset="-122"/>
                <a:cs typeface="Segoe UI" pitchFamily="34" charset="-120"/>
              </a:rPr>
              <a:t>un seul document</a:t>
            </a:r>
            <a:pPr indent="0" marL="0">
              <a:buNone/>
            </a:pPr>
            <a:r>
              <a:rPr lang="en-US" sz="1300" dirty="0">
                <a:solidFill>
                  <a:srgbClr val="465568"/>
                </a:solidFill>
                <a:latin typeface="Segoe UI" pitchFamily="34" charset="0"/>
                <a:ea typeface="Segoe UI" pitchFamily="34" charset="-122"/>
                <a:cs typeface="Segoe UI" pitchFamily="34" charset="-120"/>
              </a:rPr>
              <a:t>, en Word et en PDF, qui remplace les documents séparés partout où le DAO est servi.</a:t>
            </a:r>
            <a:endParaRPr lang="en-US" sz="13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RG-30</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 plan du document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Page de garde, sommaire, deux parties : 1.1 instructions aux candidats, 1.2 données particulières (DPAO, DPAC ou DPIC), 1.3 formulaires ; 2.1 acte d’engagement lot par lot, 2.2 cahier des prescriptions spéciales, spécifications techniques et liste des fournitures, 2.3 CCAG.</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RG-31</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Il assemble, il ne réécrit rien</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Chaque partie est le document que la fiche produit déjà ; seul l’assemblage peut être refait.</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RG-32</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Où il est servi</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Dans les documents de la fiche ; au dossier soumis à la Commission, dont il est la </a:t>
                      </a:r>
                      <a:pPr indent="0" marL="0">
                        <a:buNone/>
                      </a:pPr>
                      <a:r>
                        <a:rPr lang="en-US" sz="1250" b="1" dirty="0">
                          <a:solidFill>
                            <a:srgbClr val="1B2A3A"/>
                          </a:solidFill>
                          <a:latin typeface="Segoe UI" pitchFamily="34" charset="0"/>
                          <a:ea typeface="Segoe UI" pitchFamily="34" charset="-122"/>
                          <a:cs typeface="Segoe UI" pitchFamily="34" charset="-120"/>
                        </a:rPr>
                        <a:t>pièce unique</a:t>
                      </a:r>
                      <a:pPr indent="0" marL="0">
                        <a:buNone/>
                      </a:pPr>
                      <a:r>
                        <a:rPr lang="en-US" sz="1250" dirty="0">
                          <a:solidFill>
                            <a:srgbClr val="1B2A3A"/>
                          </a:solidFill>
                          <a:latin typeface="Segoe UI" pitchFamily="34" charset="0"/>
                          <a:ea typeface="Segoe UI" pitchFamily="34" charset="-122"/>
                          <a:cs typeface="Segoe UI" pitchFamily="34" charset="-120"/>
                        </a:rPr>
                        <a:t> du DAO ; au retrait par les candidats, sous la garde des frais de dossier.</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RG-33</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Ce qui reste à part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Les classeurs (bordereau des prix, DQE, tableau de conformité), l’avis spécifique, les lettres d’invitation. Prestations intellectuelles : titre « Dossier de consultation ».</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RG-34</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Les spécifications techniques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 Word joint par la PRMP ou son UGPM (20 Mo au plus, sans macros), figé à la validation et recopié à la révision. Tant qu’il manque : un avertissement, non bloquant.</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RG-35</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Une pièce ne s’imprime qu’une fois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Quand la liste des pièces de l’offre est saisie, le texte libre de la même rubrique n’est plus imprimé.</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fiche </a:t>
            </a:r>
            <a:pPr indent="0" marL="0">
              <a:buNone/>
            </a:pPr>
            <a:r>
              <a:rPr lang="en-US" sz="1300" b="1" dirty="0">
                <a:solidFill>
                  <a:srgbClr val="1B2A3A"/>
                </a:solidFill>
                <a:latin typeface="Segoe UI" pitchFamily="34" charset="0"/>
                <a:ea typeface="Segoe UI" pitchFamily="34" charset="-122"/>
                <a:cs typeface="Segoe UI" pitchFamily="34" charset="-120"/>
              </a:rPr>
              <a:t>produit</a:t>
            </a:r>
            <a:pPr indent="0" marL="0">
              <a:buNone/>
            </a:pPr>
            <a:r>
              <a:rPr lang="en-US" sz="1300" dirty="0">
                <a:solidFill>
                  <a:srgbClr val="465568"/>
                </a:solidFill>
                <a:latin typeface="Segoe UI" pitchFamily="34" charset="0"/>
                <a:ea typeface="Segoe UI" pitchFamily="34" charset="-122"/>
                <a:cs typeface="Segoe UI" pitchFamily="34" charset="-120"/>
              </a:rPr>
              <a:t> le dossier soumis à la Commission, se </a:t>
            </a:r>
            <a:pPr indent="0" marL="0">
              <a:buNone/>
            </a:pPr>
            <a:r>
              <a:rPr lang="en-US" sz="1300" b="1" dirty="0">
                <a:solidFill>
                  <a:srgbClr val="1B2A3A"/>
                </a:solidFill>
                <a:latin typeface="Segoe UI" pitchFamily="34" charset="0"/>
                <a:ea typeface="Segoe UI" pitchFamily="34" charset="-122"/>
                <a:cs typeface="Segoe UI" pitchFamily="34" charset="-120"/>
              </a:rPr>
              <a:t>révise</a:t>
            </a:r>
            <a:pPr indent="0" marL="0">
              <a:buNone/>
            </a:pPr>
            <a:r>
              <a:rPr lang="en-US" sz="1300" dirty="0">
                <a:solidFill>
                  <a:srgbClr val="465568"/>
                </a:solidFill>
                <a:latin typeface="Segoe UI" pitchFamily="34" charset="0"/>
                <a:ea typeface="Segoe UI" pitchFamily="34" charset="-122"/>
                <a:cs typeface="Segoe UI" pitchFamily="34" charset="-120"/>
              </a:rPr>
              <a:t> pour le rectifier, et commande la publicité de la consultation.</a:t>
            </a:r>
            <a:endParaRPr lang="en-US" sz="13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RG-36</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 fiche produit le dossier</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Par la PRMP, depuis une dernière version validée ; un dossier par fiche. Entité, localité et PRMP viennent du plan : rien n’est redemandé. Le dossier naît en brouillon ; la Commission lit la fiche avec lui, l’examen porte sur les pièces.</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RG-37</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 rectification est une révision</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Jamais un nouveau dossier : la fiche ne se révise pas tant que la Commission tient le dossier ; resoumettre sans avoir revalidé est refusé ; les documents de la révision remplacent les pièces produites, l’ancienne version gardée.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RG-38</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L’avis spécifique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Fournitures et travaux : après un PV signé favorable, ou favorable avec réserves une fois les réserves levées ; sur la dernière version validée ; chaque impression conservée ; ce n’est pas une pièce du DAO.</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RG-39</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Prestations intellectuelles : l’AMI</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Pas d’avis public. L’appel à manifestation d’intérêt se prépare (critères pondérés sur 100), se publie, reçoit les expressions en ligne, lues </a:t>
                      </a:r>
                      <a:pPr indent="0" marL="0">
                        <a:buNone/>
                      </a:pPr>
                      <a:r>
                        <a:rPr lang="en-US" sz="1250" b="1" dirty="0">
                          <a:solidFill>
                            <a:srgbClr val="1B2A3A"/>
                          </a:solidFill>
                          <a:latin typeface="Segoe UI" pitchFamily="34" charset="0"/>
                          <a:ea typeface="Segoe UI" pitchFamily="34" charset="-122"/>
                          <a:cs typeface="Segoe UI" pitchFamily="34" charset="-120"/>
                        </a:rPr>
                        <a:t>après la date limite</a:t>
                      </a:r>
                      <a:pPr indent="0" marL="0">
                        <a:buNone/>
                      </a:pPr>
                      <a:r>
                        <a:rPr lang="en-US" sz="1250" dirty="0">
                          <a:solidFill>
                            <a:srgbClr val="1B2A3A"/>
                          </a:solidFill>
                          <a:latin typeface="Segoe UI" pitchFamily="34" charset="0"/>
                          <a:ea typeface="Segoe UI" pitchFamily="34" charset="-122"/>
                          <a:cs typeface="Segoe UI" pitchFamily="34" charset="-120"/>
                        </a:rPr>
                        <a:t> seulement ; la commission note et arrête une liste restreinte de six, publiée et notifiée.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RG-40</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Les lettres et la demande de propositions</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Les lettres d’invitation vont aux candidats de la liste définitive. Le dossier de la demande de propositions ne se crée qu’avec la liste définitive ; le rapport de présélection signé y est joint d’office.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L’import du DAO</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Une PRMP qui a déjà rédigé son DAO sur le document type peut en pré-remplir la fiche : </a:t>
            </a:r>
            <a:pPr indent="0" marL="0">
              <a:buNone/>
            </a:pPr>
            <a:r>
              <a:rPr lang="en-US" sz="1300" b="1" dirty="0">
                <a:solidFill>
                  <a:srgbClr val="1B2A3A"/>
                </a:solidFill>
                <a:latin typeface="Segoe UI" pitchFamily="34" charset="0"/>
                <a:ea typeface="Segoe UI" pitchFamily="34" charset="-122"/>
                <a:cs typeface="Segoe UI" pitchFamily="34" charset="-120"/>
              </a:rPr>
              <a:t>l’import propose, la PRMP décide</a:t>
            </a:r>
            <a:pPr indent="0" marL="0">
              <a:buNone/>
            </a:pPr>
            <a:r>
              <a:rPr lang="en-US" sz="1300" dirty="0">
                <a:solidFill>
                  <a:srgbClr val="465568"/>
                </a:solidFill>
                <a:latin typeface="Segoe UI" pitchFamily="34" charset="0"/>
                <a:ea typeface="Segoe UI" pitchFamily="34" charset="-122"/>
                <a:cs typeface="Segoe UI" pitchFamily="34" charset="-120"/>
              </a:rPr>
              <a:t>.</a:t>
            </a:r>
            <a:endParaRPr lang="en-US" sz="13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77240"/>
                <a:gridCol w="2331720"/>
                <a:gridCol w="8321040"/>
              </a:tblGrid>
              <a:tr h="0">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N°</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Règle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200" b="1" dirty="0">
                          <a:solidFill>
                            <a:srgbClr val="FCFCFA"/>
                          </a:solidFill>
                          <a:latin typeface="Segoe UI" pitchFamily="34" charset="0"/>
                          <a:ea typeface="Segoe UI" pitchFamily="34" charset="-122"/>
                          <a:cs typeface="Segoe UI" pitchFamily="34" charset="-120"/>
                        </a:rPr>
                        <a:t>Ce qui s’applique</a:t>
                      </a:r>
                      <a:endParaRPr lang="en-US" sz="12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RG-41</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La fiche reste la source de vérité</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Le document est lu « à l’envers » avec les modèles ; rien n’est écrit sans la PRMP.</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RG-42</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Chaque proposition dit sa confiance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Haute, moyenne ou basse, avec le passage lu et la valeur déjà saisie. L’écran ne coche jamais d’office une case qui écraserait une saisie.</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RG-43</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Le plan fait foi</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Une information reprise du plan n’est jamais importée : un écart est signalé comme divergence. Les valeurs calculées et les pièces ne s’importent pas.</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RG-44</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Rien ne contourne la saisie</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Une valeur que la saisie refuserait est une anomalie ; une information fermée par le cadrage aussi. Deux lectures possibles d’un passage sont montrées, jamais tranchées.</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6FA8"/>
                          </a:solidFill>
                          <a:latin typeface="Consolas" pitchFamily="34" charset="0"/>
                          <a:ea typeface="Consolas" pitchFamily="34" charset="-122"/>
                          <a:cs typeface="Consolas" pitchFamily="34" charset="-120"/>
                        </a:rPr>
                        <a:t>RG-45</a:t>
                      </a:r>
                      <a:endParaRPr lang="en-US" sz="1100" dirty="0">
                        <a:latin typeface="Consolas" charset="0"/>
                        <a:ea typeface="Consolas" charset="0"/>
                        <a:cs typeface="Consolas"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b="1" dirty="0">
                          <a:solidFill>
                            <a:srgbClr val="1B2A3A"/>
                          </a:solidFill>
                          <a:latin typeface="Segoe UI" pitchFamily="34" charset="0"/>
                          <a:ea typeface="Segoe UI" pitchFamily="34" charset="-122"/>
                          <a:cs typeface="Segoe UI" pitchFamily="34" charset="-120"/>
                        </a:rPr>
                        <a:t>Une écriture d’un seul tenant</a:t>
                      </a:r>
                      <a:endParaRPr lang="en-US" sz="125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50" dirty="0">
                          <a:solidFill>
                            <a:srgbClr val="1B2A3A"/>
                          </a:solidFill>
                          <a:latin typeface="Segoe UI" pitchFamily="34" charset="0"/>
                          <a:ea typeface="Segoe UI" pitchFamily="34" charset="-122"/>
                          <a:cs typeface="Segoe UI" pitchFamily="34" charset="-120"/>
                        </a:rPr>
                        <a:t>Elle ajoute sans effacer ; un seul refus et rien n’est écrit. Sur un brouillon, par la PRMP ou son UGPM. Le fichier n’est pas conservé (nom et empreinte au journal). PDF texte accepté, PDF scanné refusé.</a:t>
                      </a:r>
                      <a:endParaRPr lang="en-US" sz="1250" dirty="0"/>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qui est propre à chaque nature et à chaque forme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Ce que les règles communes ne disent pas : les choix que commandent la catégorie et la forme du marché.</a:t>
            </a:r>
            <a:endParaRPr lang="en-US" sz="13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377440"/>
                <a:gridCol w="90525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Nature ou 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Règles propres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200" b="1" dirty="0">
                          <a:solidFill>
                            <a:srgbClr val="1B2A3A"/>
                          </a:solidFill>
                          <a:latin typeface="Segoe UI" pitchFamily="34" charset="0"/>
                          <a:ea typeface="Segoe UI" pitchFamily="34" charset="-122"/>
                          <a:cs typeface="Segoe UI" pitchFamily="34" charset="-120"/>
                        </a:rPr>
                        <a:t>Fournitures et services</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00" dirty="0">
                          <a:solidFill>
                            <a:srgbClr val="1B2A3A"/>
                          </a:solidFill>
                          <a:latin typeface="Segoe UI" pitchFamily="34" charset="0"/>
                          <a:ea typeface="Segoe UI" pitchFamily="34" charset="-122"/>
                          <a:cs typeface="Segoe UI" pitchFamily="34" charset="-120"/>
                        </a:rPr>
                        <a:t>Le besoin article par article produit la liste des fournitures, le bordereau des prix et le tableau de conformité. À commande : le délai de chaque commande est dans le bon de commande, seul son plafond se fixe au DAO ; le montant maximum annuel est facultatif. Le CCAP laisse au fournisseur son propre bloc d’adresse.</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200" b="1" dirty="0">
                          <a:solidFill>
                            <a:srgbClr val="1B2A3A"/>
                          </a:solidFill>
                          <a:latin typeface="Segoe UI" pitchFamily="34" charset="0"/>
                          <a:ea typeface="Segoe UI" pitchFamily="34" charset="-122"/>
                          <a:cs typeface="Segoe UI" pitchFamily="34" charset="-120"/>
                        </a:rPr>
                        <a:t>Travaux et réhabilitation</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00" dirty="0">
                          <a:solidFill>
                            <a:srgbClr val="1B2A3A"/>
                          </a:solidFill>
                          <a:latin typeface="Segoe UI" pitchFamily="34" charset="0"/>
                          <a:ea typeface="Segoe UI" pitchFamily="34" charset="-122"/>
                          <a:cs typeface="Segoe UI" pitchFamily="34" charset="-120"/>
                        </a:rPr>
                        <a:t>Le type de prix (unitaires, forfaitaire, mixte) choisit les rédactions ; une tranche ferme et jusqu’à deux tranches conditionnelles. Les annexes du CCAP suivent la fiche (formule de révision, garantie de bonne exécution, restitution d’avance). Bâtiment : CPC, TBM et assurance décennale. Pénalités plafonnées à 15 % par le CCAG.</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200" b="1" dirty="0">
                          <a:solidFill>
                            <a:srgbClr val="1B2A3A"/>
                          </a:solidFill>
                          <a:latin typeface="Segoe UI" pitchFamily="34" charset="0"/>
                          <a:ea typeface="Segoe UI" pitchFamily="34" charset="-122"/>
                          <a:cs typeface="Segoe UI" pitchFamily="34" charset="-120"/>
                        </a:rPr>
                        <a:t>Prestations intellectuelles</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00" dirty="0">
                          <a:solidFill>
                            <a:srgbClr val="1B2A3A"/>
                          </a:solidFill>
                          <a:latin typeface="Segoe UI" pitchFamily="34" charset="0"/>
                          <a:ea typeface="Segoe UI" pitchFamily="34" charset="-122"/>
                          <a:cs typeface="Segoe UI" pitchFamily="34" charset="-120"/>
                        </a:rPr>
                        <a:t>Données particulières : le DPIC. Le mode de sélection choisit les rédactions : qualité-coût (poids technique et financier de somme 1), budget prédéterminé, moindre coût (note technique minimale), qualité seule ; de même le mode de rémunération (forfait, temps passé, résultat, pourcentage). Pénalités plafonnées à 10 % ; intérêts moratoires en points au-dessus du taux directeur (au moins un). Termes de référence téléversés.</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200" b="1" dirty="0">
                          <a:solidFill>
                            <a:srgbClr val="1B2A3A"/>
                          </a:solidFill>
                          <a:latin typeface="Segoe UI" pitchFamily="34" charset="0"/>
                          <a:ea typeface="Segoe UI" pitchFamily="34" charset="-122"/>
                          <a:cs typeface="Segoe UI" pitchFamily="34" charset="-120"/>
                        </a:rPr>
                        <a:t>Contrat-cadre</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200" dirty="0">
                          <a:solidFill>
                            <a:srgbClr val="1B2A3A"/>
                          </a:solidFill>
                          <a:latin typeface="Segoe UI" pitchFamily="34" charset="0"/>
                          <a:ea typeface="Segoe UI" pitchFamily="34" charset="-122"/>
                          <a:cs typeface="Segoe UI" pitchFamily="34" charset="-120"/>
                        </a:rPr>
                        <a:t>DPAC et contrat-cadre valant AE et CCAP, jamais de DPAO ni de CCAP. Mono ou multi-attributaire au cadrage. La fiche ne demande que ce que la PRMP sait (titulaire, groupement et banque relèvent de l’offre) ; les pénalités sont fixées dans le contrat-cadre. L’acte de nomination de la PRMP se reprend de son mandat. Celui des travaux suit le même document type (« CCAG Travaux »). Le plafond de durée attend le juriste.</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200" b="1" dirty="0">
                          <a:solidFill>
                            <a:srgbClr val="1B2A3A"/>
                          </a:solidFill>
                          <a:latin typeface="Segoe UI" pitchFamily="34" charset="0"/>
                          <a:ea typeface="Segoe UI" pitchFamily="34" charset="-122"/>
                          <a:cs typeface="Segoe UI" pitchFamily="34" charset="-120"/>
                        </a:rPr>
                        <a:t>À commande</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200" dirty="0">
                          <a:solidFill>
                            <a:srgbClr val="1B2A3A"/>
                          </a:solidFill>
                          <a:latin typeface="Segoe UI" pitchFamily="34" charset="0"/>
                          <a:ea typeface="Segoe UI" pitchFamily="34" charset="-122"/>
                          <a:cs typeface="Segoe UI" pitchFamily="34" charset="-120"/>
                        </a:rPr>
                        <a:t>Quantités en fourchettes (minimum et maximum par article ou par prix), montants minimum et maximum par lot dans l’acte d’engagement ; la durée de validité du marché est reprise dans l’acte d’engagement.</a:t>
                      </a:r>
                      <a:endParaRPr lang="en-US" sz="1200" dirty="0">
                        <a:latin typeface="Segoe UI" charset="0"/>
                        <a:ea typeface="Segoe UI" charset="0"/>
                        <a:cs typeface="Segoe UI" charset="0"/>
                      </a:endParaRPr>
                    </a:p>
                  </a:txBody>
                  <a:tcPr marL="76200" marR="76200" marT="63500" marB="635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032500"/>
            <a:ext cx="10540736" cy="381000"/>
          </a:xfrm>
          <a:prstGeom prst="rect">
            <a:avLst/>
          </a:prstGeom>
          <a:noFill/>
          <a:ln/>
        </p:spPr>
        <p:txBody>
          <a:bodyPr wrap="square" rtlCol="0" anchor="t"/>
          <a:lstStyle/>
          <a:p>
            <a:pPr indent="0" marL="0">
              <a:buNone/>
            </a:pPr>
            <a:r>
              <a:rPr lang="en-US" sz="1100" dirty="0">
                <a:solidFill>
                  <a:srgbClr val="465568"/>
                </a:solidFill>
                <a:latin typeface="Segoe UI" pitchFamily="34" charset="0"/>
                <a:ea typeface="Segoe UI" pitchFamily="34" charset="-122"/>
                <a:cs typeface="Segoe UI" pitchFamily="34" charset="-120"/>
              </a:rPr>
              <a:t>Source : </a:t>
            </a:r>
            <a:pPr indent="0" marL="0">
              <a:buNone/>
            </a:pPr>
            <a:r>
              <a:rPr lang="en-US" sz="1100" b="1" dirty="0">
                <a:solidFill>
                  <a:srgbClr val="1B2A3A"/>
                </a:solidFill>
                <a:latin typeface="Segoe UI" pitchFamily="34" charset="0"/>
                <a:ea typeface="Segoe UI" pitchFamily="34" charset="-122"/>
                <a:cs typeface="Segoe UI" pitchFamily="34" charset="-120"/>
              </a:rPr>
              <a:t>docs/regles-gestion.md</a:t>
            </a:r>
            <a:pPr indent="0" marL="0">
              <a:buNone/>
            </a:pPr>
            <a:r>
              <a:rPr lang="en-US" sz="1100" dirty="0">
                <a:solidFill>
                  <a:srgbClr val="465568"/>
                </a:solidFill>
                <a:latin typeface="Segoe UI" pitchFamily="34" charset="0"/>
                <a:ea typeface="Segoe UI" pitchFamily="34" charset="-122"/>
                <a:cs typeface="Segoe UI" pitchFamily="34" charset="-120"/>
              </a:rPr>
              <a:t> du serveur, section « Fiche marché d’un appel d’offres (DAO) » et AMI en ligne, au 8 octobre 2026.</a:t>
            </a:r>
            <a:endParaRPr lang="en-US" sz="1100" dirty="0"/>
          </a:p>
        </p:txBody>
      </p:sp>
      <p:sp>
        <p:nvSpPr>
          <p:cNvPr id="7"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types d’information</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type commande la saisie (et son contrôle) ; « par lot » : l’information se saisit une fois pour chaque lot.</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Texte, texte long</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ligne, ou un paragraphe imprimé tel quel ; certains portent un texte type à adapter.</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Nombre, montant, pourcentage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Contrôlés à la saisie ; un montant s’imprime aussi en lettres quand le document l’exige.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Date, date et heure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L’heure limite de remise devient obligatoire en remise électronique.</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Liste, choix multiples</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valeurs proposées sont données dans la colonne « Type et valeurs » ; choix multiples : la garantie de soumission, par exemple, peut admettre plusieurs formes.</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Oui / non</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Imprimé selon la tournure du document type.</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Source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b="1" dirty="0">
                <a:solidFill>
                  <a:srgbClr val="1B2A3A"/>
                </a:solidFill>
                <a:latin typeface="Segoe UI" pitchFamily="34" charset="0"/>
                <a:ea typeface="Segoe UI" pitchFamily="34" charset="-122"/>
                <a:cs typeface="Segoe UI" pitchFamily="34" charset="-120"/>
              </a:rPr>
              <a:t>Plan</a:t>
            </a:r>
            <a:pPr indent="0" marL="0">
              <a:buNone/>
            </a:pPr>
            <a:r>
              <a:rPr lang="en-US" sz="1200" dirty="0">
                <a:solidFill>
                  <a:srgbClr val="465568"/>
                </a:solidFill>
                <a:latin typeface="Segoe UI" pitchFamily="34" charset="0"/>
                <a:ea typeface="Segoe UI" pitchFamily="34" charset="-122"/>
                <a:cs typeface="Segoe UI" pitchFamily="34" charset="-120"/>
              </a:rPr>
              <a:t> : repris de la ligne du plan de passation, non modifiable ; </a:t>
            </a:r>
            <a:pPr indent="0" marL="0">
              <a:buNone/>
            </a:pPr>
            <a:r>
              <a:rPr lang="en-US" sz="1200" b="1" dirty="0">
                <a:solidFill>
                  <a:srgbClr val="1B2A3A"/>
                </a:solidFill>
                <a:latin typeface="Segoe UI" pitchFamily="34" charset="0"/>
                <a:ea typeface="Segoe UI" pitchFamily="34" charset="-122"/>
                <a:cs typeface="Segoe UI" pitchFamily="34" charset="-120"/>
              </a:rPr>
              <a:t>Cadrage</a:t>
            </a:r>
            <a:pPr indent="0" marL="0">
              <a:buNone/>
            </a:pPr>
            <a:r>
              <a:rPr lang="en-US" sz="1200" dirty="0">
                <a:solidFill>
                  <a:srgbClr val="465568"/>
                </a:solidFill>
                <a:latin typeface="Segoe UI" pitchFamily="34" charset="0"/>
                <a:ea typeface="Segoe UI" pitchFamily="34" charset="-122"/>
                <a:cs typeface="Segoe UI" pitchFamily="34" charset="-120"/>
              </a:rPr>
              <a:t> : reflet d’une réponse de l’étape 2 ; </a:t>
            </a:r>
            <a:pPr indent="0" marL="0">
              <a:buNone/>
            </a:pPr>
            <a:r>
              <a:rPr lang="en-US" sz="1200" b="1" dirty="0">
                <a:solidFill>
                  <a:srgbClr val="1B2A3A"/>
                </a:solidFill>
                <a:latin typeface="Segoe UI" pitchFamily="34" charset="0"/>
                <a:ea typeface="Segoe UI" pitchFamily="34" charset="-122"/>
                <a:cs typeface="Segoe UI" pitchFamily="34" charset="-120"/>
              </a:rPr>
              <a:t>Saisie</a:t>
            </a:r>
            <a:pPr indent="0" marL="0">
              <a:buNone/>
            </a:pPr>
            <a:r>
              <a:rPr lang="en-US" sz="1200" dirty="0">
                <a:solidFill>
                  <a:srgbClr val="465568"/>
                </a:solidFill>
                <a:latin typeface="Segoe UI" pitchFamily="34" charset="0"/>
                <a:ea typeface="Segoe UI" pitchFamily="34" charset="-122"/>
                <a:cs typeface="Segoe UI" pitchFamily="34" charset="-120"/>
              </a:rPr>
              <a:t> : renseigné par la PRMP ou l’UGPM.</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84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 fiche DAO par nature et par forme du marché</dc:title>
  <dc:subject>PptxGenJS Presentation</dc:subject>
  <dc:creator>PRS 2.0</dc:creator>
  <cp:lastModifiedBy>PRS 2.0</cp:lastModifiedBy>
  <cp:revision>1</cp:revision>
  <dcterms:created xsi:type="dcterms:W3CDTF">2026-10-08T06:12:04Z</dcterms:created>
  <dcterms:modified xsi:type="dcterms:W3CDTF">2026-10-08T06:12:04Z</dcterms:modified>
</cp:coreProperties>
</file>