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Lst>
  <p:notesMasterIdLst>
    <p:notesMasterId r:id="rId7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notesMaster" Target="notesMasters/notesMaster1.xml"/><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document est tiré du référentiel de la fiche DAO, tel que le serveur le sert : rien n’y est recopié à la main. Il se régénère après toute évolution du référentiel.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Référentiel Fournitures et services, quantité fixe.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Référentiel Travaux et réhabilitation, quantité fixe.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Référentiel Prestations intellectuelles, quantité fixe.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24A"/>
        </a:solidFill>
      </p:bgPr>
    </p:bg>
    <p:spTree>
      <p:nvGrpSpPr>
        <p:cNvPr id="1" name=""/>
        <p:cNvGrpSpPr/>
        <p:nvPr/>
      </p:nvGrpSpPr>
      <p:grpSpPr>
        <a:xfrm>
          <a:off x="0" y="0"/>
          <a:ext cx="0" cy="0"/>
          <a:chOff x="0" y="0"/>
          <a:chExt cx="0" cy="0"/>
        </a:xfrm>
      </p:grpSpPr>
      <p:sp>
        <p:nvSpPr>
          <p:cNvPr id="2" name="Shape 0"/>
          <p:cNvSpPr/>
          <p:nvPr/>
        </p:nvSpPr>
        <p:spPr>
          <a:xfrm>
            <a:off x="0" y="0"/>
            <a:ext cx="152396" cy="6858000"/>
          </a:xfrm>
          <a:prstGeom prst="rect">
            <a:avLst/>
          </a:prstGeom>
          <a:solidFill>
            <a:srgbClr val="E3AE2E"/>
          </a:solidFill>
          <a:ln w="12700">
            <a:solidFill>
              <a:srgbClr val="E3AE2E"/>
            </a:solidFill>
            <a:prstDash val="solid"/>
          </a:ln>
        </p:spPr>
      </p:sp>
      <p:sp>
        <p:nvSpPr>
          <p:cNvPr id="3" name="Text 1"/>
          <p:cNvSpPr/>
          <p:nvPr/>
        </p:nvSpPr>
        <p:spPr>
          <a:xfrm>
            <a:off x="812780" y="812800"/>
            <a:ext cx="10159746" cy="317500"/>
          </a:xfrm>
          <a:prstGeom prst="rect">
            <a:avLst/>
          </a:prstGeom>
          <a:noFill/>
          <a:ln/>
        </p:spPr>
        <p:txBody>
          <a:bodyPr wrap="square" rtlCol="0" anchor="ctr"/>
          <a:lstStyle/>
          <a:p>
            <a:pPr indent="0" marL="0">
              <a:buNone/>
            </a:pPr>
            <a:r>
              <a:rPr lang="en-US" sz="1400" b="1" spc="300" kern="0" dirty="0">
                <a:solidFill>
                  <a:srgbClr val="E3AE2E"/>
                </a:solidFill>
                <a:latin typeface="Segoe UI" pitchFamily="34" charset="0"/>
                <a:ea typeface="Segoe UI" pitchFamily="34" charset="-122"/>
                <a:cs typeface="Segoe UI" pitchFamily="34" charset="-120"/>
              </a:rPr>
              <a:t>COMMISSION NATIONALE DES MARCHÉS</a:t>
            </a:r>
            <a:endParaRPr lang="en-US" sz="1400" dirty="0"/>
          </a:p>
        </p:txBody>
      </p:sp>
      <p:sp>
        <p:nvSpPr>
          <p:cNvPr id="4" name="Text 2"/>
          <p:cNvSpPr/>
          <p:nvPr/>
        </p:nvSpPr>
        <p:spPr>
          <a:xfrm>
            <a:off x="812780" y="1206500"/>
            <a:ext cx="10477238" cy="1333500"/>
          </a:xfrm>
          <a:prstGeom prst="rect">
            <a:avLst/>
          </a:prstGeom>
          <a:noFill/>
          <a:ln/>
        </p:spPr>
        <p:txBody>
          <a:bodyPr wrap="square" rtlCol="0" anchor="t"/>
          <a:lstStyle/>
          <a:p>
            <a:pPr indent="0" marL="0">
              <a:buNone/>
            </a:pPr>
            <a:r>
              <a:rPr lang="en-US" sz="4600" b="1" dirty="0">
                <a:solidFill>
                  <a:srgbClr val="FCFCFA"/>
                </a:solidFill>
                <a:latin typeface="Segoe UI" pitchFamily="34" charset="0"/>
                <a:ea typeface="Segoe UI" pitchFamily="34" charset="-122"/>
                <a:cs typeface="Segoe UI" pitchFamily="34" charset="-120"/>
              </a:rPr>
              <a:t>PRS 2.0 — La fiche DAO par nature et par forme du marché</a:t>
            </a:r>
            <a:endParaRPr lang="en-US" sz="4600" dirty="0"/>
          </a:p>
        </p:txBody>
      </p:sp>
      <p:sp>
        <p:nvSpPr>
          <p:cNvPr id="5" name="Text 3"/>
          <p:cNvSpPr/>
          <p:nvPr/>
        </p:nvSpPr>
        <p:spPr>
          <a:xfrm>
            <a:off x="812780" y="2730500"/>
            <a:ext cx="9524762" cy="1079500"/>
          </a:xfrm>
          <a:prstGeom prst="rect">
            <a:avLst/>
          </a:prstGeom>
          <a:noFill/>
          <a:ln/>
        </p:spPr>
        <p:txBody>
          <a:bodyPr wrap="square" rtlCol="0" anchor="t"/>
          <a:lstStyle/>
          <a:p>
            <a:pPr indent="0" marL="0">
              <a:buNone/>
            </a:pPr>
            <a:r>
              <a:rPr lang="en-US" sz="2100" dirty="0">
                <a:solidFill>
                  <a:srgbClr val="FCFCFA"/>
                </a:solidFill>
                <a:latin typeface="Segoe UI" pitchFamily="34" charset="0"/>
                <a:ea typeface="Segoe UI" pitchFamily="34" charset="-122"/>
                <a:cs typeface="Segoe UI" pitchFamily="34" charset="-120"/>
              </a:rPr>
              <a:t>Référence exhaustive : les blocs, chaque information, le document où elle s’imprime, les conditions qui l’ouvrent, et les documents produits — pour les trois natures et les trois formes du marché.</a:t>
            </a:r>
            <a:endParaRPr lang="en-US" sz="2100" dirty="0"/>
          </a:p>
        </p:txBody>
      </p:sp>
      <p:sp>
        <p:nvSpPr>
          <p:cNvPr id="6" name="Text 4"/>
          <p:cNvSpPr/>
          <p:nvPr/>
        </p:nvSpPr>
        <p:spPr>
          <a:xfrm>
            <a:off x="812780" y="5270500"/>
            <a:ext cx="9842254" cy="762000"/>
          </a:xfrm>
          <a:prstGeom prst="rect">
            <a:avLst/>
          </a:prstGeom>
          <a:noFill/>
          <a:ln/>
        </p:spPr>
        <p:txBody>
          <a:bodyPr wrap="square" rtlCol="0" anchor="ctr"/>
          <a:lstStyle/>
          <a:p>
            <a:pPr indent="0" marL="0">
              <a:buNone/>
            </a:pPr>
            <a:r>
              <a:rPr lang="en-US" sz="1400" dirty="0">
                <a:solidFill>
                  <a:srgbClr val="C9D6E2"/>
                </a:solidFill>
                <a:latin typeface="Segoe UI" pitchFamily="34" charset="0"/>
                <a:ea typeface="Segoe UI" pitchFamily="34" charset="-122"/>
                <a:cs typeface="Segoe UI" pitchFamily="34" charset="-120"/>
              </a:rPr>
              <a:t>Généré depuis le référentiel servi par le serveur le 7 octobre 2026 (GET /api/champs-fiche-marche, par forme et par nature).</a:t>
            </a:r>
            <a:endParaRPr lang="en-US" sz="1400" dirty="0"/>
          </a:p>
          <a:p>
            <a:pPr indent="0" marL="0">
              <a:buNone/>
            </a:pPr>
            <a:r>
              <a:rPr lang="en-US" sz="1400" dirty="0">
                <a:solidFill>
                  <a:srgbClr val="C9D6E2"/>
                </a:solidFill>
                <a:latin typeface="Segoe UI" pitchFamily="34" charset="0"/>
                <a:ea typeface="Segoe UI" pitchFamily="34" charset="-122"/>
                <a:cs typeface="Segoe UI" pitchFamily="34" charset="-120"/>
              </a:rPr>
              <a:t>Ministère de l’Économie et des Finances · octobre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MODE D’EMPLOI</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Comment lire cette référence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La fiche DAO d’une ligne du plan dépend de deux axes : la </a:t>
            </a:r>
            <a:pPr indent="0" marL="0">
              <a:buNone/>
            </a:pPr>
            <a:r>
              <a:rPr lang="en-US" sz="1300" b="1" dirty="0">
                <a:solidFill>
                  <a:srgbClr val="1B2A3A"/>
                </a:solidFill>
                <a:latin typeface="Segoe UI" pitchFamily="34" charset="0"/>
                <a:ea typeface="Segoe UI" pitchFamily="34" charset="-122"/>
                <a:cs typeface="Segoe UI" pitchFamily="34" charset="-120"/>
              </a:rPr>
              <a:t>nature</a:t>
            </a:r>
            <a:pPr indent="0" marL="0">
              <a:buNone/>
            </a:pPr>
            <a:r>
              <a:rPr lang="en-US" sz="1300" dirty="0">
                <a:solidFill>
                  <a:srgbClr val="465568"/>
                </a:solidFill>
                <a:latin typeface="Segoe UI" pitchFamily="34" charset="0"/>
                <a:ea typeface="Segoe UI" pitchFamily="34" charset="-122"/>
                <a:cs typeface="Segoe UI" pitchFamily="34" charset="-120"/>
              </a:rPr>
              <a:t> du marché (sa catégorie) et sa </a:t>
            </a:r>
            <a:pPr indent="0" marL="0">
              <a:buNone/>
            </a:pPr>
            <a:r>
              <a:rPr lang="en-US" sz="1300" b="1" dirty="0">
                <a:solidFill>
                  <a:srgbClr val="1B2A3A"/>
                </a:solidFill>
                <a:latin typeface="Segoe UI" pitchFamily="34" charset="0"/>
                <a:ea typeface="Segoe UI" pitchFamily="34" charset="-122"/>
                <a:cs typeface="Segoe UI" pitchFamily="34" charset="-120"/>
              </a:rPr>
              <a:t>forme</a:t>
            </a:r>
            <a:pPr indent="0" marL="0">
              <a:buNone/>
            </a:pPr>
            <a:r>
              <a:rPr lang="en-US" sz="1300" dirty="0">
                <a:solidFill>
                  <a:srgbClr val="465568"/>
                </a:solidFill>
                <a:latin typeface="Segoe UI" pitchFamily="34" charset="0"/>
                <a:ea typeface="Segoe UI" pitchFamily="34" charset="-122"/>
                <a:cs typeface="Segoe UI" pitchFamily="34" charset="-120"/>
              </a:rPr>
              <a:t>, reprise de la ligne du plan. Ensemble, ils fixent les informations à saisir et les documents produits.</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Huit combinaisons</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Trois natures (fournitures et services, travaux, prestations intellectuelles) × trois formes (quantité fixe, à commande, contrat-cadre). Il n’existe pas de contrat-cadre de prestations intellectuelles.</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 tableau complet par référentiel distinct</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 À commande » ne diffère de « quantité fixe » que de quelques informations : on donne le tableau complet de la quantité fixe, puis </a:t>
            </a:r>
            <a:pPr indent="0" marL="0">
              <a:buNone/>
            </a:pPr>
            <a:r>
              <a:rPr lang="en-US" sz="1200" b="1" dirty="0">
                <a:solidFill>
                  <a:srgbClr val="1B2A3A"/>
                </a:solidFill>
                <a:latin typeface="Segoe UI" pitchFamily="34" charset="0"/>
                <a:ea typeface="Segoe UI" pitchFamily="34" charset="-122"/>
                <a:cs typeface="Segoe UI" pitchFamily="34" charset="-120"/>
              </a:rPr>
              <a:t>les écarts</a:t>
            </a:r>
            <a:pPr indent="0" marL="0">
              <a:buNone/>
            </a:pPr>
            <a:r>
              <a:rPr lang="en-US" sz="1200" dirty="0">
                <a:solidFill>
                  <a:srgbClr val="465568"/>
                </a:solidFill>
                <a:latin typeface="Segoe UI" pitchFamily="34" charset="0"/>
                <a:ea typeface="Segoe UI" pitchFamily="34" charset="-122"/>
                <a:cs typeface="Segoe UI" pitchFamily="34" charset="-120"/>
              </a:rPr>
              <a:t>. Le contrat-cadre a son propre tableau complet.</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colonnes</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b="1" dirty="0">
                <a:solidFill>
                  <a:srgbClr val="1B2A3A"/>
                </a:solidFill>
                <a:latin typeface="Segoe UI" pitchFamily="34" charset="0"/>
                <a:ea typeface="Segoe UI" pitchFamily="34" charset="-122"/>
                <a:cs typeface="Segoe UI" pitchFamily="34" charset="-120"/>
              </a:rPr>
              <a:t>Code</a:t>
            </a:r>
            <a:pPr indent="0" marL="0">
              <a:buNone/>
            </a:pPr>
            <a:r>
              <a:rPr lang="en-US" sz="1200" dirty="0">
                <a:solidFill>
                  <a:srgbClr val="465568"/>
                </a:solidFill>
                <a:latin typeface="Segoe UI" pitchFamily="34" charset="0"/>
                <a:ea typeface="Segoe UI" pitchFamily="34" charset="-122"/>
                <a:cs typeface="Segoe UI" pitchFamily="34" charset="-120"/>
              </a:rPr>
              <a:t> (bloc-rubrique-rang), </a:t>
            </a:r>
            <a:pPr indent="0" marL="0">
              <a:buNone/>
            </a:pPr>
            <a:r>
              <a:rPr lang="en-US" sz="1200" b="1" dirty="0">
                <a:solidFill>
                  <a:srgbClr val="1B2A3A"/>
                </a:solidFill>
                <a:latin typeface="Segoe UI" pitchFamily="34" charset="0"/>
                <a:ea typeface="Segoe UI" pitchFamily="34" charset="-122"/>
                <a:cs typeface="Segoe UI" pitchFamily="34" charset="-120"/>
              </a:rPr>
              <a:t>information</a:t>
            </a:r>
            <a:pPr indent="0" marL="0">
              <a:buNone/>
            </a:pPr>
            <a:r>
              <a:rPr lang="en-US" sz="1200" dirty="0">
                <a:solidFill>
                  <a:srgbClr val="465568"/>
                </a:solidFill>
                <a:latin typeface="Segoe UI" pitchFamily="34" charset="0"/>
                <a:ea typeface="Segoe UI" pitchFamily="34" charset="-122"/>
                <a:cs typeface="Segoe UI" pitchFamily="34" charset="-120"/>
              </a:rPr>
              <a:t>, </a:t>
            </a:r>
            <a:pPr indent="0" marL="0">
              <a:buNone/>
            </a:pPr>
            <a:r>
              <a:rPr lang="en-US" sz="1200" b="1" dirty="0">
                <a:solidFill>
                  <a:srgbClr val="1B2A3A"/>
                </a:solidFill>
                <a:latin typeface="Segoe UI" pitchFamily="34" charset="0"/>
                <a:ea typeface="Segoe UI" pitchFamily="34" charset="-122"/>
                <a:cs typeface="Segoe UI" pitchFamily="34" charset="-120"/>
              </a:rPr>
              <a:t>type et valeurs</a:t>
            </a:r>
            <a:pPr indent="0" marL="0">
              <a:buNone/>
            </a:pPr>
            <a:r>
              <a:rPr lang="en-US" sz="1200" dirty="0">
                <a:solidFill>
                  <a:srgbClr val="465568"/>
                </a:solidFill>
                <a:latin typeface="Segoe UI" pitchFamily="34" charset="0"/>
                <a:ea typeface="Segoe UI" pitchFamily="34" charset="-122"/>
                <a:cs typeface="Segoe UI" pitchFamily="34" charset="-120"/>
              </a:rPr>
              <a:t> proposées, </a:t>
            </a:r>
            <a:pPr indent="0" marL="0">
              <a:buNone/>
            </a:pPr>
            <a:r>
              <a:rPr lang="en-US" sz="1200" b="1" dirty="0">
                <a:solidFill>
                  <a:srgbClr val="1B2A3A"/>
                </a:solidFill>
                <a:latin typeface="Segoe UI" pitchFamily="34" charset="0"/>
                <a:ea typeface="Segoe UI" pitchFamily="34" charset="-122"/>
                <a:cs typeface="Segoe UI" pitchFamily="34" charset="-120"/>
              </a:rPr>
              <a:t>source</a:t>
            </a:r>
            <a:pPr indent="0" marL="0">
              <a:buNone/>
            </a:pPr>
            <a:r>
              <a:rPr lang="en-US" sz="1200" dirty="0">
                <a:solidFill>
                  <a:srgbClr val="465568"/>
                </a:solidFill>
                <a:latin typeface="Segoe UI" pitchFamily="34" charset="0"/>
                <a:ea typeface="Segoe UI" pitchFamily="34" charset="-122"/>
                <a:cs typeface="Segoe UI" pitchFamily="34" charset="-120"/>
              </a:rPr>
              <a:t> (reprise du plan, cadrage ou saisie), </a:t>
            </a:r>
            <a:pPr indent="0" marL="0">
              <a:buNone/>
            </a:pPr>
            <a:r>
              <a:rPr lang="en-US" sz="1200" b="1" dirty="0">
                <a:solidFill>
                  <a:srgbClr val="1B2A3A"/>
                </a:solidFill>
                <a:latin typeface="Segoe UI" pitchFamily="34" charset="0"/>
                <a:ea typeface="Segoe UI" pitchFamily="34" charset="-122"/>
                <a:cs typeface="Segoe UI" pitchFamily="34" charset="-120"/>
              </a:rPr>
              <a:t>document</a:t>
            </a:r>
            <a:pPr indent="0" marL="0">
              <a:buNone/>
            </a:pPr>
            <a:r>
              <a:rPr lang="en-US" sz="1200" dirty="0">
                <a:solidFill>
                  <a:srgbClr val="465568"/>
                </a:solidFill>
                <a:latin typeface="Segoe UI" pitchFamily="34" charset="0"/>
                <a:ea typeface="Segoe UI" pitchFamily="34" charset="-122"/>
                <a:cs typeface="Segoe UI" pitchFamily="34" charset="-120"/>
              </a:rPr>
              <a:t> où elle s’imprime (→ documents où elle est reprise), </a:t>
            </a:r>
            <a:pPr indent="0" marL="0">
              <a:buNone/>
            </a:pPr>
            <a:r>
              <a:rPr lang="en-US" sz="1200" b="1" dirty="0">
                <a:solidFill>
                  <a:srgbClr val="1B2A3A"/>
                </a:solidFill>
                <a:latin typeface="Segoe UI" pitchFamily="34" charset="0"/>
                <a:ea typeface="Segoe UI" pitchFamily="34" charset="-122"/>
                <a:cs typeface="Segoe UI" pitchFamily="34" charset="-120"/>
              </a:rPr>
              <a:t>obligatoire</a:t>
            </a:r>
            <a:pPr indent="0" marL="0">
              <a:buNone/>
            </a:pPr>
            <a:r>
              <a:rPr lang="en-US" sz="1200" dirty="0">
                <a:solidFill>
                  <a:srgbClr val="465568"/>
                </a:solidFill>
                <a:latin typeface="Segoe UI" pitchFamily="34" charset="0"/>
                <a:ea typeface="Segoe UI" pitchFamily="34" charset="-122"/>
                <a:cs typeface="Segoe UI" pitchFamily="34" charset="-120"/>
              </a:rPr>
              <a:t>, </a:t>
            </a:r>
            <a:pPr indent="0" marL="0">
              <a:buNone/>
            </a:pPr>
            <a:r>
              <a:rPr lang="en-US" sz="1200" b="1" dirty="0">
                <a:solidFill>
                  <a:srgbClr val="1B2A3A"/>
                </a:solidFill>
                <a:latin typeface="Segoe UI" pitchFamily="34" charset="0"/>
                <a:ea typeface="Segoe UI" pitchFamily="34" charset="-122"/>
                <a:cs typeface="Segoe UI" pitchFamily="34" charset="-120"/>
              </a:rPr>
              <a:t>condition</a:t>
            </a:r>
            <a:pPr indent="0" marL="0">
              <a:buNone/>
            </a:pPr>
            <a:r>
              <a:rPr lang="en-US" sz="1200" dirty="0">
                <a:solidFill>
                  <a:srgbClr val="465568"/>
                </a:solidFill>
                <a:latin typeface="Segoe UI" pitchFamily="34" charset="0"/>
                <a:ea typeface="Segoe UI" pitchFamily="34" charset="-122"/>
                <a:cs typeface="Segoe UI" pitchFamily="34" charset="-120"/>
              </a:rPr>
              <a:t> d’affichage.</a:t>
            </a:r>
            <a:endParaRPr lang="en-US" sz="1200" dirty="0"/>
          </a:p>
        </p:txBody>
      </p:sp>
      <p:sp>
        <p:nvSpPr>
          <p:cNvPr id="17" name="Shape 15"/>
          <p:cNvSpPr/>
          <p:nvPr/>
        </p:nvSpPr>
        <p:spPr>
          <a:xfrm>
            <a:off x="812780" y="3962400"/>
            <a:ext cx="3420448" cy="2159000"/>
          </a:xfrm>
          <a:prstGeom prst="rect">
            <a:avLst/>
          </a:prstGeom>
          <a:solidFill>
            <a:srgbClr val="FCFCFA"/>
          </a:solidFill>
          <a:ln w="9525">
            <a:solidFill>
              <a:srgbClr val="D5DCE4"/>
            </a:solidFill>
            <a:prstDash val="solid"/>
          </a:ln>
        </p:spPr>
      </p:sp>
      <p:sp>
        <p:nvSpPr>
          <p:cNvPr id="18" name="Shape 16"/>
          <p:cNvSpPr/>
          <p:nvPr/>
        </p:nvSpPr>
        <p:spPr>
          <a:xfrm>
            <a:off x="812780" y="3962400"/>
            <a:ext cx="3420448" cy="38100"/>
          </a:xfrm>
          <a:prstGeom prst="rect">
            <a:avLst/>
          </a:prstGeom>
          <a:solidFill>
            <a:srgbClr val="12324A"/>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document, selon la forme et la nature</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En contrat-cadre, le DPAO devient le </a:t>
            </a:r>
            <a:pPr indent="0" marL="0">
              <a:buNone/>
            </a:pPr>
            <a:r>
              <a:rPr lang="en-US" sz="1200" b="1" dirty="0">
                <a:solidFill>
                  <a:srgbClr val="1B2A3A"/>
                </a:solidFill>
                <a:latin typeface="Segoe UI" pitchFamily="34" charset="0"/>
                <a:ea typeface="Segoe UI" pitchFamily="34" charset="-122"/>
                <a:cs typeface="Segoe UI" pitchFamily="34" charset="-120"/>
              </a:rPr>
              <a:t>DPAC</a:t>
            </a:r>
            <a:pPr indent="0" marL="0">
              <a:buNone/>
            </a:pPr>
            <a:r>
              <a:rPr lang="en-US" sz="1200" dirty="0">
                <a:solidFill>
                  <a:srgbClr val="465568"/>
                </a:solidFill>
                <a:latin typeface="Segoe UI" pitchFamily="34" charset="0"/>
                <a:ea typeface="Segoe UI" pitchFamily="34" charset="-122"/>
                <a:cs typeface="Segoe UI" pitchFamily="34" charset="-120"/>
              </a:rPr>
              <a:t> et le CCAP est absorbé par l’</a:t>
            </a:r>
            <a:pPr indent="0" marL="0">
              <a:buNone/>
            </a:pPr>
            <a:r>
              <a:rPr lang="en-US" sz="1200" b="1" dirty="0">
                <a:solidFill>
                  <a:srgbClr val="1B2A3A"/>
                </a:solidFill>
                <a:latin typeface="Segoe UI" pitchFamily="34" charset="0"/>
                <a:ea typeface="Segoe UI" pitchFamily="34" charset="-122"/>
                <a:cs typeface="Segoe UI" pitchFamily="34" charset="-120"/>
              </a:rPr>
              <a:t>AE</a:t>
            </a:r>
            <a:pPr indent="0" marL="0">
              <a:buNone/>
            </a:pPr>
            <a:r>
              <a:rPr lang="en-US" sz="1200" dirty="0">
                <a:solidFill>
                  <a:srgbClr val="465568"/>
                </a:solidFill>
                <a:latin typeface="Segoe UI" pitchFamily="34" charset="0"/>
                <a:ea typeface="Segoe UI" pitchFamily="34" charset="-122"/>
                <a:cs typeface="Segoe UI" pitchFamily="34" charset="-120"/>
              </a:rPr>
              <a:t> (« contrat-cadre valant acte d’engagement et CCAP »). En prestations intellectuelles, le DPAO devient le </a:t>
            </a:r>
            <a:pPr indent="0" marL="0">
              <a:buNone/>
            </a:pPr>
            <a:r>
              <a:rPr lang="en-US" sz="1200" b="1" dirty="0">
                <a:solidFill>
                  <a:srgbClr val="1B2A3A"/>
                </a:solidFill>
                <a:latin typeface="Segoe UI" pitchFamily="34" charset="0"/>
                <a:ea typeface="Segoe UI" pitchFamily="34" charset="-122"/>
                <a:cs typeface="Segoe UI" pitchFamily="34" charset="-120"/>
              </a:rPr>
              <a:t>DPIC</a:t>
            </a:r>
            <a:pPr indent="0" marL="0">
              <a:buNone/>
            </a:pPr>
            <a:r>
              <a:rPr lang="en-US" sz="1200" dirty="0">
                <a:solidFill>
                  <a:srgbClr val="465568"/>
                </a:solidFill>
                <a:latin typeface="Segoe UI" pitchFamily="34" charset="0"/>
                <a:ea typeface="Segoe UI" pitchFamily="34" charset="-122"/>
                <a:cs typeface="Segoe UI" pitchFamily="34" charset="-120"/>
              </a:rPr>
              <a:t>. Les tableaux donnent déjà le document réel.</a:t>
            </a:r>
            <a:endParaRPr lang="en-US" sz="1200" dirty="0"/>
          </a:p>
        </p:txBody>
      </p:sp>
      <p:sp>
        <p:nvSpPr>
          <p:cNvPr id="21" name="Shape 19"/>
          <p:cNvSpPr/>
          <p:nvPr/>
        </p:nvSpPr>
        <p:spPr>
          <a:xfrm>
            <a:off x="4385624" y="3962400"/>
            <a:ext cx="3420448" cy="2159000"/>
          </a:xfrm>
          <a:prstGeom prst="rect">
            <a:avLst/>
          </a:prstGeom>
          <a:solidFill>
            <a:srgbClr val="FCFCFA"/>
          </a:solidFill>
          <a:ln w="9525">
            <a:solidFill>
              <a:srgbClr val="D5DCE4"/>
            </a:solidFill>
            <a:prstDash val="solid"/>
          </a:ln>
        </p:spPr>
      </p:sp>
      <p:sp>
        <p:nvSpPr>
          <p:cNvPr id="22" name="Shape 20"/>
          <p:cNvSpPr/>
          <p:nvPr/>
        </p:nvSpPr>
        <p:spPr>
          <a:xfrm>
            <a:off x="4385624" y="3962400"/>
            <a:ext cx="3420448" cy="38100"/>
          </a:xfrm>
          <a:prstGeom prst="rect">
            <a:avLst/>
          </a:prstGeom>
          <a:solidFill>
            <a:srgbClr val="1B6FA8"/>
          </a:solidFill>
          <a:ln/>
        </p:spPr>
      </p:sp>
      <p:sp>
        <p:nvSpPr>
          <p:cNvPr id="23" name="Text 21"/>
          <p:cNvSpPr/>
          <p:nvPr/>
        </p:nvSpPr>
        <p:spPr>
          <a:xfrm>
            <a:off x="4525320"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conditions</a:t>
            </a:r>
            <a:endParaRPr lang="en-US" sz="1500" dirty="0"/>
          </a:p>
        </p:txBody>
      </p:sp>
      <p:sp>
        <p:nvSpPr>
          <p:cNvPr id="24" name="Text 22"/>
          <p:cNvSpPr/>
          <p:nvPr/>
        </p:nvSpPr>
        <p:spPr>
          <a:xfrm>
            <a:off x="4525320"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Une information n’apparaît que si le cadrage l’ouvre : « Si remise électronique », « Si alloti », « Si garantie de soumission »… Sans condition, elle est toujours demandée.</a:t>
            </a:r>
            <a:endParaRPr lang="en-US" sz="1200" dirty="0"/>
          </a:p>
        </p:txBody>
      </p:sp>
      <p:sp>
        <p:nvSpPr>
          <p:cNvPr id="25" name="Shape 23"/>
          <p:cNvSpPr/>
          <p:nvPr/>
        </p:nvSpPr>
        <p:spPr>
          <a:xfrm>
            <a:off x="7958468" y="3962400"/>
            <a:ext cx="3420448" cy="2159000"/>
          </a:xfrm>
          <a:prstGeom prst="rect">
            <a:avLst/>
          </a:prstGeom>
          <a:solidFill>
            <a:srgbClr val="FCFCFA"/>
          </a:solidFill>
          <a:ln w="9525">
            <a:solidFill>
              <a:srgbClr val="D5DCE4"/>
            </a:solidFill>
            <a:prstDash val="solid"/>
          </a:ln>
        </p:spPr>
      </p:sp>
      <p:sp>
        <p:nvSpPr>
          <p:cNvPr id="26" name="Shape 24"/>
          <p:cNvSpPr/>
          <p:nvPr/>
        </p:nvSpPr>
        <p:spPr>
          <a:xfrm>
            <a:off x="7958468" y="3962400"/>
            <a:ext cx="3420448" cy="38100"/>
          </a:xfrm>
          <a:prstGeom prst="rect">
            <a:avLst/>
          </a:prstGeom>
          <a:solidFill>
            <a:srgbClr val="2E8B57"/>
          </a:solidFill>
          <a:ln/>
        </p:spPr>
      </p:sp>
      <p:sp>
        <p:nvSpPr>
          <p:cNvPr id="27" name="Text 25"/>
          <p:cNvSpPr/>
          <p:nvPr/>
        </p:nvSpPr>
        <p:spPr>
          <a:xfrm>
            <a:off x="8098164"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blocs à grille</a:t>
            </a:r>
            <a:endParaRPr lang="en-US" sz="1500" dirty="0"/>
          </a:p>
        </p:txBody>
      </p:sp>
      <p:sp>
        <p:nvSpPr>
          <p:cNvPr id="28" name="Text 26"/>
          <p:cNvSpPr/>
          <p:nvPr/>
        </p:nvSpPr>
        <p:spPr>
          <a:xfrm>
            <a:off x="8098164"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besoin (B12), le matériel et le personnel (B13), les pièces de l’offre (B14) ne sont pas des listes d’informations mais des grilles : ils sont décrits à part.</a:t>
            </a:r>
            <a:endParaRPr lang="en-US" sz="1200" dirty="0"/>
          </a:p>
        </p:txBody>
      </p:sp>
      <p:sp>
        <p:nvSpPr>
          <p:cNvPr id="29" name="Text 2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01</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Vue d’ensemble</a:t>
            </a:r>
            <a:endParaRPr lang="en-US" sz="4200" dirty="0"/>
          </a:p>
        </p:txBody>
      </p:sp>
      <p:sp>
        <p:nvSpPr>
          <p:cNvPr id="4" name="Text 2"/>
          <p:cNvSpPr/>
          <p:nvPr/>
        </p:nvSpPr>
        <p:spPr>
          <a:xfrm>
            <a:off x="812780" y="3556000"/>
            <a:ext cx="8889778" cy="1270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Les huit combinaisons côte à côte : nombre d’informations, documents produits, questions de cadrage, ce que change la forme du marché.</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 fiche DAO par nature et par forme · 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VUE D’ENSEMBLE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huit combinaisons en chiffres</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Nombre d’informations du référentiel ouvertes pour chaque combinaison, dont obligatoires, conditionnelles (ouvertes par le cadrage) et saisies une fois par lot.</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1828800"/>
                <a:gridCol w="1143000"/>
                <a:gridCol w="594360"/>
                <a:gridCol w="914400"/>
                <a:gridCol w="914400"/>
                <a:gridCol w="1005840"/>
                <a:gridCol w="685800"/>
                <a:gridCol w="1188720"/>
                <a:gridCol w="31546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Blocs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Obligatoires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Conditionnelles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Blocs à 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Répartition par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Fournitures et services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fixe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163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78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B12, B14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104 · CCAP 45 · AE 6 · avis 6 · fiche 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Fournitures et services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À commande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166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79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B12, B14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105 · CCAP 46 · AE 7 · avis 6 · fiche 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Fournitures et services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177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72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DPAC 103 · AE 72 · fiche 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Travaux et réhabilitation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fixe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181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72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38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B12, B13, B14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99 · CCAP 67 · AE 7 · avis 6 · fiche 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Travaux et réhabilitation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À commande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181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72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38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B12, B13, B14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99 · CCAP 67 · AE 7 · avis 6 · fiche 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Travaux et réhabilitation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141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67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B12, B13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DPAC 78 · AE 61 · fiche 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Prestations intellectuelles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fixe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127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61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0</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DPIC 91 · CCAP 23 · AE 11 · fiche 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Prestations intellectuelles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À commande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127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61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0</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DPIC 91 · CCAP 23 · AE 11 · fiche 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032500"/>
            <a:ext cx="10540736" cy="381000"/>
          </a:xfrm>
          <a:prstGeom prst="rect">
            <a:avLst/>
          </a:prstGeom>
          <a:noFill/>
          <a:ln/>
        </p:spPr>
        <p:txBody>
          <a:bodyPr wrap="square" rtlCol="0" anchor="t"/>
          <a:lstStyle/>
          <a:p>
            <a:pPr indent="0" marL="0">
              <a:buNone/>
            </a:pPr>
            <a:r>
              <a:rPr lang="en-US" sz="1100" dirty="0">
                <a:solidFill>
                  <a:srgbClr val="465568"/>
                </a:solidFill>
                <a:latin typeface="Segoe UI" pitchFamily="34" charset="0"/>
                <a:ea typeface="Segoe UI" pitchFamily="34" charset="-122"/>
                <a:cs typeface="Segoe UI" pitchFamily="34" charset="-120"/>
              </a:rPr>
              <a:t>« fiche » : informations qui pilotent la fiche sans s’imprimer. « avis » : informations qui ne s’impriment que dans l’avis spécifique. Une information peut aussi être </a:t>
            </a:r>
            <a:pPr indent="0" marL="0">
              <a:buNone/>
            </a:pPr>
            <a:r>
              <a:rPr lang="en-US" sz="1100" b="1" dirty="0">
                <a:solidFill>
                  <a:srgbClr val="1B2A3A"/>
                </a:solidFill>
                <a:latin typeface="Segoe UI" pitchFamily="34" charset="0"/>
                <a:ea typeface="Segoe UI" pitchFamily="34" charset="-122"/>
                <a:cs typeface="Segoe UI" pitchFamily="34" charset="-120"/>
              </a:rPr>
              <a:t>reprise</a:t>
            </a:r>
            <a:pPr indent="0" marL="0">
              <a:buNone/>
            </a:pPr>
            <a:r>
              <a:rPr lang="en-US" sz="1100" dirty="0">
                <a:solidFill>
                  <a:srgbClr val="465568"/>
                </a:solidFill>
                <a:latin typeface="Segoe UI" pitchFamily="34" charset="0"/>
                <a:ea typeface="Segoe UI" pitchFamily="34" charset="-122"/>
                <a:cs typeface="Segoe UI" pitchFamily="34" charset="-120"/>
              </a:rPr>
              <a:t> dans d’autres documents que le sien.</a:t>
            </a:r>
            <a:endParaRPr lang="en-US" sz="1100" dirty="0"/>
          </a:p>
        </p:txBody>
      </p:sp>
      <p:sp>
        <p:nvSpPr>
          <p:cNvPr id="7"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VUE D’ENSEMBLE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documents produits à la validation</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document est un document type de l’ARMP rempli depuis la fiche, en Word et en PDF, puis assemblé dans le DAO complet. Les classeurs restent en Excel.</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1417320"/>
                <a:gridCol w="1097280"/>
                <a:gridCol w="1143000"/>
                <a:gridCol w="1417320"/>
                <a:gridCol w="1463040"/>
                <a:gridCol w="1051560"/>
                <a:gridCol w="1463040"/>
                <a:gridCol w="1234440"/>
                <a:gridCol w="11430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Données particulières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Contrat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Cahier des charges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Formulaires du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Classeurs (Excel)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Textes fixes (DAO complet)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Publicité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Fournitures et services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fixe, à commande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(DPAO-F)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AE (AE-F), 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Cahier des prescriptions spéciales (CCAP-F)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A1 à A4 ; C1, C2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Bordereau des prix, tableau de conformité ; liste des fournitures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IC et CCAG fournitures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spécifique (AVIS-F)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Fournitures et services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DPAC (DPAC-CC)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Contrat-cadre valant AE et CCAP (AE-CC)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 (absorbé par l’AE)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A1 à A4 ; C1, C2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Bordereau des prix, tableau de conformité ; liste des fournitures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IC et CCAG fournitures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spécifique (AVIS-F)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fixe, à commande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(DPAO-T)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AE (AE-T), 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CCAP et ses annexes (CCAP-T)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A1 à A4 ; B1, B2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Bordereau des prix et DQE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IC et CCAG 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spécifique (AVIS-T)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DPAC (DPAC-CC)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Contrat-cadre valant AE et CCAP (AE-CC)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 (absorbé par l’AE)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A1 à A4 ; B1, B2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Bordereau des prix et DQE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IC et CCAG 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spécifique (AVIS-T)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Prestations intellectuelles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fixe, à commande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DPIC (DPIC-PI)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AE (AE-PI)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Cahier des prescriptions spéciales (CPS-PI)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A1 à A4 ; C1, C2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IC et CCAG prestations intellectuelles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Lettre d’invitation, candidat par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032500"/>
            <a:ext cx="10540736" cy="381000"/>
          </a:xfrm>
          <a:prstGeom prst="rect">
            <a:avLst/>
          </a:prstGeom>
          <a:noFill/>
          <a:ln/>
        </p:spPr>
        <p:txBody>
          <a:bodyPr wrap="square" rtlCol="0" anchor="t"/>
          <a:lstStyle/>
          <a:p>
            <a:pPr indent="0" marL="0">
              <a:buNone/>
            </a:pPr>
            <a:r>
              <a:rPr lang="en-US" sz="1100" dirty="0">
                <a:solidFill>
                  <a:srgbClr val="465568"/>
                </a:solidFill>
                <a:latin typeface="Segoe UI" pitchFamily="34" charset="0"/>
                <a:ea typeface="Segoe UI" pitchFamily="34" charset="-122"/>
                <a:cs typeface="Segoe UI" pitchFamily="34" charset="-120"/>
              </a:rPr>
              <a:t>Source : modèles du serveur (</a:t>
            </a:r>
            <a:pPr indent="0" marL="0">
              <a:buNone/>
            </a:pPr>
            <a:r>
              <a:rPr lang="en-US" sz="1100" b="1" dirty="0">
                <a:solidFill>
                  <a:srgbClr val="1B2A3A"/>
                </a:solidFill>
                <a:latin typeface="Segoe UI" pitchFamily="34" charset="0"/>
                <a:ea typeface="Segoe UI" pitchFamily="34" charset="-122"/>
                <a:cs typeface="Segoe UI" pitchFamily="34" charset="-120"/>
              </a:rPr>
              <a:t>ModelesDao.COUVERTURES</a:t>
            </a:r>
            <a:pPr indent="0" marL="0">
              <a:buNone/>
            </a:pPr>
            <a:r>
              <a:rPr lang="en-US" sz="1100" dirty="0">
                <a:solidFill>
                  <a:srgbClr val="465568"/>
                </a:solidFill>
                <a:latin typeface="Segoe UI" pitchFamily="34" charset="0"/>
                <a:ea typeface="Segoe UI" pitchFamily="34" charset="-122"/>
                <a:cs typeface="Segoe UI" pitchFamily="34" charset="-120"/>
              </a:rPr>
              <a:t>, </a:t>
            </a:r>
            <a:pPr indent="0" marL="0">
              <a:buNone/>
            </a:pPr>
            <a:r>
              <a:rPr lang="en-US" sz="1100" b="1" dirty="0">
                <a:solidFill>
                  <a:srgbClr val="1B2A3A"/>
                </a:solidFill>
                <a:latin typeface="Segoe UI" pitchFamily="34" charset="0"/>
                <a:ea typeface="Segoe UI" pitchFamily="34" charset="-122"/>
                <a:cs typeface="Segoe UI" pitchFamily="34" charset="-120"/>
              </a:rPr>
              <a:t>modeles/candidat</a:t>
            </a:r>
            <a:pPr indent="0" marL="0">
              <a:buNone/>
            </a:pPr>
            <a:r>
              <a:rPr lang="en-US" sz="1100" dirty="0">
                <a:solidFill>
                  <a:srgbClr val="465568"/>
                </a:solidFill>
                <a:latin typeface="Segoe UI" pitchFamily="34" charset="0"/>
                <a:ea typeface="Segoe UI" pitchFamily="34" charset="-122"/>
                <a:cs typeface="Segoe UI" pitchFamily="34" charset="-120"/>
              </a:rPr>
              <a:t>, </a:t>
            </a:r>
            <a:pPr indent="0" marL="0">
              <a:buNone/>
            </a:pPr>
            <a:r>
              <a:rPr lang="en-US" sz="1100" b="1" dirty="0">
                <a:solidFill>
                  <a:srgbClr val="1B2A3A"/>
                </a:solidFill>
                <a:latin typeface="Segoe UI" pitchFamily="34" charset="0"/>
                <a:ea typeface="Segoe UI" pitchFamily="34" charset="-122"/>
                <a:cs typeface="Segoe UI" pitchFamily="34" charset="-120"/>
              </a:rPr>
              <a:t>modeles/dao-fixes</a:t>
            </a:r>
            <a:pPr indent="0" marL="0">
              <a:buNone/>
            </a:pPr>
            <a:r>
              <a:rPr lang="en-US" sz="1100" dirty="0">
                <a:solidFill>
                  <a:srgbClr val="465568"/>
                </a:solidFill>
                <a:latin typeface="Segoe UI" pitchFamily="34" charset="0"/>
                <a:ea typeface="Segoe UI" pitchFamily="34" charset="-122"/>
                <a:cs typeface="Segoe UI" pitchFamily="34" charset="-120"/>
              </a:rPr>
              <a:t>). Les garanties de soumission C1/C2 (B1/B2 en travaux) ne sont produites que dans la forme admise par la fiche.</a:t>
            </a:r>
            <a:endParaRPr lang="en-US" sz="1100" dirty="0"/>
          </a:p>
        </p:txBody>
      </p:sp>
      <p:sp>
        <p:nvSpPr>
          <p:cNvPr id="7"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VUE D’ENSEMBLE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questions de cadrage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Posées à l’étape 2, avant toute saisie. Leurs réponses ouvrent ou ferment des informations (colonne « Condition » des tableaux). La forme du marché ne se demande pas : elle vient de la ligne du plan.</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743200"/>
                <a:gridCol w="868680"/>
                <a:gridCol w="1051560"/>
                <a:gridCol w="1051560"/>
                <a:gridCol w="1280160"/>
                <a:gridCol w="15087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Question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Réponses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Fournitures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Prest. intell.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Documents touchés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 marché est-il alloti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 (nombre de lots) / Non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AE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 marché comporte-t-il des tranches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 / Non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AE, CCAP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Les variantes sont-elles autorisées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 / Non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 groupement est-il autorisé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 / Non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AE, CCAP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Quelle forme de groupement ? (si groupement)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Conjoint ou solidaire / obligatoirement solidaire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AE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D’où viennent les fournitures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Territoire national / importées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Fournitures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AE, CCAP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Quel type de prix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Unitaires / global forfaitaire / mixte (travaux)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 avec « mixte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AE, CCAP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 prix est-il révisable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Ferme / révisable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CCAP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Une garantie de soumission est-elle exigée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 / Non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AE, CCAP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Comment les offres sont-elles remises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Papier /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DPAO ; C1, C2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Une avance est-elle prévue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 (taux) / Non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AE, CCAP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 pénalités de retard s’appliquent-elles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Selon le CCAG / autre plafond / non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 (plafond 10 %)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Non : fixées dans l’AE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CCAP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Contrat-cadre : mono ou multi-attributaire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Mono / multi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DPAC, AE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VUE D’ENSEMBLE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change la forme du marché</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La forme vient de la ligne du plan (« contrat cadre », « à commande » relevés dans l’objet, sinon quantité fixe). Elle ne se choisit pas dans la fiche.</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Quantité fixe</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quantités sont arrêtées au DAO. Le bordereau des prix porte une quantité par article (ou par prix du DQE) ; le montant de l’offre en découle.</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À commande</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quantités sont des </a:t>
            </a:r>
            <a:pPr indent="0" marL="0">
              <a:buNone/>
            </a:pPr>
            <a:r>
              <a:rPr lang="en-US" sz="1200" b="1" dirty="0">
                <a:solidFill>
                  <a:srgbClr val="1B2A3A"/>
                </a:solidFill>
                <a:latin typeface="Segoe UI" pitchFamily="34" charset="0"/>
                <a:ea typeface="Segoe UI" pitchFamily="34" charset="-122"/>
                <a:cs typeface="Segoe UI" pitchFamily="34" charset="-120"/>
              </a:rPr>
              <a:t>fourchettes</a:t>
            </a:r>
            <a:pPr indent="0" marL="0">
              <a:buNone/>
            </a:pPr>
            <a:r>
              <a:rPr lang="en-US" sz="1200" dirty="0">
                <a:solidFill>
                  <a:srgbClr val="465568"/>
                </a:solidFill>
                <a:latin typeface="Segoe UI" pitchFamily="34" charset="0"/>
                <a:ea typeface="Segoe UI" pitchFamily="34" charset="-122"/>
                <a:cs typeface="Segoe UI" pitchFamily="34" charset="-120"/>
              </a:rPr>
              <a:t> : minimum et maximum par article dans le besoin, montants minimum et maximum par lot dans l’acte d’engagement. En fournitures, quatre informations de plus (durée de validité, montant maximum annuel, délai maximum de livraison) et une de moins. En travaux et en prestations intellectuelles, le référentiel est </a:t>
            </a:r>
            <a:pPr indent="0" marL="0">
              <a:buNone/>
            </a:pPr>
            <a:r>
              <a:rPr lang="en-US" sz="1200" b="1" dirty="0">
                <a:solidFill>
                  <a:srgbClr val="1B2A3A"/>
                </a:solidFill>
                <a:latin typeface="Segoe UI" pitchFamily="34" charset="0"/>
                <a:ea typeface="Segoe UI" pitchFamily="34" charset="-122"/>
                <a:cs typeface="Segoe UI" pitchFamily="34" charset="-120"/>
              </a:rPr>
              <a:t>identique</a:t>
            </a:r>
            <a:pPr indent="0" marL="0">
              <a:buNone/>
            </a:pPr>
            <a:r>
              <a:rPr lang="en-US" sz="1200" dirty="0">
                <a:solidFill>
                  <a:srgbClr val="465568"/>
                </a:solidFill>
                <a:latin typeface="Segoe UI" pitchFamily="34" charset="0"/>
                <a:ea typeface="Segoe UI" pitchFamily="34" charset="-122"/>
                <a:cs typeface="Segoe UI" pitchFamily="34" charset="-120"/>
              </a:rPr>
              <a:t> à la quantité fixe : seuls le besoin et les passages conditionnels des documents changent.</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Contrat-cadre</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Un autre jeu documentaire : </a:t>
            </a:r>
            <a:pPr indent="0" marL="0">
              <a:buNone/>
            </a:pPr>
            <a:r>
              <a:rPr lang="en-US" sz="1200" b="1" dirty="0">
                <a:solidFill>
                  <a:srgbClr val="1B2A3A"/>
                </a:solidFill>
                <a:latin typeface="Segoe UI" pitchFamily="34" charset="0"/>
                <a:ea typeface="Segoe UI" pitchFamily="34" charset="-122"/>
                <a:cs typeface="Segoe UI" pitchFamily="34" charset="-120"/>
              </a:rPr>
              <a:t>DPAC</a:t>
            </a:r>
            <a:pPr indent="0" marL="0">
              <a:buNone/>
            </a:pPr>
            <a:r>
              <a:rPr lang="en-US" sz="1200" dirty="0">
                <a:solidFill>
                  <a:srgbClr val="465568"/>
                </a:solidFill>
                <a:latin typeface="Segoe UI" pitchFamily="34" charset="0"/>
                <a:ea typeface="Segoe UI" pitchFamily="34" charset="-122"/>
                <a:cs typeface="Segoe UI" pitchFamily="34" charset="-120"/>
              </a:rPr>
              <a:t> et </a:t>
            </a:r>
            <a:pPr indent="0" marL="0">
              <a:buNone/>
            </a:pPr>
            <a:r>
              <a:rPr lang="en-US" sz="1200" b="1" dirty="0">
                <a:solidFill>
                  <a:srgbClr val="1B2A3A"/>
                </a:solidFill>
                <a:latin typeface="Segoe UI" pitchFamily="34" charset="0"/>
                <a:ea typeface="Segoe UI" pitchFamily="34" charset="-122"/>
                <a:cs typeface="Segoe UI" pitchFamily="34" charset="-120"/>
              </a:rPr>
              <a:t>contrat-cadre valant AE et CCAP</a:t>
            </a:r>
            <a:pPr indent="0" marL="0">
              <a:buNone/>
            </a:pPr>
            <a:r>
              <a:rPr lang="en-US" sz="1200" dirty="0">
                <a:solidFill>
                  <a:srgbClr val="465568"/>
                </a:solidFill>
                <a:latin typeface="Segoe UI" pitchFamily="34" charset="0"/>
                <a:ea typeface="Segoe UI" pitchFamily="34" charset="-122"/>
                <a:cs typeface="Segoe UI" pitchFamily="34" charset="-120"/>
              </a:rPr>
              <a:t>. Le bloc </a:t>
            </a:r>
            <a:pPr indent="0" marL="0">
              <a:buNone/>
            </a:pPr>
            <a:r>
              <a:rPr lang="en-US" sz="1200" b="1" dirty="0">
                <a:solidFill>
                  <a:srgbClr val="1B2A3A"/>
                </a:solidFill>
                <a:latin typeface="Segoe UI" pitchFamily="34" charset="0"/>
                <a:ea typeface="Segoe UI" pitchFamily="34" charset="-122"/>
                <a:cs typeface="Segoe UI" pitchFamily="34" charset="-120"/>
              </a:rPr>
              <a:t>B07</a:t>
            </a:r>
            <a:pPr indent="0" marL="0">
              <a:buNone/>
            </a:pPr>
            <a:r>
              <a:rPr lang="en-US" sz="1200" dirty="0">
                <a:solidFill>
                  <a:srgbClr val="465568"/>
                </a:solidFill>
                <a:latin typeface="Segoe UI" pitchFamily="34" charset="0"/>
                <a:ea typeface="Segoe UI" pitchFamily="34" charset="-122"/>
                <a:cs typeface="Segoe UI" pitchFamily="34" charset="-120"/>
              </a:rPr>
              <a:t> (marchés subséquents, durée, reconduction, mono ou multi-attributaire) apparaît ; le calendrier de mise en concurrence et la remise en concurrence remplacent une large part des clauses du CCAP. Pas de question des pénalités : elles sont fixées dans l’AE.</a:t>
            </a:r>
            <a:endParaRPr lang="en-US" sz="1200" dirty="0"/>
          </a:p>
        </p:txBody>
      </p:sp>
      <p:sp>
        <p:nvSpPr>
          <p:cNvPr id="17" name="Text 1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02</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Fournitures et services</a:t>
            </a:r>
            <a:endParaRPr lang="en-US" sz="4200" dirty="0"/>
          </a:p>
        </p:txBody>
      </p:sp>
      <p:sp>
        <p:nvSpPr>
          <p:cNvPr id="4" name="Text 2"/>
          <p:cNvSpPr/>
          <p:nvPr/>
        </p:nvSpPr>
        <p:spPr>
          <a:xfrm>
            <a:off x="812780" y="3556000"/>
            <a:ext cx="8889778" cy="1270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Biens et services courants : liste des fournitures et calendrier de livraison, bordereau des prix, tableau de conformité technique ; provenance nationale ou importée.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 fiche DAO par nature et par forme · 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Fournitures et services : les blocs selon la forme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Nombre d’informations de chaque bloc pour chaque forme ; « — » : bloc absent de cette forme ; « grille » : bloc saisi dans une grille.</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731520"/>
                <a:gridCol w="5852160"/>
                <a:gridCol w="1615440"/>
                <a:gridCol w="1615440"/>
                <a:gridCol w="161544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Bloc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Intitulé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Quantité fixe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À commande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Identification &amp; données du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allotissement &amp; forme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Candidats : groupement, sous-traitance, qualifications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Dossier, remise &amp; ouverture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montants &amp; garantie de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20</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Évaluation, attribution &amp;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Paiements, avances &amp; garanties financières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10</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Exécution du marché &amp; livraison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30</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31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B10</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Modifications, résiliation &amp; litiges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Besoin (grille)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Pièces de l'offre (grille)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a:txBody>
                    <a:bodyPr/>
                    <a:lstStyle/>
                    <a:p>
                      <a:pPr algn="l" indent="0" marL="0">
                        <a:buNone/>
                      </a:pPr>
                      <a:r>
                        <a:rPr lang="en-US" sz="900" b="1" dirty="0">
                          <a:solidFill>
                            <a:srgbClr val="1B2A3A"/>
                          </a:solidFill>
                          <a:latin typeface="Segoe UI" pitchFamily="34" charset="0"/>
                          <a:ea typeface="Segoe UI" pitchFamily="34" charset="-122"/>
                          <a:cs typeface="Segoe UI" pitchFamily="34" charset="-120"/>
                        </a:rPr>
                        <a:t>Total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a:txBody>
                    <a:bodyPr/>
                    <a:lstStyle/>
                    <a:p>
                      <a:pPr algn="ctr" indent="0" marL="0">
                        <a:buNone/>
                      </a:pPr>
                      <a:r>
                        <a:rPr lang="en-US" sz="900" b="1" dirty="0">
                          <a:solidFill>
                            <a:srgbClr val="1B2A3A"/>
                          </a:solidFill>
                          <a:latin typeface="Segoe UI" pitchFamily="34" charset="0"/>
                          <a:ea typeface="Segoe UI" pitchFamily="34" charset="-122"/>
                          <a:cs typeface="Segoe UI" pitchFamily="34" charset="-120"/>
                        </a:rPr>
                        <a:t>163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a:txBody>
                    <a:bodyPr/>
                    <a:lstStyle/>
                    <a:p>
                      <a:pPr algn="ctr" indent="0" marL="0">
                        <a:buNone/>
                      </a:pPr>
                      <a:r>
                        <a:rPr lang="en-US" sz="900" b="1" dirty="0">
                          <a:solidFill>
                            <a:srgbClr val="1B2A3A"/>
                          </a:solidFill>
                          <a:latin typeface="Segoe UI" pitchFamily="34" charset="0"/>
                          <a:ea typeface="Segoe UI" pitchFamily="34" charset="-122"/>
                          <a:cs typeface="Segoe UI" pitchFamily="34" charset="-120"/>
                        </a:rPr>
                        <a:t>166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a:txBody>
                    <a:bodyPr/>
                    <a:lstStyle/>
                    <a:p>
                      <a:pPr algn="ctr" indent="0" marL="0">
                        <a:buNone/>
                      </a:pPr>
                      <a:r>
                        <a:rPr lang="en-US" sz="900" b="1" dirty="0">
                          <a:solidFill>
                            <a:srgbClr val="1B2A3A"/>
                          </a:solidFill>
                          <a:latin typeface="Segoe UI" pitchFamily="34" charset="0"/>
                          <a:ea typeface="Segoe UI" pitchFamily="34" charset="-122"/>
                          <a:cs typeface="Segoe UI" pitchFamily="34" charset="-120"/>
                        </a:rPr>
                        <a:t>177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Fournitures et services : les blocs à grille</a:t>
            </a:r>
            <a:endParaRPr lang="en-US" sz="2600" dirty="0"/>
          </a:p>
        </p:txBody>
      </p:sp>
      <p:sp>
        <p:nvSpPr>
          <p:cNvPr id="4" name="Shape 2"/>
          <p:cNvSpPr/>
          <p:nvPr/>
        </p:nvSpPr>
        <p:spPr>
          <a:xfrm>
            <a:off x="812780" y="1206500"/>
            <a:ext cx="3420448" cy="2159000"/>
          </a:xfrm>
          <a:prstGeom prst="rect">
            <a:avLst/>
          </a:prstGeom>
          <a:solidFill>
            <a:srgbClr val="FCFCFA"/>
          </a:solidFill>
          <a:ln w="9525">
            <a:solidFill>
              <a:srgbClr val="D5DCE4"/>
            </a:solidFill>
            <a:prstDash val="solid"/>
          </a:ln>
        </p:spPr>
      </p:sp>
      <p:sp>
        <p:nvSpPr>
          <p:cNvPr id="5" name="Shape 3"/>
          <p:cNvSpPr/>
          <p:nvPr/>
        </p:nvSpPr>
        <p:spPr>
          <a:xfrm>
            <a:off x="812780" y="1206500"/>
            <a:ext cx="3420448" cy="38100"/>
          </a:xfrm>
          <a:prstGeom prst="rect">
            <a:avLst/>
          </a:prstGeom>
          <a:solidFill>
            <a:srgbClr val="1B6FA8"/>
          </a:solidFill>
          <a:ln/>
        </p:spPr>
      </p:sp>
      <p:sp>
        <p:nvSpPr>
          <p:cNvPr id="6" name="Text 4"/>
          <p:cNvSpPr/>
          <p:nvPr/>
        </p:nvSpPr>
        <p:spPr>
          <a:xfrm>
            <a:off x="952476" y="13081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B12 — Le besoin</a:t>
            </a:r>
            <a:endParaRPr lang="en-US" sz="1500" dirty="0"/>
          </a:p>
        </p:txBody>
      </p:sp>
      <p:sp>
        <p:nvSpPr>
          <p:cNvPr id="7" name="Text 5"/>
          <p:cNvSpPr/>
          <p:nvPr/>
        </p:nvSpPr>
        <p:spPr>
          <a:xfrm>
            <a:off x="952476" y="17018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Lots, puis articles : désignation, unité, quantité (</a:t>
            </a:r>
            <a:pPr indent="0" marL="0">
              <a:buNone/>
            </a:pPr>
            <a:r>
              <a:rPr lang="en-US" sz="1200" b="1" dirty="0">
                <a:solidFill>
                  <a:srgbClr val="1B2A3A"/>
                </a:solidFill>
                <a:latin typeface="Segoe UI" pitchFamily="34" charset="0"/>
                <a:ea typeface="Segoe UI" pitchFamily="34" charset="-122"/>
                <a:cs typeface="Segoe UI" pitchFamily="34" charset="-120"/>
              </a:rPr>
              <a:t>minimum et maximum</a:t>
            </a:r>
            <a:pPr indent="0" marL="0">
              <a:buNone/>
            </a:pPr>
            <a:r>
              <a:rPr lang="en-US" sz="1200" dirty="0">
                <a:solidFill>
                  <a:srgbClr val="465568"/>
                </a:solidFill>
                <a:latin typeface="Segoe UI" pitchFamily="34" charset="0"/>
                <a:ea typeface="Segoe UI" pitchFamily="34" charset="-122"/>
                <a:cs typeface="Segoe UI" pitchFamily="34" charset="-120"/>
              </a:rPr>
              <a:t> à commande), lieu et délai de livraison, et les </a:t>
            </a:r>
            <a:pPr indent="0" marL="0">
              <a:buNone/>
            </a:pPr>
            <a:r>
              <a:rPr lang="en-US" sz="1200" b="1" dirty="0">
                <a:solidFill>
                  <a:srgbClr val="1B2A3A"/>
                </a:solidFill>
                <a:latin typeface="Segoe UI" pitchFamily="34" charset="0"/>
                <a:ea typeface="Segoe UI" pitchFamily="34" charset="-122"/>
                <a:cs typeface="Segoe UI" pitchFamily="34" charset="-120"/>
              </a:rPr>
              <a:t>caractéristiques techniques</a:t>
            </a:r>
            <a:pPr indent="0" marL="0">
              <a:buNone/>
            </a:pPr>
            <a:r>
              <a:rPr lang="en-US" sz="1200" dirty="0">
                <a:solidFill>
                  <a:srgbClr val="465568"/>
                </a:solidFill>
                <a:latin typeface="Segoe UI" pitchFamily="34" charset="0"/>
                <a:ea typeface="Segoe UI" pitchFamily="34" charset="-122"/>
                <a:cs typeface="Segoe UI" pitchFamily="34" charset="-120"/>
              </a:rPr>
              <a:t> exigées de chaque article. Il produit la liste des fournitures, le bordereau des prix et le tableau de conformité, et pré-remplit l’offre en ligne du candidat.</a:t>
            </a:r>
            <a:endParaRPr lang="en-US" sz="1200" dirty="0"/>
          </a:p>
        </p:txBody>
      </p:sp>
      <p:sp>
        <p:nvSpPr>
          <p:cNvPr id="8" name="Shape 6"/>
          <p:cNvSpPr/>
          <p:nvPr/>
        </p:nvSpPr>
        <p:spPr>
          <a:xfrm>
            <a:off x="4385624" y="1206500"/>
            <a:ext cx="3420448" cy="2159000"/>
          </a:xfrm>
          <a:prstGeom prst="rect">
            <a:avLst/>
          </a:prstGeom>
          <a:solidFill>
            <a:srgbClr val="FCFCFA"/>
          </a:solidFill>
          <a:ln w="9525">
            <a:solidFill>
              <a:srgbClr val="D5DCE4"/>
            </a:solidFill>
            <a:prstDash val="solid"/>
          </a:ln>
        </p:spPr>
      </p:sp>
      <p:sp>
        <p:nvSpPr>
          <p:cNvPr id="9" name="Shape 7"/>
          <p:cNvSpPr/>
          <p:nvPr/>
        </p:nvSpPr>
        <p:spPr>
          <a:xfrm>
            <a:off x="4385624" y="1206500"/>
            <a:ext cx="3420448" cy="38100"/>
          </a:xfrm>
          <a:prstGeom prst="rect">
            <a:avLst/>
          </a:prstGeom>
          <a:solidFill>
            <a:srgbClr val="2E8B57"/>
          </a:solidFill>
          <a:ln/>
        </p:spPr>
      </p:sp>
      <p:sp>
        <p:nvSpPr>
          <p:cNvPr id="10" name="Text 8"/>
          <p:cNvSpPr/>
          <p:nvPr/>
        </p:nvSpPr>
        <p:spPr>
          <a:xfrm>
            <a:off x="4525320" y="13081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B14 — Les pièces de l’offre</a:t>
            </a:r>
            <a:endParaRPr lang="en-US" sz="1500" dirty="0"/>
          </a:p>
        </p:txBody>
      </p:sp>
      <p:sp>
        <p:nvSpPr>
          <p:cNvPr id="11" name="Text 9"/>
          <p:cNvSpPr/>
          <p:nvPr/>
        </p:nvSpPr>
        <p:spPr>
          <a:xfrm>
            <a:off x="4525320" y="17018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Deux listes : les </a:t>
            </a:r>
            <a:pPr indent="0" marL="0">
              <a:buNone/>
            </a:pPr>
            <a:r>
              <a:rPr lang="en-US" sz="1200" b="1" dirty="0">
                <a:solidFill>
                  <a:srgbClr val="1B2A3A"/>
                </a:solidFill>
                <a:latin typeface="Segoe UI" pitchFamily="34" charset="0"/>
                <a:ea typeface="Segoe UI" pitchFamily="34" charset="-122"/>
                <a:cs typeface="Segoe UI" pitchFamily="34" charset="-120"/>
              </a:rPr>
              <a:t>pièces administratives</a:t>
            </a:r>
            <a:pPr indent="0" marL="0">
              <a:buNone/>
            </a:pPr>
            <a:r>
              <a:rPr lang="en-US" sz="1200" dirty="0">
                <a:solidFill>
                  <a:srgbClr val="465568"/>
                </a:solidFill>
                <a:latin typeface="Segoe UI" pitchFamily="34" charset="0"/>
                <a:ea typeface="Segoe UI" pitchFamily="34" charset="-122"/>
                <a:cs typeface="Segoe UI" pitchFamily="34" charset="-120"/>
              </a:rPr>
              <a:t> (clause 6.2, 2°) et les </a:t>
            </a:r>
            <a:pPr indent="0" marL="0">
              <a:buNone/>
            </a:pPr>
            <a:r>
              <a:rPr lang="en-US" sz="1200" b="1" dirty="0">
                <a:solidFill>
                  <a:srgbClr val="1B2A3A"/>
                </a:solidFill>
                <a:latin typeface="Segoe UI" pitchFamily="34" charset="0"/>
                <a:ea typeface="Segoe UI" pitchFamily="34" charset="-122"/>
                <a:cs typeface="Segoe UI" pitchFamily="34" charset="-120"/>
              </a:rPr>
              <a:t>autres pièces de l’offre</a:t>
            </a:r>
            <a:pPr indent="0" marL="0">
              <a:buNone/>
            </a:pPr>
            <a:r>
              <a:rPr lang="en-US" sz="1200" dirty="0">
                <a:solidFill>
                  <a:srgbClr val="465568"/>
                </a:solidFill>
                <a:latin typeface="Segoe UI" pitchFamily="34" charset="0"/>
                <a:ea typeface="Segoe UI" pitchFamily="34" charset="-122"/>
                <a:cs typeface="Segoe UI" pitchFamily="34" charset="-120"/>
              </a:rPr>
              <a:t> (1°), avec forme et ancienneté exigées. « Reprendre les pièces du document type », « Coller une liste », « Proposer la liste à partir du texte ». </a:t>
            </a:r>
            <a:pPr indent="0" marL="0">
              <a:buNone/>
            </a:pPr>
            <a:r>
              <a:rPr lang="en-US" sz="1200" b="1" dirty="0">
                <a:solidFill>
                  <a:srgbClr val="1B2A3A"/>
                </a:solidFill>
                <a:latin typeface="Segoe UI" pitchFamily="34" charset="0"/>
                <a:ea typeface="Segoe UI" pitchFamily="34" charset="-122"/>
                <a:cs typeface="Segoe UI" pitchFamily="34" charset="-120"/>
              </a:rPr>
              <a:t>Pas en contrat-cadre.</a:t>
            </a:r>
            <a:endParaRPr lang="en-US" sz="1200" dirty="0"/>
          </a:p>
        </p:txBody>
      </p:sp>
      <p:sp>
        <p:nvSpPr>
          <p:cNvPr id="12" name="Shape 10"/>
          <p:cNvSpPr/>
          <p:nvPr/>
        </p:nvSpPr>
        <p:spPr>
          <a:xfrm>
            <a:off x="7958468" y="1206500"/>
            <a:ext cx="3420448" cy="2159000"/>
          </a:xfrm>
          <a:prstGeom prst="rect">
            <a:avLst/>
          </a:prstGeom>
          <a:solidFill>
            <a:srgbClr val="FCFCFA"/>
          </a:solidFill>
          <a:ln w="9525">
            <a:solidFill>
              <a:srgbClr val="D5DCE4"/>
            </a:solidFill>
            <a:prstDash val="solid"/>
          </a:ln>
        </p:spPr>
      </p:sp>
      <p:sp>
        <p:nvSpPr>
          <p:cNvPr id="13" name="Shape 11"/>
          <p:cNvSpPr/>
          <p:nvPr/>
        </p:nvSpPr>
        <p:spPr>
          <a:xfrm>
            <a:off x="7958468" y="1206500"/>
            <a:ext cx="3420448" cy="38100"/>
          </a:xfrm>
          <a:prstGeom prst="rect">
            <a:avLst/>
          </a:prstGeom>
          <a:solidFill>
            <a:srgbClr val="E3AE2E"/>
          </a:solidFill>
          <a:ln/>
        </p:spPr>
      </p:sp>
      <p:sp>
        <p:nvSpPr>
          <p:cNvPr id="14" name="Text 12"/>
          <p:cNvSpPr/>
          <p:nvPr/>
        </p:nvSpPr>
        <p:spPr>
          <a:xfrm>
            <a:off x="8098164" y="13081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Spécifications techniques</a:t>
            </a:r>
            <a:endParaRPr lang="en-US" sz="1500" dirty="0"/>
          </a:p>
        </p:txBody>
      </p:sp>
      <p:sp>
        <p:nvSpPr>
          <p:cNvPr id="15" name="Text 13"/>
          <p:cNvSpPr/>
          <p:nvPr/>
        </p:nvSpPr>
        <p:spPr>
          <a:xfrm>
            <a:off x="8098164" y="17018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Au bloc B14 : la PRMP joint le Word des spécifications (20 Mo au plus), inséré tel quel dans le DAO complet, partie 2.2.</a:t>
            </a:r>
            <a:endParaRPr lang="en-US" sz="1200" dirty="0"/>
          </a:p>
        </p:txBody>
      </p:sp>
      <p:sp>
        <p:nvSpPr>
          <p:cNvPr id="16" name="Text 1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(1/10)</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B01 — Identification &amp; données du PPM  ·  19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B01-AC · Acheteur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Ministère ou organisme de rattachement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Commission des marchés compétente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Personne responsable des marchés publics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Courriel de la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de la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du plan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 budgétaire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du plan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Aucun (pilote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du dossier de planification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Aucun (pilote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Nature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estimatif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 de financement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Service(s) bénéficiaire(s)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Compte(s) budgétaire(s)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Dates prévisionnelles (calendrier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B02 — Objet, allotissement &amp; forme du marché  ·  12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B02-OB · Objet de l'appel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B02-OB-01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de l'appel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B02-OB-02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de fournitures à livrer et services connexes à réaliser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B02-OB-03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du dossier d'appel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(2/10)</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B02-LV · Lots et variantes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lots du plan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des lots du plan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par lot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Marché alloti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Variantes admises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B02-VA · Offres variantes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B02-VA-01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Offres variantes prises en considération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Offre de base évaluée la moins-disante ; Toutes les offres conformes aux spécifications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variantes admises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B02-AU · Autres éléments du bloc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B02-AU-01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Description du projet global (marché non alloti)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non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B02-AU-02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Attribution des 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Lot par lot (attribution divisible) ; Totalité des lots à un seul 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B03 — Candidats : groupement, sous-traitance, qualifications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B03-GR · Groupement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B03-GR-01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Groupement autorisé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B03-GR-02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du groupement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groupement admis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B03-CQ · Capacité et qualifications des candidats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Identification et situation juridique : pièces exigées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Capacité technique exigée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Capacité financière exigée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Marchés similaires : certificats de bonne fin ou PV de réception exigés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Autorisation du fabricant exigée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(3/10)</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Qualifications particulières exigées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Communautés locales et ONG admises à candidater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Préférence nationale accordée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antécédents juridiques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antécédents financiers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B03-ST · Sous-traitance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B03-ST-01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Sous-traitance autorisée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B03-NA · Nantissement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B03-NA-03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Comptable assignataire des paiements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B04 — Dossier, remise &amp; ouverture des offres  ·  45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B04-DE · Demande d'éclaircissement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pour les demandes d'éclaircissement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d'envoi des demandes par les candidats (jours avant la date limite)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réponse du représentant de la PRMP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B04-CO · Contenu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Documents et pièces constituant l'offre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B04-VO · Délai de validité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B04-VO-01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validité des offres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B04-LA · Langue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Langue de l'offre autre que le français admise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B04-LA-02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Langue admise en plus du français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B04-RO · Remise des offres – forme des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copies de l'offre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B04-RO-02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Mention et numéro à porter sur les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(4/10)</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B04-LR · Lieu, date et heure de remise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complet de la PRMP destinataire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B04-LR-02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B04-LR-03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limite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B04-LR-04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Heure limite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B04-OP · Ouverture des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de l'ouverture des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l'ouverture des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Heure de l'ouverture des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B04-OP-10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 de la séance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Présentiel ; En ligne ; Mixte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B04-OP-11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Lien de suivi de la séance pour les soumissionnaires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Adresse web</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B04-OP-12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entre l'heure limite et l'ouverture (minutes)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B04-OP-13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Publication du procès-verbal sur la plateforme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B04-DS · Dossier de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à payer pour le dossier de consultation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nom du responsable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bureau, n° de porte, étage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e-mail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B04-CD · Composition du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B04-CD-01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Modèles de fiches de renseignements joints au dossier (A1, A2…)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A1 ; A2 ; A3 ; A4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B04-CD-02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Modèle de garantie de soumission joint au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C1 ; C2 ; C1 et C2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B04-SE · Remise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PAPIER ; ELECTRONIQUE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 plateforme de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Adresse web</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(5/10)</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d'ouverture des dépôts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Heure de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Heure du serveur (UTC+03:00 Indian/Antananarivo)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de signature électronique exigé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Qualifiée ; Avancée ; Simple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Prestataires de certification acceptés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À définir par l'Administrateur (liste officielle des prestataires de certification)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Formats de fichiers acceptés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PDF ; PDF/A ; XLSX ; DOCX ; ZIP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maximale par fichier (Mo)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maximale par offre (Mo)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Remplacement et retrait avant la date limite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Copie de sauvegarde autorisée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Non ; Support physique sous pli scellé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Seuil d'indisponibilité déclenchant la prorogation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 la prorogation (jours ouvrables)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Assistance aux candidats (contact, horaires)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limite des demandes d'assistance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Fenêtre avant l'échéance où le seuil s'applique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publication de l'avis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B05 — Prix, montants &amp; garantie de soumission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B05-CP · Contenu et décomposition des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B05-CP-00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Provenance des fournitures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B05-CP-01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Incoterm des fournitures importées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CIP ; CIF</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fournitures importées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B05-CP-02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Décomposition des prix des fournitures nationales (EXW hors TVA, transports intérieurs, assurance, services)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fournitures nationales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B05-CP-04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Transport intérieur jusqu'à la destination finale à la charge du fournisseur (fournitures importées)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fournitures importées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(6/10)</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B05-CP-05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(CIP) ou port (CIF) de destination des fournitures importées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fournitures importées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B05-VP · Variation des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B05-VP-01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ferme ou révisable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B05-VP-02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Formule de révision des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prix révisable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B05-VP-03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Indices d'actualisation des prix fermes (nature et sources)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prix ferme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B05-MO · Monnaie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B05-MO-01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Monnaie de l'offre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Ariary ; Ariary et devise pour la part importée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B05-MO-02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Devise admise pour la part importée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fournitures importées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B05-GS · Garantie de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Garantie de soumission exigée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de la garantie de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Dépôt en numéraire au Trésor ; Caution personnelle et solidaire d'un organisme agréé par le MEF ; Garantie bancaire ; Chèque de banque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de la garantie de soumission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 validité de la garantie de soumission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de remise de la garantie acceptée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Dépôt direct par le garant (voie A) ; Téléversement avec code de vérification (voie B) ; Original papier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 et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Original papier exigé en plus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 et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du dépôt de l'original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 et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Garants habilités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À définir par l'Administrateur (liste officielle des garants habilités)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 et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(7/10)</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et heure limite du dépôt de l'original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 et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B05-TP · Type de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B05-TP-01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de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B06 — Évaluation, attribution &amp; notification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B06-EP · Évaluation des plis, relations candidats /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B06-EP-01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réponse des candidats aux demandes de la PRMP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B06-EO · Évaluation des offres, montant évalué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B06-EO-01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Évaluation des offres portant sur plusieurs 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Par lot ; Sur l'ensemble des lots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B06-EO-02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Critères additionnels d'évaluation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B06-EO-09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Marge de préférence nationale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B06-EO-10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Variation maximale des quantités à l'attribution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B06-EO-11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livraison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B06-AN · Attribution et notification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B06-AN-01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de la garantie de bonne exécution exigée à la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Cautionnement ; Garantie bancaire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B08 — Paiements, avances &amp; garanties financières  ·  12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B08-PA · Paiements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B08-PA-03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Établissement des décomptes, factures ou mémoires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B08-PA-05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Périodicité des paiements (prix unitaires)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À la livraison ; Mensuelle ; Trimestrielle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prix unitaires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B08-PA-06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Part réglée à la réception des fournitures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prix forfaitaire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B08-PA-07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Part réglée sur présentation du PV de réception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prix forfaitaire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B08-AV · Avance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Avance accordée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B08-AV-02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 l'avance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B08-AV-04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de la garantie de restitution d'avance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Garantie bancaire ; Caution personnelle et solidaire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(8/10)</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B08-IM · Intérêts moratoires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B08-IM-01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des intérêts moratoires dus au fournisseur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B08-GB · Garantie de bonne 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B08-GB-01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Garantie de bonne exécution exigée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B08-GB-02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de la garantie de bonne exécution (%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B08-RG · Retenue de garantie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B08-RG-01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Retenue de garantie pratiquée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B08-RG-02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 la retenue de garantie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B09 — Exécution du marché &amp; livraison  ·  30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B09-LL · Lieu de livraison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B09-LL-01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de livraison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B09-OM · Ordres de modification et avenants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B09-OM-01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communication par le fournisseur sur l'ajustement de prix ou de délai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B09-OM-02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Variation maximale des volumes ou quantités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B09-DX · Délai d'exécution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B09-DX-01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d'exécution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B09-DX-02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 de départ du délai s'il diffère de la date de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B09-DX-03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et période de passation des commandes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B09-PC · Pièces contractuelles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Pièces contractuelles supplémentaires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Annexes de l'acte d'engagement (cadre du bordereau de prix, état des sommes versées à des tiers, déclaration des bénéficiaires effectifs)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B09-PS · Protection du secret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Mesures de sécurité applicables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Mesures communiquées par l'Autorité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(9/10)</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B09-PS-03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Mesures mentionnées en annexe du CCAP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B09-PR · Pénalités de retard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Régime des pénalités de retard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B09-PR-02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Plafond des pénalités de retard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pénalités : autre plafond</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B09-PR-03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Dérogation au CCAG justifiant le plafond des pénalités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pénalités : autre plafond</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B09-MC · Matériels confiés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B09-MC-01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Matériels, objets et approvisionnements confiés au fournisseur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B09-SK · Stockage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B09-SK-01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Stockage des fournitures à la charge du fournisseur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B09-EM · Emballage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B09-EM-01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Marquage requis sur les emballages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B09-EM-02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Documents requis dans les emballages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B09-RT · Responsabilité du transport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B09-RT-01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Responsabilité du transport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Selon l'incoterm ; Transport par le fournisseur jusqu'à la destination finale ; Responsabilités partagées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B09-RT-02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Responsabilités respectives de l'Autorité contractante et du fournisseur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B09-LF · Livraison des fournitures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B09-LF-01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de livraison des fournitures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B09-LF-02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Documents à fournir par le fournisseur à la livraison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B09-AS · Assurance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Assurance des fournitures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Selon l'incoterm ; À la charge du fournisseur jusqu'à la livraison ; À la charge de l'Autorité contractante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Terme de la responsabilité d'assurance du fournisseur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(10/10)</a:t>
            </a:r>
            <a:endParaRPr lang="en-US" sz="2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B09-CR · Contrôle des prix de revient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B09-CR-01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Contrôle des prix de revient applicable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B09-IV · Inspections, vérifications et essais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B09-IV-01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Inspections, vérifications et essais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B09-DI · Décision après inspection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B09-DI-01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après inspection et essais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B09-DG · Délai de garantie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B09-DG-01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garantie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B09-DG-03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Pénalité pour non-respect des garanties contractuelles (% du prix initial)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B09-DG-04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accordé pour remédier aux défauts pendant la garantie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B10 — Modifications, résiliation &amp; litiges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B10-IR · Indemnité de résiliation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B10-IR-01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Indemnité de résiliation prévue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B10-IR-03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 l'indemnité de résiliation (%, si différent des 4 % du CCAG)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B10-AR · Arbitrage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B10-AR-01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Arbitrage et règlement des litiges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B10-DD · Dérogation aux documents généraux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B10-DD-01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Dérogations aux documents généraux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B12 — Besoin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i="1" dirty="0">
                          <a:solidFill>
                            <a:srgbClr val="465568"/>
                          </a:solidFill>
                          <a:latin typeface="Segoe UI" pitchFamily="34" charset="0"/>
                          <a:ea typeface="Segoe UI" pitchFamily="34" charset="-122"/>
                          <a:cs typeface="Segoe UI" pitchFamily="34" charset="-120"/>
                        </a:rPr>
                        <a:t>Saisi dans la grille du besoin (lots, articles ou séries, quantités) — voir « Les blocs à grille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FF7E0"/>
                    </a:solidFill>
                  </a:tcPr>
                </a:tc>
                <a:tc hMerge="1">
                  <a:tcPr/>
                </a:tc>
                <a:tc hMerge="1">
                  <a:tcPr/>
                </a:tc>
                <a:tc hMerge="1">
                  <a:tcPr/>
                </a:tc>
                <a:tc hMerge="1">
                  <a:tcPr/>
                </a:tc>
                <a:tc hMerge="1">
                  <a:tcPr/>
                </a:tc>
                <a:tc hMerge="1">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B14 — Pièces de l'offre</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i="1" dirty="0">
                          <a:solidFill>
                            <a:srgbClr val="465568"/>
                          </a:solidFill>
                          <a:latin typeface="Segoe UI" pitchFamily="34" charset="0"/>
                          <a:ea typeface="Segoe UI" pitchFamily="34" charset="-122"/>
                          <a:cs typeface="Segoe UI" pitchFamily="34" charset="-120"/>
                        </a:rPr>
                        <a:t>Saisi dans la liste des pièces de l’offre (administratives, autres) — voir « Les blocs à grille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FF7E0"/>
                    </a:solidFill>
                  </a:tcPr>
                </a:tc>
                <a:tc hMerge="1">
                  <a:tcPr/>
                </a:tc>
                <a:tc hMerge="1">
                  <a:tcPr/>
                </a:tc>
                <a:tc hMerge="1">
                  <a:tcPr/>
                </a:tc>
                <a:tc hMerge="1">
                  <a:tcPr/>
                </a:tc>
                <a:tc hMerge="1">
                  <a:tcPr/>
                </a:tc>
                <a:tc hMerge="1">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À COMMANDE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À commande — les informations en plus</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B02 — Objet, allotissement &amp; forme du marché  ·  1 information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B02-AU · Autres éléments du bloc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B02-AU-04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 validité du marché à commande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B05 — Prix, montants &amp; garantie de soumission  ·  1 information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B05-TP · Type de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B05-TP-03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maximum annuel estimé du marché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B06 — Évaluation, attribution &amp; notification  ·  1 information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B06-EO · Évaluation des offres, montant évalué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B06-EO-12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maximum de livraison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B09 — Exécution du marché &amp; livraison  ·  1 information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B09-OM · Ordres de modification et avenants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B09-OM-03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validité du marché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À COMMANDE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À commande — les informations en moins</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Présentes à quantité fixe, absentes à commande. Toutes les autres informations sont identiques à la quantité fixe.</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1188720"/>
                <a:gridCol w="8412480"/>
                <a:gridCol w="18288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Bloc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B06-EO-11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livraison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un autre référentiel</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Par rapport à la quantité fixe, </a:t>
            </a:r>
            <a:pPr indent="0" marL="0">
              <a:buNone/>
            </a:pPr>
            <a:r>
              <a:rPr lang="en-US" sz="1300" b="1" dirty="0">
                <a:solidFill>
                  <a:srgbClr val="1B2A3A"/>
                </a:solidFill>
                <a:latin typeface="Segoe UI" pitchFamily="34" charset="0"/>
                <a:ea typeface="Segoe UI" pitchFamily="34" charset="-122"/>
                <a:cs typeface="Segoe UI" pitchFamily="34" charset="-120"/>
              </a:rPr>
              <a:t>107</a:t>
            </a:r>
            <a:pPr indent="0" marL="0">
              <a:buNone/>
            </a:pPr>
            <a:r>
              <a:rPr lang="en-US" sz="1300" dirty="0">
                <a:solidFill>
                  <a:srgbClr val="465568"/>
                </a:solidFill>
                <a:latin typeface="Segoe UI" pitchFamily="34" charset="0"/>
                <a:ea typeface="Segoe UI" pitchFamily="34" charset="-122"/>
                <a:cs typeface="Segoe UI" pitchFamily="34" charset="-120"/>
              </a:rPr>
              <a:t> informations en plus et </a:t>
            </a:r>
            <a:pPr indent="0" marL="0">
              <a:buNone/>
            </a:pPr>
            <a:r>
              <a:rPr lang="en-US" sz="1300" b="1" dirty="0">
                <a:solidFill>
                  <a:srgbClr val="1B2A3A"/>
                </a:solidFill>
                <a:latin typeface="Segoe UI" pitchFamily="34" charset="0"/>
                <a:ea typeface="Segoe UI" pitchFamily="34" charset="-122"/>
                <a:cs typeface="Segoe UI" pitchFamily="34" charset="-120"/>
              </a:rPr>
              <a:t>93</a:t>
            </a:r>
            <a:pPr indent="0" marL="0">
              <a:buNone/>
            </a:pPr>
            <a:r>
              <a:rPr lang="en-US" sz="1300" dirty="0">
                <a:solidFill>
                  <a:srgbClr val="465568"/>
                </a:solidFill>
                <a:latin typeface="Segoe UI" pitchFamily="34" charset="0"/>
                <a:ea typeface="Segoe UI" pitchFamily="34" charset="-122"/>
                <a:cs typeface="Segoe UI" pitchFamily="34" charset="-120"/>
              </a:rPr>
              <a:t> en moins : le contrat-cadre suit son propre document type (DPAC-CC, AE-CC). Son tableau complet suit.</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bloc B07</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Propre au contrat-cadre : marchés subséquents, rythme de passation, remise en concurrence, durée maximale et reconduction, mono ou multi-attributaire.</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calendrier de la consultation</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Dates de lancement, de remise, d’évaluation, d’attribution et de notification, offres optimisées, courriers de rejet (rubrique B04-CP).</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Ce qui disparaît</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L’essentiel des clauses du CCAP (le contrat-cadre vaut AE et CCAP), les pièces de l’offre en liste (B14), et la question des pénalités.</a:t>
            </a:r>
            <a:endParaRPr lang="en-US" sz="1200" dirty="0"/>
          </a:p>
        </p:txBody>
      </p:sp>
      <p:sp>
        <p:nvSpPr>
          <p:cNvPr id="17" name="Text 1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(1/11)</a:t>
            </a:r>
            <a:endParaRPr lang="en-US" sz="2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B01 — Identification &amp; données du PPM  ·  19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B01-AC · Acheteur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Ministère ou organisme de rattachement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Commission des marchés compétente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Personne responsable des marchés publics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Courriel de la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de la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du plan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 budgétaire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du plan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Aucun (pilote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du dossier de planification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Aucun (pilote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Nature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estimatif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 de financement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Service(s) bénéficiaire(s)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Compte(s) budgétaire(s)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Dates prévisionnelles (calendrier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B02 — Objet, allotissement &amp; forme du marché  ·  21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B02-OB · Objet de l'appel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B02-OB-01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de l'appel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B02-LV · Lots et variantes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lots du plan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(2/11)</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des lots du plan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par lot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Marché alloti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Variantes admises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B02-OE · Objet et étendue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de l'appel d'offres, de la consultation ou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B02-SG · Personne responsable et délégation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B02-SG-01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Personne responsable des marchés passés sur la base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B02-SG-02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Délégation de la personne responsable (décision et 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B02-SG-03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 de nomination de la PRMP (nature, numéro, 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B02-SG-04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Personne habilitée à signer le contrat-cadre (nom, délégation, date de la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B02-PC · Procédure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B02-PC-01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de l'article du code des marchés publics de la procédure choisie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B02-PC-02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Rythme de passation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Au fur et à mesure des besoins ; Selon le calendrier fixé ci-après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B02-PC-03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Calendrier de remise en concurrence des titulaires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B02-DC · Durée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B02-DC-01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maximale du contrat-cadre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B02-DC-02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 validité du contrat-cadre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B02-DC-03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Contrat-cadre reconductible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B02-DC-04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Conditions de reconduction de la période de validité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(3/11)</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B02-AL · Allotissement et attributaires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B02-AL-02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et désignation des 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B02-AL-03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Contrat-cadre mono ou multi-attributaire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B03 — Candidats : groupement, sous-traitance, qualifications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B03-GR · Groupement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B03-GR-01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Groupement autorisé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B03-GR-02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du groupement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groupement admis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B03-CQ · Capacité et qualifications des candidats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antécédents juridiques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antécédents financiers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B03-SS · Sous-traitance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B03-SS-01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des sous-traitants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B03-SS-02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de paiement direct des sous-traitants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B04 — Dossier, remise &amp; ouverture des offres  ·  48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B04-VO · Délai de validité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B04-VO-01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validité des offres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B04-OP · Ouverture des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B04-OP-10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 de la séance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Présentiel ; En ligne ; Mixte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B04-OP-11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Lien de suivi de la séance pour les soumissionnaires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Adresse web</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B04-OP-12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entre l'heure limite et l'ouverture (minutes)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B04-OP-13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Publication du procès-verbal sur la plateforme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B04-DS · Dossier de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 du dossier de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Langue du dossier de consultation et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d'acquisition du dossier de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retrait du dossier de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(4/11)</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à payer pour le dossier de consultation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Modification du dossier de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nom du responsable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bureau, n° de porte, étage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e-mail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B04-PO · Présentation des candidatures et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B04-PO-01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Pièces constitutives de la candidature (capacités technique et professionnelle)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B04-PO-02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Pièces constitutives de l'offre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B04-RQ ·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B04-RQ-01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de remise des offres sous support papier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B04-RQ-02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du contrat-cadre à porter sur le pli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B04-RQ-03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exacte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B04-RC · Renseignements complémentaires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à laquelle adresser les demandes d'informations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réponse aux demandes d'informations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B04-CP · Calendrier prévisionnel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lancement de la mise en concurrence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et heure limites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début de la séance d'évaluation des offres et candidatures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d'attribution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notification du contrat-cadre au(x) titulaire(s)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Envoi des demandes d'offres optimisées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(5/11)</a:t>
            </a:r>
            <a:endParaRPr lang="en-US" sz="2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limite de réception des offres optimisées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Envoi des courriers de rejet aux candidats non retenus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B04-SE · Remise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PAPIER ; ELECTRONIQUE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 plateforme de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Adresse web</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d'ouverture des dépôts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Heure de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Heure du serveur (UTC+03:00 Indian/Antananarivo)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de signature électronique exigé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Qualifiée ; Avancée ; Simple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Prestataires de certification acceptés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À définir par l'Administrateur (liste officielle des prestataires de certification)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Formats de fichiers acceptés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PDF ; PDF/A ; XLSX ; DOCX ; ZIP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maximale par fichier (Mo)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maximale par offre (Mo)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Remplacement et retrait avant la date limite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Copie de sauvegarde autorisée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Non ; Support physique sous pli scellé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Seuil d'indisponibilité déclenchant la prorogation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 la prorogation (jours ouvrables)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Assistance aux candidats (contact, horaires)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limite des demandes d'assistance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Fenêtre avant l'échéance où le seuil s'applique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publication de l'avis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B05 — Prix, montants &amp; garantie de soumission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(6/11)</a:t>
            </a:r>
            <a:endParaRPr lang="en-US" sz="2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B05-CP · Contenu et décomposition des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B05-CP-00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Provenance des fournitures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B05-VP · Variation des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B05-VP-01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ferme ou révisable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B05-GS · Garantie de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Garantie de soumission exigée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de la garantie de soumission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de remise de la garantie acceptée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Dépôt direct par le garant (voie A) ; Téléversement avec code de vérification (voie B) ; Original papier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 et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Original papier exigé en plus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 et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du dépôt de l'original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 et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Garants habilités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À définir par l'Administrateur (liste officielle des garants habilités)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 et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B05-GS-14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et heure limite du dépôt de l'original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 et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B05-TP · Type de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B05-TP-01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de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B05-UM · Unité monétaire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B05-UM-01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Monnaie en devise (appel d'offres international)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B05-MT · Montant indicatif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B05-MT-01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indicatif du contrat-cadre hors taxes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B05-MT-02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indicatif du contrat-cadre toutes taxes comprises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(7/11)</a:t>
            </a:r>
            <a:endParaRPr lang="en-US" sz="26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B05-PM · Prix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B05-PM-01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de prix des marchés subséquents (mono-attributaire)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Prix unitaires ; Prix forfaitaires ; Prix mixtes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mono-attributaire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B05-PM-02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 prix est un critère d'attribution du contrat-cadre (multi-attributaire)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multi-attributaire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B05-PM-03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 des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B05-PM-04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Plafond d'augmentation des prix à chaque complétude ou remise en concurrence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B05-PM-05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Catalogue joint au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B06 — Évaluation, attribution &amp; notification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B06-AN · Attribution et notification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B06-AN-03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Voies et délais de recours (instance chargée des recours)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B06-SC · Examen des candidatures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B06-SC-01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d'ouverture des plis par le représentant de l'autorité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B06-SC-02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Critères d'élimination des candidatures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B06-SO · Sélection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B06-SO-01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Rejet des offres hors délais et ouverture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B06-SO-02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Analyse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B06-SO-03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Rejet des offres non recevables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B06-SO-04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Comparaison des offres pour la sélection de l'offre économiquement la plus avantageuse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B06-SO-05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Critères et mécanisme de jugement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B06-CA · Critères d'attribution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B06-CA-01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Critères d'attribution du contrat-cadre et modalités d'appréciation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B06-NO ·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B06-NO-01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réception portée sur l'accusé de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(8/11)</a:t>
            </a:r>
            <a:endParaRPr lang="en-US" sz="26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B06-NO-02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remise en main propre au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B07 — Marchés subséquents  ·  25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B07-PS · Passation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B07-PS-02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d'envoi des demandes aux titulaires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B07-PS-03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réponse des titulaires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B07-FS · Forme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B07-FS-01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Marchés uniques non fractionnés ; Marchés fractionnés par bons de commande successifs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B07-FS-02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Interlocuteur du titulaire (service, direction, coordonnées)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B07-MA · Attribution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B07-MA-01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complétude de l'offre initiale (mono-attributaire)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mono-attributaire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B07-MA-02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 de départ du délai de complétude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À compter de la notification de la demande de complétude ; Lors de la demande de complétude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mono-attributaire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B07-MA-03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Attribution des marchés subséquents après remise en concurrence (non alloti)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multi-attributaire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B07-MA-04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d'attribution des marchés subséquents en cas d'allotissement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Titulaires des lots correspondant à l'objet du marché ; Titulaires de tous les lots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multi-attributaire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B07-MA-06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Critères et sous-critères pondérés de la remise en concurrence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multi-attributaire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B07-TN · Termes non couverts par le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B07-TN-01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Termes non couverts par le contrat-cadre (mono-attributaire)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mono-attributaire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B07-TN-02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Termes non couverts par le contrat-cadre (multi-attributaire)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multi-attributaire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B07-PI · Pièces contractuelles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B07-PI-01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Pièces contractuelles du contrat-cadre et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(9/11)</a:t>
            </a:r>
            <a:endParaRPr lang="en-US" sz="26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B07-DU · Durée et reconduction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B07-DU-01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Entrée en vigueur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B07-DU-02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marchés subséquents fixée dans le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B07-DU-03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marchés subséquents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B07-DU-04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reconductions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B07-DU-05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d'années maximum du contrat-cadre, reconductions comprises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B07-DU-07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Préavis de la décision de reconduction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B07-DE · Délais d'exécution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Délais d'exécution des marchés subséquents uniques ou non fractionnés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Fixés par l'autorité contractante ; À l'initiative des candidats ; Fixés dans les marchés subséquents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d'exécution fixé par l'autorité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d'exécution à l'initiative des candidats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B07-DE-04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Délais d'exécution des marchés fractionnés par bons de commande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B07-PE · Pénalités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B07-PE-01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Pénalités de retard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Non applicables ; Fixées dans le contrat-cadre ; Fixées dans les marchés subséquents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B07-PE-02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Régime des pénalités fixées dans le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Conformément à l'article 12 du CCAG ; Dérogation au CCAG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B07-PE-03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Pénalités dérogeant au CCAG : rédaction libre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B08 — Paiements, avances &amp; garanties financières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B08-AV · Avance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Avance accordée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B08-AV-02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 l'avance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(10/11)</a:t>
            </a:r>
            <a:endParaRPr lang="en-US" sz="2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B08-FI · Financement et sûretés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B08-FI-02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de versement de l'avance (délai de paiement en jours calendaires)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B08-FI-04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Remboursement de l'avance (article 72.III du code des marchés publics)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B08-FI-05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Avance versée au sous-traitant du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B08-FP · Facturation et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Présentation des demandes de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facturation (service responsable de la vérification des demandes de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paiement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des intérêts moratoires (%, au moins un point)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B08-FP-05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Règlement des prestations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B09 — Exécution du marché &amp; livraison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B09-EA · Exécution administrative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B09-EA-01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générales d'exécution communes aux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B09-EA-02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 des modalités générales d'exécution communes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B09-EA-03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particulières à fixer dans les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B09-VA · Vérification et admission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B09-VA-01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Vérification et admission des prestations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Dispositions du CCAG applicables ; Clause libre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B09-VA-02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Clause libre de vérification et d'admission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B09-GP · Garanties particulières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B09-GP-01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Garanties contractuelles particulières fournies par le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B09-GP-02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Nature des garanties particulières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B09-GP-03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garantie des prestations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FOURNITURES ET SERVICES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(11/11)</a:t>
            </a:r>
            <a:endParaRPr lang="en-US" sz="26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B09-GP-04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 de départ du délai de garantie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À partir de l'admission ; À partir de la date de mise en service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B09-GP-05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Garantie exécutée conformément au CCAG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B09-AU · Assurance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B09-AU-01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Assurance exigée du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B09-AU-02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Attestation d'assurance à justifier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B09-AU-03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remise de l'attestation d'assurance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B10 — Modifications, résiliation &amp; litiges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B10-VR · Voies de recours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B10-VR-01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Juridiction compétente pour les litiges nés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B10-MT · Modifications en cours d'exécution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B10-MT-01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Changement de dénomination sociale du titulaire : service acheteur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B10-MT-02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Changement de contractant en cours d'exécution : service acheteur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B10-RS · Résiliation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B10-RS-01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Résiliation sans faute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B10-RS-02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Préavis de résiliation sans faute (mois avant la date anniversaire)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B10-RS-03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Fautes du titulaire ouvrant la résiliation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B12 — Besoin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i="1" dirty="0">
                          <a:solidFill>
                            <a:srgbClr val="465568"/>
                          </a:solidFill>
                          <a:latin typeface="Segoe UI" pitchFamily="34" charset="0"/>
                          <a:ea typeface="Segoe UI" pitchFamily="34" charset="-122"/>
                          <a:cs typeface="Segoe UI" pitchFamily="34" charset="-120"/>
                        </a:rPr>
                        <a:t>Saisi dans la grille du besoin (lots, articles ou séries, quantités) — voir « Les blocs à grille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FF7E0"/>
                    </a:solidFill>
                  </a:tcPr>
                </a:tc>
                <a:tc hMerge="1">
                  <a:tcPr/>
                </a:tc>
                <a:tc hMerge="1">
                  <a:tcPr/>
                </a:tc>
                <a:tc hMerge="1">
                  <a:tcPr/>
                </a:tc>
                <a:tc hMerge="1">
                  <a:tcPr/>
                </a:tc>
                <a:tc hMerge="1">
                  <a:tcPr/>
                </a:tc>
                <a:tc hMerge="1">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03</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Travaux et réhabilitation</a:t>
            </a:r>
            <a:endParaRPr lang="en-US" sz="4200" dirty="0"/>
          </a:p>
        </p:txBody>
      </p:sp>
      <p:sp>
        <p:nvSpPr>
          <p:cNvPr id="4" name="Text 2"/>
          <p:cNvSpPr/>
          <p:nvPr/>
        </p:nvSpPr>
        <p:spPr>
          <a:xfrm>
            <a:off x="812780" y="3556000"/>
            <a:ext cx="8889778" cy="1270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Bâtiment, routes, réhabilitation : détail quantitatif et estimatif par série de prix, matériel et personnel exigés, tranches, prix mixtes.</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 fiche DAO par nature et par forme · 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Travaux et réhabilitation : les blocs selon la forme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Nombre d’informations de chaque bloc pour chaque forme ; « — » : bloc absent de cette forme ; « grille » : bloc saisi dans une grille.</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731520"/>
                <a:gridCol w="5852160"/>
                <a:gridCol w="1615440"/>
                <a:gridCol w="1615440"/>
                <a:gridCol w="161544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Bloc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Intitulé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Quantité fixe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À commande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Identification &amp; données du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allotissement &amp; forme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Candidats : groupement, sous-traitance, qualifications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Dossier, remise &amp; ouverture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montants &amp; garantie de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Évaluation, attribution &amp;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Paiements, avances &amp; garanties financières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Exécution du marché &amp; livraison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42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B10</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Modifications, résiliation &amp; litiges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Annexes et formulaires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0</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0</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0</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Besoin (grille)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Matériel et personnel exigés (grille)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Pièces de l'offre (grille)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a:txBody>
                    <a:bodyPr/>
                    <a:lstStyle/>
                    <a:p>
                      <a:pPr algn="l" indent="0" marL="0">
                        <a:buNone/>
                      </a:pPr>
                      <a:r>
                        <a:rPr lang="en-US" sz="900" b="1" dirty="0">
                          <a:solidFill>
                            <a:srgbClr val="1B2A3A"/>
                          </a:solidFill>
                          <a:latin typeface="Segoe UI" pitchFamily="34" charset="0"/>
                          <a:ea typeface="Segoe UI" pitchFamily="34" charset="-122"/>
                          <a:cs typeface="Segoe UI" pitchFamily="34" charset="-120"/>
                        </a:rPr>
                        <a:t>Total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a:txBody>
                    <a:bodyPr/>
                    <a:lstStyle/>
                    <a:p>
                      <a:pPr algn="ctr" indent="0" marL="0">
                        <a:buNone/>
                      </a:pPr>
                      <a:r>
                        <a:rPr lang="en-US" sz="900" b="1" dirty="0">
                          <a:solidFill>
                            <a:srgbClr val="1B2A3A"/>
                          </a:solidFill>
                          <a:latin typeface="Segoe UI" pitchFamily="34" charset="0"/>
                          <a:ea typeface="Segoe UI" pitchFamily="34" charset="-122"/>
                          <a:cs typeface="Segoe UI" pitchFamily="34" charset="-120"/>
                        </a:rPr>
                        <a:t>181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a:txBody>
                    <a:bodyPr/>
                    <a:lstStyle/>
                    <a:p>
                      <a:pPr algn="ctr" indent="0" marL="0">
                        <a:buNone/>
                      </a:pPr>
                      <a:r>
                        <a:rPr lang="en-US" sz="900" b="1" dirty="0">
                          <a:solidFill>
                            <a:srgbClr val="1B2A3A"/>
                          </a:solidFill>
                          <a:latin typeface="Segoe UI" pitchFamily="34" charset="0"/>
                          <a:ea typeface="Segoe UI" pitchFamily="34" charset="-122"/>
                          <a:cs typeface="Segoe UI" pitchFamily="34" charset="-120"/>
                        </a:rPr>
                        <a:t>181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a:txBody>
                    <a:bodyPr/>
                    <a:lstStyle/>
                    <a:p>
                      <a:pPr algn="ctr" indent="0" marL="0">
                        <a:buNone/>
                      </a:pPr>
                      <a:r>
                        <a:rPr lang="en-US" sz="900" b="1" dirty="0">
                          <a:solidFill>
                            <a:srgbClr val="1B2A3A"/>
                          </a:solidFill>
                          <a:latin typeface="Segoe UI" pitchFamily="34" charset="0"/>
                          <a:ea typeface="Segoe UI" pitchFamily="34" charset="-122"/>
                          <a:cs typeface="Segoe UI" pitchFamily="34" charset="-120"/>
                        </a:rPr>
                        <a:t>141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Travaux et réhabilitation : les blocs à grille</a:t>
            </a:r>
            <a:endParaRPr lang="en-US" sz="2600" dirty="0"/>
          </a:p>
        </p:txBody>
      </p:sp>
      <p:sp>
        <p:nvSpPr>
          <p:cNvPr id="4" name="Shape 2"/>
          <p:cNvSpPr/>
          <p:nvPr/>
        </p:nvSpPr>
        <p:spPr>
          <a:xfrm>
            <a:off x="812780" y="1206500"/>
            <a:ext cx="3420448" cy="2159000"/>
          </a:xfrm>
          <a:prstGeom prst="rect">
            <a:avLst/>
          </a:prstGeom>
          <a:solidFill>
            <a:srgbClr val="FCFCFA"/>
          </a:solidFill>
          <a:ln w="9525">
            <a:solidFill>
              <a:srgbClr val="D5DCE4"/>
            </a:solidFill>
            <a:prstDash val="solid"/>
          </a:ln>
        </p:spPr>
      </p:sp>
      <p:sp>
        <p:nvSpPr>
          <p:cNvPr id="5" name="Shape 3"/>
          <p:cNvSpPr/>
          <p:nvPr/>
        </p:nvSpPr>
        <p:spPr>
          <a:xfrm>
            <a:off x="812780" y="1206500"/>
            <a:ext cx="3420448" cy="38100"/>
          </a:xfrm>
          <a:prstGeom prst="rect">
            <a:avLst/>
          </a:prstGeom>
          <a:solidFill>
            <a:srgbClr val="1B6FA8"/>
          </a:solidFill>
          <a:ln/>
        </p:spPr>
      </p:sp>
      <p:sp>
        <p:nvSpPr>
          <p:cNvPr id="6" name="Text 4"/>
          <p:cNvSpPr/>
          <p:nvPr/>
        </p:nvSpPr>
        <p:spPr>
          <a:xfrm>
            <a:off x="952476" y="13081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B12 — Le besoin : le DQE</a:t>
            </a:r>
            <a:endParaRPr lang="en-US" sz="1500" dirty="0"/>
          </a:p>
        </p:txBody>
      </p:sp>
      <p:sp>
        <p:nvSpPr>
          <p:cNvPr id="7" name="Text 5"/>
          <p:cNvSpPr/>
          <p:nvPr/>
        </p:nvSpPr>
        <p:spPr>
          <a:xfrm>
            <a:off x="952476" y="17018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Par lot, des </a:t>
            </a:r>
            <a:pPr indent="0" marL="0">
              <a:buNone/>
            </a:pPr>
            <a:r>
              <a:rPr lang="en-US" sz="1200" b="1" dirty="0">
                <a:solidFill>
                  <a:srgbClr val="1B2A3A"/>
                </a:solidFill>
                <a:latin typeface="Segoe UI" pitchFamily="34" charset="0"/>
                <a:ea typeface="Segoe UI" pitchFamily="34" charset="-122"/>
                <a:cs typeface="Segoe UI" pitchFamily="34" charset="-120"/>
              </a:rPr>
              <a:t>séries</a:t>
            </a:r>
            <a:pPr indent="0" marL="0">
              <a:buNone/>
            </a:pPr>
            <a:r>
              <a:rPr lang="en-US" sz="1200" dirty="0">
                <a:solidFill>
                  <a:srgbClr val="465568"/>
                </a:solidFill>
                <a:latin typeface="Segoe UI" pitchFamily="34" charset="0"/>
                <a:ea typeface="Segoe UI" pitchFamily="34" charset="-122"/>
                <a:cs typeface="Segoe UI" pitchFamily="34" charset="-120"/>
              </a:rPr>
              <a:t> de prix : n° de prix, désignation, libellé au bordereau, unité, quantité, </a:t>
            </a:r>
            <a:pPr indent="0" marL="0">
              <a:buNone/>
            </a:pPr>
            <a:r>
              <a:rPr lang="en-US" sz="1200" b="1" dirty="0">
                <a:solidFill>
                  <a:srgbClr val="1B2A3A"/>
                </a:solidFill>
                <a:latin typeface="Segoe UI" pitchFamily="34" charset="0"/>
                <a:ea typeface="Segoe UI" pitchFamily="34" charset="-122"/>
                <a:cs typeface="Segoe UI" pitchFamily="34" charset="-120"/>
              </a:rPr>
              <a:t>plafond</a:t>
            </a:r>
            <a:pPr indent="0" marL="0">
              <a:buNone/>
            </a:pPr>
            <a:r>
              <a:rPr lang="en-US" sz="1200" dirty="0">
                <a:solidFill>
                  <a:srgbClr val="465568"/>
                </a:solidFill>
                <a:latin typeface="Segoe UI" pitchFamily="34" charset="0"/>
                <a:ea typeface="Segoe UI" pitchFamily="34" charset="-122"/>
                <a:cs typeface="Segoe UI" pitchFamily="34" charset="-120"/>
              </a:rPr>
              <a:t>, </a:t>
            </a:r>
            <a:pPr indent="0" marL="0">
              <a:buNone/>
            </a:pPr>
            <a:r>
              <a:rPr lang="en-US" sz="1200" b="1" dirty="0">
                <a:solidFill>
                  <a:srgbClr val="1B2A3A"/>
                </a:solidFill>
                <a:latin typeface="Segoe UI" pitchFamily="34" charset="0"/>
                <a:ea typeface="Segoe UI" pitchFamily="34" charset="-122"/>
                <a:cs typeface="Segoe UI" pitchFamily="34" charset="-120"/>
              </a:rPr>
              <a:t>sous-détail</a:t>
            </a:r>
            <a:pPr indent="0" marL="0">
              <a:buNone/>
            </a:pPr>
            <a:r>
              <a:rPr lang="en-US" sz="1200" dirty="0">
                <a:solidFill>
                  <a:srgbClr val="465568"/>
                </a:solidFill>
                <a:latin typeface="Segoe UI" pitchFamily="34" charset="0"/>
                <a:ea typeface="Segoe UI" pitchFamily="34" charset="-122"/>
                <a:cs typeface="Segoe UI" pitchFamily="34" charset="-120"/>
              </a:rPr>
              <a:t> exigé. Il produit le bordereau des prix et DQE, et pré-remplit le DQE du candidat (prix en lettres, K1, sous-détails).</a:t>
            </a:r>
            <a:endParaRPr lang="en-US" sz="1200" dirty="0"/>
          </a:p>
        </p:txBody>
      </p:sp>
      <p:sp>
        <p:nvSpPr>
          <p:cNvPr id="8" name="Shape 6"/>
          <p:cNvSpPr/>
          <p:nvPr/>
        </p:nvSpPr>
        <p:spPr>
          <a:xfrm>
            <a:off x="4385624" y="1206500"/>
            <a:ext cx="3420448" cy="2159000"/>
          </a:xfrm>
          <a:prstGeom prst="rect">
            <a:avLst/>
          </a:prstGeom>
          <a:solidFill>
            <a:srgbClr val="FCFCFA"/>
          </a:solidFill>
          <a:ln w="9525">
            <a:solidFill>
              <a:srgbClr val="D5DCE4"/>
            </a:solidFill>
            <a:prstDash val="solid"/>
          </a:ln>
        </p:spPr>
      </p:sp>
      <p:sp>
        <p:nvSpPr>
          <p:cNvPr id="9" name="Shape 7"/>
          <p:cNvSpPr/>
          <p:nvPr/>
        </p:nvSpPr>
        <p:spPr>
          <a:xfrm>
            <a:off x="4385624" y="1206500"/>
            <a:ext cx="3420448" cy="38100"/>
          </a:xfrm>
          <a:prstGeom prst="rect">
            <a:avLst/>
          </a:prstGeom>
          <a:solidFill>
            <a:srgbClr val="2E8B57"/>
          </a:solidFill>
          <a:ln/>
        </p:spPr>
      </p:sp>
      <p:sp>
        <p:nvSpPr>
          <p:cNvPr id="10" name="Text 8"/>
          <p:cNvSpPr/>
          <p:nvPr/>
        </p:nvSpPr>
        <p:spPr>
          <a:xfrm>
            <a:off x="4525320" y="13081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B13 — Matériel et personnel exigés</a:t>
            </a:r>
            <a:endParaRPr lang="en-US" sz="1500" dirty="0"/>
          </a:p>
        </p:txBody>
      </p:sp>
      <p:sp>
        <p:nvSpPr>
          <p:cNvPr id="11" name="Text 9"/>
          <p:cNvSpPr/>
          <p:nvPr/>
        </p:nvSpPr>
        <p:spPr>
          <a:xfrm>
            <a:off x="4525320" y="17018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matériel minimum (nombre, en propre ou en location) et le personnel clé (fonction, diplôme, années d’expérience). Repris dans l’offre en ligne du candidat et contrôlés en séance.</a:t>
            </a:r>
            <a:endParaRPr lang="en-US" sz="1200" dirty="0"/>
          </a:p>
        </p:txBody>
      </p:sp>
      <p:sp>
        <p:nvSpPr>
          <p:cNvPr id="12" name="Shape 10"/>
          <p:cNvSpPr/>
          <p:nvPr/>
        </p:nvSpPr>
        <p:spPr>
          <a:xfrm>
            <a:off x="7958468" y="1206500"/>
            <a:ext cx="3420448" cy="2159000"/>
          </a:xfrm>
          <a:prstGeom prst="rect">
            <a:avLst/>
          </a:prstGeom>
          <a:solidFill>
            <a:srgbClr val="FCFCFA"/>
          </a:solidFill>
          <a:ln w="9525">
            <a:solidFill>
              <a:srgbClr val="D5DCE4"/>
            </a:solidFill>
            <a:prstDash val="solid"/>
          </a:ln>
        </p:spPr>
      </p:sp>
      <p:sp>
        <p:nvSpPr>
          <p:cNvPr id="13" name="Shape 11"/>
          <p:cNvSpPr/>
          <p:nvPr/>
        </p:nvSpPr>
        <p:spPr>
          <a:xfrm>
            <a:off x="7958468" y="1206500"/>
            <a:ext cx="3420448" cy="38100"/>
          </a:xfrm>
          <a:prstGeom prst="rect">
            <a:avLst/>
          </a:prstGeom>
          <a:solidFill>
            <a:srgbClr val="E3AE2E"/>
          </a:solidFill>
          <a:ln/>
        </p:spPr>
      </p:sp>
      <p:sp>
        <p:nvSpPr>
          <p:cNvPr id="14" name="Text 12"/>
          <p:cNvSpPr/>
          <p:nvPr/>
        </p:nvSpPr>
        <p:spPr>
          <a:xfrm>
            <a:off x="8098164" y="13081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B14 — Les pièces de l’offre</a:t>
            </a:r>
            <a:endParaRPr lang="en-US" sz="1500" dirty="0"/>
          </a:p>
        </p:txBody>
      </p:sp>
      <p:sp>
        <p:nvSpPr>
          <p:cNvPr id="15" name="Text 13"/>
          <p:cNvSpPr/>
          <p:nvPr/>
        </p:nvSpPr>
        <p:spPr>
          <a:xfrm>
            <a:off x="8098164" y="17018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Comme en fournitures : pièces administratives et autres pièces, une ligne par pièce ; spécifications techniques en Word. </a:t>
            </a:r>
            <a:pPr indent="0" marL="0">
              <a:buNone/>
            </a:pPr>
            <a:r>
              <a:rPr lang="en-US" sz="1200" b="1" dirty="0">
                <a:solidFill>
                  <a:srgbClr val="1B2A3A"/>
                </a:solidFill>
                <a:latin typeface="Segoe UI" pitchFamily="34" charset="0"/>
                <a:ea typeface="Segoe UI" pitchFamily="34" charset="-122"/>
                <a:cs typeface="Segoe UI" pitchFamily="34" charset="-120"/>
              </a:rPr>
              <a:t>Pas en contrat-cadre.</a:t>
            </a:r>
            <a:endParaRPr lang="en-US" sz="1200" dirty="0"/>
          </a:p>
        </p:txBody>
      </p:sp>
      <p:sp>
        <p:nvSpPr>
          <p:cNvPr id="16" name="Text 1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(1/12)</a:t>
            </a:r>
            <a:endParaRPr lang="en-US" sz="26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B01 — Identification &amp; données du PPM  ·  19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B01-AC · Acheteur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Ministère ou organisme de rattachement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Commission des marchés compétente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Personne responsable des marchés publics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Courriel de la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de la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du plan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 budgétaire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du plan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Aucun (pilote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du dossier de planification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Aucun (pilote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Nature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estimatif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 de financement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Service(s) bénéficiaire(s)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Compte(s) budgétaire(s)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Dates prévisionnelles (calendrier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B02 — Objet, allotissement &amp; forme du marché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B02-OB · Objet de l'appel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B02-OB-01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de l'appel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B02-OB-03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du dossier d'appel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(2/12)</a:t>
            </a:r>
            <a:endParaRPr lang="en-US" sz="26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B02-LV · Lots et variantes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lots du plan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des lots du plan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par lot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B02-AU · Autres éléments du bloc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B02-AU-07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maximum de lots attribuables à un même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B02-LT · Lots, variantes et tranches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Description du projet global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B02-LT-02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Attribution des 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Divisible ; Totalité des lots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B02-LT-03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et montant de la tranche ferme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avec tranches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B02-LT-04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et montant de la tranche conditionnelle 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avec tranches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B02-LT-05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et montant de la tranche conditionnelle 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avec tranches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B02-LT-06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d'affermissement de la tranche conditionnelle 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avec tranches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B02-LT-07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d'affermissement de la tranche conditionnelle 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avec tranches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B02-MW · Maîtrise d'ouvrage et maîtrise d'œuvre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B02-MW-01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Maître d'œuvre : nom et coordonnées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B02-MW-02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Références du lien contractuel entre le maître de l'ouvrage et le maître d'œuvre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B02-MW-04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Maître d'ouvrage délégué : nom et coordonnées (laisser vide s'il n'y en a pas)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B02-OT · Objet et consistance des 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Projet ou opération plus vaste dont le marché fait partie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B02-OT-02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Consistance des travaux à exécuter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B03 — Candidats : groupement, sous-traitance, qualifications  ·  23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B03-CQ · Capacité et qualifications des candidats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Identification et situation juridique : pièces exigées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(3/12)</a:t>
            </a:r>
            <a:endParaRPr lang="en-US" sz="2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antécédents juridiques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antécédents financiers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B03-GT · Groupement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B03-GT-01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du groupement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groupement admis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B03-GT-03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Qualification des membres d'un groupement d'entreprises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groupement admis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B03-GT-04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Groupement conjoint : conditions particulières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groupement admis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B03-GT-05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Groupement solidaire : conditions particulières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groupement admis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B03-NT · Nantissement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B03-NT-01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Comptable assignataire des paiements (désignation seule)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B03-QT · Capacité et qualifications des candidats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Communautés locales et organisations non gouvernementales admises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Qualifications particulières requises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Chiffre d'affaires minimum exigé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Projet de nature et de complexité comparables réalisé comme entrepreneur principal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sous laquelle l'entrepreneur disposera du matériel (propriété, location…)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Années d'expérience exigées du directeur des 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Période de référence des marchés similaires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Personnel clé exigé (fonctions, diplômes, années d'expérience, justificatifs)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Liquidité ou ligne de crédit bancaire minimale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B03-QT-15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Liquidité minimale en pourcentage du montant de l'offre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B03-QT-16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meilleures années retenues pour le chiffre d'affaires moyen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B03-QT-17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Sur les n dernières années (chiffre d'affaires moyen)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(4/12)</a:t>
            </a:r>
            <a:endParaRPr lang="en-US" sz="2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B03-QT-18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Domaine du chiffre d'affaires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B03-QT-19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maximal de marchés de référence cumulables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B03-QT-20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cumulé minimum des marchés de référence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B04 — Dossier, remise &amp; ouverture des offres  ·  41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B04-VO · Délai de validité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B04-VO-01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validité des offres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B04-DS · Dossier de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à payer pour le dossier de consultation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nom du responsable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bureau, n° de porte, étage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e-mail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B04-CD · Composition du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B04-CD-01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Modèles de fiches de renseignements joints au dossier (A1, A2…)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A1 ; A2 ; A3 ; A4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B04-CD-02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Modèle de garantie de soumission joint au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C1 ; C2 ; C1 et C2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B04-CD-03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Plans joints au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B04-SE · Remise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PAPIER ; ELECTRONIQUE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 plateforme de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Adresse web</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d'ouverture des dépôts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Heure de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Heure du serveur (UTC+03:00 Indian/Antananarivo)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de signature électronique exigé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Qualifiée ; Avancée ; Simple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Prestataires de certification acceptés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À définir par l'Administrateur (liste officielle des prestataires de certification)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(5/12)</a:t>
            </a:r>
            <a:endParaRPr lang="en-US" sz="2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Formats de fichiers acceptés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PDF ; PDF/A ; XLSX ; DOCX ; ZIP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maximale par fichier (Mo)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maximale par offre (Mo)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Remplacement et retrait avant la date limite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Copie de sauvegarde autorisée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Non ; Support physique sous pli scellé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Seuil d'indisponibilité déclenchant la prorogation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 la prorogation (jours ouvrables)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Assistance aux candidats (contact, horaires)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limite des demandes d'assistance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Fenêtre avant l'échéance où le seuil s'applique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publication de l'avis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B04-EQ · Demande d'éclaircissement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B04-EQ-01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d'envoi des demandes d'éclaircissement par les candidats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B04-EQ-02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réponse du représentant de la PRMP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B04-FP · Remise des offres — forme des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B04-FP-01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copies de l'offre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B04-FP-02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Mention et numéro du dossier d'appel d'offres à porter sur les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B04-FP-03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et numéro du lot à porter sur les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B04-LG · Langue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B04-LG-01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Langue de l'offre si différente du français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B04-LG-02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Traduction exigée des pièces rédigées dans une autre langue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B04-OV · Ouverture des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de l'ouverture des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(6/12)</a:t>
            </a:r>
            <a:endParaRPr lang="en-US" sz="2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B04-OV-02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et heure limites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B04-PI · Contenu de l'offre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B04-PI-01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Documents et pièces constitutifs de l'offre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B04-RP · Réunion préparatoire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Réunion préparatoire prévue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date et heure de la réunion préparatoire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B04-VL · Visite des lieux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B04-VL-01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d'accès des candidats aux lieux d'exécution des 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B04-VL-02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Visite des lieux obligatoire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B05 — Prix, montants &amp; garantie de soumission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B05-AG · Autres garanties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B05-AG-01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Autres garanties exigées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B05-GA · Garantie de restitution d'avance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Garantie de restitution d'avance applicable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B05-GE · Garantie de bonne 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Garantie de bonne exécution requise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Part exigée en devises étrangères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Formes admises de la garantie de bonne 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Garantie bancaire ; Caution personnelle et solidaire ; Chèque de banque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B05-GE-04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Libération de la garantie de bonne 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Libérée à 50 % puis au terme du délai de garantie ; Libérée à 100 % à la réception définitive ; Libérée à 100 % à la réception provisoire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B05-GE-05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 la garantie de bonne exécution (%, au plus 5 %)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B05-GQ · Garantie de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B05-GQ-01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Garantie de soumission exigée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43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(7/12)</a:t>
            </a:r>
            <a:endParaRPr lang="en-US" sz="2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B05-GQ-02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Formes admises de la garantie de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Caution personnelle et solidaire ; Garantie bancaire ; Chèque de banque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B05-GQ-03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de la garantie de soumission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B05-GQ-04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Bénéficiaire des chèques de banque, pour toutes les garanties (ex. « Monsieur le Receveur Général d'Antananarivo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B05-MN · Monnaie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B05-MN-01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Monnaie de l'offre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Ariary ; Devises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B05-PT · Type de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de prix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B05-RG · Retenue de garantie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B05-RG-01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Retenue de garantie applicable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B05-RG-02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 la retenue de garantie (%, au plus 5 %)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B05-VR · Variation des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B05-VR-01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ferme ou révisable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B05-VR-02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Indices d'actualisation des prix fermes et sources (laisser vide sans actualisation)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B06 — Évaluation, attribution &amp; notification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B06-EO · Évaluation des offres, montant évalué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B06-EO-07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Traitement des offres anormalement hautes ou basses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B06-EV · Évaluation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B06-EV-01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Évaluation des offres portant sur plusieurs 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Par lot ; Sur l'ensemble des lots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B06-PN · Marge de préférence nationale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B06-PN-01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Marge de préférence nationale accordée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B06-PN-02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 la marge de préférence nationale (%, au plus 10 %)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B06-RC · Relations avec les candidats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B06-RC-01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réponse aux candidats pendant l'évaluation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44</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(8/12)</a:t>
            </a:r>
            <a:endParaRPr lang="en-US" sz="2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B08 — Paiements, avances &amp; garanties financières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B08-AF · Avances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B08-AF-01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Avance forfaitaire applicable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B08-AF-02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de l'avance forfaitaire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B08-AF-03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Pourcentage du montant total des travaux à exécuter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B08-AF-04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Pourcentage du montant en monnaie nationale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B08-AF-05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Pourcentage du montant en devises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B08-AP · Acomptes sur approvisionnements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Acomptes sur approvisionnements applicables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d'établissement des décomptes d'approvisionnement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B08-EF · Engagements financiers du maître de l’ouvrage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B08-EF-01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remise de l'estimation des engagements financiers du maître de l'ouvrage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B08-MR · Modalités de règlement des comptes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B08-MR-01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Règlement en une fois pour un marché de moins de trois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B08-MR-05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remise du projet de décompte mensuel (jours ouvrables)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B08-RE · Règlement des comptes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B08-RE-01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de règlement des comptes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B08-RE-02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Travaux en régie applicables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B08-RE-03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Conditions des travaux en régie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B08-RE-04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Plafond des travaux en régie (% du montant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B09 — Exécution du marché &amp; livraison  ·  42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B09-PR · Pénalités de retard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Régime des pénalités de retard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B09-AC · Assurances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Assurance des installations et engins de chantier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45</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(9/12)</a:t>
            </a:r>
            <a:endParaRPr lang="en-US" sz="2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Assurance de responsabilité civile en cours de chantier et après 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B09-AC-03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Assurance de responsabilité civile décennale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B09-CH · Conditions de chantier et prix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B09-CH-01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Travaux réalisés dans un établissement existant et en activité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B09-CH-02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d'exécution impératif et ses conséquences sur le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B09-CH-03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Contrainte d'horaire imposée à l'entrepreneur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B09-CH-04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Ouvrage livré clés en main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B09-CH-05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Prestations fournies par le maître de l'ouvrage à l'entrepreneur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B09-DC · Documents contractuels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Documents contractuels et leur ordre de priorité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B09-DL · Délai d'exécution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B09-DL-01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d'exécution : commencement des travaux et fin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B09-DL-04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réception de l'ouvrage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B09-DL-05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Délais non cumulables en cas d'allotissement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B09-DT · Date d'effet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 de départ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À la notification de l'approbation à l'entrepreneur ; À la notification de la décision d'affermissement de la tranche conditionnelle ; À la notification de la tranche ferme au titulaire ; À la notification de l'ordre de service de commencer les travaux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B09-FM · Cas de force majeure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B09-FM-01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Cas de force majeure retenus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B09-FM-02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Seuils caractérisant la force majeure (précipitations, vent…)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B09-GT · Délai de garantie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B09-GT-01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garantie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(10/12)</a:t>
            </a:r>
            <a:endParaRPr lang="en-US" sz="2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B09-MA · Masse des 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B09-MA-01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Limite de l'augmentation dans la masse des travaux : pourcentage de la masse initiale (ex. « vingt pour cent (20 %)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B09-MA-02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Limite de la diminution dans la masse des travaux sans indemnité : pourcentage de la masse initiale (ex. « vingt pour cent (20 %)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B09-MA-03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Limite de la diminution ouvrant droit à indemnité : pourcentage de la masse initiale (ex. « vingt pour cent (20 %)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B09-MA-04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Limite du changement dans l'importance des diverses natures d'ouvrage : pourcentage de la masse initiale (ex. « vingt pour cent (20 %)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B09-MD · Modification des délais d'exécution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B09-MD-01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cumulée maximale de prolongation ou de report sans avenant (ex. « soixante (60) jours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B09-MD-02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journées d'intempéries prévisibles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B09-NE · Notifications à l'entrepreneur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B09-NE-01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de notification à l'entrepreneur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B09-OD · Obligation de discrétion et mesures de sécurité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B09-OD-01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Obligation de discrétion et mesures de sécurité applicables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B09-OD-02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Mesures de sécurité communiquées à la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B09-OD-03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Mesures de sécurité mentionnées en annexe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B09-PE · Pénalités et retenues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des pénalités journalières (millièmes du montant du marché ou de la tranche)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Plafond des pénalités de retard (% du montant global du marché ou de la tranche)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B09-PM · Matériaux fournis par le maître de l’ouvrage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B09-PM-01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Matériaux et produits fournis par le maître de l'ouvrage, et conditions de prise en charge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47</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(11/12)</a:t>
            </a:r>
            <a:endParaRPr lang="en-US" sz="2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B09-PT · Préparation des 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Période de préparation des travaux prévue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B09-PT-02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maximum de la période de préparation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B09-PT-03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soumission du programme d'exécution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B09-PT-04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Plan d'hygiène et de sécurité exigé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B09-PV · Contrôle des prix de revient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Contrôle des prix de revient applicable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B09-PV-02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Éléments du prix de revient soumis à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B09-RP · Réception provisoire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B09-RP-01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Réception par tranches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avec tranches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B09-RP-03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début des opérations préalables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B09-RP-04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de réception des travaux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B09-VQ · Vérification qualitative des matériaux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B09-VQ-01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de vérification qualitative des matériaux et produits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B09-VX · Visa des documents d'exécution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B09-VX-01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visa des documents d'exécution par le maître d'œuvre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B09-BT · Travaux de bâtiment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B09-BT-01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Travaux de bâtiment (CPC, TBM, responsabilité décennale)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B10 — Modifications, résiliation &amp; litiges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B10-DR · Dérogations aux documents généraux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B10-DR-01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Dérogations aux documents généraux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B10-PC · Procédure contentieuse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B10-PC-01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Procédure contentieuse et juridiction compétente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B12 — Besoin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48</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(12/12)</a:t>
            </a:r>
            <a:endParaRPr lang="en-US" sz="2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i="1" dirty="0">
                          <a:solidFill>
                            <a:srgbClr val="465568"/>
                          </a:solidFill>
                          <a:latin typeface="Segoe UI" pitchFamily="34" charset="0"/>
                          <a:ea typeface="Segoe UI" pitchFamily="34" charset="-122"/>
                          <a:cs typeface="Segoe UI" pitchFamily="34" charset="-120"/>
                        </a:rPr>
                        <a:t>Saisi dans la grille du besoin (lots, articles ou séries, quantités) — voir « Les blocs à grille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FF7E0"/>
                    </a:solidFill>
                  </a:tcPr>
                </a:tc>
                <a:tc hMerge="1">
                  <a:tcPr/>
                </a:tc>
                <a:tc hMerge="1">
                  <a:tcPr/>
                </a:tc>
                <a:tc hMerge="1">
                  <a:tcPr/>
                </a:tc>
                <a:tc hMerge="1">
                  <a:tcPr/>
                </a:tc>
                <a:tc hMerge="1">
                  <a:tcPr/>
                </a:tc>
                <a:tc hMerge="1">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B13 — Matériel et personnel exigés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i="1" dirty="0">
                          <a:solidFill>
                            <a:srgbClr val="465568"/>
                          </a:solidFill>
                          <a:latin typeface="Segoe UI" pitchFamily="34" charset="0"/>
                          <a:ea typeface="Segoe UI" pitchFamily="34" charset="-122"/>
                          <a:cs typeface="Segoe UI" pitchFamily="34" charset="-120"/>
                        </a:rPr>
                        <a:t>Saisi dans les grilles du matériel et du personnel exigés — voir « Les blocs à grille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FF7E0"/>
                    </a:solidFill>
                  </a:tcPr>
                </a:tc>
                <a:tc hMerge="1">
                  <a:tcPr/>
                </a:tc>
                <a:tc hMerge="1">
                  <a:tcPr/>
                </a:tc>
                <a:tc hMerge="1">
                  <a:tcPr/>
                </a:tc>
                <a:tc hMerge="1">
                  <a:tcPr/>
                </a:tc>
                <a:tc hMerge="1">
                  <a:tcPr/>
                </a:tc>
                <a:tc hMerge="1">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B14 — Pièces de l'offre</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i="1" dirty="0">
                          <a:solidFill>
                            <a:srgbClr val="465568"/>
                          </a:solidFill>
                          <a:latin typeface="Segoe UI" pitchFamily="34" charset="0"/>
                          <a:ea typeface="Segoe UI" pitchFamily="34" charset="-122"/>
                          <a:cs typeface="Segoe UI" pitchFamily="34" charset="-120"/>
                        </a:rPr>
                        <a:t>Saisi dans la liste des pièces de l’offre (administratives, autres) — voir « Les blocs à grille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FF7E0"/>
                    </a:solidFill>
                  </a:tcPr>
                </a:tc>
                <a:tc hMerge="1">
                  <a:tcPr/>
                </a:tc>
                <a:tc hMerge="1">
                  <a:tcPr/>
                </a:tc>
                <a:tc hMerge="1">
                  <a:tcPr/>
                </a:tc>
                <a:tc hMerge="1">
                  <a:tcPr/>
                </a:tc>
                <a:tc hMerge="1">
                  <a:tcPr/>
                </a:tc>
                <a:tc hMerge="1">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49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À COMMANDE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À commande — les mêmes informations qu’à quantité fixe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Le référentiel travaux et réhabilitation « à commande » est </a:t>
            </a:r>
            <a:pPr indent="0" marL="0">
              <a:buNone/>
            </a:pPr>
            <a:r>
              <a:rPr lang="en-US" sz="1300" b="1" dirty="0">
                <a:solidFill>
                  <a:srgbClr val="1B2A3A"/>
                </a:solidFill>
                <a:latin typeface="Segoe UI" pitchFamily="34" charset="0"/>
                <a:ea typeface="Segoe UI" pitchFamily="34" charset="-122"/>
                <a:cs typeface="Segoe UI" pitchFamily="34" charset="-120"/>
              </a:rPr>
              <a:t>identique</a:t>
            </a:r>
            <a:pPr indent="0" marL="0">
              <a:buNone/>
            </a:pPr>
            <a:r>
              <a:rPr lang="en-US" sz="1300" dirty="0">
                <a:solidFill>
                  <a:srgbClr val="465568"/>
                </a:solidFill>
                <a:latin typeface="Segoe UI" pitchFamily="34" charset="0"/>
                <a:ea typeface="Segoe UI" pitchFamily="34" charset="-122"/>
                <a:cs typeface="Segoe UI" pitchFamily="34" charset="-120"/>
              </a:rPr>
              <a:t> à celui de la quantité fixe (181 informations, mêmes codes). La forme agit ailleurs :</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Dans le besoin</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Quantités </a:t>
            </a:r>
            <a:pPr indent="0" marL="0">
              <a:buNone/>
            </a:pPr>
            <a:r>
              <a:rPr lang="en-US" sz="1200" b="1" dirty="0">
                <a:solidFill>
                  <a:srgbClr val="1B2A3A"/>
                </a:solidFill>
                <a:latin typeface="Segoe UI" pitchFamily="34" charset="0"/>
                <a:ea typeface="Segoe UI" pitchFamily="34" charset="-122"/>
                <a:cs typeface="Segoe UI" pitchFamily="34" charset="-120"/>
              </a:rPr>
              <a:t>minimum et maximum</a:t>
            </a:r>
            <a:pPr indent="0" marL="0">
              <a:buNone/>
            </a:pPr>
            <a:r>
              <a:rPr lang="en-US" sz="1200" dirty="0">
                <a:solidFill>
                  <a:srgbClr val="465568"/>
                </a:solidFill>
                <a:latin typeface="Segoe UI" pitchFamily="34" charset="0"/>
                <a:ea typeface="Segoe UI" pitchFamily="34" charset="-122"/>
                <a:cs typeface="Segoe UI" pitchFamily="34" charset="-120"/>
              </a:rPr>
              <a:t> par article ou par prix ; le classeur et l’offre en ligne du candidat portent les deux.</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Dans les documents</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modèles de documents ont des passages propres à la forme (condition sur le type de marché) : montants minimum et maximum de l’acte d’engagement, bons de commande.</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À l’import du DAO</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L’import d’un DAO existant est ouvert à cette forme : il propose les valeurs, la PRMP décide.</a:t>
            </a:r>
            <a:endParaRPr lang="en-US" sz="1200" dirty="0"/>
          </a:p>
        </p:txBody>
      </p:sp>
      <p:sp>
        <p:nvSpPr>
          <p:cNvPr id="17" name="Text 1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50</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un autre référentiel</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Par rapport à la quantité fixe, </a:t>
            </a:r>
            <a:pPr indent="0" marL="0">
              <a:buNone/>
            </a:pPr>
            <a:r>
              <a:rPr lang="en-US" sz="1300" b="1" dirty="0">
                <a:solidFill>
                  <a:srgbClr val="1B2A3A"/>
                </a:solidFill>
                <a:latin typeface="Segoe UI" pitchFamily="34" charset="0"/>
                <a:ea typeface="Segoe UI" pitchFamily="34" charset="-122"/>
                <a:cs typeface="Segoe UI" pitchFamily="34" charset="-120"/>
              </a:rPr>
              <a:t>91</a:t>
            </a:r>
            <a:pPr indent="0" marL="0">
              <a:buNone/>
            </a:pPr>
            <a:r>
              <a:rPr lang="en-US" sz="1300" dirty="0">
                <a:solidFill>
                  <a:srgbClr val="465568"/>
                </a:solidFill>
                <a:latin typeface="Segoe UI" pitchFamily="34" charset="0"/>
                <a:ea typeface="Segoe UI" pitchFamily="34" charset="-122"/>
                <a:cs typeface="Segoe UI" pitchFamily="34" charset="-120"/>
              </a:rPr>
              <a:t> informations en plus et </a:t>
            </a:r>
            <a:pPr indent="0" marL="0">
              <a:buNone/>
            </a:pPr>
            <a:r>
              <a:rPr lang="en-US" sz="1300" b="1" dirty="0">
                <a:solidFill>
                  <a:srgbClr val="1B2A3A"/>
                </a:solidFill>
                <a:latin typeface="Segoe UI" pitchFamily="34" charset="0"/>
                <a:ea typeface="Segoe UI" pitchFamily="34" charset="-122"/>
                <a:cs typeface="Segoe UI" pitchFamily="34" charset="-120"/>
              </a:rPr>
              <a:t>131</a:t>
            </a:r>
            <a:pPr indent="0" marL="0">
              <a:buNone/>
            </a:pPr>
            <a:r>
              <a:rPr lang="en-US" sz="1300" dirty="0">
                <a:solidFill>
                  <a:srgbClr val="465568"/>
                </a:solidFill>
                <a:latin typeface="Segoe UI" pitchFamily="34" charset="0"/>
                <a:ea typeface="Segoe UI" pitchFamily="34" charset="-122"/>
                <a:cs typeface="Segoe UI" pitchFamily="34" charset="-120"/>
              </a:rPr>
              <a:t> en moins : le contrat-cadre suit son propre document type (DPAC-CC, AE-CC). Son tableau complet suit.</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bloc B07</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Propre au contrat-cadre : marchés subséquents, rythme de passation, remise en concurrence, durée maximale et reconduction, mono ou multi-attributaire.</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calendrier de la consultation</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Dates de lancement, de remise, d’évaluation, d’attribution et de notification, offres optimisées, courriers de rejet (rubrique B04-CP).</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Ce qui disparaît</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L’essentiel des clauses du CCAP (le contrat-cadre vaut AE et CCAP), les pièces de l’offre en liste (B14), et la question des pénalités.</a:t>
            </a:r>
            <a:endParaRPr lang="en-US" sz="1200" dirty="0"/>
          </a:p>
        </p:txBody>
      </p:sp>
      <p:sp>
        <p:nvSpPr>
          <p:cNvPr id="17" name="Text 1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51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(1/9)</a:t>
            </a:r>
            <a:endParaRPr lang="en-US" sz="2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B01 — Identification &amp; données du PPM  ·  19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B01-AC · Acheteur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Ministère ou organisme de rattachement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Commission des marchés compétente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Personne responsable des marchés publics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Courriel de la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de la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du plan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 budgétaire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du plan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Aucun (pilote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du dossier de planification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Aucun (pilote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Nature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estimatif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 de financement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Service(s) bénéficiaire(s)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Compte(s) budgétaire(s)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Dates prévisionnelles (calendrier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B02 — Objet, allotissement &amp; forme du marché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B02-OB · Objet de l'appel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B02-OB-01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de l'appel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B02-LV · Lots et variantes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lots du plan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(2/9)</a:t>
            </a:r>
            <a:endParaRPr lang="en-US" sz="2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des lots du plan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par lot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B02-OE · Objet et étendue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de l'appel d'offres, de la consultation ou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B02-SG · Personne responsable et délégation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B02-SG-01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Personne responsable des marchés passés sur la base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B02-SG-02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Délégation de la personne responsable (décision et 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B02-SG-03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 de nomination de la PRMP (nature, numéro, 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B02-SG-04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Personne habilitée à signer le contrat-cadre (nom, délégation, date de la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B02-PC · Procédure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B02-PC-01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de l'article du code des marchés publics de la procédure choisie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B02-PC-02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Rythme de passation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Au fur et à mesure des besoins ; Selon le calendrier fixé ci-après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B02-PC-03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Calendrier de remise en concurrence des titulaires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B02-DC · Durée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B02-DC-01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maximale du contrat-cadre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B02-DC-02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 validité du contrat-cadre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B02-DC-03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Contrat-cadre reconductible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B02-DC-04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Conditions de reconduction de la période de validité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B02-AL · Allotissement et attributaires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B02-AL-02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et désignation des 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alloti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B02-DK · Décomposition et durée de la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B02-DK-01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Décomposition de la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53</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(3/9)</a:t>
            </a:r>
            <a:endParaRPr lang="en-US" sz="2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B03 — Candidats : groupement, sous-traitance, qualifications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B03-CQ · Capacité et qualifications des candidats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antécédents juridiques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antécédents financiers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B03-GM · Membres du groupement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B03-GM-01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du groupement d'entrepreneurs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groupement admis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B04 — Dossier, remise &amp; ouverture des offres  ·  42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B04-VO · Délai de validité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B04-VO-01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validité des offres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B04-DS · Dossier de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 du dossier de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retrait du dossier de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à payer pour le dossier de consultation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nom du responsable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bureau, n° de porte, étage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B04-DS-11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consultation du dossier : e-mail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B04-PO · Présentation des candidatures et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B04-PO-01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Pièces constitutives de la candidature (capacités technique et professionnelle)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B04-PO-02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Pièces constitutives de l'offre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B04-RQ ·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B04-RQ-01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de remise des offres sous support papier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B04-RQ-02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du contrat-cadre à porter sur le pli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B04-RQ-03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exacte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54</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(4/9)</a:t>
            </a:r>
            <a:endParaRPr lang="en-US" sz="2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B04-RC · Renseignements complémentaires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à laquelle adresser les demandes d'informations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réponse aux demandes d'informations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B04-CP · Calendrier prévisionnel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lancement de la mise en concurrence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et heure limites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début de la séance d'évaluation des offres et candidatures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d'attribution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notification du contrat-cadre au(x) titulaire(s)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Envoi des demandes d'offres optimisées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limite de réception des offres optimisées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B04-CP-08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Envoi des courriers de rejet aux candidats non retenus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B04-SE · Remise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PAPIER ; ELECTRONIQUE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 plateforme de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Adresse web</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d'ouverture des dépôts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Heure de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Heure du serveur (UTC+03:00 Indian/Antananarivo)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de signature électronique exigé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Qualifiée ; Avancée ; Simple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Prestataires de certification acceptés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À définir par l'Administrateur (liste officielle des prestataires de certification)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Formats de fichiers acceptés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PDF ; PDF/A ; XLSX ; DOCX ; ZIP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maximale par fichier (Mo)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maximale par offre (Mo)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55</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(5/9)</a:t>
            </a:r>
            <a:endParaRPr lang="en-US" sz="2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Remplacement et retrait avant la date limite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Copie de sauvegarde autorisée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Non ; Support physique sous pli scellé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Seuil d'indisponibilité déclenchant la prorogation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 la prorogation (jours ouvrables)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Assistance aux candidats (contact, horaires)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limite des demandes d'assistance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Fenêtre avant l'échéance où le seuil s'applique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publication de l'avis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B04-CT · Calendrier prévisionnel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B04-CT-05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notification du contrat-cadre au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B05 — Prix, montants &amp; garantie de soumission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B05-UM · Unité monétaire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B05-UM-01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Monnaie en devise (appel d'offres international)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B05-MT · Montant indicatif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B05-MT-01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indicatif du contrat-cadre hors taxes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B05-MT-02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indicatif du contrat-cadre toutes taxes comprises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B05-PM · Prix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B05-PM-01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de prix des marchés subséquents (mono-attributaire)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Prix unitaires ; Prix forfaitaires ; Prix mixtes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mono-attributaire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B05-PM-02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 prix est un critère d'attribution du contrat-cadre (multi-attributaire)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multi-attributaire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B05-PM-03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 des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B05-PM-04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Plafond d'augmentation des prix à chaque complétude ou remise en concurrence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B05-PM-05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Catalogue joint au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56</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(6/9)</a:t>
            </a:r>
            <a:endParaRPr lang="en-US" sz="2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B05-GQ · Garantie de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B05-GQ-03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de la garantie de soumission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par lot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 → avis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garantie de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B06 — Évaluation, attribution &amp; notification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B06-AN · Attribution et notification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B06-AN-03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Voies et délais de recours (instance chargée des recours)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B06-SC · Examen des candidatures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B06-SC-02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Critères d'élimination des candidatures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B06-SO · Sélection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B06-SO-05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Critères et mécanisme de jugement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B06-CA · Critères d'attribution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B06-CA-01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Critères d'attribution du contrat-cadre et modalités d'appréciation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B07 — Marchés subséquents  ·  22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B07-PS · Passation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B07-PS-02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d'envoi des demandes aux titulaires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B07-PS-03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réponse des titulaires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B07-FS · Forme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B07-FS-01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Marchés uniques non fractionnés ; Marchés fractionnés par bons de commande successifs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B07-FS-02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Interlocuteur du titulaire (service, direction, coordonnées)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B07-MA · Attribution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B07-MA-01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complétude de l'offre initiale (mono-attributaire)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mono-attributaire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B07-MA-02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 de départ du délai de complétude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À compter de la notification de la demande de complétude ; Lors de la demande de complétude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mono-attributaire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57</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(7/9)</a:t>
            </a:r>
            <a:endParaRPr lang="en-US" sz="2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B07-MA-04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d'attribution des marchés subséquents en cas d'allotissement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Titulaires des lots correspondant à l'objet du marché ; Titulaires de tous les lots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multi-attributaire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B07-MA-06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Critères et sous-critères pondérés de la remise en concurrence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multi-attributaire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B07-TN · Termes non couverts par le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B07-TN-01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Termes non couverts par le contrat-cadre (mono-attributaire)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mono-attributaire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B07-TN-02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Termes non couverts par le contrat-cadre (multi-attributaire)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multi-attributaire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B07-DU · Durée et reconduction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B07-DU-02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marchés subséquents fixée dans le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B07-DU-03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marchés subséquents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B07-DU-04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reconductions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B07-DU-05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d'années maximum du contrat-cadre, reconductions comprises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B07-DU-07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Préavis de la décision de reconduction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B07-DE · Délais d'exécution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Délais d'exécution des marchés subséquents uniques ou non fractionnés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Fixés par l'autorité contractante ; À l'initiative des candidats ; Fixés dans les marchés subséquents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d'exécution fixé par l'autorité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B07-DE-03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d'exécution à l'initiative des candidats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B07-PE · Pénalités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B07-PE-01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Pénalités de retard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Non applicables ; Fixées dans le contrat-cadre ; Fixées dans les marchés subséquents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B07-PE-02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Régime des pénalités fixées dans le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Conformément à l'article 12 du CCAG ; Dérogation au CCAG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B07-PE-03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Pénalités dérogeant au CCAG : rédaction libre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58</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(8/9)</a:t>
            </a:r>
            <a:endParaRPr lang="en-US" sz="2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B07-OM · Objet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B07-OM-02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Contrat-cadre mono ou multi-attributaire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B08 — Paiements, avances &amp; garanties financières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B08-FI · Financement et sûretés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B08-FI-02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de versement de l'avance (délai de paiement en jours calendaires)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B08-FI-05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Avance versée au sous-traitant du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B08-FP · Facturation et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Présentation des demandes de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facturation (service responsable de la vérification des demandes de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des intérêts moratoires (%, au moins un point)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B08-AT · Financement et sûretés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Avance versée aux titulaires des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DPAC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B08-AT-03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de l'avance (% du montant TTC du marché subséquent, au plus 20 %)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B08-FT · Facturation et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B08-FT-03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paiement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B09 — Exécution du marché &amp; livraison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B09-EA · Exécution administrative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B09-EA-01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générales d'exécution communes aux marchés subséquents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B09-EA-02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 des modalités générales d'exécution communes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B09-VA · Vérification et admission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B09-VA-01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Vérification et admission des prestations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Dispositions du CCAG applicables ; Clause libre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B09-VA-02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Clause libre de vérification et d'admission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59</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TRAVAUX ET RÉHABILITATION · CONTRAT-CADRE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Contrat-cadre — toutes les informations (9/9)</a:t>
            </a:r>
            <a:endParaRPr lang="en-US" sz="2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B09-GP · Garanties particulières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B09-GP-01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Garanties contractuelles particulières fournies par le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B09-GP-02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Nature des garanties particulières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B09-GP-03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garantie des prestations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B09-GP-04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 de départ du délai de garantie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À partir de l'admission ; À partir de la date de mise en service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B09-GP-05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Garantie exécutée conformément au CCAG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B09-AU · Assurance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B09-AU-01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Assurance exigée du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B09-AU-03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remise de l'attestation d'assurance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B10 — Modifications, résiliation &amp; litiges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B10-VR · Voies de recours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B10-VR-01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Juridiction compétente pour les litiges nés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B10-MT · Modifications en cours d'exécution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B10-MT-01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Changement de dénomination sociale du titulaire : service acheteur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B10-MT-02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Changement de contractant en cours d'exécution : service acheteur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B10-RS · Résiliation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B10-RS-02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Préavis de résiliation sans faute (mois avant la date anniversaire)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B10-RS-03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Fautes du titulaire ouvrant la résiliation du contrat-cadre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B12 — Besoin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i="1" dirty="0">
                          <a:solidFill>
                            <a:srgbClr val="465568"/>
                          </a:solidFill>
                          <a:latin typeface="Segoe UI" pitchFamily="34" charset="0"/>
                          <a:ea typeface="Segoe UI" pitchFamily="34" charset="-122"/>
                          <a:cs typeface="Segoe UI" pitchFamily="34" charset="-120"/>
                        </a:rPr>
                        <a:t>Saisi dans la grille du besoin (lots, articles ou séries, quantités) — voir « Les blocs à grille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FF7E0"/>
                    </a:solidFill>
                  </a:tcPr>
                </a:tc>
                <a:tc hMerge="1">
                  <a:tcPr/>
                </a:tc>
                <a:tc hMerge="1">
                  <a:tcPr/>
                </a:tc>
                <a:tc hMerge="1">
                  <a:tcPr/>
                </a:tc>
                <a:tc hMerge="1">
                  <a:tcPr/>
                </a:tc>
                <a:tc hMerge="1">
                  <a:tcPr/>
                </a:tc>
                <a:tc hMerge="1">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B13 — Matériel et personnel exigés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i="1" dirty="0">
                          <a:solidFill>
                            <a:srgbClr val="465568"/>
                          </a:solidFill>
                          <a:latin typeface="Segoe UI" pitchFamily="34" charset="0"/>
                          <a:ea typeface="Segoe UI" pitchFamily="34" charset="-122"/>
                          <a:cs typeface="Segoe UI" pitchFamily="34" charset="-120"/>
                        </a:rPr>
                        <a:t>Saisi dans les grilles du matériel et du personnel exigés — voir « Les blocs à grille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FF7E0"/>
                    </a:solidFill>
                  </a:tcPr>
                </a:tc>
                <a:tc hMerge="1">
                  <a:tcPr/>
                </a:tc>
                <a:tc hMerge="1">
                  <a:tcPr/>
                </a:tc>
                <a:tc hMerge="1">
                  <a:tcPr/>
                </a:tc>
                <a:tc hMerge="1">
                  <a:tcPr/>
                </a:tc>
                <a:tc hMerge="1">
                  <a:tcPr/>
                </a:tc>
                <a:tc hMerge="1">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60</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04</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Prestations intellectuelles</a:t>
            </a:r>
            <a:endParaRPr lang="en-US" sz="4200" dirty="0"/>
          </a:p>
        </p:txBody>
      </p:sp>
      <p:sp>
        <p:nvSpPr>
          <p:cNvPr id="4" name="Text 2"/>
          <p:cNvSpPr/>
          <p:nvPr/>
        </p:nvSpPr>
        <p:spPr>
          <a:xfrm>
            <a:off x="812780" y="3556000"/>
            <a:ext cx="8889778" cy="1270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Études, contrôle, assistance : consultation d’une liste restreinte, DPIC, cahier des prescriptions spéciales ; pas de contrat-cadre, pas de besoin chiffré au DAO.</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 fiche DAO par nature et par forme · 61</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Prestations intellectuelles : les blocs selon la forme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Nombre d’informations de chaque bloc pour chaque forme ; « — » : bloc absent de cette forme ; « grille » : bloc saisi dans une grille.</a:t>
            </a:r>
            <a:endParaRPr lang="en-US" sz="13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731520"/>
                <a:gridCol w="5852160"/>
                <a:gridCol w="2423160"/>
                <a:gridCol w="24231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Bloc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Intitulé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Quantité fixe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À commande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B01</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Identification &amp; données du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allotissement &amp; forme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Candidats : groupement, sous-traitance, qualifications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B04</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Dossier, remise &amp; ouverture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36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36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montants &amp; garantie de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15</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Évaluation, attribution &amp;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B08</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Paiements, avances &amp; garanties financières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B09</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Exécution du marché &amp; livraison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17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B10</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Modifications, résiliation &amp; litiges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3</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a:txBody>
                    <a:bodyPr/>
                    <a:lstStyle/>
                    <a:p>
                      <a:pPr algn="l" indent="0" marL="0">
                        <a:buNone/>
                      </a:pPr>
                      <a:r>
                        <a:rPr lang="en-US" sz="900" b="1" dirty="0">
                          <a:solidFill>
                            <a:srgbClr val="1B2A3A"/>
                          </a:solidFill>
                          <a:latin typeface="Segoe UI" pitchFamily="34" charset="0"/>
                          <a:ea typeface="Segoe UI" pitchFamily="34" charset="-122"/>
                          <a:cs typeface="Segoe UI" pitchFamily="34" charset="-120"/>
                        </a:rPr>
                        <a:t>Total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a:txBody>
                    <a:bodyPr/>
                    <a:lstStyle/>
                    <a:p>
                      <a:pPr algn="ctr" indent="0" marL="0">
                        <a:buNone/>
                      </a:pPr>
                      <a:r>
                        <a:rPr lang="en-US" sz="900" b="1" dirty="0">
                          <a:solidFill>
                            <a:srgbClr val="1B2A3A"/>
                          </a:solidFill>
                          <a:latin typeface="Segoe UI" pitchFamily="34" charset="0"/>
                          <a:ea typeface="Segoe UI" pitchFamily="34" charset="-122"/>
                          <a:cs typeface="Segoe UI" pitchFamily="34" charset="-120"/>
                        </a:rPr>
                        <a:t>127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a:txBody>
                    <a:bodyPr/>
                    <a:lstStyle/>
                    <a:p>
                      <a:pPr algn="ctr" indent="0" marL="0">
                        <a:buNone/>
                      </a:pPr>
                      <a:r>
                        <a:rPr lang="en-US" sz="900" b="1" dirty="0">
                          <a:solidFill>
                            <a:srgbClr val="1B2A3A"/>
                          </a:solidFill>
                          <a:latin typeface="Segoe UI" pitchFamily="34" charset="0"/>
                          <a:ea typeface="Segoe UI" pitchFamily="34" charset="-122"/>
                          <a:cs typeface="Segoe UI" pitchFamily="34" charset="-120"/>
                        </a:rPr>
                        <a:t>127</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62</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Prestations intellectuelles : les blocs à grille</a:t>
            </a:r>
            <a:endParaRPr lang="en-US" sz="2600" dirty="0"/>
          </a:p>
        </p:txBody>
      </p:sp>
      <p:sp>
        <p:nvSpPr>
          <p:cNvPr id="4" name="Shape 2"/>
          <p:cNvSpPr/>
          <p:nvPr/>
        </p:nvSpPr>
        <p:spPr>
          <a:xfrm>
            <a:off x="812780" y="1206500"/>
            <a:ext cx="3420448" cy="2159000"/>
          </a:xfrm>
          <a:prstGeom prst="rect">
            <a:avLst/>
          </a:prstGeom>
          <a:solidFill>
            <a:srgbClr val="FCFCFA"/>
          </a:solidFill>
          <a:ln w="9525">
            <a:solidFill>
              <a:srgbClr val="D5DCE4"/>
            </a:solidFill>
            <a:prstDash val="solid"/>
          </a:ln>
        </p:spPr>
      </p:sp>
      <p:sp>
        <p:nvSpPr>
          <p:cNvPr id="5" name="Shape 3"/>
          <p:cNvSpPr/>
          <p:nvPr/>
        </p:nvSpPr>
        <p:spPr>
          <a:xfrm>
            <a:off x="812780" y="1206500"/>
            <a:ext cx="3420448" cy="38100"/>
          </a:xfrm>
          <a:prstGeom prst="rect">
            <a:avLst/>
          </a:prstGeom>
          <a:solidFill>
            <a:srgbClr val="1B6FA8"/>
          </a:solidFill>
          <a:ln/>
        </p:spPr>
      </p:sp>
      <p:sp>
        <p:nvSpPr>
          <p:cNvPr id="6" name="Text 4"/>
          <p:cNvSpPr/>
          <p:nvPr/>
        </p:nvSpPr>
        <p:spPr>
          <a:xfrm>
            <a:off x="952476" y="13081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Pas de bloc à grille</a:t>
            </a:r>
            <a:endParaRPr lang="en-US" sz="1500" dirty="0"/>
          </a:p>
        </p:txBody>
      </p:sp>
      <p:sp>
        <p:nvSpPr>
          <p:cNvPr id="7" name="Text 5"/>
          <p:cNvSpPr/>
          <p:nvPr/>
        </p:nvSpPr>
        <p:spPr>
          <a:xfrm>
            <a:off x="952476" y="17018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prestations intellectuelles n’ont ni besoin chiffré (B12), ni matériel et personnel (B13), ni liste des pièces (B14) : la proposition technique et financière du consultant suit les formulaires-types.</a:t>
            </a:r>
            <a:endParaRPr lang="en-US" sz="1200" dirty="0"/>
          </a:p>
        </p:txBody>
      </p:sp>
      <p:sp>
        <p:nvSpPr>
          <p:cNvPr id="8" name="Shape 6"/>
          <p:cNvSpPr/>
          <p:nvPr/>
        </p:nvSpPr>
        <p:spPr>
          <a:xfrm>
            <a:off x="4385624" y="1206500"/>
            <a:ext cx="3420448" cy="2159000"/>
          </a:xfrm>
          <a:prstGeom prst="rect">
            <a:avLst/>
          </a:prstGeom>
          <a:solidFill>
            <a:srgbClr val="FCFCFA"/>
          </a:solidFill>
          <a:ln w="9525">
            <a:solidFill>
              <a:srgbClr val="D5DCE4"/>
            </a:solidFill>
            <a:prstDash val="solid"/>
          </a:ln>
        </p:spPr>
      </p:sp>
      <p:sp>
        <p:nvSpPr>
          <p:cNvPr id="9" name="Shape 7"/>
          <p:cNvSpPr/>
          <p:nvPr/>
        </p:nvSpPr>
        <p:spPr>
          <a:xfrm>
            <a:off x="4385624" y="1206500"/>
            <a:ext cx="3420448" cy="38100"/>
          </a:xfrm>
          <a:prstGeom prst="rect">
            <a:avLst/>
          </a:prstGeom>
          <a:solidFill>
            <a:srgbClr val="2E8B57"/>
          </a:solidFill>
          <a:ln/>
        </p:spPr>
      </p:sp>
      <p:sp>
        <p:nvSpPr>
          <p:cNvPr id="10" name="Text 8"/>
          <p:cNvSpPr/>
          <p:nvPr/>
        </p:nvSpPr>
        <p:spPr>
          <a:xfrm>
            <a:off x="4525320" y="13081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Lettre d’invitation</a:t>
            </a:r>
            <a:endParaRPr lang="en-US" sz="1500" dirty="0"/>
          </a:p>
        </p:txBody>
      </p:sp>
      <p:sp>
        <p:nvSpPr>
          <p:cNvPr id="11" name="Text 9"/>
          <p:cNvSpPr/>
          <p:nvPr/>
        </p:nvSpPr>
        <p:spPr>
          <a:xfrm>
            <a:off x="4525320" y="17018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Au lieu d’un avis public, une lettre d’invitation est produite pour chaque candidat de la liste restreinte.</a:t>
            </a:r>
            <a:endParaRPr lang="en-US" sz="1200" dirty="0"/>
          </a:p>
        </p:txBody>
      </p:sp>
      <p:sp>
        <p:nvSpPr>
          <p:cNvPr id="12" name="Shape 10"/>
          <p:cNvSpPr/>
          <p:nvPr/>
        </p:nvSpPr>
        <p:spPr>
          <a:xfrm>
            <a:off x="7958468" y="1206500"/>
            <a:ext cx="3420448" cy="2159000"/>
          </a:xfrm>
          <a:prstGeom prst="rect">
            <a:avLst/>
          </a:prstGeom>
          <a:solidFill>
            <a:srgbClr val="FCFCFA"/>
          </a:solidFill>
          <a:ln w="9525">
            <a:solidFill>
              <a:srgbClr val="D5DCE4"/>
            </a:solidFill>
            <a:prstDash val="solid"/>
          </a:ln>
        </p:spPr>
      </p:sp>
      <p:sp>
        <p:nvSpPr>
          <p:cNvPr id="13" name="Shape 11"/>
          <p:cNvSpPr/>
          <p:nvPr/>
        </p:nvSpPr>
        <p:spPr>
          <a:xfrm>
            <a:off x="7958468" y="1206500"/>
            <a:ext cx="3420448" cy="38100"/>
          </a:xfrm>
          <a:prstGeom prst="rect">
            <a:avLst/>
          </a:prstGeom>
          <a:solidFill>
            <a:srgbClr val="E3AE2E"/>
          </a:solidFill>
          <a:ln/>
        </p:spPr>
      </p:sp>
      <p:sp>
        <p:nvSpPr>
          <p:cNvPr id="14" name="Text 12"/>
          <p:cNvSpPr/>
          <p:nvPr/>
        </p:nvSpPr>
        <p:spPr>
          <a:xfrm>
            <a:off x="8098164" y="13081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Pénalités</a:t>
            </a:r>
            <a:endParaRPr lang="en-US" sz="1500" dirty="0"/>
          </a:p>
        </p:txBody>
      </p:sp>
      <p:sp>
        <p:nvSpPr>
          <p:cNvPr id="15" name="Text 13"/>
          <p:cNvSpPr/>
          <p:nvPr/>
        </p:nvSpPr>
        <p:spPr>
          <a:xfrm>
            <a:off x="8098164" y="17018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plafond du CCAG est de </a:t>
            </a:r>
            <a:pPr indent="0" marL="0">
              <a:buNone/>
            </a:pPr>
            <a:r>
              <a:rPr lang="en-US" sz="1200" b="1" dirty="0">
                <a:solidFill>
                  <a:srgbClr val="1B2A3A"/>
                </a:solidFill>
                <a:latin typeface="Segoe UI" pitchFamily="34" charset="0"/>
                <a:ea typeface="Segoe UI" pitchFamily="34" charset="-122"/>
                <a:cs typeface="Segoe UI" pitchFamily="34" charset="-120"/>
              </a:rPr>
              <a:t>10 %</a:t>
            </a:r>
            <a:pPr indent="0" marL="0">
              <a:buNone/>
            </a:pPr>
            <a:r>
              <a:rPr lang="en-US" sz="1200" dirty="0">
                <a:solidFill>
                  <a:srgbClr val="465568"/>
                </a:solidFill>
                <a:latin typeface="Segoe UI" pitchFamily="34" charset="0"/>
                <a:ea typeface="Segoe UI" pitchFamily="34" charset="-122"/>
                <a:cs typeface="Segoe UI" pitchFamily="34" charset="-120"/>
              </a:rPr>
              <a:t> (15 % ailleurs) : la question de cadrage le dit.</a:t>
            </a:r>
            <a:endParaRPr lang="en-US" sz="1200" dirty="0"/>
          </a:p>
        </p:txBody>
      </p:sp>
      <p:sp>
        <p:nvSpPr>
          <p:cNvPr id="16" name="Text 1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63</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(1/9)</a:t>
            </a:r>
            <a:endParaRPr lang="en-US" sz="2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B01 — Identification &amp; données du PPM  ·  19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B01-AC · Acheteur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l'autorité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Ministère ou organisme de rattachement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Commission des marchés compétente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Personne responsable des marchés publics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Courriel de la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de la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du plan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 budgétaire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du plan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Aucun (pilote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du dossier de planification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Aucun (pilote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Nature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estimatif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 de financement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Service(s) bénéficiaire(s)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Compte(s) budgétaire(s)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Dates prévisionnelles (calendrier de passation)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B01-AC-19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B02 — Objet, allotissement &amp; forme du marché  ·  12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B02-OB · Objet de l'appel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B02-OB-01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de l'appel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B02-OB-03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du dossier d'appel d'offres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64</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(2/9)</a:t>
            </a:r>
            <a:endParaRPr lang="en-US" sz="2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B02-LV · Lots et variantes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lots du plan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des lots du plan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B02-LV-03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par lot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Plan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B02-CL · Client et personne responsable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B02-CL-01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Dénomination et adresse du client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B02-CL-02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Personne responsable des marchés passés sur la base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B02-MS · Mode de sélection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B02-MS-01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sélection du consultant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Qualité technique, expérience et proposition financière ; Budget prédéterminé dont le candidat propose la meilleure utilisation ; Meilleure proposition financière parmi les candidats ayant obtenu la note technique minimale ; Qualité technique exclusivement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B02-OP · Objet des prestations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Projet ou opération plus vaste dont le marché fait partie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principal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B02-OP-03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début des prestations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B02-SP · Signature de l'acte d'engagement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B02-SP-01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accordé au candidat pour renvoyer l'acte d'engagement signé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B03 — Candidats : groupement, sous-traitance, qualifications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B03-CQ · Capacité et qualifications des candidats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Identification et situation juridique : pièces exigées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antécédents juridiques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B03-CQ-10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des antécédents financiers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65</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(3/9)</a:t>
            </a:r>
            <a:endParaRPr lang="en-US" sz="2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B03-GP · Groupement de consultants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B03-GP-01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du groupement de consultants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 → DPIC,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groupement admis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B03-NP · Nantissement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B03-NP-01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maximum nanti, en chiffres et en lettres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B03-SP · Sous-traitance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B03-SP-01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Sous-traitance autorisée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B03-SP-02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de l'annexe indiquant la nature et le montant des prestations sous-traitées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B03-SP-03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des prestations sous-traitées, TVA incluse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B03-SP-04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de l'annexe de demande d'acceptation des sous-traitants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B04 — Dossier, remise &amp; ouverture des offres  ·  36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B04-CD · Composition du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B04-CD-01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Modèles de fiches de renseignements joints au dossier (A1, A2…)</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A1 ; A2 ; A3 ; A4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B04-CD-02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Modèle de garantie de soumission joint au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C1 ; C2 ; C1 et C2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B04-SE · Remise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remise des offres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PAPIER ; ELECTRONIQUE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 plateforme de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Adresse web</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d'ouverture des dépôts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Heure de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Heure du serveur (UTC+03:00 Indian/Antananarivo)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de signature électronique exigé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Qualifiée ; Avancée ; Simple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Prestataires de certification acceptés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À définir par l'Administrateur (liste officielle des prestataires de certification)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Formats de fichiers acceptés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Choix multiples : PDF ; PDF/A ; XLSX ; DOCX ; ZIP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maximale par fichier (Mo)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66</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(4/9)</a:t>
            </a:r>
            <a:endParaRPr lang="en-US" sz="2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maximale par offre (Mo)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Remplacement et retrait avant la date limite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Copie de sauvegarde autorisée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Non ; Support physique sous pli scellé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Seuil d'indisponibilité déclenchant la prorogation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de la prorogation (jours ouvrables)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Assistance aux candidats (contact, horaires)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limite des demandes d'assistance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Fenêtre avant l'échéance où le seuil s'applique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B04-SE-17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 publication de l'avis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remise électronique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B04-AI · Assistance du client pendant la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B04-AI-01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Intrants à fournir par le client pendant la consultation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B04-DP · Délai de validité des propositions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B04-DP-01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validité des propositions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B04-EP · Demande d'éclaircissements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B04-EP-01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 PRMP pour les demandes d'éclaircissement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B04-EP-02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 pour les demandes d'éclaircissement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B04-EP-03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d'envoi des demandes par les candidats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B04-EP-04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 réponse de la PRMP aux demandes d'éclaircissement (jours avant la date limite)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B04-FL · Forme des plis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B04-FL-01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de copies de la proposition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B04-FL-02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et numéro à porter sur l'enveloppe de la proposition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B04-FL-03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du client à porter sur l'enveloppe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B04-LH · Lieu, date et heure de la remise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B04-LH-01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 l'autorité contractante pour la remise des propositions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67</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(5/9)</a:t>
            </a:r>
            <a:endParaRPr lang="en-US" sz="2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B04-LH-02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et heure limites de remise des propositions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B04-LP · Langue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Langue de la proposition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Français ; Français et une seconde langue ; Une autre langue que le français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B04-LP-02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Seconde langue admise pour la proposition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B04-NP · Contenu des propositions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B04-NP-01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 des propositions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Une proposition technique et une proposition financière sous enveloppes distinctes ; Uniquement une proposition technique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B04-QT · Proposition technique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B04-QT-03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Points sur lesquels le client attend une attention particulière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B04-RU · Réunion préparatoire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B04-RU-01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Réunion préparatoire prévue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B04-RU-02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et date de la réunion préparatoire (au moins 21 jours avant la remise)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B05 — Prix, montants &amp; garantie de soumission  ·  15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B05-MP · Monnaie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B05-MP-01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Monnaie autre que l'Ariary admise, et conditions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B05-PF · Proposition financière et mode de rémunération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de rémunération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Prix forfaitaire ; Temps passé ; Résultat ; Lié au coût estimatif ou effectif de travaux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du forfait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prévisionnelle des prestations rémunérées au temps passé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global maximum des prestations au temps passé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supplémentaire pour aléa d'exécution, sur accord écrit du client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68</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(6/9)</a:t>
            </a:r>
            <a:endParaRPr lang="en-US" sz="2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Rémunération au résultat : montant ou mode de calcul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Événement déclenchant la rémunération finale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B05-PF-08</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Nature des montants servant de base à la rémunération et pourcentage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B05-PF-09</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Barème dégressif en fonction du volume des montants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B05-PF-10</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Profession et références du barème applicable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B05-PF-11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Frais remboursables : liste des dépenses admises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B05-PF-12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Frais divers : liste des frais de fonctionnement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B05-PF-13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Budget disponible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B05-RP · Caractère ferme ou révisable des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B05-RP-01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fermes ou révisables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 → AE,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B06 — Évaluation, attribution &amp; notification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B06-CS · Classement des propositions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B06-CS-02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Poids de la proposition technique (T)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B06-CS-03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Poids de la proposition financière (F)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B06-NG · Négociations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B06-NG-01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des négociations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B06-TP · Évaluation des propositions techniques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B06-TP-02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Points : expérience des candidats pertinente pour la 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B06-TP-03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Points : conformité du plan de travail et de la méthode aux termes de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B06-TP-04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Points : qualifications et compétence du personnel clé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B06-TP-05</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Points : adéquation du programme de transfert de connaissances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B06-TP-06</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Points : participation de ressortissants nationaux au personnel clé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B06-TP-07</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Score technique minimum (points)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DPIC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69</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(7/9)</a:t>
            </a:r>
            <a:endParaRPr lang="en-US" sz="2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B08 — Paiements, avances &amp; garanties financières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B08-AI · Avance forfaitaire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B08-AI-01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Avance forfaitaire prévue au cahier des clauses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 → 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B08-AI-03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de l'avance forfaitaire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avance prévue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B08-DP · Domiciliation bancaire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B08-DP-01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Titulaire du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Consultant unique ; Groupement de consultants solidaires ; Groupement de consultants conjoints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B08-IP · Intérêts moratoires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B08-IP-01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Intérêts moratoires : points ajoutés au taux directeur de la Banque centrale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B08-RP · Modalités de règlement des comptes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B08-RP-01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Règlement des prestations d'une durée inférieure à trois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B08-RP-02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Règlement des prestations rémunérées au temps passé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B08-RP-03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Règlement des prestations par étapes ou remise de documents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B09 — Exécution du marché &amp; livraison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B09-PR · Pénalités de retard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B09-PR-01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Régime des pénalités de retard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B09-AI · Assistance du client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B09-AI-01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Assistance du client pendant l'exécution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B09-AI-02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Intrants à fournir par le client pendant l'exécution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B09-AP · Assurance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B09-AP-01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de l'assurance exigée du consultant (Ariary)</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B09-DK · Documents contractuels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B09-DK-01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Documents rendus contractuels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B09-DP · Durée et délais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 délai court de l'ordre de service de commencer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70</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(8/9)</a:t>
            </a:r>
            <a:endParaRPr lang="en-US" sz="2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B09-DP-03</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globale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Nombre de mois ; Date de fin de marché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B09-DP-04</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Durée en mois ou date de fin du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AE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B09-FC · Fourniture de matériel par le consultant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B09-FC-01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Documents à fournir par le consultant pour le matériel qu'il fournit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B09-MF · Matériel confié par le client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B09-MF-01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Matériel confié par le client au consultant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B09-MF-02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de la garantie de restitution du matériel confié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Garantie bancaire ; Engagement de caution personnelle et solidaire ; Cautionnement en numéraire par chèque de banque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B09-MS · Mesures de sécurité et protection du secret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B09-MS-01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Mesures de sécurité ou de protection du secret applicables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B09-MV · Modifications et avenants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B09-MV-01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des demandes d'ajustement du prix ou des délais d'achèvement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B09-NC · Notification au consultant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B09-NC-01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détaillée du consultant pour les notifications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B09-OP · Opération de vérification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B09-OP-01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Modalités de vérification et d'agrément des résultats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B09-OP-02</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des opérations de vérification (jours, à défaut les 30 jours du CCAG)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B09-UR · Utilisation des résultats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B09-UR-01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Dispositions sur l'utilisation des résultats des prestations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B10 — Modifications, résiliation &amp; litiges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c hMerge="1">
                  <a:tcPr/>
                </a:tc>
                <a:tc hMerge="1">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B10-DP · Dérogations aux documents généraux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B10-DP-01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Dérogations aux documents généraux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71</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QUANTITÉ FIXE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Quantité fixe — toutes les informations (9/9)</a:t>
            </a:r>
            <a:endParaRPr lang="en-US" sz="26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914400"/>
                <a:gridCol w="3794760"/>
                <a:gridCol w="2514600"/>
                <a:gridCol w="685800"/>
                <a:gridCol w="1417320"/>
                <a:gridCol w="548640"/>
                <a:gridCol w="155448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B10-IN · Indemnisation en cas de résiliation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B10-IN-01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d'indemnisation en cas de résiliation du fait du client (%)</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Pourcentage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7">
                  <a:txBody>
                    <a:bodyPr/>
                    <a:lstStyle/>
                    <a:p>
                      <a:pPr indent="0" marL="0">
                        <a:buNone/>
                      </a:pPr>
                      <a:r>
                        <a:rPr lang="en-US" sz="900" b="1" dirty="0">
                          <a:solidFill>
                            <a:srgbClr val="1B2A3A"/>
                          </a:solidFill>
                          <a:latin typeface="Segoe UI" pitchFamily="34" charset="0"/>
                          <a:ea typeface="Segoe UI" pitchFamily="34" charset="-122"/>
                          <a:cs typeface="Segoe UI" pitchFamily="34" charset="-120"/>
                        </a:rPr>
                        <a:t>B10-PP · Procédure contentieuse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6ECF2"/>
                    </a:solidFill>
                  </a:tcPr>
                </a:tc>
                <a:tc hMerge="1">
                  <a:tcPr/>
                </a:tc>
                <a:tc hMerge="1">
                  <a:tcPr/>
                </a:tc>
                <a:tc hMerge="1">
                  <a:tcPr/>
                </a:tc>
                <a:tc hMerge="1">
                  <a:tcPr/>
                </a:tc>
                <a:tc hMerge="1">
                  <a:tcPr/>
                </a:tc>
                <a:tc hMerge="1">
                  <a:tcPr/>
                </a:tc>
              </a:tr>
              <a:tr h="0">
                <a:tc>
                  <a:txBody>
                    <a:bodyPr/>
                    <a:lstStyle/>
                    <a:p>
                      <a:pPr indent="0" marL="0">
                        <a:buNone/>
                      </a:pPr>
                      <a:r>
                        <a:rPr lang="en-US" sz="850" dirty="0">
                          <a:solidFill>
                            <a:srgbClr val="1B2A3A"/>
                          </a:solidFill>
                          <a:latin typeface="Consolas" pitchFamily="34" charset="0"/>
                          <a:ea typeface="Consolas" pitchFamily="34" charset="-122"/>
                          <a:cs typeface="Consolas" pitchFamily="34" charset="-120"/>
                        </a:rPr>
                        <a:t>B10-PP-01</a:t>
                      </a:r>
                      <a:endParaRPr lang="en-US" sz="85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Procédure contentieuse et juridiction compétente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Saisie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1B2A3A"/>
                          </a:solidFill>
                          <a:latin typeface="Segoe UI" pitchFamily="34" charset="0"/>
                          <a:ea typeface="Segoe UI" pitchFamily="34" charset="-122"/>
                          <a:cs typeface="Segoe UI" pitchFamily="34" charset="-120"/>
                        </a:rPr>
                        <a:t>CCAP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72</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À COMMANDE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À commande — les mêmes informations qu’à quantité fixe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Le référentiel prestations intellectuelles « à commande » est </a:t>
            </a:r>
            <a:pPr indent="0" marL="0">
              <a:buNone/>
            </a:pPr>
            <a:r>
              <a:rPr lang="en-US" sz="1300" b="1" dirty="0">
                <a:solidFill>
                  <a:srgbClr val="1B2A3A"/>
                </a:solidFill>
                <a:latin typeface="Segoe UI" pitchFamily="34" charset="0"/>
                <a:ea typeface="Segoe UI" pitchFamily="34" charset="-122"/>
                <a:cs typeface="Segoe UI" pitchFamily="34" charset="-120"/>
              </a:rPr>
              <a:t>identique</a:t>
            </a:r>
            <a:pPr indent="0" marL="0">
              <a:buNone/>
            </a:pPr>
            <a:r>
              <a:rPr lang="en-US" sz="1300" dirty="0">
                <a:solidFill>
                  <a:srgbClr val="465568"/>
                </a:solidFill>
                <a:latin typeface="Segoe UI" pitchFamily="34" charset="0"/>
                <a:ea typeface="Segoe UI" pitchFamily="34" charset="-122"/>
                <a:cs typeface="Segoe UI" pitchFamily="34" charset="-120"/>
              </a:rPr>
              <a:t> à celui de la quantité fixe (127 informations, mêmes codes). La forme agit ailleurs :</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Dans le besoin</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Sans objet : pas de besoin chiffré au DAO.</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Dans les documents</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modèles de documents ont des passages propres à la forme (condition sur le type de marché) : montants minimum et maximum de l’acte d’engagement, bons de commande.</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À l’import du DAO</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L’import d’un DAO existant est ouvert à cette forme : il propose les valeurs, la PRMP décide.</a:t>
            </a:r>
            <a:endParaRPr lang="en-US" sz="1200" dirty="0"/>
          </a:p>
        </p:txBody>
      </p:sp>
      <p:sp>
        <p:nvSpPr>
          <p:cNvPr id="17" name="Text 1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73</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types d’information</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Le type commande la saisie (et son contrôle) ; « par lot » : l’information se saisit une fois pour chaque lot.</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Texte, texte long</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Une ligne, ou un paragraphe imprimé tel quel ; certains portent un texte type à adapter.</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Nombre, montant, pourcentage</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Contrôlés à la saisie ; un montant s’imprime aussi en lettres quand le document l’exige.</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Date, date et heure</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L’heure limite de remise devient obligatoire en remise électronique.</a:t>
            </a:r>
            <a:endParaRPr lang="en-US" sz="1200" dirty="0"/>
          </a:p>
        </p:txBody>
      </p:sp>
      <p:sp>
        <p:nvSpPr>
          <p:cNvPr id="17" name="Shape 15"/>
          <p:cNvSpPr/>
          <p:nvPr/>
        </p:nvSpPr>
        <p:spPr>
          <a:xfrm>
            <a:off x="812780" y="3962400"/>
            <a:ext cx="3420448" cy="2159000"/>
          </a:xfrm>
          <a:prstGeom prst="rect">
            <a:avLst/>
          </a:prstGeom>
          <a:solidFill>
            <a:srgbClr val="FCFCFA"/>
          </a:solidFill>
          <a:ln w="9525">
            <a:solidFill>
              <a:srgbClr val="D5DCE4"/>
            </a:solidFill>
            <a:prstDash val="solid"/>
          </a:ln>
        </p:spPr>
      </p:sp>
      <p:sp>
        <p:nvSpPr>
          <p:cNvPr id="18" name="Shape 16"/>
          <p:cNvSpPr/>
          <p:nvPr/>
        </p:nvSpPr>
        <p:spPr>
          <a:xfrm>
            <a:off x="812780" y="3962400"/>
            <a:ext cx="3420448" cy="38100"/>
          </a:xfrm>
          <a:prstGeom prst="rect">
            <a:avLst/>
          </a:prstGeom>
          <a:solidFill>
            <a:srgbClr val="12324A"/>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Liste, choix multiples</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valeurs proposées sont données dans la colonne « Type et valeurs » ; choix multiples : la garantie de soumission, par exemple, peut admettre plusieurs formes.</a:t>
            </a:r>
            <a:endParaRPr lang="en-US" sz="1200" dirty="0"/>
          </a:p>
        </p:txBody>
      </p:sp>
      <p:sp>
        <p:nvSpPr>
          <p:cNvPr id="21" name="Shape 19"/>
          <p:cNvSpPr/>
          <p:nvPr/>
        </p:nvSpPr>
        <p:spPr>
          <a:xfrm>
            <a:off x="4385624" y="3962400"/>
            <a:ext cx="3420448" cy="2159000"/>
          </a:xfrm>
          <a:prstGeom prst="rect">
            <a:avLst/>
          </a:prstGeom>
          <a:solidFill>
            <a:srgbClr val="FCFCFA"/>
          </a:solidFill>
          <a:ln w="9525">
            <a:solidFill>
              <a:srgbClr val="D5DCE4"/>
            </a:solidFill>
            <a:prstDash val="solid"/>
          </a:ln>
        </p:spPr>
      </p:sp>
      <p:sp>
        <p:nvSpPr>
          <p:cNvPr id="22" name="Shape 20"/>
          <p:cNvSpPr/>
          <p:nvPr/>
        </p:nvSpPr>
        <p:spPr>
          <a:xfrm>
            <a:off x="4385624" y="3962400"/>
            <a:ext cx="3420448" cy="38100"/>
          </a:xfrm>
          <a:prstGeom prst="rect">
            <a:avLst/>
          </a:prstGeom>
          <a:solidFill>
            <a:srgbClr val="1B6FA8"/>
          </a:solidFill>
          <a:ln/>
        </p:spPr>
      </p:sp>
      <p:sp>
        <p:nvSpPr>
          <p:cNvPr id="23" name="Text 21"/>
          <p:cNvSpPr/>
          <p:nvPr/>
        </p:nvSpPr>
        <p:spPr>
          <a:xfrm>
            <a:off x="4525320"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Oui / non</a:t>
            </a:r>
            <a:endParaRPr lang="en-US" sz="1500" dirty="0"/>
          </a:p>
        </p:txBody>
      </p:sp>
      <p:sp>
        <p:nvSpPr>
          <p:cNvPr id="24" name="Text 22"/>
          <p:cNvSpPr/>
          <p:nvPr/>
        </p:nvSpPr>
        <p:spPr>
          <a:xfrm>
            <a:off x="4525320"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Imprimé selon la tournure du document type.</a:t>
            </a:r>
            <a:endParaRPr lang="en-US" sz="1200" dirty="0"/>
          </a:p>
        </p:txBody>
      </p:sp>
      <p:sp>
        <p:nvSpPr>
          <p:cNvPr id="25" name="Shape 23"/>
          <p:cNvSpPr/>
          <p:nvPr/>
        </p:nvSpPr>
        <p:spPr>
          <a:xfrm>
            <a:off x="7958468" y="3962400"/>
            <a:ext cx="3420448" cy="2159000"/>
          </a:xfrm>
          <a:prstGeom prst="rect">
            <a:avLst/>
          </a:prstGeom>
          <a:solidFill>
            <a:srgbClr val="FCFCFA"/>
          </a:solidFill>
          <a:ln w="9525">
            <a:solidFill>
              <a:srgbClr val="D5DCE4"/>
            </a:solidFill>
            <a:prstDash val="solid"/>
          </a:ln>
        </p:spPr>
      </p:sp>
      <p:sp>
        <p:nvSpPr>
          <p:cNvPr id="26" name="Shape 24"/>
          <p:cNvSpPr/>
          <p:nvPr/>
        </p:nvSpPr>
        <p:spPr>
          <a:xfrm>
            <a:off x="7958468" y="3962400"/>
            <a:ext cx="3420448" cy="38100"/>
          </a:xfrm>
          <a:prstGeom prst="rect">
            <a:avLst/>
          </a:prstGeom>
          <a:solidFill>
            <a:srgbClr val="2E8B57"/>
          </a:solidFill>
          <a:ln/>
        </p:spPr>
      </p:sp>
      <p:sp>
        <p:nvSpPr>
          <p:cNvPr id="27" name="Text 25"/>
          <p:cNvSpPr/>
          <p:nvPr/>
        </p:nvSpPr>
        <p:spPr>
          <a:xfrm>
            <a:off x="8098164"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Source</a:t>
            </a:r>
            <a:endParaRPr lang="en-US" sz="1500" dirty="0"/>
          </a:p>
        </p:txBody>
      </p:sp>
      <p:sp>
        <p:nvSpPr>
          <p:cNvPr id="28" name="Text 26"/>
          <p:cNvSpPr/>
          <p:nvPr/>
        </p:nvSpPr>
        <p:spPr>
          <a:xfrm>
            <a:off x="8098164" y="4457700"/>
            <a:ext cx="3141055" cy="1600200"/>
          </a:xfrm>
          <a:prstGeom prst="rect">
            <a:avLst/>
          </a:prstGeom>
          <a:noFill/>
          <a:ln/>
        </p:spPr>
        <p:txBody>
          <a:bodyPr wrap="square" rtlCol="0" anchor="t">
            <a:normAutofit/>
          </a:bodyPr>
          <a:lstStyle/>
          <a:p>
            <a:pPr indent="0" marL="0">
              <a:buNone/>
            </a:pPr>
            <a:r>
              <a:rPr lang="en-US" sz="1200" b="1" dirty="0">
                <a:solidFill>
                  <a:srgbClr val="1B2A3A"/>
                </a:solidFill>
                <a:latin typeface="Segoe UI" pitchFamily="34" charset="0"/>
                <a:ea typeface="Segoe UI" pitchFamily="34" charset="-122"/>
                <a:cs typeface="Segoe UI" pitchFamily="34" charset="-120"/>
              </a:rPr>
              <a:t>Plan</a:t>
            </a:r>
            <a:pPr indent="0" marL="0">
              <a:buNone/>
            </a:pPr>
            <a:r>
              <a:rPr lang="en-US" sz="1200" dirty="0">
                <a:solidFill>
                  <a:srgbClr val="465568"/>
                </a:solidFill>
                <a:latin typeface="Segoe UI" pitchFamily="34" charset="0"/>
                <a:ea typeface="Segoe UI" pitchFamily="34" charset="-122"/>
                <a:cs typeface="Segoe UI" pitchFamily="34" charset="-120"/>
              </a:rPr>
              <a:t> : repris de la ligne du plan de passation, non modifiable ; </a:t>
            </a:r>
            <a:pPr indent="0" marL="0">
              <a:buNone/>
            </a:pPr>
            <a:r>
              <a:rPr lang="en-US" sz="1200" b="1" dirty="0">
                <a:solidFill>
                  <a:srgbClr val="1B2A3A"/>
                </a:solidFill>
                <a:latin typeface="Segoe UI" pitchFamily="34" charset="0"/>
                <a:ea typeface="Segoe UI" pitchFamily="34" charset="-122"/>
                <a:cs typeface="Segoe UI" pitchFamily="34" charset="-120"/>
              </a:rPr>
              <a:t>Cadrage</a:t>
            </a:r>
            <a:pPr indent="0" marL="0">
              <a:buNone/>
            </a:pPr>
            <a:r>
              <a:rPr lang="en-US" sz="1200" dirty="0">
                <a:solidFill>
                  <a:srgbClr val="465568"/>
                </a:solidFill>
                <a:latin typeface="Segoe UI" pitchFamily="34" charset="0"/>
                <a:ea typeface="Segoe UI" pitchFamily="34" charset="-122"/>
                <a:cs typeface="Segoe UI" pitchFamily="34" charset="-120"/>
              </a:rPr>
              <a:t> : reflet d’une réponse de l’étape 2 ; </a:t>
            </a:r>
            <a:pPr indent="0" marL="0">
              <a:buNone/>
            </a:pPr>
            <a:r>
              <a:rPr lang="en-US" sz="1200" b="1" dirty="0">
                <a:solidFill>
                  <a:srgbClr val="1B2A3A"/>
                </a:solidFill>
                <a:latin typeface="Segoe UI" pitchFamily="34" charset="0"/>
                <a:ea typeface="Segoe UI" pitchFamily="34" charset="-122"/>
                <a:cs typeface="Segoe UI" pitchFamily="34" charset="-120"/>
              </a:rPr>
              <a:t>Saisie</a:t>
            </a:r>
            <a:pPr indent="0" marL="0">
              <a:buNone/>
            </a:pPr>
            <a:r>
              <a:rPr lang="en-US" sz="1200" dirty="0">
                <a:solidFill>
                  <a:srgbClr val="465568"/>
                </a:solidFill>
                <a:latin typeface="Segoe UI" pitchFamily="34" charset="0"/>
                <a:ea typeface="Segoe UI" pitchFamily="34" charset="-122"/>
                <a:cs typeface="Segoe UI" pitchFamily="34" charset="-120"/>
              </a:rPr>
              <a:t> : renseigné par la PRMP ou l’UGPM.</a:t>
            </a:r>
            <a:endParaRPr lang="en-US" sz="1200" dirty="0"/>
          </a:p>
        </p:txBody>
      </p:sp>
      <p:sp>
        <p:nvSpPr>
          <p:cNvPr id="29" name="Text 2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 fiche DAO par nature et par forme · 74</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74</Slides>
  <Notes>74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74</vt:i4>
      </vt:variant>
    </vt:vector>
  </HeadingPairs>
  <TitlesOfParts>
    <vt:vector size="7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vector>
  </TitlesOfParts>
  <Company>Commission nationale des marchés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PRS 2.0 — La fiche DAO par nature et par forme du marché</dc:title>
  <dc:subject>PptxGenJS Presentation</dc:subject>
  <dc:creator>PRS 2.0</dc:creator>
  <cp:lastModifiedBy>PRS 2.0</cp:lastModifiedBy>
  <cp:revision>1</cp:revision>
  <dcterms:created xsi:type="dcterms:W3CDTF">2026-10-07T01:22:47Z</dcterms:created>
  <dcterms:modified xsi:type="dcterms:W3CDTF">2026-10-07T01:22:47Z</dcterms:modified>
</cp:coreProperties>
</file>