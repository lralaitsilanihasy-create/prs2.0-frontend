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04-appels-offres.
Écran : /prmp/dao — compte : PRMP.
Noms, matricules, initiales, photos et adresses réelles masqués dans la page avant la capture.
Règles appliquées (annexe A) : RG-DAO-02, RG-DAO-03, RG-DAO-04, RG-DAO-05, RG-DAO-07, RG-DAO-08.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04-e2-cadrage.
Écran : /prmp/dao/40 — compte : PRMP.
Noms, matricules, initiales, photos et adresses réelles masqués dans la page avant la capture.
Règles appliquées (annexe A) : RG-DAO-12, RG-DAO-46.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04-e2-mode-fige.
Écran : /prmp/dao/32 — compte : PRMP.
Noms, matricules, initiales, photos et adresses réelles masqués dans la page avant la capture.
Règles appliquées (annexe A) : RG-DAO-46, RG-DAO-47, RG-DAO-48.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04-e3-saisie.
Écran : /prmp/dao/40 — compte : PRMP.
Noms, matricules, initiales, photos et adresses réelles masqués dans la page avant la capture.
Règles appliquées (annexe A) : RG-DAO-13, RG-DAO-15, RG-DAO-18, RG-DAO-19, RG-DAO-26.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04-e3-saisie-f.
Écran : /prmp/dao/44 — compte : PRMP.
Noms, matricules, initiales, photos et adresses réelles masqués dans la page avant la capture.
Règles appliquées (annexe A) : RG-DAO-07, RG-DAO-08, RG-DAO-11, RG-DAO-15.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04-e3-b12.
Écran : /prmp/dao/40 — compte : PRMP.
Noms, matricules, initiales, photos et adresses réelles masqués dans la page avant la capture.
Règles appliquées (annexe A) : RG-DAO-18, RG-DAO-21, RG-DAO-22.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se__v02-b14-proposer-liste.jpg (« Les pièces de l’offre, listées une à une »).
Raison : l’état montré ne se reproduit plus sur la base du 14/10 ; l’écran n’a pas changé sur ce qu’il montre.
Règles appliquées (annexe A) : RG-DAO-15, RG-DAO-35.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se__v03-b14-collage-depuis-texte.jpg (« Le texte découpé, à relire »).
Raison : l’état montré ne se reproduit plus sur la base du 14/10 ; l’écran n’a pas changé sur ce qu’il montre.
Règles appliquées (annexe A) : RG-DAO-35.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04-e3-b14.
Écran : /prmp/dao/40 — compte : PRMP.
Noms, matricules, initiales, photos et adresses réelles masqués dans la page avant la capture.
Règles appliquées (annexe A) : RG-DAO-34, RG-DAO-35.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04-e4-reprises.
Écran : /prmp/dao/40 — compte : PRMP.
Noms, matricules, initiales, photos et adresses réelles masqués dans la page avant la capture.
Règles appliquées (annexe A) : RG-DAO-01, RG-DAO-26.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04-e5-controles.
Écran : /prmp/dao/40 — compte : PRMP.
Noms, matricules, initiales, photos et adresses réelles masqués dans la page avant la capture.
Règles appliquées (annexe A) : RG-DAO-14, RG-DAO-17, RG-DAO-34, RG-DAO-52.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04-e6-validation.
Écran : /prmp/dao/40 — compte : PRMP.
Noms, matricules, initiales, photos et adresses réelles masqués dans la page avant la capture.
Règles appliquées (annexe A) : RG-DAO-06, RG-DAO-16, RG-DAO-24, RG-DAO-25.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04-e7-documents.
Écran : /prmp/dao/40 — compte : PRMP.
Noms, matricules, initiales, photos et adresses réelles masqués dans la page avant la capture.
Règles appliquées (annexe A) : RG-DAO-27, RG-DAO-30, RG-DAO-32, RG-DAO-33, RG-DAO-36.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04-e7-documents-f.
Écran : /prmp/dao/44 — compte : PRMP.
Noms, matricules, initiales, photos et adresses réelles masqués dans la page avant la capture.
Règles appliquées (annexe A) : RG-DAO-22, RG-DAO-33.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detail2__n14-dao-garde.jpg (« La page de garde »).
Raison : l’état montré ne se reproduit plus sur la base du 14/10 ; l’écran n’a pas changé sur ce qu’il montre.
Règles appliquées (annexe A) : RG-DAO-30, RG-DAO-31.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detail2__n15-dao-sommaire.jpg (« Le sommaire général »).
Raison : l’état montré ne se reproduit plus sur la base du 14/10 ; l’écran n’a pas changé sur ce qu’il montre.
Règles appliquées (annexe A) : RG-DAO-30, RG-DAO-31.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04-cao.
Écran : /prmp/dao/40/cao — compte : PRMP.
Noms, matricules, initiales, photos et adresses réelles masqués dans la page avant la capture.
Règles appliquées (annexe A) : RG-DAO-55.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04-procedures-en-ligne.
Écran : /procedures-en-ligne — compte : Administrateur.
Noms, matricules, initiales, photos et adresses réelles masqués dans la page avant la capture.
Règles appliquées (annexe A) : RG-DAO-57.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04-param-internes.
Écran : /procedure/40/parametres-internes — compte : Administrateur.
Noms, matricules, initiales, photos et adresses réelles masqués dans la page avant la capture.
Règles appliquées (annexe A) : RG-DAO-56, RG-DAO-58.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04-param-signature.
Écran : /procedure/40/parametres-internes — compte : Administrateur.
Noms, matricules, initiales, photos et adresses réelles masqués dans la page avant la capture.
Règles appliquées (annexe A) : RG-DAO-51, RG-DAO-58.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04-admin-fiche.
Écran : /admin/dao/32 — compte : Administrateur.
Noms, matricules, initiales, photos et adresses réelles masqués dans la page avant la capture.
Règles appliquées (annexe A) : RG-DAO-47, RG-DAO-57.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04-migration.
Écran : /admin/dao/32 — compte : Administrateur.
Noms, matricules, initiales, photos et adresses réelles masqués dans la page avant la capture.
Règles appliquées (annexe A) : RG-DAO-47, RG-DAO-48.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04-mem-fiche.
Écran : /membre/dao/39 — compte : Membre.
Noms, matricules, initiales, photos et adresses réelles masqués dans la page avant la capture.
Règles appliquées (annexe A) : RG-DAO-36, RG-DAO-37.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04-e7-avis.
Écran : /prmp/dao/40 — compte : PRMP.
Noms, matricules, initiales, photos et adresses réelles masqués dans la page avant la capture.
Règles appliquées (annexe A) : RG-DAO-38, RG-DAO-53, RG-DAO-54.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04-recus.
Écran : /prmp/dao/47/recus — compte : PRMP.
Noms, matricules, initiales, photos et adresses réelles masqués dans la page avant la capture.
Règles appliquées (annexe A) : RG-DAO-59.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04-retraits.
Écran : /prmp/dao/47/retraits — compte : PRMP.
Noms, matricules, initiales, photos et adresses réelles masqués dans la page avant la capture.
Règles appliquées (annexe A) : RG-DAO-60, RG-DAO-49.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04-questions.
Écran : /prmp/dao/40/questions — compte : PRMP.
Noms, matricules, initiales, photos et adresses réelles masqués dans la page avant la capture.
Règles appliquées (annexe A) : RG-DAO-49, RG-DAO-50.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 PARCOURS D’UN DOSSIER</a:t>
            </a:r>
            <a:endParaRPr lang="en-US" sz="1400" dirty="0"/>
          </a:p>
        </p:txBody>
      </p:sp>
      <p:sp>
        <p:nvSpPr>
          <p:cNvPr id="4" name="Text 2"/>
          <p:cNvSpPr/>
          <p:nvPr/>
        </p:nvSpPr>
        <p:spPr>
          <a:xfrm>
            <a:off x="812780" y="1206500"/>
            <a:ext cx="5079873" cy="571500"/>
          </a:xfrm>
          <a:prstGeom prst="rect">
            <a:avLst/>
          </a:prstGeom>
          <a:noFill/>
          <a:ln/>
        </p:spPr>
        <p:txBody>
          <a:bodyPr wrap="square" rtlCol="0" anchor="ctr"/>
          <a:lstStyle/>
          <a:p>
            <a:pPr indent="0" marL="0">
              <a:buNone/>
            </a:pPr>
            <a:r>
              <a:rPr lang="en-US" sz="3000" b="1" dirty="0">
                <a:solidFill>
                  <a:srgbClr val="E3AE2E"/>
                </a:solidFill>
                <a:latin typeface="Segoe UI" pitchFamily="34" charset="0"/>
                <a:ea typeface="Segoe UI" pitchFamily="34" charset="-122"/>
                <a:cs typeface="Segoe UI" pitchFamily="34" charset="-120"/>
              </a:rPr>
              <a:t>Étape 04</a:t>
            </a:r>
            <a:endParaRPr lang="en-US" sz="3000" dirty="0"/>
          </a:p>
        </p:txBody>
      </p:sp>
      <p:sp>
        <p:nvSpPr>
          <p:cNvPr id="5" name="Text 3"/>
          <p:cNvSpPr/>
          <p:nvPr/>
        </p:nvSpPr>
        <p:spPr>
          <a:xfrm>
            <a:off x="812780" y="1778000"/>
            <a:ext cx="10477238" cy="952500"/>
          </a:xfrm>
          <a:prstGeom prst="rect">
            <a:avLst/>
          </a:prstGeom>
          <a:noFill/>
          <a:ln/>
        </p:spPr>
        <p:txBody>
          <a:bodyPr wrap="square" rtlCol="0" anchor="t">
            <a:normAutofit/>
          </a:bodyPr>
          <a:lstStyle/>
          <a:p>
            <a:pPr indent="0" marL="0">
              <a:buNone/>
            </a:pPr>
            <a:r>
              <a:rPr lang="en-US" sz="4400" b="1" dirty="0">
                <a:solidFill>
                  <a:srgbClr val="FCFCFA"/>
                </a:solidFill>
                <a:latin typeface="Segoe UI" pitchFamily="34" charset="0"/>
                <a:ea typeface="Segoe UI" pitchFamily="34" charset="-122"/>
                <a:cs typeface="Segoe UI" pitchFamily="34" charset="-120"/>
              </a:rPr>
              <a:t>PRS 2.0 — Préparer le DAO</a:t>
            </a:r>
            <a:endParaRPr lang="en-US" sz="4400" dirty="0"/>
          </a:p>
        </p:txBody>
      </p:sp>
      <p:sp>
        <p:nvSpPr>
          <p:cNvPr id="6" name="Text 4"/>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La PRMP prépare le dossier d’appel d’offres dans un formulaire, à partir de la ligne du plan : l’application en tire le DAO complet, sur les documents types de l’ARMP, et prépare la procédure en ligne.</a:t>
            </a:r>
            <a:endParaRPr lang="en-US" sz="2000" dirty="0"/>
          </a:p>
        </p:txBody>
      </p:sp>
      <p:sp>
        <p:nvSpPr>
          <p:cNvPr id="7" name="Text 5"/>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Une présentation par étape que traverse un dossier, de la planification à l’attribution · écrans, règles appliquées (provenance en note), points d’attention, règles de gestion et données de l’étape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OÙ SE SITUE L’ÉTAPE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de passation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marché inscrit au plan traverse deux contrôles de la Commission : celui du plan, puis celui de son dossier de consultation — et, après l’évaluation des offres, celui du dossier de marché.</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02</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Planifier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saisit et soumet son plan de passation.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03</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examine ; le PV est visé et signé.</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04 · 05</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 Préparer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b="1" dirty="0">
                <a:solidFill>
                  <a:srgbClr val="1B2A3A"/>
                </a:solidFill>
                <a:latin typeface="Segoe UI" pitchFamily="34" charset="0"/>
                <a:ea typeface="Segoe UI" pitchFamily="34" charset="-122"/>
                <a:cs typeface="Segoe UI" pitchFamily="34" charset="-120"/>
              </a:rPr>
              <a:t>Cette présentation.</a:t>
            </a:r>
            <a:pPr indent="0" marL="0">
              <a:buNone/>
            </a:pPr>
            <a:r>
              <a:rPr lang="en-US" sz="1150" dirty="0">
                <a:solidFill>
                  <a:srgbClr val="465568"/>
                </a:solidFill>
                <a:latin typeface="Segoe UI" pitchFamily="34" charset="0"/>
                <a:ea typeface="Segoe UI" pitchFamily="34" charset="-122"/>
                <a:cs typeface="Segoe UI" pitchFamily="34" charset="-120"/>
              </a:rPr>
              <a:t> La fiche du DAO produit le dossier d’appel d’offres.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06 · 07</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Consulter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offres arrivent en ligne, scellées, puis s’ouvrent en séance.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08</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Évaluer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évalue et propose l’attributaire.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09</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Attribuer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est contrôlé, signé, notifié et publié.</a:t>
            </a:r>
            <a:endParaRPr lang="en-US" sz="1150" dirty="0"/>
          </a:p>
        </p:txBody>
      </p:sp>
      <p:sp>
        <p:nvSpPr>
          <p:cNvPr id="34" name="Text 32"/>
          <p:cNvSpPr/>
          <p:nvPr/>
        </p:nvSpPr>
        <p:spPr>
          <a:xfrm>
            <a:off x="812780" y="3937000"/>
            <a:ext cx="10566136" cy="762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Cette présentation couvre l’étape </a:t>
            </a:r>
            <a:pPr indent="0" marL="0">
              <a:buNone/>
            </a:pPr>
            <a:r>
              <a:rPr lang="en-US" sz="1300" b="1" dirty="0">
                <a:solidFill>
                  <a:srgbClr val="1B2A3A"/>
                </a:solidFill>
                <a:latin typeface="Segoe UI" pitchFamily="34" charset="0"/>
                <a:ea typeface="Segoe UI" pitchFamily="34" charset="-122"/>
                <a:cs typeface="Segoe UI" pitchFamily="34" charset="-120"/>
              </a:rPr>
              <a:t>04 — Préparer le DAO</a:t>
            </a:r>
            <a:pPr indent="0" marL="0">
              <a:buNone/>
            </a:pPr>
            <a:r>
              <a:rPr lang="en-US" sz="1300" dirty="0">
                <a:solidFill>
                  <a:srgbClr val="465568"/>
                </a:solidFill>
                <a:latin typeface="Segoe UI" pitchFamily="34" charset="0"/>
                <a:ea typeface="Segoe UI" pitchFamily="34" charset="-122"/>
                <a:cs typeface="Segoe UI" pitchFamily="34" charset="-120"/>
              </a:rPr>
              <a:t>. Les autres étapes ont chacune leur présentation ; l’entrée dans l’application, l’intérim, l’administration et le pilotage sont dans la présentation d’ensemble.</a:t>
            </a:r>
            <a:endParaRPr lang="en-US" sz="1300" dirty="0"/>
          </a:p>
        </p:txBody>
      </p:sp>
      <p:sp>
        <p:nvSpPr>
          <p:cNvPr id="35" name="Text 3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04</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Préparer le DAO</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La PRMP prépare le dossier d’appel d’offres dans un formulaire, à partir de la ligne du plan : l’application en tire le DAO complet, sur les documents types de l’ARMP, et prépare la procédure en ligne.</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Une information se saisit une seule fois et se reporte dans tous les documents qui l’utilisent : ce qui vient du plan de passation n’est jamais ressaisi, ni contredit.</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La fiche est contrôlée avant d’être validée, puis figée et versionnée : la Commission examine exactement ce que les candidats retireront, et rien ne se régénère après coup.</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Le manuel révisé est appliqué : le mode de remise ne change plus après la première validation, sauf migration motivée par l’Administrateur ; les questions des candidats et leurs réponses sont diffusées à tous ; le dépôt scellé vaut signature de l’offre.</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04 · Préparer le DAO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 ligne du plan au DAO publié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La PRMP, aidée de son UGPM, prépare et valide la fiche ; l’Administrateur désigne le responsable de la procédure en ligne ; la Commission examine le DAO ; les candidats le retirent et posent leurs questions.</a:t>
            </a:r>
            <a:endParaRPr lang="en-US" sz="1300" dirty="0"/>
          </a:p>
        </p:txBody>
      </p:sp>
      <p:sp>
        <p:nvSpPr>
          <p:cNvPr id="5" name="Shape 3"/>
          <p:cNvSpPr/>
          <p:nvPr/>
        </p:nvSpPr>
        <p:spPr>
          <a:xfrm>
            <a:off x="812780" y="1778000"/>
            <a:ext cx="1389708" cy="1905000"/>
          </a:xfrm>
          <a:prstGeom prst="roundRect">
            <a:avLst>
              <a:gd name="adj" fmla="val 3948"/>
            </a:avLst>
          </a:prstGeom>
          <a:solidFill>
            <a:srgbClr val="FCFCFA"/>
          </a:solidFill>
          <a:ln w="19050">
            <a:solidFill>
              <a:srgbClr val="12324A"/>
            </a:solidFill>
            <a:prstDash val="solid"/>
          </a:ln>
        </p:spPr>
      </p:sp>
      <p:sp>
        <p:nvSpPr>
          <p:cNvPr id="6" name="Text 4"/>
          <p:cNvSpPr/>
          <p:nvPr/>
        </p:nvSpPr>
        <p:spPr>
          <a:xfrm>
            <a:off x="90167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7" name="Text 5"/>
          <p:cNvSpPr/>
          <p:nvPr/>
        </p:nvSpPr>
        <p:spPr>
          <a:xfrm>
            <a:off x="90167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Choisir la ligne</a:t>
            </a:r>
            <a:endParaRPr lang="en-US" sz="1400" dirty="0"/>
          </a:p>
        </p:txBody>
      </p:sp>
      <p:sp>
        <p:nvSpPr>
          <p:cNvPr id="8" name="Text 6"/>
          <p:cNvSpPr/>
          <p:nvPr/>
        </p:nvSpPr>
        <p:spPr>
          <a:xfrm>
            <a:off x="90167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Une ligne d’un plan au PV signé favorable, dont le mode de passation appelle un DAO : 23 informations en sont reprises.</a:t>
            </a:r>
            <a:endParaRPr lang="en-US" sz="1150" dirty="0"/>
          </a:p>
        </p:txBody>
      </p:sp>
      <p:sp>
        <p:nvSpPr>
          <p:cNvPr id="9" name="Text 7"/>
          <p:cNvSpPr/>
          <p:nvPr/>
        </p:nvSpPr>
        <p:spPr>
          <a:xfrm>
            <a:off x="2189788"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342184" y="1778000"/>
            <a:ext cx="1389708" cy="1905000"/>
          </a:xfrm>
          <a:prstGeom prst="roundRect">
            <a:avLst>
              <a:gd name="adj" fmla="val 3948"/>
            </a:avLst>
          </a:prstGeom>
          <a:solidFill>
            <a:srgbClr val="FCFCFA"/>
          </a:solidFill>
          <a:ln w="19050">
            <a:solidFill>
              <a:srgbClr val="12324A"/>
            </a:solidFill>
            <a:prstDash val="solid"/>
          </a:ln>
        </p:spPr>
      </p:sp>
      <p:sp>
        <p:nvSpPr>
          <p:cNvPr id="11" name="Text 9"/>
          <p:cNvSpPr/>
          <p:nvPr/>
        </p:nvSpPr>
        <p:spPr>
          <a:xfrm>
            <a:off x="2431082"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12" name="Text 10"/>
          <p:cNvSpPr/>
          <p:nvPr/>
        </p:nvSpPr>
        <p:spPr>
          <a:xfrm>
            <a:off x="2431082"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Cadrer</a:t>
            </a:r>
            <a:endParaRPr lang="en-US" sz="1400" dirty="0"/>
          </a:p>
        </p:txBody>
      </p:sp>
      <p:sp>
        <p:nvSpPr>
          <p:cNvPr id="13" name="Text 11"/>
          <p:cNvSpPr/>
          <p:nvPr/>
        </p:nvSpPr>
        <p:spPr>
          <a:xfrm>
            <a:off x="2431082"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Dix questions (lots, prix, garantie, avance, mode de remise…) ouvrent ou ferment les rubriques du dossier.</a:t>
            </a:r>
            <a:endParaRPr lang="en-US" sz="1150" dirty="0"/>
          </a:p>
        </p:txBody>
      </p:sp>
      <p:sp>
        <p:nvSpPr>
          <p:cNvPr id="14" name="Text 12"/>
          <p:cNvSpPr/>
          <p:nvPr/>
        </p:nvSpPr>
        <p:spPr>
          <a:xfrm>
            <a:off x="3719193"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3871589" y="1778000"/>
            <a:ext cx="1389708" cy="1905000"/>
          </a:xfrm>
          <a:prstGeom prst="roundRect">
            <a:avLst>
              <a:gd name="adj" fmla="val 3948"/>
            </a:avLst>
          </a:prstGeom>
          <a:solidFill>
            <a:srgbClr val="FCFCFA"/>
          </a:solidFill>
          <a:ln w="19050">
            <a:solidFill>
              <a:srgbClr val="12324A"/>
            </a:solidFill>
            <a:prstDash val="solid"/>
          </a:ln>
        </p:spPr>
      </p:sp>
      <p:sp>
        <p:nvSpPr>
          <p:cNvPr id="16" name="Text 14"/>
          <p:cNvSpPr/>
          <p:nvPr/>
        </p:nvSpPr>
        <p:spPr>
          <a:xfrm>
            <a:off x="3960487"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OU UGPM</a:t>
            </a:r>
            <a:endParaRPr lang="en-US" sz="1000" dirty="0"/>
          </a:p>
        </p:txBody>
      </p:sp>
      <p:sp>
        <p:nvSpPr>
          <p:cNvPr id="17" name="Text 15"/>
          <p:cNvSpPr/>
          <p:nvPr/>
        </p:nvSpPr>
        <p:spPr>
          <a:xfrm>
            <a:off x="3960487"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Saisir une fois</a:t>
            </a:r>
            <a:endParaRPr lang="en-US" sz="1400" dirty="0"/>
          </a:p>
        </p:txBody>
      </p:sp>
      <p:sp>
        <p:nvSpPr>
          <p:cNvPr id="18" name="Text 16"/>
          <p:cNvSpPr/>
          <p:nvPr/>
        </p:nvSpPr>
        <p:spPr>
          <a:xfrm>
            <a:off x="3960487"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Bloc par bloc, lot par lot ; le besoin, les pièces de l’offre, les spécifications techniques.</a:t>
            </a:r>
            <a:endParaRPr lang="en-US" sz="1150" dirty="0"/>
          </a:p>
        </p:txBody>
      </p:sp>
      <p:sp>
        <p:nvSpPr>
          <p:cNvPr id="19" name="Text 17"/>
          <p:cNvSpPr/>
          <p:nvPr/>
        </p:nvSpPr>
        <p:spPr>
          <a:xfrm>
            <a:off x="524859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5400994" y="1778000"/>
            <a:ext cx="1389708" cy="1905000"/>
          </a:xfrm>
          <a:prstGeom prst="roundRect">
            <a:avLst>
              <a:gd name="adj" fmla="val 3948"/>
            </a:avLst>
          </a:prstGeom>
          <a:solidFill>
            <a:srgbClr val="FCFCFA"/>
          </a:solidFill>
          <a:ln w="19050">
            <a:solidFill>
              <a:srgbClr val="12324A"/>
            </a:solidFill>
            <a:prstDash val="solid"/>
          </a:ln>
        </p:spPr>
      </p:sp>
      <p:sp>
        <p:nvSpPr>
          <p:cNvPr id="21" name="Text 19"/>
          <p:cNvSpPr/>
          <p:nvPr/>
        </p:nvSpPr>
        <p:spPr>
          <a:xfrm>
            <a:off x="548989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a:t>
            </a:r>
            <a:endParaRPr lang="en-US" sz="1000" dirty="0"/>
          </a:p>
        </p:txBody>
      </p:sp>
      <p:sp>
        <p:nvSpPr>
          <p:cNvPr id="22" name="Text 20"/>
          <p:cNvSpPr/>
          <p:nvPr/>
        </p:nvSpPr>
        <p:spPr>
          <a:xfrm>
            <a:off x="548989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 valider</a:t>
            </a:r>
            <a:endParaRPr lang="en-US" sz="1400" dirty="0"/>
          </a:p>
        </p:txBody>
      </p:sp>
      <p:sp>
        <p:nvSpPr>
          <p:cNvPr id="23" name="Text 21"/>
          <p:cNvSpPr/>
          <p:nvPr/>
        </p:nvSpPr>
        <p:spPr>
          <a:xfrm>
            <a:off x="548989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Les contrôles bloquants levés, la PRMP valide : la version est figée et les documents produits.</a:t>
            </a:r>
            <a:endParaRPr lang="en-US" sz="1150" dirty="0"/>
          </a:p>
        </p:txBody>
      </p:sp>
      <p:sp>
        <p:nvSpPr>
          <p:cNvPr id="24" name="Text 22"/>
          <p:cNvSpPr/>
          <p:nvPr/>
        </p:nvSpPr>
        <p:spPr>
          <a:xfrm>
            <a:off x="6778002"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6930398" y="1778000"/>
            <a:ext cx="1389708" cy="1905000"/>
          </a:xfrm>
          <a:prstGeom prst="roundRect">
            <a:avLst>
              <a:gd name="adj" fmla="val 3948"/>
            </a:avLst>
          </a:prstGeom>
          <a:solidFill>
            <a:srgbClr val="FCFCFA"/>
          </a:solidFill>
          <a:ln w="19050">
            <a:solidFill>
              <a:srgbClr val="12324A"/>
            </a:solidFill>
            <a:prstDash val="solid"/>
          </a:ln>
        </p:spPr>
      </p:sp>
      <p:sp>
        <p:nvSpPr>
          <p:cNvPr id="26" name="Text 24"/>
          <p:cNvSpPr/>
          <p:nvPr/>
        </p:nvSpPr>
        <p:spPr>
          <a:xfrm>
            <a:off x="7019296"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ADMINISTRATEUR, RESPONSABLE DE LA PROCÉDURE</a:t>
            </a:r>
            <a:endParaRPr lang="en-US" sz="1000" dirty="0"/>
          </a:p>
        </p:txBody>
      </p:sp>
      <p:sp>
        <p:nvSpPr>
          <p:cNvPr id="27" name="Text 25"/>
          <p:cNvSpPr/>
          <p:nvPr/>
        </p:nvSpPr>
        <p:spPr>
          <a:xfrm>
            <a:off x="7019296"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 la procédure en ligne</a:t>
            </a:r>
            <a:endParaRPr lang="en-US" sz="1400" dirty="0"/>
          </a:p>
        </p:txBody>
      </p:sp>
      <p:sp>
        <p:nvSpPr>
          <p:cNvPr id="28" name="Text 26"/>
          <p:cNvSpPr/>
          <p:nvPr/>
        </p:nvSpPr>
        <p:spPr>
          <a:xfrm>
            <a:off x="7019296"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le responsable, les paramètres internes et la cérémonie des clés.</a:t>
            </a:r>
            <a:endParaRPr lang="en-US" sz="1150" dirty="0"/>
          </a:p>
        </p:txBody>
      </p:sp>
      <p:sp>
        <p:nvSpPr>
          <p:cNvPr id="29" name="Text 27"/>
          <p:cNvSpPr/>
          <p:nvPr/>
        </p:nvSpPr>
        <p:spPr>
          <a:xfrm>
            <a:off x="8307407"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8459803" y="1778000"/>
            <a:ext cx="1389708" cy="1905000"/>
          </a:xfrm>
          <a:prstGeom prst="roundRect">
            <a:avLst>
              <a:gd name="adj" fmla="val 3948"/>
            </a:avLst>
          </a:prstGeom>
          <a:solidFill>
            <a:srgbClr val="FCFCFA"/>
          </a:solidFill>
          <a:ln w="19050">
            <a:solidFill>
              <a:srgbClr val="12324A"/>
            </a:solidFill>
            <a:prstDash val="solid"/>
          </a:ln>
        </p:spPr>
      </p:sp>
      <p:sp>
        <p:nvSpPr>
          <p:cNvPr id="31" name="Text 29"/>
          <p:cNvSpPr/>
          <p:nvPr/>
        </p:nvSpPr>
        <p:spPr>
          <a:xfrm>
            <a:off x="8548701" y="1866900"/>
            <a:ext cx="12119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PRMP, MEMBRE DE LA COMMISSION</a:t>
            </a:r>
            <a:endParaRPr lang="en-US" sz="1000" dirty="0"/>
          </a:p>
        </p:txBody>
      </p:sp>
      <p:sp>
        <p:nvSpPr>
          <p:cNvPr id="32" name="Text 30"/>
          <p:cNvSpPr/>
          <p:nvPr/>
        </p:nvSpPr>
        <p:spPr>
          <a:xfrm>
            <a:off x="8548701" y="2095500"/>
            <a:ext cx="12119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Faire examiner</a:t>
            </a:r>
            <a:endParaRPr lang="en-US" sz="1400" dirty="0"/>
          </a:p>
        </p:txBody>
      </p:sp>
      <p:sp>
        <p:nvSpPr>
          <p:cNvPr id="33" name="Text 31"/>
          <p:cNvSpPr/>
          <p:nvPr/>
        </p:nvSpPr>
        <p:spPr>
          <a:xfrm>
            <a:off x="8548701" y="2603500"/>
            <a:ext cx="12119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dossier créé depuis la fiche part à la Commission, qui lit la fiche et le DAO complet.</a:t>
            </a:r>
            <a:endParaRPr lang="en-US" sz="1150" dirty="0"/>
          </a:p>
        </p:txBody>
      </p:sp>
      <p:sp>
        <p:nvSpPr>
          <p:cNvPr id="34" name="Text 32"/>
          <p:cNvSpPr/>
          <p:nvPr/>
        </p:nvSpPr>
        <p:spPr>
          <a:xfrm>
            <a:off x="9836811"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5" name="Shape 33"/>
          <p:cNvSpPr/>
          <p:nvPr/>
        </p:nvSpPr>
        <p:spPr>
          <a:xfrm>
            <a:off x="9989207" y="1778000"/>
            <a:ext cx="1389708" cy="1905000"/>
          </a:xfrm>
          <a:prstGeom prst="roundRect">
            <a:avLst>
              <a:gd name="adj" fmla="val 3948"/>
            </a:avLst>
          </a:prstGeom>
          <a:solidFill>
            <a:srgbClr val="12324A"/>
          </a:solidFill>
          <a:ln w="19050">
            <a:solidFill>
              <a:srgbClr val="12324A"/>
            </a:solidFill>
            <a:prstDash val="solid"/>
          </a:ln>
        </p:spPr>
      </p:sp>
      <p:sp>
        <p:nvSpPr>
          <p:cNvPr id="36" name="Text 34"/>
          <p:cNvSpPr/>
          <p:nvPr/>
        </p:nvSpPr>
        <p:spPr>
          <a:xfrm>
            <a:off x="10078105" y="1866900"/>
            <a:ext cx="12119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PRMP, CANDIDATS</a:t>
            </a:r>
            <a:endParaRPr lang="en-US" sz="1000" dirty="0"/>
          </a:p>
        </p:txBody>
      </p:sp>
      <p:sp>
        <p:nvSpPr>
          <p:cNvPr id="37" name="Text 35"/>
          <p:cNvSpPr/>
          <p:nvPr/>
        </p:nvSpPr>
        <p:spPr>
          <a:xfrm>
            <a:off x="10078105" y="2095500"/>
            <a:ext cx="12119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Publier et répondre</a:t>
            </a:r>
            <a:endParaRPr lang="en-US" sz="1400" dirty="0"/>
          </a:p>
        </p:txBody>
      </p:sp>
      <p:sp>
        <p:nvSpPr>
          <p:cNvPr id="38" name="Text 36"/>
          <p:cNvSpPr/>
          <p:nvPr/>
        </p:nvSpPr>
        <p:spPr>
          <a:xfrm>
            <a:off x="10078105" y="2603500"/>
            <a:ext cx="12119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Après le PV favorable, l’avis s’imprime ; les candidats paient, retirent le DAO et posent leurs questions.</a:t>
            </a:r>
            <a:endParaRPr lang="en-US" sz="1150" dirty="0"/>
          </a:p>
        </p:txBody>
      </p:sp>
      <p:sp>
        <p:nvSpPr>
          <p:cNvPr id="39" name="Text 37"/>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Une fiche par ligne du plan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DAO ne commence pas par un fichier : il commence par une ligne du plan de passation déjà contrôlé. Tout ce que le plan dit est repris, verrouillé, et ne se corrige que dans le plan.</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appels d’offres de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appels d’offres de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et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lignes des plans au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PV signé 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dont le mode de passation appelle un DAO : référence du plan, nature, forme, objet, mode, montant.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Préparer l’appel d’offres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ouvre une fiche ;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Reprendre la fiche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poursuit. Sous la fiche, le nombre d’offres déposées.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lignes en appel à manifestation d’intérêt (prestations intellectuelles) y figurent aussi.</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RG-DAO-02 · RG-DAO-03 · RG-DAO-04 · RG-DAO-05 · RG-DAO-07 · RG-DAO-08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Cadrer, saisir, contrôler</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fiche avance en sept étapes visibles à gauche de l’écran ; les contrôles se tiennent à droite, en continu, et disent ce qui reste à lever.</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2 : le cadrage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2 : le cadrag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Des questions qui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ouvrent ou ferment des rubriques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allotissement, tranches, variantes, groupement, type et révision des prix, garantie, avance, pénalités.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question dit dans quel document elle joue (DPAO,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Et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mode de remise des offres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papier ou électronique, jamais mixte.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RG-DAO-12 · RG-DAO-46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mode de remise, figé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mode de remise, fig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sur une fiche déjà validée en remise papier.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question porte la mention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figé depuis la première validation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une procédure commencée sur papier s’achève sur papier, et inversement.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L’écran explique la seule exception : une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migration motivée par l’Administrateur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tant qu’aucune offre n’est déposée en ligne, que la cérémonie des clés n’est pas close et qu’aucun lot n’est attribué.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les 23 informations reprises du plan, verrouillées.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RG-DAO-46 · RG-DAO-47 · RG-DAO-48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3 : la saisie par bloc</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3 : la saisie par bloc">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Onze blocs en travaux ; chaque information porte les documents où elle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reprise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(acte d’engagement, CCAP).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qui vient du plan ou du cadrage est marqué « repris », et ne se ressaisit pas ; une information conditionnelle dit sa condition (« alloti = OUI »).</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fiche validée se lit 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lecture seule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compteur dit combien d’informations sont saisies (124 sur 170).</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RG-DAO-13 · RG-DAO-15 · RG-DAO-18 · RG-DAO-19 · RG-DAO-26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Fournitures à commande : la même fiche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Fournitures à commande : la même fi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même fiche pour les trois catégories ; ses blocs et ses questions suivent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catégorie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et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forme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lues sur la ligne du plan (ici fournitures, à commande : dix blocs).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informations propres à la forme apparaissent d’elles-mêmes, comme la durée de validité du marché à commandes.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RG-DAO-07 · RG-DAO-08 · RG-DAO-11 · RG-DAO-15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besoin, lot par lot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besoin, lot par lo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travaux,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détail quantitatif et estimatif</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chaque lot, par séries : n° de prix, désignation, libellé au bordereau, unité, quantité, plafond.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C’est lui que le candidat remplira de ses prix ; il produit le bordereau des prix de chaque lot.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RG-DAO-18 · RG-DAO-21 · RG-DAO-22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de l’offre, listées une à une</a:t>
            </a:r>
            <a:endParaRPr lang="en-US" sz="2600" dirty="0"/>
          </a:p>
        </p:txBody>
      </p:sp>
      <p:sp>
        <p:nvSpPr>
          <p:cNvPr id="4" name="Shape 2"/>
          <p:cNvSpPr/>
          <p:nvPr/>
        </p:nvSpPr>
        <p:spPr>
          <a:xfrm>
            <a:off x="1393256" y="1193800"/>
            <a:ext cx="9405183" cy="3327400"/>
          </a:xfrm>
          <a:prstGeom prst="rect">
            <a:avLst/>
          </a:prstGeom>
          <a:solidFill>
            <a:srgbClr val="FCFCFA"/>
          </a:solidFill>
          <a:ln w="9525">
            <a:solidFill>
              <a:srgbClr val="D5DCE4"/>
            </a:solidFill>
            <a:prstDash val="solid"/>
          </a:ln>
        </p:spPr>
      </p:sp>
      <p:pic>
        <p:nvPicPr>
          <p:cNvPr id="5" name="Image 0" descr="Les pièces de l’offre, listées une à une">    </p:cNvPr>
          <p:cNvPicPr>
            <a:picLocks noChangeAspect="1"/>
          </p:cNvPicPr>
          <p:nvPr/>
        </p:nvPicPr>
        <p:blipFill>
          <a:blip r:embed="rId1"/>
          <a:stretch>
            <a:fillRect/>
          </a:stretch>
        </p:blipFill>
        <p:spPr>
          <a:xfrm>
            <a:off x="1405956" y="1206500"/>
            <a:ext cx="937978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sur une fiche en préparation.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remise électronique, chaque pièce exigée est une ligne : le candidat joindra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un fichier par pièce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liste se reprend du document type, se colle, s’ajoute pièce par pièce, ou se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propose à partir du texte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 DAO.</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RG-DAO-15 · RG-DAO-35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texte découpé, à relire</a:t>
            </a:r>
            <a:endParaRPr lang="en-US" sz="2600" dirty="0"/>
          </a:p>
        </p:txBody>
      </p:sp>
      <p:sp>
        <p:nvSpPr>
          <p:cNvPr id="4" name="Shape 2"/>
          <p:cNvSpPr/>
          <p:nvPr/>
        </p:nvSpPr>
        <p:spPr>
          <a:xfrm>
            <a:off x="800080" y="1193800"/>
            <a:ext cx="6894410" cy="5105400"/>
          </a:xfrm>
          <a:prstGeom prst="rect">
            <a:avLst/>
          </a:prstGeom>
          <a:solidFill>
            <a:srgbClr val="FCFCFA"/>
          </a:solidFill>
          <a:ln w="9525">
            <a:solidFill>
              <a:srgbClr val="D5DCE4"/>
            </a:solidFill>
            <a:prstDash val="solid"/>
          </a:ln>
        </p:spPr>
      </p:sp>
      <p:pic>
        <p:nvPicPr>
          <p:cNvPr id="5" name="Image 0" descr="Le texte découpé, à relire">    </p:cNvPr>
          <p:cNvPicPr>
            <a:picLocks noChangeAspect="1"/>
          </p:cNvPicPr>
          <p:nvPr/>
        </p:nvPicPr>
        <p:blipFill>
          <a:blip r:embed="rId1"/>
          <a:stretch>
            <a:fillRect/>
          </a:stretch>
        </p:blipFill>
        <p:spPr>
          <a:xfrm>
            <a:off x="812780" y="1206500"/>
            <a:ext cx="6869011" cy="5080000"/>
          </a:xfrm>
          <a:prstGeom prst="rect">
            <a:avLst/>
          </a:prstGeom>
        </p:spPr>
      </p:pic>
      <p:sp>
        <p:nvSpPr>
          <p:cNvPr id="6" name="Shape 3"/>
          <p:cNvSpPr/>
          <p:nvPr/>
        </p:nvSpPr>
        <p:spPr>
          <a:xfrm>
            <a:off x="7859586" y="1206500"/>
            <a:ext cx="3519330" cy="5080000"/>
          </a:xfrm>
          <a:prstGeom prst="rect">
            <a:avLst/>
          </a:prstGeom>
          <a:solidFill>
            <a:srgbClr val="FCFCFA"/>
          </a:solidFill>
          <a:ln w="9525">
            <a:solidFill>
              <a:srgbClr val="D5DCE4"/>
            </a:solidFill>
            <a:prstDash val="solid"/>
          </a:ln>
        </p:spPr>
      </p:sp>
      <p:sp>
        <p:nvSpPr>
          <p:cNvPr id="7" name="Shape 4"/>
          <p:cNvSpPr/>
          <p:nvPr/>
        </p:nvSpPr>
        <p:spPr>
          <a:xfrm>
            <a:off x="7859586" y="1206500"/>
            <a:ext cx="38099" cy="5080000"/>
          </a:xfrm>
          <a:prstGeom prst="rect">
            <a:avLst/>
          </a:prstGeom>
          <a:solidFill>
            <a:srgbClr val="1B6FA8"/>
          </a:solidFill>
          <a:ln/>
        </p:spPr>
      </p:sp>
      <p:sp>
        <p:nvSpPr>
          <p:cNvPr id="8" name="Text 5"/>
          <p:cNvSpPr/>
          <p:nvPr/>
        </p:nvSpPr>
        <p:spPr>
          <a:xfrm>
            <a:off x="8024682" y="1308100"/>
            <a:ext cx="3227237"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texte est découpé en une pièce par ligne ; la PRMP relit, corrige, complète, puis enregistre. Rien n’est retenu sans elle.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spécifications techniques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spécifications techniqu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dernier bloc, les pièces de l’offre et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spécifications techniques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devis descriptif, les prescriptions et les plans, en un document Word de 20 Mo au plus.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est inséré tel quel dans le DAO complet, entre le CCAP et le CCAG. Sans fichier, la partie n’existe pas, et l’écran le dit.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RG-DAO-34 · RG-DAO-35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4 : les reprises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4 : les repris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 champ repris est rempli depuis son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document maître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jamais ressaisi : autorité contractante, montant, source de financement, objet, délai de validité des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ligne dit d’où vient l’information et dans quels documents elle est reportée.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RG-DAO-01 · RG-DAO-26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5 : les contrôles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5 : les contrôl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bilan, recalculé à chaque lecture : informations manquantes, ordre des dates,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délai de publicité de la loi</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(30 jours pour l’appel d’offres ouvert national, art. 35-II).</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remise électronique, la liste des pièces de l’offre et la marge du quorum de déchiffrement ; les spécifications techniques absentes.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rouge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ce qui bloque la validation ; en orange, un avertissement. Chaque contrôle mène au bloc à corriger.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RG-DAO-14 · RG-DAO-17 · RG-DAO-34 · RG-DAO-52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6 : la validation</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6 : la validation">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seule.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les repères de la procédure (paramètres internes, commission, cérémonie, offres) et ses écrans : séance, évaluation, dépôts, commission, retraits, reçus, questions.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validée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figée et versionnée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chaque version garde sa date, son auteur et ses documents.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fiche validée ne se supprime pas : « Ouvrir une nouvelle version » la révise.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RG-DAO-06 · RG-DAO-16 · RG-DAO-24 · RG-DAO-25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DAO complet</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À la validation, l’application assemble un seul document, comme un DAO réel : page de garde, sommaire général, deux parties, dans la numérotation de l’ARMP. Il est servi en PDF et en Word.</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Étape 7 : le DAO complet et les bordereaux</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Étape 7 : le DAO complet et les bordereaux">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En tête,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d’appel d’offres complet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l’ouvrir, l’enregistrer en PDF ou en Word.</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Puis, lot par lot, le bordereau des prix et détail quantitatif et estimatif, en Excel.</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dossier à soumettre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est créé depuis la fiche ; il reste à y joindre l’estimation du coût et la garantie de soumission.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RG-DAO-27 · RG-DAO-30 · RG-DAO-32 · RG-DAO-33 · RG-DAO-36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En fournitures : le tableau de conformité</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En fournitures : le tableau de conformité">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des fournitures, le DAO complet s’accompagne du bordereau des prix et du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tableau de conformité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aux spécifications techniques.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noms de fichier portent la référence du plan, la ligne et la version de la fiche.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RG-DAO-22 · RG-DAO-33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page de garde</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a page de garde">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document produit.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Celle des DAO réels : l’emblème, le ministère, la PRMP et l’UGPM, l’intitulé qui porte le mode de passation.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numéro du DAO, l’objet, « Lancé le … » à compléter, le financement, l’imputation administrative et le compte,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lus sur le plan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RG-DAO-30 · RG-DAO-31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DOCUMENT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sommaire général</a:t>
            </a:r>
            <a:endParaRPr lang="en-US" sz="2600" dirty="0"/>
          </a:p>
        </p:txBody>
      </p:sp>
      <p:sp>
        <p:nvSpPr>
          <p:cNvPr id="4" name="Shape 2"/>
          <p:cNvSpPr/>
          <p:nvPr/>
        </p:nvSpPr>
        <p:spPr>
          <a:xfrm>
            <a:off x="800080" y="1193800"/>
            <a:ext cx="3616625" cy="5105400"/>
          </a:xfrm>
          <a:prstGeom prst="rect">
            <a:avLst/>
          </a:prstGeom>
          <a:solidFill>
            <a:srgbClr val="FCFCFA"/>
          </a:solidFill>
          <a:ln w="9525">
            <a:solidFill>
              <a:srgbClr val="D5DCE4"/>
            </a:solidFill>
            <a:prstDash val="solid"/>
          </a:ln>
        </p:spPr>
      </p:sp>
      <p:pic>
        <p:nvPicPr>
          <p:cNvPr id="5" name="Image 0" descr="Le sommaire général">    </p:cNvPr>
          <p:cNvPicPr>
            <a:picLocks noChangeAspect="1"/>
          </p:cNvPicPr>
          <p:nvPr/>
        </p:nvPicPr>
        <p:blipFill>
          <a:blip r:embed="rId1"/>
          <a:stretch>
            <a:fillRect/>
          </a:stretch>
        </p:blipFill>
        <p:spPr>
          <a:xfrm>
            <a:off x="812780" y="1206500"/>
            <a:ext cx="3591226" cy="5080000"/>
          </a:xfrm>
          <a:prstGeom prst="rect">
            <a:avLst/>
          </a:prstGeom>
        </p:spPr>
      </p:pic>
      <p:sp>
        <p:nvSpPr>
          <p:cNvPr id="6" name="Shape 3"/>
          <p:cNvSpPr/>
          <p:nvPr/>
        </p:nvSpPr>
        <p:spPr>
          <a:xfrm>
            <a:off x="4581801" y="1206500"/>
            <a:ext cx="6797115" cy="5080000"/>
          </a:xfrm>
          <a:prstGeom prst="rect">
            <a:avLst/>
          </a:prstGeom>
          <a:solidFill>
            <a:srgbClr val="FCFCFA"/>
          </a:solidFill>
          <a:ln w="9525">
            <a:solidFill>
              <a:srgbClr val="D5DCE4"/>
            </a:solidFill>
            <a:prstDash val="solid"/>
          </a:ln>
        </p:spPr>
      </p:sp>
      <p:sp>
        <p:nvSpPr>
          <p:cNvPr id="7" name="Shape 4"/>
          <p:cNvSpPr/>
          <p:nvPr/>
        </p:nvSpPr>
        <p:spPr>
          <a:xfrm>
            <a:off x="4581801" y="1206500"/>
            <a:ext cx="38099" cy="5080000"/>
          </a:xfrm>
          <a:prstGeom prst="rect">
            <a:avLst/>
          </a:prstGeom>
          <a:solidFill>
            <a:srgbClr val="1B6FA8"/>
          </a:solidFill>
          <a:ln/>
        </p:spPr>
      </p:sp>
      <p:sp>
        <p:nvSpPr>
          <p:cNvPr id="8" name="Text 5"/>
          <p:cNvSpPr/>
          <p:nvPr/>
        </p:nvSpPr>
        <p:spPr>
          <a:xfrm>
            <a:off x="4746897" y="1308100"/>
            <a:ext cx="6505022"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document produit.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deux parties et leurs sous-parties, dans 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numérotation de l’ARMP</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avec les numéros de page.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Dans le Word, c’est une table des matières, mise à jour à l’ouverture.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RG-DAO-30 · RG-DAO-31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 procédure en remise électronique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Quand les offres seront remises en ligne, la fiche prépare aussi ceux qui ouvriront les offres : la commission d’appel d’offres, le responsable de la procédure et la cérémonie des clés.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d’appel d’offres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d’appel d’offr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 pour elle.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décision de nomination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(référence, date) et les membres : des agents de l’entité, au plus un expert de l’objet, un seul président.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membre reçoit par courriel une invitation à activer son compte, puis publie sa part de la clé qui ouvrira les offres.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décision signée se joint en PDF ; sans elle, la commission porte un avertissement.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RG-DAO-55</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procédures en ligne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rocédures en lign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sur le Poste d’administration.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Toutes les procédures en remise électronique,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à traiter d’abord</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celles sans responsable, celles dont le PV est à signer.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Pour chacune : l’état, le calendrier (avis, date limite, ouverture), la commission et la cérémonie, la séance, le responsable.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se désigne depuis la fiche.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RG-DAO-57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RESPONSABLE DE LA PROCÉDURE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paramètres internes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aramètres interne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 seul.</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 que la plateforme sait de la procédure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sans jamais l’imprimer</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membres détenteurs d’une part de clé, le nombre de parts, le quorum de déchiffrement, la date de la cérémonie, le dépositaire de la part de secours.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membres se lisent ici, ils ne se choisissent pas : ils viennent de la décision de la PRMP.</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avertissement quand le quorum égale le nombre de membres : une seule part perdue rendrait les offres illisibles.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RG-DAO-56 · RG-DAO-58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RESPONSABLE DE LA PROCÉDURE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signature de l’offre et la cérémonie des clés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ignature de l’offre et la cérémonie des clé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Signature de l’offre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 le dépôt scellé vaut signature pendant la procédure ; l’attributaire remet ensuite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original signé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son acte d’engagement avant la signature du marché.</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signature électronique certifiée est réservée : elle n’est pas encore en service.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Plus bas, la cérémonie des clés close (3 parts, quorum 2), et l’empreinte de chaque clé publiée.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RG-DAO-51 · RG-DAO-58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fiche vue par l’Administrateur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fiche vue par l’Administrateu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du dossier, en lecture : cadrage, informations, reprises, contrôles, versions figées (ici sept versions, en remise papier).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Deux gestes qui lui sont propres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désigner le responsable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de la procédure et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migrer le mode de remise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RG-DAO-47 · RG-DAO-57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ADMINISTRATEUR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Migrer le mode de remise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Migrer le mode de remis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L’Administrateur seul.</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migration fait passer une fiche figée en papier à la remise électronique : elle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ouvre une révision</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 version validée reste intacte.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motif est obligatoire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la migration est tracée au journal du plan et du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PRMP complète ensuite ce que le nouveau mode exige, puis valide la nouvelle version.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RG-DAO-47 · RG-DAO-48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Examiner, publier, répondre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 Commission examine le dossier créé depuis la fiche. Après son avis favorable, l’avis se publie ; les candidats paient, retirent le DAO et posent leurs questions, sous le regard de la PRMP.</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MEMBRE DE LA COMMISSION</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lit la fiche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lit la fich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 qui examine le dossier.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fiche marché du dossier examiné,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 lecture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 cadrage, les informations saisies par la PRMP, les reprises, le bilan des contrôles et les documents produits.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versions figées, avec leur date : la Commission sait quelle version elle examine.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RG-DAO-36 · RG-DAO-37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L’avis spécifique et son projet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vis spécifique et son proje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signé avec un avis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favorable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l’avis à publier s’imprime ; il reprend la dernière version validée de la fiche. Chaque impression est conservée.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Avant cela, le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projet d’avis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(PDF, Word) se lit dès la validation, en filigrane « PROJET » : il ne lance rien.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relecture des mentions du modèle type ; la déclaration sans suite se demande depuis la même page.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RG-DAO-38 · RG-DAO-53 · RG-DAO-54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reçus des frais de dossier</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reçus des frais de dossier">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ou son UGPM.</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Chaque entreprise dépose le reçu de son versement sur le compte de l’ARMP ; elle ne retire le dossier qu’une fois le reçu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validé</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montant inférieur aux frais est signalé ; un refus porte son motif, et l’entreprise dépose un nouveau reçu.</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décision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ne se reprend pas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l’écran invite à comparer au relevé de l’ARMP avant de décider.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RG-DAO-59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registre des retraits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registre des retrai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candidats qui ont retiré le dossier en ligne, du plus ancien au plus récent : date, compte, entreprise, NIF, document, version, reçu des frais.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C’est ce registre qui ouvre le droit de poser une question.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RG-DAO-60 · RG-DAO-49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DAO · PRMP · MANUEL RÉVISÉ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questions des candidats</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questions des candidats">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 l’UGPM lit sans répondre.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candidats ayant retiré le dossier posent leurs questions jusqu’à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dix jours avant la date limite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(art. 35-II) ; l’écran dit quand elles sont closes.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réponse est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diffusée dès son enregistrement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sur la page publique de la procédure, sans le nom de l’auteur, et à chaque candidat ayant retiré le dossier.</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Sur cette procédure de démonstration, aucune question n’a été posée.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RG-DAO-49 · RG-DAO-50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seule saisie, aucune contradiction</a:t>
            </a:r>
            <a:endParaRPr lang="en-US" sz="1500" dirty="0"/>
          </a:p>
        </p:txBody>
      </p:sp>
      <p:sp>
        <p:nvSpPr>
          <p:cNvPr id="7" name="Text 5"/>
          <p:cNvSpPr/>
          <p:nvPr/>
        </p:nvSpPr>
        <p:spPr>
          <a:xfrm>
            <a:off x="952476"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Ce que le plan de passation dit est repris et verrouillé ; une information saisie dans la fiche se reporte dans tous les documents qui l’utilisent.</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documents types de l’ARMP</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texte officiel est repris tel quel ; seuls les blancs sont remplis. Un modèle illisible arrête la production : un document ne sort jamais faux en silence.</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Ce qui est examiné est ce qui est retiré</a:t>
            </a:r>
            <a:endParaRPr lang="en-US" sz="1500" dirty="0"/>
          </a:p>
        </p:txBody>
      </p:sp>
      <p:sp>
        <p:nvSpPr>
          <p:cNvPr id="15" name="Text 13"/>
          <p:cNvSpPr/>
          <p:nvPr/>
        </p:nvSpPr>
        <p:spPr>
          <a:xfrm>
            <a:off x="8098164" y="17653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La version validée est figée ; ses documents ne sont jamais régénérés. Toute correction passe par une nouvelle version, tracée.</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délais de la loi vérifiés</a:t>
            </a:r>
            <a:endParaRPr lang="en-US" sz="1500" dirty="0"/>
          </a:p>
        </p:txBody>
      </p:sp>
      <p:sp>
        <p:nvSpPr>
          <p:cNvPr id="19" name="Text 17"/>
          <p:cNvSpPr/>
          <p:nvPr/>
        </p:nvSpPr>
        <p:spPr>
          <a:xfrm>
            <a:off x="952476"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 délai de publicité (art. 35-II) est contrôlé à la validation de la fiche et à l’impression de l’avis ; l’avis ne s’imprime pas sans DAO complet (art. 31).</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mode de remise qui ne bouge plus</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Papier ou électronique, le mode est fixé dès la première validation ; seule une migration motivée de l’Administrateur le change, avant tout dépôt en ligne.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L’égalité entre candidats</a:t>
            </a:r>
            <a:endParaRPr lang="en-US" sz="1500" dirty="0"/>
          </a:p>
        </p:txBody>
      </p:sp>
      <p:sp>
        <p:nvSpPr>
          <p:cNvPr id="27" name="Text 25"/>
          <p:cNvSpPr/>
          <p:nvPr/>
        </p:nvSpPr>
        <p:spPr>
          <a:xfrm>
            <a:off x="8098164" y="39052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Retrait après paiement vérifié, registre des retraits, questions ouvertes jusqu’à J−10 et réponses diffusées à tous, sans nom d’auteur.</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PRÉPARER LE DAO · RECETTE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d’attention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Relevés pendant la refonte de la présentation (14/10) : « Confirmée » = constatée sur l’écran capturé ; « Expliquée » = effet des données de recette ; « À examiner » = cause à établir.</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468880"/>
                <a:gridCol w="6309360"/>
                <a:gridCol w="1188720"/>
                <a:gridCol w="1463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Écran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Statut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Piste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04 · Paramètres internes (40)</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Mentions internes visibles (« arbitrage du pilote, 04/10 », « (règle 8) ») ; adresse du dépositaire sous « Contact », champ obligatoire vide.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E3AE2E"/>
                          </a:solidFill>
                          <a:latin typeface="Segoe UI" pitchFamily="34" charset="0"/>
                          <a:ea typeface="Segoe UI" pitchFamily="34" charset="-122"/>
                          <a:cs typeface="Segoe UI" pitchFamily="34" charset="-120"/>
                        </a:rPr>
                        <a:t>À examiner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Front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A</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A — Les règles de gestion</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règles que l’application applique : chacune cite sa source (règles de gestion du serveur, contrats, manuel de contrôle révisé) et les écrans où elle s’applique.</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04 · Préparer le DAO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de gestion, en un tableau</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60 règles</a:t>
            </a:r>
            <a:pPr indent="0" marL="0">
              <a:buNone/>
            </a:pPr>
            <a:r>
              <a:rPr lang="en-US" sz="1300" dirty="0">
                <a:solidFill>
                  <a:srgbClr val="465568"/>
                </a:solidFill>
                <a:latin typeface="Segoe UI" pitchFamily="34" charset="0"/>
                <a:ea typeface="Segoe UI" pitchFamily="34" charset="-122"/>
                <a:cs typeface="Segoe UI" pitchFamily="34" charset="-120"/>
              </a:rPr>
              <a:t>, groupées par partie et par thème. Chaque écran de la présentation cite celles qu’il applique.</a:t>
            </a:r>
            <a:endParaRPr lang="en-US" sz="13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651760"/>
                <a:gridCol w="822960"/>
                <a:gridCol w="795528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Partie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Thèmes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050" b="1" dirty="0">
                          <a:solidFill>
                            <a:srgbClr val="1B2A3A"/>
                          </a:solidFill>
                          <a:latin typeface="Segoe UI" pitchFamily="34" charset="0"/>
                          <a:ea typeface="Segoe UI" pitchFamily="34" charset="-122"/>
                          <a:cs typeface="Segoe UI" pitchFamily="34" charset="-120"/>
                        </a:rPr>
                        <a:t>04 · Préparer le DAO</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50" b="1" dirty="0">
                          <a:solidFill>
                            <a:srgbClr val="1B6FA8"/>
                          </a:solidFill>
                          <a:latin typeface="Segoe UI" pitchFamily="34" charset="0"/>
                          <a:ea typeface="Segoe UI" pitchFamily="34" charset="-122"/>
                          <a:cs typeface="Segoe UI" pitchFamily="34" charset="-120"/>
                        </a:rPr>
                        <a:t>60</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50" dirty="0">
                          <a:solidFill>
                            <a:srgbClr val="465568"/>
                          </a:solidFill>
                          <a:latin typeface="Segoe UI" pitchFamily="34" charset="0"/>
                          <a:ea typeface="Segoe UI" pitchFamily="34" charset="-122"/>
                          <a:cs typeface="Segoe UI" pitchFamily="34" charset="-120"/>
                        </a:rPr>
                        <a:t>Préparer une fiche : qui, et sur quelle ligne · Les deux axes de la fiche viennent du plan · Cadrer, saisir, contrôler · Les lots, le besoin, les formulaires du candidat · Valider, produire, réviser · Le DAO complet · Après la validation : le dossier, la rectification, la publicité · L’import du DAO · Le mode de remise (manuel révisé) · Les questions des candidats (manuel révisé) · La procédure en remise électronique · Le retrait du DAO</a:t>
                      </a:r>
                      <a:endParaRPr lang="en-US" sz="9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Préparer une fiche : qui, et sur quelle ligne (1/2)</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fiche par dossier, versionnée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appel d’offres a sa fiche, rattachée à une ligne du plan. Les informations reprises du plan sont </a:t>
                      </a:r>
                      <a:pPr indent="0" marL="0">
                        <a:buNone/>
                      </a:pPr>
                      <a:r>
                        <a:rPr lang="en-US" sz="1100" b="1" dirty="0">
                          <a:solidFill>
                            <a:srgbClr val="1B2A3A"/>
                          </a:solidFill>
                          <a:latin typeface="Segoe UI" pitchFamily="34" charset="0"/>
                          <a:ea typeface="Segoe UI" pitchFamily="34" charset="-122"/>
                          <a:cs typeface="Segoe UI" pitchFamily="34" charset="-120"/>
                        </a:rPr>
                        <a:t>relues à chaque ouverture</a:t>
                      </a:r>
                      <a:pPr indent="0" marL="0">
                        <a:buNone/>
                      </a:pPr>
                      <a:r>
                        <a:rPr lang="en-US" sz="1100" dirty="0">
                          <a:solidFill>
                            <a:srgbClr val="1B2A3A"/>
                          </a:solidFill>
                          <a:latin typeface="Segoe UI" pitchFamily="34" charset="0"/>
                          <a:ea typeface="Segoe UI" pitchFamily="34" charset="-122"/>
                          <a:cs typeface="Segoe UI" pitchFamily="34" charset="-120"/>
                        </a:rPr>
                        <a:t> : elles se corrigent dans le plan, jamais dans la fiche.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Qui prépare, qui valide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a:t>
                      </a:r>
                      <a:pPr indent="0" marL="0">
                        <a:buNone/>
                      </a:pPr>
                      <a:r>
                        <a:rPr lang="en-US" sz="1100" b="1" dirty="0">
                          <a:solidFill>
                            <a:srgbClr val="1B2A3A"/>
                          </a:solidFill>
                          <a:latin typeface="Segoe UI" pitchFamily="34" charset="0"/>
                          <a:ea typeface="Segoe UI" pitchFamily="34" charset="-122"/>
                          <a:cs typeface="Segoe UI" pitchFamily="34" charset="-120"/>
                        </a:rPr>
                        <a:t>PRMP propriétaire du plan et son UGPM</a:t>
                      </a:r>
                      <a:pPr indent="0" marL="0">
                        <a:buNone/>
                      </a:pPr>
                      <a:r>
                        <a:rPr lang="en-US" sz="1100" dirty="0">
                          <a:solidFill>
                            <a:srgbClr val="1B2A3A"/>
                          </a:solidFill>
                          <a:latin typeface="Segoe UI" pitchFamily="34" charset="0"/>
                          <a:ea typeface="Segoe UI" pitchFamily="34" charset="-122"/>
                          <a:cs typeface="Segoe UI" pitchFamily="34" charset="-120"/>
                        </a:rPr>
                        <a:t> préparent. La </a:t>
                      </a:r>
                      <a:pPr indent="0" marL="0">
                        <a:buNone/>
                      </a:pPr>
                      <a:r>
                        <a:rPr lang="en-US" sz="1100" b="1" dirty="0">
                          <a:solidFill>
                            <a:srgbClr val="1B2A3A"/>
                          </a:solidFill>
                          <a:latin typeface="Segoe UI" pitchFamily="34" charset="0"/>
                          <a:ea typeface="Segoe UI" pitchFamily="34" charset="-122"/>
                          <a:cs typeface="Segoe UI" pitchFamily="34" charset="-120"/>
                        </a:rPr>
                        <a:t>PRMP seule</a:t>
                      </a:r>
                      <a:pPr indent="0" marL="0">
                        <a:buNone/>
                      </a:pPr>
                      <a:r>
                        <a:rPr lang="en-US" sz="1100" dirty="0">
                          <a:solidFill>
                            <a:srgbClr val="1B2A3A"/>
                          </a:solidFill>
                          <a:latin typeface="Segoe UI" pitchFamily="34" charset="0"/>
                          <a:ea typeface="Segoe UI" pitchFamily="34" charset="-122"/>
                          <a:cs typeface="Segoe UI" pitchFamily="34" charset="-120"/>
                        </a:rPr>
                        <a:t> valide la fiche et crée le dossier à soumettre.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conditions pour ouvrir une fiche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ligne doit appartenir au périmètre de la PRMP (sinon elle n’apprend rien d’autre), sans vacance de son mandat ; ne pas être retirée ; appartenir à la dernière version du plan ; avoir un mode de passation qui appelle un DAO ; et le plan doit avoir un </a:t>
                      </a:r>
                      <a:pPr indent="0" marL="0">
                        <a:buNone/>
                      </a:pPr>
                      <a:r>
                        <a:rPr lang="en-US" sz="1100" b="1" dirty="0">
                          <a:solidFill>
                            <a:srgbClr val="1B2A3A"/>
                          </a:solidFill>
                          <a:latin typeface="Segoe UI" pitchFamily="34" charset="0"/>
                          <a:ea typeface="Segoe UI" pitchFamily="34" charset="-122"/>
                          <a:cs typeface="Segoe UI" pitchFamily="34" charset="-120"/>
                        </a:rPr>
                        <a:t>PV signé favorable</a:t>
                      </a:r>
                      <a:pPr indent="0" marL="0">
                        <a:buNone/>
                      </a:pPr>
                      <a:r>
                        <a:rPr lang="en-US" sz="1100" dirty="0">
                          <a:solidFill>
                            <a:srgbClr val="1B2A3A"/>
                          </a:solidFill>
                          <a:latin typeface="Segoe UI" pitchFamily="34" charset="0"/>
                          <a:ea typeface="Segoe UI" pitchFamily="34" charset="-122"/>
                          <a:cs typeface="Segoe UI" pitchFamily="34" charset="-120"/>
                        </a:rPr>
                        <a:t> (ou favorable avec réserves levées), ou être réputé approuvé (art. 26-IV). Une seule fiche par ligne.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mode de passation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Il doit être rattaché au type « appel d’offres » par l’Administrateur. Depuis le 08/10, le mode « Appel à manifestation d’intérêt » l’est aussi : les lignes de prestations intellectuelles en AMI ouvrent leur fiche comme les autres.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ligne à travers les versions du plan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fiche suit sa ligne jusqu’à la </a:t>
                      </a:r>
                      <a:pPr indent="0" marL="0">
                        <a:buNone/>
                      </a:pPr>
                      <a:r>
                        <a:rPr lang="en-US" sz="1100" b="1" dirty="0">
                          <a:solidFill>
                            <a:srgbClr val="1B2A3A"/>
                          </a:solidFill>
                          <a:latin typeface="Segoe UI" pitchFamily="34" charset="0"/>
                          <a:ea typeface="Segoe UI" pitchFamily="34" charset="-122"/>
                          <a:cs typeface="Segoe UI" pitchFamily="34" charset="-120"/>
                        </a:rPr>
                        <a:t>dernière version signée</a:t>
                      </a:r>
                      <a:pPr indent="0" marL="0">
                        <a:buNone/>
                      </a:pPr>
                      <a:r>
                        <a:rPr lang="en-US" sz="1100" dirty="0">
                          <a:solidFill>
                            <a:srgbClr val="1B2A3A"/>
                          </a:solidFill>
                          <a:latin typeface="Segoe UI" pitchFamily="34" charset="0"/>
                          <a:ea typeface="Segoe UI" pitchFamily="34" charset="-122"/>
                          <a:cs typeface="Segoe UI" pitchFamily="34" charset="-120"/>
                        </a:rPr>
                        <a:t> du plan ; une mise à jour encore en instruction ne la change pas. Une ligne retirée entre-temps est signalée.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Fiche marché d’un appel d’offres (DAO), lot 1 · regles-gestion.md § Fiche marché d’un appel d’offres (DAO), lot 1 ; § Le dossier soumis — manuel révisé, lot 2, tranche R6b · regles-gestion.md § 3.8 — Le mode « Appel à manifestation d’intérêt » ouvre une fiche (2026-10-08)</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Préparer une fiche : qui, et sur quelle ligne (2/2)</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fiche ouverte par erreur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Elle se </a:t>
                      </a:r>
                      <a:pPr indent="0" marL="0">
                        <a:buNone/>
                      </a:pPr>
                      <a:r>
                        <a:rPr lang="en-US" sz="1100" b="1" dirty="0">
                          <a:solidFill>
                            <a:srgbClr val="1B2A3A"/>
                          </a:solidFill>
                          <a:latin typeface="Segoe UI" pitchFamily="34" charset="0"/>
                          <a:ea typeface="Segoe UI" pitchFamily="34" charset="-122"/>
                          <a:cs typeface="Segoe UI" pitchFamily="34" charset="-120"/>
                        </a:rPr>
                        <a:t>supprime</a:t>
                      </a:r>
                      <a:pPr indent="0" marL="0">
                        <a:buNone/>
                      </a:pPr>
                      <a:r>
                        <a:rPr lang="en-US" sz="1100" dirty="0">
                          <a:solidFill>
                            <a:srgbClr val="1B2A3A"/>
                          </a:solidFill>
                          <a:latin typeface="Segoe UI" pitchFamily="34" charset="0"/>
                          <a:ea typeface="Segoe UI" pitchFamily="34" charset="-122"/>
                          <a:cs typeface="Segoe UI" pitchFamily="34" charset="-120"/>
                        </a:rPr>
                        <a:t> tant qu’elle n’a pas d’histoire (jamais validée, sans document, sans dossier) ; la ligne redevient disponible. Une fiche validée ne se supprime pas : elle se </a:t>
                      </a:r>
                      <a:pPr indent="0" marL="0">
                        <a:buNone/>
                      </a:pPr>
                      <a:r>
                        <a:rPr lang="en-US" sz="1100" b="1" dirty="0">
                          <a:solidFill>
                            <a:srgbClr val="1B2A3A"/>
                          </a:solidFill>
                          <a:latin typeface="Segoe UI" pitchFamily="34" charset="0"/>
                          <a:ea typeface="Segoe UI" pitchFamily="34" charset="-122"/>
                          <a:cs typeface="Segoe UI" pitchFamily="34" charset="-120"/>
                        </a:rPr>
                        <a:t>révise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Fiche marché d’un appel d’offres (DAO), lot 1</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deux axes de la fiche viennent du plan</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catégorie = la nature de la ligne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Fournitures et services, travaux, ou prestations intellectuelles : la catégorie se déduit de la nature de la ligne, selon la correspondance que tient l’Administrateur ; ce n’est jamais une réponse du cadrage. Sans nature, ou sans correspondance, la création est refusée avec son motif.</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forme = la forme de la ligne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Quantité fixe, à commandes ou contrat-cadre : la forme est lue sur la ligne courante du plan et figure parmi les informations reprises ; la question n’est plus posée au cadrage.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RG-DAO-09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Ligne sans forme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fiche se lit, mais ne se crée ni ne s’écrit : le message nomme l’information « Forme du marché » à compléter dans le plan. Aucune valeur par défaut ne décide à la place du plan.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Fiche saisie sous une autre catégorie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la ligne change de catégorie, un brouillon est signalé et se réaligne en reprenant son cadrage ; une version validée ne change ni de numéro ni de contenu.</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règles de la catégorie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fiche se valide avec les règles de </a:t>
                      </a:r>
                      <a:pPr indent="0" marL="0">
                        <a:buNone/>
                      </a:pPr>
                      <a:r>
                        <a:rPr lang="en-US" sz="1100" b="1" dirty="0">
                          <a:solidFill>
                            <a:srgbClr val="1B2A3A"/>
                          </a:solidFill>
                          <a:latin typeface="Segoe UI" pitchFamily="34" charset="0"/>
                          <a:ea typeface="Segoe UI" pitchFamily="34" charset="-122"/>
                          <a:cs typeface="Segoe UI" pitchFamily="34" charset="-120"/>
                        </a:rPr>
                        <a:t>sa</a:t>
                      </a:r>
                      <a:pPr indent="0" marL="0">
                        <a:buNone/>
                      </a:pPr>
                      <a:r>
                        <a:rPr lang="en-US" sz="1100" dirty="0">
                          <a:solidFill>
                            <a:srgbClr val="1B2A3A"/>
                          </a:solidFill>
                          <a:latin typeface="Segoe UI" pitchFamily="34" charset="0"/>
                          <a:ea typeface="Segoe UI" pitchFamily="34" charset="-122"/>
                          <a:cs typeface="Segoe UI" pitchFamily="34" charset="-120"/>
                        </a:rPr>
                        <a:t> catégorie : quand deux catégories posent la même question (allotissement, forme de prix…), c’est la définition de la catégorie de la fiche qui s’applique.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Les trois catégories de fiche DAO (lot 5)</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Cadrer, saisir, contrôler (1/2)</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cadrage ouvre et ferme des rubriques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information peut dépendre d’une réponse du cadrage. Si la condition n’est pas remplie, ou si la question est sans réponse, l’information est ignorée et n’entre pas dans le bilan.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Enregistrer n’est pas valider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bloc s’enregistre </a:t>
                      </a:r>
                      <a:pPr indent="0" marL="0">
                        <a:buNone/>
                      </a:pPr>
                      <a:r>
                        <a:rPr lang="en-US" sz="1100" b="1" dirty="0">
                          <a:solidFill>
                            <a:srgbClr val="1B2A3A"/>
                          </a:solidFill>
                          <a:latin typeface="Segoe UI" pitchFamily="34" charset="0"/>
                          <a:ea typeface="Segoe UI" pitchFamily="34" charset="-122"/>
                          <a:cs typeface="Segoe UI" pitchFamily="34" charset="-120"/>
                        </a:rPr>
                        <a:t>incomplet</a:t>
                      </a:r>
                      <a:pPr indent="0" marL="0">
                        <a:buNone/>
                      </a:pPr>
                      <a:r>
                        <a:rPr lang="en-US" sz="1100" dirty="0">
                          <a:solidFill>
                            <a:srgbClr val="1B2A3A"/>
                          </a:solidFill>
                          <a:latin typeface="Segoe UI" pitchFamily="34" charset="0"/>
                          <a:ea typeface="Segoe UI" pitchFamily="34" charset="-122"/>
                          <a:cs typeface="Segoe UI" pitchFamily="34" charset="-120"/>
                        </a:rPr>
                        <a:t>. Une valeur illisible (montant négatif, option inconnue) est refusée information par information ; une information obligatoire manquante ne bloque qu’au bilan.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bilan des contrôles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Recalculé à chaque ouverture : informations obligatoires, montants positifs, ordre des dates, garantie valable plus longtemps que les offres, avance d’au plus 20 % et garantie de restitution au-delà de 5 %, paiement du forfait 60/40 ; s’y ajoutent des avertissements. Un contrôle bloquant ferme la validation.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On ne demande que ce qui sert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fiche ne demande que ce que le dossier </a:t>
                      </a:r>
                      <a:pPr indent="0" marL="0">
                        <a:buNone/>
                      </a:pPr>
                      <a:r>
                        <a:rPr lang="en-US" sz="1100" b="1" dirty="0">
                          <a:solidFill>
                            <a:srgbClr val="1B2A3A"/>
                          </a:solidFill>
                          <a:latin typeface="Segoe UI" pitchFamily="34" charset="0"/>
                          <a:ea typeface="Segoe UI" pitchFamily="34" charset="-122"/>
                          <a:cs typeface="Segoe UI" pitchFamily="34" charset="-120"/>
                        </a:rPr>
                        <a:t>imprime</a:t>
                      </a:r>
                      <a:pPr indent="0" marL="0">
                        <a:buNone/>
                      </a:pPr>
                      <a:r>
                        <a:rPr lang="en-US" sz="1100" dirty="0">
                          <a:solidFill>
                            <a:srgbClr val="1B2A3A"/>
                          </a:solidFill>
                          <a:latin typeface="Segoe UI" pitchFamily="34" charset="0"/>
                          <a:ea typeface="Segoe UI" pitchFamily="34" charset="-122"/>
                          <a:cs typeface="Segoe UI" pitchFamily="34" charset="-120"/>
                        </a:rPr>
                        <a:t> ou ce qu’un </a:t>
                      </a:r>
                      <a:pPr indent="0" marL="0">
                        <a:buNone/>
                      </a:pPr>
                      <a:r>
                        <a:rPr lang="en-US" sz="1100" b="1" dirty="0">
                          <a:solidFill>
                            <a:srgbClr val="1B2A3A"/>
                          </a:solidFill>
                          <a:latin typeface="Segoe UI" pitchFamily="34" charset="0"/>
                          <a:ea typeface="Segoe UI" pitchFamily="34" charset="-122"/>
                          <a:cs typeface="Segoe UI" pitchFamily="34" charset="-120"/>
                        </a:rPr>
                        <a:t>contrôle lit</a:t>
                      </a:r>
                      <a:pPr indent="0" marL="0">
                        <a:buNone/>
                      </a:pPr>
                      <a:r>
                        <a:rPr lang="en-US" sz="1100" dirty="0">
                          <a:solidFill>
                            <a:srgbClr val="1B2A3A"/>
                          </a:solidFill>
                          <a:latin typeface="Segoe UI" pitchFamily="34" charset="0"/>
                          <a:ea typeface="Segoe UI" pitchFamily="34" charset="-122"/>
                          <a:cs typeface="Segoe UI" pitchFamily="34" charset="-120"/>
                        </a:rPr>
                        <a:t> : 25 informations retirées en fournitures, 17 en travaux (61 en contrat-cadre de travaux), 13 en prestations intellectuelles. Rien de ce qui avait été saisi n’est perdu.</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version validée n’est jamais convertie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le référentiel de la fiche change, l’ancienne valeur reste lisible dans sa version, n’est pas reprise à la révision suivante, et se ressaisit.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Fiche marché d’un appel d’offres (DAO), lot 1 · regles-gestion.md § Fournitures : ce que la fiche demande, le DAO l’imprime · regles-gestion.md § Le besoin et les formulaires du candidat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Cadrer, saisir, contrôler (2/2)</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garantie de soumission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Plusieurs formes peuvent être admises (au moins une si la garantie est exigée) ; le candidat choisit. Son taux, rapporté au montant de chaque lot, est comparé aux bornes réglées par l’Administrateur (référence 2 %) : un </a:t>
                      </a:r>
                      <a:pPr indent="0" marL="0">
                        <a:buNone/>
                      </a:pPr>
                      <a:r>
                        <a:rPr lang="en-US" sz="1100" b="1" dirty="0">
                          <a:solidFill>
                            <a:srgbClr val="1B2A3A"/>
                          </a:solidFill>
                          <a:latin typeface="Segoe UI" pitchFamily="34" charset="0"/>
                          <a:ea typeface="Segoe UI" pitchFamily="34" charset="-122"/>
                          <a:cs typeface="Segoe UI" pitchFamily="34" charset="-120"/>
                        </a:rPr>
                        <a:t>avertissement</a:t>
                      </a:r>
                      <a:pPr indent="0" marL="0">
                        <a:buNone/>
                      </a:pPr>
                      <a:r>
                        <a:rPr lang="en-US" sz="1100" dirty="0">
                          <a:solidFill>
                            <a:srgbClr val="1B2A3A"/>
                          </a:solidFill>
                          <a:latin typeface="Segoe UI" pitchFamily="34" charset="0"/>
                          <a:ea typeface="Segoe UI" pitchFamily="34" charset="-122"/>
                          <a:cs typeface="Segoe UI" pitchFamily="34" charset="-120"/>
                        </a:rPr>
                        <a:t>, jamais un blocage.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délai de publicité de la loi</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Entre la publication de l’avis et la date limite de remise, la loi impose 30 jours pour l’appel d’offres ouvert national et 45 jours pour l’international (art. 35-II), le jour de départ non compté. Le délai est vérifié à la </a:t>
                      </a:r>
                      <a:pPr indent="0" marL="0">
                        <a:buNone/>
                      </a:pPr>
                      <a:r>
                        <a:rPr lang="en-US" sz="1100" b="1" dirty="0">
                          <a:solidFill>
                            <a:srgbClr val="1B2A3A"/>
                          </a:solidFill>
                          <a:latin typeface="Segoe UI" pitchFamily="34" charset="0"/>
                          <a:ea typeface="Segoe UI" pitchFamily="34" charset="-122"/>
                          <a:cs typeface="Segoe UI" pitchFamily="34" charset="-120"/>
                        </a:rPr>
                        <a:t>validation de la fiche</a:t>
                      </a:r>
                      <a:pPr indent="0" marL="0">
                        <a:buNone/>
                      </a:pPr>
                      <a:r>
                        <a:rPr lang="en-US" sz="1100" dirty="0">
                          <a:solidFill>
                            <a:srgbClr val="1B2A3A"/>
                          </a:solidFill>
                          <a:latin typeface="Segoe UI" pitchFamily="34" charset="0"/>
                          <a:ea typeface="Segoe UI" pitchFamily="34" charset="-122"/>
                          <a:cs typeface="Segoe UI" pitchFamily="34" charset="-120"/>
                        </a:rPr>
                        <a:t> et à l’</a:t>
                      </a:r>
                      <a:pPr indent="0" marL="0">
                        <a:buNone/>
                      </a:pPr>
                      <a:r>
                        <a:rPr lang="en-US" sz="1100" b="1" dirty="0">
                          <a:solidFill>
                            <a:srgbClr val="1B2A3A"/>
                          </a:solidFill>
                          <a:latin typeface="Segoe UI" pitchFamily="34" charset="0"/>
                          <a:ea typeface="Segoe UI" pitchFamily="34" charset="-122"/>
                          <a:cs typeface="Segoe UI" pitchFamily="34" charset="-120"/>
                        </a:rPr>
                        <a:t>impression de l’avis</a:t>
                      </a:r>
                      <a:pPr indent="0" marL="0">
                        <a:buNone/>
                      </a:pPr>
                      <a:r>
                        <a:rPr lang="en-US" sz="1100" dirty="0">
                          <a:solidFill>
                            <a:srgbClr val="1B2A3A"/>
                          </a:solidFill>
                          <a:latin typeface="Segoe UI" pitchFamily="34" charset="0"/>
                          <a:ea typeface="Segoe UI" pitchFamily="34" charset="-122"/>
                          <a:cs typeface="Segoe UI" pitchFamily="34" charset="-120"/>
                        </a:rPr>
                        <a:t> : non respecté, il refuse l’une et l’autre.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Fiche marché d’un appel d’offres (DAO), lot 1 · regles-gestion.md § Le dossier soumis — manuel révisé, lot 2, tranche R6a (2026-10-13)</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lots, le besoin, les formulaires du candidat (1/2)</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qui varie par lot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montant de la garantie de soumission, les montants minimum et maximum, le délai de livraison, le besoin… Le nombre de lots est celui du </a:t>
                      </a:r>
                      <a:pPr indent="0" marL="0">
                        <a:buNone/>
                      </a:pPr>
                      <a:r>
                        <a:rPr lang="en-US" sz="1100" b="1" dirty="0">
                          <a:solidFill>
                            <a:srgbClr val="1B2A3A"/>
                          </a:solidFill>
                          <a:latin typeface="Segoe UI" pitchFamily="34" charset="0"/>
                          <a:ea typeface="Segoe UI" pitchFamily="34" charset="-122"/>
                          <a:cs typeface="Segoe UI" pitchFamily="34" charset="-120"/>
                        </a:rPr>
                        <a:t>plan</a:t>
                      </a:r>
                      <a:pPr indent="0" marL="0">
                        <a:buNone/>
                      </a:pPr>
                      <a:r>
                        <a:rPr lang="en-US" sz="1100" dirty="0">
                          <a:solidFill>
                            <a:srgbClr val="1B2A3A"/>
                          </a:solidFill>
                          <a:latin typeface="Segoe UI" pitchFamily="34" charset="0"/>
                          <a:ea typeface="Segoe UI" pitchFamily="34" charset="-122"/>
                          <a:cs typeface="Segoe UI" pitchFamily="34" charset="-120"/>
                        </a:rPr>
                        <a:t> : la fiche n’en invente pas.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RG-DAO-19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Obligatoire pour chaque lot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information obligatoire par lot l’est pour </a:t>
                      </a:r>
                      <a:pPr indent="0" marL="0">
                        <a:buNone/>
                      </a:pPr>
                      <a:r>
                        <a:rPr lang="en-US" sz="1100" b="1" dirty="0">
                          <a:solidFill>
                            <a:srgbClr val="1B2A3A"/>
                          </a:solidFill>
                          <a:latin typeface="Segoe UI" pitchFamily="34" charset="0"/>
                          <a:ea typeface="Segoe UI" pitchFamily="34" charset="-122"/>
                          <a:cs typeface="Segoe UI" pitchFamily="34" charset="-120"/>
                        </a:rPr>
                        <a:t>chaque</a:t>
                      </a:r>
                      <a:pPr indent="0" marL="0">
                        <a:buNone/>
                      </a:pPr>
                      <a:r>
                        <a:rPr lang="en-US" sz="1100" dirty="0">
                          <a:solidFill>
                            <a:srgbClr val="1B2A3A"/>
                          </a:solidFill>
                          <a:latin typeface="Segoe UI" pitchFamily="34" charset="0"/>
                          <a:ea typeface="Segoe UI" pitchFamily="34" charset="-122"/>
                          <a:cs typeface="Segoe UI" pitchFamily="34" charset="-120"/>
                        </a:rPr>
                        <a:t> lot : la fiche ne se valide pas tant qu’un lot en manque, et le bilan dit lequel.</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 acte d’engagement par lot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Chacun porte les montants de son lot ; les autres documents sont communs et écrivent la valeur lot par lot (« Lot n° 1 : … ; Lot n° 2 : … »).</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besoin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Fournitures et services : article par article, lot par lot (désignation, unité, quantités, caractéristiques exigées). Travaux : le détail quantitatif et estimatif, par séries. Prestations intellectuelles : pas de besoin par article. La fiche ne se valide pas sans besoin complet.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formulaires du candidat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Produits sur les modèles officiels, seuls les blancs remplis : fiches de renseignements une fois pour le dossier ; modèles de garantie une fois par lot, au montant du lot. Le bordereau des prix et le tableau de conformité sont générés depuis le besoin.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Fiche marché d’un appel d’offres (DAO) · regles-gestion.md § Le besoin et les formulaires du candidat ; § La fiche DAO des travaux · regles-gestion.md § Le besoin et les formulaires du candidat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46</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lots, le besoin, les formulaires du candidat (2/2)</a:t>
            </a:r>
            <a:endParaRPr lang="en-US" sz="2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Valeurs par défaut administrables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durées d’antécédents juridiques (5 ans) et financiers (3 ans) sont recopiées dans la fiche à sa création : changer le défaut ne touche pas les fiches déjà ouvertes.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besoin et les formulaires du candidat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47</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Valider, produire, réviser (1/2)</a:t>
            </a:r>
            <a:endParaRPr lang="en-US" sz="2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Valider fige, réviser ouvre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seule valide ; un contrôle bloquant l’empêche. La version validée est figée et reste lisible ; réviser ouvre la version suivante en brouillon, copie de la précédente.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documents naissent à la validation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Jamais sur un brouillon. Ils sont produits </a:t>
                      </a:r>
                      <a:pPr indent="0" marL="0">
                        <a:buNone/>
                      </a:pPr>
                      <a:r>
                        <a:rPr lang="en-US" sz="1100" b="1" dirty="0">
                          <a:solidFill>
                            <a:srgbClr val="1B2A3A"/>
                          </a:solidFill>
                          <a:latin typeface="Segoe UI" pitchFamily="34" charset="0"/>
                          <a:ea typeface="Segoe UI" pitchFamily="34" charset="-122"/>
                          <a:cs typeface="Segoe UI" pitchFamily="34" charset="-120"/>
                        </a:rPr>
                        <a:t>avant</a:t>
                      </a:r>
                      <a:pPr indent="0" marL="0">
                        <a:buNone/>
                      </a:pPr>
                      <a:r>
                        <a:rPr lang="en-US" sz="1100" dirty="0">
                          <a:solidFill>
                            <a:srgbClr val="1B2A3A"/>
                          </a:solidFill>
                          <a:latin typeface="Segoe UI" pitchFamily="34" charset="0"/>
                          <a:ea typeface="Segoe UI" pitchFamily="34" charset="-122"/>
                          <a:cs typeface="Segoe UI" pitchFamily="34" charset="-120"/>
                        </a:rPr>
                        <a:t> de figer la version : si la production échoue, la validation est annulée.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document type de l’ARMP, rempli</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texte fixe est repris tel quel, les blancs remplis par la fiche ; les variantes de rédaction sont choisies par des </a:t>
                      </a:r>
                      <a:pPr indent="0" marL="0">
                        <a:buNone/>
                      </a:pPr>
                      <a:r>
                        <a:rPr lang="en-US" sz="1100" b="1" dirty="0">
                          <a:solidFill>
                            <a:srgbClr val="1B2A3A"/>
                          </a:solidFill>
                          <a:latin typeface="Segoe UI" pitchFamily="34" charset="0"/>
                          <a:ea typeface="Segoe UI" pitchFamily="34" charset="-122"/>
                          <a:cs typeface="Segoe UI" pitchFamily="34" charset="-120"/>
                        </a:rPr>
                        <a:t>conditions écrites dans le modèle</a:t>
                      </a:r>
                      <a:pPr indent="0" marL="0">
                        <a:buNone/>
                      </a:pPr>
                      <a:r>
                        <a:rPr lang="en-US" sz="1100" dirty="0">
                          <a:solidFill>
                            <a:srgbClr val="1B2A3A"/>
                          </a:solidFill>
                          <a:latin typeface="Segoe UI" pitchFamily="34" charset="0"/>
                          <a:ea typeface="Segoe UI" pitchFamily="34" charset="-122"/>
                          <a:cs typeface="Segoe UI" pitchFamily="34" charset="-120"/>
                        </a:rPr>
                        <a:t>. Ce que remplissent le candidat ou la notification reste à compléter. Un modèle illisible empêche le démarrage : un document ne sort jamais faux en silence.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Jamais régénérés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documents d’une version validée sont ce que la Commission a examiné et ce que les candidats ont retiré. Une règle nouvelle des modèles ne vaut que pour les versions validées après elle ; seul l’assemblage du DAO complet peut être refait.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On corrige la fiche, pas son produit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pièce produite par la fiche ne se supprime pas à la main — Administrateur compris — et ne se double pas d’une pièce manuelle du même type.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Fiche marché d’un appel d’offres (DAO), lot 1 · regles-gestion.md § Le DAO complet sur les documents types officiels (lot D) · regles-gestion.md § Le DAO complet : un seul document · regles-gestion.md § Les documents générés (lot 2a)</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48</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Valider, produire, réviser (2/2)</a:t>
            </a:r>
            <a:endParaRPr lang="en-US" sz="2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RG-DAO-29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Montants en lettres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montants s’écrivent en lettres jusqu’aux milliards, dans la fiche comme dans les PV et les lettres.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Fiche marché d’un appel d’offres (DAO), lot 1</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49</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DAO complet (1/2)</a:t>
            </a:r>
            <a:endParaRPr lang="en-US" sz="2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plan du document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Page de garde, sommaire général, deux parties : 1.1 instructions aux candidats, 1.2 données particulières, 1.3 formulaires ; 2.1 acte d’engagement lot par lot, 2.2 cahier des prescriptions spéciales, spécifications techniques et liste des fournitures, 2.3 CCAG. Il est produit à chaque validation, en Word et en PDF.</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Il assemble, il ne réécrit rien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partie est le document que la fiche produit déjà. La page de garde lit sur le plan le financement, l’imputation et le compte.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Où il est servi</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Dans les documents de la fiche ; au dossier soumis à la Commission, dont il est la </a:t>
                      </a:r>
                      <a:pPr indent="0" marL="0">
                        <a:buNone/>
                      </a:pPr>
                      <a:r>
                        <a:rPr lang="en-US" sz="1100" b="1" dirty="0">
                          <a:solidFill>
                            <a:srgbClr val="1B2A3A"/>
                          </a:solidFill>
                          <a:latin typeface="Segoe UI" pitchFamily="34" charset="0"/>
                          <a:ea typeface="Segoe UI" pitchFamily="34" charset="-122"/>
                          <a:cs typeface="Segoe UI" pitchFamily="34" charset="-120"/>
                        </a:rPr>
                        <a:t>pièce unique</a:t>
                      </a:r>
                      <a:pPr indent="0" marL="0">
                        <a:buNone/>
                      </a:pPr>
                      <a:r>
                        <a:rPr lang="en-US" sz="1100" dirty="0">
                          <a:solidFill>
                            <a:srgbClr val="1B2A3A"/>
                          </a:solidFill>
                          <a:latin typeface="Segoe UI" pitchFamily="34" charset="0"/>
                          <a:ea typeface="Segoe UI" pitchFamily="34" charset="-122"/>
                          <a:cs typeface="Segoe UI" pitchFamily="34" charset="-120"/>
                        </a:rPr>
                        <a:t> du DAO ; au retrait par les candidats, après paiement des frais.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qui reste à part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classeurs (bordereau des prix, détail quantitatif, tableau de conformité), l’avis spécifique et les lettres d’invitation. En prestations intellectuelles, le document s’intitule « Dossier de consultation ».</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spécifications techniques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document Word joint par la PRMP ou son UGPM (20 Mo au plus, sans macros), figé à la validation et recopié à la révision. Tant qu’il manque, un </a:t>
                      </a:r>
                      <a:pPr indent="0" marL="0">
                        <a:buNone/>
                      </a:pPr>
                      <a:r>
                        <a:rPr lang="en-US" sz="1100" b="1" dirty="0">
                          <a:solidFill>
                            <a:srgbClr val="1B2A3A"/>
                          </a:solidFill>
                          <a:latin typeface="Segoe UI" pitchFamily="34" charset="0"/>
                          <a:ea typeface="Segoe UI" pitchFamily="34" charset="-122"/>
                          <a:cs typeface="Segoe UI" pitchFamily="34" charset="-120"/>
                        </a:rPr>
                        <a:t>avertissement</a:t>
                      </a:r>
                      <a:pPr indent="0" marL="0">
                        <a:buNone/>
                      </a:pPr>
                      <a:r>
                        <a:rPr lang="en-US" sz="1100" dirty="0">
                          <a:solidFill>
                            <a:srgbClr val="1B2A3A"/>
                          </a:solidFill>
                          <a:latin typeface="Segoe UI" pitchFamily="34" charset="0"/>
                          <a:ea typeface="Segoe UI" pitchFamily="34" charset="-122"/>
                          <a:cs typeface="Segoe UI" pitchFamily="34" charset="-120"/>
                        </a:rPr>
                        <a:t>, non bloquant, le rappelle.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DAO complet : un seul document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50</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DAO complet (2/2)</a:t>
            </a:r>
            <a:endParaRPr lang="en-US" sz="2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pièce ne s’imprime qu’une fois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liste des pièces de l’offre est saisie, le texte libre de la même rubrique n’est plus imprimé. En remise électronique, la liste est exigée : le candidat joint un fichier par pièce.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DAO complet : un seul document</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Après la validation : le dossier, la rectification, la publicité (1/2)</a:t>
            </a:r>
            <a:endParaRPr lang="en-US" sz="2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fiche produit le dossier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crée le dossier depuis la dernière version validée ; un dossier par fiche. Entité, localité et PRMP viennent du plan : rien n’est redemandé. La Commission lit la fiche avec le dossier ; l’examen porte sur les pièces.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rectification est une révision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Jamais un nouveau dossier : la fiche ne se révise pas tant que la Commission tient le dossier ; resoumettre sans avoir revalidé est refusé ; les documents de la révision remplacent les pièces produites, l’ancienne version restant gardée.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L’avis spécifique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Fournitures et travaux : après un PV signé favorable, ou favorable avec réserves une fois levées ; sur la dernière version validée ; chaque impression est conservée. En remise électronique, il exige la cérémonie des clés close. Ce n’est pas une pièce du DAO.</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RG-DAO-39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Prestations intellectuelles : l’AMI</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Pas d’avis public d’appel d’offres : la liste restreinte naît d’un appel à manifestation d’intérêt mené dans l’application (voir la partie 05).</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lettres et la demande de propositions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lettres d’invitation vont aux candidats de la liste restreinte définitive. Le dossier de la demande de propositions ne se crée qu’avec cette liste ; le rapport de présélection signé y est joint d’office.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Fiche marché d’un appel d’offres (DAO), lot 1 · regles-gestion.md § La rectification d’un dossier DAO après le PV (lot C) · regles-gestion.md § Fiche marché d’un appel d’offres (DAO) ; § La remise électronique des offres (2026-10-04) · regles-gestion.md § 3.8 — L’appel à manifestation d’intérêt en ligne · regles-gestion.md § 3.8 — La présélection et la liste restreinte</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Après la validation : le dossier, la rectification, la publicité (2/2)</a:t>
            </a:r>
            <a:endParaRPr lang="en-US" sz="2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Pas d’avis sans DAO complet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L’avis spécifique et les lettres d’invitation ne s’impriment que si le DAO complet de la version validée existe (art. 31) ; il est assemblé à ce moment s’il manque, et l’impression est refusée s’il ne peut l’être.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projet d’avis dès la validation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chaque validation, l’application produit le </a:t>
                      </a:r>
                      <a:pPr indent="0" marL="0">
                        <a:buNone/>
                      </a:pPr>
                      <a:r>
                        <a:rPr lang="en-US" sz="1100" b="1" dirty="0">
                          <a:solidFill>
                            <a:srgbClr val="1B2A3A"/>
                          </a:solidFill>
                          <a:latin typeface="Segoe UI" pitchFamily="34" charset="0"/>
                          <a:ea typeface="Segoe UI" pitchFamily="34" charset="-122"/>
                          <a:cs typeface="Segoe UI" pitchFamily="34" charset="-120"/>
                        </a:rPr>
                        <a:t>projet d’avis</a:t>
                      </a:r>
                      <a:pPr indent="0" marL="0">
                        <a:buNone/>
                      </a:pPr>
                      <a:r>
                        <a:rPr lang="en-US" sz="1100" dirty="0">
                          <a:solidFill>
                            <a:srgbClr val="1B2A3A"/>
                          </a:solidFill>
                          <a:latin typeface="Segoe UI" pitchFamily="34" charset="0"/>
                          <a:ea typeface="Segoe UI" pitchFamily="34" charset="-122"/>
                          <a:cs typeface="Segoe UI" pitchFamily="34" charset="-120"/>
                        </a:rPr>
                        <a:t> (fournitures, travaux) ou le projet de lettre d’invitation (prestations intellectuelles), en filigrane « PROJET », sans publication ni destinataire, et le joint d’office au dossier. Un projet ne lance pas la ligne du plan. L’avis et la lettre doivent porter chaque mention du modèle type ; l’application les vérifie et nomme les écarts.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dossier soumis — manuel révisé, lot 2, tranche R9a (2026-10-14) · regles-gestion.md § Le dossier soumis — manuel révisé, lot 1, tranches R3b et R3c (2026-10-13)</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53</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L’import du DAO</a:t>
            </a:r>
            <a:endParaRPr lang="en-US" sz="2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fiche reste la source de vérité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DAO déjà rédigé (Word, ou PDF issu d’un traitement de texte) peut être importé : ce qu’il dit est seulement </a:t>
                      </a:r>
                      <a:pPr indent="0" marL="0">
                        <a:buNone/>
                      </a:pPr>
                      <a:r>
                        <a:rPr lang="en-US" sz="1100" b="1" dirty="0">
                          <a:solidFill>
                            <a:srgbClr val="1B2A3A"/>
                          </a:solidFill>
                          <a:latin typeface="Segoe UI" pitchFamily="34" charset="0"/>
                          <a:ea typeface="Segoe UI" pitchFamily="34" charset="-122"/>
                          <a:cs typeface="Segoe UI" pitchFamily="34" charset="-120"/>
                        </a:rPr>
                        <a:t>proposé</a:t>
                      </a:r>
                      <a:pPr indent="0" marL="0">
                        <a:buNone/>
                      </a:pPr>
                      <a:r>
                        <a:rPr lang="en-US" sz="1100" dirty="0">
                          <a:solidFill>
                            <a:srgbClr val="1B2A3A"/>
                          </a:solidFill>
                          <a:latin typeface="Segoe UI" pitchFamily="34" charset="0"/>
                          <a:ea typeface="Segoe UI" pitchFamily="34" charset="-122"/>
                          <a:cs typeface="Segoe UI" pitchFamily="34" charset="-120"/>
                        </a:rPr>
                        <a:t> ; rien n’est écrit sans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Chaque proposition dit sa confiance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Haute, moyenne ou basse, avec le passage lu et la valeur déjà saisie. L’écran ne coche jamais d’office une case qui écraserait une saisie.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plan fait foi</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information reprise du plan n’est jamais importée : un écart est signalé comme divergence. Les valeurs calculées, les pièces et le mode de remise ne s’importent pas.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Rien ne contourne la saisie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valeur que la saisie refuserait est une anomalie ; une information fermée par le cadrage aussi. Deux lectures possibles d’un passage sont montrées, jamais tranchées.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écriture d’un seul tenant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L’import ajoute sans effacer ; un seul refus, et rien n’est écrit. Il se fait sur un brouillon, par la PRMP ou son UGPM. Le fichier n’est pas conservé (son nom et son empreinte vont au journal). Un PDF scanné est refusé.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L’import du DAO : l’import propose, la PRMP décide · regles-gestion.md § L’import du DAO ; demande-backend-2026-10-10-manuel-revise-lot2.md § B3 (✅)</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54</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mode de remise (manuel révisé)</a:t>
            </a:r>
            <a:endParaRPr lang="en-US" sz="2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Fixé dès la première validation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mode de remise des offres — papier ou électronique — est celui du cadrage ; dès qu’une version de la fiche est validée, il </a:t>
                      </a:r>
                      <a:pPr indent="0" marL="0">
                        <a:buNone/>
                      </a:pPr>
                      <a:r>
                        <a:rPr lang="en-US" sz="1100" b="1" dirty="0">
                          <a:solidFill>
                            <a:srgbClr val="1B2A3A"/>
                          </a:solidFill>
                          <a:latin typeface="Segoe UI" pitchFamily="34" charset="0"/>
                          <a:ea typeface="Segoe UI" pitchFamily="34" charset="-122"/>
                          <a:cs typeface="Segoe UI" pitchFamily="34" charset="-120"/>
                        </a:rPr>
                        <a:t>ne change plus</a:t>
                      </a:r>
                      <a:pPr indent="0" marL="0">
                        <a:buNone/>
                      </a:pPr>
                      <a:r>
                        <a:rPr lang="en-US" sz="1100" dirty="0">
                          <a:solidFill>
                            <a:srgbClr val="1B2A3A"/>
                          </a:solidFill>
                          <a:latin typeface="Segoe UI" pitchFamily="34" charset="0"/>
                          <a:ea typeface="Segoe UI" pitchFamily="34" charset="-122"/>
                          <a:cs typeface="Segoe UI" pitchFamily="34" charset="-120"/>
                        </a:rPr>
                        <a:t> : une procédure commencée sur papier s’achève sur papier, et inversement. La révision recopie le mode.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migration documentée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 l’</a:t>
                      </a:r>
                      <a:pPr indent="0" marL="0">
                        <a:buNone/>
                      </a:pPr>
                      <a:r>
                        <a:rPr lang="en-US" sz="1100" b="1" dirty="0">
                          <a:solidFill>
                            <a:srgbClr val="1B2A3A"/>
                          </a:solidFill>
                          <a:latin typeface="Segoe UI" pitchFamily="34" charset="0"/>
                          <a:ea typeface="Segoe UI" pitchFamily="34" charset="-122"/>
                          <a:cs typeface="Segoe UI" pitchFamily="34" charset="-120"/>
                        </a:rPr>
                        <a:t>Administrateur</a:t>
                      </a:r>
                      <a:pPr indent="0" marL="0">
                        <a:buNone/>
                      </a:pPr>
                      <a:r>
                        <a:rPr lang="en-US" sz="1100" dirty="0">
                          <a:solidFill>
                            <a:srgbClr val="1B2A3A"/>
                          </a:solidFill>
                          <a:latin typeface="Segoe UI" pitchFamily="34" charset="0"/>
                          <a:ea typeface="Segoe UI" pitchFamily="34" charset="-122"/>
                          <a:cs typeface="Segoe UI" pitchFamily="34" charset="-120"/>
                        </a:rPr>
                        <a:t> peut migrer le mode, avec un </a:t>
                      </a:r>
                      <a:pPr indent="0" marL="0">
                        <a:buNone/>
                      </a:pPr>
                      <a:r>
                        <a:rPr lang="en-US" sz="1100" b="1" dirty="0">
                          <a:solidFill>
                            <a:srgbClr val="1B2A3A"/>
                          </a:solidFill>
                          <a:latin typeface="Segoe UI" pitchFamily="34" charset="0"/>
                          <a:ea typeface="Segoe UI" pitchFamily="34" charset="-122"/>
                          <a:cs typeface="Segoe UI" pitchFamily="34" charset="-120"/>
                        </a:rPr>
                        <a:t>motif obligatoire</a:t>
                      </a:r>
                      <a:pPr indent="0" marL="0">
                        <a:buNone/>
                      </a:pPr>
                      <a:r>
                        <a:rPr lang="en-US" sz="1100" dirty="0">
                          <a:solidFill>
                            <a:srgbClr val="1B2A3A"/>
                          </a:solidFill>
                          <a:latin typeface="Segoe UI" pitchFamily="34" charset="0"/>
                          <a:ea typeface="Segoe UI" pitchFamily="34" charset="-122"/>
                          <a:cs typeface="Segoe UI" pitchFamily="34" charset="-120"/>
                        </a:rPr>
                        <a:t>. La migration ouvre une révision avec le nouveau mode (la version validée reste intacte), porte sa date, son auteur et son motif, et s’inscrit au journal ; la PRMP complète ce que le nouveau mode exige, puis valide. Elle est refusée dès qu’une offre a été déposée en ligne, qu’une cérémonie des clés est close ou qu’un lot est attribué.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Ce que le mode décide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En remise électronique, les pièces que l’application produit elle-même ne sont plus exigées au dossier et les contrôles automatiques s’appliquent ; en papier, toutes les pièces du manuel restent exigées et les contrôles automatiques sont sans objet.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dossier soumis — manuel révisé, lot 2, tranche R8 (2026-10-13) · regles-gestion.md § Le dossier soumis — manuel révisé, lot 2, tranche R8 ; demande-backend-2026-10-10-manuel-revise-lot2.md § B3 (✅) · regles-gestion.md § Le dossier soumis — manuel révisé, lot 2, tranche R8</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55</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questions des candidats (manuel révisé)</a:t>
            </a:r>
            <a:endParaRPr lang="en-US" sz="2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RG-DAO-49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Jusqu’à dix jours avant la date limite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candidat qui a </a:t>
                      </a:r>
                      <a:pPr indent="0" marL="0">
                        <a:buNone/>
                      </a:pPr>
                      <a:r>
                        <a:rPr lang="en-US" sz="1100" b="1" dirty="0">
                          <a:solidFill>
                            <a:srgbClr val="1B2A3A"/>
                          </a:solidFill>
                          <a:latin typeface="Segoe UI" pitchFamily="34" charset="0"/>
                          <a:ea typeface="Segoe UI" pitchFamily="34" charset="-122"/>
                          <a:cs typeface="Segoe UI" pitchFamily="34" charset="-120"/>
                        </a:rPr>
                        <a:t>retiré le DAO</a:t>
                      </a:r>
                      <a:pPr indent="0" marL="0">
                        <a:buNone/>
                      </a:pPr>
                      <a:r>
                        <a:rPr lang="en-US" sz="1100" dirty="0">
                          <a:solidFill>
                            <a:srgbClr val="1B2A3A"/>
                          </a:solidFill>
                          <a:latin typeface="Segoe UI" pitchFamily="34" charset="0"/>
                          <a:ea typeface="Segoe UI" pitchFamily="34" charset="-122"/>
                          <a:cs typeface="Segoe UI" pitchFamily="34" charset="-120"/>
                        </a:rPr>
                        <a:t> d’une procédure en ligne peut poser une question à la PRMP jusqu’à </a:t>
                      </a:r>
                      <a:pPr indent="0" marL="0">
                        <a:buNone/>
                      </a:pPr>
                      <a:r>
                        <a:rPr lang="en-US" sz="1100" b="1" dirty="0">
                          <a:solidFill>
                            <a:srgbClr val="1B2A3A"/>
                          </a:solidFill>
                          <a:latin typeface="Segoe UI" pitchFamily="34" charset="0"/>
                          <a:ea typeface="Segoe UI" pitchFamily="34" charset="-122"/>
                          <a:cs typeface="Segoe UI" pitchFamily="34" charset="-120"/>
                        </a:rPr>
                        <a:t>dix jours avant la date limite</a:t>
                      </a:r>
                      <a:pPr indent="0" marL="0">
                        <a:buNone/>
                      </a:pPr>
                      <a:r>
                        <a:rPr lang="en-US" sz="1100" dirty="0">
                          <a:solidFill>
                            <a:srgbClr val="1B2A3A"/>
                          </a:solidFill>
                          <a:latin typeface="Segoe UI" pitchFamily="34" charset="0"/>
                          <a:ea typeface="Segoe UI" pitchFamily="34" charset="-122"/>
                          <a:cs typeface="Segoe UI" pitchFamily="34" charset="-120"/>
                        </a:rPr>
                        <a:t> de remise des offres, ce dixième jour compris (art. 35-II) ; passé ce jour, les questions sont closes. Un candidat absent du registre des retraits ne peut pas en poser.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Répondre, c’est diffuser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PRMP répond par écrit, avec une pièce jointe si elle le souhaite ; l’UGPM lit sans répondre. La réponse est </a:t>
                      </a:r>
                      <a:pPr indent="0" marL="0">
                        <a:buNone/>
                      </a:pPr>
                      <a:r>
                        <a:rPr lang="en-US" sz="1100" b="1" dirty="0">
                          <a:solidFill>
                            <a:srgbClr val="1B2A3A"/>
                          </a:solidFill>
                          <a:latin typeface="Segoe UI" pitchFamily="34" charset="0"/>
                          <a:ea typeface="Segoe UI" pitchFamily="34" charset="-122"/>
                          <a:cs typeface="Segoe UI" pitchFamily="34" charset="-120"/>
                        </a:rPr>
                        <a:t>définitive</a:t>
                      </a:r>
                      <a:pPr indent="0" marL="0">
                        <a:buNone/>
                      </a:pPr>
                      <a:r>
                        <a:rPr lang="en-US" sz="1100" dirty="0">
                          <a:solidFill>
                            <a:srgbClr val="1B2A3A"/>
                          </a:solidFill>
                          <a:latin typeface="Segoe UI" pitchFamily="34" charset="0"/>
                          <a:ea typeface="Segoe UI" pitchFamily="34" charset="-122"/>
                          <a:cs typeface="Segoe UI" pitchFamily="34" charset="-120"/>
                        </a:rPr>
                        <a:t> et </a:t>
                      </a:r>
                      <a:pPr indent="0" marL="0">
                        <a:buNone/>
                      </a:pPr>
                      <a:r>
                        <a:rPr lang="en-US" sz="1100" b="1" dirty="0">
                          <a:solidFill>
                            <a:srgbClr val="1B2A3A"/>
                          </a:solidFill>
                          <a:latin typeface="Segoe UI" pitchFamily="34" charset="0"/>
                          <a:ea typeface="Segoe UI" pitchFamily="34" charset="-122"/>
                          <a:cs typeface="Segoe UI" pitchFamily="34" charset="-120"/>
                        </a:rPr>
                        <a:t>diffusée aussitôt</a:t>
                      </a:r>
                      <a:pPr indent="0" marL="0">
                        <a:buNone/>
                      </a:pPr>
                      <a:r>
                        <a:rPr lang="en-US" sz="1100" dirty="0">
                          <a:solidFill>
                            <a:srgbClr val="1B2A3A"/>
                          </a:solidFill>
                          <a:latin typeface="Segoe UI" pitchFamily="34" charset="0"/>
                          <a:ea typeface="Segoe UI" pitchFamily="34" charset="-122"/>
                          <a:cs typeface="Segoe UI" pitchFamily="34" charset="-120"/>
                        </a:rPr>
                        <a:t> à tous les candidats ayant retiré le dossier, et sur la page publique de la procédure, sans le nom de l’auteur. Les questions répondues sont jointes d’office au dossier soumis à la Commission ; la loi ne fixe pas de délai de réponse.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dossier soumis — manuel révisé, lot 2, tranche R7 (2026-10-13) · regles-gestion.md § Le dossier soumis — manuel révisé, lot 2, tranche R7 ; demande-backend-2026-10-10-manuel-revise-lot2.md § B2 (✅)</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56</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procédure en remise électronique</a:t>
            </a:r>
            <a:endParaRPr lang="en-US" sz="2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signature de l’offre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Pendant une procédure en ligne, le dépôt de l’offre depuis le compte authentifié du candidat, </a:t>
                      </a:r>
                      <a:pPr indent="0" marL="0">
                        <a:buNone/>
                      </a:pPr>
                      <a:r>
                        <a:rPr lang="en-US" sz="1100" b="1" dirty="0">
                          <a:solidFill>
                            <a:srgbClr val="1B2A3A"/>
                          </a:solidFill>
                          <a:latin typeface="Segoe UI" pitchFamily="34" charset="0"/>
                          <a:ea typeface="Segoe UI" pitchFamily="34" charset="-122"/>
                          <a:cs typeface="Segoe UI" pitchFamily="34" charset="-120"/>
                        </a:rPr>
                        <a:t>scellé par la plateforme</a:t>
                      </a:r>
                      <a:pPr indent="0" marL="0">
                        <a:buNone/>
                      </a:pPr>
                      <a:r>
                        <a:rPr lang="en-US" sz="1100" dirty="0">
                          <a:solidFill>
                            <a:srgbClr val="1B2A3A"/>
                          </a:solidFill>
                          <a:latin typeface="Segoe UI" pitchFamily="34" charset="0"/>
                          <a:ea typeface="Segoe UI" pitchFamily="34" charset="-122"/>
                          <a:cs typeface="Segoe UI" pitchFamily="34" charset="-120"/>
                        </a:rPr>
                        <a:t>, vaut signature de l’offre et de l’acte d’engagement ; les données particulières du DAO le disent. L’attributaire remet ensuite l’</a:t>
                      </a:r>
                      <a:pPr indent="0" marL="0">
                        <a:buNone/>
                      </a:pPr>
                      <a:r>
                        <a:rPr lang="en-US" sz="1100" b="1" dirty="0">
                          <a:solidFill>
                            <a:srgbClr val="1B2A3A"/>
                          </a:solidFill>
                          <a:latin typeface="Segoe UI" pitchFamily="34" charset="0"/>
                          <a:ea typeface="Segoe UI" pitchFamily="34" charset="-122"/>
                          <a:cs typeface="Segoe UI" pitchFamily="34" charset="-120"/>
                        </a:rPr>
                        <a:t>original signé</a:t>
                      </a:r>
                      <a:pPr indent="0" marL="0">
                        <a:buNone/>
                      </a:pPr>
                      <a:r>
                        <a:rPr lang="en-US" sz="1100" dirty="0">
                          <a:solidFill>
                            <a:srgbClr val="1B2A3A"/>
                          </a:solidFill>
                          <a:latin typeface="Segoe UI" pitchFamily="34" charset="0"/>
                          <a:ea typeface="Segoe UI" pitchFamily="34" charset="-122"/>
                          <a:cs typeface="Segoe UI" pitchFamily="34" charset="-120"/>
                        </a:rPr>
                        <a:t> de son acte d’engagement, avant la signature du marché. La signature électronique certifiée est une option réservée, sans effet pour l’instant ; la procédure papier n’est pas concernée.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commission d’appel d’offres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Désignée par la </a:t>
                      </a:r>
                      <a:pPr indent="0" marL="0">
                        <a:buNone/>
                      </a:pPr>
                      <a:r>
                        <a:rPr lang="en-US" sz="1100" b="1" dirty="0">
                          <a:solidFill>
                            <a:srgbClr val="1B2A3A"/>
                          </a:solidFill>
                          <a:latin typeface="Segoe UI" pitchFamily="34" charset="0"/>
                          <a:ea typeface="Segoe UI" pitchFamily="34" charset="-122"/>
                          <a:cs typeface="Segoe UI" pitchFamily="34" charset="-120"/>
                        </a:rPr>
                        <a:t>PRMP</a:t>
                      </a:r>
                      <a:pPr indent="0" marL="0">
                        <a:buNone/>
                      </a:pPr>
                      <a:r>
                        <a:rPr lang="en-US" sz="1100" dirty="0">
                          <a:solidFill>
                            <a:srgbClr val="1B2A3A"/>
                          </a:solidFill>
                          <a:latin typeface="Segoe UI" pitchFamily="34" charset="0"/>
                          <a:ea typeface="Segoe UI" pitchFamily="34" charset="-122"/>
                          <a:cs typeface="Segoe UI" pitchFamily="34" charset="-120"/>
                        </a:rPr>
                        <a:t> par une décision, saisie par elle ou son UGPM : une commission par appel d’offres, au moins deux membres, un seul président, au plus un expert de l’objet. Ses membres détiennent chacun une part de la clé qui ouvrira les offres ; PRMP, UGPM, contrôleurs de la CNM et candidats en sont exclus.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paramètres internes ne sortent jamais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Détenteurs des parts, quorum de déchiffrement, date de la cérémonie, dépositaire de la part de secours : ils ne s’impriment dans aucun document. Seul le </a:t>
                      </a:r>
                      <a:pPr indent="0" marL="0">
                        <a:buNone/>
                      </a:pPr>
                      <a:r>
                        <a:rPr lang="en-US" sz="1100" b="1" dirty="0">
                          <a:solidFill>
                            <a:srgbClr val="1B2A3A"/>
                          </a:solidFill>
                          <a:latin typeface="Segoe UI" pitchFamily="34" charset="0"/>
                          <a:ea typeface="Segoe UI" pitchFamily="34" charset="-122"/>
                          <a:cs typeface="Segoe UI" pitchFamily="34" charset="-120"/>
                        </a:rPr>
                        <a:t>responsable de la procédure</a:t>
                      </a:r>
                      <a:pPr indent="0" marL="0">
                        <a:buNone/>
                      </a:pPr>
                      <a:r>
                        <a:rPr lang="en-US" sz="1100" dirty="0">
                          <a:solidFill>
                            <a:srgbClr val="1B2A3A"/>
                          </a:solidFill>
                          <a:latin typeface="Segoe UI" pitchFamily="34" charset="0"/>
                          <a:ea typeface="Segoe UI" pitchFamily="34" charset="-122"/>
                          <a:cs typeface="Segoe UI" pitchFamily="34" charset="-120"/>
                        </a:rPr>
                        <a:t> les lit et les modifie ; chaque modification est journalisée avec l’ancienne et la nouvelle valeur. La fiche n’en montre à tous que l’état.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responsable de la procédure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personne désignée par l’</a:t>
                      </a:r>
                      <a:pPr indent="0" marL="0">
                        <a:buNone/>
                      </a:pPr>
                      <a:r>
                        <a:rPr lang="en-US" sz="1100" b="1" dirty="0">
                          <a:solidFill>
                            <a:srgbClr val="1B2A3A"/>
                          </a:solidFill>
                          <a:latin typeface="Segoe UI" pitchFamily="34" charset="0"/>
                          <a:ea typeface="Segoe UI" pitchFamily="34" charset="-122"/>
                          <a:cs typeface="Segoe UI" pitchFamily="34" charset="-120"/>
                        </a:rPr>
                        <a:t>Administrateur</a:t>
                      </a:r>
                      <a:pPr indent="0" marL="0">
                        <a:buNone/>
                      </a:pPr>
                      <a:r>
                        <a:rPr lang="en-US" sz="1100" dirty="0">
                          <a:solidFill>
                            <a:srgbClr val="1B2A3A"/>
                          </a:solidFill>
                          <a:latin typeface="Segoe UI" pitchFamily="34" charset="0"/>
                          <a:ea typeface="Segoe UI" pitchFamily="34" charset="-122"/>
                          <a:cs typeface="Segoe UI" pitchFamily="34" charset="-120"/>
                        </a:rPr>
                        <a:t> pour cette procédure, une à la fois, jamais détentrice d’une part. En remise électronique, la fiche ne se valide pas sans lui. L’Administrateur voit toutes les procédures en ligne pour désigner les responsables et les suivre.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quorum et la cérémonie des clés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quorum de déchiffrement est compris entre 2 et le nombre de membres ; égal au nombre de membres, il est signalé (aucune perte tolérée). Une part de secours est générée par un </a:t>
                      </a:r>
                      <a:pPr indent="0" marL="0">
                        <a:buNone/>
                      </a:pPr>
                      <a:r>
                        <a:rPr lang="en-US" sz="1100" b="1" dirty="0">
                          <a:solidFill>
                            <a:srgbClr val="1B2A3A"/>
                          </a:solidFill>
                          <a:latin typeface="Segoe UI" pitchFamily="34" charset="0"/>
                          <a:ea typeface="Segoe UI" pitchFamily="34" charset="-122"/>
                          <a:cs typeface="Segoe UI" pitchFamily="34" charset="-120"/>
                        </a:rPr>
                        <a:t>dépositaire</a:t>
                      </a:r>
                      <a:pPr indent="0" marL="0">
                        <a:buNone/>
                      </a:pPr>
                      <a:r>
                        <a:rPr lang="en-US" sz="1100" dirty="0">
                          <a:solidFill>
                            <a:srgbClr val="1B2A3A"/>
                          </a:solidFill>
                          <a:latin typeface="Segoe UI" pitchFamily="34" charset="0"/>
                          <a:ea typeface="Segoe UI" pitchFamily="34" charset="-122"/>
                          <a:cs typeface="Segoe UI" pitchFamily="34" charset="-120"/>
                        </a:rPr>
                        <a:t> extérieur à la commission. La cérémonie des clés doit être close avant la publication de l’avis.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 dossier soumis — manuel révisé, lot 2, tranche R10 (2026-10-14) ; demande-backend-2026-10-10-manuel-revise-lot2.md § B5 (✅) · regles-gestion.md § La remise électronique des offres (2026-10-04, lots 2a-2b et arbitrages V70) · regles-gestion.md § La remise électronique des offres · regles-gestion.md § La remise électronique des offres ; § la liste des procédures en ligne (2026-10-06) · regles-gestion.md § La remise électronique des offres (2026-10-04, V66 ; 2026-10-05, V71)</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57</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retrait du DAO</a:t>
            </a:r>
            <a:endParaRPr lang="en-US" sz="2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RG-DAO-59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Retrait après paiement vérifié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Quand la fiche fixe des frais de dossier, le candidat ne retire le DAO qu’après avoir déposé le reçu de son versement sur le compte de l’ARMP, et que la </a:t>
                      </a:r>
                      <a:pPr indent="0" marL="0">
                        <a:buNone/>
                      </a:pPr>
                      <a:r>
                        <a:rPr lang="en-US" sz="1100" b="1" dirty="0">
                          <a:solidFill>
                            <a:srgbClr val="1B2A3A"/>
                          </a:solidFill>
                          <a:latin typeface="Segoe UI" pitchFamily="34" charset="0"/>
                          <a:ea typeface="Segoe UI" pitchFamily="34" charset="-122"/>
                          <a:cs typeface="Segoe UI" pitchFamily="34" charset="-120"/>
                        </a:rPr>
                        <a:t>PRMP ou son UGPM l’a validé</a:t>
                      </a:r>
                      <a:pPr indent="0" marL="0">
                        <a:buNone/>
                      </a:pPr>
                      <a:r>
                        <a:rPr lang="en-US" sz="1100" dirty="0">
                          <a:solidFill>
                            <a:srgbClr val="1B2A3A"/>
                          </a:solidFill>
                          <a:latin typeface="Segoe UI" pitchFamily="34" charset="0"/>
                          <a:ea typeface="Segoe UI" pitchFamily="34" charset="-122"/>
                          <a:cs typeface="Segoe UI" pitchFamily="34" charset="-120"/>
                        </a:rPr>
                        <a:t>. Un refus porte un motif. Le reçu vaut pour l’entreprise, pour un ou plusieurs lots. Une décision </a:t>
                      </a:r>
                      <a:pPr indent="0" marL="0">
                        <a:buNone/>
                      </a:pPr>
                      <a:r>
                        <a:rPr lang="en-US" sz="1100" b="1" dirty="0">
                          <a:solidFill>
                            <a:srgbClr val="1B2A3A"/>
                          </a:solidFill>
                          <a:latin typeface="Segoe UI" pitchFamily="34" charset="0"/>
                          <a:ea typeface="Segoe UI" pitchFamily="34" charset="-122"/>
                          <a:cs typeface="Segoe UI" pitchFamily="34" charset="-120"/>
                        </a:rPr>
                        <a:t>ne se reprend pas</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RG-DAO-60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registre des retraits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retrait en ligne est inscrit : date, compte, entreprise et NIF, document et version retirés, reçu des frais qui l’a ouvert. La PRMP le lit du plus ancien au plus récent.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La remise électronique — le retrait du DAO après paiement des frais (2026-10-06) · api-endpoints.md § Procédures ouvertes en ligne et retrait du DAO ; § Le retrait du DAO après paiement des frais</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58</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B</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B — La référence des données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objets que l’application crée ou modifie, et toutes leurs informations : nom, type et valeurs, caractère obligatoire, description tirée du serveur.</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04 · Préparer le DAO · 59</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(1/3)</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question d’un candidat et sa réponse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t_question_candidat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question d'un candidat ayant retiré le DAO d'une procédure en ligne (art. 35-II), recevable jusqu'à dix jours avant la date limite de remise des offres, et la réponse de la PRMP, diffusée à sa publication à tous les candidats ayant retiré le dossier.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représentant présent à la commission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t_cao_representant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représentant du président de la CAO, désigné par lui pour un contexte (SEANCE, SEANCE_FINANCIERE, RAPPORT, AMI) : sa signature vaut celle du président pour le quorum.</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dossier de mise en concurrence (DMC)</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t_dossier_mec</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Dossier de mise en concurrence (DMC) : un par ligne de marché (relation 1-1 sur ID_DETAIL).</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fiche marché (DAO)</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t_fiche_marche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version de la fiche marché d'un DMC de type DAO (t_fiche_marche, V35)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valeur d’une information de la fiche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t_fiche_marche_valeur</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ligne par champ de source SAISIE renseigné.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bloc du référentiel de la fiche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tr_bloc_fiche_marche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B01 identification et données du PPM … B10 modifications, résiliation, litiges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rubrique du référentiel de la fiche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tr_rubrique_fiche_marche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 une rubrique = une carte à l'écran ». nbAttendu est le nombre d'informations que le fichier de correspondance annonce pour la rubrique : tant que ses champs ne sont pas chargés, le front affiche « n informations attendues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L’information du référentiel de la fiche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tr_champ_fiche_marche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20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information du fichier de correspondance (tr_champ_fiche_marche, V35) : le front dessine l'écran depuis ce référentiel, comme la grille de contrôle depuis PointsCtrl.</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L’article du besoin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t_fiche_article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article du besoin d'une version de fiche DAO (t_fiche_article), dans un lot du plan (rang ; null pour une ligne non allotie).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caractéristique exigée d’un article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t_fiche_caracteristique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caractéristique exigée d'un article du besoin (t_fiche_caracteristique).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matériel exigé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t_fiche_materiel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engin exigé d'une version de fiche DAO de travaux (t_fiche_materiel) : désignation, caractéristique (« ≥ 350 l »), nombre, minimum en propre (null : propriété ou location indifférente), et parLot (le nombre vaut pour chaque lot).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personnel exigé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t_fiche_personnel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poste clé exigé d'une version de fiche DAO de travaux (t_fiche_personnel) : poste, nombre, diplôme, expérience (années et domaine), justificatifs, et parLot (chaque lot mobilise son équipe).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60</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(2/3)</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pièce exigée de l’offre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t_fiche_piece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Une pièce exigée d'une version de fiche DAO de travaux (t_fiche_piece) : rubrique (ADMINISTRATIVE, 2° de la clause 6.2 du DPAO-T, ou OFFRE, 1°), numéro donné par le DAO, libellé, forme, ancienneté maximale en mois, une par lot, modèle.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Les spécifications techniques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t_specifications_fiche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Les spécifications techniques d'une version de fiche DAO : un .docx joint par la PRMP ou l'UGPM, inséré au rang 5 bis du DAO complet.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document produit par la fiche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t_document_fiche_marche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document généré à la validation d'une version de la fiche (t_document_fiche_marche, V38)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commission d’appel d’offres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t_cao</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commission d'appel d'offres d'un DAO : la décision de nomination de la PRMP (référence, date, PDF facultatif).</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membre de la commission d’appel d’offres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t_cao_membre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membre de la CAO : qualité MEMBRE (siège, détient une part, compte MEMBRE_CAO) ou EXPERT_ADJOINT (évalue, pas de part, pas de compte) ; un MEMBRE a une origine (ENTITE_CONTRACTANTE avec son service, EXPERT_OBJET avec son organisme et son domaine) ; un président parmi les MEMBRE.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compte d’un membre de la commission</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t_compte_cao</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compte d'un membre de CAO (profil MEMBRE_CAO, hors coquille interne) : créé à la désignation (A_ACTIVER), activé par invitation (ACTIF).</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responsable de la procédure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t_responsable_procedure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rôle nominatif « Responsable de la procédure » (t_responsable_procedure) : par DMC, un seul titulaire actif (DATE_RETRAIT nulle, index partiel unique), désigné et retiré par l'Administrateur.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Les paramètres internes de la procédure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t_parametre_interne_procedure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Les paramètres internes d'une procédure en remise électronique (t_parametre_interne_procedure) : les membres de la commission détenteurs d'une part de clé (INT-SE-01, liste de matricules), le quorum de déchiffrement (INT-SE-03) et la date de la cérémonie des clés (INT-SE-04).</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journal des paramètres internes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t_parametre_interne_journal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journal dédié des paramètres internes d'une procédure (t_parametre_interne_journal) : qui, quand, quel champ, ancienne et nouvelle valeur.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cérémonie des clés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t_ceremonie_cles</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cérémonie des clés d'une procédure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clé d’un détenteur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t_cle_detenteur</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clé d'un détenteur de part : un membre désigné (role = MEMBRE, im) ou la part de secours (role = SECOURS, sans matricule). clePublique (SPKI en base64) et empreinte (SHA-256 de la SPKI, hexadécimal minuscule) sont publiques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défi de vérification d’une clé</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t_defi_cle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défi de vérification d'une part : le serveur a tiré 32 octets, les a chiffrés avec la clé publique du détenteur, et ne garde que le SHA-256 du clair (empreinteClair), cinq minutes, à usage unique.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61</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 (3/3)</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compte du dépositaire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t_compte_depositaire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compte d'un dépositaire (profil DEPOSITAIRE, hors coquille interne) : créé à la désignation (A_ACTIVER), activé par invitation (ACTIF).</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62</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(1/11)</a:t>
            </a:r>
            <a:endParaRPr lang="en-US" sz="26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question d’un candidat et sa réponse  ·  t_question_candidat  ·  13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ID_CANDIDAT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candidat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ID_ENTREPRISE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entreprise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QUESTION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Question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POSEE_LE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Posee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fichier joint à la réponse (nom, taille) ; nul sans fichier.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REPONSE_FORMAT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format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REPONSE_TAILLE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Réponse taille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REPONDUE_LE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Repondue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REPONDUE_PAR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Repondue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PUBLIEE_LE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Publiee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diffusion : répondre = diffuser (arbitrage du 13/10), donc égale à repondueLe.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représentant présent à la commission  ·  t_cao_representant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CONTEXTE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Contexte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compte (K…) du membre représentant.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Designe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Designe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dossier de mise en concurrence (DMC)  ·  t_dossier_mec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Ligne de marché rattachée (unique — relation 1-1 stricte).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ID_TYPE_DMC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type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Type de DMC dérivé du mode de passation du marché.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63</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(2/11)</a:t>
            </a:r>
            <a:endParaRPr lang="en-US" sz="26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REFERENCE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Liste : A_PREPARER, ENGAGE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DATE_CREATION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création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fiche marché (DAO)  ·  t_fiche_marche  ·  14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NUMERO_VERSION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version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STATUT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Statut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BROUILLON, VALIDEE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Cnm.prs.enums.StatutFicheMarche.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QUANTITE_FIXE, A_COMMANDE, CONTRAT_CADRE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Cnm.prs.enums.TypeMarcheDao, fixé par le cadrage ; nul tant que le cadrage n'est pas posé.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CADRAGE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Cadrage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Réponses du cadrage, objet JSON ({"typeMarche":"QUANTITE_FIXE","alloti":"OUI",…}).</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MODE_MIGRE_LE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migre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migration documentée du mode de remise par l'Administrateur : cette version porte le nouveau mode, la date, l'auteur et le motif ; nulles sur toute autre version.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MODE_MIGRE_PAR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migre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MODE_MIGRE_MOTIF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 migre 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DATE_CREATION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création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CREE_PAR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Créé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DATE_VALIDATION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validation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VALIDE_PAR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Validé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PRMP qui a validé (matricule).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valeur d’une information de la fiche  ·  t_fiche_marche_valeur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ID_VALEUR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valeur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CODE_CHAMP</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Code champ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Tr_champ_fiche_marche.CODE, sans clé étrangère (un code ancien ne bloque pas l'import du référentiel).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Valeur telle que normalisée à l'enregistrement (nombre en chiffres, date ISO, code de liste, OUI/NON, 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64</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(3/11)</a:t>
            </a:r>
            <a:endParaRPr lang="en-US" sz="2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CALCULEE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Calculee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Posée par le serveur à l'enregistrement du bloc (échéance calculée, date d'ouverture des plis…) : servie dans champsCalcules, affichée « calculée » en lecture seule.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bloc du référentiel de la fiche  ·  tr_bloc_fiche_marche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RANG</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Rang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TYPES_MARCHE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Types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(60) : QUANTITE_FIXE, A_COMMANDE, CONTRAT_CADRE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Types de marché où le bloc existe, séparés par des virgules.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CATEGORIES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Categories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(80) : FOURNITURES_SERVICES, TRAVAUX, PRESTATIONS_INTELLECTUELLES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Catégories de fiche DAO où le bloc existe.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RENDU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Rendu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Rendu du bloc à l'écran : null, la liste de ses champs ; BESOIN, la grille du besoin (/articles).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rubrique du référentiel de la fiche  ·  tr_rubrique_fiche_marche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Code complet, bloc-rubrique (« B05-GS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CODE_BLOC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Code bloc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CODE_COURT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Code court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Code court dans le bloc (« GS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RANG</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Rang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DOCUMENT_MAITRE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 maitre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Document maître de la rubrique (DPAO, DPAC, AE, CCAP, AUCUN) ; nul si mixte.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NB_ATTENDU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 attendu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TYPES_MARCHE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Types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CATEGORIES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Categories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(80) : FOURNITURES_SERVICES, TRAVAUX, PRESTATIONS_INTELLECTUELLES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Catégories de fiche DAO où la rubrique existe.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L’information du référentiel de la fiche  ·  tr_champ_fiche_marche  ·  20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Code métier « bloc-rubrique-rang » (« B05-GS-02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CODE_RUBRIQUE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Code rubrique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RANG</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Rang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65</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(4/11)</a:t>
            </a:r>
            <a:endParaRPr lang="en-US" sz="2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TEXTE, TEXTE_LONG, NOMBRE, MONTANT, POURCENTAGE, DATE, DATE_HEURE, URL, LISTE, LISTE_MULTIPLE, OUI_NON, PIECE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Cnm.prs.enums.TypeChampFiche.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SOURCE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Source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 : PPM, SAISIE, CADRAGE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Cnm.prs.enums.SourceChampFiche.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DOCUMENT_MAITRE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Document maitre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REPRISES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Reprises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TYPES_MARCHE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Types marché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CATEGORIES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Categories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(80) : FOURNITURES_SERVICES, TRAVAUX, PRESTATIONS_INTELLECTUELLES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Catégories de fiche DAO où le champ vaut, séparées par des virgules, comme typesMarche.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CONDITION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Condition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OBLIGATOIRE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Obligatoire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TEXTE_TYPE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Texte type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CONTROLE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Contrôle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OPTIONS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Options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CLE_CADRAGE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Clé cadrage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Source CADRAGE : la clé de la réponse reflétée.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CLE_PPM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Clé PPM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(40)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Source PPM : la clé de la dérivation (ValeursPpmService).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PAR_LOT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Une valeur par lot : quand la ligne est allotie (plus d'un lot au plan), la valeur s'enregistre sous CODEn, n = rang du lot ; sinon sous le code nu.</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valeurDefaut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Valeur defaut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L’article du besoin  ·  t_fiche_article  ·  17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ID_ARTICLE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article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66</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(5/11)</a:t>
            </a:r>
            <a:endParaRPr lang="en-US" sz="2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UNITE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Unité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QUANTITE_MIN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min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QUANTITE_MAX</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 max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QUANTITE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Quantité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REDIGE_PAR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Rédigé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PROFIL_REDACTEUR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Profil rédacteur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NUMERO_PRIX</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 prix</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SERIE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Serie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SERIE_LIBELLE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Serie 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LIBELLE_BORDEREAU</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 bordereau</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SOUS_DETAIL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Sous 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PLAFOND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Plafond</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Nombre 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caractéristique exigée d’un article  ·  t_fiche_caracteristique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ID_CARACTERISTIQUE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caracteristique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ID_ARTICLE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article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 Mémoire vive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EXIGENCE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Exigence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 8 Go au minimum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matériel exigé  ·  t_fiche_materiel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ID_MATERIEL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matériel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Désignation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CARACTERISTIQUE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Caracteristique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67</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(6/11)</a:t>
            </a:r>
            <a:endParaRPr lang="en-US" sz="26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NOMBRE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MINIMUM_EN_PROPRE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Minimum en propre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PAR_LOT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personnel exigé  ·  t_fiche_personnel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ID_PERSONNEL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personnel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POSTE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Poste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NOMBRE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DIPLOME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Diplôme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EXPERIENCE_ANNEES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Expérience années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DOMAINE_EXPERIENCE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Domaine expérience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JUSTIFICATIFS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Justificatifs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PAR_LOT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pièce exigée de l’offre  ·  t_fiche_piece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ID_PIECE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pièce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ORDRE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Ordre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RUBRIQUE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Rubrique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NUMERO</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Numéro</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LIBELLE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Libellé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FORME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Forme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ANCIENNETE_MAX_MOIS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Anciennete max mois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PAR_LOT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Par 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MODELE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Modele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68</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(7/11)</a:t>
            </a:r>
            <a:endParaRPr lang="en-US" sz="26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Les spécifications techniques  ·  t_specifications_fiche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NOM_FICHIER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fichier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TAILLE_OCTETS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(octets)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EMPREINTE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DEPOSE_LE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Déposé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DEPOSE_PAR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Déposé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document produit par la fiche  ·  t_document_fiche_marche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ID_DOCUMENT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document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ID_FICHE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fiche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EXTENSION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Extension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DPAO · DPAC · AE · CCAP. */ @Column(name = "TYPE", nullable = false, length = 20) // V57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NOM_FICHIER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fichier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TAILLE_OCTETS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Taille (octets)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EMPREINTE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SHA-256 du contenu, en hexadécimal.</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DATE_GENERATION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génération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LOT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Lot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Rang du lot d'un document établi par lot ; null : document commun.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PUBLICATION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Publication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informations de publication saisies à l'impression de l'avis (JSON : datePublication, jmpNumero, jmpDate, supports), conservées en trace avec le document ; null pour les documents du DAO.</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commission d’appel d’offres  ·  t_cao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DECISION_REFERENCE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référence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DECISION_DATE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DECISION_NOM_FICHIER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nom fichier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DECISION_TAILLE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Décision taille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69</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(8/11)</a:t>
            </a:r>
            <a:endParaRPr lang="en-US" sz="2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ID_PRMP_MAJ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PRMP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membre de la commission d’appel d’offres  ·  t_cao_membre  ·  15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ID_MEMBRE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membre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RANG</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Rang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TELEPHONE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QUALITE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Qualité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ORIGINE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Origine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FONCTION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Fonction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SERVICE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Service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ORGANISME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Organisme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DOMAINE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Domaine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PRESIDENT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Président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ID_COMPTE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compte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L'identifiant court du compte MEMBRE_CAO (K + 9 chiffres) ; null pour un expert adjoint.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compte d’un membre de la commission  ·  t_compte_cao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ID_COMPTE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compte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Prénom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 : A_ACTIVER, ACTIF, ARCHIVE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70</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(9/11)</a:t>
            </a:r>
            <a:endParaRPr lang="en-US" sz="2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DATE_CREATION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création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DATE_INVITATION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invitation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DATE_ACTIVATION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activation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DERNIERE_CONNEXION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Dernière connexion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responsable de la procédure  ·  t_responsable_procedure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IM_RESPONSABLE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responsable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Matricule du titulaire (tr_controleur.IM_CONTROLEUR).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NOM_RESPONSABLE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responsable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 NOM Prénoms » au moment de la désignation.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DESIGNE_PAR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Designe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DATE_DESIGNATION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désignation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RETIRE_PAR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Retiré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DATE_RETRAIT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retrait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Nulle tant que la désignation est active.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Les paramètres internes de la procédure  ·  t_parametre_interne_procedure  ·  15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MEMBRES_CLE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Membres clé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Matricules des membres détenteurs d'une part de clé, séparés par des virgules (INT-SE-01).</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QUORUM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Quorum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Quorum de déchiffrement (INT-SE-03).</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DATE_CEREMONIE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cérémonie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 de la cérémonie des clés (INT-SE-04).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Dernier modificateur (matricule du titulaire du rôle).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DEPOSITAIRE_NOM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Dépositaire 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dépositaire de la part de secours (ADR-0013 S3) : une désignation nominative.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DEPOSITAIRE_ORGANISME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Dépositaire organisme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DEPOSITAIRE_FONCTION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Dépositaire fonction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DEPOSITAIRE_CONTACT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Dépositaire contact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DEPOSITAIRE_EMAIL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Dépositaire adresse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L'adresse du dépositaire (obligatoire au PUT), son téléphone, son compte D….</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71</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(10/11)</a:t>
            </a:r>
            <a:endParaRPr lang="en-US" sz="2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DEPOSITAIRE_TELEPHONE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Dépositaire téléphone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ID_COMPTE_DEPOSITAIRE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compte dépositaire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CAO_QUORUM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CAO quorum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surcharge de la règle de quorum de la CAO (MAJORITE, TOUS, nombre) ; nul : la règle globale.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SIGNATURE_OFFRE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Signature offre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SCELLE_PLUS_ORIGINAL (nul : défaut) ou CERTIFIEE (réservé, sans effet).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journal des paramètres internes  ·  t_parametre_interne_journal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NOM_ACTEUR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 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 NOM Prénoms » de l'acteur, résolu à l'écriture.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CHAMP</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Champ</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MembresCommission, quorum, dateCeremonie ou responsable.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ANCIENNE_VALEUR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Ancienne valeur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NOUVELLE_VALEUR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Nouvelle valeur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long</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cérémonie des clés  ·  t_ceremonie_cles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 : A_VENIR, CLOSE, A_REFAIRE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DATE_CLOTURE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clôture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PREMIER_DEPOT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Premier dépôt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DATE_MAJ</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mise à jour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DATE_DEPOTS_CLOS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depots clos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clôture des dépôts notifiée (DEPOTS_CLOS), une fois.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RAPPEL_VEILLE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Rappel veille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rappel SEANCE_A_VENIR de la veille, envoyé.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RAPPEL_HEURE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Rappel heure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rappel SEANCE_A_VENIR une heure avant, envoyé.</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72</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04 PRÉPARER LE DAO</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(11/11)</a:t>
            </a:r>
            <a:endParaRPr lang="en-US" sz="2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clé d’un détenteur  ·  t_cle_detenteur  ·  3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GENERE_PAR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Généré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Qui a généré la part de secours. */ public static final String PAR_RESPONSABLE = "RESPONSABLE"; public static final String PAR_DEPOSITAIRE = "DEPOSITAIRE"; public static final String PUBLIEE = "PUBLIEE"; public static final String VERIFIEE = "VERIFIEE"; public static final String PERDUE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ID_DEPOSITAIRE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dépositaire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compte du dépositaire qui a publié la part de secours (D…, nouveau geste).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DATE_ARCHIVAGE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archivage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défi de vérification d’une clé  ·  t_defi_cle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ID_DEFI</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défi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clé</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IM_APPELANT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 appelant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EMPREINTE_CLAIR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Empreinte clair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(64)</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DATE_CREATION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création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EXPIRE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Expire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CONSOMME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Consomme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compte du dépositaire  ·  t_compte_depositaire  ·  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ID_COMPTE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compte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Adresse électronique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(255)</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TELEPHONE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Téléphone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(50)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 : A_ACTIVER, ACTIF, ARCHIVE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DATE_CREATION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création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DATE_INVITATION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invitation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DATE_ACTIVATION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 activation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DERNIERE_CONNEXION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Dernière connexion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04 · Préparer le DAO · 73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Étape 04 · Préparer le DAO</dc:title>
  <dc:subject>PptxGenJS Presentation</dc:subject>
  <dc:creator>PRS 2.0</dc:creator>
  <cp:lastModifiedBy>PRS 2.0</cp:lastModifiedBy>
  <cp:revision>1</cp:revision>
  <dcterms:created xsi:type="dcterms:W3CDTF">2026-10-14T12:25:39Z</dcterms:created>
  <dcterms:modified xsi:type="dcterms:W3CDTF">2026-10-14T12:25:39Z</dcterms:modified>
</cp:coreProperties>
</file>