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notesMasterIdLst>
    <p:notesMasterId r:id="rId7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07-cao-procedures.
Écran : /cao/mes-procedures — compte : membre de la commission « recette ».
Noms, matricules, initiales, photos et adresses réelles masqués dans la page avant la capture.
Règles appliquées (annexe A) : RG-OFF-25, RG-OFF-27.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07-cao-cle.
Écran : /cao/procedures/40 — compte : membre de la commission « recette ».
Noms, matricules, initiales, photos et adresses réelles masqués dans la page avant la capture.
Règles appliquées (annexe A) : RG-OFF-27, RG-OFF-28.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06-depositaire.
Écran : /depositaire/mes-procedures — compte : dépositaire.
Noms, matricules, initiales, photos et adresses réelles masqués dans la page avant la capture.
Règles appliquées (annexe A) : RG-OFF-29, RG-OFF-30.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detail__e02-procedures-ouvertes.jpg (« Les procédures ouvertes »).
Raison : l’état montré ne se reproduit plus sur la base du 14/10 ; l’écran n’a pas changé sur ce qu’il montre.
Règles appliquées (annexe A) : RG-OFF-06.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06-procedure-detail.
Écran : /candidat/procedures/44 — compte : sans session.
Noms, matricules, initiales, photos et adresses réelles masqués dans la page avant la capture.
Règles appliquées (annexe A) : RG-OFF-06, RG-OFF-07, RG-OFF-34.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06-inscription.
Écran : /candidat/inscription — compte : sans session.
Noms, matricules, initiales, photos et adresses réelles masqués dans la page avant la capture.
Règles appliquées (annexe A) : RG-OFF-01.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06-cand-entreprise.
Écran : /candidat/entreprise — compte : candidat (Entreprise de recette BTP).
Noms, matricules, initiales, photos et adresses réelles masqués dans la page avant la capture.
Règles appliquées (annexe A) : RG-OFF-02, RG-OFF-03, RG-OFF-04.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detail2__n17-retrait-attend-recu.jpg (« Le retrait attend le reçu »).
Raison : l’état montré ne se reproduit plus sur la base du 14/10 ; l’écran n’a pas changé sur ce qu’il montre.
Règles appliquées (annexe A) : RG-OFF-09.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se__w02-recu-formulaire.jpg (« Déposer le reçu du versement »).
Raison : l’état montré ne se reproduit plus sur la base du 14/10 ; l’écran n’a pas changé sur ce qu’il montre.
Règles appliquées (annexe A) : RG-OFF-09, RG-OFF-10.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se__w03-recu-en-attente.jpg (« Le reçu attend la décision »).
Raison : l’état montré ne se reproduit plus sur la base du 14/10 ; l’écran n’a pas changé sur ce qu’il montre.
Règles appliquées (annexe A) : RG-OFF-09, RG-OFF-12.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se__w05-prmp-refus-motif.jpg (« Refuser, avec un motif »).
Raison : l’état montré ne se reproduit plus sur la base du 14/10 ; l’écran n’a pas changé sur ce qu’il montre.
Règles appliquées (annexe A) : RG-OFF-11.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se__w07-recu-refuse.jpg (« Reçu refusé : le motif »).
Raison : l’état montré ne se reproduit plus sur la base du 14/10 ; l’écran n’a pas changé sur ce qu’il montre.
Règles appliquées (annexe A) : RG-OFF-11.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se__w06-recu-valide.jpg (« Reçu validé : le dossier se retire »).
Raison : l’état montré ne se reproduit plus sur la base du 14/10 ; l’écran n’a pas changé sur ce qu’il montre.
Règles appliquées (annexe A) : RG-OFF-09, RG-OFF-13.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06-cand-procedure.
Écran : /candidat/procedures/44 — compte : candidat (Entreprise de recette BTP).
Noms, matricules, initiales, photos et adresses réelles masqués dans la page avant la capture.
Règles appliquées (annexe A) : RG-OFF-08.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detail2__n10-depot-ferme.jpg (« Sans reçu validé, pas de dépôt »).
Raison : l’état montré ne se reproduit plus sur la base du 14/10 ; l’écran n’a pas changé sur ce qu’il montre.
Règles appliquées (annexe A) : RG-OFF-12.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06-cand-invitations.
Écran : /candidat/invitations — compte : candidat (Société de démonstration).
Noms, matricules, initiales, photos et adresses réelles masqués dans la page avant la capture.
Règles appliquées (annexe A) : RG-OFF-31.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se__d01-fournitures-bordereau.jpg (« Le bordereau des prix et le calendrier de livraison »).
Raison : l’état montré ne se reproduit plus sur la base du 14/10 ; l’écran n’a pas changé sur ce qu’il montre.
Règles appliquées (annexe A) : RG-OFF-14.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se__d02-fournitures-conformite.jpg (« La conformité technique »).
Raison : l’état montré ne se reproduit plus sur la base du 14/10 ; l’écran n’a pas changé sur ce qu’il montre.
Règles appliquées (annexe A) : RG-OFF-14.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se__d03-fournitures-avertissements.jpg (« Les avertissements, avant de déposer »).
Raison : l’état montré ne se reproduit plus sur la base du 14/10 ; l’écran n’a pas changé sur ce qu’il montre.
Règles appliquées (annexe A) : RG-OFF-18.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se__d04-acte-derive.jpg (« L’acte d’engagement, calculé »).
Raison : l’état montré ne se reproduit plus sur la base du 14/10 ; l’écran n’a pas changé sur ce qu’il montre.
Règles appliquées (annexe A) : RG-OFF-16, RG-OFF-17.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se__t01-travaux-dqe.jpg (« Le DQE et les prix en lettres »).
Raison : l’état montré ne se reproduit plus sur la base du 14/10 ; l’écran n’a pas changé sur ce qu’il montre.
Règles appliquées (annexe A) : RG-OFF-14.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se__t03-travaux-k1.jpg (« Le coefficient K1 »).
Raison : l’état montré ne se reproduit plus sur la base du 14/10 ; l’écran n’a pas changé sur ce qu’il montre.
Règles appliquées (annexe A) : RG-OFF-15.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se__t04-travaux-sous-detail.jpg (« Le sous-détail d’un prix »).
Raison : l’état montré ne se reproduit plus sur la base du 14/10 ; l’écran n’a pas changé sur ce qu’il montre.
Règles appliquées (annexe A) : RG-OFF-15.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se__t05-travaux-capacites.jpg (« Les capacités financières et techniques »).
Raison : l’état montré ne se reproduit plus sur la base du 14/10 ; l’écran n’a pas changé sur ce qu’il montre.
Règles appliquées (annexe A) : RG-OFF-15.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se__t06-travaux-personnel.jpg (« Le personnel proposé »).
Raison : l’état montré ne se reproduit plus sur la base du 14/10 ; l’écran n’a pas changé sur ce qu’il montre.
Règles appliquées (annexe A) : RG-OFF-15.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se__t07-travaux-materiel.jpg (« Le matériel proposé »).
Raison : l’état montré ne se reproduit plus sur la base du 14/10 ; l’écran n’a pas changé sur ce qu’il montre.
Règles appliquées (annexe A) : RG-OFF-15.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se__t08-travaux-avertissements.jpg (« Les avertissements des travaux »).
Raison : l’état montré ne se reproduit plus sur la base du 14/10 ; l’écran n’a pas changé sur ce qu’il montre.
Règles appliquées (annexe A) : RG-OFF-18.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se__y01-brouillon-repris.jpg (« Une saisie jamais perdue »).
Raison : l’état montré ne se reproduit plus sur la base du 14/10 ; l’écran n’a pas changé sur ce qu’il montre.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se__d05-pieces-remplies.jpg (« Les pièces remplies en ligne, et le reçu déjà fourni »).
Raison : l’état montré ne se reproduit plus sur la base du 14/10 ; l’écran n’a pas changé sur ce qu’il montre.
Règles appliquées (annexe A) : RG-OFF-13, RG-OFF-14.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detail__e08-depot-formulaire.jpg (« Le dépôt sans formulaires : l’acte d’engagement »).
Raison : l’état montré ne se reproduit plus sur la base du 14/10 ; l’écran n’a pas changé sur ce qu’il montre.
Règles appliquées (annexe A) : RG-OFF-16.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detail__e09-depot-pieces.jpg (« Le dépôt : les pièces, puis le scellement »).
Raison : l’état montré ne se reproduit plus sur la base du 14/10 ; l’écran n’a pas changé sur ce qu’il montre.
Règles appliquées (annexe A) : RG-OFF-19, RG-OFF-20.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detail__e10-depot-accuse.jpg (« L’accusé de dépôt »).
Raison : l’état montré ne se reproduit plus sur la base du 14/10 ; l’écran n’a pas changé sur ce qu’il montre.
Règles appliquées (annexe A) : RG-OFF-22.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pi-recette__p1-depot-technique.jpg (« Déposer l’enveloppe technique »).
Raison : l’état montré ne se reproduit plus sur la base du 14/10 ; l’écran n’a pas changé sur ce qu’il montre.
Règles appliquées (annexe A) : RG-OFF-32.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pi-recette__p1-accuse-financiere.jpg (« L’accusé d’une proposition complète »).
Raison : l’état montré ne se reproduit plus sur la base du 14/10 ; l’écran n’a pas changé sur ce qu’il montre.
Règles appliquées (annexe A) : RG-OFF-32.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06-cand-offres.
Écran : /candidat/offres — compte : candidat (Entreprise de recette BTP).
Noms, matricules, initiales, photos et adresses réelles masqués dans la page avant la capture.
Règles appliquées (annexe A) : RG-OFF-21, RG-OFF-22, RG-OFF-23, RG-OFF-32.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detail2__n05-depots.jpg (« Le registre des dépôts, avant l’échéance »).
Raison : l’état montré ne se reproduit plus sur la base du 14/10 ; l’écran n’a pas changé sur ce qu’il montre.
Règles appliquées (annexe A) : RG-OFF-24.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06-depots.
Écran : /prmp/dao/40/depots — compte : PRMP.
Noms, matricules, initiales, photos et adresses réelles masqués dans la page avant la capture.
Règles appliquées (annexe A) : RG-OFF-23, RG-OFF-24.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06-depots-44.
Écran : /prmp/dao/44/depots — compte : PRMP.
Noms, matricules, initiales, photos et adresses réelles masqués dans la page avant la capture.
Règles appliquées (annexe A) : RG-OFF-33.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 PARCOURS D’UN DOSSIER</a:t>
            </a:r>
            <a:endParaRPr lang="en-US" sz="1400" dirty="0"/>
          </a:p>
        </p:txBody>
      </p:sp>
      <p:sp>
        <p:nvSpPr>
          <p:cNvPr id="4" name="Text 2"/>
          <p:cNvSpPr/>
          <p:nvPr/>
        </p:nvSpPr>
        <p:spPr>
          <a:xfrm>
            <a:off x="812780" y="1206500"/>
            <a:ext cx="5079873" cy="571500"/>
          </a:xfrm>
          <a:prstGeom prst="rect">
            <a:avLst/>
          </a:prstGeom>
          <a:noFill/>
          <a:ln/>
        </p:spPr>
        <p:txBody>
          <a:bodyPr wrap="square" rtlCol="0" anchor="ctr"/>
          <a:lstStyle/>
          <a:p>
            <a:pPr indent="0" marL="0">
              <a:buNone/>
            </a:pPr>
            <a:r>
              <a:rPr lang="en-US" sz="3000" b="1" dirty="0">
                <a:solidFill>
                  <a:srgbClr val="E3AE2E"/>
                </a:solidFill>
                <a:latin typeface="Segoe UI" pitchFamily="34" charset="0"/>
                <a:ea typeface="Segoe UI" pitchFamily="34" charset="-122"/>
                <a:cs typeface="Segoe UI" pitchFamily="34" charset="-120"/>
              </a:rPr>
              <a:t>Étape 06</a:t>
            </a:r>
            <a:endParaRPr lang="en-US" sz="3000" dirty="0"/>
          </a:p>
        </p:txBody>
      </p:sp>
      <p:sp>
        <p:nvSpPr>
          <p:cNvPr id="5" name="Text 3"/>
          <p:cNvSpPr/>
          <p:nvPr/>
        </p:nvSpPr>
        <p:spPr>
          <a:xfrm>
            <a:off x="812780" y="1778000"/>
            <a:ext cx="10477238" cy="952500"/>
          </a:xfrm>
          <a:prstGeom prst="rect">
            <a:avLst/>
          </a:prstGeom>
          <a:noFill/>
          <a:ln/>
        </p:spPr>
        <p:txBody>
          <a:bodyPr wrap="square" rtlCol="0" anchor="t">
            <a:normAutofit/>
          </a:bodyPr>
          <a:lstStyle/>
          <a:p>
            <a:pPr indent="0" marL="0">
              <a:buNone/>
            </a:pPr>
            <a:r>
              <a:rPr lang="en-US" sz="4400" b="1" dirty="0">
                <a:solidFill>
                  <a:srgbClr val="FCFCFA"/>
                </a:solidFill>
                <a:latin typeface="Segoe UI" pitchFamily="34" charset="0"/>
                <a:ea typeface="Segoe UI" pitchFamily="34" charset="-122"/>
                <a:cs typeface="Segoe UI" pitchFamily="34" charset="-120"/>
              </a:rPr>
              <a:t>PRS 2.0 — Recevoir les offres en ligne</a:t>
            </a:r>
            <a:endParaRPr lang="en-US" sz="4400" dirty="0"/>
          </a:p>
        </p:txBody>
      </p:sp>
      <p:sp>
        <p:nvSpPr>
          <p:cNvPr id="6" name="Text 4"/>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Les entreprises retirent le dossier, posent leurs questions, remplissent et déposent leur offre en ligne ; l’offre est scellée sur leur poste et personne ne peut la lire avant la séance d’ouverture.</a:t>
            </a:r>
            <a:endParaRPr lang="en-US" sz="2000" dirty="0"/>
          </a:p>
        </p:txBody>
      </p:sp>
      <p:sp>
        <p:nvSpPr>
          <p:cNvPr id="7" name="Text 5"/>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Une présentation par étape que traverse un dossier, de la planification à l’attribution · écrans, règles appliquées (provenance en note), points d’attention, règles de gestion et données de l’étape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OÙ SE SITUE L’ÉTAPE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Du plan de passation au marché notifié</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Un marché inscrit au plan traverse deux contrôles de la Commission : celui du plan, puis celui de son dossier de consultation — et, après l’évaluation des offres, celui du dossier de marché.</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02</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Planifier</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PRMP saisit et soumet son plan de passation.</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03</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Contrôler</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Commission examine ; le PV est visé et signé.</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04 · 05</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Préparer</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fiche du DAO produit le dossier d’appel d’offres.</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06 · 07</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 Consulter</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b="1" dirty="0">
                <a:solidFill>
                  <a:srgbClr val="1B2A3A"/>
                </a:solidFill>
                <a:latin typeface="Segoe UI" pitchFamily="34" charset="0"/>
                <a:ea typeface="Segoe UI" pitchFamily="34" charset="-122"/>
                <a:cs typeface="Segoe UI" pitchFamily="34" charset="-120"/>
              </a:rPr>
              <a:t>Cette présentation.</a:t>
            </a:r>
            <a:pPr indent="0" marL="0">
              <a:buNone/>
            </a:pPr>
            <a:r>
              <a:rPr lang="en-US" sz="1150" dirty="0">
                <a:solidFill>
                  <a:srgbClr val="465568"/>
                </a:solidFill>
                <a:latin typeface="Segoe UI" pitchFamily="34" charset="0"/>
                <a:ea typeface="Segoe UI" pitchFamily="34" charset="-122"/>
                <a:cs typeface="Segoe UI" pitchFamily="34" charset="-120"/>
              </a:rPr>
              <a:t> Les offres arrivent en ligne, scellées, puis s’ouvrent en séance.</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08</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Évaluer</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commission d’appel d’offres évalue et propose l’attributaire.</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09</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Attribuer</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Le marché est contrôlé, signé, notifié et publié.</a:t>
            </a:r>
            <a:endParaRPr lang="en-US" sz="1150" dirty="0"/>
          </a:p>
        </p:txBody>
      </p:sp>
      <p:sp>
        <p:nvSpPr>
          <p:cNvPr id="34" name="Text 32"/>
          <p:cNvSpPr/>
          <p:nvPr/>
        </p:nvSpPr>
        <p:spPr>
          <a:xfrm>
            <a:off x="812780" y="3937000"/>
            <a:ext cx="10566136" cy="762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Cette présentation couvre l’étape </a:t>
            </a:r>
            <a:pPr indent="0" marL="0">
              <a:buNone/>
            </a:pPr>
            <a:r>
              <a:rPr lang="en-US" sz="1300" b="1" dirty="0">
                <a:solidFill>
                  <a:srgbClr val="1B2A3A"/>
                </a:solidFill>
                <a:latin typeface="Segoe UI" pitchFamily="34" charset="0"/>
                <a:ea typeface="Segoe UI" pitchFamily="34" charset="-122"/>
                <a:cs typeface="Segoe UI" pitchFamily="34" charset="-120"/>
              </a:rPr>
              <a:t>06 — Recevoir les offres en ligne</a:t>
            </a:r>
            <a:pPr indent="0" marL="0">
              <a:buNone/>
            </a:pPr>
            <a:r>
              <a:rPr lang="en-US" sz="1300" dirty="0">
                <a:solidFill>
                  <a:srgbClr val="465568"/>
                </a:solidFill>
                <a:latin typeface="Segoe UI" pitchFamily="34" charset="0"/>
                <a:ea typeface="Segoe UI" pitchFamily="34" charset="-122"/>
                <a:cs typeface="Segoe UI" pitchFamily="34" charset="-120"/>
              </a:rPr>
              <a:t>. Les autres étapes ont chacune leur présentation ; l’entrée dans l’application, l’intérim, l’administration et le pilotage sont dans la présentation d’ensemble.</a:t>
            </a:r>
            <a:endParaRPr lang="en-US" sz="1300" dirty="0"/>
          </a:p>
        </p:txBody>
      </p:sp>
      <p:sp>
        <p:nvSpPr>
          <p:cNvPr id="35" name="Text 3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06</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Recevoir les offres en ligne</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Les entreprises retirent le dossier, posent leurs questions, remplissent et déposent leur offre en ligne ; l’offre est scellée sur leur poste et personne ne peut la lire avant la séance d’ouverture.</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Une offre déposée en ligne est scellée sur le poste de l’entreprise : jusqu’à la séance, ni la PRMP, ni l’Administrateur, ni la plateforme ne peuvent en lire le contenu ou le prix.</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Chaque geste est daté par l’horloge du serveur et prouvé : accusé de dépôt avec empreinte, registre des retraits, registre des dépôts, et désormais toute tentative de dépôt refusée hors délai (art. 44).</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Les questions des candidats et leurs réponses sont publiées pour tous, sans nom d’auteur, jusqu’à dix jours avant la date limite (art. 35-II), puis jointes au dossier soumis à la Commission.</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06 · Recevoir les offres en ligne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RECEVOIR LES OFFRES EN LIGNE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 l’avis publié à l’offre scellée</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L’entreprise agit seule, depuis son espace candidat ; la PRMP valide les frais de dossier et suit les registres ; la commission d’appel d’offres et le dépositaire détiennent les clés qui ouvriront les offres.</a:t>
            </a:r>
            <a:endParaRPr lang="en-US" sz="1300" dirty="0"/>
          </a:p>
        </p:txBody>
      </p:sp>
      <p:sp>
        <p:nvSpPr>
          <p:cNvPr id="5" name="Shape 3"/>
          <p:cNvSpPr/>
          <p:nvPr/>
        </p:nvSpPr>
        <p:spPr>
          <a:xfrm>
            <a:off x="812780" y="1778000"/>
            <a:ext cx="1389708" cy="1905000"/>
          </a:xfrm>
          <a:prstGeom prst="roundRect">
            <a:avLst>
              <a:gd name="adj" fmla="val 3948"/>
            </a:avLst>
          </a:prstGeom>
          <a:solidFill>
            <a:srgbClr val="FCFCFA"/>
          </a:solidFill>
          <a:ln w="19050">
            <a:solidFill>
              <a:srgbClr val="12324A"/>
            </a:solidFill>
            <a:prstDash val="solid"/>
          </a:ln>
        </p:spPr>
      </p:sp>
      <p:sp>
        <p:nvSpPr>
          <p:cNvPr id="6" name="Text 4"/>
          <p:cNvSpPr/>
          <p:nvPr/>
        </p:nvSpPr>
        <p:spPr>
          <a:xfrm>
            <a:off x="901677"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COMMISSION D’APPEL D’OFFRES, DÉPOSITAIRE</a:t>
            </a:r>
            <a:endParaRPr lang="en-US" sz="1000" dirty="0"/>
          </a:p>
        </p:txBody>
      </p:sp>
      <p:sp>
        <p:nvSpPr>
          <p:cNvPr id="7" name="Text 5"/>
          <p:cNvSpPr/>
          <p:nvPr/>
        </p:nvSpPr>
        <p:spPr>
          <a:xfrm>
            <a:off x="901677"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Les clés en place</a:t>
            </a:r>
            <a:endParaRPr lang="en-US" sz="1400" dirty="0"/>
          </a:p>
        </p:txBody>
      </p:sp>
      <p:sp>
        <p:nvSpPr>
          <p:cNvPr id="8" name="Text 6"/>
          <p:cNvSpPr/>
          <p:nvPr/>
        </p:nvSpPr>
        <p:spPr>
          <a:xfrm>
            <a:off x="901677"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Les membres de la commission et le dépositaire publient leur clé : sans cérémonie close, l’avis ne paraît pas.</a:t>
            </a:r>
            <a:endParaRPr lang="en-US" sz="1150" dirty="0"/>
          </a:p>
        </p:txBody>
      </p:sp>
      <p:sp>
        <p:nvSpPr>
          <p:cNvPr id="9" name="Text 7"/>
          <p:cNvSpPr/>
          <p:nvPr/>
        </p:nvSpPr>
        <p:spPr>
          <a:xfrm>
            <a:off x="2189788"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342184" y="1778000"/>
            <a:ext cx="1389708" cy="1905000"/>
          </a:xfrm>
          <a:prstGeom prst="roundRect">
            <a:avLst>
              <a:gd name="adj" fmla="val 3948"/>
            </a:avLst>
          </a:prstGeom>
          <a:solidFill>
            <a:srgbClr val="FCFCFA"/>
          </a:solidFill>
          <a:ln w="19050">
            <a:solidFill>
              <a:srgbClr val="12324A"/>
            </a:solidFill>
            <a:prstDash val="solid"/>
          </a:ln>
        </p:spPr>
      </p:sp>
      <p:sp>
        <p:nvSpPr>
          <p:cNvPr id="11" name="Text 9"/>
          <p:cNvSpPr/>
          <p:nvPr/>
        </p:nvSpPr>
        <p:spPr>
          <a:xfrm>
            <a:off x="2431082"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CANDIDAT</a:t>
            </a:r>
            <a:endParaRPr lang="en-US" sz="1000" dirty="0"/>
          </a:p>
        </p:txBody>
      </p:sp>
      <p:sp>
        <p:nvSpPr>
          <p:cNvPr id="12" name="Text 10"/>
          <p:cNvSpPr/>
          <p:nvPr/>
        </p:nvSpPr>
        <p:spPr>
          <a:xfrm>
            <a:off x="2431082"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S’inscrire, déclarer son entreprise</a:t>
            </a:r>
            <a:endParaRPr lang="en-US" sz="1400" dirty="0"/>
          </a:p>
        </p:txBody>
      </p:sp>
      <p:sp>
        <p:nvSpPr>
          <p:cNvPr id="13" name="Text 11"/>
          <p:cNvSpPr/>
          <p:nvPr/>
        </p:nvSpPr>
        <p:spPr>
          <a:xfrm>
            <a:off x="2431082"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Un compte confirmé par un code reçu par courriel, puis l’entreprise déclarée une fois pour toutes (NIF, STAT, RCS).</a:t>
            </a:r>
            <a:endParaRPr lang="en-US" sz="1150" dirty="0"/>
          </a:p>
        </p:txBody>
      </p:sp>
      <p:sp>
        <p:nvSpPr>
          <p:cNvPr id="14" name="Text 12"/>
          <p:cNvSpPr/>
          <p:nvPr/>
        </p:nvSpPr>
        <p:spPr>
          <a:xfrm>
            <a:off x="3719193"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3871589" y="1778000"/>
            <a:ext cx="1389708" cy="1905000"/>
          </a:xfrm>
          <a:prstGeom prst="roundRect">
            <a:avLst>
              <a:gd name="adj" fmla="val 3948"/>
            </a:avLst>
          </a:prstGeom>
          <a:solidFill>
            <a:srgbClr val="FCFCFA"/>
          </a:solidFill>
          <a:ln w="19050">
            <a:solidFill>
              <a:srgbClr val="12324A"/>
            </a:solidFill>
            <a:prstDash val="solid"/>
          </a:ln>
        </p:spPr>
      </p:sp>
      <p:sp>
        <p:nvSpPr>
          <p:cNvPr id="16" name="Text 14"/>
          <p:cNvSpPr/>
          <p:nvPr/>
        </p:nvSpPr>
        <p:spPr>
          <a:xfrm>
            <a:off x="3960487"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CANDIDAT, PRMP</a:t>
            </a:r>
            <a:endParaRPr lang="en-US" sz="1000" dirty="0"/>
          </a:p>
        </p:txBody>
      </p:sp>
      <p:sp>
        <p:nvSpPr>
          <p:cNvPr id="17" name="Text 15"/>
          <p:cNvSpPr/>
          <p:nvPr/>
        </p:nvSpPr>
        <p:spPr>
          <a:xfrm>
            <a:off x="3960487"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Payer, puis retirer le dossier</a:t>
            </a:r>
            <a:endParaRPr lang="en-US" sz="1400" dirty="0"/>
          </a:p>
        </p:txBody>
      </p:sp>
      <p:sp>
        <p:nvSpPr>
          <p:cNvPr id="18" name="Text 16"/>
          <p:cNvSpPr/>
          <p:nvPr/>
        </p:nvSpPr>
        <p:spPr>
          <a:xfrm>
            <a:off x="3960487"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reçu du versement est déposé ; une fois validé, le dossier se retire et chaque retrait est inscrit au registre.</a:t>
            </a:r>
            <a:endParaRPr lang="en-US" sz="1150" dirty="0"/>
          </a:p>
        </p:txBody>
      </p:sp>
      <p:sp>
        <p:nvSpPr>
          <p:cNvPr id="19" name="Text 17"/>
          <p:cNvSpPr/>
          <p:nvPr/>
        </p:nvSpPr>
        <p:spPr>
          <a:xfrm>
            <a:off x="5248597"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5400994" y="1778000"/>
            <a:ext cx="1389708" cy="1905000"/>
          </a:xfrm>
          <a:prstGeom prst="roundRect">
            <a:avLst>
              <a:gd name="adj" fmla="val 3948"/>
            </a:avLst>
          </a:prstGeom>
          <a:solidFill>
            <a:srgbClr val="FCFCFA"/>
          </a:solidFill>
          <a:ln w="19050">
            <a:solidFill>
              <a:srgbClr val="12324A"/>
            </a:solidFill>
            <a:prstDash val="solid"/>
          </a:ln>
        </p:spPr>
      </p:sp>
      <p:sp>
        <p:nvSpPr>
          <p:cNvPr id="21" name="Text 19"/>
          <p:cNvSpPr/>
          <p:nvPr/>
        </p:nvSpPr>
        <p:spPr>
          <a:xfrm>
            <a:off x="5489891"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CANDIDAT, PRMP</a:t>
            </a:r>
            <a:endParaRPr lang="en-US" sz="1000" dirty="0"/>
          </a:p>
        </p:txBody>
      </p:sp>
      <p:sp>
        <p:nvSpPr>
          <p:cNvPr id="22" name="Text 20"/>
          <p:cNvSpPr/>
          <p:nvPr/>
        </p:nvSpPr>
        <p:spPr>
          <a:xfrm>
            <a:off x="5489891"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Poser ses questions</a:t>
            </a:r>
            <a:endParaRPr lang="en-US" sz="1400" dirty="0"/>
          </a:p>
        </p:txBody>
      </p:sp>
      <p:sp>
        <p:nvSpPr>
          <p:cNvPr id="23" name="Text 21"/>
          <p:cNvSpPr/>
          <p:nvPr/>
        </p:nvSpPr>
        <p:spPr>
          <a:xfrm>
            <a:off x="5489891"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Jusqu’à dix jours avant la date limite ; la réponse est diffusée à tous les candidats.</a:t>
            </a:r>
            <a:endParaRPr lang="en-US" sz="1150" dirty="0"/>
          </a:p>
        </p:txBody>
      </p:sp>
      <p:sp>
        <p:nvSpPr>
          <p:cNvPr id="24" name="Text 22"/>
          <p:cNvSpPr/>
          <p:nvPr/>
        </p:nvSpPr>
        <p:spPr>
          <a:xfrm>
            <a:off x="6778002"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6930398" y="1778000"/>
            <a:ext cx="1389708" cy="1905000"/>
          </a:xfrm>
          <a:prstGeom prst="roundRect">
            <a:avLst>
              <a:gd name="adj" fmla="val 3948"/>
            </a:avLst>
          </a:prstGeom>
          <a:solidFill>
            <a:srgbClr val="FCFCFA"/>
          </a:solidFill>
          <a:ln w="19050">
            <a:solidFill>
              <a:srgbClr val="12324A"/>
            </a:solidFill>
            <a:prstDash val="solid"/>
          </a:ln>
        </p:spPr>
      </p:sp>
      <p:sp>
        <p:nvSpPr>
          <p:cNvPr id="26" name="Text 24"/>
          <p:cNvSpPr/>
          <p:nvPr/>
        </p:nvSpPr>
        <p:spPr>
          <a:xfrm>
            <a:off x="7019296"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CANDIDAT</a:t>
            </a:r>
            <a:endParaRPr lang="en-US" sz="1000" dirty="0"/>
          </a:p>
        </p:txBody>
      </p:sp>
      <p:sp>
        <p:nvSpPr>
          <p:cNvPr id="27" name="Text 25"/>
          <p:cNvSpPr/>
          <p:nvPr/>
        </p:nvSpPr>
        <p:spPr>
          <a:xfrm>
            <a:off x="7019296"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Remplir l’offre en ligne</a:t>
            </a:r>
            <a:endParaRPr lang="en-US" sz="1400" dirty="0"/>
          </a:p>
        </p:txBody>
      </p:sp>
      <p:sp>
        <p:nvSpPr>
          <p:cNvPr id="28" name="Text 26"/>
          <p:cNvSpPr/>
          <p:nvPr/>
        </p:nvSpPr>
        <p:spPr>
          <a:xfrm>
            <a:off x="7019296"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Bordereau ou devis quantitatif, conformité, capacités, personnel, matériel : l’acte d’engagement se calcule.</a:t>
            </a:r>
            <a:endParaRPr lang="en-US" sz="1150" dirty="0"/>
          </a:p>
        </p:txBody>
      </p:sp>
      <p:sp>
        <p:nvSpPr>
          <p:cNvPr id="29" name="Text 27"/>
          <p:cNvSpPr/>
          <p:nvPr/>
        </p:nvSpPr>
        <p:spPr>
          <a:xfrm>
            <a:off x="8307407"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8459803" y="1778000"/>
            <a:ext cx="1389708" cy="1905000"/>
          </a:xfrm>
          <a:prstGeom prst="roundRect">
            <a:avLst>
              <a:gd name="adj" fmla="val 3948"/>
            </a:avLst>
          </a:prstGeom>
          <a:solidFill>
            <a:srgbClr val="FCFCFA"/>
          </a:solidFill>
          <a:ln w="19050">
            <a:solidFill>
              <a:srgbClr val="12324A"/>
            </a:solidFill>
            <a:prstDash val="solid"/>
          </a:ln>
        </p:spPr>
      </p:sp>
      <p:sp>
        <p:nvSpPr>
          <p:cNvPr id="31" name="Text 29"/>
          <p:cNvSpPr/>
          <p:nvPr/>
        </p:nvSpPr>
        <p:spPr>
          <a:xfrm>
            <a:off x="8548701"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CANDIDAT</a:t>
            </a:r>
            <a:endParaRPr lang="en-US" sz="1000" dirty="0"/>
          </a:p>
        </p:txBody>
      </p:sp>
      <p:sp>
        <p:nvSpPr>
          <p:cNvPr id="32" name="Text 30"/>
          <p:cNvSpPr/>
          <p:nvPr/>
        </p:nvSpPr>
        <p:spPr>
          <a:xfrm>
            <a:off x="8548701"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Sceller et déposer</a:t>
            </a:r>
            <a:endParaRPr lang="en-US" sz="1400" dirty="0"/>
          </a:p>
        </p:txBody>
      </p:sp>
      <p:sp>
        <p:nvSpPr>
          <p:cNvPr id="33" name="Text 31"/>
          <p:cNvSpPr/>
          <p:nvPr/>
        </p:nvSpPr>
        <p:spPr>
          <a:xfrm>
            <a:off x="8548701"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L’offre est chiffrée sur le poste de l’entreprise ; un accusé portant son empreinte est délivré.</a:t>
            </a:r>
            <a:endParaRPr lang="en-US" sz="1150" dirty="0"/>
          </a:p>
        </p:txBody>
      </p:sp>
      <p:sp>
        <p:nvSpPr>
          <p:cNvPr id="34" name="Text 32"/>
          <p:cNvSpPr/>
          <p:nvPr/>
        </p:nvSpPr>
        <p:spPr>
          <a:xfrm>
            <a:off x="9836811"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5" name="Shape 33"/>
          <p:cNvSpPr/>
          <p:nvPr/>
        </p:nvSpPr>
        <p:spPr>
          <a:xfrm>
            <a:off x="9989207" y="1778000"/>
            <a:ext cx="1389708" cy="1905000"/>
          </a:xfrm>
          <a:prstGeom prst="roundRect">
            <a:avLst>
              <a:gd name="adj" fmla="val 3948"/>
            </a:avLst>
          </a:prstGeom>
          <a:solidFill>
            <a:srgbClr val="12324A"/>
          </a:solidFill>
          <a:ln w="19050">
            <a:solidFill>
              <a:srgbClr val="12324A"/>
            </a:solidFill>
            <a:prstDash val="solid"/>
          </a:ln>
        </p:spPr>
      </p:sp>
      <p:sp>
        <p:nvSpPr>
          <p:cNvPr id="36" name="Text 34"/>
          <p:cNvSpPr/>
          <p:nvPr/>
        </p:nvSpPr>
        <p:spPr>
          <a:xfrm>
            <a:off x="10078105" y="1866900"/>
            <a:ext cx="12119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PRMP</a:t>
            </a:r>
            <a:endParaRPr lang="en-US" sz="1000" dirty="0"/>
          </a:p>
        </p:txBody>
      </p:sp>
      <p:sp>
        <p:nvSpPr>
          <p:cNvPr id="37" name="Text 35"/>
          <p:cNvSpPr/>
          <p:nvPr/>
        </p:nvSpPr>
        <p:spPr>
          <a:xfrm>
            <a:off x="10078105" y="2095500"/>
            <a:ext cx="12119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Les dépôts clos</a:t>
            </a:r>
            <a:endParaRPr lang="en-US" sz="1400" dirty="0"/>
          </a:p>
        </p:txBody>
      </p:sp>
      <p:sp>
        <p:nvSpPr>
          <p:cNvPr id="38" name="Text 36"/>
          <p:cNvSpPr/>
          <p:nvPr/>
        </p:nvSpPr>
        <p:spPr>
          <a:xfrm>
            <a:off x="10078105" y="2603500"/>
            <a:ext cx="12119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À la date limite, la PRMP lit le registre complet ; toute tentative tardive est refusée et consignée.</a:t>
            </a:r>
            <a:endParaRPr lang="en-US" sz="1150" dirty="0"/>
          </a:p>
        </p:txBody>
      </p:sp>
      <p:sp>
        <p:nvSpPr>
          <p:cNvPr id="39" name="Text 3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RECEVOIR LES OFFRES EN LIGNE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Ceux qui ouvriront les offres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Avant même la publication de l’avis, chaque membre de la commission d’appel d’offres et un dépositaire indépendant génèrent leur clé sur leur propre poste. Ce sont ces clés qui scellent les offres.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COMMISSION D’APPEL D’OFFRES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procédures du membre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rocédures du memb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Un membre de la commission d’appel d’offres, ici son président.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appels d’offres où il siège, avec sa qualité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président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date limite des 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chacun, l’état de sa clé (« Clé publiée ») et celui de la cérémonie des clés (« Cérémonie close — clés publiées »).</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RG-OFF-25 · RG-OFF-27</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COMMISSION D’APPEL D’OFFRES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Sa part de clé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Sa part de cl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cérémonie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3 parts, quorum 2</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close avant la publication de l’avis.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L’empreinte de sa clé publiée ; il peut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vérifier sa part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garder une copie, la remplacer ou la déclarer perdue.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L’écran avertit quand la marge est épuisée : une part de plus perdue rendrait les offres illisibles.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RG-OFF-27 · RG-OFF-28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DÉPOSITAIRE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L’espace du dépositaire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pace du déposita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dépositaire de la part de secours.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génère sa clé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sur son propre poste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garde seul la phrase qui la protège.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ne voit que l’état de sa part, de la cérémonie et de la séance : jamais les offres ni leurs pièces.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RG-OFF-29 · RG-OFF-30</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RECEVOIR LES OFFRES EN LIGNE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L’entreprise entre dans la procédure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Les procédures se consultent sans compte. Pour retirer le dossier et déposer une offre, l’entreprise ouvre un compte et se déclare une fois pour toutes.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procédures ouvertes</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procédures ouvertes">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Toute entreprise,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Référence, objet, lots, date limite et heure de référence de chaque procédure en remise électronique.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date limite la plus proche d’abord. (Capture du 08/10 : toutes les procédures de démonstration sont closes aujourd’hui, la liste est vide.)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RG-OFF-06</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détail d’une procédure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étail d’une procédu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Toute entreprise,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calendrier à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heure du serveur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les lots, les règles de la remise électronique (signature simple, formats, tailles) et l’assistance.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Après la séance : le PV d’ouverture publié, puis le résultat de l’appel d’offres.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se retire avec un compte ; les questions des candidats et les réponses diffusées se lisent ici.</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RG-OFF-06 · RG-OFF-07 · RG-OFF-34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Créer un compte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réer un compt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personne qui représente l’entreprise.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compte par entreprise : nom, adresse électronique (l’identifiant), téléphone, mot de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code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reçu par courriel confirme le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RG-OFF-01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Son entreprise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Son entrepri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Raison sociale, NIF, STAT, RCS, adresse et représentant, déclarés une fois ; un NIF, un STAT ou un RCS n’appartient qu’à une seule entreprise.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carte fiscale téléversée permet à l’Administrateur de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vérifier le NIF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 vérification ne bloque aucun dépôt, la commission en lit l’état à l’ouverture.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RG-OFF-02 · RG-OFF-03 · RG-OFF-04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RECEVOIR LES OFFRES EN LIGNE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Les frais de dossier, puis le retrait</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Quand la fiche fixe des frais, l’entreprise dépose le reçu de son versement ; la PRMP le valide ou le refuse avec un motif. La plateforme n’encaisse rien.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retrait attend le reçu</a:t>
            </a:r>
            <a:endParaRPr lang="en-US" sz="2600" dirty="0"/>
          </a:p>
        </p:txBody>
      </p:sp>
      <p:sp>
        <p:nvSpPr>
          <p:cNvPr id="4" name="Shape 2"/>
          <p:cNvSpPr/>
          <p:nvPr/>
        </p:nvSpPr>
        <p:spPr>
          <a:xfrm>
            <a:off x="1583090" y="1193800"/>
            <a:ext cx="9025515" cy="3327400"/>
          </a:xfrm>
          <a:prstGeom prst="rect">
            <a:avLst/>
          </a:prstGeom>
          <a:solidFill>
            <a:srgbClr val="FCFCFA"/>
          </a:solidFill>
          <a:ln w="9525">
            <a:solidFill>
              <a:srgbClr val="D5DCE4"/>
            </a:solidFill>
            <a:prstDash val="solid"/>
          </a:ln>
        </p:spPr>
      </p:sp>
      <p:pic>
        <p:nvPicPr>
          <p:cNvPr id="5" name="Image 0" descr="Le retrait attend le reçu">    </p:cNvPr>
          <p:cNvPicPr>
            <a:picLocks noChangeAspect="1"/>
          </p:cNvPicPr>
          <p:nvPr/>
        </p:nvPicPr>
        <p:blipFill>
          <a:blip r:embed="rId1"/>
          <a:stretch>
            <a:fillRect/>
          </a:stretch>
        </p:blipFill>
        <p:spPr>
          <a:xfrm>
            <a:off x="1595790" y="1206500"/>
            <a:ext cx="9000116"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connecté.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frais du dossier sont affichés ; les boutons « Retirer » restent inactifs et l’écran dit pourquoi.</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RG-OFF-09</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Déposer le reçu du versement</a:t>
            </a:r>
            <a:endParaRPr lang="en-US" sz="2600" dirty="0"/>
          </a:p>
        </p:txBody>
      </p:sp>
      <p:sp>
        <p:nvSpPr>
          <p:cNvPr id="4" name="Shape 2"/>
          <p:cNvSpPr/>
          <p:nvPr/>
        </p:nvSpPr>
        <p:spPr>
          <a:xfrm>
            <a:off x="800080" y="1193800"/>
            <a:ext cx="10591535" cy="3083142"/>
          </a:xfrm>
          <a:prstGeom prst="rect">
            <a:avLst/>
          </a:prstGeom>
          <a:solidFill>
            <a:srgbClr val="FCFCFA"/>
          </a:solidFill>
          <a:ln w="9525">
            <a:solidFill>
              <a:srgbClr val="D5DCE4"/>
            </a:solidFill>
            <a:prstDash val="solid"/>
          </a:ln>
        </p:spPr>
      </p:sp>
      <p:pic>
        <p:nvPicPr>
          <p:cNvPr id="5" name="Image 0" descr="Déposer le reçu du versement">    </p:cNvPr>
          <p:cNvPicPr>
            <a:picLocks noChangeAspect="1"/>
          </p:cNvPicPr>
          <p:nvPr/>
        </p:nvPicPr>
        <p:blipFill>
          <a:blip r:embed="rId1"/>
          <a:stretch>
            <a:fillRect/>
          </a:stretch>
        </p:blipFill>
        <p:spPr>
          <a:xfrm>
            <a:off x="812780" y="1206500"/>
            <a:ext cx="10566136" cy="3057742"/>
          </a:xfrm>
          <a:prstGeom prst="rect">
            <a:avLst/>
          </a:prstGeom>
        </p:spPr>
      </p:pic>
      <p:sp>
        <p:nvSpPr>
          <p:cNvPr id="6" name="Shape 3"/>
          <p:cNvSpPr/>
          <p:nvPr/>
        </p:nvSpPr>
        <p:spPr>
          <a:xfrm>
            <a:off x="812780" y="4416642"/>
            <a:ext cx="10566136" cy="1790700"/>
          </a:xfrm>
          <a:prstGeom prst="rect">
            <a:avLst/>
          </a:prstGeom>
          <a:solidFill>
            <a:srgbClr val="FCFCFA"/>
          </a:solidFill>
          <a:ln w="9525">
            <a:solidFill>
              <a:srgbClr val="D5DCE4"/>
            </a:solidFill>
            <a:prstDash val="solid"/>
          </a:ln>
        </p:spPr>
      </p:sp>
      <p:sp>
        <p:nvSpPr>
          <p:cNvPr id="7" name="Shape 4"/>
          <p:cNvSpPr/>
          <p:nvPr/>
        </p:nvSpPr>
        <p:spPr>
          <a:xfrm>
            <a:off x="812780" y="4416642"/>
            <a:ext cx="38099" cy="1790700"/>
          </a:xfrm>
          <a:prstGeom prst="rect">
            <a:avLst/>
          </a:prstGeom>
          <a:solidFill>
            <a:srgbClr val="1B6FA8"/>
          </a:solidFill>
          <a:ln/>
        </p:spPr>
      </p:sp>
      <p:sp>
        <p:nvSpPr>
          <p:cNvPr id="8" name="Text 5"/>
          <p:cNvSpPr/>
          <p:nvPr/>
        </p:nvSpPr>
        <p:spPr>
          <a:xfrm>
            <a:off x="977876" y="4518242"/>
            <a:ext cx="10274043" cy="16002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Montant, référence, date, banque, lots couverts, et le reçu (PDF ou image).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RG-OFF-09 · RG-OFF-10</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reçu attend la décision</a:t>
            </a:r>
            <a:endParaRPr lang="en-US" sz="2600" dirty="0"/>
          </a:p>
        </p:txBody>
      </p:sp>
      <p:sp>
        <p:nvSpPr>
          <p:cNvPr id="4" name="Shape 2"/>
          <p:cNvSpPr/>
          <p:nvPr/>
        </p:nvSpPr>
        <p:spPr>
          <a:xfrm>
            <a:off x="800080" y="1193800"/>
            <a:ext cx="10591535" cy="1509038"/>
          </a:xfrm>
          <a:prstGeom prst="rect">
            <a:avLst/>
          </a:prstGeom>
          <a:solidFill>
            <a:srgbClr val="FCFCFA"/>
          </a:solidFill>
          <a:ln w="9525">
            <a:solidFill>
              <a:srgbClr val="D5DCE4"/>
            </a:solidFill>
            <a:prstDash val="solid"/>
          </a:ln>
        </p:spPr>
      </p:sp>
      <p:pic>
        <p:nvPicPr>
          <p:cNvPr id="5" name="Image 0" descr="Le reçu attend la décision">    </p:cNvPr>
          <p:cNvPicPr>
            <a:picLocks noChangeAspect="1"/>
          </p:cNvPicPr>
          <p:nvPr/>
        </p:nvPicPr>
        <p:blipFill>
          <a:blip r:embed="rId1"/>
          <a:stretch>
            <a:fillRect/>
          </a:stretch>
        </p:blipFill>
        <p:spPr>
          <a:xfrm>
            <a:off x="812780" y="1206500"/>
            <a:ext cx="10566136" cy="1483638"/>
          </a:xfrm>
          <a:prstGeom prst="rect">
            <a:avLst/>
          </a:prstGeom>
        </p:spPr>
      </p:pic>
      <p:sp>
        <p:nvSpPr>
          <p:cNvPr id="6" name="Shape 3"/>
          <p:cNvSpPr/>
          <p:nvPr/>
        </p:nvSpPr>
        <p:spPr>
          <a:xfrm>
            <a:off x="812780" y="2842538"/>
            <a:ext cx="10566136" cy="1790700"/>
          </a:xfrm>
          <a:prstGeom prst="rect">
            <a:avLst/>
          </a:prstGeom>
          <a:solidFill>
            <a:srgbClr val="FCFCFA"/>
          </a:solidFill>
          <a:ln w="9525">
            <a:solidFill>
              <a:srgbClr val="D5DCE4"/>
            </a:solidFill>
            <a:prstDash val="solid"/>
          </a:ln>
        </p:spPr>
      </p:sp>
      <p:sp>
        <p:nvSpPr>
          <p:cNvPr id="7" name="Shape 4"/>
          <p:cNvSpPr/>
          <p:nvPr/>
        </p:nvSpPr>
        <p:spPr>
          <a:xfrm>
            <a:off x="812780" y="2842538"/>
            <a:ext cx="38099" cy="1790700"/>
          </a:xfrm>
          <a:prstGeom prst="rect">
            <a:avLst/>
          </a:prstGeom>
          <a:solidFill>
            <a:srgbClr val="1B6FA8"/>
          </a:solidFill>
          <a:ln/>
        </p:spPr>
      </p:sp>
      <p:sp>
        <p:nvSpPr>
          <p:cNvPr id="8" name="Text 5"/>
          <p:cNvSpPr/>
          <p:nvPr/>
        </p:nvSpPr>
        <p:spPr>
          <a:xfrm>
            <a:off x="977876" y="2944138"/>
            <a:ext cx="10274043" cy="16002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L’état du reçu et son document ; tant qu’il n’est pas validé, le dossier ne se retire pas.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RG-OFF-09 · RG-OFF-12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Refuser un reçu, avec un motif</a:t>
            </a:r>
            <a:endParaRPr lang="en-US" sz="2600" dirty="0"/>
          </a:p>
        </p:txBody>
      </p:sp>
      <p:sp>
        <p:nvSpPr>
          <p:cNvPr id="4" name="Shape 2"/>
          <p:cNvSpPr/>
          <p:nvPr/>
        </p:nvSpPr>
        <p:spPr>
          <a:xfrm>
            <a:off x="1765256" y="1193800"/>
            <a:ext cx="8661183" cy="3327400"/>
          </a:xfrm>
          <a:prstGeom prst="rect">
            <a:avLst/>
          </a:prstGeom>
          <a:solidFill>
            <a:srgbClr val="FCFCFA"/>
          </a:solidFill>
          <a:ln w="9525">
            <a:solidFill>
              <a:srgbClr val="D5DCE4"/>
            </a:solidFill>
            <a:prstDash val="solid"/>
          </a:ln>
        </p:spPr>
      </p:sp>
      <p:pic>
        <p:nvPicPr>
          <p:cNvPr id="5" name="Image 0" descr="Refuser un reçu, avec un motif">    </p:cNvPr>
          <p:cNvPicPr>
            <a:picLocks noChangeAspect="1"/>
          </p:cNvPicPr>
          <p:nvPr/>
        </p:nvPicPr>
        <p:blipFill>
          <a:blip r:embed="rId1"/>
          <a:stretch>
            <a:fillRect/>
          </a:stretch>
        </p:blipFill>
        <p:spPr>
          <a:xfrm>
            <a:off x="1777956" y="1206500"/>
            <a:ext cx="8635784"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refus exige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transmis par courriel ; l’entreprise dépose un nouveau reçu.</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décision ne se reprend pas. La liste des reçus de la PRMP est présentée avec la préparation du DAO (partie 04).</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RG-OFF-11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Reçu refusé : le motif</a:t>
            </a:r>
            <a:endParaRPr lang="en-US" sz="2600" dirty="0"/>
          </a:p>
        </p:txBody>
      </p:sp>
      <p:sp>
        <p:nvSpPr>
          <p:cNvPr id="4" name="Shape 2"/>
          <p:cNvSpPr/>
          <p:nvPr/>
        </p:nvSpPr>
        <p:spPr>
          <a:xfrm>
            <a:off x="800080" y="1193800"/>
            <a:ext cx="10591535" cy="2359416"/>
          </a:xfrm>
          <a:prstGeom prst="rect">
            <a:avLst/>
          </a:prstGeom>
          <a:solidFill>
            <a:srgbClr val="FCFCFA"/>
          </a:solidFill>
          <a:ln w="9525">
            <a:solidFill>
              <a:srgbClr val="D5DCE4"/>
            </a:solidFill>
            <a:prstDash val="solid"/>
          </a:ln>
        </p:spPr>
      </p:sp>
      <p:pic>
        <p:nvPicPr>
          <p:cNvPr id="5" name="Image 0" descr="Reçu refusé : le motif">    </p:cNvPr>
          <p:cNvPicPr>
            <a:picLocks noChangeAspect="1"/>
          </p:cNvPicPr>
          <p:nvPr/>
        </p:nvPicPr>
        <p:blipFill>
          <a:blip r:embed="rId1"/>
          <a:stretch>
            <a:fillRect/>
          </a:stretch>
        </p:blipFill>
        <p:spPr>
          <a:xfrm>
            <a:off x="812780" y="1206500"/>
            <a:ext cx="10566136" cy="2334016"/>
          </a:xfrm>
          <a:prstGeom prst="rect">
            <a:avLst/>
          </a:prstGeom>
        </p:spPr>
      </p:pic>
      <p:sp>
        <p:nvSpPr>
          <p:cNvPr id="6" name="Shape 3"/>
          <p:cNvSpPr/>
          <p:nvPr/>
        </p:nvSpPr>
        <p:spPr>
          <a:xfrm>
            <a:off x="812780" y="3692916"/>
            <a:ext cx="10566136" cy="1790700"/>
          </a:xfrm>
          <a:prstGeom prst="rect">
            <a:avLst/>
          </a:prstGeom>
          <a:solidFill>
            <a:srgbClr val="FCFCFA"/>
          </a:solidFill>
          <a:ln w="9525">
            <a:solidFill>
              <a:srgbClr val="D5DCE4"/>
            </a:solidFill>
            <a:prstDash val="solid"/>
          </a:ln>
        </p:spPr>
      </p:sp>
      <p:sp>
        <p:nvSpPr>
          <p:cNvPr id="7" name="Shape 4"/>
          <p:cNvSpPr/>
          <p:nvPr/>
        </p:nvSpPr>
        <p:spPr>
          <a:xfrm>
            <a:off x="812780" y="3692916"/>
            <a:ext cx="38099" cy="1790700"/>
          </a:xfrm>
          <a:prstGeom prst="rect">
            <a:avLst/>
          </a:prstGeom>
          <a:solidFill>
            <a:srgbClr val="1B6FA8"/>
          </a:solidFill>
          <a:ln/>
        </p:spPr>
      </p:sp>
      <p:sp>
        <p:nvSpPr>
          <p:cNvPr id="8" name="Text 5"/>
          <p:cNvSpPr/>
          <p:nvPr/>
        </p:nvSpPr>
        <p:spPr>
          <a:xfrm>
            <a:off x="977876" y="3794516"/>
            <a:ext cx="10274043" cy="16002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L’ancien reçu et son motif restent visibles ; un nouveau dépôt est proposé.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RG-OFF-11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Reçu validé : le dossier se retire</a:t>
            </a:r>
            <a:endParaRPr lang="en-US" sz="2600" dirty="0"/>
          </a:p>
        </p:txBody>
      </p:sp>
      <p:sp>
        <p:nvSpPr>
          <p:cNvPr id="4" name="Shape 2"/>
          <p:cNvSpPr/>
          <p:nvPr/>
        </p:nvSpPr>
        <p:spPr>
          <a:xfrm>
            <a:off x="800080" y="1193800"/>
            <a:ext cx="10591535" cy="1509038"/>
          </a:xfrm>
          <a:prstGeom prst="rect">
            <a:avLst/>
          </a:prstGeom>
          <a:solidFill>
            <a:srgbClr val="FCFCFA"/>
          </a:solidFill>
          <a:ln w="9525">
            <a:solidFill>
              <a:srgbClr val="D5DCE4"/>
            </a:solidFill>
            <a:prstDash val="solid"/>
          </a:ln>
        </p:spPr>
      </p:sp>
      <p:pic>
        <p:nvPicPr>
          <p:cNvPr id="5" name="Image 0" descr="Reçu validé : le dossier se retire">    </p:cNvPr>
          <p:cNvPicPr>
            <a:picLocks noChangeAspect="1"/>
          </p:cNvPicPr>
          <p:nvPr/>
        </p:nvPicPr>
        <p:blipFill>
          <a:blip r:embed="rId1"/>
          <a:stretch>
            <a:fillRect/>
          </a:stretch>
        </p:blipFill>
        <p:spPr>
          <a:xfrm>
            <a:off x="812780" y="1206500"/>
            <a:ext cx="10566136" cy="1483638"/>
          </a:xfrm>
          <a:prstGeom prst="rect">
            <a:avLst/>
          </a:prstGeom>
        </p:spPr>
      </p:pic>
      <p:sp>
        <p:nvSpPr>
          <p:cNvPr id="6" name="Shape 3"/>
          <p:cNvSpPr/>
          <p:nvPr/>
        </p:nvSpPr>
        <p:spPr>
          <a:xfrm>
            <a:off x="812780" y="2842538"/>
            <a:ext cx="10566136" cy="1790700"/>
          </a:xfrm>
          <a:prstGeom prst="rect">
            <a:avLst/>
          </a:prstGeom>
          <a:solidFill>
            <a:srgbClr val="FCFCFA"/>
          </a:solidFill>
          <a:ln w="9525">
            <a:solidFill>
              <a:srgbClr val="D5DCE4"/>
            </a:solidFill>
            <a:prstDash val="solid"/>
          </a:ln>
        </p:spPr>
      </p:sp>
      <p:sp>
        <p:nvSpPr>
          <p:cNvPr id="7" name="Shape 4"/>
          <p:cNvSpPr/>
          <p:nvPr/>
        </p:nvSpPr>
        <p:spPr>
          <a:xfrm>
            <a:off x="812780" y="2842538"/>
            <a:ext cx="38099" cy="1790700"/>
          </a:xfrm>
          <a:prstGeom prst="rect">
            <a:avLst/>
          </a:prstGeom>
          <a:solidFill>
            <a:srgbClr val="1B6FA8"/>
          </a:solidFill>
          <a:ln/>
        </p:spPr>
      </p:sp>
      <p:sp>
        <p:nvSpPr>
          <p:cNvPr id="8" name="Text 5"/>
          <p:cNvSpPr/>
          <p:nvPr/>
        </p:nvSpPr>
        <p:spPr>
          <a:xfrm>
            <a:off x="977876" y="2944138"/>
            <a:ext cx="10274043" cy="16002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boutons « Retirer » s’ouvrent, ainsi que « Déposer une offre ».</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RG-OFF-09 · RG-OFF-13</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dossier à retirer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ossier à retir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connecté.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dossier d’appel d’offres complet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Word et en PDF, le bordereau des prix et le tableau de conformité.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retrait est inscrit au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registre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la PRMP, avec le compte et l’entreprise (registre présenté en partie 04).</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RG-OFF-08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Sans reçu validé, pas de dépôt</a:t>
            </a:r>
            <a:endParaRPr lang="en-US" sz="2600" dirty="0"/>
          </a:p>
        </p:txBody>
      </p:sp>
      <p:sp>
        <p:nvSpPr>
          <p:cNvPr id="4" name="Shape 2"/>
          <p:cNvSpPr/>
          <p:nvPr/>
        </p:nvSpPr>
        <p:spPr>
          <a:xfrm>
            <a:off x="800080" y="1193800"/>
            <a:ext cx="10591535" cy="2300111"/>
          </a:xfrm>
          <a:prstGeom prst="rect">
            <a:avLst/>
          </a:prstGeom>
          <a:solidFill>
            <a:srgbClr val="FCFCFA"/>
          </a:solidFill>
          <a:ln w="9525">
            <a:solidFill>
              <a:srgbClr val="D5DCE4"/>
            </a:solidFill>
            <a:prstDash val="solid"/>
          </a:ln>
        </p:spPr>
      </p:sp>
      <p:pic>
        <p:nvPicPr>
          <p:cNvPr id="5" name="Image 0" descr="Sans reçu validé, pas de dépôt">    </p:cNvPr>
          <p:cNvPicPr>
            <a:picLocks noChangeAspect="1"/>
          </p:cNvPicPr>
          <p:nvPr/>
        </p:nvPicPr>
        <p:blipFill>
          <a:blip r:embed="rId1"/>
          <a:stretch>
            <a:fillRect/>
          </a:stretch>
        </p:blipFill>
        <p:spPr>
          <a:xfrm>
            <a:off x="812780" y="1206500"/>
            <a:ext cx="10566136" cy="2274711"/>
          </a:xfrm>
          <a:prstGeom prst="rect">
            <a:avLst/>
          </a:prstGeom>
        </p:spPr>
      </p:pic>
      <p:sp>
        <p:nvSpPr>
          <p:cNvPr id="6" name="Shape 3"/>
          <p:cNvSpPr/>
          <p:nvPr/>
        </p:nvSpPr>
        <p:spPr>
          <a:xfrm>
            <a:off x="812780" y="3633611"/>
            <a:ext cx="10566136" cy="1790700"/>
          </a:xfrm>
          <a:prstGeom prst="rect">
            <a:avLst/>
          </a:prstGeom>
          <a:solidFill>
            <a:srgbClr val="FCFCFA"/>
          </a:solidFill>
          <a:ln w="9525">
            <a:solidFill>
              <a:srgbClr val="D5DCE4"/>
            </a:solidFill>
            <a:prstDash val="solid"/>
          </a:ln>
        </p:spPr>
      </p:sp>
      <p:sp>
        <p:nvSpPr>
          <p:cNvPr id="7" name="Shape 4"/>
          <p:cNvSpPr/>
          <p:nvPr/>
        </p:nvSpPr>
        <p:spPr>
          <a:xfrm>
            <a:off x="812780" y="3633611"/>
            <a:ext cx="38099" cy="1790700"/>
          </a:xfrm>
          <a:prstGeom prst="rect">
            <a:avLst/>
          </a:prstGeom>
          <a:solidFill>
            <a:srgbClr val="1B6FA8"/>
          </a:solidFill>
          <a:ln/>
        </p:spPr>
      </p:sp>
      <p:sp>
        <p:nvSpPr>
          <p:cNvPr id="8" name="Text 5"/>
          <p:cNvSpPr/>
          <p:nvPr/>
        </p:nvSpPr>
        <p:spPr>
          <a:xfrm>
            <a:off x="977876" y="3735211"/>
            <a:ext cx="10274043" cy="16002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L’écran de dépôt ne s’ouvre pas et renvoie aux frais de dossier ; les formulaires de l’offre ne sont pas servis.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RG-OFF-12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Mes invitations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es invitati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Un candidat invité à une consultation restreinte.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consultation restreinte n’est pas publiée : seule la lettre d’invitation y donne accès.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Son rang sur la liste restreinte, la date d’invitation, la date limite et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lettre d’invitation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en PDF.</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RG-OFF-31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RECEVOIR LES OFFRES EN LIGNE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L’offre remplie en ligne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Pour les fournitures et les travaux, l’entreprise remplit son offre dans des formulaires pré-remplis depuis la fiche DAO. Les captures sont celles des recettes du 05 au 08/10 : une offre en cours de saisie ne se reproduit plus sur des procédures closes.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FOURNITURES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bordereau des prix et le calendrier de livraison</a:t>
            </a:r>
            <a:endParaRPr lang="en-US" sz="2600" dirty="0"/>
          </a:p>
        </p:txBody>
      </p:sp>
      <p:sp>
        <p:nvSpPr>
          <p:cNvPr id="4" name="Shape 2"/>
          <p:cNvSpPr/>
          <p:nvPr/>
        </p:nvSpPr>
        <p:spPr>
          <a:xfrm>
            <a:off x="1536618" y="1193800"/>
            <a:ext cx="9118459" cy="3327400"/>
          </a:xfrm>
          <a:prstGeom prst="rect">
            <a:avLst/>
          </a:prstGeom>
          <a:solidFill>
            <a:srgbClr val="FCFCFA"/>
          </a:solidFill>
          <a:ln w="9525">
            <a:solidFill>
              <a:srgbClr val="D5DCE4"/>
            </a:solidFill>
            <a:prstDash val="solid"/>
          </a:ln>
        </p:spPr>
      </p:sp>
      <p:pic>
        <p:nvPicPr>
          <p:cNvPr id="5" name="Image 0" descr="Le bordereau des prix et le calendrier de livraison">    </p:cNvPr>
          <p:cNvPicPr>
            <a:picLocks noChangeAspect="1"/>
          </p:cNvPicPr>
          <p:nvPr/>
        </p:nvPicPr>
        <p:blipFill>
          <a:blip r:embed="rId1"/>
          <a:stretch>
            <a:fillRect/>
          </a:stretch>
        </p:blipFill>
        <p:spPr>
          <a:xfrm>
            <a:off x="1549318" y="1206500"/>
            <a:ext cx="9093060"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prix unitaire et la date de livraison de chaque article ; pour un marché à commande, aux quantités minimales et maximales.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RG-OFF-14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FOURNITURES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conformité technique</a:t>
            </a:r>
            <a:endParaRPr lang="en-US" sz="2600" dirty="0"/>
          </a:p>
        </p:txBody>
      </p:sp>
      <p:sp>
        <p:nvSpPr>
          <p:cNvPr id="4" name="Shape 2"/>
          <p:cNvSpPr/>
          <p:nvPr/>
        </p:nvSpPr>
        <p:spPr>
          <a:xfrm>
            <a:off x="800080" y="1193800"/>
            <a:ext cx="7327717" cy="4420592"/>
          </a:xfrm>
          <a:prstGeom prst="rect">
            <a:avLst/>
          </a:prstGeom>
          <a:solidFill>
            <a:srgbClr val="FCFCFA"/>
          </a:solidFill>
          <a:ln w="9525">
            <a:solidFill>
              <a:srgbClr val="D5DCE4"/>
            </a:solidFill>
            <a:prstDash val="solid"/>
          </a:ln>
        </p:spPr>
      </p:sp>
      <p:pic>
        <p:nvPicPr>
          <p:cNvPr id="5" name="Image 0" descr="La conformité technique">    </p:cNvPr>
          <p:cNvPicPr>
            <a:picLocks noChangeAspect="1"/>
          </p:cNvPicPr>
          <p:nvPr/>
        </p:nvPicPr>
        <p:blipFill>
          <a:blip r:embed="rId1"/>
          <a:stretch>
            <a:fillRect/>
          </a:stretch>
        </p:blipFill>
        <p:spPr>
          <a:xfrm>
            <a:off x="812780" y="1206500"/>
            <a:ext cx="7302317" cy="4395192"/>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Marque, modèle et, pour chaque caractéristique exigée, ce qui est proposé et s’il est conforme.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RG-OFF-14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FOURNITURES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avertissements, avant de déposer</a:t>
            </a:r>
            <a:endParaRPr lang="en-US" sz="2600" dirty="0"/>
          </a:p>
        </p:txBody>
      </p:sp>
      <p:sp>
        <p:nvSpPr>
          <p:cNvPr id="4" name="Shape 2"/>
          <p:cNvSpPr/>
          <p:nvPr/>
        </p:nvSpPr>
        <p:spPr>
          <a:xfrm>
            <a:off x="800080" y="1193800"/>
            <a:ext cx="10591535" cy="3314192"/>
          </a:xfrm>
          <a:prstGeom prst="rect">
            <a:avLst/>
          </a:prstGeom>
          <a:solidFill>
            <a:srgbClr val="FCFCFA"/>
          </a:solidFill>
          <a:ln w="9525">
            <a:solidFill>
              <a:srgbClr val="D5DCE4"/>
            </a:solidFill>
            <a:prstDash val="solid"/>
          </a:ln>
        </p:spPr>
      </p:sp>
      <p:pic>
        <p:nvPicPr>
          <p:cNvPr id="5" name="Image 0" descr="Les avertissements, avant de déposer">    </p:cNvPr>
          <p:cNvPicPr>
            <a:picLocks noChangeAspect="1"/>
          </p:cNvPicPr>
          <p:nvPr/>
        </p:nvPicPr>
        <p:blipFill>
          <a:blip r:embed="rId1"/>
          <a:stretch>
            <a:fillRect/>
          </a:stretch>
        </p:blipFill>
        <p:spPr>
          <a:xfrm>
            <a:off x="812780" y="1206500"/>
            <a:ext cx="10566136" cy="3288792"/>
          </a:xfrm>
          <a:prstGeom prst="rect">
            <a:avLst/>
          </a:prstGeom>
        </p:spPr>
      </p:pic>
      <p:sp>
        <p:nvSpPr>
          <p:cNvPr id="6" name="Shape 3"/>
          <p:cNvSpPr/>
          <p:nvPr/>
        </p:nvSpPr>
        <p:spPr>
          <a:xfrm>
            <a:off x="812780" y="4647692"/>
            <a:ext cx="10566136" cy="1638808"/>
          </a:xfrm>
          <a:prstGeom prst="rect">
            <a:avLst/>
          </a:prstGeom>
          <a:solidFill>
            <a:srgbClr val="FCFCFA"/>
          </a:solidFill>
          <a:ln w="9525">
            <a:solidFill>
              <a:srgbClr val="D5DCE4"/>
            </a:solidFill>
            <a:prstDash val="solid"/>
          </a:ln>
        </p:spPr>
      </p:sp>
      <p:sp>
        <p:nvSpPr>
          <p:cNvPr id="7" name="Shape 4"/>
          <p:cNvSpPr/>
          <p:nvPr/>
        </p:nvSpPr>
        <p:spPr>
          <a:xfrm>
            <a:off x="812780" y="4647692"/>
            <a:ext cx="38099" cy="1638808"/>
          </a:xfrm>
          <a:prstGeom prst="rect">
            <a:avLst/>
          </a:prstGeom>
          <a:solidFill>
            <a:srgbClr val="1B6FA8"/>
          </a:solidFill>
          <a:ln/>
        </p:spPr>
      </p:sp>
      <p:sp>
        <p:nvSpPr>
          <p:cNvPr id="8" name="Text 5"/>
          <p:cNvSpPr/>
          <p:nvPr/>
        </p:nvSpPr>
        <p:spPr>
          <a:xfrm>
            <a:off x="977876" y="4749292"/>
            <a:ext cx="10274043" cy="1448308"/>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non-conformité déclarée ou une livraison au-delà du délai : le candidat est averti, il peut déposer.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mêmes contrôles seront rejoués en séance, en alertes pour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RG-OFF-18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L’acte d’engagement, calculé</a:t>
            </a:r>
            <a:endParaRPr lang="en-US" sz="2600" dirty="0"/>
          </a:p>
        </p:txBody>
      </p:sp>
      <p:sp>
        <p:nvSpPr>
          <p:cNvPr id="4" name="Shape 2"/>
          <p:cNvSpPr/>
          <p:nvPr/>
        </p:nvSpPr>
        <p:spPr>
          <a:xfrm>
            <a:off x="800080" y="1193800"/>
            <a:ext cx="10591535" cy="2594356"/>
          </a:xfrm>
          <a:prstGeom prst="rect">
            <a:avLst/>
          </a:prstGeom>
          <a:solidFill>
            <a:srgbClr val="FCFCFA"/>
          </a:solidFill>
          <a:ln w="9525">
            <a:solidFill>
              <a:srgbClr val="D5DCE4"/>
            </a:solidFill>
            <a:prstDash val="solid"/>
          </a:ln>
        </p:spPr>
      </p:sp>
      <p:pic>
        <p:nvPicPr>
          <p:cNvPr id="5" name="Image 0" descr="L’acte d’engagement, calculé">    </p:cNvPr>
          <p:cNvPicPr>
            <a:picLocks noChangeAspect="1"/>
          </p:cNvPicPr>
          <p:nvPr/>
        </p:nvPicPr>
        <p:blipFill>
          <a:blip r:embed="rId1"/>
          <a:stretch>
            <a:fillRect/>
          </a:stretch>
        </p:blipFill>
        <p:spPr>
          <a:xfrm>
            <a:off x="812780" y="1206500"/>
            <a:ext cx="10566136" cy="2568956"/>
          </a:xfrm>
          <a:prstGeom prst="rect">
            <a:avLst/>
          </a:prstGeom>
        </p:spPr>
      </p:pic>
      <p:sp>
        <p:nvSpPr>
          <p:cNvPr id="6" name="Shape 3"/>
          <p:cNvSpPr/>
          <p:nvPr/>
        </p:nvSpPr>
        <p:spPr>
          <a:xfrm>
            <a:off x="812780" y="3927856"/>
            <a:ext cx="10566136" cy="1993900"/>
          </a:xfrm>
          <a:prstGeom prst="rect">
            <a:avLst/>
          </a:prstGeom>
          <a:solidFill>
            <a:srgbClr val="FCFCFA"/>
          </a:solidFill>
          <a:ln w="9525">
            <a:solidFill>
              <a:srgbClr val="D5DCE4"/>
            </a:solidFill>
            <a:prstDash val="solid"/>
          </a:ln>
        </p:spPr>
      </p:sp>
      <p:sp>
        <p:nvSpPr>
          <p:cNvPr id="7" name="Shape 4"/>
          <p:cNvSpPr/>
          <p:nvPr/>
        </p:nvSpPr>
        <p:spPr>
          <a:xfrm>
            <a:off x="812780" y="3927856"/>
            <a:ext cx="38099" cy="1993900"/>
          </a:xfrm>
          <a:prstGeom prst="rect">
            <a:avLst/>
          </a:prstGeom>
          <a:solidFill>
            <a:srgbClr val="1B6FA8"/>
          </a:solidFill>
          <a:ln/>
        </p:spPr>
      </p:sp>
      <p:sp>
        <p:nvSpPr>
          <p:cNvPr id="8" name="Text 5"/>
          <p:cNvSpPr/>
          <p:nvPr/>
        </p:nvSpPr>
        <p:spPr>
          <a:xfrm>
            <a:off x="977876" y="4029456"/>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montants ne se saisissent pas : ce sont ceux du bordereau.</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Restent le délai, la validité et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rabais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déclaré en pourcentage ou en montant, avec ou sans condition.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RG-OFF-16 · RG-OFF-17</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devis quantitatif et les prix en lettres</a:t>
            </a:r>
            <a:endParaRPr lang="en-US" sz="2600" dirty="0"/>
          </a:p>
        </p:txBody>
      </p:sp>
      <p:sp>
        <p:nvSpPr>
          <p:cNvPr id="4" name="Shape 2"/>
          <p:cNvSpPr/>
          <p:nvPr/>
        </p:nvSpPr>
        <p:spPr>
          <a:xfrm>
            <a:off x="2265902" y="1193800"/>
            <a:ext cx="7659891" cy="3327400"/>
          </a:xfrm>
          <a:prstGeom prst="rect">
            <a:avLst/>
          </a:prstGeom>
          <a:solidFill>
            <a:srgbClr val="FCFCFA"/>
          </a:solidFill>
          <a:ln w="9525">
            <a:solidFill>
              <a:srgbClr val="D5DCE4"/>
            </a:solidFill>
            <a:prstDash val="solid"/>
          </a:ln>
        </p:spPr>
      </p:sp>
      <p:pic>
        <p:nvPicPr>
          <p:cNvPr id="5" name="Image 0" descr="Le devis quantitatif et les prix en lettres">    </p:cNvPr>
          <p:cNvPicPr>
            <a:picLocks noChangeAspect="1"/>
          </p:cNvPicPr>
          <p:nvPr/>
        </p:nvPicPr>
        <p:blipFill>
          <a:blip r:embed="rId1"/>
          <a:stretch>
            <a:fillRect/>
          </a:stretch>
        </p:blipFill>
        <p:spPr>
          <a:xfrm>
            <a:off x="2278602" y="1206500"/>
            <a:ext cx="7634491"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prix par série ; chaque prix s’écrit aussi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 lettres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font foi.</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RG-OFF-14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coefficient K1</a:t>
            </a:r>
            <a:endParaRPr lang="en-US" sz="2600" dirty="0"/>
          </a:p>
        </p:txBody>
      </p:sp>
      <p:sp>
        <p:nvSpPr>
          <p:cNvPr id="4" name="Shape 2"/>
          <p:cNvSpPr/>
          <p:nvPr/>
        </p:nvSpPr>
        <p:spPr>
          <a:xfrm>
            <a:off x="800080" y="1193800"/>
            <a:ext cx="7327717" cy="4370388"/>
          </a:xfrm>
          <a:prstGeom prst="rect">
            <a:avLst/>
          </a:prstGeom>
          <a:solidFill>
            <a:srgbClr val="FCFCFA"/>
          </a:solidFill>
          <a:ln w="9525">
            <a:solidFill>
              <a:srgbClr val="D5DCE4"/>
            </a:solidFill>
            <a:prstDash val="solid"/>
          </a:ln>
        </p:spPr>
      </p:sp>
      <p:pic>
        <p:nvPicPr>
          <p:cNvPr id="5" name="Image 0" descr="Le coefficient K1">    </p:cNvPr>
          <p:cNvPicPr>
            <a:picLocks noChangeAspect="1"/>
          </p:cNvPicPr>
          <p:nvPr/>
        </p:nvPicPr>
        <p:blipFill>
          <a:blip r:embed="rId1"/>
          <a:stretch>
            <a:fillRect/>
          </a:stretch>
        </p:blipFill>
        <p:spPr>
          <a:xfrm>
            <a:off x="812780" y="1206500"/>
            <a:ext cx="7302317" cy="4344988"/>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neuf frais de l’annexe 2 de l’acte d’engagement ; le siège à Madagascar ou à l’étranger.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RG-OFF-15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sous-détail d’un prix</a:t>
            </a:r>
            <a:endParaRPr lang="en-US" sz="2600" dirty="0"/>
          </a:p>
        </p:txBody>
      </p:sp>
      <p:sp>
        <p:nvSpPr>
          <p:cNvPr id="4" name="Shape 2"/>
          <p:cNvSpPr/>
          <p:nvPr/>
        </p:nvSpPr>
        <p:spPr>
          <a:xfrm>
            <a:off x="1209469" y="1193800"/>
            <a:ext cx="9772757" cy="3327400"/>
          </a:xfrm>
          <a:prstGeom prst="rect">
            <a:avLst/>
          </a:prstGeom>
          <a:solidFill>
            <a:srgbClr val="FCFCFA"/>
          </a:solidFill>
          <a:ln w="9525">
            <a:solidFill>
              <a:srgbClr val="D5DCE4"/>
            </a:solidFill>
            <a:prstDash val="solid"/>
          </a:ln>
        </p:spPr>
      </p:sp>
      <p:pic>
        <p:nvPicPr>
          <p:cNvPr id="5" name="Image 0" descr="Le sous-détail d’un prix">    </p:cNvPr>
          <p:cNvPicPr>
            <a:picLocks noChangeAspect="1"/>
          </p:cNvPicPr>
          <p:nvPr/>
        </p:nvPicPr>
        <p:blipFill>
          <a:blip r:embed="rId1"/>
          <a:stretch>
            <a:fillRect/>
          </a:stretch>
        </p:blipFill>
        <p:spPr>
          <a:xfrm>
            <a:off x="1222169" y="1206500"/>
            <a:ext cx="9747358"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déboursés secs et le rendement ; le prix calculé est comparé au bordereau, un écart de plus de 1 % est signalé.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RG-OFF-15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capacités financières et techniques</a:t>
            </a:r>
            <a:endParaRPr lang="en-US" sz="2600" dirty="0"/>
          </a:p>
        </p:txBody>
      </p:sp>
      <p:sp>
        <p:nvSpPr>
          <p:cNvPr id="4" name="Shape 2"/>
          <p:cNvSpPr/>
          <p:nvPr/>
        </p:nvSpPr>
        <p:spPr>
          <a:xfrm>
            <a:off x="2459645" y="1193800"/>
            <a:ext cx="7272406" cy="3327400"/>
          </a:xfrm>
          <a:prstGeom prst="rect">
            <a:avLst/>
          </a:prstGeom>
          <a:solidFill>
            <a:srgbClr val="FCFCFA"/>
          </a:solidFill>
          <a:ln w="9525">
            <a:solidFill>
              <a:srgbClr val="D5DCE4"/>
            </a:solidFill>
            <a:prstDash val="solid"/>
          </a:ln>
        </p:spPr>
      </p:sp>
      <p:pic>
        <p:nvPicPr>
          <p:cNvPr id="5" name="Image 0" descr="Les capacités financières et techniques">    </p:cNvPr>
          <p:cNvPicPr>
            <a:picLocks noChangeAspect="1"/>
          </p:cNvPicPr>
          <p:nvPr/>
        </p:nvPicPr>
        <p:blipFill>
          <a:blip r:embed="rId1"/>
          <a:stretch>
            <a:fillRect/>
          </a:stretch>
        </p:blipFill>
        <p:spPr>
          <a:xfrm>
            <a:off x="2472344" y="1206500"/>
            <a:ext cx="7247007"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Chiffre d’affaires et moyenne des meilleures années, liquidité face au seuil exigé, références de la période.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RG-OFF-15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personnel proposé</a:t>
            </a:r>
            <a:endParaRPr lang="en-US" sz="2600" dirty="0"/>
          </a:p>
        </p:txBody>
      </p:sp>
      <p:sp>
        <p:nvSpPr>
          <p:cNvPr id="4" name="Shape 2"/>
          <p:cNvSpPr/>
          <p:nvPr/>
        </p:nvSpPr>
        <p:spPr>
          <a:xfrm>
            <a:off x="800080" y="1193800"/>
            <a:ext cx="10591535" cy="3089656"/>
          </a:xfrm>
          <a:prstGeom prst="rect">
            <a:avLst/>
          </a:prstGeom>
          <a:solidFill>
            <a:srgbClr val="FCFCFA"/>
          </a:solidFill>
          <a:ln w="9525">
            <a:solidFill>
              <a:srgbClr val="D5DCE4"/>
            </a:solidFill>
            <a:prstDash val="solid"/>
          </a:ln>
        </p:spPr>
      </p:sp>
      <p:pic>
        <p:nvPicPr>
          <p:cNvPr id="5" name="Image 0" descr="Le personnel proposé">    </p:cNvPr>
          <p:cNvPicPr>
            <a:picLocks noChangeAspect="1"/>
          </p:cNvPicPr>
          <p:nvPr/>
        </p:nvPicPr>
        <p:blipFill>
          <a:blip r:embed="rId1"/>
          <a:stretch>
            <a:fillRect/>
          </a:stretch>
        </p:blipFill>
        <p:spPr>
          <a:xfrm>
            <a:off x="812780" y="1206500"/>
            <a:ext cx="10566136" cy="3064256"/>
          </a:xfrm>
          <a:prstGeom prst="rect">
            <a:avLst/>
          </a:prstGeom>
        </p:spPr>
      </p:pic>
      <p:sp>
        <p:nvSpPr>
          <p:cNvPr id="6" name="Shape 3"/>
          <p:cNvSpPr/>
          <p:nvPr/>
        </p:nvSpPr>
        <p:spPr>
          <a:xfrm>
            <a:off x="812780" y="4423156"/>
            <a:ext cx="10566136" cy="1790700"/>
          </a:xfrm>
          <a:prstGeom prst="rect">
            <a:avLst/>
          </a:prstGeom>
          <a:solidFill>
            <a:srgbClr val="FCFCFA"/>
          </a:solidFill>
          <a:ln w="9525">
            <a:solidFill>
              <a:srgbClr val="D5DCE4"/>
            </a:solidFill>
            <a:prstDash val="solid"/>
          </a:ln>
        </p:spPr>
      </p:sp>
      <p:sp>
        <p:nvSpPr>
          <p:cNvPr id="7" name="Shape 4"/>
          <p:cNvSpPr/>
          <p:nvPr/>
        </p:nvSpPr>
        <p:spPr>
          <a:xfrm>
            <a:off x="812780" y="4423156"/>
            <a:ext cx="38099" cy="1790700"/>
          </a:xfrm>
          <a:prstGeom prst="rect">
            <a:avLst/>
          </a:prstGeom>
          <a:solidFill>
            <a:srgbClr val="1B6FA8"/>
          </a:solidFill>
          <a:ln/>
        </p:spPr>
      </p:sp>
      <p:sp>
        <p:nvSpPr>
          <p:cNvPr id="8" name="Text 5"/>
          <p:cNvSpPr/>
          <p:nvPr/>
        </p:nvSpPr>
        <p:spPr>
          <a:xfrm>
            <a:off x="977876" y="4524756"/>
            <a:ext cx="10274043" cy="16002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ligne par personne exigée par la fiche ; les CV et diplômes restent à joindre.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RG-OFF-15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matériel proposé</a:t>
            </a:r>
            <a:endParaRPr lang="en-US" sz="2600" dirty="0"/>
          </a:p>
        </p:txBody>
      </p:sp>
      <p:sp>
        <p:nvSpPr>
          <p:cNvPr id="4" name="Shape 2"/>
          <p:cNvSpPr/>
          <p:nvPr/>
        </p:nvSpPr>
        <p:spPr>
          <a:xfrm>
            <a:off x="800080" y="1193800"/>
            <a:ext cx="7327717" cy="4187825"/>
          </a:xfrm>
          <a:prstGeom prst="rect">
            <a:avLst/>
          </a:prstGeom>
          <a:solidFill>
            <a:srgbClr val="FCFCFA"/>
          </a:solidFill>
          <a:ln w="9525">
            <a:solidFill>
              <a:srgbClr val="D5DCE4"/>
            </a:solidFill>
            <a:prstDash val="solid"/>
          </a:ln>
        </p:spPr>
      </p:sp>
      <p:pic>
        <p:nvPicPr>
          <p:cNvPr id="5" name="Image 0" descr="Le matériel proposé">    </p:cNvPr>
          <p:cNvPicPr>
            <a:picLocks noChangeAspect="1"/>
          </p:cNvPicPr>
          <p:nvPr/>
        </p:nvPicPr>
        <p:blipFill>
          <a:blip r:embed="rId1"/>
          <a:stretch>
            <a:fillRect/>
          </a:stretch>
        </p:blipFill>
        <p:spPr>
          <a:xfrm>
            <a:off x="812780" y="1206500"/>
            <a:ext cx="7302317" cy="416242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chaque matériel exigé, le nombre proposé, et combien en propre.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RG-OFF-15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TRAVAUX</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avertissements des travaux</a:t>
            </a:r>
            <a:endParaRPr lang="en-US" sz="2600" dirty="0"/>
          </a:p>
        </p:txBody>
      </p:sp>
      <p:sp>
        <p:nvSpPr>
          <p:cNvPr id="4" name="Shape 2"/>
          <p:cNvSpPr/>
          <p:nvPr/>
        </p:nvSpPr>
        <p:spPr>
          <a:xfrm>
            <a:off x="800080" y="1193800"/>
            <a:ext cx="10591535" cy="1965529"/>
          </a:xfrm>
          <a:prstGeom prst="rect">
            <a:avLst/>
          </a:prstGeom>
          <a:solidFill>
            <a:srgbClr val="FCFCFA"/>
          </a:solidFill>
          <a:ln w="9525">
            <a:solidFill>
              <a:srgbClr val="D5DCE4"/>
            </a:solidFill>
            <a:prstDash val="solid"/>
          </a:ln>
        </p:spPr>
      </p:sp>
      <p:pic>
        <p:nvPicPr>
          <p:cNvPr id="5" name="Image 0" descr="Les avertissements des travaux">    </p:cNvPr>
          <p:cNvPicPr>
            <a:picLocks noChangeAspect="1"/>
          </p:cNvPicPr>
          <p:nvPr/>
        </p:nvPicPr>
        <p:blipFill>
          <a:blip r:embed="rId1"/>
          <a:stretch>
            <a:fillRect/>
          </a:stretch>
        </p:blipFill>
        <p:spPr>
          <a:xfrm>
            <a:off x="812780" y="1206500"/>
            <a:ext cx="10566136" cy="1940129"/>
          </a:xfrm>
          <a:prstGeom prst="rect">
            <a:avLst/>
          </a:prstGeom>
        </p:spPr>
      </p:pic>
      <p:sp>
        <p:nvSpPr>
          <p:cNvPr id="6" name="Shape 3"/>
          <p:cNvSpPr/>
          <p:nvPr/>
        </p:nvSpPr>
        <p:spPr>
          <a:xfrm>
            <a:off x="812780" y="3299029"/>
            <a:ext cx="10566136" cy="1790700"/>
          </a:xfrm>
          <a:prstGeom prst="rect">
            <a:avLst/>
          </a:prstGeom>
          <a:solidFill>
            <a:srgbClr val="FCFCFA"/>
          </a:solidFill>
          <a:ln w="9525">
            <a:solidFill>
              <a:srgbClr val="D5DCE4"/>
            </a:solidFill>
            <a:prstDash val="solid"/>
          </a:ln>
        </p:spPr>
      </p:sp>
      <p:sp>
        <p:nvSpPr>
          <p:cNvPr id="7" name="Shape 4"/>
          <p:cNvSpPr/>
          <p:nvPr/>
        </p:nvSpPr>
        <p:spPr>
          <a:xfrm>
            <a:off x="812780" y="3299029"/>
            <a:ext cx="38099" cy="1790700"/>
          </a:xfrm>
          <a:prstGeom prst="rect">
            <a:avLst/>
          </a:prstGeom>
          <a:solidFill>
            <a:srgbClr val="1B6FA8"/>
          </a:solidFill>
          <a:ln/>
        </p:spPr>
      </p:sp>
      <p:sp>
        <p:nvSpPr>
          <p:cNvPr id="8" name="Text 5"/>
          <p:cNvSpPr/>
          <p:nvPr/>
        </p:nvSpPr>
        <p:spPr>
          <a:xfrm>
            <a:off x="977876" y="3400629"/>
            <a:ext cx="10274043" cy="16002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écart aux exigences est dit, chiffres à l’appui ; ce sont des avertissements, jamais un refus.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RG-OFF-18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saisie jamais perdue</a:t>
            </a:r>
            <a:endParaRPr lang="en-US" sz="2600" dirty="0"/>
          </a:p>
        </p:txBody>
      </p:sp>
      <p:sp>
        <p:nvSpPr>
          <p:cNvPr id="4" name="Shape 2"/>
          <p:cNvSpPr/>
          <p:nvPr/>
        </p:nvSpPr>
        <p:spPr>
          <a:xfrm>
            <a:off x="800080" y="1193800"/>
            <a:ext cx="10591535" cy="798068"/>
          </a:xfrm>
          <a:prstGeom prst="rect">
            <a:avLst/>
          </a:prstGeom>
          <a:solidFill>
            <a:srgbClr val="FCFCFA"/>
          </a:solidFill>
          <a:ln w="9525">
            <a:solidFill>
              <a:srgbClr val="D5DCE4"/>
            </a:solidFill>
            <a:prstDash val="solid"/>
          </a:ln>
        </p:spPr>
      </p:sp>
      <p:pic>
        <p:nvPicPr>
          <p:cNvPr id="5" name="Image 0" descr="Une saisie jamais perdue">    </p:cNvPr>
          <p:cNvPicPr>
            <a:picLocks noChangeAspect="1"/>
          </p:cNvPicPr>
          <p:nvPr/>
        </p:nvPicPr>
        <p:blipFill>
          <a:blip r:embed="rId1"/>
          <a:stretch>
            <a:fillRect/>
          </a:stretch>
        </p:blipFill>
        <p:spPr>
          <a:xfrm>
            <a:off x="812780" y="1206500"/>
            <a:ext cx="10566136" cy="772668"/>
          </a:xfrm>
          <a:prstGeom prst="rect">
            <a:avLst/>
          </a:prstGeom>
        </p:spPr>
      </p:pic>
      <p:sp>
        <p:nvSpPr>
          <p:cNvPr id="6" name="Shape 3"/>
          <p:cNvSpPr/>
          <p:nvPr/>
        </p:nvSpPr>
        <p:spPr>
          <a:xfrm>
            <a:off x="812780" y="2131568"/>
            <a:ext cx="10566136" cy="1517650"/>
          </a:xfrm>
          <a:prstGeom prst="rect">
            <a:avLst/>
          </a:prstGeom>
          <a:solidFill>
            <a:srgbClr val="FCFCFA"/>
          </a:solidFill>
          <a:ln w="9525">
            <a:solidFill>
              <a:srgbClr val="D5DCE4"/>
            </a:solidFill>
            <a:prstDash val="solid"/>
          </a:ln>
        </p:spPr>
      </p:sp>
      <p:sp>
        <p:nvSpPr>
          <p:cNvPr id="7" name="Shape 4"/>
          <p:cNvSpPr/>
          <p:nvPr/>
        </p:nvSpPr>
        <p:spPr>
          <a:xfrm>
            <a:off x="812780" y="2131568"/>
            <a:ext cx="38099" cy="1517650"/>
          </a:xfrm>
          <a:prstGeom prst="rect">
            <a:avLst/>
          </a:prstGeom>
          <a:solidFill>
            <a:srgbClr val="1B6FA8"/>
          </a:solidFill>
          <a:ln/>
        </p:spPr>
      </p:sp>
      <p:sp>
        <p:nvSpPr>
          <p:cNvPr id="8" name="Text 5"/>
          <p:cNvSpPr/>
          <p:nvPr/>
        </p:nvSpPr>
        <p:spPr>
          <a:xfrm>
            <a:off x="977876" y="2233168"/>
            <a:ext cx="10274043" cy="132715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Page fermée ou rechargée : la saisie est reprise.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Elle est gardée sur le poste du candidat seulement, jamais envoyée, et effacée au dépôt.</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RECEVOIR LES OFFRES EN LIGNE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 dépôt scellé</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L’offre est chiffrée dans le navigateur de l’entreprise avec les clés de la commission. La plateforme sait qui a déposé, quand et pour quel lot ; jamais un prix.</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remplies en ligne</a:t>
            </a:r>
            <a:endParaRPr lang="en-US" sz="2600" dirty="0"/>
          </a:p>
        </p:txBody>
      </p:sp>
      <p:sp>
        <p:nvSpPr>
          <p:cNvPr id="4" name="Shape 2"/>
          <p:cNvSpPr/>
          <p:nvPr/>
        </p:nvSpPr>
        <p:spPr>
          <a:xfrm>
            <a:off x="1856694" y="1193800"/>
            <a:ext cx="8478308" cy="3327400"/>
          </a:xfrm>
          <a:prstGeom prst="rect">
            <a:avLst/>
          </a:prstGeom>
          <a:solidFill>
            <a:srgbClr val="FCFCFA"/>
          </a:solidFill>
          <a:ln w="9525">
            <a:solidFill>
              <a:srgbClr val="D5DCE4"/>
            </a:solidFill>
            <a:prstDash val="solid"/>
          </a:ln>
        </p:spPr>
      </p:sp>
      <p:pic>
        <p:nvPicPr>
          <p:cNvPr id="5" name="Image 0" descr="Les pièces remplies en ligne">    </p:cNvPr>
          <p:cNvPicPr>
            <a:picLocks noChangeAspect="1"/>
          </p:cNvPicPr>
          <p:nvPr/>
        </p:nvPicPr>
        <p:blipFill>
          <a:blip r:embed="rId1"/>
          <a:stretch>
            <a:fillRect/>
          </a:stretch>
        </p:blipFill>
        <p:spPr>
          <a:xfrm>
            <a:off x="1869393" y="1206500"/>
            <a:ext cx="8452909"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bordereau, la conformité et le calendrier sont marqués « Remplie en ligne » ; les autres pièces se joignent.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reçu des frais déjà validé n’est pas redemandé.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RG-OFF-13 · RG-OFF-14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dépôt sans formulaires</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dépôt sans formulaires">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procédure sans formulaires : les montants de l’acte d’engagement se saisissent.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temps restant s’affiche à l’horloge du serveur.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RG-OFF-16</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puis le scellement</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pièces, puis le scellement">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pièce attendue est contrôlée (type, taille) ; puis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Sceller et déposer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l’offre est chiffrée sur le poste, pour les détenteurs des clés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RG-OFF-19 · RG-OFF-20</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L’accusé de dépôt</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ccusé de dépôt">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L’heure du dépôt, le numéro d’arrivée et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empreinte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l’offre ; l’accusé en PDF.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Personne ne peut lire l’offre avant la séance.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RG-OFF-22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Déposer l’enveloppe technique</a:t>
            </a:r>
            <a:endParaRPr lang="en-US" sz="2600" dirty="0"/>
          </a:p>
        </p:txBody>
      </p:sp>
      <p:sp>
        <p:nvSpPr>
          <p:cNvPr id="4" name="Shape 2"/>
          <p:cNvSpPr/>
          <p:nvPr/>
        </p:nvSpPr>
        <p:spPr>
          <a:xfrm>
            <a:off x="800080" y="1193800"/>
            <a:ext cx="3699441" cy="5105400"/>
          </a:xfrm>
          <a:prstGeom prst="rect">
            <a:avLst/>
          </a:prstGeom>
          <a:solidFill>
            <a:srgbClr val="FCFCFA"/>
          </a:solidFill>
          <a:ln w="9525">
            <a:solidFill>
              <a:srgbClr val="D5DCE4"/>
            </a:solidFill>
            <a:prstDash val="solid"/>
          </a:ln>
        </p:spPr>
      </p:sp>
      <p:pic>
        <p:nvPicPr>
          <p:cNvPr id="5" name="Image 0" descr="Déposer l’enveloppe technique">    </p:cNvPr>
          <p:cNvPicPr>
            <a:picLocks noChangeAspect="1"/>
          </p:cNvPicPr>
          <p:nvPr/>
        </p:nvPicPr>
        <p:blipFill>
          <a:blip r:embed="rId1"/>
          <a:stretch>
            <a:fillRect/>
          </a:stretch>
        </p:blipFill>
        <p:spPr>
          <a:xfrm>
            <a:off x="812780" y="1206500"/>
            <a:ext cx="3674042" cy="5080000"/>
          </a:xfrm>
          <a:prstGeom prst="rect">
            <a:avLst/>
          </a:prstGeom>
        </p:spPr>
      </p:pic>
      <p:sp>
        <p:nvSpPr>
          <p:cNvPr id="6" name="Shape 3"/>
          <p:cNvSpPr/>
          <p:nvPr/>
        </p:nvSpPr>
        <p:spPr>
          <a:xfrm>
            <a:off x="4664617" y="1206500"/>
            <a:ext cx="6714299" cy="5080000"/>
          </a:xfrm>
          <a:prstGeom prst="rect">
            <a:avLst/>
          </a:prstGeom>
          <a:solidFill>
            <a:srgbClr val="FCFCFA"/>
          </a:solidFill>
          <a:ln w="9525">
            <a:solidFill>
              <a:srgbClr val="D5DCE4"/>
            </a:solidFill>
            <a:prstDash val="solid"/>
          </a:ln>
        </p:spPr>
      </p:sp>
      <p:sp>
        <p:nvSpPr>
          <p:cNvPr id="7" name="Shape 4"/>
          <p:cNvSpPr/>
          <p:nvPr/>
        </p:nvSpPr>
        <p:spPr>
          <a:xfrm>
            <a:off x="4664617" y="1206500"/>
            <a:ext cx="38099" cy="5080000"/>
          </a:xfrm>
          <a:prstGeom prst="rect">
            <a:avLst/>
          </a:prstGeom>
          <a:solidFill>
            <a:srgbClr val="1B6FA8"/>
          </a:solidFill>
          <a:ln/>
        </p:spPr>
      </p:sp>
      <p:sp>
        <p:nvSpPr>
          <p:cNvPr id="8" name="Text 5"/>
          <p:cNvSpPr/>
          <p:nvPr/>
        </p:nvSpPr>
        <p:spPr>
          <a:xfrm>
            <a:off x="4829713" y="1308100"/>
            <a:ext cx="6422206"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invité.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Deux enveloppes, déposées l’une après l’autre :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technique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ne demande ni ne scelle aucun montant, l’écran le rappelle.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RG-OFF-32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L’accusé d’une proposition complète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ccusé d’une proposition complèt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invité.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L’accusé de l’enveloppe financière porte l’empreinte de l’enveloppe technique : la proposition est complète.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RG-OFF-32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Mes offres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es offr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offre déposée avec sa date, son numéro d’arrivée, sa taille,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empreinte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son accusé en PDF ; une proposition de prestations intellectuelles en deux enveloppes.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Avant la date limite, et si la fiche le permet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remplacer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retirer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son offre.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Plus bas, les demandes reçues pendant l’évaluation et le résultat (parties 08 et 09).</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RG-OFF-21 · RG-OFF-22 · RG-OFF-23 · RG-OFF-32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RECEVOIR LES OFFRES EN LIGNE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Les registres de la PRMP</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 PRMP suit les dépôts sans jamais en connaître le contenu. Depuis le 14/10, les tentatives de dépôt après l’échéance sont refusées et consignées (art. 44).</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registre, avant l’échéance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registre, avant l’échéanc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Avant la date limite, la PRMP ne connaît que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nombre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d’offres déposées. (Capture du 08/10 : aucune procédure n’est plus ouverte aujourd’hui.)</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RG-OFF-24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registre complet, après l’échéance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egistre complet, après l’échéanc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dépôts par numéro d’arrivée : entreprise, NIF, lot, date de dépôt (ou de retrait), état et empreinte.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offre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remplacée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retirée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reste au registre ; elle ne sera jamais ouverte.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RG-OFF-23 · RG-OFF-24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47</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tentatives refusées hors délai</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tentatives refusées hors délai">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Sous le registre, la rubrique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Tentatives de dépôt refusées hors délai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chaque tentative après la date limite, datée à la seconde par le serveur, avec l’entreprise, le NIF, le lot et le geste refusé.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aucune tentative : « Aucune tentative après la date limite. » Les mêmes tentatives sont énumérées au PV d’ouverture.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RG-OFF-33</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RECEVOIR LES OFFRES EN LIGNE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offre illisible jusqu’à la séance</a:t>
            </a:r>
            <a:endParaRPr lang="en-US" sz="1500" dirty="0"/>
          </a:p>
        </p:txBody>
      </p:sp>
      <p:sp>
        <p:nvSpPr>
          <p:cNvPr id="7" name="Text 5"/>
          <p:cNvSpPr/>
          <p:nvPr/>
        </p:nvSpPr>
        <p:spPr>
          <a:xfrm>
            <a:off x="952476"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L’offre est scellée sur le poste de l’entreprise avec les clés de la commission : la plateforme ne voit jamais un prix.</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 temps du serveur fait foi</a:t>
            </a:r>
            <a:endParaRPr lang="en-US" sz="1500" dirty="0"/>
          </a:p>
        </p:txBody>
      </p:sp>
      <p:sp>
        <p:nvSpPr>
          <p:cNvPr id="11" name="Text 9"/>
          <p:cNvSpPr/>
          <p:nvPr/>
        </p:nvSpPr>
        <p:spPr>
          <a:xfrm>
            <a:off x="4525320"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Ouverture des dépôts, date limite, dépôt, retrait : tout est daté par l’horloge du serveur, affichée au candidat.</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Aucun dépôt après l’échéance</a:t>
            </a:r>
            <a:endParaRPr lang="en-US" sz="1500" dirty="0"/>
          </a:p>
        </p:txBody>
      </p:sp>
      <p:sp>
        <p:nvSpPr>
          <p:cNvPr id="15" name="Text 13"/>
          <p:cNvSpPr/>
          <p:nvPr/>
        </p:nvSpPr>
        <p:spPr>
          <a:xfrm>
            <a:off x="8098164"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Toute tentative tardive est refusée, datée et consignée ; le registre et le PV d’ouverture les énumèrent (art. 44).</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preuve pour chaque geste</a:t>
            </a:r>
            <a:endParaRPr lang="en-US" sz="1500" dirty="0"/>
          </a:p>
        </p:txBody>
      </p:sp>
      <p:sp>
        <p:nvSpPr>
          <p:cNvPr id="19" name="Text 17"/>
          <p:cNvSpPr/>
          <p:nvPr/>
        </p:nvSpPr>
        <p:spPr>
          <a:xfrm>
            <a:off x="952476"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Accusé portant l’empreinte de l’offre, registre des retraits, registre des dépôts avec les offres remplacées et retirées.</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L’égalité d’information</a:t>
            </a:r>
            <a:endParaRPr lang="en-US" sz="1500" dirty="0"/>
          </a:p>
        </p:txBody>
      </p:sp>
      <p:sp>
        <p:nvSpPr>
          <p:cNvPr id="23" name="Text 21"/>
          <p:cNvSpPr/>
          <p:nvPr/>
        </p:nvSpPr>
        <p:spPr>
          <a:xfrm>
            <a:off x="4525320"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Les réponses aux questions sont diffusées à tous les candidats qui ont retiré le dossier, sans le nom de l’auteur (art. 35-II).</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Les frais de dossier contrôlés</a:t>
            </a:r>
            <a:endParaRPr lang="en-US" sz="1500" dirty="0"/>
          </a:p>
        </p:txBody>
      </p:sp>
      <p:sp>
        <p:nvSpPr>
          <p:cNvPr id="27" name="Text 25"/>
          <p:cNvSpPr/>
          <p:nvPr/>
        </p:nvSpPr>
        <p:spPr>
          <a:xfrm>
            <a:off x="8098164"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Pas de retrait ni de dépôt sans reçu validé par la PRMP ; tout refus est motivé et notifié.</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49</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RECEVOIR LES OFFRES EN LIGNE · RECETTE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points d’attention de l’étape</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Relevés pendant la refonte de la présentation (14/10) : « Confirmée » = constatée sur l’écran capturé ; « Expliquée » = effet des données de recette ; « À examiner » = cause à établir.</a:t>
            </a:r>
            <a:endParaRPr lang="en-US" sz="13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468880"/>
                <a:gridCol w="6309360"/>
                <a:gridCol w="1188720"/>
                <a:gridCol w="1463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Écran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Constat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Statut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Piste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06 · Page publique (procédure 40)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lot 2 infructueux s’affiche « Lot 2 — / Résultat communiqué le · affiché le », champs vides.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B23B3B"/>
                          </a:solidFill>
                          <a:latin typeface="Segoe UI" pitchFamily="34" charset="0"/>
                          <a:ea typeface="Segoe UI" pitchFamily="34" charset="-122"/>
                          <a:cs typeface="Segoe UI" pitchFamily="34" charset="-120"/>
                        </a:rPr>
                        <a:t>Confirmée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465568"/>
                          </a:solidFill>
                          <a:latin typeface="Segoe UI" pitchFamily="34" charset="0"/>
                          <a:ea typeface="Segoe UI" pitchFamily="34" charset="-122"/>
                          <a:cs typeface="Segoe UI" pitchFamily="34" charset="-120"/>
                        </a:rPr>
                        <a:t>Front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06 · Mes offres (candidat)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 Remplacer » et « Retirer… » restent proposés sur des offres dont la date limite est passée (procédure 50).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B23B3B"/>
                          </a:solidFill>
                          <a:latin typeface="Segoe UI" pitchFamily="34" charset="0"/>
                          <a:ea typeface="Segoe UI" pitchFamily="34" charset="-122"/>
                          <a:cs typeface="Segoe UI" pitchFamily="34" charset="-120"/>
                        </a:rPr>
                        <a:t>Confirmée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465568"/>
                          </a:solidFill>
                          <a:latin typeface="Segoe UI" pitchFamily="34" charset="0"/>
                          <a:ea typeface="Segoe UI" pitchFamily="34" charset="-122"/>
                          <a:cs typeface="Segoe UI" pitchFamily="34" charset="-120"/>
                        </a:rPr>
                        <a:t>Front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50</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A</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Annexe A — Les règles de gestion</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Partie par partie, les règles que l’application applique : chacune cite sa source (règles de gestion du serveur, contrats, manuel de contrôle révisé) et les écrans où elle s’applique.</a:t>
            </a:r>
            <a:endParaRPr lang="en-US" sz="17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06 · Recevoir les offres en ligne · 51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de gestion, en un tableau</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b="1" dirty="0">
                <a:solidFill>
                  <a:srgbClr val="1B2A3A"/>
                </a:solidFill>
                <a:latin typeface="Segoe UI" pitchFamily="34" charset="0"/>
                <a:ea typeface="Segoe UI" pitchFamily="34" charset="-122"/>
                <a:cs typeface="Segoe UI" pitchFamily="34" charset="-120"/>
              </a:rPr>
              <a:t>35 règles</a:t>
            </a:r>
            <a:pPr indent="0" marL="0">
              <a:buNone/>
            </a:pPr>
            <a:r>
              <a:rPr lang="en-US" sz="1300" dirty="0">
                <a:solidFill>
                  <a:srgbClr val="465568"/>
                </a:solidFill>
                <a:latin typeface="Segoe UI" pitchFamily="34" charset="0"/>
                <a:ea typeface="Segoe UI" pitchFamily="34" charset="-122"/>
                <a:cs typeface="Segoe UI" pitchFamily="34" charset="-120"/>
              </a:rPr>
              <a:t>, groupées par partie et par thème. Chaque écran de la présentation cite celles qu’il applique.</a:t>
            </a:r>
            <a:endParaRPr lang="en-US" sz="13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651760"/>
                <a:gridCol w="822960"/>
                <a:gridCol w="795528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Partie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Règles</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Thèmes</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050" b="1" dirty="0">
                          <a:solidFill>
                            <a:srgbClr val="1B2A3A"/>
                          </a:solidFill>
                          <a:latin typeface="Segoe UI" pitchFamily="34" charset="0"/>
                          <a:ea typeface="Segoe UI" pitchFamily="34" charset="-122"/>
                          <a:cs typeface="Segoe UI" pitchFamily="34" charset="-120"/>
                        </a:rPr>
                        <a:t>06 · Recevoir les offres en ligne</a:t>
                      </a:r>
                      <a:endParaRPr lang="en-US" sz="10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50" b="1" dirty="0">
                          <a:solidFill>
                            <a:srgbClr val="1B6FA8"/>
                          </a:solidFill>
                          <a:latin typeface="Segoe UI" pitchFamily="34" charset="0"/>
                          <a:ea typeface="Segoe UI" pitchFamily="34" charset="-122"/>
                          <a:cs typeface="Segoe UI" pitchFamily="34" charset="-120"/>
                        </a:rPr>
                        <a:t>35</a:t>
                      </a:r>
                      <a:endParaRPr lang="en-US" sz="10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50" dirty="0">
                          <a:solidFill>
                            <a:srgbClr val="465568"/>
                          </a:solidFill>
                          <a:latin typeface="Segoe UI" pitchFamily="34" charset="0"/>
                          <a:ea typeface="Segoe UI" pitchFamily="34" charset="-122"/>
                          <a:cs typeface="Segoe UI" pitchFamily="34" charset="-120"/>
                        </a:rPr>
                        <a:t>Le compte et l’entreprise · Les procédures ouvertes et le retrait · Les frais de dossier · L’offre remplie en ligne · Le dépôt scellé · La commission, les clés et le dépositaire · La consultation restreinte · Les questions des candidats</a:t>
                      </a:r>
                      <a:endParaRPr lang="en-US" sz="9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52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compte et l’entreprise</a:t>
            </a:r>
            <a:endParaRPr lang="en-US" sz="2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RG-OFF-01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compte confirmé par code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candidat s’inscrit avec son adresse électronique, qui devient son identifiant. Le compte s’active par un </a:t>
                      </a:r>
                      <a:pPr indent="0" marL="0">
                        <a:buNone/>
                      </a:pPr>
                      <a:r>
                        <a:rPr lang="en-US" sz="1100" b="1" dirty="0">
                          <a:solidFill>
                            <a:srgbClr val="1B2A3A"/>
                          </a:solidFill>
                          <a:latin typeface="Segoe UI" pitchFamily="34" charset="0"/>
                          <a:ea typeface="Segoe UI" pitchFamily="34" charset="-122"/>
                          <a:cs typeface="Segoe UI" pitchFamily="34" charset="-120"/>
                        </a:rPr>
                        <a:t>code</a:t>
                      </a:r>
                      <a:pPr indent="0" marL="0">
                        <a:buNone/>
                      </a:pPr>
                      <a:r>
                        <a:rPr lang="en-US" sz="1100" dirty="0">
                          <a:solidFill>
                            <a:srgbClr val="1B2A3A"/>
                          </a:solidFill>
                          <a:latin typeface="Segoe UI" pitchFamily="34" charset="0"/>
                          <a:ea typeface="Segoe UI" pitchFamily="34" charset="-122"/>
                          <a:cs typeface="Segoe UI" pitchFamily="34" charset="-120"/>
                        </a:rPr>
                        <a:t> à six chiffres reçu par courriel, valable 15 minutes. Un compte jamais confirmé est supprimé ; un compte inactif est archivé, jamais supprimé.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RG-OFF-02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entreprise par compte, NIF unique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compte déclare une seule entreprise. Le </a:t>
                      </a:r>
                      <a:pPr indent="0" marL="0">
                        <a:buNone/>
                      </a:pPr>
                      <a:r>
                        <a:rPr lang="en-US" sz="1100" b="1" dirty="0">
                          <a:solidFill>
                            <a:srgbClr val="1B2A3A"/>
                          </a:solidFill>
                          <a:latin typeface="Segoe UI" pitchFamily="34" charset="0"/>
                          <a:ea typeface="Segoe UI" pitchFamily="34" charset="-122"/>
                          <a:cs typeface="Segoe UI" pitchFamily="34" charset="-120"/>
                        </a:rPr>
                        <a:t>NIF</a:t>
                      </a:r>
                      <a:pPr indent="0" marL="0">
                        <a:buNone/>
                      </a:pPr>
                      <a:r>
                        <a:rPr lang="en-US" sz="1100" dirty="0">
                          <a:solidFill>
                            <a:srgbClr val="1B2A3A"/>
                          </a:solidFill>
                          <a:latin typeface="Segoe UI" pitchFamily="34" charset="0"/>
                          <a:ea typeface="Segoe UI" pitchFamily="34" charset="-122"/>
                          <a:cs typeface="Segoe UI" pitchFamily="34" charset="-120"/>
                        </a:rPr>
                        <a:t>, le STAT et le RCS sont uniques sur la plateforme : un NIF déjà déclaré est refusé, avec un renvoi vers le compte qui l’a déclaré, sans le nommer.</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RG-OFF-03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Vérification du NIF, jamais bloquante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NIF se vérifie sur pièces par l’Administrateur, ou auprès de la DGI quand le raccordement existera. Un NIF nouveau ou changé redevient non vérifié. La vérification ne bloque </a:t>
                      </a:r>
                      <a:pPr indent="0" marL="0">
                        <a:buNone/>
                      </a:pPr>
                      <a:r>
                        <a:rPr lang="en-US" sz="1100" b="1" dirty="0">
                          <a:solidFill>
                            <a:srgbClr val="1B2A3A"/>
                          </a:solidFill>
                          <a:latin typeface="Segoe UI" pitchFamily="34" charset="0"/>
                          <a:ea typeface="Segoe UI" pitchFamily="34" charset="-122"/>
                          <a:cs typeface="Segoe UI" pitchFamily="34" charset="-120"/>
                        </a:rPr>
                        <a:t>jamais</a:t>
                      </a:r>
                      <a:pPr indent="0" marL="0">
                        <a:buNone/>
                      </a:pPr>
                      <a:r>
                        <a:rPr lang="en-US" sz="1100" dirty="0">
                          <a:solidFill>
                            <a:srgbClr val="1B2A3A"/>
                          </a:solidFill>
                          <a:latin typeface="Segoe UI" pitchFamily="34" charset="0"/>
                          <a:ea typeface="Segoe UI" pitchFamily="34" charset="-122"/>
                          <a:cs typeface="Segoe UI" pitchFamily="34" charset="-120"/>
                        </a:rPr>
                        <a:t> le dépôt ; la commission en lit l’état à l’ouverture.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RG-OFF-04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Exclusions de l’ARMP : refus au dépôt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L’Administrateur tient le répertoire des exclusions de l’ARMP ; une exclusion ne se supprime pas, elle se corrige. L’entreprise exclue est signalée à sa déclaration, puis </a:t>
                      </a:r>
                      <a:pPr indent="0" marL="0">
                        <a:buNone/>
                      </a:pPr>
                      <a:r>
                        <a:rPr lang="en-US" sz="1100" b="1" dirty="0">
                          <a:solidFill>
                            <a:srgbClr val="1B2A3A"/>
                          </a:solidFill>
                          <a:latin typeface="Segoe UI" pitchFamily="34" charset="0"/>
                          <a:ea typeface="Segoe UI" pitchFamily="34" charset="-122"/>
                          <a:cs typeface="Segoe UI" pitchFamily="34" charset="-120"/>
                        </a:rPr>
                        <a:t>refusée</a:t>
                      </a:r>
                      <a:pPr indent="0" marL="0">
                        <a:buNone/>
                      </a:pPr>
                      <a:r>
                        <a:rPr lang="en-US" sz="1100" dirty="0">
                          <a:solidFill>
                            <a:srgbClr val="1B2A3A"/>
                          </a:solidFill>
                          <a:latin typeface="Segoe UI" pitchFamily="34" charset="0"/>
                          <a:ea typeface="Segoe UI" pitchFamily="34" charset="-122"/>
                          <a:cs typeface="Segoe UI" pitchFamily="34" charset="-120"/>
                        </a:rPr>
                        <a:t> au dépôt du reçu et de l’offre, groupement compris.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api-endpoints.md § Comptes candidats · Entreprise du candidat, vérification du NIF, exclusions de l’ARMP</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53</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procédures ouvertes et le retrait</a:t>
            </a:r>
            <a:endParaRPr lang="en-US" sz="2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RG-OFF-05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Papier ou électronique, jamais mixte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mode de remise se choisit au cadrage de la fiche DAO : papier ou électronique, </a:t>
                      </a:r>
                      <a:pPr indent="0" marL="0">
                        <a:buNone/>
                      </a:pPr>
                      <a:r>
                        <a:rPr lang="en-US" sz="1100" b="1" dirty="0">
                          <a:solidFill>
                            <a:srgbClr val="1B2A3A"/>
                          </a:solidFill>
                          <a:latin typeface="Segoe UI" pitchFamily="34" charset="0"/>
                          <a:ea typeface="Segoe UI" pitchFamily="34" charset="-122"/>
                          <a:cs typeface="Segoe UI" pitchFamily="34" charset="-120"/>
                        </a:rPr>
                        <a:t>jamais mixte</a:t>
                      </a:r>
                      <a:pPr indent="0" marL="0">
                        <a:buNone/>
                      </a:pPr>
                      <a:r>
                        <a:rPr lang="en-US" sz="1100" dirty="0">
                          <a:solidFill>
                            <a:srgbClr val="1B2A3A"/>
                          </a:solidFill>
                          <a:latin typeface="Segoe UI" pitchFamily="34" charset="0"/>
                          <a:ea typeface="Segoe UI" pitchFamily="34" charset="-122"/>
                          <a:cs typeface="Segoe UI" pitchFamily="34" charset="-120"/>
                        </a:rPr>
                        <a:t>. Une fiche qui ne le porte pas est papier. Depuis le 13/10, il ne change plus une fois une version validée, sauf migration documentée par l’Administrateur (partie 04). Les règles de la remise électronique ne jouent qu’en mode électronique.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RG-OFF-06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Ce que montre la liste publique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liste publique montre, sans compte, les appels d’offres en remise électronique dont l’avis est publié et la date limite non passée, ainsi que les appels à manifestation d’intérêt en cours, la date limite la plus proche d’abord. Aucun paramètre interne n’y figure ; une procédure close sort de la liste mais reste lisible par son lien, avec son PV d’ouverture publié et son résultat.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RG-OFF-07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signature simple seule acceptée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Tant que la liste officielle des prestataires de certification n’existe pas, seule la </a:t>
                      </a:r>
                      <a:pPr indent="0" marL="0">
                        <a:buNone/>
                      </a:pPr>
                      <a:r>
                        <a:rPr lang="en-US" sz="1100" b="1" dirty="0">
                          <a:solidFill>
                            <a:srgbClr val="1B2A3A"/>
                          </a:solidFill>
                          <a:latin typeface="Segoe UI" pitchFamily="34" charset="0"/>
                          <a:ea typeface="Segoe UI" pitchFamily="34" charset="-122"/>
                          <a:cs typeface="Segoe UI" pitchFamily="34" charset="-120"/>
                        </a:rPr>
                        <a:t>signature simple</a:t>
                      </a:r>
                      <a:pPr indent="0" marL="0">
                        <a:buNone/>
                      </a:pPr>
                      <a:r>
                        <a:rPr lang="en-US" sz="1100" dirty="0">
                          <a:solidFill>
                            <a:srgbClr val="1B2A3A"/>
                          </a:solidFill>
                          <a:latin typeface="Segoe UI" pitchFamily="34" charset="0"/>
                          <a:ea typeface="Segoe UI" pitchFamily="34" charset="-122"/>
                          <a:cs typeface="Segoe UI" pitchFamily="34" charset="-120"/>
                        </a:rPr>
                        <a:t> est acceptée : une fiche qui exige une signature avancée ou qualifiée ne peut pas paraître en ligne.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RG-OFF-08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retrait inscrit au registre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documents du dossier se téléchargent par un candidat connecté. Chaque téléchargement inscrit une ligne au </a:t>
                      </a:r>
                      <a:pPr indent="0" marL="0">
                        <a:buNone/>
                      </a:pPr>
                      <a:r>
                        <a:rPr lang="en-US" sz="1100" b="1" dirty="0">
                          <a:solidFill>
                            <a:srgbClr val="1B2A3A"/>
                          </a:solidFill>
                          <a:latin typeface="Segoe UI" pitchFamily="34" charset="0"/>
                          <a:ea typeface="Segoe UI" pitchFamily="34" charset="-122"/>
                          <a:cs typeface="Segoe UI" pitchFamily="34" charset="-120"/>
                        </a:rPr>
                        <a:t>registre des retraits</a:t>
                      </a:r>
                      <a:pPr indent="0" marL="0">
                        <a:buNone/>
                      </a:pPr>
                      <a:r>
                        <a:rPr lang="en-US" sz="1100" dirty="0">
                          <a:solidFill>
                            <a:srgbClr val="1B2A3A"/>
                          </a:solidFill>
                          <a:latin typeface="Segoe UI" pitchFamily="34" charset="0"/>
                          <a:ea typeface="Segoe UI" pitchFamily="34" charset="-122"/>
                          <a:cs typeface="Segoe UI" pitchFamily="34" charset="-120"/>
                        </a:rPr>
                        <a:t> : compte, entreprise, document, version. Seule la PRMP de la fiche lit ce registre.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La remise électronique des offres ; ⚠️ 2026-10-13, tranche R8 · api-endpoints.md § Procédures ouvertes en ligne et retrait du DAO ; § AMI (relance) · Les arbitrages du pilote après le lot 4 — V70 · api-endpoints.md § Procédures ouvertes en ligne et retrait du DAO</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54</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frais de dossier</a:t>
            </a:r>
            <a:endParaRPr lang="en-US" sz="2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RG-OFF-09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Reçu validé avant le retrait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fiche fixe des frais, le candidat ne télécharge le dossier qu’après avoir déposé le reçu de son versement sur le compte de l’ARMP, et que la PRMP ou son UGPM l’a </a:t>
                      </a:r>
                      <a:pPr indent="0" marL="0">
                        <a:buNone/>
                      </a:pPr>
                      <a:r>
                        <a:rPr lang="en-US" sz="1100" b="1" dirty="0">
                          <a:solidFill>
                            <a:srgbClr val="1B2A3A"/>
                          </a:solidFill>
                          <a:latin typeface="Segoe UI" pitchFamily="34" charset="0"/>
                          <a:ea typeface="Segoe UI" pitchFamily="34" charset="-122"/>
                          <a:cs typeface="Segoe UI" pitchFamily="34" charset="-120"/>
                        </a:rPr>
                        <a:t>validé</a:t>
                      </a:r>
                      <a:pPr indent="0" marL="0">
                        <a:buNone/>
                      </a:pPr>
                      <a:r>
                        <a:rPr lang="en-US" sz="1100" dirty="0">
                          <a:solidFill>
                            <a:srgbClr val="1B2A3A"/>
                          </a:solidFill>
                          <a:latin typeface="Segoe UI" pitchFamily="34" charset="0"/>
                          <a:ea typeface="Segoe UI" pitchFamily="34" charset="-122"/>
                          <a:cs typeface="Segoe UI" pitchFamily="34" charset="-120"/>
                        </a:rPr>
                        <a:t>. La plateforme n’encaisse rien.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RG-OFF-10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reçu par entreprise, par lots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reçu vaut pour l’entreprise, identifiée par son NIF, pour un ou plusieurs lots ; un lot payé ouvre tout le dossier. Un nouveau reçu ne vaut que pour des lots non couverts. Un montant inférieur aux frais n’est pas refusé : la PRMP le voit.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RG-OFF-11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refus motivé, une décision définitive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ou son UGPM valide ou refuse le reçu ; un refus porte un </a:t>
                      </a:r>
                      <a:pPr indent="0" marL="0">
                        <a:buNone/>
                      </a:pPr>
                      <a:r>
                        <a:rPr lang="en-US" sz="1100" b="1" dirty="0">
                          <a:solidFill>
                            <a:srgbClr val="1B2A3A"/>
                          </a:solidFill>
                          <a:latin typeface="Segoe UI" pitchFamily="34" charset="0"/>
                          <a:ea typeface="Segoe UI" pitchFamily="34" charset="-122"/>
                          <a:cs typeface="Segoe UI" pitchFamily="34" charset="-120"/>
                        </a:rPr>
                        <a:t>motif</a:t>
                      </a:r>
                      <a:pPr indent="0" marL="0">
                        <a:buNone/>
                      </a:pPr>
                      <a:r>
                        <a:rPr lang="en-US" sz="1100" dirty="0">
                          <a:solidFill>
                            <a:srgbClr val="1B2A3A"/>
                          </a:solidFill>
                          <a:latin typeface="Segoe UI" pitchFamily="34" charset="0"/>
                          <a:ea typeface="Segoe UI" pitchFamily="34" charset="-122"/>
                          <a:cs typeface="Segoe UI" pitchFamily="34" charset="-120"/>
                        </a:rPr>
                        <a:t>, et le candidat dépose un nouveau reçu. Une décision ne se reprend pas. Le candidat en est averti par courriel.</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RG-OFF-12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Sans reçu validé, pas de dépôt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Sans reçu validé, le candidat ne lit pas les formulaires pré-remplis du dossier et ne peut pas déposer d’offre pour un lot que son reçu ne couvre pas. Un reçu en attente de décision ne suffit pas.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RG-OFF-13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reçu validé vaut preuve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reçu validé est la preuve du paiement : il n’est plus redemandé dans l’offre. Un dossier gratuit, ou une procédure lancée avant cette règle, garde le </a:t>
                      </a:r>
                      <a:pPr indent="0" marL="0">
                        <a:buNone/>
                      </a:pPr>
                      <a:r>
                        <a:rPr lang="en-US" sz="1100" b="1" dirty="0">
                          <a:solidFill>
                            <a:srgbClr val="1B2A3A"/>
                          </a:solidFill>
                          <a:latin typeface="Segoe UI" pitchFamily="34" charset="0"/>
                          <a:ea typeface="Segoe UI" pitchFamily="34" charset="-122"/>
                          <a:cs typeface="Segoe UI" pitchFamily="34" charset="-120"/>
                        </a:rPr>
                        <a:t>retrait libre</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Le retrait du DAO après paiement des frais — V72 · Le retrait du DAO après paiement des frais — V72 ; garde des frais au dépôt (06/10) · regles-gestion.md § La remise électronique des offres</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55</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L’offre remplie en ligne</a:t>
            </a:r>
            <a:endParaRPr lang="en-US" sz="2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RG-OFF-14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L’offre saisie dans des formulaires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fiche porte un besoin (fournitures, travaux), le candidat </a:t>
                      </a:r>
                      <a:pPr indent="0" marL="0">
                        <a:buNone/>
                      </a:pPr>
                      <a:r>
                        <a:rPr lang="en-US" sz="1100" b="1" dirty="0">
                          <a:solidFill>
                            <a:srgbClr val="1B2A3A"/>
                          </a:solidFill>
                          <a:latin typeface="Segoe UI" pitchFamily="34" charset="0"/>
                          <a:ea typeface="Segoe UI" pitchFamily="34" charset="-122"/>
                          <a:cs typeface="Segoe UI" pitchFamily="34" charset="-120"/>
                        </a:rPr>
                        <a:t>remplit</a:t>
                      </a:r>
                      <a:pPr indent="0" marL="0">
                        <a:buNone/>
                      </a:pPr>
                      <a:r>
                        <a:rPr lang="en-US" sz="1100" dirty="0">
                          <a:solidFill>
                            <a:srgbClr val="1B2A3A"/>
                          </a:solidFill>
                          <a:latin typeface="Segoe UI" pitchFamily="34" charset="0"/>
                          <a:ea typeface="Segoe UI" pitchFamily="34" charset="-122"/>
                          <a:cs typeface="Segoe UI" pitchFamily="34" charset="-120"/>
                        </a:rPr>
                        <a:t> son bordereau ou son devis quantitatif, sa conformité et son calendrier dans des formulaires pré-remplis depuis la fiche ; les pièces correspondantes ne sont plus exigées en fichier.</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RG-OFF-15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capacités déclarées aux travaux</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Aux travaux, le candidat déclare aussi le coefficient K1, les sous-détails de prix, ses capacités financières et techniques, son personnel et son matériel, face aux exigences de la fiche.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RG-OFF-16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L’acte d’engagement suit le bordereau</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montants de l’acte d’engagement sont ceux du bordereau. L’acte d’engagement signé et la garantie de soumission restent des </a:t>
                      </a:r>
                      <a:pPr indent="0" marL="0">
                        <a:buNone/>
                      </a:pPr>
                      <a:r>
                        <a:rPr lang="en-US" sz="1100" b="1" dirty="0">
                          <a:solidFill>
                            <a:srgbClr val="1B2A3A"/>
                          </a:solidFill>
                          <a:latin typeface="Segoe UI" pitchFamily="34" charset="0"/>
                          <a:ea typeface="Segoe UI" pitchFamily="34" charset="-122"/>
                          <a:cs typeface="Segoe UI" pitchFamily="34" charset="-120"/>
                        </a:rPr>
                        <a:t>pièces</a:t>
                      </a:r>
                      <a:pPr indent="0" marL="0">
                        <a:buNone/>
                      </a:pPr>
                      <a:r>
                        <a:rPr lang="en-US" sz="1100" dirty="0">
                          <a:solidFill>
                            <a:srgbClr val="1B2A3A"/>
                          </a:solidFill>
                          <a:latin typeface="Segoe UI" pitchFamily="34" charset="0"/>
                          <a:ea typeface="Segoe UI" pitchFamily="34" charset="-122"/>
                          <a:cs typeface="Segoe UI" pitchFamily="34" charset="-120"/>
                        </a:rPr>
                        <a:t> à joindre ; sans formulaires, l’offre se dépose par pièces seules et les montants de l’acte se saisissent.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RG-OFF-17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rabais déclaré de façon structurée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candidat déclare son rabais : un pourcentage ou un montant hors taxes, sans condition ou subordonné à l’attribution de plusieurs lots. Sa cohérence est contrôlée dans le navigateur, avant le scellement.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RG-OFF-18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avertissements, jamais un refus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serveur ne lit rien de l’offre avant l’ouverture : les contrôles faits avant le scellement avertissent le candidat, puis sont rejoués à l’ouverture en </a:t>
                      </a:r>
                      <a:pPr indent="0" marL="0">
                        <a:buNone/>
                      </a:pPr>
                      <a:r>
                        <a:rPr lang="en-US" sz="1100" b="1" dirty="0">
                          <a:solidFill>
                            <a:srgbClr val="1B2A3A"/>
                          </a:solidFill>
                          <a:latin typeface="Segoe UI" pitchFamily="34" charset="0"/>
                          <a:ea typeface="Segoe UI" pitchFamily="34" charset="-122"/>
                          <a:cs typeface="Segoe UI" pitchFamily="34" charset="-120"/>
                        </a:rPr>
                        <a:t>alertes</a:t>
                      </a:r>
                      <a:pPr indent="0" marL="0">
                        <a:buNone/>
                      </a:pPr>
                      <a:r>
                        <a:rPr lang="en-US" sz="1100" dirty="0">
                          <a:solidFill>
                            <a:srgbClr val="1B2A3A"/>
                          </a:solidFill>
                          <a:latin typeface="Segoe UI" pitchFamily="34" charset="0"/>
                          <a:ea typeface="Segoe UI" pitchFamily="34" charset="-122"/>
                          <a:cs typeface="Segoe UI" pitchFamily="34" charset="-120"/>
                        </a:rPr>
                        <a:t> pour la commission, jamais en refus.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La remise électronique des offres ; L’offre saisie dans des formulaires — lot 5 · L’offre saisie dans des formulaires — lot 5 · Le rabais structuré de l’offre en ligne</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56</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dépôt scellé (1/2)</a:t>
            </a:r>
            <a:endParaRPr lang="en-US" sz="2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RG-OFF-19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L’offre scellée dans le navigateur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candidat </a:t>
                      </a:r>
                      <a:pPr indent="0" marL="0">
                        <a:buNone/>
                      </a:pPr>
                      <a:r>
                        <a:rPr lang="en-US" sz="1100" b="1" dirty="0">
                          <a:solidFill>
                            <a:srgbClr val="1B2A3A"/>
                          </a:solidFill>
                          <a:latin typeface="Segoe UI" pitchFamily="34" charset="0"/>
                          <a:ea typeface="Segoe UI" pitchFamily="34" charset="-122"/>
                          <a:cs typeface="Segoe UI" pitchFamily="34" charset="-120"/>
                        </a:rPr>
                        <a:t>scelle</a:t>
                      </a:r>
                      <a:pPr indent="0" marL="0">
                        <a:buNone/>
                      </a:pPr>
                      <a:r>
                        <a:rPr lang="en-US" sz="1100" dirty="0">
                          <a:solidFill>
                            <a:srgbClr val="1B2A3A"/>
                          </a:solidFill>
                          <a:latin typeface="Segoe UI" pitchFamily="34" charset="0"/>
                          <a:ea typeface="Segoe UI" pitchFamily="34" charset="-122"/>
                          <a:cs typeface="Segoe UI" pitchFamily="34" charset="-120"/>
                        </a:rPr>
                        <a:t> son offre dans son navigateur, avec les clés publiques de la procédure. Le serveur reçoit un contenu qu’il ne peut pas lire : il sait qui a déposé, quand, pour quel lot et quelle taille, jamais un prix.</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RG-OFF-20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conditions du dépôt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On dépose si la procédure est en ligne et ses dépôts ouverts à l’</a:t>
                      </a:r>
                      <a:pPr indent="0" marL="0">
                        <a:buNone/>
                      </a:pPr>
                      <a:r>
                        <a:rPr lang="en-US" sz="1100" b="1" dirty="0">
                          <a:solidFill>
                            <a:srgbClr val="1B2A3A"/>
                          </a:solidFill>
                          <a:latin typeface="Segoe UI" pitchFamily="34" charset="0"/>
                          <a:ea typeface="Segoe UI" pitchFamily="34" charset="-122"/>
                          <a:cs typeface="Segoe UI" pitchFamily="34" charset="-120"/>
                        </a:rPr>
                        <a:t>horloge du serveur</a:t>
                      </a:r>
                      <a:pPr indent="0" marL="0">
                        <a:buNone/>
                      </a:pPr>
                      <a:r>
                        <a:rPr lang="en-US" sz="1100" dirty="0">
                          <a:solidFill>
                            <a:srgbClr val="1B2A3A"/>
                          </a:solidFill>
                          <a:latin typeface="Segoe UI" pitchFamily="34" charset="0"/>
                          <a:ea typeface="Segoe UI" pitchFamily="34" charset="-122"/>
                          <a:cs typeface="Segoe UI" pitchFamily="34" charset="-120"/>
                        </a:rPr>
                        <a:t>, la cérémonie des clés close, l’entreprise déclarée et non exclue. Date limite et exclusion sont revérifiées au scellement : un dépôt non scellé à l’échéance est refusé.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RG-OFF-21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offre par entreprise et par lot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seule offre déposée par entreprise et par lot. Un dépôt commencé et non scellé est purgé au bout de 24 heures sans envoi, ou à la date limite.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RG-OFF-22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accusé portant l’empreinte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scellement donne un accusé de dépôt, en PDF et par courriel : numéro d’arrivée, date à l’horloge du serveur, </a:t>
                      </a:r>
                      <a:pPr indent="0" marL="0">
                        <a:buNone/>
                      </a:pPr>
                      <a:r>
                        <a:rPr lang="en-US" sz="1100" b="1" dirty="0">
                          <a:solidFill>
                            <a:srgbClr val="1B2A3A"/>
                          </a:solidFill>
                          <a:latin typeface="Segoe UI" pitchFamily="34" charset="0"/>
                          <a:ea typeface="Segoe UI" pitchFamily="34" charset="-122"/>
                          <a:cs typeface="Segoe UI" pitchFamily="34" charset="-120"/>
                        </a:rPr>
                        <a:t>empreinte</a:t>
                      </a:r>
                      <a:pPr indent="0" marL="0">
                        <a:buNone/>
                      </a:pPr>
                      <a:r>
                        <a:rPr lang="en-US" sz="1100" dirty="0">
                          <a:solidFill>
                            <a:srgbClr val="1B2A3A"/>
                          </a:solidFill>
                          <a:latin typeface="Segoe UI" pitchFamily="34" charset="0"/>
                          <a:ea typeface="Segoe UI" pitchFamily="34" charset="-122"/>
                          <a:cs typeface="Segoe UI" pitchFamily="34" charset="-120"/>
                        </a:rPr>
                        <a:t> de l’offre et empreintes des clés employées.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RG-OFF-23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Remplacer ou retirer avant l’échéance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Remplacer ou retirer une offre n’est possible qu’avant la date limite, et si la fiche l’autorise. L’ancienne offre n’est remplacée qu’au scellement de la nouvelle ; une offre retirée est conservée et ne s’ouvre jamais.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2026-10-04, lot 3 (V68) — le dépôt d’une offre · Le dépôt scellé d’une offre — V68</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57</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dépôt scellé (2/2)</a:t>
            </a:r>
            <a:endParaRPr lang="en-US" sz="2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RG-OFF-24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Avant l’échéance, le nombre seul</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Avant la date limite, la PRMP ne connaît que le </a:t>
                      </a:r>
                      <a:pPr indent="0" marL="0">
                        <a:buNone/>
                      </a:pPr>
                      <a:r>
                        <a:rPr lang="en-US" sz="1100" b="1" dirty="0">
                          <a:solidFill>
                            <a:srgbClr val="1B2A3A"/>
                          </a:solidFill>
                          <a:latin typeface="Segoe UI" pitchFamily="34" charset="0"/>
                          <a:ea typeface="Segoe UI" pitchFamily="34" charset="-122"/>
                          <a:cs typeface="Segoe UI" pitchFamily="34" charset="-120"/>
                        </a:rPr>
                        <a:t>nombre</a:t>
                      </a:r>
                      <a:pPr indent="0" marL="0">
                        <a:buNone/>
                      </a:pPr>
                      <a:r>
                        <a:rPr lang="en-US" sz="1100" dirty="0">
                          <a:solidFill>
                            <a:srgbClr val="1B2A3A"/>
                          </a:solidFill>
                          <a:latin typeface="Segoe UI" pitchFamily="34" charset="0"/>
                          <a:ea typeface="Segoe UI" pitchFamily="34" charset="-122"/>
                          <a:cs typeface="Segoe UI" pitchFamily="34" charset="-120"/>
                        </a:rPr>
                        <a:t> de dépôts. Le registre (qui, quand, quel lot, empreinte) ne se lit qu’après l’échéance. L’Administrateur ne lit pas les dépôts.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RG-OFF-33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Toute tentative hors délai refusée et consignée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Toute tentative de déposer une offre après la date et l’heure limites est </a:t>
                      </a:r>
                      <a:pPr indent="0" marL="0">
                        <a:buNone/>
                      </a:pPr>
                      <a:r>
                        <a:rPr lang="en-US" sz="1100" b="1" dirty="0">
                          <a:solidFill>
                            <a:srgbClr val="1B2A3A"/>
                          </a:solidFill>
                          <a:latin typeface="Segoe UI" pitchFamily="34" charset="0"/>
                          <a:ea typeface="Segoe UI" pitchFamily="34" charset="-122"/>
                          <a:cs typeface="Segoe UI" pitchFamily="34" charset="-120"/>
                        </a:rPr>
                        <a:t>refusée</a:t>
                      </a:r>
                      <a:pPr indent="0" marL="0">
                        <a:buNone/>
                      </a:pPr>
                      <a:r>
                        <a:rPr lang="en-US" sz="1100" dirty="0">
                          <a:solidFill>
                            <a:srgbClr val="1B2A3A"/>
                          </a:solidFill>
                          <a:latin typeface="Segoe UI" pitchFamily="34" charset="0"/>
                          <a:ea typeface="Segoe UI" pitchFamily="34" charset="-122"/>
                          <a:cs typeface="Segoe UI" pitchFamily="34" charset="-120"/>
                        </a:rPr>
                        <a:t> (art. 44). Le refus est daté par le serveur et conservé, avec l’entreprise, le NIF, le lot et le geste refusé. Le registre des dépôts de la PRMP et le PV d’ouverture les énumèrent.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2026-10-04, lot 3 (V68) — le dépôt d’une offre · regles-gestion.md § ⚠️ 2026-10-14 — manuel révisé, lot 2, tranche R9b ; demande-backend-2026-10-10-manuel-revise-lot2.md B4 (✅)</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58</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commission, les clés et le dépositaire (1/2)</a:t>
            </a:r>
            <a:endParaRPr lang="en-US" sz="2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RG-OFF-25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commission désignée par la PRMP</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constitue la commission d’appel d’offres par une décision, saisie par elle ou par son UGPM : au moins deux membres, un président parmi eux. Seuls les membres détiennent une part de clé. Ni la PRMP, ni l’UGPM, ni un contrôleur de la CNM, ni un candidat n’y siège.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RG-OFF-26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responsable désigné par procédure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responsable de la procédure est désigné par l’Administrateur pour cette procédure, jamais parmi les détenteurs d’une part. Lui seul lit et modifie les </a:t>
                      </a:r>
                      <a:pPr indent="0" marL="0">
                        <a:buNone/>
                      </a:pPr>
                      <a:r>
                        <a:rPr lang="en-US" sz="1100" b="1" dirty="0">
                          <a:solidFill>
                            <a:srgbClr val="1B2A3A"/>
                          </a:solidFill>
                          <a:latin typeface="Segoe UI" pitchFamily="34" charset="0"/>
                          <a:ea typeface="Segoe UI" pitchFamily="34" charset="-122"/>
                          <a:cs typeface="Segoe UI" pitchFamily="34" charset="-120"/>
                        </a:rPr>
                        <a:t>paramètres internes</a:t>
                      </a:r>
                      <a:pPr indent="0" marL="0">
                        <a:buNone/>
                      </a:pPr>
                      <a:r>
                        <a:rPr lang="en-US" sz="1100" dirty="0">
                          <a:solidFill>
                            <a:srgbClr val="1B2A3A"/>
                          </a:solidFill>
                          <a:latin typeface="Segoe UI" pitchFamily="34" charset="0"/>
                          <a:ea typeface="Segoe UI" pitchFamily="34" charset="-122"/>
                          <a:cs typeface="Segoe UI" pitchFamily="34" charset="-120"/>
                        </a:rPr>
                        <a:t> (détenteurs, quorum, cérémonie, dépositaire), qui ne paraissent dans aucun document.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RG-OFF-27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cérémonie des clés avant l’avis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de la commission génère sa clé dans son navigateur ; le serveur ne détient jamais une clé privée en clair. L’avis (ou les lettres d’invitation) ne se publie qu’une fois la </a:t>
                      </a:r>
                      <a:pPr indent="0" marL="0">
                        <a:buNone/>
                      </a:pPr>
                      <a:r>
                        <a:rPr lang="en-US" sz="1100" b="1" dirty="0">
                          <a:solidFill>
                            <a:srgbClr val="1B2A3A"/>
                          </a:solidFill>
                          <a:latin typeface="Segoe UI" pitchFamily="34" charset="0"/>
                          <a:ea typeface="Segoe UI" pitchFamily="34" charset="-122"/>
                          <a:cs typeface="Segoe UI" pitchFamily="34" charset="-120"/>
                        </a:rPr>
                        <a:t>cérémonie des clés</a:t>
                      </a:r>
                      <a:pPr indent="0" marL="0">
                        <a:buNone/>
                      </a:pPr>
                      <a:r>
                        <a:rPr lang="en-US" sz="1100" dirty="0">
                          <a:solidFill>
                            <a:srgbClr val="1B2A3A"/>
                          </a:solidFill>
                          <a:latin typeface="Segoe UI" pitchFamily="34" charset="0"/>
                          <a:ea typeface="Segoe UI" pitchFamily="34" charset="-122"/>
                          <a:cs typeface="Segoe UI" pitchFamily="34" charset="-120"/>
                        </a:rPr>
                        <a:t> close.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RG-OFF-28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quorum de clés entre deux et tous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nombre de parts nécessaires pour ouvrir les offres est compris entre 2 et le nombre de détenteurs. S’il l’égale, un avertissement rappelle que la perte d’une seule part rendrait les offres illisibles. Ce quorum des clés est distinct du quorum de délibération de la commission (partie 07).</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RG-OFF-29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dépositaire génère la part de secours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dépositaire, choisi librement pour chaque procédure, génère la part de secours sur son propre poste ; lui seul en connaît la phrase secrète. Il ne peut être ni la PRMP, ni une UGPM de la fiche, ni le responsable, ni un membre de la commission, ni un candidat.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2026-10-04, lots 2a et 2b (V66-V67) ; arbitrages après le lot 4 (V70) · regles-gestion.md § La remise électronique des offres · regles-gestion.md § 2026-10-04, lots 2a et 2b (V66-V67) · regles-gestion.md § La remise électronique des offres (règles bloquantes, S1) · regles-gestion.md § 2026-10-05 — le dépositaire génère lui-même la part de secours (V71)</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59</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commission, les clés et le dépositaire (2/2)</a:t>
            </a:r>
            <a:endParaRPr lang="en-US" sz="2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RG-OFF-30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dépositaire ne voit pas les offres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dépositaire ne voit ni les offres, ni leurs pièces, ni le PV : seulement sa clé, l’état de la cérémonie et celui de la séance. Changer de dépositaire reste possible tant que les paramètres internes sont modifiables.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Le dépositaire génère lui-même la part de secours — V71</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60</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consultation restreinte</a:t>
            </a:r>
            <a:endParaRPr lang="en-US" sz="26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RG-OFF-31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procédure réservée aux invités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consultation restreinte de prestations intellectuelles naît à l’impression des lettres d’invitation ; elle n’apparaît pas parmi les procédures ouvertes et reste introuvable pour les non-invités. Les invités sont la liste de l’AMI, ou les candidats saisis avec leur adresse : le compte qui porte cette adresse est rattaché à l’invitation, même créé après.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RG-OFF-32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Deux enveloppes, une proposition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proposition se dépose en deux enveloppes scellées l’une après l’autre : la </a:t>
                      </a:r>
                      <a:pPr indent="0" marL="0">
                        <a:buNone/>
                      </a:pPr>
                      <a:r>
                        <a:rPr lang="en-US" sz="1100" b="1" dirty="0">
                          <a:solidFill>
                            <a:srgbClr val="1B2A3A"/>
                          </a:solidFill>
                          <a:latin typeface="Segoe UI" pitchFamily="34" charset="0"/>
                          <a:ea typeface="Segoe UI" pitchFamily="34" charset="-122"/>
                          <a:cs typeface="Segoe UI" pitchFamily="34" charset="-120"/>
                        </a:rPr>
                        <a:t>technique</a:t>
                      </a:r>
                      <a:pPr indent="0" marL="0">
                        <a:buNone/>
                      </a:pPr>
                      <a:r>
                        <a:rPr lang="en-US" sz="1100" dirty="0">
                          <a:solidFill>
                            <a:srgbClr val="1B2A3A"/>
                          </a:solidFill>
                          <a:latin typeface="Segoe UI" pitchFamily="34" charset="0"/>
                          <a:ea typeface="Segoe UI" pitchFamily="34" charset="-122"/>
                          <a:cs typeface="Segoe UI" pitchFamily="34" charset="-120"/>
                        </a:rPr>
                        <a:t>, sans aucun montant, et la </a:t>
                      </a:r>
                      <a:pPr indent="0" marL="0">
                        <a:buNone/>
                      </a:pPr>
                      <a:r>
                        <a:rPr lang="en-US" sz="1100" b="1" dirty="0">
                          <a:solidFill>
                            <a:srgbClr val="1B2A3A"/>
                          </a:solidFill>
                          <a:latin typeface="Segoe UI" pitchFamily="34" charset="0"/>
                          <a:ea typeface="Segoe UI" pitchFamily="34" charset="-122"/>
                          <a:cs typeface="Segoe UI" pitchFamily="34" charset="-120"/>
                        </a:rPr>
                        <a:t>financière</a:t>
                      </a:r>
                      <a:pPr indent="0" marL="0">
                        <a:buNone/>
                      </a:pPr>
                      <a:r>
                        <a:rPr lang="en-US" sz="1100" dirty="0">
                          <a:solidFill>
                            <a:srgbClr val="1B2A3A"/>
                          </a:solidFill>
                          <a:latin typeface="Segoe UI" pitchFamily="34" charset="0"/>
                          <a:ea typeface="Segoe UI" pitchFamily="34" charset="-122"/>
                          <a:cs typeface="Segoe UI" pitchFamily="34" charset="-120"/>
                        </a:rPr>
                        <a:t>, avec l’acte d’engagement et les formulaires financiers. Les deux portent le même numéro ; l’accusé de la seconde porte l’empreinte de la première ; retirer l’une retire les deux.</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Lot 3 PI : demande evaluation-pi du 07/10, tranche PI-a · Lot 3 PI : demande evaluation-pi du 07/10, tranche PI-b</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61</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questions des candidats</a:t>
            </a:r>
            <a:endParaRPr lang="en-US" sz="2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RG-OFF-34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questions jusqu’à dix jours avant la date limite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candidat qui a retiré le dossier peut poser une question à la PRMP jusqu’à </a:t>
                      </a:r>
                      <a:pPr indent="0" marL="0">
                        <a:buNone/>
                      </a:pPr>
                      <a:r>
                        <a:rPr lang="en-US" sz="1100" b="1" dirty="0">
                          <a:solidFill>
                            <a:srgbClr val="1B2A3A"/>
                          </a:solidFill>
                          <a:latin typeface="Segoe UI" pitchFamily="34" charset="0"/>
                          <a:ea typeface="Segoe UI" pitchFamily="34" charset="-122"/>
                          <a:cs typeface="Segoe UI" pitchFamily="34" charset="-120"/>
                        </a:rPr>
                        <a:t>dix jours avant la date limite</a:t>
                      </a:r>
                      <a:pPr indent="0" marL="0">
                        <a:buNone/>
                      </a:pPr>
                      <a:r>
                        <a:rPr lang="en-US" sz="1100" dirty="0">
                          <a:solidFill>
                            <a:srgbClr val="1B2A3A"/>
                          </a:solidFill>
                          <a:latin typeface="Segoe UI" pitchFamily="34" charset="0"/>
                          <a:ea typeface="Segoe UI" pitchFamily="34" charset="-122"/>
                          <a:cs typeface="Segoe UI" pitchFamily="34" charset="-120"/>
                        </a:rPr>
                        <a:t>, ce dixième jour compris (art. 35-II) ; ensuite les questions sont closes. La PRMP répond par écrit, avec une pièce jointe si elle le souhaite ; une question n’a qu’une réponse, définitive.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RG-OFF-35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réponse diffusée à tous, sans auteur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réponse est </a:t>
                      </a:r>
                      <a:pPr indent="0" marL="0">
                        <a:buNone/>
                      </a:pPr>
                      <a:r>
                        <a:rPr lang="en-US" sz="1100" b="1" dirty="0">
                          <a:solidFill>
                            <a:srgbClr val="1B2A3A"/>
                          </a:solidFill>
                          <a:latin typeface="Segoe UI" pitchFamily="34" charset="0"/>
                          <a:ea typeface="Segoe UI" pitchFamily="34" charset="-122"/>
                          <a:cs typeface="Segoe UI" pitchFamily="34" charset="-120"/>
                        </a:rPr>
                        <a:t>diffusée aussitôt</a:t>
                      </a:r>
                      <a:pPr indent="0" marL="0">
                        <a:buNone/>
                      </a:pPr>
                      <a:r>
                        <a:rPr lang="en-US" sz="1100" dirty="0">
                          <a:solidFill>
                            <a:srgbClr val="1B2A3A"/>
                          </a:solidFill>
                          <a:latin typeface="Segoe UI" pitchFamily="34" charset="0"/>
                          <a:ea typeface="Segoe UI" pitchFamily="34" charset="-122"/>
                          <a:cs typeface="Segoe UI" pitchFamily="34" charset="-120"/>
                        </a:rPr>
                        <a:t> à tous les candidats ayant retiré le dossier, par notification et sur la page publique de la procédure, sans le nom de l’auteur de la question. Les questions répondues sont jointes d’office au dossier de marché soumis à la Commission.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 2026-10-13 — manuel révisé, lot 2, tranche R7 (V109)</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62</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B</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Annexe B — La référence des données</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Partie par partie, les objets que l’application crée ou modifie, et toutes leurs informations : nom, type et valeurs, caractère obligatoire, description tirée du serveur.</a:t>
            </a:r>
            <a:endParaRPr lang="en-US" sz="17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06 · Recevoir les offres en ligne · 63</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données de l’étape (1/2)</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objet que cette étape crée ou modifie, avec la table du serveur qui le conserve et le nombre de ses informations.</a:t>
            </a:r>
            <a:endParaRPr lang="en-US" sz="13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926080"/>
                <a:gridCol w="2103120"/>
                <a:gridCol w="1005840"/>
                <a:gridCol w="539496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Objet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Ce qu’il porte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tentative de dépôt refusée hors délai</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t_offre_tentative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tentative de dépôt refusée hors délai : le geste refusé, horodaté par le serveur, le candidat et ce qui est connu de son dépôt.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compte du candidat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t_compte_candidat</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11</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La fiche d'un candidat : une entreprise externe inscrite par elle-même.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code de confirmation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t_code_candidat</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code de confirmation d'un compte candidat : six chiffres, à usage unique, valable 15 minutes, 5 essais au plus ; stocké haché (BCrypt), par canal (EMAIL, TELEPHONE).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L’entreprise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t_entreprise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L'entreprise d'un compte candidat (un compte = une entreprise) :</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pièce de l’entreprise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t_piece_entreprise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pièce de l'entreprise d'un candidat (carte fiscale, statuts, pouvoir, autre) :</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journal de l’entreprise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t_entreprise_journal</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7</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ligne du journal d'une entreprise : un changement de statut de vérification du NIF, avec l'ancienne et la nouvelle valeur.</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rapprochement de deux comptes</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t_rapprochement_candidat</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6</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rapprochement entre deux comptes candidats (même téléphone, même signataire, même adresse) : une alerte pour la commission (lot 4), jamais un refus. idCandidatA &lt; idCandidatB.</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L’exclusion prononcée par l’ARMP</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t_exclusion_armp</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exclusion des marchés publics prononcée par l'ARMP, tenue par l'Administrateur ; jamais supprimée (on la corrige, ou on avance sa date de fin).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journal des exclusions</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t_exclusion_armp_journal</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6</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ligne du journal d'une exclusion : anciennes et nouvelles valeurs (JSON), qui, quand.</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retrait du dossier</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t_retrait_dao</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retrait du DAO : un document téléchargé par un candidat (compte, entreprise si déclarée, document, version de la fiche, date).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reçu des frais de dossier</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t_recu_dao</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22</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Le reçu du paiement des frais de dossier, déposé par un candidat pour son entreprise (la clé est le NIF : deux comptes de la même entreprise le partagent), sur un ou plusieurs lots (lots nul : tout le dossier).</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journal des reçus</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t_recu_journal</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7</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Le journal des reçus de frais de dossier : RECU_DEPOSE, RECU_VALIDE, RECU_REFUSE.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64</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données de l’étape (2/2)</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objet que cette étape crée ou modifie, avec la table du serveur qui le conserve et le nombre de ses informations.</a:t>
            </a:r>
            <a:endParaRPr lang="en-US" sz="13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926080"/>
                <a:gridCol w="2103120"/>
                <a:gridCol w="1005840"/>
                <a:gridCol w="539496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Objet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Ce qu’il porte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L’offre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t_offre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33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offre déposée en ligne : un conteneur scellé dans le navigateur du candidat, que le serveur ne peut pas lire.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morceau chiffré d’une offre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t_offre_morceau</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6</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morceau reçu d'une offre en cours de dépôt : taille et empreinte ; le contenu est sur disque.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journal des offres</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t_offre_journal</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7</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Le journal des offres : création, morceaux, scellement, remplacement, retrait, purge.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65</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(1/8)</a:t>
            </a:r>
            <a:endParaRPr lang="en-US" sz="26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tentative de dépôt refusée hors délai  ·  t_offre_tentative  ·  13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ID_CANDIDAT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candidat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ID_ENTREPRISE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entreprise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RAISON_SOCIALE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Raison sociale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ENVELOPPE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Enveloppe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(12)</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ID_OFFRE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(36)</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GESTE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Geste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(12)</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HORODATAGE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Horodatage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DATE_LIMITE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limite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compte du candidat  ·  t_compte_candidat  ·  11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ID_CANDIDAT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candidat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électronique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TELEPHONE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Téléphone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PRENOM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Prénom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ETAT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État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 : A_CONFIRMER, CONFIRME, ARCHIVE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TELEPHONE_CONFIRME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Téléphone confirme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DATE_INSCRIPTION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inscription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DATE_CONFIRMATION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confirmation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DERNIERE_CONNEXION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Dernière connexion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66</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(2/8)</a:t>
            </a:r>
            <a:endParaRPr lang="en-US" sz="26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DATE_ARCHIVAGE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archivage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code de confirmation  ·  t_code_candidat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ID_CODE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ID_CANDIDAT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candidat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CANAL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Canal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HASH_CODE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Empreinte 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DATE_EMISSION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emission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EXPIRATION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Expiration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ESSAIS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Essais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UTILISE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Utilise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L’entreprise  ·  t_entreprise  ·  18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ID_ENTREPRISE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entreprise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ID_CANDIDAT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candidat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RAISON_SOCIALE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Raison sociale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STAT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STAT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RCS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RCS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ADRESSE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ADRESSE_NORMALISEE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normalisee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REP_NOM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Rep nom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REP_PRENOM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Rep prénom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REP_FONCTION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Rep fonction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VERIF_STATUT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Verif statut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VERIF_SOURCE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Verif 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VERIF_DATE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Verif 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67</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(3/8)</a:t>
            </a:r>
            <a:endParaRPr lang="en-US" sz="26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VERIF_ACTEUR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Verif acteur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VERIF_MOTIF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Verif 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DATE_CREATION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création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DATE_MAJ</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mise à jour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pièce de l’entreprise  ·  t_piece_entreprise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ID_PIECE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pièce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ID_ENTREPRISE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entreprise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TYPE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NOM_FICHIER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 fichier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FORMAT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TAILLE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Octets.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HASH_SHA256</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Empreinte SHA-256</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(64)</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DATE_DEPOT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dépôt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journal de l’entreprise  ·  t_entreprise_journal  ·  7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ID_JOURNAL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journal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ID_ENTREPRISE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entreprise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DATE_ACTION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action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ACTEUR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Acteur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CHAMP</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Champ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ANCIENNE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Ancienne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NOUVELLE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Nouvelle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rapprochement de deux comptes  ·  t_rapprochement_candidat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ID_RAPPROCHEMENT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rapprochement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ID_CANDIDAT_A</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candidat a</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ID_CANDIDAT_B</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candidat b</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68</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(4/8)</a:t>
            </a:r>
            <a:endParaRPr lang="en-US" sz="2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CRITERE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Critère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VALEUR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Valeur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DATE_CALCUL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calcul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L’exclusion prononcée par l’ARMP  ·  t_exclusion_armp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ID_EXCLUSION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exclusion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RAISON_SOCIALE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Raison sociale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REFERENCE_DECISION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décision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DATE_DEBUT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début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DATE_FIN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fin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DATE_CREATION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création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journal des exclusions  ·  t_exclusion_armp_journal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ID_JOURNAL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journal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ID_EXCLUSION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exclusion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DATE_ACTION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action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ACTEUR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Acteur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ANCIENNES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Anciennes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NOUVELLES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Nouvelles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retrait du dossier  ·  t_retrait_dao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ID_RETRAIT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retrait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ID_CANDIDAT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candidat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ID_ENTREPRISE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entreprise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CODE_DOCUMENT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Code 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69</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(5/8)</a:t>
            </a:r>
            <a:endParaRPr lang="en-US" sz="26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VERSION_FICHE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Version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DATE_RETRAIT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retrait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ID_RECU</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reçu</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reçu de frais de dossier qui a ouvert ce retrait ; null pour un retrait libre.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reçu des frais de dossier  ·  t_recu_dao  ·  22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ID_RECU</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reçu</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ID_ENTREPRISE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entreprise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RAISON_SOCIALE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Raison sociale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ID_CANDIDAT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candidat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compte qui l'a déposé.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Les lots couverts, séparés par des virgules ; null : tout le dossier.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MONTANT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REFERENCE_PAIEMENT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 paiement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DATE_PAIEMENT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paiement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BANQUE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Banque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NOM_FICHIER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 fichier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FORMAT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TAILLE_OCTETS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 (octets)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EMPREINTE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Empreinte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(64)</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DATE_DEPOT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dépôt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ETAT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État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 : EN_ATTENTE, VALIDE, REFUSE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MOTIF_REFUS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 refus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DATE_DECISION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décision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DECIDE_PAR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Décidé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fonction de qui a décidé (PRMP ou UGPM), pas son nom (servie au candidat).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LOGIN_DECIDEUR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Login decideur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70</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(6/8)</a:t>
            </a:r>
            <a:endParaRPr lang="en-US" sz="26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PURGE_LE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Purge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purge de conservation (V70) : le fichier supprimé, la ligne gardée.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journal des reçus  ·  t_recu_journal  ·  7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ID_RECU</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reçu</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ACTEUR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Acteur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ACTION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L’offre  ·  t_offre  ·  33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ID_OFFRE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(36)</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UUID tiré par le navigateur — l'identifiant de l'offre, dans l'en-tête et les données authentifiées.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ID_CANDIDAT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candidat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ID_ENTREPRISE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entreprise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RAISON_SOCIALE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Raison sociale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ETAT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État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 : EN_COURS, DEPOSEE, REMPLACEE, RETIREE, ECARTEE, TECHNIQUE, FINANCIERE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DATE_CREATION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création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DATE_DEPOT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dépôt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DATE_RETRAIT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retrait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NUMERO</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Rang d'arrivée dans la procédure.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EN_TETE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En tete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L'en-tête JSON, tel que le navigateur l'a sérialisé et haché.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71</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(7/8)</a:t>
            </a:r>
            <a:endParaRPr lang="en-US" sz="2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NOMBRE_MORCEAUX</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morceaux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TAILLE_MORCEAU</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 morceau</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TAILLE_CONTENU</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 contenu</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TAILLE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Les octets reçus (morceaux).</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EMPREINTE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Empreinte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(64)</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SHA-256 de l'en-tête puis des morceaux, posée au scellement.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QUORUM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Quorum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EMPREINTES_DETENTEURS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Empreintes detenteurs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Les empreintes des clés publiques pour lesquelles l'offre est scellée, dans l'ordre, séparées par des virgules.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CHEMIN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Chemin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REMPLACE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Remplacé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(36)</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REMPLACEE_PAR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Remplacée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(36)</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GROUPEMENT_NIFS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Groupement nifs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Les NIF normalisés des membres d'un groupement, pour le seul contrôle des exclusions (séparés par des virgules).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DERNIER_MORCEAU</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Dernier morceau</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INTEGRITE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Integrite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INTACTE, ALTEREE (empreinte différente), LECTURE_IMPOSSIBLE.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LECTURE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Lecture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lecture tirée du manifeste à l'ouverture (JSON).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MOTIF_LECTURE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 lecture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raison d'une lecture impossible.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MOTIF_ECARTEMENT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 écartement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motif de l'écartement (entreprise exclue après son dépôt).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ENVELOPPE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Enveloppe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(12)</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L'enveloppe d'une proposition de prestations intellectuelles :</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OUVERTE_LE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Ouverte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PURGEE_LE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Purgee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Conteneur et contenu déchiffré supprimés au terme de la conservation.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morceau chiffré d’une offre  ·  t_offre_morceau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ID_MORCEAU</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morceau</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ID_OFFRE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(36)</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RANG</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Rang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72</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06 RECEVOIR LES OFFRES EN LIGNE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(8/8)</a:t>
            </a:r>
            <a:endParaRPr lang="en-US" sz="26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TAILLE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EMPREINTE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Empreinte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(64)</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DATE_RECU</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reçu</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journal des offres  ·  t_offre_journal  ·  7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ID_OFFRE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(36)</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ID_CANDIDAT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candidat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ACTION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06 · Recevoir les offres en ligne · 73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73</Slides>
  <Notes>73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73</vt:i4>
      </vt:variant>
    </vt:vector>
  </HeadingPairs>
  <TitlesOfParts>
    <vt:vector size="7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Étape 06 · Recevoir les offres en ligne</dc:title>
  <dc:subject>PptxGenJS Presentation</dc:subject>
  <dc:creator>PRS 2.0</dc:creator>
  <cp:lastModifiedBy>PRS 2.0</cp:lastModifiedBy>
  <cp:revision>1</cp:revision>
  <dcterms:created xsi:type="dcterms:W3CDTF">2026-10-14T12:25:40Z</dcterms:created>
  <dcterms:modified xsi:type="dcterms:W3CDTF">2026-10-14T12:25:40Z</dcterms:modified>
</cp:coreProperties>
</file>