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02-creer-type.
Écran : /prmp/soumettre-dossier — compte : PRMP.
Noms, matricules, initiales, photos et adresses réelles masqués dans la page avant la capture.
Règles appliquées (annexe A) : RG-PLA-01, RG-PLA-02.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detail__p03-plan-entete.jpg (« L’en-tête du plan, et l’import PDF »).
Raison : l’état montré ne se reproduit plus sur la base du 14/10 ; l’écran n’a pas changé sur ce qu’il montre.
Règles appliquées (annexe A) : RG-PLA-02, RG-PLA-10.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detail__p04-plan-ligne.jpg (« Une ligne de marché »).
Raison : l’état montré ne se reproduit plus sur la base du 14/10 ; l’écran n’a pas changé sur ce qu’il montre.
Règles appliquées (annexe A) : RG-PLA-03, RG-PLA-04, RG-PLA-05, RG-PLA-06, RG-PLA-26.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detail__p05-plan-capm.jpg (« Le calendrier prévisionnel (CAPM) »).
Raison : l’état montré ne se reproduit plus sur la base du 14/10 ; l’écran n’a pas changé sur ce qu’il montre.
Règles appliquées (annexe A) : RG-PLA-07, RG-PLA-08.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detail__p06-plan-pieces.jpg (« Les pièces jointes »).
Raison : l’état montré ne se reproduit plus sur la base du 14/10 ; l’écran n’a pas changé sur ce qu’il montre.
Règles appliquées (annexe A) : RG-PLA-04, RG-PLA-09.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detail__p07-plan-apercu.jpg (« L’aperçu avant création »).
Raison : l’état montré ne se reproduit plus sur la base du 14/10 ; l’écran n’a pas changé sur ce qu’il montre.
Règles appliquées (annexe A) : RG-PLA-02, RG-PLA-06, RG-PLA-10.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02-brouillons.
Écran : /prmp/mes-brouillons — compte : PRMP.
Noms, matricules, initiales, photos et adresses réelles masqués dans la page avant la capture.
Règles appliquées (annexe A) : RG-PLA-02, RG-PLA-16, RG-PLA-17.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02-verifier-ppm.
Écran : /prmp/verifier-ppm/200342 — compte : PRMP.
Noms, matricules, initiales, photos et adresses réelles masqués dans la page avant la capture.
Règles appliquées (annexe A) : RG-PLA-11, RG-PLA-12, RG-PLA-13, RG-PLA-14, RG-PLA-15.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02-suivi.
Écran : /prmp/tableau-de-bord — compte : PRMP.
Noms, matricules, initiales, photos et adresses réelles masqués dans la page avant la capture.
Règles appliquées (annexe A) : RG-PLA-18, RG-PLA-19.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02-dossier-frise.
Écran : /prmp/dossier/100359 — compte : PRMP.
Noms, matricules, initiales, photos et adresses réelles masqués dans la page avant la capture.
Règles appliquées (annexe A) : RG-PLA-18, RG-PLA-19, RG-PLA-27.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02-dossier-ppm-lignes.
Écran : /prmp/dossier/100363 — compte : PRMP.
Noms, matricules, initiales, photos et adresses réelles masqués dans la page avant la capture.
Règles appliquées (annexe A) : RG-PLA-18, RG-PLA-26.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02-ppm-marches.
Écran : /prmp/ppm-marches — compte : PRMP.
Noms, matricules, initiales, photos et adresses réelles masqués dans la page avant la capture.
Règles appliquées (annexe A) : RG-PLA-04, RG-PLA-20.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02-ppm-marches-details.
Écran : /prmp/ppm-marches — compte : PRMP.
Noms, matricules, initiales, photos et adresses réelles masqués dans la page avant la capture.
Règles appliquées (annexe A) : RG-PLA-05, RG-PLA-26.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02-mettre-a-jour-maj.
Écran : /prmp/dossiers-verifies?maj=1 — compte : PRMP.
Noms, matricules, initiales, photos et adresses réelles masqués dans la page avant la capture.
Règles appliquées (annexe A) : RG-PLA-20, RG-PLA-21, RG-PLA-22.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02-retraits.
Écran : /prmp/retraits — compte : PRMP.
Noms, matricules, initiales, photos et adresses réelles masqués dans la page avant la capture.
Règles appliquées (annexe A) : RG-PLA-23, RG-PLA-24.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02-calendrier-alertes.
Écran : /prmp/calendrier — compte : PRMP.
Noms, matricules, initiales, photos et adresses réelles masqués dans la page avant la capture.
Règles appliquées (annexe A) : RG-PLA-25.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02</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Planifier</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La PRMP saisit ou importe son plan de passation, le vérifie avant de le soumettre, puis en suit le contrôle étape par étape jusqu’à la clôture.</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02 — Planifier</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02</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Planifier</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PRMP saisit ou importe son plan de passation, le vérifie avant de le soumettre, puis en suit le contrôle étape par étape jusqu’à la clôture.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plan de passation arrive à la Commission sous forme de données, ligne par ligne, et non plus comme un document à ressaisir.</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Avant même la soumission, la PRMP voit les points que le contrôleur regardera, avec l’article de l’arrêté qui les fonde.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 plan validé ne se modifie jamais en place : toute mise à jour est une nouvelle version, et l’écart entre versions est conservé.</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02 · Planifier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saisi au plan contrôlé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dossier de planification naît en brouillon chez la PRMP ; il n’est visible de la Commission qu’à sa soumission.</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Saisir ou importer le plan</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En-tête, lignes de marché, bénéficiaires, calendrier prévisionnel, lots — ou import du PPM officiel en PDF.</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Relire l’aperçu</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de présentation, le plan et le projet d’AGPM, tels que la Commission les lira.</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Vérifier le plan</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pré-contrôle signale les écarts aux seuils ; chacun se corrige ou s’écarte avec un motif.</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SEULE</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Soumettre</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reçoit sa référence et sa date de fin de traitement prévue.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Suivre le contrôle</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frise des sept étapes, les jalons du calendrier, la demande de retrait si nécessaire.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Plan contrôlé, puis mis à jour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circuit clos, le plan vit : chaque mise à jour en fait une nouvelle version.</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Saisir le plan, ou l’importer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PRMP choisit le type de dossier, puis saisit son plan de passation ou l’importe depuis le PDF officiel. Rien ne part tant qu’elle ne l’a pas soumis.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Créer un dossier : choisir son type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Créer un dossier : choisir son typ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Dossier de planification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plan de passation), dossier de mise en concurrence, ou dossier de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Saisir » crée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brouillon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invisible des contrôleurs jusqu’à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L’appel d’offres, lui, se prépare dans sa fiche (partie 04).</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RG-PLA-01 · RG-PLA-02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L’en-tête du plan, et l’import PDF</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n-tête du plan, et l’import PDF">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b="1" dirty="0">
                <a:solidFill>
                  <a:srgbClr val="1B2A3A"/>
                </a:solidFill>
                <a:latin typeface="Segoe UI" pitchFamily="34" charset="0"/>
                <a:ea typeface="Segoe UI" pitchFamily="34" charset="-122"/>
                <a:cs typeface="Segoe UI" pitchFamily="34" charset="-120"/>
              </a:rPr>
              <a:t>Importer un PPM (PDF)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pré-remplit tout depuis le plan officiel — à vérifier ligne par ligne avant création.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Sinon la saisie : l’entité contractante (parmi celles de la PRMP), l’exercice, la date de signature.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localité et le signataire se déduisent seuls.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RG-PLA-02 · RG-PLA-10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Une ligne de marché</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Une ligne de marché">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Nature, objet, montant estimatif hors taxes,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forme, financement,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Par ligne : les bénéficiaires, les lots et le calendrier prévisionnel ; l’écran signale les dates manquantes.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 des travaux de réhabilitation, en appel d’offres ouvert.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RG-PLA-03 · RG-PLA-04 · RG-PLA-05 · RG-PLA-06 · RG-PLA-26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prévisionnel (CAPM)</a:t>
            </a:r>
            <a:endParaRPr lang="en-US" sz="2600" dirty="0"/>
          </a:p>
        </p:txBody>
      </p:sp>
      <p:sp>
        <p:nvSpPr>
          <p:cNvPr id="4" name="Shape 2"/>
          <p:cNvSpPr/>
          <p:nvPr/>
        </p:nvSpPr>
        <p:spPr>
          <a:xfrm>
            <a:off x="800080" y="1193800"/>
            <a:ext cx="5443931" cy="5105400"/>
          </a:xfrm>
          <a:prstGeom prst="rect">
            <a:avLst/>
          </a:prstGeom>
          <a:solidFill>
            <a:srgbClr val="FCFCFA"/>
          </a:solidFill>
          <a:ln w="9525">
            <a:solidFill>
              <a:srgbClr val="D5DCE4"/>
            </a:solidFill>
            <a:prstDash val="solid"/>
          </a:ln>
        </p:spPr>
      </p:sp>
      <p:pic>
        <p:nvPicPr>
          <p:cNvPr id="5" name="Image 0" descr="Le calendrier prévisionnel (CAPM)">    </p:cNvPr>
          <p:cNvPicPr>
            <a:picLocks noChangeAspect="1"/>
          </p:cNvPicPr>
          <p:nvPr/>
        </p:nvPicPr>
        <p:blipFill>
          <a:blip r:embed="rId1"/>
          <a:stretch>
            <a:fillRect/>
          </a:stretch>
        </p:blipFill>
        <p:spPr>
          <a:xfrm>
            <a:off x="812780" y="1206500"/>
            <a:ext cx="5418531" cy="5080000"/>
          </a:xfrm>
          <a:prstGeom prst="rect">
            <a:avLst/>
          </a:prstGeom>
        </p:spPr>
      </p:pic>
      <p:sp>
        <p:nvSpPr>
          <p:cNvPr id="6" name="Shape 3"/>
          <p:cNvSpPr/>
          <p:nvPr/>
        </p:nvSpPr>
        <p:spPr>
          <a:xfrm>
            <a:off x="6409106" y="1206500"/>
            <a:ext cx="4969809" cy="5080000"/>
          </a:xfrm>
          <a:prstGeom prst="rect">
            <a:avLst/>
          </a:prstGeom>
          <a:solidFill>
            <a:srgbClr val="FCFCFA"/>
          </a:solidFill>
          <a:ln w="9525">
            <a:solidFill>
              <a:srgbClr val="D5DCE4"/>
            </a:solidFill>
            <a:prstDash val="solid"/>
          </a:ln>
        </p:spPr>
      </p:sp>
      <p:sp>
        <p:nvSpPr>
          <p:cNvPr id="7" name="Shape 4"/>
          <p:cNvSpPr/>
          <p:nvPr/>
        </p:nvSpPr>
        <p:spPr>
          <a:xfrm>
            <a:off x="6409106" y="1206500"/>
            <a:ext cx="38099" cy="5080000"/>
          </a:xfrm>
          <a:prstGeom prst="rect">
            <a:avLst/>
          </a:prstGeom>
          <a:solidFill>
            <a:srgbClr val="1B6FA8"/>
          </a:solidFill>
          <a:ln/>
        </p:spPr>
      </p:sp>
      <p:sp>
        <p:nvSpPr>
          <p:cNvPr id="8" name="Text 5"/>
          <p:cNvSpPr/>
          <p:nvPr/>
        </p:nvSpPr>
        <p:spPr>
          <a:xfrm>
            <a:off x="6574202" y="1308100"/>
            <a:ext cx="4677716"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processus du mode de passation, groupés par phase, chacun avec sa date de début et, au besoin, de fin.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moins un processus daté ; la date de fin est proposée à la veille du processus suivant.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chronologie est contrôlée ; un délai aménagé appelle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justification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RG-PLA-07 · RG-PLA-08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jointes et le projet d’AGPM</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s pièces jointes et le projet d’AGPM">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pièces exigées dépendent du type de dossier, fixées dans les référentiels de l’Administrateur ; ici, aucune n’est exigée.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Formats acceptés : PDF, JPEG, PNG ; chaque fichier est contrôlé.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marché en appel d’offres ouvert fait naître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d’AGPM</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dérivé du plan et visible dans l’aperçu.</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RG-PLA-04 · RG-PLA-09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L’aperçu avant création</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perçu avant création">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fiche de présentation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plan de passation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le projet d’AGPM, tels que la Commission les lira.</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tant que le dossier n’est pas créé, puis soumis.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RG-PLA-02 · RG-PLA-06 · RG-PLA-10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Vérifier avant de soumettre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brouillon se reprend autant qu’il le faut. Avant de soumettre, la PRMP lance le pré-contrôle : il signale, il ne décide jamais.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brouillons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brouil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complète les brouillons sans les soumettre.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dossiers commencés et pas encore soumis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ouvrir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vérifier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supprimer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brouillon n’a pas encore de référence : elle lui est attribuée à la soumission.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Rien ne part à la Commission avant la soumission.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RG-PLA-02 · RG-PLA-16 · RG-PLA-17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Vérifier son plan avant de le soumettre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Vérifier son plan avant de le soumettr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points que le contrôleur de la CNM regardera, avec leur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fondement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la catégorie de seuil à préciser (arrêté n° 13 156/2019-MEF, art. 2).</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point se corrige — une correction est proposée — ou s’écarte avec 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visible du contrôleur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Demander une piste à l’assistant » ouvre des pistes, présentées à part des constats. Rien ici n’empêche de soumettre.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RG-PLA-11 · RG-PLA-12 · RG-PLA-13 · RG-PLA-14 · RG-PLA-15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Suivre le contrôle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Dès la soumission, le dossier porte sa fin de traitement prévue. La PRMP voit l’avancement, jamais les coulisses.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suivi des dossiers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suivi des dossier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dossier avec son type, son entité,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date de dépôt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fin de traitement 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son statut.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dépôt pas encore numéroté par le Secrétaire n’a pas encore de référence ni de fin prévue.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RG-PLA-18 · RG-PLA-19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du dossier : la frise des sept étapes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age du dossier : la frise des sept étap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et, sur la même page, chaque profil avec son geste.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Réception, dispatch, examen, projet de PV, PV signé, vérification, clôture : chaque étape franchie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datée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Ici, un plan de 233 lignes en vérification, fin prévue le 14/10 ; le plan lui-même se lit en dessous.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Résumer ce dossier » : une synthèse rédigée à la demande, qui ne remplace ni les pièces ni l’examen.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RG-PLA-18 · RG-PLA-19 · RG-PLA-27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Un plan clôturé, ses lignes suivies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Un plan clôturé, ses lignes suivi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circuit est terminé : les sept étapes sont franchies et datées.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porte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statut de marché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Lancé » dès que la mise en concurrence est ouverte.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RG-PLA-18 · RG-PLA-26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Mes plans et leurs marchés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s plans et leurs march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plan, son exercice, son nombre de marchés et, parmi eux, ceux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Détails » ouvre le plan sans quitter l’écran.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RG-PLA-04 · RG-PLA-20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détail d’un plan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détail d’un pla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plan actif en quatre onglets : fiche de présentation, plan de passation, projet d’AGPM, pièces jointes.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 montants, mode, financement, bénéficiaire, dates prévisionnelles et statut.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RG-PLA-05 · RG-PLA-26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Faire évoluer le plan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Un plan contrôlé se met à jour par une nouvelle version ; un dossier soumis peut être retiré tant que son PV n’est pas signé ; les jalons du plan sont surveillés.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Mettre à jour un PPM</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ettre à jour un PPM">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Seule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dernière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plan dont la décision est transmise ou le dossier clôturé.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Mettre à jour » ouvre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nouvelle version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un plan validé ne se modifie jamais en place.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RG-PLA-20 · RG-PLA-21 · RG-PLA-22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Demander le retrait d’un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Demander le retrait d’un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le Président ou le Chef de commission statue.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dossier,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lettre datée et signée (PDF de 10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dossiers dont le PV n’est pas signé sont proposés.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Mes demandes » suit leur statut et, le cas échéant, le motif du refus.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RG-PLA-23 · RG-PLA-24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PLANIFICATION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calendrier des jalons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calendrier des jalon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chaque ligne des plans :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prévue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date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réelle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processus du calendrier prévisionnel.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alerte quand un jalon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imminent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retard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ici, des lancements prévus en avril et jamais réalisés.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dates prévues se corrigent dans le dossier, pas ici.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RG-PLA-25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 mode de passation reste à la PRMP</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L’application ne détermine ni ne corrige jamais un mode de passation : elle le conserve tel que saisi et le confronte aux seuils de l’arrêté.</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pré-contrôle qui signale sans bloquer</a:t>
            </a:r>
            <a:endParaRPr lang="en-US" sz="1500" dirty="0"/>
          </a:p>
        </p:txBody>
      </p:sp>
      <p:sp>
        <p:nvSpPr>
          <p:cNvPr id="11" name="Text 9"/>
          <p:cNvSpPr/>
          <p:nvPr/>
        </p:nvSpPr>
        <p:spPr>
          <a:xfrm>
            <a:off x="4525320"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Aucun signalement n’empêche une soumission, et une panne du pré-contrôle non plus ; un écart non pertinent s’écarte, avec un motif.</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Des écartements figés et visibles</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motif d’un écartement est vu par le contrôleur ; il est figé à la soumission et ne s’efface jamais.</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seule personne engage l’entité</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Seule la PRMP soumet, retire ou complète ; l’UGPM prépare, et chaque acte porte son auteur.</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plan validé ne s’écrase jamais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Toute mise à jour est une nouvelle version, avec un motif ; l’écart entre versions est figé, et l’examen porte sur les lignes changées.</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fin de traitement annoncée dès le dépôt</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date prévisionnelle de fin est calculée en jours ouvrés et chaque étape franchie est datée sur la frise.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PLANIFIER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02 · Suivi des dossiers (PRMP)</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L’introduction dit « les brouillons ne sont pas ici », la liste en montre deux.</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B23B3B"/>
                          </a:solidFill>
                          <a:latin typeface="Segoe UI" pitchFamily="34" charset="0"/>
                          <a:ea typeface="Segoe UI" pitchFamily="34" charset="-122"/>
                          <a:cs typeface="Segoe UI" pitchFamily="34" charset="-120"/>
                        </a:rPr>
                        <a:t>Confirmée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02 · Planifier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27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02 · Planifier</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27</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Le plan et ses lignes · Calendrier et pièces · Le pré-contrôle · La soumission et le suivi · Les versions · Retrait et jalons</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plan et ses lignes (1/2)</a:t>
            </a:r>
            <a:endParaRPr lang="en-US" sz="2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Trois familles de dossier à la création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dossier se crée dans une famille : </a:t>
                      </a:r>
                      <a:pPr indent="0" marL="0">
                        <a:buNone/>
                      </a:pPr>
                      <a:r>
                        <a:rPr lang="en-US" sz="1100" b="1" dirty="0">
                          <a:solidFill>
                            <a:srgbClr val="1B2A3A"/>
                          </a:solidFill>
                          <a:latin typeface="Segoe UI" pitchFamily="34" charset="0"/>
                          <a:ea typeface="Segoe UI" pitchFamily="34" charset="-122"/>
                          <a:cs typeface="Segoe UI" pitchFamily="34" charset="-120"/>
                        </a:rPr>
                        <a:t>planification</a:t>
                      </a:r>
                      <a:pPr indent="0" marL="0">
                        <a:buNone/>
                      </a:pPr>
                      <a:r>
                        <a:rPr lang="en-US" sz="1100" dirty="0">
                          <a:solidFill>
                            <a:srgbClr val="1B2A3A"/>
                          </a:solidFill>
                          <a:latin typeface="Segoe UI" pitchFamily="34" charset="0"/>
                          <a:ea typeface="Segoe UI" pitchFamily="34" charset="-122"/>
                          <a:cs typeface="Segoe UI" pitchFamily="34" charset="-120"/>
                        </a:rPr>
                        <a:t>, mise en concurrence ou marché. Pour la planification, le sous-type — PPM ou PPM-AGPM — est déduit par le serveur ; pour les deux autres, il est choisi parmi les sous-types du manuel de contrôle. Les actes de gestion contractuelle (avenant, résiliation…) ne se créent pas ici : ils se déposent depuis le marché qu’ils concernent.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Saisir, c’est créer le brouillon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saisie crée le dossier au statut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propriété de la PRMP, et son contenu en une seule opération. La PRMP choisit l’entité parmi ses entités actives, et cette entité fixe la localité du dossier. Les identifiants sont attribués par le serveur.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mode de passation saisi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passation est </a:t>
                      </a:r>
                      <a:pPr indent="0" marL="0">
                        <a:buNone/>
                      </a:pPr>
                      <a:r>
                        <a:rPr lang="en-US" sz="1100" b="1" dirty="0">
                          <a:solidFill>
                            <a:srgbClr val="1B2A3A"/>
                          </a:solidFill>
                          <a:latin typeface="Segoe UI" pitchFamily="34" charset="0"/>
                          <a:ea typeface="Segoe UI" pitchFamily="34" charset="-122"/>
                          <a:cs typeface="Segoe UI" pitchFamily="34" charset="-120"/>
                        </a:rPr>
                        <a:t>purement saisi</a:t>
                      </a:r>
                      <a:pPr indent="0" marL="0">
                        <a:buNone/>
                      </a:pPr>
                      <a:r>
                        <a:rPr lang="en-US" sz="1100" dirty="0">
                          <a:solidFill>
                            <a:srgbClr val="1B2A3A"/>
                          </a:solidFill>
                          <a:latin typeface="Segoe UI" pitchFamily="34" charset="0"/>
                          <a:ea typeface="Segoe UI" pitchFamily="34" charset="-122"/>
                          <a:cs typeface="Segoe UI" pitchFamily="34" charset="-120"/>
                        </a:rPr>
                        <a:t> par la PRMP ou repris de l’import, et conservé tel quel : aucune détermination automatique, aucun refus par seuil. Les montants des lignes sont saisis hors taxes.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 appel d’offres appelle l’AGPM</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plan comptant un marché en </a:t>
                      </a:r>
                      <a:pPr indent="0" marL="0">
                        <a:buNone/>
                      </a:pPr>
                      <a:r>
                        <a:rPr lang="en-US" sz="1100" b="1" dirty="0">
                          <a:solidFill>
                            <a:srgbClr val="1B2A3A"/>
                          </a:solidFill>
                          <a:latin typeface="Segoe UI" pitchFamily="34" charset="0"/>
                          <a:ea typeface="Segoe UI" pitchFamily="34" charset="-122"/>
                          <a:cs typeface="Segoe UI" pitchFamily="34" charset="-120"/>
                        </a:rPr>
                        <a:t>appel d’offres</a:t>
                      </a:r>
                      <a:pPr indent="0" marL="0">
                        <a:buNone/>
                      </a:pPr>
                      <a:r>
                        <a:rPr lang="en-US" sz="1100" dirty="0">
                          <a:solidFill>
                            <a:srgbClr val="1B2A3A"/>
                          </a:solidFill>
                          <a:latin typeface="Segoe UI" pitchFamily="34" charset="0"/>
                          <a:ea typeface="Segoe UI" pitchFamily="34" charset="-122"/>
                          <a:cs typeface="Segoe UI" pitchFamily="34" charset="-120"/>
                        </a:rPr>
                        <a:t>, quelle qu’en soit la variante, devient PPM-AGPM. L’appel à manifestation d’intérêt ne le déclenche qu’au-delà d’un seuil administrable, apprécié marché par marché. La référence du dossier suit le sous-type.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bénéficiaires couvrent la ligne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somme des montants par service bénéficiaire doit égaler le </a:t>
                      </a:r>
                      <a:pPr indent="0" marL="0">
                        <a:buNone/>
                      </a:pPr>
                      <a:r>
                        <a:rPr lang="en-US" sz="1100" b="1" dirty="0">
                          <a:solidFill>
                            <a:srgbClr val="1B2A3A"/>
                          </a:solidFill>
                          <a:latin typeface="Segoe UI" pitchFamily="34" charset="0"/>
                          <a:ea typeface="Segoe UI" pitchFamily="34" charset="-122"/>
                          <a:cs typeface="Segoe UI" pitchFamily="34" charset="-120"/>
                        </a:rPr>
                        <a:t>montant du marché</a:t>
                      </a:r>
                      <a:pPr indent="0" marL="0">
                        <a:buNone/>
                      </a:pPr>
                      <a:r>
                        <a:rPr lang="en-US" sz="1100" dirty="0">
                          <a:solidFill>
                            <a:srgbClr val="1B2A3A"/>
                          </a:solidFill>
                          <a:latin typeface="Segoe UI" pitchFamily="34" charset="0"/>
                          <a:ea typeface="Segoe UI" pitchFamily="34" charset="-122"/>
                          <a:cs typeface="Segoe UI" pitchFamily="34" charset="-120"/>
                        </a:rPr>
                        <a:t>. La règle est vérifiée à chaque enregistrement de la grille ; un import la signale sans rejeter, et ne complète seul qu’une ligne à un unique bénéficiaire.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 § Le dossier soumis (tranches M1 et M5a, 08-09/10) · regles-gestion.md § 3.1 PRMP (saisies) · regles-gestion.md § Référentiel des seuils de marchés publics · regles-gestion.md § 3.1 PRMP</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plan et ses lignes (2/2)</a:t>
            </a:r>
            <a:endParaRPr lang="en-US" sz="2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justifications de la fiche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en </a:t>
                      </a:r>
                      <a:pPr indent="0" marL="0">
                        <a:buNone/>
                      </a:pPr>
                      <a:r>
                        <a:rPr lang="en-US" sz="1100" b="1" dirty="0">
                          <a:solidFill>
                            <a:srgbClr val="1B2A3A"/>
                          </a:solidFill>
                          <a:latin typeface="Segoe UI" pitchFamily="34" charset="0"/>
                          <a:ea typeface="Segoe UI" pitchFamily="34" charset="-122"/>
                          <a:cs typeface="Segoe UI" pitchFamily="34" charset="-120"/>
                        </a:rPr>
                        <a:t>mode dérogatoire</a:t>
                      </a:r>
                      <a:pPr indent="0" marL="0">
                        <a:buNone/>
                      </a:pPr>
                      <a:r>
                        <a:rPr lang="en-US" sz="1100" dirty="0">
                          <a:solidFill>
                            <a:srgbClr val="1B2A3A"/>
                          </a:solidFill>
                          <a:latin typeface="Segoe UI" pitchFamily="34" charset="0"/>
                          <a:ea typeface="Segoe UI" pitchFamily="34" charset="-122"/>
                          <a:cs typeface="Segoe UI" pitchFamily="34" charset="-120"/>
                        </a:rPr>
                        <a:t> ou à délai aménagé porte sa justification ; une justification globale couvre en outre les contrats-cadres. Elles sont exigées à la saisie et à la soumission, et le serveur reclasse lui-même les marchés concernés.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statut de la ligne suit le fait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statut d’une ligne vient d’un référentiel tenu par l’Administrateur ; « Prévu » est la valeur par défaut et ne peut être supprimé. L’ouverture de la mise en concurrence pose d’elle-même « </a:t>
                      </a:r>
                      <a:pPr indent="0" marL="0">
                        <a:buNone/>
                      </a:pPr>
                      <a:r>
                        <a:rPr lang="en-US" sz="1100" b="1" dirty="0">
                          <a:solidFill>
                            <a:srgbClr val="1B2A3A"/>
                          </a:solidFill>
                          <a:latin typeface="Segoe UI" pitchFamily="34" charset="0"/>
                          <a:ea typeface="Segoe UI" pitchFamily="34" charset="-122"/>
                          <a:cs typeface="Segoe UI" pitchFamily="34" charset="-120"/>
                        </a:rPr>
                        <a:t>Lancé</a:t>
                      </a:r>
                      <a:pPr indent="0" marL="0">
                        <a:buNone/>
                      </a:pPr>
                      <a:r>
                        <a:rPr lang="en-US" sz="1100" dirty="0">
                          <a:solidFill>
                            <a:srgbClr val="1B2A3A"/>
                          </a:solidFill>
                          <a:latin typeface="Segoe UI" pitchFamily="34" charset="0"/>
                          <a:ea typeface="Segoe UI" pitchFamily="34" charset="-122"/>
                          <a:cs typeface="Segoe UI" pitchFamily="34" charset="-120"/>
                        </a:rPr>
                        <a:t> » ; la suppression de la fiche rend « Prévu ». Une ligne lancée ne redevient pas « Prévu » à la main ; « changement de projet » et « déclaré sans suite » restent à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 regles-gestion.md § 3.8 Administrateur (statuts de marché, règle du pilote du 27/09)</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Calendrier et pièces</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calendrier prévisionnel du mode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marché compte </a:t>
                      </a:r>
                      <a:pPr indent="0" marL="0">
                        <a:buNone/>
                      </a:pPr>
                      <a:r>
                        <a:rPr lang="en-US" sz="1100" b="1" dirty="0">
                          <a:solidFill>
                            <a:srgbClr val="1B2A3A"/>
                          </a:solidFill>
                          <a:latin typeface="Segoe UI" pitchFamily="34" charset="0"/>
                          <a:ea typeface="Segoe UI" pitchFamily="34" charset="-122"/>
                          <a:cs typeface="Segoe UI" pitchFamily="34" charset="-120"/>
                        </a:rPr>
                        <a:t>au moins une étape</a:t>
                      </a:r>
                      <a:pPr indent="0" marL="0">
                        <a:buNone/>
                      </a:pPr>
                      <a:r>
                        <a:rPr lang="en-US" sz="1100" dirty="0">
                          <a:solidFill>
                            <a:srgbClr val="1B2A3A"/>
                          </a:solidFill>
                          <a:latin typeface="Segoe UI" pitchFamily="34" charset="0"/>
                          <a:ea typeface="Segoe UI" pitchFamily="34" charset="-122"/>
                          <a:cs typeface="Segoe UI" pitchFamily="34" charset="-120"/>
                        </a:rPr>
                        <a:t> du calendrier prévisionnel, avec sa date de début ; la date de fin reste facultative. Les étapes proposées sont celles du mode de passation, à défaut celles de son modèle, à défaut les étapes communes.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dates qui s’enchaînent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date de fin suit sa date de début, et chaque étape commence </a:t>
                      </a:r>
                      <a:pPr indent="0" marL="0">
                        <a:buNone/>
                      </a:pPr>
                      <a:r>
                        <a:rPr lang="en-US" sz="1100" b="1" dirty="0">
                          <a:solidFill>
                            <a:srgbClr val="1B2A3A"/>
                          </a:solidFill>
                          <a:latin typeface="Segoe UI" pitchFamily="34" charset="0"/>
                          <a:ea typeface="Segoe UI" pitchFamily="34" charset="-122"/>
                          <a:cs typeface="Segoe UI" pitchFamily="34" charset="-120"/>
                        </a:rPr>
                        <a:t>après la fin</a:t>
                      </a:r>
                      <a:pPr indent="0" marL="0">
                        <a:buNone/>
                      </a:pPr>
                      <a:r>
                        <a:rPr lang="en-US" sz="1100" dirty="0">
                          <a:solidFill>
                            <a:srgbClr val="1B2A3A"/>
                          </a:solidFill>
                          <a:latin typeface="Segoe UI" pitchFamily="34" charset="0"/>
                          <a:ea typeface="Segoe UI" pitchFamily="34" charset="-122"/>
                          <a:cs typeface="Segoe UI" pitchFamily="34" charset="-120"/>
                        </a:rPr>
                        <a:t> de la précédente lorsque celle-ci est connue. Une date de fin absente est ouverte et ne contraint rien.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pièces contrôlées, selon le sous-type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sont des </a:t>
                      </a:r>
                      <a:pPr indent="0" marL="0">
                        <a:buNone/>
                      </a:pPr>
                      <a:r>
                        <a:rPr lang="en-US" sz="1100" b="1" dirty="0">
                          <a:solidFill>
                            <a:srgbClr val="1B2A3A"/>
                          </a:solidFill>
                          <a:latin typeface="Segoe UI" pitchFamily="34" charset="0"/>
                          <a:ea typeface="Segoe UI" pitchFamily="34" charset="-122"/>
                          <a:cs typeface="Segoe UI" pitchFamily="34" charset="-120"/>
                        </a:rPr>
                        <a:t>PDF, JPEG ou PNG</a:t>
                      </a:r>
                      <a:pPr indent="0" marL="0">
                        <a:buNone/>
                      </a:pPr>
                      <a:r>
                        <a:rPr lang="en-US" sz="1100" dirty="0">
                          <a:solidFill>
                            <a:srgbClr val="1B2A3A"/>
                          </a:solidFill>
                          <a:latin typeface="Segoe UI" pitchFamily="34" charset="0"/>
                          <a:ea typeface="Segoe UI" pitchFamily="34" charset="-122"/>
                          <a:cs typeface="Segoe UI" pitchFamily="34" charset="-120"/>
                        </a:rPr>
                        <a:t>, reconnus à leur contenu. Les plans de passation gardent leur liste ; les autres dossiers suivent désormais la liste </a:t>
                      </a:r>
                      <a:pPr indent="0" marL="0">
                        <a:buNone/>
                      </a:pPr>
                      <a:r>
                        <a:rPr lang="en-US" sz="1100" b="1" dirty="0">
                          <a:solidFill>
                            <a:srgbClr val="1B2A3A"/>
                          </a:solidFill>
                          <a:latin typeface="Segoe UI" pitchFamily="34" charset="0"/>
                          <a:ea typeface="Segoe UI" pitchFamily="34" charset="-122"/>
                          <a:cs typeface="Segoe UI" pitchFamily="34" charset="-120"/>
                        </a:rPr>
                        <a:t>propre à leur sous-type</a:t>
                      </a:r>
                      <a:pPr indent="0" marL="0">
                        <a:buNone/>
                      </a:pPr>
                      <a:r>
                        <a:rPr lang="en-US" sz="1100" dirty="0">
                          <a:solidFill>
                            <a:srgbClr val="1B2A3A"/>
                          </a:solidFill>
                          <a:latin typeface="Segoe UI" pitchFamily="34" charset="0"/>
                          <a:ea typeface="Segoe UI" pitchFamily="34" charset="-122"/>
                          <a:cs typeface="Segoe UI" pitchFamily="34" charset="-120"/>
                        </a:rPr>
                        <a:t>, tirée du manuel de contrôle, et la soumission est refusée s’il manque une pièce obligatoire. Le dépôt n’est ouvert qu’en brouillon, à la soumission et pendant les attentes de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L’import PDF pré-remplit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L’import lit le plan en PDF et propose l’exercice, l’autorité contractante, les lignes, leurs étapes et leurs lots. Il </a:t>
                      </a:r>
                      <a:pPr indent="0" marL="0">
                        <a:buNone/>
                      </a:pPr>
                      <a:r>
                        <a:rPr lang="en-US" sz="1100" b="1" dirty="0">
                          <a:solidFill>
                            <a:srgbClr val="1B2A3A"/>
                          </a:solidFill>
                          <a:latin typeface="Segoe UI" pitchFamily="34" charset="0"/>
                          <a:ea typeface="Segoe UI" pitchFamily="34" charset="-122"/>
                          <a:cs typeface="Segoe UI" pitchFamily="34" charset="-120"/>
                        </a:rPr>
                        <a:t>ne crée rien</a:t>
                      </a:r>
                      <a:pPr indent="0" marL="0">
                        <a:buNone/>
                      </a:pPr>
                      <a:r>
                        <a:rPr lang="en-US" sz="1100" dirty="0">
                          <a:solidFill>
                            <a:srgbClr val="1B2A3A"/>
                          </a:solidFill>
                          <a:latin typeface="Segoe UI" pitchFamily="34" charset="0"/>
                          <a:ea typeface="Segoe UI" pitchFamily="34" charset="-122"/>
                          <a:cs typeface="Segoe UI" pitchFamily="34" charset="-120"/>
                        </a:rPr>
                        <a:t> : la PRMP vérifie, complète puis crée le dossier. Les incohérences sont signalées, ligne par ligne.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(CAPM — processus de marché) · regles-gestion.md § 3.1 PRMP (saisies) · regles-gestion.md § 3.1 PRMP ; § Le dossier soumis (tranche M2, 08/10)</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pré-contrôle</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seuils signalent, sans bloquer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référentiel des seuils, daté et administrable, compare chaque ligne aux montants </a:t>
                      </a:r>
                      <a:pPr indent="0" marL="0">
                        <a:buNone/>
                      </a:pPr>
                      <a:r>
                        <a:rPr lang="en-US" sz="1100" b="1" dirty="0">
                          <a:solidFill>
                            <a:srgbClr val="1B2A3A"/>
                          </a:solidFill>
                          <a:latin typeface="Segoe UI" pitchFamily="34" charset="0"/>
                          <a:ea typeface="Segoe UI" pitchFamily="34" charset="-122"/>
                          <a:cs typeface="Segoe UI" pitchFamily="34" charset="-120"/>
                        </a:rPr>
                        <a:t>hors taxes</a:t>
                      </a:r>
                      <a:pPr indent="0" marL="0">
                        <a:buNone/>
                      </a:pPr>
                      <a:r>
                        <a:rPr lang="en-US" sz="1100" dirty="0">
                          <a:solidFill>
                            <a:srgbClr val="1B2A3A"/>
                          </a:solidFill>
                          <a:latin typeface="Segoe UI" pitchFamily="34" charset="0"/>
                          <a:ea typeface="Segoe UI" pitchFamily="34" charset="-122"/>
                          <a:cs typeface="Segoe UI" pitchFamily="34" charset="-120"/>
                        </a:rPr>
                        <a:t> de l’arrêté n° 13 156/2019-MEF : barème central pour la CNM, déconcentré pour une CRM. Un écart produit un signalement écartable ; aucun mode n’est imposé, aucun dossier bloqué.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référentiel muet se tait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seuil au référentiel, </a:t>
                      </a:r>
                      <a:pPr indent="0" marL="0">
                        <a:buNone/>
                      </a:pPr>
                      <a:r>
                        <a:rPr lang="en-US" sz="1100" b="1" dirty="0">
                          <a:solidFill>
                            <a:srgbClr val="1B2A3A"/>
                          </a:solidFill>
                          <a:latin typeface="Segoe UI" pitchFamily="34" charset="0"/>
                          <a:ea typeface="Segoe UI" pitchFamily="34" charset="-122"/>
                          <a:cs typeface="Segoe UI" pitchFamily="34" charset="-120"/>
                        </a:rPr>
                        <a:t>rien n’est signalé</a:t>
                      </a:r>
                      <a:pPr indent="0" marL="0">
                        <a:buNone/>
                      </a:pPr>
                      <a:r>
                        <a:rPr lang="en-US" sz="1100" dirty="0">
                          <a:solidFill>
                            <a:srgbClr val="1B2A3A"/>
                          </a:solidFill>
                          <a:latin typeface="Segoe UI" pitchFamily="34" charset="0"/>
                          <a:ea typeface="Segoe UI" pitchFamily="34" charset="-122"/>
                          <a:cs typeface="Segoe UI" pitchFamily="34" charset="-120"/>
                        </a:rPr>
                        <a:t> : aucun montant de repli n’existe. Un mode dérogatoire n’est pas signalé par les seuils, et un mode plus ouvert que nécessaire ne l’est jamais. Une catégorie de seuil n’est demandée que si les catégories plausibles donnent des réponses différentes.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Écarter, avec un motif</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signalement s’écarte par un </a:t>
                      </a:r>
                      <a:pPr indent="0" marL="0">
                        <a:buNone/>
                      </a:pPr>
                      <a:r>
                        <a:rPr lang="en-US" sz="1100" b="1" dirty="0">
                          <a:solidFill>
                            <a:srgbClr val="1B2A3A"/>
                          </a:solidFill>
                          <a:latin typeface="Segoe UI" pitchFamily="34" charset="0"/>
                          <a:ea typeface="Segoe UI" pitchFamily="34" charset="-122"/>
                          <a:cs typeface="Segoe UI" pitchFamily="34" charset="-120"/>
                        </a:rPr>
                        <a:t>motif d’au moins 20 caractères</a:t>
                      </a:r>
                      <a:pPr indent="0" marL="0">
                        <a:buNone/>
                      </a:pPr>
                      <a:r>
                        <a:rPr lang="en-US" sz="1100" dirty="0">
                          <a:solidFill>
                            <a:srgbClr val="1B2A3A"/>
                          </a:solidFill>
                          <a:latin typeface="Segoe UI" pitchFamily="34" charset="0"/>
                          <a:ea typeface="Segoe UI" pitchFamily="34" charset="-122"/>
                          <a:cs typeface="Segoe UI" pitchFamily="34" charset="-120"/>
                        </a:rPr>
                        <a:t>, après l’avertissement que le contrôleur le verra. L’auteur est enregistré ; un seul écartement par signalement. Avant la soumission, son auteur peut le reprendre.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Figé à la soumission, jamais effacé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soumission, les règles tournent une dernière fois et les écartements sont </a:t>
                      </a:r>
                      <a:pPr indent="0" marL="0">
                        <a:buNone/>
                      </a:pPr>
                      <a:r>
                        <a:rPr lang="en-US" sz="1100" b="1" dirty="0">
                          <a:solidFill>
                            <a:srgbClr val="1B2A3A"/>
                          </a:solidFill>
                          <a:latin typeface="Segoe UI" pitchFamily="34" charset="0"/>
                          <a:ea typeface="Segoe UI" pitchFamily="34" charset="-122"/>
                          <a:cs typeface="Segoe UI" pitchFamily="34" charset="-120"/>
                        </a:rPr>
                        <a:t>figés</a:t>
                      </a:r>
                      <a:pPr indent="0" marL="0">
                        <a:buNone/>
                      </a:pPr>
                      <a:r>
                        <a:rPr lang="en-US" sz="1100" dirty="0">
                          <a:solidFill>
                            <a:srgbClr val="1B2A3A"/>
                          </a:solidFill>
                          <a:latin typeface="Segoe UI" pitchFamily="34" charset="0"/>
                          <a:ea typeface="Segoe UI" pitchFamily="34" charset="-122"/>
                          <a:cs typeface="Segoe UI" pitchFamily="34" charset="-120"/>
                        </a:rPr>
                        <a:t>. Un signalement que le plan corrigé ne fait plus ressortir est levé, jamais effacé. Une panne du pré-contrôle n’empêche jamais de soumettre.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piste n’est pas un 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Sur demande explicite, l’assistant propose des </a:t>
                      </a:r>
                      <a:pPr indent="0" marL="0">
                        <a:buNone/>
                      </a:pPr>
                      <a:r>
                        <a:rPr lang="en-US" sz="1100" b="1" dirty="0">
                          <a:solidFill>
                            <a:srgbClr val="1B2A3A"/>
                          </a:solidFill>
                          <a:latin typeface="Segoe UI" pitchFamily="34" charset="0"/>
                          <a:ea typeface="Segoe UI" pitchFamily="34" charset="-122"/>
                          <a:cs typeface="Segoe UI" pitchFamily="34" charset="-120"/>
                        </a:rPr>
                        <a:t>pistes</a:t>
                      </a:r>
                      <a:pPr indent="0" marL="0">
                        <a:buNone/>
                      </a:pPr>
                      <a:r>
                        <a:rPr lang="en-US" sz="1100" dirty="0">
                          <a:solidFill>
                            <a:srgbClr val="1B2A3A"/>
                          </a:solidFill>
                          <a:latin typeface="Segoe UI" pitchFamily="34" charset="0"/>
                          <a:ea typeface="Segoe UI" pitchFamily="34" charset="-122"/>
                          <a:cs typeface="Segoe UI" pitchFamily="34" charset="-120"/>
                        </a:rPr>
                        <a:t> : fractionnement déguisé, objet imprécis, nature incohérente. Présentées autrement que les constats des règles, elles s’écartent de même et ne touchent jamais aux seuils, montants ni dates.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Référentiel des seuils de marchés publics (pré-contrôle du PPM) · regles-gestion.md § Référentiel des seuils ; § Signalement du pré-contrôle · regles-gestion.md § Signalement du pré-contrôle : écartable, motivé, jamais effacé · regles-gestion.md § Signalement du pré-contrôle (les trois pistes de l’assistant)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soumission et le suivi</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Seule la PRMP soumet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soumission est l’acte de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 elle attribue la référence du dossier. Un plan sans aucune ligne de marché est refusé. Sans mandat en cours, toute action est suspendue « en attente de nomination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Seul le brouillon se modifie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marché ou un plan ne se supprime qu’en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par sa PRMP, avec ses dates prévisionnelles. Après la soumission, le dossier ne se modifie plus, sauf retour officiel des observations ou retrait accepté.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fin prévue dès le dépôt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Dès la soumission, le dossier porte sa </a:t>
                      </a:r>
                      <a:pPr indent="0" marL="0">
                        <a:buNone/>
                      </a:pPr>
                      <a:r>
                        <a:rPr lang="en-US" sz="1100" b="1" dirty="0">
                          <a:solidFill>
                            <a:srgbClr val="1B2A3A"/>
                          </a:solidFill>
                          <a:latin typeface="Segoe UI" pitchFamily="34" charset="0"/>
                          <a:ea typeface="Segoe UI" pitchFamily="34" charset="-122"/>
                          <a:cs typeface="Segoe UI" pitchFamily="34" charset="-120"/>
                        </a:rPr>
                        <a:t>date prévisionnelle de fin</a:t>
                      </a:r>
                      <a:pPr indent="0" marL="0">
                        <a:buNone/>
                      </a:pPr>
                      <a:r>
                        <a:rPr lang="en-US" sz="1100" dirty="0">
                          <a:solidFill>
                            <a:srgbClr val="1B2A3A"/>
                          </a:solidFill>
                          <a:latin typeface="Segoe UI" pitchFamily="34" charset="0"/>
                          <a:ea typeface="Segoe UI" pitchFamily="34" charset="-122"/>
                          <a:cs typeface="Segoe UI" pitchFamily="34" charset="-120"/>
                        </a:rPr>
                        <a:t>, calculée en jours ouvrés ; elle glisse tant que la main est à la PRMP. Depuis le 09/10, l’Administrateur peut régler un délai propre à un sous-type pour une étape, et la date annoncée en tient compte. La frise date chacune des sept étapes franchies.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L’avancement, pas les coulisses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et l’UGPM suivent l’avancement, pas </a:t>
                      </a:r>
                      <a:pPr indent="0" marL="0">
                        <a:buNone/>
                      </a:pPr>
                      <a:r>
                        <a:rPr lang="en-US" sz="1100" b="1" dirty="0">
                          <a:solidFill>
                            <a:srgbClr val="1B2A3A"/>
                          </a:solidFill>
                          <a:latin typeface="Segoe UI" pitchFamily="34" charset="0"/>
                          <a:ea typeface="Segoe UI" pitchFamily="34" charset="-122"/>
                          <a:cs typeface="Segoe UI" pitchFamily="34" charset="-120"/>
                        </a:rPr>
                        <a:t>qui traite</a:t>
                      </a:r>
                      <a:pPr indent="0" marL="0">
                        <a:buNone/>
                      </a:pPr>
                      <a:r>
                        <a:rPr lang="en-US" sz="1100" dirty="0">
                          <a:solidFill>
                            <a:srgbClr val="1B2A3A"/>
                          </a:solidFill>
                          <a:latin typeface="Segoe UI" pitchFamily="34" charset="0"/>
                          <a:ea typeface="Segoe UI" pitchFamily="34" charset="-122"/>
                          <a:cs typeface="Segoe UI" pitchFamily="34" charset="-120"/>
                        </a:rPr>
                        <a:t> : ni journal interne, ni acteurs des étapes. Du PV, elles reçoivent l’avis, la synthèse des observations et le document officiel, jamais le détail point par point.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synthèse sur demande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Sur la page d’un dossier, « Résumer ce dossier » fait rédiger par l’assistant une synthèse en quatre rubriques : où en est le dossier, ce qui a été demandé à la PRMP, les délais, ce qui reste à faire. Rien ne se déclenche seul ; les </a:t>
                      </a:r>
                      <a:pPr indent="0" marL="0">
                        <a:buNone/>
                      </a:pPr>
                      <a:r>
                        <a:rPr lang="en-US" sz="1100" b="1" dirty="0">
                          <a:solidFill>
                            <a:srgbClr val="1B2A3A"/>
                          </a:solidFill>
                          <a:latin typeface="Segoe UI" pitchFamily="34" charset="0"/>
                          <a:ea typeface="Segoe UI" pitchFamily="34" charset="-122"/>
                          <a:cs typeface="Segoe UI" pitchFamily="34" charset="-120"/>
                        </a:rPr>
                        <a:t>faits viennent du serveur</a:t>
                      </a:r>
                      <a:pPr indent="0" marL="0">
                        <a:buNone/>
                      </a:pPr>
                      <a:r>
                        <a:rPr lang="en-US" sz="1100" dirty="0">
                          <a:solidFill>
                            <a:srgbClr val="1B2A3A"/>
                          </a:solidFill>
                          <a:latin typeface="Segoe UI" pitchFamily="34" charset="0"/>
                          <a:ea typeface="Segoe UI" pitchFamily="34" charset="-122"/>
                          <a:cs typeface="Segoe UI" pitchFamily="34" charset="-120"/>
                        </a:rPr>
                        <a:t>, la rédaction du modèle, et la synthèse ne remplace ni la lecture des pièces ni l’examen.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 regles-gestion.md § 3.1 PRMP ; § Le dossier soumis (tranche M5b, 09/10) · regles-gestion.md § 3.1 PRMP ; § Accueil « À faire » (règle C2) · Code du front : features/circuit/page-dossier/synthese-dossier.ts (assistant IA, lot 2) ; regles-gestion.md § Assistant IA</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versions</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mise à jour, une nouvelle version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mise à jour ne modifie jamais le plan en place : elle ouvre un </a:t>
                      </a:r>
                      <a:pPr indent="0" marL="0">
                        <a:buNone/>
                      </a:pPr>
                      <a:r>
                        <a:rPr lang="en-US" sz="1100" b="1" dirty="0">
                          <a:solidFill>
                            <a:srgbClr val="1B2A3A"/>
                          </a:solidFill>
                          <a:latin typeface="Segoe UI" pitchFamily="34" charset="0"/>
                          <a:ea typeface="Segoe UI" pitchFamily="34" charset="-122"/>
                          <a:cs typeface="Segoe UI" pitchFamily="34" charset="-120"/>
                        </a:rPr>
                        <a:t>nouveau brouillon</a:t>
                      </a:r>
                      <a:pPr indent="0" marL="0">
                        <a:buNone/>
                      </a:pPr>
                      <a:r>
                        <a:rPr lang="en-US" sz="1100" dirty="0">
                          <a:solidFill>
                            <a:srgbClr val="1B2A3A"/>
                          </a:solidFill>
                          <a:latin typeface="Segoe UI" pitchFamily="34" charset="0"/>
                          <a:ea typeface="Segoe UI" pitchFamily="34" charset="-122"/>
                          <a:cs typeface="Segoe UI" pitchFamily="34" charset="-120"/>
                        </a:rPr>
                        <a:t>, copie complète du précédent, avec un motif obligatoire. Elle n’est possible que sur un plan dont la décision est transmise ou le dossier clôturé, et une seule à la fois.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lignes absentes sont supprimées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mise à jour s’importe en PDF : chaque ligne est rapprochée par son contenu. Une ligne absente devient </a:t>
                      </a:r>
                      <a:pPr indent="0" marL="0">
                        <a:buNone/>
                      </a:pPr>
                      <a:r>
                        <a:rPr lang="en-US" sz="1100" b="1" dirty="0">
                          <a:solidFill>
                            <a:srgbClr val="1B2A3A"/>
                          </a:solidFill>
                          <a:latin typeface="Segoe UI" pitchFamily="34" charset="0"/>
                          <a:ea typeface="Segoe UI" pitchFamily="34" charset="-122"/>
                          <a:cs typeface="Segoe UI" pitchFamily="34" charset="-120"/>
                        </a:rPr>
                        <a:t>supprimée</a:t>
                      </a:r>
                      <a:pPr indent="0" marL="0">
                        <a:buNone/>
                      </a:pPr>
                      <a:r>
                        <a:rPr lang="en-US" sz="1100" dirty="0">
                          <a:solidFill>
                            <a:srgbClr val="1B2A3A"/>
                          </a:solidFill>
                          <a:latin typeface="Segoe UI" pitchFamily="34" charset="0"/>
                          <a:ea typeface="Segoe UI" pitchFamily="34" charset="-122"/>
                          <a:cs typeface="Segoe UI" pitchFamily="34" charset="-120"/>
                        </a:rPr>
                        <a:t>, conservée et restaurable ; une ligne inconnue est créée. L’entité contractante reste celle du plan d’origine.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bascule à la soumission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version précédente passe « remplacée » à la </a:t>
                      </a:r>
                      <a:pPr indent="0" marL="0">
                        <a:buNone/>
                      </a:pPr>
                      <a:r>
                        <a:rPr lang="en-US" sz="1100" b="1" dirty="0">
                          <a:solidFill>
                            <a:srgbClr val="1B2A3A"/>
                          </a:solidFill>
                          <a:latin typeface="Segoe UI" pitchFamily="34" charset="0"/>
                          <a:ea typeface="Segoe UI" pitchFamily="34" charset="-122"/>
                          <a:cs typeface="Segoe UI" pitchFamily="34" charset="-120"/>
                        </a:rPr>
                        <a:t>soumission</a:t>
                      </a:r>
                      <a:pPr indent="0" marL="0">
                        <a:buNone/>
                      </a:pPr>
                      <a:r>
                        <a:rPr lang="en-US" sz="1100" dirty="0">
                          <a:solidFill>
                            <a:srgbClr val="1B2A3A"/>
                          </a:solidFill>
                          <a:latin typeface="Segoe UI" pitchFamily="34" charset="0"/>
                          <a:ea typeface="Segoe UI" pitchFamily="34" charset="-122"/>
                          <a:cs typeface="Segoe UI" pitchFamily="34" charset="-120"/>
                        </a:rPr>
                        <a:t> de la nouvelle, pas avant : une mise à jour abandonnée se supprime sans rien neutraliser. L’écart entre versions est alors figé, et l’examen ne porte que sur les lignes changées.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(saisies)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Retrait et jalons</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retrait jusqu’au PV signé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demande le retrait avec un motif et sa </a:t>
                      </a:r>
                      <a:pPr indent="0" marL="0">
                        <a:buNone/>
                      </a:pPr>
                      <a:r>
                        <a:rPr lang="en-US" sz="1100" b="1" dirty="0">
                          <a:solidFill>
                            <a:srgbClr val="1B2A3A"/>
                          </a:solidFill>
                          <a:latin typeface="Segoe UI" pitchFamily="34" charset="0"/>
                          <a:ea typeface="Segoe UI" pitchFamily="34" charset="-122"/>
                          <a:cs typeface="Segoe UI" pitchFamily="34" charset="-120"/>
                        </a:rPr>
                        <a:t>lettre datée et signée</a:t>
                      </a:r>
                      <a:pPr indent="0" marL="0">
                        <a:buNone/>
                      </a:pPr>
                      <a:r>
                        <a:rPr lang="en-US" sz="1100" dirty="0">
                          <a:solidFill>
                            <a:srgbClr val="1B2A3A"/>
                          </a:solidFill>
                          <a:latin typeface="Segoe UI" pitchFamily="34" charset="0"/>
                          <a:ea typeface="Segoe UI" pitchFamily="34" charset="-122"/>
                          <a:cs typeface="Segoe UI" pitchFamily="34" charset="-120"/>
                        </a:rPr>
                        <a:t> (PDF de 10 Mo au plus), tant que le PV n’est pas signé. Une seule demande en attente par dossier ; le Chef de commission ou le Président décide, et la demande devient caduque si le PV est signé entre-temps.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accepté, retour au brouillon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retrait accepté remet le dossier en </a:t>
                      </a:r>
                      <a:pPr indent="0" marL="0">
                        <a:buNone/>
                      </a:pPr>
                      <a:r>
                        <a:rPr lang="en-US" sz="1100" b="1" dirty="0">
                          <a:solidFill>
                            <a:srgbClr val="1B2A3A"/>
                          </a:solidFill>
                          <a:latin typeface="Segoe UI" pitchFamily="34" charset="0"/>
                          <a:ea typeface="Segoe UI" pitchFamily="34" charset="-122"/>
                          <a:cs typeface="Segoe UI" pitchFamily="34" charset="-120"/>
                        </a:rPr>
                        <a:t>brouillon</a:t>
                      </a:r>
                      <a:pPr indent="0" marL="0">
                        <a:buNone/>
                      </a:pPr>
                      <a:r>
                        <a:rPr lang="en-US" sz="1100" dirty="0">
                          <a:solidFill>
                            <a:srgbClr val="1B2A3A"/>
                          </a:solidFill>
                          <a:latin typeface="Segoe UI" pitchFamily="34" charset="0"/>
                          <a:ea typeface="Segoe UI" pitchFamily="34" charset="-122"/>
                          <a:cs typeface="Segoe UI" pitchFamily="34" charset="-120"/>
                        </a:rPr>
                        <a:t> et efface son passage dans le circuit ; le journal et le chronométrage sont conservés. Un refus laisse le dossier inchangé. La PRMP suit le statut de sa demande, sans voir qui l’a tranchée.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RG-PLA-25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jalons surveillés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calendrier rapproche, pour chaque processus, la date prévue de la date réelle. À l’écran, un jalon est dit </a:t>
                      </a:r>
                      <a:pPr indent="0" marL="0">
                        <a:buNone/>
                      </a:pPr>
                      <a:r>
                        <a:rPr lang="en-US" sz="1100" b="1" dirty="0">
                          <a:solidFill>
                            <a:srgbClr val="1B2A3A"/>
                          </a:solidFill>
                          <a:latin typeface="Segoe UI" pitchFamily="34" charset="0"/>
                          <a:ea typeface="Segoe UI" pitchFamily="34" charset="-122"/>
                          <a:cs typeface="Segoe UI" pitchFamily="34" charset="-120"/>
                        </a:rPr>
                        <a:t>imminent</a:t>
                      </a:r>
                      <a:pPr indent="0" marL="0">
                        <a:buNone/>
                      </a:pPr>
                      <a:r>
                        <a:rPr lang="en-US" sz="1100" dirty="0">
                          <a:solidFill>
                            <a:srgbClr val="1B2A3A"/>
                          </a:solidFill>
                          <a:latin typeface="Segoe UI" pitchFamily="34" charset="0"/>
                          <a:ea typeface="Segoe UI" pitchFamily="34" charset="-122"/>
                          <a:cs typeface="Segoe UI" pitchFamily="34" charset="-120"/>
                        </a:rPr>
                        <a:t> dans les jours qui le précèdent (sept par défaut, ou selon la règle d’alerte réglée) et </a:t>
                      </a:r>
                      <a:pPr indent="0" marL="0">
                        <a:buNone/>
                      </a:pPr>
                      <a:r>
                        <a:rPr lang="en-US" sz="1100" b="1" dirty="0">
                          <a:solidFill>
                            <a:srgbClr val="1B2A3A"/>
                          </a:solidFill>
                          <a:latin typeface="Segoe UI" pitchFamily="34" charset="0"/>
                          <a:ea typeface="Segoe UI" pitchFamily="34" charset="-122"/>
                          <a:cs typeface="Segoe UI" pitchFamily="34" charset="-120"/>
                        </a:rPr>
                        <a:t>en retard</a:t>
                      </a:r>
                      <a:pPr indent="0" marL="0">
                        <a:buNone/>
                      </a:pPr>
                      <a:r>
                        <a:rPr lang="en-US" sz="1100" dirty="0">
                          <a:solidFill>
                            <a:srgbClr val="1B2A3A"/>
                          </a:solidFill>
                          <a:latin typeface="Segoe UI" pitchFamily="34" charset="0"/>
                          <a:ea typeface="Segoe UI" pitchFamily="34" charset="-122"/>
                          <a:cs typeface="Segoe UI" pitchFamily="34" charset="-120"/>
                        </a:rPr>
                        <a:t> une fois la date prévue dépassée sans date réelle. Les notifications, elles, ne partent qu’</a:t>
                      </a:r>
                      <a:pPr indent="0" marL="0">
                        <a:buNone/>
                      </a:pPr>
                      <a:r>
                        <a:rPr lang="en-US" sz="1100" b="1" dirty="0">
                          <a:solidFill>
                            <a:srgbClr val="1B2A3A"/>
                          </a:solidFill>
                          <a:latin typeface="Segoe UI" pitchFamily="34" charset="0"/>
                          <a:ea typeface="Segoe UI" pitchFamily="34" charset="-122"/>
                          <a:cs typeface="Segoe UI" pitchFamily="34" charset="-120"/>
                        </a:rPr>
                        <a:t>une fois</a:t>
                      </a:r>
                      <a:pPr indent="0" marL="0">
                        <a:buNone/>
                      </a:pPr>
                      <a:r>
                        <a:rPr lang="en-US" sz="1100" dirty="0">
                          <a:solidFill>
                            <a:srgbClr val="1B2A3A"/>
                          </a:solidFill>
                          <a:latin typeface="Segoe UI" pitchFamily="34" charset="0"/>
                          <a:ea typeface="Segoe UI" pitchFamily="34" charset="-122"/>
                          <a:cs typeface="Segoe UI" pitchFamily="34" charset="-120"/>
                        </a:rPr>
                        <a:t> par jalon, à son entrée dans les sept jours qui le précèdent.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3.1 PRMP · regles-gestion.md § 3.1 PRMP, Module 04 (calendrier des jalons) ; code du front features/prmp/calendrier-marches.ts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02 · Planifier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(1/2)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dossier (plan, DMC ou marché)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plan de passation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t_ppm</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ligne de marché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Les dates prévues d’une ligne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t_marche_prevision</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calendrier prévisionnel (CAPM)</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t_capm</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Les jalons d’une ligne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t_echeance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lot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t_lot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tranche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t_tranche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service bénéficiaire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t_service_beneficiaire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pièce jointe au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t_piece_jointe_dossier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version d’un plan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t_version_dossier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En-tête d'une version archivée du contenu d'un dossier de planification, figée au moment où une rectification la remplace.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changement d’une ligne entre deux versions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t_changement_ligne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Trace figée du diff entre une version de PPM et son prédécesseur, au niveau de la LIGNE de marché.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(2/2)</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signalement du pré-contrôle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t_anomalie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20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ligne visée par un signalement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t_anomalie_ligne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ligne visée par un signalement inter-lignes (t_anomalie_ligne).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demande de retrait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t_demande_retrait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lettre de la demande de retrait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t_piece_demande_retrait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pièce par demande.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du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t_action_dossier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11</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Règle ajoutée (spec « Mandats PRMP ») — journal des actions d'un dossier, horodaté par auteur.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(1/9)</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dossier (plan, DMC ou marché)  ·  t_dossier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Famille de dossier (tr_type_dossier : DDP / DMC / DDM).</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ID_SOUS_TYPE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sous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Règle ajoutée — sous-type du dossier (FK tr_sous_type_dossier), la famille (idTypeDossier) s'en déduisant.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ID_DOSSIER_PARENT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 parent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Refe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Référence officielle générée par …/soumettre ; laisser vide à la création.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Renseignée à la soumission si vide.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DATE_SOUMISSION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soumission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 de soumission du dossier par la PRMP — « la date de soumission EST la date de dépôt du dossier » (pilote, 2026-09-06). Posée à la soumission (POST /api/dossiers/{id/soumettre}) depuis le 2026-09-06 (V20) ; elle l'était à la création du brouillon, ce qui en faisait une date de…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REPUTE_APPROUVE_LE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Repute approuve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Un plan de passation soumis depuis dix jours ouvrables sans PV signé est réputé approuvé (art. 26-IV) : la date du constat, posée par le planificateur ; null sinon.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ID_LOCALITE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Localité du dossier (§1). Renseignée à la soumission ; rend le dossier visible/réceptionnable par les contrôleurs de cette localité même sans PPM ni réception.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PRMP propriétaire du dossier (§3.1). Posée à la saisie ; le périmètre de propriété.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ID_MANDAT_ATTRIB</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mandat attrib</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Règle ajoutée (spec « Mandats PRMP ») — mandat d'attribution figé : le mandat (t_mandat) sous lequel le dossier a été créé.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Créé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Traçabilité (règle ajoutée) — login de l'acteur ayant créé le dossier (PRMP ou UGPM).</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SOUMIS_PAR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Soumis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Traçabilité (règle ajoutée) — login de l'acteur ayant soumis le dossier (PRMP uniquement).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ID_ENTITE_CONTRACT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entité contractante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Entité contractante concernée par le dossier (§1) — choisie à la saisie parmi les entités de la PRMP ; c'est elle qui détermine la localité (idLocalite en est dérivé).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DMC dont la fiche marché a produit ce dossier (POST /api/fiches-marche/{idDmc/dossier}), ou auquel il a été rattaché en secours (PUT /api/dossiers/{id/fiche-marche}).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VERSION_FICHE_SOUMISE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fiche soumise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version de la fiche marché que ce dossier a soumise : posée à la soumission, avancée à chaque resoumission / transmission de compléments.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(2/9)</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VERSION_FICHE_EXAMINEE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fiche examinee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version de la fiche que la Commission a examinée : celle de la soumission, puis l'ancienne version soumise quand les compléments sont transmis (le réexamen compare à elle).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plan de passation  ·  t_ppm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EXERCICE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DATE_PPM_INIT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PPM init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Auparavant déclarées mais jamais écrites). datePpmInit = date du PPM INITIAL, propagée inchangée de version en version (repère stable de la chaîne) ; numMaj = numéro de la mise à jour (null/0 = initial, puis 1, 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NUM_MAJ_PREC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mise à jour prec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DATE_MAJ_PREC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 prec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DATE_RECEPTION_CNM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réception cnm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ID_LOCALITE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localité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JUSTIFICATION_FICHE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Justification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 Justification : » du bas du formulaire officiel, globale à la fiche et non rattachée à une ligne (arbitrage 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Motif de la mise à jour, exigé à la création d'une nouvelle version. null sur un PPM initial.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(3/9)</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ligne de marché  ·  t_marche  ·  18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ID_LIGNE_ORIGINE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ligne origine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Identité de la ligne à travers les versions. idDetail n'identifie la ligne que DANS un dossier : une copie en v2 reçoit une nouvelle PK. idLigneOrigine vaut l'idDetail de la PREMIÈRE apparition de la ligne et est hérité tel quel à chaque nouvelle version.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SUPPRIMEE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Supprimée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Suppression logique d'une ligne dans une version. La ligne est bien recopiée dans la nouvelle version, marquée supprimée : elle reste visible, restaurable, et n'est jamais effacée.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ANCIEN_MONT_ESTIM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 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NOUV_MONT_ESTIM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Nouveau montant estimatif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FINANCEMENT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Financement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FORME_MARCHE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A_COMMANDE, CONTRAT_CADRE, QUANTITE_FIXE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Forme du marché (à commande / contrat cadre / à quantité fixe).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JUSTIF_MODE_DEROGATOIRE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Justification mode dérogatoire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Justification du mode dérogatoire de ce marché (liste ① de la 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JUSTIF_DELAI_AMENAGE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Justification délai aménagé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Justification du délai aménagé (liste ②). Distincte de justifModeDerogatoire : un marché peut cumuler les deux, et les deux questions sont distinctes (pourquoi ce mode ? pourquoi ce délai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CATEGORIE_SEUIL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Catégorie seuil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ROUTES_CONSTRUCTION, ENTRETIEN_ROUTIER, TRAVAUX_NON_ROUTIERS, FOURNITURES_SERVICES, PRESTATIONS_INTELLECTUELLES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Catégorie de prestations de l'arrêté n° 13 156/2019-MEF, qui choisit la ligne du barème de seuils.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(4/9)</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Les dates prévues d’une ligne  ·  t_marche_prevision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ID_PREVISION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prévision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Marché concerné (FK vers t_marche.ID_DETAIL).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Processus de marché (FK vers t_capm.ID_CAPM).</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DATE_DEBUT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début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prévisionnelle de début du processus.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DATE_FIN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fin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prévisionnelle de fin du processus.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calendrier prévisionnel (CAPM)  ·  t_capm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LIBELLE_PROCESSUS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 processus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Ordre d'affichage des processus (ASC).</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Règle ajoutée — modèle mixte (comme les points de contrôle par sous-type) : null = processus commun (modèle par défaut) ; sinon = processus SPÉCIFIQUE au mode de passation (t_mode_passation.ID_MODE, ex. modèle détaillé « Appel d'offres ouvert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GROUPE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Groupe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Phase du modèle (ex. « 2 - LANCEMENT ») — regroupe les tâches à l'affichage ; null = sans phase.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Les jalons d’une ligne  ·  t_echeance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ID_ECHEANCE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échéance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TYPE_JALON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jalon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DATE_PREVUE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prévue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réelle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STATUT_JALON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 jalon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ECART_JOURS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Écart jours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ALERTE_ENVOYEE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Alerte envoyée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lot  ·  t_lot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(5/9)</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QTE_LOT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UNITE_LOT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Unité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tranche  ·  t_tranche  ·  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ID_TRANCHE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tranche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LIEU_TRC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Lieu tranche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MONT_TRC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 tranche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service bénéficiaire  ·  t_service_beneficiaire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ANC_MONT_BENEF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 montant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NOUV_MONT_BENEF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Nouveau montant bénéficiaire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SOA_CODE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SOA 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Compte budgétaire du bénéficiaire (FK tr_compte) — compte et montant sont par bénéficiaire.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pièce jointe au dossier  ·  t_piece_jointe_dossier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(6/9)</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APRES_LETTRE_RENVOI</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Apres lettre renvoi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Contenu binaire du fichier (bytea). */ @Column(name = "CONTENU") @JsonIgnore private byte[] contenu; @Column(name = "FORMAT", length = 10) private String format; @Column(name = "TAILLE") private Long taille; @Column(name = "DATE_UPLOAD") private LocalDateTime dateUpload; /** Vrai si la pièce a…</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ID_LETTRE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lettre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Lettre de renvoi concernée (FK t_lettre_renvoi), si apresLettreRenvoi.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VERSION_CORRIGEE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Version corrigee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VERSION CORRIGÉE d'une pièce, déposée pendant la RECTIFICATION (dossier EN_ATTENTE_DECISION_PRMP, observations du PV) : distinguée de l'originale dans toutes les listes (l'originale est conservée). null = pièce ordinaire (lignes antérieures).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ID_DOCUMENT_FICHE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document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document de fiche marché dont cette pièce est la copie jointe au dossier ; null pour une pièce téléversée.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version d’un plan  ·  t_version_dossier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ID_VERSION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version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Numéro d'ordre d'archivage dans le dossier (1, 2, …) — unique par dossier.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ORIGINE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Origine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RECTIFICATION, MISE_A_JOUR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 de cnm.prs.enums.OrigineVersion.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CYCLE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Cycle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Itération de rectification (resoumissions du dossier + 1 au moment du gel).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DATE_VERSION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version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ID_PRMP_AUTEUR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 auteur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PRMP opératrice au moment du gel (celle du jeton, ou la PRMP de tutelle d'un agent UGPM).</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NOM_AUTEUR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auteur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Prénoms Nom » de la PRMP opératrice, figé au moment du gel.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Login réel de l'auteur (PRMP ou agent UGPM agissant sous sa tutelle).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EXERCICE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Exercice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DATE_SIGNATURE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signature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NB_LIGNES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lignes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(7/9)</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changement d’une ligne entre deux versions  ·  t_changement_ligne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ID_CHANGEMENT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changement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Dossier de la version qui PORTE le changement (le successeur), jamais le prédécesseur.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ID_LIGNE_ORIGINE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ligne origine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Identité stable de la ligne à travers les versions (cf. Marche.idLigneOrigine).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Désignation de la ligne au moment du figeage — lisible même si la ligne évolue ensuite.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TYPE_CHANGEMENT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changement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Champ modifié (ex. montEstim) — null hors TypeChangementLigneMODIFIEE.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VALEUR_AVANT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 avant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VALEUR_APRES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 apres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signalement du pré-contrôle  ·  t_anomalie  ·  20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ID_ANOMALIE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anomalie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ID_REGLE_ANOMALIE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règle anomalie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TYPE_ANOMALIE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anomalie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GRAVITE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Gravité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Élargie de 10 à 20 caractères par V32 : « PRIORITAIRE » en fait 11.</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DESCRIPTION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DATE_DETECTION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detection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IM_TRAITEMENT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traitement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Sans quoi elle n'aurait jamais pu être enregistrée comme ayant écarté un signalement.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TYPE_ACTEUR_TRAITEMENT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acteur traitement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CONTROLEUR, PRMP, UGPM, CANDIDAT, MEMBRE_CAO, DEPOSITAIRE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CONTROLEUR ou PRMP, comme la claim acteurType du jeton. Un agent d'UGPM est enregistré comme sa PRMP de tutelle : c'est son ID_PRMP que porte le jeton (claim ref), et le périmètre d'une UGPM est celui de sa tutelle.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DATE_TRAITEMENT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traitement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(8/9)</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COMMENTAIRE_TRAITEMENT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Commentaire traitement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Motif de l'écartement — obligatoire quand un signalement est écarté (3.f).</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ID_POINT_CTRL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point 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Point de la grille de contrôle du PPM (tr_points_ctrl) que le signalement éclaire (« Mode de passation conforme », « Conformité de la désignation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CLE_SIGNALEMENT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Clé signalement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Identité stable du signalement dans son PPM : code de règle + objet visé, normalisé.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SUGGESTION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Suggestion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Correction proposée, rédigée comme l'annexe d'un PV (« Au lieu de : … Lire : … ») pour que le contrôleur puisse la reprendre, la modifier ou l'ignorer.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DATE_LEVEE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levée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à laquelle le signalement a cessé de ressortir, le plan ayant changé.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DETAIL_LEVEE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 levée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Ce qui a changé dans le plan et a fait disparaître le signalement. C'est ce que le contrôleur lit quand une PRMP a fait taire l'alarme en modifiant ses lignes : rien ne s'efface.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FIGE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Fige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Vrai dès la soumission du plan : un écartement figé ne se défait plus (3.f, condition 3).</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ligne visée par un signalement  ·  t_anomalie_ligne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ID_ANOMALIE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anomalie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MONTANT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Montant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Montant en vigueur de la ligne au moment de la détection (NOUV_MONT_ESTIM, sinon MONT_ESTIM).</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idAnomalie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anomalie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demande de retrait  ·  t_demande_retrait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ID_DEMANDE_RETRAIT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demande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Auto-généré serveur (IDENTITY) ; ignoré en entrée.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Dérivé du JWT ; ignoré en entrée.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DATE_DEMANDE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demande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Posé serveur ; ignoré en entrée.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Forcé serveur (EN_ATTENTE) ; ignoré en entrée.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IM_CTRL_CC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contrôle cc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(7)</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02 PLANIFIER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(9/9)</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OBS_DECISION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 décision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lettre de la demande de retrait  ·  t_piece_demande_retrait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ID_DEMANDE_RETRAIT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demande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Demande propriétaire (une seule pièce par demande).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 du fichier tel que déposé par la PRMP (affiché au décideur).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Type MIME réel (application/pdf — seul format accepté).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TAILLE_OCTETS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(octets)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DATE_DEPOT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HASH_SHA256</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 SHA-256</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Empreinte SHA-256 (hex) du contenu, pour le contrôle d'intégrité.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du dossier  ·  t_action_dossier  ·  11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ID_DOSSIER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dossier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Nature de l'action (ex. CREATION, SOUMISSION, RESOUMISSION).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ID_PRMP_OPERATEUR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 opérateur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PRMP en fonction au moment de l'action — l'opérateur, pas l'attributaire.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NOM_OPERATEUR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opérateur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 de l'opérateur figé au moment de l'action.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Login réel de l'auteur (PRMP ou agent UGPM agissant sous sa tutelle).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ID_MANDAT_OPERATEUR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mandat opérateur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Mandat sous lequel l'action a été faite (null si mandat implicite, non déclaré).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Détail suffixé « — par intérim de NOM » quand l'action a été posée par intérim désigné.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INTERIM_DE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Intérim 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Geste posé PAR INTÉRIM de ce titulaire ; l'auteur reste celui qui a agi.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ID_INTERIM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intérim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02 · Planifier · 47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02 · Planifier</dc:title>
  <dc:subject>PptxGenJS Presentation</dc:subject>
  <dc:creator>PRS 2.0</dc:creator>
  <cp:lastModifiedBy>PRS 2.0</cp:lastModifiedBy>
  <cp:revision>1</cp:revision>
  <dcterms:created xsi:type="dcterms:W3CDTF">2026-10-14T12:25:38Z</dcterms:created>
  <dcterms:modified xsi:type="dcterms:W3CDTF">2026-10-14T12:25:38Z</dcterms:modified>
</cp:coreProperties>
</file>