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notesMasterIdLst>
    <p:notesMasterId r:id="rId4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reprise de la présentation du 08/10 : detail__f01-seance-a-venir.jpg (« La séance, avant l’heure »).
Raison : l’état montré ne se reproduit plus sur la base du 14/10 ; l’écran n’a pas changé sur ce qu’il montre.
Règles appliquées (annexe A) : RG-SEA-01, RG-SEA-02.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reprise de la présentation du 08/10 : detail__f02-membre-seance-a-venir.jpg (« Le membre attend l’ouverture »).
Raison : l’état montré ne se reproduit plus sur la base du 14/10 ; l’écran n’a pas changé sur ce qu’il montre.
Règles appliquées (annexe A) : RG-SEA-01, RG-SEA-02.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neuve du 14/10/2026 : 07-cao-representant.
Écran : /cao/procedures/40 — compte : membre de la commission « recette ».
Noms, matricules, initiales, photos et adresses réelles masqués dans la page avant la capture.
Règles appliquées (annexe A) : RG-SEA-29, RG-SEA-30.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reprise de la présentation du 08/10 : detail__f03-seance-ouverte.jpg (« L’ouverture et les présences »).
Raison : l’état montré ne se reproduit plus sur la base du 14/10 ; l’écran n’a pas changé sur ce qu’il montre.
Règles appliquées (annexe A) : RG-SEA-01, RG-SEA-03.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reprise de la présentation du 08/10 : detail__f04-membre-apport-parts.jpg (« Apporter ses parts »).
Raison : l’état montré ne se reproduit plus sur la base du 14/10 ; l’écran n’a pas changé sur ce qu’il montre.
Règles appliquées (annexe A) : RG-SEA-05, RG-SEA-06.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reprise de la présentation du 08/10 : detail__f05-membre-parts-apportees.jpg (« Le quorum se remplit »).
Raison : l’état montré ne se reproduit plus sur la base du 14/10 ; l’écran n’a pas changé sur ce qu’il montre.
Règles appliquées (annexe A) : RG-SEA-07, RG-SEA-08.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reprise de la présentation du 08/10 : detail__f06-seance-offres-ouvertes.jpg (« Toutes les offres s’ouvrent ensemble »).
Raison : l’état montré ne se reproduit plus sur la base du 14/10 ; l’écran n’a pas changé sur ce qu’il montre.
Règles appliquées (annexe A) : RG-SEA-08, RG-SEA-10, RG-SEA-11.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reprise de la présentation du 08/10 : se__d06-lecture-fournitures.jpg (« La lecture d’une offre remplie : fournitures »).
Raison : l’état montré ne se reproduit plus sur la base du 14/10 ; l’écran n’a pas changé sur ce qu’il montre.
Règles appliquées (annexe A) : RG-SEA-12, RG-SEA-13.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reprise de la présentation du 08/10 : se__t09-lecture-travaux.jpg (« La lecture d’une offre remplie : travaux »).
Raison : l’état montré ne se reproduit plus sur la base du 14/10 ; l’écran n’a pas changé sur ce qu’il montre.
Règles appliquées (annexe A) : RG-SEA-12, RG-SEA-14.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reprise de la présentation du 08/10 : se__x01-lecture-frais.jpg (« Les frais de dossier, lus en séance »).
Raison : l’état montré ne se reproduit plus sur la base du 14/10 ; l’écran n’a pas changé sur ce qu’il montre.
Règles appliquées (annexe A) : RG-SEA-16.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reprise de la présentation du 08/10 : detail__f07-lecture-projetee.jpg (« La lecture, projetée »).
Raison : l’état montré ne se reproduit plus sur la base du 14/10 ; l’écran n’a pas changé sur ce qu’il montre.
Règles appliquées (annexe A) : RG-SEA-12, RG-SEA-15, RG-SEA-17.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neuve du 14/10/2026 : 07-cao-procedure.
Écran : /cao/procedures/40 — compte : membre de la commission « recette ».
Noms, matricules, initiales, photos et adresses réelles masqués dans la page avant la capture.
Règles appliquées (annexe A) : RG-SEA-12, RG-SEA-18.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neuve du 14/10/2026 : 07-seance-44.
Écran : /procedure/44/seance — compte : PRMP.
Noms, matricules, initiales, photos et adresses réelles masqués dans la page avant la capture.
Règles appliquées (annexe A) : RG-SEA-07, RG-SEA-15, RG-SEA-18.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reprise de la présentation du 08/10 : detail__f09-pv-a-signer.jpg (« Le PV d’ouverture, à signer »).
Raison : l’état montré ne se reproduit plus sur la base du 14/10 ; l’écran n’a pas changé sur ce qu’il montre.
Règles appliquées (annexe A) : RG-SEA-20, RG-SEA-31.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reprise de la présentation du 08/10 : detail__f10-membre-signer-pv.jpg (« Signer le PV en ligne »).
Raison : l’état montré ne se reproduit plus sur la base du 14/10 ; l’écran n’a pas changé sur ce qu’il montre.
Règles appliquées (annexe A) : RG-SEA-21, RG-SEA-22.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neuve du 14/10/2026 : 07-seance-50.
Écran : /procedure/50/seance — compte : Administrateur.
Noms, matricules, initiales, photos et adresses réelles masqués dans la page avant la capture.
Règles appliquées (annexe A) : RG-SEA-23, RG-SEA-27, RG-SEA-29.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reprise de la présentation du 08/10 : pi-recette__f03-seconde-seance-dechiffree.jpg (« La seconde séance : les enveloppes financières »).
Raison : l’état montré ne se reproduit plus sur la base du 14/10 ; l’écran n’a pas changé sur ce qu’il montre.
Règles appliquées (annexe A) : RG-SEA-28, RG-SEA-29.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Capture neuve du 14/10/2026 : 06-questions-section.
Écran : /candidat/procedures/44 — compte : sans session.
Noms, matricules, initiales, photos et adresses réelles masqués dans la page avant la capture.
Règles appliquées (annexe A) : RG-SEA-23, RG-SEA-24.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324A"/>
        </a:solidFill>
      </p:bgPr>
    </p:bg>
    <p:spTree>
      <p:nvGrpSpPr>
        <p:cNvPr id="1" name=""/>
        <p:cNvGrpSpPr/>
        <p:nvPr/>
      </p:nvGrpSpPr>
      <p:grpSpPr>
        <a:xfrm>
          <a:off x="0" y="0"/>
          <a:ext cx="0" cy="0"/>
          <a:chOff x="0" y="0"/>
          <a:chExt cx="0" cy="0"/>
        </a:xfrm>
      </p:grpSpPr>
      <p:sp>
        <p:nvSpPr>
          <p:cNvPr id="2" name="Shape 0"/>
          <p:cNvSpPr/>
          <p:nvPr/>
        </p:nvSpPr>
        <p:spPr>
          <a:xfrm>
            <a:off x="0" y="0"/>
            <a:ext cx="152396" cy="6858000"/>
          </a:xfrm>
          <a:prstGeom prst="rect">
            <a:avLst/>
          </a:prstGeom>
          <a:solidFill>
            <a:srgbClr val="E3AE2E"/>
          </a:solidFill>
          <a:ln w="12700">
            <a:solidFill>
              <a:srgbClr val="E3AE2E"/>
            </a:solidFill>
            <a:prstDash val="solid"/>
          </a:ln>
        </p:spPr>
      </p:sp>
      <p:sp>
        <p:nvSpPr>
          <p:cNvPr id="3" name="Text 1"/>
          <p:cNvSpPr/>
          <p:nvPr/>
        </p:nvSpPr>
        <p:spPr>
          <a:xfrm>
            <a:off x="812780" y="812800"/>
            <a:ext cx="10159746" cy="317500"/>
          </a:xfrm>
          <a:prstGeom prst="rect">
            <a:avLst/>
          </a:prstGeom>
          <a:noFill/>
          <a:ln/>
        </p:spPr>
        <p:txBody>
          <a:bodyPr wrap="square" rtlCol="0" anchor="ctr"/>
          <a:lstStyle/>
          <a:p>
            <a:pPr indent="0" marL="0">
              <a:buNone/>
            </a:pPr>
            <a:r>
              <a:rPr lang="en-US" sz="1400" b="1" spc="300" kern="0" dirty="0">
                <a:solidFill>
                  <a:srgbClr val="E3AE2E"/>
                </a:solidFill>
                <a:latin typeface="Segoe UI" pitchFamily="34" charset="0"/>
                <a:ea typeface="Segoe UI" pitchFamily="34" charset="-122"/>
                <a:cs typeface="Segoe UI" pitchFamily="34" charset="-120"/>
              </a:rPr>
              <a:t>COMMISSION NATIONALE DES MARCHÉS · LE PARCOURS D’UN DOSSIER</a:t>
            </a:r>
            <a:endParaRPr lang="en-US" sz="1400" dirty="0"/>
          </a:p>
        </p:txBody>
      </p:sp>
      <p:sp>
        <p:nvSpPr>
          <p:cNvPr id="4" name="Text 2"/>
          <p:cNvSpPr/>
          <p:nvPr/>
        </p:nvSpPr>
        <p:spPr>
          <a:xfrm>
            <a:off x="812780" y="1206500"/>
            <a:ext cx="5079873" cy="571500"/>
          </a:xfrm>
          <a:prstGeom prst="rect">
            <a:avLst/>
          </a:prstGeom>
          <a:noFill/>
          <a:ln/>
        </p:spPr>
        <p:txBody>
          <a:bodyPr wrap="square" rtlCol="0" anchor="ctr"/>
          <a:lstStyle/>
          <a:p>
            <a:pPr indent="0" marL="0">
              <a:buNone/>
            </a:pPr>
            <a:r>
              <a:rPr lang="en-US" sz="3000" b="1" dirty="0">
                <a:solidFill>
                  <a:srgbClr val="E3AE2E"/>
                </a:solidFill>
                <a:latin typeface="Segoe UI" pitchFamily="34" charset="0"/>
                <a:ea typeface="Segoe UI" pitchFamily="34" charset="-122"/>
                <a:cs typeface="Segoe UI" pitchFamily="34" charset="-120"/>
              </a:rPr>
              <a:t>Étape 07</a:t>
            </a:r>
            <a:endParaRPr lang="en-US" sz="3000" dirty="0"/>
          </a:p>
        </p:txBody>
      </p:sp>
      <p:sp>
        <p:nvSpPr>
          <p:cNvPr id="5" name="Text 3"/>
          <p:cNvSpPr/>
          <p:nvPr/>
        </p:nvSpPr>
        <p:spPr>
          <a:xfrm>
            <a:off x="812780" y="1778000"/>
            <a:ext cx="10477238" cy="952500"/>
          </a:xfrm>
          <a:prstGeom prst="rect">
            <a:avLst/>
          </a:prstGeom>
          <a:noFill/>
          <a:ln/>
        </p:spPr>
        <p:txBody>
          <a:bodyPr wrap="square" rtlCol="0" anchor="t">
            <a:normAutofit/>
          </a:bodyPr>
          <a:lstStyle/>
          <a:p>
            <a:pPr indent="0" marL="0">
              <a:buNone/>
            </a:pPr>
            <a:r>
              <a:rPr lang="en-US" sz="4400" b="1" dirty="0">
                <a:solidFill>
                  <a:srgbClr val="FCFCFA"/>
                </a:solidFill>
                <a:latin typeface="Segoe UI" pitchFamily="34" charset="0"/>
                <a:ea typeface="Segoe UI" pitchFamily="34" charset="-122"/>
                <a:cs typeface="Segoe UI" pitchFamily="34" charset="-120"/>
              </a:rPr>
              <a:t>PRS 2.0 — La séance d’ouverture</a:t>
            </a:r>
            <a:endParaRPr lang="en-US" sz="4400" dirty="0"/>
          </a:p>
        </p:txBody>
      </p:sp>
      <p:sp>
        <p:nvSpPr>
          <p:cNvPr id="6" name="Text 4"/>
          <p:cNvSpPr/>
          <p:nvPr/>
        </p:nvSpPr>
        <p:spPr>
          <a:xfrm>
            <a:off x="812780" y="2857500"/>
            <a:ext cx="9524762" cy="1270000"/>
          </a:xfrm>
          <a:prstGeom prst="rect">
            <a:avLst/>
          </a:prstGeom>
          <a:noFill/>
          <a:ln/>
        </p:spPr>
        <p:txBody>
          <a:bodyPr wrap="square" rtlCol="0" anchor="t">
            <a:normAutofit/>
          </a:bodyPr>
          <a:lstStyle/>
          <a:p>
            <a:pPr indent="0" marL="0">
              <a:buNone/>
            </a:pPr>
            <a:r>
              <a:rPr lang="en-US" sz="2000" dirty="0">
                <a:solidFill>
                  <a:srgbClr val="C9D6E2"/>
                </a:solidFill>
                <a:latin typeface="Segoe UI" pitchFamily="34" charset="0"/>
                <a:ea typeface="Segoe UI" pitchFamily="34" charset="-122"/>
                <a:cs typeface="Segoe UI" pitchFamily="34" charset="-120"/>
              </a:rPr>
              <a:t>Après la date limite, la commission d’appel d’offres réunit ses parts de clé : toutes les offres s’ouvrent ensemble, sont lues, et le PV d’ouverture est signé en ligne au quorum de la commission.</a:t>
            </a:r>
            <a:endParaRPr lang="en-US" sz="2000" dirty="0"/>
          </a:p>
        </p:txBody>
      </p:sp>
      <p:sp>
        <p:nvSpPr>
          <p:cNvPr id="7" name="Text 5"/>
          <p:cNvSpPr/>
          <p:nvPr/>
        </p:nvSpPr>
        <p:spPr>
          <a:xfrm>
            <a:off x="812780" y="5270500"/>
            <a:ext cx="9842254" cy="762000"/>
          </a:xfrm>
          <a:prstGeom prst="rect">
            <a:avLst/>
          </a:prstGeom>
          <a:noFill/>
          <a:ln/>
        </p:spPr>
        <p:txBody>
          <a:bodyPr wrap="square" rtlCol="0" anchor="t"/>
          <a:lstStyle/>
          <a:p>
            <a:pPr indent="0" marL="0">
              <a:buNone/>
            </a:pPr>
            <a:r>
              <a:rPr lang="en-US" sz="1400" dirty="0">
                <a:solidFill>
                  <a:srgbClr val="8FA6BB"/>
                </a:solidFill>
                <a:latin typeface="Segoe UI" pitchFamily="34" charset="0"/>
                <a:ea typeface="Segoe UI" pitchFamily="34" charset="-122"/>
                <a:cs typeface="Segoe UI" pitchFamily="34" charset="-120"/>
              </a:rPr>
              <a:t>Une présentation par étape que traverse un dossier, de la planification à l’attribution · écrans, règles appliquées (provenance en note), points d’attention, règles de gestion et données de l’étape</a:t>
            </a:r>
            <a:endParaRPr lang="en-US" sz="1400" dirty="0"/>
          </a:p>
          <a:p>
            <a:pPr indent="0" marL="0">
              <a:buNone/>
            </a:pPr>
            <a:r>
              <a:rPr lang="en-US" sz="1400" dirty="0">
                <a:solidFill>
                  <a:srgbClr val="8FA6BB"/>
                </a:solidFill>
                <a:latin typeface="Segoe UI" pitchFamily="34" charset="0"/>
                <a:ea typeface="Segoe UI" pitchFamily="34" charset="-122"/>
                <a:cs typeface="Segoe UI" pitchFamily="34" charset="-120"/>
              </a:rPr>
              <a:t>Captures de l’application réelle sur des dossiers de démonstration (14 octobre 2026) · noms de personnes remplacés par leur rôle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OÙ SE SITUE L’ÉTAPE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Du plan de passation au marché notifié</a:t>
            </a:r>
            <a:endParaRPr lang="en-US" sz="2600" dirty="0"/>
          </a:p>
        </p:txBody>
      </p:sp>
      <p:sp>
        <p:nvSpPr>
          <p:cNvPr id="4" name="Text 2"/>
          <p:cNvSpPr/>
          <p:nvPr/>
        </p:nvSpPr>
        <p:spPr>
          <a:xfrm>
            <a:off x="812780" y="1066800"/>
            <a:ext cx="10413740" cy="508000"/>
          </a:xfrm>
          <a:prstGeom prst="rect">
            <a:avLst/>
          </a:prstGeom>
          <a:noFill/>
          <a:ln/>
        </p:spPr>
        <p:txBody>
          <a:bodyPr wrap="square" rtlCol="0" anchor="t">
            <a:normAutofit/>
          </a:bodyPr>
          <a:lstStyle/>
          <a:p>
            <a:pPr indent="0" marL="0">
              <a:buNone/>
            </a:pPr>
            <a:r>
              <a:rPr lang="en-US" sz="1300" dirty="0">
                <a:solidFill>
                  <a:srgbClr val="465568"/>
                </a:solidFill>
                <a:latin typeface="Segoe UI" pitchFamily="34" charset="0"/>
                <a:ea typeface="Segoe UI" pitchFamily="34" charset="-122"/>
                <a:cs typeface="Segoe UI" pitchFamily="34" charset="-120"/>
              </a:rPr>
              <a:t>Un marché inscrit au plan traverse deux contrôles de la Commission : celui du plan, puis celui de son dossier de consultation — et, après l’évaluation des offres, celui du dossier de marché.</a:t>
            </a:r>
            <a:endParaRPr lang="en-US" sz="1300" dirty="0"/>
          </a:p>
        </p:txBody>
      </p:sp>
      <p:sp>
        <p:nvSpPr>
          <p:cNvPr id="5" name="Shape 3"/>
          <p:cNvSpPr/>
          <p:nvPr/>
        </p:nvSpPr>
        <p:spPr>
          <a:xfrm>
            <a:off x="812780" y="1778000"/>
            <a:ext cx="1644609" cy="1905000"/>
          </a:xfrm>
          <a:prstGeom prst="roundRect">
            <a:avLst>
              <a:gd name="adj" fmla="val 3336"/>
            </a:avLst>
          </a:prstGeom>
          <a:solidFill>
            <a:srgbClr val="FCFCFA"/>
          </a:solidFill>
          <a:ln w="19050">
            <a:solidFill>
              <a:srgbClr val="12324A"/>
            </a:solidFill>
            <a:prstDash val="solid"/>
          </a:ln>
        </p:spPr>
      </p:sp>
      <p:sp>
        <p:nvSpPr>
          <p:cNvPr id="6" name="Text 4"/>
          <p:cNvSpPr/>
          <p:nvPr/>
        </p:nvSpPr>
        <p:spPr>
          <a:xfrm>
            <a:off x="901677" y="1866900"/>
            <a:ext cx="1466813" cy="215900"/>
          </a:xfrm>
          <a:prstGeom prst="rect">
            <a:avLst/>
          </a:prstGeom>
          <a:noFill/>
          <a:ln/>
        </p:spPr>
        <p:txBody>
          <a:bodyPr wrap="square" rtlCol="0" anchor="ctr">
            <a:normAutofit/>
          </a:bodyPr>
          <a:lstStyle/>
          <a:p>
            <a:pPr indent="0" marL="0">
              <a:buNone/>
            </a:pPr>
            <a:r>
              <a:rPr lang="en-US" sz="1000" b="1" dirty="0">
                <a:solidFill>
                  <a:srgbClr val="1B6FA8"/>
                </a:solidFill>
                <a:latin typeface="Segoe UI" pitchFamily="34" charset="0"/>
                <a:ea typeface="Segoe UI" pitchFamily="34" charset="-122"/>
                <a:cs typeface="Segoe UI" pitchFamily="34" charset="-120"/>
              </a:rPr>
              <a:t>02</a:t>
            </a:r>
            <a:endParaRPr lang="en-US" sz="1000" dirty="0"/>
          </a:p>
        </p:txBody>
      </p:sp>
      <p:sp>
        <p:nvSpPr>
          <p:cNvPr id="7" name="Text 5"/>
          <p:cNvSpPr/>
          <p:nvPr/>
        </p:nvSpPr>
        <p:spPr>
          <a:xfrm>
            <a:off x="901677" y="2095500"/>
            <a:ext cx="1466813" cy="508000"/>
          </a:xfrm>
          <a:prstGeom prst="rect">
            <a:avLst/>
          </a:prstGeom>
          <a:noFill/>
          <a:ln/>
        </p:spPr>
        <p:txBody>
          <a:bodyPr wrap="square" rtlCol="0" anchor="t">
            <a:normAutofit/>
          </a:bodyPr>
          <a:lstStyle/>
          <a:p>
            <a:pPr indent="0" marL="0">
              <a:buNone/>
            </a:pPr>
            <a:r>
              <a:rPr lang="en-US" sz="1400" b="1" dirty="0">
                <a:solidFill>
                  <a:srgbClr val="1B2A3A"/>
                </a:solidFill>
                <a:latin typeface="Segoe UI" pitchFamily="34" charset="0"/>
                <a:ea typeface="Segoe UI" pitchFamily="34" charset="-122"/>
                <a:cs typeface="Segoe UI" pitchFamily="34" charset="-120"/>
              </a:rPr>
              <a:t>Planifier</a:t>
            </a:r>
            <a:endParaRPr lang="en-US" sz="1400" dirty="0"/>
          </a:p>
        </p:txBody>
      </p:sp>
      <p:sp>
        <p:nvSpPr>
          <p:cNvPr id="8" name="Text 6"/>
          <p:cNvSpPr/>
          <p:nvPr/>
        </p:nvSpPr>
        <p:spPr>
          <a:xfrm>
            <a:off x="901677" y="2603500"/>
            <a:ext cx="1466813" cy="1016000"/>
          </a:xfrm>
          <a:prstGeom prst="rect">
            <a:avLst/>
          </a:prstGeom>
          <a:noFill/>
          <a:ln/>
        </p:spPr>
        <p:txBody>
          <a:bodyPr wrap="square" rtlCol="0" anchor="t">
            <a:normAutofit/>
          </a:bodyPr>
          <a:lstStyle/>
          <a:p>
            <a:pPr indent="0" marL="0">
              <a:buNone/>
            </a:pPr>
            <a:r>
              <a:rPr lang="en-US" sz="1150" dirty="0">
                <a:solidFill>
                  <a:srgbClr val="465568"/>
                </a:solidFill>
                <a:latin typeface="Segoe UI" pitchFamily="34" charset="0"/>
                <a:ea typeface="Segoe UI" pitchFamily="34" charset="-122"/>
                <a:cs typeface="Segoe UI" pitchFamily="34" charset="-120"/>
              </a:rPr>
              <a:t>La PRMP saisit et soumet son plan de passation.</a:t>
            </a:r>
            <a:endParaRPr lang="en-US" sz="1150" dirty="0"/>
          </a:p>
        </p:txBody>
      </p:sp>
      <p:sp>
        <p:nvSpPr>
          <p:cNvPr id="9" name="Text 7"/>
          <p:cNvSpPr/>
          <p:nvPr/>
        </p:nvSpPr>
        <p:spPr>
          <a:xfrm>
            <a:off x="2444689" y="2603500"/>
            <a:ext cx="165096" cy="254000"/>
          </a:xfrm>
          <a:prstGeom prst="rect">
            <a:avLst/>
          </a:prstGeom>
          <a:noFill/>
          <a:ln/>
        </p:spPr>
        <p:txBody>
          <a:bodyPr wrap="square" rtlCol="0" anchor="ctr"/>
          <a:lstStyle/>
          <a:p>
            <a:pPr algn="ctr" indent="0" marL="0">
              <a:buNone/>
            </a:pPr>
            <a:r>
              <a:rPr lang="en-US" sz="2200" b="1" dirty="0">
                <a:solidFill>
                  <a:srgbClr val="E3AE2E"/>
                </a:solidFill>
                <a:latin typeface="Segoe UI" pitchFamily="34" charset="0"/>
                <a:ea typeface="Segoe UI" pitchFamily="34" charset="-122"/>
                <a:cs typeface="Segoe UI" pitchFamily="34" charset="-120"/>
              </a:rPr>
              <a:t>›</a:t>
            </a:r>
            <a:endParaRPr lang="en-US" sz="2200" dirty="0"/>
          </a:p>
        </p:txBody>
      </p:sp>
      <p:sp>
        <p:nvSpPr>
          <p:cNvPr id="10" name="Shape 8"/>
          <p:cNvSpPr/>
          <p:nvPr/>
        </p:nvSpPr>
        <p:spPr>
          <a:xfrm>
            <a:off x="2597085" y="1778000"/>
            <a:ext cx="1644609" cy="1905000"/>
          </a:xfrm>
          <a:prstGeom prst="roundRect">
            <a:avLst>
              <a:gd name="adj" fmla="val 3336"/>
            </a:avLst>
          </a:prstGeom>
          <a:solidFill>
            <a:srgbClr val="FCFCFA"/>
          </a:solidFill>
          <a:ln w="19050">
            <a:solidFill>
              <a:srgbClr val="12324A"/>
            </a:solidFill>
            <a:prstDash val="solid"/>
          </a:ln>
        </p:spPr>
      </p:sp>
      <p:sp>
        <p:nvSpPr>
          <p:cNvPr id="11" name="Text 9"/>
          <p:cNvSpPr/>
          <p:nvPr/>
        </p:nvSpPr>
        <p:spPr>
          <a:xfrm>
            <a:off x="2685983" y="1866900"/>
            <a:ext cx="1466813" cy="215900"/>
          </a:xfrm>
          <a:prstGeom prst="rect">
            <a:avLst/>
          </a:prstGeom>
          <a:noFill/>
          <a:ln/>
        </p:spPr>
        <p:txBody>
          <a:bodyPr wrap="square" rtlCol="0" anchor="ctr">
            <a:normAutofit/>
          </a:bodyPr>
          <a:lstStyle/>
          <a:p>
            <a:pPr indent="0" marL="0">
              <a:buNone/>
            </a:pPr>
            <a:r>
              <a:rPr lang="en-US" sz="1000" b="1" dirty="0">
                <a:solidFill>
                  <a:srgbClr val="1B6FA8"/>
                </a:solidFill>
                <a:latin typeface="Segoe UI" pitchFamily="34" charset="0"/>
                <a:ea typeface="Segoe UI" pitchFamily="34" charset="-122"/>
                <a:cs typeface="Segoe UI" pitchFamily="34" charset="-120"/>
              </a:rPr>
              <a:t>03</a:t>
            </a:r>
            <a:endParaRPr lang="en-US" sz="1000" dirty="0"/>
          </a:p>
        </p:txBody>
      </p:sp>
      <p:sp>
        <p:nvSpPr>
          <p:cNvPr id="12" name="Text 10"/>
          <p:cNvSpPr/>
          <p:nvPr/>
        </p:nvSpPr>
        <p:spPr>
          <a:xfrm>
            <a:off x="2685983" y="2095500"/>
            <a:ext cx="1466813" cy="508000"/>
          </a:xfrm>
          <a:prstGeom prst="rect">
            <a:avLst/>
          </a:prstGeom>
          <a:noFill/>
          <a:ln/>
        </p:spPr>
        <p:txBody>
          <a:bodyPr wrap="square" rtlCol="0" anchor="t">
            <a:normAutofit/>
          </a:bodyPr>
          <a:lstStyle/>
          <a:p>
            <a:pPr indent="0" marL="0">
              <a:buNone/>
            </a:pPr>
            <a:r>
              <a:rPr lang="en-US" sz="1400" b="1" dirty="0">
                <a:solidFill>
                  <a:srgbClr val="1B2A3A"/>
                </a:solidFill>
                <a:latin typeface="Segoe UI" pitchFamily="34" charset="0"/>
                <a:ea typeface="Segoe UI" pitchFamily="34" charset="-122"/>
                <a:cs typeface="Segoe UI" pitchFamily="34" charset="-120"/>
              </a:rPr>
              <a:t>Contrôler</a:t>
            </a:r>
            <a:endParaRPr lang="en-US" sz="1400" dirty="0"/>
          </a:p>
        </p:txBody>
      </p:sp>
      <p:sp>
        <p:nvSpPr>
          <p:cNvPr id="13" name="Text 11"/>
          <p:cNvSpPr/>
          <p:nvPr/>
        </p:nvSpPr>
        <p:spPr>
          <a:xfrm>
            <a:off x="2685983" y="2603500"/>
            <a:ext cx="1466813" cy="1016000"/>
          </a:xfrm>
          <a:prstGeom prst="rect">
            <a:avLst/>
          </a:prstGeom>
          <a:noFill/>
          <a:ln/>
        </p:spPr>
        <p:txBody>
          <a:bodyPr wrap="square" rtlCol="0" anchor="t">
            <a:normAutofit/>
          </a:bodyPr>
          <a:lstStyle/>
          <a:p>
            <a:pPr indent="0" marL="0">
              <a:buNone/>
            </a:pPr>
            <a:r>
              <a:rPr lang="en-US" sz="1150" dirty="0">
                <a:solidFill>
                  <a:srgbClr val="465568"/>
                </a:solidFill>
                <a:latin typeface="Segoe UI" pitchFamily="34" charset="0"/>
                <a:ea typeface="Segoe UI" pitchFamily="34" charset="-122"/>
                <a:cs typeface="Segoe UI" pitchFamily="34" charset="-120"/>
              </a:rPr>
              <a:t>La Commission examine ; le PV est visé et signé.</a:t>
            </a:r>
            <a:endParaRPr lang="en-US" sz="1150" dirty="0"/>
          </a:p>
        </p:txBody>
      </p:sp>
      <p:sp>
        <p:nvSpPr>
          <p:cNvPr id="14" name="Text 12"/>
          <p:cNvSpPr/>
          <p:nvPr/>
        </p:nvSpPr>
        <p:spPr>
          <a:xfrm>
            <a:off x="4228994" y="2603500"/>
            <a:ext cx="165096" cy="254000"/>
          </a:xfrm>
          <a:prstGeom prst="rect">
            <a:avLst/>
          </a:prstGeom>
          <a:noFill/>
          <a:ln/>
        </p:spPr>
        <p:txBody>
          <a:bodyPr wrap="square" rtlCol="0" anchor="ctr"/>
          <a:lstStyle/>
          <a:p>
            <a:pPr algn="ctr" indent="0" marL="0">
              <a:buNone/>
            </a:pPr>
            <a:r>
              <a:rPr lang="en-US" sz="2200" b="1" dirty="0">
                <a:solidFill>
                  <a:srgbClr val="E3AE2E"/>
                </a:solidFill>
                <a:latin typeface="Segoe UI" pitchFamily="34" charset="0"/>
                <a:ea typeface="Segoe UI" pitchFamily="34" charset="-122"/>
                <a:cs typeface="Segoe UI" pitchFamily="34" charset="-120"/>
              </a:rPr>
              <a:t>›</a:t>
            </a:r>
            <a:endParaRPr lang="en-US" sz="2200" dirty="0"/>
          </a:p>
        </p:txBody>
      </p:sp>
      <p:sp>
        <p:nvSpPr>
          <p:cNvPr id="15" name="Shape 13"/>
          <p:cNvSpPr/>
          <p:nvPr/>
        </p:nvSpPr>
        <p:spPr>
          <a:xfrm>
            <a:off x="4381390" y="1778000"/>
            <a:ext cx="1644609" cy="1905000"/>
          </a:xfrm>
          <a:prstGeom prst="roundRect">
            <a:avLst>
              <a:gd name="adj" fmla="val 3336"/>
            </a:avLst>
          </a:prstGeom>
          <a:solidFill>
            <a:srgbClr val="FCFCFA"/>
          </a:solidFill>
          <a:ln w="19050">
            <a:solidFill>
              <a:srgbClr val="12324A"/>
            </a:solidFill>
            <a:prstDash val="solid"/>
          </a:ln>
        </p:spPr>
      </p:sp>
      <p:sp>
        <p:nvSpPr>
          <p:cNvPr id="16" name="Text 14"/>
          <p:cNvSpPr/>
          <p:nvPr/>
        </p:nvSpPr>
        <p:spPr>
          <a:xfrm>
            <a:off x="4470288" y="1866900"/>
            <a:ext cx="1466813" cy="215900"/>
          </a:xfrm>
          <a:prstGeom prst="rect">
            <a:avLst/>
          </a:prstGeom>
          <a:noFill/>
          <a:ln/>
        </p:spPr>
        <p:txBody>
          <a:bodyPr wrap="square" rtlCol="0" anchor="ctr">
            <a:normAutofit/>
          </a:bodyPr>
          <a:lstStyle/>
          <a:p>
            <a:pPr indent="0" marL="0">
              <a:buNone/>
            </a:pPr>
            <a:r>
              <a:rPr lang="en-US" sz="1000" b="1" dirty="0">
                <a:solidFill>
                  <a:srgbClr val="1B6FA8"/>
                </a:solidFill>
                <a:latin typeface="Segoe UI" pitchFamily="34" charset="0"/>
                <a:ea typeface="Segoe UI" pitchFamily="34" charset="-122"/>
                <a:cs typeface="Segoe UI" pitchFamily="34" charset="-120"/>
              </a:rPr>
              <a:t>04 · 05</a:t>
            </a:r>
            <a:endParaRPr lang="en-US" sz="1000" dirty="0"/>
          </a:p>
        </p:txBody>
      </p:sp>
      <p:sp>
        <p:nvSpPr>
          <p:cNvPr id="17" name="Text 15"/>
          <p:cNvSpPr/>
          <p:nvPr/>
        </p:nvSpPr>
        <p:spPr>
          <a:xfrm>
            <a:off x="4470288" y="2095500"/>
            <a:ext cx="1466813" cy="508000"/>
          </a:xfrm>
          <a:prstGeom prst="rect">
            <a:avLst/>
          </a:prstGeom>
          <a:noFill/>
          <a:ln/>
        </p:spPr>
        <p:txBody>
          <a:bodyPr wrap="square" rtlCol="0" anchor="t">
            <a:normAutofit/>
          </a:bodyPr>
          <a:lstStyle/>
          <a:p>
            <a:pPr indent="0" marL="0">
              <a:buNone/>
            </a:pPr>
            <a:r>
              <a:rPr lang="en-US" sz="1400" b="1" dirty="0">
                <a:solidFill>
                  <a:srgbClr val="1B2A3A"/>
                </a:solidFill>
                <a:latin typeface="Segoe UI" pitchFamily="34" charset="0"/>
                <a:ea typeface="Segoe UI" pitchFamily="34" charset="-122"/>
                <a:cs typeface="Segoe UI" pitchFamily="34" charset="-120"/>
              </a:rPr>
              <a:t>Préparer</a:t>
            </a:r>
            <a:endParaRPr lang="en-US" sz="1400" dirty="0"/>
          </a:p>
        </p:txBody>
      </p:sp>
      <p:sp>
        <p:nvSpPr>
          <p:cNvPr id="18" name="Text 16"/>
          <p:cNvSpPr/>
          <p:nvPr/>
        </p:nvSpPr>
        <p:spPr>
          <a:xfrm>
            <a:off x="4470288" y="2603500"/>
            <a:ext cx="1466813" cy="1016000"/>
          </a:xfrm>
          <a:prstGeom prst="rect">
            <a:avLst/>
          </a:prstGeom>
          <a:noFill/>
          <a:ln/>
        </p:spPr>
        <p:txBody>
          <a:bodyPr wrap="square" rtlCol="0" anchor="t">
            <a:normAutofit/>
          </a:bodyPr>
          <a:lstStyle/>
          <a:p>
            <a:pPr indent="0" marL="0">
              <a:buNone/>
            </a:pPr>
            <a:r>
              <a:rPr lang="en-US" sz="1150" dirty="0">
                <a:solidFill>
                  <a:srgbClr val="465568"/>
                </a:solidFill>
                <a:latin typeface="Segoe UI" pitchFamily="34" charset="0"/>
                <a:ea typeface="Segoe UI" pitchFamily="34" charset="-122"/>
                <a:cs typeface="Segoe UI" pitchFamily="34" charset="-120"/>
              </a:rPr>
              <a:t>La fiche du DAO produit le dossier d’appel d’offres.</a:t>
            </a:r>
            <a:endParaRPr lang="en-US" sz="1150" dirty="0"/>
          </a:p>
        </p:txBody>
      </p:sp>
      <p:sp>
        <p:nvSpPr>
          <p:cNvPr id="19" name="Text 17"/>
          <p:cNvSpPr/>
          <p:nvPr/>
        </p:nvSpPr>
        <p:spPr>
          <a:xfrm>
            <a:off x="6013300" y="2603500"/>
            <a:ext cx="165096" cy="254000"/>
          </a:xfrm>
          <a:prstGeom prst="rect">
            <a:avLst/>
          </a:prstGeom>
          <a:noFill/>
          <a:ln/>
        </p:spPr>
        <p:txBody>
          <a:bodyPr wrap="square" rtlCol="0" anchor="ctr"/>
          <a:lstStyle/>
          <a:p>
            <a:pPr algn="ctr" indent="0" marL="0">
              <a:buNone/>
            </a:pPr>
            <a:r>
              <a:rPr lang="en-US" sz="2200" b="1" dirty="0">
                <a:solidFill>
                  <a:srgbClr val="E3AE2E"/>
                </a:solidFill>
                <a:latin typeface="Segoe UI" pitchFamily="34" charset="0"/>
                <a:ea typeface="Segoe UI" pitchFamily="34" charset="-122"/>
                <a:cs typeface="Segoe UI" pitchFamily="34" charset="-120"/>
              </a:rPr>
              <a:t>›</a:t>
            </a:r>
            <a:endParaRPr lang="en-US" sz="2200" dirty="0"/>
          </a:p>
        </p:txBody>
      </p:sp>
      <p:sp>
        <p:nvSpPr>
          <p:cNvPr id="20" name="Shape 18"/>
          <p:cNvSpPr/>
          <p:nvPr/>
        </p:nvSpPr>
        <p:spPr>
          <a:xfrm>
            <a:off x="6165696" y="1778000"/>
            <a:ext cx="1644609" cy="1905000"/>
          </a:xfrm>
          <a:prstGeom prst="roundRect">
            <a:avLst>
              <a:gd name="adj" fmla="val 3336"/>
            </a:avLst>
          </a:prstGeom>
          <a:solidFill>
            <a:srgbClr val="FCFCFA"/>
          </a:solidFill>
          <a:ln w="19050">
            <a:solidFill>
              <a:srgbClr val="12324A"/>
            </a:solidFill>
            <a:prstDash val="solid"/>
          </a:ln>
        </p:spPr>
      </p:sp>
      <p:sp>
        <p:nvSpPr>
          <p:cNvPr id="21" name="Text 19"/>
          <p:cNvSpPr/>
          <p:nvPr/>
        </p:nvSpPr>
        <p:spPr>
          <a:xfrm>
            <a:off x="6254594" y="1866900"/>
            <a:ext cx="1466813" cy="215900"/>
          </a:xfrm>
          <a:prstGeom prst="rect">
            <a:avLst/>
          </a:prstGeom>
          <a:noFill/>
          <a:ln/>
        </p:spPr>
        <p:txBody>
          <a:bodyPr wrap="square" rtlCol="0" anchor="ctr">
            <a:normAutofit/>
          </a:bodyPr>
          <a:lstStyle/>
          <a:p>
            <a:pPr indent="0" marL="0">
              <a:buNone/>
            </a:pPr>
            <a:r>
              <a:rPr lang="en-US" sz="1000" b="1" dirty="0">
                <a:solidFill>
                  <a:srgbClr val="1B6FA8"/>
                </a:solidFill>
                <a:latin typeface="Segoe UI" pitchFamily="34" charset="0"/>
                <a:ea typeface="Segoe UI" pitchFamily="34" charset="-122"/>
                <a:cs typeface="Segoe UI" pitchFamily="34" charset="-120"/>
              </a:rPr>
              <a:t>06 · 07</a:t>
            </a:r>
            <a:endParaRPr lang="en-US" sz="1000" dirty="0"/>
          </a:p>
        </p:txBody>
      </p:sp>
      <p:sp>
        <p:nvSpPr>
          <p:cNvPr id="22" name="Text 20"/>
          <p:cNvSpPr/>
          <p:nvPr/>
        </p:nvSpPr>
        <p:spPr>
          <a:xfrm>
            <a:off x="6254594" y="2095500"/>
            <a:ext cx="1466813" cy="508000"/>
          </a:xfrm>
          <a:prstGeom prst="rect">
            <a:avLst/>
          </a:prstGeom>
          <a:noFill/>
          <a:ln/>
        </p:spPr>
        <p:txBody>
          <a:bodyPr wrap="square" rtlCol="0" anchor="t">
            <a:normAutofit/>
          </a:bodyPr>
          <a:lstStyle/>
          <a:p>
            <a:pPr indent="0" marL="0">
              <a:buNone/>
            </a:pPr>
            <a:r>
              <a:rPr lang="en-US" sz="1400" b="1" dirty="0">
                <a:solidFill>
                  <a:srgbClr val="1B2A3A"/>
                </a:solidFill>
                <a:latin typeface="Segoe UI" pitchFamily="34" charset="0"/>
                <a:ea typeface="Segoe UI" pitchFamily="34" charset="-122"/>
                <a:cs typeface="Segoe UI" pitchFamily="34" charset="-120"/>
              </a:rPr>
              <a:t>▶ Consulter</a:t>
            </a:r>
            <a:endParaRPr lang="en-US" sz="1400" dirty="0"/>
          </a:p>
        </p:txBody>
      </p:sp>
      <p:sp>
        <p:nvSpPr>
          <p:cNvPr id="23" name="Text 21"/>
          <p:cNvSpPr/>
          <p:nvPr/>
        </p:nvSpPr>
        <p:spPr>
          <a:xfrm>
            <a:off x="6254594" y="2603500"/>
            <a:ext cx="1466813" cy="1016000"/>
          </a:xfrm>
          <a:prstGeom prst="rect">
            <a:avLst/>
          </a:prstGeom>
          <a:noFill/>
          <a:ln/>
        </p:spPr>
        <p:txBody>
          <a:bodyPr wrap="square" rtlCol="0" anchor="t">
            <a:normAutofit/>
          </a:bodyPr>
          <a:lstStyle/>
          <a:p>
            <a:pPr indent="0" marL="0">
              <a:buNone/>
            </a:pPr>
            <a:r>
              <a:rPr lang="en-US" sz="1150" b="1" dirty="0">
                <a:solidFill>
                  <a:srgbClr val="1B2A3A"/>
                </a:solidFill>
                <a:latin typeface="Segoe UI" pitchFamily="34" charset="0"/>
                <a:ea typeface="Segoe UI" pitchFamily="34" charset="-122"/>
                <a:cs typeface="Segoe UI" pitchFamily="34" charset="-120"/>
              </a:rPr>
              <a:t>Cette présentation.</a:t>
            </a:r>
            <a:pPr indent="0" marL="0">
              <a:buNone/>
            </a:pPr>
            <a:r>
              <a:rPr lang="en-US" sz="1150" dirty="0">
                <a:solidFill>
                  <a:srgbClr val="465568"/>
                </a:solidFill>
                <a:latin typeface="Segoe UI" pitchFamily="34" charset="0"/>
                <a:ea typeface="Segoe UI" pitchFamily="34" charset="-122"/>
                <a:cs typeface="Segoe UI" pitchFamily="34" charset="-120"/>
              </a:rPr>
              <a:t> Les offres arrivent en ligne, scellées, puis s’ouvrent en séance.</a:t>
            </a:r>
            <a:endParaRPr lang="en-US" sz="1150" dirty="0"/>
          </a:p>
        </p:txBody>
      </p:sp>
      <p:sp>
        <p:nvSpPr>
          <p:cNvPr id="24" name="Text 22"/>
          <p:cNvSpPr/>
          <p:nvPr/>
        </p:nvSpPr>
        <p:spPr>
          <a:xfrm>
            <a:off x="7797605" y="2603500"/>
            <a:ext cx="165096" cy="254000"/>
          </a:xfrm>
          <a:prstGeom prst="rect">
            <a:avLst/>
          </a:prstGeom>
          <a:noFill/>
          <a:ln/>
        </p:spPr>
        <p:txBody>
          <a:bodyPr wrap="square" rtlCol="0" anchor="ctr"/>
          <a:lstStyle/>
          <a:p>
            <a:pPr algn="ctr" indent="0" marL="0">
              <a:buNone/>
            </a:pPr>
            <a:r>
              <a:rPr lang="en-US" sz="2200" b="1" dirty="0">
                <a:solidFill>
                  <a:srgbClr val="E3AE2E"/>
                </a:solidFill>
                <a:latin typeface="Segoe UI" pitchFamily="34" charset="0"/>
                <a:ea typeface="Segoe UI" pitchFamily="34" charset="-122"/>
                <a:cs typeface="Segoe UI" pitchFamily="34" charset="-120"/>
              </a:rPr>
              <a:t>›</a:t>
            </a:r>
            <a:endParaRPr lang="en-US" sz="2200" dirty="0"/>
          </a:p>
        </p:txBody>
      </p:sp>
      <p:sp>
        <p:nvSpPr>
          <p:cNvPr id="25" name="Shape 23"/>
          <p:cNvSpPr/>
          <p:nvPr/>
        </p:nvSpPr>
        <p:spPr>
          <a:xfrm>
            <a:off x="7950001" y="1778000"/>
            <a:ext cx="1644609" cy="1905000"/>
          </a:xfrm>
          <a:prstGeom prst="roundRect">
            <a:avLst>
              <a:gd name="adj" fmla="val 3336"/>
            </a:avLst>
          </a:prstGeom>
          <a:solidFill>
            <a:srgbClr val="FCFCFA"/>
          </a:solidFill>
          <a:ln w="19050">
            <a:solidFill>
              <a:srgbClr val="12324A"/>
            </a:solidFill>
            <a:prstDash val="solid"/>
          </a:ln>
        </p:spPr>
      </p:sp>
      <p:sp>
        <p:nvSpPr>
          <p:cNvPr id="26" name="Text 24"/>
          <p:cNvSpPr/>
          <p:nvPr/>
        </p:nvSpPr>
        <p:spPr>
          <a:xfrm>
            <a:off x="8038899" y="1866900"/>
            <a:ext cx="1466813" cy="215900"/>
          </a:xfrm>
          <a:prstGeom prst="rect">
            <a:avLst/>
          </a:prstGeom>
          <a:noFill/>
          <a:ln/>
        </p:spPr>
        <p:txBody>
          <a:bodyPr wrap="square" rtlCol="0" anchor="ctr">
            <a:normAutofit/>
          </a:bodyPr>
          <a:lstStyle/>
          <a:p>
            <a:pPr indent="0" marL="0">
              <a:buNone/>
            </a:pPr>
            <a:r>
              <a:rPr lang="en-US" sz="1000" b="1" dirty="0">
                <a:solidFill>
                  <a:srgbClr val="1B6FA8"/>
                </a:solidFill>
                <a:latin typeface="Segoe UI" pitchFamily="34" charset="0"/>
                <a:ea typeface="Segoe UI" pitchFamily="34" charset="-122"/>
                <a:cs typeface="Segoe UI" pitchFamily="34" charset="-120"/>
              </a:rPr>
              <a:t>08</a:t>
            </a:r>
            <a:endParaRPr lang="en-US" sz="1000" dirty="0"/>
          </a:p>
        </p:txBody>
      </p:sp>
      <p:sp>
        <p:nvSpPr>
          <p:cNvPr id="27" name="Text 25"/>
          <p:cNvSpPr/>
          <p:nvPr/>
        </p:nvSpPr>
        <p:spPr>
          <a:xfrm>
            <a:off x="8038899" y="2095500"/>
            <a:ext cx="1466813" cy="508000"/>
          </a:xfrm>
          <a:prstGeom prst="rect">
            <a:avLst/>
          </a:prstGeom>
          <a:noFill/>
          <a:ln/>
        </p:spPr>
        <p:txBody>
          <a:bodyPr wrap="square" rtlCol="0" anchor="t">
            <a:normAutofit/>
          </a:bodyPr>
          <a:lstStyle/>
          <a:p>
            <a:pPr indent="0" marL="0">
              <a:buNone/>
            </a:pPr>
            <a:r>
              <a:rPr lang="en-US" sz="1400" b="1" dirty="0">
                <a:solidFill>
                  <a:srgbClr val="1B2A3A"/>
                </a:solidFill>
                <a:latin typeface="Segoe UI" pitchFamily="34" charset="0"/>
                <a:ea typeface="Segoe UI" pitchFamily="34" charset="-122"/>
                <a:cs typeface="Segoe UI" pitchFamily="34" charset="-120"/>
              </a:rPr>
              <a:t>Évaluer</a:t>
            </a:r>
            <a:endParaRPr lang="en-US" sz="1400" dirty="0"/>
          </a:p>
        </p:txBody>
      </p:sp>
      <p:sp>
        <p:nvSpPr>
          <p:cNvPr id="28" name="Text 26"/>
          <p:cNvSpPr/>
          <p:nvPr/>
        </p:nvSpPr>
        <p:spPr>
          <a:xfrm>
            <a:off x="8038899" y="2603500"/>
            <a:ext cx="1466813" cy="1016000"/>
          </a:xfrm>
          <a:prstGeom prst="rect">
            <a:avLst/>
          </a:prstGeom>
          <a:noFill/>
          <a:ln/>
        </p:spPr>
        <p:txBody>
          <a:bodyPr wrap="square" rtlCol="0" anchor="t">
            <a:normAutofit/>
          </a:bodyPr>
          <a:lstStyle/>
          <a:p>
            <a:pPr indent="0" marL="0">
              <a:buNone/>
            </a:pPr>
            <a:r>
              <a:rPr lang="en-US" sz="1150" dirty="0">
                <a:solidFill>
                  <a:srgbClr val="465568"/>
                </a:solidFill>
                <a:latin typeface="Segoe UI" pitchFamily="34" charset="0"/>
                <a:ea typeface="Segoe UI" pitchFamily="34" charset="-122"/>
                <a:cs typeface="Segoe UI" pitchFamily="34" charset="-120"/>
              </a:rPr>
              <a:t>La commission d’appel d’offres évalue et propose l’attributaire.</a:t>
            </a:r>
            <a:endParaRPr lang="en-US" sz="1150" dirty="0"/>
          </a:p>
        </p:txBody>
      </p:sp>
      <p:sp>
        <p:nvSpPr>
          <p:cNvPr id="29" name="Text 27"/>
          <p:cNvSpPr/>
          <p:nvPr/>
        </p:nvSpPr>
        <p:spPr>
          <a:xfrm>
            <a:off x="9581910" y="2603500"/>
            <a:ext cx="165096" cy="254000"/>
          </a:xfrm>
          <a:prstGeom prst="rect">
            <a:avLst/>
          </a:prstGeom>
          <a:noFill/>
          <a:ln/>
        </p:spPr>
        <p:txBody>
          <a:bodyPr wrap="square" rtlCol="0" anchor="ctr"/>
          <a:lstStyle/>
          <a:p>
            <a:pPr algn="ctr" indent="0" marL="0">
              <a:buNone/>
            </a:pPr>
            <a:r>
              <a:rPr lang="en-US" sz="2200" b="1" dirty="0">
                <a:solidFill>
                  <a:srgbClr val="E3AE2E"/>
                </a:solidFill>
                <a:latin typeface="Segoe UI" pitchFamily="34" charset="0"/>
                <a:ea typeface="Segoe UI" pitchFamily="34" charset="-122"/>
                <a:cs typeface="Segoe UI" pitchFamily="34" charset="-120"/>
              </a:rPr>
              <a:t>›</a:t>
            </a:r>
            <a:endParaRPr lang="en-US" sz="2200" dirty="0"/>
          </a:p>
        </p:txBody>
      </p:sp>
      <p:sp>
        <p:nvSpPr>
          <p:cNvPr id="30" name="Shape 28"/>
          <p:cNvSpPr/>
          <p:nvPr/>
        </p:nvSpPr>
        <p:spPr>
          <a:xfrm>
            <a:off x="9734307" y="1778000"/>
            <a:ext cx="1644609" cy="1905000"/>
          </a:xfrm>
          <a:prstGeom prst="roundRect">
            <a:avLst>
              <a:gd name="adj" fmla="val 3336"/>
            </a:avLst>
          </a:prstGeom>
          <a:solidFill>
            <a:srgbClr val="12324A"/>
          </a:solidFill>
          <a:ln w="19050">
            <a:solidFill>
              <a:srgbClr val="12324A"/>
            </a:solidFill>
            <a:prstDash val="solid"/>
          </a:ln>
        </p:spPr>
      </p:sp>
      <p:sp>
        <p:nvSpPr>
          <p:cNvPr id="31" name="Text 29"/>
          <p:cNvSpPr/>
          <p:nvPr/>
        </p:nvSpPr>
        <p:spPr>
          <a:xfrm>
            <a:off x="9823204" y="1866900"/>
            <a:ext cx="1466813" cy="215900"/>
          </a:xfrm>
          <a:prstGeom prst="rect">
            <a:avLst/>
          </a:prstGeom>
          <a:noFill/>
          <a:ln/>
        </p:spPr>
        <p:txBody>
          <a:bodyPr wrap="square" rtlCol="0" anchor="ctr">
            <a:normAutofit/>
          </a:bodyPr>
          <a:lstStyle/>
          <a:p>
            <a:pPr indent="0" marL="0">
              <a:buNone/>
            </a:pPr>
            <a:r>
              <a:rPr lang="en-US" sz="1000" b="1" dirty="0">
                <a:solidFill>
                  <a:srgbClr val="E3AE2E"/>
                </a:solidFill>
                <a:latin typeface="Segoe UI" pitchFamily="34" charset="0"/>
                <a:ea typeface="Segoe UI" pitchFamily="34" charset="-122"/>
                <a:cs typeface="Segoe UI" pitchFamily="34" charset="-120"/>
              </a:rPr>
              <a:t>09</a:t>
            </a:r>
            <a:endParaRPr lang="en-US" sz="1000" dirty="0"/>
          </a:p>
        </p:txBody>
      </p:sp>
      <p:sp>
        <p:nvSpPr>
          <p:cNvPr id="32" name="Text 30"/>
          <p:cNvSpPr/>
          <p:nvPr/>
        </p:nvSpPr>
        <p:spPr>
          <a:xfrm>
            <a:off x="9823204" y="2095500"/>
            <a:ext cx="1466813" cy="508000"/>
          </a:xfrm>
          <a:prstGeom prst="rect">
            <a:avLst/>
          </a:prstGeom>
          <a:noFill/>
          <a:ln/>
        </p:spPr>
        <p:txBody>
          <a:bodyPr wrap="square" rtlCol="0" anchor="t">
            <a:normAutofit/>
          </a:bodyPr>
          <a:lstStyle/>
          <a:p>
            <a:pPr indent="0" marL="0">
              <a:buNone/>
            </a:pPr>
            <a:r>
              <a:rPr lang="en-US" sz="1400" b="1" dirty="0">
                <a:solidFill>
                  <a:srgbClr val="FCFCFA"/>
                </a:solidFill>
                <a:latin typeface="Segoe UI" pitchFamily="34" charset="0"/>
                <a:ea typeface="Segoe UI" pitchFamily="34" charset="-122"/>
                <a:cs typeface="Segoe UI" pitchFamily="34" charset="-120"/>
              </a:rPr>
              <a:t>Attribuer</a:t>
            </a:r>
            <a:endParaRPr lang="en-US" sz="1400" dirty="0"/>
          </a:p>
        </p:txBody>
      </p:sp>
      <p:sp>
        <p:nvSpPr>
          <p:cNvPr id="33" name="Text 31"/>
          <p:cNvSpPr/>
          <p:nvPr/>
        </p:nvSpPr>
        <p:spPr>
          <a:xfrm>
            <a:off x="9823204" y="2603500"/>
            <a:ext cx="1466813" cy="1016000"/>
          </a:xfrm>
          <a:prstGeom prst="rect">
            <a:avLst/>
          </a:prstGeom>
          <a:noFill/>
          <a:ln/>
        </p:spPr>
        <p:txBody>
          <a:bodyPr wrap="square" rtlCol="0" anchor="t">
            <a:normAutofit/>
          </a:bodyPr>
          <a:lstStyle/>
          <a:p>
            <a:pPr indent="0" marL="0">
              <a:buNone/>
            </a:pPr>
            <a:r>
              <a:rPr lang="en-US" sz="1150" dirty="0">
                <a:solidFill>
                  <a:srgbClr val="C9D6E2"/>
                </a:solidFill>
                <a:latin typeface="Segoe UI" pitchFamily="34" charset="0"/>
                <a:ea typeface="Segoe UI" pitchFamily="34" charset="-122"/>
                <a:cs typeface="Segoe UI" pitchFamily="34" charset="-120"/>
              </a:rPr>
              <a:t>Le marché est contrôlé, signé, notifié et publié.</a:t>
            </a:r>
            <a:endParaRPr lang="en-US" sz="1150" dirty="0"/>
          </a:p>
        </p:txBody>
      </p:sp>
      <p:sp>
        <p:nvSpPr>
          <p:cNvPr id="34" name="Text 32"/>
          <p:cNvSpPr/>
          <p:nvPr/>
        </p:nvSpPr>
        <p:spPr>
          <a:xfrm>
            <a:off x="812780" y="3937000"/>
            <a:ext cx="10566136" cy="762000"/>
          </a:xfrm>
          <a:prstGeom prst="rect">
            <a:avLst/>
          </a:prstGeom>
          <a:noFill/>
          <a:ln/>
        </p:spPr>
        <p:txBody>
          <a:bodyPr wrap="square" rtlCol="0" anchor="t">
            <a:normAutofit/>
          </a:bodyPr>
          <a:lstStyle/>
          <a:p>
            <a:pPr indent="0" marL="0">
              <a:buNone/>
            </a:pPr>
            <a:r>
              <a:rPr lang="en-US" sz="1300" dirty="0">
                <a:solidFill>
                  <a:srgbClr val="465568"/>
                </a:solidFill>
                <a:latin typeface="Segoe UI" pitchFamily="34" charset="0"/>
                <a:ea typeface="Segoe UI" pitchFamily="34" charset="-122"/>
                <a:cs typeface="Segoe UI" pitchFamily="34" charset="-120"/>
              </a:rPr>
              <a:t>Cette présentation couvre l’étape </a:t>
            </a:r>
            <a:pPr indent="0" marL="0">
              <a:buNone/>
            </a:pPr>
            <a:r>
              <a:rPr lang="en-US" sz="1300" b="1" dirty="0">
                <a:solidFill>
                  <a:srgbClr val="1B2A3A"/>
                </a:solidFill>
                <a:latin typeface="Segoe UI" pitchFamily="34" charset="0"/>
                <a:ea typeface="Segoe UI" pitchFamily="34" charset="-122"/>
                <a:cs typeface="Segoe UI" pitchFamily="34" charset="-120"/>
              </a:rPr>
              <a:t>07 — La séance d’ouverture</a:t>
            </a:r>
            <a:pPr indent="0" marL="0">
              <a:buNone/>
            </a:pPr>
            <a:r>
              <a:rPr lang="en-US" sz="1300" dirty="0">
                <a:solidFill>
                  <a:srgbClr val="465568"/>
                </a:solidFill>
                <a:latin typeface="Segoe UI" pitchFamily="34" charset="0"/>
                <a:ea typeface="Segoe UI" pitchFamily="34" charset="-122"/>
                <a:cs typeface="Segoe UI" pitchFamily="34" charset="-120"/>
              </a:rPr>
              <a:t>. Les autres étapes ont chacune leur présentation ; l’entrée dans l’application, l’intérim, l’administration et le pilotage sont dans la présentation d’ensemble.</a:t>
            </a:r>
            <a:endParaRPr lang="en-US" sz="1300" dirty="0"/>
          </a:p>
        </p:txBody>
      </p:sp>
      <p:sp>
        <p:nvSpPr>
          <p:cNvPr id="35" name="Text 3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07 · La séance d’ouverture · 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2324A"/>
        </a:solidFill>
      </p:bgPr>
    </p:bg>
    <p:spTree>
      <p:nvGrpSpPr>
        <p:cNvPr id="1" name=""/>
        <p:cNvGrpSpPr/>
        <p:nvPr/>
      </p:nvGrpSpPr>
      <p:grpSpPr>
        <a:xfrm>
          <a:off x="0" y="0"/>
          <a:ext cx="0" cy="0"/>
          <a:chOff x="0" y="0"/>
          <a:chExt cx="0" cy="0"/>
        </a:xfrm>
      </p:grpSpPr>
      <p:sp>
        <p:nvSpPr>
          <p:cNvPr id="2" name="Shape 0"/>
          <p:cNvSpPr/>
          <p:nvPr/>
        </p:nvSpPr>
        <p:spPr>
          <a:xfrm>
            <a:off x="0" y="0"/>
            <a:ext cx="152396" cy="6858000"/>
          </a:xfrm>
          <a:prstGeom prst="rect">
            <a:avLst/>
          </a:prstGeom>
          <a:solidFill>
            <a:srgbClr val="E3AE2E"/>
          </a:solidFill>
          <a:ln w="12700">
            <a:solidFill>
              <a:srgbClr val="E3AE2E"/>
            </a:solidFill>
            <a:prstDash val="solid"/>
          </a:ln>
        </p:spPr>
      </p:sp>
      <p:sp>
        <p:nvSpPr>
          <p:cNvPr id="3" name="Text 1"/>
          <p:cNvSpPr/>
          <p:nvPr/>
        </p:nvSpPr>
        <p:spPr>
          <a:xfrm>
            <a:off x="812780" y="698500"/>
            <a:ext cx="3809905" cy="952500"/>
          </a:xfrm>
          <a:prstGeom prst="rect">
            <a:avLst/>
          </a:prstGeom>
          <a:noFill/>
          <a:ln/>
        </p:spPr>
        <p:txBody>
          <a:bodyPr wrap="square" rtlCol="0" anchor="ctr"/>
          <a:lstStyle/>
          <a:p>
            <a:pPr indent="0" marL="0">
              <a:buNone/>
            </a:pPr>
            <a:r>
              <a:rPr lang="en-US" sz="7200" b="1" dirty="0">
                <a:solidFill>
                  <a:srgbClr val="E3AE2E"/>
                </a:solidFill>
                <a:latin typeface="Segoe UI" pitchFamily="34" charset="0"/>
                <a:ea typeface="Segoe UI" pitchFamily="34" charset="-122"/>
                <a:cs typeface="Segoe UI" pitchFamily="34" charset="-120"/>
              </a:rPr>
              <a:t>07</a:t>
            </a:r>
            <a:endParaRPr lang="en-US" sz="7200" dirty="0"/>
          </a:p>
        </p:txBody>
      </p:sp>
      <p:sp>
        <p:nvSpPr>
          <p:cNvPr id="4" name="Text 2"/>
          <p:cNvSpPr/>
          <p:nvPr/>
        </p:nvSpPr>
        <p:spPr>
          <a:xfrm>
            <a:off x="812780" y="1714500"/>
            <a:ext cx="10477238" cy="635000"/>
          </a:xfrm>
          <a:prstGeom prst="rect">
            <a:avLst/>
          </a:prstGeom>
          <a:noFill/>
          <a:ln/>
        </p:spPr>
        <p:txBody>
          <a:bodyPr wrap="square" rtlCol="0" anchor="ctr">
            <a:normAutofit/>
          </a:bodyPr>
          <a:lstStyle/>
          <a:p>
            <a:pPr indent="0" marL="0">
              <a:buNone/>
            </a:pPr>
            <a:r>
              <a:rPr lang="en-US" sz="4000" b="1" dirty="0">
                <a:solidFill>
                  <a:srgbClr val="FCFCFA"/>
                </a:solidFill>
                <a:latin typeface="Segoe UI" pitchFamily="34" charset="0"/>
                <a:ea typeface="Segoe UI" pitchFamily="34" charset="-122"/>
                <a:cs typeface="Segoe UI" pitchFamily="34" charset="-120"/>
              </a:rPr>
              <a:t>La séance d’ouverture</a:t>
            </a:r>
            <a:endParaRPr lang="en-US" sz="4000" dirty="0"/>
          </a:p>
        </p:txBody>
      </p:sp>
      <p:sp>
        <p:nvSpPr>
          <p:cNvPr id="5" name="Text 3"/>
          <p:cNvSpPr/>
          <p:nvPr/>
        </p:nvSpPr>
        <p:spPr>
          <a:xfrm>
            <a:off x="812780" y="2413000"/>
            <a:ext cx="10159746" cy="698500"/>
          </a:xfrm>
          <a:prstGeom prst="rect">
            <a:avLst/>
          </a:prstGeom>
          <a:noFill/>
          <a:ln/>
        </p:spPr>
        <p:txBody>
          <a:bodyPr wrap="square" rtlCol="0" anchor="t">
            <a:normAutofit/>
          </a:bodyPr>
          <a:lstStyle/>
          <a:p>
            <a:pPr indent="0" marL="0">
              <a:buNone/>
            </a:pPr>
            <a:r>
              <a:rPr lang="en-US" sz="1700" dirty="0">
                <a:solidFill>
                  <a:srgbClr val="C9D6E2"/>
                </a:solidFill>
                <a:latin typeface="Segoe UI" pitchFamily="34" charset="0"/>
                <a:ea typeface="Segoe UI" pitchFamily="34" charset="-122"/>
                <a:cs typeface="Segoe UI" pitchFamily="34" charset="-120"/>
              </a:rPr>
              <a:t>Après la date limite, la commission d’appel d’offres réunit ses parts de clé : toutes les offres s’ouvrent ensemble, sont lues, et le PV d’ouverture est signé en ligne au quorum de la commission.</a:t>
            </a:r>
            <a:endParaRPr lang="en-US" sz="1700" dirty="0"/>
          </a:p>
        </p:txBody>
      </p:sp>
      <p:sp>
        <p:nvSpPr>
          <p:cNvPr id="6" name="Text 4"/>
          <p:cNvSpPr/>
          <p:nvPr/>
        </p:nvSpPr>
        <p:spPr>
          <a:xfrm>
            <a:off x="812780" y="3429000"/>
            <a:ext cx="5079873" cy="228600"/>
          </a:xfrm>
          <a:prstGeom prst="rect">
            <a:avLst/>
          </a:prstGeom>
          <a:noFill/>
          <a:ln/>
        </p:spPr>
        <p:txBody>
          <a:bodyPr wrap="square" rtlCol="0" anchor="ctr"/>
          <a:lstStyle/>
          <a:p>
            <a:pPr indent="0" marL="0">
              <a:buNone/>
            </a:pPr>
            <a:r>
              <a:rPr lang="en-US" sz="1200" b="1" spc="200" kern="0" dirty="0">
                <a:solidFill>
                  <a:srgbClr val="E3AE2E"/>
                </a:solidFill>
                <a:latin typeface="Segoe UI" pitchFamily="34" charset="0"/>
                <a:ea typeface="Segoe UI" pitchFamily="34" charset="-122"/>
                <a:cs typeface="Segoe UI" pitchFamily="34" charset="-120"/>
              </a:rPr>
              <a:t>CE QUE CELA CHANGE</a:t>
            </a:r>
            <a:endParaRPr lang="en-US" sz="1200" dirty="0"/>
          </a:p>
        </p:txBody>
      </p:sp>
      <p:sp>
        <p:nvSpPr>
          <p:cNvPr id="7" name="Text 5"/>
          <p:cNvSpPr/>
          <p:nvPr/>
        </p:nvSpPr>
        <p:spPr>
          <a:xfrm>
            <a:off x="812780" y="3714750"/>
            <a:ext cx="10286743" cy="2413000"/>
          </a:xfrm>
          <a:prstGeom prst="rect">
            <a:avLst/>
          </a:prstGeom>
          <a:noFill/>
          <a:ln/>
        </p:spPr>
        <p:txBody>
          <a:bodyPr wrap="square" rtlCol="0" anchor="t">
            <a:normAutofit/>
          </a:bodyPr>
          <a:lstStyle/>
          <a:p>
            <a:pPr marL="203200" indent="-203200">
              <a:spcAft>
                <a:spcPts val="800"/>
              </a:spcAft>
              <a:buSzPct val="100000"/>
              <a:buChar char="•"/>
            </a:pPr>
            <a:r>
              <a:rPr lang="en-US" sz="1500" dirty="0">
                <a:solidFill>
                  <a:srgbClr val="FCFCFA"/>
                </a:solidFill>
                <a:latin typeface="Segoe UI" pitchFamily="34" charset="0"/>
                <a:ea typeface="Segoe UI" pitchFamily="34" charset="-122"/>
                <a:cs typeface="Segoe UI" pitchFamily="34" charset="-120"/>
              </a:rPr>
              <a:t>Aucune offre ne peut être ouverte avant l’heure, ni seule : il faut le quorum des parts de clé, et toutes les offres s’ouvrent ensemble, dans un même geste.</a:t>
            </a:r>
            <a:endParaRPr lang="en-US" sz="1500" dirty="0"/>
          </a:p>
          <a:p>
            <a:pPr marL="203200" indent="-203200">
              <a:spcAft>
                <a:spcPts val="800"/>
              </a:spcAft>
              <a:buSzPct val="100000"/>
              <a:buChar char="•"/>
            </a:pPr>
            <a:r>
              <a:rPr lang="en-US" sz="1500" dirty="0">
                <a:solidFill>
                  <a:srgbClr val="FCFCFA"/>
                </a:solidFill>
                <a:latin typeface="Segoe UI" pitchFamily="34" charset="0"/>
                <a:ea typeface="Segoe UI" pitchFamily="34" charset="-122"/>
                <a:cs typeface="Segoe UI" pitchFamily="34" charset="-120"/>
              </a:rPr>
              <a:t>La lecture est faite par l’application et la même pour tous : montants recalculés, garantie, frais de dossier, pièces manquantes, alertes — une information pour la commission, jamais un rejet automatique.</a:t>
            </a:r>
            <a:endParaRPr lang="en-US" sz="1500" dirty="0"/>
          </a:p>
          <a:p>
            <a:pPr marL="203200" indent="-203200">
              <a:spcAft>
                <a:spcPts val="800"/>
              </a:spcAft>
              <a:buSzPct val="100000"/>
              <a:buChar char="•"/>
            </a:pPr>
            <a:r>
              <a:rPr lang="en-US" sz="1500" dirty="0">
                <a:solidFill>
                  <a:srgbClr val="FCFCFA"/>
                </a:solidFill>
                <a:latin typeface="Segoe UI" pitchFamily="34" charset="0"/>
                <a:ea typeface="Segoe UI" pitchFamily="34" charset="-122"/>
                <a:cs typeface="Segoe UI" pitchFamily="34" charset="-120"/>
              </a:rPr>
              <a:t>Depuis le 10/10, la commission ne délibère qu’à son quorum, président ou représentant compris : un PV d’ouverture ne se clôt pas sans lui, et le quorum constaté est imprimé au PV.</a:t>
            </a:r>
            <a:endParaRPr lang="en-US" sz="1500" dirty="0"/>
          </a:p>
        </p:txBody>
      </p:sp>
      <p:sp>
        <p:nvSpPr>
          <p:cNvPr id="8"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8FA6BB"/>
                </a:solidFill>
                <a:latin typeface="Segoe UI" pitchFamily="34" charset="0"/>
                <a:ea typeface="Segoe UI" pitchFamily="34" charset="-122"/>
                <a:cs typeface="Segoe UI" pitchFamily="34" charset="-120"/>
              </a:rPr>
              <a:t>PRS 2.0 · Étape 07 · La séance d’ouverture · 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LA SÉANCE D’OUVERTURE · LE PARCOURS</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De la date limite au PV signé</a:t>
            </a:r>
            <a:endParaRPr lang="en-US" sz="2600" dirty="0"/>
          </a:p>
        </p:txBody>
      </p:sp>
      <p:sp>
        <p:nvSpPr>
          <p:cNvPr id="4" name="Text 2"/>
          <p:cNvSpPr/>
          <p:nvPr/>
        </p:nvSpPr>
        <p:spPr>
          <a:xfrm>
            <a:off x="812780" y="1066800"/>
            <a:ext cx="10413740" cy="508000"/>
          </a:xfrm>
          <a:prstGeom prst="rect">
            <a:avLst/>
          </a:prstGeom>
          <a:noFill/>
          <a:ln/>
        </p:spPr>
        <p:txBody>
          <a:bodyPr wrap="square" rtlCol="0" anchor="t">
            <a:normAutofit/>
          </a:bodyPr>
          <a:lstStyle/>
          <a:p>
            <a:pPr indent="0" marL="0">
              <a:buNone/>
            </a:pPr>
            <a:r>
              <a:rPr lang="en-US" sz="1300" dirty="0">
                <a:solidFill>
                  <a:srgbClr val="465568"/>
                </a:solidFill>
                <a:latin typeface="Segoe UI" pitchFamily="34" charset="0"/>
                <a:ea typeface="Segoe UI" pitchFamily="34" charset="-122"/>
                <a:cs typeface="Segoe UI" pitchFamily="34" charset="-120"/>
              </a:rPr>
              <a:t>Le responsable de la procédure conduit la séance ; les membres de la commission apportent leurs parts depuis leur poste ; la PRMP suit la lecture sans ouvrir aucune pièce.</a:t>
            </a:r>
            <a:endParaRPr lang="en-US" sz="1300" dirty="0"/>
          </a:p>
        </p:txBody>
      </p:sp>
      <p:sp>
        <p:nvSpPr>
          <p:cNvPr id="5" name="Shape 3"/>
          <p:cNvSpPr/>
          <p:nvPr/>
        </p:nvSpPr>
        <p:spPr>
          <a:xfrm>
            <a:off x="812780" y="1778000"/>
            <a:ext cx="1644609" cy="1905000"/>
          </a:xfrm>
          <a:prstGeom prst="roundRect">
            <a:avLst>
              <a:gd name="adj" fmla="val 3336"/>
            </a:avLst>
          </a:prstGeom>
          <a:solidFill>
            <a:srgbClr val="FCFCFA"/>
          </a:solidFill>
          <a:ln w="19050">
            <a:solidFill>
              <a:srgbClr val="12324A"/>
            </a:solidFill>
            <a:prstDash val="solid"/>
          </a:ln>
        </p:spPr>
      </p:sp>
      <p:sp>
        <p:nvSpPr>
          <p:cNvPr id="6" name="Text 4"/>
          <p:cNvSpPr/>
          <p:nvPr/>
        </p:nvSpPr>
        <p:spPr>
          <a:xfrm>
            <a:off x="901677" y="1866900"/>
            <a:ext cx="1466813" cy="215900"/>
          </a:xfrm>
          <a:prstGeom prst="rect">
            <a:avLst/>
          </a:prstGeom>
          <a:noFill/>
          <a:ln/>
        </p:spPr>
        <p:txBody>
          <a:bodyPr wrap="square" rtlCol="0" anchor="ctr">
            <a:normAutofit/>
          </a:bodyPr>
          <a:lstStyle/>
          <a:p>
            <a:pPr indent="0" marL="0">
              <a:buNone/>
            </a:pPr>
            <a:r>
              <a:rPr lang="en-US" sz="1000" b="1" dirty="0">
                <a:solidFill>
                  <a:srgbClr val="1B6FA8"/>
                </a:solidFill>
                <a:latin typeface="Segoe UI" pitchFamily="34" charset="0"/>
                <a:ea typeface="Segoe UI" pitchFamily="34" charset="-122"/>
                <a:cs typeface="Segoe UI" pitchFamily="34" charset="-120"/>
              </a:rPr>
              <a:t>RESPONSABLE DE LA PROCÉDURE</a:t>
            </a:r>
            <a:endParaRPr lang="en-US" sz="1000" dirty="0"/>
          </a:p>
        </p:txBody>
      </p:sp>
      <p:sp>
        <p:nvSpPr>
          <p:cNvPr id="7" name="Text 5"/>
          <p:cNvSpPr/>
          <p:nvPr/>
        </p:nvSpPr>
        <p:spPr>
          <a:xfrm>
            <a:off x="901677" y="2095500"/>
            <a:ext cx="1466813" cy="508000"/>
          </a:xfrm>
          <a:prstGeom prst="rect">
            <a:avLst/>
          </a:prstGeom>
          <a:noFill/>
          <a:ln/>
        </p:spPr>
        <p:txBody>
          <a:bodyPr wrap="square" rtlCol="0" anchor="t">
            <a:normAutofit/>
          </a:bodyPr>
          <a:lstStyle/>
          <a:p>
            <a:pPr indent="0" marL="0">
              <a:buNone/>
            </a:pPr>
            <a:r>
              <a:rPr lang="en-US" sz="1400" b="1" dirty="0">
                <a:solidFill>
                  <a:srgbClr val="1B2A3A"/>
                </a:solidFill>
                <a:latin typeface="Segoe UI" pitchFamily="34" charset="0"/>
                <a:ea typeface="Segoe UI" pitchFamily="34" charset="-122"/>
                <a:cs typeface="Segoe UI" pitchFamily="34" charset="-120"/>
              </a:rPr>
              <a:t>Attendre l’heure</a:t>
            </a:r>
            <a:endParaRPr lang="en-US" sz="1400" dirty="0"/>
          </a:p>
        </p:txBody>
      </p:sp>
      <p:sp>
        <p:nvSpPr>
          <p:cNvPr id="8" name="Text 6"/>
          <p:cNvSpPr/>
          <p:nvPr/>
        </p:nvSpPr>
        <p:spPr>
          <a:xfrm>
            <a:off x="901677" y="2603500"/>
            <a:ext cx="1466813" cy="1016000"/>
          </a:xfrm>
          <a:prstGeom prst="rect">
            <a:avLst/>
          </a:prstGeom>
          <a:noFill/>
          <a:ln/>
        </p:spPr>
        <p:txBody>
          <a:bodyPr wrap="square" rtlCol="0" anchor="t">
            <a:normAutofit/>
          </a:bodyPr>
          <a:lstStyle/>
          <a:p>
            <a:pPr indent="0" marL="0">
              <a:buNone/>
            </a:pPr>
            <a:r>
              <a:rPr lang="en-US" sz="1150" dirty="0">
                <a:solidFill>
                  <a:srgbClr val="465568"/>
                </a:solidFill>
                <a:latin typeface="Segoe UI" pitchFamily="34" charset="0"/>
                <a:ea typeface="Segoe UI" pitchFamily="34" charset="-122"/>
                <a:cs typeface="Segoe UI" pitchFamily="34" charset="-120"/>
              </a:rPr>
              <a:t>La séance ne s’ouvre qu’à l’heure d’ouverture fixée par la fiche, une fois la date limite passée.</a:t>
            </a:r>
            <a:endParaRPr lang="en-US" sz="1150" dirty="0"/>
          </a:p>
        </p:txBody>
      </p:sp>
      <p:sp>
        <p:nvSpPr>
          <p:cNvPr id="9" name="Text 7"/>
          <p:cNvSpPr/>
          <p:nvPr/>
        </p:nvSpPr>
        <p:spPr>
          <a:xfrm>
            <a:off x="2444689" y="2603500"/>
            <a:ext cx="165096" cy="254000"/>
          </a:xfrm>
          <a:prstGeom prst="rect">
            <a:avLst/>
          </a:prstGeom>
          <a:noFill/>
          <a:ln/>
        </p:spPr>
        <p:txBody>
          <a:bodyPr wrap="square" rtlCol="0" anchor="ctr"/>
          <a:lstStyle/>
          <a:p>
            <a:pPr algn="ctr" indent="0" marL="0">
              <a:buNone/>
            </a:pPr>
            <a:r>
              <a:rPr lang="en-US" sz="2200" b="1" dirty="0">
                <a:solidFill>
                  <a:srgbClr val="E3AE2E"/>
                </a:solidFill>
                <a:latin typeface="Segoe UI" pitchFamily="34" charset="0"/>
                <a:ea typeface="Segoe UI" pitchFamily="34" charset="-122"/>
                <a:cs typeface="Segoe UI" pitchFamily="34" charset="-120"/>
              </a:rPr>
              <a:t>›</a:t>
            </a:r>
            <a:endParaRPr lang="en-US" sz="2200" dirty="0"/>
          </a:p>
        </p:txBody>
      </p:sp>
      <p:sp>
        <p:nvSpPr>
          <p:cNvPr id="10" name="Shape 8"/>
          <p:cNvSpPr/>
          <p:nvPr/>
        </p:nvSpPr>
        <p:spPr>
          <a:xfrm>
            <a:off x="2597085" y="1778000"/>
            <a:ext cx="1644609" cy="1905000"/>
          </a:xfrm>
          <a:prstGeom prst="roundRect">
            <a:avLst>
              <a:gd name="adj" fmla="val 3336"/>
            </a:avLst>
          </a:prstGeom>
          <a:solidFill>
            <a:srgbClr val="FCFCFA"/>
          </a:solidFill>
          <a:ln w="19050">
            <a:solidFill>
              <a:srgbClr val="12324A"/>
            </a:solidFill>
            <a:prstDash val="solid"/>
          </a:ln>
        </p:spPr>
      </p:sp>
      <p:sp>
        <p:nvSpPr>
          <p:cNvPr id="11" name="Text 9"/>
          <p:cNvSpPr/>
          <p:nvPr/>
        </p:nvSpPr>
        <p:spPr>
          <a:xfrm>
            <a:off x="2685983" y="1866900"/>
            <a:ext cx="1466813" cy="215900"/>
          </a:xfrm>
          <a:prstGeom prst="rect">
            <a:avLst/>
          </a:prstGeom>
          <a:noFill/>
          <a:ln/>
        </p:spPr>
        <p:txBody>
          <a:bodyPr wrap="square" rtlCol="0" anchor="ctr">
            <a:normAutofit/>
          </a:bodyPr>
          <a:lstStyle/>
          <a:p>
            <a:pPr indent="0" marL="0">
              <a:buNone/>
            </a:pPr>
            <a:r>
              <a:rPr lang="en-US" sz="1000" b="1" dirty="0">
                <a:solidFill>
                  <a:srgbClr val="1B6FA8"/>
                </a:solidFill>
                <a:latin typeface="Segoe UI" pitchFamily="34" charset="0"/>
                <a:ea typeface="Segoe UI" pitchFamily="34" charset="-122"/>
                <a:cs typeface="Segoe UI" pitchFamily="34" charset="-120"/>
              </a:rPr>
              <a:t>RESPONSABLE DE LA PROCÉDURE</a:t>
            </a:r>
            <a:endParaRPr lang="en-US" sz="1000" dirty="0"/>
          </a:p>
        </p:txBody>
      </p:sp>
      <p:sp>
        <p:nvSpPr>
          <p:cNvPr id="12" name="Text 10"/>
          <p:cNvSpPr/>
          <p:nvPr/>
        </p:nvSpPr>
        <p:spPr>
          <a:xfrm>
            <a:off x="2685983" y="2095500"/>
            <a:ext cx="1466813" cy="508000"/>
          </a:xfrm>
          <a:prstGeom prst="rect">
            <a:avLst/>
          </a:prstGeom>
          <a:noFill/>
          <a:ln/>
        </p:spPr>
        <p:txBody>
          <a:bodyPr wrap="square" rtlCol="0" anchor="t">
            <a:normAutofit/>
          </a:bodyPr>
          <a:lstStyle/>
          <a:p>
            <a:pPr indent="0" marL="0">
              <a:buNone/>
            </a:pPr>
            <a:r>
              <a:rPr lang="en-US" sz="1400" b="1" dirty="0">
                <a:solidFill>
                  <a:srgbClr val="1B2A3A"/>
                </a:solidFill>
                <a:latin typeface="Segoe UI" pitchFamily="34" charset="0"/>
                <a:ea typeface="Segoe UI" pitchFamily="34" charset="-122"/>
                <a:cs typeface="Segoe UI" pitchFamily="34" charset="-120"/>
              </a:rPr>
              <a:t>Ouvrir et consigner les présents</a:t>
            </a:r>
            <a:endParaRPr lang="en-US" sz="1400" dirty="0"/>
          </a:p>
        </p:txBody>
      </p:sp>
      <p:sp>
        <p:nvSpPr>
          <p:cNvPr id="13" name="Text 11"/>
          <p:cNvSpPr/>
          <p:nvPr/>
        </p:nvSpPr>
        <p:spPr>
          <a:xfrm>
            <a:off x="2685983" y="2603500"/>
            <a:ext cx="1466813" cy="1016000"/>
          </a:xfrm>
          <a:prstGeom prst="rect">
            <a:avLst/>
          </a:prstGeom>
          <a:noFill/>
          <a:ln/>
        </p:spPr>
        <p:txBody>
          <a:bodyPr wrap="square" rtlCol="0" anchor="t">
            <a:normAutofit/>
          </a:bodyPr>
          <a:lstStyle/>
          <a:p>
            <a:pPr indent="0" marL="0">
              <a:buNone/>
            </a:pPr>
            <a:r>
              <a:rPr lang="en-US" sz="1150" dirty="0">
                <a:solidFill>
                  <a:srgbClr val="465568"/>
                </a:solidFill>
                <a:latin typeface="Segoe UI" pitchFamily="34" charset="0"/>
                <a:ea typeface="Segoe UI" pitchFamily="34" charset="-122"/>
                <a:cs typeface="Segoe UI" pitchFamily="34" charset="-120"/>
              </a:rPr>
              <a:t>Le responsable ouvre la séance et enregistre les membres et les autres présents.</a:t>
            </a:r>
            <a:endParaRPr lang="en-US" sz="1150" dirty="0"/>
          </a:p>
        </p:txBody>
      </p:sp>
      <p:sp>
        <p:nvSpPr>
          <p:cNvPr id="14" name="Text 12"/>
          <p:cNvSpPr/>
          <p:nvPr/>
        </p:nvSpPr>
        <p:spPr>
          <a:xfrm>
            <a:off x="4228994" y="2603500"/>
            <a:ext cx="165096" cy="254000"/>
          </a:xfrm>
          <a:prstGeom prst="rect">
            <a:avLst/>
          </a:prstGeom>
          <a:noFill/>
          <a:ln/>
        </p:spPr>
        <p:txBody>
          <a:bodyPr wrap="square" rtlCol="0" anchor="ctr"/>
          <a:lstStyle/>
          <a:p>
            <a:pPr algn="ctr" indent="0" marL="0">
              <a:buNone/>
            </a:pPr>
            <a:r>
              <a:rPr lang="en-US" sz="2200" b="1" dirty="0">
                <a:solidFill>
                  <a:srgbClr val="E3AE2E"/>
                </a:solidFill>
                <a:latin typeface="Segoe UI" pitchFamily="34" charset="0"/>
                <a:ea typeface="Segoe UI" pitchFamily="34" charset="-122"/>
                <a:cs typeface="Segoe UI" pitchFamily="34" charset="-120"/>
              </a:rPr>
              <a:t>›</a:t>
            </a:r>
            <a:endParaRPr lang="en-US" sz="2200" dirty="0"/>
          </a:p>
        </p:txBody>
      </p:sp>
      <p:sp>
        <p:nvSpPr>
          <p:cNvPr id="15" name="Shape 13"/>
          <p:cNvSpPr/>
          <p:nvPr/>
        </p:nvSpPr>
        <p:spPr>
          <a:xfrm>
            <a:off x="4381390" y="1778000"/>
            <a:ext cx="1644609" cy="1905000"/>
          </a:xfrm>
          <a:prstGeom prst="roundRect">
            <a:avLst>
              <a:gd name="adj" fmla="val 3336"/>
            </a:avLst>
          </a:prstGeom>
          <a:solidFill>
            <a:srgbClr val="FCFCFA"/>
          </a:solidFill>
          <a:ln w="19050">
            <a:solidFill>
              <a:srgbClr val="12324A"/>
            </a:solidFill>
            <a:prstDash val="solid"/>
          </a:ln>
        </p:spPr>
      </p:sp>
      <p:sp>
        <p:nvSpPr>
          <p:cNvPr id="16" name="Text 14"/>
          <p:cNvSpPr/>
          <p:nvPr/>
        </p:nvSpPr>
        <p:spPr>
          <a:xfrm>
            <a:off x="4470288" y="1866900"/>
            <a:ext cx="1466813" cy="215900"/>
          </a:xfrm>
          <a:prstGeom prst="rect">
            <a:avLst/>
          </a:prstGeom>
          <a:noFill/>
          <a:ln/>
        </p:spPr>
        <p:txBody>
          <a:bodyPr wrap="square" rtlCol="0" anchor="ctr">
            <a:normAutofit/>
          </a:bodyPr>
          <a:lstStyle/>
          <a:p>
            <a:pPr indent="0" marL="0">
              <a:buNone/>
            </a:pPr>
            <a:r>
              <a:rPr lang="en-US" sz="1000" b="1" dirty="0">
                <a:solidFill>
                  <a:srgbClr val="1B6FA8"/>
                </a:solidFill>
                <a:latin typeface="Segoe UI" pitchFamily="34" charset="0"/>
                <a:ea typeface="Segoe UI" pitchFamily="34" charset="-122"/>
                <a:cs typeface="Segoe UI" pitchFamily="34" charset="-120"/>
              </a:rPr>
              <a:t>MEMBRES, DÉPOSITAIRE</a:t>
            </a:r>
            <a:endParaRPr lang="en-US" sz="1000" dirty="0"/>
          </a:p>
        </p:txBody>
      </p:sp>
      <p:sp>
        <p:nvSpPr>
          <p:cNvPr id="17" name="Text 15"/>
          <p:cNvSpPr/>
          <p:nvPr/>
        </p:nvSpPr>
        <p:spPr>
          <a:xfrm>
            <a:off x="4470288" y="2095500"/>
            <a:ext cx="1466813" cy="508000"/>
          </a:xfrm>
          <a:prstGeom prst="rect">
            <a:avLst/>
          </a:prstGeom>
          <a:noFill/>
          <a:ln/>
        </p:spPr>
        <p:txBody>
          <a:bodyPr wrap="square" rtlCol="0" anchor="t">
            <a:normAutofit/>
          </a:bodyPr>
          <a:lstStyle/>
          <a:p>
            <a:pPr indent="0" marL="0">
              <a:buNone/>
            </a:pPr>
            <a:r>
              <a:rPr lang="en-US" sz="1400" b="1" dirty="0">
                <a:solidFill>
                  <a:srgbClr val="1B2A3A"/>
                </a:solidFill>
                <a:latin typeface="Segoe UI" pitchFamily="34" charset="0"/>
                <a:ea typeface="Segoe UI" pitchFamily="34" charset="-122"/>
                <a:cs typeface="Segoe UI" pitchFamily="34" charset="-120"/>
              </a:rPr>
              <a:t>Apporter les parts</a:t>
            </a:r>
            <a:endParaRPr lang="en-US" sz="1400" dirty="0"/>
          </a:p>
        </p:txBody>
      </p:sp>
      <p:sp>
        <p:nvSpPr>
          <p:cNvPr id="18" name="Text 16"/>
          <p:cNvSpPr/>
          <p:nvPr/>
        </p:nvSpPr>
        <p:spPr>
          <a:xfrm>
            <a:off x="4470288" y="2603500"/>
            <a:ext cx="1466813" cy="1016000"/>
          </a:xfrm>
          <a:prstGeom prst="rect">
            <a:avLst/>
          </a:prstGeom>
          <a:noFill/>
          <a:ln/>
        </p:spPr>
        <p:txBody>
          <a:bodyPr wrap="square" rtlCol="0" anchor="t">
            <a:normAutofit/>
          </a:bodyPr>
          <a:lstStyle/>
          <a:p>
            <a:pPr indent="0" marL="0">
              <a:buNone/>
            </a:pPr>
            <a:r>
              <a:rPr lang="en-US" sz="1150" dirty="0">
                <a:solidFill>
                  <a:srgbClr val="465568"/>
                </a:solidFill>
                <a:latin typeface="Segoe UI" pitchFamily="34" charset="0"/>
                <a:ea typeface="Segoe UI" pitchFamily="34" charset="-122"/>
                <a:cs typeface="Segoe UI" pitchFamily="34" charset="-120"/>
              </a:rPr>
              <a:t>Chaque membre déverrouille sa clé sur son poste ; la part de secours supplée, sur demande motivée.</a:t>
            </a:r>
            <a:endParaRPr lang="en-US" sz="1150" dirty="0"/>
          </a:p>
        </p:txBody>
      </p:sp>
      <p:sp>
        <p:nvSpPr>
          <p:cNvPr id="19" name="Text 17"/>
          <p:cNvSpPr/>
          <p:nvPr/>
        </p:nvSpPr>
        <p:spPr>
          <a:xfrm>
            <a:off x="6013300" y="2603500"/>
            <a:ext cx="165096" cy="254000"/>
          </a:xfrm>
          <a:prstGeom prst="rect">
            <a:avLst/>
          </a:prstGeom>
          <a:noFill/>
          <a:ln/>
        </p:spPr>
        <p:txBody>
          <a:bodyPr wrap="square" rtlCol="0" anchor="ctr"/>
          <a:lstStyle/>
          <a:p>
            <a:pPr algn="ctr" indent="0" marL="0">
              <a:buNone/>
            </a:pPr>
            <a:r>
              <a:rPr lang="en-US" sz="2200" b="1" dirty="0">
                <a:solidFill>
                  <a:srgbClr val="E3AE2E"/>
                </a:solidFill>
                <a:latin typeface="Segoe UI" pitchFamily="34" charset="0"/>
                <a:ea typeface="Segoe UI" pitchFamily="34" charset="-122"/>
                <a:cs typeface="Segoe UI" pitchFamily="34" charset="-120"/>
              </a:rPr>
              <a:t>›</a:t>
            </a:r>
            <a:endParaRPr lang="en-US" sz="2200" dirty="0"/>
          </a:p>
        </p:txBody>
      </p:sp>
      <p:sp>
        <p:nvSpPr>
          <p:cNvPr id="20" name="Shape 18"/>
          <p:cNvSpPr/>
          <p:nvPr/>
        </p:nvSpPr>
        <p:spPr>
          <a:xfrm>
            <a:off x="6165696" y="1778000"/>
            <a:ext cx="1644609" cy="1905000"/>
          </a:xfrm>
          <a:prstGeom prst="roundRect">
            <a:avLst>
              <a:gd name="adj" fmla="val 3336"/>
            </a:avLst>
          </a:prstGeom>
          <a:solidFill>
            <a:srgbClr val="FCFCFA"/>
          </a:solidFill>
          <a:ln w="19050">
            <a:solidFill>
              <a:srgbClr val="12324A"/>
            </a:solidFill>
            <a:prstDash val="solid"/>
          </a:ln>
        </p:spPr>
      </p:sp>
      <p:sp>
        <p:nvSpPr>
          <p:cNvPr id="21" name="Text 19"/>
          <p:cNvSpPr/>
          <p:nvPr/>
        </p:nvSpPr>
        <p:spPr>
          <a:xfrm>
            <a:off x="6254594" y="1866900"/>
            <a:ext cx="1466813" cy="215900"/>
          </a:xfrm>
          <a:prstGeom prst="rect">
            <a:avLst/>
          </a:prstGeom>
          <a:noFill/>
          <a:ln/>
        </p:spPr>
        <p:txBody>
          <a:bodyPr wrap="square" rtlCol="0" anchor="ctr">
            <a:normAutofit/>
          </a:bodyPr>
          <a:lstStyle/>
          <a:p>
            <a:pPr indent="0" marL="0">
              <a:buNone/>
            </a:pPr>
            <a:r>
              <a:rPr lang="en-US" sz="1000" b="1" dirty="0">
                <a:solidFill>
                  <a:srgbClr val="1B6FA8"/>
                </a:solidFill>
                <a:latin typeface="Segoe UI" pitchFamily="34" charset="0"/>
                <a:ea typeface="Segoe UI" pitchFamily="34" charset="-122"/>
                <a:cs typeface="Segoe UI" pitchFamily="34" charset="-120"/>
              </a:rPr>
              <a:t>APPLICATION</a:t>
            </a:r>
            <a:endParaRPr lang="en-US" sz="1000" dirty="0"/>
          </a:p>
        </p:txBody>
      </p:sp>
      <p:sp>
        <p:nvSpPr>
          <p:cNvPr id="22" name="Text 20"/>
          <p:cNvSpPr/>
          <p:nvPr/>
        </p:nvSpPr>
        <p:spPr>
          <a:xfrm>
            <a:off x="6254594" y="2095500"/>
            <a:ext cx="1466813" cy="508000"/>
          </a:xfrm>
          <a:prstGeom prst="rect">
            <a:avLst/>
          </a:prstGeom>
          <a:noFill/>
          <a:ln/>
        </p:spPr>
        <p:txBody>
          <a:bodyPr wrap="square" rtlCol="0" anchor="t">
            <a:normAutofit/>
          </a:bodyPr>
          <a:lstStyle/>
          <a:p>
            <a:pPr indent="0" marL="0">
              <a:buNone/>
            </a:pPr>
            <a:r>
              <a:rPr lang="en-US" sz="1400" b="1" dirty="0">
                <a:solidFill>
                  <a:srgbClr val="1B2A3A"/>
                </a:solidFill>
                <a:latin typeface="Segoe UI" pitchFamily="34" charset="0"/>
                <a:ea typeface="Segoe UI" pitchFamily="34" charset="-122"/>
                <a:cs typeface="Segoe UI" pitchFamily="34" charset="-120"/>
              </a:rPr>
              <a:t>Ouvrir ensemble</a:t>
            </a:r>
            <a:endParaRPr lang="en-US" sz="1400" dirty="0"/>
          </a:p>
        </p:txBody>
      </p:sp>
      <p:sp>
        <p:nvSpPr>
          <p:cNvPr id="23" name="Text 21"/>
          <p:cNvSpPr/>
          <p:nvPr/>
        </p:nvSpPr>
        <p:spPr>
          <a:xfrm>
            <a:off x="6254594" y="2603500"/>
            <a:ext cx="1466813" cy="1016000"/>
          </a:xfrm>
          <a:prstGeom prst="rect">
            <a:avLst/>
          </a:prstGeom>
          <a:noFill/>
          <a:ln/>
        </p:spPr>
        <p:txBody>
          <a:bodyPr wrap="square" rtlCol="0" anchor="t">
            <a:normAutofit/>
          </a:bodyPr>
          <a:lstStyle/>
          <a:p>
            <a:pPr indent="0" marL="0">
              <a:buNone/>
            </a:pPr>
            <a:r>
              <a:rPr lang="en-US" sz="1150" dirty="0">
                <a:solidFill>
                  <a:srgbClr val="465568"/>
                </a:solidFill>
                <a:latin typeface="Segoe UI" pitchFamily="34" charset="0"/>
                <a:ea typeface="Segoe UI" pitchFamily="34" charset="-122"/>
                <a:cs typeface="Segoe UI" pitchFamily="34" charset="-120"/>
              </a:rPr>
              <a:t>Au quorum des parts, toutes les offres s’ouvrent, leur intégrité est vérifiée.</a:t>
            </a:r>
            <a:endParaRPr lang="en-US" sz="1150" dirty="0"/>
          </a:p>
        </p:txBody>
      </p:sp>
      <p:sp>
        <p:nvSpPr>
          <p:cNvPr id="24" name="Text 22"/>
          <p:cNvSpPr/>
          <p:nvPr/>
        </p:nvSpPr>
        <p:spPr>
          <a:xfrm>
            <a:off x="7797605" y="2603500"/>
            <a:ext cx="165096" cy="254000"/>
          </a:xfrm>
          <a:prstGeom prst="rect">
            <a:avLst/>
          </a:prstGeom>
          <a:noFill/>
          <a:ln/>
        </p:spPr>
        <p:txBody>
          <a:bodyPr wrap="square" rtlCol="0" anchor="ctr"/>
          <a:lstStyle/>
          <a:p>
            <a:pPr algn="ctr" indent="0" marL="0">
              <a:buNone/>
            </a:pPr>
            <a:r>
              <a:rPr lang="en-US" sz="2200" b="1" dirty="0">
                <a:solidFill>
                  <a:srgbClr val="E3AE2E"/>
                </a:solidFill>
                <a:latin typeface="Segoe UI" pitchFamily="34" charset="0"/>
                <a:ea typeface="Segoe UI" pitchFamily="34" charset="-122"/>
                <a:cs typeface="Segoe UI" pitchFamily="34" charset="-120"/>
              </a:rPr>
              <a:t>›</a:t>
            </a:r>
            <a:endParaRPr lang="en-US" sz="2200" dirty="0"/>
          </a:p>
        </p:txBody>
      </p:sp>
      <p:sp>
        <p:nvSpPr>
          <p:cNvPr id="25" name="Shape 23"/>
          <p:cNvSpPr/>
          <p:nvPr/>
        </p:nvSpPr>
        <p:spPr>
          <a:xfrm>
            <a:off x="7950001" y="1778000"/>
            <a:ext cx="1644609" cy="1905000"/>
          </a:xfrm>
          <a:prstGeom prst="roundRect">
            <a:avLst>
              <a:gd name="adj" fmla="val 3336"/>
            </a:avLst>
          </a:prstGeom>
          <a:solidFill>
            <a:srgbClr val="FCFCFA"/>
          </a:solidFill>
          <a:ln w="19050">
            <a:solidFill>
              <a:srgbClr val="12324A"/>
            </a:solidFill>
            <a:prstDash val="solid"/>
          </a:ln>
        </p:spPr>
      </p:sp>
      <p:sp>
        <p:nvSpPr>
          <p:cNvPr id="26" name="Text 24"/>
          <p:cNvSpPr/>
          <p:nvPr/>
        </p:nvSpPr>
        <p:spPr>
          <a:xfrm>
            <a:off x="8038899" y="1866900"/>
            <a:ext cx="1466813" cy="215900"/>
          </a:xfrm>
          <a:prstGeom prst="rect">
            <a:avLst/>
          </a:prstGeom>
          <a:noFill/>
          <a:ln/>
        </p:spPr>
        <p:txBody>
          <a:bodyPr wrap="square" rtlCol="0" anchor="ctr">
            <a:normAutofit/>
          </a:bodyPr>
          <a:lstStyle/>
          <a:p>
            <a:pPr indent="0" marL="0">
              <a:buNone/>
            </a:pPr>
            <a:r>
              <a:rPr lang="en-US" sz="1000" b="1" dirty="0">
                <a:solidFill>
                  <a:srgbClr val="1B6FA8"/>
                </a:solidFill>
                <a:latin typeface="Segoe UI" pitchFamily="34" charset="0"/>
                <a:ea typeface="Segoe UI" pitchFamily="34" charset="-122"/>
                <a:cs typeface="Segoe UI" pitchFamily="34" charset="-120"/>
              </a:rPr>
              <a:t>COMMISSION</a:t>
            </a:r>
            <a:endParaRPr lang="en-US" sz="1000" dirty="0"/>
          </a:p>
        </p:txBody>
      </p:sp>
      <p:sp>
        <p:nvSpPr>
          <p:cNvPr id="27" name="Text 25"/>
          <p:cNvSpPr/>
          <p:nvPr/>
        </p:nvSpPr>
        <p:spPr>
          <a:xfrm>
            <a:off x="8038899" y="2095500"/>
            <a:ext cx="1466813" cy="508000"/>
          </a:xfrm>
          <a:prstGeom prst="rect">
            <a:avLst/>
          </a:prstGeom>
          <a:noFill/>
          <a:ln/>
        </p:spPr>
        <p:txBody>
          <a:bodyPr wrap="square" rtlCol="0" anchor="t">
            <a:normAutofit/>
          </a:bodyPr>
          <a:lstStyle/>
          <a:p>
            <a:pPr indent="0" marL="0">
              <a:buNone/>
            </a:pPr>
            <a:r>
              <a:rPr lang="en-US" sz="1400" b="1" dirty="0">
                <a:solidFill>
                  <a:srgbClr val="1B2A3A"/>
                </a:solidFill>
                <a:latin typeface="Segoe UI" pitchFamily="34" charset="0"/>
                <a:ea typeface="Segoe UI" pitchFamily="34" charset="-122"/>
                <a:cs typeface="Segoe UI" pitchFamily="34" charset="-120"/>
              </a:rPr>
              <a:t>Lire les offres</a:t>
            </a:r>
            <a:endParaRPr lang="en-US" sz="1400" dirty="0"/>
          </a:p>
        </p:txBody>
      </p:sp>
      <p:sp>
        <p:nvSpPr>
          <p:cNvPr id="28" name="Text 26"/>
          <p:cNvSpPr/>
          <p:nvPr/>
        </p:nvSpPr>
        <p:spPr>
          <a:xfrm>
            <a:off x="8038899" y="2603500"/>
            <a:ext cx="1466813" cy="1016000"/>
          </a:xfrm>
          <a:prstGeom prst="rect">
            <a:avLst/>
          </a:prstGeom>
          <a:noFill/>
          <a:ln/>
        </p:spPr>
        <p:txBody>
          <a:bodyPr wrap="square" rtlCol="0" anchor="t">
            <a:normAutofit/>
          </a:bodyPr>
          <a:lstStyle/>
          <a:p>
            <a:pPr indent="0" marL="0">
              <a:buNone/>
            </a:pPr>
            <a:r>
              <a:rPr lang="en-US" sz="1150" dirty="0">
                <a:solidFill>
                  <a:srgbClr val="465568"/>
                </a:solidFill>
                <a:latin typeface="Segoe UI" pitchFamily="34" charset="0"/>
                <a:ea typeface="Segoe UI" pitchFamily="34" charset="-122"/>
                <a:cs typeface="Segoe UI" pitchFamily="34" charset="-120"/>
              </a:rPr>
              <a:t>Montants, délai, validité, garantie, rabais, frais de dossier, alertes, offre par offre.</a:t>
            </a:r>
            <a:endParaRPr lang="en-US" sz="1150" dirty="0"/>
          </a:p>
        </p:txBody>
      </p:sp>
      <p:sp>
        <p:nvSpPr>
          <p:cNvPr id="29" name="Text 27"/>
          <p:cNvSpPr/>
          <p:nvPr/>
        </p:nvSpPr>
        <p:spPr>
          <a:xfrm>
            <a:off x="9581910" y="2603500"/>
            <a:ext cx="165096" cy="254000"/>
          </a:xfrm>
          <a:prstGeom prst="rect">
            <a:avLst/>
          </a:prstGeom>
          <a:noFill/>
          <a:ln/>
        </p:spPr>
        <p:txBody>
          <a:bodyPr wrap="square" rtlCol="0" anchor="ctr"/>
          <a:lstStyle/>
          <a:p>
            <a:pPr algn="ctr" indent="0" marL="0">
              <a:buNone/>
            </a:pPr>
            <a:r>
              <a:rPr lang="en-US" sz="2200" b="1" dirty="0">
                <a:solidFill>
                  <a:srgbClr val="E3AE2E"/>
                </a:solidFill>
                <a:latin typeface="Segoe UI" pitchFamily="34" charset="0"/>
                <a:ea typeface="Segoe UI" pitchFamily="34" charset="-122"/>
                <a:cs typeface="Segoe UI" pitchFamily="34" charset="-120"/>
              </a:rPr>
              <a:t>›</a:t>
            </a:r>
            <a:endParaRPr lang="en-US" sz="2200" dirty="0"/>
          </a:p>
        </p:txBody>
      </p:sp>
      <p:sp>
        <p:nvSpPr>
          <p:cNvPr id="30" name="Shape 28"/>
          <p:cNvSpPr/>
          <p:nvPr/>
        </p:nvSpPr>
        <p:spPr>
          <a:xfrm>
            <a:off x="9734307" y="1778000"/>
            <a:ext cx="1644609" cy="1905000"/>
          </a:xfrm>
          <a:prstGeom prst="roundRect">
            <a:avLst>
              <a:gd name="adj" fmla="val 3336"/>
            </a:avLst>
          </a:prstGeom>
          <a:solidFill>
            <a:srgbClr val="12324A"/>
          </a:solidFill>
          <a:ln w="19050">
            <a:solidFill>
              <a:srgbClr val="12324A"/>
            </a:solidFill>
            <a:prstDash val="solid"/>
          </a:ln>
        </p:spPr>
      </p:sp>
      <p:sp>
        <p:nvSpPr>
          <p:cNvPr id="31" name="Text 29"/>
          <p:cNvSpPr/>
          <p:nvPr/>
        </p:nvSpPr>
        <p:spPr>
          <a:xfrm>
            <a:off x="9823204" y="1866900"/>
            <a:ext cx="1466813" cy="215900"/>
          </a:xfrm>
          <a:prstGeom prst="rect">
            <a:avLst/>
          </a:prstGeom>
          <a:noFill/>
          <a:ln/>
        </p:spPr>
        <p:txBody>
          <a:bodyPr wrap="square" rtlCol="0" anchor="ctr">
            <a:normAutofit/>
          </a:bodyPr>
          <a:lstStyle/>
          <a:p>
            <a:pPr indent="0" marL="0">
              <a:buNone/>
            </a:pPr>
            <a:r>
              <a:rPr lang="en-US" sz="1000" b="1" dirty="0">
                <a:solidFill>
                  <a:srgbClr val="E3AE2E"/>
                </a:solidFill>
                <a:latin typeface="Segoe UI" pitchFamily="34" charset="0"/>
                <a:ea typeface="Segoe UI" pitchFamily="34" charset="-122"/>
                <a:cs typeface="Segoe UI" pitchFamily="34" charset="-120"/>
              </a:rPr>
              <a:t>MEMBRES, PRÉSIDENT</a:t>
            </a:r>
            <a:endParaRPr lang="en-US" sz="1000" dirty="0"/>
          </a:p>
        </p:txBody>
      </p:sp>
      <p:sp>
        <p:nvSpPr>
          <p:cNvPr id="32" name="Text 30"/>
          <p:cNvSpPr/>
          <p:nvPr/>
        </p:nvSpPr>
        <p:spPr>
          <a:xfrm>
            <a:off x="9823204" y="2095500"/>
            <a:ext cx="1466813" cy="508000"/>
          </a:xfrm>
          <a:prstGeom prst="rect">
            <a:avLst/>
          </a:prstGeom>
          <a:noFill/>
          <a:ln/>
        </p:spPr>
        <p:txBody>
          <a:bodyPr wrap="square" rtlCol="0" anchor="t">
            <a:normAutofit/>
          </a:bodyPr>
          <a:lstStyle/>
          <a:p>
            <a:pPr indent="0" marL="0">
              <a:buNone/>
            </a:pPr>
            <a:r>
              <a:rPr lang="en-US" sz="1400" b="1" dirty="0">
                <a:solidFill>
                  <a:srgbClr val="FCFCFA"/>
                </a:solidFill>
                <a:latin typeface="Segoe UI" pitchFamily="34" charset="0"/>
                <a:ea typeface="Segoe UI" pitchFamily="34" charset="-122"/>
                <a:cs typeface="Segoe UI" pitchFamily="34" charset="-120"/>
              </a:rPr>
              <a:t>Signer le PV</a:t>
            </a:r>
            <a:endParaRPr lang="en-US" sz="1400" dirty="0"/>
          </a:p>
        </p:txBody>
      </p:sp>
      <p:sp>
        <p:nvSpPr>
          <p:cNvPr id="33" name="Text 31"/>
          <p:cNvSpPr/>
          <p:nvPr/>
        </p:nvSpPr>
        <p:spPr>
          <a:xfrm>
            <a:off x="9823204" y="2603500"/>
            <a:ext cx="1466813" cy="1016000"/>
          </a:xfrm>
          <a:prstGeom prst="rect">
            <a:avLst/>
          </a:prstGeom>
          <a:noFill/>
          <a:ln/>
        </p:spPr>
        <p:txBody>
          <a:bodyPr wrap="square" rtlCol="0" anchor="t">
            <a:normAutofit/>
          </a:bodyPr>
          <a:lstStyle/>
          <a:p>
            <a:pPr indent="0" marL="0">
              <a:buNone/>
            </a:pPr>
            <a:r>
              <a:rPr lang="en-US" sz="1150" dirty="0">
                <a:solidFill>
                  <a:srgbClr val="C9D6E2"/>
                </a:solidFill>
                <a:latin typeface="Segoe UI" pitchFamily="34" charset="0"/>
                <a:ea typeface="Segoe UI" pitchFamily="34" charset="-122"/>
                <a:cs typeface="Segoe UI" pitchFamily="34" charset="-120"/>
              </a:rPr>
              <a:t>Chaque membre présent signe en ligne ; la séance se clôt au quorum de la commission et l’extrait est publié.</a:t>
            </a:r>
            <a:endParaRPr lang="en-US" sz="1150" dirty="0"/>
          </a:p>
        </p:txBody>
      </p:sp>
      <p:sp>
        <p:nvSpPr>
          <p:cNvPr id="34" name="Text 3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07 · La séance d’ouverture · 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3F6"/>
        </a:solidFill>
      </p:bgPr>
    </p:bg>
    <p:spTree>
      <p:nvGrpSpPr>
        <p:cNvPr id="1" name=""/>
        <p:cNvGrpSpPr/>
        <p:nvPr/>
      </p:nvGrpSpPr>
      <p:grpSpPr>
        <a:xfrm>
          <a:off x="0" y="0"/>
          <a:ext cx="0" cy="0"/>
          <a:chOff x="0" y="0"/>
          <a:chExt cx="0" cy="0"/>
        </a:xfrm>
      </p:grpSpPr>
      <p:sp>
        <p:nvSpPr>
          <p:cNvPr id="2" name="Shape 0"/>
          <p:cNvSpPr/>
          <p:nvPr/>
        </p:nvSpPr>
        <p:spPr>
          <a:xfrm>
            <a:off x="812780" y="2413000"/>
            <a:ext cx="63498" cy="1397000"/>
          </a:xfrm>
          <a:prstGeom prst="rect">
            <a:avLst/>
          </a:prstGeom>
          <a:solidFill>
            <a:srgbClr val="E3AE2E"/>
          </a:solidFill>
          <a:ln/>
        </p:spPr>
      </p:sp>
      <p:sp>
        <p:nvSpPr>
          <p:cNvPr id="3" name="Text 1"/>
          <p:cNvSpPr/>
          <p:nvPr/>
        </p:nvSpPr>
        <p:spPr>
          <a:xfrm>
            <a:off x="1079473" y="2413000"/>
            <a:ext cx="9524762"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LA SÉANCE D’OUVERTURE</a:t>
            </a:r>
            <a:endParaRPr lang="en-US" sz="1200" dirty="0"/>
          </a:p>
        </p:txBody>
      </p:sp>
      <p:sp>
        <p:nvSpPr>
          <p:cNvPr id="4" name="Text 2"/>
          <p:cNvSpPr/>
          <p:nvPr/>
        </p:nvSpPr>
        <p:spPr>
          <a:xfrm>
            <a:off x="1079473" y="2667000"/>
            <a:ext cx="10159746" cy="508000"/>
          </a:xfrm>
          <a:prstGeom prst="rect">
            <a:avLst/>
          </a:prstGeom>
          <a:noFill/>
          <a:ln/>
        </p:spPr>
        <p:txBody>
          <a:bodyPr wrap="square" rtlCol="0" anchor="ctr">
            <a:normAutofit/>
          </a:bodyPr>
          <a:lstStyle/>
          <a:p>
            <a:pPr indent="0" marL="0">
              <a:buNone/>
            </a:pPr>
            <a:r>
              <a:rPr lang="en-US" sz="3200" b="1" dirty="0">
                <a:solidFill>
                  <a:srgbClr val="1B2A3A"/>
                </a:solidFill>
                <a:latin typeface="Segoe UI" pitchFamily="34" charset="0"/>
                <a:ea typeface="Segoe UI" pitchFamily="34" charset="-122"/>
                <a:cs typeface="Segoe UI" pitchFamily="34" charset="-120"/>
              </a:rPr>
              <a:t>Avant l’heure</a:t>
            </a:r>
            <a:endParaRPr lang="en-US" sz="3200" dirty="0"/>
          </a:p>
        </p:txBody>
      </p:sp>
      <p:sp>
        <p:nvSpPr>
          <p:cNvPr id="5" name="Text 3"/>
          <p:cNvSpPr/>
          <p:nvPr/>
        </p:nvSpPr>
        <p:spPr>
          <a:xfrm>
            <a:off x="1079473" y="3238500"/>
            <a:ext cx="9524762" cy="889000"/>
          </a:xfrm>
          <a:prstGeom prst="rect">
            <a:avLst/>
          </a:prstGeom>
          <a:noFill/>
          <a:ln/>
        </p:spPr>
        <p:txBody>
          <a:bodyPr wrap="square" rtlCol="0" anchor="t">
            <a:normAutofit/>
          </a:bodyPr>
          <a:lstStyle/>
          <a:p>
            <a:pPr indent="0" marL="0">
              <a:buNone/>
            </a:pPr>
            <a:r>
              <a:rPr lang="en-US" sz="1600" dirty="0">
                <a:solidFill>
                  <a:srgbClr val="465568"/>
                </a:solidFill>
                <a:latin typeface="Segoe UI" pitchFamily="34" charset="0"/>
                <a:ea typeface="Segoe UI" pitchFamily="34" charset="-122"/>
                <a:cs typeface="Segoe UI" pitchFamily="34" charset="-120"/>
              </a:rPr>
              <a:t>Les captures de la séance en direct sont celles des recettes du 05 au 09/10 : toutes les séances sont closes aujourd’hui, l’ouverture et l’apport des parts ne se reproduisent plus.</a:t>
            </a:r>
            <a:endParaRPr lang="en-US" sz="16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07 · La séance d’ouverture · 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SÉANCE · RESPONSABLE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 séance, avant l’heure</a:t>
            </a:r>
            <a:endParaRPr lang="en-US" sz="2600" dirty="0"/>
          </a:p>
        </p:txBody>
      </p:sp>
      <p:sp>
        <p:nvSpPr>
          <p:cNvPr id="4" name="Shape 2"/>
          <p:cNvSpPr/>
          <p:nvPr/>
        </p:nvSpPr>
        <p:spPr>
          <a:xfrm>
            <a:off x="800080" y="1193800"/>
            <a:ext cx="7327717" cy="4589463"/>
          </a:xfrm>
          <a:prstGeom prst="rect">
            <a:avLst/>
          </a:prstGeom>
          <a:solidFill>
            <a:srgbClr val="FCFCFA"/>
          </a:solidFill>
          <a:ln w="9525">
            <a:solidFill>
              <a:srgbClr val="D5DCE4"/>
            </a:solidFill>
            <a:prstDash val="solid"/>
          </a:ln>
        </p:spPr>
      </p:sp>
      <p:pic>
        <p:nvPicPr>
          <p:cNvPr id="5" name="Image 0" descr="La séance, avant l’heure">    </p:cNvPr>
          <p:cNvPicPr>
            <a:picLocks noChangeAspect="1"/>
          </p:cNvPicPr>
          <p:nvPr/>
        </p:nvPicPr>
        <p:blipFill>
          <a:blip r:embed="rId1"/>
          <a:stretch>
            <a:fillRect/>
          </a:stretch>
        </p:blipFill>
        <p:spPr>
          <a:xfrm>
            <a:off x="812780" y="1206500"/>
            <a:ext cx="7302317" cy="4564063"/>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responsable de la procédure.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séance ne s’ouvre qu’</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après la date limite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à l’heure d’ouverture fixée par la fiche : le serveur refuse avant.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 rappel est envoyé la veille, puis une heure avant.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RG-SEA-01 · RG-SEA-02</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07 · La séance d’ouverture · 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SÉANCE · MEMBRE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membre attend l’ouverture</a:t>
            </a:r>
            <a:endParaRPr lang="en-US" sz="2600" dirty="0"/>
          </a:p>
        </p:txBody>
      </p:sp>
      <p:sp>
        <p:nvSpPr>
          <p:cNvPr id="4" name="Shape 2"/>
          <p:cNvSpPr/>
          <p:nvPr/>
        </p:nvSpPr>
        <p:spPr>
          <a:xfrm>
            <a:off x="800080" y="1193800"/>
            <a:ext cx="7327717" cy="4589463"/>
          </a:xfrm>
          <a:prstGeom prst="rect">
            <a:avLst/>
          </a:prstGeom>
          <a:solidFill>
            <a:srgbClr val="FCFCFA"/>
          </a:solidFill>
          <a:ln w="9525">
            <a:solidFill>
              <a:srgbClr val="D5DCE4"/>
            </a:solidFill>
            <a:prstDash val="solid"/>
          </a:ln>
        </p:spPr>
      </p:sp>
      <p:pic>
        <p:nvPicPr>
          <p:cNvPr id="5" name="Image 0" descr="Le membre attend l’ouverture">    </p:cNvPr>
          <p:cNvPicPr>
            <a:picLocks noChangeAspect="1"/>
          </p:cNvPicPr>
          <p:nvPr/>
        </p:nvPicPr>
        <p:blipFill>
          <a:blip r:embed="rId1"/>
          <a:stretch>
            <a:fillRect/>
          </a:stretch>
        </p:blipFill>
        <p:spPr>
          <a:xfrm>
            <a:off x="812780" y="1206500"/>
            <a:ext cx="7302317" cy="4564063"/>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Un membre de la commission d’appel d’offres.</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Il apportera ses parts depuis son espace, avec sa phrase secrète.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RG-SEA-01 · RG-SEA-02</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07 · La séance d’ouverture · 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COMMISSION D’APPEL D’OFFRES · PRÉSIDENT</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 commission et le représentant du président</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a commission et le représentant du président">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président de la commission.</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commission telle que la PRMP l’a désignée : sa décision, ses membres, leur origine et leur fonction.</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président peut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désigner son représentant</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pour un contexte précis (séance d’ouverture, rapport d’évaluation…) : le quorum exige le président ou son représentant ; sans désignation, il est lui-même requis.</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RG-SEA-29 · RG-SEA-30</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07 · La séance d’ouverture · 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3F6"/>
        </a:solidFill>
      </p:bgPr>
    </p:bg>
    <p:spTree>
      <p:nvGrpSpPr>
        <p:cNvPr id="1" name=""/>
        <p:cNvGrpSpPr/>
        <p:nvPr/>
      </p:nvGrpSpPr>
      <p:grpSpPr>
        <a:xfrm>
          <a:off x="0" y="0"/>
          <a:ext cx="0" cy="0"/>
          <a:chOff x="0" y="0"/>
          <a:chExt cx="0" cy="0"/>
        </a:xfrm>
      </p:grpSpPr>
      <p:sp>
        <p:nvSpPr>
          <p:cNvPr id="2" name="Shape 0"/>
          <p:cNvSpPr/>
          <p:nvPr/>
        </p:nvSpPr>
        <p:spPr>
          <a:xfrm>
            <a:off x="812780" y="2413000"/>
            <a:ext cx="63498" cy="1397000"/>
          </a:xfrm>
          <a:prstGeom prst="rect">
            <a:avLst/>
          </a:prstGeom>
          <a:solidFill>
            <a:srgbClr val="E3AE2E"/>
          </a:solidFill>
          <a:ln/>
        </p:spPr>
      </p:sp>
      <p:sp>
        <p:nvSpPr>
          <p:cNvPr id="3" name="Text 1"/>
          <p:cNvSpPr/>
          <p:nvPr/>
        </p:nvSpPr>
        <p:spPr>
          <a:xfrm>
            <a:off x="1079473" y="2413000"/>
            <a:ext cx="9524762"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LA SÉANCE D’OUVERTURE</a:t>
            </a:r>
            <a:endParaRPr lang="en-US" sz="1200" dirty="0"/>
          </a:p>
        </p:txBody>
      </p:sp>
      <p:sp>
        <p:nvSpPr>
          <p:cNvPr id="4" name="Text 2"/>
          <p:cNvSpPr/>
          <p:nvPr/>
        </p:nvSpPr>
        <p:spPr>
          <a:xfrm>
            <a:off x="1079473" y="2667000"/>
            <a:ext cx="10159746" cy="508000"/>
          </a:xfrm>
          <a:prstGeom prst="rect">
            <a:avLst/>
          </a:prstGeom>
          <a:noFill/>
          <a:ln/>
        </p:spPr>
        <p:txBody>
          <a:bodyPr wrap="square" rtlCol="0" anchor="ctr">
            <a:normAutofit/>
          </a:bodyPr>
          <a:lstStyle/>
          <a:p>
            <a:pPr indent="0" marL="0">
              <a:buNone/>
            </a:pPr>
            <a:r>
              <a:rPr lang="en-US" sz="3200" b="1" dirty="0">
                <a:solidFill>
                  <a:srgbClr val="1B2A3A"/>
                </a:solidFill>
                <a:latin typeface="Segoe UI" pitchFamily="34" charset="0"/>
                <a:ea typeface="Segoe UI" pitchFamily="34" charset="-122"/>
                <a:cs typeface="Segoe UI" pitchFamily="34" charset="-120"/>
              </a:rPr>
              <a:t>L’ouverture au quorum des parts</a:t>
            </a:r>
            <a:endParaRPr lang="en-US" sz="3200" dirty="0"/>
          </a:p>
        </p:txBody>
      </p:sp>
      <p:sp>
        <p:nvSpPr>
          <p:cNvPr id="5" name="Text 3"/>
          <p:cNvSpPr/>
          <p:nvPr/>
        </p:nvSpPr>
        <p:spPr>
          <a:xfrm>
            <a:off x="1079473" y="3238500"/>
            <a:ext cx="9524762" cy="889000"/>
          </a:xfrm>
          <a:prstGeom prst="rect">
            <a:avLst/>
          </a:prstGeom>
          <a:noFill/>
          <a:ln/>
        </p:spPr>
        <p:txBody>
          <a:bodyPr wrap="square" rtlCol="0" anchor="t">
            <a:normAutofit/>
          </a:bodyPr>
          <a:lstStyle/>
          <a:p>
            <a:pPr indent="0" marL="0">
              <a:buNone/>
            </a:pPr>
            <a:r>
              <a:rPr lang="en-US" sz="1600" dirty="0">
                <a:solidFill>
                  <a:srgbClr val="465568"/>
                </a:solidFill>
                <a:latin typeface="Segoe UI" pitchFamily="34" charset="0"/>
                <a:ea typeface="Segoe UI" pitchFamily="34" charset="-122"/>
                <a:cs typeface="Segoe UI" pitchFamily="34" charset="-120"/>
              </a:rPr>
              <a:t>Aucune offre ne s’ouvre seule : il faut le nombre de parts fixé à la cérémonie des clés.</a:t>
            </a:r>
            <a:endParaRPr lang="en-US" sz="16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07 · La séance d’ouverture · 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SÉANCE · RESPONSABLE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L’ouverture et les présences</a:t>
            </a:r>
            <a:endParaRPr lang="en-US" sz="2600" dirty="0"/>
          </a:p>
        </p:txBody>
      </p:sp>
      <p:sp>
        <p:nvSpPr>
          <p:cNvPr id="4" name="Shape 2"/>
          <p:cNvSpPr/>
          <p:nvPr/>
        </p:nvSpPr>
        <p:spPr>
          <a:xfrm>
            <a:off x="800080" y="1193800"/>
            <a:ext cx="7327717" cy="4589463"/>
          </a:xfrm>
          <a:prstGeom prst="rect">
            <a:avLst/>
          </a:prstGeom>
          <a:solidFill>
            <a:srgbClr val="FCFCFA"/>
          </a:solidFill>
          <a:ln w="9525">
            <a:solidFill>
              <a:srgbClr val="D5DCE4"/>
            </a:solidFill>
            <a:prstDash val="solid"/>
          </a:ln>
        </p:spPr>
      </p:sp>
      <p:pic>
        <p:nvPicPr>
          <p:cNvPr id="5" name="Image 0" descr="L’ouverture et les présences">    </p:cNvPr>
          <p:cNvPicPr>
            <a:picLocks noChangeAspect="1"/>
          </p:cNvPicPr>
          <p:nvPr/>
        </p:nvPicPr>
        <p:blipFill>
          <a:blip r:embed="rId1"/>
          <a:stretch>
            <a:fillRect/>
          </a:stretch>
        </p:blipFill>
        <p:spPr>
          <a:xfrm>
            <a:off x="812780" y="1206500"/>
            <a:ext cx="7302317" cy="4564063"/>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responsable de la procédure.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responsable ouvre la séance, coche les présents et ajoute les autres présents avec leur qualité.</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RG-SEA-01 · RG-SEA-03</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07 · La séance d’ouverture · 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SÉANCE · MEMBRE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Apporter ses parts</a:t>
            </a:r>
            <a:endParaRPr lang="en-US" sz="2600" dirty="0"/>
          </a:p>
        </p:txBody>
      </p:sp>
      <p:sp>
        <p:nvSpPr>
          <p:cNvPr id="4" name="Shape 2"/>
          <p:cNvSpPr/>
          <p:nvPr/>
        </p:nvSpPr>
        <p:spPr>
          <a:xfrm>
            <a:off x="800080" y="1193800"/>
            <a:ext cx="10591535" cy="1997553"/>
          </a:xfrm>
          <a:prstGeom prst="rect">
            <a:avLst/>
          </a:prstGeom>
          <a:solidFill>
            <a:srgbClr val="FCFCFA"/>
          </a:solidFill>
          <a:ln w="9525">
            <a:solidFill>
              <a:srgbClr val="D5DCE4"/>
            </a:solidFill>
            <a:prstDash val="solid"/>
          </a:ln>
        </p:spPr>
      </p:sp>
      <p:pic>
        <p:nvPicPr>
          <p:cNvPr id="5" name="Image 0" descr="Apporter ses parts">    </p:cNvPr>
          <p:cNvPicPr>
            <a:picLocks noChangeAspect="1"/>
          </p:cNvPicPr>
          <p:nvPr/>
        </p:nvPicPr>
        <p:blipFill>
          <a:blip r:embed="rId1"/>
          <a:stretch>
            <a:fillRect/>
          </a:stretch>
        </p:blipFill>
        <p:spPr>
          <a:xfrm>
            <a:off x="812780" y="1206500"/>
            <a:ext cx="10566136" cy="1972153"/>
          </a:xfrm>
          <a:prstGeom prst="rect">
            <a:avLst/>
          </a:prstGeom>
        </p:spPr>
      </p:pic>
      <p:sp>
        <p:nvSpPr>
          <p:cNvPr id="6" name="Shape 3"/>
          <p:cNvSpPr/>
          <p:nvPr/>
        </p:nvSpPr>
        <p:spPr>
          <a:xfrm>
            <a:off x="812780" y="3331053"/>
            <a:ext cx="10566136" cy="1993900"/>
          </a:xfrm>
          <a:prstGeom prst="rect">
            <a:avLst/>
          </a:prstGeom>
          <a:solidFill>
            <a:srgbClr val="FCFCFA"/>
          </a:solidFill>
          <a:ln w="9525">
            <a:solidFill>
              <a:srgbClr val="D5DCE4"/>
            </a:solidFill>
            <a:prstDash val="solid"/>
          </a:ln>
        </p:spPr>
      </p:sp>
      <p:sp>
        <p:nvSpPr>
          <p:cNvPr id="7" name="Shape 4"/>
          <p:cNvSpPr/>
          <p:nvPr/>
        </p:nvSpPr>
        <p:spPr>
          <a:xfrm>
            <a:off x="812780" y="3331053"/>
            <a:ext cx="38099" cy="1993900"/>
          </a:xfrm>
          <a:prstGeom prst="rect">
            <a:avLst/>
          </a:prstGeom>
          <a:solidFill>
            <a:srgbClr val="1B6FA8"/>
          </a:solidFill>
          <a:ln/>
        </p:spPr>
      </p:sp>
      <p:sp>
        <p:nvSpPr>
          <p:cNvPr id="8" name="Text 5"/>
          <p:cNvSpPr/>
          <p:nvPr/>
        </p:nvSpPr>
        <p:spPr>
          <a:xfrm>
            <a:off x="977876" y="3432653"/>
            <a:ext cx="10274043" cy="18034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membre de la commission.</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Sa phrase déverrouille sa clé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sur son poste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qui déchiffre sa part de chaque offre ; seules ces parts partent vers le serveur.</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RG-SEA-05 · RG-SEA-06</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07 · La séance d’ouverture · 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SÉANCE · MEMBRE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quorum des parts se remplit</a:t>
            </a:r>
            <a:endParaRPr lang="en-US" sz="2600" dirty="0"/>
          </a:p>
        </p:txBody>
      </p:sp>
      <p:sp>
        <p:nvSpPr>
          <p:cNvPr id="4" name="Shape 2"/>
          <p:cNvSpPr/>
          <p:nvPr/>
        </p:nvSpPr>
        <p:spPr>
          <a:xfrm>
            <a:off x="800080" y="1193800"/>
            <a:ext cx="10591535" cy="1065756"/>
          </a:xfrm>
          <a:prstGeom prst="rect">
            <a:avLst/>
          </a:prstGeom>
          <a:solidFill>
            <a:srgbClr val="FCFCFA"/>
          </a:solidFill>
          <a:ln w="9525">
            <a:solidFill>
              <a:srgbClr val="D5DCE4"/>
            </a:solidFill>
            <a:prstDash val="solid"/>
          </a:ln>
        </p:spPr>
      </p:sp>
      <p:pic>
        <p:nvPicPr>
          <p:cNvPr id="5" name="Image 0" descr="Le quorum des parts se remplit">    </p:cNvPr>
          <p:cNvPicPr>
            <a:picLocks noChangeAspect="1"/>
          </p:cNvPicPr>
          <p:nvPr/>
        </p:nvPicPr>
        <p:blipFill>
          <a:blip r:embed="rId1"/>
          <a:stretch>
            <a:fillRect/>
          </a:stretch>
        </p:blipFill>
        <p:spPr>
          <a:xfrm>
            <a:off x="812780" y="1206500"/>
            <a:ext cx="10566136" cy="1040356"/>
          </a:xfrm>
          <a:prstGeom prst="rect">
            <a:avLst/>
          </a:prstGeom>
        </p:spPr>
      </p:pic>
      <p:sp>
        <p:nvSpPr>
          <p:cNvPr id="6" name="Shape 3"/>
          <p:cNvSpPr/>
          <p:nvPr/>
        </p:nvSpPr>
        <p:spPr>
          <a:xfrm>
            <a:off x="812780" y="2399256"/>
            <a:ext cx="10566136" cy="1993900"/>
          </a:xfrm>
          <a:prstGeom prst="rect">
            <a:avLst/>
          </a:prstGeom>
          <a:solidFill>
            <a:srgbClr val="FCFCFA"/>
          </a:solidFill>
          <a:ln w="9525">
            <a:solidFill>
              <a:srgbClr val="D5DCE4"/>
            </a:solidFill>
            <a:prstDash val="solid"/>
          </a:ln>
        </p:spPr>
      </p:sp>
      <p:sp>
        <p:nvSpPr>
          <p:cNvPr id="7" name="Shape 4"/>
          <p:cNvSpPr/>
          <p:nvPr/>
        </p:nvSpPr>
        <p:spPr>
          <a:xfrm>
            <a:off x="812780" y="2399256"/>
            <a:ext cx="38099" cy="1993900"/>
          </a:xfrm>
          <a:prstGeom prst="rect">
            <a:avLst/>
          </a:prstGeom>
          <a:solidFill>
            <a:srgbClr val="1B6FA8"/>
          </a:solidFill>
          <a:ln/>
        </p:spPr>
      </p:sp>
      <p:sp>
        <p:nvSpPr>
          <p:cNvPr id="8" name="Text 5"/>
          <p:cNvSpPr/>
          <p:nvPr/>
        </p:nvSpPr>
        <p:spPr>
          <a:xfrm>
            <a:off x="977876" y="2500856"/>
            <a:ext cx="10274043" cy="18034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membre de la commission.</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 Quorum : 1 / 2 » : les offres s’ouvriront dès que le quorum des parts sera atteint.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 membre absent peut être suppléé par la part de secours, apportée par le dépositaire.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RG-SEA-07 · RG-SEA-08</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07 · La séance d’ouverture · 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SÉANCE · RESPONSABLE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Toutes les offres s’ouvrent ensemble</a:t>
            </a:r>
            <a:endParaRPr lang="en-US" sz="2600" dirty="0"/>
          </a:p>
        </p:txBody>
      </p:sp>
      <p:sp>
        <p:nvSpPr>
          <p:cNvPr id="4" name="Shape 2"/>
          <p:cNvSpPr/>
          <p:nvPr/>
        </p:nvSpPr>
        <p:spPr>
          <a:xfrm>
            <a:off x="800080" y="1193800"/>
            <a:ext cx="7327717" cy="4589463"/>
          </a:xfrm>
          <a:prstGeom prst="rect">
            <a:avLst/>
          </a:prstGeom>
          <a:solidFill>
            <a:srgbClr val="FCFCFA"/>
          </a:solidFill>
          <a:ln w="9525">
            <a:solidFill>
              <a:srgbClr val="D5DCE4"/>
            </a:solidFill>
            <a:prstDash val="solid"/>
          </a:ln>
        </p:spPr>
      </p:sp>
      <p:pic>
        <p:nvPicPr>
          <p:cNvPr id="5" name="Image 0" descr="Toutes les offres s’ouvrent ensemble">    </p:cNvPr>
          <p:cNvPicPr>
            <a:picLocks noChangeAspect="1"/>
          </p:cNvPicPr>
          <p:nvPr/>
        </p:nvPicPr>
        <p:blipFill>
          <a:blip r:embed="rId1"/>
          <a:stretch>
            <a:fillRect/>
          </a:stretch>
        </p:blipFill>
        <p:spPr>
          <a:xfrm>
            <a:off x="812780" y="1206500"/>
            <a:ext cx="7302317" cy="4564063"/>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responsable de la procédure.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Au quorum, chaque offre est vérifiée par son empreinte, déchiffrée et comparée aux pièces attendues.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offres retirées ou remplacées ne s’ouvrent jamais.</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RG-SEA-08 · RG-SEA-10 · RG-SEA-11</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07 · La séance d’ouverture · 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0F3F6"/>
        </a:solidFill>
      </p:bgPr>
    </p:bg>
    <p:spTree>
      <p:nvGrpSpPr>
        <p:cNvPr id="1" name=""/>
        <p:cNvGrpSpPr/>
        <p:nvPr/>
      </p:nvGrpSpPr>
      <p:grpSpPr>
        <a:xfrm>
          <a:off x="0" y="0"/>
          <a:ext cx="0" cy="0"/>
          <a:chOff x="0" y="0"/>
          <a:chExt cx="0" cy="0"/>
        </a:xfrm>
      </p:grpSpPr>
      <p:sp>
        <p:nvSpPr>
          <p:cNvPr id="2" name="Shape 0"/>
          <p:cNvSpPr/>
          <p:nvPr/>
        </p:nvSpPr>
        <p:spPr>
          <a:xfrm>
            <a:off x="812780" y="2413000"/>
            <a:ext cx="63498" cy="1397000"/>
          </a:xfrm>
          <a:prstGeom prst="rect">
            <a:avLst/>
          </a:prstGeom>
          <a:solidFill>
            <a:srgbClr val="E3AE2E"/>
          </a:solidFill>
          <a:ln/>
        </p:spPr>
      </p:sp>
      <p:sp>
        <p:nvSpPr>
          <p:cNvPr id="3" name="Text 1"/>
          <p:cNvSpPr/>
          <p:nvPr/>
        </p:nvSpPr>
        <p:spPr>
          <a:xfrm>
            <a:off x="1079473" y="2413000"/>
            <a:ext cx="9524762"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LA SÉANCE D’OUVERTURE</a:t>
            </a:r>
            <a:endParaRPr lang="en-US" sz="1200" dirty="0"/>
          </a:p>
        </p:txBody>
      </p:sp>
      <p:sp>
        <p:nvSpPr>
          <p:cNvPr id="4" name="Text 2"/>
          <p:cNvSpPr/>
          <p:nvPr/>
        </p:nvSpPr>
        <p:spPr>
          <a:xfrm>
            <a:off x="1079473" y="2667000"/>
            <a:ext cx="10159746" cy="508000"/>
          </a:xfrm>
          <a:prstGeom prst="rect">
            <a:avLst/>
          </a:prstGeom>
          <a:noFill/>
          <a:ln/>
        </p:spPr>
        <p:txBody>
          <a:bodyPr wrap="square" rtlCol="0" anchor="ctr">
            <a:normAutofit/>
          </a:bodyPr>
          <a:lstStyle/>
          <a:p>
            <a:pPr indent="0" marL="0">
              <a:buNone/>
            </a:pPr>
            <a:r>
              <a:rPr lang="en-US" sz="3200" b="1" dirty="0">
                <a:solidFill>
                  <a:srgbClr val="1B2A3A"/>
                </a:solidFill>
                <a:latin typeface="Segoe UI" pitchFamily="34" charset="0"/>
                <a:ea typeface="Segoe UI" pitchFamily="34" charset="-122"/>
                <a:cs typeface="Segoe UI" pitchFamily="34" charset="-120"/>
              </a:rPr>
              <a:t>La lecture des offres</a:t>
            </a:r>
            <a:endParaRPr lang="en-US" sz="3200" dirty="0"/>
          </a:p>
        </p:txBody>
      </p:sp>
      <p:sp>
        <p:nvSpPr>
          <p:cNvPr id="5" name="Text 3"/>
          <p:cNvSpPr/>
          <p:nvPr/>
        </p:nvSpPr>
        <p:spPr>
          <a:xfrm>
            <a:off x="1079473" y="3238500"/>
            <a:ext cx="9524762" cy="889000"/>
          </a:xfrm>
          <a:prstGeom prst="rect">
            <a:avLst/>
          </a:prstGeom>
          <a:noFill/>
          <a:ln/>
        </p:spPr>
        <p:txBody>
          <a:bodyPr wrap="square" rtlCol="0" anchor="t">
            <a:normAutofit/>
          </a:bodyPr>
          <a:lstStyle/>
          <a:p>
            <a:pPr indent="0" marL="0">
              <a:buNone/>
            </a:pPr>
            <a:r>
              <a:rPr lang="en-US" sz="1600" dirty="0">
                <a:solidFill>
                  <a:srgbClr val="465568"/>
                </a:solidFill>
                <a:latin typeface="Segoe UI" pitchFamily="34" charset="0"/>
                <a:ea typeface="Segoe UI" pitchFamily="34" charset="-122"/>
                <a:cs typeface="Segoe UI" pitchFamily="34" charset="-120"/>
              </a:rPr>
              <a:t>L’application lit chaque offre de la même manière ; ce qu’elle relève est une alerte pour la commission, jamais un rejet.</a:t>
            </a:r>
            <a:endParaRPr lang="en-US" sz="16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07 · La séance d’ouverture · 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SÉANCE · MEMBRE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 lecture d’une offre remplie : fournitures</a:t>
            </a:r>
            <a:endParaRPr lang="en-US" sz="2600" dirty="0"/>
          </a:p>
        </p:txBody>
      </p:sp>
      <p:sp>
        <p:nvSpPr>
          <p:cNvPr id="4" name="Shape 2"/>
          <p:cNvSpPr/>
          <p:nvPr/>
        </p:nvSpPr>
        <p:spPr>
          <a:xfrm>
            <a:off x="1687917" y="1193800"/>
            <a:ext cx="8815862" cy="3327400"/>
          </a:xfrm>
          <a:prstGeom prst="rect">
            <a:avLst/>
          </a:prstGeom>
          <a:solidFill>
            <a:srgbClr val="FCFCFA"/>
          </a:solidFill>
          <a:ln w="9525">
            <a:solidFill>
              <a:srgbClr val="D5DCE4"/>
            </a:solidFill>
            <a:prstDash val="solid"/>
          </a:ln>
        </p:spPr>
      </p:sp>
      <p:pic>
        <p:nvPicPr>
          <p:cNvPr id="5" name="Image 0" descr="La lecture d’une offre remplie : fournitures">    </p:cNvPr>
          <p:cNvPicPr>
            <a:picLocks noChangeAspect="1"/>
          </p:cNvPicPr>
          <p:nvPr/>
        </p:nvPicPr>
        <p:blipFill>
          <a:blip r:embed="rId1"/>
          <a:stretch>
            <a:fillRect/>
          </a:stretch>
        </p:blipFill>
        <p:spPr>
          <a:xfrm>
            <a:off x="1700616" y="1206500"/>
            <a:ext cx="8790462" cy="3302000"/>
          </a:xfrm>
          <a:prstGeom prst="rect">
            <a:avLst/>
          </a:prstGeom>
        </p:spPr>
      </p:pic>
      <p:sp>
        <p:nvSpPr>
          <p:cNvPr id="6" name="Shape 3"/>
          <p:cNvSpPr/>
          <p:nvPr/>
        </p:nvSpPr>
        <p:spPr>
          <a:xfrm>
            <a:off x="812780" y="4660900"/>
            <a:ext cx="10566136" cy="1625600"/>
          </a:xfrm>
          <a:prstGeom prst="rect">
            <a:avLst/>
          </a:prstGeom>
          <a:solidFill>
            <a:srgbClr val="FCFCFA"/>
          </a:solidFill>
          <a:ln w="9525">
            <a:solidFill>
              <a:srgbClr val="D5DCE4"/>
            </a:solidFill>
            <a:prstDash val="solid"/>
          </a:ln>
        </p:spPr>
      </p:sp>
      <p:sp>
        <p:nvSpPr>
          <p:cNvPr id="7" name="Shape 4"/>
          <p:cNvSpPr/>
          <p:nvPr/>
        </p:nvSpPr>
        <p:spPr>
          <a:xfrm>
            <a:off x="812780" y="4660900"/>
            <a:ext cx="38099" cy="1625600"/>
          </a:xfrm>
          <a:prstGeom prst="rect">
            <a:avLst/>
          </a:prstGeom>
          <a:solidFill>
            <a:srgbClr val="1B6FA8"/>
          </a:solidFill>
          <a:ln/>
        </p:spPr>
      </p:sp>
      <p:sp>
        <p:nvSpPr>
          <p:cNvPr id="8" name="Text 5"/>
          <p:cNvSpPr/>
          <p:nvPr/>
        </p:nvSpPr>
        <p:spPr>
          <a:xfrm>
            <a:off x="977876" y="4762500"/>
            <a:ext cx="10274043" cy="14351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Les membres de la commission.</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Les totaux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recalculés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par le serveur ; les alertes (non-conformité, livraison hors délai) ; le bordereau et la conformité remplis, en PDF.</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RG-SEA-12 · RG-SEA-13</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07 · La séance d’ouverture · 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SÉANCE · MEMBRE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 lecture d’une offre remplie : travaux</a:t>
            </a:r>
            <a:endParaRPr lang="en-US" sz="2600" dirty="0"/>
          </a:p>
        </p:txBody>
      </p:sp>
      <p:sp>
        <p:nvSpPr>
          <p:cNvPr id="4" name="Shape 2"/>
          <p:cNvSpPr/>
          <p:nvPr/>
        </p:nvSpPr>
        <p:spPr>
          <a:xfrm>
            <a:off x="800080" y="1193800"/>
            <a:ext cx="7327717" cy="4644231"/>
          </a:xfrm>
          <a:prstGeom prst="rect">
            <a:avLst/>
          </a:prstGeom>
          <a:solidFill>
            <a:srgbClr val="FCFCFA"/>
          </a:solidFill>
          <a:ln w="9525">
            <a:solidFill>
              <a:srgbClr val="D5DCE4"/>
            </a:solidFill>
            <a:prstDash val="solid"/>
          </a:ln>
        </p:spPr>
      </p:sp>
      <p:pic>
        <p:nvPicPr>
          <p:cNvPr id="5" name="Image 0" descr="La lecture d’une offre remplie : travaux">    </p:cNvPr>
          <p:cNvPicPr>
            <a:picLocks noChangeAspect="1"/>
          </p:cNvPicPr>
          <p:nvPr/>
        </p:nvPicPr>
        <p:blipFill>
          <a:blip r:embed="rId1"/>
          <a:stretch>
            <a:fillRect/>
          </a:stretch>
        </p:blipFill>
        <p:spPr>
          <a:xfrm>
            <a:off x="812780" y="1206500"/>
            <a:ext cx="7302317" cy="4618831"/>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Les membres de la commission.</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Une offre en défaut : chiffre d’affaires, liquidité, références, personnel, matériel, sous-détail — des alertes, jamais un rejet.</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RG-SEA-12 · RG-SEA-14</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07 · La séance d’ouverture · 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SÉANCE · MEMBRE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frais de dossier, lus en séance</a:t>
            </a:r>
            <a:endParaRPr lang="en-US" sz="2600" dirty="0"/>
          </a:p>
        </p:txBody>
      </p:sp>
      <p:sp>
        <p:nvSpPr>
          <p:cNvPr id="4" name="Shape 2"/>
          <p:cNvSpPr/>
          <p:nvPr/>
        </p:nvSpPr>
        <p:spPr>
          <a:xfrm>
            <a:off x="1731362" y="1193800"/>
            <a:ext cx="8728971" cy="3327400"/>
          </a:xfrm>
          <a:prstGeom prst="rect">
            <a:avLst/>
          </a:prstGeom>
          <a:solidFill>
            <a:srgbClr val="FCFCFA"/>
          </a:solidFill>
          <a:ln w="9525">
            <a:solidFill>
              <a:srgbClr val="D5DCE4"/>
            </a:solidFill>
            <a:prstDash val="solid"/>
          </a:ln>
        </p:spPr>
      </p:sp>
      <p:pic>
        <p:nvPicPr>
          <p:cNvPr id="5" name="Image 0" descr="Les frais de dossier, lus en séance">    </p:cNvPr>
          <p:cNvPicPr>
            <a:picLocks noChangeAspect="1"/>
          </p:cNvPicPr>
          <p:nvPr/>
        </p:nvPicPr>
        <p:blipFill>
          <a:blip r:embed="rId1"/>
          <a:stretch>
            <a:fillRect/>
          </a:stretch>
        </p:blipFill>
        <p:spPr>
          <a:xfrm>
            <a:off x="1744062" y="1206500"/>
            <a:ext cx="8703572" cy="3302000"/>
          </a:xfrm>
          <a:prstGeom prst="rect">
            <a:avLst/>
          </a:prstGeom>
        </p:spPr>
      </p:pic>
      <p:sp>
        <p:nvSpPr>
          <p:cNvPr id="6" name="Shape 3"/>
          <p:cNvSpPr/>
          <p:nvPr/>
        </p:nvSpPr>
        <p:spPr>
          <a:xfrm>
            <a:off x="812780" y="4660900"/>
            <a:ext cx="10566136" cy="1625600"/>
          </a:xfrm>
          <a:prstGeom prst="rect">
            <a:avLst/>
          </a:prstGeom>
          <a:solidFill>
            <a:srgbClr val="FCFCFA"/>
          </a:solidFill>
          <a:ln w="9525">
            <a:solidFill>
              <a:srgbClr val="D5DCE4"/>
            </a:solidFill>
            <a:prstDash val="solid"/>
          </a:ln>
        </p:spPr>
      </p:sp>
      <p:sp>
        <p:nvSpPr>
          <p:cNvPr id="7" name="Shape 4"/>
          <p:cNvSpPr/>
          <p:nvPr/>
        </p:nvSpPr>
        <p:spPr>
          <a:xfrm>
            <a:off x="812780" y="4660900"/>
            <a:ext cx="38099" cy="1625600"/>
          </a:xfrm>
          <a:prstGeom prst="rect">
            <a:avLst/>
          </a:prstGeom>
          <a:solidFill>
            <a:srgbClr val="1B6FA8"/>
          </a:solidFill>
          <a:ln/>
        </p:spPr>
      </p:sp>
      <p:sp>
        <p:nvSpPr>
          <p:cNvPr id="8" name="Text 5"/>
          <p:cNvSpPr/>
          <p:nvPr/>
        </p:nvSpPr>
        <p:spPr>
          <a:xfrm>
            <a:off x="977876" y="4762500"/>
            <a:ext cx="10274043" cy="14351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Les membres de la commission.</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ligne « Frais de dossier » de chaque offre ; sans reçu validé, l’alerte « Frais de dossier non réglés ».</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RG-SEA-16</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07 · La séance d’ouverture · 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SÉANCE · RESPONSABLE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 lecture, projetée</a:t>
            </a:r>
            <a:endParaRPr lang="en-US" sz="2600" dirty="0"/>
          </a:p>
        </p:txBody>
      </p:sp>
      <p:sp>
        <p:nvSpPr>
          <p:cNvPr id="4" name="Shape 2"/>
          <p:cNvSpPr/>
          <p:nvPr/>
        </p:nvSpPr>
        <p:spPr>
          <a:xfrm>
            <a:off x="800080" y="1193800"/>
            <a:ext cx="7327717" cy="4589463"/>
          </a:xfrm>
          <a:prstGeom prst="rect">
            <a:avLst/>
          </a:prstGeom>
          <a:solidFill>
            <a:srgbClr val="FCFCFA"/>
          </a:solidFill>
          <a:ln w="9525">
            <a:solidFill>
              <a:srgbClr val="D5DCE4"/>
            </a:solidFill>
            <a:prstDash val="solid"/>
          </a:ln>
        </p:spPr>
      </p:sp>
      <p:pic>
        <p:nvPicPr>
          <p:cNvPr id="5" name="Image 0" descr="La lecture, projetée">    </p:cNvPr>
          <p:cNvPicPr>
            <a:picLocks noChangeAspect="1"/>
          </p:cNvPicPr>
          <p:nvPr/>
        </p:nvPicPr>
        <p:blipFill>
          <a:blip r:embed="rId1"/>
          <a:stretch>
            <a:fillRect/>
          </a:stretch>
        </p:blipFill>
        <p:spPr>
          <a:xfrm>
            <a:off x="812780" y="1206500"/>
            <a:ext cx="7302317" cy="4564063"/>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responsable de la procédure, pour la salle.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Offre par offre : soumissionnaire, montants, délai, garantie, pièces manquantes, alertes — en grand pour la salle.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RG-SEA-12 · RG-SEA-15 · RG-SEA-17</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07 · La séance d’ouverture · 18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COMMISSION D’APPEL D’OFFRES · MEMBRE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pièces, pour la commission seule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s pièces, pour la commission seul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Un membre de la commission.</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lecture de chaque offre ouverte : NIF et état de sa vérification, montants hors taxes et toutes taxes, délai, validité, rabais, garantie.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Seuls les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membres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ouvrent les pièces : acte d’engagement signé, reçu des frais de dossier, garantie de soumission.</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RG-SEA-12 · RG-SEA-18</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07 · La séance d’ouverture · 19</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SÉANCE · PRMP</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 séance close, vue par la PRMP</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a séance close, vue par la PRMP">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La PRMP, en lecture.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L’heure d’ouverture, le quorum des parts atteint,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part de secours employée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les membres présents et l’observateur de la PRMP ; les quatre offres reçues et leur état.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garantie lue avec son montant et son émetteur :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 Garantie insuffisante »</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pour 800 000 Ar face au minimum de 1 600 000 Ar fixé par la fiche — une alerte, pas un rejet.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Un dossier de marché étant soumis à la Commission, l’étape est close : la séance ne se modifie plus (partie 08).</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RG-SEA-07 · RG-SEA-15 · RG-SEA-18</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07 · La séance d’ouverture · 20</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0F3F6"/>
        </a:solidFill>
      </p:bgPr>
    </p:bg>
    <p:spTree>
      <p:nvGrpSpPr>
        <p:cNvPr id="1" name=""/>
        <p:cNvGrpSpPr/>
        <p:nvPr/>
      </p:nvGrpSpPr>
      <p:grpSpPr>
        <a:xfrm>
          <a:off x="0" y="0"/>
          <a:ext cx="0" cy="0"/>
          <a:chOff x="0" y="0"/>
          <a:chExt cx="0" cy="0"/>
        </a:xfrm>
      </p:grpSpPr>
      <p:sp>
        <p:nvSpPr>
          <p:cNvPr id="2" name="Shape 0"/>
          <p:cNvSpPr/>
          <p:nvPr/>
        </p:nvSpPr>
        <p:spPr>
          <a:xfrm>
            <a:off x="812780" y="2413000"/>
            <a:ext cx="63498" cy="1397000"/>
          </a:xfrm>
          <a:prstGeom prst="rect">
            <a:avLst/>
          </a:prstGeom>
          <a:solidFill>
            <a:srgbClr val="E3AE2E"/>
          </a:solidFill>
          <a:ln/>
        </p:spPr>
      </p:sp>
      <p:sp>
        <p:nvSpPr>
          <p:cNvPr id="3" name="Text 1"/>
          <p:cNvSpPr/>
          <p:nvPr/>
        </p:nvSpPr>
        <p:spPr>
          <a:xfrm>
            <a:off x="1079473" y="2413000"/>
            <a:ext cx="9524762"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LA SÉANCE D’OUVERTURE</a:t>
            </a:r>
            <a:endParaRPr lang="en-US" sz="1200" dirty="0"/>
          </a:p>
        </p:txBody>
      </p:sp>
      <p:sp>
        <p:nvSpPr>
          <p:cNvPr id="4" name="Text 2"/>
          <p:cNvSpPr/>
          <p:nvPr/>
        </p:nvSpPr>
        <p:spPr>
          <a:xfrm>
            <a:off x="1079473" y="2667000"/>
            <a:ext cx="10159746" cy="508000"/>
          </a:xfrm>
          <a:prstGeom prst="rect">
            <a:avLst/>
          </a:prstGeom>
          <a:noFill/>
          <a:ln/>
        </p:spPr>
        <p:txBody>
          <a:bodyPr wrap="square" rtlCol="0" anchor="ctr">
            <a:normAutofit/>
          </a:bodyPr>
          <a:lstStyle/>
          <a:p>
            <a:pPr indent="0" marL="0">
              <a:buNone/>
            </a:pPr>
            <a:r>
              <a:rPr lang="en-US" sz="3200" b="1" dirty="0">
                <a:solidFill>
                  <a:srgbClr val="1B2A3A"/>
                </a:solidFill>
                <a:latin typeface="Segoe UI" pitchFamily="34" charset="0"/>
                <a:ea typeface="Segoe UI" pitchFamily="34" charset="-122"/>
                <a:cs typeface="Segoe UI" pitchFamily="34" charset="-120"/>
              </a:rPr>
              <a:t>Le PV d’ouverture, signé au quorum de la commission</a:t>
            </a:r>
            <a:endParaRPr lang="en-US" sz="3200" dirty="0"/>
          </a:p>
        </p:txBody>
      </p:sp>
      <p:sp>
        <p:nvSpPr>
          <p:cNvPr id="5" name="Text 3"/>
          <p:cNvSpPr/>
          <p:nvPr/>
        </p:nvSpPr>
        <p:spPr>
          <a:xfrm>
            <a:off x="1079473" y="3238500"/>
            <a:ext cx="9524762" cy="889000"/>
          </a:xfrm>
          <a:prstGeom prst="rect">
            <a:avLst/>
          </a:prstGeom>
          <a:noFill/>
          <a:ln/>
        </p:spPr>
        <p:txBody>
          <a:bodyPr wrap="square" rtlCol="0" anchor="t">
            <a:normAutofit/>
          </a:bodyPr>
          <a:lstStyle/>
          <a:p>
            <a:pPr indent="0" marL="0">
              <a:buNone/>
            </a:pPr>
            <a:r>
              <a:rPr lang="en-US" sz="1600" dirty="0">
                <a:solidFill>
                  <a:srgbClr val="465568"/>
                </a:solidFill>
                <a:latin typeface="Segoe UI" pitchFamily="34" charset="0"/>
                <a:ea typeface="Segoe UI" pitchFamily="34" charset="-122"/>
                <a:cs typeface="Segoe UI" pitchFamily="34" charset="-120"/>
              </a:rPr>
              <a:t>Le PV est signé en ligne par chaque membre présent. Depuis le 10/10 (manuel révisé), la séance ne se clôt qu’au quorum de la commission, président ou représentant compris.</a:t>
            </a:r>
            <a:endParaRPr lang="en-US" sz="16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07 · La séance d’ouverture · 21</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SÉANCE · RESPONSABLE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PV d’ouverture, à signer</a:t>
            </a:r>
            <a:endParaRPr lang="en-US" sz="2600" dirty="0"/>
          </a:p>
        </p:txBody>
      </p:sp>
      <p:sp>
        <p:nvSpPr>
          <p:cNvPr id="4" name="Shape 2"/>
          <p:cNvSpPr/>
          <p:nvPr/>
        </p:nvSpPr>
        <p:spPr>
          <a:xfrm>
            <a:off x="800080" y="1193800"/>
            <a:ext cx="7327717" cy="4589463"/>
          </a:xfrm>
          <a:prstGeom prst="rect">
            <a:avLst/>
          </a:prstGeom>
          <a:solidFill>
            <a:srgbClr val="FCFCFA"/>
          </a:solidFill>
          <a:ln w="9525">
            <a:solidFill>
              <a:srgbClr val="D5DCE4"/>
            </a:solidFill>
            <a:prstDash val="solid"/>
          </a:ln>
        </p:spPr>
      </p:sp>
      <p:pic>
        <p:nvPicPr>
          <p:cNvPr id="5" name="Image 0" descr="Le PV d’ouverture, à signer">    </p:cNvPr>
          <p:cNvPicPr>
            <a:picLocks noChangeAspect="1"/>
          </p:cNvPicPr>
          <p:nvPr/>
        </p:nvPicPr>
        <p:blipFill>
          <a:blip r:embed="rId1"/>
          <a:stretch>
            <a:fillRect/>
          </a:stretch>
        </p:blipFill>
        <p:spPr>
          <a:xfrm>
            <a:off x="812780" y="1206500"/>
            <a:ext cx="7302317" cy="4564063"/>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responsable de la procédure.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responsable produit le PV ; il attend la signature de chaque membre présent.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Capture du 09/10 : l’écran porte aujourd’hui, en plus, le quorum de la commission (voir ci-après).</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RG-SEA-20 · RG-SEA-31</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07 · La séance d’ouverture · 22</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SÉANCE · MEMBRE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Signer le PV en ligne</a:t>
            </a:r>
            <a:endParaRPr lang="en-US" sz="2600" dirty="0"/>
          </a:p>
        </p:txBody>
      </p:sp>
      <p:sp>
        <p:nvSpPr>
          <p:cNvPr id="4" name="Shape 2"/>
          <p:cNvSpPr/>
          <p:nvPr/>
        </p:nvSpPr>
        <p:spPr>
          <a:xfrm>
            <a:off x="800080" y="1193800"/>
            <a:ext cx="10591535" cy="1500216"/>
          </a:xfrm>
          <a:prstGeom prst="rect">
            <a:avLst/>
          </a:prstGeom>
          <a:solidFill>
            <a:srgbClr val="FCFCFA"/>
          </a:solidFill>
          <a:ln w="9525">
            <a:solidFill>
              <a:srgbClr val="D5DCE4"/>
            </a:solidFill>
            <a:prstDash val="solid"/>
          </a:ln>
        </p:spPr>
      </p:sp>
      <p:pic>
        <p:nvPicPr>
          <p:cNvPr id="5" name="Image 0" descr="Signer le PV en ligne">    </p:cNvPr>
          <p:cNvPicPr>
            <a:picLocks noChangeAspect="1"/>
          </p:cNvPicPr>
          <p:nvPr/>
        </p:nvPicPr>
        <p:blipFill>
          <a:blip r:embed="rId1"/>
          <a:stretch>
            <a:fillRect/>
          </a:stretch>
        </p:blipFill>
        <p:spPr>
          <a:xfrm>
            <a:off x="812780" y="1206500"/>
            <a:ext cx="10566136" cy="1474816"/>
          </a:xfrm>
          <a:prstGeom prst="rect">
            <a:avLst/>
          </a:prstGeom>
        </p:spPr>
      </p:pic>
      <p:sp>
        <p:nvSpPr>
          <p:cNvPr id="6" name="Shape 3"/>
          <p:cNvSpPr/>
          <p:nvPr/>
        </p:nvSpPr>
        <p:spPr>
          <a:xfrm>
            <a:off x="812780" y="2833716"/>
            <a:ext cx="10566136" cy="1993900"/>
          </a:xfrm>
          <a:prstGeom prst="rect">
            <a:avLst/>
          </a:prstGeom>
          <a:solidFill>
            <a:srgbClr val="FCFCFA"/>
          </a:solidFill>
          <a:ln w="9525">
            <a:solidFill>
              <a:srgbClr val="D5DCE4"/>
            </a:solidFill>
            <a:prstDash val="solid"/>
          </a:ln>
        </p:spPr>
      </p:sp>
      <p:sp>
        <p:nvSpPr>
          <p:cNvPr id="7" name="Shape 4"/>
          <p:cNvSpPr/>
          <p:nvPr/>
        </p:nvSpPr>
        <p:spPr>
          <a:xfrm>
            <a:off x="812780" y="2833716"/>
            <a:ext cx="38099" cy="1993900"/>
          </a:xfrm>
          <a:prstGeom prst="rect">
            <a:avLst/>
          </a:prstGeom>
          <a:solidFill>
            <a:srgbClr val="1B6FA8"/>
          </a:solidFill>
          <a:ln/>
        </p:spPr>
      </p:sp>
      <p:sp>
        <p:nvSpPr>
          <p:cNvPr id="8" name="Text 5"/>
          <p:cNvSpPr/>
          <p:nvPr/>
        </p:nvSpPr>
        <p:spPr>
          <a:xfrm>
            <a:off x="977876" y="2935316"/>
            <a:ext cx="10274043" cy="18034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membre de la commission.</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Relire le PV, puis signer : la signature est horodatée et imprimée au PV.</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président peut constater l’empêchement d’un membre, avec un motif, tant que le quorum reste atteignable.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RG-SEA-21 · RG-SEA-22</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07 · La séance d’ouverture · 23</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PRESTATIONS INTELLECTUELLES · RESPONSABLE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PV signé, quorum atteint</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e PV signé, quorum atteint">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responsable de la procédure.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séance des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enveloppes techniques</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d’une consultation de prestations intellectuelles : les offres sont lues sans aucun montant.</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 </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Quorum atteint</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 2 sur 2 requis (majorité des membres désignés) · président signataire » ; chaque signature électronique datée.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Le PV s’enregistre en PDF ; l’évaluation des offres s’ouvre.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RG-SEA-23 · RG-SEA-27 · RG-SEA-29</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07 · La séance d’ouverture · 24</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PRESTATIONS INTELLECTUELLES · RESPONSABLE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 seconde séance : les enveloppes financières</a:t>
            </a:r>
            <a:endParaRPr lang="en-US" sz="2600" dirty="0"/>
          </a:p>
        </p:txBody>
      </p:sp>
      <p:sp>
        <p:nvSpPr>
          <p:cNvPr id="4" name="Shape 2"/>
          <p:cNvSpPr/>
          <p:nvPr/>
        </p:nvSpPr>
        <p:spPr>
          <a:xfrm>
            <a:off x="2274656" y="1193800"/>
            <a:ext cx="7642382" cy="3327400"/>
          </a:xfrm>
          <a:prstGeom prst="rect">
            <a:avLst/>
          </a:prstGeom>
          <a:solidFill>
            <a:srgbClr val="FCFCFA"/>
          </a:solidFill>
          <a:ln w="9525">
            <a:solidFill>
              <a:srgbClr val="D5DCE4"/>
            </a:solidFill>
            <a:prstDash val="solid"/>
          </a:ln>
        </p:spPr>
      </p:sp>
      <p:pic>
        <p:nvPicPr>
          <p:cNvPr id="5" name="Image 0" descr="La seconde séance : les enveloppes financières">    </p:cNvPr>
          <p:cNvPicPr>
            <a:picLocks noChangeAspect="1"/>
          </p:cNvPicPr>
          <p:nvPr/>
        </p:nvPicPr>
        <p:blipFill>
          <a:blip r:embed="rId1"/>
          <a:stretch>
            <a:fillRect/>
          </a:stretch>
        </p:blipFill>
        <p:spPr>
          <a:xfrm>
            <a:off x="2287356" y="1206500"/>
            <a:ext cx="7616983" cy="3302000"/>
          </a:xfrm>
          <a:prstGeom prst="rect">
            <a:avLst/>
          </a:prstGeom>
        </p:spPr>
      </p:pic>
      <p:sp>
        <p:nvSpPr>
          <p:cNvPr id="6" name="Shape 3"/>
          <p:cNvSpPr/>
          <p:nvPr/>
        </p:nvSpPr>
        <p:spPr>
          <a:xfrm>
            <a:off x="812780" y="4660900"/>
            <a:ext cx="10566136" cy="1625600"/>
          </a:xfrm>
          <a:prstGeom prst="rect">
            <a:avLst/>
          </a:prstGeom>
          <a:solidFill>
            <a:srgbClr val="FCFCFA"/>
          </a:solidFill>
          <a:ln w="9525">
            <a:solidFill>
              <a:srgbClr val="D5DCE4"/>
            </a:solidFill>
            <a:prstDash val="solid"/>
          </a:ln>
        </p:spPr>
      </p:sp>
      <p:sp>
        <p:nvSpPr>
          <p:cNvPr id="7" name="Shape 4"/>
          <p:cNvSpPr/>
          <p:nvPr/>
        </p:nvSpPr>
        <p:spPr>
          <a:xfrm>
            <a:off x="812780" y="4660900"/>
            <a:ext cx="38099" cy="1625600"/>
          </a:xfrm>
          <a:prstGeom prst="rect">
            <a:avLst/>
          </a:prstGeom>
          <a:solidFill>
            <a:srgbClr val="1B6FA8"/>
          </a:solidFill>
          <a:ln/>
        </p:spPr>
      </p:sp>
      <p:sp>
        <p:nvSpPr>
          <p:cNvPr id="8" name="Text 5"/>
          <p:cNvSpPr/>
          <p:nvPr/>
        </p:nvSpPr>
        <p:spPr>
          <a:xfrm>
            <a:off x="977876" y="4762500"/>
            <a:ext cx="10274043" cy="14351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Le responsable de la procédure.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Après l’arrêt de l’évaluation technique, seules s’ouvrent les enveloppes financières des propositions qualifiées, avec les mêmes clés ; les autres restent scellées, avec leur motif.</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Montants lus, présents, observations ; le PV se signe comme celui de la première séance.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RG-SEA-28 · RG-SEA-29</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07 · La séance d’ouverture · 25</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CANDIDAT · PUBLIC</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 procédure publique, après la séance</a:t>
            </a:r>
            <a:endParaRPr lang="en-US" sz="2600" dirty="0"/>
          </a:p>
        </p:txBody>
      </p:sp>
      <p:sp>
        <p:nvSpPr>
          <p:cNvPr id="4" name="Shape 2"/>
          <p:cNvSpPr/>
          <p:nvPr/>
        </p:nvSpPr>
        <p:spPr>
          <a:xfrm>
            <a:off x="800080" y="1193800"/>
            <a:ext cx="7327717" cy="4895255"/>
          </a:xfrm>
          <a:prstGeom prst="rect">
            <a:avLst/>
          </a:prstGeom>
          <a:solidFill>
            <a:srgbClr val="FCFCFA"/>
          </a:solidFill>
          <a:ln w="9525">
            <a:solidFill>
              <a:srgbClr val="D5DCE4"/>
            </a:solidFill>
            <a:prstDash val="solid"/>
          </a:ln>
        </p:spPr>
      </p:sp>
      <p:pic>
        <p:nvPicPr>
          <p:cNvPr id="5" name="Image 0" descr="La procédure publique, après la séance">    </p:cNvPr>
          <p:cNvPicPr>
            <a:picLocks noChangeAspect="1"/>
          </p:cNvPicPr>
          <p:nvPr/>
        </p:nvPicPr>
        <p:blipFill>
          <a:blip r:embed="rId1"/>
          <a:stretch>
            <a:fillRect/>
          </a:stretch>
        </p:blipFill>
        <p:spPr>
          <a:xfrm>
            <a:off x="812780" y="1206500"/>
            <a:ext cx="7302317" cy="4869855"/>
          </a:xfrm>
          <a:prstGeom prst="rect">
            <a:avLst/>
          </a:prstGeom>
        </p:spPr>
      </p:pic>
      <p:sp>
        <p:nvSpPr>
          <p:cNvPr id="6" name="Shape 3"/>
          <p:cNvSpPr/>
          <p:nvPr/>
        </p:nvSpPr>
        <p:spPr>
          <a:xfrm>
            <a:off x="8292893" y="1206500"/>
            <a:ext cx="3086023" cy="5080000"/>
          </a:xfrm>
          <a:prstGeom prst="rect">
            <a:avLst/>
          </a:prstGeom>
          <a:solidFill>
            <a:srgbClr val="FCFCFA"/>
          </a:solidFill>
          <a:ln w="9525">
            <a:solidFill>
              <a:srgbClr val="D5DCE4"/>
            </a:solidFill>
            <a:prstDash val="solid"/>
          </a:ln>
        </p:spPr>
      </p:sp>
      <p:sp>
        <p:nvSpPr>
          <p:cNvPr id="7" name="Shape 4"/>
          <p:cNvSpPr/>
          <p:nvPr/>
        </p:nvSpPr>
        <p:spPr>
          <a:xfrm>
            <a:off x="8292893" y="1206500"/>
            <a:ext cx="38099" cy="5080000"/>
          </a:xfrm>
          <a:prstGeom prst="rect">
            <a:avLst/>
          </a:prstGeom>
          <a:solidFill>
            <a:srgbClr val="1B6FA8"/>
          </a:solidFill>
          <a:ln/>
        </p:spPr>
      </p:sp>
      <p:sp>
        <p:nvSpPr>
          <p:cNvPr id="8" name="Text 5"/>
          <p:cNvSpPr/>
          <p:nvPr/>
        </p:nvSpPr>
        <p:spPr>
          <a:xfrm>
            <a:off x="8457989" y="1308100"/>
            <a:ext cx="2793930" cy="4889500"/>
          </a:xfrm>
          <a:prstGeom prst="rect">
            <a:avLst/>
          </a:prstGeom>
          <a:noFill/>
          <a:ln/>
        </p:spPr>
        <p:txBody>
          <a:bodyPr wrap="square" rtlCol="0" anchor="t">
            <a:normAutofit/>
          </a:bodyPr>
          <a:lstStyle/>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QUI</a:t>
            </a:r>
            <a:endParaRPr lang="en-US" sz="1050" dirty="0"/>
          </a:p>
          <a:p>
            <a:pPr indent="0" marL="0">
              <a:spcAft>
                <a:spcPts val="300"/>
              </a:spcAft>
              <a:buNone/>
            </a:pPr>
            <a:r>
              <a:rPr lang="en-US" sz="1250" dirty="0">
                <a:solidFill>
                  <a:srgbClr val="1B2A3A"/>
                </a:solidFill>
                <a:latin typeface="Segoe UI" pitchFamily="34" charset="0"/>
                <a:ea typeface="Segoe UI" pitchFamily="34" charset="-122"/>
                <a:cs typeface="Segoe UI" pitchFamily="34" charset="-120"/>
              </a:rPr>
              <a:t>Toute entreprise, sans compte.</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CE QUI SE PASSE</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La procédure passe à « close » : les dépôts sont clos.</a:t>
            </a:r>
            <a:endParaRPr lang="en-US" sz="1050" dirty="0"/>
          </a:p>
          <a:p>
            <a:pPr marL="152400" indent="-152400">
              <a:spcAft>
                <a:spcPts val="300"/>
              </a:spcAft>
              <a:buSzPct val="100000"/>
              <a:buChar char="•"/>
            </a:pPr>
            <a:r>
              <a:rPr lang="en-US" sz="1200" dirty="0">
                <a:solidFill>
                  <a:srgbClr val="1B2A3A"/>
                </a:solidFill>
                <a:latin typeface="Segoe UI" pitchFamily="34" charset="0"/>
                <a:ea typeface="Segoe UI" pitchFamily="34" charset="-122"/>
                <a:cs typeface="Segoe UI" pitchFamily="34" charset="-120"/>
              </a:rPr>
              <a:t>Quand la fiche le prévoit, l’</a:t>
            </a:r>
            <a:pPr indent="0" marL="0">
              <a:spcAft>
                <a:spcPts val="300"/>
              </a:spcAft>
              <a:buNone/>
            </a:pPr>
            <a:r>
              <a:rPr lang="en-US" sz="1200" b="1" dirty="0">
                <a:solidFill>
                  <a:srgbClr val="1B2A3A"/>
                </a:solidFill>
                <a:latin typeface="Segoe UI" pitchFamily="34" charset="0"/>
                <a:ea typeface="Segoe UI" pitchFamily="34" charset="-122"/>
                <a:cs typeface="Segoe UI" pitchFamily="34" charset="-120"/>
              </a:rPr>
              <a:t>extrait du PV d’ouverture</a:t>
            </a:r>
            <a:pPr indent="0" marL="0">
              <a:spcAft>
                <a:spcPts val="300"/>
              </a:spcAft>
              <a:buNone/>
            </a:pPr>
            <a:r>
              <a:rPr lang="en-US" sz="1200" dirty="0">
                <a:solidFill>
                  <a:srgbClr val="1B2A3A"/>
                </a:solidFill>
                <a:latin typeface="Segoe UI" pitchFamily="34" charset="0"/>
                <a:ea typeface="Segoe UI" pitchFamily="34" charset="-122"/>
                <a:cs typeface="Segoe UI" pitchFamily="34" charset="-120"/>
              </a:rPr>
              <a:t> (sans les alertes) se lit ici dès la dernière signature, puis le résultat de l’appel d’offres.</a:t>
            </a:r>
            <a:endParaRPr lang="en-US" sz="1050" dirty="0"/>
          </a:p>
          <a:p>
            <a:pPr indent="0" marL="0">
              <a:spcAft>
                <a:spcPts val="300"/>
              </a:spcAft>
              <a:buNone/>
            </a:pPr>
            <a:r>
              <a:rPr lang="en-US" sz="500" dirty="0">
                <a:solidFill>
                  <a:srgbClr val="000000"/>
                </a:solidFill>
                <a:latin typeface="Segoe UI" pitchFamily="34" charset="0"/>
                <a:ea typeface="Segoe UI" pitchFamily="34" charset="-122"/>
                <a:cs typeface="Segoe UI" pitchFamily="34" charset="-120"/>
              </a:rPr>
              <a:t> </a:t>
            </a:r>
            <a:endParaRPr lang="en-US" sz="1050" dirty="0"/>
          </a:p>
          <a:p>
            <a:pPr indent="0" marL="0">
              <a:spcAft>
                <a:spcPts val="300"/>
              </a:spcAft>
              <a:buNone/>
            </a:pPr>
            <a:r>
              <a:rPr lang="en-US" sz="1050" b="1" spc="150" kern="0" dirty="0">
                <a:solidFill>
                  <a:srgbClr val="1B6FA8"/>
                </a:solidFill>
                <a:latin typeface="Segoe UI" pitchFamily="34" charset="0"/>
                <a:ea typeface="Segoe UI" pitchFamily="34" charset="-122"/>
                <a:cs typeface="Segoe UI" pitchFamily="34" charset="-120"/>
              </a:rPr>
              <a:t>RÈGLES APPLIQUÉES (annexe A)</a:t>
            </a:r>
            <a:endParaRPr lang="en-US" sz="1050" dirty="0"/>
          </a:p>
          <a:p>
            <a:pPr indent="0" marL="0">
              <a:spcAft>
                <a:spcPts val="300"/>
              </a:spcAft>
              <a:buNone/>
            </a:pPr>
            <a:r>
              <a:rPr lang="en-US" sz="1100" b="1" dirty="0">
                <a:solidFill>
                  <a:srgbClr val="12324A"/>
                </a:solidFill>
                <a:latin typeface="Consolas" pitchFamily="34" charset="0"/>
                <a:ea typeface="Consolas" pitchFamily="34" charset="-122"/>
                <a:cs typeface="Consolas" pitchFamily="34" charset="-120"/>
              </a:rPr>
              <a:t>RG-SEA-23 · RG-SEA-24</a:t>
            </a:r>
            <a:endParaRPr lang="en-US" sz="1050" dirty="0"/>
          </a:p>
        </p:txBody>
      </p:sp>
      <p:sp>
        <p:nvSpPr>
          <p:cNvPr id="10" name="Text 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07 · La séance d’ouverture · 26</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LA SÉANCE D’OUVERTURE · EN RÉSUMÉ</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Ce que l’application garantit</a:t>
            </a:r>
            <a:endParaRPr lang="en-US" sz="2600" dirty="0"/>
          </a:p>
        </p:txBody>
      </p:sp>
      <p:sp>
        <p:nvSpPr>
          <p:cNvPr id="4" name="Shape 2"/>
          <p:cNvSpPr/>
          <p:nvPr/>
        </p:nvSpPr>
        <p:spPr>
          <a:xfrm>
            <a:off x="812780" y="1206500"/>
            <a:ext cx="3420448" cy="2159000"/>
          </a:xfrm>
          <a:prstGeom prst="rect">
            <a:avLst/>
          </a:prstGeom>
          <a:solidFill>
            <a:srgbClr val="FCFCFA"/>
          </a:solidFill>
          <a:ln w="9525">
            <a:solidFill>
              <a:srgbClr val="D5DCE4"/>
            </a:solidFill>
            <a:prstDash val="solid"/>
          </a:ln>
        </p:spPr>
      </p:sp>
      <p:sp>
        <p:nvSpPr>
          <p:cNvPr id="5" name="Shape 3"/>
          <p:cNvSpPr/>
          <p:nvPr/>
        </p:nvSpPr>
        <p:spPr>
          <a:xfrm>
            <a:off x="812780" y="1206500"/>
            <a:ext cx="3420448" cy="38100"/>
          </a:xfrm>
          <a:prstGeom prst="rect">
            <a:avLst/>
          </a:prstGeom>
          <a:solidFill>
            <a:srgbClr val="1B6FA8"/>
          </a:solidFill>
          <a:ln/>
        </p:spPr>
      </p:sp>
      <p:sp>
        <p:nvSpPr>
          <p:cNvPr id="6" name="Text 4"/>
          <p:cNvSpPr/>
          <p:nvPr/>
        </p:nvSpPr>
        <p:spPr>
          <a:xfrm>
            <a:off x="952476" y="1308100"/>
            <a:ext cx="3141055" cy="24765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Pas d’ouverture avant l’heure</a:t>
            </a:r>
            <a:endParaRPr lang="en-US" sz="1500" dirty="0"/>
          </a:p>
        </p:txBody>
      </p:sp>
      <p:sp>
        <p:nvSpPr>
          <p:cNvPr id="7" name="Text 5"/>
          <p:cNvSpPr/>
          <p:nvPr/>
        </p:nvSpPr>
        <p:spPr>
          <a:xfrm>
            <a:off x="952476" y="1593850"/>
            <a:ext cx="3141055" cy="170815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Avant l’heure d’ouverture et la date limite, personne ne reçoit rien, pas même les parts chiffrées.</a:t>
            </a:r>
            <a:endParaRPr lang="en-US" sz="1200" dirty="0"/>
          </a:p>
        </p:txBody>
      </p:sp>
      <p:sp>
        <p:nvSpPr>
          <p:cNvPr id="8" name="Shape 6"/>
          <p:cNvSpPr/>
          <p:nvPr/>
        </p:nvSpPr>
        <p:spPr>
          <a:xfrm>
            <a:off x="4385624" y="1206500"/>
            <a:ext cx="3420448" cy="2159000"/>
          </a:xfrm>
          <a:prstGeom prst="rect">
            <a:avLst/>
          </a:prstGeom>
          <a:solidFill>
            <a:srgbClr val="FCFCFA"/>
          </a:solidFill>
          <a:ln w="9525">
            <a:solidFill>
              <a:srgbClr val="D5DCE4"/>
            </a:solidFill>
            <a:prstDash val="solid"/>
          </a:ln>
        </p:spPr>
      </p:sp>
      <p:sp>
        <p:nvSpPr>
          <p:cNvPr id="9" name="Shape 7"/>
          <p:cNvSpPr/>
          <p:nvPr/>
        </p:nvSpPr>
        <p:spPr>
          <a:xfrm>
            <a:off x="4385624" y="1206500"/>
            <a:ext cx="3420448" cy="38100"/>
          </a:xfrm>
          <a:prstGeom prst="rect">
            <a:avLst/>
          </a:prstGeom>
          <a:solidFill>
            <a:srgbClr val="2E8B57"/>
          </a:solidFill>
          <a:ln/>
        </p:spPr>
      </p:sp>
      <p:sp>
        <p:nvSpPr>
          <p:cNvPr id="10" name="Text 8"/>
          <p:cNvSpPr/>
          <p:nvPr/>
        </p:nvSpPr>
        <p:spPr>
          <a:xfrm>
            <a:off x="4525320" y="1308100"/>
            <a:ext cx="3141055" cy="24765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Toutes ensemble, ou aucune</a:t>
            </a:r>
            <a:endParaRPr lang="en-US" sz="1500" dirty="0"/>
          </a:p>
        </p:txBody>
      </p:sp>
      <p:sp>
        <p:nvSpPr>
          <p:cNvPr id="11" name="Text 9"/>
          <p:cNvSpPr/>
          <p:nvPr/>
        </p:nvSpPr>
        <p:spPr>
          <a:xfrm>
            <a:off x="4525320" y="1593850"/>
            <a:ext cx="3141055" cy="170815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Au quorum des parts de clé, toutes les offres s’ouvrent dans un même geste ; aucune ne s’ouvre avant les autres.</a:t>
            </a:r>
            <a:endParaRPr lang="en-US" sz="1200" dirty="0"/>
          </a:p>
        </p:txBody>
      </p:sp>
      <p:sp>
        <p:nvSpPr>
          <p:cNvPr id="12" name="Shape 10"/>
          <p:cNvSpPr/>
          <p:nvPr/>
        </p:nvSpPr>
        <p:spPr>
          <a:xfrm>
            <a:off x="7958468" y="1206500"/>
            <a:ext cx="3420448" cy="2159000"/>
          </a:xfrm>
          <a:prstGeom prst="rect">
            <a:avLst/>
          </a:prstGeom>
          <a:solidFill>
            <a:srgbClr val="FCFCFA"/>
          </a:solidFill>
          <a:ln w="9525">
            <a:solidFill>
              <a:srgbClr val="D5DCE4"/>
            </a:solidFill>
            <a:prstDash val="solid"/>
          </a:ln>
        </p:spPr>
      </p:sp>
      <p:sp>
        <p:nvSpPr>
          <p:cNvPr id="13" name="Shape 11"/>
          <p:cNvSpPr/>
          <p:nvPr/>
        </p:nvSpPr>
        <p:spPr>
          <a:xfrm>
            <a:off x="7958468" y="1206500"/>
            <a:ext cx="3420448" cy="38100"/>
          </a:xfrm>
          <a:prstGeom prst="rect">
            <a:avLst/>
          </a:prstGeom>
          <a:solidFill>
            <a:srgbClr val="E3AE2E"/>
          </a:solidFill>
          <a:ln/>
        </p:spPr>
      </p:sp>
      <p:sp>
        <p:nvSpPr>
          <p:cNvPr id="14" name="Text 12"/>
          <p:cNvSpPr/>
          <p:nvPr/>
        </p:nvSpPr>
        <p:spPr>
          <a:xfrm>
            <a:off x="8098164" y="1308100"/>
            <a:ext cx="3141055" cy="24765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L’intégrité vérifiée</a:t>
            </a:r>
            <a:endParaRPr lang="en-US" sz="1500" dirty="0"/>
          </a:p>
        </p:txBody>
      </p:sp>
      <p:sp>
        <p:nvSpPr>
          <p:cNvPr id="15" name="Text 13"/>
          <p:cNvSpPr/>
          <p:nvPr/>
        </p:nvSpPr>
        <p:spPr>
          <a:xfrm>
            <a:off x="8098164" y="1593850"/>
            <a:ext cx="3141055" cy="170815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L’empreinte de chaque offre est recalculée ; une offre altérée est signalée, une offre retirée ou remplacée ne s’ouvre jamais.</a:t>
            </a:r>
            <a:endParaRPr lang="en-US" sz="1200" dirty="0"/>
          </a:p>
        </p:txBody>
      </p:sp>
      <p:sp>
        <p:nvSpPr>
          <p:cNvPr id="16" name="Shape 14"/>
          <p:cNvSpPr/>
          <p:nvPr/>
        </p:nvSpPr>
        <p:spPr>
          <a:xfrm>
            <a:off x="812780" y="3517900"/>
            <a:ext cx="3420448" cy="2159000"/>
          </a:xfrm>
          <a:prstGeom prst="rect">
            <a:avLst/>
          </a:prstGeom>
          <a:solidFill>
            <a:srgbClr val="FCFCFA"/>
          </a:solidFill>
          <a:ln w="9525">
            <a:solidFill>
              <a:srgbClr val="D5DCE4"/>
            </a:solidFill>
            <a:prstDash val="solid"/>
          </a:ln>
        </p:spPr>
      </p:sp>
      <p:sp>
        <p:nvSpPr>
          <p:cNvPr id="17" name="Shape 15"/>
          <p:cNvSpPr/>
          <p:nvPr/>
        </p:nvSpPr>
        <p:spPr>
          <a:xfrm>
            <a:off x="812780" y="3517900"/>
            <a:ext cx="3420448" cy="38100"/>
          </a:xfrm>
          <a:prstGeom prst="rect">
            <a:avLst/>
          </a:prstGeom>
          <a:solidFill>
            <a:srgbClr val="12324A"/>
          </a:solidFill>
          <a:ln/>
        </p:spPr>
      </p:sp>
      <p:sp>
        <p:nvSpPr>
          <p:cNvPr id="18" name="Text 16"/>
          <p:cNvSpPr/>
          <p:nvPr/>
        </p:nvSpPr>
        <p:spPr>
          <a:xfrm>
            <a:off x="952476" y="3619500"/>
            <a:ext cx="3141055" cy="4191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Une lecture identique pour tous</a:t>
            </a:r>
            <a:endParaRPr lang="en-US" sz="1500" dirty="0"/>
          </a:p>
        </p:txBody>
      </p:sp>
      <p:sp>
        <p:nvSpPr>
          <p:cNvPr id="19" name="Text 17"/>
          <p:cNvSpPr/>
          <p:nvPr/>
        </p:nvSpPr>
        <p:spPr>
          <a:xfrm>
            <a:off x="952476" y="4076700"/>
            <a:ext cx="3141055" cy="153670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Montants recalculés, garantie, frais, pièces : relevés par l’application, en alertes pour la commission, jamais en rejet.</a:t>
            </a:r>
            <a:endParaRPr lang="en-US" sz="1200" dirty="0"/>
          </a:p>
        </p:txBody>
      </p:sp>
      <p:sp>
        <p:nvSpPr>
          <p:cNvPr id="20" name="Shape 18"/>
          <p:cNvSpPr/>
          <p:nvPr/>
        </p:nvSpPr>
        <p:spPr>
          <a:xfrm>
            <a:off x="4385624" y="3517900"/>
            <a:ext cx="3420448" cy="2159000"/>
          </a:xfrm>
          <a:prstGeom prst="rect">
            <a:avLst/>
          </a:prstGeom>
          <a:solidFill>
            <a:srgbClr val="FCFCFA"/>
          </a:solidFill>
          <a:ln w="9525">
            <a:solidFill>
              <a:srgbClr val="D5DCE4"/>
            </a:solidFill>
            <a:prstDash val="solid"/>
          </a:ln>
        </p:spPr>
      </p:sp>
      <p:sp>
        <p:nvSpPr>
          <p:cNvPr id="21" name="Shape 19"/>
          <p:cNvSpPr/>
          <p:nvPr/>
        </p:nvSpPr>
        <p:spPr>
          <a:xfrm>
            <a:off x="4385624" y="3517900"/>
            <a:ext cx="3420448" cy="38100"/>
          </a:xfrm>
          <a:prstGeom prst="rect">
            <a:avLst/>
          </a:prstGeom>
          <a:solidFill>
            <a:srgbClr val="1B6FA8"/>
          </a:solidFill>
          <a:ln/>
        </p:spPr>
      </p:sp>
      <p:sp>
        <p:nvSpPr>
          <p:cNvPr id="22" name="Text 20"/>
          <p:cNvSpPr/>
          <p:nvPr/>
        </p:nvSpPr>
        <p:spPr>
          <a:xfrm>
            <a:off x="4525320" y="3619500"/>
            <a:ext cx="3141055" cy="4191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Les pièces réservées à la commission</a:t>
            </a:r>
            <a:endParaRPr lang="en-US" sz="1500" dirty="0"/>
          </a:p>
        </p:txBody>
      </p:sp>
      <p:sp>
        <p:nvSpPr>
          <p:cNvPr id="23" name="Text 21"/>
          <p:cNvSpPr/>
          <p:nvPr/>
        </p:nvSpPr>
        <p:spPr>
          <a:xfrm>
            <a:off x="4525320" y="4076700"/>
            <a:ext cx="3141055" cy="153670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Seuls les membres ouvrent les pièces ; la PRMP et le responsable lisent ce qui est lu en séance.</a:t>
            </a:r>
            <a:endParaRPr lang="en-US" sz="1200" dirty="0"/>
          </a:p>
        </p:txBody>
      </p:sp>
      <p:sp>
        <p:nvSpPr>
          <p:cNvPr id="24" name="Shape 22"/>
          <p:cNvSpPr/>
          <p:nvPr/>
        </p:nvSpPr>
        <p:spPr>
          <a:xfrm>
            <a:off x="7958468" y="3517900"/>
            <a:ext cx="3420448" cy="2159000"/>
          </a:xfrm>
          <a:prstGeom prst="rect">
            <a:avLst/>
          </a:prstGeom>
          <a:solidFill>
            <a:srgbClr val="FCFCFA"/>
          </a:solidFill>
          <a:ln w="9525">
            <a:solidFill>
              <a:srgbClr val="D5DCE4"/>
            </a:solidFill>
            <a:prstDash val="solid"/>
          </a:ln>
        </p:spPr>
      </p:sp>
      <p:sp>
        <p:nvSpPr>
          <p:cNvPr id="25" name="Shape 23"/>
          <p:cNvSpPr/>
          <p:nvPr/>
        </p:nvSpPr>
        <p:spPr>
          <a:xfrm>
            <a:off x="7958468" y="3517900"/>
            <a:ext cx="3420448" cy="38100"/>
          </a:xfrm>
          <a:prstGeom prst="rect">
            <a:avLst/>
          </a:prstGeom>
          <a:solidFill>
            <a:srgbClr val="2E8B57"/>
          </a:solidFill>
          <a:ln/>
        </p:spPr>
      </p:sp>
      <p:sp>
        <p:nvSpPr>
          <p:cNvPr id="26" name="Text 24"/>
          <p:cNvSpPr/>
          <p:nvPr/>
        </p:nvSpPr>
        <p:spPr>
          <a:xfrm>
            <a:off x="8098164" y="3619500"/>
            <a:ext cx="3141055" cy="419100"/>
          </a:xfrm>
          <a:prstGeom prst="rect">
            <a:avLst/>
          </a:prstGeom>
          <a:noFill/>
          <a:ln/>
        </p:spPr>
        <p:txBody>
          <a:bodyPr wrap="square" rtlCol="0" anchor="t">
            <a:normAutofit/>
          </a:bodyPr>
          <a:lstStyle/>
          <a:p>
            <a:pPr indent="0" marL="0">
              <a:buNone/>
            </a:pPr>
            <a:r>
              <a:rPr lang="en-US" sz="1500" b="1" dirty="0">
                <a:solidFill>
                  <a:srgbClr val="1B2A3A"/>
                </a:solidFill>
                <a:latin typeface="Segoe UI" pitchFamily="34" charset="0"/>
                <a:ea typeface="Segoe UI" pitchFamily="34" charset="-122"/>
                <a:cs typeface="Segoe UI" pitchFamily="34" charset="-120"/>
              </a:rPr>
              <a:t>Un PV au quorum de la commission</a:t>
            </a:r>
            <a:endParaRPr lang="en-US" sz="1500" dirty="0"/>
          </a:p>
        </p:txBody>
      </p:sp>
      <p:sp>
        <p:nvSpPr>
          <p:cNvPr id="27" name="Text 25"/>
          <p:cNvSpPr/>
          <p:nvPr/>
        </p:nvSpPr>
        <p:spPr>
          <a:xfrm>
            <a:off x="8098164" y="4076700"/>
            <a:ext cx="3141055" cy="1536700"/>
          </a:xfrm>
          <a:prstGeom prst="rect">
            <a:avLst/>
          </a:prstGeom>
          <a:noFill/>
          <a:ln/>
        </p:spPr>
        <p:txBody>
          <a:bodyPr wrap="square" rtlCol="0" anchor="t">
            <a:normAutofit/>
          </a:bodyPr>
          <a:lstStyle/>
          <a:p>
            <a:pPr indent="0" marL="0">
              <a:buNone/>
            </a:pPr>
            <a:r>
              <a:rPr lang="en-US" sz="1200" dirty="0">
                <a:solidFill>
                  <a:srgbClr val="465568"/>
                </a:solidFill>
                <a:latin typeface="Segoe UI" pitchFamily="34" charset="0"/>
                <a:ea typeface="Segoe UI" pitchFamily="34" charset="-122"/>
                <a:cs typeface="Segoe UI" pitchFamily="34" charset="-120"/>
              </a:rPr>
              <a:t>Signatures électroniques datées, empêchements motivés, quorum constaté imprimé au PV ; extrait publié à la dernière signature.</a:t>
            </a:r>
            <a:endParaRPr lang="en-US" sz="1200" dirty="0"/>
          </a:p>
        </p:txBody>
      </p:sp>
      <p:sp>
        <p:nvSpPr>
          <p:cNvPr id="28" name="Text 26"/>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07 · La séance d’ouverture · 27</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LA SÉANCE D’OUVERTURE · RECETTE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points d’attention de l’étape</a:t>
            </a:r>
            <a:endParaRPr lang="en-US" sz="2600" dirty="0"/>
          </a:p>
        </p:txBody>
      </p:sp>
      <p:sp>
        <p:nvSpPr>
          <p:cNvPr id="4" name="Text 2"/>
          <p:cNvSpPr/>
          <p:nvPr/>
        </p:nvSpPr>
        <p:spPr>
          <a:xfrm>
            <a:off x="812780" y="1066800"/>
            <a:ext cx="10413740" cy="508000"/>
          </a:xfrm>
          <a:prstGeom prst="rect">
            <a:avLst/>
          </a:prstGeom>
          <a:noFill/>
          <a:ln/>
        </p:spPr>
        <p:txBody>
          <a:bodyPr wrap="square" rtlCol="0" anchor="t">
            <a:normAutofit/>
          </a:bodyPr>
          <a:lstStyle/>
          <a:p>
            <a:pPr indent="0" marL="0">
              <a:buNone/>
            </a:pPr>
            <a:r>
              <a:rPr lang="en-US" sz="1300" dirty="0">
                <a:solidFill>
                  <a:srgbClr val="465568"/>
                </a:solidFill>
                <a:latin typeface="Segoe UI" pitchFamily="34" charset="0"/>
                <a:ea typeface="Segoe UI" pitchFamily="34" charset="-122"/>
                <a:cs typeface="Segoe UI" pitchFamily="34" charset="-120"/>
              </a:rPr>
              <a:t>Relevés pendant la refonte de la présentation (14/10) : « Confirmée » = constatée sur l’écran capturé ; « Expliquée » = effet des données de recette ; « À examiner » = cause à établir.</a:t>
            </a:r>
            <a:endParaRPr lang="en-US" sz="13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93324" y="1651000"/>
          <a:ext cx="11430000" cy="914400"/>
        </p:xfrm>
        <a:graphic>
          <a:graphicData uri="http://schemas.openxmlformats.org/drawingml/2006/table">
            <a:tbl>
              <a:tblPr/>
              <a:tblGrid>
                <a:gridCol w="2468880"/>
                <a:gridCol w="6309360"/>
                <a:gridCol w="1188720"/>
                <a:gridCol w="14630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Écran</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Constat</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Statut</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Piste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07 · Séance (procédure 44)</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PV « signé » mais « Quorum non atteint, 1 sur 2 » : PV du 05/10, antérieur à la règle du quorum (10/10), second membre empêché.</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2E8B57"/>
                          </a:solidFill>
                          <a:latin typeface="Segoe UI" pitchFamily="34" charset="0"/>
                          <a:ea typeface="Segoe UI" pitchFamily="34" charset="-122"/>
                          <a:cs typeface="Segoe UI" pitchFamily="34" charset="-120"/>
                        </a:rPr>
                        <a:t>Expliquée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465568"/>
                          </a:solidFill>
                          <a:latin typeface="Segoe UI" pitchFamily="34" charset="0"/>
                          <a:ea typeface="Segoe UI" pitchFamily="34" charset="-122"/>
                          <a:cs typeface="Segoe UI" pitchFamily="34" charset="-120"/>
                        </a:rPr>
                        <a:t>Données</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6" name="Text 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07 · La séance d’ouverture · 28</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2324A"/>
        </a:solidFill>
      </p:bgPr>
    </p:bg>
    <p:spTree>
      <p:nvGrpSpPr>
        <p:cNvPr id="1" name=""/>
        <p:cNvGrpSpPr/>
        <p:nvPr/>
      </p:nvGrpSpPr>
      <p:grpSpPr>
        <a:xfrm>
          <a:off x="0" y="0"/>
          <a:ext cx="0" cy="0"/>
          <a:chOff x="0" y="0"/>
          <a:chExt cx="0" cy="0"/>
        </a:xfrm>
      </p:grpSpPr>
      <p:sp>
        <p:nvSpPr>
          <p:cNvPr id="2" name="Shape 0"/>
          <p:cNvSpPr/>
          <p:nvPr/>
        </p:nvSpPr>
        <p:spPr>
          <a:xfrm>
            <a:off x="0" y="0"/>
            <a:ext cx="152396" cy="6858000"/>
          </a:xfrm>
          <a:prstGeom prst="rect">
            <a:avLst/>
          </a:prstGeom>
          <a:solidFill>
            <a:srgbClr val="E3AE2E"/>
          </a:solidFill>
          <a:ln w="12700">
            <a:solidFill>
              <a:srgbClr val="E3AE2E"/>
            </a:solidFill>
            <a:prstDash val="solid"/>
          </a:ln>
        </p:spPr>
      </p:sp>
      <p:sp>
        <p:nvSpPr>
          <p:cNvPr id="3" name="Text 1"/>
          <p:cNvSpPr/>
          <p:nvPr/>
        </p:nvSpPr>
        <p:spPr>
          <a:xfrm>
            <a:off x="812780" y="698500"/>
            <a:ext cx="3809905" cy="952500"/>
          </a:xfrm>
          <a:prstGeom prst="rect">
            <a:avLst/>
          </a:prstGeom>
          <a:noFill/>
          <a:ln/>
        </p:spPr>
        <p:txBody>
          <a:bodyPr wrap="square" rtlCol="0" anchor="ctr"/>
          <a:lstStyle/>
          <a:p>
            <a:pPr indent="0" marL="0">
              <a:buNone/>
            </a:pPr>
            <a:r>
              <a:rPr lang="en-US" sz="7200" b="1" dirty="0">
                <a:solidFill>
                  <a:srgbClr val="E3AE2E"/>
                </a:solidFill>
                <a:latin typeface="Segoe UI" pitchFamily="34" charset="0"/>
                <a:ea typeface="Segoe UI" pitchFamily="34" charset="-122"/>
                <a:cs typeface="Segoe UI" pitchFamily="34" charset="-120"/>
              </a:rPr>
              <a:t>A</a:t>
            </a:r>
            <a:endParaRPr lang="en-US" sz="7200" dirty="0"/>
          </a:p>
        </p:txBody>
      </p:sp>
      <p:sp>
        <p:nvSpPr>
          <p:cNvPr id="4" name="Text 2"/>
          <p:cNvSpPr/>
          <p:nvPr/>
        </p:nvSpPr>
        <p:spPr>
          <a:xfrm>
            <a:off x="812780" y="1714500"/>
            <a:ext cx="10477238" cy="635000"/>
          </a:xfrm>
          <a:prstGeom prst="rect">
            <a:avLst/>
          </a:prstGeom>
          <a:noFill/>
          <a:ln/>
        </p:spPr>
        <p:txBody>
          <a:bodyPr wrap="square" rtlCol="0" anchor="ctr">
            <a:normAutofit/>
          </a:bodyPr>
          <a:lstStyle/>
          <a:p>
            <a:pPr indent="0" marL="0">
              <a:buNone/>
            </a:pPr>
            <a:r>
              <a:rPr lang="en-US" sz="4000" b="1" dirty="0">
                <a:solidFill>
                  <a:srgbClr val="FCFCFA"/>
                </a:solidFill>
                <a:latin typeface="Segoe UI" pitchFamily="34" charset="0"/>
                <a:ea typeface="Segoe UI" pitchFamily="34" charset="-122"/>
                <a:cs typeface="Segoe UI" pitchFamily="34" charset="-120"/>
              </a:rPr>
              <a:t>Annexe A — Les règles de gestion</a:t>
            </a:r>
            <a:endParaRPr lang="en-US" sz="4000" dirty="0"/>
          </a:p>
        </p:txBody>
      </p:sp>
      <p:sp>
        <p:nvSpPr>
          <p:cNvPr id="5" name="Text 3"/>
          <p:cNvSpPr/>
          <p:nvPr/>
        </p:nvSpPr>
        <p:spPr>
          <a:xfrm>
            <a:off x="812780" y="2413000"/>
            <a:ext cx="10159746" cy="698500"/>
          </a:xfrm>
          <a:prstGeom prst="rect">
            <a:avLst/>
          </a:prstGeom>
          <a:noFill/>
          <a:ln/>
        </p:spPr>
        <p:txBody>
          <a:bodyPr wrap="square" rtlCol="0" anchor="t">
            <a:normAutofit/>
          </a:bodyPr>
          <a:lstStyle/>
          <a:p>
            <a:pPr indent="0" marL="0">
              <a:buNone/>
            </a:pPr>
            <a:r>
              <a:rPr lang="en-US" sz="1700" dirty="0">
                <a:solidFill>
                  <a:srgbClr val="C9D6E2"/>
                </a:solidFill>
                <a:latin typeface="Segoe UI" pitchFamily="34" charset="0"/>
                <a:ea typeface="Segoe UI" pitchFamily="34" charset="-122"/>
                <a:cs typeface="Segoe UI" pitchFamily="34" charset="-120"/>
              </a:rPr>
              <a:t>Partie par partie, les règles que l’application applique : chacune cite sa source (règles de gestion du serveur, contrats, manuel de contrôle révisé) et les écrans où elle s’applique.</a:t>
            </a:r>
            <a:endParaRPr lang="en-US" sz="17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8FA6BB"/>
                </a:solidFill>
                <a:latin typeface="Segoe UI" pitchFamily="34" charset="0"/>
                <a:ea typeface="Segoe UI" pitchFamily="34" charset="-122"/>
                <a:cs typeface="Segoe UI" pitchFamily="34" charset="-120"/>
              </a:rPr>
              <a:t>PRS 2.0 · Étape 07 · La séance d’ouverture · 29</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A</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règles de gestion, en un tableau</a:t>
            </a:r>
            <a:endParaRPr lang="en-US" sz="2600" dirty="0"/>
          </a:p>
        </p:txBody>
      </p:sp>
      <p:sp>
        <p:nvSpPr>
          <p:cNvPr id="4" name="Text 2"/>
          <p:cNvSpPr/>
          <p:nvPr/>
        </p:nvSpPr>
        <p:spPr>
          <a:xfrm>
            <a:off x="812780" y="1066800"/>
            <a:ext cx="10413740" cy="508000"/>
          </a:xfrm>
          <a:prstGeom prst="rect">
            <a:avLst/>
          </a:prstGeom>
          <a:noFill/>
          <a:ln/>
        </p:spPr>
        <p:txBody>
          <a:bodyPr wrap="square" rtlCol="0" anchor="t">
            <a:normAutofit/>
          </a:bodyPr>
          <a:lstStyle/>
          <a:p>
            <a:pPr indent="0" marL="0">
              <a:buNone/>
            </a:pPr>
            <a:r>
              <a:rPr lang="en-US" sz="1300" b="1" dirty="0">
                <a:solidFill>
                  <a:srgbClr val="1B2A3A"/>
                </a:solidFill>
                <a:latin typeface="Segoe UI" pitchFamily="34" charset="0"/>
                <a:ea typeface="Segoe UI" pitchFamily="34" charset="-122"/>
                <a:cs typeface="Segoe UI" pitchFamily="34" charset="-120"/>
              </a:rPr>
              <a:t>31 règles</a:t>
            </a:r>
            <a:pPr indent="0" marL="0">
              <a:buNone/>
            </a:pPr>
            <a:r>
              <a:rPr lang="en-US" sz="1300" dirty="0">
                <a:solidFill>
                  <a:srgbClr val="465568"/>
                </a:solidFill>
                <a:latin typeface="Segoe UI" pitchFamily="34" charset="0"/>
                <a:ea typeface="Segoe UI" pitchFamily="34" charset="-122"/>
                <a:cs typeface="Segoe UI" pitchFamily="34" charset="-120"/>
              </a:rPr>
              <a:t>, groupées par partie et par thème. Chaque écran de la présentation cite celles qu’il applique.</a:t>
            </a:r>
            <a:endParaRPr lang="en-US" sz="13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93324" y="1651000"/>
          <a:ext cx="11430000" cy="914400"/>
        </p:xfrm>
        <a:graphic>
          <a:graphicData uri="http://schemas.openxmlformats.org/drawingml/2006/table">
            <a:tbl>
              <a:tblPr/>
              <a:tblGrid>
                <a:gridCol w="2651760"/>
                <a:gridCol w="822960"/>
                <a:gridCol w="795528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Partie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Règles</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Thèmes</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1050" b="1" dirty="0">
                          <a:solidFill>
                            <a:srgbClr val="1B2A3A"/>
                          </a:solidFill>
                          <a:latin typeface="Segoe UI" pitchFamily="34" charset="0"/>
                          <a:ea typeface="Segoe UI" pitchFamily="34" charset="-122"/>
                          <a:cs typeface="Segoe UI" pitchFamily="34" charset="-120"/>
                        </a:rPr>
                        <a:t>07 · La séance d’ouverture</a:t>
                      </a:r>
                      <a:endParaRPr lang="en-US" sz="1050" dirty="0">
                        <a:latin typeface="Segoe UI" charset="0"/>
                        <a:ea typeface="Segoe UI" charset="0"/>
                        <a:cs typeface="Segoe UI" charset="0"/>
                      </a:endParaRPr>
                    </a:p>
                  </a:txBody>
                  <a:tcPr marL="76200" marR="76200" marT="38100" marB="381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1050" b="1" dirty="0">
                          <a:solidFill>
                            <a:srgbClr val="1B6FA8"/>
                          </a:solidFill>
                          <a:latin typeface="Segoe UI" pitchFamily="34" charset="0"/>
                          <a:ea typeface="Segoe UI" pitchFamily="34" charset="-122"/>
                          <a:cs typeface="Segoe UI" pitchFamily="34" charset="-120"/>
                        </a:rPr>
                        <a:t>31</a:t>
                      </a:r>
                      <a:endParaRPr lang="en-US" sz="1050" dirty="0">
                        <a:latin typeface="Segoe UI" charset="0"/>
                        <a:ea typeface="Segoe UI" charset="0"/>
                        <a:cs typeface="Segoe UI" charset="0"/>
                      </a:endParaRPr>
                    </a:p>
                  </a:txBody>
                  <a:tcPr marL="76200" marR="76200" marT="38100" marB="381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50" dirty="0">
                          <a:solidFill>
                            <a:srgbClr val="465568"/>
                          </a:solidFill>
                          <a:latin typeface="Segoe UI" pitchFamily="34" charset="0"/>
                          <a:ea typeface="Segoe UI" pitchFamily="34" charset="-122"/>
                          <a:cs typeface="Segoe UI" pitchFamily="34" charset="-120"/>
                        </a:rPr>
                        <a:t>Ouvrir la séance · Les parts et le quorum des clés · L’ouverture des offres · La lecture et les alertes · Les pièces des offres · Le PV d’ouverture · La conservation des offres · Les prestations intellectuelles · Le quorum de la commission</a:t>
                      </a:r>
                      <a:endParaRPr lang="en-US" sz="950" dirty="0">
                        <a:latin typeface="Segoe UI" charset="0"/>
                        <a:ea typeface="Segoe UI" charset="0"/>
                        <a:cs typeface="Segoe UI" charset="0"/>
                      </a:endParaRPr>
                    </a:p>
                  </a:txBody>
                  <a:tcPr marL="76200" marR="76200" marT="38100" marB="381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6" name="Text 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07 · La séance d’ouverture · 30</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A · 07 LA SÉANCE D’OUVERTURE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Ouvrir la séance</a:t>
            </a:r>
            <a:endParaRPr lang="en-US" sz="26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1188720"/>
                <a:gridCol w="2377440"/>
                <a:gridCol w="78638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N°</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RG-SEA-01</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L’ouverture à l’heure fixée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responsable de la procédure ouvre la séance à l’</a:t>
                      </a:r>
                      <a:pPr indent="0" marL="0">
                        <a:buNone/>
                      </a:pPr>
                      <a:r>
                        <a:rPr lang="en-US" sz="1100" b="1" dirty="0">
                          <a:solidFill>
                            <a:srgbClr val="1B2A3A"/>
                          </a:solidFill>
                          <a:latin typeface="Segoe UI" pitchFamily="34" charset="0"/>
                          <a:ea typeface="Segoe UI" pitchFamily="34" charset="-122"/>
                          <a:cs typeface="Segoe UI" pitchFamily="34" charset="-120"/>
                        </a:rPr>
                        <a:t>heure d’ouverture</a:t>
                      </a:r>
                      <a:pPr indent="0" marL="0">
                        <a:buNone/>
                      </a:pPr>
                      <a:r>
                        <a:rPr lang="en-US" sz="1100" dirty="0">
                          <a:solidFill>
                            <a:srgbClr val="1B2A3A"/>
                          </a:solidFill>
                          <a:latin typeface="Segoe UI" pitchFamily="34" charset="0"/>
                          <a:ea typeface="Segoe UI" pitchFamily="34" charset="-122"/>
                          <a:cs typeface="Segoe UI" pitchFamily="34" charset="-120"/>
                        </a:rPr>
                        <a:t> fixée par la fiche, une fois la date limite passée. Avant, personne ne reçoit rien, pas même les parts chiffrées.</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RG-SEA-02</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Des rappels avant la séance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Les membres de la commission et le responsable reçoivent un rappel la veille, puis une heure avant l’heure d’ouverture.</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RG-SEA-03</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Les présences consignées</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responsable enregistre les présents : membres de la commission et autres personnes, avec leur qualité. Un membre qui apporte ses parts est </a:t>
                      </a:r>
                      <a:pPr indent="0" marL="0">
                        <a:buNone/>
                      </a:pPr>
                      <a:r>
                        <a:rPr lang="en-US" sz="1100" b="1" dirty="0">
                          <a:solidFill>
                            <a:srgbClr val="1B2A3A"/>
                          </a:solidFill>
                          <a:latin typeface="Segoe UI" pitchFamily="34" charset="0"/>
                          <a:ea typeface="Segoe UI" pitchFamily="34" charset="-122"/>
                          <a:cs typeface="Segoe UI" pitchFamily="34" charset="-120"/>
                        </a:rPr>
                        <a:t>présent d’office</a:t>
                      </a:r>
                      <a:pPr indent="0" marL="0">
                        <a:buNone/>
                      </a:pPr>
                      <a:r>
                        <a:rPr lang="en-US" sz="1100" dirty="0">
                          <a:solidFill>
                            <a:srgbClr val="1B2A3A"/>
                          </a:solidFill>
                          <a:latin typeface="Segoe UI" pitchFamily="34" charset="0"/>
                          <a:ea typeface="Segoe UI" pitchFamily="34" charset="-122"/>
                          <a:cs typeface="Segoe UI" pitchFamily="34" charset="-120"/>
                        </a:rPr>
                        <a:t>.</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RG-SEA-04</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Sans offre, un PV de carence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Sans aucune offre déposée, la séance s’ouvre directement et le PV est un </a:t>
                      </a:r>
                      <a:pPr indent="0" marL="0">
                        <a:buNone/>
                      </a:pPr>
                      <a:r>
                        <a:rPr lang="en-US" sz="1100" b="1" dirty="0">
                          <a:solidFill>
                            <a:srgbClr val="1B2A3A"/>
                          </a:solidFill>
                          <a:latin typeface="Segoe UI" pitchFamily="34" charset="0"/>
                          <a:ea typeface="Segoe UI" pitchFamily="34" charset="-122"/>
                          <a:cs typeface="Segoe UI" pitchFamily="34" charset="-120"/>
                        </a:rPr>
                        <a:t>PV de carence</a:t>
                      </a:r>
                      <a:pPr indent="0" marL="0">
                        <a:buNone/>
                      </a:pPr>
                      <a:r>
                        <a:rPr lang="en-US" sz="1100" dirty="0">
                          <a:solidFill>
                            <a:srgbClr val="1B2A3A"/>
                          </a:solidFill>
                          <a:latin typeface="Segoe UI" pitchFamily="34" charset="0"/>
                          <a:ea typeface="Segoe UI" pitchFamily="34" charset="-122"/>
                          <a:cs typeface="Segoe UI" pitchFamily="34" charset="-120"/>
                        </a:rPr>
                        <a:t>, signé selon la même règle que les autres.</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bl>
          </a:graphicData>
        </a:graphic>
      </p:graphicFrame>
      <p:sp>
        <p:nvSpPr>
          <p:cNvPr id="5" name="Text 2"/>
          <p:cNvSpPr/>
          <p:nvPr/>
        </p:nvSpPr>
        <p:spPr>
          <a:xfrm>
            <a:off x="812780" y="5905500"/>
            <a:ext cx="10540736" cy="508000"/>
          </a:xfrm>
          <a:prstGeom prst="rect">
            <a:avLst/>
          </a:prstGeom>
          <a:noFill/>
          <a:ln/>
        </p:spPr>
        <p:txBody>
          <a:bodyPr wrap="square" rtlCol="0" anchor="b">
            <a:normAutofit/>
          </a:bodyPr>
          <a:lstStyle/>
          <a:p>
            <a:pPr indent="0" marL="0">
              <a:buNone/>
            </a:pPr>
            <a:r>
              <a:rPr lang="en-US" sz="900" dirty="0">
                <a:solidFill>
                  <a:srgbClr val="6A7787"/>
                </a:solidFill>
                <a:latin typeface="Segoe UI" pitchFamily="34" charset="0"/>
                <a:ea typeface="Segoe UI" pitchFamily="34" charset="-122"/>
                <a:cs typeface="Segoe UI" pitchFamily="34" charset="-120"/>
              </a:rPr>
              <a:t>Source : regles-gestion.md § 2026-10-04, lot 4 (V69) — l’ouverture des plis · L’ouverture des plis en séance — V69 · regles-gestion.md § 2026-10-04, lot 4 (V69) ; arbitrages après le lot 4 (V70)</a:t>
            </a:r>
            <a:endParaRPr lang="en-US" sz="900" dirty="0"/>
          </a:p>
        </p:txBody>
      </p:sp>
      <p:sp>
        <p:nvSpPr>
          <p:cNvPr id="6" name="Text 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07 · La séance d’ouverture · 31</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A · 07 LA SÉANCE D’OUVERTURE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parts et le quorum des clés</a:t>
            </a:r>
            <a:endParaRPr lang="en-US" sz="26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1188720"/>
                <a:gridCol w="2377440"/>
                <a:gridCol w="78638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N°</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RG-SEA-05</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Toutes ses parts en une fois</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Chaque membre déverrouille sa clé dans son navigateur et apporte </a:t>
                      </a:r>
                      <a:pPr indent="0" marL="0">
                        <a:buNone/>
                      </a:pPr>
                      <a:r>
                        <a:rPr lang="en-US" sz="1100" b="1" dirty="0">
                          <a:solidFill>
                            <a:srgbClr val="1B2A3A"/>
                          </a:solidFill>
                          <a:latin typeface="Segoe UI" pitchFamily="34" charset="0"/>
                          <a:ea typeface="Segoe UI" pitchFamily="34" charset="-122"/>
                          <a:cs typeface="Segoe UI" pitchFamily="34" charset="-120"/>
                        </a:rPr>
                        <a:t>toutes ses parts</a:t>
                      </a:r>
                      <a:pPr indent="0" marL="0">
                        <a:buNone/>
                      </a:pPr>
                      <a:r>
                        <a:rPr lang="en-US" sz="1100" dirty="0">
                          <a:solidFill>
                            <a:srgbClr val="1B2A3A"/>
                          </a:solidFill>
                          <a:latin typeface="Segoe UI" pitchFamily="34" charset="0"/>
                          <a:ea typeface="Segoe UI" pitchFamily="34" charset="-122"/>
                          <a:cs typeface="Segoe UI" pitchFamily="34" charset="-120"/>
                        </a:rPr>
                        <a:t> en une fois, une par offre. Il peut les rapporter : elles remplacent les précédentes.</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RG-SEA-06</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Des parts jamais conservées</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Les parts apportées vivent en mémoire du serveur seulement, jamais en base ni au journal, et s’effacent au déchiffrement. Un redémarrage du serveur pendant la séance oblige les membres à les rapporter.</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RG-SEA-07</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La part de secours, sur demande motivée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Si une part manque, le responsable </a:t>
                      </a:r>
                      <a:pPr indent="0" marL="0">
                        <a:buNone/>
                      </a:pPr>
                      <a:r>
                        <a:rPr lang="en-US" sz="1100" b="1" dirty="0">
                          <a:solidFill>
                            <a:srgbClr val="1B2A3A"/>
                          </a:solidFill>
                          <a:latin typeface="Segoe UI" pitchFamily="34" charset="0"/>
                          <a:ea typeface="Segoe UI" pitchFamily="34" charset="-122"/>
                          <a:cs typeface="Segoe UI" pitchFamily="34" charset="-120"/>
                        </a:rPr>
                        <a:t>demande</a:t>
                      </a:r>
                      <a:pPr indent="0" marL="0">
                        <a:buNone/>
                      </a:pPr>
                      <a:r>
                        <a:rPr lang="en-US" sz="1100" dirty="0">
                          <a:solidFill>
                            <a:srgbClr val="1B2A3A"/>
                          </a:solidFill>
                          <a:latin typeface="Segoe UI" pitchFamily="34" charset="0"/>
                          <a:ea typeface="Segoe UI" pitchFamily="34" charset="-122"/>
                          <a:cs typeface="Segoe UI" pitchFamily="34" charset="-120"/>
                        </a:rPr>
                        <a:t> la part de secours avec un motif, porté au PV ; le dépositaire l’apporte depuis son propre poste.</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RG-SEA-08</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Au quorum, tout s’ouvre ensemble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Au </a:t>
                      </a:r>
                      <a:pPr indent="0" marL="0">
                        <a:buNone/>
                      </a:pPr>
                      <a:r>
                        <a:rPr lang="en-US" sz="1100" b="1" dirty="0">
                          <a:solidFill>
                            <a:srgbClr val="1B2A3A"/>
                          </a:solidFill>
                          <a:latin typeface="Segoe UI" pitchFamily="34" charset="0"/>
                          <a:ea typeface="Segoe UI" pitchFamily="34" charset="-122"/>
                          <a:cs typeface="Segoe UI" pitchFamily="34" charset="-120"/>
                        </a:rPr>
                        <a:t>quorum</a:t>
                      </a:r>
                      <a:pPr indent="0" marL="0">
                        <a:buNone/>
                      </a:pPr>
                      <a:r>
                        <a:rPr lang="en-US" sz="1100" dirty="0">
                          <a:solidFill>
                            <a:srgbClr val="1B2A3A"/>
                          </a:solidFill>
                          <a:latin typeface="Segoe UI" pitchFamily="34" charset="0"/>
                          <a:ea typeface="Segoe UI" pitchFamily="34" charset="-122"/>
                          <a:cs typeface="Segoe UI" pitchFamily="34" charset="-120"/>
                        </a:rPr>
                        <a:t> des parts, toutes les offres s’ouvrent ensemble, dans un même geste ; aucune ne s’ouvre avant les autres.</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RG-SEA-09</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Quorum impossible : PV de constat</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Si le quorum des parts ne peut plus être atteint, part de secours comprise, le responsable constate l’illisibilité : un PV de constat est dressé, les soumissionnaires sont avertis et la procédure est à relancer.</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5905500"/>
            <a:ext cx="10540736" cy="508000"/>
          </a:xfrm>
          <a:prstGeom prst="rect">
            <a:avLst/>
          </a:prstGeom>
          <a:noFill/>
          <a:ln/>
        </p:spPr>
        <p:txBody>
          <a:bodyPr wrap="square" rtlCol="0" anchor="b">
            <a:normAutofit/>
          </a:bodyPr>
          <a:lstStyle/>
          <a:p>
            <a:pPr indent="0" marL="0">
              <a:buNone/>
            </a:pPr>
            <a:r>
              <a:rPr lang="en-US" sz="900" dirty="0">
                <a:solidFill>
                  <a:srgbClr val="6A7787"/>
                </a:solidFill>
                <a:latin typeface="Segoe UI" pitchFamily="34" charset="0"/>
                <a:ea typeface="Segoe UI" pitchFamily="34" charset="-122"/>
                <a:cs typeface="Segoe UI" pitchFamily="34" charset="-120"/>
              </a:rPr>
              <a:t>Source : regles-gestion.md § 2026-10-04, lot 4 (V69) — l’ouverture des plis · L’ouverture des plis en séance — V69 · regles-gestion.md § 2026-10-05 — le dépositaire génère lui-même la part de secours (V71) · regles-gestion.md § 2026-10-04, lot 4 (V69) — l’ouverture des plis (S5)</a:t>
            </a:r>
            <a:endParaRPr lang="en-US" sz="900" dirty="0"/>
          </a:p>
        </p:txBody>
      </p:sp>
      <p:sp>
        <p:nvSpPr>
          <p:cNvPr id="6" name="Text 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07 · La séance d’ouverture · 32</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A · 07 LA SÉANCE D’OUVERTURE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L’ouverture des offres</a:t>
            </a:r>
            <a:endParaRPr lang="en-US" sz="26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1188720"/>
                <a:gridCol w="2377440"/>
                <a:gridCol w="78638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N°</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RG-SEA-10</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L’exclusion après dépôt écarte l’offre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Une offre dont l’entreprise, ou un membre du groupement, a été exclue par l’ARMP depuis son dépôt est </a:t>
                      </a:r>
                      <a:pPr indent="0" marL="0">
                        <a:buNone/>
                      </a:pPr>
                      <a:r>
                        <a:rPr lang="en-US" sz="1100" b="1" dirty="0">
                          <a:solidFill>
                            <a:srgbClr val="1B2A3A"/>
                          </a:solidFill>
                          <a:latin typeface="Segoe UI" pitchFamily="34" charset="0"/>
                          <a:ea typeface="Segoe UI" pitchFamily="34" charset="-122"/>
                          <a:cs typeface="Segoe UI" pitchFamily="34" charset="-120"/>
                        </a:rPr>
                        <a:t>écartée sans être ouverte</a:t>
                      </a:r>
                      <a:pPr indent="0" marL="0">
                        <a:buNone/>
                      </a:pPr>
                      <a:r>
                        <a:rPr lang="en-US" sz="1100" dirty="0">
                          <a:solidFill>
                            <a:srgbClr val="1B2A3A"/>
                          </a:solidFill>
                          <a:latin typeface="Segoe UI" pitchFamily="34" charset="0"/>
                          <a:ea typeface="Segoe UI" pitchFamily="34" charset="-122"/>
                          <a:cs typeface="Segoe UI" pitchFamily="34" charset="-120"/>
                        </a:rPr>
                        <a:t>.</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RG-SEA-11</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L’intégrité de chaque offre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L’empreinte de chaque offre est recalculée : une offre altérée est signalée. Une offre qu’on ne peut pas lire ne bloque pas les autres. Les offres retirées et remplacées ne s’ouvrent jamais.</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bl>
          </a:graphicData>
        </a:graphic>
      </p:graphicFrame>
      <p:sp>
        <p:nvSpPr>
          <p:cNvPr id="5" name="Text 2"/>
          <p:cNvSpPr/>
          <p:nvPr/>
        </p:nvSpPr>
        <p:spPr>
          <a:xfrm>
            <a:off x="812780" y="5905500"/>
            <a:ext cx="10540736" cy="508000"/>
          </a:xfrm>
          <a:prstGeom prst="rect">
            <a:avLst/>
          </a:prstGeom>
          <a:noFill/>
          <a:ln/>
        </p:spPr>
        <p:txBody>
          <a:bodyPr wrap="square" rtlCol="0" anchor="b">
            <a:normAutofit/>
          </a:bodyPr>
          <a:lstStyle/>
          <a:p>
            <a:pPr indent="0" marL="0">
              <a:buNone/>
            </a:pPr>
            <a:r>
              <a:rPr lang="en-US" sz="900" dirty="0">
                <a:solidFill>
                  <a:srgbClr val="6A7787"/>
                </a:solidFill>
                <a:latin typeface="Segoe UI" pitchFamily="34" charset="0"/>
                <a:ea typeface="Segoe UI" pitchFamily="34" charset="-122"/>
                <a:cs typeface="Segoe UI" pitchFamily="34" charset="-120"/>
              </a:rPr>
              <a:t>Source : regles-gestion.md § 2026-10-04, lot 4 (V69) — l’ouverture des plis</a:t>
            </a:r>
            <a:endParaRPr lang="en-US" sz="900" dirty="0"/>
          </a:p>
        </p:txBody>
      </p:sp>
      <p:sp>
        <p:nvSpPr>
          <p:cNvPr id="6" name="Text 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07 · La séance d’ouverture · 33</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A · 07 LA SÉANCE D’OUVERTURE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 lecture et les alertes (1/2)</a:t>
            </a:r>
            <a:endParaRPr lang="en-US" sz="26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1188720"/>
                <a:gridCol w="2377440"/>
                <a:gridCol w="78638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N°</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RG-SEA-12</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La lecture informe, ne refuse pas</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lecture — montants, délai, validité, garantie, pièces manquantes, vérification du NIF, rapprochements entre déposants — est une information pour la commission, </a:t>
                      </a:r>
                      <a:pPr indent="0" marL="0">
                        <a:buNone/>
                      </a:pPr>
                      <a:r>
                        <a:rPr lang="en-US" sz="1100" b="1" dirty="0">
                          <a:solidFill>
                            <a:srgbClr val="1B2A3A"/>
                          </a:solidFill>
                          <a:latin typeface="Segoe UI" pitchFamily="34" charset="0"/>
                          <a:ea typeface="Segoe UI" pitchFamily="34" charset="-122"/>
                          <a:cs typeface="Segoe UI" pitchFamily="34" charset="-120"/>
                        </a:rPr>
                        <a:t>jamais un refus</a:t>
                      </a:r>
                      <a:pPr indent="0" marL="0">
                        <a:buNone/>
                      </a:pPr>
                      <a:r>
                        <a:rPr lang="en-US" sz="1100" dirty="0">
                          <a:solidFill>
                            <a:srgbClr val="1B2A3A"/>
                          </a:solidFill>
                          <a:latin typeface="Segoe UI" pitchFamily="34" charset="0"/>
                          <a:ea typeface="Segoe UI" pitchFamily="34" charset="-122"/>
                          <a:cs typeface="Segoe UI" pitchFamily="34" charset="-120"/>
                        </a:rPr>
                        <a:t>.</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RG-SEA-13</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Les totaux recalculés à l’ouverture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Pour une offre remplie en ligne, le serveur </a:t>
                      </a:r>
                      <a:pPr indent="0" marL="0">
                        <a:buNone/>
                      </a:pPr>
                      <a:r>
                        <a:rPr lang="en-US" sz="1100" b="1" dirty="0">
                          <a:solidFill>
                            <a:srgbClr val="1B2A3A"/>
                          </a:solidFill>
                          <a:latin typeface="Segoe UI" pitchFamily="34" charset="0"/>
                          <a:ea typeface="Segoe UI" pitchFamily="34" charset="-122"/>
                          <a:cs typeface="Segoe UI" pitchFamily="34" charset="-120"/>
                        </a:rPr>
                        <a:t>recalcule les totaux</a:t>
                      </a:r>
                      <a:pPr indent="0" marL="0">
                        <a:buNone/>
                      </a:pPr>
                      <a:r>
                        <a:rPr lang="en-US" sz="1100" dirty="0">
                          <a:solidFill>
                            <a:srgbClr val="1B2A3A"/>
                          </a:solidFill>
                          <a:latin typeface="Segoe UI" pitchFamily="34" charset="0"/>
                          <a:ea typeface="Segoe UI" pitchFamily="34" charset="-122"/>
                          <a:cs typeface="Segoe UI" pitchFamily="34" charset="-120"/>
                        </a:rPr>
                        <a:t> et signale les écarts avec l’acte d’engagement, les prix manquants, les prix en lettres divergents, les plafonds dépassés, les non-conformités et les livraisons hors délai.</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RG-SEA-14</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Aux travaux, capacités et prix en lettres</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Aux travaux, le prix en lettres fait foi ; le serveur signale aussi les capacités, le personnel et le matériel insuffisants, ainsi que les sous-détails de prix incohérents. Le détail des prix n’est lu que par la commission.</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RG-SEA-15</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La garantie lue en séance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garantie de soumission est lue en séance, montant et émetteur imprimés au PV. Un montant inférieur au minimum fixé par la fiche, par lot le cas échéant, donne une </a:t>
                      </a:r>
                      <a:pPr indent="0" marL="0">
                        <a:buNone/>
                      </a:pPr>
                      <a:r>
                        <a:rPr lang="en-US" sz="1100" b="1" dirty="0">
                          <a:solidFill>
                            <a:srgbClr val="1B2A3A"/>
                          </a:solidFill>
                          <a:latin typeface="Segoe UI" pitchFamily="34" charset="0"/>
                          <a:ea typeface="Segoe UI" pitchFamily="34" charset="-122"/>
                          <a:cs typeface="Segoe UI" pitchFamily="34" charset="-120"/>
                        </a:rPr>
                        <a:t>alerte</a:t>
                      </a:r>
                      <a:pPr indent="0" marL="0">
                        <a:buNone/>
                      </a:pPr>
                      <a:r>
                        <a:rPr lang="en-US" sz="1100" dirty="0">
                          <a:solidFill>
                            <a:srgbClr val="1B2A3A"/>
                          </a:solidFill>
                          <a:latin typeface="Segoe UI" pitchFamily="34" charset="0"/>
                          <a:ea typeface="Segoe UI" pitchFamily="34" charset="-122"/>
                          <a:cs typeface="Segoe UI" pitchFamily="34" charset="-120"/>
                        </a:rPr>
                        <a:t>, jamais un refus.</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RG-SEA-16</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Les frais de dossier lus</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séance indique, offre par offre, si les frais de dossier sont réglés. Une offre sans reçu validé couvrant son lot est </a:t>
                      </a:r>
                      <a:pPr indent="0" marL="0">
                        <a:buNone/>
                      </a:pPr>
                      <a:r>
                        <a:rPr lang="en-US" sz="1100" b="1" dirty="0">
                          <a:solidFill>
                            <a:srgbClr val="1B2A3A"/>
                          </a:solidFill>
                          <a:latin typeface="Segoe UI" pitchFamily="34" charset="0"/>
                          <a:ea typeface="Segoe UI" pitchFamily="34" charset="-122"/>
                          <a:cs typeface="Segoe UI" pitchFamily="34" charset="-120"/>
                        </a:rPr>
                        <a:t>signalée</a:t>
                      </a:r>
                      <a:pPr indent="0" marL="0">
                        <a:buNone/>
                      </a:pPr>
                      <a:r>
                        <a:rPr lang="en-US" sz="1100" dirty="0">
                          <a:solidFill>
                            <a:srgbClr val="1B2A3A"/>
                          </a:solidFill>
                          <a:latin typeface="Segoe UI" pitchFamily="34" charset="0"/>
                          <a:ea typeface="Segoe UI" pitchFamily="34" charset="-122"/>
                          <a:cs typeface="Segoe UI" pitchFamily="34" charset="-120"/>
                        </a:rPr>
                        <a:t> à la commission, jamais écartée.</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5905500"/>
            <a:ext cx="10540736" cy="508000"/>
          </a:xfrm>
          <a:prstGeom prst="rect">
            <a:avLst/>
          </a:prstGeom>
          <a:noFill/>
          <a:ln/>
        </p:spPr>
        <p:txBody>
          <a:bodyPr wrap="square" rtlCol="0" anchor="b">
            <a:normAutofit/>
          </a:bodyPr>
          <a:lstStyle/>
          <a:p>
            <a:pPr indent="0" marL="0">
              <a:buNone/>
            </a:pPr>
            <a:r>
              <a:rPr lang="en-US" sz="900" dirty="0">
                <a:solidFill>
                  <a:srgbClr val="6A7787"/>
                </a:solidFill>
                <a:latin typeface="Segoe UI" pitchFamily="34" charset="0"/>
                <a:ea typeface="Segoe UI" pitchFamily="34" charset="-122"/>
                <a:cs typeface="Segoe UI" pitchFamily="34" charset="-120"/>
              </a:rPr>
              <a:t>Source : regles-gestion.md § 2026-10-04, lot 4 (V69) — l’ouverture des plis · regles-gestion.md § La remise électronique des offres (offre en formulaires) · regles-gestion.md § La remise électronique des offres (offre en formulaires, lot 5b) · regles-gestion.md § Les arbitrages du pilote après le lot 4 — V70 · regles-gestion.md § Le retrait du DAO après paiement des frais — V72</a:t>
            </a:r>
            <a:endParaRPr lang="en-US" sz="900" dirty="0"/>
          </a:p>
        </p:txBody>
      </p:sp>
      <p:sp>
        <p:nvSpPr>
          <p:cNvPr id="6" name="Text 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07 · La séance d’ouverture · 34</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A · 07 LA SÉANCE D’OUVERTURE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 lecture et les alertes (2/2)</a:t>
            </a:r>
            <a:endParaRPr lang="en-US" sz="26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1188720"/>
                <a:gridCol w="2377440"/>
                <a:gridCol w="78638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N°</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RG-SEA-17</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 rabais lu chiffré</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rabais se lit chiffré : un rabais sans condition est calculé sur le montant hors taxes lu ; un rabais lié à plusieurs lots est lu avec sa condition. Le PV et son extrait public en impriment la phrase.</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5905500"/>
            <a:ext cx="10540736" cy="508000"/>
          </a:xfrm>
          <a:prstGeom prst="rect">
            <a:avLst/>
          </a:prstGeom>
          <a:noFill/>
          <a:ln/>
        </p:spPr>
        <p:txBody>
          <a:bodyPr wrap="square" rtlCol="0" anchor="b">
            <a:normAutofit/>
          </a:bodyPr>
          <a:lstStyle/>
          <a:p>
            <a:pPr indent="0" marL="0">
              <a:buNone/>
            </a:pPr>
            <a:r>
              <a:rPr lang="en-US" sz="900" dirty="0">
                <a:solidFill>
                  <a:srgbClr val="6A7787"/>
                </a:solidFill>
                <a:latin typeface="Segoe UI" pitchFamily="34" charset="0"/>
                <a:ea typeface="Segoe UI" pitchFamily="34" charset="-122"/>
                <a:cs typeface="Segoe UI" pitchFamily="34" charset="-120"/>
              </a:rPr>
              <a:t>Source : Le rabais structuré de l’offre en ligne</a:t>
            </a:r>
            <a:endParaRPr lang="en-US" sz="900" dirty="0"/>
          </a:p>
        </p:txBody>
      </p:sp>
      <p:sp>
        <p:nvSpPr>
          <p:cNvPr id="6" name="Text 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07 · La séance d’ouverture · 35</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A · 07 LA SÉANCE D’OUVERTURE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pièces des offres</a:t>
            </a:r>
            <a:endParaRPr lang="en-US" sz="26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1188720"/>
                <a:gridCol w="2377440"/>
                <a:gridCol w="78638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N°</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RG-SEA-18</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Les pièces, pour la commission seule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Les pièces des offres ne s’ouvrent que par les </a:t>
                      </a:r>
                      <a:pPr indent="0" marL="0">
                        <a:buNone/>
                      </a:pPr>
                      <a:r>
                        <a:rPr lang="en-US" sz="1100" b="1" dirty="0">
                          <a:solidFill>
                            <a:srgbClr val="1B2A3A"/>
                          </a:solidFill>
                          <a:latin typeface="Segoe UI" pitchFamily="34" charset="0"/>
                          <a:ea typeface="Segoe UI" pitchFamily="34" charset="-122"/>
                          <a:cs typeface="Segoe UI" pitchFamily="34" charset="-120"/>
                        </a:rPr>
                        <a:t>membres de la commission</a:t>
                      </a:r>
                      <a:pPr indent="0" marL="0">
                        <a:buNone/>
                      </a:pPr>
                      <a:r>
                        <a:rPr lang="en-US" sz="1100" dirty="0">
                          <a:solidFill>
                            <a:srgbClr val="1B2A3A"/>
                          </a:solidFill>
                          <a:latin typeface="Segoe UI" pitchFamily="34" charset="0"/>
                          <a:ea typeface="Segoe UI" pitchFamily="34" charset="-122"/>
                          <a:cs typeface="Segoe UI" pitchFamily="34" charset="-120"/>
                        </a:rPr>
                        <a:t>. Le responsable, la PRMP et l’UGPM lisent ce qui est lu en séance, sans ouvrir aucun fichier ; pour montrer une pièce à la salle, un membre l’ouvre.</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RG-SEA-19</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 registre complet après l’échéance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Après la date limite, la PRMP lit le registre complet des dépôts : chaque offre, son entreprise, son lot, sa date de dépôt ou de retrait, son empreinte et son état, ainsi que les tentatives refusées hors délai (partie 06).</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bl>
          </a:graphicData>
        </a:graphic>
      </p:graphicFrame>
      <p:sp>
        <p:nvSpPr>
          <p:cNvPr id="5" name="Text 2"/>
          <p:cNvSpPr/>
          <p:nvPr/>
        </p:nvSpPr>
        <p:spPr>
          <a:xfrm>
            <a:off x="812780" y="5905500"/>
            <a:ext cx="10540736" cy="508000"/>
          </a:xfrm>
          <a:prstGeom prst="rect">
            <a:avLst/>
          </a:prstGeom>
          <a:noFill/>
          <a:ln/>
        </p:spPr>
        <p:txBody>
          <a:bodyPr wrap="square" rtlCol="0" anchor="b">
            <a:normAutofit/>
          </a:bodyPr>
          <a:lstStyle/>
          <a:p>
            <a:pPr indent="0" marL="0">
              <a:buNone/>
            </a:pPr>
            <a:r>
              <a:rPr lang="en-US" sz="900" dirty="0">
                <a:solidFill>
                  <a:srgbClr val="6A7787"/>
                </a:solidFill>
                <a:latin typeface="Segoe UI" pitchFamily="34" charset="0"/>
                <a:ea typeface="Segoe UI" pitchFamily="34" charset="-122"/>
                <a:cs typeface="Segoe UI" pitchFamily="34" charset="-120"/>
              </a:rPr>
              <a:t>Source : regles-gestion.md § Les arbitrages du pilote après le lot 4 — V70 · regles-gestion.md § 2026-10-04, lot 3 (V68) ; ⚠️ 2026-10-14, tranche R9b</a:t>
            </a:r>
            <a:endParaRPr lang="en-US" sz="900" dirty="0"/>
          </a:p>
        </p:txBody>
      </p:sp>
      <p:sp>
        <p:nvSpPr>
          <p:cNvPr id="6" name="Text 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07 · La séance d’ouverture · 36</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A · 07 LA SÉANCE D’OUVERTURE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PV d’ouverture (1/2)</a:t>
            </a:r>
            <a:endParaRPr lang="en-US" sz="26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1188720"/>
                <a:gridCol w="2377440"/>
                <a:gridCol w="78638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N°</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RG-SEA-20</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 PV produit par le responsable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responsable produit le PV : présents, emploi de la part de secours et son motif, lecture offre par offre, offres non ouvertes et pourquoi, observations. Les présences ne se modifient plus ensuite.</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RG-SEA-21</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Signé par chaque membre présent</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Chaque membre présent signe le PV d’une </a:t>
                      </a:r>
                      <a:pPr indent="0" marL="0">
                        <a:buNone/>
                      </a:pPr>
                      <a:r>
                        <a:rPr lang="en-US" sz="1100" b="1" dirty="0">
                          <a:solidFill>
                            <a:srgbClr val="1B2A3A"/>
                          </a:solidFill>
                          <a:latin typeface="Segoe UI" pitchFamily="34" charset="0"/>
                          <a:ea typeface="Segoe UI" pitchFamily="34" charset="-122"/>
                          <a:cs typeface="Segoe UI" pitchFamily="34" charset="-120"/>
                        </a:rPr>
                        <a:t>signature électronique simple</a:t>
                      </a:r>
                      <a:pPr indent="0" marL="0">
                        <a:buNone/>
                      </a:pPr>
                      <a:r>
                        <a:rPr lang="en-US" sz="1100" dirty="0">
                          <a:solidFill>
                            <a:srgbClr val="1B2A3A"/>
                          </a:solidFill>
                          <a:latin typeface="Segoe UI" pitchFamily="34" charset="0"/>
                          <a:ea typeface="Segoe UI" pitchFamily="34" charset="-122"/>
                          <a:cs typeface="Segoe UI" pitchFamily="34" charset="-120"/>
                        </a:rPr>
                        <a:t> : l’acte authentifié du membre connecté, horodaté et journalisé.</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RG-SEA-22</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L’empêchement constaté avec motif</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Un membre présent qui ne peut pas signer ne bloque pas la séance : le président de la commission, ou à défaut le responsable, constate son </a:t>
                      </a:r>
                      <a:pPr indent="0" marL="0">
                        <a:buNone/>
                      </a:pPr>
                      <a:r>
                        <a:rPr lang="en-US" sz="1100" b="1" dirty="0">
                          <a:solidFill>
                            <a:srgbClr val="1B2A3A"/>
                          </a:solidFill>
                          <a:latin typeface="Segoe UI" pitchFamily="34" charset="0"/>
                          <a:ea typeface="Segoe UI" pitchFamily="34" charset="-122"/>
                          <a:cs typeface="Segoe UI" pitchFamily="34" charset="-120"/>
                        </a:rPr>
                        <a:t>empêchement</a:t>
                      </a:r>
                      <a:pPr indent="0" marL="0">
                        <a:buNone/>
                      </a:pPr>
                      <a:r>
                        <a:rPr lang="en-US" sz="1100" dirty="0">
                          <a:solidFill>
                            <a:srgbClr val="1B2A3A"/>
                          </a:solidFill>
                          <a:latin typeface="Segoe UI" pitchFamily="34" charset="0"/>
                          <a:ea typeface="Segoe UI" pitchFamily="34" charset="-122"/>
                          <a:cs typeface="Segoe UI" pitchFamily="34" charset="-120"/>
                        </a:rPr>
                        <a:t>, avec un motif porté au PV. Depuis le 10/10, un empêchement qui rendrait le quorum de la commission inatteignable est refusé.</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RG-SEA-23</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Clôture à la dernière signature, au quorum</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À la dernière signature, la séance est close, l’extrait du PV est publié si la fiche le prévoit, et les intéressés sont avertis. Avant, rien n’est publié. Depuis le 10/10, la clôture exige le </a:t>
                      </a:r>
                      <a:pPr indent="0" marL="0">
                        <a:buNone/>
                      </a:pPr>
                      <a:r>
                        <a:rPr lang="en-US" sz="1100" b="1" dirty="0">
                          <a:solidFill>
                            <a:srgbClr val="1B2A3A"/>
                          </a:solidFill>
                          <a:latin typeface="Segoe UI" pitchFamily="34" charset="0"/>
                          <a:ea typeface="Segoe UI" pitchFamily="34" charset="-122"/>
                          <a:cs typeface="Segoe UI" pitchFamily="34" charset="-120"/>
                        </a:rPr>
                        <a:t>quorum de la commission</a:t>
                      </a:r>
                      <a:pPr indent="0" marL="0">
                        <a:buNone/>
                      </a:pPr>
                      <a:r>
                        <a:rPr lang="en-US" sz="1100" dirty="0">
                          <a:solidFill>
                            <a:srgbClr val="1B2A3A"/>
                          </a:solidFill>
                          <a:latin typeface="Segoe UI" pitchFamily="34" charset="0"/>
                          <a:ea typeface="Segoe UI" pitchFamily="34" charset="-122"/>
                          <a:cs typeface="Segoe UI" pitchFamily="34" charset="-120"/>
                        </a:rPr>
                        <a:t> sur les présents : une séance sans membre présent ne se clôt plus.</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RG-SEA-24</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L’extrait public, sans les alertes</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L’extrait publié du PV ne porte ni les alertes ni la vérification des NIF : elles restent réservées à la commission.</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5905500"/>
            <a:ext cx="10540736" cy="508000"/>
          </a:xfrm>
          <a:prstGeom prst="rect">
            <a:avLst/>
          </a:prstGeom>
          <a:noFill/>
          <a:ln/>
        </p:spPr>
        <p:txBody>
          <a:bodyPr wrap="square" rtlCol="0" anchor="b">
            <a:normAutofit/>
          </a:bodyPr>
          <a:lstStyle/>
          <a:p>
            <a:pPr indent="0" marL="0">
              <a:buNone/>
            </a:pPr>
            <a:r>
              <a:rPr lang="en-US" sz="900" dirty="0">
                <a:solidFill>
                  <a:srgbClr val="6A7787"/>
                </a:solidFill>
                <a:latin typeface="Segoe UI" pitchFamily="34" charset="0"/>
                <a:ea typeface="Segoe UI" pitchFamily="34" charset="-122"/>
                <a:cs typeface="Segoe UI" pitchFamily="34" charset="-120"/>
              </a:rPr>
              <a:t>Source : Les arbitrages du pilote après le lot 4 — V70 · regles-gestion.md § Les arbitrages du pilote après le lot 4 — V70 · regles-gestion.md § Les arbitrages du pilote après le lot 4 — V70 ; ⚠️ 2026-10-10, tranche R1</a:t>
            </a:r>
            <a:endParaRPr lang="en-US" sz="900" dirty="0"/>
          </a:p>
        </p:txBody>
      </p:sp>
      <p:sp>
        <p:nvSpPr>
          <p:cNvPr id="6" name="Text 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07 · La séance d’ouverture · 37</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A · 07 LA SÉANCE D’OUVERTURE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PV d’ouverture (2/2)</a:t>
            </a:r>
            <a:endParaRPr lang="en-US" sz="26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1188720"/>
                <a:gridCol w="2377440"/>
                <a:gridCol w="78638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N°</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RG-SEA-31</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Les tentatives tardives au PV</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PV d’ouverture énumère les tentatives de dépôt refusées après la date limite, datées par le serveur (art. 44), comme le registre des dépôts de la PRMP.</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5905500"/>
            <a:ext cx="10540736" cy="508000"/>
          </a:xfrm>
          <a:prstGeom prst="rect">
            <a:avLst/>
          </a:prstGeom>
          <a:noFill/>
          <a:ln/>
        </p:spPr>
        <p:txBody>
          <a:bodyPr wrap="square" rtlCol="0" anchor="b">
            <a:normAutofit/>
          </a:bodyPr>
          <a:lstStyle/>
          <a:p>
            <a:pPr indent="0" marL="0">
              <a:buNone/>
            </a:pPr>
            <a:r>
              <a:rPr lang="en-US" sz="900" dirty="0">
                <a:solidFill>
                  <a:srgbClr val="6A7787"/>
                </a:solidFill>
                <a:latin typeface="Segoe UI" pitchFamily="34" charset="0"/>
                <a:ea typeface="Segoe UI" pitchFamily="34" charset="-122"/>
                <a:cs typeface="Segoe UI" pitchFamily="34" charset="-120"/>
              </a:rPr>
              <a:t>Source : regles-gestion.md § ⚠️ 2026-10-14 — manuel révisé, lot 2, tranche R9b</a:t>
            </a:r>
            <a:endParaRPr lang="en-US" sz="900" dirty="0"/>
          </a:p>
        </p:txBody>
      </p:sp>
      <p:sp>
        <p:nvSpPr>
          <p:cNvPr id="6" name="Text 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07 · La séance d’ouverture · 38</a:t>
            </a:r>
            <a:endParaRPr lang="en-US" sz="1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A · 07 LA SÉANCE D’OUVERTURE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La conservation des offres</a:t>
            </a:r>
            <a:endParaRPr lang="en-US" sz="26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1188720"/>
                <a:gridCol w="2377440"/>
                <a:gridCol w="78638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N°</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RG-SEA-25</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Une durée fixée par l’Administrateur</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durée de conservation des offres est fixée par l’Administrateur et court depuis la clôture de la séance. Tant qu’elle ne l’est pas, </a:t>
                      </a:r>
                      <a:pPr indent="0" marL="0">
                        <a:buNone/>
                      </a:pPr>
                      <a:r>
                        <a:rPr lang="en-US" sz="1100" b="1" dirty="0">
                          <a:solidFill>
                            <a:srgbClr val="1B2A3A"/>
                          </a:solidFill>
                          <a:latin typeface="Segoe UI" pitchFamily="34" charset="0"/>
                          <a:ea typeface="Segoe UI" pitchFamily="34" charset="-122"/>
                          <a:cs typeface="Segoe UI" pitchFamily="34" charset="-120"/>
                        </a:rPr>
                        <a:t>rien n’est supprimé</a:t>
                      </a:r>
                      <a:pPr indent="0" marL="0">
                        <a:buNone/>
                      </a:pPr>
                      <a:r>
                        <a:rPr lang="en-US" sz="1100" dirty="0">
                          <a:solidFill>
                            <a:srgbClr val="1B2A3A"/>
                          </a:solidFill>
                          <a:latin typeface="Segoe UI" pitchFamily="34" charset="0"/>
                          <a:ea typeface="Segoe UI" pitchFamily="34" charset="-122"/>
                          <a:cs typeface="Segoe UI" pitchFamily="34" charset="-120"/>
                        </a:rPr>
                        <a:t>.</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RG-SEA-26</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Une purge manuelle et tracée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Au terme, l’Administrateur purge les procédures échues, une à une, sans suppression automatique : le contenu des offres disparaît ; le journal, les empreintes, la lecture et le PV restent, et la purge est journalisée.</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bl>
          </a:graphicData>
        </a:graphic>
      </p:graphicFrame>
      <p:sp>
        <p:nvSpPr>
          <p:cNvPr id="5" name="Text 2"/>
          <p:cNvSpPr/>
          <p:nvPr/>
        </p:nvSpPr>
        <p:spPr>
          <a:xfrm>
            <a:off x="812780" y="5905500"/>
            <a:ext cx="10540736" cy="508000"/>
          </a:xfrm>
          <a:prstGeom prst="rect">
            <a:avLst/>
          </a:prstGeom>
          <a:noFill/>
          <a:ln/>
        </p:spPr>
        <p:txBody>
          <a:bodyPr wrap="square" rtlCol="0" anchor="b">
            <a:normAutofit/>
          </a:bodyPr>
          <a:lstStyle/>
          <a:p>
            <a:pPr indent="0" marL="0">
              <a:buNone/>
            </a:pPr>
            <a:r>
              <a:rPr lang="en-US" sz="900" dirty="0">
                <a:solidFill>
                  <a:srgbClr val="6A7787"/>
                </a:solidFill>
                <a:latin typeface="Segoe UI" pitchFamily="34" charset="0"/>
                <a:ea typeface="Segoe UI" pitchFamily="34" charset="-122"/>
                <a:cs typeface="Segoe UI" pitchFamily="34" charset="-120"/>
              </a:rPr>
              <a:t>Source : regles-gestion.md § Les arbitrages du pilote après le lot 4 — V70</a:t>
            </a:r>
            <a:endParaRPr lang="en-US" sz="900" dirty="0"/>
          </a:p>
        </p:txBody>
      </p:sp>
      <p:sp>
        <p:nvSpPr>
          <p:cNvPr id="6" name="Text 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07 · La séance d’ouverture · 39</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A · 07 LA SÉANCE D’OUVERTURE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prestations intellectuelles</a:t>
            </a:r>
            <a:endParaRPr lang="en-US" sz="26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1188720"/>
                <a:gridCol w="2377440"/>
                <a:gridCol w="78638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N°</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RG-SEA-27</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La première séance n’ouvre que les techniques</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Seules les enveloppes techniques sont listées, leurs parts demandées et ouvertes ; les financières restent scellées. Un montant trouvé dans une technique n’est pas lu (alerte « Montant dans l’enveloppe technique ») ; une proposition sans financière est signalée. Le PV ne lit aucun montant.</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RG-SEA-28</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La seconde séance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Elle s’ouvre quand l’évaluation technique est arrêtée sur chaque lot, avec les mêmes clés et le même quorum des parts. Seules les financières des propositions qualifiées s’ouvrent ; les autres ne s’ouvrent jamais, avec leur motif. Après l’échec d’une négociation, une séance complémentaire ouvre celle du suivant. Depuis le 10/10, son PV se signe comme celui de la première séance.</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bl>
          </a:graphicData>
        </a:graphic>
      </p:graphicFrame>
      <p:sp>
        <p:nvSpPr>
          <p:cNvPr id="5" name="Text 2"/>
          <p:cNvSpPr/>
          <p:nvPr/>
        </p:nvSpPr>
        <p:spPr>
          <a:xfrm>
            <a:off x="812780" y="5905500"/>
            <a:ext cx="10540736" cy="508000"/>
          </a:xfrm>
          <a:prstGeom prst="rect">
            <a:avLst/>
          </a:prstGeom>
          <a:noFill/>
          <a:ln/>
        </p:spPr>
        <p:txBody>
          <a:bodyPr wrap="square" rtlCol="0" anchor="b">
            <a:normAutofit/>
          </a:bodyPr>
          <a:lstStyle/>
          <a:p>
            <a:pPr indent="0" marL="0">
              <a:buNone/>
            </a:pPr>
            <a:r>
              <a:rPr lang="en-US" sz="900" dirty="0">
                <a:solidFill>
                  <a:srgbClr val="6A7787"/>
                </a:solidFill>
                <a:latin typeface="Segoe UI" pitchFamily="34" charset="0"/>
                <a:ea typeface="Segoe UI" pitchFamily="34" charset="-122"/>
                <a:cs typeface="Segoe UI" pitchFamily="34" charset="-120"/>
              </a:rPr>
              <a:t>Source : Lot 3 PI : demande evaluation-pi du 07/10, tranche PI-b · Lot 3 PI : tranches PI-d1 et PI-d2a ; regles-gestion.md § ⚠️ 2026-10-10, tranche R1</a:t>
            </a:r>
            <a:endParaRPr lang="en-US" sz="900" dirty="0"/>
          </a:p>
        </p:txBody>
      </p:sp>
      <p:sp>
        <p:nvSpPr>
          <p:cNvPr id="6" name="Text 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07 · La séance d’ouverture · 40</a:t>
            </a:r>
            <a:endParaRPr lang="en-US" sz="11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A · 07 LA SÉANCE D’OUVERTURE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 quorum de la commission</a:t>
            </a:r>
            <a:endParaRPr lang="en-US" sz="26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593324" y="1206500"/>
          <a:ext cx="11430000" cy="914400"/>
        </p:xfrm>
        <a:graphic>
          <a:graphicData uri="http://schemas.openxmlformats.org/drawingml/2006/table">
            <a:tbl>
              <a:tblPr/>
              <a:tblGrid>
                <a:gridCol w="1188720"/>
                <a:gridCol w="2377440"/>
                <a:gridCol w="7863840"/>
              </a:tblGrid>
              <a:tr h="0">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N°</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Règle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1100" b="1" dirty="0">
                          <a:solidFill>
                            <a:srgbClr val="FCFCFA"/>
                          </a:solidFill>
                          <a:latin typeface="Segoe UI" pitchFamily="34" charset="0"/>
                          <a:ea typeface="Segoe UI" pitchFamily="34" charset="-122"/>
                          <a:cs typeface="Segoe UI" pitchFamily="34" charset="-120"/>
                        </a:rPr>
                        <a:t>Ce qui s’applique</a:t>
                      </a:r>
                      <a:endParaRPr lang="en-US" sz="11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RG-SEA-29</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La commission ne délibère qu’au quorum</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La règle du quorum est réglée par l’Administrateur pour toutes les procédures — par défaut la </a:t>
                      </a:r>
                      <a:pPr indent="0" marL="0">
                        <a:buNone/>
                      </a:pPr>
                      <a:r>
                        <a:rPr lang="en-US" sz="1100" b="1" dirty="0">
                          <a:solidFill>
                            <a:srgbClr val="1B2A3A"/>
                          </a:solidFill>
                          <a:latin typeface="Segoe UI" pitchFamily="34" charset="0"/>
                          <a:ea typeface="Segoe UI" pitchFamily="34" charset="-122"/>
                          <a:cs typeface="Segoe UI" pitchFamily="34" charset="-120"/>
                        </a:rPr>
                        <a:t>majorité</a:t>
                      </a:r>
                      <a:pPr indent="0" marL="0">
                        <a:buNone/>
                      </a:pPr>
                      <a:r>
                        <a:rPr lang="en-US" sz="1100" dirty="0">
                          <a:solidFill>
                            <a:srgbClr val="1B2A3A"/>
                          </a:solidFill>
                          <a:latin typeface="Segoe UI" pitchFamily="34" charset="0"/>
                          <a:ea typeface="Segoe UI" pitchFamily="34" charset="-122"/>
                          <a:cs typeface="Segoe UI" pitchFamily="34" charset="-120"/>
                        </a:rPr>
                        <a:t> (plus de la moitié des membres désignés), ou tous, ou un nombre — et peut être surchargée procédure par procédure. Le </a:t>
                      </a:r>
                      <a:pPr indent="0" marL="0">
                        <a:buNone/>
                      </a:pPr>
                      <a:r>
                        <a:rPr lang="en-US" sz="1100" b="1" dirty="0">
                          <a:solidFill>
                            <a:srgbClr val="1B2A3A"/>
                          </a:solidFill>
                          <a:latin typeface="Segoe UI" pitchFamily="34" charset="0"/>
                          <a:ea typeface="Segoe UI" pitchFamily="34" charset="-122"/>
                          <a:cs typeface="Segoe UI" pitchFamily="34" charset="-120"/>
                        </a:rPr>
                        <a:t>président</a:t>
                      </a:r>
                      <a:pPr indent="0" marL="0">
                        <a:buNone/>
                      </a:pPr>
                      <a:r>
                        <a:rPr lang="en-US" sz="1100" dirty="0">
                          <a:solidFill>
                            <a:srgbClr val="1B2A3A"/>
                          </a:solidFill>
                          <a:latin typeface="Segoe UI" pitchFamily="34" charset="0"/>
                          <a:ea typeface="Segoe UI" pitchFamily="34" charset="-122"/>
                          <a:cs typeface="Segoe UI" pitchFamily="34" charset="-120"/>
                        </a:rPr>
                        <a:t>, ou son représentant désigné, est toujours requis en plus. Le quorum bloque la clôture de la séance d’ouverture et de la seconde séance ; le quorum constaté est imprimé au PV. Sur une commission de deux membres, la majorité vaut l’unanimité. Il est distinct du quorum des parts de clé.</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950" b="1" dirty="0">
                          <a:solidFill>
                            <a:srgbClr val="1B6FA8"/>
                          </a:solidFill>
                          <a:latin typeface="Consolas" pitchFamily="34" charset="0"/>
                          <a:ea typeface="Consolas" pitchFamily="34" charset="-122"/>
                          <a:cs typeface="Consolas" pitchFamily="34" charset="-120"/>
                        </a:rPr>
                        <a:t>RG-SEA-30</a:t>
                      </a:r>
                      <a:endParaRPr lang="en-US" sz="950" dirty="0">
                        <a:latin typeface="Consolas" charset="0"/>
                        <a:ea typeface="Consolas" charset="0"/>
                        <a:cs typeface="Consolas"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b="1" dirty="0">
                          <a:solidFill>
                            <a:srgbClr val="1B2A3A"/>
                          </a:solidFill>
                          <a:latin typeface="Segoe UI" pitchFamily="34" charset="0"/>
                          <a:ea typeface="Segoe UI" pitchFamily="34" charset="-122"/>
                          <a:cs typeface="Segoe UI" pitchFamily="34" charset="-120"/>
                        </a:rPr>
                        <a:t>Le représentant du président, par contexte</a:t>
                      </a:r>
                      <a:endParaRPr lang="en-US" sz="1100" dirty="0">
                        <a:latin typeface="Segoe UI" charset="0"/>
                        <a:ea typeface="Segoe UI" charset="0"/>
                        <a:cs typeface="Segoe UI" charset="0"/>
                      </a:endParaRPr>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1100" dirty="0">
                          <a:solidFill>
                            <a:srgbClr val="1B2A3A"/>
                          </a:solidFill>
                          <a:latin typeface="Segoe UI" pitchFamily="34" charset="0"/>
                          <a:ea typeface="Segoe UI" pitchFamily="34" charset="-122"/>
                          <a:cs typeface="Segoe UI" pitchFamily="34" charset="-120"/>
                        </a:rPr>
                        <a:t>Le président désigne, s’il le souhaite, le membre qui le représente pour un contexte précis : séance d’ouverture, seconde séance, rapport d’évaluation, liste de l’AMI. Sans désignation, il est lui-même requis. La désignation n’est plus possible une fois un dossier de marché de la procédure soumis à la Commission.</a:t>
                      </a:r>
                      <a:endParaRPr lang="en-US" sz="1100" dirty="0"/>
                    </a:p>
                  </a:txBody>
                  <a:tcPr marL="76200" marR="76200" marT="50800" marB="508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bl>
          </a:graphicData>
        </a:graphic>
      </p:graphicFrame>
      <p:sp>
        <p:nvSpPr>
          <p:cNvPr id="5" name="Text 2"/>
          <p:cNvSpPr/>
          <p:nvPr/>
        </p:nvSpPr>
        <p:spPr>
          <a:xfrm>
            <a:off x="812780" y="5905500"/>
            <a:ext cx="10540736" cy="508000"/>
          </a:xfrm>
          <a:prstGeom prst="rect">
            <a:avLst/>
          </a:prstGeom>
          <a:noFill/>
          <a:ln/>
        </p:spPr>
        <p:txBody>
          <a:bodyPr wrap="square" rtlCol="0" anchor="b">
            <a:normAutofit/>
          </a:bodyPr>
          <a:lstStyle/>
          <a:p>
            <a:pPr indent="0" marL="0">
              <a:buNone/>
            </a:pPr>
            <a:r>
              <a:rPr lang="en-US" sz="900" dirty="0">
                <a:solidFill>
                  <a:srgbClr val="6A7787"/>
                </a:solidFill>
                <a:latin typeface="Segoe UI" pitchFamily="34" charset="0"/>
                <a:ea typeface="Segoe UI" pitchFamily="34" charset="-122"/>
                <a:cs typeface="Segoe UI" pitchFamily="34" charset="-120"/>
              </a:rPr>
              <a:t>Source : regles-gestion.md § ⚠️ 2026-10-10 — le quorum de la commission (manuel révisé, lot 1, tranche R1 ; arbitrage Q5) · regles-gestion.md § ⚠️ 2026-10-10, tranche R1 ; écran de la commission (features/cao/procedure-cao.ts, R9c)</a:t>
            </a:r>
            <a:endParaRPr lang="en-US" sz="900" dirty="0"/>
          </a:p>
        </p:txBody>
      </p:sp>
      <p:sp>
        <p:nvSpPr>
          <p:cNvPr id="6" name="Text 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07 · La séance d’ouverture · 41</a:t>
            </a:r>
            <a:endParaRPr lang="en-US" sz="11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12324A"/>
        </a:solidFill>
      </p:bgPr>
    </p:bg>
    <p:spTree>
      <p:nvGrpSpPr>
        <p:cNvPr id="1" name=""/>
        <p:cNvGrpSpPr/>
        <p:nvPr/>
      </p:nvGrpSpPr>
      <p:grpSpPr>
        <a:xfrm>
          <a:off x="0" y="0"/>
          <a:ext cx="0" cy="0"/>
          <a:chOff x="0" y="0"/>
          <a:chExt cx="0" cy="0"/>
        </a:xfrm>
      </p:grpSpPr>
      <p:sp>
        <p:nvSpPr>
          <p:cNvPr id="2" name="Shape 0"/>
          <p:cNvSpPr/>
          <p:nvPr/>
        </p:nvSpPr>
        <p:spPr>
          <a:xfrm>
            <a:off x="0" y="0"/>
            <a:ext cx="152396" cy="6858000"/>
          </a:xfrm>
          <a:prstGeom prst="rect">
            <a:avLst/>
          </a:prstGeom>
          <a:solidFill>
            <a:srgbClr val="E3AE2E"/>
          </a:solidFill>
          <a:ln w="12700">
            <a:solidFill>
              <a:srgbClr val="E3AE2E"/>
            </a:solidFill>
            <a:prstDash val="solid"/>
          </a:ln>
        </p:spPr>
      </p:sp>
      <p:sp>
        <p:nvSpPr>
          <p:cNvPr id="3" name="Text 1"/>
          <p:cNvSpPr/>
          <p:nvPr/>
        </p:nvSpPr>
        <p:spPr>
          <a:xfrm>
            <a:off x="812780" y="698500"/>
            <a:ext cx="3809905" cy="952500"/>
          </a:xfrm>
          <a:prstGeom prst="rect">
            <a:avLst/>
          </a:prstGeom>
          <a:noFill/>
          <a:ln/>
        </p:spPr>
        <p:txBody>
          <a:bodyPr wrap="square" rtlCol="0" anchor="ctr"/>
          <a:lstStyle/>
          <a:p>
            <a:pPr indent="0" marL="0">
              <a:buNone/>
            </a:pPr>
            <a:r>
              <a:rPr lang="en-US" sz="7200" b="1" dirty="0">
                <a:solidFill>
                  <a:srgbClr val="E3AE2E"/>
                </a:solidFill>
                <a:latin typeface="Segoe UI" pitchFamily="34" charset="0"/>
                <a:ea typeface="Segoe UI" pitchFamily="34" charset="-122"/>
                <a:cs typeface="Segoe UI" pitchFamily="34" charset="-120"/>
              </a:rPr>
              <a:t>B</a:t>
            </a:r>
            <a:endParaRPr lang="en-US" sz="7200" dirty="0"/>
          </a:p>
        </p:txBody>
      </p:sp>
      <p:sp>
        <p:nvSpPr>
          <p:cNvPr id="4" name="Text 2"/>
          <p:cNvSpPr/>
          <p:nvPr/>
        </p:nvSpPr>
        <p:spPr>
          <a:xfrm>
            <a:off x="812780" y="1714500"/>
            <a:ext cx="10477238" cy="635000"/>
          </a:xfrm>
          <a:prstGeom prst="rect">
            <a:avLst/>
          </a:prstGeom>
          <a:noFill/>
          <a:ln/>
        </p:spPr>
        <p:txBody>
          <a:bodyPr wrap="square" rtlCol="0" anchor="ctr">
            <a:normAutofit/>
          </a:bodyPr>
          <a:lstStyle/>
          <a:p>
            <a:pPr indent="0" marL="0">
              <a:buNone/>
            </a:pPr>
            <a:r>
              <a:rPr lang="en-US" sz="4000" b="1" dirty="0">
                <a:solidFill>
                  <a:srgbClr val="FCFCFA"/>
                </a:solidFill>
                <a:latin typeface="Segoe UI" pitchFamily="34" charset="0"/>
                <a:ea typeface="Segoe UI" pitchFamily="34" charset="-122"/>
                <a:cs typeface="Segoe UI" pitchFamily="34" charset="-120"/>
              </a:rPr>
              <a:t>Annexe B — La référence des données</a:t>
            </a:r>
            <a:endParaRPr lang="en-US" sz="4000" dirty="0"/>
          </a:p>
        </p:txBody>
      </p:sp>
      <p:sp>
        <p:nvSpPr>
          <p:cNvPr id="5" name="Text 3"/>
          <p:cNvSpPr/>
          <p:nvPr/>
        </p:nvSpPr>
        <p:spPr>
          <a:xfrm>
            <a:off x="812780" y="2413000"/>
            <a:ext cx="10159746" cy="698500"/>
          </a:xfrm>
          <a:prstGeom prst="rect">
            <a:avLst/>
          </a:prstGeom>
          <a:noFill/>
          <a:ln/>
        </p:spPr>
        <p:txBody>
          <a:bodyPr wrap="square" rtlCol="0" anchor="t">
            <a:normAutofit/>
          </a:bodyPr>
          <a:lstStyle/>
          <a:p>
            <a:pPr indent="0" marL="0">
              <a:buNone/>
            </a:pPr>
            <a:r>
              <a:rPr lang="en-US" sz="1700" dirty="0">
                <a:solidFill>
                  <a:srgbClr val="C9D6E2"/>
                </a:solidFill>
                <a:latin typeface="Segoe UI" pitchFamily="34" charset="0"/>
                <a:ea typeface="Segoe UI" pitchFamily="34" charset="-122"/>
                <a:cs typeface="Segoe UI" pitchFamily="34" charset="-120"/>
              </a:rPr>
              <a:t>Partie par partie, les objets que l’application crée ou modifie, et toutes leurs informations : nom, type et valeurs, caractère obligatoire, description tirée du serveur.</a:t>
            </a:r>
            <a:endParaRPr lang="en-US" sz="1700" dirty="0"/>
          </a:p>
        </p:txBody>
      </p:sp>
      <p:sp>
        <p:nvSpPr>
          <p:cNvPr id="6" name="Text 4"/>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8FA6BB"/>
                </a:solidFill>
                <a:latin typeface="Segoe UI" pitchFamily="34" charset="0"/>
                <a:ea typeface="Segoe UI" pitchFamily="34" charset="-122"/>
                <a:cs typeface="Segoe UI" pitchFamily="34" charset="-120"/>
              </a:rPr>
              <a:t>PRS 2.0 · Étape 07 · La séance d’ouverture · 42</a:t>
            </a:r>
            <a:endParaRPr lang="en-US" sz="11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B · 07 LA SÉANCE D’OUVERTURE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Les données de l’étape</a:t>
            </a:r>
            <a:endParaRPr lang="en-US" sz="2600" dirty="0"/>
          </a:p>
        </p:txBody>
      </p:sp>
      <p:sp>
        <p:nvSpPr>
          <p:cNvPr id="4" name="Text 2"/>
          <p:cNvSpPr/>
          <p:nvPr/>
        </p:nvSpPr>
        <p:spPr>
          <a:xfrm>
            <a:off x="812780" y="1066800"/>
            <a:ext cx="10413740" cy="508000"/>
          </a:xfrm>
          <a:prstGeom prst="rect">
            <a:avLst/>
          </a:prstGeom>
          <a:noFill/>
          <a:ln/>
        </p:spPr>
        <p:txBody>
          <a:bodyPr wrap="square" rtlCol="0" anchor="t">
            <a:normAutofit/>
          </a:bodyPr>
          <a:lstStyle/>
          <a:p>
            <a:pPr indent="0" marL="0">
              <a:buNone/>
            </a:pPr>
            <a:r>
              <a:rPr lang="en-US" sz="1300" dirty="0">
                <a:solidFill>
                  <a:srgbClr val="465568"/>
                </a:solidFill>
                <a:latin typeface="Segoe UI" pitchFamily="34" charset="0"/>
                <a:ea typeface="Segoe UI" pitchFamily="34" charset="-122"/>
                <a:cs typeface="Segoe UI" pitchFamily="34" charset="-120"/>
              </a:rPr>
              <a:t>Chaque objet que cette étape crée ou modifie, avec la table du serveur qui le conserve et le nombre de ses informations.</a:t>
            </a:r>
            <a:endParaRPr lang="en-US" sz="13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593324" y="1651000"/>
          <a:ext cx="11430000" cy="914400"/>
        </p:xfrm>
        <a:graphic>
          <a:graphicData uri="http://schemas.openxmlformats.org/drawingml/2006/table">
            <a:tbl>
              <a:tblPr/>
              <a:tblGrid>
                <a:gridCol w="2926080"/>
                <a:gridCol w="2103120"/>
                <a:gridCol w="1005840"/>
                <a:gridCol w="5394960"/>
              </a:tblGrid>
              <a:tr h="0">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Objet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Table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Informations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Ce qu’il porte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algn="l" indent="0" marL="0">
                        <a:buNone/>
                      </a:pPr>
                      <a:r>
                        <a:rPr lang="en-US" sz="1000" b="1" dirty="0">
                          <a:solidFill>
                            <a:srgbClr val="1B2A3A"/>
                          </a:solidFill>
                          <a:latin typeface="Segoe UI" pitchFamily="34" charset="0"/>
                          <a:ea typeface="Segoe UI" pitchFamily="34" charset="-122"/>
                          <a:cs typeface="Segoe UI" pitchFamily="34" charset="-120"/>
                        </a:rPr>
                        <a:t>La signature du PV de la seconde séance (lot 3)</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l" indent="0" marL="0">
                        <a:buNone/>
                      </a:pPr>
                      <a:r>
                        <a:rPr lang="en-US" sz="1000" dirty="0">
                          <a:solidFill>
                            <a:srgbClr val="1B2A3A"/>
                          </a:solidFill>
                          <a:latin typeface="Consolas" pitchFamily="34" charset="0"/>
                          <a:ea typeface="Consolas" pitchFamily="34" charset="-122"/>
                          <a:cs typeface="Consolas" pitchFamily="34" charset="-120"/>
                        </a:rPr>
                        <a:t>t_seance_financiere_signature</a:t>
                      </a:r>
                      <a:endParaRPr lang="en-US" sz="10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1000" dirty="0">
                          <a:solidFill>
                            <a:srgbClr val="1B2A3A"/>
                          </a:solidFill>
                          <a:latin typeface="Segoe UI" pitchFamily="34" charset="0"/>
                          <a:ea typeface="Segoe UI" pitchFamily="34" charset="-122"/>
                          <a:cs typeface="Segoe UI" pitchFamily="34" charset="-120"/>
                        </a:rPr>
                        <a:t>8</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l" indent="0" marL="0">
                        <a:buNone/>
                      </a:pPr>
                      <a:r>
                        <a:rPr lang="en-US" sz="1000" dirty="0">
                          <a:solidFill>
                            <a:srgbClr val="465568"/>
                          </a:solidFill>
                          <a:latin typeface="Segoe UI" pitchFamily="34" charset="0"/>
                          <a:ea typeface="Segoe UI" pitchFamily="34" charset="-122"/>
                          <a:cs typeface="Segoe UI" pitchFamily="34" charset="-120"/>
                        </a:rPr>
                        <a:t>La signature électronique simple du PV de la seconde séance (propositions financières, PI) par un membre présent, ou son empêchement constaté ; sur le modèle de SeanceSignature, par ronde.</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algn="l" indent="0" marL="0">
                        <a:buNone/>
                      </a:pPr>
                      <a:r>
                        <a:rPr lang="en-US" sz="1000" b="1" dirty="0">
                          <a:solidFill>
                            <a:srgbClr val="1B2A3A"/>
                          </a:solidFill>
                          <a:latin typeface="Segoe UI" pitchFamily="34" charset="0"/>
                          <a:ea typeface="Segoe UI" pitchFamily="34" charset="-122"/>
                          <a:cs typeface="Segoe UI" pitchFamily="34" charset="-120"/>
                        </a:rPr>
                        <a:t>La séance d’ouverture</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l" indent="0" marL="0">
                        <a:buNone/>
                      </a:pPr>
                      <a:r>
                        <a:rPr lang="en-US" sz="1000" dirty="0">
                          <a:solidFill>
                            <a:srgbClr val="1B2A3A"/>
                          </a:solidFill>
                          <a:latin typeface="Consolas" pitchFamily="34" charset="0"/>
                          <a:ea typeface="Consolas" pitchFamily="34" charset="-122"/>
                          <a:cs typeface="Consolas" pitchFamily="34" charset="-120"/>
                        </a:rPr>
                        <a:t>t_seance</a:t>
                      </a:r>
                      <a:endParaRPr lang="en-US" sz="10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1000" dirty="0">
                          <a:solidFill>
                            <a:srgbClr val="1B2A3A"/>
                          </a:solidFill>
                          <a:latin typeface="Segoe UI" pitchFamily="34" charset="0"/>
                          <a:ea typeface="Segoe UI" pitchFamily="34" charset="-122"/>
                          <a:cs typeface="Segoe UI" pitchFamily="34" charset="-120"/>
                        </a:rPr>
                        <a:t>10</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l" indent="0" marL="0">
                        <a:buNone/>
                      </a:pPr>
                      <a:r>
                        <a:rPr lang="en-US" sz="1000" dirty="0">
                          <a:solidFill>
                            <a:srgbClr val="465568"/>
                          </a:solidFill>
                          <a:latin typeface="Segoe UI" pitchFamily="34" charset="0"/>
                          <a:ea typeface="Segoe UI" pitchFamily="34" charset="-122"/>
                          <a:cs typeface="Segoe UI" pitchFamily="34" charset="-120"/>
                        </a:rPr>
                        <a:t>La séance d'ouverture des plis d'une procédure :</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algn="l" indent="0" marL="0">
                        <a:buNone/>
                      </a:pPr>
                      <a:r>
                        <a:rPr lang="en-US" sz="1000" b="1" dirty="0">
                          <a:solidFill>
                            <a:srgbClr val="1B2A3A"/>
                          </a:solidFill>
                          <a:latin typeface="Segoe UI" pitchFamily="34" charset="0"/>
                          <a:ea typeface="Segoe UI" pitchFamily="34" charset="-122"/>
                          <a:cs typeface="Segoe UI" pitchFamily="34" charset="-120"/>
                        </a:rPr>
                        <a:t>L’apport des parts d’un détenteur</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l" indent="0" marL="0">
                        <a:buNone/>
                      </a:pPr>
                      <a:r>
                        <a:rPr lang="en-US" sz="1000" dirty="0">
                          <a:solidFill>
                            <a:srgbClr val="1B2A3A"/>
                          </a:solidFill>
                          <a:latin typeface="Consolas" pitchFamily="34" charset="0"/>
                          <a:ea typeface="Consolas" pitchFamily="34" charset="-122"/>
                          <a:cs typeface="Consolas" pitchFamily="34" charset="-120"/>
                        </a:rPr>
                        <a:t>t_seance_apport</a:t>
                      </a:r>
                      <a:endParaRPr lang="en-US" sz="10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1000" dirty="0">
                          <a:solidFill>
                            <a:srgbClr val="1B2A3A"/>
                          </a:solidFill>
                          <a:latin typeface="Segoe UI" pitchFamily="34" charset="0"/>
                          <a:ea typeface="Segoe UI" pitchFamily="34" charset="-122"/>
                          <a:cs typeface="Segoe UI" pitchFamily="34" charset="-120"/>
                        </a:rPr>
                        <a:t>5</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l" indent="0" marL="0">
                        <a:buNone/>
                      </a:pPr>
                      <a:r>
                        <a:rPr lang="en-US" sz="1000" dirty="0">
                          <a:solidFill>
                            <a:srgbClr val="465568"/>
                          </a:solidFill>
                          <a:latin typeface="Segoe UI" pitchFamily="34" charset="0"/>
                          <a:ea typeface="Segoe UI" pitchFamily="34" charset="-122"/>
                          <a:cs typeface="Segoe UI" pitchFamily="34" charset="-120"/>
                        </a:rPr>
                        <a:t>Un apport de parts en séance : qui (K… ou SECOURS), combien, quand. Jamais les parts.</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algn="l" indent="0" marL="0">
                        <a:buNone/>
                      </a:pPr>
                      <a:r>
                        <a:rPr lang="en-US" sz="1000" b="1" dirty="0">
                          <a:solidFill>
                            <a:srgbClr val="1B2A3A"/>
                          </a:solidFill>
                          <a:latin typeface="Segoe UI" pitchFamily="34" charset="0"/>
                          <a:ea typeface="Segoe UI" pitchFamily="34" charset="-122"/>
                          <a:cs typeface="Segoe UI" pitchFamily="34" charset="-120"/>
                        </a:rPr>
                        <a:t>La signature du PV d’ouverture</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l" indent="0" marL="0">
                        <a:buNone/>
                      </a:pPr>
                      <a:r>
                        <a:rPr lang="en-US" sz="1000" dirty="0">
                          <a:solidFill>
                            <a:srgbClr val="1B2A3A"/>
                          </a:solidFill>
                          <a:latin typeface="Consolas" pitchFamily="34" charset="0"/>
                          <a:ea typeface="Consolas" pitchFamily="34" charset="-122"/>
                          <a:cs typeface="Consolas" pitchFamily="34" charset="-120"/>
                        </a:rPr>
                        <a:t>t_seance_signature</a:t>
                      </a:r>
                      <a:endParaRPr lang="en-US" sz="10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1000" dirty="0">
                          <a:solidFill>
                            <a:srgbClr val="1B2A3A"/>
                          </a:solidFill>
                          <a:latin typeface="Segoe UI" pitchFamily="34" charset="0"/>
                          <a:ea typeface="Segoe UI" pitchFamily="34" charset="-122"/>
                          <a:cs typeface="Segoe UI" pitchFamily="34" charset="-120"/>
                        </a:rPr>
                        <a:t>7</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l" indent="0" marL="0">
                        <a:buNone/>
                      </a:pPr>
                      <a:r>
                        <a:rPr lang="en-US" sz="1000" dirty="0">
                          <a:solidFill>
                            <a:srgbClr val="465568"/>
                          </a:solidFill>
                          <a:latin typeface="Segoe UI" pitchFamily="34" charset="0"/>
                          <a:ea typeface="Segoe UI" pitchFamily="34" charset="-122"/>
                          <a:cs typeface="Segoe UI" pitchFamily="34" charset="-120"/>
                        </a:rPr>
                        <a:t>La signature électronique simple du PV d'ouverture par un membre présent de la CAO (l'acte authentifié du membre connecté, horodaté), ou son empêchement constaté par le président, avec un motif porté au PV.</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algn="l" indent="0" marL="0">
                        <a:buNone/>
                      </a:pPr>
                      <a:r>
                        <a:rPr lang="en-US" sz="1000" b="1" dirty="0">
                          <a:solidFill>
                            <a:srgbClr val="1B2A3A"/>
                          </a:solidFill>
                          <a:latin typeface="Segoe UI" pitchFamily="34" charset="0"/>
                          <a:ea typeface="Segoe UI" pitchFamily="34" charset="-122"/>
                          <a:cs typeface="Segoe UI" pitchFamily="34" charset="-120"/>
                        </a:rPr>
                        <a:t>Le journal de la séance</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l" indent="0" marL="0">
                        <a:buNone/>
                      </a:pPr>
                      <a:r>
                        <a:rPr lang="en-US" sz="1000" dirty="0">
                          <a:solidFill>
                            <a:srgbClr val="1B2A3A"/>
                          </a:solidFill>
                          <a:latin typeface="Consolas" pitchFamily="34" charset="0"/>
                          <a:ea typeface="Consolas" pitchFamily="34" charset="-122"/>
                          <a:cs typeface="Consolas" pitchFamily="34" charset="-120"/>
                        </a:rPr>
                        <a:t>t_seance_journal</a:t>
                      </a:r>
                      <a:endParaRPr lang="en-US" sz="10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1000" dirty="0">
                          <a:solidFill>
                            <a:srgbClr val="1B2A3A"/>
                          </a:solidFill>
                          <a:latin typeface="Segoe UI" pitchFamily="34" charset="0"/>
                          <a:ea typeface="Segoe UI" pitchFamily="34" charset="-122"/>
                          <a:cs typeface="Segoe UI" pitchFamily="34" charset="-120"/>
                        </a:rPr>
                        <a:t>6</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l" indent="0" marL="0">
                        <a:buNone/>
                      </a:pPr>
                      <a:r>
                        <a:rPr lang="en-US" sz="1000" dirty="0">
                          <a:solidFill>
                            <a:srgbClr val="465568"/>
                          </a:solidFill>
                          <a:latin typeface="Segoe UI" pitchFamily="34" charset="0"/>
                          <a:ea typeface="Segoe UI" pitchFamily="34" charset="-122"/>
                          <a:cs typeface="Segoe UI" pitchFamily="34" charset="-120"/>
                        </a:rPr>
                        <a:t>Le journal de la séance ; jamais une part.</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algn="l" indent="0" marL="0">
                        <a:buNone/>
                      </a:pPr>
                      <a:r>
                        <a:rPr lang="en-US" sz="1000" b="1" dirty="0">
                          <a:solidFill>
                            <a:srgbClr val="1B2A3A"/>
                          </a:solidFill>
                          <a:latin typeface="Segoe UI" pitchFamily="34" charset="0"/>
                          <a:ea typeface="Segoe UI" pitchFamily="34" charset="-122"/>
                          <a:cs typeface="Segoe UI" pitchFamily="34" charset="-120"/>
                        </a:rPr>
                        <a:t>La seconde séance (propositions financières, lot 3)</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l" indent="0" marL="0">
                        <a:buNone/>
                      </a:pPr>
                      <a:r>
                        <a:rPr lang="en-US" sz="1000" dirty="0">
                          <a:solidFill>
                            <a:srgbClr val="1B2A3A"/>
                          </a:solidFill>
                          <a:latin typeface="Consolas" pitchFamily="34" charset="0"/>
                          <a:ea typeface="Consolas" pitchFamily="34" charset="-122"/>
                          <a:cs typeface="Consolas" pitchFamily="34" charset="-120"/>
                        </a:rPr>
                        <a:t>t_seance_financiere</a:t>
                      </a:r>
                      <a:endParaRPr lang="en-US" sz="10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1000" dirty="0">
                          <a:solidFill>
                            <a:srgbClr val="1B2A3A"/>
                          </a:solidFill>
                          <a:latin typeface="Segoe UI" pitchFamily="34" charset="0"/>
                          <a:ea typeface="Segoe UI" pitchFamily="34" charset="-122"/>
                          <a:cs typeface="Segoe UI" pitchFamily="34" charset="-120"/>
                        </a:rPr>
                        <a:t>19</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l" indent="0" marL="0">
                        <a:buNone/>
                      </a:pPr>
                      <a:r>
                        <a:rPr lang="en-US" sz="1000" dirty="0">
                          <a:solidFill>
                            <a:srgbClr val="465568"/>
                          </a:solidFill>
                          <a:latin typeface="Segoe UI" pitchFamily="34" charset="0"/>
                          <a:ea typeface="Segoe UI" pitchFamily="34" charset="-122"/>
                          <a:cs typeface="Segoe UI" pitchFamily="34" charset="-120"/>
                        </a:rPr>
                        <a:t>La seconde séance d'ouverture d'une consultation de prestations intellectuelles : les enveloppes financières à ouvrir (A_OUVRIR, identifiants séparés par des virgules, fixés à l'ouverture), son état, ses présents, son PV. V89 (PI-d2a) : une ligne par ronde — 1 = la seconde séance, 2… =…</a:t>
                      </a:r>
                      <a:endParaRPr lang="en-US" sz="10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bl>
          </a:graphicData>
        </a:graphic>
      </p:graphicFrame>
      <p:sp>
        <p:nvSpPr>
          <p:cNvPr id="6" name="Text 3"/>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07 · La séance d’ouverture · 43</a:t>
            </a:r>
            <a:endParaRPr lang="en-US" sz="11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B · 07 LA SÉANCE D’OUVERTURE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Toutes les informations (1/3)</a:t>
            </a:r>
            <a:endParaRPr lang="en-US" sz="26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593324" y="1130300"/>
          <a:ext cx="11430000" cy="914400"/>
        </p:xfrm>
        <a:graphic>
          <a:graphicData uri="http://schemas.openxmlformats.org/drawingml/2006/table">
            <a:tbl>
              <a:tblPr/>
              <a:tblGrid>
                <a:gridCol w="1600200"/>
                <a:gridCol w="2057400"/>
                <a:gridCol w="2240280"/>
                <a:gridCol w="502920"/>
                <a:gridCol w="5029200"/>
              </a:tblGrid>
              <a:tr h="0">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Colonne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Information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Type et valeurs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Oblig.</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Description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gridSpan="5">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La signature du PV de la seconde séance (lot 3)  ·  t_seance_financiere_signature  ·  8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Identifiant de l’enregistrement.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ID_DMC</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DMC</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RONDE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Ronde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IM</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Matricule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DATE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EMPECHEMENT</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Empechement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Oui / non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MOTIF</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Motif</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CONSTATE_PAR</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Constate par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5">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La séance d’ouverture  ·  t_seance  ·  10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PRESENTS</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Presents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Le PV est produit, les membres présents le signent. */ public static final String PV_A_SIGNER = "PV_A_SIGNER"; public static final String ILLISIBLE = "ILLISIBLE"; public static final String CLOSE = "CLOSE"; @Id @Column(name = "ID_DMC", nullable = false) private Long idDmc; @Column(name = "ETAT",…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AUTRES</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Autres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Les autres présents, en JSON : [{ nom, qualite ]}.</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SECOURS_EMPLOYE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Secours employe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Oui / non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SECOURS_MOTIF</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Secours motif</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SECOURS_DEMANDE_MOTIF</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Secours demande motif</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La part de secours demandée au dépositaire par le responsable : motif et date.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SECOURS_DEMANDE_LE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Secours demande 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MOTIF_ILLISIBLE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Motif illisible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OBSERVATIONS</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Observations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SIGNATAIRES</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Signataires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Le PV tel qu'il se publie (B04-OP-13 = OUI) : sans les alertes de rapprochement ni la vérification des NIF. */ @Basic(fetch = FetchType.LAZY) @Column(name = "PV_PUBLIC") private byte[] pvPublic; @Column(name = "PV_PUBLIE", nullable = false) private Boolean pvPublie = Boolean.FALSE; /** V70 (§B2)…</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PV_SIGNE_LE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PV signé 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Le PV entièrement signé (ou les empêchements constatés).</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07 · La séance d’ouverture · 44</a:t>
            </a:r>
            <a:endParaRPr lang="en-US" sz="11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B · 07 LA SÉANCE D’OUVERTURE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Toutes les informations (2/3)</a:t>
            </a:r>
            <a:endParaRPr lang="en-US" sz="26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593324" y="1130300"/>
          <a:ext cx="11430000" cy="914400"/>
        </p:xfrm>
        <a:graphic>
          <a:graphicData uri="http://schemas.openxmlformats.org/drawingml/2006/table">
            <a:tbl>
              <a:tblPr/>
              <a:tblGrid>
                <a:gridCol w="1600200"/>
                <a:gridCol w="2057400"/>
                <a:gridCol w="2240280"/>
                <a:gridCol w="502920"/>
                <a:gridCol w="5029200"/>
              </a:tblGrid>
              <a:tr h="0">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Colonne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Information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Type et valeurs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Oblig.</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Description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gridSpan="5">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L’apport des parts d’un détenteur  ·  t_seance_apport  ·  5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Identifiant de l’enregistrement.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ID_DMC</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DMC</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DETENTEUR</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Detenteur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NOMBRE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Nombre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DATE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5">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La signature du PV d’ouverture  ·  t_seance_signature  ·  7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Identifiant de l’enregistrement.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ID_DMC</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DMC</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IM</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Matricule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DATE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EMPECHEMENT</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Empechement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Oui / non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MOTIF</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Motif</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CONSTATE_PAR</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Constate par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gridSpan="5">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Le journal de la séance  ·  t_seance_journal  ·  6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Identifiant de l’enregistrement.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ID_DMC</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DMC</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DATE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Date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ACTEUR</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Acteur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ACTION</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Action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(30)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DETAIL</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Détail</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gridSpan="5">
                  <a:txBody>
                    <a:bodyPr/>
                    <a:lstStyle/>
                    <a:p>
                      <a:pPr indent="0" marL="0">
                        <a:buNone/>
                      </a:pPr>
                      <a:r>
                        <a:rPr lang="en-US" sz="950" b="1" dirty="0">
                          <a:solidFill>
                            <a:srgbClr val="FCFCFA"/>
                          </a:solidFill>
                          <a:latin typeface="Segoe UI" pitchFamily="34" charset="0"/>
                          <a:ea typeface="Segoe UI" pitchFamily="34" charset="-122"/>
                          <a:cs typeface="Segoe UI" pitchFamily="34" charset="-120"/>
                        </a:rPr>
                        <a:t>La seconde séance (propositions financières, lot 3)  ·  t_seance_financiere  ·  19 informations</a:t>
                      </a:r>
                      <a:endParaRPr lang="en-US" sz="9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B6FA8"/>
                    </a:solidFill>
                  </a:tcPr>
                </a:tc>
                <a:tc hMerge="1">
                  <a:tcPr/>
                </a:tc>
                <a:tc hMerge="1">
                  <a:tcPr/>
                </a:tc>
                <a:tc hMerge="1">
                  <a:tcPr/>
                </a:tc>
                <a:tc hMerge="1">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ID_DMC</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DMC</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Identifiant de l’enregistrement.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RONDE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Ronde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Identifiant de l’enregistrement.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MOTIF</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Motif</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07 · La séance d’ouverture · 45</a:t>
            </a:r>
            <a:endParaRPr lang="en-US" sz="11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5F6F2"/>
        </a:solidFill>
      </p:bgPr>
    </p:bg>
    <p:spTree>
      <p:nvGrpSpPr>
        <p:cNvPr id="1" name=""/>
        <p:cNvGrpSpPr/>
        <p:nvPr/>
      </p:nvGrpSpPr>
      <p:grpSpPr>
        <a:xfrm>
          <a:off x="0" y="0"/>
          <a:ext cx="0" cy="0"/>
          <a:chOff x="0" y="0"/>
          <a:chExt cx="0" cy="0"/>
        </a:xfrm>
      </p:grpSpPr>
      <p:sp>
        <p:nvSpPr>
          <p:cNvPr id="2" name="Text 0"/>
          <p:cNvSpPr/>
          <p:nvPr/>
        </p:nvSpPr>
        <p:spPr>
          <a:xfrm>
            <a:off x="812780" y="381000"/>
            <a:ext cx="10566136" cy="215900"/>
          </a:xfrm>
          <a:prstGeom prst="rect">
            <a:avLst/>
          </a:prstGeom>
          <a:noFill/>
          <a:ln/>
        </p:spPr>
        <p:txBody>
          <a:bodyPr wrap="square" rtlCol="0" anchor="ctr"/>
          <a:lstStyle/>
          <a:p>
            <a:pPr indent="0" marL="0">
              <a:buNone/>
            </a:pPr>
            <a:r>
              <a:rPr lang="en-US" sz="1200" b="1" spc="200" kern="0" dirty="0">
                <a:solidFill>
                  <a:srgbClr val="1B6FA8"/>
                </a:solidFill>
                <a:latin typeface="Segoe UI" pitchFamily="34" charset="0"/>
                <a:ea typeface="Segoe UI" pitchFamily="34" charset="-122"/>
                <a:cs typeface="Segoe UI" pitchFamily="34" charset="-120"/>
              </a:rPr>
              <a:t>ANNEXE B · 07 LA SÉANCE D’OUVERTURE</a:t>
            </a:r>
            <a:endParaRPr lang="en-US" sz="1200" dirty="0"/>
          </a:p>
        </p:txBody>
      </p:sp>
      <p:sp>
        <p:nvSpPr>
          <p:cNvPr id="3" name="Text 1"/>
          <p:cNvSpPr/>
          <p:nvPr/>
        </p:nvSpPr>
        <p:spPr>
          <a:xfrm>
            <a:off x="812780" y="609600"/>
            <a:ext cx="10566136" cy="419100"/>
          </a:xfrm>
          <a:prstGeom prst="rect">
            <a:avLst/>
          </a:prstGeom>
          <a:noFill/>
          <a:ln/>
        </p:spPr>
        <p:txBody>
          <a:bodyPr wrap="square" rtlCol="0" anchor="ctr">
            <a:normAutofit/>
          </a:bodyPr>
          <a:lstStyle/>
          <a:p>
            <a:pPr indent="0" marL="0">
              <a:buNone/>
            </a:pPr>
            <a:r>
              <a:rPr lang="en-US" sz="2600" b="1" dirty="0">
                <a:solidFill>
                  <a:srgbClr val="1B2A3A"/>
                </a:solidFill>
                <a:latin typeface="Segoe UI" pitchFamily="34" charset="0"/>
                <a:ea typeface="Segoe UI" pitchFamily="34" charset="-122"/>
                <a:cs typeface="Segoe UI" pitchFamily="34" charset="-120"/>
              </a:rPr>
              <a:t>Toutes les informations (3/3)</a:t>
            </a:r>
            <a:endParaRPr lang="en-US" sz="26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593324" y="1130300"/>
          <a:ext cx="11430000" cy="914400"/>
        </p:xfrm>
        <a:graphic>
          <a:graphicData uri="http://schemas.openxmlformats.org/drawingml/2006/table">
            <a:tbl>
              <a:tblPr/>
              <a:tblGrid>
                <a:gridCol w="1600200"/>
                <a:gridCol w="2057400"/>
                <a:gridCol w="2240280"/>
                <a:gridCol w="502920"/>
                <a:gridCol w="5029200"/>
              </a:tblGrid>
              <a:tr h="0">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Colonne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Information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Type et valeurs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Oblig.</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c>
                  <a:txBody>
                    <a:bodyPr/>
                    <a:lstStyle/>
                    <a:p>
                      <a:pPr indent="0" marL="0">
                        <a:buNone/>
                      </a:pPr>
                      <a:r>
                        <a:rPr lang="en-US" sz="900" b="1" dirty="0">
                          <a:solidFill>
                            <a:srgbClr val="FCFCFA"/>
                          </a:solidFill>
                          <a:latin typeface="Segoe UI" pitchFamily="34" charset="0"/>
                          <a:ea typeface="Segoe UI" pitchFamily="34" charset="-122"/>
                          <a:cs typeface="Segoe UI" pitchFamily="34" charset="-120"/>
                        </a:rPr>
                        <a:t>Description</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12324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ETAT</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État</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(12) : OUVERTE, DECHIFFREE, CLOSE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METHODE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Methode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(200)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La méthode de sélection (B02-MS-01) : elle décide quelles enveloppes s'ouvrent.</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A_OUVRIR</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 ouvrir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OUVERTE_LE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Ouverte 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OUVERTE_PAR</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Ouverte par</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DECHIFFREE_LE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Dechiffree 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PRESENTS</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Presents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AUTRES</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Autres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SECOURS_EMPLOYE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Secours employe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Oui / non</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r>
                        <a:rPr lang="en-US" sz="900" b="1" dirty="0">
                          <a:solidFill>
                            <a:srgbClr val="B23B3B"/>
                          </a:solidFill>
                          <a:latin typeface="Segoe UI" pitchFamily="34" charset="0"/>
                          <a:ea typeface="Segoe UI" pitchFamily="34" charset="-122"/>
                          <a:cs typeface="Segoe UI" pitchFamily="34" charset="-120"/>
                        </a:rPr>
                        <a:t>Oui</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SECOURS_MOTIF</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Secours motif</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OBSERVATIONS</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Observations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CLOSE_LE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Close 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SIGNATAIRES</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Signataires</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Texte (1000)</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Les présents appelés à signer le PV (comptes, séparés par des virgules).</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PV_SIGNE_LE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PV signé le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Date et heure</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R1 — le PV entièrement signé (ou empêchements constatés).</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idDmc</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Identifiant DMC</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CFCFA"/>
                    </a:solidFill>
                  </a:tcPr>
                </a:tc>
              </a:tr>
              <a:tr h="0">
                <a:tc>
                  <a:txBody>
                    <a:bodyPr/>
                    <a:lstStyle/>
                    <a:p>
                      <a:pPr indent="0" marL="0">
                        <a:buNone/>
                      </a:pPr>
                      <a:r>
                        <a:rPr lang="en-US" sz="800" dirty="0">
                          <a:solidFill>
                            <a:srgbClr val="1B2A3A"/>
                          </a:solidFill>
                          <a:latin typeface="Consolas" pitchFamily="34" charset="0"/>
                          <a:ea typeface="Consolas" pitchFamily="34" charset="-122"/>
                          <a:cs typeface="Consolas" pitchFamily="34" charset="-120"/>
                        </a:rPr>
                        <a:t>ronde</a:t>
                      </a:r>
                      <a:endParaRPr lang="en-US" sz="800" dirty="0">
                        <a:latin typeface="Consolas" charset="0"/>
                        <a:ea typeface="Consolas" charset="0"/>
                        <a:cs typeface="Consolas"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900" dirty="0">
                          <a:solidFill>
                            <a:srgbClr val="1B2A3A"/>
                          </a:solidFill>
                          <a:latin typeface="Segoe UI" pitchFamily="34" charset="0"/>
                          <a:ea typeface="Segoe UI" pitchFamily="34" charset="-122"/>
                          <a:cs typeface="Segoe UI" pitchFamily="34" charset="-120"/>
                        </a:rPr>
                        <a:t>Ronde</a:t>
                      </a: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r>
                        <a:rPr lang="en-US" sz="850" dirty="0">
                          <a:solidFill>
                            <a:srgbClr val="465568"/>
                          </a:solidFill>
                          <a:latin typeface="Segoe UI" pitchFamily="34" charset="0"/>
                          <a:ea typeface="Segoe UI" pitchFamily="34" charset="-122"/>
                          <a:cs typeface="Segoe UI" pitchFamily="34" charset="-120"/>
                        </a:rPr>
                        <a:t>Entier</a:t>
                      </a: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algn="ctr" indent="0" marL="0">
                        <a:buNone/>
                      </a:pPr>
                      <a:endParaRPr lang="en-US" sz="90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c>
                  <a:txBody>
                    <a:bodyPr/>
                    <a:lstStyle/>
                    <a:p>
                      <a:pPr indent="0" marL="0">
                        <a:buNone/>
                      </a:pPr>
                      <a:endParaRPr lang="en-US" sz="850" dirty="0">
                        <a:latin typeface="Segoe UI" charset="0"/>
                        <a:ea typeface="Segoe UI" charset="0"/>
                        <a:cs typeface="Segoe UI" charset="0"/>
                      </a:endParaRPr>
                    </a:p>
                  </a:txBody>
                  <a:tcPr marL="50800" marR="50800" marT="25400" marB="25400" anchor="ctr">
                    <a:lnL w="6350" cap="flat" cmpd="sng" algn="ctr">
                      <a:solidFill>
                        <a:srgbClr val="D5DCE4"/>
                      </a:solidFill>
                      <a:prstDash val="solid"/>
                      <a:round/>
                      <a:headEnd type="none" w="med" len="med"/>
                      <a:tailEnd type="none" w="med" len="med"/>
                    </a:lnL>
                    <a:lnR w="6350" cap="flat" cmpd="sng" algn="ctr">
                      <a:solidFill>
                        <a:srgbClr val="D5DCE4"/>
                      </a:solidFill>
                      <a:prstDash val="solid"/>
                      <a:round/>
                      <a:headEnd type="none" w="med" len="med"/>
                      <a:tailEnd type="none" w="med" len="med"/>
                    </a:lnR>
                    <a:lnT w="6350" cap="flat" cmpd="sng" algn="ctr">
                      <a:solidFill>
                        <a:srgbClr val="D5DCE4"/>
                      </a:solidFill>
                      <a:prstDash val="solid"/>
                      <a:round/>
                      <a:headEnd type="none" w="med" len="med"/>
                      <a:tailEnd type="none" w="med" len="med"/>
                    </a:lnT>
                    <a:lnB w="6350" cap="flat" cmpd="sng" algn="ctr">
                      <a:solidFill>
                        <a:srgbClr val="D5DCE4"/>
                      </a:solidFill>
                      <a:prstDash val="solid"/>
                      <a:round/>
                      <a:headEnd type="none" w="med" len="med"/>
                      <a:tailEnd type="none" w="med" len="med"/>
                    </a:lnB>
                    <a:solidFill>
                      <a:srgbClr val="F0F3F6"/>
                    </a:solidFill>
                  </a:tcPr>
                </a:tc>
              </a:tr>
            </a:tbl>
          </a:graphicData>
        </a:graphic>
      </p:graphicFrame>
      <p:sp>
        <p:nvSpPr>
          <p:cNvPr id="5" name="Text 2"/>
          <p:cNvSpPr/>
          <p:nvPr/>
        </p:nvSpPr>
        <p:spPr>
          <a:xfrm>
            <a:off x="812780" y="6477000"/>
            <a:ext cx="6349841" cy="228600"/>
          </a:xfrm>
          <a:prstGeom prst="rect">
            <a:avLst/>
          </a:prstGeom>
          <a:noFill/>
          <a:ln/>
        </p:spPr>
        <p:txBody>
          <a:bodyPr wrap="square" rtlCol="0" anchor="ctr"/>
          <a:lstStyle/>
          <a:p>
            <a:pPr indent="0" marL="0">
              <a:buNone/>
            </a:pPr>
            <a:r>
              <a:rPr lang="en-US" sz="1100" dirty="0">
                <a:solidFill>
                  <a:srgbClr val="6A7787"/>
                </a:solidFill>
                <a:latin typeface="Segoe UI" pitchFamily="34" charset="0"/>
                <a:ea typeface="Segoe UI" pitchFamily="34" charset="-122"/>
                <a:cs typeface="Segoe UI" pitchFamily="34" charset="-120"/>
              </a:rPr>
              <a:t>PRS 2.0 · Étape 07 · La séance d’ouverture · 46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46</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vector>
  </TitlesOfParts>
  <Company>Commission nationale des marchés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PRS 2.0 — Étape 07 · La séance d’ouverture</dc:title>
  <dc:subject>PptxGenJS Presentation</dc:subject>
  <dc:creator>PRS 2.0</dc:creator>
  <cp:lastModifiedBy>PRS 2.0</cp:lastModifiedBy>
  <cp:revision>1</cp:revision>
  <dcterms:created xsi:type="dcterms:W3CDTF">2026-10-14T12:25:40Z</dcterms:created>
  <dcterms:modified xsi:type="dcterms:W3CDTF">2026-10-14T12:25:40Z</dcterms:modified>
</cp:coreProperties>
</file>