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neuve du 14/10/2026 : 05-ami-fiche.
Écran : /prmp/dao/49 — compte : PRMP.
Noms, matricules, initiales, photos et adresses réelles masqués dans la page avant la capture.
Règles appliquées (annexe A) : RG-AMI-01, RG-AMI-02.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reprise de la présentation du 08/10 : ami__g03-ami-preparation.jpg (« Préparer l’appel »).
Raison : l’état montré ne se reproduit plus sur la base du 14/10 ; l’écran n’a pas changé sur ce qu’il montre.
Règles appliquées (annexe A) : RG-AMI-03, RG-AMI-04, RG-AMI-05.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reprise de la présentation du 08/10 : ami__g04-ami-publier.jpg (« Publier l’appel »).
Raison : l’état montré ne se reproduit plus sur la base du 14/10 ; l’écran n’a pas changé sur ce qu’il montre.
Règles appliquées (annexe A) : RG-AMI-04, RG-AMI-05, RG-AMI-06, RG-AMI-07.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reprise de la présentation du 08/10 : ami__g05-ami-publie.jpg (« L’appel publié »).
Raison : l’état montré ne se reproduit plus sur la base du 14/10 ; l’écran n’a pas changé sur ce qu’il montre.
Règles appliquées (annexe A) : RG-AMI-06, RG-AMI-10.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neuve du 14/10/2026 : 05-ami-prmp.
Écran : /prmp/dao/49/ami — compte : PRMP.
Noms, matricules, initiales, photos et adresses réelles masqués dans la page avant la capture.
Règles appliquées (annexe A) : RG-AMI-08, RG-AMI-09, RG-AMI-10.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reprise de la présentation du 08/10 : ami__h02-preselection-avant-declaration.jpg (« La présélection : les déclarations »).
Raison : l’état montré ne se reproduit plus sur la base du 14/10 ; l’écran n’a pas changé sur ce qu’il montre.
Règles appliquées (annexe A) : RG-AMI-11.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reprise de la présentation du 08/10 : ami__h03-preselection-notation.jpg (« La notation, critère par critère »).
Raison : l’état montré ne se reproduit plus sur la base du 14/10 ; l’écran n’a pas changé sur ce qu’il montre.
Règles appliquées (annexe A) : RG-AMI-12, RG-AMI-13.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neuve du 14/10/2026 : 05-ami-cao-notes.
Écran : /cao/procedures/49/ami — compte : membre de la commission « démonstration ».
Noms, matricules, initiales, photos et adresses réelles masqués dans la page avant la capture.
Règles appliquées (annexe A) : RG-AMI-14, RG-AMI-16.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reprise de la présentation du 08/10 : ami__h05-preselection-arret.jpg (« Arrêter la liste restreinte »).
Raison : l’état montré ne se reproduit plus sur la base du 14/10 ; l’écran n’a pas changé sur ce qu’il montre.
Règles appliquées (annexe A) : RG-AMI-13, RG-AMI-15, RG-AMI-16, RG-AMI-24.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neuve du 14/10/2026 : 05-ami-preselection.
Écran : /procedure/49/ami — compte : PRMP.
Noms, matricules, initiales, photos et adresses réelles masqués dans la page avant la capture.
Règles appliquées (annexe A) : RG-AMI-17, RG-AMI-18, RG-AMI-19, RG-AMI-20, RG-AMI-24.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96" cy="6858000"/>
          </a:xfrm>
          <a:prstGeom prst="rect">
            <a:avLst/>
          </a:prstGeom>
          <a:solidFill>
            <a:srgbClr val="E3AE2E"/>
          </a:solidFill>
          <a:ln w="12700">
            <a:solidFill>
              <a:srgbClr val="E3A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780" y="812800"/>
            <a:ext cx="10159746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COMMISSION NATIONALE DES MARCHÉS · LE PARCOURS D’UN DOSSIER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780" y="1206500"/>
            <a:ext cx="5079873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05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780" y="1778000"/>
            <a:ext cx="10477238" cy="952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— L’appel à manifestation d’intérêt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12780" y="2857500"/>
            <a:ext cx="9524762" cy="127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les prestations intellectuelles, la liste restreinte des consultants naît d’un appel à manifestation d’intérêt mené dans l’application : publié, reçu en ligne, noté par la commission, arrêté dans un rapport signé (art. 42-II).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780" y="5270500"/>
            <a:ext cx="9842254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présentation par étape que traverse un dossier, de la planification à l’attribution · écrans, règles appliquées (provenance en note), points d’attention, règles de gestion et données de l’étape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Captures de l’application réelle sur des dossiers de démonstration (14 octobre 2026) · noms de personnes remplacés par leur rôle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OÙ SE SITUE L’ÉTAPE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 plan de passation au marché notifié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marché inscrit au plan traverse deux contrôles de la Commission : celui du plan, puis celui de son dossier de consultation — et, après l’évaluation des offres, celui du dossier de marché.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778000"/>
            <a:ext cx="1644609" cy="1905000"/>
          </a:xfrm>
          <a:prstGeom prst="roundRect">
            <a:avLst>
              <a:gd name="adj" fmla="val 333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1677" y="1866900"/>
            <a:ext cx="1466813" cy="215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01677" y="2095500"/>
            <a:ext cx="1466813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01677" y="2603500"/>
            <a:ext cx="1466813" cy="101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saisit et soumet son plan de passation.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44689" y="2603500"/>
            <a:ext cx="165096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97085" y="1778000"/>
            <a:ext cx="1644609" cy="1905000"/>
          </a:xfrm>
          <a:prstGeom prst="roundRect">
            <a:avLst>
              <a:gd name="adj" fmla="val 333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5983" y="1866900"/>
            <a:ext cx="1466813" cy="215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85983" y="2095500"/>
            <a:ext cx="1466813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85983" y="2603500"/>
            <a:ext cx="1466813" cy="101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Commission examine ; le PV est visé et signé.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228994" y="2603500"/>
            <a:ext cx="165096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381390" y="1778000"/>
            <a:ext cx="1644609" cy="1905000"/>
          </a:xfrm>
          <a:prstGeom prst="roundRect">
            <a:avLst>
              <a:gd name="adj" fmla="val 333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0288" y="1866900"/>
            <a:ext cx="1466813" cy="215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70288" y="2095500"/>
            <a:ext cx="1466813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 Préparer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70288" y="2603500"/>
            <a:ext cx="1466813" cy="101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Cette présentation.</a:t>
            </a:r>
            <a:pPr indent="0" marL="0">
              <a:buNone/>
            </a:pPr>
            <a:r>
              <a:rPr lang="en-US" sz="115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fiche du DAO produit le dossier d’appel d’offres.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13300" y="2603500"/>
            <a:ext cx="165096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165696" y="1778000"/>
            <a:ext cx="1644609" cy="1905000"/>
          </a:xfrm>
          <a:prstGeom prst="roundRect">
            <a:avLst>
              <a:gd name="adj" fmla="val 333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594" y="1866900"/>
            <a:ext cx="1466813" cy="215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07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4594" y="2095500"/>
            <a:ext cx="1466813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54594" y="2603500"/>
            <a:ext cx="1466813" cy="101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offres arrivent en ligne, scellées, puis s’ouvrent en séance.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97605" y="2603500"/>
            <a:ext cx="165096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950001" y="1778000"/>
            <a:ext cx="1644609" cy="1905000"/>
          </a:xfrm>
          <a:prstGeom prst="roundRect">
            <a:avLst>
              <a:gd name="adj" fmla="val 333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38899" y="1866900"/>
            <a:ext cx="1466813" cy="215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38899" y="2095500"/>
            <a:ext cx="1466813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Évaluer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38899" y="2603500"/>
            <a:ext cx="1466813" cy="101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commission d’appel d’offres évalue et propose l’attributaire.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581910" y="2603500"/>
            <a:ext cx="165096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734307" y="1778000"/>
            <a:ext cx="1644609" cy="1905000"/>
          </a:xfrm>
          <a:prstGeom prst="roundRect">
            <a:avLst>
              <a:gd name="adj" fmla="val 3336"/>
            </a:avLst>
          </a:prstGeom>
          <a:solidFill>
            <a:srgbClr val="12324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23204" y="1866900"/>
            <a:ext cx="1466813" cy="215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823204" y="2095500"/>
            <a:ext cx="1466813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823204" y="2603500"/>
            <a:ext cx="1466813" cy="101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marché est contrôlé, signé, notifié et publié.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2780" y="3937000"/>
            <a:ext cx="10566136" cy="76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Cette présentation couvre l’étape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— L’appel à manifestation d’intérêt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Les autres étapes ont chacune leur présentation ; l’entrée dans l’application, l’intérim, l’administration et le pilotage sont dans la présentation d’ensemble.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96" cy="6858000"/>
          </a:xfrm>
          <a:prstGeom prst="rect">
            <a:avLst/>
          </a:prstGeom>
          <a:solidFill>
            <a:srgbClr val="E3AE2E"/>
          </a:solidFill>
          <a:ln w="12700">
            <a:solidFill>
              <a:srgbClr val="E3A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780" y="698500"/>
            <a:ext cx="3809905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12780" y="1714500"/>
            <a:ext cx="10477238" cy="635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L’appel à manifestation d’intérêt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780" y="2413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les prestations intellectuelles, la liste restreinte des consultants naît d’un appel à manifestation d’intérêt mené dans l’application : publié, reçu en ligne, noté par la commission, arrêté dans un rapport signé (art. 42-II).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780" y="3429000"/>
            <a:ext cx="507987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CELA CHANGE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780" y="3714750"/>
            <a:ext cx="10286743" cy="241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liste restreinte n’est plus une liste saisie : elle résulte d’une notation collégiale, critère par critère, chaque note portant son motif.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Personne ne lit les expressions d’intérêt avant la date limite : jusque-là, l’administration n’en connaît que le nombre.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rapport de présélection, signé des membres au quorum, vaut procès-verbal ; la liste définitive est publiée, notifiée à chaque candidat, et alimente d’office les lettres d’invitation.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L’APPEL À MANIFESTATION D’INTÉRÊT · LE PARCOURS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la ligne du plan à la liste restreinte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PRMP, aidée de son UGPM, prépare et publie l’appel ; les consultants déposent en ligne ; la commission d’appel d’offres note, son président arrête la liste, ses membres signent le rapport.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780" y="1778000"/>
            <a:ext cx="1389708" cy="1905000"/>
          </a:xfrm>
          <a:prstGeom prst="roundRect">
            <a:avLst>
              <a:gd name="adj" fmla="val 3948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1677" y="1866900"/>
            <a:ext cx="1211913" cy="215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 OU UGPM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01677" y="2095500"/>
            <a:ext cx="1211913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Ouvrir la fiche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01677" y="2603500"/>
            <a:ext cx="1211913" cy="101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ligne de prestations intellectuelles, en mode « Appel à manifestation d’intérêt », ouvre sa fiche comme un appel d’offres.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89788" y="2603500"/>
            <a:ext cx="165096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342184" y="1778000"/>
            <a:ext cx="1389708" cy="1905000"/>
          </a:xfrm>
          <a:prstGeom prst="roundRect">
            <a:avLst>
              <a:gd name="adj" fmla="val 3948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1082" y="1866900"/>
            <a:ext cx="1211913" cy="215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 OU UGPM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31082" y="2095500"/>
            <a:ext cx="1211913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Préparer l’appel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31082" y="2603500"/>
            <a:ext cx="1211913" cy="101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Critères pondérés sur 100, pièces attendues, note minimale, nombre de candidats retenus, date limite.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19193" y="2603500"/>
            <a:ext cx="165096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871589" y="1778000"/>
            <a:ext cx="1389708" cy="1905000"/>
          </a:xfrm>
          <a:prstGeom prst="roundRect">
            <a:avLst>
              <a:gd name="adj" fmla="val 3948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487" y="1866900"/>
            <a:ext cx="1211913" cy="215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60487" y="2095500"/>
            <a:ext cx="1211913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60487" y="2603500"/>
            <a:ext cx="1211913" cy="101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supports déclarés, l’avis signé électroniquement : l’appel est figé et le dépôt s’ouvre.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48597" y="2603500"/>
            <a:ext cx="165096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00994" y="1778000"/>
            <a:ext cx="1389708" cy="1905000"/>
          </a:xfrm>
          <a:prstGeom prst="roundRect">
            <a:avLst>
              <a:gd name="adj" fmla="val 3948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9891" y="1866900"/>
            <a:ext cx="1211913" cy="215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9891" y="2095500"/>
            <a:ext cx="1211913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Recevoir les expressions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9891" y="2603500"/>
            <a:ext cx="1211913" cy="101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consultants déposent en ligne ; on n’en voit que le nombre jusqu’à la date limite.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778002" y="2603500"/>
            <a:ext cx="165096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930398" y="1778000"/>
            <a:ext cx="1389708" cy="1905000"/>
          </a:xfrm>
          <a:prstGeom prst="roundRect">
            <a:avLst>
              <a:gd name="adj" fmla="val 3948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19296" y="1866900"/>
            <a:ext cx="1211913" cy="215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MEMBRES DE LA COMMISSION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19296" y="2095500"/>
            <a:ext cx="1211913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Déclarer, puis noter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19296" y="2603500"/>
            <a:ext cx="1211913" cy="101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membre signe sa déclaration d’intérêts, puis note chaque expression, critère par critère, avec un motif.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07407" y="2603500"/>
            <a:ext cx="165096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8459803" y="1778000"/>
            <a:ext cx="1389708" cy="1905000"/>
          </a:xfrm>
          <a:prstGeom prst="roundRect">
            <a:avLst>
              <a:gd name="adj" fmla="val 3948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8701" y="1866900"/>
            <a:ext cx="1211913" cy="215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PRÉSIDENT ET MEMBRES DE LA COMMISSION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48701" y="2095500"/>
            <a:ext cx="1211913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Arrêter la liste, signer le rapport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48701" y="2603500"/>
            <a:ext cx="1211913" cy="101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président arrête la liste des premières qualifiées ; le rapport est signé des membres, au quorum.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36811" y="2603500"/>
            <a:ext cx="165096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9989207" y="1778000"/>
            <a:ext cx="1389708" cy="1905000"/>
          </a:xfrm>
          <a:prstGeom prst="roundRect">
            <a:avLst>
              <a:gd name="adj" fmla="val 3948"/>
            </a:avLst>
          </a:prstGeom>
          <a:solidFill>
            <a:srgbClr val="12324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78105" y="1866900"/>
            <a:ext cx="1211913" cy="215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078105" y="2095500"/>
            <a:ext cx="1211913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liste définitive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078105" y="2603500"/>
            <a:ext cx="1211913" cy="101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Publiée et notifiée ; les lettres d’invitation et la demande de propositions peuvent suivre.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80" y="2413000"/>
            <a:ext cx="63498" cy="13970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3" name="Text 1"/>
          <p:cNvSpPr/>
          <p:nvPr/>
        </p:nvSpPr>
        <p:spPr>
          <a:xfrm>
            <a:off x="1079473" y="2413000"/>
            <a:ext cx="9524762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L’APPEL À MANIFESTATION D’INTÉRÊT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9473" y="2667000"/>
            <a:ext cx="10159746" cy="508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Préparer et publier l’appel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9473" y="3238500"/>
            <a:ext cx="9524762" cy="88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L’appel naît sur la fiche de la ligne du plan, comme un appel d’offres. La PRMP en fixe les critères, puis le publie : à partir de là, plus rien ne change.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fiche de prestations intellectuelles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7327717" cy="4895255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Une fiche de prestations intellect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7302317" cy="48698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92893" y="1206500"/>
            <a:ext cx="3086023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92893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457989" y="1308100"/>
            <a:ext cx="2793930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ou son UGPM.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ligne du plan, en mode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Appel à manifestation d’intérêt »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ouvre sa fiche comme les autres ; l’en-tête porte le lien vers l’appel.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fiche prépare ensuite la demande de propositions : données particulières, acte d’engagement, CCAP.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le plan dit est repris : il annonce un lot, le marché est donc non alloti.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RÈGLES APPLIQUÉES (annexe A)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2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RG-AMI-01 · RG-AMI-02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 · PRMP OU UGPM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Préparer l’appel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7327717" cy="4589463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Préparer l’app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7302317" cy="456406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92893" y="1206500"/>
            <a:ext cx="3086023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92893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457989" y="1308100"/>
            <a:ext cx="2793930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ou son UGPM, avant la publication.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date limite de dépôt et les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critères de sélection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chacun avec ses points : le total sur 100 est affiché.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pièces attendues, exigées au dépôt une par une, en PDF ou en image.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RÈGLES APPLIQUÉES (annexe A)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2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RG-AMI-03 · RG-AMI-04 · RG-AMI-05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Publier l’appel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7327717" cy="4589463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Publier l’app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7302317" cy="456406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92893" y="1206500"/>
            <a:ext cx="3086023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92893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457989" y="1308100"/>
            <a:ext cx="2793930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seule.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note minimale (facultative) et le nombre de candidats retenus sur la liste restreinte :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 défaut.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 d’avis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suit chaque enregistrement ; il se fige à la publication.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Publier » : la PRMP déclare où l’avis paraît (journal des marchés publics, journal national…) ; la publication fige l’appel et ouvre le dépôt en ligne.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RÈGLES APPLIQUÉES (annexe A)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2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RG-AMI-04 · RG-AMI-05 · RG-AMI-06 · RG-AMI-07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L’appel publié, avant la date limite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7327717" cy="4589463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’appel publié, avant la date lim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7302317" cy="456406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92893" y="1206500"/>
            <a:ext cx="3086023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92893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457989" y="1308100"/>
            <a:ext cx="2793930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et son UGPM.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L’appel est figé : date limite, note minimale, candidats retenus, critères, pièces, publication.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L’avis,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signé électroniquement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à la publication, se lit en PDF et en Word.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Avant la date limite, seul 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d’expressions reçues est connu (ici : 0).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RÈGLES APPLIQUÉES (annexe A)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2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RG-AMI-06 · RG-AMI-10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80" y="2413000"/>
            <a:ext cx="63498" cy="13970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3" name="Text 1"/>
          <p:cNvSpPr/>
          <p:nvPr/>
        </p:nvSpPr>
        <p:spPr>
          <a:xfrm>
            <a:off x="1079473" y="2413000"/>
            <a:ext cx="9524762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L’APPEL À MANIFESTATION D’INTÉRÊT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9473" y="2667000"/>
            <a:ext cx="10159746" cy="508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Recevoir et lire les expressions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9473" y="3238500"/>
            <a:ext cx="9524762" cy="88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consultants déposent leur expression d’intérêt en ligne, avant la date limite. Les expressions ne sont pas scellées, mais elles restent fermées à tous jusqu’à cette date.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L’appel et ses expressions d’intérêt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7327717" cy="4895255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’appel et ses expressions d’intérê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7302317" cy="48698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92893" y="1206500"/>
            <a:ext cx="3086023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92893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457989" y="1308100"/>
            <a:ext cx="2793930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PRMP, après la date limite.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Publié le 08/10/2026 ; une expression déposée, par la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Société de démonstration SARL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datée à la minute.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critères (50, 30 et 20 points), la pièce attendue, le support de publication.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Présélection, liste restreinte et rapport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 mène à l’écran de la commission.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RÈGLES APPLIQUÉES (annexe A)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2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RG-AMI-08 · RG-AMI-09 · RG-AMI-10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80" y="2413000"/>
            <a:ext cx="63498" cy="13970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3" name="Text 1"/>
          <p:cNvSpPr/>
          <p:nvPr/>
        </p:nvSpPr>
        <p:spPr>
          <a:xfrm>
            <a:off x="1079473" y="2413000"/>
            <a:ext cx="9524762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L’APPEL À MANIFESTATION D’INTÉRÊT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9473" y="2667000"/>
            <a:ext cx="10159746" cy="508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présélection par la commission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9473" y="3238500"/>
            <a:ext cx="9524762" cy="88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membres de la commission d’appel d’offres déclarent d’abord leurs intérêts, puis notent ; l’application totalise et classe ; le président arrête la liste ; les membres signent le rapport.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 · PRÉSIDENT DE LA COMMISSION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déclarations des membres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7327717" cy="4589463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s déclarations des memb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7302317" cy="456406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92893" y="1206500"/>
            <a:ext cx="3086023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92893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457989" y="1308100"/>
            <a:ext cx="2793930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membre de la commission, depuis son espace.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Avant toute décision, chaque membre signe sa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déclaration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aucun intérêt dans un candidat, ou un conflit d’intérêts déclaré.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déclaration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 se reprend pas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; un membre en conflit lit la présélection sans y décider.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RÈGLES APPLIQUÉES (annexe A)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2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RG-AMI-11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 · MEMBRE DE LA COMMISSION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notation, critère par critère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7327717" cy="4589463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notation, critère par crit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7302317" cy="456406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92893" y="1206500"/>
            <a:ext cx="3086023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92893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457989" y="1308100"/>
            <a:ext cx="2793930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membre de la commission, déclaré sans conflit.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note par critère, de zéro aux points du critère, et toujours un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motif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dernière saisie fait foi ; le journal garde chaque saisie.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RÈGLES APPLIQUÉES (annexe A)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2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RG-AMI-12 · RG-AMI-13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 · PRÉSIDENT DE LA COMMISSION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classement et le détail des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7327717" cy="4895255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e classement et le détail des no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7302317" cy="48698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92893" y="1206500"/>
            <a:ext cx="3086023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92893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457989" y="1308100"/>
            <a:ext cx="2793930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président de la commission, depuis l’espace de la commission.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qualifiée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une expression notée sur tous les critères, non écartée, qui atteint la note minimale ; le classement suit le total sur 100.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détail des notes : chaque note, son motif et le membre qui l’a donnée (ici 42/50, 24/30, 14/20, soit 80/100).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liste restreinte définitive et son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motif du nombre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une seule expression reçue et qualifiée (art. 42-II).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RÈGLES APPLIQUÉES (annexe A)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2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RG-AMI-14 · RG-AMI-16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 · PRÉSIDENT DE LA COMMISSION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Arrêter la liste restreinte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7327717" cy="4589463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Arrêter la liste restrei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7302317" cy="456406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92893" y="1206500"/>
            <a:ext cx="3086023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92893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457989" y="1308100"/>
            <a:ext cx="2793930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président de la commission.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expression peut être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écartée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avec un motif, ou rétablie.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liste prend les premières qualifiées. Moins de qualifiées que de places : le nombre retenu se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motive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; le rapport de présélection est alors produit et se signe.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RÈGLES APPLIQUÉES (annexe A)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2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RG-AMI-13 · RG-AMI-15 · RG-AMI-16 · RG-AMI-24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liste définitive et le rapport signé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080" y="1193800"/>
            <a:ext cx="7327717" cy="4895255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5" name="Image 0" descr="La liste définitive et le rapport sign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206500"/>
            <a:ext cx="7302317" cy="48698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92893" y="1206500"/>
            <a:ext cx="3086023" cy="5080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92893" y="1206500"/>
            <a:ext cx="38099" cy="50800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8" name="Text 5"/>
          <p:cNvSpPr/>
          <p:nvPr/>
        </p:nvSpPr>
        <p:spPr>
          <a:xfrm>
            <a:off x="8457989" y="1308100"/>
            <a:ext cx="2793930" cy="4889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PRMP, en lecture.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SE PASSE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 définitive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 : publiée sur la page de l’appel et notifiée à chaque candidat.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rapport de présélection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produit et signé de tous le 08/10/2026, se lit en PDF et en Word ; le quorum de la commission y est constaté.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lettres d’invitation vont désormais aux candidats de cette liste ; le dossier de la demande de propositions peut être créé, le rapport signé y est joint d’office.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RÈGLES APPLIQUÉES (annexe A)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2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RG-AMI-17 · RG-AMI-18 · RG-AMI-19 · RG-AMI-20 · RG-AMI-24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L’APPEL À MANIFESTATION D’INTÉRÊT · EN RÉSUMÉ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l’application garantit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780" y="12065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780" y="1206500"/>
            <a:ext cx="3420448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6" name="Text 4"/>
          <p:cNvSpPr/>
          <p:nvPr/>
        </p:nvSpPr>
        <p:spPr>
          <a:xfrm>
            <a:off x="952476" y="1308100"/>
            <a:ext cx="3141055" cy="2476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 critères connus d’avance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2476" y="1593850"/>
            <a:ext cx="3141055" cy="1708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critères et leurs points, qui totalisent 100, sont publiés avec l’avis et figés à la publication : la commission note sur ce qui a été annoncé.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5624" y="12065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5624" y="1206500"/>
            <a:ext cx="3420448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4525320" y="1308100"/>
            <a:ext cx="3141055" cy="2476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Aucune lecture anticipée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5320" y="1593850"/>
            <a:ext cx="3141055" cy="1708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Avant la date limite, personne ne lit une expression d’intérêt : l’administration n’en voit que le nombre.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8468" y="12065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8468" y="1206500"/>
            <a:ext cx="3420448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4" name="Text 12"/>
          <p:cNvSpPr/>
          <p:nvPr/>
        </p:nvSpPr>
        <p:spPr>
          <a:xfrm>
            <a:off x="8098164" y="1308100"/>
            <a:ext cx="3141055" cy="2476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L’impartialité déclarée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98164" y="1593850"/>
            <a:ext cx="3141055" cy="1708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membre signe sa déclaration avant toute décision ; un membre en conflit d’intérêts ne note pas, ne décide pas, ne signe pas le rapport.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780" y="35179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780" y="3517900"/>
            <a:ext cx="3420448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18" name="Text 16"/>
          <p:cNvSpPr/>
          <p:nvPr/>
        </p:nvSpPr>
        <p:spPr>
          <a:xfrm>
            <a:off x="952476" y="3619500"/>
            <a:ext cx="3141055" cy="4191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notation motivée et tracée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2476" y="4076700"/>
            <a:ext cx="3141055" cy="1536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note porte son motif et son auteur ; chaque écartement aussi ; le journal garde toutes les saisies.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5624" y="35179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5624" y="3517900"/>
            <a:ext cx="3420448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22" name="Text 20"/>
          <p:cNvSpPr/>
          <p:nvPr/>
        </p:nvSpPr>
        <p:spPr>
          <a:xfrm>
            <a:off x="4525320" y="3619500"/>
            <a:ext cx="3141055" cy="2476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rapport au quorum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5320" y="3905250"/>
            <a:ext cx="3141055" cy="1708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liste ne s’arrête et le rapport ne vaut procès-verbal qu’au quorum de la commission, président ou son représentant compris.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8468" y="3517900"/>
            <a:ext cx="3420448" cy="2159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8468" y="3517900"/>
            <a:ext cx="3420448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6" name="Text 24"/>
          <p:cNvSpPr/>
          <p:nvPr/>
        </p:nvSpPr>
        <p:spPr>
          <a:xfrm>
            <a:off x="8098164" y="3619500"/>
            <a:ext cx="3141055" cy="2476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liste opposable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98164" y="3905250"/>
            <a:ext cx="3141055" cy="17081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liste définitive est publiée et notifiée, les non-retenus avec leur motif ; elle seule alimente les invitations, et l’AMI se fige dès que le dossier part à la Commission.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L’APPEL À MANIFESTATION D’INTÉRÊT · RECETTE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points d’attention de l’étape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Relevés pendant la refonte de la présentation (14/10) : « Confirmée » = constatée sur l’écran capturé ; « Expliquée » = effet des données de recette ; « À examiner » = cause à établir.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324" y="1651000"/>
          <a:ext cx="114300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6309360"/>
                <a:gridCol w="118872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Écran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Constat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Piste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05 · AMI public (procédure 49)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lecture publique de l’appel répond en erreur serveur (500) ; la page n’affiche que « L’appel n’a pas pu être chargé ». La liste publique des AMI est vide.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Confirmée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Serveur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96" cy="6858000"/>
          </a:xfrm>
          <a:prstGeom prst="rect">
            <a:avLst/>
          </a:prstGeom>
          <a:solidFill>
            <a:srgbClr val="E3AE2E"/>
          </a:solidFill>
          <a:ln w="12700">
            <a:solidFill>
              <a:srgbClr val="E3A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780" y="698500"/>
            <a:ext cx="3809905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12780" y="1714500"/>
            <a:ext cx="10477238" cy="635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Annexe A — Les règles de gestion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780" y="2413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Partie par partie, les règles que l’application applique : chacune cite sa source (règles de gestion du serveur, contrats, manuel de contrôle révisé) et les écrans où elle s’applique.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ANNEXE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règles de gestion, en un tableau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règles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groupées par partie et par thème. Chaque écran de la présentation cite celles qu’il applique.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324" y="1651000"/>
          <a:ext cx="11430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7955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Règles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Thèmes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05 · L’appel à manifestation d’intérêt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6FA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Préparer l’appel · Publier ou dispenser · Les expressions d’intérêt · La présélection · Le rapport et la liste restreinte · La demande de propositions · Relance et infructuosité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ANNEXE A · 05 L’APPEL À MANIFESTATION D’INTÉRÊT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Préparer l’appel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324" y="1206500"/>
          <a:ext cx="11430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7863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N°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Règle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 qui s’applique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RG-AMI-01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 mode AMI ouvre une fiche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 mode « Appel à manifestation d’intérêt » des lignes de prestations intellectuelles est rattaché au type « appel d’offres » : la PRMP crée la fiche de la ligne, qui porte d’abord l’AMI, puis la demande de propositions.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RG-AMI-02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Préparé par la PRMP ou l’UGPM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PRMP ou son UGPM prépare l’AMI de la procédure, sur une fiche de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prestations intellectuelles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seulement ; son objet est repris de la fiche.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RG-AMI-03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 critères qui totalisent 100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Les critères de sélection (aptitude, références, expérience…) portent chacun ses points ; les points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totalisent 100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 Une note minimale de qualification, sur 100, est facultative.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RG-AMI-04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Six candidats à retenir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L’AMI fixe les pièces attendues, une date limite à venir et le nombre de candidats à retenir :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six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par défaut.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RG-AMI-05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Modifiable jusqu’à la publication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Tant qu’il n’est pas publié, l’AMI se modifie et son avis se lit en projet. Ses critères appartiennent à l’AMI, non à la fiche, et se figent à la publication.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0" y="5905500"/>
            <a:ext cx="10540736" cy="5080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: regles-gestion.md § 3.8 — Le mode « Appel à manifestation d’intérêt » ouvre une fiche (2026-10-08) · regles-gestion.md § 3.8 — L’appel à manifestation d’intérêt en ligne (tranche AMI-a)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ANNEXE A · 05 L’APPEL À MANIFESTATION D’INTÉRÊT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Publier ou dispenser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324" y="1206500"/>
          <a:ext cx="11430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7863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N°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Règle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 qui s’applique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RG-AMI-06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PRMP seule publie l’avis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PRMP seule publie l’AMI, en déclarant au moins un support daté (journal des marchés de l’ARMP, journal national…). L’AMI est figé ; l’avis,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signé électroniquement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par elle, paraît sur la liste publique des AMI.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RG-AMI-07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dispense de publicité motivée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PRMP peut déclarer la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dispense de publicité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avec son motif : l’AMI n’a alors ni avis ni dépôt, et la liste restreinte se saisit directement pour les lettres d’invitation. Le seuil réglementaire de la dispense reste à préciser par le juriste.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0" y="5905500"/>
            <a:ext cx="10540736" cy="5080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: regles-gestion.md § 3.8 — L’appel à manifestation d’intérêt en ligne (tranche AMI-a)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ANNEXE A · 05 L’APPEL À MANIFESTATION D’INTÉRÊT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expressions d’intérêt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324" y="1206500"/>
          <a:ext cx="11430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7863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N°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Règle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 qui s’applique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RG-AMI-08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Déposer son expression en ligne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Tout candidat dont l’entreprise est déclarée dépose en ligne son expression d’intérêt avant la date limite : lettre, qualifications, références, groupement, et un fichier par pièce attendue.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RG-AMI-09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Remplacer, retirer, recevoir un accusé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 candidat peut remplacer ou retirer son expression jusqu’à la date limite. Il reçoit un accusé portant le numéro, la date et l’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empreinte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de son dépôt.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RG-AMI-10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Lues après la date limite seulement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Les expressions ne sont pas scellées, mais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personne ne les lit avant la date limite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: l’administration n’en voit que le nombre.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0" y="5905500"/>
            <a:ext cx="10540736" cy="5080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: regles-gestion.md § 3.8 — L’appel à manifestation d’intérêt en ligne (tranche AMI-a) · regles-gestion.md § 3.8 — L’appel à manifestation d’intérêt en ligne ; demande-backend-2026-10-07-ami-pi.md (arbitrages du 07/10)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ANNEXE A · 05 L’APPEL À MANIFESTATION D’INTÉRÊT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présélection (1/2)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324" y="1206500"/>
          <a:ext cx="11430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7863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N°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Règle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 qui s’applique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RG-AMI-11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Une déclaration propre à l’AMI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Chaque membre de la commission d’appel d’offres signe une déclaration propre à l’AMI, avant toute décision ; elle ne se reprend pas. Un membre en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conflit d’intérêts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ne décide rien et ne signe pas le rapport.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RG-AMI-12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Une notation collégiale et motivée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Tout membre déclaré sans conflit note chaque expression critère par critère, de zéro aux points du critère, toujours avec un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motif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 Une nouvelle note remplace la précédente ; le journal garde chaque saisie.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RG-AMI-13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Écarter une expression, avec un motif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membre peut écarter une expression avec un motif, ou la rétablir. Une expression écartée ne se note plus.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RG-AMI-14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Qualifiée, puis classée par total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qualifiée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une expression notée sur tous les critères, non écartée, qui atteint la note minimale. L’application totalise sur 100 et classe les qualifiées par total décroissant.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RG-AMI-15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 président arrête la liste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Une fois toutes les expressions non écartées notées, le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président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arrête la liste des premières qualifiées, dans la limite du nombre fixé par l’AMI. Une égalité au seuil se départage.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0" y="5905500"/>
            <a:ext cx="10540736" cy="5080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: regles-gestion.md § 3.8 — La présélection et la liste restreinte (tranche AMI-b)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ANNEXE A · 05 L’APPEL À MANIFESTATION D’INTÉRÊT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présélection (2/2)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324" y="1206500"/>
          <a:ext cx="11430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7863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N°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Règle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 qui s’applique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RG-AMI-16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Moins de qualifiés que de places : motiver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S’il y a moins de qualifiées que de places, la liste s’arrête avec elles et le nombre est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motivé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au rapport ; la PRMP peut, à la place, relancer l’AMI.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0" y="5905500"/>
            <a:ext cx="10540736" cy="5080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: regles-gestion.md § 3.8 — La présélection et la liste restreinte ; demande-backend-2026-10-07-ami-pi.md (arbitrages du 07/10)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ANNEXE A · 05 L’APPEL À MANIFESTATION D’INTÉRÊT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rapport et la liste restreinte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324" y="1206500"/>
          <a:ext cx="11430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7863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N°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Règle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 qui s’applique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RG-AMI-17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rapport signé des membres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L’arrêt produit le rapport de présélection : commission, notes par critère et leurs motifs, écartements, liste, motif du nombre, observations. Il est signé des membres ; un empêchement est constaté par le président, avec un motif.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RG-AMI-18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Une liste publiée et notifiée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À la dernière signature, la liste est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définitive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: publiée sur la page de l’AMI et notifiée à chaque candidat, les non-retenus avec leur motif (écartement, note sous le minimum, rang au-delà des places).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RG-AMI-24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 quorum de la commission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L’arrêt de la liste restreinte exige le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quorum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de la commission (par défaut, plus de la moitié des membres désignés), le président ou son représentant toujours requis. Le rapport signé vaut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procès-verbal de validation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: il porte la date de la dernière signature, les membres et leur qualité, les empêchements, les exclus pour conflit d’intérêts et le quorum constaté.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RG-AMI-25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AMI clos ne se modifie plus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Dès qu’un dossier de marché de la procédure est soumis à la Commission, l’AMI ne se modifie plus : la Commission examine ce qui lui a été soumis. Les gestes de la présélection se retirent de l’écran.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RG-AMI-26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L’AMI figé à la soumission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À chaque soumission d’un dossier conduit dans l’application, l’écran de l’appel à manifestation d’intérêt est figé tel qu’il est servi à cet instant, avec son empreinte ; les profils de la CNM le lisent à la place d’une pièce et peuvent l’exporter en PDF.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0" y="5905500"/>
            <a:ext cx="10540736" cy="5080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: regles-gestion.md § 3.8 — La présélection et la liste restreinte (tranche AMI-b) · regles-gestion.md § La remise électronique — le quorum de la commission (manuel révisé, lot 1, tranche R1, 2026-10-10) · regles-gestion.md § Le dossier soumis — manuel révisé, lot 2, tranche R9c (2026-10-14) · regles-gestion.md § Le dossier soumis — manuel révisé, lot 1, tranche R4 (2026-10-13)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ANNEXE A · 05 L’APPEL À MANIFESTATION D’INTÉRÊT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demande de propositions</a:t>
            </a:r>
            <a:endParaRPr lang="en-US" sz="2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324" y="1206500"/>
          <a:ext cx="11430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7863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N°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Règle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 qui s’applique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RG-AMI-19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 de dossier sans liste définitive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 dossier de la demande de propositions ne se crée qu’une fois la liste définitive. Il reçoit d’office le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rapport signé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que la Commission examine avec lui.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RG-AMI-20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Les invitations tirées de la liste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Avec une liste définitive, les lettres d’invitation vont aux candidats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 la liste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sans autre saisie ; chacun est averti en ligne et par courriel. Sans AMI, ou après une dispense, la liste se saisit comme avant.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RG-AMI-21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Les invitations après l’avis favorable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Les lettres d’invitation attendent l’avis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favorable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de la Commission sur le dossier, réserves levées le cas échéant. Leur première impression fait passer la ligne du plan à « Lancé ».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0" y="5905500"/>
            <a:ext cx="10540736" cy="5080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: regles-gestion.md § 3.8 — La présélection et la liste restreinte (tranche AMI-b) · regles-gestion.md § 3.8 — Lettres d’invitation (2026-10-01, lot AV-4.1)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ANNEXE A · 05 L’APPEL À MANIFESTATION D’INTÉRÊT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Relance et infructuosité</a:t>
            </a:r>
            <a:endParaRPr lang="en-US" sz="2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324" y="1206500"/>
          <a:ext cx="11430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7863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N°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Règle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 qui s’applique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RG-AMI-22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Relancer l’AMI, avec un motif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Après la date limite et avant l’arrêt de la liste, la PRMP peut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relancer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l’AMI avec une nouvelle date limite et un motif : il reparaît dans la liste publique ; expressions et notes restent.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RG-AMI-23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Sans qualifié, l’AMI infructueux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Sans aucune expression qualifiée, la PRMP déclare l’AMI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infructueux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avec un motif ; la relance reste possible.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0" y="5905500"/>
            <a:ext cx="10540736" cy="5080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: regles-gestion.md § 3.8 — La présélection et la liste restreinte (tranche AMI-b) · regles-gestion.md § 3.8 — La présélection et la liste restreinte ; demande-backend-2026-10-07-ami-pi.md (arbitrages du 07/10)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96" cy="6858000"/>
          </a:xfrm>
          <a:prstGeom prst="rect">
            <a:avLst/>
          </a:prstGeom>
          <a:solidFill>
            <a:srgbClr val="E3AE2E"/>
          </a:solidFill>
          <a:ln w="12700">
            <a:solidFill>
              <a:srgbClr val="E3A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780" y="698500"/>
            <a:ext cx="3809905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12780" y="1714500"/>
            <a:ext cx="10477238" cy="635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Annexe B — La référence des données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780" y="2413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Partie par partie, les objets que l’application crée ou modifie, et toutes leurs informations : nom, type et valeurs, caractère obligatoire, description tirée du serveur.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ANNEXE B · 05 L’APPEL À MANIFESTATION D’INTÉRÊT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données de l’étape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80" y="1066800"/>
            <a:ext cx="10413740" cy="508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objet que cette étape crée ou modifie, avec la table du serveur qui le conserve et le nombre de ses informations.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324" y="1651000"/>
          <a:ext cx="11430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03120"/>
                <a:gridCol w="100584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Objet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Informations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 qu’il porte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L’appel à manifestation d’intérêt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t_ami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L'appel à manifestation d'intérêt d'une procédure de prestations intellectuelles : en préparation (BROUILLON), publié (PUBLIE, figé), ou dispensé de publicité (DISPENSE : la liste restreinte se saisit alors comme avant).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L’expression d’intérêt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t_ami_expression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Une expression d'intérêt déposée par un candidat : en clair, sans scellement, mais illisible de l'administration avant la date limite (arbitrage Q2).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pièce d’une expression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t_ami_expression_piece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Une pièce d'une expression d'intérêt : son libellé (une des pièces attendues), le fichier, son empreinte.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déclaration d’un membre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t_ami_declaration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déclaration préalable d'un membre de la commission sur l'AMI (conflit d'intérêts, confidentialité).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note d’un critère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t_ami_note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note retenue par la commission pour une expression d'intérêt sur un critère publié (de 0 au poids du critère), avec son motif ; une seule par expression et par critère (une nouvelle saisie la remplace, le journal garde la trace).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liste restreinte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t_ami_liste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candidat de la liste restreinte arrêtée : son rang, son compte, sa note.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signature du rapport de présélection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t_ami_signature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signature du rapport de présélection par un membre, ou son empêchement constaté.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L’invité de la consultation restreinte (lot 3)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t_invitation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invité de la consultation restreinte : un candidat de la liste de l'AMI (AMI, son compte), ou saisi par la PRMP (SAISIE, son adresse électronique, par laquelle son compte lui est rattaché) ; son rang et sa lettre d'invitation (le PDF).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ANNEXE B · 05 L’APPEL À MANIFESTATION D’INTÉRÊT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Toutes les informations (1/4)</a:t>
            </a:r>
            <a:endParaRPr lang="en-US" sz="2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324" y="1130300"/>
          <a:ext cx="114300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057400"/>
                <a:gridCol w="2240280"/>
                <a:gridCol w="50292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Colonne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Information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 et valeurs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Oblig.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</a:tr>
              <a:tr h="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L’appel à manifestation d’intérêt  ·  t_ami  ·  24 informations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FA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ID_DMC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DMC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de l’enregistrement.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ETAT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État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(20) : BROUILLON, PUBLIE, DISPENSE, INFRUCTUEUX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OBJET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Objet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DATE_LIMITE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limite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et heure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CRITERES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PIECES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Pièces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NOTE_MINIMALE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 minimale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Nombre décimal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NOMBRE_RETENUS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Nombre retenus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MOTIF_DISPENSE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Motif dispense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PUBLICATIONS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Publications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AVIS_PRODUIT_LE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Avis produit 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et heure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PUBLIE_LE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Publie 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et heure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PUBLIE_PAR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Publie par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(100)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CREE_LE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Créé 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et heure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CREE_PAR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Créé par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(100)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MODIFIE_LE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Modifie 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et heure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LISTE_ARRETEE_LE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Liste arrêtée 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et heure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LISTE_ARRETEE_PAR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Liste arrêtée par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(100)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MOTIF_NOMBRE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Motif nombre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OBSERVATIONS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Observations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SIGNATAIRES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Signataires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(1000)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LISTE_DEFINITIVE_LE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Liste definitive 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et heure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dernière signature du rapport : la liste est définitive, publiée et notifiée (Q5).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NOMBRE_RELANCES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Nombre relances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MOTIF_INFRUCTUEUX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Motif infructueux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ANNEXE B · 05 L’APPEL À MANIFESTATION D’INTÉRÊT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Toutes les informations (2/4)</a:t>
            </a:r>
            <a:endParaRPr lang="en-US" sz="2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324" y="1130300"/>
          <a:ext cx="114300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057400"/>
                <a:gridCol w="2240280"/>
                <a:gridCol w="50292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Colonne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Information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 et valeurs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Oblig.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</a:tr>
              <a:tr h="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L’expression d’intérêt  ·  t_ami_expression  ·  15 informations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FA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(36)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de l’enregistrement.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ID_DMC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DMC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ID_CANDIDAT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candidat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(10)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NIF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NIF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(50)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RAISON_SOCIALE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Raison sociale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(255)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NUMERO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Numéro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ETAT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État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(20) : DEPOSEE, REMPLACEE, RETIREE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CONTENU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Contenu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EMPREINTE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Empreinte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(64)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DEPOSEE_LE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Déposée 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et heure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RETIREE_LE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Retirée 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et heure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REMPLACEE_PAR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Remplacée par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(36)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MOTIF_ECARTEMENT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Motif écartement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ECARTEE_LE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Écartée 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et heure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ECARTEE_PAR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Écartée par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(100)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pièce d’une expression  ·  t_ami_expression_piece  ·  7 informations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FA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de l’enregistrement.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ID_EXPRESSION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expression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(36)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LIBELLE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Libellé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(255)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(255)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FORMAT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(50)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TAILLE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Taille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EMPREINTE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Empreinte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(64)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ANNEXE B · 05 L’APPEL À MANIFESTATION D’INTÉRÊT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Toutes les informations (3/4)</a:t>
            </a:r>
            <a:endParaRPr lang="en-US" sz="2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324" y="1130300"/>
          <a:ext cx="114300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057400"/>
                <a:gridCol w="2240280"/>
                <a:gridCol w="50292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Colonne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Information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 et valeurs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Oblig.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</a:tr>
              <a:tr h="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déclaration d’un membre  ·  t_ami_declaration  ·  6 informations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FA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de l’enregistrement.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ID_DMC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DMC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Matricule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(20)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SIGNEE_LE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Signée 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et heure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CONFLIT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Conflit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 / non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PRECISION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Précision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note d’un critère  ·  t_ami_note  ·  8 informations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FA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de l’enregistrement.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ID_DMC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DMC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ID_EXPRESSION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expression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(36)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CODE_CRITERE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 critère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(20)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Nombre décimal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MOTIF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Motif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(100)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et heure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liste restreinte  ·  t_ami_liste  ·  9 informations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FA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ID_DMC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DMC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de l’enregistrement.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de l’enregistrement.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ID_EXPRESSION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expression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(36)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ID_CANDIDAT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candidat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(10)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NIF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NIF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(50)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RAISON_SOCIALE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Raison sociale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(255)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Nombre décimal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idDmc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DMC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381000"/>
            <a:ext cx="10566136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ANNEXE B · 05 L’APPEL À MANIFESTATION D’INTÉRÊT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609600"/>
            <a:ext cx="10566136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Toutes les informations (4/4)</a:t>
            </a:r>
            <a:endParaRPr lang="en-US" sz="26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324" y="1130300"/>
          <a:ext cx="114300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057400"/>
                <a:gridCol w="2240280"/>
                <a:gridCol w="50292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Colonne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Information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 et valeurs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Oblig.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signature du rapport de présélection  ·  t_ami_signature  ·  8 informations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FA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de l’enregistrement.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ID_DMC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DMC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Matricule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(20)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et heure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EMPECHEMENT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Empechement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 / non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MOTIF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Motif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CONSTATE_PAR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Constate par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(100)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OBSERVATION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Observation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CFC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L’invité de la consultation restreinte (lot 3)  ·  t_invitation  ·  9 informations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FA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de l’enregistrement.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ID_DMC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DMC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SOURCE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Source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(10)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ID_CANDIDAT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candidat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(10)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EMAIL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Adresse électronique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(150)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Texte (255)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ID_DOCUMENT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Identifiant document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Entier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INVITE_LE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Invite 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6556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et heure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3B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0" y="6477000"/>
            <a:ext cx="63498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Étape 05 · L’appel à manifestation d’intérêt · 35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Commission nationale des marchés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PRS 2.0 — Étape 05 · L’appel à manifestation d’intérêt</dc:title>
  <dc:subject>PptxGenJS Presentation</dc:subject>
  <dc:creator>PRS 2.0</dc:creator>
  <cp:lastModifiedBy>PRS 2.0</cp:lastModifiedBy>
  <cp:revision>1</cp:revision>
  <dcterms:created xsi:type="dcterms:W3CDTF">2026-10-14T12:25:39Z</dcterms:created>
  <dcterms:modified xsi:type="dcterms:W3CDTF">2026-10-14T12:25:39Z</dcterms:modified>
</cp:coreProperties>
</file>