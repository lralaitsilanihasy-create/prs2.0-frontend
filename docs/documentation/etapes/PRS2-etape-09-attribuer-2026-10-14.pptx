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deck-eval__c18-attribution-proposee.jpg (« L’attribution, lot par lot »).
Raison : l’état montré ne se reproduit plus sur la base du 14/10 ; l’écran n’a pas changé sur ce qu’il montre.
Règles appliquées (annexe A) : RG-ATT-01, RG-ATT-02, RG-ATT-03.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09-attr-40-lots.
Écran : /procedure/40/evaluation — compte : PRMP.
Noms, matricules, initiales, photos et adresses réelles masqués dans la page avant la capture.
Règles appliquées (annexe A) : RG-ATT-02, RG-ATT-04, RG-ATT-25, RG-ATT-29.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09-dossier-mpi.
Écran : /prmp/dossier/100376 — compte : PRMP.
Noms, matricules, initiales, photos et adresses réelles masqués dans la page avant la capture.
Règles appliquées (annexe A) : RG-ATT-03, RG-ATT-05, RG-ATT-06, RG-ATT-32.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attribution__k01-avis-favorable.jpg (« Le lot, après l’avis favorable de la Commission »).
Raison : l’état montré ne se reproduit plus sur la base du 14/10 ; l’écran n’a pas changé sur ce qu’il montre.
Règles appliquées (annexe A) : RG-ATT-07, RG-ATT-08.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attribution__k02-informer.jpg (« Informer les candidats »).
Raison : l’état montré ne se reproduit plus sur la base du 14/10 ; l’écran n’a pas changé sur ce qu’il montre.
Règles appliquées (annexe A) : RG-ATT-09, RG-ATT-10, RG-ATT-11, RG-ATT-14.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09-attr-44-lot.
Écran : /procedure/44/evaluation — compte : PRMP.
Noms, matricules, initiales, photos et adresses réelles masqués dans la page avant la capture.
Règles appliquées (annexe A) : RG-ATT-07, RG-ATT-09, RG-ATT-10, RG-ATT-11.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09-attr-44-recours.
Écran : /procedure/44/evaluation — compte : PRMP.
Noms, matricules, initiales, photos et adresses réelles masqués dans la page avant la capture.
Règles appliquées (annexe A) : RG-ATT-12, RG-ATT-13, RG-ATT-15, RG-ATT-16, RG-ATT-17, RG-ATT-35.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09-cand2-non-retenue.
Écran : /candidat/offres — compte : candidat (Société de démonstration).
Noms, matricules, initiales, photos et adresses réelles masqués dans la page avant la capture.
Règles appliquées (annexe A) : RG-ATT-09, RG-ATT-10, RG-ATT-13.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09-public-resultat.
Écran : /candidat/procedures/44 — compte : sans session.
Noms, matricules, initiales, photos et adresses réelles masqués dans la page avant la capture.
Règles appliquées (annexe A) : RG-ATT-11, RG-ATT-24.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09-cand-resultat.
Écran : /candidat/offres — compte : candidat (Entreprise de recette BTP).
Noms, matricules, initiales, photos et adresses réelles masqués dans la page avant la capture.
Règles appliquées (annexe A) : RG-ATT-18, RG-ATT-19, RG-ATT-34.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09-attr-44-pieces.
Écran : /procedure/44/evaluation — compte : PRMP.
Noms, matricules, initiales, photos et adresses réelles masqués dans la page avant la capture.
Règles appliquées (annexe A) : RG-ATT-18, RG-ATT-19, RG-ATT-34.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09-attr-44-signer.
Écran : /procedure/44/evaluation — compte : PRMP.
Noms, matricules, initiales, photos et adresses réelles masqués dans la page avant la capture.
Règles appliquées (annexe A) : RG-ATT-20, RG-ATT-21, RG-ATT-22, RG-ATT-33.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attribution-2d__i03-avis-defavorable-decisions.jpg (« Après un avis défavorable : infructuosité ou reprise »).
Raison : l’état montré ne se reproduit plus sur la base du 14/10 ; l’écran n’a pas changé sur ce qu’il montre.
Règles appliquées (annexe A) : RG-ATT-29, RG-ATT-30.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09-attr-50-reprise.
Écran : /procedure/50/evaluation — compte : Administrateur.
Noms, matricules, initiales, photos et adresses réelles masqués dans la page avant la capture.
Règles appliquées (annexe A) : RG-ATT-30.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attribution-2d__j01-sans-suite-demande.jpg (« La déclaration sans suite »).
Raison : l’état montré ne se reproduit plus sur la base du 14/10 ; l’écran n’a pas changé sur ce qu’il montre.
Règles appliquées (annexe A) : RG-ATT-31.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09-dossier-dss.
Écran : /prmp/dossier/100377 — compte : PRMP.
Noms, matricules, initiales, photos et adresses réelles masqués dans la page avant la capture.
Règles appliquées (annexe A) : RG-ATT-31.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attribution-2d__j03-sans-suite-favorable.jpg (« L’avis favorable : la PRMP déclare »).
Raison : l’état montré ne se reproduit plus sur la base du 14/10 ; l’écran n’a pas changé sur ce qu’il montre.
Règles appliquées (annexe A) : RG-ATT-31.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attribution-2d__j04-sans-suite-declaree.jpg (« La procédure déclarée sans suite »).
Raison : l’état montré ne se reproduit plus sur la base du 14/10 ; l’écran n’a pas changé sur ce qu’il montre.
Règles appliquées (annexe A) : RG-ATT-31.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09-dossier-marche.
Écran : /prmp/dossier/100372 — compte : PRMP.
Noms, matricules, initiales, photos et adresses réelles masqués dans la page avant la capture.
Règles appliquées (annexe A) : RG-ATT-03, RG-ATT-27, RG-ATT-28.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manuel-recette__m02-depot-avenant-modale.jpg (« Déposer un avenant »).
Raison : l’état montré ne se reproduit plus sur la base du 14/10 ; l’écran n’a pas changé sur ce qu’il montre.
Règles appliquées (annexe A) : RG-ATT-28.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09-dossier-dgc-brouillon.
Écran : /prmp/dossier/100374 — compte : PRMP.
Noms, matricules, initiales, photos et adresses réelles masqués dans la page avant la capture.
Règles appliquées (annexe A) : RG-ATT-27.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09-dossier-dgc.
Écran : /prmp/dossier/100373 — compte : PRMP.
Noms, matricules, initiales, photos et adresses réelles masqués dans la page avant la capture.
Règles appliquées (annexe A) : RG-ATT-27, RG-ATT-28.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09</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Attribuer et notifier</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Du rapport d’évaluation au marché notifié : le dossier de marché passe au contrôle de la Commission, puis la PRMP attribue, informe, attend, vérifie, signe, fait approuver et enregistrer, notifie et publie — chaque geste n’étant ouvert qu’une fois le précédent accompli et les délais de la loi tenus.</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 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b="1" dirty="0">
                <a:solidFill>
                  <a:srgbClr val="FCFCFA"/>
                </a:solidFill>
                <a:latin typeface="Segoe UI" pitchFamily="34" charset="0"/>
                <a:ea typeface="Segoe UI" pitchFamily="34" charset="-122"/>
                <a:cs typeface="Segoe UI" pitchFamily="34" charset="-120"/>
              </a:rPr>
              <a:t>Cette présentation.</a:t>
            </a:r>
            <a:pPr indent="0" marL="0">
              <a:buNone/>
            </a:pPr>
            <a:r>
              <a:rPr lang="en-US" sz="1150" dirty="0">
                <a:solidFill>
                  <a:srgbClr val="C9D6E2"/>
                </a:solidFill>
                <a:latin typeface="Segoe UI" pitchFamily="34" charset="0"/>
                <a:ea typeface="Segoe UI" pitchFamily="34" charset="-122"/>
                <a:cs typeface="Segoe UI" pitchFamily="34" charset="-120"/>
              </a:rPr>
              <a:t> 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09 — Attribuer et notifier</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09</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Attribuer et notifier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Du rapport d’évaluation au marché notifié : le dossier de marché passe au contrôle de la Commission, puis la PRMP attribue, informe, attend, vérifie, signe, fait approuver et enregistrer, notifie et publie — chaque geste n’étant ouvert qu’une fois le précédent accompli et les délais de la loi tenus.</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Aucun marché issu d’une procédure en ligne n’échappe au contrôle a priori : chaque lot attribuable devient un dossier de marché, dont l’application produit elle-même le projet.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délais légaux ne dépendent plus de la vigilance de chacun : délai d’attente, recours suspensifs, pièces de l’attributaire, original de l’acte d’engagement, approbation et enregistrement ferment la signature ou la notification tant qu’ils ne sont pas satisfaits.</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candidats sont informés en ligne et par courriel, avec les motifs tirés du rapport ; le résultat, puis l’avis d’attribution, paraissent sur la page publique de la procédure.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09 · Attribuer et notifier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rapport signé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lot suit son propre chemin. Quand l’issue n’est pas l’attribution, la PRMP déclare le lot infructueux, reprend l’évaluation après un avis défavorable, réattribue après un retrait, ou demande à déclarer la procédure sans suite.</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 OU SON UGPM</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Le dossier de marché</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 dossier par lot attribuable, avec le projet de marché et les pièces jointes d’office, part au contrôle de la Commission.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Attribuer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Après l’avis favorable de la Commission, le lot va à l’offre proposée par la commission d’appel d’offres, et à elle seule.</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Informer et attendre</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Lettres signées électroniquement à chaque candidat évalué, affichage au siège, puis dix jours francs d’attente.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L’ATTRIBUTAIRE ET LA PRMP</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Pièces, original et recours</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Attestations fiscale et sociale, original signé de l’acte d’engagement, recours déclarés et tranchés.</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PRMP</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Signer, approuver, enregistrer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signature s’ouvre quand tout est réuni ; l’approbation et l’enregistrement suivent.</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LA PRMP</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Notifier et publier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notifié prend effet à sa réception ; l’avis d’attribution paraît dans les trente jours.</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dossier de marché au contrôle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rapport signé, la PRMP crée un dossier de marché par lot attribuable. Il suit le circuit ordinaire de la Commission, qui l’examine sur une grille tirée du guide.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L’attribution, lot par lot</a:t>
            </a:r>
            <a:endParaRPr lang="en-US" sz="2600" dirty="0"/>
          </a:p>
        </p:txBody>
      </p:sp>
      <p:sp>
        <p:nvSpPr>
          <p:cNvPr id="4" name="Shape 2"/>
          <p:cNvSpPr/>
          <p:nvPr/>
        </p:nvSpPr>
        <p:spPr>
          <a:xfrm>
            <a:off x="800080" y="1193800"/>
            <a:ext cx="10591535" cy="1926041"/>
          </a:xfrm>
          <a:prstGeom prst="rect">
            <a:avLst/>
          </a:prstGeom>
          <a:solidFill>
            <a:srgbClr val="FCFCFA"/>
          </a:solidFill>
          <a:ln w="9525">
            <a:solidFill>
              <a:srgbClr val="D5DCE4"/>
            </a:solidFill>
            <a:prstDash val="solid"/>
          </a:ln>
        </p:spPr>
      </p:sp>
      <p:pic>
        <p:nvPicPr>
          <p:cNvPr id="5" name="Image 0" descr="L’attribution, lot par lot">    </p:cNvPr>
          <p:cNvPicPr>
            <a:picLocks noChangeAspect="1"/>
          </p:cNvPicPr>
          <p:nvPr/>
        </p:nvPicPr>
        <p:blipFill>
          <a:blip r:embed="rId1"/>
          <a:stretch>
            <a:fillRect/>
          </a:stretch>
        </p:blipFill>
        <p:spPr>
          <a:xfrm>
            <a:off x="812780" y="1206500"/>
            <a:ext cx="10566136" cy="1900641"/>
          </a:xfrm>
          <a:prstGeom prst="rect">
            <a:avLst/>
          </a:prstGeom>
        </p:spPr>
      </p:pic>
      <p:sp>
        <p:nvSpPr>
          <p:cNvPr id="6" name="Shape 3"/>
          <p:cNvSpPr/>
          <p:nvPr/>
        </p:nvSpPr>
        <p:spPr>
          <a:xfrm>
            <a:off x="812780" y="3259541"/>
            <a:ext cx="10566136" cy="2197100"/>
          </a:xfrm>
          <a:prstGeom prst="rect">
            <a:avLst/>
          </a:prstGeom>
          <a:solidFill>
            <a:srgbClr val="FCFCFA"/>
          </a:solidFill>
          <a:ln w="9525">
            <a:solidFill>
              <a:srgbClr val="D5DCE4"/>
            </a:solidFill>
            <a:prstDash val="solid"/>
          </a:ln>
        </p:spPr>
      </p:sp>
      <p:sp>
        <p:nvSpPr>
          <p:cNvPr id="7" name="Shape 4"/>
          <p:cNvSpPr/>
          <p:nvPr/>
        </p:nvSpPr>
        <p:spPr>
          <a:xfrm>
            <a:off x="812780" y="3259541"/>
            <a:ext cx="38099" cy="2197100"/>
          </a:xfrm>
          <a:prstGeom prst="rect">
            <a:avLst/>
          </a:prstGeom>
          <a:solidFill>
            <a:srgbClr val="1B6FA8"/>
          </a:solidFill>
          <a:ln/>
        </p:spPr>
      </p:sp>
      <p:sp>
        <p:nvSpPr>
          <p:cNvPr id="8" name="Text 5"/>
          <p:cNvSpPr/>
          <p:nvPr/>
        </p:nvSpPr>
        <p:spPr>
          <a:xfrm>
            <a:off x="977876" y="3361141"/>
            <a:ext cx="10274043" cy="20066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lot et la proposition du rapport : l’offre, le candidat, le montant hors taxes et le délai.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Créer le dossier de marché » : l’application y joint d’office le projet de marché, le DAO complet, le devis de l’offre, le PV d’ouverture et le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RG-ATT-01 · RG-ATT-02 · RG-ATT-03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Deux lots, deux issues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ux lots, deux iss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1 : le dossier de marché est créé ; le projet de marché se lit en PDF ou en Word, et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refait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que le marché n’est pas signé.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Lot 2 : aucune offre qualifiée, le rapport proposait l’infructuosité ; la PRMP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déclarée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motif, référence et date de sa décision, suite annoncée (relance de la procédure).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 déclaration sans suite reste accessible sous les lots.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RG-ATT-02 · RG-ATT-04 · RG-ATT-25 · RG-ATT-29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DOSSIER DE MARCHÉ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marché, au contrôle de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marché, au contrôle de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de prestations intellectuelles (sous-type MPI) à l’étape de vérification,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 projet de marché, cahier des charges (DAO complet), PV d’ouverture, rapport d’analyse des offres, puis les pièces exigées du sous-type.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actes de gestion ne s’y déposent qu’une fois le marché contrôlé favorablement.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RG-ATT-03 · RG-ATT-05 · RG-ATT-06 · RG-ATT-32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Attribuer et informer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L’avis favorable de la Commission ouvre l’attribution. La PRMP informe alors tous les candidats évalués ; le délai d’attente court depuis la réception présumée de cette information.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lot, après l’avis favorable de la Commission</a:t>
            </a:r>
            <a:endParaRPr lang="en-US" sz="2600" dirty="0"/>
          </a:p>
        </p:txBody>
      </p:sp>
      <p:sp>
        <p:nvSpPr>
          <p:cNvPr id="4" name="Shape 2"/>
          <p:cNvSpPr/>
          <p:nvPr/>
        </p:nvSpPr>
        <p:spPr>
          <a:xfrm>
            <a:off x="800080" y="1193800"/>
            <a:ext cx="10591535" cy="2646974"/>
          </a:xfrm>
          <a:prstGeom prst="rect">
            <a:avLst/>
          </a:prstGeom>
          <a:solidFill>
            <a:srgbClr val="FCFCFA"/>
          </a:solidFill>
          <a:ln w="9525">
            <a:solidFill>
              <a:srgbClr val="D5DCE4"/>
            </a:solidFill>
            <a:prstDash val="solid"/>
          </a:ln>
        </p:spPr>
      </p:sp>
      <p:pic>
        <p:nvPicPr>
          <p:cNvPr id="5" name="Image 0" descr="Le lot, après l’avis favorable de la Commission">    </p:cNvPr>
          <p:cNvPicPr>
            <a:picLocks noChangeAspect="1"/>
          </p:cNvPicPr>
          <p:nvPr/>
        </p:nvPicPr>
        <p:blipFill>
          <a:blip r:embed="rId1"/>
          <a:stretch>
            <a:fillRect/>
          </a:stretch>
        </p:blipFill>
        <p:spPr>
          <a:xfrm>
            <a:off x="812780" y="1206500"/>
            <a:ext cx="10566136" cy="2621574"/>
          </a:xfrm>
          <a:prstGeom prst="rect">
            <a:avLst/>
          </a:prstGeom>
        </p:spPr>
      </p:pic>
      <p:sp>
        <p:nvSpPr>
          <p:cNvPr id="6" name="Shape 3"/>
          <p:cNvSpPr/>
          <p:nvPr/>
        </p:nvSpPr>
        <p:spPr>
          <a:xfrm>
            <a:off x="812780" y="3980474"/>
            <a:ext cx="10566136" cy="1993900"/>
          </a:xfrm>
          <a:prstGeom prst="rect">
            <a:avLst/>
          </a:prstGeom>
          <a:solidFill>
            <a:srgbClr val="FCFCFA"/>
          </a:solidFill>
          <a:ln w="9525">
            <a:solidFill>
              <a:srgbClr val="D5DCE4"/>
            </a:solidFill>
            <a:prstDash val="solid"/>
          </a:ln>
        </p:spPr>
      </p:sp>
      <p:sp>
        <p:nvSpPr>
          <p:cNvPr id="7" name="Shape 4"/>
          <p:cNvSpPr/>
          <p:nvPr/>
        </p:nvSpPr>
        <p:spPr>
          <a:xfrm>
            <a:off x="812780" y="3980474"/>
            <a:ext cx="38099" cy="1993900"/>
          </a:xfrm>
          <a:prstGeom prst="rect">
            <a:avLst/>
          </a:prstGeom>
          <a:solidFill>
            <a:srgbClr val="1B6FA8"/>
          </a:solidFill>
          <a:ln/>
        </p:spPr>
      </p:sp>
      <p:sp>
        <p:nvSpPr>
          <p:cNvPr id="8" name="Text 5"/>
          <p:cNvSpPr/>
          <p:nvPr/>
        </p:nvSpPr>
        <p:spPr>
          <a:xfrm>
            <a:off x="977876" y="4082074"/>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elle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peut être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Attribuer à l’offre proposée » : seule l’offre proposée par la commission d’appel d’offres peut l’être (art. 35-VII).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RG-ATT-07 · RG-ATT-08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Informer les candidats</a:t>
            </a:r>
            <a:endParaRPr lang="en-US" sz="2600" dirty="0"/>
          </a:p>
        </p:txBody>
      </p:sp>
      <p:sp>
        <p:nvSpPr>
          <p:cNvPr id="4" name="Shape 2"/>
          <p:cNvSpPr/>
          <p:nvPr/>
        </p:nvSpPr>
        <p:spPr>
          <a:xfrm>
            <a:off x="800080" y="1193800"/>
            <a:ext cx="10591535" cy="2183381"/>
          </a:xfrm>
          <a:prstGeom prst="rect">
            <a:avLst/>
          </a:prstGeom>
          <a:solidFill>
            <a:srgbClr val="FCFCFA"/>
          </a:solidFill>
          <a:ln w="9525">
            <a:solidFill>
              <a:srgbClr val="D5DCE4"/>
            </a:solidFill>
            <a:prstDash val="solid"/>
          </a:ln>
        </p:spPr>
      </p:sp>
      <p:pic>
        <p:nvPicPr>
          <p:cNvPr id="5" name="Image 0" descr="Informer les candidats">    </p:cNvPr>
          <p:cNvPicPr>
            <a:picLocks noChangeAspect="1"/>
          </p:cNvPicPr>
          <p:nvPr/>
        </p:nvPicPr>
        <p:blipFill>
          <a:blip r:embed="rId1"/>
          <a:stretch>
            <a:fillRect/>
          </a:stretch>
        </p:blipFill>
        <p:spPr>
          <a:xfrm>
            <a:off x="812780" y="1206500"/>
            <a:ext cx="10566136" cy="2157981"/>
          </a:xfrm>
          <a:prstGeom prst="rect">
            <a:avLst/>
          </a:prstGeom>
        </p:spPr>
      </p:pic>
      <p:sp>
        <p:nvSpPr>
          <p:cNvPr id="6" name="Shape 3"/>
          <p:cNvSpPr/>
          <p:nvPr/>
        </p:nvSpPr>
        <p:spPr>
          <a:xfrm>
            <a:off x="812780" y="3516881"/>
            <a:ext cx="10566136" cy="2197100"/>
          </a:xfrm>
          <a:prstGeom prst="rect">
            <a:avLst/>
          </a:prstGeom>
          <a:solidFill>
            <a:srgbClr val="FCFCFA"/>
          </a:solidFill>
          <a:ln w="9525">
            <a:solidFill>
              <a:srgbClr val="D5DCE4"/>
            </a:solidFill>
            <a:prstDash val="solid"/>
          </a:ln>
        </p:spPr>
      </p:sp>
      <p:sp>
        <p:nvSpPr>
          <p:cNvPr id="7" name="Shape 4"/>
          <p:cNvSpPr/>
          <p:nvPr/>
        </p:nvSpPr>
        <p:spPr>
          <a:xfrm>
            <a:off x="812780" y="3516881"/>
            <a:ext cx="38099" cy="2197100"/>
          </a:xfrm>
          <a:prstGeom prst="rect">
            <a:avLst/>
          </a:prstGeom>
          <a:solidFill>
            <a:srgbClr val="1B6FA8"/>
          </a:solidFill>
          <a:ln/>
        </p:spPr>
      </p:sp>
      <p:sp>
        <p:nvSpPr>
          <p:cNvPr id="8" name="Text 5"/>
          <p:cNvSpPr/>
          <p:nvPr/>
        </p:nvSpPr>
        <p:spPr>
          <a:xfrm>
            <a:off x="977876" y="3618481"/>
            <a:ext cx="10274043" cy="20066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d’</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affichage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résultat au siège, puis « Signer et envoyer les lettres » : une lettre par offre évaluée (art. 52).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rejet sont tirés du rapport d’évaluation.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RG-ATT-09 · RG-ATT-10 · RG-ATT-11 · RG-ATT-14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Attribué, puis informé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Attribué, puis inform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porte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avis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Commission ; le lot est attribué à l’offre n° 4 pour 166 000 000 Ar HT, délai 3 mois.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lettres sont signées électroniquement, l’affichage au siège est déclaré ; pour chaque candidat, l’heure du courriel et celle de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première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la plateforme, qui vaut accusé de réception.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RG-ATT-07 · RG-ATT-09 · RG-ATT-10 · RG-ATT-11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Délai d’attente, explications et recours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élai d’attente, explications et recou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10 jours francs à compter du 10/10/2026 »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réception présumée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l’information, 3 jours après l’envoi (ou l’affichage s’il est plus tardif) ; signature possible à partir du 21/10/2026.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d’explication d’un candidat écarté et la réponse écrite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demande en révision auprès de l’ARMP (art. 80)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suspendue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la décision, au plus tard le 27/10/2026 » ; la décision se déclare avec son issue et son motif.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RG-ATT-12 · RG-ATT-13 · RG-ATT-15 · RG-ATT-16 · RG-ATT-17 · RG-ATT-35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candidat écarté : résultat et motif</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ndidat écarté : résultat et motif">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non retenu,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Offre non retenue », avec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écartée à l’examen préliminaire pour une garantie insuffisante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L’attributaire et le montant, les dates d’information, d’affichage et de signature possible ; la lettre à lire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demande d’explication et la réponse de la PRMP, sous le résultat.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RG-ATT-09 · RG-ATT-10 · RG-ATT-13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INFORMER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résultat public de la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ésultat public de la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 visiteur,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publique de la procédure : le résultat par lot — attributaire et montant hors taxes —, avec les dates de communication et d’affichage.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L’extrait du PV d’ouverture et les questions des candidats y restent lisibles ; l’avis d’attribution y paraîtra une fois publié.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RG-ATT-11 · RG-ATT-24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pièces de l’attributaire et la signature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signature du marché ne s’ouvre que lorsque tout est réuni : le délai d’attente écoulé, aucun recours suspensif en cours, les pièces reconnues conformes et, en remise électronique, l’original signé de l’acte d’engagement.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CANDIDAT ATTRIBUTAIRE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L’attributaire dépose ses pièces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ttributaire dépose ses pièc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attributaire, dans « Mes offres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Votre offre est retenue » ; la lettre d’attribution se lit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fiscale et sociale à déposer avant le 22/10/2026 (art. 20-I) : « Sans elles, le marché vous est retiré » ; chacune se lit ensuite « conforme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déposée et scellée en ligne : il remet aussi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 de son acte d’engagement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en dépose le scan ici, sans l’échéance des quinze jours.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RG-ATT-18 · RG-ATT-19 · RG-ATT-34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PIÈCES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vérifiées, l’original attendu</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vérifiées, l’original attendu">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L’échéance des pièces,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dates de délivrance les plus anciennes admises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(07/04/2026 pour la fiscale, 07/07/2026 pour la sociale) : une pièce plus ancienne ne peut être reconnue conforme.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 sa date de délivrance, son dépôt, son fichier et son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L’original de l’acte d’engagement est annoncé « à déposer » ; la PRMP qui l’a reçu l’enregistre (date de remise facultative, scan) puis le vérifie.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RG-ATT-18 · RG-ATT-19 · RG-ATT-34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SIGNATURE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Mise au point et signature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se au point et signat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mise au point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l’attributaire : calendrier de démarrage précisé, sans modification du prix ni des prestations.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Signer le marché » est ouvert quand le délai d’attente est écoulé, sans recours suspensif, les deux pièces conformes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l’original de l’acte d’engagement reconnu conforme ; le bouton reste fermé ici.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Viennent ensuite l’approbation, l’enregistrement, la notification et l’avis d’attribution (sans capture : aucun lot de la base n’a encore atteint ces états).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RG-ATT-20 · RG-ATT-21 · RG-ATT-22 · RG-ATT-33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Quand le lot n’est pas attribué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 avis défavorable, un retrait du marché ou un motif d’intérêt général ouvrent d’autres issues, toujours motivées et soumises à la Commission quand la loi le veut.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un avis défavorable : infructuosité ou reprise</a:t>
            </a:r>
            <a:endParaRPr lang="en-US" sz="2600" dirty="0"/>
          </a:p>
        </p:txBody>
      </p:sp>
      <p:sp>
        <p:nvSpPr>
          <p:cNvPr id="4" name="Shape 2"/>
          <p:cNvSpPr/>
          <p:nvPr/>
        </p:nvSpPr>
        <p:spPr>
          <a:xfrm>
            <a:off x="2894620" y="1193800"/>
            <a:ext cx="6402454" cy="3327400"/>
          </a:xfrm>
          <a:prstGeom prst="rect">
            <a:avLst/>
          </a:prstGeom>
          <a:solidFill>
            <a:srgbClr val="FCFCFA"/>
          </a:solidFill>
          <a:ln w="9525">
            <a:solidFill>
              <a:srgbClr val="D5DCE4"/>
            </a:solidFill>
            <a:prstDash val="solid"/>
          </a:ln>
        </p:spPr>
      </p:sp>
      <p:pic>
        <p:nvPicPr>
          <p:cNvPr id="5" name="Image 0" descr="Après un avis défavorable : infructuosité ou reprise">    </p:cNvPr>
          <p:cNvPicPr>
            <a:picLocks noChangeAspect="1"/>
          </p:cNvPicPr>
          <p:nvPr/>
        </p:nvPicPr>
        <p:blipFill>
          <a:blip r:embed="rId1"/>
          <a:stretch>
            <a:fillRect/>
          </a:stretch>
        </p:blipFill>
        <p:spPr>
          <a:xfrm>
            <a:off x="2907320" y="1206500"/>
            <a:ext cx="6377055"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de marché a reçu un avis défavorable : la PRMP déclare le lot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infructueux</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(motif, référence et date de sa décision, suite envisagée),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 l’évaluation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un motif.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RG-ATT-29 · RG-ATT-30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APRÈS UN AVIS DÉFAVORABLE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reprise, le rapport archivé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reprise, le rapport archiv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reprend ; la commission refait le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Reprise après avis défavorable », datée et motivée : le rapport est repris pour corriger le calendrier de mobilisation.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rapport signé précédent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archivé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lisible en PDF et en Word ; le lot revient « Évaluation en cours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nouveau rapport, puis un nouveau dossier de marché suivront.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RG-ATT-30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demande de déclaration sans suite</a:t>
            </a:r>
            <a:endParaRPr lang="en-US" sz="2600" dirty="0"/>
          </a:p>
        </p:txBody>
      </p:sp>
      <p:sp>
        <p:nvSpPr>
          <p:cNvPr id="4" name="Shape 2"/>
          <p:cNvSpPr/>
          <p:nvPr/>
        </p:nvSpPr>
        <p:spPr>
          <a:xfrm>
            <a:off x="1420550" y="1193800"/>
            <a:ext cx="9350595" cy="3327400"/>
          </a:xfrm>
          <a:prstGeom prst="rect">
            <a:avLst/>
          </a:prstGeom>
          <a:solidFill>
            <a:srgbClr val="FCFCFA"/>
          </a:solidFill>
          <a:ln w="9525">
            <a:solidFill>
              <a:srgbClr val="D5DCE4"/>
            </a:solidFill>
            <a:prstDash val="solid"/>
          </a:ln>
        </p:spPr>
      </p:sp>
      <p:pic>
        <p:nvPicPr>
          <p:cNvPr id="5" name="Image 0" descr="La demande de déclaration sans suite">    </p:cNvPr>
          <p:cNvPicPr>
            <a:picLocks noChangeAspect="1"/>
          </p:cNvPicPr>
          <p:nvPr/>
        </p:nvPicPr>
        <p:blipFill>
          <a:blip r:embed="rId1"/>
          <a:stretch>
            <a:fillRect/>
          </a:stretch>
        </p:blipFill>
        <p:spPr>
          <a:xfrm>
            <a:off x="1433250" y="1206500"/>
            <a:ext cx="9325195"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À tout moment avant la signature d’un marché de la procédure, la PRMP demande,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forment une pièce du dossier soumis à la Commission, qui rend un avis favorable ou défavorable sous cinq jours de la réception.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déclaration sans suite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de déclaration sans sui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 Déclaration sans suite » suit le circuit ordinaire, ici à l’étape de vérification.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motifs de la déclaration, en tête des pièces, puis la fiche de présentation, le plan contrôlé, le projet de décision et les justificatifs.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favorable : la PRMP déclare</a:t>
            </a:r>
            <a:endParaRPr lang="en-US" sz="2600" dirty="0"/>
          </a:p>
        </p:txBody>
      </p:sp>
      <p:sp>
        <p:nvSpPr>
          <p:cNvPr id="4" name="Shape 2"/>
          <p:cNvSpPr/>
          <p:nvPr/>
        </p:nvSpPr>
        <p:spPr>
          <a:xfrm>
            <a:off x="1016922" y="1193800"/>
            <a:ext cx="10157851" cy="3327400"/>
          </a:xfrm>
          <a:prstGeom prst="rect">
            <a:avLst/>
          </a:prstGeom>
          <a:solidFill>
            <a:srgbClr val="FCFCFA"/>
          </a:solidFill>
          <a:ln w="9525">
            <a:solidFill>
              <a:srgbClr val="D5DCE4"/>
            </a:solidFill>
            <a:prstDash val="solid"/>
          </a:ln>
        </p:spPr>
      </p:sp>
      <p:pic>
        <p:nvPicPr>
          <p:cNvPr id="5" name="Image 0" descr="L’avis favorable : la PRMP déclare">    </p:cNvPr>
          <p:cNvPicPr>
            <a:picLocks noChangeAspect="1"/>
          </p:cNvPicPr>
          <p:nvPr/>
        </p:nvPicPr>
        <p:blipFill>
          <a:blip r:embed="rId1"/>
          <a:stretch>
            <a:fillRect/>
          </a:stretch>
        </p:blipFill>
        <p:spPr>
          <a:xfrm>
            <a:off x="1029622" y="1206500"/>
            <a:ext cx="10132451"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rendu, la PRMP déclare le sans suite : la référence et la date de sa décision.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SANS SUITE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déclarée sans suite</a:t>
            </a:r>
            <a:endParaRPr lang="en-US" sz="2600" dirty="0"/>
          </a:p>
        </p:txBody>
      </p:sp>
      <p:sp>
        <p:nvSpPr>
          <p:cNvPr id="4" name="Shape 2"/>
          <p:cNvSpPr/>
          <p:nvPr/>
        </p:nvSpPr>
        <p:spPr>
          <a:xfrm>
            <a:off x="800080" y="1193800"/>
            <a:ext cx="10591535" cy="2451149"/>
          </a:xfrm>
          <a:prstGeom prst="rect">
            <a:avLst/>
          </a:prstGeom>
          <a:solidFill>
            <a:srgbClr val="FCFCFA"/>
          </a:solidFill>
          <a:ln w="9525">
            <a:solidFill>
              <a:srgbClr val="D5DCE4"/>
            </a:solidFill>
            <a:prstDash val="solid"/>
          </a:ln>
        </p:spPr>
      </p:sp>
      <p:pic>
        <p:nvPicPr>
          <p:cNvPr id="5" name="Image 0" descr="La procédure déclarée sans suite">    </p:cNvPr>
          <p:cNvPicPr>
            <a:picLocks noChangeAspect="1"/>
          </p:cNvPicPr>
          <p:nvPr/>
        </p:nvPicPr>
        <p:blipFill>
          <a:blip r:embed="rId1"/>
          <a:stretch>
            <a:fillRect/>
          </a:stretch>
        </p:blipFill>
        <p:spPr>
          <a:xfrm>
            <a:off x="812780" y="1206500"/>
            <a:ext cx="10566136" cy="2425749"/>
          </a:xfrm>
          <a:prstGeom prst="rect">
            <a:avLst/>
          </a:prstGeom>
        </p:spPr>
      </p:pic>
      <p:sp>
        <p:nvSpPr>
          <p:cNvPr id="6" name="Shape 3"/>
          <p:cNvSpPr/>
          <p:nvPr/>
        </p:nvSpPr>
        <p:spPr>
          <a:xfrm>
            <a:off x="812780" y="3784649"/>
            <a:ext cx="10566136" cy="1993900"/>
          </a:xfrm>
          <a:prstGeom prst="rect">
            <a:avLst/>
          </a:prstGeom>
          <a:solidFill>
            <a:srgbClr val="FCFCFA"/>
          </a:solidFill>
          <a:ln w="9525">
            <a:solidFill>
              <a:srgbClr val="D5DCE4"/>
            </a:solidFill>
            <a:prstDash val="solid"/>
          </a:ln>
        </p:spPr>
      </p:sp>
      <p:sp>
        <p:nvSpPr>
          <p:cNvPr id="7" name="Shape 4"/>
          <p:cNvSpPr/>
          <p:nvPr/>
        </p:nvSpPr>
        <p:spPr>
          <a:xfrm>
            <a:off x="812780" y="3784649"/>
            <a:ext cx="38099" cy="1993900"/>
          </a:xfrm>
          <a:prstGeom prst="rect">
            <a:avLst/>
          </a:prstGeom>
          <a:solidFill>
            <a:srgbClr val="1B6FA8"/>
          </a:solidFill>
          <a:ln/>
        </p:spPr>
      </p:sp>
      <p:sp>
        <p:nvSpPr>
          <p:cNvPr id="8" name="Text 5"/>
          <p:cNvSpPr/>
          <p:nvPr/>
        </p:nvSpPr>
        <p:spPr>
          <a:xfrm>
            <a:off x="977876" y="3886249"/>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est close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suite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candidats en sont informés, avec les motifs.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aucun geste d’attribution n’est possible.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actes de gestion du marché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Une fois le marché contrôlé favorablement, ses avenants, résiliations, indemnités, remises de pénalités et sursis se déposent depuis son dossier, et reviennent au contrôle de la Commission.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marché et ses actes de gestion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arché et ses actes de ges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montant initial (166 000 000 Ar HT) et la catégorie ; les avenants cumulés face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plafond du tiers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20 000 000 Ar sur 55 333 333,33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soumis, une remise de pénalités en brouillon ; « Déposer un acte de gestion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jointes d’office au dossier de marché : projet de marché, cahier des charges, PV d’ouverture, rapport d’analyse, devis.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RG-ATT-03 · RG-ATT-27 · RG-ATT-28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un avenant</a:t>
            </a:r>
            <a:endParaRPr lang="en-US" sz="2600" dirty="0"/>
          </a:p>
        </p:txBody>
      </p:sp>
      <p:sp>
        <p:nvSpPr>
          <p:cNvPr id="4" name="Shape 2"/>
          <p:cNvSpPr/>
          <p:nvPr/>
        </p:nvSpPr>
        <p:spPr>
          <a:xfrm>
            <a:off x="800080" y="1193800"/>
            <a:ext cx="7327717" cy="4571206"/>
          </a:xfrm>
          <a:prstGeom prst="rect">
            <a:avLst/>
          </a:prstGeom>
          <a:solidFill>
            <a:srgbClr val="FCFCFA"/>
          </a:solidFill>
          <a:ln w="9525">
            <a:solidFill>
              <a:srgbClr val="D5DCE4"/>
            </a:solidFill>
            <a:prstDash val="solid"/>
          </a:ln>
        </p:spPr>
      </p:sp>
      <p:pic>
        <p:nvPicPr>
          <p:cNvPr id="5" name="Image 0" descr="Déposer un avenant">    </p:cNvPr>
          <p:cNvPicPr>
            <a:picLocks noChangeAspect="1"/>
          </p:cNvPicPr>
          <p:nvPr/>
        </p:nvPicPr>
        <p:blipFill>
          <a:blip r:embed="rId1"/>
          <a:stretch>
            <a:fillRect/>
          </a:stretch>
        </p:blipFill>
        <p:spPr>
          <a:xfrm>
            <a:off x="812780" y="1206500"/>
            <a:ext cx="7302317" cy="4545806"/>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L’acte (avenant, résiliation, indemnité, pénalités, sursis), le montant hors taxes de l’avenant, les faits du marché (réceptions, solde) ; la projection du cumul s’affiche avant le dépôt.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en brouillon : pièces et soumission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cte en brouillon : pièces et sou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remise de pénalités née du marché, en brouillon : ses déclarations, les pièces exigées de son sous-type, un lien vers le dossier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toutes les pièces obligatoires sont jointes, l’acte se soumet à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RG-ATT-27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ACTES DE GESTION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L’avenant soumis à la Commission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enant soumis à la Commis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suit ; la Commission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L’avenant n° 1 (20 000 000 Ar HT), déposé le 09/10, est en réception à la Commission, avec sa fin de traitement prévue.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Ses six pièces : fiche de présentation, projet d’avenant, marché initial signé et approuvé, PV de la Commission sur le marché, accord des parties, élément déclencheur.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RG-ATT-27 · RG-ATT-28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contrôle sans exception</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marché issu d’une procédure en ligne passe au contrôle a priori de la Commission, sans seuil, et il n’est attribué qu’à l’offre proposée par la commission d’appel d’offres.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délai d’attente qui protège les candidats</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Dix jours francs depuis la réception présumée de l’information (ou l’affichage, s’il est plus tardif) : avant, la signature est refusée et la date « signature possible » est affichée (art. 78).</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recours qui suspendent vraiment</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types de recours suspensifs sont réglés par l’Administrateur (par défaut la révision par l’ARMP et le référé) ; tant qu’un tel recours attend sa décision, ou qu’une demande de sans suite attend l’avis de la Commission, aucun marché ne se signe.</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attributaire en règle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Pièces fiscale et sociale déposées dans les quinze jours et assez récentes à la notification de l’attribution, original signé de l’acte d’engagement remis en remise électronique : sans elles, la signature reste fermée, et le marché peut être retiré.</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Approuvé et enregistré avant d’être notifié</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Après la signature, la PRMP déclare l’approbation par l’autorité compétente et l’enregistrement, pièces jointes ; la notification ne s’ouvre qu’ensuite, à une date qui ne les précède pas (art. 54). Le marché prend effet à sa réception par l’attributaire.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avis d’attribution suivi</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L’avis se publie dans les trente jours de la réception de la notification par le titulaire ; la PRMP est alertée au vingtième jour, un avis en retard est signalé sur ses écrans.</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ATTRIBUER ET NOTIFIER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08-09 · Attribution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Codes bruts affichés : « INFORME », « EN_VERIFICATION », « REMPLACEE », « RETIREE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09 · Acte de gestion en brouillon (100374)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Deux boutons de soumission : « Soumettre le dossier » et « Soumettre l’acte à la Commission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E3AE2E"/>
                          </a:solidFill>
                          <a:latin typeface="Segoe UI" pitchFamily="34" charset="0"/>
                          <a:ea typeface="Segoe UI" pitchFamily="34" charset="-122"/>
                          <a:cs typeface="Segoe UI" pitchFamily="34" charset="-120"/>
                        </a:rPr>
                        <a:t>À examiner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09 · Attribuer et notifier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36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09 · Attribuer et notifier</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36</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Le dossier de marché · Attribuer · Informer les candidats · Les recours · Les pièces de l’attributaire · Signer, approuver, enregistrer, notifier · L’infructuosité · Les actes de gestion · Après le rapport · Les prestations intellectuelles · Les délais légaux</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marché (1/2)</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marché en ligne contrôlé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issu d’une procédure en ligne passe au </a:t>
                      </a:r>
                      <a:pPr indent="0" marL="0">
                        <a:buNone/>
                      </a:pPr>
                      <a:r>
                        <a:rPr lang="en-US" sz="1100" b="1" dirty="0">
                          <a:solidFill>
                            <a:srgbClr val="1B2A3A"/>
                          </a:solidFill>
                          <a:latin typeface="Segoe UI" pitchFamily="34" charset="0"/>
                          <a:ea typeface="Segoe UI" pitchFamily="34" charset="-122"/>
                          <a:cs typeface="Segoe UI" pitchFamily="34" charset="-120"/>
                        </a:rPr>
                        <a:t>contrôle a priori</a:t>
                      </a:r>
                      <a:pPr indent="0" marL="0">
                        <a:buNone/>
                      </a:pPr>
                      <a:r>
                        <a:rPr lang="en-US" sz="1100" dirty="0">
                          <a:solidFill>
                            <a:srgbClr val="1B2A3A"/>
                          </a:solidFill>
                          <a:latin typeface="Segoe UI" pitchFamily="34" charset="0"/>
                          <a:ea typeface="Segoe UI" pitchFamily="34" charset="-122"/>
                          <a:cs typeface="Segoe UI" pitchFamily="34" charset="-120"/>
                        </a:rPr>
                        <a:t> de la Commission, sans seuil.</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Depuis l’évaluation close, la PRMP ou son UGPM crée </a:t>
                      </a:r>
                      <a:pPr indent="0" marL="0">
                        <a:buNone/>
                      </a:pPr>
                      <a:r>
                        <a:rPr lang="en-US" sz="1100" b="1" dirty="0">
                          <a:solidFill>
                            <a:srgbClr val="1B2A3A"/>
                          </a:solidFill>
                          <a:latin typeface="Segoe UI" pitchFamily="34" charset="0"/>
                          <a:ea typeface="Segoe UI" pitchFamily="34" charset="-122"/>
                          <a:cs typeface="Segoe UI" pitchFamily="34" charset="-120"/>
                        </a:rPr>
                        <a:t>un dossier de marché par lot</a:t>
                      </a:r>
                      <a:pPr indent="0" marL="0">
                        <a:buNone/>
                      </a:pPr>
                      <a:r>
                        <a:rPr lang="en-US" sz="1100" dirty="0">
                          <a:solidFill>
                            <a:srgbClr val="1B2A3A"/>
                          </a:solidFill>
                          <a:latin typeface="Segoe UI" pitchFamily="34" charset="0"/>
                          <a:ea typeface="Segoe UI" pitchFamily="34" charset="-122"/>
                          <a:cs typeface="Segoe UI" pitchFamily="34" charset="-120"/>
                        </a:rPr>
                        <a:t> attribuable, ouvert ou restreint selon le mode de passation. Un lot que le rapport propose infructueux n’en a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jointes d’office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reçoit d’office le </a:t>
                      </a:r>
                      <a:pPr indent="0" marL="0">
                        <a:buNone/>
                      </a:pPr>
                      <a:r>
                        <a:rPr lang="en-US" sz="1100" b="1" dirty="0">
                          <a:solidFill>
                            <a:srgbClr val="1B2A3A"/>
                          </a:solidFill>
                          <a:latin typeface="Segoe UI" pitchFamily="34" charset="0"/>
                          <a:ea typeface="Segoe UI" pitchFamily="34" charset="-122"/>
                          <a:cs typeface="Segoe UI" pitchFamily="34" charset="-120"/>
                        </a:rPr>
                        <a:t>projet de marché</a:t>
                      </a:r>
                      <a:pPr indent="0" marL="0">
                        <a:buNone/>
                      </a:pPr>
                      <a:r>
                        <a:rPr lang="en-US" sz="1100" dirty="0">
                          <a:solidFill>
                            <a:srgbClr val="1B2A3A"/>
                          </a:solidFill>
                          <a:latin typeface="Segoe UI" pitchFamily="34" charset="0"/>
                          <a:ea typeface="Segoe UI" pitchFamily="34" charset="-122"/>
                          <a:cs typeface="Segoe UI" pitchFamily="34" charset="-120"/>
                        </a:rPr>
                        <a:t> produit par l’application, le DAO complet, le devis ou bordereau de l’offre, le PV d’ouverture et le rapport d’évaluation, et, s’il y en a, les questions des candidats et leurs réponses. Restent à joindre par la PRMP, selon le sous-type, les autres pièces exigées.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projet de marché tiré de l’offre, selon l’art. 60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projet de marché porte l’objet de l’appel d’offres et le seul lot du marché, et toutes les mentions de l’art. 60 ; ce que l’application connaît est rempli, le reste est nommé et complété par la PRMP avant la signature. Tant que le marché n’est pas signé, la PRMP ou son UGPM peut le </a:t>
                      </a:r>
                      <a:pPr indent="0" marL="0">
                        <a:buNone/>
                      </a:pPr>
                      <a:r>
                        <a:rPr lang="en-US" sz="1100" b="1" dirty="0">
                          <a:solidFill>
                            <a:srgbClr val="1B2A3A"/>
                          </a:solidFill>
                          <a:latin typeface="Segoe UI" pitchFamily="34" charset="0"/>
                          <a:ea typeface="Segoe UI" pitchFamily="34" charset="-122"/>
                          <a:cs typeface="Segoe UI" pitchFamily="34" charset="-120"/>
                        </a:rPr>
                        <a:t>refaire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DAO complet dispense du CCAG</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qui porte le DAO complet produit par la fiche n’a plus à joindre le CCAG, ni le CCTP quand la fiche porte ses spécifications techniques.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proposition à l’attribution : le contrôle de la Commission (lot 2, 2026-10-07) · regles-gestion.md § De la proposition à l’attribution : le contrôle de la Commission (2026-10-07) · regles-gestion.md § De la proposition à l’attribution (2026-10-07) ; § les questions des candidats avant la date limite (manuel révisé, lot 2, tranche R7) · regles-gestion.md § le projet de marché suit la loi n° 2016-055 (2026-10-10 ; un lot = un marché, art. 28) · regles-gestion.md § Le DAO complet dispense du CCAG et du CCTP (2026-10-07)</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de marché (2/2)</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grille tirée du guide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suit le circuit ordinaire. La Commission l’examine sur une grille tirée du guide : commission, PV, motivation des rejets, montant évalué, offres anormales, classement, post-qualification, signatures, conformité du projet à l’offre. Une correction hors calcul y est signalée (RG-EVA-35).</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proposition à l’attribution (2026-10-07) ; § trois autres bloquants (tranche R9b)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Attribuer</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PRMP attribue après l’avis favorable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l’avis </a:t>
                      </a:r>
                      <a:pPr indent="0" marL="0">
                        <a:buNone/>
                      </a:pPr>
                      <a:r>
                        <a:rPr lang="en-US" sz="1100" b="1" dirty="0">
                          <a:solidFill>
                            <a:srgbClr val="1B2A3A"/>
                          </a:solidFill>
                          <a:latin typeface="Segoe UI" pitchFamily="34" charset="0"/>
                          <a:ea typeface="Segoe UI" pitchFamily="34" charset="-122"/>
                          <a:cs typeface="Segoe UI" pitchFamily="34" charset="-120"/>
                        </a:rPr>
                        <a:t>favorable</a:t>
                      </a:r>
                      <a:pPr indent="0" marL="0">
                        <a:buNone/>
                      </a:pPr>
                      <a:r>
                        <a:rPr lang="en-US" sz="1100" dirty="0">
                          <a:solidFill>
                            <a:srgbClr val="1B2A3A"/>
                          </a:solidFill>
                          <a:latin typeface="Segoe UI" pitchFamily="34" charset="0"/>
                          <a:ea typeface="Segoe UI" pitchFamily="34" charset="-122"/>
                          <a:cs typeface="Segoe UI" pitchFamily="34" charset="-120"/>
                        </a:rPr>
                        <a:t> de la Commission sur le dossier de marché, avec ou sans réserves, la PRMP, et elle seule, attribue le lot.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proposée, et elle seule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L’attribution va à l’offre </a:t>
                      </a:r>
                      <a:pPr indent="0" marL="0">
                        <a:buNone/>
                      </a:pPr>
                      <a:r>
                        <a:rPr lang="en-US" sz="1100" b="1" dirty="0">
                          <a:solidFill>
                            <a:srgbClr val="1B2A3A"/>
                          </a:solidFill>
                          <a:latin typeface="Segoe UI" pitchFamily="34" charset="0"/>
                          <a:ea typeface="Segoe UI" pitchFamily="34" charset="-122"/>
                          <a:cs typeface="Segoe UI" pitchFamily="34" charset="-120"/>
                        </a:rPr>
                        <a:t>proposée</a:t>
                      </a:r>
                      <a:pPr indent="0" marL="0">
                        <a:buNone/>
                      </a:pPr>
                      <a:r>
                        <a:rPr lang="en-US" sz="1100" dirty="0">
                          <a:solidFill>
                            <a:srgbClr val="1B2A3A"/>
                          </a:solidFill>
                          <a:latin typeface="Segoe UI" pitchFamily="34" charset="0"/>
                          <a:ea typeface="Segoe UI" pitchFamily="34" charset="-122"/>
                          <a:cs typeface="Segoe UI" pitchFamily="34" charset="-120"/>
                        </a:rPr>
                        <a:t> par la commission d’appel d’offres, jamais à une autre (art. 35-VII). En désaccord, la PRMP ne peut que déclarer le lot infructueux ou la procédure sans suite.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L’attribution et l’information des candidats (lot 2, tranche 2b) · regles-gestion.md § L’attribution et l’information des candidats (tranche 2b)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Informer les candidats (1/2)</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lettre à chaque candidat évalué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informe tous les candidats dont l’offre a été évaluée (art. 52) : lettre d’attribution à l’attributaire, lettre de rejet aux autres, avec les </a:t>
                      </a:r>
                      <a:pPr indent="0" marL="0">
                        <a:buNone/>
                      </a:pPr>
                      <a:r>
                        <a:rPr lang="en-US" sz="1100" b="1" dirty="0">
                          <a:solidFill>
                            <a:srgbClr val="1B2A3A"/>
                          </a:solidFill>
                          <a:latin typeface="Segoe UI" pitchFamily="34" charset="0"/>
                          <a:ea typeface="Segoe UI" pitchFamily="34" charset="-122"/>
                          <a:cs typeface="Segoe UI" pitchFamily="34" charset="-120"/>
                        </a:rPr>
                        <a:t>motifs tirés du rapport</a:t>
                      </a:r>
                      <a:pPr indent="0" marL="0">
                        <a:buNone/>
                      </a:pPr>
                      <a:r>
                        <a:rPr lang="en-US" sz="1100" dirty="0">
                          <a:solidFill>
                            <a:srgbClr val="1B2A3A"/>
                          </a:solidFill>
                          <a:latin typeface="Segoe UI" pitchFamily="34" charset="0"/>
                          <a:ea typeface="Segoe UI" pitchFamily="34" charset="-122"/>
                          <a:cs typeface="Segoe UI" pitchFamily="34" charset="-120"/>
                        </a:rPr>
                        <a:t>, le nom de l’attributaire et le montant du marché.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Signées en ligne, lues avec accusé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signe ces lettres électroniquement ; elles partent sur la plateforme et par courriel. La première lecture par le candidat sur la plateforme vaut </a:t>
                      </a:r>
                      <a:pPr indent="0" marL="0">
                        <a:buNone/>
                      </a:pPr>
                      <a:r>
                        <a:rPr lang="en-US" sz="1100" b="1" dirty="0">
                          <a:solidFill>
                            <a:srgbClr val="1B2A3A"/>
                          </a:solidFill>
                          <a:latin typeface="Segoe UI" pitchFamily="34" charset="0"/>
                          <a:ea typeface="Segoe UI" pitchFamily="34" charset="-122"/>
                          <a:cs typeface="Segoe UI" pitchFamily="34" charset="-120"/>
                        </a:rPr>
                        <a:t>accusé de réception</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L’affichage déclaré, le résultat publié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la date d’</a:t>
                      </a:r>
                      <a:pPr indent="0" marL="0">
                        <a:buNone/>
                      </a:pPr>
                      <a:r>
                        <a:rPr lang="en-US" sz="1100" b="1" dirty="0">
                          <a:solidFill>
                            <a:srgbClr val="1B2A3A"/>
                          </a:solidFill>
                          <a:latin typeface="Segoe UI" pitchFamily="34" charset="0"/>
                          <a:ea typeface="Segoe UI" pitchFamily="34" charset="-122"/>
                          <a:cs typeface="Segoe UI" pitchFamily="34" charset="-120"/>
                        </a:rPr>
                        <a:t>affichage</a:t>
                      </a:r>
                      <a:pPr indent="0" marL="0">
                        <a:buNone/>
                      </a:pPr>
                      <a:r>
                        <a:rPr lang="en-US" sz="1100" dirty="0">
                          <a:solidFill>
                            <a:srgbClr val="1B2A3A"/>
                          </a:solidFill>
                          <a:latin typeface="Segoe UI" pitchFamily="34" charset="0"/>
                          <a:ea typeface="Segoe UI" pitchFamily="34" charset="-122"/>
                          <a:cs typeface="Segoe UI" pitchFamily="34" charset="-120"/>
                        </a:rPr>
                        <a:t> du résultat à son siège ; l’attributaire et le montant paraissent sur la page publique de la procédure.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Dix jours francs depuis la réception présumée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ne se signe qu’après </a:t>
                      </a:r>
                      <a:pPr indent="0" marL="0">
                        <a:buNone/>
                      </a:pPr>
                      <a:r>
                        <a:rPr lang="en-US" sz="1100" b="1" dirty="0">
                          <a:solidFill>
                            <a:srgbClr val="1B2A3A"/>
                          </a:solidFill>
                          <a:latin typeface="Segoe UI" pitchFamily="34" charset="0"/>
                          <a:ea typeface="Segoe UI" pitchFamily="34" charset="-122"/>
                          <a:cs typeface="Segoe UI" pitchFamily="34" charset="-120"/>
                        </a:rPr>
                        <a:t>dix jours francs</a:t>
                      </a:r>
                      <a:pPr indent="0" marL="0">
                        <a:buNone/>
                      </a:pPr>
                      <a:r>
                        <a:rPr lang="en-US" sz="1100" dirty="0">
                          <a:solidFill>
                            <a:srgbClr val="1B2A3A"/>
                          </a:solidFill>
                          <a:latin typeface="Segoe UI" pitchFamily="34" charset="0"/>
                          <a:ea typeface="Segoe UI" pitchFamily="34" charset="-122"/>
                          <a:cs typeface="Segoe UI" pitchFamily="34" charset="-120"/>
                        </a:rPr>
                        <a:t> (art. 78), comptés depuis la </a:t>
                      </a:r>
                      <a:pPr indent="0" marL="0">
                        <a:buNone/>
                      </a:pPr>
                      <a:r>
                        <a:rPr lang="en-US" sz="1100" b="1" dirty="0">
                          <a:solidFill>
                            <a:srgbClr val="1B2A3A"/>
                          </a:solidFill>
                          <a:latin typeface="Segoe UI" pitchFamily="34" charset="0"/>
                          <a:ea typeface="Segoe UI" pitchFamily="34" charset="-122"/>
                          <a:cs typeface="Segoe UI" pitchFamily="34" charset="-120"/>
                        </a:rPr>
                        <a:t>réception présumée</a:t>
                      </a:r>
                      <a:pPr indent="0" marL="0">
                        <a:buNone/>
                      </a:pPr>
                      <a:r>
                        <a:rPr lang="en-US" sz="1100" dirty="0">
                          <a:solidFill>
                            <a:srgbClr val="1B2A3A"/>
                          </a:solidFill>
                          <a:latin typeface="Segoe UI" pitchFamily="34" charset="0"/>
                          <a:ea typeface="Segoe UI" pitchFamily="34" charset="-122"/>
                          <a:cs typeface="Segoe UI" pitchFamily="34" charset="-120"/>
                        </a:rPr>
                        <a:t> de la lettre par les candidats non retenus — l’envoi plus un nombre de jours réglé par l’Administrateur (trois proposés), le même pour tous —, ou depuis l’affichage s’il est plus tardif. Ni ce jour ni le dixième ne comptent ; l’écran affiche la date à partir de laquelle la signature est possible.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explications, par écrit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non retenu peut demander par écrit des </a:t>
                      </a:r>
                      <a:pPr indent="0" marL="0">
                        <a:buNone/>
                      </a:pPr>
                      <a:r>
                        <a:rPr lang="en-US" sz="1100" b="1" dirty="0">
                          <a:solidFill>
                            <a:srgbClr val="1B2A3A"/>
                          </a:solidFill>
                          <a:latin typeface="Segoe UI" pitchFamily="34" charset="0"/>
                          <a:ea typeface="Segoe UI" pitchFamily="34" charset="-122"/>
                          <a:cs typeface="Segoe UI" pitchFamily="34" charset="-120"/>
                        </a:rPr>
                        <a:t>explications</a:t>
                      </a:r>
                      <a:pPr indent="0" marL="0">
                        <a:buNone/>
                      </a:pPr>
                      <a:r>
                        <a:rPr lang="en-US" sz="1100" dirty="0">
                          <a:solidFill>
                            <a:srgbClr val="1B2A3A"/>
                          </a:solidFill>
                          <a:latin typeface="Segoe UI" pitchFamily="34" charset="0"/>
                          <a:ea typeface="Segoe UI" pitchFamily="34" charset="-122"/>
                          <a:cs typeface="Segoe UI" pitchFamily="34" charset="-120"/>
                        </a:rPr>
                        <a:t> sur le rejet de son offre ; la PRMP y répond par écrit, avec un fichier si elle le souhaite.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L’attribution et l’information des candidats (tranche 2b) · regles-gestion.md § les délais de la signature, des pièces, de l’avis d’attribution et du sans suite (manuel révisé, lot 2, tranche R6c, 2026-10-13) ; demande-backend-2026-10-10-manuel-revise-lot2.md, B1 règle 6, encadré ✅ Front FR6</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Informer les candidats (2/2)</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modèles provisoires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que les modèles officiels ne sont pas remis, les lettres et l’avis d’attribution suivent un </a:t>
                      </a:r>
                      <a:pPr indent="0" marL="0">
                        <a:buNone/>
                      </a:pPr>
                      <a:r>
                        <a:rPr lang="en-US" sz="1100" b="1" dirty="0">
                          <a:solidFill>
                            <a:srgbClr val="1B2A3A"/>
                          </a:solidFill>
                          <a:latin typeface="Segoe UI" pitchFamily="34" charset="0"/>
                          <a:ea typeface="Segoe UI" pitchFamily="34" charset="-122"/>
                          <a:cs typeface="Segoe UI" pitchFamily="34" charset="-120"/>
                        </a:rPr>
                        <a:t>modèle provisoire</a:t>
                      </a:r>
                      <a:pPr indent="0" marL="0">
                        <a:buNone/>
                      </a:pPr>
                      <a:r>
                        <a:rPr lang="en-US" sz="1100" dirty="0">
                          <a:solidFill>
                            <a:srgbClr val="1B2A3A"/>
                          </a:solidFill>
                          <a:latin typeface="Segoe UI" pitchFamily="34" charset="0"/>
                          <a:ea typeface="Segoe UI" pitchFamily="34" charset="-122"/>
                          <a:cs typeface="Segoe UI" pitchFamily="34" charset="-120"/>
                        </a:rPr>
                        <a:t> de l’application.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L’attribution et l’information des candidats (tranche 2b) ; § De la mise au point à l’avis d’attribution (tranche 2c)</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recours</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recours déclarés par la PRMP</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déclare les recours reçus, chacun typé : demande de réexamen, demande de révision auprès de l’ARMP, référé. Leur décision se déclare ensuite, avec son issue et un motif.</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réexamen, sous dix jours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doit répondre à une demande de </a:t>
                      </a:r>
                      <a:pPr indent="0" marL="0">
                        <a:buNone/>
                      </a:pPr>
                      <a:r>
                        <a:rPr lang="en-US" sz="1100" b="1" dirty="0">
                          <a:solidFill>
                            <a:srgbClr val="1B2A3A"/>
                          </a:solidFill>
                          <a:latin typeface="Segoe UI" pitchFamily="34" charset="0"/>
                          <a:ea typeface="Segoe UI" pitchFamily="34" charset="-122"/>
                          <a:cs typeface="Segoe UI" pitchFamily="34" charset="-120"/>
                        </a:rPr>
                        <a:t>réexamen</a:t>
                      </a:r>
                      <a:pPr indent="0" marL="0">
                        <a:buNone/>
                      </a:pPr>
                      <a:r>
                        <a:rPr lang="en-US" sz="1100" dirty="0">
                          <a:solidFill>
                            <a:srgbClr val="1B2A3A"/>
                          </a:solidFill>
                          <a:latin typeface="Segoe UI" pitchFamily="34" charset="0"/>
                          <a:ea typeface="Segoe UI" pitchFamily="34" charset="-122"/>
                          <a:cs typeface="Segoe UI" pitchFamily="34" charset="-120"/>
                        </a:rPr>
                        <a:t> sous dix jours ; elle est alertée deux jours avant l’échéance. Par défaut, le réexamen ne suspend pas la signature, sauf si l’Administrateur l’a rangé parmi les recours suspensifs (RG-ATT-35).</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recours suspensif suspend la signature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recours d’un type suspensif — par défaut la révision par l’ARMP et le référé — </a:t>
                      </a:r>
                      <a:pPr indent="0" marL="0">
                        <a:buNone/>
                      </a:pPr>
                      <a:r>
                        <a:rPr lang="en-US" sz="1100" b="1" dirty="0">
                          <a:solidFill>
                            <a:srgbClr val="1B2A3A"/>
                          </a:solidFill>
                          <a:latin typeface="Segoe UI" pitchFamily="34" charset="0"/>
                          <a:ea typeface="Segoe UI" pitchFamily="34" charset="-122"/>
                          <a:cs typeface="Segoe UI" pitchFamily="34" charset="-120"/>
                        </a:rPr>
                        <a:t>suspend la signature</a:t>
                      </a:r>
                      <a:pPr indent="0" marL="0">
                        <a:buNone/>
                      </a:pPr>
                      <a:r>
                        <a:rPr lang="en-US" sz="1100" dirty="0">
                          <a:solidFill>
                            <a:srgbClr val="1B2A3A"/>
                          </a:solidFill>
                          <a:latin typeface="Segoe UI" pitchFamily="34" charset="0"/>
                          <a:ea typeface="Segoe UI" pitchFamily="34" charset="-122"/>
                          <a:cs typeface="Segoe UI" pitchFamily="34" charset="-120"/>
                        </a:rPr>
                        <a:t> jusqu’à sa décision, vingt jours au plus après sa réception ; l’écran donne la date limite.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recours suspensifs, un réglage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types de recours qui suspendent la signature sont un </a:t>
                      </a:r>
                      <a:pPr indent="0" marL="0">
                        <a:buNone/>
                      </a:pPr>
                      <a:r>
                        <a:rPr lang="en-US" sz="1100" b="1" dirty="0">
                          <a:solidFill>
                            <a:srgbClr val="1B2A3A"/>
                          </a:solidFill>
                          <a:latin typeface="Segoe UI" pitchFamily="34" charset="0"/>
                          <a:ea typeface="Segoe UI" pitchFamily="34" charset="-122"/>
                          <a:cs typeface="Segoe UI" pitchFamily="34" charset="-120"/>
                        </a:rPr>
                        <a:t>réglage de l’Administrateur</a:t>
                      </a:r>
                      <a:pPr indent="0" marL="0">
                        <a:buNone/>
                      </a:pPr>
                      <a:r>
                        <a:rPr lang="en-US" sz="1100" dirty="0">
                          <a:solidFill>
                            <a:srgbClr val="1B2A3A"/>
                          </a:solidFill>
                          <a:latin typeface="Segoe UI" pitchFamily="34" charset="0"/>
                          <a:ea typeface="Segoe UI" pitchFamily="34" charset="-122"/>
                          <a:cs typeface="Segoe UI" pitchFamily="34" charset="-120"/>
                        </a:rPr>
                        <a:t> : par défaut la révision par l’ARMP et le référé, le réexamen pouvant être ajouté ; aucune case cochée signifie aucun recours suspensif. Le réglage vaut aussi pour les recours déjà déclarés, et la liste de déclaration le dit pour chaque type.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mise au point à l’avis d’attribution (lot 2, tranche 2c) · regles-gestion.md § De la mise au point à l’avis d’attribution (tranche 2c) ; § trois bloquants de la loi (manuel révisé, lot 2, tranche R9a) · regles-gestion.md § De la mise au point à l’avis d’attribution (tranche 2c) ; § trois bloquants de la loi (tranche R9a) · regles-gestion.md § trois bloquants de la loi (tranche R9a, titre VIII) ; demande-backend-2026-10-10-manuel-revise-lot2.md, B4 n° 13,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 l’attributaire</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Pièces fiscales et sociales en quinze jours, et récentes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L’attributaire dépose, dans les </a:t>
                      </a:r>
                      <a:pPr indent="0" marL="0">
                        <a:buNone/>
                      </a:pPr>
                      <a:r>
                        <a:rPr lang="en-US" sz="1100" b="1" dirty="0">
                          <a:solidFill>
                            <a:srgbClr val="1B2A3A"/>
                          </a:solidFill>
                          <a:latin typeface="Segoe UI" pitchFamily="34" charset="0"/>
                          <a:ea typeface="Segoe UI" pitchFamily="34" charset="-122"/>
                          <a:cs typeface="Segoe UI" pitchFamily="34" charset="-120"/>
                        </a:rPr>
                        <a:t>quinze jours</a:t>
                      </a:r>
                      <a:pPr indent="0" marL="0">
                        <a:buNone/>
                      </a:pPr>
                      <a:r>
                        <a:rPr lang="en-US" sz="1100" dirty="0">
                          <a:solidFill>
                            <a:srgbClr val="1B2A3A"/>
                          </a:solidFill>
                          <a:latin typeface="Segoe UI" pitchFamily="34" charset="0"/>
                          <a:ea typeface="Segoe UI" pitchFamily="34" charset="-122"/>
                          <a:cs typeface="Segoe UI" pitchFamily="34" charset="-120"/>
                        </a:rPr>
                        <a:t> de la lettre d’attribution (art. 20-I), une attestation fiscale et une attestation sociale. Elles doivent avoir moins de six mois (fiscale) et moins de trois mois (sociale) à la notification de l’attribution : plus anciennes, elles sont refusées au dépôt et </a:t>
                      </a:r>
                      <a:pPr indent="0" marL="0">
                        <a:buNone/>
                      </a:pPr>
                      <a:r>
                        <a:rPr lang="en-US" sz="1100" b="1" dirty="0">
                          <a:solidFill>
                            <a:srgbClr val="1B2A3A"/>
                          </a:solidFill>
                          <a:latin typeface="Segoe UI" pitchFamily="34" charset="0"/>
                          <a:ea typeface="Segoe UI" pitchFamily="34" charset="-122"/>
                          <a:cs typeface="Segoe UI" pitchFamily="34" charset="-120"/>
                        </a:rPr>
                        <a:t>ne peuvent être reconnues conformes</a:t>
                      </a:r>
                      <a:pPr indent="0" marL="0">
                        <a:buNone/>
                      </a:pPr>
                      <a:r>
                        <a:rPr lang="en-US" sz="1100" dirty="0">
                          <a:solidFill>
                            <a:srgbClr val="1B2A3A"/>
                          </a:solidFill>
                          <a:latin typeface="Segoe UI" pitchFamily="34" charset="0"/>
                          <a:ea typeface="Segoe UI" pitchFamily="34" charset="-122"/>
                          <a:cs typeface="Segoe UI" pitchFamily="34" charset="-120"/>
                        </a:rPr>
                        <a:t> ; l’écran affiche les dates les plus anciennes admises. L’attributaire peut redéposer jusqu’à l’échéance ; la dernière pièce fait foi.</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Vérifiées, ou le marché retiré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vérifie chaque pièce, avec un motif si elle n’est pas conforme. L’état de chaque pièce se lit sur son dernier dépôt : à déposer, à vérifier, conforme, non conforme. Faute de pièces conformes à l’échéance, la PRMP </a:t>
                      </a:r>
                      <a:pPr indent="0" marL="0">
                        <a:buNone/>
                      </a:pPr>
                      <a:r>
                        <a:rPr lang="en-US" sz="1100" b="1" dirty="0">
                          <a:solidFill>
                            <a:srgbClr val="1B2A3A"/>
                          </a:solidFill>
                          <a:latin typeface="Segoe UI" pitchFamily="34" charset="0"/>
                          <a:ea typeface="Segoe UI" pitchFamily="34" charset="-122"/>
                          <a:cs typeface="Segoe UI" pitchFamily="34" charset="-120"/>
                        </a:rPr>
                        <a:t>retire</a:t>
                      </a:r>
                      <a:pPr indent="0" marL="0">
                        <a:buNone/>
                      </a:pPr>
                      <a:r>
                        <a:rPr lang="en-US" sz="1100" dirty="0">
                          <a:solidFill>
                            <a:srgbClr val="1B2A3A"/>
                          </a:solidFill>
                          <a:latin typeface="Segoe UI" pitchFamily="34" charset="0"/>
                          <a:ea typeface="Segoe UI" pitchFamily="34" charset="-122"/>
                          <a:cs typeface="Segoe UI" pitchFamily="34" charset="-120"/>
                        </a:rPr>
                        <a:t> le marché, avant sa signature.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L’original signé de l’acte d’engagement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 dépôt scellé de l’offre depuis le compte du candidat vaut signature de l’offre et de l’acte d’engagement ; l’attributaire remet ensuite l’</a:t>
                      </a:r>
                      <a:pPr indent="0" marL="0">
                        <a:buNone/>
                      </a:pPr>
                      <a:r>
                        <a:rPr lang="en-US" sz="1100" b="1" dirty="0">
                          <a:solidFill>
                            <a:srgbClr val="1B2A3A"/>
                          </a:solidFill>
                          <a:latin typeface="Segoe UI" pitchFamily="34" charset="0"/>
                          <a:ea typeface="Segoe UI" pitchFamily="34" charset="-122"/>
                          <a:cs typeface="Segoe UI" pitchFamily="34" charset="-120"/>
                        </a:rPr>
                        <a:t>original signé</a:t>
                      </a:r>
                      <a:pPr indent="0" marL="0">
                        <a:buNone/>
                      </a:pPr>
                      <a:r>
                        <a:rPr lang="en-US" sz="1100" dirty="0">
                          <a:solidFill>
                            <a:srgbClr val="1B2A3A"/>
                          </a:solidFill>
                          <a:latin typeface="Segoe UI" pitchFamily="34" charset="0"/>
                          <a:ea typeface="Segoe UI" pitchFamily="34" charset="-122"/>
                          <a:cs typeface="Segoe UI" pitchFamily="34" charset="-120"/>
                        </a:rPr>
                        <a:t> de son acte d’engagement. Il en dépose le scan, sans l’échéance des quinze jours, ou la PRMP qui l’a reçu l’enregistre ; la PRMP le reconnaît conforme, et le marché ne se signe pas avant. Le projet de marché cite l’original et sa date de remise. Une procédure papier n’est pas concernée.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mise au point à l’avis d’attribution (tranche 2c) ; § les délais de la signature, des pièces… (tranche R6c, 2026-10-13) · regles-gestion.md § De la mise au point à l’avis d’attribution (tranche 2c) ; demande-backend-2026-10-10-manuel-revise-lot2.md, encadré ✅ Front « recette navigateur du lot 2 » · regles-gestion.md § l’acte d’engagement original (manuel révisé, lot 2, tranche R10, 2026-10-14) ; demande-backend-2026-10-10-manuel-revise-lot2.md, B5,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approuver, enregistrer, notifier (1/2)</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mise au point sans changement substantiel</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mise au point avec l’attributaire fait l’objet d’un rapport. Elle ne peut changer les caractéristiques substantielles du marché, ce que l’application ne contrôle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de la signature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n’est signé qu’après le délai d’attente, sans recours suspensif en cours ni demande de sans suite en attente d’avis, une fois les deux pièces de l’attributaire reconnues conformes et, en remise électronique, l’original signé de l’acte d’engagement reconnu conforme. La PRMP dépose le marché signé.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Approuver et enregistrer avant de notifier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est </a:t>
                      </a:r>
                      <a:pPr indent="0" marL="0">
                        <a:buNone/>
                      </a:pPr>
                      <a:r>
                        <a:rPr lang="en-US" sz="1100" b="1" dirty="0">
                          <a:solidFill>
                            <a:srgbClr val="1B2A3A"/>
                          </a:solidFill>
                          <a:latin typeface="Segoe UI" pitchFamily="34" charset="0"/>
                          <a:ea typeface="Segoe UI" pitchFamily="34" charset="-122"/>
                          <a:cs typeface="Segoe UI" pitchFamily="34" charset="-120"/>
                        </a:rPr>
                        <a:t>enregistré</a:t>
                      </a:r>
                      <a:pPr indent="0" marL="0">
                        <a:buNone/>
                      </a:pPr>
                      <a:r>
                        <a:rPr lang="en-US" sz="1100" dirty="0">
                          <a:solidFill>
                            <a:srgbClr val="1B2A3A"/>
                          </a:solidFill>
                          <a:latin typeface="Segoe UI" pitchFamily="34" charset="0"/>
                          <a:ea typeface="Segoe UI" pitchFamily="34" charset="-122"/>
                          <a:cs typeface="Segoe UI" pitchFamily="34" charset="-120"/>
                        </a:rPr>
                        <a:t> — une date et le justificatif — et </a:t>
                      </a:r>
                      <a:pPr indent="0" marL="0">
                        <a:buNone/>
                      </a:pPr>
                      <a:r>
                        <a:rPr lang="en-US" sz="1100" b="1" dirty="0">
                          <a:solidFill>
                            <a:srgbClr val="1B2A3A"/>
                          </a:solidFill>
                          <a:latin typeface="Segoe UI" pitchFamily="34" charset="0"/>
                          <a:ea typeface="Segoe UI" pitchFamily="34" charset="-122"/>
                          <a:cs typeface="Segoe UI" pitchFamily="34" charset="-120"/>
                        </a:rPr>
                        <a:t>approuvé</a:t>
                      </a:r>
                      <a:pPr indent="0" marL="0">
                        <a:buNone/>
                      </a:pPr>
                      <a:r>
                        <a:rPr lang="en-US" sz="1100" dirty="0">
                          <a:solidFill>
                            <a:srgbClr val="1B2A3A"/>
                          </a:solidFill>
                          <a:latin typeface="Segoe UI" pitchFamily="34" charset="0"/>
                          <a:ea typeface="Segoe UI" pitchFamily="34" charset="-122"/>
                          <a:cs typeface="Segoe UI" pitchFamily="34" charset="-120"/>
                        </a:rPr>
                        <a:t> (RG-ATT-33) avant d’être notifié : la notification ne s’ouvre qu’une fois les deux faits, et sa date ne précède ni l’un ni l’autre (art. 54). L’écran dit ce qui manque encore.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L’effet à la réception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marché prend effet à sa </a:t>
                      </a:r>
                      <a:pPr indent="0" marL="0">
                        <a:buNone/>
                      </a:pPr>
                      <a:r>
                        <a:rPr lang="en-US" sz="1100" b="1" dirty="0">
                          <a:solidFill>
                            <a:srgbClr val="1B2A3A"/>
                          </a:solidFill>
                          <a:latin typeface="Segoe UI" pitchFamily="34" charset="0"/>
                          <a:ea typeface="Segoe UI" pitchFamily="34" charset="-122"/>
                          <a:cs typeface="Segoe UI" pitchFamily="34" charset="-120"/>
                        </a:rPr>
                        <a:t>réception</a:t>
                      </a:r>
                      <a:pPr indent="0" marL="0">
                        <a:buNone/>
                      </a:pPr>
                      <a:r>
                        <a:rPr lang="en-US" sz="1100" dirty="0">
                          <a:solidFill>
                            <a:srgbClr val="1B2A3A"/>
                          </a:solidFill>
                          <a:latin typeface="Segoe UI" pitchFamily="34" charset="0"/>
                          <a:ea typeface="Segoe UI" pitchFamily="34" charset="-122"/>
                          <a:cs typeface="Segoe UI" pitchFamily="34" charset="-120"/>
                        </a:rPr>
                        <a:t> par l’attributaire : la date déclarée par la PRMP, ou sa première consultation du marché sur la plateforme.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d’attribution sous trente jours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d’attribution est publié dans les </a:t>
                      </a:r>
                      <a:pPr indent="0" marL="0">
                        <a:buNone/>
                      </a:pPr>
                      <a:r>
                        <a:rPr lang="en-US" sz="1100" b="1" dirty="0">
                          <a:solidFill>
                            <a:srgbClr val="1B2A3A"/>
                          </a:solidFill>
                          <a:latin typeface="Segoe UI" pitchFamily="34" charset="0"/>
                          <a:ea typeface="Segoe UI" pitchFamily="34" charset="-122"/>
                          <a:cs typeface="Segoe UI" pitchFamily="34" charset="-120"/>
                        </a:rPr>
                        <a:t>trente jours</a:t>
                      </a:r>
                      <a:pPr indent="0" marL="0">
                        <a:buNone/>
                      </a:pPr>
                      <a:r>
                        <a:rPr lang="en-US" sz="1100" dirty="0">
                          <a:solidFill>
                            <a:srgbClr val="1B2A3A"/>
                          </a:solidFill>
                          <a:latin typeface="Segoe UI" pitchFamily="34" charset="0"/>
                          <a:ea typeface="Segoe UI" pitchFamily="34" charset="-122"/>
                          <a:cs typeface="Segoe UI" pitchFamily="34" charset="-120"/>
                        </a:rPr>
                        <a:t> de la réception de la notification par le titulaire (déclarée ou constatée par la plateforme), à défaut de la notification, sur la page publique de la procédure. La PRMP est alertée au vingtième jour ; un avis en retard est signalé « En retard » sur le lot et par une pastille sur son entrée « Fiches DAO ». La règle ne bloque rien : une publication tardive se lit « Publié après l’échéance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mise au point à l’avis d’attribution (tranche 2c) · regles-gestion.md § De la mise au point à l’avis d’attribution (tranche 2c) ; § l’acte d’engagement original (tranche R10) ; § La déclaration sans suite (tranche 2d-3) · regles-gestion.md § De la mise au point à l’avis d’attribution (tranche 2c) ; § trois bloquants de la loi (tranche R9a, 2026-10-14) · regles-gestion.md § les délais de la signature, des pièces, de l’avis d’attribution… (tranche R6c) ; demande-backend-2026-10-10-manuel-revise-lot2.md, B1 règle 8, encadré ✅ Front FR6</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approuver, enregistrer, notifier (2/2)</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L’approbation du marché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la signature, la PRMP déclare l’</a:t>
                      </a:r>
                      <a:pPr indent="0" marL="0">
                        <a:buNone/>
                      </a:pPr>
                      <a:r>
                        <a:rPr lang="en-US" sz="1100" b="1" dirty="0">
                          <a:solidFill>
                            <a:srgbClr val="1B2A3A"/>
                          </a:solidFill>
                          <a:latin typeface="Segoe UI" pitchFamily="34" charset="0"/>
                          <a:ea typeface="Segoe UI" pitchFamily="34" charset="-122"/>
                          <a:cs typeface="Segoe UI" pitchFamily="34" charset="-120"/>
                        </a:rPr>
                        <a:t>approbation</a:t>
                      </a:r>
                      <a:pPr indent="0" marL="0">
                        <a:buNone/>
                      </a:pPr>
                      <a:r>
                        <a:rPr lang="en-US" sz="1100" dirty="0">
                          <a:solidFill>
                            <a:srgbClr val="1B2A3A"/>
                          </a:solidFill>
                          <a:latin typeface="Segoe UI" pitchFamily="34" charset="0"/>
                          <a:ea typeface="Segoe UI" pitchFamily="34" charset="-122"/>
                          <a:cs typeface="Segoe UI" pitchFamily="34" charset="-120"/>
                        </a:rPr>
                        <a:t> du marché par l’autorité compétente (art. 54) : l’autorité, la date — comprise entre la signature et le jour même — et la décision jointe. L’approbation ne se déclare qu’une fois ; elle se lit ensuite « Approuvé le … » avec sa pièce. Sans elle, pas de notification.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trois bloquants de la loi (manuel révisé, lot 2, tranche R9a, 2026-10-14) ; demande-backend-2026-10-10-manuel-revise-lot2.md, B4 n° 14,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L’infructuosité</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lot proposé infructueux</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aucune offre n’est qualifiée, le rapport propose le lot infructueux : il n’a pas de dossier de marché, et la décision revient à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Jamais après l’attribution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L’infructuosité ne peut en aucun cas intervenir après la décision d’attribution (art. 56-VI) : après un retrait du marché, elle n’est pas proposée.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De la proposition à l’attribution (2026-10-07) · regles-gestion.md § L’infructuosité, la reprise de l’évaluation (tranche 2d-1) ; § La réattribution (tranche 2d-2)</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actes de gestion</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se dépose depuis le marché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Avenant, résiliation, indemnité, remise de pénalités, sursis : déposés depuis un dossier de marché dont le dernier PV signé est favorable ; jamais par la saisie libre. L’acte naît en brouillon au nom de la PRMP, puis suit le circuit (pièces de son sous-type, grille, motifs-types).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garde-fous de l’avenant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cumul des avenants déjà soumis (hors avis défavorable) et du nouveau ne dépasse pas le </a:t>
                      </a:r>
                      <a:pPr indent="0" marL="0">
                        <a:buNone/>
                      </a:pPr>
                      <a:r>
                        <a:rPr lang="en-US" sz="1100" b="1" dirty="0">
                          <a:solidFill>
                            <a:srgbClr val="1B2A3A"/>
                          </a:solidFill>
                          <a:latin typeface="Segoe UI" pitchFamily="34" charset="0"/>
                          <a:ea typeface="Segoe UI" pitchFamily="34" charset="-122"/>
                          <a:cs typeface="Segoe UI" pitchFamily="34" charset="-120"/>
                        </a:rPr>
                        <a:t>tiers</a:t>
                      </a:r>
                      <a:pPr indent="0" marL="0">
                        <a:buNone/>
                      </a:pPr>
                      <a:r>
                        <a:rPr lang="en-US" sz="1100" dirty="0">
                          <a:solidFill>
                            <a:srgbClr val="1B2A3A"/>
                          </a:solidFill>
                          <a:latin typeface="Segoe UI" pitchFamily="34" charset="0"/>
                          <a:ea typeface="Segoe UI" pitchFamily="34" charset="-122"/>
                          <a:cs typeface="Segoe UI" pitchFamily="34" charset="-120"/>
                        </a:rPr>
                        <a:t> du montant initial hors taxes ; pas d’avenant après la réception (définitive en travaux, provisoire ou définitive ailleurs) ni après le solde. Contrôlé au dépôt, à la modification et de nouveau à la soumission.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Manuel de contrôle a priori (CNM, février 2026) ; demande du 08/10, tranche M5a</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le rapport</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L’infructuosité déclarée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la déclare (motif, référence et date de sa décision, suite envisagée) quand le rapport la propose ou que la Commission rend un avis défavorable sur le dossier de marché ; jamais une fois le lot attribué (art. 56-VI). Les candidats du lot sont avertis, la page publique l’affiche.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Reprendre l’évaluation, réattribuer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un avis défavorable, la PRMP peut reprendre l’évaluation (motif) : le rapport signé est archivé, l’évaluation rouverte, un nouveau rapport et un nouveau dossier suivront. La reprise est refusée quand un autre lot est déjà attribué, ou que le dossier de marché d’un autre lot est soumis. Après le retrait du marché, la PRMP réattribue au candidat suivant (offre encore valide, nouvelle post-qualification, nouvelle information, nouveau délai) ; sans suivant éligible, seul le sans suite reste.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déclaration sans suite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la signature d’un marché, la PRMP demande, motifs à l’appui : un dossier « Déclaration sans suite » suit le circuit et la Commission rend un avis favorable ou défavorable sous cinq jours de la réception. Sans avis à l’échéance, une </a:t>
                      </a:r>
                      <a:pPr indent="0" marL="0">
                        <a:buNone/>
                      </a:pPr>
                      <a:r>
                        <a:rPr lang="en-US" sz="1100" b="1" dirty="0">
                          <a:solidFill>
                            <a:srgbClr val="1B2A3A"/>
                          </a:solidFill>
                          <a:latin typeface="Segoe UI" pitchFamily="34" charset="0"/>
                          <a:ea typeface="Segoe UI" pitchFamily="34" charset="-122"/>
                          <a:cs typeface="Segoe UI" pitchFamily="34" charset="-120"/>
                        </a:rPr>
                        <a:t>relance</a:t>
                      </a:r>
                      <a:pPr indent="0" marL="0">
                        <a:buNone/>
                      </a:pPr>
                      <a:r>
                        <a:rPr lang="en-US" sz="1100" dirty="0">
                          <a:solidFill>
                            <a:srgbClr val="1B2A3A"/>
                          </a:solidFill>
                          <a:latin typeface="Segoe UI" pitchFamily="34" charset="0"/>
                          <a:ea typeface="Segoe UI" pitchFamily="34" charset="-122"/>
                          <a:cs typeface="Segoe UI" pitchFamily="34" charset="-120"/>
                        </a:rPr>
                        <a:t> part une fois à la PRMP, au membre examinateur et aux Présidents de la localité ; la signature reste suspendue jusqu’à l’avis exprès. Favorable, la PRMP déclare : procédure close, candidats informés, sans indemnité (art. 55).</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L’infructuosité, la reprise de l’évaluation, les alertes (tranche 2d-1) · regles-gestion.md § L’infructuosité, la reprise (tranche 2d-1) ; § La réattribution (tranche 2d-2) ; demande-backend-2026-10-10-manuel-revise-lot2.md, réponse backend « procédure allotie » (14/10) · regles-gestion.md § La déclaration sans suite (tranche 2d-3) ; § les délais… du sans suite (tranche R6c)</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prestations intellectuelles</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dossier de marché MPI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dossier de marché d’une fiche de prestations intellectuelles se crée au sous-type MPI ; le devis joint d’office est le bordereau de l’enveloppe financière ; un lot proposé infructueux n’a pas de dossier.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Lot 3 PI : demande evaluation-pi du 07/10, tranche PI-d2b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délais légaux</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RG-ATT-36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réputé approuvé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plan de passation soumis à la Commission qui n’a pas de PV signé dix jours ouvrables après sa soumission est </a:t>
                      </a:r>
                      <a:pPr indent="0" marL="0">
                        <a:buNone/>
                      </a:pPr>
                      <a:r>
                        <a:rPr lang="en-US" sz="1100" b="1" dirty="0">
                          <a:solidFill>
                            <a:srgbClr val="1B2A3A"/>
                          </a:solidFill>
                          <a:latin typeface="Segoe UI" pitchFamily="34" charset="0"/>
                          <a:ea typeface="Segoe UI" pitchFamily="34" charset="-122"/>
                          <a:cs typeface="Segoe UI" pitchFamily="34" charset="-120"/>
                        </a:rPr>
                        <a:t>réputé approuvé</a:t>
                      </a:r>
                      <a:pPr indent="0" marL="0">
                        <a:buNone/>
                      </a:pPr>
                      <a:r>
                        <a:rPr lang="en-US" sz="1100" dirty="0">
                          <a:solidFill>
                            <a:srgbClr val="1B2A3A"/>
                          </a:solidFill>
                          <a:latin typeface="Segoe UI" pitchFamily="34" charset="0"/>
                          <a:ea typeface="Segoe UI" pitchFamily="34" charset="-122"/>
                          <a:cs typeface="Segoe UI" pitchFamily="34" charset="-120"/>
                        </a:rPr>
                        <a:t> (art. 26-IV). L’application le constate, le date, l’inscrit au journal et avertit la PRMP et les Présidents de la localité ; ses lignes peuvent alors recevoir un dossier de mise en concurrence. L’examen continue : un avis rendu après coup vaut observation. Un badge « Réputé approuvé » s’affiche à côté du statut du dossier.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plan réputé approuvé (manuel révisé, lot 2, tranche R6b, 2026-10-13) ; demande-backend-2026-10-10-manuel-revise-lot2.md, B1 règle 5, encadré ✅ Front FR6</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09 · Attribuer et notifier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reprise de l’évaluation ou la réattribution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t_attribution_reprise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reprise de l'évaluation après l'avis défavorable de la Commission sur le dossier de marché : le dossier refusé et son avis, le motif de la PRMP, et le rapport d'évaluation archivé (il cède la place au nouveau rapport).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déclaration sans suite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t_sans_suite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demande de déclaration sans suite : les motifs de la PRMP, le dossier DSS soumis à la Commission, l'avis constaté (FAV ou DEF), puis la déclaration (décision de la PRMP) après un avis favorable.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L’acte de gestion du marché (avenant…)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t_acte_gestion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acte de gestion contractuelle (dossier DGC) et le marché (dossier DDM au PV favorable) qu'il concerne.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L’attribution d’un lot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41</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L'attribution d'un lot d'une procédure, après le rapport d'évaluation signé : son état, l'offre proposée, le dossier de marché (famille DDM) soumis au contrôle de la Commission et le projet de marché produit par le serveur (arbitrage Q1 du pilote).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lettre aux candidats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t_attribution_lettre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lettre produite à l'information des candidats : la lettre d'attribution, ou celle d'un candidat non retenu et ses motifs ; signée de la PRMP (signature électronique simple, Q9).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demande d’explication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t_attribution_explication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12</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demande d'explication d'un candidat non retenu sur le rejet de son offre, et la réponse écrite de la PRMP (texte, fichier joint facultatif).</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recours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t_attribution_recours</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recours reçu par la PRMP sur l'attribution d'un lot, et sa décision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pièce de l’attributaire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t_attribution_piece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fichier de l'attribution d'un lot : rapport de mise au point, marché signé, justificatif d'enregistrement, pièce d'un recours ou de sa décision (déposés par la PRMP), pièce fiscale ou sociale de l'attributaire (art. 20-I : date de délivrance, vérification de la PRMP).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(1/6)</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reprise de l’évaluation ou la réattribution  ·  t_attribution_reprise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ID_OFFRE_PROPOSEE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 proposée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AVIS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RAPPORT_PRODUIT_LE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Rapport produit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RAPPORT_SIGNE_LE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Rapport signé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RAPPORT_SIGNATURES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Rapport signatures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 : REPRISE, REATTRIBUTION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déclaration sans suite  ·  t_sans_suite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DEMANDE_LE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Demande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DEMANDE_PAR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Demande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AVIS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AVIS_CONSTATE_LE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constate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(2/6)</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RELANCE_LE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Relance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relance à J+5 sans avis, une fois.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DECLARE_LE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Declare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DECLARE_PAR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Declare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L’acte de gestion du marché (avenant…)  ·  t_acte_gestion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ID_ACTE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acte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dossier DGC de l'acte.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SOUS_TYPE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Rang de l'avenant (1, 2…) ; nul hors avenant.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MONTANT_HT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HT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HT de l'avenant (hausse positive, baisse négative) ; nul hors avenant ou sans incidence financière.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MONTANT_INITIAL_HT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initial HT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Catégorie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DATE_RECEPTION_PROVISOIRE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réception provisoire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DATE_RECEPTION_DEFINITIVE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réception definitive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DATE_SOLDE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solde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Créé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Créé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L’attribution d’un lot  ·  t_attribution  ·  41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lot déclaré infructueux par la PRMP. */ public static final String INFRUCTUEUX = "INFRUCTUEUX"; @Id @Column(name = "ID_DMC", nullable = false) private Long idDmc; @Id @Column(name = "LOT", nullable = false) private Integer lot; @Column(name = "ETAT", nullable = false, length = 20) private…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MONTANT_TTC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TTC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DELAI</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(3/6)</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INFORME_LE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Informe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INFORME_PAR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Informe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nom de la PRMP qui a signé les lettres (signature électronique simple, Q9).</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DATE_AFFICHAGE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affichage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RAPPORT_MISE_AU_POINT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Rapport mise au point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MISE_AU_POINT_LE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Mise au point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MISE_AU_POINT_PAR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Mise au point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DATE_ENREGISTREMENT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enregistrement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REFERENCE_ENREGISTREMENT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enregistrement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ENREGISTRE_LE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Enregistre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APPROBATION_AUTORITE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Approbation autorite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L'approbation du marché par l'autorité compétente (art. 54).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APPROBATION_DATE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Approbation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APPROUVE_LE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Approuve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APPROUVE_PAR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Approuve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DATE_NOTIFICATION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notification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NOTIFIE_LE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Notifie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NOTIFIE_PAR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Notifie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NOTIFICATION_RECUE_LE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Notification recue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réception de la notification par l'attributaire : la date d'effet du marché (art. 54).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RECEPTION_DECLAREE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Réception declaree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Vrai : réception déclarée par la PRMP ; faux : accusé de lecture de la plateforme.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DATE_PUBLICATION_AVIS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publication avis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AVIS_PUBLIE_LE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publie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AVIS_PUBLIE_PAR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Avis publie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(4/6)</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RETIRE_LE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Retiré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RETIRE_PAR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Retiré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INFRUCTUEUX_LE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Infructueux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INFRUCTUEUX_PAR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Infructueux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MOTIF_INFRUCTUOSITE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infructuosite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 : AU_CONTROLE, ATTRIBUE, INFORME, SIGNE, NOTIFIE, PUBLIE, RETIRE, INFRUCTUEUX</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SUITE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Suite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ALERTE_DELAI_LE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délai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ALERTE_AVIS_LE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avis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lettre aux candidats  ·  t_attribution_lettre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ATTRIBUTION, NON_RETENU</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PRODUITE_LE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Produite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ENVOYEE_LE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Envoyée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Lue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(5/6)</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ARCHIVE_LE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Archive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L'archivage du cycle retiré : nul tant que la pièce (le recours, la lettre) vaut pour le lot en cours.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demande d’explication  ·  t_attribution_explication  ·  12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QUESTION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Question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DEMANDEE_LE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Demandee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REPONDUE_LE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Repondu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REPONDUE_PAR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Repondue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recours  ·  t_attribution_recours  ·  16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REEXAMEN, REVISION_ARMP, REFERE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DATE_RECEPTION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réception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REQUERANT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Requerant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OBJET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DECLARE_LE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Declare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DECLARE_PAR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Declare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09 ATTRIBUER ET NOTIFIER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(6/6)</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ISSUE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Issue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REEXAMEN, REVISION_ARMP, REFERE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DECIDE_LE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Décidé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DECIDE_PAR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Décidé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L'alerte de l'échéance d'un réexamen, déjà émise à la PRMP.</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ARCHIVE_LE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Archive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L'archivage du cycle retiré : nul tant que la pièce (le recours, la lettre) vaut pour le lot en cours.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pièce de l’attributaire  ·  t_attribution_piece  ·  1 information</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ARCHIVE_LE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Archive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L'original signé de l'acte d'engagement de l'attributaire ; dateDelivrance = sa date de remise. */ public static final String ACTE_ENGAGEMENT_ORIGINAL = "ACTE_ENGAGEMENT_ORIGINAL"; @Id…</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09 · Attribuer et notifier · 57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09 · Attribuer et notifier</dc:title>
  <dc:subject>PptxGenJS Presentation</dc:subject>
  <dc:creator>PRS 2.0</dc:creator>
  <cp:lastModifiedBy>PRS 2.0</cp:lastModifiedBy>
  <cp:revision>1</cp:revision>
  <dcterms:created xsi:type="dcterms:W3CDTF">2026-10-14T12:25:41Z</dcterms:created>
  <dcterms:modified xsi:type="dcterms:W3CDTF">2026-10-14T12:25:41Z</dcterms:modified>
</cp:coreProperties>
</file>