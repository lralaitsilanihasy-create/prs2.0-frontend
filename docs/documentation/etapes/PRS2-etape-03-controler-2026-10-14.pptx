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03-sec-tous.
Écran : /secretaire/tableau-de-bord — compte : Secrétaire.
Noms, matricules, initiales, photos et adresses réelles masqués dans la page avant la capture.
Règles appliquées (annexe A) : RG-CTL-04, RG-CTL-05, RG-CTL-42.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03-sec-recevabilite.
Écran : /secretaire/dossier/100373 — compte : Secrétaire.
Noms, matricules, initiales, photos et adresses réelles masqués dans la page avant la capture.
Règles appliquées (annexe A) : RG-CTL-01, RG-CTL-05, RG-CTL-42.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03-sec-reception-modale.
Écran : /secretaire/dossier/100373 — compte : Secrétaire.
Noms, matricules, initiales, photos et adresses réelles masqués dans la page avant la capture.
Règles appliquées (annexe A) : RG-CTL-01, RG-CTL-02, RG-CTL-03, RG-CTL-04, RG-CTL-47.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03-pres-tous.
Écran : /president/tableau-de-bord — compte : Président.
Noms, matricules, initiales, photos et adresses réelles masqués dans la page avant la capture.
Règles appliquées (annexe A) : RG-CTL-10, RG-CTL-42, RG-CTL-45.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detail__c04-president-dispatch.jpg (« Dispatcher à un Membre »).
Raison : l’état montré ne se reproduit plus sur la base du 14/10 ; l’écran n’a pas changé sur ce qu’il montre.
Règles appliquées (annexe A) : RG-CTL-06, RG-CTL-07, RG-CTL-08, RG-CTL-09, RG-CTL-11.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03-pres-repartition.
Écran : /president/repartition-dispatch — compte : Président.
Noms, matricules, initiales, photos et adresses réelles masqués dans la page avant la capture.
Règles appliquées (annexe A) : RG-CTL-07, RG-CTL-11, RG-CTL-12.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03-pres-chaines.
Écran : /president/chaines-controle — compte : Président.
Noms, matricules, initiales, photos et adresses réelles masqués dans la page avant la capture.
Règles appliquées (annexe A) : RG-CTL-13.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03-pres-dossier.
Écran : /president/dossier/100370 — compte : Président.
Noms, matricules, initiales, photos et adresses réelles masqués dans la page avant la capture.
Règles appliquées (annexe A) : RG-CTL-42, RG-CTL-44, RG-CTL-45.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03-mem-tous.
Écran : /membre/tableau-de-bord — compte : Membre.
Noms, matricules, initiales, photos et adresses réelles masqués dans la page avant la capture.
Règles appliquées (annexe A) : RG-CTL-14.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03-mem-examen.
Écran : /membre/examiner/100378 — compte : Membre.
Noms, matricules, initiales, photos et adresses réelles masqués dans la page avant la capture.
Règles appliquées (annexe A) : RG-CTL-14, RG-CTL-15, RG-CTL-17, RG-CTL-18, RG-CTL-48.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manuel-recette__m09-admin-motifs-types.jpg (« Les motifs-types de la conclusion »).
Raison : l’état montré ne se reproduit plus sur la base du 14/10 ; l’écran n’a pas changé sur ce qu’il montre.
Règles appliquées (annexe A) : RG-CTL-49.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detail__c08-membre-projet-pv.jpg (« Le projet de PV »).
Raison : l’état montré ne se reproduit plus sur la base du 14/10 ; l’écran n’a pas changé sur ce qu’il montre.
Règles appliquées (annexe A) : RG-CTL-19, RG-CTL-20, RG-CTL-21.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detail__c09-president-visa.jpg (« Le visa du Président »).
Raison : l’état montré ne se reproduit plus sur la base du 14/10 ; l’écran n’a pas changé sur ce qu’il montre.
Règles appliquées (annexe A) : RG-CTL-21, RG-CTL-22, RG-CTL-23, RG-CTL-24, RG-CTL-25, RG-CTL-26, RG-CTL-28.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detail__c10-membre-signature.jpg (« La seconde signature »).
Raison : l’état montré ne se reproduit plus sur la base du 14/10 ; l’écran n’a pas changé sur ce qu’il montre.
Règles appliquées (annexe A) : RG-CTL-26, RG-CTL-27.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03-pres-examen.
Écran : /president/resultat-examen — compte : Président.
Noms, matricules, initiales, photos et adresses réelles masqués dans la page avant la capture.
Règles appliquées (annexe A) : RG-CTL-21, RG-CTL-25, RG-CTL-36.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03-mem-pv-liste.
Écran : /membre/pv — compte : Membre.
Noms, matricules, initiales, photos et adresses réelles masqués dans la page avant la capture.
Règles appliquées (annexe A) : RG-CTL-36, RG-CTL-37.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03-ver-a-verifier.
Écran : /verificateur/a-verifier — compte : Vérificateur.
Noms, matricules, initiales, photos et adresses réelles masqués dans la page avant la capture.
Règles appliquées (annexe A) : RG-CTL-29, RG-CTL-30, RG-CTL-31, RG-CTL-32, RG-CTL-33.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03-ver-verifier.
Écran : /verificateur/verifier/100372 — compte : Vérificateur.
Noms, matricules, initiales, photos et adresses réelles masqués dans la page avant la capture.
Règles appliquées (annexe A) : RG-CTL-29, RG-CTL-34.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03-ver-verifies.
Écran : /verificateur/verifies — compte : Vérificateur.
Noms, matricules, initiales, photos et adresses réelles masqués dans la page avant la capture.
Règles appliquées (annexe A) : RG-CTL-34, RG-CTL-35.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03-pres-archivage.
Écran : /president/a-faire — compte : Président.
Noms, matricules, initiales, photos et adresses réelles masqués dans la page avant la capture.
Règles appliquées (annexe A) : RG-CTL-10, RG-CTL-35.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detail__c15-assistant-archivage.jpg (« L’archivage du PV »).
Raison : l’état montré ne se reproduit plus sur la base du 14/10 ; l’écran n’a pas changé sur ce qu’il montre.
Règles appliquées (annexe A) : RG-CTL-35.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03-dossier-dss.
Écran : /prmp/dossier/100377 — compte : PRMP.
Noms, matricules, initiales, photos et adresses réelles masqués dans la page avant la capture.
Règles appliquées (annexe A) : RG-CTL-29, RG-CTL-43, RG-CTL-44, RG-CTL-47.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03-prmp-pv-definitifs.
Écran : /prmp/pv-definitifs — compte : PRMP.
Noms, matricules, initiales, photos et adresses réelles masqués dans la page avant la capture.
Règles appliquées (annexe A) : RG-CTL-29, RG-CTL-30, RG-CTL-36, RG-CTL-37.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03-pres-retraits.
Écran : /president/retraits — compte : Président.
Noms, matricules, initiales, photos et adresses réelles masqués dans la page avant la capture.
Règles appliquées (annexe A) : RG-CTL-39, RG-CTL-40, RG-CTL-41.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03-dossier-figes.
Écran : /president/dossier/100378 — compte : Président.
Noms, matricules, initiales, photos et adresses réelles masqués dans la page avant la capture.
Règles appliquées (annexe A) : RG-CTL-52, RG-CTL-51.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03-dossier-controles.
Écran : /prmp/dossier/100378 — compte : PRMP.
Noms, matricules, initiales, photos et adresses réelles masqués dans la page avant la capture.
Règles appliquées (annexe A) : RG-CTL-53, RG-CTL-54, RG-CTL-56.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03-mem-examen-controles.
Écran : /membre/examiner/100378 — compte : Membre.
Noms, matricules, initiales, photos et adresses réelles masqués dans la page avant la capture.
Règles appliquées (annexe A) : RG-CTL-53, RG-CTL-54, RG-CTL-19.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03-admin-points.
Écran : /admin/referentiels/points-ctrls — compte : Administrateur.
Noms, matricules, initiales, photos et adresses réelles masqués dans la page avant la capture.
Règles appliquées (annexe A) : RG-CTL-48, RG-CTL-46.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03-admin-pre-controle.
Écran : /admin/pre-controle-regles — compte : Administrateur.
Noms, matricules, initiales, photos et adresses réelles masqués dans la page avant la capture.
Règles appliquées (annexe A) : RG-CTL-57.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03-admin-delais.
Écran : /admin/delais-standards — compte : Administrateur.
Noms, matricules, initiales, photos et adresses réelles masqués dans la page avant la capture.
Règles appliquées (annexe A) : RG-CTL-42, RG-CTL-44, RG-CTL-50.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manuel-recette__m10-delais-sous-type-regle.jpg (« Les délais par sous-type »).
Raison : l’état montré ne se reproduit plus sur la base du 14/10 ; l’écran n’a pas changé sur ce qu’il montre.
Règles appliquées (annexe A) : RG-CTL-50.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 PARCOURS D’UN DOSSIER</a:t>
            </a:r>
            <a:endParaRPr lang="en-US" sz="1400" dirty="0"/>
          </a:p>
        </p:txBody>
      </p:sp>
      <p:sp>
        <p:nvSpPr>
          <p:cNvPr id="4" name="Text 2"/>
          <p:cNvSpPr/>
          <p:nvPr/>
        </p:nvSpPr>
        <p:spPr>
          <a:xfrm>
            <a:off x="812780" y="1206500"/>
            <a:ext cx="5079873" cy="571500"/>
          </a:xfrm>
          <a:prstGeom prst="rect">
            <a:avLst/>
          </a:prstGeom>
          <a:noFill/>
          <a:ln/>
        </p:spPr>
        <p:txBody>
          <a:bodyPr wrap="square" rtlCol="0" anchor="ctr"/>
          <a:lstStyle/>
          <a:p>
            <a:pPr indent="0" marL="0">
              <a:buNone/>
            </a:pPr>
            <a:r>
              <a:rPr lang="en-US" sz="3000" b="1" dirty="0">
                <a:solidFill>
                  <a:srgbClr val="E3AE2E"/>
                </a:solidFill>
                <a:latin typeface="Segoe UI" pitchFamily="34" charset="0"/>
                <a:ea typeface="Segoe UI" pitchFamily="34" charset="-122"/>
                <a:cs typeface="Segoe UI" pitchFamily="34" charset="-120"/>
              </a:rPr>
              <a:t>Étape 03</a:t>
            </a:r>
            <a:endParaRPr lang="en-US" sz="3000" dirty="0"/>
          </a:p>
        </p:txBody>
      </p:sp>
      <p:sp>
        <p:nvSpPr>
          <p:cNvPr id="5" name="Text 3"/>
          <p:cNvSpPr/>
          <p:nvPr/>
        </p:nvSpPr>
        <p:spPr>
          <a:xfrm>
            <a:off x="812780" y="1778000"/>
            <a:ext cx="10477238" cy="952500"/>
          </a:xfrm>
          <a:prstGeom prst="rect">
            <a:avLst/>
          </a:prstGeom>
          <a:noFill/>
          <a:ln/>
        </p:spPr>
        <p:txBody>
          <a:bodyPr wrap="square" rtlCol="0" anchor="t">
            <a:normAutofit/>
          </a:bodyPr>
          <a:lstStyle/>
          <a:p>
            <a:pPr indent="0" marL="0">
              <a:buNone/>
            </a:pPr>
            <a:r>
              <a:rPr lang="en-US" sz="4400" b="1" dirty="0">
                <a:solidFill>
                  <a:srgbClr val="FCFCFA"/>
                </a:solidFill>
                <a:latin typeface="Segoe UI" pitchFamily="34" charset="0"/>
                <a:ea typeface="Segoe UI" pitchFamily="34" charset="-122"/>
                <a:cs typeface="Segoe UI" pitchFamily="34" charset="-120"/>
              </a:rPr>
              <a:t>PRS 2.0 — Contrôler</a:t>
            </a:r>
            <a:endParaRPr lang="en-US" sz="4400" dirty="0"/>
          </a:p>
        </p:txBody>
      </p:sp>
      <p:sp>
        <p:nvSpPr>
          <p:cNvPr id="6" name="Text 4"/>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Le dossier soumis par la PRMP est reçu, attribué, examiné et conclu par un PV signé de la Commission, puis vérifié, transmis au SIGMP et archivé — et le contrôle porte désormais sur les données elles-mêmes.</a:t>
            </a:r>
            <a:endParaRPr lang="en-US" sz="2000" dirty="0"/>
          </a:p>
        </p:txBody>
      </p:sp>
      <p:sp>
        <p:nvSpPr>
          <p:cNvPr id="7" name="Text 5"/>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Une présentation par étape que traverse un dossier, de la planification à l’attribution · écrans, règles appliquées (provenance en note), points d’attention, règles de gestion et données de l’étape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OÙ SE SITUE L’ÉTAPE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plan de passation au marché notifié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Un marché inscrit au plan traverse deux contrôles de la Commission : celui du plan, puis celui de son dossier de consultation — et, après l’évaluation des offres, celui du dossier de marché.</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02</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Planifier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PRMP saisit et soumet son plan de passation.</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03</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 Contrôler</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b="1" dirty="0">
                <a:solidFill>
                  <a:srgbClr val="1B2A3A"/>
                </a:solidFill>
                <a:latin typeface="Segoe UI" pitchFamily="34" charset="0"/>
                <a:ea typeface="Segoe UI" pitchFamily="34" charset="-122"/>
                <a:cs typeface="Segoe UI" pitchFamily="34" charset="-120"/>
              </a:rPr>
              <a:t>Cette présentation.</a:t>
            </a:r>
            <a:pPr indent="0" marL="0">
              <a:buNone/>
            </a:pPr>
            <a:r>
              <a:rPr lang="en-US" sz="1150" dirty="0">
                <a:solidFill>
                  <a:srgbClr val="465568"/>
                </a:solidFill>
                <a:latin typeface="Segoe UI" pitchFamily="34" charset="0"/>
                <a:ea typeface="Segoe UI" pitchFamily="34" charset="-122"/>
                <a:cs typeface="Segoe UI" pitchFamily="34" charset="-120"/>
              </a:rPr>
              <a:t> La Commission examine ; le PV est visé et signé.</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04 · 05</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Préparer</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fiche du DAO produit le dossier d’appel d’offres.</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06 · 07</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Consulter</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offres arrivent en ligne, scellées, puis s’ouvrent en séance.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08</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Évaluer</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d’appel d’offres évalue et propose l’attributaire.</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09</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Attribuer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marché est contrôlé, signé, notifié et publié.</a:t>
            </a:r>
            <a:endParaRPr lang="en-US" sz="1150" dirty="0"/>
          </a:p>
        </p:txBody>
      </p:sp>
      <p:sp>
        <p:nvSpPr>
          <p:cNvPr id="34" name="Text 32"/>
          <p:cNvSpPr/>
          <p:nvPr/>
        </p:nvSpPr>
        <p:spPr>
          <a:xfrm>
            <a:off x="812780" y="3937000"/>
            <a:ext cx="10566136" cy="762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Cette présentation couvre l’étape </a:t>
            </a:r>
            <a:pPr indent="0" marL="0">
              <a:buNone/>
            </a:pPr>
            <a:r>
              <a:rPr lang="en-US" sz="1300" b="1" dirty="0">
                <a:solidFill>
                  <a:srgbClr val="1B2A3A"/>
                </a:solidFill>
                <a:latin typeface="Segoe UI" pitchFamily="34" charset="0"/>
                <a:ea typeface="Segoe UI" pitchFamily="34" charset="-122"/>
                <a:cs typeface="Segoe UI" pitchFamily="34" charset="-120"/>
              </a:rPr>
              <a:t>03 — Contrôler</a:t>
            </a:r>
            <a:pPr indent="0" marL="0">
              <a:buNone/>
            </a:pPr>
            <a:r>
              <a:rPr lang="en-US" sz="1300" dirty="0">
                <a:solidFill>
                  <a:srgbClr val="465568"/>
                </a:solidFill>
                <a:latin typeface="Segoe UI" pitchFamily="34" charset="0"/>
                <a:ea typeface="Segoe UI" pitchFamily="34" charset="-122"/>
                <a:cs typeface="Segoe UI" pitchFamily="34" charset="-120"/>
              </a:rPr>
              <a:t>. Les autres étapes ont chacune leur présentation ; l’entrée dans l’application, l’intérim, l’administration et le pilotage sont dans la présentation d’ensemble.</a:t>
            </a:r>
            <a:endParaRPr lang="en-US" sz="1300" dirty="0"/>
          </a:p>
        </p:txBody>
      </p:sp>
      <p:sp>
        <p:nvSpPr>
          <p:cNvPr id="35" name="Text 3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03</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Contrôler</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Le dossier soumis par la PRMP est reçu, attribué, examiné et conclu par un PV signé de la Commission, puis vérifié, transmis au SIGMP et archivé — et le contrôle porte désormais sur les données elles-mêmes.</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Chaque dossier suit un circuit unique en sept étapes, visible de tous ses acteurs sur une même frise, du dépôt à la clôture.</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Chaque geste a son auteur, sa date et sa durée : les délais de la Commission se mesurent sans saisie, en heures ouvrées.</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Pour une procédure conduite dans l’application, la Commission ne juge plus des pièces recopiées : elle lit les écrans figés à la soumission, avec leur empreinte, et les contrôles automatiques nomment ce qui ne va pas.</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03 · Contrôler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circuit de contrôle d’un dossier</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Du dépôt par la PRMP à la clôture, sept étapes : réception, dispatch, examen, projet de PV, PV signé, vérification, clôture. Chacune a son responsable et son délai.</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SECRÉTAIRE</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Recevoir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Secrétaire contrôle les pièces une à une, puis numérote le dossier.</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PRÉSIDENT OU LE CHEF DE COMMISSION</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Dispatcher</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dossier est attribué à un Membre, avec une consigne facultative.</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MEMBRE ATTRIBUTAIRE</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Examiner</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Membre statue chaque pièce et chaque point de contrôle, lit les contrôles automatiques, puis rend son avis.</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PRÉSIDENT OU LE CHEF DE COMMISSION, ET LE CO-SIGNATAIRE DÉSIGNÉ</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Viser et signer</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projet de PV circule, est visé, puis signé par deux personnes distinctes au moins.</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VÉRIFICATEUR</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Vérifier et transmettre</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réserves sont levées une à une ; le sens de la décision part au SIGMP.</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L’ASSISTANT</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Archiver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L’archivage du PV clôt le dossier.</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Recevoir le dossier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dossier soumis par la PRMP arrive chez le Secrétaire de sa localité. Rien n’est reçu tant que les pièces obligatoires ne sont pas déclarées conformes.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Tous les dossiers, vus du Secrétaire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Tous les dossiers, vus du Secrét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Secrétaire.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de son périmètre, chacun avec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sept étapes et la date de chaque étape franchie.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vue en frise ou en tableau ; le statut du dossier à côté de sa référence.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RG-CTL-04 · RG-CTL-05 · RG-CTL-42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dépôt arrive chez le Secrétaire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épôt arrive chez le Secrét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Secrétaire.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Étape 1 sur 7 · à vous » : le dépôt, sa date et son heure, le nombre de pièces jointes.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délai de l’étape est affiché ;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retard</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s’affiche en rouge (ici, 18 h).</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un avenant n° 1, rattaché à son marché : la page renvoie au dossier du marché et donne le montant.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RG-CTL-01 · RG-CTL-05 · RG-CTL-42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Recevabilité et réception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Recevabilité et récep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Secrétaire.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contrôle de complétude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pièce par pièce : ouvrir, déclarer conforme ou non conforme, motiver.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exigées sont celles du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type de dossier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ici les quatre pièces obligatoires d’un avenant.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Tant qu’une pièce obligatoire n’est pas déclarée conforme, l’enregistrement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bloqué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les pièces en cause sont nommées.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RG-CTL-01 · RG-CTL-02 · RG-CTL-03 · RG-CTL-04 · RG-CTL-47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Attribuer le dossier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Président, ou le Chef de commission pour sa localité, confie le dossier à un Membre. La charge de chacun et les chaînes de contrôle guident ce choix.</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Tous les dossiers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Tous les dossie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(le Chef de commission,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Tous les types de dossiers confondus, chacun avec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son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actions se font depuis la ligne, selon les délégations : ici « Vérifier » sur les dossiers en vérification.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RG-CTL-10 · RG-CTL-42 · RG-CTL-45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Dispatcher à un Membre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Dispatcher à un Memb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ou le Chef de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Membre assigné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 nombre de dossiers qu’il a en cours pour équilibrer la charge.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Chef de commission est associé d’office : il reçoit copie du dispatch et suit le circuit.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date de dispatch et des instructions facultatives pour le Membre.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RG-CTL-06 · RG-CTL-07 · RG-CTL-08 · RG-CTL-09 · RG-CTL-11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répartition du dispatch</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répartition du dispatch">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dispatchés, par contrôleur et par type : chaque dossier compte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une seule fois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dossier sort de la statistique dès que son PV définitif est signé.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RG-CTL-07 · RG-CTL-11 · RG-CTL-12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chaînes de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haînes de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le Président, le Chef de commission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rattaché à un Vérificateur, chaque Vérificateur à un Assistant.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rattachement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oriente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la vérification et l’archivage ; il n’interdit rien. Une chaîne incomplète n’est pas bloquante : tout porteur du rôle dans la localité reste compétent (« repli localité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RG-CTL-13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vu du Président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ossier, vu du Présiden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frise nomme qui a agi : « Réceptionné par le Secrétaire », « Attribué à un Membre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L’étape en cours dit chez qui se trouve le dossier et son délai : ici l’examen,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3 h de retard</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DAO validée et les pièces du dossier, consultables par la Commission ; le journal et les délais en haut de page.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RG-CTL-42 · RG-CTL-44 · RG-CTL-45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Examiner et conclure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Seul le Membre attributaire examine. Son examen produit le projet de PV, qui circule jusqu’au visa et aux signatures.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dossiers de la localité, vus du Membre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ossiers de la localité, vus du Memb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de sa localité avec leur frise ; le bouton « Examiner » sur celui qui lui est attribué.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RG-CTL-14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L’examen séquentiel</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xamen séquentiel">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attributaire.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examen par étapes, dans l’ordre : ici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pièces jointes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puis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contrôles du dossier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puis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synthèse et l’avis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pièce est lue à l’écran puis déclarée « RAS » ou porte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observation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on ne passe pas à la suivante sans l’avoir statuée.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tête : la consigne du dispatch, le temps restant, et le compte des contrôles non conformes.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Réinitialiser » efface l’examen tant qu’aucun projet de PV n’existe.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RG-CTL-14 · RG-CTL-15 · RG-CTL-17 · RG-CTL-18 · RG-CTL-48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motifs-types de la conclusion</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motifs-types de la conclusion">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tient le référentiel ; le Membre, le Président et le Chef de commission s’en servent.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formulations du manuel : motifs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renvoi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(lettre de renvoi) et d’</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défavorable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(projet de PV), par type de dossier et, au besoin, par catégorie.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contrôleur insère le texte puis le complète : le motif n’engage rien par lui-même. Un motif se désactive plutôt que de se supprimer.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RG-CTL-49</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projet de PV</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projet de PV">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L’examen terminé produit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de PV</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l’avis du Membre et ses observations.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Membre le soumet au Président ou au Chef de commission qui l’a dispatché.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RG-CTL-19 · RG-CTL-20 · RG-CTL-21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visa du Président</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visa du Président">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ou le Chef de commission qui a dispatché.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visa clôt la navette en un geste : il arrête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global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désigne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co-signataire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pose sa propre signature.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est pré-rempli avec celui du Membre ; le changer ici le remplace.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la place, il peut retourner le projet au Membre, avec un commentaire, ou établir une lettre de renvoi.</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RG-CTL-21 · RG-CTL-22 · RG-CTL-23 · RG-CTL-24 · RG-CTL-25 · RG-CTL-26 · RG-CTL-28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 CO-SIGNATAIRE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seconde signature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seconde signa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désigné co-signataire.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PV visé attend les parts de signature des désignés ; le PV est signé par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deux personnes distinctes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au moins.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dernière signature rend le PV définitif.</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RG-CTL-26 · RG-CTL-27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L’examen de dossiers : trois productions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xamen de dossiers : trois produc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(de même le Chef de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cartes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projets de PV</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navette,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PV définitifs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signés,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lettres de renvoi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leur suivi.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de chaque production s’ouvre sous sa carte.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RG-CTL-21 · RG-CTL-25 · RG-CTL-36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PV et lettres de renvoi, vus du Membre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PV et lettres de renvoi, vus du Memb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même regroupement : ses projets de PV à gérer et soumettre, les PV définitifs (ici quinze), les projets de lettre de renvoi.</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RG-CTL-36 · RG-CTL-37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Vérifier, transmettre, archiver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Aucun avis ne clôt le dossier à la signature : le PV part au Vérificateur, qui transmet la décision au SIGMP, puis à l’Assistant, qui archive.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dossiers à vérifier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ossiers à vérif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Vérificateur.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dont le PV est signé, « à vérifier par vous » quand la chaîne de contrôle le désigne.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chacun : le PV définitif et le geste « Transmettre la décision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RG-CTL-29 · RG-CTL-30 · RG-CTL-31 · RG-CTL-32 · RG-CTL-33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Transmettre la décision à SIGMP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Transmettre la décision à SIG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Vérificateur.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du dossier, son contexte, l’avis du PV et les observations du PV à portée de main.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sens à transmettre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se déduit de l’avis : ici « Favorable » donne « Approuvé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Après la transmission, le PV part de lui-même chez l’Assistant pour archivage.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RG-CTL-29 · RG-CTL-34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dossiers vérifiés et clôturés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ossiers vérifiés et clôtur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Vérificateur.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L’historique de ses vérifications : « Décision transmise à SIGMP », puis « Clôturé » après l’archivage, avec la fin de traitement à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RG-CTL-34 · RG-CTL-35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ASSISTANT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PV reçus pour archivage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V reçus pour archivag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L’Assistant (ici le Président, qui exerce cette tâche par délégation).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PV définitifs transmis à l’archivage, avec leur avis et leur date de signature.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PV dit qui doit l’archiver (« à archiver par l’Assistant ») ou quand il l’a été.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RG-CTL-10 · RG-CTL-35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ASSISTANT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L’archivage du PV</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rchivage du PV">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L’Assistant.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Dernière étape avant la clôture » : la décision est transmise au SIGMP.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Archiver le PV » clôt le dossier.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RG-CTL-35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voit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e que voit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même frise que la Commission : chaque étape franchie est datée ; ici une déclaration sans suite en vérification.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fin de traitement prévue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lui est annoncée dès le dépôt.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de son dossier : ici celles qu’exige une déclaration sans suite (motifs, projet de décision, justificatifs…).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RG-CTL-29 · RG-CTL-43 · RG-CTL-44 · RG-CTL-47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PV définitifs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es PV définitif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PV signés de ses dossiers, avec leurs co-signataires, à afficher ; la base d’une rectification selon les observations.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côté, ses lettres de renvoi : les pièces complémentaires à transmettre.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RG-CTL-29 · RG-CTL-30 · RG-CTL-36 · RG-CTL-37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Statuer sur les demandes de retrait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tatuer sur les demandes de retrai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ou le Chef de commission de la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demandes de retrait des PRMP, à valider, et leur historique.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Accepter renvoie le dossier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brouillon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refuser le laisse dans le circuit ; chaque décision est motivée.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RG-CTL-39 · RG-CTL-40 · RG-CTL-41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contrôle porte sur les données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manuel de contrôle révisé (lot 1, livré le 13/10) s’applique aux procédures conduites dans l’application : les pièces que l’application produit ne sont plus demandées, la Commission lit les écrans figés à la soumission, l’application joue les contrôles automatiques et le Membre pose les siens.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écrans figés à la soumission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écrans figés à la sou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de la Commission, en lecture seule ; 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chaque soumission, l’application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écrans de la procédure tels qu’ils étaient : ici la ligne du plan, les avis et lettres, la commission d’appel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écran figé porte le numéro de la soumission, sa date, son auteur et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atteste qu’il n’a pas changé.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Commission les lit à la place des pièces qui ne sont plus jointes, et peut les exporter en PDF pour l’archivage avec le PV.</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RG-CTL-52 · RG-CTL-51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contrôles du dossier, vus de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ontrôles du dossier, vus de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tous ceux qui lisent le dossier.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L’onglet « Contrôles » : chaque contrôle avec sa référence au manuel, son résultat, le constat, son auteur et sa date.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compteurs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conformes / non conformes / sans objet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l’historique complet sous un volet ; l’export en PDF.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même page,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d’avis spécifique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(PDF ou Word, filigrane « PROJET ») produit depuis la fiche validée : il ne lance rien.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RG-CTL-53 · RG-CTL-54 · RG-CTL-56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Lever ou ajouter un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ver ou ajouter un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attributaire.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contrôles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automatiques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sont joués par l’application à la soumission ; le Membre pose les siens pendant l’examen.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dernier résultat posé fait foi : une non-conformité 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lève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posant « Conforme » ou « Sans objet », avec une observation.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non-conformité non levée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interdit l’avis « Favorable »</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réserve.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RG-CTL-53 · RG-CTL-54 · RG-CTL-19</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points de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oints de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grille d’examen : chaque point porte sa famille de dossier et, au besoin,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sous-type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une catégorie ou une forme de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portée range le point : par ligne de marché, une fois pour le dossier, la fiche de présentation ou le projet d’AGPM.</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points des dossiers d’appel d’offres renvoient aux informations de la fiche DAO qu’ils vérifient.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RG-CTL-48 · RG-CTL-46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taux d’écartement des règles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taux d’écartement des règl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règle du pré-contrôle des plans : signalements ouverts, écartés, levés, et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taux d’écartement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règle écartée presque à chaque fois s’éteint, sans rien perdre : les signalements écartés gardent leur motif.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 règles » (faits établis) sont distinguées des « pistes » de l’assistant (suggestions).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RG-CTL-57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délais standards du circuit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élais standards du circui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délai de chaque étape de la Commission,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heures ouvrées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(8 h = 1 jour ouvré) : il alimente la date de fin annoncée à la PRMP.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bas, les neuf délais de la loi n° 2016-055, en lecture : ils ne se règlent pas (voir la partie 09).</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RG-CTL-42 · RG-CTL-44 · RG-CTL-50</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délais par sous-type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délais par sous-typ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un sous-type, un délai propre à une étape (ici 24 h pour la réception d’une déclaration sans suite), ou « Revenir au standard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L’alerte d’examen, au-delà de cinq jours ouvrés, ne dépend pas de ces réglages.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RG-CTL-50</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Rien n’est reçu incomplet</a:t>
            </a:r>
            <a:endParaRPr lang="en-US" sz="1500" dirty="0"/>
          </a:p>
        </p:txBody>
      </p:sp>
      <p:sp>
        <p:nvSpPr>
          <p:cNvPr id="7" name="Text 5"/>
          <p:cNvSpPr/>
          <p:nvPr/>
        </p:nvSpPr>
        <p:spPr>
          <a:xfrm>
            <a:off x="952476"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réception est bloquée tant qu’une pièce obligatoire n’est pas déclarée conforme, et les pièces en cause sont nommées.</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seul examinateur, un PV à deux signatures</a:t>
            </a:r>
            <a:endParaRPr lang="en-US" sz="1500" dirty="0"/>
          </a:p>
        </p:txBody>
      </p:sp>
      <p:sp>
        <p:nvSpPr>
          <p:cNvPr id="11" name="Text 9"/>
          <p:cNvSpPr/>
          <p:nvPr/>
        </p:nvSpPr>
        <p:spPr>
          <a:xfrm>
            <a:off x="4525320"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Seul le Membre attributaire examine ; le PV n’est définitif que signé par deux personnes distinctes au moins, dont le viseur.</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La Commission statue sur ce qu’elle a reçu</a:t>
            </a:r>
            <a:endParaRPr lang="en-US" sz="1500" dirty="0"/>
          </a:p>
        </p:txBody>
      </p:sp>
      <p:sp>
        <p:nvSpPr>
          <p:cNvPr id="15" name="Text 13"/>
          <p:cNvSpPr/>
          <p:nvPr/>
        </p:nvSpPr>
        <p:spPr>
          <a:xfrm>
            <a:off x="8098164"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écrans de la procédure sont figés à chaque soumission, immuables, avec leur empreinte : ce qui change ensuite ne touche pas ce que la Commission a examiné.</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contrôles automatiques et opposables</a:t>
            </a:r>
            <a:endParaRPr lang="en-US" sz="1500" dirty="0"/>
          </a:p>
        </p:txBody>
      </p:sp>
      <p:sp>
        <p:nvSpPr>
          <p:cNvPr id="19" name="Text 17"/>
          <p:cNvSpPr/>
          <p:nvPr/>
        </p:nvSpPr>
        <p:spPr>
          <a:xfrm>
            <a:off x="952476"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L’application joue les contrôles du manuel à la soumission ; une non-conformité bloquante refuse le dossier en disant pourquoi, une non-conformité non levée interdit l’avis favorable sans réserve.</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délais mesurés, pas déclarés</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étape est chronométrée en heures ouvrées et imputée à son auteur ; la PRMP connaît dès le dépôt la date de fin prévue.</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traçabilité complète</a:t>
            </a:r>
            <a:endParaRPr lang="en-US" sz="1500" dirty="0"/>
          </a:p>
        </p:txBody>
      </p:sp>
      <p:sp>
        <p:nvSpPr>
          <p:cNvPr id="27" name="Text 25"/>
          <p:cNvSpPr/>
          <p:nvPr/>
        </p:nvSpPr>
        <p:spPr>
          <a:xfrm>
            <a:off x="8098164"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geste, chaque décision de pièce, chaque contrôle porte son auteur et sa date ; le journal du dossier les garde, retrait compris.</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 · RECETTE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points d’attention de l’étape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Relevés pendant la refonte de la présentation (14/10) : « Confirmée » = constatée sur l’écran capturé ; « Expliquée » = effet des données de recette ; « À examiner » = cause à établir.</a:t>
            </a:r>
            <a:endParaRPr lang="en-US" sz="13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468880"/>
                <a:gridCol w="6309360"/>
                <a:gridCol w="1188720"/>
                <a:gridCol w="1463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Écran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Constat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Statut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Piste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03 · Examen (dossier 100378)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L’étape « Contrôles du dossier » affiche « Terminé · RAS » alors que l’en-tête compte « 1 non conforme(s) sur 2 ».</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B23B3B"/>
                          </a:solidFill>
                          <a:latin typeface="Segoe UI" pitchFamily="34" charset="0"/>
                          <a:ea typeface="Segoe UI" pitchFamily="34" charset="-122"/>
                          <a:cs typeface="Segoe UI" pitchFamily="34" charset="-120"/>
                        </a:rPr>
                        <a:t>Confirmée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465568"/>
                          </a:solidFill>
                          <a:latin typeface="Segoe UI" pitchFamily="34" charset="0"/>
                          <a:ea typeface="Segoe UI" pitchFamily="34" charset="-122"/>
                          <a:cs typeface="Segoe UI" pitchFamily="34" charset="-120"/>
                        </a:rPr>
                        <a:t>Front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03 · Vérifier (dossier 100372)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bandeau décrit le cas « avis favorable avec réserve » sur un dossier « Favorable ».</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E3AE2E"/>
                          </a:solidFill>
                          <a:latin typeface="Segoe UI" pitchFamily="34" charset="0"/>
                          <a:ea typeface="Segoe UI" pitchFamily="34" charset="-122"/>
                          <a:cs typeface="Segoe UI" pitchFamily="34" charset="-120"/>
                        </a:rPr>
                        <a:t>À examiner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465568"/>
                          </a:solidFill>
                          <a:latin typeface="Segoe UI" pitchFamily="34" charset="0"/>
                          <a:ea typeface="Segoe UI" pitchFamily="34" charset="-122"/>
                          <a:cs typeface="Segoe UI" pitchFamily="34" charset="-120"/>
                        </a:rPr>
                        <a:t>Front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03 · Écrans figés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ligne du plan figée affiche des codes bruts (« Nature 1 », « CONTRAT_CADRE ») et des libellés sans accents (« Entite », « Prmp email »).</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E3AE2E"/>
                          </a:solidFill>
                          <a:latin typeface="Segoe UI" pitchFamily="34" charset="0"/>
                          <a:ea typeface="Segoe UI" pitchFamily="34" charset="-122"/>
                          <a:cs typeface="Segoe UI" pitchFamily="34" charset="-120"/>
                        </a:rPr>
                        <a:t>À examiner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465568"/>
                          </a:solidFill>
                          <a:latin typeface="Segoe UI" pitchFamily="34" charset="0"/>
                          <a:ea typeface="Segoe UI" pitchFamily="34" charset="-122"/>
                          <a:cs typeface="Segoe UI" pitchFamily="34" charset="-120"/>
                        </a:rPr>
                        <a:t>Serveur et front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A</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A — Les règles de gestion</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règles que l’application applique : chacune cite sa source (règles de gestion du serveur, contrats, manuel de contrôle révisé) et les écrans où elle s’applique.</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03 · Contrôler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de gestion, en un tableau</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57 règles</a:t>
            </a:r>
            <a:pPr indent="0" marL="0">
              <a:buNone/>
            </a:pPr>
            <a:r>
              <a:rPr lang="en-US" sz="1300" dirty="0">
                <a:solidFill>
                  <a:srgbClr val="465568"/>
                </a:solidFill>
                <a:latin typeface="Segoe UI" pitchFamily="34" charset="0"/>
                <a:ea typeface="Segoe UI" pitchFamily="34" charset="-122"/>
                <a:cs typeface="Segoe UI" pitchFamily="34" charset="-120"/>
              </a:rPr>
              <a:t>, groupées par partie et par thème. Chaque écran de la présentation cite celles qu’il applique.</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651760"/>
                <a:gridCol w="822960"/>
                <a:gridCol w="795528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Partie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Thèmes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050" b="1" dirty="0">
                          <a:solidFill>
                            <a:srgbClr val="1B2A3A"/>
                          </a:solidFill>
                          <a:latin typeface="Segoe UI" pitchFamily="34" charset="0"/>
                          <a:ea typeface="Segoe UI" pitchFamily="34" charset="-122"/>
                          <a:cs typeface="Segoe UI" pitchFamily="34" charset="-120"/>
                        </a:rPr>
                        <a:t>03 · Contrôler</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50" b="1" dirty="0">
                          <a:solidFill>
                            <a:srgbClr val="1B6FA8"/>
                          </a:solidFill>
                          <a:latin typeface="Segoe UI" pitchFamily="34" charset="0"/>
                          <a:ea typeface="Segoe UI" pitchFamily="34" charset="-122"/>
                          <a:cs typeface="Segoe UI" pitchFamily="34" charset="-120"/>
                        </a:rPr>
                        <a:t>57</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50" dirty="0">
                          <a:solidFill>
                            <a:srgbClr val="465568"/>
                          </a:solidFill>
                          <a:latin typeface="Segoe UI" pitchFamily="34" charset="0"/>
                          <a:ea typeface="Segoe UI" pitchFamily="34" charset="-122"/>
                          <a:cs typeface="Segoe UI" pitchFamily="34" charset="-120"/>
                        </a:rPr>
                        <a:t>Recevabilité et réception · Dispatch et délégation · Examen · Le PV : navette, visa et signature · Vérification et réserves · Renvoi et rectification · Retraits · Délais et chronométrage · Le manuel de contrôle · Le contrôle sur les données</a:t>
                      </a:r>
                      <a:endParaRPr lang="en-US" sz="9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Recevabilité et réception (1/2)</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RG-CTL-01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Contrôle pièce par pièce au dépôt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Avant d’enregistrer la réception, le Secrétaire confronte chaque pièce déposée à la liste du type de dossier et la déclare </a:t>
                      </a:r>
                      <a:pPr indent="0" marL="0">
                        <a:buNone/>
                      </a:pPr>
                      <a:r>
                        <a:rPr lang="en-US" sz="1100" b="1" dirty="0">
                          <a:solidFill>
                            <a:srgbClr val="1B2A3A"/>
                          </a:solidFill>
                          <a:latin typeface="Segoe UI" pitchFamily="34" charset="0"/>
                          <a:ea typeface="Segoe UI" pitchFamily="34" charset="-122"/>
                          <a:cs typeface="Segoe UI" pitchFamily="34" charset="-120"/>
                        </a:rPr>
                        <a:t>conforme</a:t>
                      </a:r>
                      <a:pPr indent="0" marL="0">
                        <a:buNone/>
                      </a:pPr>
                      <a:r>
                        <a:rPr lang="en-US" sz="1100" dirty="0">
                          <a:solidFill>
                            <a:srgbClr val="1B2A3A"/>
                          </a:solidFill>
                          <a:latin typeface="Segoe UI" pitchFamily="34" charset="0"/>
                          <a:ea typeface="Segoe UI" pitchFamily="34" charset="-122"/>
                          <a:cs typeface="Segoe UI" pitchFamily="34" charset="-120"/>
                        </a:rPr>
                        <a:t> ou </a:t>
                      </a:r>
                      <a:pPr indent="0" marL="0">
                        <a:buNone/>
                      </a:pPr>
                      <a:r>
                        <a:rPr lang="en-US" sz="1100" b="1" dirty="0">
                          <a:solidFill>
                            <a:srgbClr val="1B2A3A"/>
                          </a:solidFill>
                          <a:latin typeface="Segoe UI" pitchFamily="34" charset="0"/>
                          <a:ea typeface="Segoe UI" pitchFamily="34" charset="-122"/>
                          <a:cs typeface="Segoe UI" pitchFamily="34" charset="-120"/>
                        </a:rPr>
                        <a:t>non conforme</a:t>
                      </a:r>
                      <a:pPr indent="0" marL="0">
                        <a:buNone/>
                      </a:pPr>
                      <a:r>
                        <a:rPr lang="en-US" sz="1100" dirty="0">
                          <a:solidFill>
                            <a:srgbClr val="1B2A3A"/>
                          </a:solidFill>
                          <a:latin typeface="Segoe UI" pitchFamily="34" charset="0"/>
                          <a:ea typeface="Segoe UI" pitchFamily="34" charset="-122"/>
                          <a:cs typeface="Segoe UI" pitchFamily="34" charset="-120"/>
                        </a:rPr>
                        <a:t>, avec une observation. Chaque décision est conservée avec son auteur et son heure.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RG-CTL-02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Pas de réception sans pièces obligatoires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réception est refusée tant qu’une pièce </a:t>
                      </a:r>
                      <a:pPr indent="0" marL="0">
                        <a:buNone/>
                      </a:pPr>
                      <a:r>
                        <a:rPr lang="en-US" sz="1100" b="1" dirty="0">
                          <a:solidFill>
                            <a:srgbClr val="1B2A3A"/>
                          </a:solidFill>
                          <a:latin typeface="Segoe UI" pitchFamily="34" charset="0"/>
                          <a:ea typeface="Segoe UI" pitchFamily="34" charset="-122"/>
                          <a:cs typeface="Segoe UI" pitchFamily="34" charset="-120"/>
                        </a:rPr>
                        <a:t>obligatoire</a:t>
                      </a:r>
                      <a:pPr indent="0" marL="0">
                        <a:buNone/>
                      </a:pPr>
                      <a:r>
                        <a:rPr lang="en-US" sz="1100" dirty="0">
                          <a:solidFill>
                            <a:srgbClr val="1B2A3A"/>
                          </a:solidFill>
                          <a:latin typeface="Segoe UI" pitchFamily="34" charset="0"/>
                          <a:ea typeface="Segoe UI" pitchFamily="34" charset="-122"/>
                          <a:cs typeface="Segoe UI" pitchFamily="34" charset="-120"/>
                        </a:rPr>
                        <a:t> n’a pas pour dernière décision « conforme » ; le message nomme les pièces en cause.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RG-CTL-03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Signalement des pièces manquantes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Secrétaire signale les pièces en défaut : la PRMP est notifiée et le dossier attend ses compléments. À la reprise, les pièces déjà conformes restent acquises ; seules les pièces en défaut sont revérifiées.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RG-CTL-04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Référence officielle donnée à la réception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réception donne au dossier sa </a:t>
                      </a:r>
                      <a:pPr indent="0" marL="0">
                        <a:buNone/>
                      </a:pPr>
                      <a:r>
                        <a:rPr lang="en-US" sz="1100" b="1" dirty="0">
                          <a:solidFill>
                            <a:srgbClr val="1B2A3A"/>
                          </a:solidFill>
                          <a:latin typeface="Segoe UI" pitchFamily="34" charset="0"/>
                          <a:ea typeface="Segoe UI" pitchFamily="34" charset="-122"/>
                          <a:cs typeface="Segoe UI" pitchFamily="34" charset="-120"/>
                        </a:rPr>
                        <a:t>référence officielle</a:t>
                      </a:r>
                      <a:pPr indent="0" marL="0">
                        <a:buNone/>
                      </a:pPr>
                      <a:r>
                        <a:rPr lang="en-US" sz="1100" dirty="0">
                          <a:solidFill>
                            <a:srgbClr val="1B2A3A"/>
                          </a:solidFill>
                          <a:latin typeface="Segoe UI" pitchFamily="34" charset="0"/>
                          <a:ea typeface="Segoe UI" pitchFamily="34" charset="-122"/>
                          <a:cs typeface="Segoe UI" pitchFamily="34" charset="-120"/>
                        </a:rPr>
                        <a:t> : numéro à cinq chiffres, type de dossier, commission (CNM ou CRM et localité), exercice. Chaque contexte a son propre compteur.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RG-CTL-05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Réception dans sa seule localité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Secrétaire ne réceptionne que les dossiers de sa localité. Le Président et le Chef de commission peuvent enregistrer la réception à sa place, par délégation.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3.4 Secrétaire ; contrôle de complétude des pièces au dépôt · regles-gestion.md § 3.4 Secrétaire (réceptions) · regles-gestion.md § 3.4 Secrétaire</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Recevabilité et réception (2/2)</a:t>
            </a:r>
            <a:endParaRPr lang="en-US" sz="2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RG-CTL-06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Dossier complet, prêt à dispatcher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que la réception est enregistrée, le dossier est « prêt à dispatcher » et le Président et le Chef de commission de la localité sont notifiés.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3.4 Secrétaire</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Dispatch et délégation (1/2)</a:t>
            </a:r>
            <a:endParaRPr lang="en-US" sz="2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RG-CTL-07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dispatch : attribuer à un Membre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voit les dossiers prêts de toutes les localités et les attribue à un Membre, avec des instructions facultatives. Le Chef de commission dispatche les dossiers de sa localité.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RG-CTL-08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Centrale : dispatch réservé au Président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Pour un dossier de la Centrale, seul le Président dispatche et seul lui est notifié. Le Chef de commission n’y agit que sur un dossier que le Président lui a confié ou qu’il a lui-même réattribué.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RG-CTL-09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attributaire capable d’examiner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dossier ne s’attribue qu’à un Membre, ou à un contrôleur autorisé par délégation à la tâche de Membre. Le Président ou le Chef de commission peut ainsi se l’attribuer à lui-même : c’est le circuit court.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RG-CTL-10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Délégation ascendante : neuf paires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peut exercer les tâches du Secrétaire, du Chef de commission, du Membre, du Vérificateur et de l’Assistant ; le Chef de commission celles du Secrétaire, du Membre, du Vérificateur et de l’Assistant. La délégation n’est pas transitive et n’ouvre aucun </a:t>
                      </a:r>
                      <a:pPr indent="0" marL="0">
                        <a:buNone/>
                      </a:pPr>
                      <a:r>
                        <a:rPr lang="en-US" sz="1100" b="1" dirty="0">
                          <a:solidFill>
                            <a:srgbClr val="1B2A3A"/>
                          </a:solidFill>
                          <a:latin typeface="Segoe UI" pitchFamily="34" charset="0"/>
                          <a:ea typeface="Segoe UI" pitchFamily="34" charset="-122"/>
                          <a:cs typeface="Segoe UI" pitchFamily="34" charset="-120"/>
                        </a:rPr>
                        <a:t>acte d’identité</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RG-CTL-11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Réattribution par le Chef de commission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Chef de commission peut réattribuer à un Membre le dossier que le Président lui a dispatché ; le nouvel attributaire est notifié, l’ancien est prévenu. La réattribution est refusée dès qu’un examen est entamé.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3.2 Président · regles-gestion.md § 3.3 Chef de commission · regles-gestion.md § 3.8 Administrateur</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Dispatch et délégation (2/2)</a:t>
            </a:r>
            <a:endParaRPr lang="en-US" sz="2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RG-CTL-12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Seul le dispatcheur retire le dispatch</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 celui qui a dispatché retire un dispatch. Un Chef de commission à la fois dispatcheur et attributaire ne se retire pas le dossier : c’est le Président qui le lui retire.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RG-CTL-13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Chaînes Membre, Vérificateur, Assistant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peut être rattaché à un Vérificateur, et chaque Vérificateur à un Assistant, dans la même localité ; le rattachement est posé par l’Administrateur, le Président, ou le Chef de commission dans sa localité. Il </a:t>
                      </a:r>
                      <a:pPr indent="0" marL="0">
                        <a:buNone/>
                      </a:pPr>
                      <a:r>
                        <a:rPr lang="en-US" sz="1100" b="1" dirty="0">
                          <a:solidFill>
                            <a:srgbClr val="1B2A3A"/>
                          </a:solidFill>
                          <a:latin typeface="Segoe UI" pitchFamily="34" charset="0"/>
                          <a:ea typeface="Segoe UI" pitchFamily="34" charset="-122"/>
                          <a:cs typeface="Segoe UI" pitchFamily="34" charset="-120"/>
                        </a:rPr>
                        <a:t>oriente</a:t>
                      </a:r>
                      <a:pPr indent="0" marL="0">
                        <a:buNone/>
                      </a:pPr>
                      <a:r>
                        <a:rPr lang="en-US" sz="1100" dirty="0">
                          <a:solidFill>
                            <a:srgbClr val="1B2A3A"/>
                          </a:solidFill>
                          <a:latin typeface="Segoe UI" pitchFamily="34" charset="0"/>
                          <a:ea typeface="Segoe UI" pitchFamily="34" charset="-122"/>
                          <a:cs typeface="Segoe UI" pitchFamily="34" charset="-120"/>
                        </a:rPr>
                        <a:t> notifications et files sans rien verrouiller : sans chaîne, tous les porteurs du rôle de la localité restent compétents.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3.3 Chef de commission · regles-gestion.md § 1.7 Rattachement nominatif</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Examen (1/2)</a:t>
            </a:r>
            <a:endParaRPr lang="en-US" sz="2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RG-CTL-14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Seul l’attributaire examine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Quel que soit son profil, seul l’</a:t>
                      </a:r>
                      <a:pPr indent="0" marL="0">
                        <a:buNone/>
                      </a:pPr>
                      <a:r>
                        <a:rPr lang="en-US" sz="1100" b="1" dirty="0">
                          <a:solidFill>
                            <a:srgbClr val="1B2A3A"/>
                          </a:solidFill>
                          <a:latin typeface="Segoe UI" pitchFamily="34" charset="0"/>
                          <a:ea typeface="Segoe UI" pitchFamily="34" charset="-122"/>
                          <a:cs typeface="Segoe UI" pitchFamily="34" charset="-120"/>
                        </a:rPr>
                        <a:t>attributaire</a:t>
                      </a:r>
                      <a:pPr indent="0" marL="0">
                        <a:buNone/>
                      </a:pPr>
                      <a:r>
                        <a:rPr lang="en-US" sz="1100" dirty="0">
                          <a:solidFill>
                            <a:srgbClr val="1B2A3A"/>
                          </a:solidFill>
                          <a:latin typeface="Segoe UI" pitchFamily="34" charset="0"/>
                          <a:ea typeface="Segoe UI" pitchFamily="34" charset="-122"/>
                          <a:cs typeface="Segoe UI" pitchFamily="34" charset="-120"/>
                        </a:rPr>
                        <a:t> du dispatch crée, modifie et soumet l’examen. Ni le dispatcheur ni le Chef de commission en copie ne peuvent examiner.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RG-CTL-15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Examen point par point, en brouillon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Membre statue chaque pièce et chaque point de contrôle, « RAS » ou observation ; il enregistre et reprend plus tard sans faire avancer le dossier. L’examen reste modifiable jusqu’à la signature du PV.</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RG-CTL-16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Observation ciblée sur une cellule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observation « Au lieu de / Lire » peut viser la cellule qu’elle corrige : colonne du plan, de la fiche de présentation ou du projet d’AGPM, ou information de la fiche DAO. Cette cible suit l’observation jusqu’à la PRMP.</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RG-CTL-17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On ne contrôle pas le vide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points de contrôle de la fiche de présentation et du projet d’AGPM ne sont exigés que si le document a du contenu. Chaque document est jugé séparément.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RG-CTL-18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Réinitialiser un examen non soumis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L’attributaire peut </a:t>
                      </a:r>
                      <a:pPr indent="0" marL="0">
                        <a:buNone/>
                      </a:pPr>
                      <a:r>
                        <a:rPr lang="en-US" sz="1100" b="1" dirty="0">
                          <a:solidFill>
                            <a:srgbClr val="1B2A3A"/>
                          </a:solidFill>
                          <a:latin typeface="Segoe UI" pitchFamily="34" charset="0"/>
                          <a:ea typeface="Segoe UI" pitchFamily="34" charset="-122"/>
                          <a:cs typeface="Segoe UI" pitchFamily="34" charset="-120"/>
                        </a:rPr>
                        <a:t>réinitialiser</a:t>
                      </a:r>
                      <a:pPr indent="0" marL="0">
                        <a:buNone/>
                      </a:pPr>
                      <a:r>
                        <a:rPr lang="en-US" sz="1100" dirty="0">
                          <a:solidFill>
                            <a:srgbClr val="1B2A3A"/>
                          </a:solidFill>
                          <a:latin typeface="Segoe UI" pitchFamily="34" charset="0"/>
                          <a:ea typeface="Segoe UI" pitchFamily="34" charset="-122"/>
                          <a:cs typeface="Segoe UI" pitchFamily="34" charset="-120"/>
                        </a:rPr>
                        <a:t> son examen tant qu’aucun projet de PV n’existe : points, observations et résultats de pièces sont effacés d’un geste. Le temps écoulé continue de compter et l’effacement est inscrit au journal.</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3.5 Membre · regles-gestion.md § 2 Circuit de contrôle · regles-gestion.md § « On ne contrôle pas le vide » (règle du pilote, 04/09) · regles-gestion.md § Réinitialiser un examen en cours</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Examen (2/2)</a:t>
            </a:r>
            <a:endParaRPr lang="en-US" sz="2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RG-CTL-19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soumission porte l’avis du Membre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Membre soumet son examen avec son avis (favorable, favorable avec réserves, défavorable, ou sans objet) ; la soumission crée le projet de PV. L’avis doit être cohérent avec ce qui a été relevé : un avis </a:t>
                      </a:r>
                      <a:pPr indent="0" marL="0">
                        <a:buNone/>
                      </a:pPr>
                      <a:r>
                        <a:rPr lang="en-US" sz="1100" b="1" dirty="0">
                          <a:solidFill>
                            <a:srgbClr val="1B2A3A"/>
                          </a:solidFill>
                          <a:latin typeface="Segoe UI" pitchFamily="34" charset="0"/>
                          <a:ea typeface="Segoe UI" pitchFamily="34" charset="-122"/>
                          <a:cs typeface="Segoe UI" pitchFamily="34" charset="-120"/>
                        </a:rPr>
                        <a:t>favorable</a:t>
                      </a:r>
                      <a:pPr indent="0" marL="0">
                        <a:buNone/>
                      </a:pPr>
                      <a:r>
                        <a:rPr lang="en-US" sz="1100" dirty="0">
                          <a:solidFill>
                            <a:srgbClr val="1B2A3A"/>
                          </a:solidFill>
                          <a:latin typeface="Segoe UI" pitchFamily="34" charset="0"/>
                          <a:ea typeface="Segoe UI" pitchFamily="34" charset="-122"/>
                          <a:cs typeface="Segoe UI" pitchFamily="34" charset="-120"/>
                        </a:rPr>
                        <a:t> est refusé tant qu’une observation ou un </a:t>
                      </a:r>
                      <a:pPr indent="0" marL="0">
                        <a:buNone/>
                      </a:pPr>
                      <a:r>
                        <a:rPr lang="en-US" sz="1100" b="1" dirty="0">
                          <a:solidFill>
                            <a:srgbClr val="1B2A3A"/>
                          </a:solidFill>
                          <a:latin typeface="Segoe UI" pitchFamily="34" charset="0"/>
                          <a:ea typeface="Segoe UI" pitchFamily="34" charset="-122"/>
                          <a:cs typeface="Segoe UI" pitchFamily="34" charset="-120"/>
                        </a:rPr>
                        <a:t>contrôle non conforme non levé</a:t>
                      </a:r>
                      <a:pPr indent="0" marL="0">
                        <a:buNone/>
                      </a:pPr>
                      <a:r>
                        <a:rPr lang="en-US" sz="1100" dirty="0">
                          <a:solidFill>
                            <a:srgbClr val="1B2A3A"/>
                          </a:solidFill>
                          <a:latin typeface="Segoe UI" pitchFamily="34" charset="0"/>
                          <a:ea typeface="Segoe UI" pitchFamily="34" charset="-122"/>
                          <a:cs typeface="Segoe UI" pitchFamily="34" charset="-120"/>
                        </a:rPr>
                        <a:t> subsiste.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RG-CTL-20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Soumettre engage le seul examinateur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soumission et la re-soumission du projet de PV sont réservées à l’examinateur, même face à un supérieur agissant par délégation. Corriger le projet pour un collègue absent reste permis : seul le geste qui engage est nominatif.</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2 Circuit de contrôle ; § Le dossier soumis, encadré du 13/10 (tranche R5) · regles-gestion.md § À qui appartient un passage</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PV : navette, visa et signature (1/2)</a:t>
            </a:r>
            <a:endParaRPr lang="en-US" sz="2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RG-CTL-21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Navette du projet de PV</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ou le Chef de commission peut retourner le projet au Membre autant de fois que nécessaire, avec un commentaire obligatoire ; le Membre corrige puis resoumet. Chaque aller-retour est tracé.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RG-CTL-22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Visa réservé au dispatcheur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navette se clôt par le </a:t>
                      </a:r>
                      <a:pPr indent="0" marL="0">
                        <a:buNone/>
                      </a:pPr>
                      <a:r>
                        <a:rPr lang="en-US" sz="1100" b="1" dirty="0">
                          <a:solidFill>
                            <a:srgbClr val="1B2A3A"/>
                          </a:solidFill>
                          <a:latin typeface="Segoe UI" pitchFamily="34" charset="0"/>
                          <a:ea typeface="Segoe UI" pitchFamily="34" charset="-122"/>
                          <a:cs typeface="Segoe UI" pitchFamily="34" charset="-120"/>
                        </a:rPr>
                        <a:t>visa</a:t>
                      </a:r>
                      <a:pPr indent="0" marL="0">
                        <a:buNone/>
                      </a:pPr>
                      <a:r>
                        <a:rPr lang="en-US" sz="1100" dirty="0">
                          <a:solidFill>
                            <a:srgbClr val="1B2A3A"/>
                          </a:solidFill>
                          <a:latin typeface="Segoe UI" pitchFamily="34" charset="0"/>
                          <a:ea typeface="Segoe UI" pitchFamily="34" charset="-122"/>
                          <a:cs typeface="Segoe UI" pitchFamily="34" charset="-120"/>
                        </a:rPr>
                        <a:t> du Président ou du Chef de commission qui a dispatché : il arrête l’avis, désigne le co-signataire et signe sa part. Tout autre ne vise que par intérim.</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RG-CTL-23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Visa par intérim sur note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Président ou Chef de commission non dispatcheur, compétent pour la localité, vise en joignant une note d’intérim. La mention « par intérim » ne figure que sur les PV régionaux ; la note n’est pas communiquée à la PRMP.</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RG-CTL-24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L’examinateur ne vise pas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Celui qui a examiné un dossier ne vise ni ne retourne le projet de PV, même par intérim, sauf s’il s’est dispatché le dossier à lui-même.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RG-CTL-25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Navette à deux niveaux</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Si le Président a dispatché au Chef de commission, qui a réattribué à un Membre, le Membre soumet au Chef de commission, qui retourne ou transmet au Président ; le Président retourne au Chef de commission ou vise. Rien ne saute d’étage.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3.2 Président · regles-gestion.md § 2 Circuit de contrôle · regles-gestion.md § À qui appartient un passage · regles-gestion.md § La navette du PV à deux niveaux (règle du pilote, 04/09)</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PV : navette, visa et signature (2/2)</a:t>
            </a:r>
            <a:endParaRPr lang="en-US" sz="2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RG-CTL-26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Deux signataires distincts au moins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viseur désigne ses co-signataires : au moins une autre personne, trois signataires au plus, un seul par rôle. Le PV n’imprime que les lignes des désignés.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RG-CTL-27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PV définitif quand toutes les parts sont signées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PV est signé quand la part du viseur et celle de chaque désigné sont posées. La part du Membre ne se délègue pas : seul le Membre désigné la signe.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RG-CTL-28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Plus de Secrétaire de séance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PV ne désigne plus de Secrétaire de séance, ni au visa ni à la soumission de l’examen. Les PV visés avant ce retrait gardent leur mention.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La co-signature élargie · regles-gestion.md § Le Secrétaire de séance est retiré du cycle du PV (02/09)</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Vérification et réserves (1/2)</a:t>
            </a:r>
            <a:endParaRPr lang="en-US" sz="2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RG-CTL-29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Tout PV signé passe au Vérificateur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 avis ne clôt le dossier à la signature : le PV est transmis à la PRMP et le dossier part en vérification. Pour un avis favorable, défavorable ou sans objet, le Vérificateur n’a plus qu’à transmettre la décision au SIGMP.</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RG-CTL-30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Avis avec réserves : la PRMP rectifie d’abord</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signature d’un PV favorable avec réserves, le PV et ses observations partent à la PRMP, qui rectifie. Sa </a:t>
                      </a:r>
                      <a:pPr indent="0" marL="0">
                        <a:buNone/>
                      </a:pPr>
                      <a:r>
                        <a:rPr lang="en-US" sz="1100" b="1" dirty="0">
                          <a:solidFill>
                            <a:srgbClr val="1B2A3A"/>
                          </a:solidFill>
                          <a:latin typeface="Segoe UI" pitchFamily="34" charset="0"/>
                          <a:ea typeface="Segoe UI" pitchFamily="34" charset="-122"/>
                          <a:cs typeface="Segoe UI" pitchFamily="34" charset="-120"/>
                        </a:rPr>
                        <a:t>resoumission</a:t>
                      </a:r>
                      <a:pPr indent="0" marL="0">
                        <a:buNone/>
                      </a:pPr>
                      <a:r>
                        <a:rPr lang="en-US" sz="1100" dirty="0">
                          <a:solidFill>
                            <a:srgbClr val="1B2A3A"/>
                          </a:solidFill>
                          <a:latin typeface="Segoe UI" pitchFamily="34" charset="0"/>
                          <a:ea typeface="Segoe UI" pitchFamily="34" charset="-122"/>
                          <a:cs typeface="Segoe UI" pitchFamily="34" charset="-120"/>
                        </a:rPr>
                        <a:t>, motivée, ouvre la vérification et notifie le Vérificateur.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RG-CTL-31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Observations figées au PV</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observations suivies sont exclusivement celles arrêtées au PV signé, aux libellés figés ; aucun acteur ne peut en ajouter, et le Vérificateur ne rédige aucun texte libre.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RG-CTL-32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Lever ou maintenir chaque observation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passage, le Vérificateur statue chaque observation : levée ou maintenue, avec une précision facultative. Une levée est acquise ; une seule observation maintenue renvoie le dossier à la PRMP, et la boucle reprend.</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RG-CTL-33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Vérificateur voit la rectification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Pour statuer, le Vérificateur compare la version d’avant et celle d’après la rectification. Chaque version remplacée est archivée, en lecture seule.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2 Circuit de contrôle · regles-gestion.md § 3.6 Contrôleur vérificateur · regles-gestion.md § 3.6 Contrôleur vérificateur (vérifications)</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Vérification et réserves (2/2)</a:t>
            </a:r>
            <a:endParaRPr lang="en-US" sz="2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RG-CTL-34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Transmission du sens au SIGMP</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Vérificateur transmet le sens de la décision, déduit de l’avis : favorable donne « approuvé », défavorable et sans objet « non approuvé », favorable avec réserves « approuvé » une fois toutes les observations levées. Le dossier passe alors aux « vérifiés ».</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RG-CTL-35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L’archivage clôt le dossier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 l’</a:t>
                      </a:r>
                      <a:pPr indent="0" marL="0">
                        <a:buNone/>
                      </a:pPr>
                      <a:r>
                        <a:rPr lang="en-US" sz="1100" b="1" dirty="0">
                          <a:solidFill>
                            <a:srgbClr val="1B2A3A"/>
                          </a:solidFill>
                          <a:latin typeface="Segoe UI" pitchFamily="34" charset="0"/>
                          <a:ea typeface="Segoe UI" pitchFamily="34" charset="-122"/>
                          <a:cs typeface="Segoe UI" pitchFamily="34" charset="-120"/>
                        </a:rPr>
                        <a:t>archivage</a:t>
                      </a:r>
                      <a:pPr indent="0" marL="0">
                        <a:buNone/>
                      </a:pPr>
                      <a:r>
                        <a:rPr lang="en-US" sz="1100" dirty="0">
                          <a:solidFill>
                            <a:srgbClr val="1B2A3A"/>
                          </a:solidFill>
                          <a:latin typeface="Segoe UI" pitchFamily="34" charset="0"/>
                          <a:ea typeface="Segoe UI" pitchFamily="34" charset="-122"/>
                          <a:cs typeface="Segoe UI" pitchFamily="34" charset="-120"/>
                        </a:rPr>
                        <a:t> du PV par l’Assistant de la localité, ou par délégation, clôt le dossier ; il prévient le Chargé de publication. L’Assistant archive aussi les lettres de renvoi signées.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3.6 Contrôleur vérificateur · regles-gestion.md § 2 Circuit de contrôle (transmissions SIGMP)</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Renvoi et rectification</a:t>
            </a:r>
            <a:endParaRPr lang="en-US" sz="2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RG-CTL-36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Lettre de renvoi signée par la Commission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ou le Chef de commission établit la lettre de renvoi. En Centrale, l’un ou l’autre la signe ; en région, seul le Chef de commission de la localité. Le Membre ne la signe jamais.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RG-CTL-37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Renvoi : examen suspendu, puis réexamen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signature de la lettre, l’examen est suspendu et la PRMP est notifiée. Après dépôt et transmission des pièces demandées, le dossier revient au Membre, qui </a:t>
                      </a:r>
                      <a:pPr indent="0" marL="0">
                        <a:buNone/>
                      </a:pPr>
                      <a:r>
                        <a:rPr lang="en-US" sz="1100" b="1" dirty="0">
                          <a:solidFill>
                            <a:srgbClr val="1B2A3A"/>
                          </a:solidFill>
                          <a:latin typeface="Segoe UI" pitchFamily="34" charset="0"/>
                          <a:ea typeface="Segoe UI" pitchFamily="34" charset="-122"/>
                          <a:cs typeface="Segoe UI" pitchFamily="34" charset="-120"/>
                        </a:rPr>
                        <a:t>réexamine</a:t>
                      </a:r>
                      <a:pPr indent="0" marL="0">
                        <a:buNone/>
                      </a:pPr>
                      <a:r>
                        <a:rPr lang="en-US" sz="1100" dirty="0">
                          <a:solidFill>
                            <a:srgbClr val="1B2A3A"/>
                          </a:solidFill>
                          <a:latin typeface="Segoe UI" pitchFamily="34" charset="0"/>
                          <a:ea typeface="Segoe UI" pitchFamily="34" charset="-122"/>
                          <a:cs typeface="Segoe UI" pitchFamily="34" charset="-120"/>
                        </a:rPr>
                        <a:t> puis resoumet le projet de PV.</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RG-CTL-38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Rectification bornée à trois lignes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En rectification, la PRMP ajoute ou retire au plus trois lignes du plan dans chaque sens. Elle ne peut pas retirer une ligne portant une observation non levée.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2 Circuit de contrôle (lettres de renvoi) · regles-gestion.md § 2 Circuit de contrôle (transmissions SIGMP) · regles-gestion.md § 3.1 PRMP</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Retraits</a:t>
            </a:r>
            <a:endParaRPr lang="en-US" sz="2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RG-CTL-39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possible jusqu’au PV signé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demande le retrait motivé, lettre signée à l’appui, d’un dossier soumis, prêt à dispatcher, dispatché ou examiné. Dès la signature du PV, la demande est refusée.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RG-CTL-40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Décision du Chef de commission ou du Président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Seuls le Chef de commission de la localité ou le Président statuent. Une demande devenue </a:t>
                      </a:r>
                      <a:pPr indent="0" marL="0">
                        <a:buNone/>
                      </a:pPr>
                      <a:r>
                        <a:rPr lang="en-US" sz="1100" b="1" dirty="0">
                          <a:solidFill>
                            <a:srgbClr val="1B2A3A"/>
                          </a:solidFill>
                          <a:latin typeface="Segoe UI" pitchFamily="34" charset="0"/>
                          <a:ea typeface="Segoe UI" pitchFamily="34" charset="-122"/>
                          <a:cs typeface="Segoe UI" pitchFamily="34" charset="-120"/>
                        </a:rPr>
                        <a:t>caduque</a:t>
                      </a:r>
                      <a:pPr indent="0" marL="0">
                        <a:buNone/>
                      </a:pPr>
                      <a:r>
                        <a:rPr lang="en-US" sz="1100" dirty="0">
                          <a:solidFill>
                            <a:srgbClr val="1B2A3A"/>
                          </a:solidFill>
                          <a:latin typeface="Segoe UI" pitchFamily="34" charset="0"/>
                          <a:ea typeface="Segoe UI" pitchFamily="34" charset="-122"/>
                          <a:cs typeface="Segoe UI" pitchFamily="34" charset="-120"/>
                        </a:rPr>
                        <a:t>, le PV ayant été signé entre-temps, ne peut plus qu’être refusée.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RG-CTL-41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accepté : retour au brouillon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L’acceptation ramène le dossier au brouillon et efface son circuit : dispatch, examen, PV, navettes. Le journal et le chronométrage sont conservés ; un refus laisse le dossier inchangé.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3.1 PRMP</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Délais et chronométrage</a:t>
            </a:r>
            <a:endParaRPr lang="en-US" sz="2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RG-CTL-42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délai se mesure, sans saisie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étape est chronométrée sans saisie : elle commence à la fin de la précédente et s’achève au geste qui la clôt. Le calcul se fait en </a:t>
                      </a:r>
                      <a:pPr indent="0" marL="0">
                        <a:buNone/>
                      </a:pPr>
                      <a:r>
                        <a:rPr lang="en-US" sz="1100" b="1" dirty="0">
                          <a:solidFill>
                            <a:srgbClr val="1B2A3A"/>
                          </a:solidFill>
                          <a:latin typeface="Segoe UI" pitchFamily="34" charset="0"/>
                          <a:ea typeface="Segoe UI" pitchFamily="34" charset="-122"/>
                          <a:cs typeface="Segoe UI" pitchFamily="34" charset="-120"/>
                        </a:rPr>
                        <a:t>heures ouvrées</a:t>
                      </a:r>
                      <a:pPr indent="0" marL="0">
                        <a:buNone/>
                      </a:pPr>
                      <a:r>
                        <a:rPr lang="en-US" sz="1100" dirty="0">
                          <a:solidFill>
                            <a:srgbClr val="1B2A3A"/>
                          </a:solidFill>
                          <a:latin typeface="Segoe UI" pitchFamily="34" charset="0"/>
                          <a:ea typeface="Segoe UI" pitchFamily="34" charset="-122"/>
                          <a:cs typeface="Segoe UI" pitchFamily="34" charset="-120"/>
                        </a:rPr>
                        <a:t>, de 8 h à 16 h du lundi au vendredi, 8 h valant un jour.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RG-CTL-43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L’attente de la PRMP est suspendue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compteur de la Commission se suspend pendant les attentes de la PRMP : compléments au dépôt, pièces après renvoi, rectification. Le délai propre de la PRMP est mesuré à part.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RG-CTL-44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Date prévisionnelle annoncée dès le dépôt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date annoncée à la PRMP additionne le reste de l’étape en cours et les délais standards des étapes restantes. Une étape en dépassement compte zéro : la date glisse.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RG-CTL-45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passage imputé à son auteur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L’examen est mesuré au nom de son attributaire ; une réattribution clôt l’examen du sortant à son nom. À deux niveaux, chaque étage a sa durée, et chaque co-signataire sa part.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Chronométrage et prévision des délais · regles-gestion.md § Le délai propre de la PRMP · regles-gestion.md § À qui appartient un passage</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57</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manuel de contrôle</a:t>
            </a:r>
            <a:endParaRPr lang="en-US" sz="2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RG-CTL-46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sous-types du manuel</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Vingt-trois sous-types de dossier : </a:t>
                      </a:r>
                      <a:pPr indent="0" marL="0">
                        <a:buNone/>
                      </a:pPr>
                      <a:r>
                        <a:rPr lang="en-US" sz="1100" b="1" dirty="0">
                          <a:solidFill>
                            <a:srgbClr val="1B2A3A"/>
                          </a:solidFill>
                          <a:latin typeface="Segoe UI" pitchFamily="34" charset="0"/>
                          <a:ea typeface="Segoe UI" pitchFamily="34" charset="-122"/>
                          <a:cs typeface="Segoe UI" pitchFamily="34" charset="-120"/>
                        </a:rPr>
                        <a:t>DAOO</a:t>
                      </a:r>
                      <a:pPr indent="0" marL="0">
                        <a:buNone/>
                      </a:pPr>
                      <a:r>
                        <a:rPr lang="en-US" sz="1100" dirty="0">
                          <a:solidFill>
                            <a:srgbClr val="1B2A3A"/>
                          </a:solidFill>
                          <a:latin typeface="Segoe UI" pitchFamily="34" charset="0"/>
                          <a:ea typeface="Segoe UI" pitchFamily="34" charset="-122"/>
                          <a:cs typeface="Segoe UI" pitchFamily="34" charset="-120"/>
                        </a:rPr>
                        <a:t> (ancien « DAO »), DAOOI, DAOOPREQUAL, DPREQUAL, DAOR, DAORI, DC, DP, RJ ; MAOO… MPI, MGG ; la famille des actes de gestion contractuelle (avenant, résiliation, indemnité, remise de pénalités, sursis) ; la déclaration sans suite (DSS). Le dossier produit par une fiche prend le sous-type que dit le mode de la ligne du plan.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RG-CTL-47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pièces exigées par sous-type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sous-type a sa propre liste de pièces ; une pièce qui dépend de la catégorie ou de la forme du marché ne s’exige que si elle s’applique à la fiche. La soumission refuse le dossier auquel manque une pièce obligatoire en nommant </a:t>
                      </a:r>
                      <a:pPr indent="0" marL="0">
                        <a:buNone/>
                      </a:pPr>
                      <a:r>
                        <a:rPr lang="en-US" sz="1100" b="1" dirty="0">
                          <a:solidFill>
                            <a:srgbClr val="1B2A3A"/>
                          </a:solidFill>
                          <a:latin typeface="Segoe UI" pitchFamily="34" charset="0"/>
                          <a:ea typeface="Segoe UI" pitchFamily="34" charset="-122"/>
                          <a:cs typeface="Segoe UI" pitchFamily="34" charset="-120"/>
                        </a:rPr>
                        <a:t>chaque</a:t>
                      </a:r>
                      <a:pPr indent="0" marL="0">
                        <a:buNone/>
                      </a:pPr>
                      <a:r>
                        <a:rPr lang="en-US" sz="1100" dirty="0">
                          <a:solidFill>
                            <a:srgbClr val="1B2A3A"/>
                          </a:solidFill>
                          <a:latin typeface="Segoe UI" pitchFamily="34" charset="0"/>
                          <a:ea typeface="Segoe UI" pitchFamily="34" charset="-122"/>
                          <a:cs typeface="Segoe UI" pitchFamily="34" charset="-120"/>
                        </a:rPr>
                        <a:t> pièce ; la réception lit la même liste. Depuis le 13/10, pour une procédure conduite dans l’application, les pièces que l’application produit ne sont plus demandées (RG-CTL-51).</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RG-CTL-48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grille du dossier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grille d’un dossier réunit les points communs de sa famille (sauf grille propre : marché de prestations intellectuelles, gré à gré, dossier de consultation, rapport justificatif, pré-qualification, avenant, déclaration sans suite), ceux de la grille dont il dérive (un appel d’offres restreint reprend l’appel d’offres ouvert) et les siens, sans les points dont la catégorie ou la forme ne s’applique pas à sa fiche.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RG-CTL-49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motifs-types de la conclusion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formulations du manuel (renvoi, avis défavorable) forment un référentiel tenu par l’Administrateur, qui suit l’héritage des grilles. Le contrôleur les insère dans le projet de PV ou la lettre de renvoi et les complète ; l’application n’écrit rien à sa place. Un motif désactivé n’est plus proposé.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RG-CTL-50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délais par sous-type et l’alerte d’examen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sous-type peut avoir son délai par étape de la Commission ; sans réglage, il suit le délai standard. La date de fin annoncée suit ces réglages. Un examen ouvert depuis plus de </a:t>
                      </a:r>
                      <a:pPr indent="0" marL="0">
                        <a:buNone/>
                      </a:pPr>
                      <a:r>
                        <a:rPr lang="en-US" sz="1100" b="1" dirty="0">
                          <a:solidFill>
                            <a:srgbClr val="1B2A3A"/>
                          </a:solidFill>
                          <a:latin typeface="Segoe UI" pitchFamily="34" charset="0"/>
                          <a:ea typeface="Segoe UI" pitchFamily="34" charset="-122"/>
                          <a:cs typeface="Segoe UI" pitchFamily="34" charset="-120"/>
                        </a:rPr>
                        <a:t>cinq jours ouvrés</a:t>
                      </a:r>
                      <a:pPr indent="0" marL="0">
                        <a:buNone/>
                      </a:pPr>
                      <a:r>
                        <a:rPr lang="en-US" sz="1100" dirty="0">
                          <a:solidFill>
                            <a:srgbClr val="1B2A3A"/>
                          </a:solidFill>
                          <a:latin typeface="Segoe UI" pitchFamily="34" charset="0"/>
                          <a:ea typeface="Segoe UI" pitchFamily="34" charset="-122"/>
                          <a:cs typeface="Segoe UI" pitchFamily="34" charset="-120"/>
                        </a:rPr>
                        <a:t> (40 heures ouvrées) alerte le Membre, le Chef de commission et le Président, une fois par passage.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 dossier soumis, encadré du 08/10 (tranche M1) · regles-gestion.md § Le dossier soumis, encadrés du 08/10 (M2) et du 13/10 (R2) · regles-gestion.md § Le dossier soumis, encadré du 08/10 (tranche M3) · regles-gestion.md § Le dossier soumis, encadré du 09/10 (tranche M4) · regles-gestion.md § Le dossier soumis, encadré du 09/10 (tranche M5b)</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contrôle sur les données (1/2)</a:t>
            </a:r>
            <a:endParaRPr lang="en-US" sz="2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RG-CTL-51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Pièces non demandées pour une procédure en ligne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procédure est conduite dans l’application, la validation tracée vaut signature des pièces internes : fiche de présentation (sauf actes de gestion), AGPM et PPM contrôlés, PV de la Commission, PV de validation de la commission d’appel d’offres, marché initial d’un acte de gestion ne sont plus demandés à la PRMP. Le mode (papier ou électronique) est fixé à la création de la procédure ; en papier, toutes les pièces du manuel restent exigées.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RG-CTL-52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écrans figés à la soumission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soumission et resoumission d’un dossier conduit dans l’application, les écrans qui remplacent les pièces (ligne du plan, avis et lettres, commission d’appel d’offres, AMI, séance, évaluation, attribution, acte, sans suite) sont </a:t>
                      </a:r>
                      <a:pPr indent="0" marL="0">
                        <a:buNone/>
                      </a:pPr>
                      <a:r>
                        <a:rPr lang="en-US" sz="1100" b="1" dirty="0">
                          <a:solidFill>
                            <a:srgbClr val="1B2A3A"/>
                          </a:solidFill>
                          <a:latin typeface="Segoe UI" pitchFamily="34" charset="0"/>
                          <a:ea typeface="Segoe UI" pitchFamily="34" charset="-122"/>
                          <a:cs typeface="Segoe UI" pitchFamily="34" charset="-120"/>
                        </a:rPr>
                        <a:t>figés</a:t>
                      </a:r>
                      <a:pPr indent="0" marL="0">
                        <a:buNone/>
                      </a:pPr>
                      <a:r>
                        <a:rPr lang="en-US" sz="1100" dirty="0">
                          <a:solidFill>
                            <a:srgbClr val="1B2A3A"/>
                          </a:solidFill>
                          <a:latin typeface="Segoe UI" pitchFamily="34" charset="0"/>
                          <a:ea typeface="Segoe UI" pitchFamily="34" charset="-122"/>
                          <a:cs typeface="Segoe UI" pitchFamily="34" charset="-120"/>
                        </a:rPr>
                        <a:t> avec leur empreinte et le numéro de la soumission. Immuables, ils se lisent en lecture seule et s’exportent en PDF ; les écrans vivants peuvent évoluer sans changer ce que la Commission a reçu.</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RG-CTL-53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contrôles automatiques à la soumission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soumission et à chaque resoumission, l’application joue les contrôles du manuel classés automatiques pour la famille du dossier. Un contrôle </a:t>
                      </a:r>
                      <a:pPr indent="0" marL="0">
                        <a:buNone/>
                      </a:pPr>
                      <a:r>
                        <a:rPr lang="en-US" sz="1100" b="1" dirty="0">
                          <a:solidFill>
                            <a:srgbClr val="1B2A3A"/>
                          </a:solidFill>
                          <a:latin typeface="Segoe UI" pitchFamily="34" charset="0"/>
                          <a:ea typeface="Segoe UI" pitchFamily="34" charset="-122"/>
                          <a:cs typeface="Segoe UI" pitchFamily="34" charset="-120"/>
                        </a:rPr>
                        <a:t>bloquant</a:t>
                      </a:r>
                      <a:pPr indent="0" marL="0">
                        <a:buNone/>
                      </a:pPr>
                      <a:r>
                        <a:rPr lang="en-US" sz="1100" dirty="0">
                          <a:solidFill>
                            <a:srgbClr val="1B2A3A"/>
                          </a:solidFill>
                          <a:latin typeface="Segoe UI" pitchFamily="34" charset="0"/>
                          <a:ea typeface="Segoe UI" pitchFamily="34" charset="-122"/>
                          <a:cs typeface="Segoe UI" pitchFamily="34" charset="-120"/>
                        </a:rPr>
                        <a:t> non conforme refuse la soumission en nommant ce qui manque et les valeurs constatées ; les autres résultats sont enregistrés, lisibles par la Commission et la PRMP.</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RG-CTL-54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contrôles du Membre et la levée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Membre attributaire ajoute ses propres contrôles (point de grille ou règle, résultat, observation obligatoire s’il constate une non-conformité). Le dernier résultat posé sur une règle fait foi : il lève une non-conformité en posant « conforme » ou « sans objet », motivé. Une non-conformité non levée interdit l’avis favorable sans réserve et figure à l’annexe du PV.</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RG-CTL-55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Documents d’évaluation signés et quorum</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Premiers contrôles bloquants, sur le dossier de marché conduit dans l’application : les documents d’évaluation sont signés (PV d’ouverture, rapport — manuel 2-III-A P5) et le </a:t>
                      </a:r>
                      <a:pPr indent="0" marL="0">
                        <a:buNone/>
                      </a:pPr>
                      <a:r>
                        <a:rPr lang="en-US" sz="1100" b="1" dirty="0">
                          <a:solidFill>
                            <a:srgbClr val="1B2A3A"/>
                          </a:solidFill>
                          <a:latin typeface="Segoe UI" pitchFamily="34" charset="0"/>
                          <a:ea typeface="Segoe UI" pitchFamily="34" charset="-122"/>
                          <a:cs typeface="Segoe UI" pitchFamily="34" charset="-120"/>
                        </a:rPr>
                        <a:t>quorum</a:t>
                      </a:r>
                      <a:pPr indent="0" marL="0">
                        <a:buNone/>
                      </a:pPr>
                      <a:r>
                        <a:rPr lang="en-US" sz="1100" dirty="0">
                          <a:solidFill>
                            <a:srgbClr val="1B2A3A"/>
                          </a:solidFill>
                          <a:latin typeface="Segoe UI" pitchFamily="34" charset="0"/>
                          <a:ea typeface="Segoe UI" pitchFamily="34" charset="-122"/>
                          <a:cs typeface="Segoe UI" pitchFamily="34" charset="-120"/>
                        </a:rPr>
                        <a:t> de la commission d’appel d’offres est atteint avec son président ou son représentant (2-III-C P3 / P14). Le quorum, réglé par l’Administrateur (majorité par défaut), est imprimé au PV et au rapport.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 dossier soumis, encadrés du 13/10 (R2, arbitrages Q2/Q14) et (R8, arbitrage Q1) · regles-gestion.md § Le dossier soumis, encadré du 13/10 (tranche R4) ; manuel révisé § 15, T4 · regles-gestion.md § Le dossier soumis, encadré du 13/10 (tranche R5) · regles-gestion.md § Le dossier soumis, encadré du 13/10 (tranche R5) ; § remise électronique, encadré du 10/10 (tranche R1, arbitrage Q5)</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59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contrôle sur les données (2/2)</a:t>
            </a:r>
            <a:endParaRPr lang="en-US" sz="2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RG-CTL-56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projet d’avis joint d’office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validation de la fiche, l’application produit le </a:t>
                      </a:r>
                      <a:pPr indent="0" marL="0">
                        <a:buNone/>
                      </a:pPr>
                      <a:r>
                        <a:rPr lang="en-US" sz="1100" b="1" dirty="0">
                          <a:solidFill>
                            <a:srgbClr val="1B2A3A"/>
                          </a:solidFill>
                          <a:latin typeface="Segoe UI" pitchFamily="34" charset="0"/>
                          <a:ea typeface="Segoe UI" pitchFamily="34" charset="-122"/>
                          <a:cs typeface="Segoe UI" pitchFamily="34" charset="-120"/>
                        </a:rPr>
                        <a:t>projet</a:t>
                      </a:r>
                      <a:pPr indent="0" marL="0">
                        <a:buNone/>
                      </a:pPr>
                      <a:r>
                        <a:rPr lang="en-US" sz="1100" dirty="0">
                          <a:solidFill>
                            <a:srgbClr val="1B2A3A"/>
                          </a:solidFill>
                          <a:latin typeface="Segoe UI" pitchFamily="34" charset="0"/>
                          <a:ea typeface="Segoe UI" pitchFamily="34" charset="-122"/>
                          <a:cs typeface="Segoe UI" pitchFamily="34" charset="-120"/>
                        </a:rPr>
                        <a:t> d’avis spécifique (ou de lettre d’invitation), « PROJET » en filigrane, et le joint d’office au dossier. Un projet ne lance pas la ligne du plan. Pendant la transition, l’imprimé du SIGMP reste accepté en pièce facultative ; chaque document produit porte en pied la décision d’équivalence, ou « équivalence SIGMP en attente ».</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RG-CTL-57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règle trop écartée s’éteint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taux d’écartement de chaque règle du pré-contrôle se lit en compteurs seulement. Un signalement </a:t>
                      </a:r>
                      <a:pPr indent="0" marL="0">
                        <a:buNone/>
                      </a:pPr>
                      <a:r>
                        <a:rPr lang="en-US" sz="1100" b="1" dirty="0">
                          <a:solidFill>
                            <a:srgbClr val="1B2A3A"/>
                          </a:solidFill>
                          <a:latin typeface="Segoe UI" pitchFamily="34" charset="0"/>
                          <a:ea typeface="Segoe UI" pitchFamily="34" charset="-122"/>
                          <a:cs typeface="Segoe UI" pitchFamily="34" charset="-120"/>
                        </a:rPr>
                        <a:t>levé</a:t>
                      </a:r>
                      <a:pPr indent="0" marL="0">
                        <a:buNone/>
                      </a:pPr>
                      <a:r>
                        <a:rPr lang="en-US" sz="1100" dirty="0">
                          <a:solidFill>
                            <a:srgbClr val="1B2A3A"/>
                          </a:solidFill>
                          <a:latin typeface="Segoe UI" pitchFamily="34" charset="0"/>
                          <a:ea typeface="Segoe UI" pitchFamily="34" charset="-122"/>
                          <a:cs typeface="Segoe UI" pitchFamily="34" charset="-120"/>
                        </a:rPr>
                        <a:t> (le plan a été corrigé) est une réussite et ne compte pas dans le taux. Le taux n’est signalé qu’à partir de cinq signalements ; une règle s’éteint sans redéploiement, et les signalements écartés gardent leur motif.</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 dossier soumis, encadrés du 13/10 (tranches R3a et R3b, arbitrage Q3) · regles-gestion.md § Signalement du pré-contrôle : écartable, motivé, jamais effacé (taux d’écartement)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60</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B</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B — La référence des données</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objets que l’application crée ou modifie, et toutes leurs informations : nom, type et valeurs, caractère obligatoire, description tirée du serveur.</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03 · Contrôler · 61</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 (1/3)</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résultat d’un contrôle (A automatique, B du contrôleur)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t_controle_resultat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10</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résultat de contrôle d'un dossier à une soumission : automatique (auteur = SERVEUR, règle codée, valeurs constatées) ou posé par un contrôleur (matricule, point de grille ou règle, observation obligatoire si non conforme).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L’écran figé à la soumission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t_dossier_instantane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instantané figé à la soumission d'un dossier : le JSON du DTO de lecture d'un écran (SEANCE, EVALUATION, AMI, ATTRIBUTION, CAO, AVIS, PLAN, ACTE, DSS) tel qu'il était servi à cet instant, son empreinte SHA-256, le numéro de la soumission (1 à la…</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L’alerte d’examen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t_alerte_examen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L'alerte de dépassement d'un passage en examen : une seule par passage, repéré par le dossier et l'entrée dans l'étape.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pièce exigée d’un sous-type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t_piece_sous_type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type de pièce exigé pour un sous-type de dossier : son obligation, son ordre, et sa condition sur la catégorie de la fiche (FOURNITURES_SERVICES, TRAVAUX, PRESTATIONS_INTELLECTUELLES) et sur la forme (CONTRAT_CADRE, ou AUTRE : toute autre forme).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motif-type de la conclusion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tr_motif_type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10</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motif-type de la conclusion : motif de renvoi (lettre de demande de compléments) ou d'avis défavorable, commun à une famille (idSousType nul) ou propre à un sous-type.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délai d’examen d’un sous-type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tr_delai_sous_type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délai d'une étape surchargé pour un sous-type de dossier (tr_delai_sous_type) ; sans ligne, le sous-type prend le délai standard de l'étape.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recevabilité d’une pièce au dépôt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t_verification_piece_depot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Vérification PIÈCE PAR PIÈCE des pièces jointes par le SECRÉTAIRE avant enregistrement de la réception (contrôle de complétude).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réception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t_reception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10</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dispatch</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t_dispatch</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10</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copie d’un dossier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t_copie_dossier</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9</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L’examen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t_examen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4</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réponse à un point de contrôle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t_examen_detail</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62</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 (2/3)</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L’examen d’une pièce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t_examen_piece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Entité JPA mappée sur t_examen_piece (table additive ddl-auto) : résultat d'examen d'une pièce jointe du dossier, une par une (miroir de ExamenDetail pour les lignes de marché). conforme = RAS ; sinon observation porte le constat.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procès-verbal d’examen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t_pv_examen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27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navette du PV</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t_pv_navette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L’observation du PV</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t_observation_pv</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PÉRIMÈTRE FIGÉ des observations transmises à la PRMP : snapshot des observations de l'EXAMEN telles qu'arrêtées dans le PV (lignes « Au lieu de / Lire » des points non conformes + observations des pièces non conformes), généré à la signature du PV FAVR.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L’observation de contrôle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t_observation_controle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suivi d’une observation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t_suivi_observation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HISTORIQUE append-only des décisions du vérificateur sur une observation du périmètre figé ObservationPv : une ligne par décision et par itération (LEVÉE = satisfaite, définitive ;</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vérification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t_verification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lettre de renvoi</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t_lettre_renvoi</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lecture d’une lettre de renvoi</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t_lettre_renvoi_lue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transmission à SIGMP</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t_transmission_sigmp</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Transmission du sens de la décision de la Commission vers SIGMP (application tierce, interop PRS 2.0 ↔ SIGMP).</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suspension (dossier chez la PRMP)</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t_suspension_dossier</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L’instantané d’une ligne avant rectification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t_snapshot_rectif_ligne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23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Instantané pré-correction d'une ligne de marché, figé au premier PUT /api/saisies/ppm/{id} d'un cycle de rectification (dossier EN_ATTENTE_DECISION_PRMP).</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63</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 (3/3)</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L’instantané d’un lot avant rectification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t_snapshot_rectif_lot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lot d'une ligne figée (SnapshotRectifLigne), copié de Lot au moment du gel.</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L’instantané d’une prévision avant rectification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t_snapshot_rectif_prevision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date prévisionnelle (processus idCapm) d'une ligne figée (SnapshotRectifLigne), copiée de MarchePrevision au moment du gel.</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L’instantané d’un bénéficiaire avant rectification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t_snapshot_rectif_beneficiaire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service bénéficiaire d'une ligne figée (SnapshotRectifLigne), copié de ServiceBeneficiaire au moment du gel.</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64</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(1/12)</a:t>
            </a:r>
            <a:endParaRPr lang="en-US" sz="26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résultat d’un contrôle (A automatique, B du contrôleur)  ·  t_controle_resultat  ·  10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REFERENCE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L'auteur d'un contrôle automatique. */ public static final String SERVEUR = "SERVEUR"; @Id @GeneratedValue(strategy = GenerationType.IDENTITY) @Column(name = "ID_CONTROLE") private Long idControle; @Column(name = "ID_DOSSIER", nullable = false) private Integer idDossier; @Column(name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ID_POINT_CTRL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point contrôle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point de grille d'un contrôle B, ou null.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REGLE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Règle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code de la règle (DOCUMENTS_EVALUATION_SIGNES…), ou POINT_ pour un point de grille.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VALEURS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Les valeurs constatées, en JSON.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RESULTAT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Résultat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BLOQUANT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Bloquant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AUTEUR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SERVEUR, ou le matricule du Membre.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DATE_CONTROLE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contrôle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L’écran figé à la soumission  ·  t_dossier_instantane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ID_INSTANTANE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instantane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NUMERO_SOUMISSION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soumission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ECRAN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Ecran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CONTENU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Contenu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JSON du DTO de lecture, tel que servi à la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EMPREINTE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Empreinte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SHA-256 du contenu, en hexadécimal.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FIGE_LE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Fige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FIGE_PAR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Fige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L’alerte d’examen  ·  t_alerte_examen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ID_ALERTE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alerte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65</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(2/12)</a:t>
            </a:r>
            <a:endParaRPr lang="en-US" sz="2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ENTREE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Entrée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ECOULE_HEURES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Ecoule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ALERTE_LE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Alerte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pièce exigée d’un sous-type  ·  t_piece_sous_type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ID_TYPE_PIECE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type pièce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ID_SOUS_TYPE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sous 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OBLIGATOIRE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Obligatoire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ORDRE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CATEGORIE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Catégorie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FORME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CONDITION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motif-type de la conclusion  ·  tr_motif_type  ·  10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ID_TYPE_DOSSIER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type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Famille, obligatoire.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ID_SOUS_TYPE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sous 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Nul : commun à la famille.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NATURE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Nature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RENVOI, AVIS_DEFAVORABLE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RENVOI ou AVIS_DEFAVORABLE.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 200 : le nom du motif dans la 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TEXTE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Texte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ORDRE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CATEGORIE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Catégorie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Condition : catégorie de la fiche (nul : toutes).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FORME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Condition : CONTRAT_CADRE, AUTRE (nul : toutes formes).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ACTIF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Absent à l'écriture : actif à la création, inchangé à la modification. Désactivé : plus servi à l'examen.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délai d’examen d’un sous-type  ·  tr_delai_sous_type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ID_SOUS_TYPE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sous 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66</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(3/12)</a:t>
            </a:r>
            <a:endParaRPr lang="en-US" sz="2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DELAI_HEURES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idSousType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sous 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recevabilité d’une pièce au dépôt  ·  t_verification_piece_depot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ID_VERIF_PIECE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verif pièce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ID_TYPE_PIECE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type pièce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Type de pièce attendu (référentiel t_type_piece_jointe).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ID_PIECE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pièce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Pièce déposée vérifiée (t_piece_jointe_dossier) — null si MANQUANTE.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Décision : CONFORME / NON_CONFORME / MANQUANTE.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Observation libre (motif du rejet / nature du manque).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IM_SECRETAIRE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secrétaire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Secrétaire auteur de la décision (matricule, identité JWT).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DATE_VERIF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verif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réception  ·  t_reception  ·  10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ID_RECEPTION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réception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PK allouée par le serveur au POST (id client ignoré, non envoyé) ; présente en réponse, utilisée par le dispatch.</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NUM_PASSAGE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passage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TYPE_PASSAGE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 passage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IM_CTRL_RECEPT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contrôle réception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DATE_RECEPTION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réception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 de réception par le secrétariat (TIMESTAMP).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COMPLET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Complet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true → le dossier passe en PRET_DISPATCH (effet [Auto]).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ID_RECEPTION_PREC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réception prec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REFERENCE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(Règle ajoutée) Référence officielle de la réception — snapshot immuable de la forme /// figé au POST.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67</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(4/12)</a:t>
            </a:r>
            <a:endParaRPr lang="en-US" sz="2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dispatch  ·  t_dispatch  ·  10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ID_DISPATCH</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dispatch</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ID_RECEPTION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réception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IM_CTRL_DISPATCH</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contrôle dispatch</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IM_CTRL_CC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contrôle cc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IM_CTRL_MEMBRE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contrôle membre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DATE_DISPATCH</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dispatch</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 du dispatch (TIMESTAMP).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DATE_CTRL_ASSIGNE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contrôle assigne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INSTRUCTIONS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Instructions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INTERIM_DISPATCH</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Intérim dispatch</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Président → false ; CC dans sa localité → false ; CC hors localité → true (sinon 409). Forcé à false sous intérim désigné.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ID_INTERIM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intérim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Non nul quand le dispatch (ou la réattribution) a été posé par un intérimaire désigné (t_interim). imCtrlDispatch porte alors le titulaire, pas l'intérimaire (ADR-0008) : c'est le dispatcheur que l'aval reconnaît — visa, retrait, discriminant de la navette à deux niveaux.</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copie d’un dossier  ·  t_copie_dossier  ·  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ID_COPIE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copie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ID_DISPATCH</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dispatch</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IM_DESTINATAIRE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destinataire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TYPE_COPIE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 copie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DATE_TRANSMISSION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transmission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ACCUSE_RECEPTION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Accusé réception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DATE_ACCUSE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accusé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L’examen  ·  t_examen  ·  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ID_EXAMEN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examen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68</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(5/12)</a:t>
            </a:r>
            <a:endParaRPr lang="en-US" sz="2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ID_DISPATCH</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dispatch</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IM_CTRL_MEMBRE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contrôle membre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DATE_EXAMEN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examen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réponse à un point de contrôle  ·  t_examen_detail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ID_DETAIL_EXAMEN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 examen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ID_EXAMEN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examen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Ligne de marché examinée (FK t_marche, colonne additive ddl-auto, nullable) : résultat porté par ligne pour un point de portée LIGNE (un ExamenDetail par marché × point) ; null pour un point de portée DOSSIER (inter-lignes) et pour les examens historiques (résultat au niveau dossier).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ID_PT_CONTROLE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point contrôle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CONFORME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Conforme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OBS_SI_NON_CONFORME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 si non conforme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L’examen d’une pièce  ·  t_examen_piece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ID_EXAMEN_PIECE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examen pièce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ID_EXAMEN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examen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ID_PIECE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pièce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Pièce jointe examinée (t_piece_jointe_dossier.ID_PIECE).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CONFORME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Conforme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RAS = true ; sinon observation porte le constat.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Observation si non conforme (texte libre).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procès-verbal d’examen  ·  t_pv_examen  ·  27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ID_PV</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PV</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ID_EXAMEN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examen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ID_AVIS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avis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Nullable : l'avis n'est posé qu'à la clôture de navette (accepter).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IM_CTRL_PRESIDENT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contrôle président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IM_CTRL_CC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contrôle cc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IM_CTRL_MEMBRE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contrôle membre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69</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(6/12)</a:t>
            </a:r>
            <a:endParaRPr lang="en-US" sz="2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SYNTHESE_OBSERVATIONS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Synthese observations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STATUT_PV</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Statut PV</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NB_NAVETTES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navettes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DATE_SOUMISSION_INITIALE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soumission initiale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DATE_ACCEPTATION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acceptation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DATE_SIGNATURE_PRESIDENT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signature président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DATE_SIGNATURE_CC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signature cc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DATE_SIGNATURE_MEMBRE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signature membre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DATE_PV</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PV</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REFERENCE_PV</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PV</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REFE_PV</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Refe PV</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Référence dérivée du dossier (refeDossier avec /PV avant l'année) — auto-générée à la création, unique.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ID_SECRETAIRE_SEANCE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secrétaire séance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Vérificateur désigné Secrétaire de séance à la soumission de l'examen (FK tr_controleur).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IM_MEMBRE_COSIGNATAIRE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membre co signataire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Membre désigné par le Président ou le Chef de commission au moment de signer, seul habilité à poser la part Membre.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VISE_PAR_INTERIM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Vise par intérim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Vrai si le visa a été posé par un P/CC autre que le dispatcheur, justifié par la note ci-dessous.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ID_INTERIM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intérim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Note d'intérim (PDF) justifiant l'absence du dispatcheur — stockée en base, comme les pièces jointes et non comme le PDF du PV : le visa étant atomique, un rollback ne doit pas laisser de fichier orphelin sur le FSX. / @Column(name = "NOTE_INTERIM") private byte[] noteInterim; @Column(name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INTERIM_DE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Intérim 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titulaire suppléé au visa (dispatcheur, ou Président sur deux niveaux) ; nul hors intérim désigné.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NIVEAU_NAVETTE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Niveau navette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Étage courant du projet dans la navette Président ↔ CC ↔ Membre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IM_CC_COSIGNATAIRE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cc co signataire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Chef de commission désigné par le Président au visa, appelé à poser SA part de signature.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CHEMIN_DOCUMENT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Chemin 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Chemin du PDF du Projet de PV sur le FSX (renseigné si le PV est éligible à la génération).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70</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(7/12)</a:t>
            </a:r>
            <a:endParaRPr lang="en-US" sz="2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DATE_ARCHIVAGE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archivage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d'ARCHIVAGE du PV par l'Assistant contrôleur (l'archivage clôt le dossier).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IM_ARCHIVEUR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archiveur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Assistant contrôleur archiveur (matricule, identité JWT).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navette du PV  ·  t_pv_navette  ·  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ID_NAVETTE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navette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ID_PV</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PV</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NUM_NAVETTE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navette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SENS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IM_ACTEUR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acteur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COMMENTAIRE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Commentaire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L’observation du PV  ·  t_observation_pv  ·  17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ID_OBSERVATION_PV</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observation PV</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ID_PV</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PV</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PV signé (FAVR) dont les observations constituent le périmètre.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SOURCE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Origine : POINT (grille de contrôle) ou PIECE (pièce jointe).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ID_OBSERVATION_CTRL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observation contrôle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Ligne d'observation d'origine (t_observation_controle.ID_OBSERVATION) — POINT seulement.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ID_EXAMEN_PIECE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examen pièce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Résultat de pièce d'origine (t_examen_piece.ID_EXAMEN_PIECE) — PIECE seulement.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ID_DETAIL_EXAMEN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 examen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Ligne d'examen visée (t_examen_detail.ID_DETAIL_EXAMEN), figée au snapshot pour toute observation POINT, avec ou sans ligne détaillée « Au lieu de / Lire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CHAMP_CIBLE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Champ cible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Cellule visée, recopiée de la ligne d'observation (t_observation_controle) au snapshot ; null pour une PIECE ou un point sans ligne détaillée.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ID_MARCHE_CIBLE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marché cible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Ligne de marché visée (t_marche.ID_DETAIL), recopiée au snapshot.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ID_BENEF_CIBLE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bénéficiaire cible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Bénéficiaire visé (t_service_beneficiaire.ID_BENEF), recopié au snapshot.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Fiche marché visée, recopiée de la ligne d'observation au snapshot.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CHAMP_FICHE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Champ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Clé de l'information de la fiche visée (CODE ou CODEn), recopiée.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71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(8/12)</a:t>
            </a:r>
            <a:endParaRPr lang="en-US" sz="2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LIBELLE_CHAMP_FICHE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 champ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Libellé du champ, figé à l'observation et recopié.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VALEUR_CHAMP_FICHE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Valeur champ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Valeur observée, figée à l'observation et recopiée.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VERSION_FICHE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Version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version de la fiche dont la valeur a été figée, recopiée ; null si inconnue.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Libellé FIGÉ de l'observation (contexte + demande), tel qu'arrêté au PV.</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ORDRE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L’observation de contrôle  ·  t_observation_controle  ·  13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ID_OBSERVATION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observation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PK auto-générée (réponse, IDENTITY).</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Point de contrôle concerné (FK vers t_examen_detail.ID_DETAIL_EXAMEN).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AU_LIEU_DE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 lieu 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ORDRE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Ordre de saisie (ASC).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CHAMP_CIBLE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Champ cible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 : NATURE, OBJET, MONT_ESTIM, NOUV_MONT_ESTIM, MODE, FINANCEMENT, LANCEMENT, OUVERTURE, ATTRIBUTION, SOA, COMPTE, MONT_BENEF, NOUV_MONT_BENEF, DEROGATOIRES_OBJET…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Code de la cellule du document visée par la ligne ; null = aucune cellule, comportement antérieur.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ID_MARCHE_CIBLE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marché cible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Ligne de marché visée (t_marche.ID_DETAIL), sans FK ; null sans champ.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ID_BENEF_CIBLE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bénéficiaire cible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Bénéficiaire visé (t_service_beneficiaire.ID_BENEF), colonnes par bénéficiaire seulement.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Fiche marché visée (t_dossier_mec.ID_DMC) : celle du dossier examiné, validée par ObservationFicheValidateur.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CHAMP_FICHE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Champ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Clé de l'information visée : B04-VO-01, ou B05-GS-032 pour le lot 2.</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LIBELLE_CHAMP_FICHE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 champ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Libellé du champ au référentiel, figé quand l'observation est posée.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VALEUR_CHAMP_FICHE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Valeur champ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Valeur observée, figée quand l'observation est posée (la fiche peut être révisée ensuite).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VERSION_FICHE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Version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version de la fiche dont la valeur a été figée ; null si inconnue (avant V49).</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suivi d’une observation  ·  t_suivi_observation  ·  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ID_SUIVI</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suivi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72</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(9/12)</a:t>
            </a:r>
            <a:endParaRPr lang="en-US" sz="26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ID_OBSERVATION_PV</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observation PV</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ITERATION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Iteration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Numéro d'itération du cycle rectification / vérification (1, 2,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Décision : LEVEE ou MAINTENUE.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PRECISION_VERIF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Précision du vérificateur sur ce qui manque (MAINTENUE seulement, facultative).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IM_VERIFICATEUR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vérificateur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DATE_DECISION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vérification  ·  t_verification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ID_VERIFICATION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vérification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Auto-généré côté serveur (IDENTITY) ; non envoyé à la création.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ID_RECEPTION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réception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ID_PV</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PV</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IM_CTRL_VERIF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contrôle verif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DATE_VERIF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verif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OBS_LEVEES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 levees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true → dossier CLOTURE + notification publication (effet [Auto]).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MOTIF_RECTIF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rectif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Règle ajoutée — motif de rectification saisi par la PRMP à la resoumission (visible côté vérificateur).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lettre de renvoi  ·  t_lettre_renvoi  ·  13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ID_LETTRE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lettre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PK auto-générée (réponse).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ID_EXAMEN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examen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Lecture seule (dérivé de l'examen).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REF_LETTRE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lettre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Référence officielle, générée serveur : ///LR/.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OBJET_LETTRE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lettre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CORPS_LETTRE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Corps lettre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Corps libre de la lettre de renvoi (TEXT, nullable).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DATE_EXAMEN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examen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d'examen du dossier (reprise de l'examen).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DATE_LETTRE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lettre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de la lettre, posée serveur (jour de la soumission de l'examen).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BROUILLON / SOUMIS / SIGNE (forcé serveur).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73</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(10/12)</a:t>
            </a:r>
            <a:endParaRPr lang="en-US" sz="26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IM_SIGNATAIRE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signataire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IM du signataire (CC ou Président), posé à la signature depuis le JWT.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CHEMIN_DOCUMENT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Chemin 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Document PDF de la lettre signée (bytea ; H2 : grand varbinary).</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DATE_ARCHIVAGE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archivage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d'ARCHIVAGE de la lettre par l'Assistant contrôleur (même circuit que les PV).</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IM_ARCHIVEUR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archiveur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Assistant contrôleur archiveur (matricule, identité JWT).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lecture d’une lettre de renvoi  ·  t_lettre_renvoi_lue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ID_LECTURE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lecture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ID_LETTRE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lettre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ID_PRMP</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Périmètre de tutelle de la trace (PRMP du dossier) — conservé, mais ne porte plus l'unicité.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LOGIN_AGENT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Login agent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Agent auteur de la lecture : login du compte (t_compte_auth.LOGIN, claim sub).</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DATE_LECTURE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lecture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transmission à SIGMP  ·  t_transmission_sigmp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ID_TRANSMISSION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transmission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ID_PV</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PV</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SENS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Sens transmis : APPROUVE (FAV, ou FAVR après levée) / NON_APPROUVE (DEF, NSP).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LEVEE_OBSERVATIONS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Levée observations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Vrai si la transmission porte AUSSI la levée des observations (cas 2, fin de boucle FAVR).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DATE_TRANSMISSION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transmission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IM_VERIFICATEUR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vérificateur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Vérificateur auteur de la transmission (matricule, identité JWT).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STATUT_ENVOI</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Statut envoi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État d'envoi vers SIGMP : ENREGISTREE (interop réelle à brancher plus tard).</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suspension (dossier chez la PRMP)  ·  t_suspension_dossier  ·  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(LONGUEUR_STATUT)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Longueur de STATUT, lue aussi par la garde prealable du chronometrage. */ public static final int LONGUEUR_STATUT = 40; @Id @Column(name = "ID_SUSPENSION", nullable = false) private Integer idSuspension; @Column(name = "ID_DOSSIER", nullable = false) private Integer idDossier; /** Statut suspensif…</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DEBUT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Début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74</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(11/12)</a:t>
            </a:r>
            <a:endParaRPr lang="en-US" sz="26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FIN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Fin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Nul tant que la PRMP n'a pas rendu la main.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L’instantané d’une ligne avant rectification  ·  t_snapshot_rectif_ligne  ·  23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ID_SNAPSHOT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snapshot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ID_VERSION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version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Version archivée à laquelle la ligne appartient (t_version_dossier.ID_VERSION).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CYCLE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Cycle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Cycle de rectification (resoumissions du dossier + 1 au moment du gel).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PK de la ligne de marché (t_marche.ID_DETAIL) — stable en rectification (structure figée).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ID_LIGNE_ORIGINE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ligne origine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DESIGNATION_MARCHE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MONT_ESTIM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estimatif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ANCIEN_MONT_ESTIM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Ancien montant estimatif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NOUV_MONT_ESTIM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Nouveau montant estimatif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NUM_COMPTE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compte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FINANCEMENT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Financement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ID_NATURE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nature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ID_MODE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mode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FORME_MARCHE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 de l'énumération FormeMarche au moment du gel (null si non renseignée).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SUPPRIMEE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Supprimée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JUSTIF_MODE_DEROGATOIRE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Justification mode dérogatoire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JUSTIF_DELAI_AMENAGE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Justification délai aménagé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EMP_BENEFICIAIRES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 beneficiaires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Empreintes normalisées des collections au moment du gel (mêmes formats que le diff des versions).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EMP_LOTS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 lots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EMP_PROCESSUS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 processus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75</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03 CONTRÔLER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(12/12)</a:t>
            </a:r>
            <a:endParaRPr lang="en-US" sz="26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DATE_SNAPSHOT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snapshot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L’instantané d’un lot avant rectification  ·  t_snapshot_rectif_lot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ID_SNAPSHOT_LOT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snapshot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ID_SNAPSHOT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snapshot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DESIGNATION_LOT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MONT_LOT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QTE_LOT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Quantité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UNITE_LOT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Unité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L’instantané d’une prévision avant rectification  ·  t_snapshot_rectif_prevision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ID_SNAPSHOT_PREV</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snapshot prévu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ID_SNAPSHOT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snapshot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ID_CAPM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CAPM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DATE_DEBUT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début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DATE_FIN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fin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L’instantané d’un bénéficiaire avant rectification  ·  t_snapshot_rectif_beneficiaire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ID_SNAPSHOT_BENEF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snapshot bénéficiaire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ID_SNAPSHOT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snapshot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SOA_CODE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SOA 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NUM_COMPTE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compte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ANC_MONT_BENEF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Anc montant bénéficiaire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NOUV_MONT_BENEF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Nouveau montant bénéficiaire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03 · Contrôler · 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Étape 03 · Contrôler</dc:title>
  <dc:subject>PptxGenJS Presentation</dc:subject>
  <dc:creator>PRS 2.0</dc:creator>
  <cp:lastModifiedBy>PRS 2.0</cp:lastModifiedBy>
  <cp:revision>1</cp:revision>
  <dcterms:created xsi:type="dcterms:W3CDTF">2026-10-14T12:25:38Z</dcterms:created>
  <dcterms:modified xsi:type="dcterms:W3CDTF">2026-10-14T12:25:38Z</dcterms:modified>
</cp:coreProperties>
</file>