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deck-eval__c01-non-ouverte.jpg (« L’évaluation, avant son ouverture »).
Raison : l’état montré ne se reproduit plus sur la base du 14/10 ; l’écran n’a pas changé sur ce qu’il montre.
Règles appliquées (annexe A) : RG-EVA-01, RG-EVA-02.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deck-eval__c02-entree-cao.jpg (« L’entrée depuis l’espace de la commission »).
Raison : l’état montré ne se reproduit plus sur la base du 14/10 ; l’écran n’a pas changé sur ce qu’il montre.
Règles appliquées (annexe A) : RG-EVA-02, RG-EVA-04.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deck-eval__c03-declaration.jpg (« La déclaration préalable »).
Raison : l’état montré ne se reproduit plus sur la base du 14/10 ; l’écran n’a pas changé sur ce qu’il montre.
Règles appliquées (annexe A) : RG-EVA-03.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08-eval-40.
Écran : /procedure/40/evaluation — compte : PRMP.
Noms, matricules, initiales, photos et adresses réelles masqués dans la page avant la capture.
Règles appliquées (annexe A) : RG-EVA-01, RG-EVA-04, RG-EVA-07.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08-eval-44-prelim.
Écran : /cao/procedures/44/evaluation — compte : membre de la commission « démonstration ».
Noms, matricules, initiales, photos et adresses réelles masqués dans la page avant la capture.
Règles appliquées (annexe A) : RG-EVA-05, RG-EVA-08, RG-EVA-09, RG-EVA-10, RG-EVA-11.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deck-eval__c04-precision-prmp.jpg (« Demander une précision au candidat »).
Raison : l’état montré ne se reproduit plus sur la base du 14/10 ; l’écran n’a pas changé sur ce qu’il montre.
Règles appliquées (annexe A) : RG-EVA-12, RG-EVA-13.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deck-eval__c05-candidat-repond.jpg (« Répondre depuis « Mes offres » »).
Raison : l’état montré ne se reproduit plus sur la base du 14/10 ; l’écran n’a pas changé sur ce qu’il montre.
Règles appliquées (annexe A) : RG-EVA-12.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08-eval-44-montant.
Écran : /cao/procedures/44/evaluation — compte : membre de la commission « démonstration ».
Noms, matricules, initiales, photos et adresses réelles masqués dans la page avant la capture.
Règles appliquées (annexe A) : RG-EVA-16, RG-EVA-19.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08-eval-44-montant-detail.
Écran : /cao/procedures/44/evaluation — compte : membre de la commission « démonstration ».
Noms, matricules, initiales, photos et adresses réelles masqués dans la page avant la capture.
Règles appliquées (annexe A) : RG-EVA-14, RG-EVA-15, RG-EVA-17, RG-EVA-18, RG-EVA-35.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08-eval-44-anormales.
Écran : /cao/procedures/44/evaluation — compte : membre de la commission « démonstration ».
Noms, matricules, initiales, photos et adresses réelles masqués dans la page avant la capture.
Règles appliquées (annexe A) : RG-EVA-20, RG-EVA-21.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08-eval-40-anormales.
Écran : /procedure/40/evaluation — compte : PRMP.
Noms, matricules, initiales, photos et adresses réelles masqués dans la page avant la capture.
Règles appliquées (annexe A) : RG-EVA-21, RG-EVA-22, RG-EVA-36.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08-eval-44-postqualif.
Écran : /cao/procedures/44/evaluation — compte : membre de la commission « démonstration ».
Noms, matricules, initiales, photos et adresses réelles masqués dans la page avant la capture.
Règles appliquées (annexe A) : RG-EVA-23, RG-EVA-24, RG-EVA-25, RG-EVA-26.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08-eval-44-rapport.
Écran : /cao/procedures/44/evaluation — compte : membre de la commission « démonstration ».
Noms, matricules, initiales, photos et adresses réelles masqués dans la page avant la capture.
Règles appliquées (annexe A) : RG-EVA-27, RG-EVA-29, RG-EVA-30, RG-EVA-38.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deck-eval__c16-signature-membre.jpg (« Signer, avec une observation »).
Raison : l’état montré ne se reproduit plus sur la base du 14/10 ; l’écran n’a pas changé sur ce qu’il montre.
Règles appliquées (annexe A) : RG-EVA-29.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rapport__page-001.jpg (« Le rapport, sur le plan du guide »).
Raison : l’état montré ne se reproduit plus sur la base du 14/10 ; l’écran n’a pas changé sur ce qu’il montre.
Règles appliquées (annexe A) : RG-EVA-28.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09-attr-44.
Écran : /procedure/44/evaluation — compte : PRMP.
Noms, matricules, initiales, photos et adresses réelles masqués dans la page avant la capture.
Règles appliquées (annexe A) : RG-EVA-37.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pi-recette__t01-grille-membre-ecart.jpg (« L’évaluation technique : la grille d’un membre »).
Raison : l’état montré ne se reproduit plus sur la base du 14/10 ; l’écran n’a pas changé sur ce qu’il montre.
Règles appliquées (annexe A) : RG-EVA-31.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pi-recette__t02-classement-technique.jpg (« Le classement technique »).
Raison : l’état montré ne se reproduit plus sur la base du 14/10 ; l’écran n’a pas changé sur ce qu’il montre.
Règles appliquées (annexe A) : RG-EVA-31.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08-eval-50-cao.
Écran : /cao/procedures/50/evaluation — compte : membre de la commission « démonstration ».
Noms, matricules, initiales, photos et adresses réelles masqués dans la page avant la capture.
Règles appliquées (annexe A) : RG-EVA-32.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pi-recette__g01-saisie-financiere.jpg (« La saisie d’une enveloppe financière »).
Raison : l’état montré ne se reproduit plus sur la base du 14/10 ; l’écran n’a pas changé sur ce qu’il montre.
Règles appliquées (annexe A) : RG-EVA-32, RG-EVA-35.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pi-recette__n02-negociation-a-conclure.jpg (« La négociation à conclure »).
Raison : l’état montré ne se reproduit plus sur la base du 14/10 ; l’écran n’a pas changé sur ce qu’il montre.
Règles appliquées (annexe A) : RG-EVA-33.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08-eval-50-rapport.
Écran : /procedure/50/evaluation — compte : Administrateur.
Noms, matricules, initiales, photos et adresses réelles masqués dans la page avant la capture.
Règles appliquées (annexe A) : RG-EVA-33, RG-EVA-34.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812800"/>
            <a:ext cx="10159746" cy="317500"/>
          </a:xfrm>
          <a:prstGeom prst="rect">
            <a:avLst/>
          </a:prstGeom>
          <a:noFill/>
          <a:ln/>
        </p:spPr>
        <p:txBody>
          <a:bodyPr wrap="square" rtlCol="0" anchor="ctr"/>
          <a:lstStyle/>
          <a:p>
            <a:pPr indent="0" marL="0">
              <a:buNone/>
            </a:pPr>
            <a:r>
              <a:rPr lang="en-US" sz="1400" b="1" spc="300" kern="0" dirty="0">
                <a:solidFill>
                  <a:srgbClr val="E3AE2E"/>
                </a:solidFill>
                <a:latin typeface="Segoe UI" pitchFamily="34" charset="0"/>
                <a:ea typeface="Segoe UI" pitchFamily="34" charset="-122"/>
                <a:cs typeface="Segoe UI" pitchFamily="34" charset="-120"/>
              </a:rPr>
              <a:t>COMMISSION NATIONALE DES MARCHÉS · LE PARCOURS D’UN DOSSIER</a:t>
            </a:r>
            <a:endParaRPr lang="en-US" sz="1400" dirty="0"/>
          </a:p>
        </p:txBody>
      </p:sp>
      <p:sp>
        <p:nvSpPr>
          <p:cNvPr id="4" name="Text 2"/>
          <p:cNvSpPr/>
          <p:nvPr/>
        </p:nvSpPr>
        <p:spPr>
          <a:xfrm>
            <a:off x="812780" y="1206500"/>
            <a:ext cx="5079873" cy="571500"/>
          </a:xfrm>
          <a:prstGeom prst="rect">
            <a:avLst/>
          </a:prstGeom>
          <a:noFill/>
          <a:ln/>
        </p:spPr>
        <p:txBody>
          <a:bodyPr wrap="square" rtlCol="0" anchor="ctr"/>
          <a:lstStyle/>
          <a:p>
            <a:pPr indent="0" marL="0">
              <a:buNone/>
            </a:pPr>
            <a:r>
              <a:rPr lang="en-US" sz="3000" b="1" dirty="0">
                <a:solidFill>
                  <a:srgbClr val="E3AE2E"/>
                </a:solidFill>
                <a:latin typeface="Segoe UI" pitchFamily="34" charset="0"/>
                <a:ea typeface="Segoe UI" pitchFamily="34" charset="-122"/>
                <a:cs typeface="Segoe UI" pitchFamily="34" charset="-120"/>
              </a:rPr>
              <a:t>Étape 08</a:t>
            </a:r>
            <a:endParaRPr lang="en-US" sz="3000" dirty="0"/>
          </a:p>
        </p:txBody>
      </p:sp>
      <p:sp>
        <p:nvSpPr>
          <p:cNvPr id="5" name="Text 3"/>
          <p:cNvSpPr/>
          <p:nvPr/>
        </p:nvSpPr>
        <p:spPr>
          <a:xfrm>
            <a:off x="812780" y="1778000"/>
            <a:ext cx="10477238" cy="952500"/>
          </a:xfrm>
          <a:prstGeom prst="rect">
            <a:avLst/>
          </a:prstGeom>
          <a:noFill/>
          <a:ln/>
        </p:spPr>
        <p:txBody>
          <a:bodyPr wrap="square" rtlCol="0" anchor="t">
            <a:normAutofit/>
          </a:bodyPr>
          <a:lstStyle/>
          <a:p>
            <a:pPr indent="0" marL="0">
              <a:buNone/>
            </a:pPr>
            <a:r>
              <a:rPr lang="en-US" sz="4400" b="1" dirty="0">
                <a:solidFill>
                  <a:srgbClr val="FCFCFA"/>
                </a:solidFill>
                <a:latin typeface="Segoe UI" pitchFamily="34" charset="0"/>
                <a:ea typeface="Segoe UI" pitchFamily="34" charset="-122"/>
                <a:cs typeface="Segoe UI" pitchFamily="34" charset="-120"/>
              </a:rPr>
              <a:t>PRS 2.0 — Évaluer les offres</a:t>
            </a:r>
            <a:endParaRPr lang="en-US" sz="4400" dirty="0"/>
          </a:p>
        </p:txBody>
      </p:sp>
      <p:sp>
        <p:nvSpPr>
          <p:cNvPr id="6" name="Text 4"/>
          <p:cNvSpPr/>
          <p:nvPr/>
        </p:nvSpPr>
        <p:spPr>
          <a:xfrm>
            <a:off x="812780" y="2857500"/>
            <a:ext cx="9524762" cy="1270000"/>
          </a:xfrm>
          <a:prstGeom prst="rect">
            <a:avLst/>
          </a:prstGeom>
          <a:noFill/>
          <a:ln/>
        </p:spPr>
        <p:txBody>
          <a:bodyPr wrap="square" rtlCol="0" anchor="t">
            <a:normAutofit/>
          </a:bodyPr>
          <a:lstStyle/>
          <a:p>
            <a:pPr indent="0" marL="0">
              <a:buNone/>
            </a:pPr>
            <a:r>
              <a:rPr lang="en-US" sz="2000" dirty="0">
                <a:solidFill>
                  <a:srgbClr val="C9D6E2"/>
                </a:solidFill>
                <a:latin typeface="Segoe UI" pitchFamily="34" charset="0"/>
                <a:ea typeface="Segoe UI" pitchFamily="34" charset="-122"/>
                <a:cs typeface="Segoe UI" pitchFamily="34" charset="-120"/>
              </a:rPr>
              <a:t>La commission d’appel d’offres évalue les offres en ligne, lot par lot et étape par étape, selon le guide d’évaluation : chaque décision est motivée et signée, le calcul est fait par l’application, et le rapport ne se produit qu’au quorum.</a:t>
            </a:r>
            <a:endParaRPr lang="en-US" sz="2000" dirty="0"/>
          </a:p>
        </p:txBody>
      </p:sp>
      <p:sp>
        <p:nvSpPr>
          <p:cNvPr id="7" name="Text 5"/>
          <p:cNvSpPr/>
          <p:nvPr/>
        </p:nvSpPr>
        <p:spPr>
          <a:xfrm>
            <a:off x="812780" y="5270500"/>
            <a:ext cx="9842254" cy="762000"/>
          </a:xfrm>
          <a:prstGeom prst="rect">
            <a:avLst/>
          </a:prstGeom>
          <a:noFill/>
          <a:ln/>
        </p:spPr>
        <p:txBody>
          <a:bodyPr wrap="square" rtlCol="0" anchor="t"/>
          <a:lstStyle/>
          <a:p>
            <a:pPr indent="0" marL="0">
              <a:buNone/>
            </a:pPr>
            <a:r>
              <a:rPr lang="en-US" sz="1400" dirty="0">
                <a:solidFill>
                  <a:srgbClr val="8FA6BB"/>
                </a:solidFill>
                <a:latin typeface="Segoe UI" pitchFamily="34" charset="0"/>
                <a:ea typeface="Segoe UI" pitchFamily="34" charset="-122"/>
                <a:cs typeface="Segoe UI" pitchFamily="34" charset="-120"/>
              </a:rPr>
              <a:t>Une présentation par étape que traverse un dossier, de la planification à l’attribution · écrans, règles appliquées (provenance en note), points d’attention, règles de gestion et données de l’étape</a:t>
            </a:r>
            <a:endParaRPr lang="en-US" sz="1400" dirty="0"/>
          </a:p>
          <a:p>
            <a:pPr indent="0" marL="0">
              <a:buNone/>
            </a:pPr>
            <a:r>
              <a:rPr lang="en-US" sz="1400" dirty="0">
                <a:solidFill>
                  <a:srgbClr val="8FA6BB"/>
                </a:solidFill>
                <a:latin typeface="Segoe UI" pitchFamily="34" charset="0"/>
                <a:ea typeface="Segoe UI" pitchFamily="34" charset="-122"/>
                <a:cs typeface="Segoe UI" pitchFamily="34" charset="-120"/>
              </a:rPr>
              <a:t>Captures de l’application réelle sur des dossiers de démonstration (14 octobre 2026) · noms de personnes remplacés par leur rôle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OÙ SE SITUE L’ÉTAPE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Du plan de passation au marché notifié</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Un marché inscrit au plan traverse deux contrôles de la Commission : celui du plan, puis celui de son dossier de consultation — et, après l’évaluation des offres, celui du dossier de marché.</a:t>
            </a:r>
            <a:endParaRPr lang="en-US" sz="1300" dirty="0"/>
          </a:p>
        </p:txBody>
      </p:sp>
      <p:sp>
        <p:nvSpPr>
          <p:cNvPr id="5" name="Shape 3"/>
          <p:cNvSpPr/>
          <p:nvPr/>
        </p:nvSpPr>
        <p:spPr>
          <a:xfrm>
            <a:off x="812780" y="1778000"/>
            <a:ext cx="1644609" cy="1905000"/>
          </a:xfrm>
          <a:prstGeom prst="roundRect">
            <a:avLst>
              <a:gd name="adj" fmla="val 3336"/>
            </a:avLst>
          </a:prstGeom>
          <a:solidFill>
            <a:srgbClr val="FCFCFA"/>
          </a:solidFill>
          <a:ln w="19050">
            <a:solidFill>
              <a:srgbClr val="12324A"/>
            </a:solidFill>
            <a:prstDash val="solid"/>
          </a:ln>
        </p:spPr>
      </p:sp>
      <p:sp>
        <p:nvSpPr>
          <p:cNvPr id="6" name="Text 4"/>
          <p:cNvSpPr/>
          <p:nvPr/>
        </p:nvSpPr>
        <p:spPr>
          <a:xfrm>
            <a:off x="901677"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02</a:t>
            </a:r>
            <a:endParaRPr lang="en-US" sz="1000" dirty="0"/>
          </a:p>
        </p:txBody>
      </p:sp>
      <p:sp>
        <p:nvSpPr>
          <p:cNvPr id="7" name="Text 5"/>
          <p:cNvSpPr/>
          <p:nvPr/>
        </p:nvSpPr>
        <p:spPr>
          <a:xfrm>
            <a:off x="901677"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Planifier</a:t>
            </a:r>
            <a:endParaRPr lang="en-US" sz="1400" dirty="0"/>
          </a:p>
        </p:txBody>
      </p:sp>
      <p:sp>
        <p:nvSpPr>
          <p:cNvPr id="8" name="Text 6"/>
          <p:cNvSpPr/>
          <p:nvPr/>
        </p:nvSpPr>
        <p:spPr>
          <a:xfrm>
            <a:off x="901677"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PRMP saisit et soumet son plan de passation.</a:t>
            </a:r>
            <a:endParaRPr lang="en-US" sz="1150" dirty="0"/>
          </a:p>
        </p:txBody>
      </p:sp>
      <p:sp>
        <p:nvSpPr>
          <p:cNvPr id="9" name="Text 7"/>
          <p:cNvSpPr/>
          <p:nvPr/>
        </p:nvSpPr>
        <p:spPr>
          <a:xfrm>
            <a:off x="2444689"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597085" y="1778000"/>
            <a:ext cx="1644609" cy="1905000"/>
          </a:xfrm>
          <a:prstGeom prst="roundRect">
            <a:avLst>
              <a:gd name="adj" fmla="val 3336"/>
            </a:avLst>
          </a:prstGeom>
          <a:solidFill>
            <a:srgbClr val="FCFCFA"/>
          </a:solidFill>
          <a:ln w="19050">
            <a:solidFill>
              <a:srgbClr val="12324A"/>
            </a:solidFill>
            <a:prstDash val="solid"/>
          </a:ln>
        </p:spPr>
      </p:sp>
      <p:sp>
        <p:nvSpPr>
          <p:cNvPr id="11" name="Text 9"/>
          <p:cNvSpPr/>
          <p:nvPr/>
        </p:nvSpPr>
        <p:spPr>
          <a:xfrm>
            <a:off x="2685983"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03</a:t>
            </a:r>
            <a:endParaRPr lang="en-US" sz="1000" dirty="0"/>
          </a:p>
        </p:txBody>
      </p:sp>
      <p:sp>
        <p:nvSpPr>
          <p:cNvPr id="12" name="Text 10"/>
          <p:cNvSpPr/>
          <p:nvPr/>
        </p:nvSpPr>
        <p:spPr>
          <a:xfrm>
            <a:off x="2685983"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Contrôler</a:t>
            </a:r>
            <a:endParaRPr lang="en-US" sz="1400" dirty="0"/>
          </a:p>
        </p:txBody>
      </p:sp>
      <p:sp>
        <p:nvSpPr>
          <p:cNvPr id="13" name="Text 11"/>
          <p:cNvSpPr/>
          <p:nvPr/>
        </p:nvSpPr>
        <p:spPr>
          <a:xfrm>
            <a:off x="2685983"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Commission examine ; le PV est visé et signé.</a:t>
            </a:r>
            <a:endParaRPr lang="en-US" sz="1150" dirty="0"/>
          </a:p>
        </p:txBody>
      </p:sp>
      <p:sp>
        <p:nvSpPr>
          <p:cNvPr id="14" name="Text 12"/>
          <p:cNvSpPr/>
          <p:nvPr/>
        </p:nvSpPr>
        <p:spPr>
          <a:xfrm>
            <a:off x="4228994"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4381390" y="1778000"/>
            <a:ext cx="1644609" cy="1905000"/>
          </a:xfrm>
          <a:prstGeom prst="roundRect">
            <a:avLst>
              <a:gd name="adj" fmla="val 3336"/>
            </a:avLst>
          </a:prstGeom>
          <a:solidFill>
            <a:srgbClr val="FCFCFA"/>
          </a:solidFill>
          <a:ln w="19050">
            <a:solidFill>
              <a:srgbClr val="12324A"/>
            </a:solidFill>
            <a:prstDash val="solid"/>
          </a:ln>
        </p:spPr>
      </p:sp>
      <p:sp>
        <p:nvSpPr>
          <p:cNvPr id="16" name="Text 14"/>
          <p:cNvSpPr/>
          <p:nvPr/>
        </p:nvSpPr>
        <p:spPr>
          <a:xfrm>
            <a:off x="4470288"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04 · 05</a:t>
            </a:r>
            <a:endParaRPr lang="en-US" sz="1000" dirty="0"/>
          </a:p>
        </p:txBody>
      </p:sp>
      <p:sp>
        <p:nvSpPr>
          <p:cNvPr id="17" name="Text 15"/>
          <p:cNvSpPr/>
          <p:nvPr/>
        </p:nvSpPr>
        <p:spPr>
          <a:xfrm>
            <a:off x="4470288"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Préparer</a:t>
            </a:r>
            <a:endParaRPr lang="en-US" sz="1400" dirty="0"/>
          </a:p>
        </p:txBody>
      </p:sp>
      <p:sp>
        <p:nvSpPr>
          <p:cNvPr id="18" name="Text 16"/>
          <p:cNvSpPr/>
          <p:nvPr/>
        </p:nvSpPr>
        <p:spPr>
          <a:xfrm>
            <a:off x="4470288"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fiche du DAO produit le dossier d’appel d’offres.</a:t>
            </a:r>
            <a:endParaRPr lang="en-US" sz="1150" dirty="0"/>
          </a:p>
        </p:txBody>
      </p:sp>
      <p:sp>
        <p:nvSpPr>
          <p:cNvPr id="19" name="Text 17"/>
          <p:cNvSpPr/>
          <p:nvPr/>
        </p:nvSpPr>
        <p:spPr>
          <a:xfrm>
            <a:off x="601330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6165696" y="1778000"/>
            <a:ext cx="1644609" cy="1905000"/>
          </a:xfrm>
          <a:prstGeom prst="roundRect">
            <a:avLst>
              <a:gd name="adj" fmla="val 3336"/>
            </a:avLst>
          </a:prstGeom>
          <a:solidFill>
            <a:srgbClr val="FCFCFA"/>
          </a:solidFill>
          <a:ln w="19050">
            <a:solidFill>
              <a:srgbClr val="12324A"/>
            </a:solidFill>
            <a:prstDash val="solid"/>
          </a:ln>
        </p:spPr>
      </p:sp>
      <p:sp>
        <p:nvSpPr>
          <p:cNvPr id="21" name="Text 19"/>
          <p:cNvSpPr/>
          <p:nvPr/>
        </p:nvSpPr>
        <p:spPr>
          <a:xfrm>
            <a:off x="6254594"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06 · 07</a:t>
            </a:r>
            <a:endParaRPr lang="en-US" sz="1000" dirty="0"/>
          </a:p>
        </p:txBody>
      </p:sp>
      <p:sp>
        <p:nvSpPr>
          <p:cNvPr id="22" name="Text 20"/>
          <p:cNvSpPr/>
          <p:nvPr/>
        </p:nvSpPr>
        <p:spPr>
          <a:xfrm>
            <a:off x="6254594"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Consulter</a:t>
            </a:r>
            <a:endParaRPr lang="en-US" sz="1400" dirty="0"/>
          </a:p>
        </p:txBody>
      </p:sp>
      <p:sp>
        <p:nvSpPr>
          <p:cNvPr id="23" name="Text 21"/>
          <p:cNvSpPr/>
          <p:nvPr/>
        </p:nvSpPr>
        <p:spPr>
          <a:xfrm>
            <a:off x="6254594"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Les offres arrivent en ligne, scellées, puis s’ouvrent en séance.</a:t>
            </a:r>
            <a:endParaRPr lang="en-US" sz="1150" dirty="0"/>
          </a:p>
        </p:txBody>
      </p:sp>
      <p:sp>
        <p:nvSpPr>
          <p:cNvPr id="24" name="Text 22"/>
          <p:cNvSpPr/>
          <p:nvPr/>
        </p:nvSpPr>
        <p:spPr>
          <a:xfrm>
            <a:off x="7797605"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7950001" y="1778000"/>
            <a:ext cx="1644609" cy="1905000"/>
          </a:xfrm>
          <a:prstGeom prst="roundRect">
            <a:avLst>
              <a:gd name="adj" fmla="val 3336"/>
            </a:avLst>
          </a:prstGeom>
          <a:solidFill>
            <a:srgbClr val="FCFCFA"/>
          </a:solidFill>
          <a:ln w="19050">
            <a:solidFill>
              <a:srgbClr val="12324A"/>
            </a:solidFill>
            <a:prstDash val="solid"/>
          </a:ln>
        </p:spPr>
      </p:sp>
      <p:sp>
        <p:nvSpPr>
          <p:cNvPr id="26" name="Text 24"/>
          <p:cNvSpPr/>
          <p:nvPr/>
        </p:nvSpPr>
        <p:spPr>
          <a:xfrm>
            <a:off x="8038899"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08</a:t>
            </a:r>
            <a:endParaRPr lang="en-US" sz="1000" dirty="0"/>
          </a:p>
        </p:txBody>
      </p:sp>
      <p:sp>
        <p:nvSpPr>
          <p:cNvPr id="27" name="Text 25"/>
          <p:cNvSpPr/>
          <p:nvPr/>
        </p:nvSpPr>
        <p:spPr>
          <a:xfrm>
            <a:off x="8038899"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 Évaluer</a:t>
            </a:r>
            <a:endParaRPr lang="en-US" sz="1400" dirty="0"/>
          </a:p>
        </p:txBody>
      </p:sp>
      <p:sp>
        <p:nvSpPr>
          <p:cNvPr id="28" name="Text 26"/>
          <p:cNvSpPr/>
          <p:nvPr/>
        </p:nvSpPr>
        <p:spPr>
          <a:xfrm>
            <a:off x="8038899" y="2603500"/>
            <a:ext cx="1466813" cy="1016000"/>
          </a:xfrm>
          <a:prstGeom prst="rect">
            <a:avLst/>
          </a:prstGeom>
          <a:noFill/>
          <a:ln/>
        </p:spPr>
        <p:txBody>
          <a:bodyPr wrap="square" rtlCol="0" anchor="t">
            <a:normAutofit/>
          </a:bodyPr>
          <a:lstStyle/>
          <a:p>
            <a:pPr indent="0" marL="0">
              <a:buNone/>
            </a:pPr>
            <a:r>
              <a:rPr lang="en-US" sz="1150" b="1" dirty="0">
                <a:solidFill>
                  <a:srgbClr val="1B2A3A"/>
                </a:solidFill>
                <a:latin typeface="Segoe UI" pitchFamily="34" charset="0"/>
                <a:ea typeface="Segoe UI" pitchFamily="34" charset="-122"/>
                <a:cs typeface="Segoe UI" pitchFamily="34" charset="-120"/>
              </a:rPr>
              <a:t>Cette présentation.</a:t>
            </a:r>
            <a:pPr indent="0" marL="0">
              <a:buNone/>
            </a:pPr>
            <a:r>
              <a:rPr lang="en-US" sz="1150" dirty="0">
                <a:solidFill>
                  <a:srgbClr val="465568"/>
                </a:solidFill>
                <a:latin typeface="Segoe UI" pitchFamily="34" charset="0"/>
                <a:ea typeface="Segoe UI" pitchFamily="34" charset="-122"/>
                <a:cs typeface="Segoe UI" pitchFamily="34" charset="-120"/>
              </a:rPr>
              <a:t> La commission d’appel d’offres évalue et propose l’attributaire.</a:t>
            </a:r>
            <a:endParaRPr lang="en-US" sz="1150" dirty="0"/>
          </a:p>
        </p:txBody>
      </p:sp>
      <p:sp>
        <p:nvSpPr>
          <p:cNvPr id="29" name="Text 27"/>
          <p:cNvSpPr/>
          <p:nvPr/>
        </p:nvSpPr>
        <p:spPr>
          <a:xfrm>
            <a:off x="958191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9734307" y="1778000"/>
            <a:ext cx="1644609" cy="1905000"/>
          </a:xfrm>
          <a:prstGeom prst="roundRect">
            <a:avLst>
              <a:gd name="adj" fmla="val 3336"/>
            </a:avLst>
          </a:prstGeom>
          <a:solidFill>
            <a:srgbClr val="12324A"/>
          </a:solidFill>
          <a:ln w="19050">
            <a:solidFill>
              <a:srgbClr val="12324A"/>
            </a:solidFill>
            <a:prstDash val="solid"/>
          </a:ln>
        </p:spPr>
      </p:sp>
      <p:sp>
        <p:nvSpPr>
          <p:cNvPr id="31" name="Text 29"/>
          <p:cNvSpPr/>
          <p:nvPr/>
        </p:nvSpPr>
        <p:spPr>
          <a:xfrm>
            <a:off x="9823204" y="1866900"/>
            <a:ext cx="14668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09</a:t>
            </a:r>
            <a:endParaRPr lang="en-US" sz="1000" dirty="0"/>
          </a:p>
        </p:txBody>
      </p:sp>
      <p:sp>
        <p:nvSpPr>
          <p:cNvPr id="32" name="Text 30"/>
          <p:cNvSpPr/>
          <p:nvPr/>
        </p:nvSpPr>
        <p:spPr>
          <a:xfrm>
            <a:off x="9823204" y="2095500"/>
            <a:ext cx="14668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Attribuer</a:t>
            </a:r>
            <a:endParaRPr lang="en-US" sz="1400" dirty="0"/>
          </a:p>
        </p:txBody>
      </p:sp>
      <p:sp>
        <p:nvSpPr>
          <p:cNvPr id="33" name="Text 31"/>
          <p:cNvSpPr/>
          <p:nvPr/>
        </p:nvSpPr>
        <p:spPr>
          <a:xfrm>
            <a:off x="9823204" y="2603500"/>
            <a:ext cx="1466813"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Le marché est contrôlé, signé, notifié et publié.</a:t>
            </a:r>
            <a:endParaRPr lang="en-US" sz="1150" dirty="0"/>
          </a:p>
        </p:txBody>
      </p:sp>
      <p:sp>
        <p:nvSpPr>
          <p:cNvPr id="34" name="Text 32"/>
          <p:cNvSpPr/>
          <p:nvPr/>
        </p:nvSpPr>
        <p:spPr>
          <a:xfrm>
            <a:off x="812780" y="3937000"/>
            <a:ext cx="10566136" cy="762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Cette présentation couvre l’étape </a:t>
            </a:r>
            <a:pPr indent="0" marL="0">
              <a:buNone/>
            </a:pPr>
            <a:r>
              <a:rPr lang="en-US" sz="1300" b="1" dirty="0">
                <a:solidFill>
                  <a:srgbClr val="1B2A3A"/>
                </a:solidFill>
                <a:latin typeface="Segoe UI" pitchFamily="34" charset="0"/>
                <a:ea typeface="Segoe UI" pitchFamily="34" charset="-122"/>
                <a:cs typeface="Segoe UI" pitchFamily="34" charset="-120"/>
              </a:rPr>
              <a:t>08 — Évaluer les offres</a:t>
            </a:r>
            <a:pPr indent="0" marL="0">
              <a:buNone/>
            </a:pPr>
            <a:r>
              <a:rPr lang="en-US" sz="1300" dirty="0">
                <a:solidFill>
                  <a:srgbClr val="465568"/>
                </a:solidFill>
                <a:latin typeface="Segoe UI" pitchFamily="34" charset="0"/>
                <a:ea typeface="Segoe UI" pitchFamily="34" charset="-122"/>
                <a:cs typeface="Segoe UI" pitchFamily="34" charset="-120"/>
              </a:rPr>
              <a:t>. Les autres étapes ont chacune leur présentation ; l’entrée dans l’application, l’intérim, l’administration et le pilotage sont dans la présentation d’ensemble.</a:t>
            </a:r>
            <a:endParaRPr lang="en-US" sz="1300" dirty="0"/>
          </a:p>
        </p:txBody>
      </p:sp>
      <p:sp>
        <p:nvSpPr>
          <p:cNvPr id="35" name="Text 3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08</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Évaluer les offres</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La commission d’appel d’offres évalue les offres en ligne, lot par lot et étape par étape, selon le guide d’évaluation : chaque décision est motivée et signée, le calcul est fait par l’application, et le rapport ne se produit qu’au quorum.</a:t>
            </a:r>
            <a:endParaRPr lang="en-US" sz="1700" dirty="0"/>
          </a:p>
        </p:txBody>
      </p:sp>
      <p:sp>
        <p:nvSpPr>
          <p:cNvPr id="6" name="Text 4"/>
          <p:cNvSpPr/>
          <p:nvPr/>
        </p:nvSpPr>
        <p:spPr>
          <a:xfrm>
            <a:off x="812780" y="3429000"/>
            <a:ext cx="5079873" cy="228600"/>
          </a:xfrm>
          <a:prstGeom prst="rect">
            <a:avLst/>
          </a:prstGeom>
          <a:noFill/>
          <a:ln/>
        </p:spPr>
        <p:txBody>
          <a:bodyPr wrap="square" rtlCol="0" anchor="ctr"/>
          <a:lstStyle/>
          <a:p>
            <a:pPr indent="0" marL="0">
              <a:buNone/>
            </a:pPr>
            <a:r>
              <a:rPr lang="en-US" sz="1200" b="1" spc="200" kern="0" dirty="0">
                <a:solidFill>
                  <a:srgbClr val="E3AE2E"/>
                </a:solidFill>
                <a:latin typeface="Segoe UI" pitchFamily="34" charset="0"/>
                <a:ea typeface="Segoe UI" pitchFamily="34" charset="-122"/>
                <a:cs typeface="Segoe UI" pitchFamily="34" charset="-120"/>
              </a:rPr>
              <a:t>CE QUE CELA CHANGE</a:t>
            </a:r>
            <a:endParaRPr lang="en-US" sz="1200" dirty="0"/>
          </a:p>
        </p:txBody>
      </p:sp>
      <p:sp>
        <p:nvSpPr>
          <p:cNvPr id="7" name="Text 5"/>
          <p:cNvSpPr/>
          <p:nvPr/>
        </p:nvSpPr>
        <p:spPr>
          <a:xfrm>
            <a:off x="812780" y="3714750"/>
            <a:ext cx="10286743" cy="2413000"/>
          </a:xfrm>
          <a:prstGeom prst="rect">
            <a:avLst/>
          </a:prstGeom>
          <a:noFill/>
          <a:ln/>
        </p:spPr>
        <p:txBody>
          <a:bodyPr wrap="square" rtlCol="0" anchor="t">
            <a:normAutofit/>
          </a:bodyPr>
          <a:lstStyle/>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L’évaluation se conduit dans l’application, sur les offres scellées elles-mêmes : la commission confirme ou corrige ce que la séance a établi, elle ne ressaisit rien.</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Le montant évalué n’est jamais saisi à la main : l’application le calcule, hors taxes ; une correction qui sort de son calcul doit être motivée et elle est signalée au contrôle de la Commission.</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Dès que le dossier de marché est soumis à la Commission, l’évaluation est close : ce que la Commission examine ne peut plus changer, sauf reprise motivée et tracée.</a:t>
            </a:r>
            <a:endParaRPr lang="en-US" sz="1500" dirty="0"/>
          </a:p>
        </p:txBody>
      </p:sp>
      <p:sp>
        <p:nvSpPr>
          <p:cNvPr id="8"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Étape 08 · Évaluer les offres · 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ÉVALUER LES OFFRES · LE PARCOURS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Du PV d’ouverture signé au rapport d’évaluation</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Chaque lot traverse quatre étapes, que le président de la commission arrête l’une après l’autre ; le rapport réunit tous les lots. En prestations intellectuelles, l’évaluation technique, la seconde séance et la négociation prennent la place du montant évalué et de la post-qualification.</a:t>
            </a:r>
            <a:endParaRPr lang="en-US" sz="1300" dirty="0"/>
          </a:p>
        </p:txBody>
      </p:sp>
      <p:sp>
        <p:nvSpPr>
          <p:cNvPr id="5" name="Shape 3"/>
          <p:cNvSpPr/>
          <p:nvPr/>
        </p:nvSpPr>
        <p:spPr>
          <a:xfrm>
            <a:off x="812780" y="1778000"/>
            <a:ext cx="1644609" cy="1905000"/>
          </a:xfrm>
          <a:prstGeom prst="roundRect">
            <a:avLst>
              <a:gd name="adj" fmla="val 3336"/>
            </a:avLst>
          </a:prstGeom>
          <a:solidFill>
            <a:srgbClr val="FCFCFA"/>
          </a:solidFill>
          <a:ln w="19050">
            <a:solidFill>
              <a:srgbClr val="12324A"/>
            </a:solidFill>
            <a:prstDash val="solid"/>
          </a:ln>
        </p:spPr>
      </p:sp>
      <p:sp>
        <p:nvSpPr>
          <p:cNvPr id="6" name="Text 4"/>
          <p:cNvSpPr/>
          <p:nvPr/>
        </p:nvSpPr>
        <p:spPr>
          <a:xfrm>
            <a:off x="901677"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LE RESPONSABLE DE LA PROCÉDURE, LES MEMBRES</a:t>
            </a:r>
            <a:endParaRPr lang="en-US" sz="1000" dirty="0"/>
          </a:p>
        </p:txBody>
      </p:sp>
      <p:sp>
        <p:nvSpPr>
          <p:cNvPr id="7" name="Text 5"/>
          <p:cNvSpPr/>
          <p:nvPr/>
        </p:nvSpPr>
        <p:spPr>
          <a:xfrm>
            <a:off x="901677"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Ouvrir et déclarer</a:t>
            </a:r>
            <a:endParaRPr lang="en-US" sz="1400" dirty="0"/>
          </a:p>
        </p:txBody>
      </p:sp>
      <p:sp>
        <p:nvSpPr>
          <p:cNvPr id="8" name="Text 6"/>
          <p:cNvSpPr/>
          <p:nvPr/>
        </p:nvSpPr>
        <p:spPr>
          <a:xfrm>
            <a:off x="901677"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L’évaluation s’ouvre une fois le PV d’ouverture signé ; chaque membre déclare d’abord n’avoir aucun conflit d’intérêts.</a:t>
            </a:r>
            <a:endParaRPr lang="en-US" sz="1150" dirty="0"/>
          </a:p>
        </p:txBody>
      </p:sp>
      <p:sp>
        <p:nvSpPr>
          <p:cNvPr id="9" name="Text 7"/>
          <p:cNvSpPr/>
          <p:nvPr/>
        </p:nvSpPr>
        <p:spPr>
          <a:xfrm>
            <a:off x="2444689"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597085" y="1778000"/>
            <a:ext cx="1644609" cy="1905000"/>
          </a:xfrm>
          <a:prstGeom prst="roundRect">
            <a:avLst>
              <a:gd name="adj" fmla="val 3336"/>
            </a:avLst>
          </a:prstGeom>
          <a:solidFill>
            <a:srgbClr val="FCFCFA"/>
          </a:solidFill>
          <a:ln w="19050">
            <a:solidFill>
              <a:srgbClr val="12324A"/>
            </a:solidFill>
            <a:prstDash val="solid"/>
          </a:ln>
        </p:spPr>
      </p:sp>
      <p:sp>
        <p:nvSpPr>
          <p:cNvPr id="11" name="Text 9"/>
          <p:cNvSpPr/>
          <p:nvPr/>
        </p:nvSpPr>
        <p:spPr>
          <a:xfrm>
            <a:off x="2685983"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 COMMISSION ; LA PRMP POUR LES PRÉCISIONS</a:t>
            </a:r>
            <a:endParaRPr lang="en-US" sz="1000" dirty="0"/>
          </a:p>
        </p:txBody>
      </p:sp>
      <p:sp>
        <p:nvSpPr>
          <p:cNvPr id="12" name="Text 10"/>
          <p:cNvSpPr/>
          <p:nvPr/>
        </p:nvSpPr>
        <p:spPr>
          <a:xfrm>
            <a:off x="2685983"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Examen préliminaire</a:t>
            </a:r>
            <a:endParaRPr lang="en-US" sz="1400" dirty="0"/>
          </a:p>
        </p:txBody>
      </p:sp>
      <p:sp>
        <p:nvSpPr>
          <p:cNvPr id="13" name="Text 11"/>
          <p:cNvSpPr/>
          <p:nvPr/>
        </p:nvSpPr>
        <p:spPr>
          <a:xfrm>
            <a:off x="2685983"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Une grille de neuf vérifications par offre, pré-remplie depuis la séance ; la commission retient ou écarte, avec motif et clause du DAO.</a:t>
            </a:r>
            <a:endParaRPr lang="en-US" sz="1150" dirty="0"/>
          </a:p>
        </p:txBody>
      </p:sp>
      <p:sp>
        <p:nvSpPr>
          <p:cNvPr id="14" name="Text 12"/>
          <p:cNvSpPr/>
          <p:nvPr/>
        </p:nvSpPr>
        <p:spPr>
          <a:xfrm>
            <a:off x="4228994"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4381390" y="1778000"/>
            <a:ext cx="1644609" cy="1905000"/>
          </a:xfrm>
          <a:prstGeom prst="roundRect">
            <a:avLst>
              <a:gd name="adj" fmla="val 3336"/>
            </a:avLst>
          </a:prstGeom>
          <a:solidFill>
            <a:srgbClr val="FCFCFA"/>
          </a:solidFill>
          <a:ln w="19050">
            <a:solidFill>
              <a:srgbClr val="12324A"/>
            </a:solidFill>
            <a:prstDash val="solid"/>
          </a:ln>
        </p:spPr>
      </p:sp>
      <p:sp>
        <p:nvSpPr>
          <p:cNvPr id="16" name="Text 14"/>
          <p:cNvSpPr/>
          <p:nvPr/>
        </p:nvSpPr>
        <p:spPr>
          <a:xfrm>
            <a:off x="4470288"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 COMMISSION</a:t>
            </a:r>
            <a:endParaRPr lang="en-US" sz="1000" dirty="0"/>
          </a:p>
        </p:txBody>
      </p:sp>
      <p:sp>
        <p:nvSpPr>
          <p:cNvPr id="17" name="Text 15"/>
          <p:cNvSpPr/>
          <p:nvPr/>
        </p:nvSpPr>
        <p:spPr>
          <a:xfrm>
            <a:off x="4470288"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Montant évalué et classement</a:t>
            </a:r>
            <a:endParaRPr lang="en-US" sz="1400" dirty="0"/>
          </a:p>
        </p:txBody>
      </p:sp>
      <p:sp>
        <p:nvSpPr>
          <p:cNvPr id="18" name="Text 16"/>
          <p:cNvSpPr/>
          <p:nvPr/>
        </p:nvSpPr>
        <p:spPr>
          <a:xfrm>
            <a:off x="4470288"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Corrections, rabais, préférence et critères du DAO : l’application calcule le montant hors taxes et classe.</a:t>
            </a:r>
            <a:endParaRPr lang="en-US" sz="1150" dirty="0"/>
          </a:p>
        </p:txBody>
      </p:sp>
      <p:sp>
        <p:nvSpPr>
          <p:cNvPr id="19" name="Text 17"/>
          <p:cNvSpPr/>
          <p:nvPr/>
        </p:nvSpPr>
        <p:spPr>
          <a:xfrm>
            <a:off x="601330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6165696" y="1778000"/>
            <a:ext cx="1644609" cy="1905000"/>
          </a:xfrm>
          <a:prstGeom prst="roundRect">
            <a:avLst>
              <a:gd name="adj" fmla="val 3336"/>
            </a:avLst>
          </a:prstGeom>
          <a:solidFill>
            <a:srgbClr val="FCFCFA"/>
          </a:solidFill>
          <a:ln w="19050">
            <a:solidFill>
              <a:srgbClr val="12324A"/>
            </a:solidFill>
            <a:prstDash val="solid"/>
          </a:ln>
        </p:spPr>
      </p:sp>
      <p:sp>
        <p:nvSpPr>
          <p:cNvPr id="21" name="Text 19"/>
          <p:cNvSpPr/>
          <p:nvPr/>
        </p:nvSpPr>
        <p:spPr>
          <a:xfrm>
            <a:off x="6254594"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 COMMISSION ; LA PRMP POUR LA DEMANDE</a:t>
            </a:r>
            <a:endParaRPr lang="en-US" sz="1000" dirty="0"/>
          </a:p>
        </p:txBody>
      </p:sp>
      <p:sp>
        <p:nvSpPr>
          <p:cNvPr id="22" name="Text 20"/>
          <p:cNvSpPr/>
          <p:nvPr/>
        </p:nvSpPr>
        <p:spPr>
          <a:xfrm>
            <a:off x="6254594"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Offres anormales</a:t>
            </a:r>
            <a:endParaRPr lang="en-US" sz="1400" dirty="0"/>
          </a:p>
        </p:txBody>
      </p:sp>
      <p:sp>
        <p:nvSpPr>
          <p:cNvPr id="23" name="Text 21"/>
          <p:cNvSpPr/>
          <p:nvPr/>
        </p:nvSpPr>
        <p:spPr>
          <a:xfrm>
            <a:off x="6254594"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Des indicateurs de prix ; aucun rejet sans demande écrite de justification.</a:t>
            </a:r>
            <a:endParaRPr lang="en-US" sz="1150" dirty="0"/>
          </a:p>
        </p:txBody>
      </p:sp>
      <p:sp>
        <p:nvSpPr>
          <p:cNvPr id="24" name="Text 22"/>
          <p:cNvSpPr/>
          <p:nvPr/>
        </p:nvSpPr>
        <p:spPr>
          <a:xfrm>
            <a:off x="7797605"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7950001" y="1778000"/>
            <a:ext cx="1644609" cy="1905000"/>
          </a:xfrm>
          <a:prstGeom prst="roundRect">
            <a:avLst>
              <a:gd name="adj" fmla="val 3336"/>
            </a:avLst>
          </a:prstGeom>
          <a:solidFill>
            <a:srgbClr val="FCFCFA"/>
          </a:solidFill>
          <a:ln w="19050">
            <a:solidFill>
              <a:srgbClr val="12324A"/>
            </a:solidFill>
            <a:prstDash val="solid"/>
          </a:ln>
        </p:spPr>
      </p:sp>
      <p:sp>
        <p:nvSpPr>
          <p:cNvPr id="26" name="Text 24"/>
          <p:cNvSpPr/>
          <p:nvPr/>
        </p:nvSpPr>
        <p:spPr>
          <a:xfrm>
            <a:off x="8038899"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LA COMMISSION</a:t>
            </a:r>
            <a:endParaRPr lang="en-US" sz="1000" dirty="0"/>
          </a:p>
        </p:txBody>
      </p:sp>
      <p:sp>
        <p:nvSpPr>
          <p:cNvPr id="27" name="Text 25"/>
          <p:cNvSpPr/>
          <p:nvPr/>
        </p:nvSpPr>
        <p:spPr>
          <a:xfrm>
            <a:off x="8038899"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Post-qualification</a:t>
            </a:r>
            <a:endParaRPr lang="en-US" sz="1400" dirty="0"/>
          </a:p>
        </p:txBody>
      </p:sp>
      <p:sp>
        <p:nvSpPr>
          <p:cNvPr id="28" name="Text 26"/>
          <p:cNvSpPr/>
          <p:nvPr/>
        </p:nvSpPr>
        <p:spPr>
          <a:xfrm>
            <a:off x="8038899"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 premier classé, critère par critère ; s’il échoue, le suivant ; le lot reçoit sa proposition d’attribution.</a:t>
            </a:r>
            <a:endParaRPr lang="en-US" sz="1150" dirty="0"/>
          </a:p>
        </p:txBody>
      </p:sp>
      <p:sp>
        <p:nvSpPr>
          <p:cNvPr id="29" name="Text 27"/>
          <p:cNvSpPr/>
          <p:nvPr/>
        </p:nvSpPr>
        <p:spPr>
          <a:xfrm>
            <a:off x="958191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9734307" y="1778000"/>
            <a:ext cx="1644609" cy="1905000"/>
          </a:xfrm>
          <a:prstGeom prst="roundRect">
            <a:avLst>
              <a:gd name="adj" fmla="val 3336"/>
            </a:avLst>
          </a:prstGeom>
          <a:solidFill>
            <a:srgbClr val="12324A"/>
          </a:solidFill>
          <a:ln w="19050">
            <a:solidFill>
              <a:srgbClr val="12324A"/>
            </a:solidFill>
            <a:prstDash val="solid"/>
          </a:ln>
        </p:spPr>
      </p:sp>
      <p:sp>
        <p:nvSpPr>
          <p:cNvPr id="31" name="Text 29"/>
          <p:cNvSpPr/>
          <p:nvPr/>
        </p:nvSpPr>
        <p:spPr>
          <a:xfrm>
            <a:off x="9823204" y="1866900"/>
            <a:ext cx="14668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LE RESPONSABLE, LES MEMBRES</a:t>
            </a:r>
            <a:endParaRPr lang="en-US" sz="1000" dirty="0"/>
          </a:p>
        </p:txBody>
      </p:sp>
      <p:sp>
        <p:nvSpPr>
          <p:cNvPr id="32" name="Text 30"/>
          <p:cNvSpPr/>
          <p:nvPr/>
        </p:nvSpPr>
        <p:spPr>
          <a:xfrm>
            <a:off x="9823204" y="2095500"/>
            <a:ext cx="14668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Rapport signé</a:t>
            </a:r>
            <a:endParaRPr lang="en-US" sz="1400" dirty="0"/>
          </a:p>
        </p:txBody>
      </p:sp>
      <p:sp>
        <p:nvSpPr>
          <p:cNvPr id="33" name="Text 31"/>
          <p:cNvSpPr/>
          <p:nvPr/>
        </p:nvSpPr>
        <p:spPr>
          <a:xfrm>
            <a:off x="9823204" y="2603500"/>
            <a:ext cx="1466813"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Le rapport, produit quand tout est arrêté, est signé par les membres au quorum : l’évaluation est close.</a:t>
            </a:r>
            <a:endParaRPr lang="en-US" sz="1150" dirty="0"/>
          </a:p>
        </p:txBody>
      </p:sp>
      <p:sp>
        <p:nvSpPr>
          <p:cNvPr id="34" name="Text 3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ÉVALUER LES OFFRES</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Ouvrir l’évaluation</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L’évaluation ne commence qu’une fois le PV d’ouverture signé de tous. Chaque membre s’engage d’abord, une fois pour toutes, sur l’absence de conflit d’intérêts et sur la confidentialité.</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OUVRIR · RESPONSABLE DE LA PROCÉDURE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L’évaluation, avant son ouverture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évaluation, avant son ouvertu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Elle s’ouvre quand le PV d’ouverture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signé de tous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avant, l’application le refuse et l’écran le dit.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fois ouverte, les membres de la commission et la PRMP en sont avertis.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RG-EVA-01 · RG-EVA-02</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OUVRIR · MEMBRE DE LA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L’entrée depuis l’espace de la commission</a:t>
            </a:r>
            <a:endParaRPr lang="en-US" sz="2600" dirty="0"/>
          </a:p>
        </p:txBody>
      </p:sp>
      <p:sp>
        <p:nvSpPr>
          <p:cNvPr id="4" name="Shape 2"/>
          <p:cNvSpPr/>
          <p:nvPr/>
        </p:nvSpPr>
        <p:spPr>
          <a:xfrm>
            <a:off x="800080" y="1193800"/>
            <a:ext cx="10591535" cy="1060328"/>
          </a:xfrm>
          <a:prstGeom prst="rect">
            <a:avLst/>
          </a:prstGeom>
          <a:solidFill>
            <a:srgbClr val="FCFCFA"/>
          </a:solidFill>
          <a:ln w="9525">
            <a:solidFill>
              <a:srgbClr val="D5DCE4"/>
            </a:solidFill>
            <a:prstDash val="solid"/>
          </a:ln>
        </p:spPr>
      </p:sp>
      <p:pic>
        <p:nvPicPr>
          <p:cNvPr id="5" name="Image 0" descr="L’entrée depuis l’espace de la commission">    </p:cNvPr>
          <p:cNvPicPr>
            <a:picLocks noChangeAspect="1"/>
          </p:cNvPicPr>
          <p:nvPr/>
        </p:nvPicPr>
        <p:blipFill>
          <a:blip r:embed="rId1"/>
          <a:stretch>
            <a:fillRect/>
          </a:stretch>
        </p:blipFill>
        <p:spPr>
          <a:xfrm>
            <a:off x="812780" y="1206500"/>
            <a:ext cx="10566136" cy="1034928"/>
          </a:xfrm>
          <a:prstGeom prst="rect">
            <a:avLst/>
          </a:prstGeom>
        </p:spPr>
      </p:pic>
      <p:sp>
        <p:nvSpPr>
          <p:cNvPr id="6" name="Shape 3"/>
          <p:cNvSpPr/>
          <p:nvPr/>
        </p:nvSpPr>
        <p:spPr>
          <a:xfrm>
            <a:off x="812780" y="2393828"/>
            <a:ext cx="10566136" cy="1993900"/>
          </a:xfrm>
          <a:prstGeom prst="rect">
            <a:avLst/>
          </a:prstGeom>
          <a:solidFill>
            <a:srgbClr val="FCFCFA"/>
          </a:solidFill>
          <a:ln w="9525">
            <a:solidFill>
              <a:srgbClr val="D5DCE4"/>
            </a:solidFill>
            <a:prstDash val="solid"/>
          </a:ln>
        </p:spPr>
      </p:sp>
      <p:sp>
        <p:nvSpPr>
          <p:cNvPr id="7" name="Shape 4"/>
          <p:cNvSpPr/>
          <p:nvPr/>
        </p:nvSpPr>
        <p:spPr>
          <a:xfrm>
            <a:off x="812780" y="2393828"/>
            <a:ext cx="38099" cy="1993900"/>
          </a:xfrm>
          <a:prstGeom prst="rect">
            <a:avLst/>
          </a:prstGeom>
          <a:solidFill>
            <a:srgbClr val="1B6FA8"/>
          </a:solidFill>
          <a:ln/>
        </p:spPr>
      </p:sp>
      <p:sp>
        <p:nvSpPr>
          <p:cNvPr id="8" name="Text 5"/>
          <p:cNvSpPr/>
          <p:nvPr/>
        </p:nvSpPr>
        <p:spPr>
          <a:xfrm>
            <a:off x="977876" y="2495428"/>
            <a:ext cx="10274043" cy="18034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 d’appel d’offres.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la page de la procédure, « Ouvrir l’évaluation » conduit à l’écran de travail de la commission.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Mes procédures » compte les évaluations en cours et les rapports à signer.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RG-EVA-02 · RG-EVA-04</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OUVRIR · MEMBRE DE LA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déclaration préalable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 déclaration préalabl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Chaque membre, président compris.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Absence de conflit d’intérêts (art. 21-d) et engagement de confidentialité (art. 12-V)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avant toute décision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elle ne se reprend pas.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membre qui déclare un conflit lit l’évaluation, mais n’y décide rien.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RG-EVA-03</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OUVRIR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L’évaluation vue par la PRMP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valuation vue par la P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qui lit l’évaluation de sa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déclarations datées des membres, puis un onglet par lot et ses étapes, « arrêtée » ou en cours.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offres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non évaluées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sont nommées avec leur raison : remplacée par une offre ultérieure, ou retirée par le soumissionnaire.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tout reste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confidentiel</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jusqu’à l’information des candidats (art. 12-V, 35-V).</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RG-EVA-01 · RG-EVA-04 · RG-EVA-07</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ÉVALUER LES OFFRES</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L’examen préliminaire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Recevabilité, éligibilité et conformité pour l’essentiel (art. 43 et 46). L’application prépare la grille à partir de ce que la séance a constaté ; la commission décide, offre par offre.</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EXAMEN PRÉLIMINAIRE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grille de l’offre, et sa décision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grille de l’offre, et sa décis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 ; le président arrête l’étape.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Neuf vérifications, chacune avec « ce que la séance a établi » et une proposition ; la commission confirme ou corrige.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l’offre n° 2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écartée — non conforme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garantie de 800 000 Ar pour un minimum de 1 600 000 Ar, avec la clause du DAO visée (DPAO 6.6).</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décision porte son auteur et son heure ; l’étape arrêtée porte celui qui l’a arrêtée.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RG-EVA-05 · RG-EVA-08 · RG-EVA-09 · RG-EVA-10 · RG-EVA-11</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EXAMEN PRÉLIMINAIRE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Demander une précision au candidat</a:t>
            </a:r>
            <a:endParaRPr lang="en-US" sz="2600" dirty="0"/>
          </a:p>
        </p:txBody>
      </p:sp>
      <p:sp>
        <p:nvSpPr>
          <p:cNvPr id="4" name="Shape 2"/>
          <p:cNvSpPr/>
          <p:nvPr/>
        </p:nvSpPr>
        <p:spPr>
          <a:xfrm>
            <a:off x="800080" y="1193800"/>
            <a:ext cx="10591535" cy="1892706"/>
          </a:xfrm>
          <a:prstGeom prst="rect">
            <a:avLst/>
          </a:prstGeom>
          <a:solidFill>
            <a:srgbClr val="FCFCFA"/>
          </a:solidFill>
          <a:ln w="9525">
            <a:solidFill>
              <a:srgbClr val="D5DCE4"/>
            </a:solidFill>
            <a:prstDash val="solid"/>
          </a:ln>
        </p:spPr>
      </p:sp>
      <p:pic>
        <p:nvPicPr>
          <p:cNvPr id="5" name="Image 0" descr="Demander une précision au candidat">    </p:cNvPr>
          <p:cNvPicPr>
            <a:picLocks noChangeAspect="1"/>
          </p:cNvPicPr>
          <p:nvPr/>
        </p:nvPicPr>
        <p:blipFill>
          <a:blip r:embed="rId1"/>
          <a:stretch>
            <a:fillRect/>
          </a:stretch>
        </p:blipFill>
        <p:spPr>
          <a:xfrm>
            <a:off x="812780" y="1206500"/>
            <a:ext cx="10566136" cy="1867306"/>
          </a:xfrm>
          <a:prstGeom prst="rect">
            <a:avLst/>
          </a:prstGeom>
        </p:spPr>
      </p:pic>
      <p:sp>
        <p:nvSpPr>
          <p:cNvPr id="6" name="Shape 3"/>
          <p:cNvSpPr/>
          <p:nvPr/>
        </p:nvSpPr>
        <p:spPr>
          <a:xfrm>
            <a:off x="812780" y="3226206"/>
            <a:ext cx="10566136" cy="1993900"/>
          </a:xfrm>
          <a:prstGeom prst="rect">
            <a:avLst/>
          </a:prstGeom>
          <a:solidFill>
            <a:srgbClr val="FCFCFA"/>
          </a:solidFill>
          <a:ln w="9525">
            <a:solidFill>
              <a:srgbClr val="D5DCE4"/>
            </a:solidFill>
            <a:prstDash val="solid"/>
          </a:ln>
        </p:spPr>
      </p:sp>
      <p:sp>
        <p:nvSpPr>
          <p:cNvPr id="7" name="Shape 4"/>
          <p:cNvSpPr/>
          <p:nvPr/>
        </p:nvSpPr>
        <p:spPr>
          <a:xfrm>
            <a:off x="812780" y="3226206"/>
            <a:ext cx="38099" cy="1993900"/>
          </a:xfrm>
          <a:prstGeom prst="rect">
            <a:avLst/>
          </a:prstGeom>
          <a:solidFill>
            <a:srgbClr val="1B6FA8"/>
          </a:solidFill>
          <a:ln/>
        </p:spPr>
      </p:sp>
      <p:sp>
        <p:nvSpPr>
          <p:cNvPr id="8" name="Text 5"/>
          <p:cNvSpPr/>
          <p:nvPr/>
        </p:nvSpPr>
        <p:spPr>
          <a:xfrm>
            <a:off x="977876" y="3327806"/>
            <a:ext cx="10274043" cy="18034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Art. 35-VI : la PRMP pose sa question par écrit, avec un délai (celui de la fiche par défaut).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précision ne sert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jamais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à compléter une pièce essentielle ni à changer le prix.</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RG-EVA-12 · RG-EVA-13</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EXAMEN PRÉLIMINAIRE · CANDIDAT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Répondre depuis « Mes offres »</a:t>
            </a:r>
            <a:endParaRPr lang="en-US" sz="2600" dirty="0"/>
          </a:p>
        </p:txBody>
      </p:sp>
      <p:sp>
        <p:nvSpPr>
          <p:cNvPr id="4" name="Shape 2"/>
          <p:cNvSpPr/>
          <p:nvPr/>
        </p:nvSpPr>
        <p:spPr>
          <a:xfrm>
            <a:off x="915246" y="1193800"/>
            <a:ext cx="10361203" cy="3327400"/>
          </a:xfrm>
          <a:prstGeom prst="rect">
            <a:avLst/>
          </a:prstGeom>
          <a:solidFill>
            <a:srgbClr val="FCFCFA"/>
          </a:solidFill>
          <a:ln w="9525">
            <a:solidFill>
              <a:srgbClr val="D5DCE4"/>
            </a:solidFill>
            <a:prstDash val="solid"/>
          </a:ln>
        </p:spPr>
      </p:sp>
      <p:pic>
        <p:nvPicPr>
          <p:cNvPr id="5" name="Image 0" descr="Répondre depuis « Mes offres »">    </p:cNvPr>
          <p:cNvPicPr>
            <a:picLocks noChangeAspect="1"/>
          </p:cNvPicPr>
          <p:nvPr/>
        </p:nvPicPr>
        <p:blipFill>
          <a:blip r:embed="rId1"/>
          <a:stretch>
            <a:fillRect/>
          </a:stretch>
        </p:blipFill>
        <p:spPr>
          <a:xfrm>
            <a:off x="927946" y="1206500"/>
            <a:ext cx="10335803"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candidat interrogé.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demande arrive par notification et par courriel ; le candidat répond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une fois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dans le délai, par un texte et, s’il le veut, une pièce.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demande et la réponse sont jointes au rapport.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RG-EVA-12</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ÉVALUER LES OFFRES</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 montant évalué et le classement</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Les offres se comparent hors taxes, sur un montant que l’application calcule à partir du bordereau scellé. La commission retient les corrections proposées ; elle ne fixe jamais un montant à la main.</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MONTANT ÉVALUÉ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montant évalué et le tableau du guide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montant évalué et le tableau du guid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l’offre n° 4 : prix lu 168 000 000 Ar HT, prix corrigé 167 500 000 Ar, rabais 1 500 000 Ar,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montant évalué 166 000 000 Ar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rang 1.</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tableau d’évaluation du guide : une ligne par offre, du prix lu au montant évalué, au rang et à la qualification ; l’offre écartée y garde son motif.</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Tous les montants en ariary, hors taxes.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RG-EVA-16 · RG-EVA-19</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MONTANT ÉVALUÉ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corrections, dont une hors calcul</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corrections, dont une hors calcul">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prix unitaire prévaut sur le total, les lettres sur les chiffres : ces corrections ne peuvent que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reprendre celles que l’application a calculées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erreur de report du sous-total, que l’application ne calcule pas, se lit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Hors calcul</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elle exige un motif et sera signalée au contrôle du dossier de marché.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Rabais lu sur l’acte d’engagement, marge de préférence et critères additionnels du DAO — eux seuls —, refus de la correction par le candidat.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RG-EVA-14 · RG-EVA-15 · RG-EVA-17 · RG-EVA-18 · RG-EVA-35</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ÉVALUER LES OFFRES</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Les offres anormales</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L’application donne des indicateurs ; la commission apprécie. Aucune offre n’est rejetée pour son prix sans demande écrite de justification.</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OFFRES ANORMALES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indicateurs de prix</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indicateurs de prix">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chaque offre classée : l’écart à l’estimation du plan et à la moyenne des offres ; ici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+10,7 %</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sur une estimation de 150 000 000 Ar.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Sans méthode fixée par le DAO, la commission motive son appréciation au cas par cas : ce sont des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indicateurs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jamais une décision.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L’offre est jugée « non suspectée ».</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RG-EVA-20 · RG-EVA-21</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OFFRES ANORMALES · PRMP ET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offre maintenue après justification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Une offre maintenue après justificat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demande ; le candidat répond ; la commission décide.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méthode du DAO est rappelée en clair : moyenne de référence, seuils de 20 % au-dessus et de 10 % au-dessous.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justification demandée, son échéance, la réponse du candidat : la commission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maintient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l’offre, motif à l’appui.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Faute de réponse à l’échéance, l’offre porterait la mention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Défaut de réponse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le silence vaut refus de justifier (art. 48).</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RG-EVA-21 · RG-EVA-22 · RG-EVA-36</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ÉVALUER LES OFFRES</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La post-qualification et la proposition</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La commission vérifie que le mieux classé a les capacités exigées par le DAO, et lui seul tant qu’il n’échoue pas. Le lot reçoit alors sa proposition d’attribution.</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POST-QUALIFICATION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post-qualification et la proposition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post-qualification et la proposit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 ; le président arrête l’étape.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proposition d’attribution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du lot : offre n° 4, 166 000 000 Ar HT (prix corrigé, rabais déduit), délai de 3 mois tiré de l’acte d’engagement.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Critère par critère : l’exigence du DAO, le constat de séance, la décision et son motif ; les capacités déclarées se lisent en PDF.</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offre non qualifiée est écartée avec motif et clause : le tour passe à la suivante.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RG-EVA-23 · RG-EVA-24 · RG-EVA-25 · RG-EVA-26</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ÉVALUER LES OFFRES</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 rapport d’évaluation</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rapport suit le plan du guide. Il se produit quand tout est arrêté et ne vaut qu’au quorum : sa signature par les membres tient lieu de PV de validation.</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RAPPORT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rapport signé, au quorum</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rapport signé, au quorum">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signent ; le président est toujours requis.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Signé de tous » : produit et signé le même jour, lisible en PDF et en Word.</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signature est datée ; un membre y porte une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observation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qui va au rapport.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Quorum atteint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2 sur 2 requis (majorité des membres désignés), président signataire ».</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RG-EVA-27 · RG-EVA-29 · RG-EVA-30 · RG-EVA-38</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RAPPORT · MEMBRE DE LA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Signer, avec une observation</a:t>
            </a:r>
            <a:endParaRPr lang="en-US" sz="2600" dirty="0"/>
          </a:p>
        </p:txBody>
      </p:sp>
      <p:sp>
        <p:nvSpPr>
          <p:cNvPr id="4" name="Shape 2"/>
          <p:cNvSpPr/>
          <p:nvPr/>
        </p:nvSpPr>
        <p:spPr>
          <a:xfrm>
            <a:off x="997916" y="1193800"/>
            <a:ext cx="10195862" cy="3327400"/>
          </a:xfrm>
          <a:prstGeom prst="rect">
            <a:avLst/>
          </a:prstGeom>
          <a:solidFill>
            <a:srgbClr val="FCFCFA"/>
          </a:solidFill>
          <a:ln w="9525">
            <a:solidFill>
              <a:srgbClr val="D5DCE4"/>
            </a:solidFill>
            <a:prstDash val="solid"/>
          </a:ln>
        </p:spPr>
      </p:sp>
      <p:pic>
        <p:nvPicPr>
          <p:cNvPr id="5" name="Image 0" descr="Signer, avec une observation">    </p:cNvPr>
          <p:cNvPicPr>
            <a:picLocks noChangeAspect="1"/>
          </p:cNvPicPr>
          <p:nvPr/>
        </p:nvPicPr>
        <p:blipFill>
          <a:blip r:embed="rId1"/>
          <a:stretch>
            <a:fillRect/>
          </a:stretch>
        </p:blipFill>
        <p:spPr>
          <a:xfrm>
            <a:off x="1010616" y="1206500"/>
            <a:ext cx="10170463"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Chaque membre qui n’a pas déclaré de conflit.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membre relit le rapport, puis signe : signature électronique simple, horodatée.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désaccord, il porte son observation au rapport ; un empêchement est constaté par le président, avec un motif.</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RG-EVA-29</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RAPPORT · DOCUMENT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rapport, sur le plan du guide</a:t>
            </a:r>
            <a:endParaRPr lang="en-US" sz="2600" dirty="0"/>
          </a:p>
        </p:txBody>
      </p:sp>
      <p:sp>
        <p:nvSpPr>
          <p:cNvPr id="4" name="Shape 2"/>
          <p:cNvSpPr/>
          <p:nvPr/>
        </p:nvSpPr>
        <p:spPr>
          <a:xfrm>
            <a:off x="800080" y="1193800"/>
            <a:ext cx="3616625" cy="5105400"/>
          </a:xfrm>
          <a:prstGeom prst="rect">
            <a:avLst/>
          </a:prstGeom>
          <a:solidFill>
            <a:srgbClr val="FCFCFA"/>
          </a:solidFill>
          <a:ln w="9525">
            <a:solidFill>
              <a:srgbClr val="D5DCE4"/>
            </a:solidFill>
            <a:prstDash val="solid"/>
          </a:ln>
        </p:spPr>
      </p:sp>
      <p:pic>
        <p:nvPicPr>
          <p:cNvPr id="5" name="Image 0" descr="Le rapport, sur le plan du guide">    </p:cNvPr>
          <p:cNvPicPr>
            <a:picLocks noChangeAspect="1"/>
          </p:cNvPicPr>
          <p:nvPr/>
        </p:nvPicPr>
        <p:blipFill>
          <a:blip r:embed="rId1"/>
          <a:stretch>
            <a:fillRect/>
          </a:stretch>
        </p:blipFill>
        <p:spPr>
          <a:xfrm>
            <a:off x="812780" y="1206500"/>
            <a:ext cx="3591226" cy="5080000"/>
          </a:xfrm>
          <a:prstGeom prst="rect">
            <a:avLst/>
          </a:prstGeom>
        </p:spPr>
      </p:pic>
      <p:sp>
        <p:nvSpPr>
          <p:cNvPr id="6" name="Shape 3"/>
          <p:cNvSpPr/>
          <p:nvPr/>
        </p:nvSpPr>
        <p:spPr>
          <a:xfrm>
            <a:off x="4581801" y="1206500"/>
            <a:ext cx="6797115" cy="5080000"/>
          </a:xfrm>
          <a:prstGeom prst="rect">
            <a:avLst/>
          </a:prstGeom>
          <a:solidFill>
            <a:srgbClr val="FCFCFA"/>
          </a:solidFill>
          <a:ln w="9525">
            <a:solidFill>
              <a:srgbClr val="D5DCE4"/>
            </a:solidFill>
            <a:prstDash val="solid"/>
          </a:ln>
        </p:spPr>
      </p:sp>
      <p:sp>
        <p:nvSpPr>
          <p:cNvPr id="7" name="Shape 4"/>
          <p:cNvSpPr/>
          <p:nvPr/>
        </p:nvSpPr>
        <p:spPr>
          <a:xfrm>
            <a:off x="4581801" y="1206500"/>
            <a:ext cx="38099" cy="5080000"/>
          </a:xfrm>
          <a:prstGeom prst="rect">
            <a:avLst/>
          </a:prstGeom>
          <a:solidFill>
            <a:srgbClr val="1B6FA8"/>
          </a:solidFill>
          <a:ln/>
        </p:spPr>
      </p:sp>
      <p:sp>
        <p:nvSpPr>
          <p:cNvPr id="8" name="Text 5"/>
          <p:cNvSpPr/>
          <p:nvPr/>
        </p:nvSpPr>
        <p:spPr>
          <a:xfrm>
            <a:off x="4746897" y="1308100"/>
            <a:ext cx="6505022"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Produit par l’application ; non public.</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Références et commission, plis reçus, puis lot par lot : examen préliminaire, corrections, montant évalué et classement, offres anormales, post-qualification, proposition d’attribution.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Puis les signatures et les annexes : déclarations des membres, échanges avec les candidats.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RG-EVA-28</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ÉTAPE CLOSE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L’étape close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étape clo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Tous les profils qui lisent l’évaluation.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Étape close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le dossier de marché n° 100372 (lot 1) est soumis à la Commission ; la séance, l’évaluation et l’AMI de la procédure ne se modifient plus.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Seule une reprise de l’évaluation après avis défavorable, ou une réattribution, les rouvre ; la PRMP ouvre le dossier de marché d’un clic.</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lectures restent ouvertes : rapport, PV, PDF et Word.</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RG-EVA-37</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ÉVALUER LES OFFRES</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Les prestations intellectuelles</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Pour une consultation de prestations intellectuelles, la commission note d’abord les propositions techniques ; seules les enveloppes financières des propositions retenues s’ouvrent ensuite, puis la PRMP négocie avec le premier classé.</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grille technique d’un membre</a:t>
            </a:r>
            <a:endParaRPr lang="en-US" sz="2600" dirty="0"/>
          </a:p>
        </p:txBody>
      </p:sp>
      <p:sp>
        <p:nvSpPr>
          <p:cNvPr id="4" name="Shape 2"/>
          <p:cNvSpPr/>
          <p:nvPr/>
        </p:nvSpPr>
        <p:spPr>
          <a:xfrm>
            <a:off x="2275249" y="1193800"/>
            <a:ext cx="7641196" cy="3327400"/>
          </a:xfrm>
          <a:prstGeom prst="rect">
            <a:avLst/>
          </a:prstGeom>
          <a:solidFill>
            <a:srgbClr val="FCFCFA"/>
          </a:solidFill>
          <a:ln w="9525">
            <a:solidFill>
              <a:srgbClr val="D5DCE4"/>
            </a:solidFill>
            <a:prstDash val="solid"/>
          </a:ln>
        </p:spPr>
      </p:sp>
      <p:pic>
        <p:nvPicPr>
          <p:cNvPr id="5" name="Image 0" descr="La grille technique d’un membre">    </p:cNvPr>
          <p:cNvPicPr>
            <a:picLocks noChangeAspect="1"/>
          </p:cNvPicPr>
          <p:nvPr/>
        </p:nvPicPr>
        <p:blipFill>
          <a:blip r:embed="rId1"/>
          <a:stretch>
            <a:fillRect/>
          </a:stretch>
        </p:blipFill>
        <p:spPr>
          <a:xfrm>
            <a:off x="2287949" y="1206500"/>
            <a:ext cx="7615797"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Chaque membre sans conflit.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membre note chaque élément de la grille de la fiche et motive ; la moyenne, le minimum et le maximum s’affichent.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ligne est signalée quand la note la plus haute et la plus basse s’écartent de plus de 20 % du maximum.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RG-EVA-31</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classement technique</a:t>
            </a:r>
            <a:endParaRPr lang="en-US" sz="2600" dirty="0"/>
          </a:p>
        </p:txBody>
      </p:sp>
      <p:sp>
        <p:nvSpPr>
          <p:cNvPr id="4" name="Shape 2"/>
          <p:cNvSpPr/>
          <p:nvPr/>
        </p:nvSpPr>
        <p:spPr>
          <a:xfrm>
            <a:off x="800080" y="1193800"/>
            <a:ext cx="10591535" cy="2855169"/>
          </a:xfrm>
          <a:prstGeom prst="rect">
            <a:avLst/>
          </a:prstGeom>
          <a:solidFill>
            <a:srgbClr val="FCFCFA"/>
          </a:solidFill>
          <a:ln w="9525">
            <a:solidFill>
              <a:srgbClr val="D5DCE4"/>
            </a:solidFill>
            <a:prstDash val="solid"/>
          </a:ln>
        </p:spPr>
      </p:sp>
      <p:pic>
        <p:nvPicPr>
          <p:cNvPr id="5" name="Image 0" descr="Le classement technique">    </p:cNvPr>
          <p:cNvPicPr>
            <a:picLocks noChangeAspect="1"/>
          </p:cNvPicPr>
          <p:nvPr/>
        </p:nvPicPr>
        <p:blipFill>
          <a:blip r:embed="rId1"/>
          <a:stretch>
            <a:fillRect/>
          </a:stretch>
        </p:blipFill>
        <p:spPr>
          <a:xfrm>
            <a:off x="812780" y="1206500"/>
            <a:ext cx="10566136" cy="2829769"/>
          </a:xfrm>
          <a:prstGeom prst="rect">
            <a:avLst/>
          </a:prstGeom>
        </p:spPr>
      </p:pic>
      <p:sp>
        <p:nvSpPr>
          <p:cNvPr id="6" name="Shape 3"/>
          <p:cNvSpPr/>
          <p:nvPr/>
        </p:nvSpPr>
        <p:spPr>
          <a:xfrm>
            <a:off x="812780" y="4188669"/>
            <a:ext cx="10566136" cy="1993900"/>
          </a:xfrm>
          <a:prstGeom prst="rect">
            <a:avLst/>
          </a:prstGeom>
          <a:solidFill>
            <a:srgbClr val="FCFCFA"/>
          </a:solidFill>
          <a:ln w="9525">
            <a:solidFill>
              <a:srgbClr val="D5DCE4"/>
            </a:solidFill>
            <a:prstDash val="solid"/>
          </a:ln>
        </p:spPr>
      </p:sp>
      <p:sp>
        <p:nvSpPr>
          <p:cNvPr id="7" name="Shape 4"/>
          <p:cNvSpPr/>
          <p:nvPr/>
        </p:nvSpPr>
        <p:spPr>
          <a:xfrm>
            <a:off x="812780" y="4188669"/>
            <a:ext cx="38099" cy="1993900"/>
          </a:xfrm>
          <a:prstGeom prst="rect">
            <a:avLst/>
          </a:prstGeom>
          <a:solidFill>
            <a:srgbClr val="1B6FA8"/>
          </a:solidFill>
          <a:ln/>
        </p:spPr>
      </p:sp>
      <p:sp>
        <p:nvSpPr>
          <p:cNvPr id="8" name="Text 5"/>
          <p:cNvSpPr/>
          <p:nvPr/>
        </p:nvSpPr>
        <p:spPr>
          <a:xfrm>
            <a:off x="977876" y="4290269"/>
            <a:ext cx="10274043" cy="18034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commission ; le président arrête.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note technique, somme des moyennes ; les grilles reçues ou complètes ; le rang.</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Sous le score minimum, la proposition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éliminée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ici 67,5 points pour un minimum de 70.</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RG-EVA-31</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seconde séance et le classement financier</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seconde séance et le classement financier">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seconde séance n’ouvre que l’enveloppe financière de la proposition retenue ; l’enveloppe éliminée à l’évaluation technique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ne s’ouvre pas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la raison est écrite.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Méthode qualité-coût, poids technique 0,8 et financier 0,2 : le classement est arrêté par le président.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RG-EVA-32</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saisie d’une enveloppe financière</a:t>
            </a:r>
            <a:endParaRPr lang="en-US" sz="2600" dirty="0"/>
          </a:p>
        </p:txBody>
      </p:sp>
      <p:sp>
        <p:nvSpPr>
          <p:cNvPr id="4" name="Shape 2"/>
          <p:cNvSpPr/>
          <p:nvPr/>
        </p:nvSpPr>
        <p:spPr>
          <a:xfrm>
            <a:off x="1616405" y="1193800"/>
            <a:ext cx="8958885" cy="3327400"/>
          </a:xfrm>
          <a:prstGeom prst="rect">
            <a:avLst/>
          </a:prstGeom>
          <a:solidFill>
            <a:srgbClr val="FCFCFA"/>
          </a:solidFill>
          <a:ln w="9525">
            <a:solidFill>
              <a:srgbClr val="D5DCE4"/>
            </a:solidFill>
            <a:prstDash val="solid"/>
          </a:ln>
        </p:spPr>
      </p:sp>
      <p:pic>
        <p:nvPicPr>
          <p:cNvPr id="5" name="Image 0" descr="La saisie d’une enveloppe financière">    </p:cNvPr>
          <p:cNvPicPr>
            <a:picLocks noChangeAspect="1"/>
          </p:cNvPicPr>
          <p:nvPr/>
        </p:nvPicPr>
        <p:blipFill>
          <a:blip r:embed="rId1"/>
          <a:stretch>
            <a:fillRect/>
          </a:stretch>
        </p:blipFill>
        <p:spPr>
          <a:xfrm>
            <a:off x="1629105" y="1206500"/>
            <a:ext cx="8933486"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Corrections arithmétiques et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dépenses remboursables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saisies par la commission : le montant comparé en découle.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Ces dépenses servent à comparer les propositions ; elles ne changent pas le prix du marché.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RG-EVA-32 · RG-EVA-35</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négociation à conclure</a:t>
            </a:r>
            <a:endParaRPr lang="en-US" sz="2600" dirty="0"/>
          </a:p>
        </p:txBody>
      </p:sp>
      <p:sp>
        <p:nvSpPr>
          <p:cNvPr id="4" name="Shape 2"/>
          <p:cNvSpPr/>
          <p:nvPr/>
        </p:nvSpPr>
        <p:spPr>
          <a:xfrm>
            <a:off x="2841550" y="1193800"/>
            <a:ext cx="6508596" cy="3327400"/>
          </a:xfrm>
          <a:prstGeom prst="rect">
            <a:avLst/>
          </a:prstGeom>
          <a:solidFill>
            <a:srgbClr val="FCFCFA"/>
          </a:solidFill>
          <a:ln w="9525">
            <a:solidFill>
              <a:srgbClr val="D5DCE4"/>
            </a:solidFill>
            <a:prstDash val="solid"/>
          </a:ln>
        </p:spPr>
      </p:sp>
      <p:pic>
        <p:nvPicPr>
          <p:cNvPr id="5" name="Image 0" descr="La négociation à conclure">    </p:cNvPr>
          <p:cNvPicPr>
            <a:picLocks noChangeAspect="1"/>
          </p:cNvPicPr>
          <p:nvPr/>
        </p:nvPicPr>
        <p:blipFill>
          <a:blip r:embed="rId1"/>
          <a:stretch>
            <a:fillRect/>
          </a:stretch>
        </p:blipFill>
        <p:spPr>
          <a:xfrm>
            <a:off x="2854249" y="1206500"/>
            <a:ext cx="6483197"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négociation se tient avec le premier classé, sur des points non substantiels (art. 42-IV).</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PRMP conclut : réussie, ou échouée et motivée ; le procès-verbal dit ce qui a été négocié et convenu.</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RG-EVA-33</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négociation réussie, le rapport à produire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négociation réussie, le rapport à produi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Prix lu et corrigé 2 400 000 000 Ar HT, dépenses remboursables 150 000 000 Ar : montant comparé 2 250 000 000 Ar, score combiné 89,6, rang 1.</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négociation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réussie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son PV se lit en PDF et en Word, et la proposition d’attribution en découle.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lot étant prêt, le responsable produit le rapport, avec ses observations facultatives.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RG-EVA-33 · RG-EVA-34</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ÉVALUER LES OFFRES · EN RÉSUMÉ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Ce que l’application garantit</a:t>
            </a:r>
            <a:endParaRPr lang="en-US" sz="2600" dirty="0"/>
          </a:p>
        </p:txBody>
      </p:sp>
      <p:sp>
        <p:nvSpPr>
          <p:cNvPr id="4" name="Shape 2"/>
          <p:cNvSpPr/>
          <p:nvPr/>
        </p:nvSpPr>
        <p:spPr>
          <a:xfrm>
            <a:off x="812780" y="1206500"/>
            <a:ext cx="3420448" cy="2159000"/>
          </a:xfrm>
          <a:prstGeom prst="rect">
            <a:avLst/>
          </a:prstGeom>
          <a:solidFill>
            <a:srgbClr val="FCFCFA"/>
          </a:solidFill>
          <a:ln w="9525">
            <a:solidFill>
              <a:srgbClr val="D5DCE4"/>
            </a:solidFill>
            <a:prstDash val="solid"/>
          </a:ln>
        </p:spPr>
      </p:sp>
      <p:sp>
        <p:nvSpPr>
          <p:cNvPr id="5" name="Shape 3"/>
          <p:cNvSpPr/>
          <p:nvPr/>
        </p:nvSpPr>
        <p:spPr>
          <a:xfrm>
            <a:off x="812780" y="1206500"/>
            <a:ext cx="3420448" cy="38100"/>
          </a:xfrm>
          <a:prstGeom prst="rect">
            <a:avLst/>
          </a:prstGeom>
          <a:solidFill>
            <a:srgbClr val="1B6FA8"/>
          </a:solidFill>
          <a:ln/>
        </p:spPr>
      </p:sp>
      <p:sp>
        <p:nvSpPr>
          <p:cNvPr id="6" name="Text 4"/>
          <p:cNvSpPr/>
          <p:nvPr/>
        </p:nvSpPr>
        <p:spPr>
          <a:xfrm>
            <a:off x="952476"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décision motivée, signée, conservée</a:t>
            </a:r>
            <a:endParaRPr lang="en-US" sz="1500" dirty="0"/>
          </a:p>
        </p:txBody>
      </p:sp>
      <p:sp>
        <p:nvSpPr>
          <p:cNvPr id="7" name="Text 5"/>
          <p:cNvSpPr/>
          <p:nvPr/>
        </p:nvSpPr>
        <p:spPr>
          <a:xfrm>
            <a:off x="952476"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Chaque décision de la commission porte son auteur, son heure et son motif ; une décision corrigée laisse la précédente au registre, et le journal de l’évaluation garde tout.</a:t>
            </a:r>
            <a:endParaRPr lang="en-US" sz="1200" dirty="0"/>
          </a:p>
        </p:txBody>
      </p:sp>
      <p:sp>
        <p:nvSpPr>
          <p:cNvPr id="8" name="Shape 6"/>
          <p:cNvSpPr/>
          <p:nvPr/>
        </p:nvSpPr>
        <p:spPr>
          <a:xfrm>
            <a:off x="4385624" y="1206500"/>
            <a:ext cx="3420448" cy="2159000"/>
          </a:xfrm>
          <a:prstGeom prst="rect">
            <a:avLst/>
          </a:prstGeom>
          <a:solidFill>
            <a:srgbClr val="FCFCFA"/>
          </a:solidFill>
          <a:ln w="9525">
            <a:solidFill>
              <a:srgbClr val="D5DCE4"/>
            </a:solidFill>
            <a:prstDash val="solid"/>
          </a:ln>
        </p:spPr>
      </p:sp>
      <p:sp>
        <p:nvSpPr>
          <p:cNvPr id="9" name="Shape 7"/>
          <p:cNvSpPr/>
          <p:nvPr/>
        </p:nvSpPr>
        <p:spPr>
          <a:xfrm>
            <a:off x="4385624" y="1206500"/>
            <a:ext cx="3420448" cy="38100"/>
          </a:xfrm>
          <a:prstGeom prst="rect">
            <a:avLst/>
          </a:prstGeom>
          <a:solidFill>
            <a:srgbClr val="2E8B57"/>
          </a:solidFill>
          <a:ln/>
        </p:spPr>
      </p:sp>
      <p:sp>
        <p:nvSpPr>
          <p:cNvPr id="10" name="Text 8"/>
          <p:cNvSpPr/>
          <p:nvPr/>
        </p:nvSpPr>
        <p:spPr>
          <a:xfrm>
            <a:off x="4525320"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Pas de conflit d’intérêts caché</a:t>
            </a:r>
            <a:endParaRPr lang="en-US" sz="1500" dirty="0"/>
          </a:p>
        </p:txBody>
      </p:sp>
      <p:sp>
        <p:nvSpPr>
          <p:cNvPr id="11" name="Text 9"/>
          <p:cNvSpPr/>
          <p:nvPr/>
        </p:nvSpPr>
        <p:spPr>
          <a:xfrm>
            <a:off x="4525320"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Aucun membre ne décide avant d’avoir déclaré n’avoir aucun conflit et accepté la confidentialité ; celui qui déclare un conflit ne décide rien.</a:t>
            </a:r>
            <a:endParaRPr lang="en-US" sz="1200" dirty="0"/>
          </a:p>
        </p:txBody>
      </p:sp>
      <p:sp>
        <p:nvSpPr>
          <p:cNvPr id="12" name="Shape 10"/>
          <p:cNvSpPr/>
          <p:nvPr/>
        </p:nvSpPr>
        <p:spPr>
          <a:xfrm>
            <a:off x="7958468" y="1206500"/>
            <a:ext cx="3420448" cy="2159000"/>
          </a:xfrm>
          <a:prstGeom prst="rect">
            <a:avLst/>
          </a:prstGeom>
          <a:solidFill>
            <a:srgbClr val="FCFCFA"/>
          </a:solidFill>
          <a:ln w="9525">
            <a:solidFill>
              <a:srgbClr val="D5DCE4"/>
            </a:solidFill>
            <a:prstDash val="solid"/>
          </a:ln>
        </p:spPr>
      </p:sp>
      <p:sp>
        <p:nvSpPr>
          <p:cNvPr id="13" name="Shape 11"/>
          <p:cNvSpPr/>
          <p:nvPr/>
        </p:nvSpPr>
        <p:spPr>
          <a:xfrm>
            <a:off x="7958468" y="1206500"/>
            <a:ext cx="3420448" cy="38100"/>
          </a:xfrm>
          <a:prstGeom prst="rect">
            <a:avLst/>
          </a:prstGeom>
          <a:solidFill>
            <a:srgbClr val="E3AE2E"/>
          </a:solidFill>
          <a:ln/>
        </p:spPr>
      </p:sp>
      <p:sp>
        <p:nvSpPr>
          <p:cNvPr id="14" name="Text 12"/>
          <p:cNvSpPr/>
          <p:nvPr/>
        </p:nvSpPr>
        <p:spPr>
          <a:xfrm>
            <a:off x="8098164"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montant calculé, jamais saisi</a:t>
            </a:r>
            <a:endParaRPr lang="en-US" sz="1500" dirty="0"/>
          </a:p>
        </p:txBody>
      </p:sp>
      <p:sp>
        <p:nvSpPr>
          <p:cNvPr id="15" name="Text 13"/>
          <p:cNvSpPr/>
          <p:nvPr/>
        </p:nvSpPr>
        <p:spPr>
          <a:xfrm>
            <a:off x="8098164"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montant évalué résulte du calcul de l’application, hors taxes ; une correction hors de ce calcul exige un motif et est signalée au contrôle de la Commission (art. 46-47).</a:t>
            </a:r>
            <a:endParaRPr lang="en-US" sz="1200" dirty="0"/>
          </a:p>
        </p:txBody>
      </p:sp>
      <p:sp>
        <p:nvSpPr>
          <p:cNvPr id="16" name="Shape 14"/>
          <p:cNvSpPr/>
          <p:nvPr/>
        </p:nvSpPr>
        <p:spPr>
          <a:xfrm>
            <a:off x="812780" y="3517900"/>
            <a:ext cx="3420448" cy="2159000"/>
          </a:xfrm>
          <a:prstGeom prst="rect">
            <a:avLst/>
          </a:prstGeom>
          <a:solidFill>
            <a:srgbClr val="FCFCFA"/>
          </a:solidFill>
          <a:ln w="9525">
            <a:solidFill>
              <a:srgbClr val="D5DCE4"/>
            </a:solidFill>
            <a:prstDash val="solid"/>
          </a:ln>
        </p:spPr>
      </p:sp>
      <p:sp>
        <p:nvSpPr>
          <p:cNvPr id="17" name="Shape 15"/>
          <p:cNvSpPr/>
          <p:nvPr/>
        </p:nvSpPr>
        <p:spPr>
          <a:xfrm>
            <a:off x="812780" y="3517900"/>
            <a:ext cx="3420448" cy="38100"/>
          </a:xfrm>
          <a:prstGeom prst="rect">
            <a:avLst/>
          </a:prstGeom>
          <a:solidFill>
            <a:srgbClr val="12324A"/>
          </a:solidFill>
          <a:ln/>
        </p:spPr>
      </p:sp>
      <p:sp>
        <p:nvSpPr>
          <p:cNvPr id="18" name="Text 16"/>
          <p:cNvSpPr/>
          <p:nvPr/>
        </p:nvSpPr>
        <p:spPr>
          <a:xfrm>
            <a:off x="952476"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Pas de rejet sans justification demandée</a:t>
            </a:r>
            <a:endParaRPr lang="en-US" sz="1500" dirty="0"/>
          </a:p>
        </p:txBody>
      </p:sp>
      <p:sp>
        <p:nvSpPr>
          <p:cNvPr id="19" name="Text 17"/>
          <p:cNvSpPr/>
          <p:nvPr/>
        </p:nvSpPr>
        <p:spPr>
          <a:xfrm>
            <a:off x="952476"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Une offre anormale n’est rejetée qu’après une demande écrite de la PRMP, et la réponse du candidat ou l’échéance ; le silence est écrit comme un refus de justifier (art. 48).</a:t>
            </a:r>
            <a:endParaRPr lang="en-US" sz="1200" dirty="0"/>
          </a:p>
        </p:txBody>
      </p:sp>
      <p:sp>
        <p:nvSpPr>
          <p:cNvPr id="20" name="Shape 18"/>
          <p:cNvSpPr/>
          <p:nvPr/>
        </p:nvSpPr>
        <p:spPr>
          <a:xfrm>
            <a:off x="4385624" y="3517900"/>
            <a:ext cx="3420448" cy="2159000"/>
          </a:xfrm>
          <a:prstGeom prst="rect">
            <a:avLst/>
          </a:prstGeom>
          <a:solidFill>
            <a:srgbClr val="FCFCFA"/>
          </a:solidFill>
          <a:ln w="9525">
            <a:solidFill>
              <a:srgbClr val="D5DCE4"/>
            </a:solidFill>
            <a:prstDash val="solid"/>
          </a:ln>
        </p:spPr>
      </p:sp>
      <p:sp>
        <p:nvSpPr>
          <p:cNvPr id="21" name="Shape 19"/>
          <p:cNvSpPr/>
          <p:nvPr/>
        </p:nvSpPr>
        <p:spPr>
          <a:xfrm>
            <a:off x="4385624" y="3517900"/>
            <a:ext cx="3420448" cy="38100"/>
          </a:xfrm>
          <a:prstGeom prst="rect">
            <a:avLst/>
          </a:prstGeom>
          <a:solidFill>
            <a:srgbClr val="1B6FA8"/>
          </a:solidFill>
          <a:ln/>
        </p:spPr>
      </p:sp>
      <p:sp>
        <p:nvSpPr>
          <p:cNvPr id="22" name="Text 20"/>
          <p:cNvSpPr/>
          <p:nvPr/>
        </p:nvSpPr>
        <p:spPr>
          <a:xfrm>
            <a:off x="4525320" y="36195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rapport au quorum</a:t>
            </a:r>
            <a:endParaRPr lang="en-US" sz="1500" dirty="0"/>
          </a:p>
        </p:txBody>
      </p:sp>
      <p:sp>
        <p:nvSpPr>
          <p:cNvPr id="23" name="Text 21"/>
          <p:cNvSpPr/>
          <p:nvPr/>
        </p:nvSpPr>
        <p:spPr>
          <a:xfrm>
            <a:off x="4525320" y="39052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rapport ne se produit et ne se clôt qu’au quorum fixé, président toujours requis ; le quorum constaté est imprimé au rapport, qui vaut PV de validation.</a:t>
            </a:r>
            <a:endParaRPr lang="en-US" sz="1200" dirty="0"/>
          </a:p>
        </p:txBody>
      </p:sp>
      <p:sp>
        <p:nvSpPr>
          <p:cNvPr id="24" name="Shape 22"/>
          <p:cNvSpPr/>
          <p:nvPr/>
        </p:nvSpPr>
        <p:spPr>
          <a:xfrm>
            <a:off x="7958468" y="3517900"/>
            <a:ext cx="3420448" cy="2159000"/>
          </a:xfrm>
          <a:prstGeom prst="rect">
            <a:avLst/>
          </a:prstGeom>
          <a:solidFill>
            <a:srgbClr val="FCFCFA"/>
          </a:solidFill>
          <a:ln w="9525">
            <a:solidFill>
              <a:srgbClr val="D5DCE4"/>
            </a:solidFill>
            <a:prstDash val="solid"/>
          </a:ln>
        </p:spPr>
      </p:sp>
      <p:sp>
        <p:nvSpPr>
          <p:cNvPr id="25" name="Shape 23"/>
          <p:cNvSpPr/>
          <p:nvPr/>
        </p:nvSpPr>
        <p:spPr>
          <a:xfrm>
            <a:off x="7958468" y="3517900"/>
            <a:ext cx="3420448" cy="38100"/>
          </a:xfrm>
          <a:prstGeom prst="rect">
            <a:avLst/>
          </a:prstGeom>
          <a:solidFill>
            <a:srgbClr val="2E8B57"/>
          </a:solidFill>
          <a:ln/>
        </p:spPr>
      </p:sp>
      <p:sp>
        <p:nvSpPr>
          <p:cNvPr id="26" name="Text 24"/>
          <p:cNvSpPr/>
          <p:nvPr/>
        </p:nvSpPr>
        <p:spPr>
          <a:xfrm>
            <a:off x="8098164"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évaluation figée sous contrôle</a:t>
            </a:r>
            <a:endParaRPr lang="en-US" sz="1500" dirty="0"/>
          </a:p>
        </p:txBody>
      </p:sp>
      <p:sp>
        <p:nvSpPr>
          <p:cNvPr id="27" name="Text 25"/>
          <p:cNvSpPr/>
          <p:nvPr/>
        </p:nvSpPr>
        <p:spPr>
          <a:xfrm>
            <a:off x="8098164"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Dès que le dossier de marché est soumis, la séance, l’évaluation et l’AMI ne se modifient plus ; seule une reprise ou une réattribution motivée et tracée les rouvre.</a:t>
            </a:r>
            <a:endParaRPr lang="en-US" sz="1200" dirty="0"/>
          </a:p>
        </p:txBody>
      </p:sp>
      <p:sp>
        <p:nvSpPr>
          <p:cNvPr id="28" name="Text 2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ÉVALUER LES OFFRES · RECETTE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points d’attention de l’étape</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Relevés pendant la refonte de la présentation (14/10) : « Confirmée » = constatée sur l’écran capturé ; « Expliquée » = effet des données de recette ; « À examiner » = cause à établir.</a:t>
            </a:r>
            <a:endParaRPr lang="en-US" sz="13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468880"/>
                <a:gridCol w="6309360"/>
                <a:gridCol w="1188720"/>
                <a:gridCol w="1463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Écran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Constat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Statut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Piste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08-09 · Attribution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Codes bruts affichés : « INFORME », « EN_VERIFICATION », « REMPLACEE », « RETIREE ».</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B23B3B"/>
                          </a:solidFill>
                          <a:latin typeface="Segoe UI" pitchFamily="34" charset="0"/>
                          <a:ea typeface="Segoe UI" pitchFamily="34" charset="-122"/>
                          <a:cs typeface="Segoe UI" pitchFamily="34" charset="-120"/>
                        </a:rPr>
                        <a:t>Confirmée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465568"/>
                          </a:solidFill>
                          <a:latin typeface="Segoe UI" pitchFamily="34" charset="0"/>
                          <a:ea typeface="Segoe UI" pitchFamily="34" charset="-122"/>
                          <a:cs typeface="Segoe UI" pitchFamily="34" charset="-120"/>
                        </a:rPr>
                        <a:t>Front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08 · Évaluation (40, 44)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L’onglet du lot dit « Rapport — en cours » alors que le rapport est « Signé de tous ».</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B23B3B"/>
                          </a:solidFill>
                          <a:latin typeface="Segoe UI" pitchFamily="34" charset="0"/>
                          <a:ea typeface="Segoe UI" pitchFamily="34" charset="-122"/>
                          <a:cs typeface="Segoe UI" pitchFamily="34" charset="-120"/>
                        </a:rPr>
                        <a:t>Confirmée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465568"/>
                          </a:solidFill>
                          <a:latin typeface="Segoe UI" pitchFamily="34" charset="0"/>
                          <a:ea typeface="Segoe UI" pitchFamily="34" charset="-122"/>
                          <a:cs typeface="Segoe UI" pitchFamily="34" charset="-120"/>
                        </a:rPr>
                        <a:t>Front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A</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Annexe A — Les règles de gestion</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Partie par partie, les règles que l’application applique : chacune cite sa source (règles de gestion du serveur, contrats, manuel de contrôle révisé) et les écrans où elle s’applique.</a:t>
            </a:r>
            <a:endParaRPr lang="en-US" sz="17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Étape 08 · Évaluer les offres · 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de gestion, en un tableau</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b="1" dirty="0">
                <a:solidFill>
                  <a:srgbClr val="1B2A3A"/>
                </a:solidFill>
                <a:latin typeface="Segoe UI" pitchFamily="34" charset="0"/>
                <a:ea typeface="Segoe UI" pitchFamily="34" charset="-122"/>
                <a:cs typeface="Segoe UI" pitchFamily="34" charset="-120"/>
              </a:rPr>
              <a:t>38 règles</a:t>
            </a:r>
            <a:pPr indent="0" marL="0">
              <a:buNone/>
            </a:pPr>
            <a:r>
              <a:rPr lang="en-US" sz="1300" dirty="0">
                <a:solidFill>
                  <a:srgbClr val="465568"/>
                </a:solidFill>
                <a:latin typeface="Segoe UI" pitchFamily="34" charset="0"/>
                <a:ea typeface="Segoe UI" pitchFamily="34" charset="-122"/>
                <a:cs typeface="Segoe UI" pitchFamily="34" charset="-120"/>
              </a:rPr>
              <a:t>, groupées par partie et par thème. Chaque écran de la présentation cite celles qu’il applique.</a:t>
            </a:r>
            <a:endParaRPr lang="en-US" sz="13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651760"/>
                <a:gridCol w="822960"/>
                <a:gridCol w="795528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Partie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Règles</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Thèmes</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050" b="1" dirty="0">
                          <a:solidFill>
                            <a:srgbClr val="1B2A3A"/>
                          </a:solidFill>
                          <a:latin typeface="Segoe UI" pitchFamily="34" charset="0"/>
                          <a:ea typeface="Segoe UI" pitchFamily="34" charset="-122"/>
                          <a:cs typeface="Segoe UI" pitchFamily="34" charset="-120"/>
                        </a:rPr>
                        <a:t>08 · Évaluer les offres</a:t>
                      </a:r>
                      <a:endParaRPr lang="en-US" sz="1050" dirty="0">
                        <a:latin typeface="Segoe UI" charset="0"/>
                        <a:ea typeface="Segoe UI" charset="0"/>
                        <a:cs typeface="Segoe UI" charset="0"/>
                      </a:endParaRPr>
                    </a:p>
                  </a:txBody>
                  <a:tcPr marL="76200" marR="762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50" b="1" dirty="0">
                          <a:solidFill>
                            <a:srgbClr val="1B6FA8"/>
                          </a:solidFill>
                          <a:latin typeface="Segoe UI" pitchFamily="34" charset="0"/>
                          <a:ea typeface="Segoe UI" pitchFamily="34" charset="-122"/>
                          <a:cs typeface="Segoe UI" pitchFamily="34" charset="-120"/>
                        </a:rPr>
                        <a:t>38</a:t>
                      </a:r>
                      <a:endParaRPr lang="en-US" sz="1050" dirty="0">
                        <a:latin typeface="Segoe UI" charset="0"/>
                        <a:ea typeface="Segoe UI" charset="0"/>
                        <a:cs typeface="Segoe UI" charset="0"/>
                      </a:endParaRPr>
                    </a:p>
                  </a:txBody>
                  <a:tcPr marL="76200" marR="762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50" dirty="0">
                          <a:solidFill>
                            <a:srgbClr val="465568"/>
                          </a:solidFill>
                          <a:latin typeface="Segoe UI" pitchFamily="34" charset="0"/>
                          <a:ea typeface="Segoe UI" pitchFamily="34" charset="-122"/>
                          <a:cs typeface="Segoe UI" pitchFamily="34" charset="-120"/>
                        </a:rPr>
                        <a:t>Ouvrir l’évaluation · Arrêter et tracer · L’examen préliminaire · Montant évalué et classement · Les offres anormales · La post-qualification · Le rapport d’évaluation · Les prestations intellectuelles</a:t>
                      </a:r>
                      <a:endParaRPr lang="en-US" sz="950" dirty="0">
                        <a:latin typeface="Segoe UI" charset="0"/>
                        <a:ea typeface="Segoe UI" charset="0"/>
                        <a:cs typeface="Segoe UI" charset="0"/>
                      </a:endParaRPr>
                    </a:p>
                  </a:txBody>
                  <a:tcPr marL="76200" marR="762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08 ÉVALUER LES 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Ouvrir l’évaluation</a:t>
            </a:r>
            <a:endParaRPr lang="en-US" sz="2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RG-EVA-01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offres en ligne, lot par lot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commission évalue les offres dans l’application, lot par lot, en suivant le guide d’évaluation. Les offres papier n’y entrent pas ; les offres écartées au dépôt, retirées ou remplacées ne sont pas évaluées, et l’écran les nomme avec leur raison.</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RG-EVA-02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Ouverte après le PV signé</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responsable de la procédure ouvre l’évaluation une fois le </a:t>
                      </a:r>
                      <a:pPr indent="0" marL="0">
                        <a:buNone/>
                      </a:pPr>
                      <a:r>
                        <a:rPr lang="en-US" sz="1100" b="1" dirty="0">
                          <a:solidFill>
                            <a:srgbClr val="1B2A3A"/>
                          </a:solidFill>
                          <a:latin typeface="Segoe UI" pitchFamily="34" charset="0"/>
                          <a:ea typeface="Segoe UI" pitchFamily="34" charset="-122"/>
                          <a:cs typeface="Segoe UI" pitchFamily="34" charset="-120"/>
                        </a:rPr>
                        <a:t>PV d’ouverture signé</a:t>
                      </a:r>
                      <a:pPr indent="0" marL="0">
                        <a:buNone/>
                      </a:pPr>
                      <a:r>
                        <a:rPr lang="en-US" sz="1100" dirty="0">
                          <a:solidFill>
                            <a:srgbClr val="1B2A3A"/>
                          </a:solidFill>
                          <a:latin typeface="Segoe UI" pitchFamily="34" charset="0"/>
                          <a:ea typeface="Segoe UI" pitchFamily="34" charset="-122"/>
                          <a:cs typeface="Segoe UI" pitchFamily="34" charset="-120"/>
                        </a:rPr>
                        <a:t>. Les membres de la commission et la PRMP en sont avertis.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RG-EVA-03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déclaration préalable de chaque membre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membre, président compris, signe d’abord une déclaration d’absence de </a:t>
                      </a:r>
                      <a:pPr indent="0" marL="0">
                        <a:buNone/>
                      </a:pPr>
                      <a:r>
                        <a:rPr lang="en-US" sz="1100" b="1" dirty="0">
                          <a:solidFill>
                            <a:srgbClr val="1B2A3A"/>
                          </a:solidFill>
                          <a:latin typeface="Segoe UI" pitchFamily="34" charset="0"/>
                          <a:ea typeface="Segoe UI" pitchFamily="34" charset="-122"/>
                          <a:cs typeface="Segoe UI" pitchFamily="34" charset="-120"/>
                        </a:rPr>
                        <a:t>conflit d’intérêts</a:t>
                      </a:r>
                      <a:pPr indent="0" marL="0">
                        <a:buNone/>
                      </a:pPr>
                      <a:r>
                        <a:rPr lang="en-US" sz="1100" dirty="0">
                          <a:solidFill>
                            <a:srgbClr val="1B2A3A"/>
                          </a:solidFill>
                          <a:latin typeface="Segoe UI" pitchFamily="34" charset="0"/>
                          <a:ea typeface="Segoe UI" pitchFamily="34" charset="-122"/>
                          <a:cs typeface="Segoe UI" pitchFamily="34" charset="-120"/>
                        </a:rPr>
                        <a:t> (art. 21-d) et de confidentialité (art. 12-V), qui ne se reprend pas. Un membre qui déclare un conflit lit tout mais ne décide rien.</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RG-EVA-04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membres décident, le président arrête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Tout membre déclaré sans conflit enregistre les décisions, visibles des autres ; le </a:t>
                      </a:r>
                      <a:pPr indent="0" marL="0">
                        <a:buNone/>
                      </a:pPr>
                      <a:r>
                        <a:rPr lang="en-US" sz="1100" b="1" dirty="0">
                          <a:solidFill>
                            <a:srgbClr val="1B2A3A"/>
                          </a:solidFill>
                          <a:latin typeface="Segoe UI" pitchFamily="34" charset="0"/>
                          <a:ea typeface="Segoe UI" pitchFamily="34" charset="-122"/>
                          <a:cs typeface="Segoe UI" pitchFamily="34" charset="-120"/>
                        </a:rPr>
                        <a:t>président</a:t>
                      </a:r>
                      <a:pPr indent="0" marL="0">
                        <a:buNone/>
                      </a:pPr>
                      <a:r>
                        <a:rPr lang="en-US" sz="1100" dirty="0">
                          <a:solidFill>
                            <a:srgbClr val="1B2A3A"/>
                          </a:solidFill>
                          <a:latin typeface="Segoe UI" pitchFamily="34" charset="0"/>
                          <a:ea typeface="Segoe UI" pitchFamily="34" charset="-122"/>
                          <a:cs typeface="Segoe UI" pitchFamily="34" charset="-120"/>
                        </a:rPr>
                        <a:t> arrête l’étape d’un lot, ce qui fige ses décisions. La PRMP demande les précisions et les justifications ; la PRMP et l’UGPM lisent.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L’évaluation des offres : l’examen préliminaire (demande front du 2026-10-07, arbitrages du pilote du 07/10) · regles-gestion.md § L’évaluation des offres : l’examen préliminaire (2026-10-07)</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38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08 ÉVALUER LES 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Arrêter et tracer</a:t>
            </a:r>
            <a:endParaRPr lang="en-US" sz="2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RG-EVA-05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décision pour chaque offre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étape ne s’arrête que lorsque chaque offre du lot a sa décision, et après l’arrêt de l’étape précédente.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RG-EVA-06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Rouvrir une étape, avec un motif</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peut </a:t>
                      </a:r>
                      <a:pPr indent="0" marL="0">
                        <a:buNone/>
                      </a:pPr>
                      <a:r>
                        <a:rPr lang="en-US" sz="1100" b="1" dirty="0">
                          <a:solidFill>
                            <a:srgbClr val="1B2A3A"/>
                          </a:solidFill>
                          <a:latin typeface="Segoe UI" pitchFamily="34" charset="0"/>
                          <a:ea typeface="Segoe UI" pitchFamily="34" charset="-122"/>
                          <a:cs typeface="Segoe UI" pitchFamily="34" charset="-120"/>
                        </a:rPr>
                        <a:t>rouvrir</a:t>
                      </a:r>
                      <a:pPr indent="0" marL="0">
                        <a:buNone/>
                      </a:pPr>
                      <a:r>
                        <a:rPr lang="en-US" sz="1100" dirty="0">
                          <a:solidFill>
                            <a:srgbClr val="1B2A3A"/>
                          </a:solidFill>
                          <a:latin typeface="Segoe UI" pitchFamily="34" charset="0"/>
                          <a:ea typeface="Segoe UI" pitchFamily="34" charset="-122"/>
                          <a:cs typeface="Segoe UI" pitchFamily="34" charset="-120"/>
                        </a:rPr>
                        <a:t> une étape avec un motif : elle et les suivantes du lot se rouvrent, et l’arrêt rouvert reste au registre. Ce n’est plus possible une fois le dossier de marché soumis (RG-EVA-37).</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RG-EVA-07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Rien ne s’efface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décision corrigée laisse la précédente au registre, et le journal dit qui a décidé quoi, quand, et pourquoi.</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RG-EVA-37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étapes closes ne se modifient plus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Dès qu’un dossier de marché de la procédure est </a:t>
                      </a:r>
                      <a:pPr indent="0" marL="0">
                        <a:buNone/>
                      </a:pPr>
                      <a:r>
                        <a:rPr lang="en-US" sz="1100" b="1" dirty="0">
                          <a:solidFill>
                            <a:srgbClr val="1B2A3A"/>
                          </a:solidFill>
                          <a:latin typeface="Segoe UI" pitchFamily="34" charset="0"/>
                          <a:ea typeface="Segoe UI" pitchFamily="34" charset="-122"/>
                          <a:cs typeface="Segoe UI" pitchFamily="34" charset="-120"/>
                        </a:rPr>
                        <a:t>soumis à la Commission</a:t>
                      </a:r>
                      <a:pPr indent="0" marL="0">
                        <a:buNone/>
                      </a:pPr>
                      <a:r>
                        <a:rPr lang="en-US" sz="1100" dirty="0">
                          <a:solidFill>
                            <a:srgbClr val="1B2A3A"/>
                          </a:solidFill>
                          <a:latin typeface="Segoe UI" pitchFamily="34" charset="0"/>
                          <a:ea typeface="Segoe UI" pitchFamily="34" charset="-122"/>
                          <a:cs typeface="Segoe UI" pitchFamily="34" charset="-120"/>
                        </a:rPr>
                        <a:t>, la séance d’ouverture, la seconde séance, l’évaluation et l’AMI de la procédure ne se modifient plus : la Commission examine ce qui lui a été soumis. Seules la reprise de l’évaluation après un avis défavorable et la réattribution après un retrait, motivées et tracées, les rouvrent. Les lectures restent ouvertes.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L’évaluation des offres, lot 1, tranche 1a : examen préliminaire et précisions · regles-gestion.md § L’évaluation des offres, lot 1, tranche 1a ; § l’immutabilité des étapes closes (manuel révisé, lot 2, tranche R9c) · regles-gestion.md § L’évaluation des offres : l’examen préliminaire (2026-10-07) · regles-gestion.md § l’immutabilité des étapes closes (manuel révisé, lot 2, tranche R9c, 2026-10-14) ; demande-backend-2026-10-10-manuel-revise-lot2.md, B4 n° 15, encadré ✅ Front</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39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08 ÉVALUER LES 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L’examen préliminaire (1/2)</a:t>
            </a:r>
            <a:endParaRPr lang="en-US" sz="2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RG-EVA-08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grille de neuf vérifications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Pour chaque offre, l’application pré-remplit une grille de neuf vérifications : acte d’engagement et prix, garantie, offre unique par candidat et par lot, exclusion, pouvoirs, pièces, conformité technique, intégrité, frais de dossier.</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RG-EVA-09</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alertes sont des constats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alertes de la séance sont des constats, </a:t>
                      </a:r>
                      <a:pPr indent="0" marL="0">
                        <a:buNone/>
                      </a:pPr>
                      <a:r>
                        <a:rPr lang="en-US" sz="1100" b="1" dirty="0">
                          <a:solidFill>
                            <a:srgbClr val="1B2A3A"/>
                          </a:solidFill>
                          <a:latin typeface="Segoe UI" pitchFamily="34" charset="0"/>
                          <a:ea typeface="Segoe UI" pitchFamily="34" charset="-122"/>
                          <a:cs typeface="Segoe UI" pitchFamily="34" charset="-120"/>
                        </a:rPr>
                        <a:t>jamais des décisions</a:t>
                      </a:r>
                      <a:pPr indent="0" marL="0">
                        <a:buNone/>
                      </a:pPr>
                      <a:r>
                        <a:rPr lang="en-US" sz="1100" dirty="0">
                          <a:solidFill>
                            <a:srgbClr val="1B2A3A"/>
                          </a:solidFill>
                          <a:latin typeface="Segoe UI" pitchFamily="34" charset="0"/>
                          <a:ea typeface="Segoe UI" pitchFamily="34" charset="-122"/>
                          <a:cs typeface="Segoe UI" pitchFamily="34" charset="-120"/>
                        </a:rPr>
                        <a:t>. La commission confirme ou corrige chaque vérification, puis décide ; elle peut retenir une offre malgré une vérification non satisfaite.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RG-EVA-10</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Aucune offre écartée d’office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offre altérée ou illisible, ou sans frais de dossier réglés, n’est </a:t>
                      </a:r>
                      <a:pPr indent="0" marL="0">
                        <a:buNone/>
                      </a:pPr>
                      <a:r>
                        <a:rPr lang="en-US" sz="1100" b="1" dirty="0">
                          <a:solidFill>
                            <a:srgbClr val="1B2A3A"/>
                          </a:solidFill>
                          <a:latin typeface="Segoe UI" pitchFamily="34" charset="0"/>
                          <a:ea typeface="Segoe UI" pitchFamily="34" charset="-122"/>
                          <a:cs typeface="Segoe UI" pitchFamily="34" charset="-120"/>
                        </a:rPr>
                        <a:t>jamais écartée d’office</a:t>
                      </a:r>
                      <a:pPr indent="0" marL="0">
                        <a:buNone/>
                      </a:pPr>
                      <a:r>
                        <a:rPr lang="en-US" sz="1100" dirty="0">
                          <a:solidFill>
                            <a:srgbClr val="1B2A3A"/>
                          </a:solidFill>
                          <a:latin typeface="Segoe UI" pitchFamily="34" charset="0"/>
                          <a:ea typeface="Segoe UI" pitchFamily="34" charset="-122"/>
                          <a:cs typeface="Segoe UI" pitchFamily="34" charset="-120"/>
                        </a:rPr>
                        <a:t> : la vérification est proposée « non satisfaite », la commission tranche.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RG-EVA-11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Écarter : motif, clause, qualification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Écarter une offre exige un motif, la </a:t>
                      </a:r>
                      <a:pPr indent="0" marL="0">
                        <a:buNone/>
                      </a:pPr>
                      <a:r>
                        <a:rPr lang="en-US" sz="1100" b="1" dirty="0">
                          <a:solidFill>
                            <a:srgbClr val="1B2A3A"/>
                          </a:solidFill>
                          <a:latin typeface="Segoe UI" pitchFamily="34" charset="0"/>
                          <a:ea typeface="Segoe UI" pitchFamily="34" charset="-122"/>
                          <a:cs typeface="Segoe UI" pitchFamily="34" charset="-120"/>
                        </a:rPr>
                        <a:t>clause du DAO</a:t>
                      </a:r>
                      <a:pPr indent="0" marL="0">
                        <a:buNone/>
                      </a:pPr>
                      <a:r>
                        <a:rPr lang="en-US" sz="1100" dirty="0">
                          <a:solidFill>
                            <a:srgbClr val="1B2A3A"/>
                          </a:solidFill>
                          <a:latin typeface="Segoe UI" pitchFamily="34" charset="0"/>
                          <a:ea typeface="Segoe UI" pitchFamily="34" charset="-122"/>
                          <a:cs typeface="Segoe UI" pitchFamily="34" charset="-120"/>
                        </a:rPr>
                        <a:t> visée et une qualification : irrecevable, non conforme, inappropriée ou inacceptable.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RG-EVA-12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Demander une précision au candidat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pose une question au candidat d’une offre (art. 35-VI), avec un délai, celui de la fiche par défaut. Le candidat répond </a:t>
                      </a:r>
                      <a:pPr indent="0" marL="0">
                        <a:buNone/>
                      </a:pPr>
                      <a:r>
                        <a:rPr lang="en-US" sz="1100" b="1" dirty="0">
                          <a:solidFill>
                            <a:srgbClr val="1B2A3A"/>
                          </a:solidFill>
                          <a:latin typeface="Segoe UI" pitchFamily="34" charset="0"/>
                          <a:ea typeface="Segoe UI" pitchFamily="34" charset="-122"/>
                          <a:cs typeface="Segoe UI" pitchFamily="34" charset="-120"/>
                        </a:rPr>
                        <a:t>une fois</a:t>
                      </a:r>
                      <a:pPr indent="0" marL="0">
                        <a:buNone/>
                      </a:pPr>
                      <a:r>
                        <a:rPr lang="en-US" sz="1100" dirty="0">
                          <a:solidFill>
                            <a:srgbClr val="1B2A3A"/>
                          </a:solidFill>
                          <a:latin typeface="Segoe UI" pitchFamily="34" charset="0"/>
                          <a:ea typeface="Segoe UI" pitchFamily="34" charset="-122"/>
                          <a:cs typeface="Segoe UI" pitchFamily="34" charset="-120"/>
                        </a:rPr>
                        <a:t>, dans le délai, par un texte et, s’il le veut, un fichier.</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L’évaluation des offres : l’examen préliminaire (2026-10-07)</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08 ÉVALUER LES 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L’examen préliminaire (2/2)</a:t>
            </a:r>
            <a:endParaRPr lang="en-US" sz="2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RG-EVA-13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précision ne change pas l’offre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précision ne peut changer ni le prix ni la substance de l’offre. L’application ne le contrôle pas : la demande et la réponse vont au rapport.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L’évaluation des offres : l’examen préliminaire (2026-10-07)</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08 ÉVALUER LES 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Montant évalué et classement (1/2)</a:t>
            </a:r>
            <a:endParaRPr lang="en-US" sz="2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RG-EVA-14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corrections proposées, retenues ou non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L’application propose les corrections arithmétiques tirées du bordereau scellé : le prix en lettres prévaut sur les chiffres, le prix unitaire sur le total. La commission les retient ou non ; une correction de ces deux natures </a:t>
                      </a:r>
                      <a:pPr indent="0" marL="0">
                        <a:buNone/>
                      </a:pPr>
                      <a:r>
                        <a:rPr lang="en-US" sz="1100" b="1" dirty="0">
                          <a:solidFill>
                            <a:srgbClr val="1B2A3A"/>
                          </a:solidFill>
                          <a:latin typeface="Segoe UI" pitchFamily="34" charset="0"/>
                          <a:ea typeface="Segoe UI" pitchFamily="34" charset="-122"/>
                          <a:cs typeface="Segoe UI" pitchFamily="34" charset="-120"/>
                        </a:rPr>
                        <a:t>ne peut que reprendre</a:t>
                      </a:r>
                      <a:pPr indent="0" marL="0">
                        <a:buNone/>
                      </a:pPr>
                      <a:r>
                        <a:rPr lang="en-US" sz="1100" dirty="0">
                          <a:solidFill>
                            <a:srgbClr val="1B2A3A"/>
                          </a:solidFill>
                          <a:latin typeface="Segoe UI" pitchFamily="34" charset="0"/>
                          <a:ea typeface="Segoe UI" pitchFamily="34" charset="-122"/>
                          <a:cs typeface="Segoe UI" pitchFamily="34" charset="-120"/>
                        </a:rPr>
                        <a:t> celle que l’application a calculée. Toute autre correction suit RG-EVA-35.</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RG-EVA-15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refus d’une correction constaté</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candidat qui refuse une correction voit son offre écartée si les instructions aux candidats le prévoient : la commission le constate, avec la clause.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RG-EVA-16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montant évalué hors taxes, calculé</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montants se comparent </a:t>
                      </a:r>
                      <a:pPr indent="0" marL="0">
                        <a:buNone/>
                      </a:pPr>
                      <a:r>
                        <a:rPr lang="en-US" sz="1100" b="1" dirty="0">
                          <a:solidFill>
                            <a:srgbClr val="1B2A3A"/>
                          </a:solidFill>
                          <a:latin typeface="Segoe UI" pitchFamily="34" charset="0"/>
                          <a:ea typeface="Segoe UI" pitchFamily="34" charset="-122"/>
                          <a:cs typeface="Segoe UI" pitchFamily="34" charset="-120"/>
                        </a:rPr>
                        <a:t>hors taxes</a:t>
                      </a:r>
                      <a:pPr indent="0" marL="0">
                        <a:buNone/>
                      </a:pPr>
                      <a:r>
                        <a:rPr lang="en-US" sz="1100" dirty="0">
                          <a:solidFill>
                            <a:srgbClr val="1B2A3A"/>
                          </a:solidFill>
                          <a:latin typeface="Segoe UI" pitchFamily="34" charset="0"/>
                          <a:ea typeface="Segoe UI" pitchFamily="34" charset="-122"/>
                          <a:cs typeface="Segoe UI" pitchFamily="34" charset="-120"/>
                        </a:rPr>
                        <a:t> : prix lu, corrigé, diminué du rabais, plus la marge de préférence appliquée aux offres qui n’y ont pas droit, plus les critères monétisés du DAO. L’application fait le calcul ; le montant évalué n’est jamais saisi à la main (art. 46-47).</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RG-EVA-17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préférence, si le DAO la prévoit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marge de préférence et les critères additionnels ne s’appliquent que si le DAO les prévoit. La commission marque, avec un motif, les offres éligibles ; la préférence sert à comparer, jamais au prix du marché.</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RG-EVA-18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rabais proposé sur le prix corrigé</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rabais sans condition est proposé sur le prix corrigé ; la commission ne s’en écarte qu’avec un </a:t>
                      </a:r>
                      <a:pPr indent="0" marL="0">
                        <a:buNone/>
                      </a:pPr>
                      <a:r>
                        <a:rPr lang="en-US" sz="1100" b="1" dirty="0">
                          <a:solidFill>
                            <a:srgbClr val="1B2A3A"/>
                          </a:solidFill>
                          <a:latin typeface="Segoe UI" pitchFamily="34" charset="0"/>
                          <a:ea typeface="Segoe UI" pitchFamily="34" charset="-122"/>
                          <a:cs typeface="Segoe UI" pitchFamily="34" charset="-120"/>
                        </a:rPr>
                        <a:t>motif</a:t>
                      </a:r>
                      <a:pPr indent="0" marL="0">
                        <a:buNone/>
                      </a:pPr>
                      <a:r>
                        <a:rPr lang="en-US" sz="1100" dirty="0">
                          <a:solidFill>
                            <a:srgbClr val="1B2A3A"/>
                          </a:solidFill>
                          <a:latin typeface="Segoe UI" pitchFamily="34" charset="0"/>
                          <a:ea typeface="Segoe UI" pitchFamily="34" charset="-122"/>
                          <a:cs typeface="Segoe UI" pitchFamily="34" charset="-120"/>
                        </a:rPr>
                        <a:t>. Un rabais lié à plusieurs lots n’est pas appliqué lot par lot : il est seulement rapporté.</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L’évaluation des offres (2026-10-07) ; § trois autres bloquants (manuel révisé, lot 2, tranche R9b, 2026-10-14) · regles-gestion.md § L’évaluation des offres : l’examen préliminaire (2026-10-07) · regles-gestion.md § L’évaluation des offres (2026-10-07) ; § trois autres bloquants (tranche R9b, 2026-10-14)</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42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08 ÉVALUER LES 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Montant évalué et classement (2/2)</a:t>
            </a:r>
            <a:endParaRPr lang="en-US" sz="2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RG-EVA-19</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classement, et l’égalité départagée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classement suit le montant évalué croissant. Deux offres premières à </a:t>
                      </a:r>
                      <a:pPr indent="0" marL="0">
                        <a:buNone/>
                      </a:pPr>
                      <a:r>
                        <a:rPr lang="en-US" sz="1100" b="1" dirty="0">
                          <a:solidFill>
                            <a:srgbClr val="1B2A3A"/>
                          </a:solidFill>
                          <a:latin typeface="Segoe UI" pitchFamily="34" charset="0"/>
                          <a:ea typeface="Segoe UI" pitchFamily="34" charset="-122"/>
                          <a:cs typeface="Segoe UI" pitchFamily="34" charset="-120"/>
                        </a:rPr>
                        <a:t>égalité</a:t>
                      </a:r>
                      <a:pPr indent="0" marL="0">
                        <a:buNone/>
                      </a:pPr>
                      <a:r>
                        <a:rPr lang="en-US" sz="1100" dirty="0">
                          <a:solidFill>
                            <a:srgbClr val="1B2A3A"/>
                          </a:solidFill>
                          <a:latin typeface="Segoe UI" pitchFamily="34" charset="0"/>
                          <a:ea typeface="Segoe UI" pitchFamily="34" charset="-122"/>
                          <a:cs typeface="Segoe UI" pitchFamily="34" charset="-120"/>
                        </a:rPr>
                        <a:t> sont départagées par la commission, avec un motif, avant que l’étape puisse être arrêtée.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RG-EVA-35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correction hors calcul, motivée et signalée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correction que l’application ne calcule pas (erreur de report, autre) reste possible, mais </a:t>
                      </a:r>
                      <a:pPr indent="0" marL="0">
                        <a:buNone/>
                      </a:pPr>
                      <a:r>
                        <a:rPr lang="en-US" sz="1100" b="1" dirty="0">
                          <a:solidFill>
                            <a:srgbClr val="1B2A3A"/>
                          </a:solidFill>
                          <a:latin typeface="Segoe UI" pitchFamily="34" charset="0"/>
                          <a:ea typeface="Segoe UI" pitchFamily="34" charset="-122"/>
                          <a:cs typeface="Segoe UI" pitchFamily="34" charset="-120"/>
                        </a:rPr>
                        <a:t>avec un motif</a:t>
                      </a:r>
                      <a:pPr indent="0" marL="0">
                        <a:buNone/>
                      </a:pPr>
                      <a:r>
                        <a:rPr lang="en-US" sz="1100" dirty="0">
                          <a:solidFill>
                            <a:srgbClr val="1B2A3A"/>
                          </a:solidFill>
                          <a:latin typeface="Segoe UI" pitchFamily="34" charset="0"/>
                          <a:ea typeface="Segoe UI" pitchFamily="34" charset="-122"/>
                          <a:cs typeface="Segoe UI" pitchFamily="34" charset="-120"/>
                        </a:rPr>
                        <a:t> ; elle se lit « Hors calcul ». Elle est signalée au contrôle du dossier de marché, où le Membre de la Commission la lit avant de rendre un avis favorable. La même règle vaut pour l’enveloppe financière des prestations intellectuelles.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L’évaluation des offres : l’examen préliminaire (2026-10-07) · regles-gestion.md § trois autres bloquants (manuel révisé, lot 2, tranche R9b, 2026-10-14) ; demande-backend-2026-10-10-manuel-revise-lot2.md, B4 n° 9, encadré ✅ Front</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43</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08 ÉVALUER LES 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offres anormales</a:t>
            </a:r>
            <a:endParaRPr lang="en-US" sz="2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RG-EVA-20</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indicateurs, pas une décision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Pour chaque offre classée, l’application donne son écart à l’estimation du plan et à la moyenne des offres, et rappelle la méthode du DAO s’il en porte une : ce sont des </a:t>
                      </a:r>
                      <a:pPr indent="0" marL="0">
                        <a:buNone/>
                      </a:pPr>
                      <a:r>
                        <a:rPr lang="en-US" sz="1100" b="1" dirty="0">
                          <a:solidFill>
                            <a:srgbClr val="1B2A3A"/>
                          </a:solidFill>
                          <a:latin typeface="Segoe UI" pitchFamily="34" charset="0"/>
                          <a:ea typeface="Segoe UI" pitchFamily="34" charset="-122"/>
                          <a:cs typeface="Segoe UI" pitchFamily="34" charset="-120"/>
                        </a:rPr>
                        <a:t>indicateurs</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RG-EVA-21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Chaque offre classée examinée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commission examine chaque offre classée : non suspectée, ou suspectée avec un motif. L’étape ne s’arrête pas tant qu’une offre suspectée reste en suspens.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RG-EVA-22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Pas de rejet sans justification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Aucune offre n’est rejetée sans une </a:t>
                      </a:r>
                      <a:pPr indent="0" marL="0">
                        <a:buNone/>
                      </a:pPr>
                      <a:r>
                        <a:rPr lang="en-US" sz="1100" b="1" dirty="0">
                          <a:solidFill>
                            <a:srgbClr val="1B2A3A"/>
                          </a:solidFill>
                          <a:latin typeface="Segoe UI" pitchFamily="34" charset="0"/>
                          <a:ea typeface="Segoe UI" pitchFamily="34" charset="-122"/>
                          <a:cs typeface="Segoe UI" pitchFamily="34" charset="-120"/>
                        </a:rPr>
                        <a:t>demande écrite de justification</a:t>
                      </a:r>
                      <a:pPr indent="0" marL="0">
                        <a:buNone/>
                      </a:pPr>
                      <a:r>
                        <a:rPr lang="en-US" sz="1100" dirty="0">
                          <a:solidFill>
                            <a:srgbClr val="1B2A3A"/>
                          </a:solidFill>
                          <a:latin typeface="Segoe UI" pitchFamily="34" charset="0"/>
                          <a:ea typeface="Segoe UI" pitchFamily="34" charset="-122"/>
                          <a:cs typeface="Segoe UI" pitchFamily="34" charset="-120"/>
                        </a:rPr>
                        <a:t> de la PRMP, et sans la réponse du candidat ou l’expiration de son délai (art. 48). La commission maintient ou rejette, avec un motif ; l’offre rejetée sort du classement.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RG-EVA-36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défaut de réponse vaut refus de justifier</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Quand l’échéance de la demande de justification passe sans réponse du candidat, la commission peut rejeter : le </a:t>
                      </a:r>
                      <a:pPr indent="0" marL="0">
                        <a:buNone/>
                      </a:pPr>
                      <a:r>
                        <a:rPr lang="en-US" sz="1100" b="1" dirty="0">
                          <a:solidFill>
                            <a:srgbClr val="1B2A3A"/>
                          </a:solidFill>
                          <a:latin typeface="Segoe UI" pitchFamily="34" charset="0"/>
                          <a:ea typeface="Segoe UI" pitchFamily="34" charset="-122"/>
                          <a:cs typeface="Segoe UI" pitchFamily="34" charset="-120"/>
                        </a:rPr>
                        <a:t>défaut de réponse</a:t>
                      </a:r>
                      <a:pPr indent="0" marL="0">
                        <a:buNone/>
                      </a:pPr>
                      <a:r>
                        <a:rPr lang="en-US" sz="1100" dirty="0">
                          <a:solidFill>
                            <a:srgbClr val="1B2A3A"/>
                          </a:solidFill>
                          <a:latin typeface="Segoe UI" pitchFamily="34" charset="0"/>
                          <a:ea typeface="Segoe UI" pitchFamily="34" charset="-122"/>
                          <a:cs typeface="Segoe UI" pitchFamily="34" charset="-120"/>
                        </a:rPr>
                        <a:t> vaut refus de justifier (art. 48). Il est écrit dans la décision et au journal, et l’offre porte la mention « Défaut de réponse ».</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L’évaluation des offres : l’examen préliminaire (2026-10-07) · regles-gestion.md § L’évaluation des offres, tranche 1c : offres anormales et post-qualification · regles-gestion.md § L’évaluation des offres (2026-10-07) ; § trois autres bloquants (tranche R9b, 2026-10-14) · regles-gestion.md § trois autres bloquants (tranche R9b, 2026-10-14) ; demande-backend-2026-10-10-manuel-revise-lot2.md, B4 n° 10, encadré ✅ Front</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44</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08 ÉVALUER LES 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post-qualification</a:t>
            </a:r>
            <a:endParaRPr lang="en-US" sz="2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RG-EVA-23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premier classé, puis le suivant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post-qualification porte sur le </a:t>
                      </a:r>
                      <a:pPr indent="0" marL="0">
                        <a:buNone/>
                      </a:pPr>
                      <a:r>
                        <a:rPr lang="en-US" sz="1100" b="1" dirty="0">
                          <a:solidFill>
                            <a:srgbClr val="1B2A3A"/>
                          </a:solidFill>
                          <a:latin typeface="Segoe UI" pitchFamily="34" charset="0"/>
                          <a:ea typeface="Segoe UI" pitchFamily="34" charset="-122"/>
                          <a:cs typeface="Segoe UI" pitchFamily="34" charset="-120"/>
                        </a:rPr>
                        <a:t>premier classé</a:t>
                      </a:r>
                      <a:pPr indent="0" marL="0">
                        <a:buNone/>
                      </a:pPr>
                      <a:r>
                        <a:rPr lang="en-US" sz="1100" dirty="0">
                          <a:solidFill>
                            <a:srgbClr val="1B2A3A"/>
                          </a:solidFill>
                          <a:latin typeface="Segoe UI" pitchFamily="34" charset="0"/>
                          <a:ea typeface="Segoe UI" pitchFamily="34" charset="-122"/>
                          <a:cs typeface="Segoe UI" pitchFamily="34" charset="-120"/>
                        </a:rPr>
                        <a:t>, puis, s’il échoue, sur le suivant, jusqu’à une offre qualifiée ou la fin du classement.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RG-EVA-24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critères du DAO, et eux seuls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critères sont ceux du DAO, et eux seuls : capacité juridique, capacité financière, capacité technique et expérience, matériel et personnel exigés. Chacun est jugé satisfait ou non ; un échec se motive.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RG-EVA-25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offre non qualifiée est écartée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offre non qualifiée est écartée avec un motif et la clause du DAO ; le tour passe à la suivante du classement.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RG-EVA-26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proposition d’attribution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L’étape arrêtée, le lot porte sa </a:t>
                      </a:r>
                      <a:pPr indent="0" marL="0">
                        <a:buNone/>
                      </a:pPr>
                      <a:r>
                        <a:rPr lang="en-US" sz="1100" b="1" dirty="0">
                          <a:solidFill>
                            <a:srgbClr val="1B2A3A"/>
                          </a:solidFill>
                          <a:latin typeface="Segoe UI" pitchFamily="34" charset="0"/>
                          <a:ea typeface="Segoe UI" pitchFamily="34" charset="-122"/>
                          <a:cs typeface="Segoe UI" pitchFamily="34" charset="-120"/>
                        </a:rPr>
                        <a:t>proposition d’attribution</a:t>
                      </a:r>
                      <a:pPr indent="0" marL="0">
                        <a:buNone/>
                      </a:pPr>
                      <a:r>
                        <a:rPr lang="en-US" sz="1100" dirty="0">
                          <a:solidFill>
                            <a:srgbClr val="1B2A3A"/>
                          </a:solidFill>
                          <a:latin typeface="Segoe UI" pitchFamily="34" charset="0"/>
                          <a:ea typeface="Segoe UI" pitchFamily="34" charset="-122"/>
                          <a:cs typeface="Segoe UI" pitchFamily="34" charset="-120"/>
                        </a:rPr>
                        <a:t> (offre, montant hors taxes, délai), ou l’infructuosité si aucune offre n’est qualifiée. L’attribution elle-même revient à la PRMP.</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L’évaluation des offres : l’examen préliminaire (2026-10-07)</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45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08 ÉVALUER LES 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rapport d’évaluation</a:t>
            </a:r>
            <a:endParaRPr lang="en-US" sz="2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RG-EVA-27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Produit quand tout est arrêté</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responsable produit le rapport quand toutes les étapes de tous les lots sont arrêtées, et seulement si le quorum des signataires appelés peut être atteint ; dès lors, plus aucune décision ne change.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RG-EVA-28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plan du guide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rapport suit le plan du guide : références, plis reçus, chaque étape lot par lot, proposition d’attribution, signatures. En annexe, les déclarations des membres et les échanges avec les candidats.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RG-EVA-29</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Signé, avec une observation possible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membre signe, hors ceux qui ont déclaré un conflit d’intérêts ; un membre en désaccord joint une </a:t>
                      </a:r>
                      <a:pPr indent="0" marL="0">
                        <a:buNone/>
                      </a:pPr>
                      <a:r>
                        <a:rPr lang="en-US" sz="1100" b="1" dirty="0">
                          <a:solidFill>
                            <a:srgbClr val="1B2A3A"/>
                          </a:solidFill>
                          <a:latin typeface="Segoe UI" pitchFamily="34" charset="0"/>
                          <a:ea typeface="Segoe UI" pitchFamily="34" charset="-122"/>
                          <a:cs typeface="Segoe UI" pitchFamily="34" charset="-120"/>
                        </a:rPr>
                        <a:t>observation</a:t>
                      </a:r>
                      <a:pPr indent="0" marL="0">
                        <a:buNone/>
                      </a:pPr>
                      <a:r>
                        <a:rPr lang="en-US" sz="1100" dirty="0">
                          <a:solidFill>
                            <a:srgbClr val="1B2A3A"/>
                          </a:solidFill>
                          <a:latin typeface="Segoe UI" pitchFamily="34" charset="0"/>
                          <a:ea typeface="Segoe UI" pitchFamily="34" charset="-122"/>
                          <a:cs typeface="Segoe UI" pitchFamily="34" charset="-120"/>
                        </a:rPr>
                        <a:t>. L’empêchement d’un membre est constaté par le président, avec un motif — jamais s’il rendait le quorum inatteignable.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RG-EVA-30</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Clos à la dernière signature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la dernière signature, l’évaluation est close et la PRMP est avertie. Le rapport </a:t>
                      </a:r>
                      <a:pPr indent="0" marL="0">
                        <a:buNone/>
                      </a:pPr>
                      <a:r>
                        <a:rPr lang="en-US" sz="1100" b="1" dirty="0">
                          <a:solidFill>
                            <a:srgbClr val="1B2A3A"/>
                          </a:solidFill>
                          <a:latin typeface="Segoe UI" pitchFamily="34" charset="0"/>
                          <a:ea typeface="Segoe UI" pitchFamily="34" charset="-122"/>
                          <a:cs typeface="Segoe UI" pitchFamily="34" charset="-120"/>
                        </a:rPr>
                        <a:t>n’est pas public</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RG-EVA-38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quorum, et le rapport qui vaut PV</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commission ne délibère qu’au </a:t>
                      </a:r>
                      <a:pPr indent="0" marL="0">
                        <a:buNone/>
                      </a:pPr>
                      <a:r>
                        <a:rPr lang="en-US" sz="1100" b="1" dirty="0">
                          <a:solidFill>
                            <a:srgbClr val="1B2A3A"/>
                          </a:solidFill>
                          <a:latin typeface="Segoe UI" pitchFamily="34" charset="0"/>
                          <a:ea typeface="Segoe UI" pitchFamily="34" charset="-122"/>
                          <a:cs typeface="Segoe UI" pitchFamily="34" charset="-120"/>
                        </a:rPr>
                        <a:t>quorum</a:t>
                      </a:r>
                      <a:pPr indent="0" marL="0">
                        <a:buNone/>
                      </a:pPr>
                      <a:r>
                        <a:rPr lang="en-US" sz="1100" dirty="0">
                          <a:solidFill>
                            <a:srgbClr val="1B2A3A"/>
                          </a:solidFill>
                          <a:latin typeface="Segoe UI" pitchFamily="34" charset="0"/>
                          <a:ea typeface="Segoe UI" pitchFamily="34" charset="-122"/>
                          <a:cs typeface="Segoe UI" pitchFamily="34" charset="-120"/>
                        </a:rPr>
                        <a:t> réglé par l’Administrateur (par défaut, plus de la moitié des membres désignés), le président ou son représentant étant toujours requis en plus. Le quorum bloque la production du rapport ; il est imprimé au rapport. Le rapport signé vaut PV de validation : date de la dernière signature, membres, empêchements, exclus pour conflit, observations.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L’évaluation des offres (2026-10-07) ; § le quorum de la commission (manuel révisé, lot 1, tranche R1) · regles-gestion.md § L’évaluation des offres : l’examen préliminaire (2026-10-07) · regles-gestion.md § L’évaluation des offres (2026-10-07) ; § le quorum de la commission (tranche R1) · regles-gestion.md § le quorum de la commission (manuel révisé, lot 1, tranche R1 ; arbitrages Q4 et Q5 du pilote)</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46</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08 ÉVALUER LES 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prestations intellectuelles</a:t>
            </a:r>
            <a:endParaRPr lang="en-US" sz="2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RG-EVA-31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notation technique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grille vient de la fiche validée. Chaque membre sans conflit note chaque élément de 0 à son maximum, et motive. La moyenne de chaque élément fait la note ; un écart de plus de 20 % du maximum entre la note haute et la basse est signalé. Le président arrête sur des grilles complètes ; sous le score minimum, la proposition est éliminée et son enveloppe financière ne s’ouvre pas.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RG-EVA-32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L’évaluation financière et le classement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Corrections arithmétiques et dépenses remboursables saisies par la commission : le montant comparé est le prix corrigé diminué des remboursables. En qualité-coût, le score financier et le score combiné suivent les poids de la fiche ; en budget prédéterminé, une proposition au-delà est hors budget ; en moindre coût, le montant comparé croissant. Une égalité se départage, motivée, avant l’arrêt.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RG-EVA-33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négociation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Conduite par la PRMP ou son UGPM avec le premier classé, sur des points non substantiels (art. 42-IV). Réussie, elle porte la proposition d’attribution ; échouée, elle se motive et le classé suivant vient. Une seule en cours, une seule réussie par lot ; son PV se produit en PDF et en Word.</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RG-EVA-34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proposition et le rapport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lot est prêt quand sa négociation a réussi ou qu’il est infructueux (toutes écartées, aucune au score minimum, aucune financière recevable, négociations sans accord). Le rapport se produit quand chaque lot est prêt ; ensuite, plus aucune écriture de l’évaluation.</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Lot 3 PI : demande evaluation-pi du 07/10, tranches PI-a à PI-c · Lot 3 PI : demande evaluation-pi du 07/10, tranche PI-d2a · Lot 3 PI : demande evaluation-pi du 07/10, tranche PI-d2b</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47</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B</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Annexe B — La référence des données</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Partie par partie, les objets que l’application crée ou modifie, et toutes leurs informations : nom, type et valeurs, caractère obligatoire, description tirée du serveur.</a:t>
            </a:r>
            <a:endParaRPr lang="en-US" sz="17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Étape 08 · Évaluer les offres · 48</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08 ÉVALUER LES 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données de l’étape (1/2)</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Chaque objet que cette étape crée ou modifie, avec la table du serveur qui le conserve et le nombre de ses informations.</a:t>
            </a:r>
            <a:endParaRPr lang="en-US" sz="13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926080"/>
                <a:gridCol w="2103120"/>
                <a:gridCol w="1005840"/>
                <a:gridCol w="539496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Objet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Ce qu’il porte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L’évaluation</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t_evaluation</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4</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L'évaluation d'une procédure, ouverte une fois le PV d'ouverture signé.</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déclaration préalable d’un membre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t_evaluation_declaration</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6</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La déclaration préalable d'un membre de la CAO : absence de conflit d'intérêts et confidentialité (art. 21-d, 12-V).</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L’étape arrêtée d’un lot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t_evaluation_etape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10</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L'arrêt d'une étape de l'évaluation d'un lot, par le président de la CAO. En vigueur tant que rouverteLe est nul ; rouvert, il reste au registre avec la date, l'auteur et le motif de sa réouverture.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décision sur une offre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t_evaluation_decision</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13</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Une décision de la CAO sur une offre, à une étape : la décision (CONFORME / ECARTEE à l'examen préliminaire), la qualification, le motif, la clause du DAO, et le détail de l'étape en JSON (contenu : la grille des vérifications).</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demande de précision ou de justification</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t_evaluation_demande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14</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Une demande adressée par la PRMP au candidat d'une offre : une précision (art. 35-VI, examen préliminaire) ou une justification de prix (art. 48, tranche suivante), avec son délai, et la réponse du candidat (texte et fichier joint).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départage d’une égalité</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t_evaluation_departage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8</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Le départage, par la CAO, d'offres d'un lot classées à égalité de montant évalué : ordre (identifiants d'offres séparés par des virgules, du premier au dernier) et son motif.</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rapport d’évaluation</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t_evaluation_rapport</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6</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Le rapport d'évaluation d'une procédure, ses signataires appelés et ses deux formats.</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signature du rapport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t_evaluation_signature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8</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La signature du rapport d'évaluation par un membre de la CAO (signature électronique simple, observation en cas de désaccord), ou son empêchement constaté par le président.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journal de l’évaluation</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t_evaluation_journal</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6</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Le journal de l'évaluation : chaque décision et chaque réouverture, avec son auteur et son détail.</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L’évaluation technique (lot 3)</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t_evaluation_technique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9</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L'étape technique d'un lot : son arrêt par le président, et sa réouverture motivée.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note technique d’un membre (lot 3)</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t_evaluation_note_technique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8</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La note d'un membre de la commission sur un élément de la grille technique (un sous-critère de la fiche, B06-TP-032, ou un critère noté globalement, B06-TP-02) d'une proposition technique, motivée.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L’évaluation financière (lot 3)</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t_evaluation_financiere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14</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La saisie d'une proposition financière ouverte : prix lu hors taxes, corrections arithmétiques (JSON), prix corrigé, dépenses remboursables (arbitrage du pilote : saisies par la commission) ; ou le refus d'une correction par le candidat, qui l'écarte.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49</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08 ÉVALUER LES 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données de l’étape (2/2)</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Chaque objet que cette étape crée ou modifie, avec la table du serveur qui le conserve et le nombre de ses informations.</a:t>
            </a:r>
            <a:endParaRPr lang="en-US" sz="13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926080"/>
                <a:gridCol w="2103120"/>
                <a:gridCol w="1005840"/>
                <a:gridCol w="539496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Objet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Ce qu’il porte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classement des propositions (lot 3)</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t_evaluation_classement_pi</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13</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Le classement d'un lot : son départage motivé (DEPARTAGE : les propositions techniques dans l'ordre retenu, séparées par des virgules), son arrêt par le président, sa réouverture motivée.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négociation (lot 3)</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t_negociation</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17</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Une négociation avec un candidat classé : conduite par la PRMP (ou son UGPM), une seule en cours et une seule réussie par lot ; son procès-verbal (texte, date, lieu, pièce jointe, PDF et Word) ; l'échec, motivé, ouvre la voie au suivant (Q7, en attente du juriste).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sous-critère technique de la fiche (lot 3)</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t_fiche_sous_critere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6</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 sous-critère technique d'une version de fiche de prestations intellectuelles : son critère (B06-TP-02 à B06-TP-06), son rang, son libellé, ses points.</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50</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08 ÉVALUER LES 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(1/7)</a:t>
            </a:r>
            <a:endParaRPr lang="en-US" sz="2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L’évaluation  ·  t_evaluation  ·  4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ETAT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État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 : EN_COURS, RAPPORT_A_SIGNER, CLOSE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OUVERTE_LE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Ouverte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OUVERTE_PAR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Ouverte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déclaration préalable d’un membre  ·  t_evaluation_declaration  ·  6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SIGNEE_LE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Signée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CONFLIT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Conflit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PRECISION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Précision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L’étape arrêtée d’un lot  ·  t_evaluation_etape  ·  10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ETAPE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Étape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ARRETEE_LE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Arrêtée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ARRETEE_PAR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Arrêtée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OBSERVATION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Observation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ROUVERTE_LE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Rouverte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ROUVERTE_PAR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Rouverte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MOTIF_REOUVERTURE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 reouverture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décision sur une offre  ·  t_evaluation_decision  ·  13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51</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08 ÉVALUER LES 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(2/7)</a:t>
            </a:r>
            <a:endParaRPr lang="en-US" sz="2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ID_OFFRE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offre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(36)</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ETAPE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Étape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DECISION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Décision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 : CONFORME, ECARTEE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QUALIFICATION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Qualification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CLAUSE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Clause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CONTENU</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Contenu</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REMPLACEE_LE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Remplacée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demande de précision ou de justification  ·  t_evaluation_demande  ·  14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ID_OFFRE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offre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(36)</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TYPE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Type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(15) : PRECISION, JUSTIFICATION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QUESTION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Question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DELAI_JOURS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Délai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ECHEANCE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Échéance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DEMANDEE_LE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Demandee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DEMANDEE_PAR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Demandee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REPONSE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Réponse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REPONSE_NOM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Réponse nom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REPONSE_FORMAT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Réponse format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REPONSE_TAILLE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Réponse taille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52</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08 ÉVALUER LES 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(3/7)</a:t>
            </a:r>
            <a:endParaRPr lang="en-US" sz="2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REPONDUE_LE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Repondu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départage d’une égalité  ·  t_evaluation_departage  ·  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ORDRE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Ordre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(400)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REMPLACE_LE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Remplacé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rapport d’évaluation  ·  t_evaluation_rapport  ·  6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PRODUIT_LE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Produit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PRODUIT_PAR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Produit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OBSERVATIONS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Observations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SIGNATAIRES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Signataires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(400)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Les identifiants des membres appelés à signer, séparés par des virgules.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SIGNE_LE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Signé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signature du rapport  ·  t_evaluation_signature  ·  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EMPECHEMENT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Empechement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CONSTATE_PAR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Constate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53</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08 ÉVALUER LES 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(4/7)</a:t>
            </a:r>
            <a:endParaRPr lang="en-US" sz="2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OBSERVATION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Observation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journal de l’évaluation  ·  t_evaluation_journal  ·  6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ACTEUR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Acteur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ACTION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Action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DETAIL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Détail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L’évaluation technique (lot 3)  ·  t_evaluation_technique  ·  9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ARRETEE_LE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Arrêtée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ARRETEE_PAR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Arrêtée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OBSERVATION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Observation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ROUVERTE_LE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Rouverte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MOTIF_REOUVERTURE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 reouverture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note technique d’un membre (lot 3)  ·  t_evaluation_note_technique  ·  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ID_OFFRE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offre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(36)</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ELEMENT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Element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54</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08 ÉVALUER LES 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(5/7)</a:t>
            </a:r>
            <a:endParaRPr lang="en-US" sz="2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L’évaluation financière (lot 3)  ·  t_evaluation_financiere  ·  14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ID_OFFRE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offre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(36)</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PRIX_LU</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Prix lu</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PRIX_LU_TTC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Prix lu TTC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CORRECTIONS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Corrections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PRIX_CORRIGE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Prix corrige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REMBOURSABLES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Remboursables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MOTIF_REMBOURSABLES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 remboursables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REFUS_MOTIF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Refus motif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REFUS_CLAUSE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Refus clause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classement des propositions (lot 3)  ·  t_evaluation_classement_pi  ·  13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ARRETE_LE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Arrêté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ARRETE_PAR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Arrêté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OBSERVATION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Observation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ROUVERT_LE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Rouvert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MOTIF_REOUVERTURE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 reouverture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55</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08 ÉVALUER LES 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(6/7)</a:t>
            </a:r>
            <a:endParaRPr lang="en-US" sz="2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DEPARTAGE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Départage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MOTIF_DEPARTAGE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 départage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DEPARTAGE_PAR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Départage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DEPARTAGE_LE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Départage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négociation (lot 3)  ·  t_negociation  ·  17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ID_OFFRE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offre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(36)</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La négociation réussie dont le marché a été retiré faute de pièces : le suivant est invité. */ public static final String RETIREE = "RETIREE"; @Id @GeneratedValue(strategy = GenerationType.IDENTITY) @Column(name = "ID") private Long id; @Column(name = "ID_DMC", nullable = false) private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ID_FINANCIERE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financiere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(36)</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NUMERO</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Numéro</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RAISON_SOCIALE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Raison sociale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RANG</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Rang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ETAT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État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 : EN_COURS, REUSSIE, ECHOUEE, RETIREE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OUVERTE_LE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Ouverte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OUVERTE_PAR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Ouverte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PREVUE_LE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Prévue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LIEU</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Lieu</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CONCLUE_LE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Conclue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CONCLUE_PAR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Conclue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DATE_NEGOCIATION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negociation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TEXTE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Texte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MOTIF_ECHEC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 echec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PIECE_NOM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Pièce nom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56</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08 ÉVALUER LES OFFRES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(7/7)</a:t>
            </a:r>
            <a:endParaRPr lang="en-US" sz="2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PIECE_TYPE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Pièce type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sous-critère technique de la fiche (lot 3)  ·  t_fiche_sous_critere  ·  6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ID_SOUS_CRITERE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sous critère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ID_FICHE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fiche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CRITERE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Critère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ORDRE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Ordre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LIBELLE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Libellé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POINTS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Points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08 · Évaluer les offres · 57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Commission nationale des marchés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PRS 2.0 — Étape 08 · Évaluer les offres</dc:title>
  <dc:subject>PptxGenJS Presentation</dc:subject>
  <dc:creator>PRS 2.0</dc:creator>
  <cp:lastModifiedBy>PRS 2.0</cp:lastModifiedBy>
  <cp:revision>1</cp:revision>
  <dcterms:created xsi:type="dcterms:W3CDTF">2026-10-14T12:25:41Z</dcterms:created>
  <dcterms:modified xsi:type="dcterms:W3CDTF">2026-10-14T12:25:41Z</dcterms:modified>
</cp:coreProperties>
</file>