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cérémonie des clés : l’étape qui rend possible la remise électronique des offres. Toutes les captures viennent de l’application, sur une procédure de démonstration montée pour cette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confiance ne repose ni sur le serveur ni sur un individu. La clé privée de chaque détenteur ne quitte jamais son navigateur ; le serveur ne garde que la clé publique et une enveloppe chiffrée par la phrase secrète du détenteur.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PRMP ou l’UGPM saisit ; la décision reste celle de la PRMP. Ni la PRMP, ni l’UGPM, ni les contrôleurs de la CNM ne peuvent siéger : le serveur le refuse en le disant.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Décision du pilote du 5 octobre 2026 : auparavant la clé de secours naissait sur le poste du responsable, qui voyait passer la phrase. Désormais seul le dépositaire la connaît.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812800"/>
            <a:ext cx="10159746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SOUMISSION ÉLECTRONIQUE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159746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cérémonie des clés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780" y="2476500"/>
            <a:ext cx="9207270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 la commission, le dépositaire et le responsable de la procédure préparent la clé qui ouvrira les offres — et pourquoi personne ne peut les lire avant la séance.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780" y="5207000"/>
            <a:ext cx="9524762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de l’application réelle, sur une procédure de démonstration (comptes « DÉMONSTRATION »).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nationale des marchés · octobre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952500"/>
            <a:ext cx="5079873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PRINCIPE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1270000"/>
            <a:ext cx="1041374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offre est chiffrée sur le poste du candidat. La clé qui l’ouvre est partagée entre plusieurs détenteurs : il faut en réunir un quorum, en séance, pour la lire.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80" y="3683000"/>
            <a:ext cx="38099" cy="1524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5176" y="3683000"/>
            <a:ext cx="3238419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détenteurs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5176" y="4064000"/>
            <a:ext cx="3238419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 de la commission d’appel d’offres, plus le dépositaire de la part de secours.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6790" y="3683000"/>
            <a:ext cx="38099" cy="1524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9186" y="3683000"/>
            <a:ext cx="3238419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quorum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59186" y="4064000"/>
            <a:ext cx="3238419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nombre minimal de parts à réunir ; une part seule ne suffit jamais (2 au moins).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0800" y="3683000"/>
            <a:ext cx="38099" cy="1524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3196" y="3683000"/>
            <a:ext cx="3238419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cérémonie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53196" y="4064000"/>
            <a:ext cx="3238419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détenteur crée sa paire de clés sur son poste et publie sa clé publique. Les candidats chiffrent pour ces clés.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FAIT QUOI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rôles, chacun dans son espace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Personne ne cumule : la PRMP et l’UGPM ne siègent pas, le responsable ne détient aucune part, le dépositaire ne lit jamais les offres.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3403515" cy="18415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3403515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44700"/>
            <a:ext cx="3098723" cy="317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(ou l’UGPM)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425700"/>
            <a:ext cx="3098723" cy="120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Désigne la commission d’appel d’offres par une décision : les membres, leur origine, le président. Elle ne détient aucune part.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4090" y="1905000"/>
            <a:ext cx="3403515" cy="18415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4090" y="1905000"/>
            <a:ext cx="3403515" cy="38100"/>
          </a:xfrm>
          <a:prstGeom prst="rect">
            <a:avLst/>
          </a:prstGeom>
          <a:solidFill>
            <a:srgbClr val="6A7787"/>
          </a:solidFill>
          <a:ln/>
        </p:spPr>
      </p:sp>
      <p:sp>
        <p:nvSpPr>
          <p:cNvPr id="11" name="Text 9"/>
          <p:cNvSpPr/>
          <p:nvPr/>
        </p:nvSpPr>
        <p:spPr>
          <a:xfrm>
            <a:off x="4546486" y="2044700"/>
            <a:ext cx="3098723" cy="317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L’Administrateur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6486" y="2425700"/>
            <a:ext cx="3098723" cy="120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Désigne le responsable de la procédure, un contrôleur de la CNM extérieur à l’achat.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75401" y="1905000"/>
            <a:ext cx="3403515" cy="18415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5401" y="1905000"/>
            <a:ext cx="3403515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797" y="2044700"/>
            <a:ext cx="3098723" cy="317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797" y="2425700"/>
            <a:ext cx="3098723" cy="120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 le quorum, la date de la cérémonie et le dépositaire ; suit la cérémonie et la clôt. Il ne détient aucune part.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80" y="3924300"/>
            <a:ext cx="3403515" cy="18415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24300"/>
            <a:ext cx="3403515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965176" y="4064000"/>
            <a:ext cx="3098723" cy="317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membres de la CAO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176" y="4445000"/>
            <a:ext cx="3098723" cy="120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Chacun génère sa clé sur son poste, la protège par sa phrase secrète, la publie et la vérifie.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94090" y="3924300"/>
            <a:ext cx="3403515" cy="18415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94090" y="3924300"/>
            <a:ext cx="3403515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46486" y="4064000"/>
            <a:ext cx="3098723" cy="317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dépositaire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46486" y="4445000"/>
            <a:ext cx="3098723" cy="120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Garde la part de secours : il génère sa clé sur son poste, imprime le pli de sa phrase et le conserve. Personne d’autre ne la voit.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75401" y="3924300"/>
            <a:ext cx="3403515" cy="18415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5401" y="3924300"/>
            <a:ext cx="3403515" cy="38100"/>
          </a:xfrm>
          <a:prstGeom prst="rect">
            <a:avLst/>
          </a:prstGeom>
          <a:solidFill>
            <a:srgbClr val="8A5A9E"/>
          </a:solidFill>
          <a:ln/>
        </p:spPr>
      </p:sp>
      <p:sp>
        <p:nvSpPr>
          <p:cNvPr id="27" name="Text 25"/>
          <p:cNvSpPr/>
          <p:nvPr/>
        </p:nvSpPr>
        <p:spPr>
          <a:xfrm>
            <a:off x="8127797" y="4064000"/>
            <a:ext cx="3098723" cy="317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candidat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7797" y="4445000"/>
            <a:ext cx="3098723" cy="120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voit que les clés publiques : son offre est chiffrée pour elles, sur son poste, au dépôt.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DÉROULÉ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étapes, de la commission à la clôture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qui suivent montrent chaque étape, dans l’ordre, sur la procédure de démonstration.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2032000"/>
            <a:ext cx="1612860" cy="1524000"/>
          </a:xfrm>
          <a:prstGeom prst="roundRect">
            <a:avLst>
              <a:gd name="adj" fmla="val 3600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77" y="2120900"/>
            <a:ext cx="1435064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1677" y="2349500"/>
            <a:ext cx="1435064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Désigner la commission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1677" y="3048000"/>
            <a:ext cx="1435064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38339" y="2794000"/>
            <a:ext cx="152396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3435" y="2032000"/>
            <a:ext cx="1612860" cy="1524000"/>
          </a:xfrm>
          <a:prstGeom prst="roundRect">
            <a:avLst>
              <a:gd name="adj" fmla="val 3600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2333" y="2120900"/>
            <a:ext cx="1435064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2333" y="2349500"/>
            <a:ext cx="1435064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Désigner le responsable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2333" y="3048000"/>
            <a:ext cx="1435064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Administrateur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28994" y="2794000"/>
            <a:ext cx="152396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94090" y="2032000"/>
            <a:ext cx="1612860" cy="1524000"/>
          </a:xfrm>
          <a:prstGeom prst="roundRect">
            <a:avLst>
              <a:gd name="adj" fmla="val 3600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2988" y="2120900"/>
            <a:ext cx="1435064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2988" y="2349500"/>
            <a:ext cx="1435064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Fixer quorum, date, dépositaire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2988" y="3048000"/>
            <a:ext cx="1435064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19650" y="2794000"/>
            <a:ext cx="152396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84745" y="2032000"/>
            <a:ext cx="1612860" cy="1524000"/>
          </a:xfrm>
          <a:prstGeom prst="roundRect">
            <a:avLst>
              <a:gd name="adj" fmla="val 3600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3643" y="2120900"/>
            <a:ext cx="1435064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3643" y="2349500"/>
            <a:ext cx="1435064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Activer son compte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3643" y="3048000"/>
            <a:ext cx="1435064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Membres, dépositaire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10305" y="2794000"/>
            <a:ext cx="152396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75401" y="2032000"/>
            <a:ext cx="1612860" cy="1524000"/>
          </a:xfrm>
          <a:prstGeom prst="roundRect">
            <a:avLst>
              <a:gd name="adj" fmla="val 3600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4298" y="2120900"/>
            <a:ext cx="1435064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64298" y="2349500"/>
            <a:ext cx="1435064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Générer et publier sa clé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64298" y="3048000"/>
            <a:ext cx="1435064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Membres, dépositaire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0960" y="2794000"/>
            <a:ext cx="152396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66056" y="2032000"/>
            <a:ext cx="1612860" cy="1524000"/>
          </a:xfrm>
          <a:prstGeom prst="roundRect">
            <a:avLst>
              <a:gd name="adj" fmla="val 3600"/>
            </a:avLst>
          </a:prstGeom>
          <a:solidFill>
            <a:srgbClr val="12324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4954" y="2120900"/>
            <a:ext cx="1435064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54954" y="2349500"/>
            <a:ext cx="1435064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Clore la cérémonie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54954" y="3048000"/>
            <a:ext cx="1435064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2780" y="3873500"/>
            <a:ext cx="10413740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Puis, à tout moment avant la date limite, chaque détenteur 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vérifie sa part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 un défi. Une fois close, la cérémonie sert les clés publiques aux candidats : la fiche peut être validée et l’avis publié.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la cérémonie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88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commission, le responsable, le quorum et le dépositaire : ce qui doit être en place avant que quiconque ne génère une clé.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1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désigne la commission d’appel d’offres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Depuis la fiche DAO, bouton « Commission d’appel d’offres » (remise électronique seulement).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 de nomination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sa référence, sa date, et le PDF signé.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origine (entité contractante ou expert de l’objet — un expert au plus), coordonnées, et un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l’enregistrement, chaque membre reçoit un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une invitation par courriel.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495262"/>
            <a:ext cx="7162621" cy="456597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RMP désigne la commission d’appel d’off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71462"/>
            <a:ext cx="7010225" cy="44135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· ADMINISTRATEUR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L’Administrateur désigne le responsable de la procédure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la fiche DAO, section « Responsable de la procédure ».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contrôleur de la CNM,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hors commission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il conduit la cérémonie et la séance, sans jamais détenir de part.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Sans responsable, une fiche en remise électronique ne se valide pas.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728427"/>
            <a:ext cx="10540736" cy="1750646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dministrateur désigne le responsable de la procéd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804627"/>
            <a:ext cx="10388340" cy="15982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fixe le quorum, la date et le dépositaire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membres viennent de la commission : il les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il ne les choisit pas.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Quorum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entre 2 et le nombre de membres. Égal au nombre de membres, il ne tolère aucune perte — l’écran l’avertit.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de la cérémonie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elle doit précéder la publication de l’avis.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Dépositaire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libre, désigné pour la procédure, avec son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adresse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il reçoit à son tour un compte et une invitation.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50280" y="3060700"/>
            <a:ext cx="7691134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sponsable fixe le quorum, la date et le déposit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478" y="3136900"/>
            <a:ext cx="7538738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cérémonie attend ses trois clés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parts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les membres + la part de secours ; ici 3 parts, quorum 2.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détenteur est 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Clé à publier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part de secours se génère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chez le dépositaire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depuis son espace : le responsable n’en voit que l’état.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prise après une réouverture de la cérémonie, d’où l’état « rouverte — à refaire 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7163" y="3060700"/>
            <a:ext cx="9877369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cérémonie attend ses trois clé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361" y="3136900"/>
            <a:ext cx="9724972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 publie sa clé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88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l’espace de la commission d’appel d’offres, séparé du reste de l’application.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· MEMBRE DE LA CAO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active son compte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L’invitation porte un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à six chiffres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valable 72 heures.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choisit son mot de passe, puis se connecte avec son adresse.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espace est à part : il ne voit que ses procédures et sa clé.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495262"/>
            <a:ext cx="7162621" cy="456597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membre active son comp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71462"/>
            <a:ext cx="7010225" cy="4413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· MEMBRE DE LA CAO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 procédures, et ce qui l’attend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appel d’offres où il siège, avec l’état de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part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celui de la cérémonie.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badge « Président » pour le président de la commission.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495262"/>
            <a:ext cx="7162621" cy="456597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es procédures, et ce qui l’att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71462"/>
            <a:ext cx="7010225" cy="4413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· MEMBRE DE LA CAO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choisit sa phrase secrète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paire de clés naît dans son navigateur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clé privée est enveloppée par sa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phrase secrète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(12 caractères au moins) ; seule l’enveloppe part au serveur.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phrase ne quitte jamais le poste : personne ne pourra la lui redonner.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86307" y="3060700"/>
            <a:ext cx="7019081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Il choisit sa phrase secrè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2505" y="3136900"/>
            <a:ext cx="6866685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· MEMBRE DE LA CAO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clé est publiée, avec son empreinte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empreinte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(SHA-256) de sa clé publique : elle doit être celle que la liste montre à son nom.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Enregistrer ma copie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: la clé enveloppée, hors ligne — utile si le serveur ne pouvait plus la rendre.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Ensuite : vérifier sa part, la remplacer, ou la déclarer perdue.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38286" y="3060700"/>
            <a:ext cx="6315123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a clé est publiée, avec son emprei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4484" y="3136900"/>
            <a:ext cx="6162727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dépositaire et la part de secours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88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part de plus, gardée hors de la commission, pour qu’une absence n’empêche pas d’ouvrir les offres.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· DÉPOSITAIRE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dépositaire active son compte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Même invitation, même code, dans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propre espace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ne lit ni les offres, ni leurs pièces, ni le procès-verbal.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495262"/>
            <a:ext cx="7162621" cy="456597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épositaire active son comp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71462"/>
            <a:ext cx="7010225" cy="4413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· DÉPOSITAIRE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 procédures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procédures dont il garde la part de secours.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tête, ce qui l’attend : 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Votre clé de secours est à générer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», puis, le jour venu, « la séance demande votre part 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495262"/>
            <a:ext cx="7162621" cy="456597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es procédu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71462"/>
            <a:ext cx="7010225" cy="4413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· DÉPOSITAIRE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clé de secours et son pli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clé naît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son poste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sa phrase est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générée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(sept mots), montrée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seule fois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imprime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pli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(phrase, empreinte, enveloppe de secours), le scelle et le conserve.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Personne d’autre — ni le responsable, ni la PRMP — ne voit cette phrase.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cette capture, la phrase est masquée pour la présentation.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79793" y="1473200"/>
            <a:ext cx="7010225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a clé de secours et son p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5991" y="1549400"/>
            <a:ext cx="6857829" cy="4457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· DÉPOSITAIRE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part de secours est publiée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peut 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vérifier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avec la phrase de son pli, la remplacer, ou la déclarer perdue.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part de secours compte pour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part : elle n’atteint jamais seule le quorum.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495262"/>
            <a:ext cx="7162621" cy="456597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art de secours est publi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71462"/>
            <a:ext cx="7010225" cy="4413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Clore, puis vérifier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88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clôture publie les clés aux candidats ; la vérification prouve, à chacun, que sa part est bonne.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6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clés sont publiées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tableau des détenteurs : l’état de chaque part et l’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empreinte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chaque clé publiée.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Clore la cérémonie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n’est accepté que si les n clés sont publiées ; sinon le refus nomme les manquants.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57163" y="3060700"/>
            <a:ext cx="9877369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Toutes les clés sont publi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361" y="3136900"/>
            <a:ext cx="9724972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6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cérémonie est close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clés publiques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sont servies aux candidats : chaque offre sera chiffrée pour elles.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Avertissement si 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 épuisée : une part de plus perdue rendrait les offres illisibles.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le premier dépôt, la cérémonie peut être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rouverte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après, jamais.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81363" y="3060700"/>
            <a:ext cx="8428968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cérémonie est clo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7561" y="3136900"/>
            <a:ext cx="8276572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VÉRIFICATION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vérifie sa part par un défi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serveur chiffre un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défi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pour la clé publiée ; la phrase déverrouille la clé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ici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qui le déchiffre.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Réussi, il prouve que la phrase est la bonne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la clé publiée est bien la sienne.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Rien de secret n’est transmis.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772389"/>
            <a:ext cx="7162621" cy="4011721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membre vérifie sa part par un déf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848589"/>
            <a:ext cx="7010225" cy="38593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VÉRIFICATION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part est vérifiée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vérifiée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», avec la date.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Chacun voit la liste des détenteurs et de leurs empreintes : un contrôle croisé contre toute clé glissée à son nom.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05223" y="3060700"/>
            <a:ext cx="7381248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a part est vérifi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1422" y="3136900"/>
            <a:ext cx="7228852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VÉRIFICATION · DÉPOSITAIRE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dépositaire vérifie la part de secours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Avec la phrase de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pli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sur son poste.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pli se rescelle : la phrase ne sert qu’à ce contrôle, puis en séance si elle est demandée.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495262"/>
            <a:ext cx="7162621" cy="456597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épositaire vérifie la part de seco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71462"/>
            <a:ext cx="7010225" cy="4413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BILAN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la fiche, la commission et la cérémonie sont prêtes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repères en tête de fiche :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constituée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Paramètres internes complets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Cérémonie close — clés publiées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fiche peut être validée, le dossier soumis à la Commission, puis l’avis publié.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495262"/>
            <a:ext cx="7162621" cy="456597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ur la fiche, la commission et la cérémonie sont prê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71462"/>
            <a:ext cx="7010225" cy="4413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 SI…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incidents prévus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cas a sa réponse dans l’application ; aucune ne donne à une personne seule le pouvoir d’ouvrir les offres.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5194170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44700"/>
            <a:ext cx="4889378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phrase oubliée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400300"/>
            <a:ext cx="4889378" cy="1295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détenteur déclare sa part perdue et génère une nouvelle clé. Les offres déjà déposées restent couvertes par le quorum et la part de secours.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4745" y="19050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4745" y="1905000"/>
            <a:ext cx="5194170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1" name="Text 9"/>
          <p:cNvSpPr/>
          <p:nvPr/>
        </p:nvSpPr>
        <p:spPr>
          <a:xfrm>
            <a:off x="6337142" y="2044700"/>
            <a:ext cx="4889378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dépositaire remplacé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7142" y="2400300"/>
            <a:ext cx="4889378" cy="1295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désigne un autre dépositaire (avant le premier dépôt) : le nouveau génère sa clé, l’ancien ne voit plus la procédure.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780" y="39878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780" y="3987800"/>
            <a:ext cx="5194170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5176" y="4127500"/>
            <a:ext cx="4889378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membre absent à la séance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5176" y="4483100"/>
            <a:ext cx="4889378" cy="1295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demande la part de secours, avec un motif porté au PV ; le dépositaire l’apporte depuis son espace.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84745" y="39878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4745" y="3987800"/>
            <a:ext cx="5194170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9" name="Text 17"/>
          <p:cNvSpPr/>
          <p:nvPr/>
        </p:nvSpPr>
        <p:spPr>
          <a:xfrm>
            <a:off x="6337142" y="4127500"/>
            <a:ext cx="4889378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quorum impossible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37142" y="4483100"/>
            <a:ext cx="4889378" cy="1295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Si, part de secours comprise, le quorum ne peut plus être atteint : la séance constate l’illisibilité, un PV de constat est produit, la procédure est relancée.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voit quoi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780" y="1460500"/>
          <a:ext cx="10566136" cy="914400"/>
        </p:xfrm>
        <a:graphic>
          <a:graphicData uri="http://schemas.openxmlformats.org/drawingml/2006/table">
            <a:tbl>
              <a:tblPr/>
              <a:tblGrid>
                <a:gridCol w="2958518"/>
                <a:gridCol w="3592486"/>
                <a:gridCol w="40151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Élément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Où il vit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 le voit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Clé privée d’un détenteur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Dans son navigateur, le temps d’un geste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Personne : elle ne quitte jamais le poste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Phrase secrète d’un membre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Dans sa mémoire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Lui seul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Phrase de secours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 le pli du dépositaire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 dépositaire seul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Enveloppe de la clé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 le serveur (et la copie du détenteur)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 détenteur ; inutile sans la phrase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Clé publique, empreinte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 le serveur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 détenteurs et le responsable ; les candidats après la clôture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Contenu d’une offre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Chiffré sur le serveur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Personne avant la séance ; les pièces, aux seuls membres de la CAO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La cérémonie des clés · 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1905000"/>
            <a:ext cx="10159746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Ensuite : le dépôt, puis la séance.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80" y="2857500"/>
            <a:ext cx="9207270" cy="10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candidats chiffrent leur offre pour les clés publiées ; à l’heure de la séance, les détenteurs réunissent le quorum et toutes les offres s’ouvrent ensemble.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80" y="4191000"/>
            <a:ext cx="8889778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Commission nationale des marchés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Commission nationale des marchés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PRS 2.0 — La cérémonie des clés</dc:title>
  <dc:subject>PptxGenJS Presentation</dc:subject>
  <dc:creator>PRS 2.0</dc:creator>
  <cp:lastModifiedBy>PRS 2.0</cp:lastModifiedBy>
  <cp:revision>1</cp:revision>
  <dcterms:created xsi:type="dcterms:W3CDTF">2026-10-05T08:28:08Z</dcterms:created>
  <dcterms:modified xsi:type="dcterms:W3CDTF">2026-10-05T08:28:08Z</dcterms:modified>
</cp:coreProperties>
</file>