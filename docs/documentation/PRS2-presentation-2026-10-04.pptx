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PRS 2.0 : l’application unique de la CNM, qui porte un marché de son plan de passation jusqu’à l’ouverture des offres reçues en ligne. Les captures sont celles de l’application réelle, sur les données de recette.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fil conducteur : un marché, du plan à l’ouverture des offres.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les trois principes : un circuit unique, rien ne s’efface, les documents sont produits et non recopiés.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Dix profils internes, deux externes. Les externes n’atteignent jamais un écran interne : ils ont leur propre 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Hors session, la racine mène ici. Un utilisateur connecté arrive directement sur son écran « À faire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menu de la PRMP est rangé en rubriques : Mon travail, Décisions, Planification.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dossier de planification réunit la fiche de présentation, le plan, le projet d’AGPM si un marché l’exige, et les pièces.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 distinguer mise à jour (nouvelle version) et rectification (même dossier, réponse au PV).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Dérouler les sept étapes de la frise, qui est la même pour tous les profils.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même page pour tous les profils : seuls les gestes proposés changent.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la soumission, le Membre émet son avis : favorable, favorable avec réserves, ou défavorable. Le projet de PV est produit.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visa est un acte d’identité : seul le dispatcheur vise, même par délégation personne d’autre.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L’écran montre le Vérificateur devant un DAO en vérification, avec le geste « Transmettre la décision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documents sont disponibles dès leur signature, sans papier.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réel : travaux en cinq lots, fiche validée en version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cadrage conditionne tout le reste de la fiche : il évite de saisir ce qui ne s’applique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cœur de la remise électronique : la confiance ne repose pas sur le serveur. Le serveur ne garde que des offres chiffrées, et refuse toute part avant l’heure d’ouverture.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membres sont fictifs, créés pour la recette.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cérémonie close, l’avis ne peut pas être publié : aucun candidat ne pourrait sceller.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part perdue se déclare, se remplace ; la marge du quorum et la part de secours couvrent l’entre-deux.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compte par entreprise : NIF, STAT et RCS sont uniques sur la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le quorum ne peut plus être atteint, le responsable constate l’illisibilité : PV de constat, procédure à relancer.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a:t>
            </a:r>
            <a:endParaRPr lang="en-US" sz="1400" dirty="0"/>
          </a:p>
        </p:txBody>
      </p:sp>
      <p:sp>
        <p:nvSpPr>
          <p:cNvPr id="4" name="Text 2"/>
          <p:cNvSpPr/>
          <p:nvPr/>
        </p:nvSpPr>
        <p:spPr>
          <a:xfrm>
            <a:off x="812780" y="1206500"/>
            <a:ext cx="10159746" cy="1079500"/>
          </a:xfrm>
          <a:prstGeom prst="rect">
            <a:avLst/>
          </a:prstGeom>
          <a:noFill/>
          <a:ln/>
        </p:spPr>
        <p:txBody>
          <a:bodyPr wrap="square" rtlCol="0" anchor="ctr"/>
          <a:lstStyle/>
          <a:p>
            <a:pPr indent="0" marL="0">
              <a:buNone/>
            </a:pPr>
            <a:r>
              <a:rPr lang="en-US" sz="7500" b="1" dirty="0">
                <a:solidFill>
                  <a:srgbClr val="FCFCFA"/>
                </a:solidFill>
                <a:latin typeface="Segoe UI" pitchFamily="34" charset="0"/>
                <a:ea typeface="Segoe UI" pitchFamily="34" charset="-122"/>
                <a:cs typeface="Segoe UI" pitchFamily="34" charset="-120"/>
              </a:rPr>
              <a:t>PRS 2.0</a:t>
            </a:r>
            <a:endParaRPr lang="en-US" sz="7500" dirty="0"/>
          </a:p>
        </p:txBody>
      </p:sp>
      <p:sp>
        <p:nvSpPr>
          <p:cNvPr id="5" name="Text 3"/>
          <p:cNvSpPr/>
          <p:nvPr/>
        </p:nvSpPr>
        <p:spPr>
          <a:xfrm>
            <a:off x="812780" y="2413000"/>
            <a:ext cx="8889778" cy="889000"/>
          </a:xfrm>
          <a:prstGeom prst="rect">
            <a:avLst/>
          </a:prstGeom>
          <a:noFill/>
          <a:ln/>
        </p:spPr>
        <p:txBody>
          <a:bodyPr wrap="square" rtlCol="0" anchor="ctr"/>
          <a:lstStyle/>
          <a:p>
            <a:pPr indent="0" marL="0">
              <a:buNone/>
            </a:pPr>
            <a:r>
              <a:rPr lang="en-US" sz="2600" b="1" dirty="0">
                <a:solidFill>
                  <a:srgbClr val="FCFCFA"/>
                </a:solidFill>
                <a:latin typeface="Segoe UI" pitchFamily="34" charset="0"/>
                <a:ea typeface="Segoe UI" pitchFamily="34" charset="-122"/>
                <a:cs typeface="Segoe UI" pitchFamily="34" charset="-120"/>
              </a:rPr>
              <a:t>De la planification des marchés à la soumission électronique des offres</a:t>
            </a:r>
            <a:endParaRPr lang="en-US" sz="2600" dirty="0"/>
          </a:p>
        </p:txBody>
      </p:sp>
      <p:sp>
        <p:nvSpPr>
          <p:cNvPr id="6" name="Text 4"/>
          <p:cNvSpPr/>
          <p:nvPr/>
        </p:nvSpPr>
        <p:spPr>
          <a:xfrm>
            <a:off x="812780" y="5207000"/>
            <a:ext cx="8889778" cy="762000"/>
          </a:xfrm>
          <a:prstGeom prst="rect">
            <a:avLst/>
          </a:prstGeom>
          <a:noFill/>
          <a:ln/>
        </p:spPr>
        <p:txBody>
          <a:bodyPr wrap="square" rtlCol="0" anchor="ctr"/>
          <a:lstStyle/>
          <a:p>
            <a:pPr indent="0" marL="0">
              <a:buNone/>
            </a:pPr>
            <a:r>
              <a:rPr lang="en-US" sz="1500" dirty="0">
                <a:solidFill>
                  <a:srgbClr val="C9D6E2"/>
                </a:solidFill>
                <a:latin typeface="Segoe UI" pitchFamily="34" charset="0"/>
                <a:ea typeface="Segoe UI" pitchFamily="34" charset="-122"/>
                <a:cs typeface="Segoe UI" pitchFamily="34" charset="-120"/>
              </a:rPr>
              <a:t>Présentation de l’application : les écrans, les profils et les processus, étape par étape.</a:t>
            </a:r>
            <a:endParaRPr lang="en-US" sz="1500" dirty="0"/>
          </a:p>
          <a:p>
            <a:pPr indent="0" marL="0">
              <a:buNone/>
            </a:pPr>
            <a:r>
              <a:rPr lang="en-US" sz="1500" dirty="0">
                <a:solidFill>
                  <a:srgbClr val="C9D6E2"/>
                </a:solidFill>
                <a:latin typeface="Segoe UI" pitchFamily="34" charset="0"/>
                <a:ea typeface="Segoe UI" pitchFamily="34" charset="-122"/>
                <a:cs typeface="Segoe UI" pitchFamily="34" charset="-120"/>
              </a:rPr>
              <a:t>Ministère de l’Économie et des Finances · octobre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SOMMAIRE</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Six parties, dans l’ordre de la vie d’un marché</a:t>
            </a:r>
            <a:endParaRPr lang="en-US" sz="2800" dirty="0"/>
          </a:p>
        </p:txBody>
      </p:sp>
      <p:sp>
        <p:nvSpPr>
          <p:cNvPr id="5" name="Shape 2"/>
          <p:cNvSpPr/>
          <p:nvPr/>
        </p:nvSpPr>
        <p:spPr>
          <a:xfrm>
            <a:off x="812780" y="1460500"/>
            <a:ext cx="3403515" cy="1905000"/>
          </a:xfrm>
          <a:prstGeom prst="rect">
            <a:avLst/>
          </a:prstGeom>
          <a:solidFill>
            <a:srgbClr val="FCFCFA"/>
          </a:solidFill>
          <a:ln w="9525">
            <a:solidFill>
              <a:srgbClr val="D5DCE4"/>
            </a:solidFill>
            <a:prstDash val="solid"/>
          </a:ln>
        </p:spPr>
      </p:sp>
      <p:sp>
        <p:nvSpPr>
          <p:cNvPr id="6" name="Shape 3"/>
          <p:cNvSpPr/>
          <p:nvPr/>
        </p:nvSpPr>
        <p:spPr>
          <a:xfrm>
            <a:off x="812780" y="1460500"/>
            <a:ext cx="3403515" cy="38100"/>
          </a:xfrm>
          <a:prstGeom prst="rect">
            <a:avLst/>
          </a:prstGeom>
          <a:solidFill>
            <a:srgbClr val="1B6FA8"/>
          </a:solidFill>
          <a:ln/>
        </p:spPr>
      </p:sp>
      <p:sp>
        <p:nvSpPr>
          <p:cNvPr id="7" name="Text 4"/>
          <p:cNvSpPr/>
          <p:nvPr/>
        </p:nvSpPr>
        <p:spPr>
          <a:xfrm>
            <a:off x="965176"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1 · Vue d’ensemble</a:t>
            </a:r>
            <a:endParaRPr lang="en-US" sz="1600" dirty="0"/>
          </a:p>
        </p:txBody>
      </p:sp>
      <p:sp>
        <p:nvSpPr>
          <p:cNvPr id="8" name="Text 5"/>
          <p:cNvSpPr/>
          <p:nvPr/>
        </p:nvSpPr>
        <p:spPr>
          <a:xfrm>
            <a:off x="965176"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parcours complet, les principes, les profils.</a:t>
            </a:r>
            <a:endParaRPr lang="en-US" sz="1300" dirty="0"/>
          </a:p>
        </p:txBody>
      </p:sp>
      <p:sp>
        <p:nvSpPr>
          <p:cNvPr id="9" name="Shape 6"/>
          <p:cNvSpPr/>
          <p:nvPr/>
        </p:nvSpPr>
        <p:spPr>
          <a:xfrm>
            <a:off x="4394090" y="1460500"/>
            <a:ext cx="3403515" cy="1905000"/>
          </a:xfrm>
          <a:prstGeom prst="rect">
            <a:avLst/>
          </a:prstGeom>
          <a:solidFill>
            <a:srgbClr val="FCFCFA"/>
          </a:solidFill>
          <a:ln w="9525">
            <a:solidFill>
              <a:srgbClr val="D5DCE4"/>
            </a:solidFill>
            <a:prstDash val="solid"/>
          </a:ln>
        </p:spPr>
      </p:sp>
      <p:sp>
        <p:nvSpPr>
          <p:cNvPr id="10" name="Shape 7"/>
          <p:cNvSpPr/>
          <p:nvPr/>
        </p:nvSpPr>
        <p:spPr>
          <a:xfrm>
            <a:off x="4394090" y="1460500"/>
            <a:ext cx="3403515" cy="38100"/>
          </a:xfrm>
          <a:prstGeom prst="rect">
            <a:avLst/>
          </a:prstGeom>
          <a:solidFill>
            <a:srgbClr val="1B6FA8"/>
          </a:solidFill>
          <a:ln/>
        </p:spPr>
      </p:sp>
      <p:sp>
        <p:nvSpPr>
          <p:cNvPr id="11" name="Text 8"/>
          <p:cNvSpPr/>
          <p:nvPr/>
        </p:nvSpPr>
        <p:spPr>
          <a:xfrm>
            <a:off x="4546486"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2 · La planification</a:t>
            </a:r>
            <a:endParaRPr lang="en-US" sz="1600" dirty="0"/>
          </a:p>
        </p:txBody>
      </p:sp>
      <p:sp>
        <p:nvSpPr>
          <p:cNvPr id="12" name="Text 9"/>
          <p:cNvSpPr/>
          <p:nvPr/>
        </p:nvSpPr>
        <p:spPr>
          <a:xfrm>
            <a:off x="4546486"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plan de passation : créer, soumettre, mettre à jour.</a:t>
            </a:r>
            <a:endParaRPr lang="en-US" sz="1300" dirty="0"/>
          </a:p>
        </p:txBody>
      </p:sp>
      <p:sp>
        <p:nvSpPr>
          <p:cNvPr id="13" name="Shape 10"/>
          <p:cNvSpPr/>
          <p:nvPr/>
        </p:nvSpPr>
        <p:spPr>
          <a:xfrm>
            <a:off x="7975401" y="1460500"/>
            <a:ext cx="3403515" cy="1905000"/>
          </a:xfrm>
          <a:prstGeom prst="rect">
            <a:avLst/>
          </a:prstGeom>
          <a:solidFill>
            <a:srgbClr val="FCFCFA"/>
          </a:solidFill>
          <a:ln w="9525">
            <a:solidFill>
              <a:srgbClr val="D5DCE4"/>
            </a:solidFill>
            <a:prstDash val="solid"/>
          </a:ln>
        </p:spPr>
      </p:sp>
      <p:sp>
        <p:nvSpPr>
          <p:cNvPr id="14" name="Shape 11"/>
          <p:cNvSpPr/>
          <p:nvPr/>
        </p:nvSpPr>
        <p:spPr>
          <a:xfrm>
            <a:off x="7975401" y="1460500"/>
            <a:ext cx="3403515" cy="38100"/>
          </a:xfrm>
          <a:prstGeom prst="rect">
            <a:avLst/>
          </a:prstGeom>
          <a:solidFill>
            <a:srgbClr val="1B6FA8"/>
          </a:solidFill>
          <a:ln/>
        </p:spPr>
      </p:sp>
      <p:sp>
        <p:nvSpPr>
          <p:cNvPr id="15" name="Text 12"/>
          <p:cNvSpPr/>
          <p:nvPr/>
        </p:nvSpPr>
        <p:spPr>
          <a:xfrm>
            <a:off x="8127797"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3 · Le contrôle a priori</a:t>
            </a:r>
            <a:endParaRPr lang="en-US" sz="1600" dirty="0"/>
          </a:p>
        </p:txBody>
      </p:sp>
      <p:sp>
        <p:nvSpPr>
          <p:cNvPr id="16" name="Text 13"/>
          <p:cNvSpPr/>
          <p:nvPr/>
        </p:nvSpPr>
        <p:spPr>
          <a:xfrm>
            <a:off x="8127797"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Réception, dispatch, examen, PV, visa, signature, suites.</a:t>
            </a:r>
            <a:endParaRPr lang="en-US" sz="1300" dirty="0"/>
          </a:p>
        </p:txBody>
      </p:sp>
      <p:sp>
        <p:nvSpPr>
          <p:cNvPr id="17" name="Shape 14"/>
          <p:cNvSpPr/>
          <p:nvPr/>
        </p:nvSpPr>
        <p:spPr>
          <a:xfrm>
            <a:off x="812780" y="3543300"/>
            <a:ext cx="3403515" cy="1905000"/>
          </a:xfrm>
          <a:prstGeom prst="rect">
            <a:avLst/>
          </a:prstGeom>
          <a:solidFill>
            <a:srgbClr val="FCFCFA"/>
          </a:solidFill>
          <a:ln w="9525">
            <a:solidFill>
              <a:srgbClr val="D5DCE4"/>
            </a:solidFill>
            <a:prstDash val="solid"/>
          </a:ln>
        </p:spPr>
      </p:sp>
      <p:sp>
        <p:nvSpPr>
          <p:cNvPr id="18" name="Shape 15"/>
          <p:cNvSpPr/>
          <p:nvPr/>
        </p:nvSpPr>
        <p:spPr>
          <a:xfrm>
            <a:off x="812780" y="3543300"/>
            <a:ext cx="3403515" cy="38100"/>
          </a:xfrm>
          <a:prstGeom prst="rect">
            <a:avLst/>
          </a:prstGeom>
          <a:solidFill>
            <a:srgbClr val="E3AE2E"/>
          </a:solidFill>
          <a:ln/>
        </p:spPr>
      </p:sp>
      <p:sp>
        <p:nvSpPr>
          <p:cNvPr id="19" name="Text 16"/>
          <p:cNvSpPr/>
          <p:nvPr/>
        </p:nvSpPr>
        <p:spPr>
          <a:xfrm>
            <a:off x="965176" y="36830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4 · La mise en concurrence</a:t>
            </a:r>
            <a:endParaRPr lang="en-US" sz="1600" dirty="0"/>
          </a:p>
        </p:txBody>
      </p:sp>
      <p:sp>
        <p:nvSpPr>
          <p:cNvPr id="20" name="Text 17"/>
          <p:cNvSpPr/>
          <p:nvPr/>
        </p:nvSpPr>
        <p:spPr>
          <a:xfrm>
            <a:off x="965176" y="40386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La fiche DAO, les documents produits, l’avis.</a:t>
            </a:r>
            <a:endParaRPr lang="en-US" sz="1300" dirty="0"/>
          </a:p>
        </p:txBody>
      </p:sp>
      <p:sp>
        <p:nvSpPr>
          <p:cNvPr id="21" name="Shape 18"/>
          <p:cNvSpPr/>
          <p:nvPr/>
        </p:nvSpPr>
        <p:spPr>
          <a:xfrm>
            <a:off x="4394090" y="3543300"/>
            <a:ext cx="3403515" cy="1905000"/>
          </a:xfrm>
          <a:prstGeom prst="rect">
            <a:avLst/>
          </a:prstGeom>
          <a:solidFill>
            <a:srgbClr val="FCFCFA"/>
          </a:solidFill>
          <a:ln w="9525">
            <a:solidFill>
              <a:srgbClr val="D5DCE4"/>
            </a:solidFill>
            <a:prstDash val="solid"/>
          </a:ln>
        </p:spPr>
      </p:sp>
      <p:sp>
        <p:nvSpPr>
          <p:cNvPr id="22" name="Shape 19"/>
          <p:cNvSpPr/>
          <p:nvPr/>
        </p:nvSpPr>
        <p:spPr>
          <a:xfrm>
            <a:off x="4394090" y="3543300"/>
            <a:ext cx="3403515" cy="38100"/>
          </a:xfrm>
          <a:prstGeom prst="rect">
            <a:avLst/>
          </a:prstGeom>
          <a:solidFill>
            <a:srgbClr val="E3AE2E"/>
          </a:solidFill>
          <a:ln/>
        </p:spPr>
      </p:sp>
      <p:sp>
        <p:nvSpPr>
          <p:cNvPr id="23" name="Text 20"/>
          <p:cNvSpPr/>
          <p:nvPr/>
        </p:nvSpPr>
        <p:spPr>
          <a:xfrm>
            <a:off x="4546486" y="36830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5 · La soumission électronique</a:t>
            </a:r>
            <a:endParaRPr lang="en-US" sz="1600" dirty="0"/>
          </a:p>
        </p:txBody>
      </p:sp>
      <p:sp>
        <p:nvSpPr>
          <p:cNvPr id="24" name="Text 21"/>
          <p:cNvSpPr/>
          <p:nvPr/>
        </p:nvSpPr>
        <p:spPr>
          <a:xfrm>
            <a:off x="4546486" y="40386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CAO, cérémonie des clés, dépôt scellé, ouverture des plis.</a:t>
            </a:r>
            <a:endParaRPr lang="en-US" sz="1300" dirty="0"/>
          </a:p>
        </p:txBody>
      </p:sp>
      <p:sp>
        <p:nvSpPr>
          <p:cNvPr id="25" name="Shape 22"/>
          <p:cNvSpPr/>
          <p:nvPr/>
        </p:nvSpPr>
        <p:spPr>
          <a:xfrm>
            <a:off x="7975401" y="3543300"/>
            <a:ext cx="3403515" cy="1905000"/>
          </a:xfrm>
          <a:prstGeom prst="rect">
            <a:avLst/>
          </a:prstGeom>
          <a:solidFill>
            <a:srgbClr val="FCFCFA"/>
          </a:solidFill>
          <a:ln w="9525">
            <a:solidFill>
              <a:srgbClr val="D5DCE4"/>
            </a:solidFill>
            <a:prstDash val="solid"/>
          </a:ln>
        </p:spPr>
      </p:sp>
      <p:sp>
        <p:nvSpPr>
          <p:cNvPr id="26" name="Shape 23"/>
          <p:cNvSpPr/>
          <p:nvPr/>
        </p:nvSpPr>
        <p:spPr>
          <a:xfrm>
            <a:off x="7975401" y="3543300"/>
            <a:ext cx="3403515" cy="38100"/>
          </a:xfrm>
          <a:prstGeom prst="rect">
            <a:avLst/>
          </a:prstGeom>
          <a:solidFill>
            <a:srgbClr val="1B6FA8"/>
          </a:solidFill>
          <a:ln/>
        </p:spPr>
      </p:sp>
      <p:sp>
        <p:nvSpPr>
          <p:cNvPr id="27" name="Text 24"/>
          <p:cNvSpPr/>
          <p:nvPr/>
        </p:nvSpPr>
        <p:spPr>
          <a:xfrm>
            <a:off x="8127797" y="36830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6 · Administration et suites</a:t>
            </a:r>
            <a:endParaRPr lang="en-US" sz="1600" dirty="0"/>
          </a:p>
        </p:txBody>
      </p:sp>
      <p:sp>
        <p:nvSpPr>
          <p:cNvPr id="28" name="Text 25"/>
          <p:cNvSpPr/>
          <p:nvPr/>
        </p:nvSpPr>
        <p:spPr>
          <a:xfrm>
            <a:off x="8127797" y="40386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poste d’administration, la sécurité, les points ouverts.</a:t>
            </a:r>
            <a:endParaRPr lang="en-US" sz="1300" dirty="0"/>
          </a:p>
        </p:txBody>
      </p:sp>
      <p:sp>
        <p:nvSpPr>
          <p:cNvPr id="29" name="Text 26"/>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2539937"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1</a:t>
            </a:r>
            <a:endParaRPr lang="en-US" sz="8000" dirty="0"/>
          </a:p>
        </p:txBody>
      </p:sp>
      <p:sp>
        <p:nvSpPr>
          <p:cNvPr id="3" name="Text 1"/>
          <p:cNvSpPr/>
          <p:nvPr/>
        </p:nvSpPr>
        <p:spPr>
          <a:xfrm>
            <a:off x="812780" y="2667000"/>
            <a:ext cx="10159746" cy="698500"/>
          </a:xfrm>
          <a:prstGeom prst="rect">
            <a:avLst/>
          </a:prstGeom>
          <a:noFill/>
          <a:ln/>
        </p:spPr>
        <p:txBody>
          <a:bodyPr wrap="square" rtlCol="0" anchor="ctr"/>
          <a:lstStyle/>
          <a:p>
            <a:pPr indent="0" marL="0">
              <a:buNone/>
            </a:pPr>
            <a:r>
              <a:rPr lang="en-US" sz="4400" b="1" dirty="0">
                <a:solidFill>
                  <a:srgbClr val="FCFCFA"/>
                </a:solidFill>
                <a:latin typeface="Segoe UI" pitchFamily="34" charset="0"/>
                <a:ea typeface="Segoe UI" pitchFamily="34" charset="-122"/>
                <a:cs typeface="Segoe UI" pitchFamily="34" charset="-120"/>
              </a:rPr>
              <a:t>Vue d’ensemble</a:t>
            </a:r>
            <a:endParaRPr lang="en-US" sz="4400" dirty="0"/>
          </a:p>
        </p:txBody>
      </p:sp>
      <p:sp>
        <p:nvSpPr>
          <p:cNvPr id="4" name="Text 2"/>
          <p:cNvSpPr/>
          <p:nvPr/>
        </p:nvSpPr>
        <p:spPr>
          <a:xfrm>
            <a:off x="812780" y="3556000"/>
            <a:ext cx="8254794" cy="889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Un seul outil, de la planification à l’ouverture des offres, pour la PRMP, la Commission, les entreprises et l’administration.</a:t>
            </a:r>
            <a:endParaRPr lang="en-US" sz="1700" dirty="0"/>
          </a:p>
        </p:txBody>
      </p:sp>
      <p:sp>
        <p:nvSpPr>
          <p:cNvPr id="5"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Présentation de l'application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VUE D’ENSEMBLE</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 parcours d’un marché dans PRS 2.0</a:t>
            </a:r>
            <a:endParaRPr lang="en-US" sz="2800" dirty="0"/>
          </a:p>
        </p:txBody>
      </p:sp>
      <p:sp>
        <p:nvSpPr>
          <p:cNvPr id="5" name="Shape 2"/>
          <p:cNvSpPr/>
          <p:nvPr/>
        </p:nvSpPr>
        <p:spPr>
          <a:xfrm>
            <a:off x="812780" y="1587500"/>
            <a:ext cx="1357052" cy="1524000"/>
          </a:xfrm>
          <a:prstGeom prst="roundRect">
            <a:avLst>
              <a:gd name="adj" fmla="val 4043"/>
            </a:avLst>
          </a:prstGeom>
          <a:solidFill>
            <a:srgbClr val="FCFCFA"/>
          </a:solidFill>
          <a:ln w="19050">
            <a:solidFill>
              <a:srgbClr val="12324A"/>
            </a:solidFill>
            <a:prstDash val="solid"/>
          </a:ln>
        </p:spPr>
      </p:sp>
      <p:sp>
        <p:nvSpPr>
          <p:cNvPr id="6" name="Text 3"/>
          <p:cNvSpPr/>
          <p:nvPr/>
        </p:nvSpPr>
        <p:spPr>
          <a:xfrm>
            <a:off x="901677"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1</a:t>
            </a:r>
            <a:endParaRPr lang="en-US" sz="1200" dirty="0"/>
          </a:p>
        </p:txBody>
      </p:sp>
      <p:sp>
        <p:nvSpPr>
          <p:cNvPr id="7" name="Text 4"/>
          <p:cNvSpPr/>
          <p:nvPr/>
        </p:nvSpPr>
        <p:spPr>
          <a:xfrm>
            <a:off x="901677"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Plan de passation</a:t>
            </a:r>
            <a:endParaRPr lang="en-US" sz="1200" dirty="0"/>
          </a:p>
        </p:txBody>
      </p:sp>
      <p:sp>
        <p:nvSpPr>
          <p:cNvPr id="8" name="Text 5"/>
          <p:cNvSpPr/>
          <p:nvPr/>
        </p:nvSpPr>
        <p:spPr>
          <a:xfrm>
            <a:off x="901677"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PRMP, UGPM</a:t>
            </a:r>
            <a:endParaRPr lang="en-US" sz="1100" dirty="0"/>
          </a:p>
        </p:txBody>
      </p:sp>
      <p:sp>
        <p:nvSpPr>
          <p:cNvPr id="9" name="Shape 6"/>
          <p:cNvSpPr/>
          <p:nvPr/>
        </p:nvSpPr>
        <p:spPr>
          <a:xfrm>
            <a:off x="2182531" y="2349500"/>
            <a:ext cx="152396" cy="0"/>
          </a:xfrm>
          <a:prstGeom prst="line">
            <a:avLst/>
          </a:prstGeom>
          <a:noFill/>
          <a:ln w="19050">
            <a:solidFill>
              <a:srgbClr val="6A7787"/>
            </a:solidFill>
            <a:prstDash val="solid"/>
            <a:tailEnd type="triangle"/>
          </a:ln>
        </p:spPr>
      </p:sp>
      <p:sp>
        <p:nvSpPr>
          <p:cNvPr id="10" name="Shape 7"/>
          <p:cNvSpPr/>
          <p:nvPr/>
        </p:nvSpPr>
        <p:spPr>
          <a:xfrm>
            <a:off x="2347627" y="1587500"/>
            <a:ext cx="1357052" cy="1524000"/>
          </a:xfrm>
          <a:prstGeom prst="roundRect">
            <a:avLst>
              <a:gd name="adj" fmla="val 4043"/>
            </a:avLst>
          </a:prstGeom>
          <a:solidFill>
            <a:srgbClr val="FCFCFA"/>
          </a:solidFill>
          <a:ln w="19050">
            <a:solidFill>
              <a:srgbClr val="12324A"/>
            </a:solidFill>
            <a:prstDash val="solid"/>
          </a:ln>
        </p:spPr>
      </p:sp>
      <p:sp>
        <p:nvSpPr>
          <p:cNvPr id="11" name="Text 8"/>
          <p:cNvSpPr/>
          <p:nvPr/>
        </p:nvSpPr>
        <p:spPr>
          <a:xfrm>
            <a:off x="2436525"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2</a:t>
            </a:r>
            <a:endParaRPr lang="en-US" sz="1200" dirty="0"/>
          </a:p>
        </p:txBody>
      </p:sp>
      <p:sp>
        <p:nvSpPr>
          <p:cNvPr id="12" name="Text 9"/>
          <p:cNvSpPr/>
          <p:nvPr/>
        </p:nvSpPr>
        <p:spPr>
          <a:xfrm>
            <a:off x="2436525"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Contrôle du plan</a:t>
            </a:r>
            <a:endParaRPr lang="en-US" sz="1200" dirty="0"/>
          </a:p>
        </p:txBody>
      </p:sp>
      <p:sp>
        <p:nvSpPr>
          <p:cNvPr id="13" name="Text 10"/>
          <p:cNvSpPr/>
          <p:nvPr/>
        </p:nvSpPr>
        <p:spPr>
          <a:xfrm>
            <a:off x="2436525"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Commission</a:t>
            </a:r>
            <a:endParaRPr lang="en-US" sz="1100" dirty="0"/>
          </a:p>
        </p:txBody>
      </p:sp>
      <p:sp>
        <p:nvSpPr>
          <p:cNvPr id="14" name="Shape 11"/>
          <p:cNvSpPr/>
          <p:nvPr/>
        </p:nvSpPr>
        <p:spPr>
          <a:xfrm>
            <a:off x="3717378" y="2349500"/>
            <a:ext cx="152396" cy="0"/>
          </a:xfrm>
          <a:prstGeom prst="line">
            <a:avLst/>
          </a:prstGeom>
          <a:noFill/>
          <a:ln w="19050">
            <a:solidFill>
              <a:srgbClr val="6A7787"/>
            </a:solidFill>
            <a:prstDash val="solid"/>
            <a:tailEnd type="triangle"/>
          </a:ln>
        </p:spPr>
      </p:sp>
      <p:sp>
        <p:nvSpPr>
          <p:cNvPr id="15" name="Shape 12"/>
          <p:cNvSpPr/>
          <p:nvPr/>
        </p:nvSpPr>
        <p:spPr>
          <a:xfrm>
            <a:off x="3882474" y="1587500"/>
            <a:ext cx="1357052" cy="1524000"/>
          </a:xfrm>
          <a:prstGeom prst="roundRect">
            <a:avLst>
              <a:gd name="adj" fmla="val 4043"/>
            </a:avLst>
          </a:prstGeom>
          <a:solidFill>
            <a:srgbClr val="FCFCFA"/>
          </a:solidFill>
          <a:ln w="19050">
            <a:solidFill>
              <a:srgbClr val="12324A"/>
            </a:solidFill>
            <a:prstDash val="solid"/>
          </a:ln>
        </p:spPr>
      </p:sp>
      <p:sp>
        <p:nvSpPr>
          <p:cNvPr id="16" name="Text 13"/>
          <p:cNvSpPr/>
          <p:nvPr/>
        </p:nvSpPr>
        <p:spPr>
          <a:xfrm>
            <a:off x="3971372"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3</a:t>
            </a:r>
            <a:endParaRPr lang="en-US" sz="1200" dirty="0"/>
          </a:p>
        </p:txBody>
      </p:sp>
      <p:sp>
        <p:nvSpPr>
          <p:cNvPr id="17" name="Text 14"/>
          <p:cNvSpPr/>
          <p:nvPr/>
        </p:nvSpPr>
        <p:spPr>
          <a:xfrm>
            <a:off x="3971372"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Fiche DAO</a:t>
            </a:r>
            <a:endParaRPr lang="en-US" sz="1200" dirty="0"/>
          </a:p>
        </p:txBody>
      </p:sp>
      <p:sp>
        <p:nvSpPr>
          <p:cNvPr id="18" name="Text 15"/>
          <p:cNvSpPr/>
          <p:nvPr/>
        </p:nvSpPr>
        <p:spPr>
          <a:xfrm>
            <a:off x="3971372"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PRMP</a:t>
            </a:r>
            <a:endParaRPr lang="en-US" sz="1100" dirty="0"/>
          </a:p>
        </p:txBody>
      </p:sp>
      <p:sp>
        <p:nvSpPr>
          <p:cNvPr id="19" name="Shape 16"/>
          <p:cNvSpPr/>
          <p:nvPr/>
        </p:nvSpPr>
        <p:spPr>
          <a:xfrm>
            <a:off x="5252226" y="2349500"/>
            <a:ext cx="152396" cy="0"/>
          </a:xfrm>
          <a:prstGeom prst="line">
            <a:avLst/>
          </a:prstGeom>
          <a:noFill/>
          <a:ln w="19050">
            <a:solidFill>
              <a:srgbClr val="6A7787"/>
            </a:solidFill>
            <a:prstDash val="solid"/>
            <a:tailEnd type="triangle"/>
          </a:ln>
        </p:spPr>
      </p:sp>
      <p:sp>
        <p:nvSpPr>
          <p:cNvPr id="20" name="Shape 17"/>
          <p:cNvSpPr/>
          <p:nvPr/>
        </p:nvSpPr>
        <p:spPr>
          <a:xfrm>
            <a:off x="5417322" y="1587500"/>
            <a:ext cx="1357052" cy="1524000"/>
          </a:xfrm>
          <a:prstGeom prst="roundRect">
            <a:avLst>
              <a:gd name="adj" fmla="val 4043"/>
            </a:avLst>
          </a:prstGeom>
          <a:solidFill>
            <a:srgbClr val="FCFCFA"/>
          </a:solidFill>
          <a:ln w="19050">
            <a:solidFill>
              <a:srgbClr val="12324A"/>
            </a:solidFill>
            <a:prstDash val="solid"/>
          </a:ln>
        </p:spPr>
      </p:sp>
      <p:sp>
        <p:nvSpPr>
          <p:cNvPr id="21" name="Text 18"/>
          <p:cNvSpPr/>
          <p:nvPr/>
        </p:nvSpPr>
        <p:spPr>
          <a:xfrm>
            <a:off x="5506219"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4</a:t>
            </a:r>
            <a:endParaRPr lang="en-US" sz="1200" dirty="0"/>
          </a:p>
        </p:txBody>
      </p:sp>
      <p:sp>
        <p:nvSpPr>
          <p:cNvPr id="22" name="Text 19"/>
          <p:cNvSpPr/>
          <p:nvPr/>
        </p:nvSpPr>
        <p:spPr>
          <a:xfrm>
            <a:off x="5506219"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Contrôle du DAO</a:t>
            </a:r>
            <a:endParaRPr lang="en-US" sz="1200" dirty="0"/>
          </a:p>
        </p:txBody>
      </p:sp>
      <p:sp>
        <p:nvSpPr>
          <p:cNvPr id="23" name="Text 20"/>
          <p:cNvSpPr/>
          <p:nvPr/>
        </p:nvSpPr>
        <p:spPr>
          <a:xfrm>
            <a:off x="5506219"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Commission</a:t>
            </a:r>
            <a:endParaRPr lang="en-US" sz="1100" dirty="0"/>
          </a:p>
        </p:txBody>
      </p:sp>
      <p:sp>
        <p:nvSpPr>
          <p:cNvPr id="24" name="Shape 21"/>
          <p:cNvSpPr/>
          <p:nvPr/>
        </p:nvSpPr>
        <p:spPr>
          <a:xfrm>
            <a:off x="6787073" y="2349500"/>
            <a:ext cx="152396" cy="0"/>
          </a:xfrm>
          <a:prstGeom prst="line">
            <a:avLst/>
          </a:prstGeom>
          <a:noFill/>
          <a:ln w="19050">
            <a:solidFill>
              <a:srgbClr val="6A7787"/>
            </a:solidFill>
            <a:prstDash val="solid"/>
            <a:tailEnd type="triangle"/>
          </a:ln>
        </p:spPr>
      </p:sp>
      <p:sp>
        <p:nvSpPr>
          <p:cNvPr id="25" name="Shape 22"/>
          <p:cNvSpPr/>
          <p:nvPr/>
        </p:nvSpPr>
        <p:spPr>
          <a:xfrm>
            <a:off x="6952169" y="1587500"/>
            <a:ext cx="1357052" cy="1524000"/>
          </a:xfrm>
          <a:prstGeom prst="roundRect">
            <a:avLst>
              <a:gd name="adj" fmla="val 4043"/>
            </a:avLst>
          </a:prstGeom>
          <a:solidFill>
            <a:srgbClr val="FCFCFA"/>
          </a:solidFill>
          <a:ln w="19050">
            <a:solidFill>
              <a:srgbClr val="12324A"/>
            </a:solidFill>
            <a:prstDash val="solid"/>
          </a:ln>
        </p:spPr>
      </p:sp>
      <p:sp>
        <p:nvSpPr>
          <p:cNvPr id="26" name="Text 23"/>
          <p:cNvSpPr/>
          <p:nvPr/>
        </p:nvSpPr>
        <p:spPr>
          <a:xfrm>
            <a:off x="7041067"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5</a:t>
            </a:r>
            <a:endParaRPr lang="en-US" sz="1200" dirty="0"/>
          </a:p>
        </p:txBody>
      </p:sp>
      <p:sp>
        <p:nvSpPr>
          <p:cNvPr id="27" name="Text 24"/>
          <p:cNvSpPr/>
          <p:nvPr/>
        </p:nvSpPr>
        <p:spPr>
          <a:xfrm>
            <a:off x="7041067"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Avis publié</a:t>
            </a:r>
            <a:endParaRPr lang="en-US" sz="1200" dirty="0"/>
          </a:p>
        </p:txBody>
      </p:sp>
      <p:sp>
        <p:nvSpPr>
          <p:cNvPr id="28" name="Text 25"/>
          <p:cNvSpPr/>
          <p:nvPr/>
        </p:nvSpPr>
        <p:spPr>
          <a:xfrm>
            <a:off x="7041067"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PRMP</a:t>
            </a:r>
            <a:endParaRPr lang="en-US" sz="1100" dirty="0"/>
          </a:p>
        </p:txBody>
      </p:sp>
      <p:sp>
        <p:nvSpPr>
          <p:cNvPr id="29" name="Shape 26"/>
          <p:cNvSpPr/>
          <p:nvPr/>
        </p:nvSpPr>
        <p:spPr>
          <a:xfrm>
            <a:off x="8321921" y="2349500"/>
            <a:ext cx="152396" cy="0"/>
          </a:xfrm>
          <a:prstGeom prst="line">
            <a:avLst/>
          </a:prstGeom>
          <a:noFill/>
          <a:ln w="19050">
            <a:solidFill>
              <a:srgbClr val="6A7787"/>
            </a:solidFill>
            <a:prstDash val="solid"/>
            <a:tailEnd type="triangle"/>
          </a:ln>
        </p:spPr>
      </p:sp>
      <p:sp>
        <p:nvSpPr>
          <p:cNvPr id="30" name="Shape 27"/>
          <p:cNvSpPr/>
          <p:nvPr/>
        </p:nvSpPr>
        <p:spPr>
          <a:xfrm>
            <a:off x="8487016" y="1587500"/>
            <a:ext cx="1357052" cy="1524000"/>
          </a:xfrm>
          <a:prstGeom prst="roundRect">
            <a:avLst>
              <a:gd name="adj" fmla="val 4043"/>
            </a:avLst>
          </a:prstGeom>
          <a:solidFill>
            <a:srgbClr val="FCFCFA"/>
          </a:solidFill>
          <a:ln w="19050">
            <a:solidFill>
              <a:srgbClr val="12324A"/>
            </a:solidFill>
            <a:prstDash val="solid"/>
          </a:ln>
        </p:spPr>
      </p:sp>
      <p:sp>
        <p:nvSpPr>
          <p:cNvPr id="31" name="Text 28"/>
          <p:cNvSpPr/>
          <p:nvPr/>
        </p:nvSpPr>
        <p:spPr>
          <a:xfrm>
            <a:off x="8575914"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6</a:t>
            </a:r>
            <a:endParaRPr lang="en-US" sz="1200" dirty="0"/>
          </a:p>
        </p:txBody>
      </p:sp>
      <p:sp>
        <p:nvSpPr>
          <p:cNvPr id="32" name="Text 29"/>
          <p:cNvSpPr/>
          <p:nvPr/>
        </p:nvSpPr>
        <p:spPr>
          <a:xfrm>
            <a:off x="8575914"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Offres déposées</a:t>
            </a:r>
            <a:endParaRPr lang="en-US" sz="1200" dirty="0"/>
          </a:p>
        </p:txBody>
      </p:sp>
      <p:sp>
        <p:nvSpPr>
          <p:cNvPr id="33" name="Text 30"/>
          <p:cNvSpPr/>
          <p:nvPr/>
        </p:nvSpPr>
        <p:spPr>
          <a:xfrm>
            <a:off x="8575914"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Candidats</a:t>
            </a:r>
            <a:endParaRPr lang="en-US" sz="1100" dirty="0"/>
          </a:p>
        </p:txBody>
      </p:sp>
      <p:sp>
        <p:nvSpPr>
          <p:cNvPr id="34" name="Shape 31"/>
          <p:cNvSpPr/>
          <p:nvPr/>
        </p:nvSpPr>
        <p:spPr>
          <a:xfrm>
            <a:off x="9856768" y="2349500"/>
            <a:ext cx="152396" cy="0"/>
          </a:xfrm>
          <a:prstGeom prst="line">
            <a:avLst/>
          </a:prstGeom>
          <a:noFill/>
          <a:ln w="19050">
            <a:solidFill>
              <a:srgbClr val="6A7787"/>
            </a:solidFill>
            <a:prstDash val="solid"/>
            <a:tailEnd type="triangle"/>
          </a:ln>
        </p:spPr>
      </p:sp>
      <p:sp>
        <p:nvSpPr>
          <p:cNvPr id="35" name="Shape 32"/>
          <p:cNvSpPr/>
          <p:nvPr/>
        </p:nvSpPr>
        <p:spPr>
          <a:xfrm>
            <a:off x="10021864" y="1587500"/>
            <a:ext cx="1357052" cy="1524000"/>
          </a:xfrm>
          <a:prstGeom prst="roundRect">
            <a:avLst>
              <a:gd name="adj" fmla="val 4043"/>
            </a:avLst>
          </a:prstGeom>
          <a:solidFill>
            <a:srgbClr val="12324A"/>
          </a:solidFill>
          <a:ln w="19050">
            <a:solidFill>
              <a:srgbClr val="12324A"/>
            </a:solidFill>
            <a:prstDash val="solid"/>
          </a:ln>
        </p:spPr>
      </p:sp>
      <p:sp>
        <p:nvSpPr>
          <p:cNvPr id="36" name="Text 33"/>
          <p:cNvSpPr/>
          <p:nvPr/>
        </p:nvSpPr>
        <p:spPr>
          <a:xfrm>
            <a:off x="10110762" y="1676400"/>
            <a:ext cx="1179256" cy="215900"/>
          </a:xfrm>
          <a:prstGeom prst="rect">
            <a:avLst/>
          </a:prstGeom>
          <a:noFill/>
          <a:ln/>
        </p:spPr>
        <p:txBody>
          <a:bodyPr wrap="square" rtlCol="0" anchor="ctr"/>
          <a:lstStyle/>
          <a:p>
            <a:pPr indent="0" marL="0">
              <a:buNone/>
            </a:pPr>
            <a:r>
              <a:rPr lang="en-US" sz="1200" b="1" dirty="0">
                <a:solidFill>
                  <a:srgbClr val="E3AE2E"/>
                </a:solidFill>
                <a:latin typeface="Segoe UI" pitchFamily="34" charset="0"/>
                <a:ea typeface="Segoe UI" pitchFamily="34" charset="-122"/>
                <a:cs typeface="Segoe UI" pitchFamily="34" charset="-120"/>
              </a:rPr>
              <a:t>7</a:t>
            </a:r>
            <a:endParaRPr lang="en-US" sz="1200" dirty="0"/>
          </a:p>
        </p:txBody>
      </p:sp>
      <p:sp>
        <p:nvSpPr>
          <p:cNvPr id="37" name="Text 34"/>
          <p:cNvSpPr/>
          <p:nvPr/>
        </p:nvSpPr>
        <p:spPr>
          <a:xfrm>
            <a:off x="10110762" y="1905000"/>
            <a:ext cx="1179256" cy="444500"/>
          </a:xfrm>
          <a:prstGeom prst="rect">
            <a:avLst/>
          </a:prstGeom>
          <a:noFill/>
          <a:ln/>
        </p:spPr>
        <p:txBody>
          <a:bodyPr wrap="square" rtlCol="0" anchor="t"/>
          <a:lstStyle/>
          <a:p>
            <a:pPr indent="0" marL="0">
              <a:buNone/>
            </a:pPr>
            <a:r>
              <a:rPr lang="en-US" sz="1200" b="1" dirty="0">
                <a:solidFill>
                  <a:srgbClr val="FCFCFA"/>
                </a:solidFill>
                <a:latin typeface="Segoe UI" pitchFamily="34" charset="0"/>
                <a:ea typeface="Segoe UI" pitchFamily="34" charset="-122"/>
                <a:cs typeface="Segoe UI" pitchFamily="34" charset="-120"/>
              </a:rPr>
              <a:t>Ouverture des plis</a:t>
            </a:r>
            <a:endParaRPr lang="en-US" sz="1200" dirty="0"/>
          </a:p>
        </p:txBody>
      </p:sp>
      <p:sp>
        <p:nvSpPr>
          <p:cNvPr id="38" name="Text 35"/>
          <p:cNvSpPr/>
          <p:nvPr/>
        </p:nvSpPr>
        <p:spPr>
          <a:xfrm>
            <a:off x="10110762" y="2349500"/>
            <a:ext cx="1179256" cy="698500"/>
          </a:xfrm>
          <a:prstGeom prst="rect">
            <a:avLst/>
          </a:prstGeom>
          <a:noFill/>
          <a:ln/>
        </p:spPr>
        <p:txBody>
          <a:bodyPr wrap="square" rtlCol="0" anchor="t"/>
          <a:lstStyle/>
          <a:p>
            <a:pPr indent="0" marL="0">
              <a:buNone/>
            </a:pPr>
            <a:r>
              <a:rPr lang="en-US" sz="1100" dirty="0">
                <a:solidFill>
                  <a:srgbClr val="C9D6E2"/>
                </a:solidFill>
                <a:latin typeface="Segoe UI" pitchFamily="34" charset="0"/>
                <a:ea typeface="Segoe UI" pitchFamily="34" charset="-122"/>
                <a:cs typeface="Segoe UI" pitchFamily="34" charset="-120"/>
              </a:rPr>
              <a:t>CAO, responsable</a:t>
            </a:r>
            <a:endParaRPr lang="en-US" sz="1100" dirty="0"/>
          </a:p>
        </p:txBody>
      </p:sp>
      <p:sp>
        <p:nvSpPr>
          <p:cNvPr id="39" name="Text 36"/>
          <p:cNvSpPr/>
          <p:nvPr/>
        </p:nvSpPr>
        <p:spPr>
          <a:xfrm>
            <a:off x="812780" y="3365500"/>
            <a:ext cx="10159746" cy="1270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Chaque dossier soumis suit le même circuit de contrôle, avec ses délais et sa trace. Rien ne s’efface : une mise à jour crée une version, chaque décision est journalisée. Les documents officiels sont produits par l’application, sur les modèles en vigueur.</a:t>
            </a:r>
            <a:endParaRPr lang="en-US" sz="1300" dirty="0"/>
          </a:p>
        </p:txBody>
      </p:sp>
      <p:sp>
        <p:nvSpPr>
          <p:cNvPr id="40" name="Text 37"/>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VUE D’ENSEMBLE</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Les profils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780" y="1460500"/>
          <a:ext cx="10566136" cy="914400"/>
        </p:xfrm>
        <a:graphic>
          <a:graphicData uri="http://schemas.openxmlformats.org/drawingml/2006/table">
            <a:tbl>
              <a:tblPr/>
              <a:tblGrid>
                <a:gridCol w="2747195"/>
                <a:gridCol w="7818941"/>
              </a:tblGrid>
              <a:tr h="0">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Profil</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Ce qu’il fait dans l’application</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PRMP · UGPM</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Prépare et soumet les dossiers de son entité ; l’UGPM prépare, la PRMP soumet.</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Président · Chef de commission</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Dispatchent, visent les PV de leurs dispatchs, signent ; exercent par délégation.</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Secrétaire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Contrôle la recevabilité des pièces et enregistre.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Membre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Examine, rédige le projet de PV, émet son avis, signe.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Vérificateur · Assistant</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Vérifient la levée des réserves, transmettent à SIGMP, archivent.</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Chargé de publication · Administrateur</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Portail de transparence ; comptes, référentiels, paramètres.</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Candidat · Membre de CAO</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Profils externes : déposer une offre ; détenir une part de clé et ouvrir les plis.</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2"/>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VUE D’ENSEMBLE</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L’entrée publique</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Trois publics : </a:t>
            </a:r>
            <a:pPr indent="0" marL="0">
              <a:buNone/>
            </a:pPr>
            <a:r>
              <a:rPr lang="en-US" sz="1300" b="1" dirty="0">
                <a:solidFill>
                  <a:srgbClr val="465568"/>
                </a:solidFill>
                <a:latin typeface="Segoe UI" pitchFamily="34" charset="0"/>
                <a:ea typeface="Segoe UI" pitchFamily="34" charset="-122"/>
                <a:cs typeface="Segoe UI" pitchFamily="34" charset="-120"/>
              </a:rPr>
              <a:t>PRMP et UGPM</a:t>
            </a:r>
            <a:pPr indent="0" marL="0">
              <a:buNone/>
            </a:pPr>
            <a:r>
              <a:rPr lang="en-US" sz="1300" dirty="0">
                <a:solidFill>
                  <a:srgbClr val="465568"/>
                </a:solidFill>
                <a:latin typeface="Segoe UI" pitchFamily="34" charset="0"/>
                <a:ea typeface="Segoe UI" pitchFamily="34" charset="-122"/>
                <a:cs typeface="Segoe UI" pitchFamily="34" charset="-120"/>
              </a:rPr>
              <a:t>, </a:t>
            </a:r>
            <a:pPr indent="0" marL="0">
              <a:buNone/>
            </a:pPr>
            <a:r>
              <a:rPr lang="en-US" sz="1300" b="1" dirty="0">
                <a:solidFill>
                  <a:srgbClr val="465568"/>
                </a:solidFill>
                <a:latin typeface="Segoe UI" pitchFamily="34" charset="0"/>
                <a:ea typeface="Segoe UI" pitchFamily="34" charset="-122"/>
                <a:cs typeface="Segoe UI" pitchFamily="34" charset="-120"/>
              </a:rPr>
              <a:t>Commission</a:t>
            </a:r>
            <a:pPr indent="0" marL="0">
              <a:buNone/>
            </a:pPr>
            <a:r>
              <a:rPr lang="en-US" sz="1300" dirty="0">
                <a:solidFill>
                  <a:srgbClr val="465568"/>
                </a:solidFill>
                <a:latin typeface="Segoe UI" pitchFamily="34" charset="0"/>
                <a:ea typeface="Segoe UI" pitchFamily="34" charset="-122"/>
                <a:cs typeface="Segoe UI" pitchFamily="34" charset="-120"/>
              </a:rPr>
              <a:t>, </a:t>
            </a:r>
            <a:pPr indent="0" marL="0">
              <a:buNone/>
            </a:pPr>
            <a:r>
              <a:rPr lang="en-US" sz="1300" b="1" dirty="0">
                <a:solidFill>
                  <a:srgbClr val="465568"/>
                </a:solidFill>
                <a:latin typeface="Segoe UI" pitchFamily="34" charset="0"/>
                <a:ea typeface="Segoe UI" pitchFamily="34" charset="-122"/>
                <a:cs typeface="Segoe UI" pitchFamily="34" charset="-120"/>
              </a:rPr>
              <a:t>Entreprises</a:t>
            </a:r>
            <a:pPr indent="0" marL="0">
              <a:buNone/>
            </a:pPr>
            <a:r>
              <a:rPr lang="en-US" sz="1300" dirty="0">
                <a:solidFill>
                  <a:srgbClr val="465568"/>
                </a:solidFill>
                <a:latin typeface="Segoe UI" pitchFamily="34" charset="0"/>
                <a:ea typeface="Segoe UI" pitchFamily="34" charset="-122"/>
                <a:cs typeface="Segoe UI" pitchFamily="34" charset="-120"/>
              </a:rPr>
              <a:t>.</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Pour chacun, ce qu’il peut faire ici, et ses raccourcis.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Connexion par identifiant, ou par adresse électronique pour un candidat.</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Inscription publique d’une PRMP, validée ensuite par l’Administrateur.</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Page d’accueil publique, onglet PRMP et UGPM">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2539937"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2</a:t>
            </a:r>
            <a:endParaRPr lang="en-US" sz="8000" dirty="0"/>
          </a:p>
        </p:txBody>
      </p:sp>
      <p:sp>
        <p:nvSpPr>
          <p:cNvPr id="3" name="Text 1"/>
          <p:cNvSpPr/>
          <p:nvPr/>
        </p:nvSpPr>
        <p:spPr>
          <a:xfrm>
            <a:off x="812780" y="2667000"/>
            <a:ext cx="10159746" cy="698500"/>
          </a:xfrm>
          <a:prstGeom prst="rect">
            <a:avLst/>
          </a:prstGeom>
          <a:noFill/>
          <a:ln/>
        </p:spPr>
        <p:txBody>
          <a:bodyPr wrap="square" rtlCol="0" anchor="ctr"/>
          <a:lstStyle/>
          <a:p>
            <a:pPr indent="0" marL="0">
              <a:buNone/>
            </a:pPr>
            <a:r>
              <a:rPr lang="en-US" sz="4400" b="1" dirty="0">
                <a:solidFill>
                  <a:srgbClr val="FCFCFA"/>
                </a:solidFill>
                <a:latin typeface="Segoe UI" pitchFamily="34" charset="0"/>
                <a:ea typeface="Segoe UI" pitchFamily="34" charset="-122"/>
                <a:cs typeface="Segoe UI" pitchFamily="34" charset="-120"/>
              </a:rPr>
              <a:t>La planification</a:t>
            </a:r>
            <a:endParaRPr lang="en-US" sz="4400" dirty="0"/>
          </a:p>
        </p:txBody>
      </p:sp>
      <p:sp>
        <p:nvSpPr>
          <p:cNvPr id="4" name="Text 2"/>
          <p:cNvSpPr/>
          <p:nvPr/>
        </p:nvSpPr>
        <p:spPr>
          <a:xfrm>
            <a:off x="812780" y="3556000"/>
            <a:ext cx="8254794" cy="889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La PRMP constitue son plan de passation des marchés, le soumet à la Commission, et le met à jour par versions.</a:t>
            </a:r>
            <a:endParaRPr lang="en-US" sz="1700" dirty="0"/>
          </a:p>
        </p:txBody>
      </p:sp>
      <p:sp>
        <p:nvSpPr>
          <p:cNvPr id="5"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Présentation de l'application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Suivre ses dossiers à la Commission</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Chaque dossier : référence, type, entité, date de dépôt.</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La </a:t>
            </a:r>
            <a:pPr indent="0" marL="0">
              <a:buNone/>
            </a:pPr>
            <a:r>
              <a:rPr lang="en-US" sz="1300" b="1" dirty="0">
                <a:solidFill>
                  <a:srgbClr val="465568"/>
                </a:solidFill>
                <a:latin typeface="Segoe UI" pitchFamily="34" charset="0"/>
                <a:ea typeface="Segoe UI" pitchFamily="34" charset="-122"/>
                <a:cs typeface="Segoe UI" pitchFamily="34" charset="-120"/>
              </a:rPr>
              <a:t>fin de traitement prévue</a:t>
            </a:r>
            <a:pPr indent="0" marL="0">
              <a:buNone/>
            </a:pPr>
            <a:r>
              <a:rPr lang="en-US" sz="1300" dirty="0">
                <a:solidFill>
                  <a:srgbClr val="465568"/>
                </a:solidFill>
                <a:latin typeface="Segoe UI" pitchFamily="34" charset="0"/>
                <a:ea typeface="Segoe UI" pitchFamily="34" charset="-122"/>
                <a:cs typeface="Segoe UI" pitchFamily="34" charset="-120"/>
              </a:rPr>
              <a:t>, calculée sur les délais standards.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 statut, en clair : en vérification, décision transmise à SIGMP…</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Un clic ouvre la page du dossier et sa frise.</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Liste des dossiers de la PRMP avec leur statut">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Créer un dossier</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b="1" dirty="0">
                <a:solidFill>
                  <a:srgbClr val="465568"/>
                </a:solidFill>
                <a:latin typeface="Segoe UI" pitchFamily="34" charset="0"/>
                <a:ea typeface="Segoe UI" pitchFamily="34" charset="-122"/>
                <a:cs typeface="Segoe UI" pitchFamily="34" charset="-120"/>
              </a:rPr>
              <a:t>Dossier de planification</a:t>
            </a:r>
            <a:pPr indent="0" marL="0">
              <a:buNone/>
            </a:pPr>
            <a:r>
              <a:rPr lang="en-US" sz="1300" dirty="0">
                <a:solidFill>
                  <a:srgbClr val="465568"/>
                </a:solidFill>
                <a:latin typeface="Segoe UI" pitchFamily="34" charset="0"/>
                <a:ea typeface="Segoe UI" pitchFamily="34" charset="-122"/>
                <a:cs typeface="Segoe UI" pitchFamily="34" charset="-120"/>
              </a:rPr>
              <a:t> : le PPM, saisi ou importé depuis le PDF officiel.</a:t>
            </a:r>
            <a:endParaRPr lang="en-US" sz="1300" dirty="0"/>
          </a:p>
          <a:p>
            <a:pPr marL="342900" indent="-342900">
              <a:spcBef>
                <a:spcPts val="800"/>
              </a:spcBef>
              <a:buSzPct val="100000"/>
              <a:buChar char="•"/>
            </a:pPr>
            <a:r>
              <a:rPr lang="en-US" sz="1300" b="1" dirty="0">
                <a:solidFill>
                  <a:srgbClr val="465568"/>
                </a:solidFill>
                <a:latin typeface="Segoe UI" pitchFamily="34" charset="0"/>
                <a:ea typeface="Segoe UI" pitchFamily="34" charset="-122"/>
                <a:cs typeface="Segoe UI" pitchFamily="34" charset="-120"/>
              </a:rPr>
              <a:t>Mise en concurrence</a:t>
            </a:r>
            <a:pPr indent="0" marL="0">
              <a:buNone/>
            </a:pPr>
            <a:r>
              <a:rPr lang="en-US" sz="1300" dirty="0">
                <a:solidFill>
                  <a:srgbClr val="465568"/>
                </a:solidFill>
                <a:latin typeface="Segoe UI" pitchFamily="34" charset="0"/>
                <a:ea typeface="Segoe UI" pitchFamily="34" charset="-122"/>
                <a:cs typeface="Segoe UI" pitchFamily="34" charset="-120"/>
              </a:rPr>
              <a:t> : l’appel d’offres se prépare dans sa fiche DAO.</a:t>
            </a:r>
            <a:endParaRPr lang="en-US" sz="1300" dirty="0"/>
          </a:p>
          <a:p>
            <a:pPr marL="342900" indent="-342900">
              <a:spcBef>
                <a:spcPts val="800"/>
              </a:spcBef>
              <a:buSzPct val="100000"/>
              <a:buChar char="•"/>
            </a:pPr>
            <a:r>
              <a:rPr lang="en-US" sz="1300" b="1" dirty="0">
                <a:solidFill>
                  <a:srgbClr val="465568"/>
                </a:solidFill>
                <a:latin typeface="Segoe UI" pitchFamily="34" charset="0"/>
                <a:ea typeface="Segoe UI" pitchFamily="34" charset="-122"/>
                <a:cs typeface="Segoe UI" pitchFamily="34" charset="-120"/>
              </a:rPr>
              <a:t>Dossier de marché</a:t>
            </a:r>
            <a:pPr indent="0" marL="0">
              <a:buNone/>
            </a:pPr>
            <a:r>
              <a:rPr lang="en-US" sz="1300" dirty="0">
                <a:solidFill>
                  <a:srgbClr val="465568"/>
                </a:solidFill>
                <a:latin typeface="Segoe UI" pitchFamily="34" charset="0"/>
                <a:ea typeface="Segoe UI" pitchFamily="34" charset="-122"/>
                <a:cs typeface="Segoe UI" pitchFamily="34" charset="-120"/>
              </a:rPr>
              <a:t> : le marché à conclure.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Un brouillon reste invisible des contrôleurs jusqu’à la soumission.</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Écran Créer dossier avec trois familles">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Mettre à jour, rectifier, retirer</a:t>
            </a:r>
            <a:endParaRPr lang="en-US" sz="2800" dirty="0"/>
          </a:p>
        </p:txBody>
      </p:sp>
      <p:sp>
        <p:nvSpPr>
          <p:cNvPr id="5" name="Shape 2"/>
          <p:cNvSpPr/>
          <p:nvPr/>
        </p:nvSpPr>
        <p:spPr>
          <a:xfrm>
            <a:off x="812780" y="1460500"/>
            <a:ext cx="3403515" cy="1905000"/>
          </a:xfrm>
          <a:prstGeom prst="rect">
            <a:avLst/>
          </a:prstGeom>
          <a:solidFill>
            <a:srgbClr val="FCFCFA"/>
          </a:solidFill>
          <a:ln w="9525">
            <a:solidFill>
              <a:srgbClr val="D5DCE4"/>
            </a:solidFill>
            <a:prstDash val="solid"/>
          </a:ln>
        </p:spPr>
      </p:sp>
      <p:sp>
        <p:nvSpPr>
          <p:cNvPr id="6" name="Shape 3"/>
          <p:cNvSpPr/>
          <p:nvPr/>
        </p:nvSpPr>
        <p:spPr>
          <a:xfrm>
            <a:off x="812780" y="1460500"/>
            <a:ext cx="3403515" cy="38100"/>
          </a:xfrm>
          <a:prstGeom prst="rect">
            <a:avLst/>
          </a:prstGeom>
          <a:solidFill>
            <a:srgbClr val="1B6FA8"/>
          </a:solidFill>
          <a:ln/>
        </p:spPr>
      </p:sp>
      <p:sp>
        <p:nvSpPr>
          <p:cNvPr id="7" name="Text 4"/>
          <p:cNvSpPr/>
          <p:nvPr/>
        </p:nvSpPr>
        <p:spPr>
          <a:xfrm>
            <a:off x="965176"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Mise à jour</a:t>
            </a:r>
            <a:endParaRPr lang="en-US" sz="1600" dirty="0"/>
          </a:p>
        </p:txBody>
      </p:sp>
      <p:sp>
        <p:nvSpPr>
          <p:cNvPr id="8" name="Text 5"/>
          <p:cNvSpPr/>
          <p:nvPr/>
        </p:nvSpPr>
        <p:spPr>
          <a:xfrm>
            <a:off x="965176"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Une </a:t>
            </a:r>
            <a:pPr indent="0" marL="0">
              <a:buNone/>
            </a:pPr>
            <a:r>
              <a:rPr lang="en-US" sz="1300" b="1" dirty="0">
                <a:solidFill>
                  <a:srgbClr val="465568"/>
                </a:solidFill>
                <a:latin typeface="Segoe UI" pitchFamily="34" charset="0"/>
                <a:ea typeface="Segoe UI" pitchFamily="34" charset="-122"/>
                <a:cs typeface="Segoe UI" pitchFamily="34" charset="-120"/>
              </a:rPr>
              <a:t>nouvelle version</a:t>
            </a:r>
            <a:pPr indent="0" marL="0">
              <a:buNone/>
            </a:pPr>
            <a:r>
              <a:rPr lang="en-US" sz="1300" dirty="0">
                <a:solidFill>
                  <a:srgbClr val="465568"/>
                </a:solidFill>
                <a:latin typeface="Segoe UI" pitchFamily="34" charset="0"/>
                <a:ea typeface="Segoe UI" pitchFamily="34" charset="-122"/>
                <a:cs typeface="Segoe UI" pitchFamily="34" charset="-120"/>
              </a:rPr>
              <a:t>, jamais une modification en place. L’écart avec la précédente est figé ; seule la dernière version se met à jour.</a:t>
            </a:r>
            <a:endParaRPr lang="en-US" sz="1300" dirty="0"/>
          </a:p>
        </p:txBody>
      </p:sp>
      <p:sp>
        <p:nvSpPr>
          <p:cNvPr id="9" name="Shape 6"/>
          <p:cNvSpPr/>
          <p:nvPr/>
        </p:nvSpPr>
        <p:spPr>
          <a:xfrm>
            <a:off x="4394090" y="1460500"/>
            <a:ext cx="3403515" cy="1905000"/>
          </a:xfrm>
          <a:prstGeom prst="rect">
            <a:avLst/>
          </a:prstGeom>
          <a:solidFill>
            <a:srgbClr val="FCFCFA"/>
          </a:solidFill>
          <a:ln w="9525">
            <a:solidFill>
              <a:srgbClr val="D5DCE4"/>
            </a:solidFill>
            <a:prstDash val="solid"/>
          </a:ln>
        </p:spPr>
      </p:sp>
      <p:sp>
        <p:nvSpPr>
          <p:cNvPr id="10" name="Shape 7"/>
          <p:cNvSpPr/>
          <p:nvPr/>
        </p:nvSpPr>
        <p:spPr>
          <a:xfrm>
            <a:off x="4394090" y="1460500"/>
            <a:ext cx="3403515" cy="38100"/>
          </a:xfrm>
          <a:prstGeom prst="rect">
            <a:avLst/>
          </a:prstGeom>
          <a:solidFill>
            <a:srgbClr val="E3AE2E"/>
          </a:solidFill>
          <a:ln/>
        </p:spPr>
      </p:sp>
      <p:sp>
        <p:nvSpPr>
          <p:cNvPr id="11" name="Text 8"/>
          <p:cNvSpPr/>
          <p:nvPr/>
        </p:nvSpPr>
        <p:spPr>
          <a:xfrm>
            <a:off x="4546486"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Rectification</a:t>
            </a:r>
            <a:endParaRPr lang="en-US" sz="1600" dirty="0"/>
          </a:p>
        </p:txBody>
      </p:sp>
      <p:sp>
        <p:nvSpPr>
          <p:cNvPr id="12" name="Text 9"/>
          <p:cNvSpPr/>
          <p:nvPr/>
        </p:nvSpPr>
        <p:spPr>
          <a:xfrm>
            <a:off x="4546486"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Répond aux observations d’un PV favorable avec réserves, par réimport du plan. Un écart limité est toléré ; les versions archivées restent consultables.</a:t>
            </a:r>
            <a:endParaRPr lang="en-US" sz="1300" dirty="0"/>
          </a:p>
        </p:txBody>
      </p:sp>
      <p:sp>
        <p:nvSpPr>
          <p:cNvPr id="13" name="Shape 10"/>
          <p:cNvSpPr/>
          <p:nvPr/>
        </p:nvSpPr>
        <p:spPr>
          <a:xfrm>
            <a:off x="7975401" y="1460500"/>
            <a:ext cx="3403515" cy="1905000"/>
          </a:xfrm>
          <a:prstGeom prst="rect">
            <a:avLst/>
          </a:prstGeom>
          <a:solidFill>
            <a:srgbClr val="FCFCFA"/>
          </a:solidFill>
          <a:ln w="9525">
            <a:solidFill>
              <a:srgbClr val="D5DCE4"/>
            </a:solidFill>
            <a:prstDash val="solid"/>
          </a:ln>
        </p:spPr>
      </p:sp>
      <p:sp>
        <p:nvSpPr>
          <p:cNvPr id="14" name="Shape 11"/>
          <p:cNvSpPr/>
          <p:nvPr/>
        </p:nvSpPr>
        <p:spPr>
          <a:xfrm>
            <a:off x="7975401" y="1460500"/>
            <a:ext cx="3403515" cy="38100"/>
          </a:xfrm>
          <a:prstGeom prst="rect">
            <a:avLst/>
          </a:prstGeom>
          <a:solidFill>
            <a:srgbClr val="1B6FA8"/>
          </a:solidFill>
          <a:ln/>
        </p:spPr>
      </p:sp>
      <p:sp>
        <p:nvSpPr>
          <p:cNvPr id="15" name="Text 12"/>
          <p:cNvSpPr/>
          <p:nvPr/>
        </p:nvSpPr>
        <p:spPr>
          <a:xfrm>
            <a:off x="8127797"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Retrait</a:t>
            </a:r>
            <a:endParaRPr lang="en-US" sz="1600" dirty="0"/>
          </a:p>
        </p:txBody>
      </p:sp>
      <p:sp>
        <p:nvSpPr>
          <p:cNvPr id="16" name="Text 13"/>
          <p:cNvSpPr/>
          <p:nvPr/>
        </p:nvSpPr>
        <p:spPr>
          <a:xfrm>
            <a:off x="8127797"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Possible </a:t>
            </a:r>
            <a:pPr indent="0" marL="0">
              <a:buNone/>
            </a:pPr>
            <a:r>
              <a:rPr lang="en-US" sz="1300" b="1" dirty="0">
                <a:solidFill>
                  <a:srgbClr val="465568"/>
                </a:solidFill>
                <a:latin typeface="Segoe UI" pitchFamily="34" charset="0"/>
                <a:ea typeface="Segoe UI" pitchFamily="34" charset="-122"/>
                <a:cs typeface="Segoe UI" pitchFamily="34" charset="-120"/>
              </a:rPr>
              <a:t>à toute étape tant que le PV n’est pas signé</a:t>
            </a:r>
            <a:pPr indent="0" marL="0">
              <a:buNone/>
            </a:pPr>
            <a:r>
              <a:rPr lang="en-US" sz="1300" dirty="0">
                <a:solidFill>
                  <a:srgbClr val="465568"/>
                </a:solidFill>
                <a:latin typeface="Segoe UI" pitchFamily="34" charset="0"/>
                <a:ea typeface="Segoe UI" pitchFamily="34" charset="-122"/>
                <a:cs typeface="Segoe UI" pitchFamily="34" charset="-120"/>
              </a:rPr>
              <a:t>. Le Chef de commission décide ; un retrait accepté remet le dossier en brouillon.</a:t>
            </a:r>
            <a:endParaRPr lang="en-US" sz="1300" dirty="0"/>
          </a:p>
        </p:txBody>
      </p:sp>
      <p:sp>
        <p:nvSpPr>
          <p:cNvPr id="17" name="Text 1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2539937"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3</a:t>
            </a:r>
            <a:endParaRPr lang="en-US" sz="8000" dirty="0"/>
          </a:p>
        </p:txBody>
      </p:sp>
      <p:sp>
        <p:nvSpPr>
          <p:cNvPr id="3" name="Text 1"/>
          <p:cNvSpPr/>
          <p:nvPr/>
        </p:nvSpPr>
        <p:spPr>
          <a:xfrm>
            <a:off x="812780" y="2667000"/>
            <a:ext cx="10159746" cy="698500"/>
          </a:xfrm>
          <a:prstGeom prst="rect">
            <a:avLst/>
          </a:prstGeom>
          <a:noFill/>
          <a:ln/>
        </p:spPr>
        <p:txBody>
          <a:bodyPr wrap="square" rtlCol="0" anchor="ctr"/>
          <a:lstStyle/>
          <a:p>
            <a:pPr indent="0" marL="0">
              <a:buNone/>
            </a:pPr>
            <a:r>
              <a:rPr lang="en-US" sz="4400" b="1" dirty="0">
                <a:solidFill>
                  <a:srgbClr val="FCFCFA"/>
                </a:solidFill>
                <a:latin typeface="Segoe UI" pitchFamily="34" charset="0"/>
                <a:ea typeface="Segoe UI" pitchFamily="34" charset="-122"/>
                <a:cs typeface="Segoe UI" pitchFamily="34" charset="-120"/>
              </a:rPr>
              <a:t>Le contrôle a priori</a:t>
            </a:r>
            <a:endParaRPr lang="en-US" sz="4400" dirty="0"/>
          </a:p>
        </p:txBody>
      </p:sp>
      <p:sp>
        <p:nvSpPr>
          <p:cNvPr id="4" name="Text 2"/>
          <p:cNvSpPr/>
          <p:nvPr/>
        </p:nvSpPr>
        <p:spPr>
          <a:xfrm>
            <a:off x="812780" y="3556000"/>
            <a:ext cx="8254794" cy="889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Sept étapes, chacune chronométrée et attribuée ; les gestes possibles sont calculés par le serveur, jamais devinés par l’écran.</a:t>
            </a:r>
            <a:endParaRPr lang="en-US" sz="1700" dirty="0"/>
          </a:p>
        </p:txBody>
      </p:sp>
      <p:sp>
        <p:nvSpPr>
          <p:cNvPr id="5"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Présentation de l'application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A PRIORI</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 circuit d’un dossier</a:t>
            </a:r>
            <a:endParaRPr lang="en-US" sz="2800" dirty="0"/>
          </a:p>
        </p:txBody>
      </p:sp>
      <p:sp>
        <p:nvSpPr>
          <p:cNvPr id="5" name="Shape 2"/>
          <p:cNvSpPr/>
          <p:nvPr/>
        </p:nvSpPr>
        <p:spPr>
          <a:xfrm>
            <a:off x="812780" y="1587500"/>
            <a:ext cx="1357052" cy="1524000"/>
          </a:xfrm>
          <a:prstGeom prst="roundRect">
            <a:avLst>
              <a:gd name="adj" fmla="val 4043"/>
            </a:avLst>
          </a:prstGeom>
          <a:solidFill>
            <a:srgbClr val="FCFCFA"/>
          </a:solidFill>
          <a:ln w="19050">
            <a:solidFill>
              <a:srgbClr val="12324A"/>
            </a:solidFill>
            <a:prstDash val="solid"/>
          </a:ln>
        </p:spPr>
      </p:sp>
      <p:sp>
        <p:nvSpPr>
          <p:cNvPr id="6" name="Text 3"/>
          <p:cNvSpPr/>
          <p:nvPr/>
        </p:nvSpPr>
        <p:spPr>
          <a:xfrm>
            <a:off x="901677"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1</a:t>
            </a:r>
            <a:endParaRPr lang="en-US" sz="1200" dirty="0"/>
          </a:p>
        </p:txBody>
      </p:sp>
      <p:sp>
        <p:nvSpPr>
          <p:cNvPr id="7" name="Text 4"/>
          <p:cNvSpPr/>
          <p:nvPr/>
        </p:nvSpPr>
        <p:spPr>
          <a:xfrm>
            <a:off x="901677"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Réception</a:t>
            </a:r>
            <a:endParaRPr lang="en-US" sz="1200" dirty="0"/>
          </a:p>
        </p:txBody>
      </p:sp>
      <p:sp>
        <p:nvSpPr>
          <p:cNvPr id="8" name="Text 5"/>
          <p:cNvSpPr/>
          <p:nvPr/>
        </p:nvSpPr>
        <p:spPr>
          <a:xfrm>
            <a:off x="901677"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Secrétaire : recevabilité pièce par pièce</a:t>
            </a:r>
            <a:endParaRPr lang="en-US" sz="1100" dirty="0"/>
          </a:p>
        </p:txBody>
      </p:sp>
      <p:sp>
        <p:nvSpPr>
          <p:cNvPr id="9" name="Shape 6"/>
          <p:cNvSpPr/>
          <p:nvPr/>
        </p:nvSpPr>
        <p:spPr>
          <a:xfrm>
            <a:off x="2182531" y="2349500"/>
            <a:ext cx="152396" cy="0"/>
          </a:xfrm>
          <a:prstGeom prst="line">
            <a:avLst/>
          </a:prstGeom>
          <a:noFill/>
          <a:ln w="19050">
            <a:solidFill>
              <a:srgbClr val="6A7787"/>
            </a:solidFill>
            <a:prstDash val="solid"/>
            <a:tailEnd type="triangle"/>
          </a:ln>
        </p:spPr>
      </p:sp>
      <p:sp>
        <p:nvSpPr>
          <p:cNvPr id="10" name="Shape 7"/>
          <p:cNvSpPr/>
          <p:nvPr/>
        </p:nvSpPr>
        <p:spPr>
          <a:xfrm>
            <a:off x="2347627" y="1587500"/>
            <a:ext cx="1357052" cy="1524000"/>
          </a:xfrm>
          <a:prstGeom prst="roundRect">
            <a:avLst>
              <a:gd name="adj" fmla="val 4043"/>
            </a:avLst>
          </a:prstGeom>
          <a:solidFill>
            <a:srgbClr val="FCFCFA"/>
          </a:solidFill>
          <a:ln w="19050">
            <a:solidFill>
              <a:srgbClr val="12324A"/>
            </a:solidFill>
            <a:prstDash val="solid"/>
          </a:ln>
        </p:spPr>
      </p:sp>
      <p:sp>
        <p:nvSpPr>
          <p:cNvPr id="11" name="Text 8"/>
          <p:cNvSpPr/>
          <p:nvPr/>
        </p:nvSpPr>
        <p:spPr>
          <a:xfrm>
            <a:off x="2436525"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2</a:t>
            </a:r>
            <a:endParaRPr lang="en-US" sz="1200" dirty="0"/>
          </a:p>
        </p:txBody>
      </p:sp>
      <p:sp>
        <p:nvSpPr>
          <p:cNvPr id="12" name="Text 9"/>
          <p:cNvSpPr/>
          <p:nvPr/>
        </p:nvSpPr>
        <p:spPr>
          <a:xfrm>
            <a:off x="2436525"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Dispatch</a:t>
            </a:r>
            <a:endParaRPr lang="en-US" sz="1200" dirty="0"/>
          </a:p>
        </p:txBody>
      </p:sp>
      <p:sp>
        <p:nvSpPr>
          <p:cNvPr id="13" name="Text 10"/>
          <p:cNvSpPr/>
          <p:nvPr/>
        </p:nvSpPr>
        <p:spPr>
          <a:xfrm>
            <a:off x="2436525"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Président ou CC, avec une consigne</a:t>
            </a:r>
            <a:endParaRPr lang="en-US" sz="1100" dirty="0"/>
          </a:p>
        </p:txBody>
      </p:sp>
      <p:sp>
        <p:nvSpPr>
          <p:cNvPr id="14" name="Shape 11"/>
          <p:cNvSpPr/>
          <p:nvPr/>
        </p:nvSpPr>
        <p:spPr>
          <a:xfrm>
            <a:off x="3717378" y="2349500"/>
            <a:ext cx="152396" cy="0"/>
          </a:xfrm>
          <a:prstGeom prst="line">
            <a:avLst/>
          </a:prstGeom>
          <a:noFill/>
          <a:ln w="19050">
            <a:solidFill>
              <a:srgbClr val="6A7787"/>
            </a:solidFill>
            <a:prstDash val="solid"/>
            <a:tailEnd type="triangle"/>
          </a:ln>
        </p:spPr>
      </p:sp>
      <p:sp>
        <p:nvSpPr>
          <p:cNvPr id="15" name="Shape 12"/>
          <p:cNvSpPr/>
          <p:nvPr/>
        </p:nvSpPr>
        <p:spPr>
          <a:xfrm>
            <a:off x="3882474" y="1587500"/>
            <a:ext cx="1357052" cy="1524000"/>
          </a:xfrm>
          <a:prstGeom prst="roundRect">
            <a:avLst>
              <a:gd name="adj" fmla="val 4043"/>
            </a:avLst>
          </a:prstGeom>
          <a:solidFill>
            <a:srgbClr val="FCFCFA"/>
          </a:solidFill>
          <a:ln w="19050">
            <a:solidFill>
              <a:srgbClr val="12324A"/>
            </a:solidFill>
            <a:prstDash val="solid"/>
          </a:ln>
        </p:spPr>
      </p:sp>
      <p:sp>
        <p:nvSpPr>
          <p:cNvPr id="16" name="Text 13"/>
          <p:cNvSpPr/>
          <p:nvPr/>
        </p:nvSpPr>
        <p:spPr>
          <a:xfrm>
            <a:off x="3971372"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3</a:t>
            </a:r>
            <a:endParaRPr lang="en-US" sz="1200" dirty="0"/>
          </a:p>
        </p:txBody>
      </p:sp>
      <p:sp>
        <p:nvSpPr>
          <p:cNvPr id="17" name="Text 14"/>
          <p:cNvSpPr/>
          <p:nvPr/>
        </p:nvSpPr>
        <p:spPr>
          <a:xfrm>
            <a:off x="3971372"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Examen</a:t>
            </a:r>
            <a:endParaRPr lang="en-US" sz="1200" dirty="0"/>
          </a:p>
        </p:txBody>
      </p:sp>
      <p:sp>
        <p:nvSpPr>
          <p:cNvPr id="18" name="Text 15"/>
          <p:cNvSpPr/>
          <p:nvPr/>
        </p:nvSpPr>
        <p:spPr>
          <a:xfrm>
            <a:off x="3971372"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Membre : ligne par ligne</a:t>
            </a:r>
            <a:endParaRPr lang="en-US" sz="1100" dirty="0"/>
          </a:p>
        </p:txBody>
      </p:sp>
      <p:sp>
        <p:nvSpPr>
          <p:cNvPr id="19" name="Shape 16"/>
          <p:cNvSpPr/>
          <p:nvPr/>
        </p:nvSpPr>
        <p:spPr>
          <a:xfrm>
            <a:off x="5252226" y="2349500"/>
            <a:ext cx="152396" cy="0"/>
          </a:xfrm>
          <a:prstGeom prst="line">
            <a:avLst/>
          </a:prstGeom>
          <a:noFill/>
          <a:ln w="19050">
            <a:solidFill>
              <a:srgbClr val="6A7787"/>
            </a:solidFill>
            <a:prstDash val="solid"/>
            <a:tailEnd type="triangle"/>
          </a:ln>
        </p:spPr>
      </p:sp>
      <p:sp>
        <p:nvSpPr>
          <p:cNvPr id="20" name="Shape 17"/>
          <p:cNvSpPr/>
          <p:nvPr/>
        </p:nvSpPr>
        <p:spPr>
          <a:xfrm>
            <a:off x="5417322" y="1587500"/>
            <a:ext cx="1357052" cy="1524000"/>
          </a:xfrm>
          <a:prstGeom prst="roundRect">
            <a:avLst>
              <a:gd name="adj" fmla="val 4043"/>
            </a:avLst>
          </a:prstGeom>
          <a:solidFill>
            <a:srgbClr val="FCFCFA"/>
          </a:solidFill>
          <a:ln w="19050">
            <a:solidFill>
              <a:srgbClr val="12324A"/>
            </a:solidFill>
            <a:prstDash val="solid"/>
          </a:ln>
        </p:spPr>
      </p:sp>
      <p:sp>
        <p:nvSpPr>
          <p:cNvPr id="21" name="Text 18"/>
          <p:cNvSpPr/>
          <p:nvPr/>
        </p:nvSpPr>
        <p:spPr>
          <a:xfrm>
            <a:off x="5506219"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4</a:t>
            </a:r>
            <a:endParaRPr lang="en-US" sz="1200" dirty="0"/>
          </a:p>
        </p:txBody>
      </p:sp>
      <p:sp>
        <p:nvSpPr>
          <p:cNvPr id="22" name="Text 19"/>
          <p:cNvSpPr/>
          <p:nvPr/>
        </p:nvSpPr>
        <p:spPr>
          <a:xfrm>
            <a:off x="5506219"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Projet de PV</a:t>
            </a:r>
            <a:endParaRPr lang="en-US" sz="1200" dirty="0"/>
          </a:p>
        </p:txBody>
      </p:sp>
      <p:sp>
        <p:nvSpPr>
          <p:cNvPr id="23" name="Text 20"/>
          <p:cNvSpPr/>
          <p:nvPr/>
        </p:nvSpPr>
        <p:spPr>
          <a:xfrm>
            <a:off x="5506219"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Navette, retour ou visa</a:t>
            </a:r>
            <a:endParaRPr lang="en-US" sz="1100" dirty="0"/>
          </a:p>
        </p:txBody>
      </p:sp>
      <p:sp>
        <p:nvSpPr>
          <p:cNvPr id="24" name="Shape 21"/>
          <p:cNvSpPr/>
          <p:nvPr/>
        </p:nvSpPr>
        <p:spPr>
          <a:xfrm>
            <a:off x="6787073" y="2349500"/>
            <a:ext cx="152396" cy="0"/>
          </a:xfrm>
          <a:prstGeom prst="line">
            <a:avLst/>
          </a:prstGeom>
          <a:noFill/>
          <a:ln w="19050">
            <a:solidFill>
              <a:srgbClr val="6A7787"/>
            </a:solidFill>
            <a:prstDash val="solid"/>
            <a:tailEnd type="triangle"/>
          </a:ln>
        </p:spPr>
      </p:sp>
      <p:sp>
        <p:nvSpPr>
          <p:cNvPr id="25" name="Shape 22"/>
          <p:cNvSpPr/>
          <p:nvPr/>
        </p:nvSpPr>
        <p:spPr>
          <a:xfrm>
            <a:off x="6952169" y="1587500"/>
            <a:ext cx="1357052" cy="1524000"/>
          </a:xfrm>
          <a:prstGeom prst="roundRect">
            <a:avLst>
              <a:gd name="adj" fmla="val 4043"/>
            </a:avLst>
          </a:prstGeom>
          <a:solidFill>
            <a:srgbClr val="FCFCFA"/>
          </a:solidFill>
          <a:ln w="19050">
            <a:solidFill>
              <a:srgbClr val="12324A"/>
            </a:solidFill>
            <a:prstDash val="solid"/>
          </a:ln>
        </p:spPr>
      </p:sp>
      <p:sp>
        <p:nvSpPr>
          <p:cNvPr id="26" name="Text 23"/>
          <p:cNvSpPr/>
          <p:nvPr/>
        </p:nvSpPr>
        <p:spPr>
          <a:xfrm>
            <a:off x="7041067"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5</a:t>
            </a:r>
            <a:endParaRPr lang="en-US" sz="1200" dirty="0"/>
          </a:p>
        </p:txBody>
      </p:sp>
      <p:sp>
        <p:nvSpPr>
          <p:cNvPr id="27" name="Text 24"/>
          <p:cNvSpPr/>
          <p:nvPr/>
        </p:nvSpPr>
        <p:spPr>
          <a:xfrm>
            <a:off x="7041067"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PV signé</a:t>
            </a:r>
            <a:endParaRPr lang="en-US" sz="1200" dirty="0"/>
          </a:p>
        </p:txBody>
      </p:sp>
      <p:sp>
        <p:nvSpPr>
          <p:cNvPr id="28" name="Text 25"/>
          <p:cNvSpPr/>
          <p:nvPr/>
        </p:nvSpPr>
        <p:spPr>
          <a:xfrm>
            <a:off x="7041067"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Deux signataires distincts</a:t>
            </a:r>
            <a:endParaRPr lang="en-US" sz="1100" dirty="0"/>
          </a:p>
        </p:txBody>
      </p:sp>
      <p:sp>
        <p:nvSpPr>
          <p:cNvPr id="29" name="Shape 26"/>
          <p:cNvSpPr/>
          <p:nvPr/>
        </p:nvSpPr>
        <p:spPr>
          <a:xfrm>
            <a:off x="8321921" y="2349500"/>
            <a:ext cx="152396" cy="0"/>
          </a:xfrm>
          <a:prstGeom prst="line">
            <a:avLst/>
          </a:prstGeom>
          <a:noFill/>
          <a:ln w="19050">
            <a:solidFill>
              <a:srgbClr val="6A7787"/>
            </a:solidFill>
            <a:prstDash val="solid"/>
            <a:tailEnd type="triangle"/>
          </a:ln>
        </p:spPr>
      </p:sp>
      <p:sp>
        <p:nvSpPr>
          <p:cNvPr id="30" name="Shape 27"/>
          <p:cNvSpPr/>
          <p:nvPr/>
        </p:nvSpPr>
        <p:spPr>
          <a:xfrm>
            <a:off x="8487016" y="1587500"/>
            <a:ext cx="1357052" cy="1524000"/>
          </a:xfrm>
          <a:prstGeom prst="roundRect">
            <a:avLst>
              <a:gd name="adj" fmla="val 4043"/>
            </a:avLst>
          </a:prstGeom>
          <a:solidFill>
            <a:srgbClr val="FCFCFA"/>
          </a:solidFill>
          <a:ln w="19050">
            <a:solidFill>
              <a:srgbClr val="12324A"/>
            </a:solidFill>
            <a:prstDash val="solid"/>
          </a:ln>
        </p:spPr>
      </p:sp>
      <p:sp>
        <p:nvSpPr>
          <p:cNvPr id="31" name="Text 28"/>
          <p:cNvSpPr/>
          <p:nvPr/>
        </p:nvSpPr>
        <p:spPr>
          <a:xfrm>
            <a:off x="8575914"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6</a:t>
            </a:r>
            <a:endParaRPr lang="en-US" sz="1200" dirty="0"/>
          </a:p>
        </p:txBody>
      </p:sp>
      <p:sp>
        <p:nvSpPr>
          <p:cNvPr id="32" name="Text 29"/>
          <p:cNvSpPr/>
          <p:nvPr/>
        </p:nvSpPr>
        <p:spPr>
          <a:xfrm>
            <a:off x="8575914"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Vérification</a:t>
            </a:r>
            <a:endParaRPr lang="en-US" sz="1200" dirty="0"/>
          </a:p>
        </p:txBody>
      </p:sp>
      <p:sp>
        <p:nvSpPr>
          <p:cNvPr id="33" name="Text 30"/>
          <p:cNvSpPr/>
          <p:nvPr/>
        </p:nvSpPr>
        <p:spPr>
          <a:xfrm>
            <a:off x="8575914"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Levée des réserves, SIGMP</a:t>
            </a:r>
            <a:endParaRPr lang="en-US" sz="1100" dirty="0"/>
          </a:p>
        </p:txBody>
      </p:sp>
      <p:sp>
        <p:nvSpPr>
          <p:cNvPr id="34" name="Shape 31"/>
          <p:cNvSpPr/>
          <p:nvPr/>
        </p:nvSpPr>
        <p:spPr>
          <a:xfrm>
            <a:off x="9856768" y="2349500"/>
            <a:ext cx="152396" cy="0"/>
          </a:xfrm>
          <a:prstGeom prst="line">
            <a:avLst/>
          </a:prstGeom>
          <a:noFill/>
          <a:ln w="19050">
            <a:solidFill>
              <a:srgbClr val="6A7787"/>
            </a:solidFill>
            <a:prstDash val="solid"/>
            <a:tailEnd type="triangle"/>
          </a:ln>
        </p:spPr>
      </p:sp>
      <p:sp>
        <p:nvSpPr>
          <p:cNvPr id="35" name="Shape 32"/>
          <p:cNvSpPr/>
          <p:nvPr/>
        </p:nvSpPr>
        <p:spPr>
          <a:xfrm>
            <a:off x="10021864" y="1587500"/>
            <a:ext cx="1357052" cy="1524000"/>
          </a:xfrm>
          <a:prstGeom prst="roundRect">
            <a:avLst>
              <a:gd name="adj" fmla="val 4043"/>
            </a:avLst>
          </a:prstGeom>
          <a:solidFill>
            <a:srgbClr val="12324A"/>
          </a:solidFill>
          <a:ln w="19050">
            <a:solidFill>
              <a:srgbClr val="12324A"/>
            </a:solidFill>
            <a:prstDash val="solid"/>
          </a:ln>
        </p:spPr>
      </p:sp>
      <p:sp>
        <p:nvSpPr>
          <p:cNvPr id="36" name="Text 33"/>
          <p:cNvSpPr/>
          <p:nvPr/>
        </p:nvSpPr>
        <p:spPr>
          <a:xfrm>
            <a:off x="10110762" y="1676400"/>
            <a:ext cx="1179256" cy="215900"/>
          </a:xfrm>
          <a:prstGeom prst="rect">
            <a:avLst/>
          </a:prstGeom>
          <a:noFill/>
          <a:ln/>
        </p:spPr>
        <p:txBody>
          <a:bodyPr wrap="square" rtlCol="0" anchor="ctr"/>
          <a:lstStyle/>
          <a:p>
            <a:pPr indent="0" marL="0">
              <a:buNone/>
            </a:pPr>
            <a:r>
              <a:rPr lang="en-US" sz="1200" b="1" dirty="0">
                <a:solidFill>
                  <a:srgbClr val="E3AE2E"/>
                </a:solidFill>
                <a:latin typeface="Segoe UI" pitchFamily="34" charset="0"/>
                <a:ea typeface="Segoe UI" pitchFamily="34" charset="-122"/>
                <a:cs typeface="Segoe UI" pitchFamily="34" charset="-120"/>
              </a:rPr>
              <a:t>7</a:t>
            </a:r>
            <a:endParaRPr lang="en-US" sz="1200" dirty="0"/>
          </a:p>
        </p:txBody>
      </p:sp>
      <p:sp>
        <p:nvSpPr>
          <p:cNvPr id="37" name="Text 34"/>
          <p:cNvSpPr/>
          <p:nvPr/>
        </p:nvSpPr>
        <p:spPr>
          <a:xfrm>
            <a:off x="10110762" y="1905000"/>
            <a:ext cx="1179256" cy="444500"/>
          </a:xfrm>
          <a:prstGeom prst="rect">
            <a:avLst/>
          </a:prstGeom>
          <a:noFill/>
          <a:ln/>
        </p:spPr>
        <p:txBody>
          <a:bodyPr wrap="square" rtlCol="0" anchor="t"/>
          <a:lstStyle/>
          <a:p>
            <a:pPr indent="0" marL="0">
              <a:buNone/>
            </a:pPr>
            <a:r>
              <a:rPr lang="en-US" sz="1200" b="1" dirty="0">
                <a:solidFill>
                  <a:srgbClr val="FCFCFA"/>
                </a:solidFill>
                <a:latin typeface="Segoe UI" pitchFamily="34" charset="0"/>
                <a:ea typeface="Segoe UI" pitchFamily="34" charset="-122"/>
                <a:cs typeface="Segoe UI" pitchFamily="34" charset="-120"/>
              </a:rPr>
              <a:t>Clôture</a:t>
            </a:r>
            <a:endParaRPr lang="en-US" sz="1200" dirty="0"/>
          </a:p>
        </p:txBody>
      </p:sp>
      <p:sp>
        <p:nvSpPr>
          <p:cNvPr id="38" name="Text 35"/>
          <p:cNvSpPr/>
          <p:nvPr/>
        </p:nvSpPr>
        <p:spPr>
          <a:xfrm>
            <a:off x="10110762" y="2349500"/>
            <a:ext cx="1179256" cy="698500"/>
          </a:xfrm>
          <a:prstGeom prst="rect">
            <a:avLst/>
          </a:prstGeom>
          <a:noFill/>
          <a:ln/>
        </p:spPr>
        <p:txBody>
          <a:bodyPr wrap="square" rtlCol="0" anchor="t"/>
          <a:lstStyle/>
          <a:p>
            <a:pPr indent="0" marL="0">
              <a:buNone/>
            </a:pPr>
            <a:r>
              <a:rPr lang="en-US" sz="1100" dirty="0">
                <a:solidFill>
                  <a:srgbClr val="C9D6E2"/>
                </a:solidFill>
                <a:latin typeface="Segoe UI" pitchFamily="34" charset="0"/>
                <a:ea typeface="Segoe UI" pitchFamily="34" charset="-122"/>
                <a:cs typeface="Segoe UI" pitchFamily="34" charset="-120"/>
              </a:rPr>
              <a:t>Archivage du PV définitif</a:t>
            </a:r>
            <a:endParaRPr lang="en-US" sz="1100" dirty="0"/>
          </a:p>
        </p:txBody>
      </p:sp>
      <p:sp>
        <p:nvSpPr>
          <p:cNvPr id="39" name="Text 36"/>
          <p:cNvSpPr/>
          <p:nvPr/>
        </p:nvSpPr>
        <p:spPr>
          <a:xfrm>
            <a:off x="812780" y="3365500"/>
            <a:ext cx="10159746" cy="1270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Une pièce obligatoire non conforme bloque l’enregistrement : le dossier attend les compléments de la PRMP. Seul l’attributaire examine ; seul le dispatcheur vise.</a:t>
            </a:r>
            <a:endParaRPr lang="en-US" sz="1300" dirty="0"/>
          </a:p>
        </p:txBody>
      </p:sp>
      <p:sp>
        <p:nvSpPr>
          <p:cNvPr id="40" name="Text 37"/>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A PRIORI</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La page d’un dossier</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La </a:t>
            </a:r>
            <a:pPr indent="0" marL="0">
              <a:buNone/>
            </a:pPr>
            <a:r>
              <a:rPr lang="en-US" sz="1300" b="1" dirty="0">
                <a:solidFill>
                  <a:srgbClr val="465568"/>
                </a:solidFill>
                <a:latin typeface="Segoe UI" pitchFamily="34" charset="0"/>
                <a:ea typeface="Segoe UI" pitchFamily="34" charset="-122"/>
                <a:cs typeface="Segoe UI" pitchFamily="34" charset="-120"/>
              </a:rPr>
              <a:t>frise</a:t>
            </a:r>
            <a:pPr indent="0" marL="0">
              <a:buNone/>
            </a:pPr>
            <a:r>
              <a:rPr lang="en-US" sz="1300" dirty="0">
                <a:solidFill>
                  <a:srgbClr val="465568"/>
                </a:solidFill>
                <a:latin typeface="Segoe UI" pitchFamily="34" charset="0"/>
                <a:ea typeface="Segoe UI" pitchFamily="34" charset="-122"/>
                <a:cs typeface="Segoe UI" pitchFamily="34" charset="-120"/>
              </a:rPr>
              <a:t> des sept étapes, avec leurs dates et leurs acteurs.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L’étape en cours et le geste attendu, en tête.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 dossier lui-même : fiche, plan de passation, AGPM, pièces.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 journal complet et les délais, à un clic.</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Page du dossier 00004/PPM-AGPM avec la frise des sept étapes">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A PRIORI</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L’examen par le Membre</a:t>
            </a:r>
            <a:endParaRPr lang="en-US" sz="2800" dirty="0"/>
          </a:p>
        </p:txBody>
      </p:sp>
      <p:sp>
        <p:nvSpPr>
          <p:cNvPr id="5" name="Text 2"/>
          <p:cNvSpPr/>
          <p:nvPr/>
        </p:nvSpPr>
        <p:spPr>
          <a:xfrm>
            <a:off x="812780" y="1270000"/>
            <a:ext cx="10159746" cy="508000"/>
          </a:xfrm>
          <a:prstGeom prst="rect">
            <a:avLst/>
          </a:prstGeom>
          <a:noFill/>
          <a:ln/>
        </p:spPr>
        <p:txBody>
          <a:bodyPr wrap="square" rtlCol="0" anchor="t"/>
          <a:lstStyle/>
          <a:p>
            <a:pPr indent="0" marL="0">
              <a:buNone/>
            </a:pPr>
            <a:r>
              <a:rPr lang="en-US" sz="1400" dirty="0">
                <a:solidFill>
                  <a:srgbClr val="465568"/>
                </a:solidFill>
                <a:latin typeface="Segoe UI" pitchFamily="34" charset="0"/>
                <a:ea typeface="Segoe UI" pitchFamily="34" charset="-122"/>
                <a:cs typeface="Segoe UI" pitchFamily="34" charset="-120"/>
              </a:rPr>
              <a:t>Un fil séquentiel, avec un brouillon enregistré au fil de l’eau : fiche de présentation, chaque ligne du plan, AGPM, pièces, dossier, synthèse.</a:t>
            </a:r>
            <a:endParaRPr lang="en-US" sz="1400" dirty="0"/>
          </a:p>
        </p:txBody>
      </p:sp>
      <p:sp>
        <p:nvSpPr>
          <p:cNvPr id="6" name="Shape 3"/>
          <p:cNvSpPr/>
          <p:nvPr/>
        </p:nvSpPr>
        <p:spPr>
          <a:xfrm>
            <a:off x="812780" y="1905000"/>
            <a:ext cx="3403515" cy="1905000"/>
          </a:xfrm>
          <a:prstGeom prst="rect">
            <a:avLst/>
          </a:prstGeom>
          <a:solidFill>
            <a:srgbClr val="FCFCFA"/>
          </a:solidFill>
          <a:ln w="9525">
            <a:solidFill>
              <a:srgbClr val="D5DCE4"/>
            </a:solidFill>
            <a:prstDash val="solid"/>
          </a:ln>
        </p:spPr>
      </p:sp>
      <p:sp>
        <p:nvSpPr>
          <p:cNvPr id="7" name="Shape 4"/>
          <p:cNvSpPr/>
          <p:nvPr/>
        </p:nvSpPr>
        <p:spPr>
          <a:xfrm>
            <a:off x="812780" y="1905000"/>
            <a:ext cx="3403515" cy="38100"/>
          </a:xfrm>
          <a:prstGeom prst="rect">
            <a:avLst/>
          </a:prstGeom>
          <a:solidFill>
            <a:srgbClr val="1B6FA8"/>
          </a:solidFill>
          <a:ln/>
        </p:spPr>
      </p:sp>
      <p:sp>
        <p:nvSpPr>
          <p:cNvPr id="8" name="Text 5"/>
          <p:cNvSpPr/>
          <p:nvPr/>
        </p:nvSpPr>
        <p:spPr>
          <a:xfrm>
            <a:off x="965176" y="20447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Les points de contrôle</a:t>
            </a:r>
            <a:endParaRPr lang="en-US" sz="1600" dirty="0"/>
          </a:p>
        </p:txBody>
      </p:sp>
      <p:sp>
        <p:nvSpPr>
          <p:cNvPr id="9" name="Text 6"/>
          <p:cNvSpPr/>
          <p:nvPr/>
        </p:nvSpPr>
        <p:spPr>
          <a:xfrm>
            <a:off x="965176" y="24003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Une grille propre au sous-type de dossier, administrable. Une étape sans contenu n’est pas contrôlée.</a:t>
            </a:r>
            <a:endParaRPr lang="en-US" sz="1300" dirty="0"/>
          </a:p>
        </p:txBody>
      </p:sp>
      <p:sp>
        <p:nvSpPr>
          <p:cNvPr id="10" name="Shape 7"/>
          <p:cNvSpPr/>
          <p:nvPr/>
        </p:nvSpPr>
        <p:spPr>
          <a:xfrm>
            <a:off x="4394090" y="1905000"/>
            <a:ext cx="3403515" cy="1905000"/>
          </a:xfrm>
          <a:prstGeom prst="rect">
            <a:avLst/>
          </a:prstGeom>
          <a:solidFill>
            <a:srgbClr val="FCFCFA"/>
          </a:solidFill>
          <a:ln w="9525">
            <a:solidFill>
              <a:srgbClr val="D5DCE4"/>
            </a:solidFill>
            <a:prstDash val="solid"/>
          </a:ln>
        </p:spPr>
      </p:sp>
      <p:sp>
        <p:nvSpPr>
          <p:cNvPr id="11" name="Shape 8"/>
          <p:cNvSpPr/>
          <p:nvPr/>
        </p:nvSpPr>
        <p:spPr>
          <a:xfrm>
            <a:off x="4394090" y="1905000"/>
            <a:ext cx="3403515" cy="38100"/>
          </a:xfrm>
          <a:prstGeom prst="rect">
            <a:avLst/>
          </a:prstGeom>
          <a:solidFill>
            <a:srgbClr val="1B6FA8"/>
          </a:solidFill>
          <a:ln/>
        </p:spPr>
      </p:sp>
      <p:sp>
        <p:nvSpPr>
          <p:cNvPr id="12" name="Text 9"/>
          <p:cNvSpPr/>
          <p:nvPr/>
        </p:nvSpPr>
        <p:spPr>
          <a:xfrm>
            <a:off x="4546486" y="20447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Les observations</a:t>
            </a:r>
            <a:endParaRPr lang="en-US" sz="1600" dirty="0"/>
          </a:p>
        </p:txBody>
      </p:sp>
      <p:sp>
        <p:nvSpPr>
          <p:cNvPr id="13" name="Text 10"/>
          <p:cNvSpPr/>
          <p:nvPr/>
        </p:nvSpPr>
        <p:spPr>
          <a:xfrm>
            <a:off x="4546486" y="24003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Une non-conformité porte son texte, « Au lieu de … / Lire … » : </a:t>
            </a:r>
            <a:pPr indent="0" marL="0">
              <a:buNone/>
            </a:pPr>
            <a:r>
              <a:rPr lang="en-US" sz="1300" b="1" dirty="0">
                <a:solidFill>
                  <a:srgbClr val="465568"/>
                </a:solidFill>
                <a:latin typeface="Segoe UI" pitchFamily="34" charset="0"/>
                <a:ea typeface="Segoe UI" pitchFamily="34" charset="-122"/>
                <a:cs typeface="Segoe UI" pitchFamily="34" charset="-120"/>
              </a:rPr>
              <a:t>pas de texte, pas d’observation</a:t>
            </a:r>
            <a:pPr indent="0" marL="0">
              <a:buNone/>
            </a:pPr>
            <a:r>
              <a:rPr lang="en-US" sz="1300" dirty="0">
                <a:solidFill>
                  <a:srgbClr val="465568"/>
                </a:solidFill>
                <a:latin typeface="Segoe UI" pitchFamily="34" charset="0"/>
                <a:ea typeface="Segoe UI" pitchFamily="34" charset="-122"/>
                <a:cs typeface="Segoe UI" pitchFamily="34" charset="-120"/>
              </a:rPr>
              <a:t>.</a:t>
            </a:r>
            <a:endParaRPr lang="en-US" sz="1300" dirty="0"/>
          </a:p>
        </p:txBody>
      </p:sp>
      <p:sp>
        <p:nvSpPr>
          <p:cNvPr id="14" name="Shape 11"/>
          <p:cNvSpPr/>
          <p:nvPr/>
        </p:nvSpPr>
        <p:spPr>
          <a:xfrm>
            <a:off x="7975401" y="1905000"/>
            <a:ext cx="3403515" cy="1905000"/>
          </a:xfrm>
          <a:prstGeom prst="rect">
            <a:avLst/>
          </a:prstGeom>
          <a:solidFill>
            <a:srgbClr val="FCFCFA"/>
          </a:solidFill>
          <a:ln w="9525">
            <a:solidFill>
              <a:srgbClr val="D5DCE4"/>
            </a:solidFill>
            <a:prstDash val="solid"/>
          </a:ln>
        </p:spPr>
      </p:sp>
      <p:sp>
        <p:nvSpPr>
          <p:cNvPr id="15" name="Shape 12"/>
          <p:cNvSpPr/>
          <p:nvPr/>
        </p:nvSpPr>
        <p:spPr>
          <a:xfrm>
            <a:off x="7975401" y="1905000"/>
            <a:ext cx="3403515" cy="38100"/>
          </a:xfrm>
          <a:prstGeom prst="rect">
            <a:avLst/>
          </a:prstGeom>
          <a:solidFill>
            <a:srgbClr val="1B6FA8"/>
          </a:solidFill>
          <a:ln/>
        </p:spPr>
      </p:sp>
      <p:sp>
        <p:nvSpPr>
          <p:cNvPr id="16" name="Text 13"/>
          <p:cNvSpPr/>
          <p:nvPr/>
        </p:nvSpPr>
        <p:spPr>
          <a:xfrm>
            <a:off x="8127797" y="20447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Le pré-contrôle</a:t>
            </a:r>
            <a:endParaRPr lang="en-US" sz="1600" dirty="0"/>
          </a:p>
        </p:txBody>
      </p:sp>
      <p:sp>
        <p:nvSpPr>
          <p:cNvPr id="17" name="Text 14"/>
          <p:cNvSpPr/>
          <p:nvPr/>
        </p:nvSpPr>
        <p:spPr>
          <a:xfrm>
            <a:off x="8127797" y="24003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L’assistant signale les anomalies probables du plan ; le Membre les retient ou les écarte.</a:t>
            </a:r>
            <a:endParaRPr lang="en-US" sz="1300" dirty="0"/>
          </a:p>
        </p:txBody>
      </p:sp>
      <p:sp>
        <p:nvSpPr>
          <p:cNvPr id="18" name="Text 15"/>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A PRIORI</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La navette du PV, le visa, la signature</a:t>
            </a:r>
            <a:endParaRPr lang="en-US" sz="2800" dirty="0"/>
          </a:p>
        </p:txBody>
      </p:sp>
      <p:sp>
        <p:nvSpPr>
          <p:cNvPr id="5" name="Shape 2"/>
          <p:cNvSpPr/>
          <p:nvPr/>
        </p:nvSpPr>
        <p:spPr>
          <a:xfrm>
            <a:off x="812780" y="1460500"/>
            <a:ext cx="3403515" cy="1905000"/>
          </a:xfrm>
          <a:prstGeom prst="rect">
            <a:avLst/>
          </a:prstGeom>
          <a:solidFill>
            <a:srgbClr val="FCFCFA"/>
          </a:solidFill>
          <a:ln w="9525">
            <a:solidFill>
              <a:srgbClr val="D5DCE4"/>
            </a:solidFill>
            <a:prstDash val="solid"/>
          </a:ln>
        </p:spPr>
      </p:sp>
      <p:sp>
        <p:nvSpPr>
          <p:cNvPr id="6" name="Shape 3"/>
          <p:cNvSpPr/>
          <p:nvPr/>
        </p:nvSpPr>
        <p:spPr>
          <a:xfrm>
            <a:off x="812780" y="1460500"/>
            <a:ext cx="3403515" cy="38100"/>
          </a:xfrm>
          <a:prstGeom prst="rect">
            <a:avLst/>
          </a:prstGeom>
          <a:solidFill>
            <a:srgbClr val="1B6FA8"/>
          </a:solidFill>
          <a:ln/>
        </p:spPr>
      </p:sp>
      <p:sp>
        <p:nvSpPr>
          <p:cNvPr id="7" name="Text 4"/>
          <p:cNvSpPr/>
          <p:nvPr/>
        </p:nvSpPr>
        <p:spPr>
          <a:xfrm>
            <a:off x="965176"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La navette</a:t>
            </a:r>
            <a:endParaRPr lang="en-US" sz="1600" dirty="0"/>
          </a:p>
        </p:txBody>
      </p:sp>
      <p:sp>
        <p:nvSpPr>
          <p:cNvPr id="8" name="Text 5"/>
          <p:cNvSpPr/>
          <p:nvPr/>
        </p:nvSpPr>
        <p:spPr>
          <a:xfrm>
            <a:off x="965176"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projet de PV remonte au dispatcheur, qui le </a:t>
            </a:r>
            <a:pPr indent="0" marL="0">
              <a:buNone/>
            </a:pPr>
            <a:r>
              <a:rPr lang="en-US" sz="1300" b="1" dirty="0">
                <a:solidFill>
                  <a:srgbClr val="465568"/>
                </a:solidFill>
                <a:latin typeface="Segoe UI" pitchFamily="34" charset="0"/>
                <a:ea typeface="Segoe UI" pitchFamily="34" charset="-122"/>
                <a:cs typeface="Segoe UI" pitchFamily="34" charset="-120"/>
              </a:rPr>
              <a:t>retourne</a:t>
            </a:r>
            <a:pPr indent="0" marL="0">
              <a:buNone/>
            </a:pPr>
            <a:r>
              <a:rPr lang="en-US" sz="1300" dirty="0">
                <a:solidFill>
                  <a:srgbClr val="465568"/>
                </a:solidFill>
                <a:latin typeface="Segoe UI" pitchFamily="34" charset="0"/>
                <a:ea typeface="Segoe UI" pitchFamily="34" charset="-122"/>
                <a:cs typeface="Segoe UI" pitchFamily="34" charset="-120"/>
              </a:rPr>
              <a:t> pour reprise ou le </a:t>
            </a:r>
            <a:pPr indent="0" marL="0">
              <a:buNone/>
            </a:pPr>
            <a:r>
              <a:rPr lang="en-US" sz="1300" b="1" dirty="0">
                <a:solidFill>
                  <a:srgbClr val="465568"/>
                </a:solidFill>
                <a:latin typeface="Segoe UI" pitchFamily="34" charset="0"/>
                <a:ea typeface="Segoe UI" pitchFamily="34" charset="-122"/>
                <a:cs typeface="Segoe UI" pitchFamily="34" charset="-120"/>
              </a:rPr>
              <a:t>vise</a:t>
            </a:r>
            <a:pPr indent="0" marL="0">
              <a:buNone/>
            </a:pPr>
            <a:r>
              <a:rPr lang="en-US" sz="1300" dirty="0">
                <a:solidFill>
                  <a:srgbClr val="465568"/>
                </a:solidFill>
                <a:latin typeface="Segoe UI" pitchFamily="34" charset="0"/>
                <a:ea typeface="Segoe UI" pitchFamily="34" charset="-122"/>
                <a:cs typeface="Segoe UI" pitchFamily="34" charset="-120"/>
              </a:rPr>
              <a:t>.</a:t>
            </a:r>
            <a:endParaRPr lang="en-US" sz="1300" dirty="0"/>
          </a:p>
        </p:txBody>
      </p:sp>
      <p:sp>
        <p:nvSpPr>
          <p:cNvPr id="9" name="Shape 6"/>
          <p:cNvSpPr/>
          <p:nvPr/>
        </p:nvSpPr>
        <p:spPr>
          <a:xfrm>
            <a:off x="4394090" y="1460500"/>
            <a:ext cx="3403515" cy="1905000"/>
          </a:xfrm>
          <a:prstGeom prst="rect">
            <a:avLst/>
          </a:prstGeom>
          <a:solidFill>
            <a:srgbClr val="FCFCFA"/>
          </a:solidFill>
          <a:ln w="9525">
            <a:solidFill>
              <a:srgbClr val="D5DCE4"/>
            </a:solidFill>
            <a:prstDash val="solid"/>
          </a:ln>
        </p:spPr>
      </p:sp>
      <p:sp>
        <p:nvSpPr>
          <p:cNvPr id="10" name="Shape 7"/>
          <p:cNvSpPr/>
          <p:nvPr/>
        </p:nvSpPr>
        <p:spPr>
          <a:xfrm>
            <a:off x="4394090" y="1460500"/>
            <a:ext cx="3403515" cy="38100"/>
          </a:xfrm>
          <a:prstGeom prst="rect">
            <a:avLst/>
          </a:prstGeom>
          <a:solidFill>
            <a:srgbClr val="1B6FA8"/>
          </a:solidFill>
          <a:ln/>
        </p:spPr>
      </p:sp>
      <p:sp>
        <p:nvSpPr>
          <p:cNvPr id="11" name="Text 8"/>
          <p:cNvSpPr/>
          <p:nvPr/>
        </p:nvSpPr>
        <p:spPr>
          <a:xfrm>
            <a:off x="4546486"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Deux niveaux</a:t>
            </a:r>
            <a:endParaRPr lang="en-US" sz="1600" dirty="0"/>
          </a:p>
        </p:txBody>
      </p:sp>
      <p:sp>
        <p:nvSpPr>
          <p:cNvPr id="12" name="Text 9"/>
          <p:cNvSpPr/>
          <p:nvPr/>
        </p:nvSpPr>
        <p:spPr>
          <a:xfrm>
            <a:off x="4546486"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Président → CC → Membre : chaque niveau retourne à celui du dessous, le Président vise et choisit les co-signataires.</a:t>
            </a:r>
            <a:endParaRPr lang="en-US" sz="1300" dirty="0"/>
          </a:p>
        </p:txBody>
      </p:sp>
      <p:sp>
        <p:nvSpPr>
          <p:cNvPr id="13" name="Shape 10"/>
          <p:cNvSpPr/>
          <p:nvPr/>
        </p:nvSpPr>
        <p:spPr>
          <a:xfrm>
            <a:off x="7975401" y="1460500"/>
            <a:ext cx="3403515" cy="1905000"/>
          </a:xfrm>
          <a:prstGeom prst="rect">
            <a:avLst/>
          </a:prstGeom>
          <a:solidFill>
            <a:srgbClr val="FCFCFA"/>
          </a:solidFill>
          <a:ln w="9525">
            <a:solidFill>
              <a:srgbClr val="D5DCE4"/>
            </a:solidFill>
            <a:prstDash val="solid"/>
          </a:ln>
        </p:spPr>
      </p:sp>
      <p:sp>
        <p:nvSpPr>
          <p:cNvPr id="14" name="Shape 11"/>
          <p:cNvSpPr/>
          <p:nvPr/>
        </p:nvSpPr>
        <p:spPr>
          <a:xfrm>
            <a:off x="7975401" y="1460500"/>
            <a:ext cx="3403515" cy="38100"/>
          </a:xfrm>
          <a:prstGeom prst="rect">
            <a:avLst/>
          </a:prstGeom>
          <a:solidFill>
            <a:srgbClr val="1B6FA8"/>
          </a:solidFill>
          <a:ln/>
        </p:spPr>
      </p:sp>
      <p:sp>
        <p:nvSpPr>
          <p:cNvPr id="15" name="Text 12"/>
          <p:cNvSpPr/>
          <p:nvPr/>
        </p:nvSpPr>
        <p:spPr>
          <a:xfrm>
            <a:off x="8127797"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La signature</a:t>
            </a:r>
            <a:endParaRPr lang="en-US" sz="1600" dirty="0"/>
          </a:p>
        </p:txBody>
      </p:sp>
      <p:sp>
        <p:nvSpPr>
          <p:cNvPr id="16" name="Text 13"/>
          <p:cNvSpPr/>
          <p:nvPr/>
        </p:nvSpPr>
        <p:spPr>
          <a:xfrm>
            <a:off x="8127797"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Deux personnes distinctes au moins, une fois chacune. Le PV est produit sur les </a:t>
            </a:r>
            <a:pPr indent="0" marL="0">
              <a:buNone/>
            </a:pPr>
            <a:r>
              <a:rPr lang="en-US" sz="1300" b="1" dirty="0">
                <a:solidFill>
                  <a:srgbClr val="465568"/>
                </a:solidFill>
                <a:latin typeface="Segoe UI" pitchFamily="34" charset="0"/>
                <a:ea typeface="Segoe UI" pitchFamily="34" charset="-122"/>
                <a:cs typeface="Segoe UI" pitchFamily="34" charset="-120"/>
              </a:rPr>
              <a:t>modèles officiels</a:t>
            </a:r>
            <a:pPr indent="0" marL="0">
              <a:buNone/>
            </a:pPr>
            <a:r>
              <a:rPr lang="en-US" sz="1300" dirty="0">
                <a:solidFill>
                  <a:srgbClr val="465568"/>
                </a:solidFill>
                <a:latin typeface="Segoe UI" pitchFamily="34" charset="0"/>
                <a:ea typeface="Segoe UI" pitchFamily="34" charset="-122"/>
                <a:cs typeface="Segoe UI" pitchFamily="34" charset="-120"/>
              </a:rPr>
              <a:t>.</a:t>
            </a:r>
            <a:endParaRPr lang="en-US" sz="1300" dirty="0"/>
          </a:p>
        </p:txBody>
      </p:sp>
      <p:sp>
        <p:nvSpPr>
          <p:cNvPr id="17" name="Text 1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A PRIORI</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Après la signature</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b="1" dirty="0">
                <a:solidFill>
                  <a:srgbClr val="465568"/>
                </a:solidFill>
                <a:latin typeface="Segoe UI" pitchFamily="34" charset="0"/>
                <a:ea typeface="Segoe UI" pitchFamily="34" charset="-122"/>
                <a:cs typeface="Segoe UI" pitchFamily="34" charset="-120"/>
              </a:rPr>
              <a:t>Favorable</a:t>
            </a:r>
            <a:pPr indent="0" marL="0">
              <a:buNone/>
            </a:pPr>
            <a:r>
              <a:rPr lang="en-US" sz="1300" dirty="0">
                <a:solidFill>
                  <a:srgbClr val="465568"/>
                </a:solidFill>
                <a:latin typeface="Segoe UI" pitchFamily="34" charset="0"/>
                <a:ea typeface="Segoe UI" pitchFamily="34" charset="-122"/>
                <a:cs typeface="Segoe UI" pitchFamily="34" charset="-120"/>
              </a:rPr>
              <a:t> : transmission à SIGMP, puis archivage.</a:t>
            </a:r>
            <a:endParaRPr lang="en-US" sz="1300" dirty="0"/>
          </a:p>
          <a:p>
            <a:pPr marL="342900" indent="-342900">
              <a:spcBef>
                <a:spcPts val="800"/>
              </a:spcBef>
              <a:buSzPct val="100000"/>
              <a:buChar char="•"/>
            </a:pPr>
            <a:r>
              <a:rPr lang="en-US" sz="1300" b="1" dirty="0">
                <a:solidFill>
                  <a:srgbClr val="465568"/>
                </a:solidFill>
                <a:latin typeface="Segoe UI" pitchFamily="34" charset="0"/>
                <a:ea typeface="Segoe UI" pitchFamily="34" charset="-122"/>
                <a:cs typeface="Segoe UI" pitchFamily="34" charset="-120"/>
              </a:rPr>
              <a:t>Avec réserves</a:t>
            </a:r>
            <a:pPr indent="0" marL="0">
              <a:buNone/>
            </a:pPr>
            <a:r>
              <a:rPr lang="en-US" sz="1300" dirty="0">
                <a:solidFill>
                  <a:srgbClr val="465568"/>
                </a:solidFill>
                <a:latin typeface="Segoe UI" pitchFamily="34" charset="0"/>
                <a:ea typeface="Segoe UI" pitchFamily="34" charset="-122"/>
                <a:cs typeface="Segoe UI" pitchFamily="34" charset="-120"/>
              </a:rPr>
              <a:t> : observations figées ; la PRMP rectifie, le Vérificateur décide une par une.</a:t>
            </a:r>
            <a:endParaRPr lang="en-US" sz="1300" dirty="0"/>
          </a:p>
          <a:p>
            <a:pPr marL="342900" indent="-342900">
              <a:spcBef>
                <a:spcPts val="800"/>
              </a:spcBef>
              <a:buSzPct val="100000"/>
              <a:buChar char="•"/>
            </a:pPr>
            <a:r>
              <a:rPr lang="en-US" sz="1300" b="1" dirty="0">
                <a:solidFill>
                  <a:srgbClr val="465568"/>
                </a:solidFill>
                <a:latin typeface="Segoe UI" pitchFamily="34" charset="0"/>
                <a:ea typeface="Segoe UI" pitchFamily="34" charset="-122"/>
                <a:cs typeface="Segoe UI" pitchFamily="34" charset="-120"/>
              </a:rPr>
              <a:t>Lettre de renvoi</a:t>
            </a:r>
            <a:pPr indent="0" marL="0">
              <a:buNone/>
            </a:pPr>
            <a:r>
              <a:rPr lang="en-US" sz="1300" dirty="0">
                <a:solidFill>
                  <a:srgbClr val="465568"/>
                </a:solidFill>
                <a:latin typeface="Segoe UI" pitchFamily="34" charset="0"/>
                <a:ea typeface="Segoe UI" pitchFamily="34" charset="-122"/>
                <a:cs typeface="Segoe UI" pitchFamily="34" charset="-120"/>
              </a:rPr>
              <a:t> : examen suspendu jusqu’aux compléments, puis réexamen.</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Écran du vérificateur, dossiers à vérifier">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A PRIORI</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Les PV et les lettres de renvoi</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Les </a:t>
            </a:r>
            <a:pPr indent="0" marL="0">
              <a:buNone/>
            </a:pPr>
            <a:r>
              <a:rPr lang="en-US" sz="1300" b="1" dirty="0">
                <a:solidFill>
                  <a:srgbClr val="465568"/>
                </a:solidFill>
                <a:latin typeface="Segoe UI" pitchFamily="34" charset="0"/>
                <a:ea typeface="Segoe UI" pitchFamily="34" charset="-122"/>
                <a:cs typeface="Segoe UI" pitchFamily="34" charset="-120"/>
              </a:rPr>
              <a:t>PV définitifs</a:t>
            </a:r>
            <a:pPr indent="0" marL="0">
              <a:buNone/>
            </a:pPr>
            <a:r>
              <a:rPr lang="en-US" sz="1300" dirty="0">
                <a:solidFill>
                  <a:srgbClr val="465568"/>
                </a:solidFill>
                <a:latin typeface="Segoe UI" pitchFamily="34" charset="0"/>
                <a:ea typeface="Segoe UI" pitchFamily="34" charset="-122"/>
                <a:cs typeface="Segoe UI" pitchFamily="34" charset="-120"/>
              </a:rPr>
              <a:t> signés, base de la rectification.</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Les </a:t>
            </a:r>
            <a:pPr indent="0" marL="0">
              <a:buNone/>
            </a:pPr>
            <a:r>
              <a:rPr lang="en-US" sz="1300" b="1" dirty="0">
                <a:solidFill>
                  <a:srgbClr val="465568"/>
                </a:solidFill>
                <a:latin typeface="Segoe UI" pitchFamily="34" charset="0"/>
                <a:ea typeface="Segoe UI" pitchFamily="34" charset="-122"/>
                <a:cs typeface="Segoe UI" pitchFamily="34" charset="-120"/>
              </a:rPr>
              <a:t>lettres de renvoi</a:t>
            </a:r>
            <a:pPr indent="0" marL="0">
              <a:buNone/>
            </a:pPr>
            <a:r>
              <a:rPr lang="en-US" sz="1300" dirty="0">
                <a:solidFill>
                  <a:srgbClr val="465568"/>
                </a:solidFill>
                <a:latin typeface="Segoe UI" pitchFamily="34" charset="0"/>
                <a:ea typeface="Segoe UI" pitchFamily="34" charset="-122"/>
                <a:cs typeface="Segoe UI" pitchFamily="34" charset="-120"/>
              </a:rPr>
              <a:t> adressées à la PRMP.</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Un écran semblable chez la Commission : projets de PV, PV définitifs, lettres.</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Écran PV et lettres de renvoi de la PRMP">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A PRIORI</a:t>
            </a:r>
            <a:endParaRPr lang="en-US" sz="1200" dirty="0"/>
          </a:p>
        </p:txBody>
      </p:sp>
      <p:sp>
        <p:nvSpPr>
          <p:cNvPr id="3"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Ce qui accompagne le circuit</a:t>
            </a:r>
            <a:endParaRPr lang="en-US" sz="2800" dirty="0"/>
          </a:p>
        </p:txBody>
      </p:sp>
      <p:sp>
        <p:nvSpPr>
          <p:cNvPr id="4" name="Shape 2"/>
          <p:cNvSpPr/>
          <p:nvPr/>
        </p:nvSpPr>
        <p:spPr>
          <a:xfrm>
            <a:off x="812780" y="1460500"/>
            <a:ext cx="3403515" cy="1905000"/>
          </a:xfrm>
          <a:prstGeom prst="rect">
            <a:avLst/>
          </a:prstGeom>
          <a:solidFill>
            <a:srgbClr val="FCFCFA"/>
          </a:solidFill>
          <a:ln w="9525">
            <a:solidFill>
              <a:srgbClr val="D5DCE4"/>
            </a:solidFill>
            <a:prstDash val="solid"/>
          </a:ln>
        </p:spPr>
      </p:sp>
      <p:sp>
        <p:nvSpPr>
          <p:cNvPr id="5" name="Shape 3"/>
          <p:cNvSpPr/>
          <p:nvPr/>
        </p:nvSpPr>
        <p:spPr>
          <a:xfrm>
            <a:off x="812780" y="1460500"/>
            <a:ext cx="3403515" cy="38100"/>
          </a:xfrm>
          <a:prstGeom prst="rect">
            <a:avLst/>
          </a:prstGeom>
          <a:solidFill>
            <a:srgbClr val="1B6FA8"/>
          </a:solidFill>
          <a:ln/>
        </p:spPr>
      </p:sp>
      <p:sp>
        <p:nvSpPr>
          <p:cNvPr id="6" name="Text 4"/>
          <p:cNvSpPr/>
          <p:nvPr/>
        </p:nvSpPr>
        <p:spPr>
          <a:xfrm>
            <a:off x="965176"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Délais</a:t>
            </a:r>
            <a:endParaRPr lang="en-US" sz="1600" dirty="0"/>
          </a:p>
        </p:txBody>
      </p:sp>
      <p:sp>
        <p:nvSpPr>
          <p:cNvPr id="7" name="Text 5"/>
          <p:cNvSpPr/>
          <p:nvPr/>
        </p:nvSpPr>
        <p:spPr>
          <a:xfrm>
            <a:off x="965176"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Chaque étape est chronométrée automatiquement, en heures ouvrées, hors attentes de la PRMP.</a:t>
            </a:r>
            <a:endParaRPr lang="en-US" sz="1300" dirty="0"/>
          </a:p>
        </p:txBody>
      </p:sp>
      <p:sp>
        <p:nvSpPr>
          <p:cNvPr id="8" name="Shape 6"/>
          <p:cNvSpPr/>
          <p:nvPr/>
        </p:nvSpPr>
        <p:spPr>
          <a:xfrm>
            <a:off x="4394090" y="1460500"/>
            <a:ext cx="3403515" cy="1905000"/>
          </a:xfrm>
          <a:prstGeom prst="rect">
            <a:avLst/>
          </a:prstGeom>
          <a:solidFill>
            <a:srgbClr val="FCFCFA"/>
          </a:solidFill>
          <a:ln w="9525">
            <a:solidFill>
              <a:srgbClr val="D5DCE4"/>
            </a:solidFill>
            <a:prstDash val="solid"/>
          </a:ln>
        </p:spPr>
      </p:sp>
      <p:sp>
        <p:nvSpPr>
          <p:cNvPr id="9" name="Shape 7"/>
          <p:cNvSpPr/>
          <p:nvPr/>
        </p:nvSpPr>
        <p:spPr>
          <a:xfrm>
            <a:off x="4394090" y="1460500"/>
            <a:ext cx="3403515" cy="38100"/>
          </a:xfrm>
          <a:prstGeom prst="rect">
            <a:avLst/>
          </a:prstGeom>
          <a:solidFill>
            <a:srgbClr val="1B6FA8"/>
          </a:solidFill>
          <a:ln/>
        </p:spPr>
      </p:sp>
      <p:sp>
        <p:nvSpPr>
          <p:cNvPr id="10" name="Text 8"/>
          <p:cNvSpPr/>
          <p:nvPr/>
        </p:nvSpPr>
        <p:spPr>
          <a:xfrm>
            <a:off x="4546486"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À faire et notifications</a:t>
            </a:r>
            <a:endParaRPr lang="en-US" sz="1600" dirty="0"/>
          </a:p>
        </p:txBody>
      </p:sp>
      <p:sp>
        <p:nvSpPr>
          <p:cNvPr id="11" name="Text 9"/>
          <p:cNvSpPr/>
          <p:nvPr/>
        </p:nvSpPr>
        <p:spPr>
          <a:xfrm>
            <a:off x="4546486"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À la connexion, ce que le circuit attend de chacun, par urgence ; une cloche en temps réel.</a:t>
            </a:r>
            <a:endParaRPr lang="en-US" sz="1300" dirty="0"/>
          </a:p>
        </p:txBody>
      </p:sp>
      <p:sp>
        <p:nvSpPr>
          <p:cNvPr id="12" name="Shape 10"/>
          <p:cNvSpPr/>
          <p:nvPr/>
        </p:nvSpPr>
        <p:spPr>
          <a:xfrm>
            <a:off x="7975401" y="1460500"/>
            <a:ext cx="3403515" cy="1905000"/>
          </a:xfrm>
          <a:prstGeom prst="rect">
            <a:avLst/>
          </a:prstGeom>
          <a:solidFill>
            <a:srgbClr val="FCFCFA"/>
          </a:solidFill>
          <a:ln w="9525">
            <a:solidFill>
              <a:srgbClr val="D5DCE4"/>
            </a:solidFill>
            <a:prstDash val="solid"/>
          </a:ln>
        </p:spPr>
      </p:sp>
      <p:sp>
        <p:nvSpPr>
          <p:cNvPr id="13" name="Shape 11"/>
          <p:cNvSpPr/>
          <p:nvPr/>
        </p:nvSpPr>
        <p:spPr>
          <a:xfrm>
            <a:off x="7975401" y="1460500"/>
            <a:ext cx="3403515" cy="38100"/>
          </a:xfrm>
          <a:prstGeom prst="rect">
            <a:avLst/>
          </a:prstGeom>
          <a:solidFill>
            <a:srgbClr val="1B6FA8"/>
          </a:solidFill>
          <a:ln/>
        </p:spPr>
      </p:sp>
      <p:sp>
        <p:nvSpPr>
          <p:cNvPr id="14" name="Text 12"/>
          <p:cNvSpPr/>
          <p:nvPr/>
        </p:nvSpPr>
        <p:spPr>
          <a:xfrm>
            <a:off x="8127797" y="16002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Délégation</a:t>
            </a:r>
            <a:endParaRPr lang="en-US" sz="1600" dirty="0"/>
          </a:p>
        </p:txBody>
      </p:sp>
      <p:sp>
        <p:nvSpPr>
          <p:cNvPr id="15" name="Text 13"/>
          <p:cNvSpPr/>
          <p:nvPr/>
        </p:nvSpPr>
        <p:spPr>
          <a:xfrm>
            <a:off x="8127797" y="19558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Président et le CC exécutent les tâches de profils subordonnés, signalées comme telles.</a:t>
            </a:r>
            <a:endParaRPr lang="en-US" sz="1300" dirty="0"/>
          </a:p>
        </p:txBody>
      </p:sp>
      <p:sp>
        <p:nvSpPr>
          <p:cNvPr id="16" name="Shape 14"/>
          <p:cNvSpPr/>
          <p:nvPr/>
        </p:nvSpPr>
        <p:spPr>
          <a:xfrm>
            <a:off x="812780" y="3543300"/>
            <a:ext cx="3403515" cy="1905000"/>
          </a:xfrm>
          <a:prstGeom prst="rect">
            <a:avLst/>
          </a:prstGeom>
          <a:solidFill>
            <a:srgbClr val="FCFCFA"/>
          </a:solidFill>
          <a:ln w="9525">
            <a:solidFill>
              <a:srgbClr val="D5DCE4"/>
            </a:solidFill>
            <a:prstDash val="solid"/>
          </a:ln>
        </p:spPr>
      </p:sp>
      <p:sp>
        <p:nvSpPr>
          <p:cNvPr id="17" name="Shape 15"/>
          <p:cNvSpPr/>
          <p:nvPr/>
        </p:nvSpPr>
        <p:spPr>
          <a:xfrm>
            <a:off x="812780" y="3543300"/>
            <a:ext cx="3403515" cy="38100"/>
          </a:xfrm>
          <a:prstGeom prst="rect">
            <a:avLst/>
          </a:prstGeom>
          <a:solidFill>
            <a:srgbClr val="E3AE2E"/>
          </a:solidFill>
          <a:ln/>
        </p:spPr>
      </p:sp>
      <p:sp>
        <p:nvSpPr>
          <p:cNvPr id="18" name="Text 16"/>
          <p:cNvSpPr/>
          <p:nvPr/>
        </p:nvSpPr>
        <p:spPr>
          <a:xfrm>
            <a:off x="965176" y="36830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Intérim</a:t>
            </a:r>
            <a:endParaRPr lang="en-US" sz="1600" dirty="0"/>
          </a:p>
        </p:txBody>
      </p:sp>
      <p:sp>
        <p:nvSpPr>
          <p:cNvPr id="19" name="Text 17"/>
          <p:cNvSpPr/>
          <p:nvPr/>
        </p:nvSpPr>
        <p:spPr>
          <a:xfrm>
            <a:off x="965176" y="40386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 titulaire absent désigne son intérimaire ; les actes portent « par intérim ».</a:t>
            </a:r>
            <a:endParaRPr lang="en-US" sz="1300" dirty="0"/>
          </a:p>
        </p:txBody>
      </p:sp>
      <p:sp>
        <p:nvSpPr>
          <p:cNvPr id="20" name="Shape 18"/>
          <p:cNvSpPr/>
          <p:nvPr/>
        </p:nvSpPr>
        <p:spPr>
          <a:xfrm>
            <a:off x="4394090" y="3543300"/>
            <a:ext cx="3403515" cy="1905000"/>
          </a:xfrm>
          <a:prstGeom prst="rect">
            <a:avLst/>
          </a:prstGeom>
          <a:solidFill>
            <a:srgbClr val="FCFCFA"/>
          </a:solidFill>
          <a:ln w="9525">
            <a:solidFill>
              <a:srgbClr val="D5DCE4"/>
            </a:solidFill>
            <a:prstDash val="solid"/>
          </a:ln>
        </p:spPr>
      </p:sp>
      <p:sp>
        <p:nvSpPr>
          <p:cNvPr id="21" name="Shape 19"/>
          <p:cNvSpPr/>
          <p:nvPr/>
        </p:nvSpPr>
        <p:spPr>
          <a:xfrm>
            <a:off x="4394090" y="3543300"/>
            <a:ext cx="3403515" cy="38100"/>
          </a:xfrm>
          <a:prstGeom prst="rect">
            <a:avLst/>
          </a:prstGeom>
          <a:solidFill>
            <a:srgbClr val="E3AE2E"/>
          </a:solidFill>
          <a:ln/>
        </p:spPr>
      </p:sp>
      <p:sp>
        <p:nvSpPr>
          <p:cNvPr id="22" name="Text 20"/>
          <p:cNvSpPr/>
          <p:nvPr/>
        </p:nvSpPr>
        <p:spPr>
          <a:xfrm>
            <a:off x="4546486" y="36830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Mandats de la PRMP</a:t>
            </a:r>
            <a:endParaRPr lang="en-US" sz="1600" dirty="0"/>
          </a:p>
        </p:txBody>
      </p:sp>
      <p:sp>
        <p:nvSpPr>
          <p:cNvPr id="23" name="Text 21"/>
          <p:cNvSpPr/>
          <p:nvPr/>
        </p:nvSpPr>
        <p:spPr>
          <a:xfrm>
            <a:off x="4546486" y="40386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Trois ans, renouvelable une fois ; en vacance de poste, tout traitement est suspendu.</a:t>
            </a:r>
            <a:endParaRPr lang="en-US" sz="1300" dirty="0"/>
          </a:p>
        </p:txBody>
      </p:sp>
      <p:sp>
        <p:nvSpPr>
          <p:cNvPr id="24" name="Shape 22"/>
          <p:cNvSpPr/>
          <p:nvPr/>
        </p:nvSpPr>
        <p:spPr>
          <a:xfrm>
            <a:off x="7975401" y="3543300"/>
            <a:ext cx="3403515" cy="1905000"/>
          </a:xfrm>
          <a:prstGeom prst="rect">
            <a:avLst/>
          </a:prstGeom>
          <a:solidFill>
            <a:srgbClr val="FCFCFA"/>
          </a:solidFill>
          <a:ln w="9525">
            <a:solidFill>
              <a:srgbClr val="D5DCE4"/>
            </a:solidFill>
            <a:prstDash val="solid"/>
          </a:ln>
        </p:spPr>
      </p:sp>
      <p:sp>
        <p:nvSpPr>
          <p:cNvPr id="25" name="Shape 23"/>
          <p:cNvSpPr/>
          <p:nvPr/>
        </p:nvSpPr>
        <p:spPr>
          <a:xfrm>
            <a:off x="7975401" y="3543300"/>
            <a:ext cx="3403515" cy="38100"/>
          </a:xfrm>
          <a:prstGeom prst="rect">
            <a:avLst/>
          </a:prstGeom>
          <a:solidFill>
            <a:srgbClr val="E3AE2E"/>
          </a:solidFill>
          <a:ln/>
        </p:spPr>
      </p:sp>
      <p:sp>
        <p:nvSpPr>
          <p:cNvPr id="26" name="Text 24"/>
          <p:cNvSpPr/>
          <p:nvPr/>
        </p:nvSpPr>
        <p:spPr>
          <a:xfrm>
            <a:off x="8127797" y="3683000"/>
            <a:ext cx="3098723"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Chaînes de contrôle</a:t>
            </a:r>
            <a:endParaRPr lang="en-US" sz="1600" dirty="0"/>
          </a:p>
        </p:txBody>
      </p:sp>
      <p:sp>
        <p:nvSpPr>
          <p:cNvPr id="27" name="Text 25"/>
          <p:cNvSpPr/>
          <p:nvPr/>
        </p:nvSpPr>
        <p:spPr>
          <a:xfrm>
            <a:off x="8127797" y="4038600"/>
            <a:ext cx="3098723"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Membre → Vérificateur → Assistant : les réserves vont à la bonne personne.</a:t>
            </a:r>
            <a:endParaRPr lang="en-US" sz="1300" dirty="0"/>
          </a:p>
        </p:txBody>
      </p:sp>
      <p:sp>
        <p:nvSpPr>
          <p:cNvPr id="28" name="Text 26"/>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2539937"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4</a:t>
            </a:r>
            <a:endParaRPr lang="en-US" sz="8000" dirty="0"/>
          </a:p>
        </p:txBody>
      </p:sp>
      <p:sp>
        <p:nvSpPr>
          <p:cNvPr id="3" name="Text 1"/>
          <p:cNvSpPr/>
          <p:nvPr/>
        </p:nvSpPr>
        <p:spPr>
          <a:xfrm>
            <a:off x="812780" y="2667000"/>
            <a:ext cx="10159746" cy="698500"/>
          </a:xfrm>
          <a:prstGeom prst="rect">
            <a:avLst/>
          </a:prstGeom>
          <a:noFill/>
          <a:ln/>
        </p:spPr>
        <p:txBody>
          <a:bodyPr wrap="square" rtlCol="0" anchor="ctr"/>
          <a:lstStyle/>
          <a:p>
            <a:pPr indent="0" marL="0">
              <a:buNone/>
            </a:pPr>
            <a:r>
              <a:rPr lang="en-US" sz="4400" b="1" dirty="0">
                <a:solidFill>
                  <a:srgbClr val="FCFCFA"/>
                </a:solidFill>
                <a:latin typeface="Segoe UI" pitchFamily="34" charset="0"/>
                <a:ea typeface="Segoe UI" pitchFamily="34" charset="-122"/>
                <a:cs typeface="Segoe UI" pitchFamily="34" charset="-120"/>
              </a:rPr>
              <a:t>La mise en concurrence</a:t>
            </a:r>
            <a:endParaRPr lang="en-US" sz="4400" dirty="0"/>
          </a:p>
        </p:txBody>
      </p:sp>
      <p:sp>
        <p:nvSpPr>
          <p:cNvPr id="4" name="Text 2"/>
          <p:cNvSpPr/>
          <p:nvPr/>
        </p:nvSpPr>
        <p:spPr>
          <a:xfrm>
            <a:off x="812780" y="3556000"/>
            <a:ext cx="8254794" cy="889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Le DAO ne se rédige plus : il se remplit, dans une fiche structurée, et l’application produit les documents types de l’ARMP.</a:t>
            </a:r>
            <a:endParaRPr lang="en-US" sz="1700" dirty="0"/>
          </a:p>
        </p:txBody>
      </p:sp>
      <p:sp>
        <p:nvSpPr>
          <p:cNvPr id="5"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Présentation de l'application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MISE EN CONCURRENCE</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La fiche DAO en sept étapes</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Ligne du plan, cadrage, saisie par bloc, reprises, contrôles, validation, documents.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Catégorie et forme du marché reprises du plan.</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Une fiche validée est </a:t>
            </a:r>
            <a:pPr indent="0" marL="0">
              <a:buNone/>
            </a:pPr>
            <a:r>
              <a:rPr lang="en-US" sz="1300" b="1" dirty="0">
                <a:solidFill>
                  <a:srgbClr val="465568"/>
                </a:solidFill>
                <a:latin typeface="Segoe UI" pitchFamily="34" charset="0"/>
                <a:ea typeface="Segoe UI" pitchFamily="34" charset="-122"/>
                <a:cs typeface="Segoe UI" pitchFamily="34" charset="-120"/>
              </a:rPr>
              <a:t>figée</a:t>
            </a:r>
            <a:pPr indent="0" marL="0">
              <a:buNone/>
            </a:pPr>
            <a:r>
              <a:rPr lang="en-US" sz="1300" dirty="0">
                <a:solidFill>
                  <a:srgbClr val="465568"/>
                </a:solidFill>
                <a:latin typeface="Segoe UI" pitchFamily="34" charset="0"/>
                <a:ea typeface="Segoe UI" pitchFamily="34" charset="-122"/>
                <a:cs typeface="Segoe UI" pitchFamily="34" charset="-120"/>
              </a:rPr>
              <a:t> en version ; on la corrige par révision.</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Les contrôles du serveur, à droite, en continu.</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Fiche DAO validée, version 4, avec ses étapes">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MISE EN CONCURRENCE</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 cadrage ouvre et ferme les rubriques</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Allotissement, tranches, variantes, groupement, prix, garantie…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Chaque réponse dit dans quels documents elle s’imprime.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 choix </a:t>
            </a:r>
            <a:pPr indent="0" marL="0">
              <a:buNone/>
            </a:pPr>
            <a:r>
              <a:rPr lang="en-US" sz="1300" b="1" dirty="0">
                <a:solidFill>
                  <a:srgbClr val="465568"/>
                </a:solidFill>
                <a:latin typeface="Segoe UI" pitchFamily="34" charset="0"/>
                <a:ea typeface="Segoe UI" pitchFamily="34" charset="-122"/>
                <a:cs typeface="Segoe UI" pitchFamily="34" charset="-120"/>
              </a:rPr>
              <a:t>papier ou électronique</a:t>
            </a:r>
            <a:pPr indent="0" marL="0">
              <a:buNone/>
            </a:pPr>
            <a:r>
              <a:rPr lang="en-US" sz="1300" dirty="0">
                <a:solidFill>
                  <a:srgbClr val="465568"/>
                </a:solidFill>
                <a:latin typeface="Segoe UI" pitchFamily="34" charset="0"/>
                <a:ea typeface="Segoe UI" pitchFamily="34" charset="-122"/>
                <a:cs typeface="Segoe UI" pitchFamily="34" charset="-120"/>
              </a:rPr>
              <a:t> de la remise des offres se fait ici.</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Étape de cadrage de la fiche DAO">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MISE EN CONCURRENCE</a:t>
            </a:r>
            <a:endParaRPr lang="en-US" sz="1200" dirty="0"/>
          </a:p>
        </p:txBody>
      </p:sp>
      <p:sp>
        <p:nvSpPr>
          <p:cNvPr id="3"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Listes, import, documents, avis</a:t>
            </a:r>
            <a:endParaRPr lang="en-US" sz="2800" dirty="0"/>
          </a:p>
        </p:txBody>
      </p:sp>
      <p:sp>
        <p:nvSpPr>
          <p:cNvPr id="4" name="Shape 2"/>
          <p:cNvSpPr/>
          <p:nvPr/>
        </p:nvSpPr>
        <p:spPr>
          <a:xfrm>
            <a:off x="812780" y="1460500"/>
            <a:ext cx="5194170" cy="1905000"/>
          </a:xfrm>
          <a:prstGeom prst="rect">
            <a:avLst/>
          </a:prstGeom>
          <a:solidFill>
            <a:srgbClr val="FCFCFA"/>
          </a:solidFill>
          <a:ln w="9525">
            <a:solidFill>
              <a:srgbClr val="D5DCE4"/>
            </a:solidFill>
            <a:prstDash val="solid"/>
          </a:ln>
        </p:spPr>
      </p:sp>
      <p:sp>
        <p:nvSpPr>
          <p:cNvPr id="5" name="Shape 3"/>
          <p:cNvSpPr/>
          <p:nvPr/>
        </p:nvSpPr>
        <p:spPr>
          <a:xfrm>
            <a:off x="812780" y="1460500"/>
            <a:ext cx="5194170" cy="38100"/>
          </a:xfrm>
          <a:prstGeom prst="rect">
            <a:avLst/>
          </a:prstGeom>
          <a:solidFill>
            <a:srgbClr val="1B6FA8"/>
          </a:solidFill>
          <a:ln/>
        </p:spPr>
      </p:sp>
      <p:sp>
        <p:nvSpPr>
          <p:cNvPr id="6" name="Text 4"/>
          <p:cNvSpPr/>
          <p:nvPr/>
        </p:nvSpPr>
        <p:spPr>
          <a:xfrm>
            <a:off x="965176" y="16002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Les listes structurées</a:t>
            </a:r>
            <a:endParaRPr lang="en-US" sz="1600" dirty="0"/>
          </a:p>
        </p:txBody>
      </p:sp>
      <p:sp>
        <p:nvSpPr>
          <p:cNvPr id="7" name="Text 5"/>
          <p:cNvSpPr/>
          <p:nvPr/>
        </p:nvSpPr>
        <p:spPr>
          <a:xfrm>
            <a:off x="965176" y="19558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Articles par lot ou devis quantitatif par série, matériel et personnel exigés, pièces de l’offre ; une liste se colle depuis un tableur.</a:t>
            </a:r>
            <a:endParaRPr lang="en-US" sz="1300" dirty="0"/>
          </a:p>
        </p:txBody>
      </p:sp>
      <p:sp>
        <p:nvSpPr>
          <p:cNvPr id="8" name="Shape 6"/>
          <p:cNvSpPr/>
          <p:nvPr/>
        </p:nvSpPr>
        <p:spPr>
          <a:xfrm>
            <a:off x="6184745" y="1460500"/>
            <a:ext cx="5194170" cy="1905000"/>
          </a:xfrm>
          <a:prstGeom prst="rect">
            <a:avLst/>
          </a:prstGeom>
          <a:solidFill>
            <a:srgbClr val="FCFCFA"/>
          </a:solidFill>
          <a:ln w="9525">
            <a:solidFill>
              <a:srgbClr val="D5DCE4"/>
            </a:solidFill>
            <a:prstDash val="solid"/>
          </a:ln>
        </p:spPr>
      </p:sp>
      <p:sp>
        <p:nvSpPr>
          <p:cNvPr id="9" name="Shape 7"/>
          <p:cNvSpPr/>
          <p:nvPr/>
        </p:nvSpPr>
        <p:spPr>
          <a:xfrm>
            <a:off x="6184745" y="1460500"/>
            <a:ext cx="5194170" cy="38100"/>
          </a:xfrm>
          <a:prstGeom prst="rect">
            <a:avLst/>
          </a:prstGeom>
          <a:solidFill>
            <a:srgbClr val="1B6FA8"/>
          </a:solidFill>
          <a:ln/>
        </p:spPr>
      </p:sp>
      <p:sp>
        <p:nvSpPr>
          <p:cNvPr id="10" name="Text 8"/>
          <p:cNvSpPr/>
          <p:nvPr/>
        </p:nvSpPr>
        <p:spPr>
          <a:xfrm>
            <a:off x="6337142" y="16002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L’import d’un DAO existant</a:t>
            </a:r>
            <a:endParaRPr lang="en-US" sz="1600" dirty="0"/>
          </a:p>
        </p:txBody>
      </p:sp>
      <p:sp>
        <p:nvSpPr>
          <p:cNvPr id="11" name="Text 9"/>
          <p:cNvSpPr/>
          <p:nvPr/>
        </p:nvSpPr>
        <p:spPr>
          <a:xfrm>
            <a:off x="6337142" y="19558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 DAO déjà rédigé est lu à la lumière des documents types : l’application </a:t>
            </a:r>
            <a:pPr indent="0" marL="0">
              <a:buNone/>
            </a:pPr>
            <a:r>
              <a:rPr lang="en-US" sz="1300" b="1" dirty="0">
                <a:solidFill>
                  <a:srgbClr val="465568"/>
                </a:solidFill>
                <a:latin typeface="Segoe UI" pitchFamily="34" charset="0"/>
                <a:ea typeface="Segoe UI" pitchFamily="34" charset="-122"/>
                <a:cs typeface="Segoe UI" pitchFamily="34" charset="-120"/>
              </a:rPr>
              <a:t>propose</a:t>
            </a:r>
            <a:pPr indent="0" marL="0">
              <a:buNone/>
            </a:pPr>
            <a:r>
              <a:rPr lang="en-US" sz="1300" dirty="0">
                <a:solidFill>
                  <a:srgbClr val="465568"/>
                </a:solidFill>
                <a:latin typeface="Segoe UI" pitchFamily="34" charset="0"/>
                <a:ea typeface="Segoe UI" pitchFamily="34" charset="-122"/>
                <a:cs typeface="Segoe UI" pitchFamily="34" charset="-120"/>
              </a:rPr>
              <a:t> des valeurs, la PRMP coche ce qu’elle retient.</a:t>
            </a:r>
            <a:endParaRPr lang="en-US" sz="1300" dirty="0"/>
          </a:p>
        </p:txBody>
      </p:sp>
      <p:sp>
        <p:nvSpPr>
          <p:cNvPr id="12" name="Shape 10"/>
          <p:cNvSpPr/>
          <p:nvPr/>
        </p:nvSpPr>
        <p:spPr>
          <a:xfrm>
            <a:off x="812780" y="3543300"/>
            <a:ext cx="5194170" cy="1905000"/>
          </a:xfrm>
          <a:prstGeom prst="rect">
            <a:avLst/>
          </a:prstGeom>
          <a:solidFill>
            <a:srgbClr val="FCFCFA"/>
          </a:solidFill>
          <a:ln w="9525">
            <a:solidFill>
              <a:srgbClr val="D5DCE4"/>
            </a:solidFill>
            <a:prstDash val="solid"/>
          </a:ln>
        </p:spPr>
      </p:sp>
      <p:sp>
        <p:nvSpPr>
          <p:cNvPr id="13" name="Shape 11"/>
          <p:cNvSpPr/>
          <p:nvPr/>
        </p:nvSpPr>
        <p:spPr>
          <a:xfrm>
            <a:off x="812780" y="3543300"/>
            <a:ext cx="5194170" cy="38100"/>
          </a:xfrm>
          <a:prstGeom prst="rect">
            <a:avLst/>
          </a:prstGeom>
          <a:solidFill>
            <a:srgbClr val="E3AE2E"/>
          </a:solidFill>
          <a:ln/>
        </p:spPr>
      </p:sp>
      <p:sp>
        <p:nvSpPr>
          <p:cNvPr id="14" name="Text 12"/>
          <p:cNvSpPr/>
          <p:nvPr/>
        </p:nvSpPr>
        <p:spPr>
          <a:xfrm>
            <a:off x="965176" y="36830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Les documents produits</a:t>
            </a:r>
            <a:endParaRPr lang="en-US" sz="1600" dirty="0"/>
          </a:p>
        </p:txBody>
      </p:sp>
      <p:sp>
        <p:nvSpPr>
          <p:cNvPr id="15" name="Text 13"/>
          <p:cNvSpPr/>
          <p:nvPr/>
        </p:nvSpPr>
        <p:spPr>
          <a:xfrm>
            <a:off x="965176" y="40386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DPAO, acte d’engagement par lot, CCAP, formulaires du candidat : en Word et en PDF, sur les modèles officiels. Le dossier part au contrôle.</a:t>
            </a:r>
            <a:endParaRPr lang="en-US" sz="1300" dirty="0"/>
          </a:p>
        </p:txBody>
      </p:sp>
      <p:sp>
        <p:nvSpPr>
          <p:cNvPr id="16" name="Shape 14"/>
          <p:cNvSpPr/>
          <p:nvPr/>
        </p:nvSpPr>
        <p:spPr>
          <a:xfrm>
            <a:off x="6184745" y="3543300"/>
            <a:ext cx="5194170" cy="1905000"/>
          </a:xfrm>
          <a:prstGeom prst="rect">
            <a:avLst/>
          </a:prstGeom>
          <a:solidFill>
            <a:srgbClr val="FCFCFA"/>
          </a:solidFill>
          <a:ln w="9525">
            <a:solidFill>
              <a:srgbClr val="D5DCE4"/>
            </a:solidFill>
            <a:prstDash val="solid"/>
          </a:ln>
        </p:spPr>
      </p:sp>
      <p:sp>
        <p:nvSpPr>
          <p:cNvPr id="17" name="Shape 15"/>
          <p:cNvSpPr/>
          <p:nvPr/>
        </p:nvSpPr>
        <p:spPr>
          <a:xfrm>
            <a:off x="6184745" y="3543300"/>
            <a:ext cx="5194170" cy="38100"/>
          </a:xfrm>
          <a:prstGeom prst="rect">
            <a:avLst/>
          </a:prstGeom>
          <a:solidFill>
            <a:srgbClr val="E3AE2E"/>
          </a:solidFill>
          <a:ln/>
        </p:spPr>
      </p:sp>
      <p:sp>
        <p:nvSpPr>
          <p:cNvPr id="18" name="Text 16"/>
          <p:cNvSpPr/>
          <p:nvPr/>
        </p:nvSpPr>
        <p:spPr>
          <a:xfrm>
            <a:off x="6337142" y="36830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L’avis et les invitations</a:t>
            </a:r>
            <a:endParaRPr lang="en-US" sz="1600" dirty="0"/>
          </a:p>
        </p:txBody>
      </p:sp>
      <p:sp>
        <p:nvSpPr>
          <p:cNvPr id="19" name="Text 17"/>
          <p:cNvSpPr/>
          <p:nvPr/>
        </p:nvSpPr>
        <p:spPr>
          <a:xfrm>
            <a:off x="6337142" y="40386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PV favorable : la PRMP produit l’</a:t>
            </a:r>
            <a:pPr indent="0" marL="0">
              <a:buNone/>
            </a:pPr>
            <a:r>
              <a:rPr lang="en-US" sz="1300" b="1" dirty="0">
                <a:solidFill>
                  <a:srgbClr val="465568"/>
                </a:solidFill>
                <a:latin typeface="Segoe UI" pitchFamily="34" charset="0"/>
                <a:ea typeface="Segoe UI" pitchFamily="34" charset="-122"/>
                <a:cs typeface="Segoe UI" pitchFamily="34" charset="-120"/>
              </a:rPr>
              <a:t>avis spécifique</a:t>
            </a:r>
            <a:pPr indent="0" marL="0">
              <a:buNone/>
            </a:pPr>
            <a:r>
              <a:rPr lang="en-US" sz="1300" dirty="0">
                <a:solidFill>
                  <a:srgbClr val="465568"/>
                </a:solidFill>
                <a:latin typeface="Segoe UI" pitchFamily="34" charset="0"/>
                <a:ea typeface="Segoe UI" pitchFamily="34" charset="-122"/>
                <a:cs typeface="Segoe UI" pitchFamily="34" charset="-120"/>
              </a:rPr>
              <a:t> ; le marché passe « lancé ». En prestations intellectuelles, des lettres d’invitation.</a:t>
            </a:r>
            <a:endParaRPr lang="en-US" sz="1300" dirty="0"/>
          </a:p>
        </p:txBody>
      </p:sp>
      <p:sp>
        <p:nvSpPr>
          <p:cNvPr id="20" name="Text 18"/>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2539937"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5</a:t>
            </a:r>
            <a:endParaRPr lang="en-US" sz="8000" dirty="0"/>
          </a:p>
        </p:txBody>
      </p:sp>
      <p:sp>
        <p:nvSpPr>
          <p:cNvPr id="3" name="Text 1"/>
          <p:cNvSpPr/>
          <p:nvPr/>
        </p:nvSpPr>
        <p:spPr>
          <a:xfrm>
            <a:off x="812780" y="2667000"/>
            <a:ext cx="10159746" cy="698500"/>
          </a:xfrm>
          <a:prstGeom prst="rect">
            <a:avLst/>
          </a:prstGeom>
          <a:noFill/>
          <a:ln/>
        </p:spPr>
        <p:txBody>
          <a:bodyPr wrap="square" rtlCol="0" anchor="ctr"/>
          <a:lstStyle/>
          <a:p>
            <a:pPr indent="0" marL="0">
              <a:buNone/>
            </a:pPr>
            <a:r>
              <a:rPr lang="en-US" sz="4400" b="1" dirty="0">
                <a:solidFill>
                  <a:srgbClr val="FCFCFA"/>
                </a:solidFill>
                <a:latin typeface="Segoe UI" pitchFamily="34" charset="0"/>
                <a:ea typeface="Segoe UI" pitchFamily="34" charset="-122"/>
                <a:cs typeface="Segoe UI" pitchFamily="34" charset="-120"/>
              </a:rPr>
              <a:t>La soumission électronique</a:t>
            </a:r>
            <a:endParaRPr lang="en-US" sz="4400" dirty="0"/>
          </a:p>
        </p:txBody>
      </p:sp>
      <p:sp>
        <p:nvSpPr>
          <p:cNvPr id="4" name="Text 2"/>
          <p:cNvSpPr/>
          <p:nvPr/>
        </p:nvSpPr>
        <p:spPr>
          <a:xfrm>
            <a:off x="812780" y="3556000"/>
            <a:ext cx="8254794" cy="889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Retrait du dossier, dépôt des offres et ouverture des plis en ligne, sans que personne puisse lire une offre avant l’heure.</a:t>
            </a:r>
            <a:endParaRPr lang="en-US" sz="1700" dirty="0"/>
          </a:p>
        </p:txBody>
      </p:sp>
      <p:sp>
        <p:nvSpPr>
          <p:cNvPr id="5"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Présentation de l'application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2638"/>
        </a:solidFill>
      </p:bgPr>
    </p:bg>
    <p:spTree>
      <p:nvGrpSpPr>
        <p:cNvPr id="1" name=""/>
        <p:cNvGrpSpPr/>
        <p:nvPr/>
      </p:nvGrpSpPr>
      <p:grpSpPr>
        <a:xfrm>
          <a:off x="0" y="0"/>
          <a:ext cx="0" cy="0"/>
          <a:chOff x="0" y="0"/>
          <a:chExt cx="0" cy="0"/>
        </a:xfrm>
      </p:grpSpPr>
      <p:sp>
        <p:nvSpPr>
          <p:cNvPr id="2" name="Text 0"/>
          <p:cNvSpPr/>
          <p:nvPr/>
        </p:nvSpPr>
        <p:spPr>
          <a:xfrm>
            <a:off x="812780" y="1079500"/>
            <a:ext cx="5079873" cy="2540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LE PRINCIPE</a:t>
            </a:r>
            <a:endParaRPr lang="en-US" sz="1200" dirty="0"/>
          </a:p>
        </p:txBody>
      </p:sp>
      <p:sp>
        <p:nvSpPr>
          <p:cNvPr id="3" name="Text 1"/>
          <p:cNvSpPr/>
          <p:nvPr/>
        </p:nvSpPr>
        <p:spPr>
          <a:xfrm>
            <a:off x="812780" y="1397000"/>
            <a:ext cx="10159746" cy="1651000"/>
          </a:xfrm>
          <a:prstGeom prst="rect">
            <a:avLst/>
          </a:prstGeom>
          <a:noFill/>
          <a:ln/>
        </p:spPr>
        <p:txBody>
          <a:bodyPr wrap="square" rtlCol="0" anchor="t"/>
          <a:lstStyle/>
          <a:p>
            <a:pPr indent="0" marL="0">
              <a:buNone/>
            </a:pPr>
            <a:r>
              <a:rPr lang="en-US" sz="3600" b="1" dirty="0">
                <a:solidFill>
                  <a:srgbClr val="FCFCFA"/>
                </a:solidFill>
                <a:latin typeface="Segoe UI" pitchFamily="34" charset="0"/>
                <a:ea typeface="Segoe UI" pitchFamily="34" charset="-122"/>
                <a:cs typeface="Segoe UI" pitchFamily="34" charset="-120"/>
              </a:rPr>
              <a:t>Une offre est chiffrée sur le poste du candidat, et ne s’ouvre qu’au quorum de la commission, à l’heure de la séance.</a:t>
            </a:r>
            <a:endParaRPr lang="en-US" sz="3600" dirty="0"/>
          </a:p>
        </p:txBody>
      </p:sp>
      <p:sp>
        <p:nvSpPr>
          <p:cNvPr id="4" name="Shape 2"/>
          <p:cNvSpPr/>
          <p:nvPr/>
        </p:nvSpPr>
        <p:spPr>
          <a:xfrm>
            <a:off x="812780" y="3556000"/>
            <a:ext cx="38099" cy="1397000"/>
          </a:xfrm>
          <a:prstGeom prst="rect">
            <a:avLst/>
          </a:prstGeom>
          <a:solidFill>
            <a:srgbClr val="E3AE2E"/>
          </a:solidFill>
          <a:ln w="12700">
            <a:solidFill>
              <a:srgbClr val="E3AE2E"/>
            </a:solidFill>
            <a:prstDash val="solid"/>
          </a:ln>
        </p:spPr>
      </p:sp>
      <p:sp>
        <p:nvSpPr>
          <p:cNvPr id="5" name="Text 3"/>
          <p:cNvSpPr/>
          <p:nvPr/>
        </p:nvSpPr>
        <p:spPr>
          <a:xfrm>
            <a:off x="965176" y="3556000"/>
            <a:ext cx="3238419" cy="355600"/>
          </a:xfrm>
          <a:prstGeom prst="rect">
            <a:avLst/>
          </a:prstGeom>
          <a:noFill/>
          <a:ln/>
        </p:spPr>
        <p:txBody>
          <a:bodyPr wrap="square" rtlCol="0" anchor="ctr"/>
          <a:lstStyle/>
          <a:p>
            <a:pPr indent="0" marL="0">
              <a:buNone/>
            </a:pPr>
            <a:r>
              <a:rPr lang="en-US" sz="1600" b="1" dirty="0">
                <a:solidFill>
                  <a:srgbClr val="FCFCFA"/>
                </a:solidFill>
                <a:latin typeface="Segoe UI" pitchFamily="34" charset="0"/>
                <a:ea typeface="Segoe UI" pitchFamily="34" charset="-122"/>
                <a:cs typeface="Segoe UI" pitchFamily="34" charset="-120"/>
              </a:rPr>
              <a:t>Une clé par offre</a:t>
            </a:r>
            <a:endParaRPr lang="en-US" sz="1600" dirty="0"/>
          </a:p>
        </p:txBody>
      </p:sp>
      <p:sp>
        <p:nvSpPr>
          <p:cNvPr id="6" name="Text 4"/>
          <p:cNvSpPr/>
          <p:nvPr/>
        </p:nvSpPr>
        <p:spPr>
          <a:xfrm>
            <a:off x="965176" y="3937000"/>
            <a:ext cx="3238419" cy="1016000"/>
          </a:xfrm>
          <a:prstGeom prst="rect">
            <a:avLst/>
          </a:prstGeom>
          <a:noFill/>
          <a:ln/>
        </p:spPr>
        <p:txBody>
          <a:bodyPr wrap="square" rtlCol="0" anchor="t"/>
          <a:lstStyle/>
          <a:p>
            <a:pPr indent="0" marL="0">
              <a:buNone/>
            </a:pPr>
            <a:r>
              <a:rPr lang="en-US" sz="1300" dirty="0">
                <a:solidFill>
                  <a:srgbClr val="C9D6E2"/>
                </a:solidFill>
                <a:latin typeface="Segoe UI" pitchFamily="34" charset="0"/>
                <a:ea typeface="Segoe UI" pitchFamily="34" charset="-122"/>
                <a:cs typeface="Segoe UI" pitchFamily="34" charset="-120"/>
              </a:rPr>
              <a:t>Coupée en parts : une par membre de la CAO, plus une part de secours.</a:t>
            </a:r>
            <a:endParaRPr lang="en-US" sz="1300" dirty="0"/>
          </a:p>
        </p:txBody>
      </p:sp>
      <p:sp>
        <p:nvSpPr>
          <p:cNvPr id="7" name="Shape 5"/>
          <p:cNvSpPr/>
          <p:nvPr/>
        </p:nvSpPr>
        <p:spPr>
          <a:xfrm>
            <a:off x="4406790" y="3556000"/>
            <a:ext cx="38099" cy="1397000"/>
          </a:xfrm>
          <a:prstGeom prst="rect">
            <a:avLst/>
          </a:prstGeom>
          <a:solidFill>
            <a:srgbClr val="E3AE2E"/>
          </a:solidFill>
          <a:ln w="12700">
            <a:solidFill>
              <a:srgbClr val="E3AE2E"/>
            </a:solidFill>
            <a:prstDash val="solid"/>
          </a:ln>
        </p:spPr>
      </p:sp>
      <p:sp>
        <p:nvSpPr>
          <p:cNvPr id="8" name="Text 6"/>
          <p:cNvSpPr/>
          <p:nvPr/>
        </p:nvSpPr>
        <p:spPr>
          <a:xfrm>
            <a:off x="4559186" y="3556000"/>
            <a:ext cx="3238419" cy="355600"/>
          </a:xfrm>
          <a:prstGeom prst="rect">
            <a:avLst/>
          </a:prstGeom>
          <a:noFill/>
          <a:ln/>
        </p:spPr>
        <p:txBody>
          <a:bodyPr wrap="square" rtlCol="0" anchor="ctr"/>
          <a:lstStyle/>
          <a:p>
            <a:pPr indent="0" marL="0">
              <a:buNone/>
            </a:pPr>
            <a:r>
              <a:rPr lang="en-US" sz="1600" b="1" dirty="0">
                <a:solidFill>
                  <a:srgbClr val="FCFCFA"/>
                </a:solidFill>
                <a:latin typeface="Segoe UI" pitchFamily="34" charset="0"/>
                <a:ea typeface="Segoe UI" pitchFamily="34" charset="-122"/>
                <a:cs typeface="Segoe UI" pitchFamily="34" charset="-120"/>
              </a:rPr>
              <a:t>Un quorum</a:t>
            </a:r>
            <a:endParaRPr lang="en-US" sz="1600" dirty="0"/>
          </a:p>
        </p:txBody>
      </p:sp>
      <p:sp>
        <p:nvSpPr>
          <p:cNvPr id="9" name="Text 7"/>
          <p:cNvSpPr/>
          <p:nvPr/>
        </p:nvSpPr>
        <p:spPr>
          <a:xfrm>
            <a:off x="4559186" y="3937000"/>
            <a:ext cx="3238419" cy="1016000"/>
          </a:xfrm>
          <a:prstGeom prst="rect">
            <a:avLst/>
          </a:prstGeom>
          <a:noFill/>
          <a:ln/>
        </p:spPr>
        <p:txBody>
          <a:bodyPr wrap="square" rtlCol="0" anchor="t"/>
          <a:lstStyle/>
          <a:p>
            <a:pPr indent="0" marL="0">
              <a:buNone/>
            </a:pPr>
            <a:r>
              <a:rPr lang="en-US" sz="1300" dirty="0">
                <a:solidFill>
                  <a:srgbClr val="C9D6E2"/>
                </a:solidFill>
                <a:latin typeface="Segoe UI" pitchFamily="34" charset="0"/>
                <a:ea typeface="Segoe UI" pitchFamily="34" charset="-122"/>
                <a:cs typeface="Segoe UI" pitchFamily="34" charset="-120"/>
              </a:rPr>
              <a:t>Il faut réunir un nombre minimal de parts ; une seule ne suffit jamais.</a:t>
            </a:r>
            <a:endParaRPr lang="en-US" sz="1300" dirty="0"/>
          </a:p>
        </p:txBody>
      </p:sp>
      <p:sp>
        <p:nvSpPr>
          <p:cNvPr id="10" name="Shape 8"/>
          <p:cNvSpPr/>
          <p:nvPr/>
        </p:nvSpPr>
        <p:spPr>
          <a:xfrm>
            <a:off x="8000800" y="3556000"/>
            <a:ext cx="38099" cy="1397000"/>
          </a:xfrm>
          <a:prstGeom prst="rect">
            <a:avLst/>
          </a:prstGeom>
          <a:solidFill>
            <a:srgbClr val="E3AE2E"/>
          </a:solidFill>
          <a:ln w="12700">
            <a:solidFill>
              <a:srgbClr val="E3AE2E"/>
            </a:solidFill>
            <a:prstDash val="solid"/>
          </a:ln>
        </p:spPr>
      </p:sp>
      <p:sp>
        <p:nvSpPr>
          <p:cNvPr id="11" name="Text 9"/>
          <p:cNvSpPr/>
          <p:nvPr/>
        </p:nvSpPr>
        <p:spPr>
          <a:xfrm>
            <a:off x="8153196" y="3556000"/>
            <a:ext cx="3238419" cy="355600"/>
          </a:xfrm>
          <a:prstGeom prst="rect">
            <a:avLst/>
          </a:prstGeom>
          <a:noFill/>
          <a:ln/>
        </p:spPr>
        <p:txBody>
          <a:bodyPr wrap="square" rtlCol="0" anchor="ctr"/>
          <a:lstStyle/>
          <a:p>
            <a:pPr indent="0" marL="0">
              <a:buNone/>
            </a:pPr>
            <a:r>
              <a:rPr lang="en-US" sz="1600" b="1" dirty="0">
                <a:solidFill>
                  <a:srgbClr val="FCFCFA"/>
                </a:solidFill>
                <a:latin typeface="Segoe UI" pitchFamily="34" charset="0"/>
                <a:ea typeface="Segoe UI" pitchFamily="34" charset="-122"/>
                <a:cs typeface="Segoe UI" pitchFamily="34" charset="-120"/>
              </a:rPr>
              <a:t>Personne avant l’heure</a:t>
            </a:r>
            <a:endParaRPr lang="en-US" sz="1600" dirty="0"/>
          </a:p>
        </p:txBody>
      </p:sp>
      <p:sp>
        <p:nvSpPr>
          <p:cNvPr id="12" name="Text 10"/>
          <p:cNvSpPr/>
          <p:nvPr/>
        </p:nvSpPr>
        <p:spPr>
          <a:xfrm>
            <a:off x="8153196" y="3937000"/>
            <a:ext cx="3238419" cy="1016000"/>
          </a:xfrm>
          <a:prstGeom prst="rect">
            <a:avLst/>
          </a:prstGeom>
          <a:noFill/>
          <a:ln/>
        </p:spPr>
        <p:txBody>
          <a:bodyPr wrap="square" rtlCol="0" anchor="t"/>
          <a:lstStyle/>
          <a:p>
            <a:pPr indent="0" marL="0">
              <a:buNone/>
            </a:pPr>
            <a:r>
              <a:rPr lang="en-US" sz="1300" dirty="0">
                <a:solidFill>
                  <a:srgbClr val="C9D6E2"/>
                </a:solidFill>
                <a:latin typeface="Segoe UI" pitchFamily="34" charset="0"/>
                <a:ea typeface="Segoe UI" pitchFamily="34" charset="-122"/>
                <a:cs typeface="Segoe UI" pitchFamily="34" charset="-120"/>
              </a:rPr>
              <a:t>Ni le serveur, ni un administrateur, ni un membre seul ne peuvent lire une offre.</a:t>
            </a:r>
            <a:endParaRPr lang="en-US" sz="1300" dirty="0"/>
          </a:p>
        </p:txBody>
      </p:sp>
      <p:sp>
        <p:nvSpPr>
          <p:cNvPr id="14" name="Text 11"/>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Présentation de l'application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SOUMISSION ÉLECTRONIQUE</a:t>
            </a:r>
            <a:endParaRPr lang="en-US" sz="1200" dirty="0"/>
          </a:p>
        </p:txBody>
      </p:sp>
      <p:sp>
        <p:nvSpPr>
          <p:cNvPr id="3"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 parcours en ligne</a:t>
            </a:r>
            <a:endParaRPr lang="en-US" sz="2800" dirty="0"/>
          </a:p>
        </p:txBody>
      </p:sp>
      <p:sp>
        <p:nvSpPr>
          <p:cNvPr id="4" name="Shape 2"/>
          <p:cNvSpPr/>
          <p:nvPr/>
        </p:nvSpPr>
        <p:spPr>
          <a:xfrm>
            <a:off x="812780" y="1587500"/>
            <a:ext cx="1357052" cy="1524000"/>
          </a:xfrm>
          <a:prstGeom prst="roundRect">
            <a:avLst>
              <a:gd name="adj" fmla="val 4043"/>
            </a:avLst>
          </a:prstGeom>
          <a:solidFill>
            <a:srgbClr val="FCFCFA"/>
          </a:solidFill>
          <a:ln w="19050">
            <a:solidFill>
              <a:srgbClr val="12324A"/>
            </a:solidFill>
            <a:prstDash val="solid"/>
          </a:ln>
        </p:spPr>
      </p:sp>
      <p:sp>
        <p:nvSpPr>
          <p:cNvPr id="5" name="Text 3"/>
          <p:cNvSpPr/>
          <p:nvPr/>
        </p:nvSpPr>
        <p:spPr>
          <a:xfrm>
            <a:off x="901677"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1</a:t>
            </a:r>
            <a:endParaRPr lang="en-US" sz="1200" dirty="0"/>
          </a:p>
        </p:txBody>
      </p:sp>
      <p:sp>
        <p:nvSpPr>
          <p:cNvPr id="6" name="Text 4"/>
          <p:cNvSpPr/>
          <p:nvPr/>
        </p:nvSpPr>
        <p:spPr>
          <a:xfrm>
            <a:off x="901677"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CAO désignée</a:t>
            </a:r>
            <a:endParaRPr lang="en-US" sz="1200" dirty="0"/>
          </a:p>
        </p:txBody>
      </p:sp>
      <p:sp>
        <p:nvSpPr>
          <p:cNvPr id="7" name="Text 5"/>
          <p:cNvSpPr/>
          <p:nvPr/>
        </p:nvSpPr>
        <p:spPr>
          <a:xfrm>
            <a:off x="901677"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PRMP, par décision</a:t>
            </a:r>
            <a:endParaRPr lang="en-US" sz="1100" dirty="0"/>
          </a:p>
        </p:txBody>
      </p:sp>
      <p:sp>
        <p:nvSpPr>
          <p:cNvPr id="8" name="Shape 6"/>
          <p:cNvSpPr/>
          <p:nvPr/>
        </p:nvSpPr>
        <p:spPr>
          <a:xfrm>
            <a:off x="2182531" y="2349500"/>
            <a:ext cx="152396" cy="0"/>
          </a:xfrm>
          <a:prstGeom prst="line">
            <a:avLst/>
          </a:prstGeom>
          <a:noFill/>
          <a:ln w="19050">
            <a:solidFill>
              <a:srgbClr val="6A7787"/>
            </a:solidFill>
            <a:prstDash val="solid"/>
            <a:tailEnd type="triangle"/>
          </a:ln>
        </p:spPr>
      </p:sp>
      <p:sp>
        <p:nvSpPr>
          <p:cNvPr id="9" name="Shape 7"/>
          <p:cNvSpPr/>
          <p:nvPr/>
        </p:nvSpPr>
        <p:spPr>
          <a:xfrm>
            <a:off x="2347627" y="1587500"/>
            <a:ext cx="1357052" cy="1524000"/>
          </a:xfrm>
          <a:prstGeom prst="roundRect">
            <a:avLst>
              <a:gd name="adj" fmla="val 4043"/>
            </a:avLst>
          </a:prstGeom>
          <a:solidFill>
            <a:srgbClr val="FCFCFA"/>
          </a:solidFill>
          <a:ln w="19050">
            <a:solidFill>
              <a:srgbClr val="12324A"/>
            </a:solidFill>
            <a:prstDash val="solid"/>
          </a:ln>
        </p:spPr>
      </p:sp>
      <p:sp>
        <p:nvSpPr>
          <p:cNvPr id="10" name="Text 8"/>
          <p:cNvSpPr/>
          <p:nvPr/>
        </p:nvSpPr>
        <p:spPr>
          <a:xfrm>
            <a:off x="2436525"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2</a:t>
            </a:r>
            <a:endParaRPr lang="en-US" sz="1200" dirty="0"/>
          </a:p>
        </p:txBody>
      </p:sp>
      <p:sp>
        <p:nvSpPr>
          <p:cNvPr id="11" name="Text 9"/>
          <p:cNvSpPr/>
          <p:nvPr/>
        </p:nvSpPr>
        <p:spPr>
          <a:xfrm>
            <a:off x="2436525"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Cérémonie des clés</a:t>
            </a:r>
            <a:endParaRPr lang="en-US" sz="1200" dirty="0"/>
          </a:p>
        </p:txBody>
      </p:sp>
      <p:sp>
        <p:nvSpPr>
          <p:cNvPr id="12" name="Text 10"/>
          <p:cNvSpPr/>
          <p:nvPr/>
        </p:nvSpPr>
        <p:spPr>
          <a:xfrm>
            <a:off x="2436525"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Membres, responsable</a:t>
            </a:r>
            <a:endParaRPr lang="en-US" sz="1100" dirty="0"/>
          </a:p>
        </p:txBody>
      </p:sp>
      <p:sp>
        <p:nvSpPr>
          <p:cNvPr id="13" name="Shape 11"/>
          <p:cNvSpPr/>
          <p:nvPr/>
        </p:nvSpPr>
        <p:spPr>
          <a:xfrm>
            <a:off x="3717378" y="2349500"/>
            <a:ext cx="152396" cy="0"/>
          </a:xfrm>
          <a:prstGeom prst="line">
            <a:avLst/>
          </a:prstGeom>
          <a:noFill/>
          <a:ln w="19050">
            <a:solidFill>
              <a:srgbClr val="6A7787"/>
            </a:solidFill>
            <a:prstDash val="solid"/>
            <a:tailEnd type="triangle"/>
          </a:ln>
        </p:spPr>
      </p:sp>
      <p:sp>
        <p:nvSpPr>
          <p:cNvPr id="14" name="Shape 12"/>
          <p:cNvSpPr/>
          <p:nvPr/>
        </p:nvSpPr>
        <p:spPr>
          <a:xfrm>
            <a:off x="3882474" y="1587500"/>
            <a:ext cx="1357052" cy="1524000"/>
          </a:xfrm>
          <a:prstGeom prst="roundRect">
            <a:avLst>
              <a:gd name="adj" fmla="val 4043"/>
            </a:avLst>
          </a:prstGeom>
          <a:solidFill>
            <a:srgbClr val="FCFCFA"/>
          </a:solidFill>
          <a:ln w="19050">
            <a:solidFill>
              <a:srgbClr val="12324A"/>
            </a:solidFill>
            <a:prstDash val="solid"/>
          </a:ln>
        </p:spPr>
      </p:sp>
      <p:sp>
        <p:nvSpPr>
          <p:cNvPr id="15" name="Text 13"/>
          <p:cNvSpPr/>
          <p:nvPr/>
        </p:nvSpPr>
        <p:spPr>
          <a:xfrm>
            <a:off x="3971372"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3</a:t>
            </a:r>
            <a:endParaRPr lang="en-US" sz="1200" dirty="0"/>
          </a:p>
        </p:txBody>
      </p:sp>
      <p:sp>
        <p:nvSpPr>
          <p:cNvPr id="16" name="Text 14"/>
          <p:cNvSpPr/>
          <p:nvPr/>
        </p:nvSpPr>
        <p:spPr>
          <a:xfrm>
            <a:off x="3971372"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Avis publié</a:t>
            </a:r>
            <a:endParaRPr lang="en-US" sz="1200" dirty="0"/>
          </a:p>
        </p:txBody>
      </p:sp>
      <p:sp>
        <p:nvSpPr>
          <p:cNvPr id="17" name="Text 15"/>
          <p:cNvSpPr/>
          <p:nvPr/>
        </p:nvSpPr>
        <p:spPr>
          <a:xfrm>
            <a:off x="3971372"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PRMP</a:t>
            </a:r>
            <a:endParaRPr lang="en-US" sz="1100" dirty="0"/>
          </a:p>
        </p:txBody>
      </p:sp>
      <p:sp>
        <p:nvSpPr>
          <p:cNvPr id="18" name="Shape 16"/>
          <p:cNvSpPr/>
          <p:nvPr/>
        </p:nvSpPr>
        <p:spPr>
          <a:xfrm>
            <a:off x="5252226" y="2349500"/>
            <a:ext cx="152396" cy="0"/>
          </a:xfrm>
          <a:prstGeom prst="line">
            <a:avLst/>
          </a:prstGeom>
          <a:noFill/>
          <a:ln w="19050">
            <a:solidFill>
              <a:srgbClr val="6A7787"/>
            </a:solidFill>
            <a:prstDash val="solid"/>
            <a:tailEnd type="triangle"/>
          </a:ln>
        </p:spPr>
      </p:sp>
      <p:sp>
        <p:nvSpPr>
          <p:cNvPr id="19" name="Shape 17"/>
          <p:cNvSpPr/>
          <p:nvPr/>
        </p:nvSpPr>
        <p:spPr>
          <a:xfrm>
            <a:off x="5417322" y="1587500"/>
            <a:ext cx="1357052" cy="1524000"/>
          </a:xfrm>
          <a:prstGeom prst="roundRect">
            <a:avLst>
              <a:gd name="adj" fmla="val 4043"/>
            </a:avLst>
          </a:prstGeom>
          <a:solidFill>
            <a:srgbClr val="FCFCFA"/>
          </a:solidFill>
          <a:ln w="19050">
            <a:solidFill>
              <a:srgbClr val="12324A"/>
            </a:solidFill>
            <a:prstDash val="solid"/>
          </a:ln>
        </p:spPr>
      </p:sp>
      <p:sp>
        <p:nvSpPr>
          <p:cNvPr id="20" name="Text 18"/>
          <p:cNvSpPr/>
          <p:nvPr/>
        </p:nvSpPr>
        <p:spPr>
          <a:xfrm>
            <a:off x="5506219"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4</a:t>
            </a:r>
            <a:endParaRPr lang="en-US" sz="1200" dirty="0"/>
          </a:p>
        </p:txBody>
      </p:sp>
      <p:sp>
        <p:nvSpPr>
          <p:cNvPr id="21" name="Text 19"/>
          <p:cNvSpPr/>
          <p:nvPr/>
        </p:nvSpPr>
        <p:spPr>
          <a:xfrm>
            <a:off x="5506219"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Retrait du DAO</a:t>
            </a:r>
            <a:endParaRPr lang="en-US" sz="1200" dirty="0"/>
          </a:p>
        </p:txBody>
      </p:sp>
      <p:sp>
        <p:nvSpPr>
          <p:cNvPr id="22" name="Text 20"/>
          <p:cNvSpPr/>
          <p:nvPr/>
        </p:nvSpPr>
        <p:spPr>
          <a:xfrm>
            <a:off x="5506219"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Candidats</a:t>
            </a:r>
            <a:endParaRPr lang="en-US" sz="1100" dirty="0"/>
          </a:p>
        </p:txBody>
      </p:sp>
      <p:sp>
        <p:nvSpPr>
          <p:cNvPr id="23" name="Shape 21"/>
          <p:cNvSpPr/>
          <p:nvPr/>
        </p:nvSpPr>
        <p:spPr>
          <a:xfrm>
            <a:off x="6787073" y="2349500"/>
            <a:ext cx="152396" cy="0"/>
          </a:xfrm>
          <a:prstGeom prst="line">
            <a:avLst/>
          </a:prstGeom>
          <a:noFill/>
          <a:ln w="19050">
            <a:solidFill>
              <a:srgbClr val="6A7787"/>
            </a:solidFill>
            <a:prstDash val="solid"/>
            <a:tailEnd type="triangle"/>
          </a:ln>
        </p:spPr>
      </p:sp>
      <p:sp>
        <p:nvSpPr>
          <p:cNvPr id="24" name="Shape 22"/>
          <p:cNvSpPr/>
          <p:nvPr/>
        </p:nvSpPr>
        <p:spPr>
          <a:xfrm>
            <a:off x="6952169" y="1587500"/>
            <a:ext cx="1357052" cy="1524000"/>
          </a:xfrm>
          <a:prstGeom prst="roundRect">
            <a:avLst>
              <a:gd name="adj" fmla="val 4043"/>
            </a:avLst>
          </a:prstGeom>
          <a:solidFill>
            <a:srgbClr val="FCFCFA"/>
          </a:solidFill>
          <a:ln w="19050">
            <a:solidFill>
              <a:srgbClr val="12324A"/>
            </a:solidFill>
            <a:prstDash val="solid"/>
          </a:ln>
        </p:spPr>
      </p:sp>
      <p:sp>
        <p:nvSpPr>
          <p:cNvPr id="25" name="Text 23"/>
          <p:cNvSpPr/>
          <p:nvPr/>
        </p:nvSpPr>
        <p:spPr>
          <a:xfrm>
            <a:off x="7041067"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5</a:t>
            </a:r>
            <a:endParaRPr lang="en-US" sz="1200" dirty="0"/>
          </a:p>
        </p:txBody>
      </p:sp>
      <p:sp>
        <p:nvSpPr>
          <p:cNvPr id="26" name="Text 24"/>
          <p:cNvSpPr/>
          <p:nvPr/>
        </p:nvSpPr>
        <p:spPr>
          <a:xfrm>
            <a:off x="7041067"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Offres scellées</a:t>
            </a:r>
            <a:endParaRPr lang="en-US" sz="1200" dirty="0"/>
          </a:p>
        </p:txBody>
      </p:sp>
      <p:sp>
        <p:nvSpPr>
          <p:cNvPr id="27" name="Text 25"/>
          <p:cNvSpPr/>
          <p:nvPr/>
        </p:nvSpPr>
        <p:spPr>
          <a:xfrm>
            <a:off x="7041067"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Candidats</a:t>
            </a:r>
            <a:endParaRPr lang="en-US" sz="1100" dirty="0"/>
          </a:p>
        </p:txBody>
      </p:sp>
      <p:sp>
        <p:nvSpPr>
          <p:cNvPr id="28" name="Shape 26"/>
          <p:cNvSpPr/>
          <p:nvPr/>
        </p:nvSpPr>
        <p:spPr>
          <a:xfrm>
            <a:off x="8321921" y="2349500"/>
            <a:ext cx="152396" cy="0"/>
          </a:xfrm>
          <a:prstGeom prst="line">
            <a:avLst/>
          </a:prstGeom>
          <a:noFill/>
          <a:ln w="19050">
            <a:solidFill>
              <a:srgbClr val="6A7787"/>
            </a:solidFill>
            <a:prstDash val="solid"/>
            <a:tailEnd type="triangle"/>
          </a:ln>
        </p:spPr>
      </p:sp>
      <p:sp>
        <p:nvSpPr>
          <p:cNvPr id="29" name="Shape 27"/>
          <p:cNvSpPr/>
          <p:nvPr/>
        </p:nvSpPr>
        <p:spPr>
          <a:xfrm>
            <a:off x="8487016" y="1587500"/>
            <a:ext cx="1357052" cy="1524000"/>
          </a:xfrm>
          <a:prstGeom prst="roundRect">
            <a:avLst>
              <a:gd name="adj" fmla="val 4043"/>
            </a:avLst>
          </a:prstGeom>
          <a:solidFill>
            <a:srgbClr val="FCFCFA"/>
          </a:solidFill>
          <a:ln w="19050">
            <a:solidFill>
              <a:srgbClr val="12324A"/>
            </a:solidFill>
            <a:prstDash val="solid"/>
          </a:ln>
        </p:spPr>
      </p:sp>
      <p:sp>
        <p:nvSpPr>
          <p:cNvPr id="30" name="Text 28"/>
          <p:cNvSpPr/>
          <p:nvPr/>
        </p:nvSpPr>
        <p:spPr>
          <a:xfrm>
            <a:off x="8575914" y="1676400"/>
            <a:ext cx="1179256"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6</a:t>
            </a:r>
            <a:endParaRPr lang="en-US" sz="1200" dirty="0"/>
          </a:p>
        </p:txBody>
      </p:sp>
      <p:sp>
        <p:nvSpPr>
          <p:cNvPr id="31" name="Text 29"/>
          <p:cNvSpPr/>
          <p:nvPr/>
        </p:nvSpPr>
        <p:spPr>
          <a:xfrm>
            <a:off x="8575914" y="1905000"/>
            <a:ext cx="1179256" cy="444500"/>
          </a:xfrm>
          <a:prstGeom prst="rect">
            <a:avLst/>
          </a:prstGeom>
          <a:noFill/>
          <a:ln/>
        </p:spPr>
        <p:txBody>
          <a:bodyPr wrap="square" rtlCol="0" anchor="t"/>
          <a:lstStyle/>
          <a:p>
            <a:pPr indent="0" marL="0">
              <a:buNone/>
            </a:pPr>
            <a:r>
              <a:rPr lang="en-US" sz="1200" b="1" dirty="0">
                <a:solidFill>
                  <a:srgbClr val="1B2A3A"/>
                </a:solidFill>
                <a:latin typeface="Segoe UI" pitchFamily="34" charset="0"/>
                <a:ea typeface="Segoe UI" pitchFamily="34" charset="-122"/>
                <a:cs typeface="Segoe UI" pitchFamily="34" charset="-120"/>
              </a:rPr>
              <a:t>Séance d’ouverture</a:t>
            </a:r>
            <a:endParaRPr lang="en-US" sz="1200" dirty="0"/>
          </a:p>
        </p:txBody>
      </p:sp>
      <p:sp>
        <p:nvSpPr>
          <p:cNvPr id="32" name="Text 30"/>
          <p:cNvSpPr/>
          <p:nvPr/>
        </p:nvSpPr>
        <p:spPr>
          <a:xfrm>
            <a:off x="8575914" y="2349500"/>
            <a:ext cx="1179256" cy="6985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CAO au quorum</a:t>
            </a:r>
            <a:endParaRPr lang="en-US" sz="1100" dirty="0"/>
          </a:p>
        </p:txBody>
      </p:sp>
      <p:sp>
        <p:nvSpPr>
          <p:cNvPr id="33" name="Shape 31"/>
          <p:cNvSpPr/>
          <p:nvPr/>
        </p:nvSpPr>
        <p:spPr>
          <a:xfrm>
            <a:off x="9856768" y="2349500"/>
            <a:ext cx="152396" cy="0"/>
          </a:xfrm>
          <a:prstGeom prst="line">
            <a:avLst/>
          </a:prstGeom>
          <a:noFill/>
          <a:ln w="19050">
            <a:solidFill>
              <a:srgbClr val="6A7787"/>
            </a:solidFill>
            <a:prstDash val="solid"/>
            <a:tailEnd type="triangle"/>
          </a:ln>
        </p:spPr>
      </p:sp>
      <p:sp>
        <p:nvSpPr>
          <p:cNvPr id="34" name="Shape 32"/>
          <p:cNvSpPr/>
          <p:nvPr/>
        </p:nvSpPr>
        <p:spPr>
          <a:xfrm>
            <a:off x="10021864" y="1587500"/>
            <a:ext cx="1357052" cy="1524000"/>
          </a:xfrm>
          <a:prstGeom prst="roundRect">
            <a:avLst>
              <a:gd name="adj" fmla="val 4043"/>
            </a:avLst>
          </a:prstGeom>
          <a:solidFill>
            <a:srgbClr val="12324A"/>
          </a:solidFill>
          <a:ln w="19050">
            <a:solidFill>
              <a:srgbClr val="12324A"/>
            </a:solidFill>
            <a:prstDash val="solid"/>
          </a:ln>
        </p:spPr>
      </p:sp>
      <p:sp>
        <p:nvSpPr>
          <p:cNvPr id="35" name="Text 33"/>
          <p:cNvSpPr/>
          <p:nvPr/>
        </p:nvSpPr>
        <p:spPr>
          <a:xfrm>
            <a:off x="10110762" y="1676400"/>
            <a:ext cx="1179256" cy="215900"/>
          </a:xfrm>
          <a:prstGeom prst="rect">
            <a:avLst/>
          </a:prstGeom>
          <a:noFill/>
          <a:ln/>
        </p:spPr>
        <p:txBody>
          <a:bodyPr wrap="square" rtlCol="0" anchor="ctr"/>
          <a:lstStyle/>
          <a:p>
            <a:pPr indent="0" marL="0">
              <a:buNone/>
            </a:pPr>
            <a:r>
              <a:rPr lang="en-US" sz="1200" b="1" dirty="0">
                <a:solidFill>
                  <a:srgbClr val="E3AE2E"/>
                </a:solidFill>
                <a:latin typeface="Segoe UI" pitchFamily="34" charset="0"/>
                <a:ea typeface="Segoe UI" pitchFamily="34" charset="-122"/>
                <a:cs typeface="Segoe UI" pitchFamily="34" charset="-120"/>
              </a:rPr>
              <a:t>7</a:t>
            </a:r>
            <a:endParaRPr lang="en-US" sz="1200" dirty="0"/>
          </a:p>
        </p:txBody>
      </p:sp>
      <p:sp>
        <p:nvSpPr>
          <p:cNvPr id="36" name="Text 34"/>
          <p:cNvSpPr/>
          <p:nvPr/>
        </p:nvSpPr>
        <p:spPr>
          <a:xfrm>
            <a:off x="10110762" y="1905000"/>
            <a:ext cx="1179256" cy="444500"/>
          </a:xfrm>
          <a:prstGeom prst="rect">
            <a:avLst/>
          </a:prstGeom>
          <a:noFill/>
          <a:ln/>
        </p:spPr>
        <p:txBody>
          <a:bodyPr wrap="square" rtlCol="0" anchor="t"/>
          <a:lstStyle/>
          <a:p>
            <a:pPr indent="0" marL="0">
              <a:buNone/>
            </a:pPr>
            <a:r>
              <a:rPr lang="en-US" sz="1200" b="1" dirty="0">
                <a:solidFill>
                  <a:srgbClr val="FCFCFA"/>
                </a:solidFill>
                <a:latin typeface="Segoe UI" pitchFamily="34" charset="0"/>
                <a:ea typeface="Segoe UI" pitchFamily="34" charset="-122"/>
                <a:cs typeface="Segoe UI" pitchFamily="34" charset="-120"/>
              </a:rPr>
              <a:t>PV d’ouverture</a:t>
            </a:r>
            <a:endParaRPr lang="en-US" sz="1200" dirty="0"/>
          </a:p>
        </p:txBody>
      </p:sp>
      <p:sp>
        <p:nvSpPr>
          <p:cNvPr id="37" name="Text 35"/>
          <p:cNvSpPr/>
          <p:nvPr/>
        </p:nvSpPr>
        <p:spPr>
          <a:xfrm>
            <a:off x="10110762" y="2349500"/>
            <a:ext cx="1179256" cy="698500"/>
          </a:xfrm>
          <a:prstGeom prst="rect">
            <a:avLst/>
          </a:prstGeom>
          <a:noFill/>
          <a:ln/>
        </p:spPr>
        <p:txBody>
          <a:bodyPr wrap="square" rtlCol="0" anchor="t"/>
          <a:lstStyle/>
          <a:p>
            <a:pPr indent="0" marL="0">
              <a:buNone/>
            </a:pPr>
            <a:r>
              <a:rPr lang="en-US" sz="1100" dirty="0">
                <a:solidFill>
                  <a:srgbClr val="C9D6E2"/>
                </a:solidFill>
                <a:latin typeface="Segoe UI" pitchFamily="34" charset="0"/>
                <a:ea typeface="Segoe UI" pitchFamily="34" charset="-122"/>
                <a:cs typeface="Segoe UI" pitchFamily="34" charset="-120"/>
              </a:rPr>
              <a:t>Responsable</a:t>
            </a:r>
            <a:endParaRPr lang="en-US" sz="1100" dirty="0"/>
          </a:p>
        </p:txBody>
      </p:sp>
      <p:sp>
        <p:nvSpPr>
          <p:cNvPr id="38" name="Text 36"/>
          <p:cNvSpPr/>
          <p:nvPr/>
        </p:nvSpPr>
        <p:spPr>
          <a:xfrm>
            <a:off x="812780" y="3365500"/>
            <a:ext cx="10159746" cy="1270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 </a:t>
            </a:r>
            <a:pPr indent="0" marL="0">
              <a:buNone/>
            </a:pPr>
            <a:r>
              <a:rPr lang="en-US" sz="1300" b="1" dirty="0">
                <a:solidFill>
                  <a:srgbClr val="465568"/>
                </a:solidFill>
                <a:latin typeface="Segoe UI" pitchFamily="34" charset="0"/>
                <a:ea typeface="Segoe UI" pitchFamily="34" charset="-122"/>
                <a:cs typeface="Segoe UI" pitchFamily="34" charset="-120"/>
              </a:rPr>
              <a:t>responsable de la procédure</a:t>
            </a:r>
            <a:pPr indent="0" marL="0">
              <a:buNone/>
            </a:pPr>
            <a:r>
              <a:rPr lang="en-US" sz="1300" dirty="0">
                <a:solidFill>
                  <a:srgbClr val="465568"/>
                </a:solidFill>
                <a:latin typeface="Segoe UI" pitchFamily="34" charset="0"/>
                <a:ea typeface="Segoe UI" pitchFamily="34" charset="-122"/>
                <a:cs typeface="Segoe UI" pitchFamily="34" charset="-120"/>
              </a:rPr>
              <a:t>, contrôleur de la CNM désigné par l’Administrateur, tient les paramètres internes (quorum, date de la cérémonie, dépositaire de la part de secours) et conduit la cérémonie et la séance. Il ne détient aucune part.</a:t>
            </a:r>
            <a:endParaRPr lang="en-US" sz="1300" dirty="0"/>
          </a:p>
        </p:txBody>
      </p:sp>
      <p:sp>
        <p:nvSpPr>
          <p:cNvPr id="39" name="Text 37"/>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SOUMISSION ÉLECTRONIQUE</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La commission d’appel d’offres</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Désignée par la PRMP, </a:t>
            </a:r>
            <a:pPr indent="0" marL="0">
              <a:buNone/>
            </a:pPr>
            <a:r>
              <a:rPr lang="en-US" sz="1300" b="1" dirty="0">
                <a:solidFill>
                  <a:srgbClr val="465568"/>
                </a:solidFill>
                <a:latin typeface="Segoe UI" pitchFamily="34" charset="0"/>
                <a:ea typeface="Segoe UI" pitchFamily="34" charset="-122"/>
                <a:cs typeface="Segoe UI" pitchFamily="34" charset="-120"/>
              </a:rPr>
              <a:t>par une décision</a:t>
            </a:r>
            <a:pPr indent="0" marL="0">
              <a:buNone/>
            </a:pPr>
            <a:r>
              <a:rPr lang="en-US" sz="1300" dirty="0">
                <a:solidFill>
                  <a:srgbClr val="465568"/>
                </a:solidFill>
                <a:latin typeface="Segoe UI" pitchFamily="34" charset="0"/>
                <a:ea typeface="Segoe UI" pitchFamily="34" charset="-122"/>
                <a:cs typeface="Segoe UI" pitchFamily="34" charset="-120"/>
              </a:rPr>
              <a:t> : une commission par appel d’offres.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Des agents de l’entité et </a:t>
            </a:r>
            <a:pPr indent="0" marL="0">
              <a:buNone/>
            </a:pPr>
            <a:r>
              <a:rPr lang="en-US" sz="1300" b="1" dirty="0">
                <a:solidFill>
                  <a:srgbClr val="465568"/>
                </a:solidFill>
                <a:latin typeface="Segoe UI" pitchFamily="34" charset="0"/>
                <a:ea typeface="Segoe UI" pitchFamily="34" charset="-122"/>
                <a:cs typeface="Segoe UI" pitchFamily="34" charset="-120"/>
              </a:rPr>
              <a:t>au plus un expert</a:t>
            </a:r>
            <a:pPr indent="0" marL="0">
              <a:buNone/>
            </a:pPr>
            <a:r>
              <a:rPr lang="en-US" sz="1300" dirty="0">
                <a:solidFill>
                  <a:srgbClr val="465568"/>
                </a:solidFill>
                <a:latin typeface="Segoe UI" pitchFamily="34" charset="0"/>
                <a:ea typeface="Segoe UI" pitchFamily="34" charset="-122"/>
                <a:cs typeface="Segoe UI" pitchFamily="34" charset="-120"/>
              </a:rPr>
              <a:t> de l’objet ; un président.</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Exclus : PRMP, UGPM, contrôleurs de la CNM, candidats.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Chaque membre reçoit une invitation à activer son compte.</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Écran de la PRMP pour désigner la commission d’appel d’offres">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SOUMISSION ÉLECTRONIQUE</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Les paramètres internes et la cérémonie</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Lus du seul responsable : quorum, date de la cérémonie, dépositaire.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Avertissement si le quorum égale le nombre de membres.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La </a:t>
            </a:r>
            <a:pPr indent="0" marL="0">
              <a:buNone/>
            </a:pPr>
            <a:r>
              <a:rPr lang="en-US" sz="1300" b="1" dirty="0">
                <a:solidFill>
                  <a:srgbClr val="465568"/>
                </a:solidFill>
                <a:latin typeface="Segoe UI" pitchFamily="34" charset="0"/>
                <a:ea typeface="Segoe UI" pitchFamily="34" charset="-122"/>
                <a:cs typeface="Segoe UI" pitchFamily="34" charset="-120"/>
              </a:rPr>
              <a:t>part de secours</a:t>
            </a:r>
            <a:pPr indent="0" marL="0">
              <a:buNone/>
            </a:pPr>
            <a:r>
              <a:rPr lang="en-US" sz="1300" dirty="0">
                <a:solidFill>
                  <a:srgbClr val="465568"/>
                </a:solidFill>
                <a:latin typeface="Segoe UI" pitchFamily="34" charset="0"/>
                <a:ea typeface="Segoe UI" pitchFamily="34" charset="-122"/>
                <a:cs typeface="Segoe UI" pitchFamily="34" charset="-120"/>
              </a:rPr>
              <a:t> naît sur son poste ; sa phrase est imprimée sur un pli scellé.</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Il clôt la cérémonie : les clés publiques sont servies aux candidats.</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Paramètres internes de la procédure, côté responsable">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SOUMISSION ÉLECTRONIQUE</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 membre de la CAO et sa part de clé</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Il génère sa clé </a:t>
            </a:r>
            <a:pPr indent="0" marL="0">
              <a:buNone/>
            </a:pPr>
            <a:r>
              <a:rPr lang="en-US" sz="1300" b="1" dirty="0">
                <a:solidFill>
                  <a:srgbClr val="465568"/>
                </a:solidFill>
                <a:latin typeface="Segoe UI" pitchFamily="34" charset="0"/>
                <a:ea typeface="Segoe UI" pitchFamily="34" charset="-122"/>
                <a:cs typeface="Segoe UI" pitchFamily="34" charset="-120"/>
              </a:rPr>
              <a:t>sur son poste</a:t>
            </a:r>
            <a:pPr indent="0" marL="0">
              <a:buNone/>
            </a:pPr>
            <a:r>
              <a:rPr lang="en-US" sz="1300" dirty="0">
                <a:solidFill>
                  <a:srgbClr val="465568"/>
                </a:solidFill>
                <a:latin typeface="Segoe UI" pitchFamily="34" charset="0"/>
                <a:ea typeface="Segoe UI" pitchFamily="34" charset="-122"/>
                <a:cs typeface="Segoe UI" pitchFamily="34" charset="-120"/>
              </a:rPr>
              <a:t>, protégée par sa phrase secrète.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Il retrouve l’empreinte de sa clé dans la liste publiée.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Il </a:t>
            </a:r>
            <a:pPr indent="0" marL="0">
              <a:buNone/>
            </a:pPr>
            <a:r>
              <a:rPr lang="en-US" sz="1300" b="1" dirty="0">
                <a:solidFill>
                  <a:srgbClr val="465568"/>
                </a:solidFill>
                <a:latin typeface="Segoe UI" pitchFamily="34" charset="0"/>
                <a:ea typeface="Segoe UI" pitchFamily="34" charset="-122"/>
                <a:cs typeface="Segoe UI" pitchFamily="34" charset="-120"/>
              </a:rPr>
              <a:t>vérifie sa part</a:t>
            </a:r>
            <a:pPr indent="0" marL="0">
              <a:buNone/>
            </a:pPr>
            <a:r>
              <a:rPr lang="en-US" sz="1300" dirty="0">
                <a:solidFill>
                  <a:srgbClr val="465568"/>
                </a:solidFill>
                <a:latin typeface="Segoe UI" pitchFamily="34" charset="0"/>
                <a:ea typeface="Segoe UI" pitchFamily="34" charset="-122"/>
                <a:cs typeface="Segoe UI" pitchFamily="34" charset="-120"/>
              </a:rPr>
              <a:t> par un défi qui ne révèle rien.</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 jour venu, il apporte ses parts à la séance.</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Espace du membre de CAO : procédure, séance et part de clé">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SOUMISSION ÉLECTRONIQUE</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L’espace candidat</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Les procédures ouvertes se consultent </a:t>
            </a:r>
            <a:pPr indent="0" marL="0">
              <a:buNone/>
            </a:pPr>
            <a:r>
              <a:rPr lang="en-US" sz="1300" b="1" dirty="0">
                <a:solidFill>
                  <a:srgbClr val="465568"/>
                </a:solidFill>
                <a:latin typeface="Segoe UI" pitchFamily="34" charset="0"/>
                <a:ea typeface="Segoe UI" pitchFamily="34" charset="-122"/>
                <a:cs typeface="Segoe UI" pitchFamily="34" charset="-120"/>
              </a:rPr>
              <a:t>sans compte</a:t>
            </a:r>
            <a:pPr indent="0" marL="0">
              <a:buNone/>
            </a:pPr>
            <a:r>
              <a:rPr lang="en-US" sz="1300" dirty="0">
                <a:solidFill>
                  <a:srgbClr val="465568"/>
                </a:solidFill>
                <a:latin typeface="Segoe UI" pitchFamily="34" charset="0"/>
                <a:ea typeface="Segoe UI" pitchFamily="34" charset="-122"/>
                <a:cs typeface="Segoe UI" pitchFamily="34" charset="-120"/>
              </a:rPr>
              <a:t>.</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Inscription d’une entreprise, confirmée par un code envoyé par courriel.</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Retrait du DAO : chaque téléchargement est inscrit au registre de la PRMP.</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 NIF est vérifié sur pièces ; cela ne bloque jamais un dépôt.</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Page publique pour les entreprises">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SOUMISSION ÉLECTRONIQUE</a:t>
            </a:r>
            <a:endParaRPr lang="en-US" sz="1200" dirty="0"/>
          </a:p>
        </p:txBody>
      </p:sp>
      <p:sp>
        <p:nvSpPr>
          <p:cNvPr id="3"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Déposer une offre scellée</a:t>
            </a:r>
            <a:endParaRPr lang="en-US" sz="2800" dirty="0"/>
          </a:p>
        </p:txBody>
      </p:sp>
      <p:sp>
        <p:nvSpPr>
          <p:cNvPr id="4" name="Shape 2"/>
          <p:cNvSpPr/>
          <p:nvPr/>
        </p:nvSpPr>
        <p:spPr>
          <a:xfrm>
            <a:off x="812780" y="1460500"/>
            <a:ext cx="5194170" cy="1905000"/>
          </a:xfrm>
          <a:prstGeom prst="rect">
            <a:avLst/>
          </a:prstGeom>
          <a:solidFill>
            <a:srgbClr val="FCFCFA"/>
          </a:solidFill>
          <a:ln w="9525">
            <a:solidFill>
              <a:srgbClr val="D5DCE4"/>
            </a:solidFill>
            <a:prstDash val="solid"/>
          </a:ln>
        </p:spPr>
      </p:sp>
      <p:sp>
        <p:nvSpPr>
          <p:cNvPr id="5" name="Shape 3"/>
          <p:cNvSpPr/>
          <p:nvPr/>
        </p:nvSpPr>
        <p:spPr>
          <a:xfrm>
            <a:off x="812780" y="1460500"/>
            <a:ext cx="5194170" cy="38100"/>
          </a:xfrm>
          <a:prstGeom prst="rect">
            <a:avLst/>
          </a:prstGeom>
          <a:solidFill>
            <a:srgbClr val="1B6FA8"/>
          </a:solidFill>
          <a:ln/>
        </p:spPr>
      </p:sp>
      <p:sp>
        <p:nvSpPr>
          <p:cNvPr id="6" name="Text 4"/>
          <p:cNvSpPr/>
          <p:nvPr/>
        </p:nvSpPr>
        <p:spPr>
          <a:xfrm>
            <a:off x="965176" y="16002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Rassembler l’offre</a:t>
            </a:r>
            <a:endParaRPr lang="en-US" sz="1600" dirty="0"/>
          </a:p>
        </p:txBody>
      </p:sp>
      <p:sp>
        <p:nvSpPr>
          <p:cNvPr id="7" name="Text 5"/>
          <p:cNvSpPr/>
          <p:nvPr/>
        </p:nvSpPr>
        <p:spPr>
          <a:xfrm>
            <a:off x="965176" y="19558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Lot, groupement, valeurs de l’acte d’engagement, acte signé, pièces attendues, garantie et son code. L’écran dit ce qui manque et le temps restant.</a:t>
            </a:r>
            <a:endParaRPr lang="en-US" sz="1300" dirty="0"/>
          </a:p>
        </p:txBody>
      </p:sp>
      <p:sp>
        <p:nvSpPr>
          <p:cNvPr id="8" name="Shape 6"/>
          <p:cNvSpPr/>
          <p:nvPr/>
        </p:nvSpPr>
        <p:spPr>
          <a:xfrm>
            <a:off x="6184745" y="1460500"/>
            <a:ext cx="5194170" cy="1905000"/>
          </a:xfrm>
          <a:prstGeom prst="rect">
            <a:avLst/>
          </a:prstGeom>
          <a:solidFill>
            <a:srgbClr val="FCFCFA"/>
          </a:solidFill>
          <a:ln w="9525">
            <a:solidFill>
              <a:srgbClr val="D5DCE4"/>
            </a:solidFill>
            <a:prstDash val="solid"/>
          </a:ln>
        </p:spPr>
      </p:sp>
      <p:sp>
        <p:nvSpPr>
          <p:cNvPr id="9" name="Shape 7"/>
          <p:cNvSpPr/>
          <p:nvPr/>
        </p:nvSpPr>
        <p:spPr>
          <a:xfrm>
            <a:off x="6184745" y="1460500"/>
            <a:ext cx="5194170" cy="38100"/>
          </a:xfrm>
          <a:prstGeom prst="rect">
            <a:avLst/>
          </a:prstGeom>
          <a:solidFill>
            <a:srgbClr val="1B6FA8"/>
          </a:solidFill>
          <a:ln/>
        </p:spPr>
      </p:sp>
      <p:sp>
        <p:nvSpPr>
          <p:cNvPr id="10" name="Text 8"/>
          <p:cNvSpPr/>
          <p:nvPr/>
        </p:nvSpPr>
        <p:spPr>
          <a:xfrm>
            <a:off x="6337142" y="16002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Sceller et déposer</a:t>
            </a:r>
            <a:endParaRPr lang="en-US" sz="1600" dirty="0"/>
          </a:p>
        </p:txBody>
      </p:sp>
      <p:sp>
        <p:nvSpPr>
          <p:cNvPr id="11" name="Text 9"/>
          <p:cNvSpPr/>
          <p:nvPr/>
        </p:nvSpPr>
        <p:spPr>
          <a:xfrm>
            <a:off x="6337142" y="19558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L’offre est chiffrée </a:t>
            </a:r>
            <a:pPr indent="0" marL="0">
              <a:buNone/>
            </a:pPr>
            <a:r>
              <a:rPr lang="en-US" sz="1300" b="1" dirty="0">
                <a:solidFill>
                  <a:srgbClr val="465568"/>
                </a:solidFill>
                <a:latin typeface="Segoe UI" pitchFamily="34" charset="0"/>
                <a:ea typeface="Segoe UI" pitchFamily="34" charset="-122"/>
                <a:cs typeface="Segoe UI" pitchFamily="34" charset="-120"/>
              </a:rPr>
              <a:t>sur le poste</a:t>
            </a:r>
            <a:pPr indent="0" marL="0">
              <a:buNone/>
            </a:pPr>
            <a:r>
              <a:rPr lang="en-US" sz="1300" dirty="0">
                <a:solidFill>
                  <a:srgbClr val="465568"/>
                </a:solidFill>
                <a:latin typeface="Segoe UI" pitchFamily="34" charset="0"/>
                <a:ea typeface="Segoe UI" pitchFamily="34" charset="-122"/>
                <a:cs typeface="Segoe UI" pitchFamily="34" charset="-120"/>
              </a:rPr>
              <a:t> et part par morceaux ; un envoi coupé reprend. Le serveur rend un </a:t>
            </a:r>
            <a:pPr indent="0" marL="0">
              <a:buNone/>
            </a:pPr>
            <a:r>
              <a:rPr lang="en-US" sz="1300" b="1" dirty="0">
                <a:solidFill>
                  <a:srgbClr val="465568"/>
                </a:solidFill>
                <a:latin typeface="Segoe UI" pitchFamily="34" charset="0"/>
                <a:ea typeface="Segoe UI" pitchFamily="34" charset="-122"/>
                <a:cs typeface="Segoe UI" pitchFamily="34" charset="-120"/>
              </a:rPr>
              <a:t>accusé</a:t>
            </a:r>
            <a:pPr indent="0" marL="0">
              <a:buNone/>
            </a:pPr>
            <a:r>
              <a:rPr lang="en-US" sz="1300" dirty="0">
                <a:solidFill>
                  <a:srgbClr val="465568"/>
                </a:solidFill>
                <a:latin typeface="Segoe UI" pitchFamily="34" charset="0"/>
                <a:ea typeface="Segoe UI" pitchFamily="34" charset="-122"/>
                <a:cs typeface="Segoe UI" pitchFamily="34" charset="-120"/>
              </a:rPr>
              <a:t> horodaté, avec l’empreinte.</a:t>
            </a:r>
            <a:endParaRPr lang="en-US" sz="1300" dirty="0"/>
          </a:p>
        </p:txBody>
      </p:sp>
      <p:sp>
        <p:nvSpPr>
          <p:cNvPr id="12" name="Shape 10"/>
          <p:cNvSpPr/>
          <p:nvPr/>
        </p:nvSpPr>
        <p:spPr>
          <a:xfrm>
            <a:off x="812780" y="3543300"/>
            <a:ext cx="5194170" cy="1905000"/>
          </a:xfrm>
          <a:prstGeom prst="rect">
            <a:avLst/>
          </a:prstGeom>
          <a:solidFill>
            <a:srgbClr val="FCFCFA"/>
          </a:solidFill>
          <a:ln w="9525">
            <a:solidFill>
              <a:srgbClr val="D5DCE4"/>
            </a:solidFill>
            <a:prstDash val="solid"/>
          </a:ln>
        </p:spPr>
      </p:sp>
      <p:sp>
        <p:nvSpPr>
          <p:cNvPr id="13" name="Shape 11"/>
          <p:cNvSpPr/>
          <p:nvPr/>
        </p:nvSpPr>
        <p:spPr>
          <a:xfrm>
            <a:off x="812780" y="3543300"/>
            <a:ext cx="5194170" cy="38100"/>
          </a:xfrm>
          <a:prstGeom prst="rect">
            <a:avLst/>
          </a:prstGeom>
          <a:solidFill>
            <a:srgbClr val="E3AE2E"/>
          </a:solidFill>
          <a:ln/>
        </p:spPr>
      </p:sp>
      <p:sp>
        <p:nvSpPr>
          <p:cNvPr id="14" name="Text 12"/>
          <p:cNvSpPr/>
          <p:nvPr/>
        </p:nvSpPr>
        <p:spPr>
          <a:xfrm>
            <a:off x="965176" y="36830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Remplacer, retirer</a:t>
            </a:r>
            <a:endParaRPr lang="en-US" sz="1600" dirty="0"/>
          </a:p>
        </p:txBody>
      </p:sp>
      <p:sp>
        <p:nvSpPr>
          <p:cNvPr id="15" name="Text 13"/>
          <p:cNvSpPr/>
          <p:nvPr/>
        </p:nvSpPr>
        <p:spPr>
          <a:xfrm>
            <a:off x="965176" y="40386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Jusqu’à la date limite, si la procédure l’autorise. Avant l’échéance, la PRMP ne connaît que le </a:t>
            </a:r>
            <a:pPr indent="0" marL="0">
              <a:buNone/>
            </a:pPr>
            <a:r>
              <a:rPr lang="en-US" sz="1300" b="1" dirty="0">
                <a:solidFill>
                  <a:srgbClr val="465568"/>
                </a:solidFill>
                <a:latin typeface="Segoe UI" pitchFamily="34" charset="0"/>
                <a:ea typeface="Segoe UI" pitchFamily="34" charset="-122"/>
                <a:cs typeface="Segoe UI" pitchFamily="34" charset="-120"/>
              </a:rPr>
              <a:t>nombre</a:t>
            </a:r>
            <a:pPr indent="0" marL="0">
              <a:buNone/>
            </a:pPr>
            <a:r>
              <a:rPr lang="en-US" sz="1300" dirty="0">
                <a:solidFill>
                  <a:srgbClr val="465568"/>
                </a:solidFill>
                <a:latin typeface="Segoe UI" pitchFamily="34" charset="0"/>
                <a:ea typeface="Segoe UI" pitchFamily="34" charset="-122"/>
                <a:cs typeface="Segoe UI" pitchFamily="34" charset="-120"/>
              </a:rPr>
              <a:t> d’offres.</a:t>
            </a:r>
            <a:endParaRPr lang="en-US" sz="1300" dirty="0"/>
          </a:p>
        </p:txBody>
      </p:sp>
      <p:sp>
        <p:nvSpPr>
          <p:cNvPr id="16" name="Shape 14"/>
          <p:cNvSpPr/>
          <p:nvPr/>
        </p:nvSpPr>
        <p:spPr>
          <a:xfrm>
            <a:off x="6184745" y="3543300"/>
            <a:ext cx="5194170" cy="1905000"/>
          </a:xfrm>
          <a:prstGeom prst="rect">
            <a:avLst/>
          </a:prstGeom>
          <a:solidFill>
            <a:srgbClr val="FCFCFA"/>
          </a:solidFill>
          <a:ln w="9525">
            <a:solidFill>
              <a:srgbClr val="D5DCE4"/>
            </a:solidFill>
            <a:prstDash val="solid"/>
          </a:ln>
        </p:spPr>
      </p:sp>
      <p:sp>
        <p:nvSpPr>
          <p:cNvPr id="17" name="Shape 15"/>
          <p:cNvSpPr/>
          <p:nvPr/>
        </p:nvSpPr>
        <p:spPr>
          <a:xfrm>
            <a:off x="6184745" y="3543300"/>
            <a:ext cx="5194170" cy="38100"/>
          </a:xfrm>
          <a:prstGeom prst="rect">
            <a:avLst/>
          </a:prstGeom>
          <a:solidFill>
            <a:srgbClr val="E3AE2E"/>
          </a:solidFill>
          <a:ln/>
        </p:spPr>
      </p:sp>
      <p:sp>
        <p:nvSpPr>
          <p:cNvPr id="18" name="Text 16"/>
          <p:cNvSpPr/>
          <p:nvPr/>
        </p:nvSpPr>
        <p:spPr>
          <a:xfrm>
            <a:off x="6337142" y="36830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Entreprises exclues</a:t>
            </a:r>
            <a:endParaRPr lang="en-US" sz="1600" dirty="0"/>
          </a:p>
        </p:txBody>
      </p:sp>
      <p:sp>
        <p:nvSpPr>
          <p:cNvPr id="19" name="Text 17"/>
          <p:cNvSpPr/>
          <p:nvPr/>
        </p:nvSpPr>
        <p:spPr>
          <a:xfrm>
            <a:off x="6337142" y="40386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Une entreprise exclue par l’ARMP est signalée et </a:t>
            </a:r>
            <a:pPr indent="0" marL="0">
              <a:buNone/>
            </a:pPr>
            <a:r>
              <a:rPr lang="en-US" sz="1300" b="1" dirty="0">
                <a:solidFill>
                  <a:srgbClr val="465568"/>
                </a:solidFill>
                <a:latin typeface="Segoe UI" pitchFamily="34" charset="0"/>
                <a:ea typeface="Segoe UI" pitchFamily="34" charset="-122"/>
                <a:cs typeface="Segoe UI" pitchFamily="34" charset="-120"/>
              </a:rPr>
              <a:t>ne peut pas déposer</a:t>
            </a:r>
            <a:pPr indent="0" marL="0">
              <a:buNone/>
            </a:pPr>
            <a:r>
              <a:rPr lang="en-US" sz="1300" dirty="0">
                <a:solidFill>
                  <a:srgbClr val="465568"/>
                </a:solidFill>
                <a:latin typeface="Segoe UI" pitchFamily="34" charset="0"/>
                <a:ea typeface="Segoe UI" pitchFamily="34" charset="-122"/>
                <a:cs typeface="Segoe UI" pitchFamily="34" charset="-120"/>
              </a:rPr>
              <a:t> ; les ressemblances entre comptes deviennent des alertes pour la commission.</a:t>
            </a:r>
            <a:endParaRPr lang="en-US" sz="1300" dirty="0"/>
          </a:p>
        </p:txBody>
      </p:sp>
      <p:sp>
        <p:nvSpPr>
          <p:cNvPr id="20" name="Text 18"/>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3"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SOUMISSION ÉLECTRONIQUE</a:t>
            </a:r>
            <a:endParaRPr lang="en-US" sz="1200" dirty="0"/>
          </a:p>
        </p:txBody>
      </p:sp>
      <p:sp>
        <p:nvSpPr>
          <p:cNvPr id="4"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La séance d’ouverture des plis</a:t>
            </a:r>
            <a:endParaRPr lang="en-US" sz="2800" dirty="0"/>
          </a:p>
        </p:txBody>
      </p:sp>
      <p:sp>
        <p:nvSpPr>
          <p:cNvPr id="5"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Ouverte à l’heure, pas avant ; le président de la CAO préside.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Chaque membre apporte ses parts : le quorum se remplit en direct.</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Au quorum, </a:t>
            </a:r>
            <a:pPr indent="0" marL="0">
              <a:buNone/>
            </a:pPr>
            <a:r>
              <a:rPr lang="en-US" sz="1300" b="1" dirty="0">
                <a:solidFill>
                  <a:srgbClr val="465568"/>
                </a:solidFill>
                <a:latin typeface="Segoe UI" pitchFamily="34" charset="0"/>
                <a:ea typeface="Segoe UI" pitchFamily="34" charset="-122"/>
                <a:cs typeface="Segoe UI" pitchFamily="34" charset="-120"/>
              </a:rPr>
              <a:t>toutes les offres s’ouvrent ensemble</a:t>
            </a:r>
            <a:pPr indent="0" marL="0">
              <a:buNone/>
            </a:pPr>
            <a:r>
              <a:rPr lang="en-US" sz="1300" dirty="0">
                <a:solidFill>
                  <a:srgbClr val="465568"/>
                </a:solidFill>
                <a:latin typeface="Segoe UI" pitchFamily="34" charset="0"/>
                <a:ea typeface="Segoe UI" pitchFamily="34" charset="-122"/>
                <a:cs typeface="Segoe UI" pitchFamily="34" charset="-120"/>
              </a:rPr>
              <a:t>, empreintes vérifiées.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Lecture offre par offre ; le </a:t>
            </a:r>
            <a:pPr indent="0" marL="0">
              <a:buNone/>
            </a:pPr>
            <a:r>
              <a:rPr lang="en-US" sz="1300" b="1" dirty="0">
                <a:solidFill>
                  <a:srgbClr val="465568"/>
                </a:solidFill>
                <a:latin typeface="Segoe UI" pitchFamily="34" charset="0"/>
                <a:ea typeface="Segoe UI" pitchFamily="34" charset="-122"/>
                <a:cs typeface="Segoe UI" pitchFamily="34" charset="-120"/>
              </a:rPr>
              <a:t>PV d’ouverture</a:t>
            </a:r>
            <a:pPr indent="0" marL="0">
              <a:buNone/>
            </a:pPr>
            <a:r>
              <a:rPr lang="en-US" sz="1300" dirty="0">
                <a:solidFill>
                  <a:srgbClr val="465568"/>
                </a:solidFill>
                <a:latin typeface="Segoe UI" pitchFamily="34" charset="0"/>
                <a:ea typeface="Segoe UI" pitchFamily="34" charset="-122"/>
                <a:cs typeface="Segoe UI" pitchFamily="34" charset="-120"/>
              </a:rPr>
              <a:t> est signé en ligne par les membres présents.</a:t>
            </a:r>
            <a:endParaRPr lang="en-US" sz="1300" dirty="0"/>
          </a:p>
        </p:txBody>
      </p:sp>
      <p:sp>
        <p:nvSpPr>
          <p:cNvPr id="6"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7" name="Image 0" descr="Séance d’ouverture des plis côté responsable">    </p:cNvPr>
          <p:cNvPicPr>
            <a:picLocks noChangeAspect="1"/>
          </p:cNvPicPr>
          <p:nvPr/>
        </p:nvPicPr>
        <p:blipFill>
          <a:blip r:embed="rId1"/>
          <a:stretch>
            <a:fillRect/>
          </a:stretch>
        </p:blipFill>
        <p:spPr>
          <a:xfrm>
            <a:off x="4482988" y="1549400"/>
            <a:ext cx="6807030" cy="382905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2539937"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6</a:t>
            </a:r>
            <a:endParaRPr lang="en-US" sz="8000" dirty="0"/>
          </a:p>
        </p:txBody>
      </p:sp>
      <p:sp>
        <p:nvSpPr>
          <p:cNvPr id="3" name="Text 1"/>
          <p:cNvSpPr/>
          <p:nvPr/>
        </p:nvSpPr>
        <p:spPr>
          <a:xfrm>
            <a:off x="812780" y="2667000"/>
            <a:ext cx="10159746" cy="698500"/>
          </a:xfrm>
          <a:prstGeom prst="rect">
            <a:avLst/>
          </a:prstGeom>
          <a:noFill/>
          <a:ln/>
        </p:spPr>
        <p:txBody>
          <a:bodyPr wrap="square" rtlCol="0" anchor="ctr"/>
          <a:lstStyle/>
          <a:p>
            <a:pPr indent="0" marL="0">
              <a:buNone/>
            </a:pPr>
            <a:r>
              <a:rPr lang="en-US" sz="4400" b="1" dirty="0">
                <a:solidFill>
                  <a:srgbClr val="FCFCFA"/>
                </a:solidFill>
                <a:latin typeface="Segoe UI" pitchFamily="34" charset="0"/>
                <a:ea typeface="Segoe UI" pitchFamily="34" charset="-122"/>
                <a:cs typeface="Segoe UI" pitchFamily="34" charset="-120"/>
              </a:rPr>
              <a:t>Administration et suites</a:t>
            </a:r>
            <a:endParaRPr lang="en-US" sz="4400" dirty="0"/>
          </a:p>
        </p:txBody>
      </p:sp>
      <p:sp>
        <p:nvSpPr>
          <p:cNvPr id="4" name="Text 2"/>
          <p:cNvSpPr/>
          <p:nvPr/>
        </p:nvSpPr>
        <p:spPr>
          <a:xfrm>
            <a:off x="812780" y="3556000"/>
            <a:ext cx="8254794" cy="889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Le poste d’administration, la sécurité, et ce qui reste à décider.</a:t>
            </a:r>
            <a:endParaRPr lang="en-US" sz="1700" dirty="0"/>
          </a:p>
        </p:txBody>
      </p:sp>
      <p:sp>
        <p:nvSpPr>
          <p:cNvPr id="5"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Présentation de l'application · 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a:t>
            </a:r>
            <a:endParaRPr lang="en-US" sz="1200" dirty="0"/>
          </a:p>
        </p:txBody>
      </p:sp>
      <p:sp>
        <p:nvSpPr>
          <p:cNvPr id="3"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Le poste d’administration</a:t>
            </a:r>
            <a:endParaRPr lang="en-US" sz="2800" dirty="0"/>
          </a:p>
        </p:txBody>
      </p:sp>
      <p:sp>
        <p:nvSpPr>
          <p:cNvPr id="4" name="Text 2"/>
          <p:cNvSpPr/>
          <p:nvPr/>
        </p:nvSpPr>
        <p:spPr>
          <a:xfrm>
            <a:off x="812780" y="1460500"/>
            <a:ext cx="3301917" cy="4318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Ce qui attend : demandes d’accès, mandats à terme, connexions refusées.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Les règles du contrôle : chaînes, délais, points de contrôle, alertes.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Les nomenclatures, les paramètres, le répertoire des exclusions.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 journal des écritures et des connexions.</a:t>
            </a:r>
            <a:endParaRPr lang="en-US" sz="1300" dirty="0"/>
          </a:p>
        </p:txBody>
      </p:sp>
      <p:sp>
        <p:nvSpPr>
          <p:cNvPr id="5" name="Shape 3"/>
          <p:cNvSpPr/>
          <p:nvPr/>
        </p:nvSpPr>
        <p:spPr>
          <a:xfrm>
            <a:off x="4394090" y="1460500"/>
            <a:ext cx="6984825" cy="4006850"/>
          </a:xfrm>
          <a:prstGeom prst="roundRect">
            <a:avLst>
              <a:gd name="adj" fmla="val 1826"/>
            </a:avLst>
          </a:prstGeom>
          <a:solidFill>
            <a:srgbClr val="D5DCE4"/>
          </a:solidFill>
          <a:ln w="12700">
            <a:solidFill>
              <a:srgbClr val="D5DCE4"/>
            </a:solidFill>
            <a:prstDash val="solid"/>
          </a:ln>
        </p:spPr>
      </p:sp>
      <p:pic>
        <p:nvPicPr>
          <p:cNvPr id="6" name="Image 0" descr="Poste d’administration">    </p:cNvPr>
          <p:cNvPicPr>
            <a:picLocks noChangeAspect="1"/>
          </p:cNvPicPr>
          <p:nvPr/>
        </p:nvPicPr>
        <p:blipFill>
          <a:blip r:embed="rId1"/>
          <a:stretch>
            <a:fillRect/>
          </a:stretch>
        </p:blipFill>
        <p:spPr>
          <a:xfrm>
            <a:off x="4482988" y="1549400"/>
            <a:ext cx="6807030" cy="382905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a:t>
            </a:r>
            <a:endParaRPr lang="en-US" sz="1200" dirty="0"/>
          </a:p>
        </p:txBody>
      </p:sp>
      <p:sp>
        <p:nvSpPr>
          <p:cNvPr id="3"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La sécurité, en bref</a:t>
            </a:r>
            <a:endParaRPr lang="en-US" sz="2800" dirty="0"/>
          </a:p>
        </p:txBody>
      </p:sp>
      <p:sp>
        <p:nvSpPr>
          <p:cNvPr id="4" name="Shape 2"/>
          <p:cNvSpPr/>
          <p:nvPr/>
        </p:nvSpPr>
        <p:spPr>
          <a:xfrm>
            <a:off x="812780" y="1460500"/>
            <a:ext cx="5194170" cy="1905000"/>
          </a:xfrm>
          <a:prstGeom prst="rect">
            <a:avLst/>
          </a:prstGeom>
          <a:solidFill>
            <a:srgbClr val="FCFCFA"/>
          </a:solidFill>
          <a:ln w="9525">
            <a:solidFill>
              <a:srgbClr val="D5DCE4"/>
            </a:solidFill>
            <a:prstDash val="solid"/>
          </a:ln>
        </p:spPr>
      </p:sp>
      <p:sp>
        <p:nvSpPr>
          <p:cNvPr id="5" name="Shape 3"/>
          <p:cNvSpPr/>
          <p:nvPr/>
        </p:nvSpPr>
        <p:spPr>
          <a:xfrm>
            <a:off x="812780" y="1460500"/>
            <a:ext cx="5194170" cy="38100"/>
          </a:xfrm>
          <a:prstGeom prst="rect">
            <a:avLst/>
          </a:prstGeom>
          <a:solidFill>
            <a:srgbClr val="1B6FA8"/>
          </a:solidFill>
          <a:ln/>
        </p:spPr>
      </p:sp>
      <p:sp>
        <p:nvSpPr>
          <p:cNvPr id="6" name="Text 4"/>
          <p:cNvSpPr/>
          <p:nvPr/>
        </p:nvSpPr>
        <p:spPr>
          <a:xfrm>
            <a:off x="965176" y="16002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Session</a:t>
            </a:r>
            <a:endParaRPr lang="en-US" sz="1600" dirty="0"/>
          </a:p>
        </p:txBody>
      </p:sp>
      <p:sp>
        <p:nvSpPr>
          <p:cNvPr id="7" name="Text 5"/>
          <p:cNvSpPr/>
          <p:nvPr/>
        </p:nvSpPr>
        <p:spPr>
          <a:xfrm>
            <a:off x="965176" y="19558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Cookie sécurisé, protection contre la falsification des requêtes, aucun jeton dans le navigateur.</a:t>
            </a:r>
            <a:endParaRPr lang="en-US" sz="1300" dirty="0"/>
          </a:p>
        </p:txBody>
      </p:sp>
      <p:sp>
        <p:nvSpPr>
          <p:cNvPr id="8" name="Shape 6"/>
          <p:cNvSpPr/>
          <p:nvPr/>
        </p:nvSpPr>
        <p:spPr>
          <a:xfrm>
            <a:off x="6184745" y="1460500"/>
            <a:ext cx="5194170" cy="1905000"/>
          </a:xfrm>
          <a:prstGeom prst="rect">
            <a:avLst/>
          </a:prstGeom>
          <a:solidFill>
            <a:srgbClr val="FCFCFA"/>
          </a:solidFill>
          <a:ln w="9525">
            <a:solidFill>
              <a:srgbClr val="D5DCE4"/>
            </a:solidFill>
            <a:prstDash val="solid"/>
          </a:ln>
        </p:spPr>
      </p:sp>
      <p:sp>
        <p:nvSpPr>
          <p:cNvPr id="9" name="Shape 7"/>
          <p:cNvSpPr/>
          <p:nvPr/>
        </p:nvSpPr>
        <p:spPr>
          <a:xfrm>
            <a:off x="6184745" y="1460500"/>
            <a:ext cx="5194170" cy="38100"/>
          </a:xfrm>
          <a:prstGeom prst="rect">
            <a:avLst/>
          </a:prstGeom>
          <a:solidFill>
            <a:srgbClr val="1B6FA8"/>
          </a:solidFill>
          <a:ln/>
        </p:spPr>
      </p:sp>
      <p:sp>
        <p:nvSpPr>
          <p:cNvPr id="10" name="Text 8"/>
          <p:cNvSpPr/>
          <p:nvPr/>
        </p:nvSpPr>
        <p:spPr>
          <a:xfrm>
            <a:off x="6337142" y="16002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Fichiers</a:t>
            </a:r>
            <a:endParaRPr lang="en-US" sz="1600" dirty="0"/>
          </a:p>
        </p:txBody>
      </p:sp>
      <p:sp>
        <p:nvSpPr>
          <p:cNvPr id="11" name="Text 9"/>
          <p:cNvSpPr/>
          <p:nvPr/>
        </p:nvSpPr>
        <p:spPr>
          <a:xfrm>
            <a:off x="6337142" y="19558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Type et taille contrôlés au téléversement ; affichage dans un cadre qui n’exécute rien.</a:t>
            </a:r>
            <a:endParaRPr lang="en-US" sz="1300" dirty="0"/>
          </a:p>
        </p:txBody>
      </p:sp>
      <p:sp>
        <p:nvSpPr>
          <p:cNvPr id="12" name="Shape 10"/>
          <p:cNvSpPr/>
          <p:nvPr/>
        </p:nvSpPr>
        <p:spPr>
          <a:xfrm>
            <a:off x="812780" y="3543300"/>
            <a:ext cx="5194170" cy="1905000"/>
          </a:xfrm>
          <a:prstGeom prst="rect">
            <a:avLst/>
          </a:prstGeom>
          <a:solidFill>
            <a:srgbClr val="FCFCFA"/>
          </a:solidFill>
          <a:ln w="9525">
            <a:solidFill>
              <a:srgbClr val="D5DCE4"/>
            </a:solidFill>
            <a:prstDash val="solid"/>
          </a:ln>
        </p:spPr>
      </p:sp>
      <p:sp>
        <p:nvSpPr>
          <p:cNvPr id="13" name="Shape 11"/>
          <p:cNvSpPr/>
          <p:nvPr/>
        </p:nvSpPr>
        <p:spPr>
          <a:xfrm>
            <a:off x="812780" y="3543300"/>
            <a:ext cx="5194170" cy="38100"/>
          </a:xfrm>
          <a:prstGeom prst="rect">
            <a:avLst/>
          </a:prstGeom>
          <a:solidFill>
            <a:srgbClr val="E3AE2E"/>
          </a:solidFill>
          <a:ln/>
        </p:spPr>
      </p:sp>
      <p:sp>
        <p:nvSpPr>
          <p:cNvPr id="14" name="Text 12"/>
          <p:cNvSpPr/>
          <p:nvPr/>
        </p:nvSpPr>
        <p:spPr>
          <a:xfrm>
            <a:off x="965176" y="36830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Offres</a:t>
            </a:r>
            <a:endParaRPr lang="en-US" sz="1600" dirty="0"/>
          </a:p>
        </p:txBody>
      </p:sp>
      <p:sp>
        <p:nvSpPr>
          <p:cNvPr id="15" name="Text 13"/>
          <p:cNvSpPr/>
          <p:nvPr/>
        </p:nvSpPr>
        <p:spPr>
          <a:xfrm>
            <a:off x="965176" y="40386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Chiffrées sur le poste du candidat, ouvertes au quorum ; les sauvegardes ne contiennent que du chiffré.</a:t>
            </a:r>
            <a:endParaRPr lang="en-US" sz="1300" dirty="0"/>
          </a:p>
        </p:txBody>
      </p:sp>
      <p:sp>
        <p:nvSpPr>
          <p:cNvPr id="16" name="Shape 14"/>
          <p:cNvSpPr/>
          <p:nvPr/>
        </p:nvSpPr>
        <p:spPr>
          <a:xfrm>
            <a:off x="6184745" y="3543300"/>
            <a:ext cx="5194170" cy="1905000"/>
          </a:xfrm>
          <a:prstGeom prst="rect">
            <a:avLst/>
          </a:prstGeom>
          <a:solidFill>
            <a:srgbClr val="FCFCFA"/>
          </a:solidFill>
          <a:ln w="9525">
            <a:solidFill>
              <a:srgbClr val="D5DCE4"/>
            </a:solidFill>
            <a:prstDash val="solid"/>
          </a:ln>
        </p:spPr>
      </p:sp>
      <p:sp>
        <p:nvSpPr>
          <p:cNvPr id="17" name="Shape 15"/>
          <p:cNvSpPr/>
          <p:nvPr/>
        </p:nvSpPr>
        <p:spPr>
          <a:xfrm>
            <a:off x="6184745" y="3543300"/>
            <a:ext cx="5194170" cy="38100"/>
          </a:xfrm>
          <a:prstGeom prst="rect">
            <a:avLst/>
          </a:prstGeom>
          <a:solidFill>
            <a:srgbClr val="E3AE2E"/>
          </a:solidFill>
          <a:ln/>
        </p:spPr>
      </p:sp>
      <p:sp>
        <p:nvSpPr>
          <p:cNvPr id="18" name="Text 16"/>
          <p:cNvSpPr/>
          <p:nvPr/>
        </p:nvSpPr>
        <p:spPr>
          <a:xfrm>
            <a:off x="6337142" y="3683000"/>
            <a:ext cx="4889378" cy="317500"/>
          </a:xfrm>
          <a:prstGeom prst="rect">
            <a:avLst/>
          </a:prstGeom>
          <a:noFill/>
          <a:ln/>
        </p:spPr>
        <p:txBody>
          <a:bodyPr wrap="square" rtlCol="0" anchor="t"/>
          <a:lstStyle/>
          <a:p>
            <a:pPr indent="0" marL="0">
              <a:buNone/>
            </a:pPr>
            <a:r>
              <a:rPr lang="en-US" sz="1600" b="1" dirty="0">
                <a:solidFill>
                  <a:srgbClr val="1B2A3A"/>
                </a:solidFill>
                <a:latin typeface="Segoe UI" pitchFamily="34" charset="0"/>
                <a:ea typeface="Segoe UI" pitchFamily="34" charset="-122"/>
                <a:cs typeface="Segoe UI" pitchFamily="34" charset="-120"/>
              </a:rPr>
              <a:t>Accessibilité</a:t>
            </a:r>
            <a:endParaRPr lang="en-US" sz="1600" dirty="0"/>
          </a:p>
        </p:txBody>
      </p:sp>
      <p:sp>
        <p:nvSpPr>
          <p:cNvPr id="19" name="Text 17"/>
          <p:cNvSpPr/>
          <p:nvPr/>
        </p:nvSpPr>
        <p:spPr>
          <a:xfrm>
            <a:off x="6337142" y="4038600"/>
            <a:ext cx="4889378" cy="12954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Navigation au clavier, fenêtres qui se ferment par leur bouton ou Échap, contrastes vérifiés.</a:t>
            </a:r>
            <a:endParaRPr lang="en-US" sz="1300" dirty="0"/>
          </a:p>
        </p:txBody>
      </p:sp>
      <p:sp>
        <p:nvSpPr>
          <p:cNvPr id="20" name="Text 18"/>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SUITES</a:t>
            </a:r>
            <a:endParaRPr lang="en-US" sz="1200" dirty="0"/>
          </a:p>
        </p:txBody>
      </p:sp>
      <p:sp>
        <p:nvSpPr>
          <p:cNvPr id="3" name="Text 1"/>
          <p:cNvSpPr/>
          <p:nvPr/>
        </p:nvSpPr>
        <p:spPr>
          <a:xfrm>
            <a:off x="812780" y="774700"/>
            <a:ext cx="10566136" cy="457200"/>
          </a:xfrm>
          <a:prstGeom prst="rect">
            <a:avLst/>
          </a:prstGeom>
          <a:noFill/>
          <a:ln/>
        </p:spPr>
        <p:txBody>
          <a:bodyPr wrap="square" rtlCol="0" anchor="ctr"/>
          <a:lstStyle/>
          <a:p>
            <a:pPr indent="0" marL="0">
              <a:buNone/>
            </a:pPr>
            <a:r>
              <a:rPr lang="en-US" sz="2800" b="1" dirty="0">
                <a:solidFill>
                  <a:srgbClr val="1B2A3A"/>
                </a:solidFill>
                <a:latin typeface="Segoe UI" pitchFamily="34" charset="0"/>
                <a:ea typeface="Segoe UI" pitchFamily="34" charset="-122"/>
                <a:cs typeface="Segoe UI" pitchFamily="34" charset="-120"/>
              </a:rPr>
              <a:t>Décisions du 4 octobre et points ouverts</a:t>
            </a:r>
            <a:endParaRPr lang="en-US" sz="2800" dirty="0"/>
          </a:p>
        </p:txBody>
      </p:sp>
      <p:sp>
        <p:nvSpPr>
          <p:cNvPr id="4" name="Text 2"/>
          <p:cNvSpPr/>
          <p:nvPr/>
        </p:nvSpPr>
        <p:spPr>
          <a:xfrm>
            <a:off x="812780" y="1270000"/>
            <a:ext cx="10159746" cy="508000"/>
          </a:xfrm>
          <a:prstGeom prst="rect">
            <a:avLst/>
          </a:prstGeom>
          <a:noFill/>
          <a:ln/>
        </p:spPr>
        <p:txBody>
          <a:bodyPr wrap="square" rtlCol="0" anchor="t"/>
          <a:lstStyle/>
          <a:p>
            <a:pPr indent="0" marL="0">
              <a:buNone/>
            </a:pPr>
            <a:r>
              <a:rPr lang="en-US" sz="1400" dirty="0">
                <a:solidFill>
                  <a:srgbClr val="465568"/>
                </a:solidFill>
                <a:latin typeface="Segoe UI" pitchFamily="34" charset="0"/>
                <a:ea typeface="Segoe UI" pitchFamily="34" charset="-122"/>
                <a:cs typeface="Segoe UI" pitchFamily="34" charset="-120"/>
              </a:rPr>
              <a:t>Le pilote a tranché le 4 octobre au soir ; l’application applique ses décisions.</a:t>
            </a:r>
            <a:endParaRPr lang="en-US" sz="1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812780" y="1905000"/>
          <a:ext cx="10566136" cy="914400"/>
        </p:xfrm>
        <a:graphic>
          <a:graphicData uri="http://schemas.openxmlformats.org/drawingml/2006/table">
            <a:tbl>
              <a:tblPr/>
              <a:tblGrid>
                <a:gridCol w="3592486"/>
                <a:gridCol w="4860422"/>
                <a:gridCol w="2113227"/>
              </a:tblGrid>
              <a:tr h="0">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Point</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Décision ou choix provisoire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Statut</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Lecteurs des pièces des offres</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Les membres de la CAO seulement</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Décidé</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Signature et publication du PV d’ouverture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Signé en ligne par les présents ; extrait publié à la dernière signature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Décidé</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Garantie de soumission</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Montant et émetteur lus en séance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Décidé</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Saisie de la CAO</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PRMP et UGPM</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Décidé</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Conservation des offres</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Durée fixée par l’Administrateur ; purge sur geste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Décidé</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Dépositaire de la part de secours</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Libre, par procédure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Décidé</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Signature des offres</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Simple pour l’instant</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Décidé</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Clause juridique de la remise électronique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Emplacement réservé dans les documents</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Ouvert — juriste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1F4"/>
                    </a:solidFill>
                  </a:tcPr>
                </a:tc>
              </a:tr>
              <a:tr h="0">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SMS, NIF par la DGI, formulaires détaillés</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Plus tard</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Ouvert — pilote</a:t>
                      </a:r>
                      <a:endParaRPr lang="en-US" sz="1200" dirty="0">
                        <a:latin typeface="Segoe UI" charset="0"/>
                        <a:ea typeface="Segoe UI" charset="0"/>
                        <a:cs typeface="Segoe UI" charset="0"/>
                      </a:endParaRPr>
                    </a:p>
                  </a:txBody>
                  <a:tcPr marL="73152" marR="73152"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Présentation de l'application · 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2095500"/>
            <a:ext cx="8889778" cy="762000"/>
          </a:xfrm>
          <a:prstGeom prst="rect">
            <a:avLst/>
          </a:prstGeom>
          <a:noFill/>
          <a:ln/>
        </p:spPr>
        <p:txBody>
          <a:bodyPr wrap="square" rtlCol="0" anchor="ctr"/>
          <a:lstStyle/>
          <a:p>
            <a:pPr indent="0" marL="0">
              <a:buNone/>
            </a:pPr>
            <a:r>
              <a:rPr lang="en-US" sz="4800" b="1" dirty="0">
                <a:solidFill>
                  <a:srgbClr val="FCFCFA"/>
                </a:solidFill>
                <a:latin typeface="Segoe UI" pitchFamily="34" charset="0"/>
                <a:ea typeface="Segoe UI" pitchFamily="34" charset="-122"/>
                <a:cs typeface="Segoe UI" pitchFamily="34" charset="-120"/>
              </a:rPr>
              <a:t>Merci.</a:t>
            </a:r>
            <a:endParaRPr lang="en-US" sz="4800" dirty="0"/>
          </a:p>
        </p:txBody>
      </p:sp>
      <p:sp>
        <p:nvSpPr>
          <p:cNvPr id="4" name="Text 2"/>
          <p:cNvSpPr/>
          <p:nvPr/>
        </p:nvSpPr>
        <p:spPr>
          <a:xfrm>
            <a:off x="812780" y="2984500"/>
            <a:ext cx="8889778" cy="698500"/>
          </a:xfrm>
          <a:prstGeom prst="rect">
            <a:avLst/>
          </a:prstGeom>
          <a:noFill/>
          <a:ln/>
        </p:spPr>
        <p:txBody>
          <a:bodyPr wrap="square" rtlCol="0" anchor="ctr"/>
          <a:lstStyle/>
          <a:p>
            <a:pPr indent="0" marL="0">
              <a:buNone/>
            </a:pPr>
            <a:r>
              <a:rPr lang="en-US" sz="2000" dirty="0">
                <a:solidFill>
                  <a:srgbClr val="C9D6E2"/>
                </a:solidFill>
                <a:latin typeface="Segoe UI" pitchFamily="34" charset="0"/>
                <a:ea typeface="Segoe UI" pitchFamily="34" charset="-122"/>
                <a:cs typeface="Segoe UI" pitchFamily="34" charset="-120"/>
              </a:rPr>
              <a:t>Questions, démonstration en direct, ou parcours d’un dossier de bout en bout.</a:t>
            </a:r>
            <a:endParaRPr lang="en-US" sz="2000" dirty="0"/>
          </a:p>
        </p:txBody>
      </p:sp>
      <p:sp>
        <p:nvSpPr>
          <p:cNvPr id="5" name="Text 3"/>
          <p:cNvSpPr/>
          <p:nvPr/>
        </p:nvSpPr>
        <p:spPr>
          <a:xfrm>
            <a:off x="812780" y="3810000"/>
            <a:ext cx="8889778" cy="317500"/>
          </a:xfrm>
          <a:prstGeom prst="rect">
            <a:avLst/>
          </a:prstGeom>
          <a:noFill/>
          <a:ln/>
        </p:spPr>
        <p:txBody>
          <a:bodyPr wrap="square" rtlCol="0" anchor="ctr"/>
          <a:lstStyle/>
          <a:p>
            <a:pPr indent="0" marL="0">
              <a:buNone/>
            </a:pPr>
            <a:r>
              <a:rPr lang="en-US" sz="1400" dirty="0">
                <a:solidFill>
                  <a:srgbClr val="E3AE2E"/>
                </a:solidFill>
                <a:latin typeface="Segoe UI" pitchFamily="34" charset="0"/>
                <a:ea typeface="Segoe UI" pitchFamily="34" charset="-122"/>
                <a:cs typeface="Segoe UI" pitchFamily="34" charset="-120"/>
              </a:rPr>
              <a:t>PRS 2.0 · Commission nationale des marchés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Présentation de l’application</dc:title>
  <dc:subject>PptxGenJS Presentation</dc:subject>
  <dc:creator>PRS 2.0</dc:creator>
  <cp:lastModifiedBy>PRS 2.0</cp:lastModifiedBy>
  <cp:revision>1</cp:revision>
  <dcterms:created xsi:type="dcterms:W3CDTF">2026-10-05T04:56:38Z</dcterms:created>
  <dcterms:modified xsi:type="dcterms:W3CDTF">2026-10-05T04:56:38Z</dcterms:modified>
</cp:coreProperties>
</file>