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le Secrétaire</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Reçoit les dossiers et contrôle leur recevabilité pièce par pièce.</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13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le Secrétaire agit ou lit, rangés par étape de la chaîne ; chacun est présenté ensuite.</a:t>
            </a:r>
            <a:endParaRPr lang="en-US" sz="1300" dirty="0"/>
          </a:p>
        </p:txBody>
      </p:sp>
      <p:sp>
        <p:nvSpPr>
          <p:cNvPr id="5" name="Shape 3"/>
          <p:cNvSpPr/>
          <p:nvPr/>
        </p:nvSpPr>
        <p:spPr>
          <a:xfrm>
            <a:off x="812780" y="1651000"/>
            <a:ext cx="3420448" cy="2159000"/>
          </a:xfrm>
          <a:prstGeom prst="rect">
            <a:avLst/>
          </a:prstGeom>
          <a:solidFill>
            <a:srgbClr val="FCFCFA"/>
          </a:solidFill>
          <a:ln w="9525">
            <a:solidFill>
              <a:srgbClr val="D5DCE4"/>
            </a:solidFill>
            <a:prstDash val="solid"/>
          </a:ln>
        </p:spPr>
      </p:sp>
      <p:sp>
        <p:nvSpPr>
          <p:cNvPr id="6" name="Shape 4"/>
          <p:cNvSpPr/>
          <p:nvPr/>
        </p:nvSpPr>
        <p:spPr>
          <a:xfrm>
            <a:off x="812780" y="1651000"/>
            <a:ext cx="3420448" cy="38100"/>
          </a:xfrm>
          <a:prstGeom prst="rect">
            <a:avLst/>
          </a:prstGeom>
          <a:solidFill>
            <a:srgbClr val="1B6FA8"/>
          </a:solidFill>
          <a:ln/>
        </p:spPr>
      </p:sp>
      <p:sp>
        <p:nvSpPr>
          <p:cNvPr id="7" name="Text 5"/>
          <p:cNvSpPr/>
          <p:nvPr/>
        </p:nvSpPr>
        <p:spPr>
          <a:xfrm>
            <a:off x="952476"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portail public : la Commission · La connexion · Changer son mot de passe · Une actualité à l’ouverture · L’accueil « À faire » du Secrétaire · L’écran des notifications · La cloche</a:t>
            </a:r>
            <a:endParaRPr lang="en-US" sz="1200" dirty="0"/>
          </a:p>
        </p:txBody>
      </p:sp>
      <p:sp>
        <p:nvSpPr>
          <p:cNvPr id="9" name="Shape 7"/>
          <p:cNvSpPr/>
          <p:nvPr/>
        </p:nvSpPr>
        <p:spPr>
          <a:xfrm>
            <a:off x="4385624" y="1651000"/>
            <a:ext cx="3420448" cy="2159000"/>
          </a:xfrm>
          <a:prstGeom prst="rect">
            <a:avLst/>
          </a:prstGeom>
          <a:solidFill>
            <a:srgbClr val="FCFCFA"/>
          </a:solidFill>
          <a:ln w="9525">
            <a:solidFill>
              <a:srgbClr val="D5DCE4"/>
            </a:solidFill>
            <a:prstDash val="solid"/>
          </a:ln>
        </p:spPr>
      </p:sp>
      <p:sp>
        <p:nvSpPr>
          <p:cNvPr id="10" name="Shape 8"/>
          <p:cNvSpPr/>
          <p:nvPr/>
        </p:nvSpPr>
        <p:spPr>
          <a:xfrm>
            <a:off x="4385624" y="1651000"/>
            <a:ext cx="3420448" cy="38100"/>
          </a:xfrm>
          <a:prstGeom prst="rect">
            <a:avLst/>
          </a:prstGeom>
          <a:solidFill>
            <a:srgbClr val="2E8B57"/>
          </a:solidFill>
          <a:ln/>
        </p:spPr>
      </p:sp>
      <p:sp>
        <p:nvSpPr>
          <p:cNvPr id="11" name="Text 9"/>
          <p:cNvSpPr/>
          <p:nvPr/>
        </p:nvSpPr>
        <p:spPr>
          <a:xfrm>
            <a:off x="4525320"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03 · Contrôler</a:t>
            </a:r>
            <a:endParaRPr lang="en-US" sz="1500" dirty="0"/>
          </a:p>
        </p:txBody>
      </p:sp>
      <p:sp>
        <p:nvSpPr>
          <p:cNvPr id="12" name="Text 10"/>
          <p:cNvSpPr/>
          <p:nvPr/>
        </p:nvSpPr>
        <p:spPr>
          <a:xfrm>
            <a:off x="4525320"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Tous les dossiers, vus du Secrétaire · Le dépôt arrive chez le Secrétaire · Recevabilité et réception · Les écrans figés à la soumission</a:t>
            </a:r>
            <a:endParaRPr lang="en-US" sz="1200" dirty="0"/>
          </a:p>
        </p:txBody>
      </p:sp>
      <p:sp>
        <p:nvSpPr>
          <p:cNvPr id="13" name="Shape 11"/>
          <p:cNvSpPr/>
          <p:nvPr/>
        </p:nvSpPr>
        <p:spPr>
          <a:xfrm>
            <a:off x="7958468" y="1651000"/>
            <a:ext cx="3420448" cy="2159000"/>
          </a:xfrm>
          <a:prstGeom prst="rect">
            <a:avLst/>
          </a:prstGeom>
          <a:solidFill>
            <a:srgbClr val="FCFCFA"/>
          </a:solidFill>
          <a:ln w="9525">
            <a:solidFill>
              <a:srgbClr val="D5DCE4"/>
            </a:solidFill>
            <a:prstDash val="solid"/>
          </a:ln>
        </p:spPr>
      </p:sp>
      <p:sp>
        <p:nvSpPr>
          <p:cNvPr id="14" name="Shape 12"/>
          <p:cNvSpPr/>
          <p:nvPr/>
        </p:nvSpPr>
        <p:spPr>
          <a:xfrm>
            <a:off x="7958468" y="1651000"/>
            <a:ext cx="3420448" cy="38100"/>
          </a:xfrm>
          <a:prstGeom prst="rect">
            <a:avLst/>
          </a:prstGeom>
          <a:solidFill>
            <a:srgbClr val="E3AE2E"/>
          </a:solidFill>
          <a:ln/>
        </p:spPr>
      </p:sp>
      <p:sp>
        <p:nvSpPr>
          <p:cNvPr id="15" name="Text 13"/>
          <p:cNvSpPr/>
          <p:nvPr/>
        </p:nvSpPr>
        <p:spPr>
          <a:xfrm>
            <a:off x="8098164" y="17526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16" name="Text 14"/>
          <p:cNvSpPr/>
          <p:nvPr/>
        </p:nvSpPr>
        <p:spPr>
          <a:xfrm>
            <a:off x="8098164" y="20383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L’étape close</a:t>
            </a:r>
            <a:endParaRPr lang="en-US" sz="1200" dirty="0"/>
          </a:p>
        </p:txBody>
      </p:sp>
      <p:sp>
        <p:nvSpPr>
          <p:cNvPr id="17" name="Shape 15"/>
          <p:cNvSpPr/>
          <p:nvPr/>
        </p:nvSpPr>
        <p:spPr>
          <a:xfrm>
            <a:off x="812780" y="3962400"/>
            <a:ext cx="3420448" cy="2159000"/>
          </a:xfrm>
          <a:prstGeom prst="rect">
            <a:avLst/>
          </a:prstGeom>
          <a:solidFill>
            <a:srgbClr val="FCFCFA"/>
          </a:solidFill>
          <a:ln w="9525">
            <a:solidFill>
              <a:srgbClr val="D5DCE4"/>
            </a:solidFill>
            <a:prstDash val="solid"/>
          </a:ln>
        </p:spPr>
      </p:sp>
      <p:sp>
        <p:nvSpPr>
          <p:cNvPr id="18" name="Shape 16"/>
          <p:cNvSpPr/>
          <p:nvPr/>
        </p:nvSpPr>
        <p:spPr>
          <a:xfrm>
            <a:off x="812780" y="3962400"/>
            <a:ext cx="3420448" cy="38100"/>
          </a:xfrm>
          <a:prstGeom prst="rect">
            <a:avLst/>
          </a:prstGeom>
          <a:solidFill>
            <a:srgbClr val="12324A"/>
          </a:solidFill>
          <a:ln/>
        </p:spPr>
      </p:sp>
      <p:sp>
        <p:nvSpPr>
          <p:cNvPr id="19" name="Text 17"/>
          <p:cNvSpPr/>
          <p:nvPr/>
        </p:nvSpPr>
        <p:spPr>
          <a:xfrm>
            <a:off x="952476" y="40640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20" name="Text 18"/>
          <p:cNvSpPr/>
          <p:nvPr/>
        </p:nvSpPr>
        <p:spPr>
          <a:xfrm>
            <a:off x="952476" y="43497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résultat public de la procédure</a:t>
            </a:r>
            <a:endParaRPr lang="en-US" sz="1200" dirty="0"/>
          </a:p>
        </p:txBody>
      </p:sp>
      <p:sp>
        <p:nvSpPr>
          <p:cNvPr id="21" name="Text 19"/>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avant connexion.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travail du jour, sans rien chercher » : l’accueil « À faire » et la page guidée de chaque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en trois temps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recevoir et dispatcher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examiner et viser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et clore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Dix profils, une page par dossier pour tous, et deux personnes distinctes pour signer chaque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du Secrétaire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u Secré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dépôts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à réceptionner et numéroter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leur délai standard de huit heures.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un dépôt en retard de dix-huit heures : la barre rouge et l’échéance le disent.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geste « Numéroter le dépôt » s’ouvre depuis le panneau du dossier.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03</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circuit de contrôle d’un dossier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Tous les dossiers, vus du Secrétaire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Tous les dossiers, vus du Secré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de son périmètre, chacun avec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sept étapes et la date de chaque étape franchie.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vue en frise ou en tableau ; le statut du dossier à côté de sa référence.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dépôt arrive chez le Secrétaire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pôt arrive chez le Secré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Étape 1 sur 7 · à vous » : le dépôt, sa date et son heure, le nombre de pièces jointes.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délai de l’étape est affiché ;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retard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s’affiche en rouge (ici, 18 h).</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un avenant n° 1, rattaché à son marché : la page renvoie au dossier du marché et donne le montant.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Recevabilité et réception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Recevabilité et récep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Secrétaire.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contrôle de complétude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pièce par pièce : ouvrir, déclarer conforme ou non conforme, motiver.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exigées sont celles du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type de dossier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les quatre pièces obligatoires d’un avenant.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Tant qu’une pièce obligatoire n’est pas déclarée conforme, l’enregistrement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bloqué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les pièces en cause sont nommées.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écrans figés à la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écrans figés à la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de la Commission, en lecture seule ; 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chaque soumission,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écrans de la procédure tels qu’ils étaient : ici la ligne du plan, les avis et lettres, la commission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écran figé porte le numéro de la soumission, sa date, son auteur et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atteste qu’il n’a pas changé.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les lit à la place des pièces qui ne sont plus jointes, et peut les exporter en PDF pour l’archivage avec le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le Secrétaire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26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(1/6)</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Président voit tout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n’est rattaché à aucune localité : il voit </a:t>
                      </a:r>
                      <a:pPr indent="0" marL="0">
                        <a:buNone/>
                      </a:pPr>
                      <a:r>
                        <a:rPr lang="en-US" sz="1100" b="1" dirty="0">
                          <a:solidFill>
                            <a:srgbClr val="1B2A3A"/>
                          </a:solidFill>
                          <a:latin typeface="Segoe UI" pitchFamily="34" charset="0"/>
                          <a:ea typeface="Segoe UI" pitchFamily="34" charset="-122"/>
                          <a:cs typeface="Segoe UI" pitchFamily="34" charset="-120"/>
                        </a:rPr>
                        <a:t>toutes les localités</a:t>
                      </a:r>
                      <a:pPr indent="0" marL="0">
                        <a:buNone/>
                      </a:pPr>
                      <a:r>
                        <a:rPr lang="en-US" sz="1100" dirty="0">
                          <a:solidFill>
                            <a:srgbClr val="1B2A3A"/>
                          </a:solidFill>
                          <a:latin typeface="Segoe UI" pitchFamily="34" charset="0"/>
                          <a:ea typeface="Segoe UI" pitchFamily="34" charset="-122"/>
                          <a:cs typeface="Segoe UI" pitchFamily="34" charset="-120"/>
                        </a:rPr>
                        <a:t> et peut exercer les tâches du Secrétaire, du Membre et du Vérificateur.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contrôleurs bornés à leur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Chef de commission voit </a:t>
                      </a:r>
                      <a:pPr indent="0" marL="0">
                        <a:buNone/>
                      </a:pPr>
                      <a:r>
                        <a:rPr lang="en-US" sz="1100" b="1" dirty="0">
                          <a:solidFill>
                            <a:srgbClr val="1B2A3A"/>
                          </a:solidFill>
                          <a:latin typeface="Segoe UI" pitchFamily="34" charset="0"/>
                          <a:ea typeface="Segoe UI" pitchFamily="34" charset="-122"/>
                          <a:cs typeface="Segoe UI" pitchFamily="34" charset="-120"/>
                        </a:rPr>
                        <a:t>uniquement sa localité</a:t>
                      </a:r>
                      <a:pPr indent="0" marL="0">
                        <a:buNone/>
                      </a:pPr>
                      <a:r>
                        <a:rPr lang="en-US" sz="1100" dirty="0">
                          <a:solidFill>
                            <a:srgbClr val="1B2A3A"/>
                          </a:solidFill>
                          <a:latin typeface="Segoe UI" pitchFamily="34" charset="0"/>
                          <a:ea typeface="Segoe UI" pitchFamily="34" charset="-122"/>
                          <a:cs typeface="Segoe UI" pitchFamily="34" charset="-120"/>
                        </a:rPr>
                        <a:t>, avec son Secrétaire et ses Membres ; il peut exercer leurs tâches et celles du Vérificateur. Secrétaire, Membre, Vérificateur et Assistant relèvent de la même localité.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entrée publique par public</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portail public a </a:t>
                      </a:r>
                      <a:pPr indent="0" marL="0">
                        <a:buNone/>
                      </a:pPr>
                      <a:r>
                        <a:rPr lang="en-US" sz="1100" b="1" dirty="0">
                          <a:solidFill>
                            <a:srgbClr val="1B2A3A"/>
                          </a:solidFill>
                          <a:latin typeface="Segoe UI" pitchFamily="34" charset="0"/>
                          <a:ea typeface="Segoe UI" pitchFamily="34" charset="-122"/>
                          <a:cs typeface="Segoe UI" pitchFamily="34" charset="-120"/>
                        </a:rPr>
                        <a:t>trois entrées</a:t>
                      </a:r>
                      <a:pPr indent="0" marL="0">
                        <a:buNone/>
                      </a:pPr>
                      <a:r>
                        <a:rPr lang="en-US" sz="1100" dirty="0">
                          <a:solidFill>
                            <a:srgbClr val="1B2A3A"/>
                          </a:solidFill>
                          <a:latin typeface="Segoe UI" pitchFamily="34" charset="0"/>
                          <a:ea typeface="Segoe UI" pitchFamily="34" charset="-122"/>
                          <a:cs typeface="Segoe UI" pitchFamily="34" charset="-120"/>
                        </a:rPr>
                        <a:t> : PRMP et UGPM, Commission, entreprises. Hors session, la racine du site y mène ; un utilisateur connecté qui y revient est renvoyé à son accueil. Les entreprises consultent les procédures ouvertes sans compte ; les membres de commission d’appel d’offres n’ont pas d’entrée publique et arrivent par leur invitation.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(2/6)</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gestes qui vous attendent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profil du circuit arrive sur « À faire » : les gestes qui l’attendent, regroupés par section, </a:t>
                      </a:r>
                      <a:pPr indent="0" marL="0">
                        <a:buNone/>
                      </a:pPr>
                      <a:r>
                        <a:rPr lang="en-US" sz="1100" b="1" dirty="0">
                          <a:solidFill>
                            <a:srgbClr val="1B2A3A"/>
                          </a:solidFill>
                          <a:latin typeface="Segoe UI" pitchFamily="34" charset="0"/>
                          <a:ea typeface="Segoe UI" pitchFamily="34" charset="-122"/>
                          <a:cs typeface="Segoe UI" pitchFamily="34" charset="-120"/>
                        </a:rPr>
                        <a:t>triés par urgence</a:t>
                      </a:r>
                      <a:pPr indent="0" marL="0">
                        <a:buNone/>
                      </a:pPr>
                      <a:r>
                        <a:rPr lang="en-US" sz="1100" dirty="0">
                          <a:solidFill>
                            <a:srgbClr val="1B2A3A"/>
                          </a:solidFill>
                          <a:latin typeface="Segoe UI" pitchFamily="34" charset="0"/>
                          <a:ea typeface="Segoe UI" pitchFamily="34" charset="-122"/>
                          <a:cs typeface="Segoe UI" pitchFamily="34" charset="-120"/>
                        </a:rPr>
                        <a:t>, un geste principal par ligne avec son délai en heures ouvrées. L’Administrateur et le Chargé de publication gardent leur propre accueil.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(3/6)</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geste proposé est permis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règle du circuit n’est réécrite pour l’accueil : un geste n’est proposé que si le serveur </a:t>
                      </a:r>
                      <a:pPr indent="0" marL="0">
                        <a:buNone/>
                      </a:pPr>
                      <a:r>
                        <a:rPr lang="en-US" sz="1100" b="1" dirty="0">
                          <a:solidFill>
                            <a:srgbClr val="1B2A3A"/>
                          </a:solidFill>
                          <a:latin typeface="Segoe UI" pitchFamily="34" charset="0"/>
                          <a:ea typeface="Segoe UI" pitchFamily="34" charset="-122"/>
                          <a:cs typeface="Segoe UI" pitchFamily="34" charset="-120"/>
                        </a:rPr>
                        <a:t>l’accepterait</a:t>
                      </a:r>
                      <a:pPr indent="0" marL="0">
                        <a:buNone/>
                      </a:pPr>
                      <a:r>
                        <a:rPr lang="en-US" sz="1100" dirty="0">
                          <a:solidFill>
                            <a:srgbClr val="1B2A3A"/>
                          </a:solidFill>
                          <a:latin typeface="Segoe UI" pitchFamily="34" charset="0"/>
                          <a:ea typeface="Segoe UI" pitchFamily="34" charset="-122"/>
                          <a:cs typeface="Segoe UI" pitchFamily="34" charset="-120"/>
                        </a:rPr>
                        <a:t> à l’exécution. La page d’un dossier rejoue le même calcul, dossier par dossier.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urgence mesurée, jamais inventée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Délai dépassé : </a:t>
                      </a:r>
                      <a:pPr indent="0" marL="0">
                        <a:buNone/>
                      </a:pPr>
                      <a:r>
                        <a:rPr lang="en-US" sz="1100" b="1" dirty="0">
                          <a:solidFill>
                            <a:srgbClr val="1B2A3A"/>
                          </a:solidFill>
                          <a:latin typeface="Segoe UI" pitchFamily="34" charset="0"/>
                          <a:ea typeface="Segoe UI" pitchFamily="34" charset="-122"/>
                          <a:cs typeface="Segoe UI" pitchFamily="34" charset="-120"/>
                        </a:rPr>
                        <a:t>en retard</a:t>
                      </a:r>
                      <a:pPr indent="0" marL="0">
                        <a:buNone/>
                      </a:pPr>
                      <a:r>
                        <a:rPr lang="en-US" sz="1100" dirty="0">
                          <a:solidFill>
                            <a:srgbClr val="1B2A3A"/>
                          </a:solidFill>
                          <a:latin typeface="Segoe UI" pitchFamily="34" charset="0"/>
                          <a:ea typeface="Segoe UI" pitchFamily="34" charset="-122"/>
                          <a:cs typeface="Segoe UI" pitchFamily="34" charset="-120"/>
                        </a:rPr>
                        <a:t>. Reste inférieur ou égal à deux heures ou à 35 % du délai standard : bientôt à échéance. Au-delà : dans les délais. Un dossier sans entrée connue reste « sans délai » ; les brouillons de la PRMP sont « hors délai CNM » et ses attentes « en pause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Référence officielle donnée à la réception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réception donne au dossier sa </a:t>
                      </a:r>
                      <a:pPr indent="0" marL="0">
                        <a:buNone/>
                      </a:pPr>
                      <a:r>
                        <a:rPr lang="en-US" sz="1100" b="1" dirty="0">
                          <a:solidFill>
                            <a:srgbClr val="1B2A3A"/>
                          </a:solidFill>
                          <a:latin typeface="Segoe UI" pitchFamily="34" charset="0"/>
                          <a:ea typeface="Segoe UI" pitchFamily="34" charset="-122"/>
                          <a:cs typeface="Segoe UI" pitchFamily="34" charset="-120"/>
                        </a:rPr>
                        <a:t>référence officielle</a:t>
                      </a:r>
                      <a:pPr indent="0" marL="0">
                        <a:buNone/>
                      </a:pPr>
                      <a:r>
                        <a:rPr lang="en-US" sz="1100" dirty="0">
                          <a:solidFill>
                            <a:srgbClr val="1B2A3A"/>
                          </a:solidFill>
                          <a:latin typeface="Segoe UI" pitchFamily="34" charset="0"/>
                          <a:ea typeface="Segoe UI" pitchFamily="34" charset="-122"/>
                          <a:cs typeface="Segoe UI" pitchFamily="34" charset="-120"/>
                        </a:rPr>
                        <a:t> : numéro à cinq chiffres, type de dossier, commission (CNM ou CRM et localité), exercice. Chaque contexte a son propre compteur.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(4/6)</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Réception dans sa seule localité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Secrétaire ne réceptionne que les dossiers de sa localité. Le Président et le Chef de commission peuvent enregistrer la réception à sa place, par délégation.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délai se mesure, sans saisie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étape est chronométrée sans saisie : elle commence à la fin de la précédente et s’achève au geste qui la clôt. Le calcul se fait en </a:t>
                      </a:r>
                      <a:pPr indent="0" marL="0">
                        <a:buNone/>
                      </a:pPr>
                      <a:r>
                        <a:rPr lang="en-US" sz="1100" b="1" dirty="0">
                          <a:solidFill>
                            <a:srgbClr val="1B2A3A"/>
                          </a:solidFill>
                          <a:latin typeface="Segoe UI" pitchFamily="34" charset="0"/>
                          <a:ea typeface="Segoe UI" pitchFamily="34" charset="-122"/>
                          <a:cs typeface="Segoe UI" pitchFamily="34" charset="-120"/>
                        </a:rPr>
                        <a:t>heures ouvrées</a:t>
                      </a:r>
                      <a:pPr indent="0" marL="0">
                        <a:buNone/>
                      </a:pPr>
                      <a:r>
                        <a:rPr lang="en-US" sz="1100" dirty="0">
                          <a:solidFill>
                            <a:srgbClr val="1B2A3A"/>
                          </a:solidFill>
                          <a:latin typeface="Segoe UI" pitchFamily="34" charset="0"/>
                          <a:ea typeface="Segoe UI" pitchFamily="34" charset="-122"/>
                          <a:cs typeface="Segoe UI" pitchFamily="34" charset="-120"/>
                        </a:rPr>
                        <a:t>, de 8 h à 16 h du lundi au vendredi, 8 h valant un jour.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Contrôle pièce par pièce au dépôt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Avant d’enregistrer la réception, le Secrétaire confronte chaque pièce déposée à la liste du type de dossier et la déclare </a:t>
                      </a:r>
                      <a:pPr indent="0" marL="0">
                        <a:buNone/>
                      </a:pPr>
                      <a:r>
                        <a:rPr lang="en-US" sz="1100" b="1" dirty="0">
                          <a:solidFill>
                            <a:srgbClr val="1B2A3A"/>
                          </a:solidFill>
                          <a:latin typeface="Segoe UI" pitchFamily="34" charset="0"/>
                          <a:ea typeface="Segoe UI" pitchFamily="34" charset="-122"/>
                          <a:cs typeface="Segoe UI" pitchFamily="34" charset="-120"/>
                        </a:rPr>
                        <a:t>conforme</a:t>
                      </a:r>
                      <a:pPr indent="0" marL="0">
                        <a:buNone/>
                      </a:pPr>
                      <a:r>
                        <a:rPr lang="en-US" sz="1100" dirty="0">
                          <a:solidFill>
                            <a:srgbClr val="1B2A3A"/>
                          </a:solidFill>
                          <a:latin typeface="Segoe UI" pitchFamily="34" charset="0"/>
                          <a:ea typeface="Segoe UI" pitchFamily="34" charset="-122"/>
                          <a:cs typeface="Segoe UI" pitchFamily="34" charset="-120"/>
                        </a:rPr>
                        <a:t> ou </a:t>
                      </a:r>
                      <a:pPr indent="0" marL="0">
                        <a:buNone/>
                      </a:pPr>
                      <a:r>
                        <a:rPr lang="en-US" sz="1100" b="1" dirty="0">
                          <a:solidFill>
                            <a:srgbClr val="1B2A3A"/>
                          </a:solidFill>
                          <a:latin typeface="Segoe UI" pitchFamily="34" charset="0"/>
                          <a:ea typeface="Segoe UI" pitchFamily="34" charset="-122"/>
                          <a:cs typeface="Segoe UI" pitchFamily="34" charset="-120"/>
                        </a:rPr>
                        <a:t>non conforme</a:t>
                      </a:r>
                      <a:pPr indent="0" marL="0">
                        <a:buNone/>
                      </a:pPr>
                      <a:r>
                        <a:rPr lang="en-US" sz="1100" dirty="0">
                          <a:solidFill>
                            <a:srgbClr val="1B2A3A"/>
                          </a:solidFill>
                          <a:latin typeface="Segoe UI" pitchFamily="34" charset="0"/>
                          <a:ea typeface="Segoe UI" pitchFamily="34" charset="-122"/>
                          <a:cs typeface="Segoe UI" pitchFamily="34" charset="-120"/>
                        </a:rPr>
                        <a:t>, avec une observation. Chaque décision est conservée avec son auteur et son heure.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Pas de réception sans pièces obligatoires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réception est refusée tant qu’une pièce </a:t>
                      </a:r>
                      <a:pPr indent="0" marL="0">
                        <a:buNone/>
                      </a:pPr>
                      <a:r>
                        <a:rPr lang="en-US" sz="1100" b="1" dirty="0">
                          <a:solidFill>
                            <a:srgbClr val="1B2A3A"/>
                          </a:solidFill>
                          <a:latin typeface="Segoe UI" pitchFamily="34" charset="0"/>
                          <a:ea typeface="Segoe UI" pitchFamily="34" charset="-122"/>
                          <a:cs typeface="Segoe UI" pitchFamily="34" charset="-120"/>
                        </a:rPr>
                        <a:t>obligatoire</a:t>
                      </a:r>
                      <a:pPr indent="0" marL="0">
                        <a:buNone/>
                      </a:pPr>
                      <a:r>
                        <a:rPr lang="en-US" sz="1100" dirty="0">
                          <a:solidFill>
                            <a:srgbClr val="1B2A3A"/>
                          </a:solidFill>
                          <a:latin typeface="Segoe UI" pitchFamily="34" charset="0"/>
                          <a:ea typeface="Segoe UI" pitchFamily="34" charset="-122"/>
                          <a:cs typeface="Segoe UI" pitchFamily="34" charset="-120"/>
                        </a:rPr>
                        <a:t> n’a pas pour dernière décision « conforme » ; le message nomme les pièces en cause.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Signalement des pièces manquantes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Secrétaire signale les pièces en défaut : la PRMP est notifiée et le dossier attend ses compléments. À la reprise, les pièces déjà conformes restent acquises ; seules les pièces en défaut sont revérifiées.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(5/6)</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pièces exigées par sous-type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sous-type a sa propre liste de pièces ; une pièce qui dépend de la catégorie ou de la forme du marché ne s’exige que si elle s’applique à la fiche. La soumission refuse le dossier auquel manque une pièce obligatoire en nommant </a:t>
                      </a:r>
                      <a:pPr indent="0" marL="0">
                        <a:buNone/>
                      </a:pPr>
                      <a:r>
                        <a:rPr lang="en-US" sz="1100" b="1" dirty="0">
                          <a:solidFill>
                            <a:srgbClr val="1B2A3A"/>
                          </a:solidFill>
                          <a:latin typeface="Segoe UI" pitchFamily="34" charset="0"/>
                          <a:ea typeface="Segoe UI" pitchFamily="34" charset="-122"/>
                          <a:cs typeface="Segoe UI" pitchFamily="34" charset="-120"/>
                        </a:rPr>
                        <a:t>chaque</a:t>
                      </a:r>
                      <a:pPr indent="0" marL="0">
                        <a:buNone/>
                      </a:pPr>
                      <a:r>
                        <a:rPr lang="en-US" sz="1100" dirty="0">
                          <a:solidFill>
                            <a:srgbClr val="1B2A3A"/>
                          </a:solidFill>
                          <a:latin typeface="Segoe UI" pitchFamily="34" charset="0"/>
                          <a:ea typeface="Segoe UI" pitchFamily="34" charset="-122"/>
                          <a:cs typeface="Segoe UI" pitchFamily="34" charset="-120"/>
                        </a:rPr>
                        <a:t> pièce ; la réception lit la même liste. Depuis le 13/10, pour une procédure conduite dans l’application, les pièces que l’application produit ne sont plus demandées (RG-CTL-51).</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écrans figés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soumission et resoumission d’un dossier conduit dans l’application, les écrans qui remplacent les pièces (ligne du plan, avis et lettres, commission d’appel d’offres, AMI, séance, évaluation, attribution, acte, sans suite)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avec leur empreinte et le numéro de la soumission. Immuables, ils se lisent en lecture seule et s’exportent en PDF ; les écrans vivants peuvent évoluer sans changer ce que la Commission a reçu.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non demandées pour une procédure en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procédure est conduite dans l’application, la validation tracée vaut signature des pièces internes : fiche de présentation (sauf actes de gestion), AGPM et PPM contrôlés, PV de la Commission, PV de validation de la commission d’appel d’offres, marché initial d’un acte de gestion ne sont plus demandés à la PRMP. Le mode (papier ou électronique) est fixé à la création de la procédure ; en papier, toutes les pièces du manuel restent exigées.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LE SECRÉTAIRE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(6/6)</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Le Secrétaire · 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Le Secrétaire</dc:title>
  <dc:subject>PptxGenJS Presentation</dc:subject>
  <dc:creator>PRS 2.0</dc:creator>
  <cp:lastModifiedBy>PRS 2.0</cp:lastModifiedBy>
  <cp:revision>1</cp:revision>
  <dcterms:created xsi:type="dcterms:W3CDTF">2026-10-14T12:36:45Z</dcterms:created>
  <dcterms:modified xsi:type="dcterms:W3CDTF">2026-10-14T12:36:45Z</dcterms:modified>
</cp:coreProperties>
</file>