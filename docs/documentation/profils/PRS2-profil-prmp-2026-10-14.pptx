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Lst>
  <p:notesMasterIdLst>
    <p:notesMasterId r:id="rId1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notesMaster" Target="notesMasters/notesMaster1.xml"/><Relationship Id="rId138" Type="http://schemas.openxmlformats.org/officeDocument/2006/relationships/presProps" Target="presProps.xml"/><Relationship Id="rId139" Type="http://schemas.openxmlformats.org/officeDocument/2006/relationships/viewProps" Target="viewProps.xml"/><Relationship Id="rId140" Type="http://schemas.openxmlformats.org/officeDocument/2006/relationships/theme" Target="theme/theme1.xml"/><Relationship Id="rId1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jp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jp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jp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jp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jp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jp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LES FONCTIONNALITÉS PAR PROFIL</a:t>
            </a:r>
            <a:endParaRPr lang="en-US" sz="1400" dirty="0"/>
          </a:p>
        </p:txBody>
      </p:sp>
      <p:sp>
        <p:nvSpPr>
          <p:cNvPr id="4" name="Text 2"/>
          <p:cNvSpPr/>
          <p:nvPr/>
        </p:nvSpPr>
        <p:spPr>
          <a:xfrm>
            <a:off x="812780" y="1206500"/>
            <a:ext cx="10477238" cy="1397000"/>
          </a:xfrm>
          <a:prstGeom prst="rect">
            <a:avLst/>
          </a:prstGeom>
          <a:noFill/>
          <a:ln/>
        </p:spPr>
        <p:txBody>
          <a:bodyPr wrap="square" rtlCol="0" anchor="t">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PRS 2.0 — Les fonctionnalités de la PRMP</a:t>
            </a:r>
            <a:endParaRPr lang="en-US" sz="4000" dirty="0"/>
          </a:p>
        </p:txBody>
      </p:sp>
      <p:sp>
        <p:nvSpPr>
          <p:cNvPr id="5" name="Text 3"/>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La personne responsable des marchés publics prépare, soumet, attribue et signe ; son unité de gestion prépare avec elle.</a:t>
            </a:r>
            <a:endParaRPr lang="en-US" sz="2000" dirty="0"/>
          </a:p>
        </p:txBody>
      </p:sp>
      <p:sp>
        <p:nvSpPr>
          <p:cNvPr id="6" name="Text 4"/>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89 écrans, étape par étape, et les règles à connaître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fonctionnalités d’un coup d’œil</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Les écrans où la PRMP agit ou lit, rangés par étape de la chaîne ; chacun est présenté ensuite.</a:t>
            </a:r>
            <a:endParaRPr lang="en-US" sz="1300" dirty="0"/>
          </a:p>
        </p:txBody>
      </p:sp>
      <p:sp>
        <p:nvSpPr>
          <p:cNvPr id="5" name="Shape 3"/>
          <p:cNvSpPr/>
          <p:nvPr/>
        </p:nvSpPr>
        <p:spPr>
          <a:xfrm>
            <a:off x="812780" y="1651000"/>
            <a:ext cx="2527237" cy="1443567"/>
          </a:xfrm>
          <a:prstGeom prst="rect">
            <a:avLst/>
          </a:prstGeom>
          <a:solidFill>
            <a:srgbClr val="FCFCFA"/>
          </a:solidFill>
          <a:ln w="9525">
            <a:solidFill>
              <a:srgbClr val="D5DCE4"/>
            </a:solidFill>
            <a:prstDash val="solid"/>
          </a:ln>
        </p:spPr>
      </p:sp>
      <p:sp>
        <p:nvSpPr>
          <p:cNvPr id="6" name="Shape 4"/>
          <p:cNvSpPr/>
          <p:nvPr/>
        </p:nvSpPr>
        <p:spPr>
          <a:xfrm>
            <a:off x="812780" y="1651000"/>
            <a:ext cx="2527237" cy="38100"/>
          </a:xfrm>
          <a:prstGeom prst="rect">
            <a:avLst/>
          </a:prstGeom>
          <a:solidFill>
            <a:srgbClr val="1B6FA8"/>
          </a:solidFill>
          <a:ln/>
        </p:spPr>
      </p:sp>
      <p:sp>
        <p:nvSpPr>
          <p:cNvPr id="7" name="Text 5"/>
          <p:cNvSpPr/>
          <p:nvPr/>
        </p:nvSpPr>
        <p:spPr>
          <a:xfrm>
            <a:off x="952476" y="1752600"/>
            <a:ext cx="2247844"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01 · Entrer</a:t>
            </a:r>
            <a:endParaRPr lang="en-US" sz="1500" dirty="0"/>
          </a:p>
        </p:txBody>
      </p:sp>
      <p:sp>
        <p:nvSpPr>
          <p:cNvPr id="8" name="Text 6"/>
          <p:cNvSpPr/>
          <p:nvPr/>
        </p:nvSpPr>
        <p:spPr>
          <a:xfrm>
            <a:off x="952476" y="2038350"/>
            <a:ext cx="2247844"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portail public : PRMP et UGPM · La connexion · L’inscription d’une PRMP · Créer le compte de son UGPM · Changer son mot de passe · Une actualité à l’ouverture · L’accueil « À faire » de la PRMP · L’écran des notifications · La cloche</a:t>
            </a:r>
            <a:endParaRPr lang="en-US" sz="1200" dirty="0"/>
          </a:p>
        </p:txBody>
      </p:sp>
      <p:sp>
        <p:nvSpPr>
          <p:cNvPr id="9" name="Shape 7"/>
          <p:cNvSpPr/>
          <p:nvPr/>
        </p:nvSpPr>
        <p:spPr>
          <a:xfrm>
            <a:off x="3492413" y="1651000"/>
            <a:ext cx="2527237" cy="1443567"/>
          </a:xfrm>
          <a:prstGeom prst="rect">
            <a:avLst/>
          </a:prstGeom>
          <a:solidFill>
            <a:srgbClr val="FCFCFA"/>
          </a:solidFill>
          <a:ln w="9525">
            <a:solidFill>
              <a:srgbClr val="D5DCE4"/>
            </a:solidFill>
            <a:prstDash val="solid"/>
          </a:ln>
        </p:spPr>
      </p:sp>
      <p:sp>
        <p:nvSpPr>
          <p:cNvPr id="10" name="Shape 8"/>
          <p:cNvSpPr/>
          <p:nvPr/>
        </p:nvSpPr>
        <p:spPr>
          <a:xfrm>
            <a:off x="3492413" y="1651000"/>
            <a:ext cx="2527237" cy="38100"/>
          </a:xfrm>
          <a:prstGeom prst="rect">
            <a:avLst/>
          </a:prstGeom>
          <a:solidFill>
            <a:srgbClr val="2E8B57"/>
          </a:solidFill>
          <a:ln/>
        </p:spPr>
      </p:sp>
      <p:sp>
        <p:nvSpPr>
          <p:cNvPr id="11" name="Text 9"/>
          <p:cNvSpPr/>
          <p:nvPr/>
        </p:nvSpPr>
        <p:spPr>
          <a:xfrm>
            <a:off x="3632109" y="1752600"/>
            <a:ext cx="2247844"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02 · Planifier</a:t>
            </a:r>
            <a:endParaRPr lang="en-US" sz="1500" dirty="0"/>
          </a:p>
        </p:txBody>
      </p:sp>
      <p:sp>
        <p:nvSpPr>
          <p:cNvPr id="12" name="Text 10"/>
          <p:cNvSpPr/>
          <p:nvPr/>
        </p:nvSpPr>
        <p:spPr>
          <a:xfrm>
            <a:off x="3632109" y="2038350"/>
            <a:ext cx="2247844"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Créer un dossier : choisir son type · L’en-tête du plan, et l’import PDF · Une ligne de marché · Le calendrier prévisionnel (CAPM) · Les pièces jointes et le projet d’AGPM · L’aperçu avant création · Mes brouillons · Vérifier son plan avant de le soumettre · Le suivi des dossiers · La page du dossier : la frise des sept étapes · Un plan clôturé, ses lignes suivies · Mes plans et leurs marchés · Le détail d’un plan · Mettre à jour un PPM · Demander le retrait d’un dossier · Le calendrier des jalons</a:t>
            </a:r>
            <a:endParaRPr lang="en-US" sz="1200" dirty="0"/>
          </a:p>
        </p:txBody>
      </p:sp>
      <p:sp>
        <p:nvSpPr>
          <p:cNvPr id="13" name="Shape 11"/>
          <p:cNvSpPr/>
          <p:nvPr/>
        </p:nvSpPr>
        <p:spPr>
          <a:xfrm>
            <a:off x="6172046" y="1651000"/>
            <a:ext cx="2527237" cy="1443567"/>
          </a:xfrm>
          <a:prstGeom prst="rect">
            <a:avLst/>
          </a:prstGeom>
          <a:solidFill>
            <a:srgbClr val="FCFCFA"/>
          </a:solidFill>
          <a:ln w="9525">
            <a:solidFill>
              <a:srgbClr val="D5DCE4"/>
            </a:solidFill>
            <a:prstDash val="solid"/>
          </a:ln>
        </p:spPr>
      </p:sp>
      <p:sp>
        <p:nvSpPr>
          <p:cNvPr id="14" name="Shape 12"/>
          <p:cNvSpPr/>
          <p:nvPr/>
        </p:nvSpPr>
        <p:spPr>
          <a:xfrm>
            <a:off x="6172046" y="1651000"/>
            <a:ext cx="2527237" cy="38100"/>
          </a:xfrm>
          <a:prstGeom prst="rect">
            <a:avLst/>
          </a:prstGeom>
          <a:solidFill>
            <a:srgbClr val="E3AE2E"/>
          </a:solidFill>
          <a:ln/>
        </p:spPr>
      </p:sp>
      <p:sp>
        <p:nvSpPr>
          <p:cNvPr id="15" name="Text 13"/>
          <p:cNvSpPr/>
          <p:nvPr/>
        </p:nvSpPr>
        <p:spPr>
          <a:xfrm>
            <a:off x="6311742" y="1752600"/>
            <a:ext cx="2247844"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03 · Contrôler</a:t>
            </a:r>
            <a:endParaRPr lang="en-US" sz="1500" dirty="0"/>
          </a:p>
        </p:txBody>
      </p:sp>
      <p:sp>
        <p:nvSpPr>
          <p:cNvPr id="16" name="Text 14"/>
          <p:cNvSpPr/>
          <p:nvPr/>
        </p:nvSpPr>
        <p:spPr>
          <a:xfrm>
            <a:off x="6311742" y="2038350"/>
            <a:ext cx="2247844"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Ce que voit la PRMP · Ses PV définitifs · Les écrans figés à la soumission · Les contrôles du dossier, vus de la PRMP</a:t>
            </a:r>
            <a:endParaRPr lang="en-US" sz="1200" dirty="0"/>
          </a:p>
        </p:txBody>
      </p:sp>
      <p:sp>
        <p:nvSpPr>
          <p:cNvPr id="17" name="Shape 15"/>
          <p:cNvSpPr/>
          <p:nvPr/>
        </p:nvSpPr>
        <p:spPr>
          <a:xfrm>
            <a:off x="8851679" y="1651000"/>
            <a:ext cx="2527237" cy="1443567"/>
          </a:xfrm>
          <a:prstGeom prst="rect">
            <a:avLst/>
          </a:prstGeom>
          <a:solidFill>
            <a:srgbClr val="FCFCFA"/>
          </a:solidFill>
          <a:ln w="9525">
            <a:solidFill>
              <a:srgbClr val="D5DCE4"/>
            </a:solidFill>
            <a:prstDash val="solid"/>
          </a:ln>
        </p:spPr>
      </p:sp>
      <p:sp>
        <p:nvSpPr>
          <p:cNvPr id="18" name="Shape 16"/>
          <p:cNvSpPr/>
          <p:nvPr/>
        </p:nvSpPr>
        <p:spPr>
          <a:xfrm>
            <a:off x="8851679" y="1651000"/>
            <a:ext cx="2527237" cy="38100"/>
          </a:xfrm>
          <a:prstGeom prst="rect">
            <a:avLst/>
          </a:prstGeom>
          <a:solidFill>
            <a:srgbClr val="12324A"/>
          </a:solidFill>
          <a:ln/>
        </p:spPr>
      </p:sp>
      <p:sp>
        <p:nvSpPr>
          <p:cNvPr id="19" name="Text 17"/>
          <p:cNvSpPr/>
          <p:nvPr/>
        </p:nvSpPr>
        <p:spPr>
          <a:xfrm>
            <a:off x="8991375" y="1752600"/>
            <a:ext cx="2247844"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04 · Préparer le DAO</a:t>
            </a:r>
            <a:endParaRPr lang="en-US" sz="1500" dirty="0"/>
          </a:p>
        </p:txBody>
      </p:sp>
      <p:sp>
        <p:nvSpPr>
          <p:cNvPr id="20" name="Text 18"/>
          <p:cNvSpPr/>
          <p:nvPr/>
        </p:nvSpPr>
        <p:spPr>
          <a:xfrm>
            <a:off x="8991375" y="2038350"/>
            <a:ext cx="2247844" cy="9927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appels d’offres de la PRMP · Étape 2 : le cadrage · Le mode de remise, figé · Étape 3 : la saisie par bloc · Fournitures à commande : la même fiche · Le besoin, lot par lot · Les pièces de l’offre, listées une à une · Le texte découpé, à relire · Les spécifications techniques · Étape 4 : les reprises · Étape 5 : les contrôles · Étape 6 : la validation · Étape 7 : le DAO complet et les bordereaux · En fournitures : le tableau de conformité · La page de garde · Le sommaire général · La commission d’appel d’offres · L’avis spécifique et son projet · Les reçus des frais de dossier · Le registre des retraits · Les questions des candidats</a:t>
            </a:r>
            <a:endParaRPr lang="en-US" sz="1200" dirty="0"/>
          </a:p>
        </p:txBody>
      </p:sp>
      <p:sp>
        <p:nvSpPr>
          <p:cNvPr id="21" name="Shape 19"/>
          <p:cNvSpPr/>
          <p:nvPr/>
        </p:nvSpPr>
        <p:spPr>
          <a:xfrm>
            <a:off x="812780" y="3246967"/>
            <a:ext cx="2527237" cy="1443567"/>
          </a:xfrm>
          <a:prstGeom prst="rect">
            <a:avLst/>
          </a:prstGeom>
          <a:solidFill>
            <a:srgbClr val="FCFCFA"/>
          </a:solidFill>
          <a:ln w="9525">
            <a:solidFill>
              <a:srgbClr val="D5DCE4"/>
            </a:solidFill>
            <a:prstDash val="solid"/>
          </a:ln>
        </p:spPr>
      </p:sp>
      <p:sp>
        <p:nvSpPr>
          <p:cNvPr id="22" name="Shape 20"/>
          <p:cNvSpPr/>
          <p:nvPr/>
        </p:nvSpPr>
        <p:spPr>
          <a:xfrm>
            <a:off x="812780" y="3246967"/>
            <a:ext cx="2527237" cy="38100"/>
          </a:xfrm>
          <a:prstGeom prst="rect">
            <a:avLst/>
          </a:prstGeom>
          <a:solidFill>
            <a:srgbClr val="1B6FA8"/>
          </a:solidFill>
          <a:ln/>
        </p:spPr>
      </p:sp>
      <p:sp>
        <p:nvSpPr>
          <p:cNvPr id="23" name="Text 21"/>
          <p:cNvSpPr/>
          <p:nvPr/>
        </p:nvSpPr>
        <p:spPr>
          <a:xfrm>
            <a:off x="952476" y="3348567"/>
            <a:ext cx="2247844" cy="5905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05 · L’appel à manifestation d’intérêt</a:t>
            </a:r>
            <a:endParaRPr lang="en-US" sz="1500" dirty="0"/>
          </a:p>
        </p:txBody>
      </p:sp>
      <p:sp>
        <p:nvSpPr>
          <p:cNvPr id="24" name="Text 22"/>
          <p:cNvSpPr/>
          <p:nvPr/>
        </p:nvSpPr>
        <p:spPr>
          <a:xfrm>
            <a:off x="952476" y="3977217"/>
            <a:ext cx="2247844" cy="64981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Une fiche de prestations intellectuelles · Préparer l’appel · Publier l’appel · L’appel publié, avant la date limite · L’appel et ses expressions d’intérêt · La liste définitive et le rapport signé</a:t>
            </a:r>
            <a:endParaRPr lang="en-US" sz="1200" dirty="0"/>
          </a:p>
        </p:txBody>
      </p:sp>
      <p:sp>
        <p:nvSpPr>
          <p:cNvPr id="25" name="Shape 23"/>
          <p:cNvSpPr/>
          <p:nvPr/>
        </p:nvSpPr>
        <p:spPr>
          <a:xfrm>
            <a:off x="3492413" y="3246967"/>
            <a:ext cx="2527237" cy="1443567"/>
          </a:xfrm>
          <a:prstGeom prst="rect">
            <a:avLst/>
          </a:prstGeom>
          <a:solidFill>
            <a:srgbClr val="FCFCFA"/>
          </a:solidFill>
          <a:ln w="9525">
            <a:solidFill>
              <a:srgbClr val="D5DCE4"/>
            </a:solidFill>
            <a:prstDash val="solid"/>
          </a:ln>
        </p:spPr>
      </p:sp>
      <p:sp>
        <p:nvSpPr>
          <p:cNvPr id="26" name="Shape 24"/>
          <p:cNvSpPr/>
          <p:nvPr/>
        </p:nvSpPr>
        <p:spPr>
          <a:xfrm>
            <a:off x="3492413" y="3246967"/>
            <a:ext cx="2527237" cy="38100"/>
          </a:xfrm>
          <a:prstGeom prst="rect">
            <a:avLst/>
          </a:prstGeom>
          <a:solidFill>
            <a:srgbClr val="2E8B57"/>
          </a:solidFill>
          <a:ln/>
        </p:spPr>
      </p:sp>
      <p:sp>
        <p:nvSpPr>
          <p:cNvPr id="27" name="Text 25"/>
          <p:cNvSpPr/>
          <p:nvPr/>
        </p:nvSpPr>
        <p:spPr>
          <a:xfrm>
            <a:off x="3632109" y="3348567"/>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06 · Recevoir les offres en ligne</a:t>
            </a:r>
            <a:endParaRPr lang="en-US" sz="1500" dirty="0"/>
          </a:p>
        </p:txBody>
      </p:sp>
      <p:sp>
        <p:nvSpPr>
          <p:cNvPr id="28" name="Text 26"/>
          <p:cNvSpPr/>
          <p:nvPr/>
        </p:nvSpPr>
        <p:spPr>
          <a:xfrm>
            <a:off x="3632109" y="3805767"/>
            <a:ext cx="2247844" cy="82126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Refuser un reçu, avec un motif · Le registre, avant l’échéance · Le registre complet, après l’échéance · Les tentatives refusées hors délai</a:t>
            </a:r>
            <a:endParaRPr lang="en-US" sz="1200" dirty="0"/>
          </a:p>
        </p:txBody>
      </p:sp>
      <p:sp>
        <p:nvSpPr>
          <p:cNvPr id="29" name="Shape 27"/>
          <p:cNvSpPr/>
          <p:nvPr/>
        </p:nvSpPr>
        <p:spPr>
          <a:xfrm>
            <a:off x="6172046" y="3246967"/>
            <a:ext cx="2527237" cy="1443567"/>
          </a:xfrm>
          <a:prstGeom prst="rect">
            <a:avLst/>
          </a:prstGeom>
          <a:solidFill>
            <a:srgbClr val="FCFCFA"/>
          </a:solidFill>
          <a:ln w="9525">
            <a:solidFill>
              <a:srgbClr val="D5DCE4"/>
            </a:solidFill>
            <a:prstDash val="solid"/>
          </a:ln>
        </p:spPr>
      </p:sp>
      <p:sp>
        <p:nvSpPr>
          <p:cNvPr id="30" name="Shape 28"/>
          <p:cNvSpPr/>
          <p:nvPr/>
        </p:nvSpPr>
        <p:spPr>
          <a:xfrm>
            <a:off x="6172046" y="3246967"/>
            <a:ext cx="2527237" cy="38100"/>
          </a:xfrm>
          <a:prstGeom prst="rect">
            <a:avLst/>
          </a:prstGeom>
          <a:solidFill>
            <a:srgbClr val="E3AE2E"/>
          </a:solidFill>
          <a:ln/>
        </p:spPr>
      </p:sp>
      <p:sp>
        <p:nvSpPr>
          <p:cNvPr id="31" name="Text 29"/>
          <p:cNvSpPr/>
          <p:nvPr/>
        </p:nvSpPr>
        <p:spPr>
          <a:xfrm>
            <a:off x="6311742" y="3348567"/>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07 · La séance d’ouverture</a:t>
            </a:r>
            <a:endParaRPr lang="en-US" sz="1500" dirty="0"/>
          </a:p>
        </p:txBody>
      </p:sp>
      <p:sp>
        <p:nvSpPr>
          <p:cNvPr id="32" name="Text 30"/>
          <p:cNvSpPr/>
          <p:nvPr/>
        </p:nvSpPr>
        <p:spPr>
          <a:xfrm>
            <a:off x="6311742" y="3805767"/>
            <a:ext cx="2247844" cy="82126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séance close, vue par la PRMP</a:t>
            </a:r>
            <a:endParaRPr lang="en-US" sz="1200" dirty="0"/>
          </a:p>
        </p:txBody>
      </p:sp>
      <p:sp>
        <p:nvSpPr>
          <p:cNvPr id="33" name="Shape 31"/>
          <p:cNvSpPr/>
          <p:nvPr/>
        </p:nvSpPr>
        <p:spPr>
          <a:xfrm>
            <a:off x="8851679" y="3246967"/>
            <a:ext cx="2527237" cy="1443567"/>
          </a:xfrm>
          <a:prstGeom prst="rect">
            <a:avLst/>
          </a:prstGeom>
          <a:solidFill>
            <a:srgbClr val="FCFCFA"/>
          </a:solidFill>
          <a:ln w="9525">
            <a:solidFill>
              <a:srgbClr val="D5DCE4"/>
            </a:solidFill>
            <a:prstDash val="solid"/>
          </a:ln>
        </p:spPr>
      </p:sp>
      <p:sp>
        <p:nvSpPr>
          <p:cNvPr id="34" name="Shape 32"/>
          <p:cNvSpPr/>
          <p:nvPr/>
        </p:nvSpPr>
        <p:spPr>
          <a:xfrm>
            <a:off x="8851679" y="3246967"/>
            <a:ext cx="2527237" cy="38100"/>
          </a:xfrm>
          <a:prstGeom prst="rect">
            <a:avLst/>
          </a:prstGeom>
          <a:solidFill>
            <a:srgbClr val="12324A"/>
          </a:solidFill>
          <a:ln/>
        </p:spPr>
      </p:sp>
      <p:sp>
        <p:nvSpPr>
          <p:cNvPr id="35" name="Text 33"/>
          <p:cNvSpPr/>
          <p:nvPr/>
        </p:nvSpPr>
        <p:spPr>
          <a:xfrm>
            <a:off x="8991375" y="3348567"/>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08 · Évaluer les offres</a:t>
            </a:r>
            <a:endParaRPr lang="en-US" sz="1500" dirty="0"/>
          </a:p>
        </p:txBody>
      </p:sp>
      <p:sp>
        <p:nvSpPr>
          <p:cNvPr id="36" name="Text 34"/>
          <p:cNvSpPr/>
          <p:nvPr/>
        </p:nvSpPr>
        <p:spPr>
          <a:xfrm>
            <a:off x="8991375" y="3805767"/>
            <a:ext cx="2247844" cy="82126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L’évaluation vue par la PRMP · Demander une précision au candidat · Une offre maintenue après justification · Le rapport, sur le plan du guide · L’étape close · La négociation à conclure</a:t>
            </a:r>
            <a:endParaRPr lang="en-US" sz="1200" dirty="0"/>
          </a:p>
        </p:txBody>
      </p:sp>
      <p:sp>
        <p:nvSpPr>
          <p:cNvPr id="37" name="Shape 35"/>
          <p:cNvSpPr/>
          <p:nvPr/>
        </p:nvSpPr>
        <p:spPr>
          <a:xfrm>
            <a:off x="812780" y="4842933"/>
            <a:ext cx="2527237" cy="1443567"/>
          </a:xfrm>
          <a:prstGeom prst="rect">
            <a:avLst/>
          </a:prstGeom>
          <a:solidFill>
            <a:srgbClr val="FCFCFA"/>
          </a:solidFill>
          <a:ln w="9525">
            <a:solidFill>
              <a:srgbClr val="D5DCE4"/>
            </a:solidFill>
            <a:prstDash val="solid"/>
          </a:ln>
        </p:spPr>
      </p:sp>
      <p:sp>
        <p:nvSpPr>
          <p:cNvPr id="38" name="Shape 36"/>
          <p:cNvSpPr/>
          <p:nvPr/>
        </p:nvSpPr>
        <p:spPr>
          <a:xfrm>
            <a:off x="812780" y="4842933"/>
            <a:ext cx="2527237" cy="38100"/>
          </a:xfrm>
          <a:prstGeom prst="rect">
            <a:avLst/>
          </a:prstGeom>
          <a:solidFill>
            <a:srgbClr val="1B6FA8"/>
          </a:solidFill>
          <a:ln/>
        </p:spPr>
      </p:sp>
      <p:sp>
        <p:nvSpPr>
          <p:cNvPr id="39" name="Text 37"/>
          <p:cNvSpPr/>
          <p:nvPr/>
        </p:nvSpPr>
        <p:spPr>
          <a:xfrm>
            <a:off x="952476" y="4944533"/>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09 · Attribuer et notifier</a:t>
            </a:r>
            <a:endParaRPr lang="en-US" sz="1500" dirty="0"/>
          </a:p>
        </p:txBody>
      </p:sp>
      <p:sp>
        <p:nvSpPr>
          <p:cNvPr id="40" name="Text 38"/>
          <p:cNvSpPr/>
          <p:nvPr/>
        </p:nvSpPr>
        <p:spPr>
          <a:xfrm>
            <a:off x="952476" y="5401733"/>
            <a:ext cx="2247844" cy="82126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L’attribution, lot par lot · Deux lots, deux issues · Le dossier de marché, au contrôle de la Commission · Le lot, après l’avis favorable de la Commission · Informer les candidats · Attribué, puis informé · Délai d’attente, explications et recours · Le résultat public de la procédure · Les pièces vérifiées, l’original attendu · Mise au point et signature · Après un avis défavorable : infructuosité ou reprise · L’évaluation reprise, le rapport archivé · La demande de déclaration sans suite · Le dossier de déclaration sans suite · L’avis favorable : la PRMP déclare · La procédure déclarée sans suite · Le marché et ses actes de gestion · Déposer un avenant · L’acte en brouillon : pièces et soumission · L’avenant soumis à la Commission</a:t>
            </a:r>
            <a:endParaRPr lang="en-US" sz="1200" dirty="0"/>
          </a:p>
        </p:txBody>
      </p:sp>
      <p:sp>
        <p:nvSpPr>
          <p:cNvPr id="41" name="Shape 39"/>
          <p:cNvSpPr/>
          <p:nvPr/>
        </p:nvSpPr>
        <p:spPr>
          <a:xfrm>
            <a:off x="3492413" y="4842933"/>
            <a:ext cx="2527237" cy="1443567"/>
          </a:xfrm>
          <a:prstGeom prst="rect">
            <a:avLst/>
          </a:prstGeom>
          <a:solidFill>
            <a:srgbClr val="FCFCFA"/>
          </a:solidFill>
          <a:ln w="9525">
            <a:solidFill>
              <a:srgbClr val="D5DCE4"/>
            </a:solidFill>
            <a:prstDash val="solid"/>
          </a:ln>
        </p:spPr>
      </p:sp>
      <p:sp>
        <p:nvSpPr>
          <p:cNvPr id="42" name="Shape 40"/>
          <p:cNvSpPr/>
          <p:nvPr/>
        </p:nvSpPr>
        <p:spPr>
          <a:xfrm>
            <a:off x="3492413" y="4842933"/>
            <a:ext cx="2527237" cy="38100"/>
          </a:xfrm>
          <a:prstGeom prst="rect">
            <a:avLst/>
          </a:prstGeom>
          <a:solidFill>
            <a:srgbClr val="2E8B57"/>
          </a:solidFill>
          <a:ln/>
        </p:spPr>
      </p:sp>
      <p:sp>
        <p:nvSpPr>
          <p:cNvPr id="43" name="Text 41"/>
          <p:cNvSpPr/>
          <p:nvPr/>
        </p:nvSpPr>
        <p:spPr>
          <a:xfrm>
            <a:off x="3632109" y="4944533"/>
            <a:ext cx="2247844"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12 · Piloter et publier</a:t>
            </a:r>
            <a:endParaRPr lang="en-US" sz="1500" dirty="0"/>
          </a:p>
        </p:txBody>
      </p:sp>
      <p:sp>
        <p:nvSpPr>
          <p:cNvPr id="44" name="Text 42"/>
          <p:cNvSpPr/>
          <p:nvPr/>
        </p:nvSpPr>
        <p:spPr>
          <a:xfrm>
            <a:off x="3632109" y="5401733"/>
            <a:ext cx="2247844" cy="821267"/>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suivi des dossiers à la Commission · Les publications</a:t>
            </a:r>
            <a:endParaRPr lang="en-US" sz="1200" dirty="0"/>
          </a:p>
        </p:txBody>
      </p:sp>
      <p:sp>
        <p:nvSpPr>
          <p:cNvPr id="45" name="Text 4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01</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Entrer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porte d’entrée au premier geste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PRMP ET 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portail public : PRMP et UGPM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ortail public : PRMP et UGP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Toute autorité contractante,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Trois gestes et rien d’autre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déposer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 plan de passation,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suivre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 contrôle,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consulter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PV définitifs.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chiffres clés : sept étapes suivies, une version par mise à jour, aucun papier pour les PV et les lettres de renvoi.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Se connecter » ou « Créer un compte PRMP » ; les mots soulignés mènent à l’écran qu’ils nomment.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connexion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nnex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Identifiant (ou adresse électronique) et mot de passe. La session est portée par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témoin sécurisé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rien n’est conservé dans le navigateur qui permettrait de la dérober.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tentatives répétées sont freinées, et chacune est inscrite au journal des connexions.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Liens vers l’inscription d’une PRMP, l’inscription d’un candidat et le portail public.</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L’inscription d’une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inscription d’une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elle-même.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Identité, référence et date de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arrêté de nomination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CIN ; l’arrêté (10 Mo au plus) et la CIN sont joints en PDF, JPEG ou PNG.</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entités contractantes sont choisies dans la liste, ou proposées si elles n’y figurent pas.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 naît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attente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l’Administrateur le valide dans « Demandes d’accès ».</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COMPTES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Créer le compte de son UGPM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réer le compte de son UGP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depuis son espace.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L’UGPM est créée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sous sa PRMP de tutelle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identité, CIN jointe, photo facultative.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Son compte reste en attente jusqu’à la validation de l’Administrateur.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L’UGPM prépare les dossiers ; la PRMP seule les engage.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COMPTES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Changer son mot de passe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hanger son mot de pas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utilisateur connecté, depuis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mot de passe est exigé ; le nouveau compte au moins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8 caractères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une lettre et un chiffre, et se saisit deux fois.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 Annuler », par sa croix ou par Échap.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Mot de passe oublié : l’Administrateur le réinitialise.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actualité à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actualité à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ciblés par l’Administrateur.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L’Administrateur publie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actualités ciblées par profil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rappel de règles, consignes de dépôt, fermeture technique.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ce que la Commission attend d’un dossier de planification.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fenêtre se ferme par sa croix ou par Échap.</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ACCUEIL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L’accueil « À faire » de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cueil « À faire » de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tête, ses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brouillons à soumettre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en dessous, ses dossiers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cours à la Commission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leur étape et leur fin prévue.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choisi montre sa frise et son geste : ici, « Soumettre le dossier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d’interne à la Commission n’apparaît : ni acteurs, ni consignes.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L’écran des notifications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cran des notif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chacun pour ses seules notifications.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ce que le circuit a signalé,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 date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une notification non lue reste en gras.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Filtres : toutes ou non lues, et par type d’événement ; « Tout marquer lu » en un geste.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pour la PRMP : rapport d’évaluation signé, dépôts clos, pièce de l’attributaire déposée.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NOTIFICATIONS · TOUS LES PROFILS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cloche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lo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dans la barre du haut.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dernières notifications et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compteur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quitter l’écran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compteur est tenu par le serveur et suivi en temps réel.</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02</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Planifier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Du plan saisi au plan contrôlé</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Créer un dossier : choisir son type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réer un dossier : choisir son typ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Dossier de planification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plan de passation), dossier de mise en concurrence, ou dossier de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Saisir » crée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brouillon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invisible des contrôleurs jusqu’à la soumission.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L’appel d’offres, lui, se prépare dans sa fiche (partie 04).</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L’en-tête du plan, et l’import PDF</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n-tête du plan, et l’import PDF">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Importer un PPM (PDF)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pré-remplit tout depuis le plan officiel — à vérifier ligne par ligne avant création.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Sinon la saisie : l’entité contractante (parmi celles de la PRMP), l’exercice, la date de signature.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localité et le signataire se déduisent seuls.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ligne de marché</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ligne de marché">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Nature, objet, montant estimatif hors taxes,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mode de passation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forme, financement,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Par ligne : les bénéficiaires, les lots et le calendrier prévisionnel ; l’écran signale les dates manquantes.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 des travaux de réhabilitation, en appel d’offres ouvert.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calendrier prévisionnel (CAPM)</a:t>
            </a:r>
            <a:endParaRPr lang="en-US" sz="2600" dirty="0"/>
          </a:p>
        </p:txBody>
      </p:sp>
      <p:sp>
        <p:nvSpPr>
          <p:cNvPr id="4" name="Shape 2"/>
          <p:cNvSpPr/>
          <p:nvPr/>
        </p:nvSpPr>
        <p:spPr>
          <a:xfrm>
            <a:off x="800080" y="1193800"/>
            <a:ext cx="5443931" cy="5105400"/>
          </a:xfrm>
          <a:prstGeom prst="rect">
            <a:avLst/>
          </a:prstGeom>
          <a:solidFill>
            <a:srgbClr val="FCFCFA"/>
          </a:solidFill>
          <a:ln w="9525">
            <a:solidFill>
              <a:srgbClr val="D5DCE4"/>
            </a:solidFill>
            <a:prstDash val="solid"/>
          </a:ln>
        </p:spPr>
      </p:sp>
      <p:pic>
        <p:nvPicPr>
          <p:cNvPr id="5" name="Image 0" descr="Le calendrier prévisionnel (CAPM)">    </p:cNvPr>
          <p:cNvPicPr>
            <a:picLocks noChangeAspect="1"/>
          </p:cNvPicPr>
          <p:nvPr/>
        </p:nvPicPr>
        <p:blipFill>
          <a:blip r:embed="rId1"/>
          <a:stretch>
            <a:fillRect/>
          </a:stretch>
        </p:blipFill>
        <p:spPr>
          <a:xfrm>
            <a:off x="812780" y="1206500"/>
            <a:ext cx="5418531" cy="5080000"/>
          </a:xfrm>
          <a:prstGeom prst="rect">
            <a:avLst/>
          </a:prstGeom>
        </p:spPr>
      </p:pic>
      <p:sp>
        <p:nvSpPr>
          <p:cNvPr id="6" name="Shape 3"/>
          <p:cNvSpPr/>
          <p:nvPr/>
        </p:nvSpPr>
        <p:spPr>
          <a:xfrm>
            <a:off x="6409106" y="1206500"/>
            <a:ext cx="4969809" cy="5080000"/>
          </a:xfrm>
          <a:prstGeom prst="rect">
            <a:avLst/>
          </a:prstGeom>
          <a:solidFill>
            <a:srgbClr val="FCFCFA"/>
          </a:solidFill>
          <a:ln w="9525">
            <a:solidFill>
              <a:srgbClr val="D5DCE4"/>
            </a:solidFill>
            <a:prstDash val="solid"/>
          </a:ln>
        </p:spPr>
      </p:sp>
      <p:sp>
        <p:nvSpPr>
          <p:cNvPr id="7" name="Shape 4"/>
          <p:cNvSpPr/>
          <p:nvPr/>
        </p:nvSpPr>
        <p:spPr>
          <a:xfrm>
            <a:off x="6409106" y="1206500"/>
            <a:ext cx="38099" cy="5080000"/>
          </a:xfrm>
          <a:prstGeom prst="rect">
            <a:avLst/>
          </a:prstGeom>
          <a:solidFill>
            <a:srgbClr val="1B6FA8"/>
          </a:solidFill>
          <a:ln/>
        </p:spPr>
      </p:sp>
      <p:sp>
        <p:nvSpPr>
          <p:cNvPr id="8" name="Text 5"/>
          <p:cNvSpPr/>
          <p:nvPr/>
        </p:nvSpPr>
        <p:spPr>
          <a:xfrm>
            <a:off x="6574202" y="1308100"/>
            <a:ext cx="4677716"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processus du mode de passation, groupés par phase, chacun avec sa date de début et, au besoin, de fin.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 moins un processus daté ; la date de fin est proposée à la veille du processus suivant.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chronologie est contrôlée ; un délai aménagé appelle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justification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jointes et le projet d’AGPM</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pièces jointes et le projet d’AGPM">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exigées dépendent du type de dossier, fixées dans les référentiels de l’Administrateur ; ici, aucune n’est exigée.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Formats acceptés : PDF, JPEG, PNG ; chaque fichier est contrôlé.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marché en appel d’offres ouvert fait naître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d’AGPM</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dérivé du plan et visible dans l’aperçu.</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L’aperçu avant création</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perçu avant création">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fiche de présentation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plan de passation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le projet d’AGPM, tels que la Commission les lira.</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 part tant que le dossier n’est pas créé, puis soumis.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brouillons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brouill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l’UGPM complète les brouillons sans les soumettre.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commencés et pas encore soumis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ouvrir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soumettre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supprimer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brouillon n’a pas encore de référence : elle lui est attribuée à la soumission.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 part à la Commission avant la soumission.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Vérifier son plan avant de le soumettre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Vérifier son plan avant de le soumett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points que le contrôleur de la CNM regardera, avec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fondement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ici, la catégorie de seuil à préciser (arrêté n° 13 156/2019-MEF, art. 2).</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point se corrige — une correction est proposée — ou s’écarte avec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 visible du contrôleur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Demander une piste à l’assistant » ouvre des pistes, présentées à part des constats. Rien ici n’empêche de soumettre.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suivi des dossiers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suivi des dossie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dossier avec son type, son entité,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date de dépôt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fin de traitement prévue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son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dépôt pas encore numéroté par le Secrétaire n’a pas encore de référence ni de fin prévue.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page du dossier : la frise des sept étapes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page du dossier : la frise des sept étap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et, sur la même page, chaque profil avec son geste.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Réception, dispatch, examen, projet de PV, PV signé, vérification, clôture : chaque étape franchie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datée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un plan de 233 lignes en vérification, fin prévue le 14/10 ; le plan lui-même se lit en dessous.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Résumer ce dossier » : une synthèse rédigée à la demande, qui ne remplace ni les pièces ni l’examen.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 plan clôturé, ses lignes suivies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Un plan clôturé, ses lignes suivi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circuit est terminé : les sept étapes sont franchies et datées.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ligne porte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statut de marché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Lancé » dès que la mise en concurrence est ouverte.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plans et leurs marchés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plans et leurs march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plan, son exercice, son nombre de marchés et, parmi eux, ceux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appel d’offres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Détails » ouvre le plan sans quitter l’écran.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détail d’un plan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étail d’un pla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plan actif en quatre onglets : fiche de présentation, plan de passation, projet d’AGPM, pièces jointes.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ligne : montants, mode, financement, bénéficiaire, dates prévisionnelles et statut.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Mettre à jour un PPM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ttre à jour un PP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dernière version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chaque plan dont la décision est transmise ou le dossier clôturé.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Mettre à jour » ouvre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nouvelle version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 plan validé ne se modifie jamais en place.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Demander le retrait d’un dossier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emander le retrait d’un doss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le Président ou le Chef de commission statue.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lettre datée et signée (PDF de 10 Mo au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Seuls les dossiers dont le PV n’est pas signé sont proposés.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Mes demandes » suit leur statut et, le cas échéant, le motif du refus.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calendrier des jalons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calendrier des jal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ligne des plans : la date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prévue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date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réelle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chaque processus du calendrier prévisionnel.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alerte quand un jalon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imminent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retard</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ici, des lancements prévus en avril et jamais réalisés.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dates prévues se corrigent dans le dossier, pas ici.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03</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Contrôler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circuit de contrôle d’un dossier</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voit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e que voit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même frise que la Commission : chaque étape franchie est datée ; ici une déclaration sans suite en vérification.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fin de traitement prévue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lui est annoncée dès le dépôt.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de son dossier : ici celles qu’exige une déclaration sans suite (motifs, projet de décision, justificatifs…).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CONTRÔLE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Ses PV définitifs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Ses PV définitif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PV signés de ses dossiers, avec leurs co-signataires, à afficher ; la base d’une rectification selon les observations.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côté, ses lettres de renvoi : les pièces complémentaires à transmettre.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écrans figés à la soumission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écrans figés à la sou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profils de la Commission, en lecture seule ; 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chaque soumission, l’application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écrans de la procédure tels qu’ils étaient : ici la ligne du plan, les avis et lettres, la commission d’appel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écran figé porte le numéro de la soumission, sa date, son auteur et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atteste qu’il n’a pas changé.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Commission les lit à la place des pièces qui ne sont plus jointes, et peut les exporter en PDF pour l’archivage avec le PV.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MANUEL RÉVISÉ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contrôles du dossier, vus de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ontrôles du dossier, vus de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tous ceux qui lisent le dossier.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L’onglet « Contrôles » : chaque contrôle avec sa référence au manuel, son résultat, le constat, son auteur et sa date.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compteurs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conformes / non conformes / sans objet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l’historique complet sous un volet ; l’export en PDF.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même page,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d’avis spécifique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(PDF ou Word, filigrane « PROJET ») produit depuis la fiche validée : il ne lance rien.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04</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Préparer le DAO</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ligne du plan au DAO publié</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appels d’offres de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appels d’offres de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lignes des plans au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PV signé 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le mode de passation appelle un DAO : référence du plan, nature, forme, objet, mode, montant.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Préparer l’appel d’offres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ouvre une fiche ;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Reprendre la fiche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poursuit. Sous la fiche, le nombre d’offres déposées.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lignes en appel à manifestation d’intérêt (prestations intellectuelles) y figurent aussi.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2 : le cadrage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2 : le cadrag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Des questions qui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ouvrent ou ferment des rubriques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allotissement, tranches, variantes, groupement, type et révision des prix, garantie, avance, pénalités.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question dit dans quel document elle joue (DPAO, acte d’engagement, CCAP).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mode de remise des offres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papier ou électronique, jamais mixte.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mode de remise, figé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mode de remise, fig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sur une fiche déjà validée en remise papier.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question porte la mention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figé depuis la première validation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une procédure commencée sur papier s’achève sur papier, et inversement.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explique la seule exception :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migration motivée par l’Administrateur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tant qu’aucune offre n’est déposée en ligne, que la cérémonie des clés n’est pas close et qu’aucun lot n’est attribué.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bas, les 23 informations reprises du plan, verrouillées.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3 : la saisie par bloc</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3 : la saisie par bloc">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Onze blocs en travaux ; chaque information porte les documents où elle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(acte d’engagement, CCAP).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qui vient du plan ou du cadrage est marqué « repris », et ne se ressaisit pas ; une information conditionnelle dit sa condition (« alloti = OUI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fiche validée se lit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lecture seule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 compteur dit combien d’informations sont saisies (124 sur 170).</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Fournitures à commande : la même fiche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Fournitures à commande : la même fi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même fiche pour les trois catégories ; ses blocs et ses questions suivent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catégorie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forme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lues sur la ligne du plan (ici fournitures, à commande : dix blocs).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informations propres à la forme apparaissent d’elles-mêmes, comme la durée de validité du marché à commandes.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besoin, lot par lot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besoin, lot par lo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travaux,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détail quantitatif et estimatif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chaque lot, par séries : n° de prix, désignation, libellé au bordereau, unité, quantité, plafond.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C’est lui que le candidat remplira de ses prix ; il produit le bordereau des prix de chaque lot.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de l’offre, listées une à une</a:t>
            </a:r>
            <a:endParaRPr lang="en-US" sz="2600" dirty="0"/>
          </a:p>
        </p:txBody>
      </p:sp>
      <p:sp>
        <p:nvSpPr>
          <p:cNvPr id="4" name="Shape 2"/>
          <p:cNvSpPr/>
          <p:nvPr/>
        </p:nvSpPr>
        <p:spPr>
          <a:xfrm>
            <a:off x="1393256" y="1193800"/>
            <a:ext cx="9405183" cy="3327400"/>
          </a:xfrm>
          <a:prstGeom prst="rect">
            <a:avLst/>
          </a:prstGeom>
          <a:solidFill>
            <a:srgbClr val="FCFCFA"/>
          </a:solidFill>
          <a:ln w="9525">
            <a:solidFill>
              <a:srgbClr val="D5DCE4"/>
            </a:solidFill>
            <a:prstDash val="solid"/>
          </a:ln>
        </p:spPr>
      </p:sp>
      <p:pic>
        <p:nvPicPr>
          <p:cNvPr id="5" name="Image 0" descr="Les pièces de l’offre, listées une à une">    </p:cNvPr>
          <p:cNvPicPr>
            <a:picLocks noChangeAspect="1"/>
          </p:cNvPicPr>
          <p:nvPr/>
        </p:nvPicPr>
        <p:blipFill>
          <a:blip r:embed="rId1"/>
          <a:stretch>
            <a:fillRect/>
          </a:stretch>
        </p:blipFill>
        <p:spPr>
          <a:xfrm>
            <a:off x="1405956" y="1206500"/>
            <a:ext cx="9379783" cy="3302000"/>
          </a:xfrm>
          <a:prstGeom prst="rect">
            <a:avLst/>
          </a:prstGeom>
        </p:spPr>
      </p:pic>
      <p:sp>
        <p:nvSpPr>
          <p:cNvPr id="6" name="Shape 3"/>
          <p:cNvSpPr/>
          <p:nvPr/>
        </p:nvSpPr>
        <p:spPr>
          <a:xfrm>
            <a:off x="812780" y="4660900"/>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60900"/>
            <a:ext cx="38099" cy="1517650"/>
          </a:xfrm>
          <a:prstGeom prst="rect">
            <a:avLst/>
          </a:prstGeom>
          <a:solidFill>
            <a:srgbClr val="1B6FA8"/>
          </a:solidFill>
          <a:ln/>
        </p:spPr>
      </p:sp>
      <p:sp>
        <p:nvSpPr>
          <p:cNvPr id="8" name="Text 5"/>
          <p:cNvSpPr/>
          <p:nvPr/>
        </p:nvSpPr>
        <p:spPr>
          <a:xfrm>
            <a:off x="977876" y="4762500"/>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sur une fiche en préparation.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remise électronique, chaque pièce exigée est une ligne : le candidat joindra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un fichier par pièce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se reprend du document type, se colle, s’ajoute pièce par pièce, ou 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propose à partir du texte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DAO.</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texte découpé, à relire</a:t>
            </a:r>
            <a:endParaRPr lang="en-US" sz="2600" dirty="0"/>
          </a:p>
        </p:txBody>
      </p:sp>
      <p:sp>
        <p:nvSpPr>
          <p:cNvPr id="4" name="Shape 2"/>
          <p:cNvSpPr/>
          <p:nvPr/>
        </p:nvSpPr>
        <p:spPr>
          <a:xfrm>
            <a:off x="800080" y="1193800"/>
            <a:ext cx="6894410" cy="5105400"/>
          </a:xfrm>
          <a:prstGeom prst="rect">
            <a:avLst/>
          </a:prstGeom>
          <a:solidFill>
            <a:srgbClr val="FCFCFA"/>
          </a:solidFill>
          <a:ln w="9525">
            <a:solidFill>
              <a:srgbClr val="D5DCE4"/>
            </a:solidFill>
            <a:prstDash val="solid"/>
          </a:ln>
        </p:spPr>
      </p:sp>
      <p:pic>
        <p:nvPicPr>
          <p:cNvPr id="5" name="Image 0" descr="Le texte découpé, à relire">    </p:cNvPr>
          <p:cNvPicPr>
            <a:picLocks noChangeAspect="1"/>
          </p:cNvPicPr>
          <p:nvPr/>
        </p:nvPicPr>
        <p:blipFill>
          <a:blip r:embed="rId1"/>
          <a:stretch>
            <a:fillRect/>
          </a:stretch>
        </p:blipFill>
        <p:spPr>
          <a:xfrm>
            <a:off x="812780" y="1206500"/>
            <a:ext cx="6869011" cy="5080000"/>
          </a:xfrm>
          <a:prstGeom prst="rect">
            <a:avLst/>
          </a:prstGeom>
        </p:spPr>
      </p:pic>
      <p:sp>
        <p:nvSpPr>
          <p:cNvPr id="6" name="Shape 3"/>
          <p:cNvSpPr/>
          <p:nvPr/>
        </p:nvSpPr>
        <p:spPr>
          <a:xfrm>
            <a:off x="7859586" y="1206500"/>
            <a:ext cx="3519330" cy="5080000"/>
          </a:xfrm>
          <a:prstGeom prst="rect">
            <a:avLst/>
          </a:prstGeom>
          <a:solidFill>
            <a:srgbClr val="FCFCFA"/>
          </a:solidFill>
          <a:ln w="9525">
            <a:solidFill>
              <a:srgbClr val="D5DCE4"/>
            </a:solidFill>
            <a:prstDash val="solid"/>
          </a:ln>
        </p:spPr>
      </p:sp>
      <p:sp>
        <p:nvSpPr>
          <p:cNvPr id="7" name="Shape 4"/>
          <p:cNvSpPr/>
          <p:nvPr/>
        </p:nvSpPr>
        <p:spPr>
          <a:xfrm>
            <a:off x="7859586" y="1206500"/>
            <a:ext cx="38099" cy="5080000"/>
          </a:xfrm>
          <a:prstGeom prst="rect">
            <a:avLst/>
          </a:prstGeom>
          <a:solidFill>
            <a:srgbClr val="1B6FA8"/>
          </a:solidFill>
          <a:ln/>
        </p:spPr>
      </p:sp>
      <p:sp>
        <p:nvSpPr>
          <p:cNvPr id="8" name="Text 5"/>
          <p:cNvSpPr/>
          <p:nvPr/>
        </p:nvSpPr>
        <p:spPr>
          <a:xfrm>
            <a:off x="8024682" y="1308100"/>
            <a:ext cx="3227237"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texte est découpé en une pièce par ligne ; la PRMP relit, corrige, complète, puis enregistre. Rien n’est retenu sans elle.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spécifications techniques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spécifications techniqu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 dernier bloc, les pièces de l’offre et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spécifications techniques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 devis descriptif, les prescriptions et les plans, en un document Word de 20 Mo au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est inséré tel quel dans le DAO complet, entre le CCAP et le CCAG. Sans fichier, la partie n’existe pas, et l’écran le dit.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4 : les reprises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4 : les repris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champ repris est rempli depuis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document maître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jamais ressaisi : autorité contractante, montant, source de financement, objet, délai de validité des 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ligne dit d’où vient l’information et dans quels documents elle est reportée.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5 : les contrôles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5 : les contrôl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bilan, recalculé à chaque lecture : informations manquantes, ordre des dates,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délai de publicité de la loi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(30 jours pour l’appel d’offres ouvert national, art. 35-II).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remise électronique, la liste des pièces de l’offre et la marge du quorum de déchiffrement ; les spécifications techniques absentes.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rouge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ce qui bloque la validation ; en orange, un avertissement. Chaque contrôle mène au bloc à corriger.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6 : la validation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6 : la valida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seule.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tête, les repères de la procédure (paramètres internes, commission, cérémonie, offres) et ses écrans : séance, évaluation, dépôts, commission, retraits, reçus, questions.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validée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figée et versionnée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chaque version garde sa date, son auteur et ses documents.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fiche validée ne se supprime pas : « Ouvrir une nouvelle version » la révise.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7 : le DAO complet et les bordereaux</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7 : le DAO complet et les bordereaux">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tête,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dossier d’appel d’offres complet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l’ouvrir, l’enregistrer en PDF ou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Puis, lot par lot, le bordereau des prix et détail quantitatif et estimatif, en Excel.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dossier à soumettre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est créé depuis la fiche ; il reste à y joindre l’estimation du coût et la garantie de soumission.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En fournitures : le tableau de conformité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En fournitures : le tableau de conformit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des fournitures, le DAO complet s’accompagne du bordereau des prix et du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tableau de conformité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aux spécifications techniques.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noms de fichier portent la référence du plan, la ligne et la version de la fiche.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DOCUMENT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page de garde</a:t>
            </a:r>
            <a:endParaRPr lang="en-US" sz="2600" dirty="0"/>
          </a:p>
        </p:txBody>
      </p:sp>
      <p:sp>
        <p:nvSpPr>
          <p:cNvPr id="4" name="Shape 2"/>
          <p:cNvSpPr/>
          <p:nvPr/>
        </p:nvSpPr>
        <p:spPr>
          <a:xfrm>
            <a:off x="800080" y="1193800"/>
            <a:ext cx="3616625" cy="5105400"/>
          </a:xfrm>
          <a:prstGeom prst="rect">
            <a:avLst/>
          </a:prstGeom>
          <a:solidFill>
            <a:srgbClr val="FCFCFA"/>
          </a:solidFill>
          <a:ln w="9525">
            <a:solidFill>
              <a:srgbClr val="D5DCE4"/>
            </a:solidFill>
            <a:prstDash val="solid"/>
          </a:ln>
        </p:spPr>
      </p:sp>
      <p:pic>
        <p:nvPicPr>
          <p:cNvPr id="5" name="Image 0" descr="La page de garde">    </p:cNvPr>
          <p:cNvPicPr>
            <a:picLocks noChangeAspect="1"/>
          </p:cNvPicPr>
          <p:nvPr/>
        </p:nvPicPr>
        <p:blipFill>
          <a:blip r:embed="rId1"/>
          <a:stretch>
            <a:fillRect/>
          </a:stretch>
        </p:blipFill>
        <p:spPr>
          <a:xfrm>
            <a:off x="812780" y="1206500"/>
            <a:ext cx="3591226" cy="5080000"/>
          </a:xfrm>
          <a:prstGeom prst="rect">
            <a:avLst/>
          </a:prstGeom>
        </p:spPr>
      </p:pic>
      <p:sp>
        <p:nvSpPr>
          <p:cNvPr id="6" name="Shape 3"/>
          <p:cNvSpPr/>
          <p:nvPr/>
        </p:nvSpPr>
        <p:spPr>
          <a:xfrm>
            <a:off x="4581801" y="1206500"/>
            <a:ext cx="6797115" cy="5080000"/>
          </a:xfrm>
          <a:prstGeom prst="rect">
            <a:avLst/>
          </a:prstGeom>
          <a:solidFill>
            <a:srgbClr val="FCFCFA"/>
          </a:solidFill>
          <a:ln w="9525">
            <a:solidFill>
              <a:srgbClr val="D5DCE4"/>
            </a:solidFill>
            <a:prstDash val="solid"/>
          </a:ln>
        </p:spPr>
      </p:sp>
      <p:sp>
        <p:nvSpPr>
          <p:cNvPr id="7" name="Shape 4"/>
          <p:cNvSpPr/>
          <p:nvPr/>
        </p:nvSpPr>
        <p:spPr>
          <a:xfrm>
            <a:off x="4581801" y="1206500"/>
            <a:ext cx="38099" cy="5080000"/>
          </a:xfrm>
          <a:prstGeom prst="rect">
            <a:avLst/>
          </a:prstGeom>
          <a:solidFill>
            <a:srgbClr val="1B6FA8"/>
          </a:solidFill>
          <a:ln/>
        </p:spPr>
      </p:sp>
      <p:sp>
        <p:nvSpPr>
          <p:cNvPr id="8" name="Text 5"/>
          <p:cNvSpPr/>
          <p:nvPr/>
        </p:nvSpPr>
        <p:spPr>
          <a:xfrm>
            <a:off x="4746897" y="1308100"/>
            <a:ext cx="6505022"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document produit.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Celle des DAO réels : l’emblème, le ministère, la PRMP et l’UGPM, l’intitulé qui porte le mode de passation.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numéro du DAO, l’objet, « Lancé le … » à compléter, le financement, l’imputation administrative et le compte,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lus sur le plan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DOCUMENT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sommaire général</a:t>
            </a:r>
            <a:endParaRPr lang="en-US" sz="2600" dirty="0"/>
          </a:p>
        </p:txBody>
      </p:sp>
      <p:sp>
        <p:nvSpPr>
          <p:cNvPr id="4" name="Shape 2"/>
          <p:cNvSpPr/>
          <p:nvPr/>
        </p:nvSpPr>
        <p:spPr>
          <a:xfrm>
            <a:off x="800080" y="1193800"/>
            <a:ext cx="3616625" cy="5105400"/>
          </a:xfrm>
          <a:prstGeom prst="rect">
            <a:avLst/>
          </a:prstGeom>
          <a:solidFill>
            <a:srgbClr val="FCFCFA"/>
          </a:solidFill>
          <a:ln w="9525">
            <a:solidFill>
              <a:srgbClr val="D5DCE4"/>
            </a:solidFill>
            <a:prstDash val="solid"/>
          </a:ln>
        </p:spPr>
      </p:sp>
      <p:pic>
        <p:nvPicPr>
          <p:cNvPr id="5" name="Image 0" descr="Le sommaire général">    </p:cNvPr>
          <p:cNvPicPr>
            <a:picLocks noChangeAspect="1"/>
          </p:cNvPicPr>
          <p:nvPr/>
        </p:nvPicPr>
        <p:blipFill>
          <a:blip r:embed="rId1"/>
          <a:stretch>
            <a:fillRect/>
          </a:stretch>
        </p:blipFill>
        <p:spPr>
          <a:xfrm>
            <a:off x="812780" y="1206500"/>
            <a:ext cx="3591226" cy="5080000"/>
          </a:xfrm>
          <a:prstGeom prst="rect">
            <a:avLst/>
          </a:prstGeom>
        </p:spPr>
      </p:pic>
      <p:sp>
        <p:nvSpPr>
          <p:cNvPr id="6" name="Shape 3"/>
          <p:cNvSpPr/>
          <p:nvPr/>
        </p:nvSpPr>
        <p:spPr>
          <a:xfrm>
            <a:off x="4581801" y="1206500"/>
            <a:ext cx="6797115" cy="5080000"/>
          </a:xfrm>
          <a:prstGeom prst="rect">
            <a:avLst/>
          </a:prstGeom>
          <a:solidFill>
            <a:srgbClr val="FCFCFA"/>
          </a:solidFill>
          <a:ln w="9525">
            <a:solidFill>
              <a:srgbClr val="D5DCE4"/>
            </a:solidFill>
            <a:prstDash val="solid"/>
          </a:ln>
        </p:spPr>
      </p:sp>
      <p:sp>
        <p:nvSpPr>
          <p:cNvPr id="7" name="Shape 4"/>
          <p:cNvSpPr/>
          <p:nvPr/>
        </p:nvSpPr>
        <p:spPr>
          <a:xfrm>
            <a:off x="4581801" y="1206500"/>
            <a:ext cx="38099" cy="5080000"/>
          </a:xfrm>
          <a:prstGeom prst="rect">
            <a:avLst/>
          </a:prstGeom>
          <a:solidFill>
            <a:srgbClr val="1B6FA8"/>
          </a:solidFill>
          <a:ln/>
        </p:spPr>
      </p:sp>
      <p:sp>
        <p:nvSpPr>
          <p:cNvPr id="8" name="Text 5"/>
          <p:cNvSpPr/>
          <p:nvPr/>
        </p:nvSpPr>
        <p:spPr>
          <a:xfrm>
            <a:off x="4746897" y="1308100"/>
            <a:ext cx="6505022"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document produit.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deux parties et leurs sous-parties, dans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numérotation de l’ARMP</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les numéros de page.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Dans le Word, c’est une table des matières, mise à jour à l’ouverture.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commission d’appel d’offres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mmission d’appel d’offr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pour elle.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décision de nomination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(référence, date) et les membres : des agents de l’entité, au plus un expert de l’objet, un seul président.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reçoit par courriel une invitation à activer son compte, puis publie sa part de la clé qui ouvrira les 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décision signée se joint en PDF ; sans elle, la commission porte un avertissement.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L’avis spécifique et son projet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vis spécifique et son proje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PV signé avec un avis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l’avis à publier s’imprime ; il reprend la dernière version validée de la fiche. Chaque impression est conservée.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cela,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d’avis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(PDF, Word) se lit dès la validation, en filigrane « PROJET » : il ne lance rien.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relecture des mentions du modèle type ; la déclaration sans suite se demande depuis la même page.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reçus des frais de dossier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eçus des frais de doss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entreprise dépose le reçu de son versement sur le compte de l’ARMP ; elle ne retire le dossier qu’une fois le reçu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validé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montant inférieur aux frais est signalé ; un refus porte son motif, et l’entreprise dépose un nouveau reçu.</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décision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ne se reprend pas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l’écran invite à comparer au relevé de l’ARMP avant de décider.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registre des retraits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egistre des retrait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candidats qui ont retiré le dossier en ligne, du plus ancien au plus récent : date, compte, entreprise, NIF, document, version, reçu des frais.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C’est ce registre qui ouvre le droit de poser une question.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questions des candidats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questions des candidat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l’UGPM lit sans répondre.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candidats ayant retiré le dossier posent leurs questions jusqu’à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dix jours avant la date limite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(art. 35-II) ; l’écran dit quand elles sont closes.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réponse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diffusée dès son enregistrement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sur la page publique de la procédure, sans le nom de l’auteur, et à chaque candidat ayant retiré le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cette procédure de démonstration, aucune question n’a été posée.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05</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L’appel à manifestation d’intérêt</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 ligne du plan à la liste restreinte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57</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fiche de prestations intellectuelles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Une fiche de prestations intellectuell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ligne du plan, en mode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 Appel à manifestation d’intérêt »</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ouvre sa fiche comme les autres ; l’en-tête porte le lien vers l’appel.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prépare ensuite la demande de propositions : données particulières, acte d’engagement, CCAP.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que le plan dit est repris : il annonce un lot, le marché est donc non alloti.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58</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 OU UGPM</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Préparer l’appel</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Préparer l’appel">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avant la publication.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limite de dépôt et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critères de sélection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chacun avec ses points : le total sur 100 est affiché.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attendues, exigées au dépôt une par une, en PDF ou en image.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59</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Publier l’appel</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Publier l’appel">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seule.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note minimale (facultative) et le nombre de candidats retenus sur la liste restreinte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six</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par défaut.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d’avis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suit chaque enregistrement ; il se fige à la publication.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Publier » : la PRMP déclare où l’avis paraît (journal des marchés publics, journal national…) ; la publication fige l’appel et ouvre le dépôt en ligne.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60</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L’appel publié, avant la date limite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ppel publié, avant la date limit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L’appel est figé : date limite, note minimale, candidats retenus, critères, pièces, publication.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signé électroniquement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la publication, se lit en PDF et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la date limite, seul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nombre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d’expressions reçues est connu (ici : 0).</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61</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L’appel et ses expressions d’intérêt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ppel et ses expressions d’intérê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après la date limite.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Publié le 08/10/2026 ; une expression déposée, par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Société de démonstration SARL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datée à la minute.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critères (50, 30 et 20 points), la pièce attendue, le support de publication.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Présélection, liste restreinte et rapport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mène à l’écran de la commission.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62</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AMI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liste définitive et le rapport signé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liste définitive et le rapport sign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Liste définitive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publiée sur la page de l’appel et notifiée à chaque candidat.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rapport de présélection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produit et signé de tous le 08/10/2026, se lit en PDF et en Word ; le quorum de la commission y est constaté.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lettres d’invitation vont désormais aux candidats de cette liste ; le dossier de la demande de propositions peut être créé, le rapport signé y est joint d’office.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63</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06</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Recevoir les offres en ligne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De l’avis publié à l’offre scellée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64</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Refuser un reçu, avec un motif</a:t>
            </a:r>
            <a:endParaRPr lang="en-US" sz="2600" dirty="0"/>
          </a:p>
        </p:txBody>
      </p:sp>
      <p:sp>
        <p:nvSpPr>
          <p:cNvPr id="4" name="Shape 2"/>
          <p:cNvSpPr/>
          <p:nvPr/>
        </p:nvSpPr>
        <p:spPr>
          <a:xfrm>
            <a:off x="1765256" y="1193800"/>
            <a:ext cx="8661183" cy="3327400"/>
          </a:xfrm>
          <a:prstGeom prst="rect">
            <a:avLst/>
          </a:prstGeom>
          <a:solidFill>
            <a:srgbClr val="FCFCFA"/>
          </a:solidFill>
          <a:ln w="9525">
            <a:solidFill>
              <a:srgbClr val="D5DCE4"/>
            </a:solidFill>
            <a:prstDash val="solid"/>
          </a:ln>
        </p:spPr>
      </p:sp>
      <p:pic>
        <p:nvPicPr>
          <p:cNvPr id="5" name="Image 0" descr="Refuser un reçu, avec un motif">    </p:cNvPr>
          <p:cNvPicPr>
            <a:picLocks noChangeAspect="1"/>
          </p:cNvPicPr>
          <p:nvPr/>
        </p:nvPicPr>
        <p:blipFill>
          <a:blip r:embed="rId1"/>
          <a:stretch>
            <a:fillRect/>
          </a:stretch>
        </p:blipFill>
        <p:spPr>
          <a:xfrm>
            <a:off x="1777956" y="1206500"/>
            <a:ext cx="8635784" cy="3302000"/>
          </a:xfrm>
          <a:prstGeom prst="rect">
            <a:avLst/>
          </a:prstGeom>
        </p:spPr>
      </p:pic>
      <p:sp>
        <p:nvSpPr>
          <p:cNvPr id="6" name="Shape 3"/>
          <p:cNvSpPr/>
          <p:nvPr/>
        </p:nvSpPr>
        <p:spPr>
          <a:xfrm>
            <a:off x="812780" y="4660900"/>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60900"/>
            <a:ext cx="38099" cy="1517650"/>
          </a:xfrm>
          <a:prstGeom prst="rect">
            <a:avLst/>
          </a:prstGeom>
          <a:solidFill>
            <a:srgbClr val="1B6FA8"/>
          </a:solidFill>
          <a:ln/>
        </p:spPr>
      </p:sp>
      <p:sp>
        <p:nvSpPr>
          <p:cNvPr id="8" name="Text 5"/>
          <p:cNvSpPr/>
          <p:nvPr/>
        </p:nvSpPr>
        <p:spPr>
          <a:xfrm>
            <a:off x="977876" y="4762500"/>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refus exige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transmis par courriel ; l’entreprise dépose un nouveau reçu.</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décision ne se reprend pas. La liste des reçus de la PRMP est présentée avec la préparation du DAO (partie 04).</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65</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registre, avant l’échéance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registre, avant l’échéanc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la date limite, la PRMP ne connaît que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nombre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d’offres déposées. (Capture du 08/10 : aucune procédure n’est plus ouverte aujourd’hui.)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66</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registre complet, après l’échéance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egistre complet, après l’échéanc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dépôts par numéro d’arrivée : entreprise, NIF, lot, date de dépôt (ou de retrait), état et empreinte.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offre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remplacée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retirée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reste au registre ; elle ne sera jamais ouverte.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67</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tentatives refusées hors délai</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tentatives refusées hors délai">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Sous le registre, la rubrique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Tentatives de dépôt refusées hors délai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chaque tentative après la date limite, datée à la seconde par le serveur, avec l’entreprise, le NIF, le lot et le geste refusé.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aucune tentative : « Aucune tentative après la date limite. » Les mêmes tentatives sont énumérées au PV d’ouverture.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68</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séance close, vue par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séance close, vue par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L’heure d’ouverture, le quorum des parts atteint,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part de secours employée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les membres présents et l’observateur de la PRMP ; les quatre offres reçues et leur état.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garantie lue avec son montant et son émetteur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 Garantie insuffisante »</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pour 800 000 Ar face au minimum de 1 600 000 Ar fixé par la fiche — une alerte, pas un rejet.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dossier de marché étant soumis à la Commission, l’étape est close : la séance ne se modifie plus (partie 08).</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69</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08</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Évaluer les offres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Du PV d’ouverture signé au rapport d’évaluation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70</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OUVRIR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L’évaluation vue par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valuation vue par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qui lit l’évaluation de sa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déclarations datées des membres, puis un onglet par lot et ses étapes, « arrêtée » ou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offres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non évaluées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sont nommées avec leur raison : remplacée par une offre ultérieure, ou retirée par le soumissionnaire.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tout reste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confidentiel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jusqu’à l’information des candidats (art. 12-V, 35-V).</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71</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EXAMEN PRÉLIMINAIRE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Demander une précision au candidat</a:t>
            </a:r>
            <a:endParaRPr lang="en-US" sz="2600" dirty="0"/>
          </a:p>
        </p:txBody>
      </p:sp>
      <p:sp>
        <p:nvSpPr>
          <p:cNvPr id="4" name="Shape 2"/>
          <p:cNvSpPr/>
          <p:nvPr/>
        </p:nvSpPr>
        <p:spPr>
          <a:xfrm>
            <a:off x="800080" y="1193800"/>
            <a:ext cx="10591535" cy="1892706"/>
          </a:xfrm>
          <a:prstGeom prst="rect">
            <a:avLst/>
          </a:prstGeom>
          <a:solidFill>
            <a:srgbClr val="FCFCFA"/>
          </a:solidFill>
          <a:ln w="9525">
            <a:solidFill>
              <a:srgbClr val="D5DCE4"/>
            </a:solidFill>
            <a:prstDash val="solid"/>
          </a:ln>
        </p:spPr>
      </p:sp>
      <p:pic>
        <p:nvPicPr>
          <p:cNvPr id="5" name="Image 0" descr="Demander une précision au candidat">    </p:cNvPr>
          <p:cNvPicPr>
            <a:picLocks noChangeAspect="1"/>
          </p:cNvPicPr>
          <p:nvPr/>
        </p:nvPicPr>
        <p:blipFill>
          <a:blip r:embed="rId1"/>
          <a:stretch>
            <a:fillRect/>
          </a:stretch>
        </p:blipFill>
        <p:spPr>
          <a:xfrm>
            <a:off x="812780" y="1206500"/>
            <a:ext cx="10566136" cy="1867306"/>
          </a:xfrm>
          <a:prstGeom prst="rect">
            <a:avLst/>
          </a:prstGeom>
        </p:spPr>
      </p:pic>
      <p:sp>
        <p:nvSpPr>
          <p:cNvPr id="6" name="Shape 3"/>
          <p:cNvSpPr/>
          <p:nvPr/>
        </p:nvSpPr>
        <p:spPr>
          <a:xfrm>
            <a:off x="812780" y="3226206"/>
            <a:ext cx="10566136" cy="1517650"/>
          </a:xfrm>
          <a:prstGeom prst="rect">
            <a:avLst/>
          </a:prstGeom>
          <a:solidFill>
            <a:srgbClr val="FCFCFA"/>
          </a:solidFill>
          <a:ln w="9525">
            <a:solidFill>
              <a:srgbClr val="D5DCE4"/>
            </a:solidFill>
            <a:prstDash val="solid"/>
          </a:ln>
        </p:spPr>
      </p:sp>
      <p:sp>
        <p:nvSpPr>
          <p:cNvPr id="7" name="Shape 4"/>
          <p:cNvSpPr/>
          <p:nvPr/>
        </p:nvSpPr>
        <p:spPr>
          <a:xfrm>
            <a:off x="812780" y="3226206"/>
            <a:ext cx="38099" cy="1517650"/>
          </a:xfrm>
          <a:prstGeom prst="rect">
            <a:avLst/>
          </a:prstGeom>
          <a:solidFill>
            <a:srgbClr val="1B6FA8"/>
          </a:solidFill>
          <a:ln/>
        </p:spPr>
      </p:sp>
      <p:sp>
        <p:nvSpPr>
          <p:cNvPr id="8" name="Text 5"/>
          <p:cNvSpPr/>
          <p:nvPr/>
        </p:nvSpPr>
        <p:spPr>
          <a:xfrm>
            <a:off x="977876" y="3327806"/>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Art. 35-VI : la PRMP pose sa question par écrit, avec un délai (celui de la fiche par défaut).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précision ne sert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jamais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compléter une pièce essentielle ni à changer le prix.</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72</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OFFRES ANORMALES · PRMP ET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offre maintenue après justification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Une offre maintenue après justifica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demande ; le candidat répond ; la commission décide.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méthode du DAO est rappelée en clair : moyenne de référence, seuils de 20 % au-dessus et de 10 % au-dessous.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justification demandée, son échéance, la réponse du candidat : la commission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maintient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l’offre, motif à l’appui.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Faute de réponse à l’échéance, l’offre porterait la mention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Défaut de réponse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silence vaut refus de justifier (art. 48).</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73</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RAPPORT · DOCUMENT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rapport, sur le plan du guide</a:t>
            </a:r>
            <a:endParaRPr lang="en-US" sz="2600" dirty="0"/>
          </a:p>
        </p:txBody>
      </p:sp>
      <p:sp>
        <p:nvSpPr>
          <p:cNvPr id="4" name="Shape 2"/>
          <p:cNvSpPr/>
          <p:nvPr/>
        </p:nvSpPr>
        <p:spPr>
          <a:xfrm>
            <a:off x="800080" y="1193800"/>
            <a:ext cx="3616625" cy="5105400"/>
          </a:xfrm>
          <a:prstGeom prst="rect">
            <a:avLst/>
          </a:prstGeom>
          <a:solidFill>
            <a:srgbClr val="FCFCFA"/>
          </a:solidFill>
          <a:ln w="9525">
            <a:solidFill>
              <a:srgbClr val="D5DCE4"/>
            </a:solidFill>
            <a:prstDash val="solid"/>
          </a:ln>
        </p:spPr>
      </p:sp>
      <p:pic>
        <p:nvPicPr>
          <p:cNvPr id="5" name="Image 0" descr="Le rapport, sur le plan du guide">    </p:cNvPr>
          <p:cNvPicPr>
            <a:picLocks noChangeAspect="1"/>
          </p:cNvPicPr>
          <p:nvPr/>
        </p:nvPicPr>
        <p:blipFill>
          <a:blip r:embed="rId1"/>
          <a:stretch>
            <a:fillRect/>
          </a:stretch>
        </p:blipFill>
        <p:spPr>
          <a:xfrm>
            <a:off x="812780" y="1206500"/>
            <a:ext cx="3591226" cy="5080000"/>
          </a:xfrm>
          <a:prstGeom prst="rect">
            <a:avLst/>
          </a:prstGeom>
        </p:spPr>
      </p:pic>
      <p:sp>
        <p:nvSpPr>
          <p:cNvPr id="6" name="Shape 3"/>
          <p:cNvSpPr/>
          <p:nvPr/>
        </p:nvSpPr>
        <p:spPr>
          <a:xfrm>
            <a:off x="4581801" y="1206500"/>
            <a:ext cx="6797115" cy="5080000"/>
          </a:xfrm>
          <a:prstGeom prst="rect">
            <a:avLst/>
          </a:prstGeom>
          <a:solidFill>
            <a:srgbClr val="FCFCFA"/>
          </a:solidFill>
          <a:ln w="9525">
            <a:solidFill>
              <a:srgbClr val="D5DCE4"/>
            </a:solidFill>
            <a:prstDash val="solid"/>
          </a:ln>
        </p:spPr>
      </p:sp>
      <p:sp>
        <p:nvSpPr>
          <p:cNvPr id="7" name="Shape 4"/>
          <p:cNvSpPr/>
          <p:nvPr/>
        </p:nvSpPr>
        <p:spPr>
          <a:xfrm>
            <a:off x="4581801" y="1206500"/>
            <a:ext cx="38099" cy="5080000"/>
          </a:xfrm>
          <a:prstGeom prst="rect">
            <a:avLst/>
          </a:prstGeom>
          <a:solidFill>
            <a:srgbClr val="1B6FA8"/>
          </a:solidFill>
          <a:ln/>
        </p:spPr>
      </p:sp>
      <p:sp>
        <p:nvSpPr>
          <p:cNvPr id="8" name="Text 5"/>
          <p:cNvSpPr/>
          <p:nvPr/>
        </p:nvSpPr>
        <p:spPr>
          <a:xfrm>
            <a:off x="4746897" y="1308100"/>
            <a:ext cx="6505022"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Produit par l’application ; non public.</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Références et commission, plis reçus, puis lot par lot : examen préliminaire, corrections, montant évalué et classement, offres anormales, post-qualification, proposition d’attribution.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Puis les signatures et les annexes : déclarations des membres, échanges avec les candidats.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74</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CLOSE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L’étape close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tape clo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qui lisent l’évaluation.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Étape close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dossier de marché n° 100372 (lot 1) est soumis à la Commission ; la séance, l’évaluation et l’AMI de la procédure ne se modifient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une reprise de l’évaluation après avis défavorable, ou une réattribution, les rouvre ; la PRMP ouvre le dossier de marché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lectures restent ouvertes : rapport, PV, PDF et Word.</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75</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négociation à conclure</a:t>
            </a:r>
            <a:endParaRPr lang="en-US" sz="2600" dirty="0"/>
          </a:p>
        </p:txBody>
      </p:sp>
      <p:sp>
        <p:nvSpPr>
          <p:cNvPr id="4" name="Shape 2"/>
          <p:cNvSpPr/>
          <p:nvPr/>
        </p:nvSpPr>
        <p:spPr>
          <a:xfrm>
            <a:off x="2841550" y="1193800"/>
            <a:ext cx="6508596" cy="3327400"/>
          </a:xfrm>
          <a:prstGeom prst="rect">
            <a:avLst/>
          </a:prstGeom>
          <a:solidFill>
            <a:srgbClr val="FCFCFA"/>
          </a:solidFill>
          <a:ln w="9525">
            <a:solidFill>
              <a:srgbClr val="D5DCE4"/>
            </a:solidFill>
            <a:prstDash val="solid"/>
          </a:ln>
        </p:spPr>
      </p:sp>
      <p:pic>
        <p:nvPicPr>
          <p:cNvPr id="5" name="Image 0" descr="La négociation à conclure">    </p:cNvPr>
          <p:cNvPicPr>
            <a:picLocks noChangeAspect="1"/>
          </p:cNvPicPr>
          <p:nvPr/>
        </p:nvPicPr>
        <p:blipFill>
          <a:blip r:embed="rId1"/>
          <a:stretch>
            <a:fillRect/>
          </a:stretch>
        </p:blipFill>
        <p:spPr>
          <a:xfrm>
            <a:off x="2854249" y="1206500"/>
            <a:ext cx="6483197" cy="3302000"/>
          </a:xfrm>
          <a:prstGeom prst="rect">
            <a:avLst/>
          </a:prstGeom>
        </p:spPr>
      </p:pic>
      <p:sp>
        <p:nvSpPr>
          <p:cNvPr id="6" name="Shape 3"/>
          <p:cNvSpPr/>
          <p:nvPr/>
        </p:nvSpPr>
        <p:spPr>
          <a:xfrm>
            <a:off x="812780" y="4660900"/>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60900"/>
            <a:ext cx="38099" cy="1517650"/>
          </a:xfrm>
          <a:prstGeom prst="rect">
            <a:avLst/>
          </a:prstGeom>
          <a:solidFill>
            <a:srgbClr val="1B6FA8"/>
          </a:solidFill>
          <a:ln/>
        </p:spPr>
      </p:sp>
      <p:sp>
        <p:nvSpPr>
          <p:cNvPr id="8" name="Text 5"/>
          <p:cNvSpPr/>
          <p:nvPr/>
        </p:nvSpPr>
        <p:spPr>
          <a:xfrm>
            <a:off x="977876" y="4762500"/>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négociation se tient avec le premier classé, sur des points non substantiels (art. 42-IV).</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PRMP conclut : réussie, ou échouée et motivée ; le procès-verbal dit ce qui a été négocié et convenu.</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76</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09</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Attribuer et notifier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Du rapport signé au marché notifié</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77</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DOSSIER DE MARCHÉ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L’attribution, lot par lot</a:t>
            </a:r>
            <a:endParaRPr lang="en-US" sz="2600" dirty="0"/>
          </a:p>
        </p:txBody>
      </p:sp>
      <p:sp>
        <p:nvSpPr>
          <p:cNvPr id="4" name="Shape 2"/>
          <p:cNvSpPr/>
          <p:nvPr/>
        </p:nvSpPr>
        <p:spPr>
          <a:xfrm>
            <a:off x="800080" y="1193800"/>
            <a:ext cx="10591535" cy="1926041"/>
          </a:xfrm>
          <a:prstGeom prst="rect">
            <a:avLst/>
          </a:prstGeom>
          <a:solidFill>
            <a:srgbClr val="FCFCFA"/>
          </a:solidFill>
          <a:ln w="9525">
            <a:solidFill>
              <a:srgbClr val="D5DCE4"/>
            </a:solidFill>
            <a:prstDash val="solid"/>
          </a:ln>
        </p:spPr>
      </p:sp>
      <p:pic>
        <p:nvPicPr>
          <p:cNvPr id="5" name="Image 0" descr="L’attribution, lot par lot">    </p:cNvPr>
          <p:cNvPicPr>
            <a:picLocks noChangeAspect="1"/>
          </p:cNvPicPr>
          <p:nvPr/>
        </p:nvPicPr>
        <p:blipFill>
          <a:blip r:embed="rId1"/>
          <a:stretch>
            <a:fillRect/>
          </a:stretch>
        </p:blipFill>
        <p:spPr>
          <a:xfrm>
            <a:off x="812780" y="1206500"/>
            <a:ext cx="10566136" cy="1900641"/>
          </a:xfrm>
          <a:prstGeom prst="rect">
            <a:avLst/>
          </a:prstGeom>
        </p:spPr>
      </p:pic>
      <p:sp>
        <p:nvSpPr>
          <p:cNvPr id="6" name="Shape 3"/>
          <p:cNvSpPr/>
          <p:nvPr/>
        </p:nvSpPr>
        <p:spPr>
          <a:xfrm>
            <a:off x="812780" y="3259541"/>
            <a:ext cx="10566136" cy="1720850"/>
          </a:xfrm>
          <a:prstGeom prst="rect">
            <a:avLst/>
          </a:prstGeom>
          <a:solidFill>
            <a:srgbClr val="FCFCFA"/>
          </a:solidFill>
          <a:ln w="9525">
            <a:solidFill>
              <a:srgbClr val="D5DCE4"/>
            </a:solidFill>
            <a:prstDash val="solid"/>
          </a:ln>
        </p:spPr>
      </p:sp>
      <p:sp>
        <p:nvSpPr>
          <p:cNvPr id="7" name="Shape 4"/>
          <p:cNvSpPr/>
          <p:nvPr/>
        </p:nvSpPr>
        <p:spPr>
          <a:xfrm>
            <a:off x="812780" y="3259541"/>
            <a:ext cx="38099" cy="1720850"/>
          </a:xfrm>
          <a:prstGeom prst="rect">
            <a:avLst/>
          </a:prstGeom>
          <a:solidFill>
            <a:srgbClr val="1B6FA8"/>
          </a:solidFill>
          <a:ln/>
        </p:spPr>
      </p:sp>
      <p:sp>
        <p:nvSpPr>
          <p:cNvPr id="8" name="Text 5"/>
          <p:cNvSpPr/>
          <p:nvPr/>
        </p:nvSpPr>
        <p:spPr>
          <a:xfrm>
            <a:off x="977876" y="3361141"/>
            <a:ext cx="10274043" cy="15303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L’état du lot et la proposition du rapport : l’offre, le candidat, le montant hors taxes et le délai.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Créer le dossier de marché » : l’application y joint d’office le projet de marché, le DAO complet, le devis de l’offre, le PV d’ouverture et le rapport.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78</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DOSSIER DE MARCHÉ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Deux lots, deux issues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eux lots, deux issu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Lot 1 : le dossier de marché est créé ; le projet de marché se lit en PDF ou en Word, et 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refait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tant que le marché n’est pas signé.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Lot 2 : aucune offre qualifiée, le rapport proposait l’infructuosité ; la PRMP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déclarée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motif, référence et date de sa décision, suite annoncée (relance de la procédure).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de déclaration sans suite reste accessible sous les lots.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79</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DOSSIER DE MARCHÉ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de marché, au contrôle de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ossier de marché, au contrôle de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suit ; la Commission examine.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dossier de marché de prestations intellectuelles (sous-type MPI) à l’étape de vérification, avec sa fin de traitement prévue.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jointes d’office : projet de marché, cahier des charges (DAO complet), PV d’ouverture, rapport d’analyse des offres, puis les pièces exigées du sous-type.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actes de gestion ne s’y déposent qu’une fois le marché contrôlé favorablement.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80</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lot, après l’avis favorable de la Commission</a:t>
            </a:r>
            <a:endParaRPr lang="en-US" sz="2600" dirty="0"/>
          </a:p>
        </p:txBody>
      </p:sp>
      <p:sp>
        <p:nvSpPr>
          <p:cNvPr id="4" name="Shape 2"/>
          <p:cNvSpPr/>
          <p:nvPr/>
        </p:nvSpPr>
        <p:spPr>
          <a:xfrm>
            <a:off x="800080" y="1193800"/>
            <a:ext cx="10591535" cy="2646974"/>
          </a:xfrm>
          <a:prstGeom prst="rect">
            <a:avLst/>
          </a:prstGeom>
          <a:solidFill>
            <a:srgbClr val="FCFCFA"/>
          </a:solidFill>
          <a:ln w="9525">
            <a:solidFill>
              <a:srgbClr val="D5DCE4"/>
            </a:solidFill>
            <a:prstDash val="solid"/>
          </a:ln>
        </p:spPr>
      </p:sp>
      <p:pic>
        <p:nvPicPr>
          <p:cNvPr id="5" name="Image 0" descr="Le lot, après l’avis favorable de la Commission">    </p:cNvPr>
          <p:cNvPicPr>
            <a:picLocks noChangeAspect="1"/>
          </p:cNvPicPr>
          <p:nvPr/>
        </p:nvPicPr>
        <p:blipFill>
          <a:blip r:embed="rId1"/>
          <a:stretch>
            <a:fillRect/>
          </a:stretch>
        </p:blipFill>
        <p:spPr>
          <a:xfrm>
            <a:off x="812780" y="1206500"/>
            <a:ext cx="10566136" cy="2621574"/>
          </a:xfrm>
          <a:prstGeom prst="rect">
            <a:avLst/>
          </a:prstGeom>
        </p:spPr>
      </p:pic>
      <p:sp>
        <p:nvSpPr>
          <p:cNvPr id="6" name="Shape 3"/>
          <p:cNvSpPr/>
          <p:nvPr/>
        </p:nvSpPr>
        <p:spPr>
          <a:xfrm>
            <a:off x="812780" y="3980474"/>
            <a:ext cx="10566136" cy="1517650"/>
          </a:xfrm>
          <a:prstGeom prst="rect">
            <a:avLst/>
          </a:prstGeom>
          <a:solidFill>
            <a:srgbClr val="FCFCFA"/>
          </a:solidFill>
          <a:ln w="9525">
            <a:solidFill>
              <a:srgbClr val="D5DCE4"/>
            </a:solidFill>
            <a:prstDash val="solid"/>
          </a:ln>
        </p:spPr>
      </p:sp>
      <p:sp>
        <p:nvSpPr>
          <p:cNvPr id="7" name="Shape 4"/>
          <p:cNvSpPr/>
          <p:nvPr/>
        </p:nvSpPr>
        <p:spPr>
          <a:xfrm>
            <a:off x="812780" y="3980474"/>
            <a:ext cx="38099" cy="1517650"/>
          </a:xfrm>
          <a:prstGeom prst="rect">
            <a:avLst/>
          </a:prstGeom>
          <a:solidFill>
            <a:srgbClr val="1B6FA8"/>
          </a:solidFill>
          <a:ln/>
        </p:spPr>
      </p:sp>
      <p:sp>
        <p:nvSpPr>
          <p:cNvPr id="8" name="Text 5"/>
          <p:cNvSpPr/>
          <p:nvPr/>
        </p:nvSpPr>
        <p:spPr>
          <a:xfrm>
            <a:off x="977876" y="4082074"/>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elle seule.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de marché a reçu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la Commission : le lot peut être attribué.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Attribuer à l’offre proposée » : seule l’offre proposée par la commission d’appel d’offres peut l’être (art. 35-VII).</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81</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Informer les candidats</a:t>
            </a:r>
            <a:endParaRPr lang="en-US" sz="2600" dirty="0"/>
          </a:p>
        </p:txBody>
      </p:sp>
      <p:sp>
        <p:nvSpPr>
          <p:cNvPr id="4" name="Shape 2"/>
          <p:cNvSpPr/>
          <p:nvPr/>
        </p:nvSpPr>
        <p:spPr>
          <a:xfrm>
            <a:off x="800080" y="1193800"/>
            <a:ext cx="10591535" cy="2183381"/>
          </a:xfrm>
          <a:prstGeom prst="rect">
            <a:avLst/>
          </a:prstGeom>
          <a:solidFill>
            <a:srgbClr val="FCFCFA"/>
          </a:solidFill>
          <a:ln w="9525">
            <a:solidFill>
              <a:srgbClr val="D5DCE4"/>
            </a:solidFill>
            <a:prstDash val="solid"/>
          </a:ln>
        </p:spPr>
      </p:sp>
      <p:pic>
        <p:nvPicPr>
          <p:cNvPr id="5" name="Image 0" descr="Informer les candidats">    </p:cNvPr>
          <p:cNvPicPr>
            <a:picLocks noChangeAspect="1"/>
          </p:cNvPicPr>
          <p:nvPr/>
        </p:nvPicPr>
        <p:blipFill>
          <a:blip r:embed="rId1"/>
          <a:stretch>
            <a:fillRect/>
          </a:stretch>
        </p:blipFill>
        <p:spPr>
          <a:xfrm>
            <a:off x="812780" y="1206500"/>
            <a:ext cx="10566136" cy="2157981"/>
          </a:xfrm>
          <a:prstGeom prst="rect">
            <a:avLst/>
          </a:prstGeom>
        </p:spPr>
      </p:pic>
      <p:sp>
        <p:nvSpPr>
          <p:cNvPr id="6" name="Shape 3"/>
          <p:cNvSpPr/>
          <p:nvPr/>
        </p:nvSpPr>
        <p:spPr>
          <a:xfrm>
            <a:off x="812780" y="3516881"/>
            <a:ext cx="10566136" cy="1720850"/>
          </a:xfrm>
          <a:prstGeom prst="rect">
            <a:avLst/>
          </a:prstGeom>
          <a:solidFill>
            <a:srgbClr val="FCFCFA"/>
          </a:solidFill>
          <a:ln w="9525">
            <a:solidFill>
              <a:srgbClr val="D5DCE4"/>
            </a:solidFill>
            <a:prstDash val="solid"/>
          </a:ln>
        </p:spPr>
      </p:sp>
      <p:sp>
        <p:nvSpPr>
          <p:cNvPr id="7" name="Shape 4"/>
          <p:cNvSpPr/>
          <p:nvPr/>
        </p:nvSpPr>
        <p:spPr>
          <a:xfrm>
            <a:off x="812780" y="3516881"/>
            <a:ext cx="38099" cy="1720850"/>
          </a:xfrm>
          <a:prstGeom prst="rect">
            <a:avLst/>
          </a:prstGeom>
          <a:solidFill>
            <a:srgbClr val="1B6FA8"/>
          </a:solidFill>
          <a:ln/>
        </p:spPr>
      </p:sp>
      <p:sp>
        <p:nvSpPr>
          <p:cNvPr id="8" name="Text 5"/>
          <p:cNvSpPr/>
          <p:nvPr/>
        </p:nvSpPr>
        <p:spPr>
          <a:xfrm>
            <a:off x="977876" y="3618481"/>
            <a:ext cx="10274043" cy="15303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d’</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affichage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résultat au siège, puis « Signer et envoyer les lettres » : une lettre par offre évaluée (art. 52).</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motifs de rejet sont tirés du rapport d’évaluation.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82</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Attribué, puis informé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Attribué, puis inform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de marché porte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la Commission ; le lot est attribué à l’offre n° 4 pour 166 000 000 Ar HT, délai 3 mois.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lettres sont signées électroniquement, l’affichage au siège est déclaré ; pour chaque candidat, l’heure du courriel et celle de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première lecture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sur la plateforme, qui vaut accusé de réception.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83</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Délai d’attente, explications et recours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élai d’attente, explications et recou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10 jours francs à compter du 10/10/2026 » :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réception présumée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l’information, 3 jours après l’envoi (ou l’affichage s’il est plus tardif) ; signature possible à partir du 21/10/2026.</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d’explication d’un candidat écarté et la réponse écrite de la PRMP.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demande en révision auprès de l’ARMP (art. 80) :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Signature suspendue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jusqu’à la décision, au plus tard le 27/10/2026 » ; la décision se déclare avec son issue et son motif.</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84</a:t>
            </a:r>
            <a:endParaRPr lang="en-US"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85</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PIÈCES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vérifiées, l’original attendu</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ièces vérifiées, l’original attendu">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L’échéance des pièces, et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dates de délivrance les plus anciennes admises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(07/04/2026 pour la fiscale, 07/07/2026 pour la sociale) : une pièce plus ancienne ne peut être reconnue conforme.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pièce : sa date de délivrance, son dépôt, son fichier et son état.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L’original de l’acte d’engagement est annoncé « à déposer » ; la PRMP qui l’a reçu l’enregistre (date de remise facultative, scan) puis le vérifie.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86</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SIGNATURE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Mise au point et signature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ise au point et signat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mise au point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l’attributaire : calendrier de démarrage précisé, sans modification du prix ni des prestations.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Signer le marché » est ouvert quand le délai d’attente est écoulé, sans recours suspensif, les deux pièces conformes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l’original de l’acte d’engagement reconnu conforme ; le bouton reste fermé ici.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Viennent ensuite l’approbation, l’enregistrement, la notification et l’avis d’attribution (sans capture : aucun lot de la base n’a encore atteint ces états).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87</a:t>
            </a:r>
            <a:endParaRPr 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APRÈS UN AVIS DÉFAVORABLE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Après un avis défavorable : infructuosité ou reprise</a:t>
            </a:r>
            <a:endParaRPr lang="en-US" sz="2600" dirty="0"/>
          </a:p>
        </p:txBody>
      </p:sp>
      <p:sp>
        <p:nvSpPr>
          <p:cNvPr id="4" name="Shape 2"/>
          <p:cNvSpPr/>
          <p:nvPr/>
        </p:nvSpPr>
        <p:spPr>
          <a:xfrm>
            <a:off x="2894620" y="1193800"/>
            <a:ext cx="6402454" cy="3327400"/>
          </a:xfrm>
          <a:prstGeom prst="rect">
            <a:avLst/>
          </a:prstGeom>
          <a:solidFill>
            <a:srgbClr val="FCFCFA"/>
          </a:solidFill>
          <a:ln w="9525">
            <a:solidFill>
              <a:srgbClr val="D5DCE4"/>
            </a:solidFill>
            <a:prstDash val="solid"/>
          </a:ln>
        </p:spPr>
      </p:sp>
      <p:pic>
        <p:nvPicPr>
          <p:cNvPr id="5" name="Image 0" descr="Après un avis défavorable : infructuosité ou reprise">    </p:cNvPr>
          <p:cNvPicPr>
            <a:picLocks noChangeAspect="1"/>
          </p:cNvPicPr>
          <p:nvPr/>
        </p:nvPicPr>
        <p:blipFill>
          <a:blip r:embed="rId1"/>
          <a:stretch>
            <a:fillRect/>
          </a:stretch>
        </p:blipFill>
        <p:spPr>
          <a:xfrm>
            <a:off x="2907320" y="1206500"/>
            <a:ext cx="6377055" cy="3302000"/>
          </a:xfrm>
          <a:prstGeom prst="rect">
            <a:avLst/>
          </a:prstGeom>
        </p:spPr>
      </p:pic>
      <p:sp>
        <p:nvSpPr>
          <p:cNvPr id="6" name="Shape 3"/>
          <p:cNvSpPr/>
          <p:nvPr/>
        </p:nvSpPr>
        <p:spPr>
          <a:xfrm>
            <a:off x="812780" y="4660900"/>
            <a:ext cx="10566136" cy="1517650"/>
          </a:xfrm>
          <a:prstGeom prst="rect">
            <a:avLst/>
          </a:prstGeom>
          <a:solidFill>
            <a:srgbClr val="FCFCFA"/>
          </a:solidFill>
          <a:ln w="9525">
            <a:solidFill>
              <a:srgbClr val="D5DCE4"/>
            </a:solidFill>
            <a:prstDash val="solid"/>
          </a:ln>
        </p:spPr>
      </p:sp>
      <p:sp>
        <p:nvSpPr>
          <p:cNvPr id="7" name="Shape 4"/>
          <p:cNvSpPr/>
          <p:nvPr/>
        </p:nvSpPr>
        <p:spPr>
          <a:xfrm>
            <a:off x="812780" y="4660900"/>
            <a:ext cx="38099" cy="1517650"/>
          </a:xfrm>
          <a:prstGeom prst="rect">
            <a:avLst/>
          </a:prstGeom>
          <a:solidFill>
            <a:srgbClr val="1B6FA8"/>
          </a:solidFill>
          <a:ln/>
        </p:spPr>
      </p:sp>
      <p:sp>
        <p:nvSpPr>
          <p:cNvPr id="8" name="Text 5"/>
          <p:cNvSpPr/>
          <p:nvPr/>
        </p:nvSpPr>
        <p:spPr>
          <a:xfrm>
            <a:off x="977876" y="4762500"/>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de marché a reçu un avis défavorable : la PRMP déclare le lot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infructueux</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(motif, référence et date de sa décision, suite envisagée),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reprend l’évaluation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un motif.</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88</a:t>
            </a:r>
            <a:endParaRPr 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APRÈS UN AVIS DÉFAVORABLE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L’évaluation reprise, le rapport archivé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valuation reprise, le rapport archiv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reprend ; la commission refait le rapport.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Reprise après avis défavorable », datée et motivée : le rapport est repris pour corriger le calendrier de mobilisation.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rapport signé précédent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archivé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lisible en PDF et en Word ; le lot revient « Évaluation en cours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nouveau rapport, puis un nouveau dossier de marché suivront.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89</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SANS SUITE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demande de déclaration sans suite</a:t>
            </a:r>
            <a:endParaRPr lang="en-US" sz="2600" dirty="0"/>
          </a:p>
        </p:txBody>
      </p:sp>
      <p:sp>
        <p:nvSpPr>
          <p:cNvPr id="4" name="Shape 2"/>
          <p:cNvSpPr/>
          <p:nvPr/>
        </p:nvSpPr>
        <p:spPr>
          <a:xfrm>
            <a:off x="1420550" y="1193800"/>
            <a:ext cx="9350595" cy="3327400"/>
          </a:xfrm>
          <a:prstGeom prst="rect">
            <a:avLst/>
          </a:prstGeom>
          <a:solidFill>
            <a:srgbClr val="FCFCFA"/>
          </a:solidFill>
          <a:ln w="9525">
            <a:solidFill>
              <a:srgbClr val="D5DCE4"/>
            </a:solidFill>
            <a:prstDash val="solid"/>
          </a:ln>
        </p:spPr>
      </p:sp>
      <p:pic>
        <p:nvPicPr>
          <p:cNvPr id="5" name="Image 0" descr="La demande de déclaration sans suite">    </p:cNvPr>
          <p:cNvPicPr>
            <a:picLocks noChangeAspect="1"/>
          </p:cNvPicPr>
          <p:nvPr/>
        </p:nvPicPr>
        <p:blipFill>
          <a:blip r:embed="rId1"/>
          <a:stretch>
            <a:fillRect/>
          </a:stretch>
        </p:blipFill>
        <p:spPr>
          <a:xfrm>
            <a:off x="1433250" y="1206500"/>
            <a:ext cx="9325195"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tout moment avant la signature d’un marché de la procédure, la PRMP demande,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l’appui.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motifs forment une pièce du dossier soumis à la Commission, qui rend un avis favorable ou défavorable sous cinq jours de la réception.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90</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SANS SUITE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de déclaration sans suite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ossier de déclaration sans suit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suit ; la Commission examine.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dossier « Déclaration sans suite » suit le circuit ordinaire, ici à l’étape de vérification.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motifs de la déclaration, en tête des pièces, puis la fiche de présentation, le plan contrôlé, le projet de décision et les justificatifs.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91</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SANS SUITE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L’avis favorable : la PRMP déclare</a:t>
            </a:r>
            <a:endParaRPr lang="en-US" sz="2600" dirty="0"/>
          </a:p>
        </p:txBody>
      </p:sp>
      <p:sp>
        <p:nvSpPr>
          <p:cNvPr id="4" name="Shape 2"/>
          <p:cNvSpPr/>
          <p:nvPr/>
        </p:nvSpPr>
        <p:spPr>
          <a:xfrm>
            <a:off x="1016922" y="1193800"/>
            <a:ext cx="10157851" cy="3327400"/>
          </a:xfrm>
          <a:prstGeom prst="rect">
            <a:avLst/>
          </a:prstGeom>
          <a:solidFill>
            <a:srgbClr val="FCFCFA"/>
          </a:solidFill>
          <a:ln w="9525">
            <a:solidFill>
              <a:srgbClr val="D5DCE4"/>
            </a:solidFill>
            <a:prstDash val="solid"/>
          </a:ln>
        </p:spPr>
      </p:sp>
      <p:pic>
        <p:nvPicPr>
          <p:cNvPr id="5" name="Image 0" descr="L’avis favorable : la PRMP déclare">    </p:cNvPr>
          <p:cNvPicPr>
            <a:picLocks noChangeAspect="1"/>
          </p:cNvPicPr>
          <p:nvPr/>
        </p:nvPicPr>
        <p:blipFill>
          <a:blip r:embed="rId1"/>
          <a:stretch>
            <a:fillRect/>
          </a:stretch>
        </p:blipFill>
        <p:spPr>
          <a:xfrm>
            <a:off x="1029622" y="1206500"/>
            <a:ext cx="10132451" cy="3302000"/>
          </a:xfrm>
          <a:prstGeom prst="rect">
            <a:avLst/>
          </a:prstGeom>
        </p:spPr>
      </p:pic>
      <p:sp>
        <p:nvSpPr>
          <p:cNvPr id="6" name="Shape 3"/>
          <p:cNvSpPr/>
          <p:nvPr/>
        </p:nvSpPr>
        <p:spPr>
          <a:xfrm>
            <a:off x="812780" y="4660900"/>
            <a:ext cx="10566136" cy="1314450"/>
          </a:xfrm>
          <a:prstGeom prst="rect">
            <a:avLst/>
          </a:prstGeom>
          <a:solidFill>
            <a:srgbClr val="FCFCFA"/>
          </a:solidFill>
          <a:ln w="9525">
            <a:solidFill>
              <a:srgbClr val="D5DCE4"/>
            </a:solidFill>
            <a:prstDash val="solid"/>
          </a:ln>
        </p:spPr>
      </p:sp>
      <p:sp>
        <p:nvSpPr>
          <p:cNvPr id="7" name="Shape 4"/>
          <p:cNvSpPr/>
          <p:nvPr/>
        </p:nvSpPr>
        <p:spPr>
          <a:xfrm>
            <a:off x="812780" y="4660900"/>
            <a:ext cx="38099" cy="1314450"/>
          </a:xfrm>
          <a:prstGeom prst="rect">
            <a:avLst/>
          </a:prstGeom>
          <a:solidFill>
            <a:srgbClr val="1B6FA8"/>
          </a:solidFill>
          <a:ln/>
        </p:spPr>
      </p:sp>
      <p:sp>
        <p:nvSpPr>
          <p:cNvPr id="8" name="Text 5"/>
          <p:cNvSpPr/>
          <p:nvPr/>
        </p:nvSpPr>
        <p:spPr>
          <a:xfrm>
            <a:off x="977876" y="4762500"/>
            <a:ext cx="10274043" cy="11239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rendu, la PRMP déclare le sans suite : la référence et la date de sa décision.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92</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SANS SUITE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procédure déclarée sans suite</a:t>
            </a:r>
            <a:endParaRPr lang="en-US" sz="2600" dirty="0"/>
          </a:p>
        </p:txBody>
      </p:sp>
      <p:sp>
        <p:nvSpPr>
          <p:cNvPr id="4" name="Shape 2"/>
          <p:cNvSpPr/>
          <p:nvPr/>
        </p:nvSpPr>
        <p:spPr>
          <a:xfrm>
            <a:off x="800080" y="1193800"/>
            <a:ext cx="10591535" cy="2451149"/>
          </a:xfrm>
          <a:prstGeom prst="rect">
            <a:avLst/>
          </a:prstGeom>
          <a:solidFill>
            <a:srgbClr val="FCFCFA"/>
          </a:solidFill>
          <a:ln w="9525">
            <a:solidFill>
              <a:srgbClr val="D5DCE4"/>
            </a:solidFill>
            <a:prstDash val="solid"/>
          </a:ln>
        </p:spPr>
      </p:sp>
      <p:pic>
        <p:nvPicPr>
          <p:cNvPr id="5" name="Image 0" descr="La procédure déclarée sans suite">    </p:cNvPr>
          <p:cNvPicPr>
            <a:picLocks noChangeAspect="1"/>
          </p:cNvPicPr>
          <p:nvPr/>
        </p:nvPicPr>
        <p:blipFill>
          <a:blip r:embed="rId1"/>
          <a:stretch>
            <a:fillRect/>
          </a:stretch>
        </p:blipFill>
        <p:spPr>
          <a:xfrm>
            <a:off x="812780" y="1206500"/>
            <a:ext cx="10566136" cy="2425749"/>
          </a:xfrm>
          <a:prstGeom prst="rect">
            <a:avLst/>
          </a:prstGeom>
        </p:spPr>
      </p:pic>
      <p:sp>
        <p:nvSpPr>
          <p:cNvPr id="6" name="Shape 3"/>
          <p:cNvSpPr/>
          <p:nvPr/>
        </p:nvSpPr>
        <p:spPr>
          <a:xfrm>
            <a:off x="812780" y="3784649"/>
            <a:ext cx="10566136" cy="1517650"/>
          </a:xfrm>
          <a:prstGeom prst="rect">
            <a:avLst/>
          </a:prstGeom>
          <a:solidFill>
            <a:srgbClr val="FCFCFA"/>
          </a:solidFill>
          <a:ln w="9525">
            <a:solidFill>
              <a:srgbClr val="D5DCE4"/>
            </a:solidFill>
            <a:prstDash val="solid"/>
          </a:ln>
        </p:spPr>
      </p:sp>
      <p:sp>
        <p:nvSpPr>
          <p:cNvPr id="7" name="Shape 4"/>
          <p:cNvSpPr/>
          <p:nvPr/>
        </p:nvSpPr>
        <p:spPr>
          <a:xfrm>
            <a:off x="812780" y="3784649"/>
            <a:ext cx="38099" cy="1517650"/>
          </a:xfrm>
          <a:prstGeom prst="rect">
            <a:avLst/>
          </a:prstGeom>
          <a:solidFill>
            <a:srgbClr val="1B6FA8"/>
          </a:solidFill>
          <a:ln/>
        </p:spPr>
      </p:sp>
      <p:sp>
        <p:nvSpPr>
          <p:cNvPr id="8" name="Text 5"/>
          <p:cNvSpPr/>
          <p:nvPr/>
        </p:nvSpPr>
        <p:spPr>
          <a:xfrm>
            <a:off x="977876" y="3886249"/>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procédure est close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sans suite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les candidats en sont informés, avec les motifs.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aucun geste d’attribution n’est possible.</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93</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ACTES DE GESTION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marché et ses actes de gestion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marché et ses actes de ges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montant initial (166 000 000 Ar HT) et la catégorie ; les avenants cumulés face au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plafond du tiers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20 000 000 Ar sur 55 333 333,33 Ar.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L’avenant n° 1 soumis, une remise de pénalités en brouillon ; « Déposer un acte de gestion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jointes d’office au dossier de marché : projet de marché, cahier des charges, PV d’ouverture, rapport d’analyse, devis.</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94</a:t>
            </a:r>
            <a:endParaRPr lang="en-US" sz="11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ACTES DE GESTION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Déposer un avenant</a:t>
            </a:r>
            <a:endParaRPr lang="en-US" sz="2600" dirty="0"/>
          </a:p>
        </p:txBody>
      </p:sp>
      <p:sp>
        <p:nvSpPr>
          <p:cNvPr id="4" name="Shape 2"/>
          <p:cNvSpPr/>
          <p:nvPr/>
        </p:nvSpPr>
        <p:spPr>
          <a:xfrm>
            <a:off x="800080" y="1193800"/>
            <a:ext cx="7327717" cy="4571206"/>
          </a:xfrm>
          <a:prstGeom prst="rect">
            <a:avLst/>
          </a:prstGeom>
          <a:solidFill>
            <a:srgbClr val="FCFCFA"/>
          </a:solidFill>
          <a:ln w="9525">
            <a:solidFill>
              <a:srgbClr val="D5DCE4"/>
            </a:solidFill>
            <a:prstDash val="solid"/>
          </a:ln>
        </p:spPr>
      </p:sp>
      <p:pic>
        <p:nvPicPr>
          <p:cNvPr id="5" name="Image 0" descr="Déposer un avenant">    </p:cNvPr>
          <p:cNvPicPr>
            <a:picLocks noChangeAspect="1"/>
          </p:cNvPicPr>
          <p:nvPr/>
        </p:nvPicPr>
        <p:blipFill>
          <a:blip r:embed="rId1"/>
          <a:stretch>
            <a:fillRect/>
          </a:stretch>
        </p:blipFill>
        <p:spPr>
          <a:xfrm>
            <a:off x="812780" y="1206500"/>
            <a:ext cx="7302317" cy="4545806"/>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L’acte (avenant, résiliation, indemnité, pénalités, sursis), le montant hors taxes de l’avenant, les faits du marché (réceptions, solde) ; la projection du cumul s’affiche avant le dépôt.</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95</a:t>
            </a:r>
            <a:endParaRPr lang="en-US" sz="11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ACTES DE GESTION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L’acte en brouillon : pièces et soumission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te en brouillon : pièces et sou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remise de pénalités née du marché, en brouillon : ses déclarations, les pièces exigées de son sous-type, un lien vers le dossier du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Quand toutes les pièces obligatoires sont jointes, l’acte se soumet à la Commission.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96</a:t>
            </a:r>
            <a:endParaRPr lang="en-US" sz="11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ACTES DE GESTION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L’avenant soumis à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venant soumis à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suit ; la Commission examine.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L’avenant n° 1 (20 000 000 Ar HT), déposé le 09/10, est en réception à la Commission, avec sa fin de traitement prévue.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Ses six pièces : fiche de présentation, projet d’avenant, marché initial signé et approuvé, PV de la Commission sur le marché, accord des parties, élément déclencheur.</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97</a:t>
            </a:r>
            <a:endParaRPr lang="en-US" sz="11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PILOTAGE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suivi des dossiers à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suivi des dossiers à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dossier de la PRMP : référence, type, entité, localité, date de dépôt,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fin de traitement prévue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par la Commission,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prévue est calculée dès la soumission, à partir des délais standards de la Commission.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PRMP suit l’avancement sans voir les acteurs internes de la Commission.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98</a:t>
            </a:r>
            <a:endParaRPr lang="en-US" sz="11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PUBLICATION · CHARGÉ DE PUBLICATION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publications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ublic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Chargé de publication crée et met à jour ; les PRMP et la Commission consultent.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publication : objet, statut, nombre de consultations.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publication naît en attente, se publie, puis peut être retirée — toujours avec un motif.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Aucune publication n’est encore enregistrée sur la base de démonstration.</a:t>
            </a:r>
            <a:endParaRPr lang="en-US" sz="1050" dirty="0"/>
          </a:p>
        </p:txBody>
      </p:sp>
      <p:sp>
        <p:nvSpPr>
          <p:cNvPr id="9"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99</a:t>
            </a:r>
            <a:endParaRPr lang="en-US" sz="11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RÈGLES À CONNAÎTRE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 que l’application applique pour la PRMP</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174 règles de gestion, tirées des écrans présentés : ce que l’application vérifie, bloque ou trace.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100</a:t>
            </a:r>
            <a:endParaRPr lang="en-US" sz="11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(1/35)</a:t>
            </a:r>
            <a:endParaRPr lang="en-US" sz="2600" dirty="0"/>
          </a:p>
        </p:txBody>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PRMP s’inscrit elle-même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renseigne son identité, déclare ses entités contractantes — choisies dans le référentiel ou proposées si absentes — et joint son </a:t>
                      </a:r>
                      <a:pPr indent="0" marL="0">
                        <a:buNone/>
                      </a:pPr>
                      <a:r>
                        <a:rPr lang="en-US" sz="1100" b="1" dirty="0">
                          <a:solidFill>
                            <a:srgbClr val="1B2A3A"/>
                          </a:solidFill>
                          <a:latin typeface="Segoe UI" pitchFamily="34" charset="0"/>
                          <a:ea typeface="Segoe UI" pitchFamily="34" charset="-122"/>
                          <a:cs typeface="Segoe UI" pitchFamily="34" charset="-120"/>
                        </a:rPr>
                        <a:t>arrêté de nomination</a:t>
                      </a:r>
                      <a:pPr indent="0" marL="0">
                        <a:buNone/>
                      </a:pPr>
                      <a:r>
                        <a:rPr lang="en-US" sz="1100" dirty="0">
                          <a:solidFill>
                            <a:srgbClr val="1B2A3A"/>
                          </a:solidFill>
                          <a:latin typeface="Segoe UI" pitchFamily="34" charset="0"/>
                          <a:ea typeface="Segoe UI" pitchFamily="34" charset="-122"/>
                          <a:cs typeface="Segoe UI" pitchFamily="34" charset="-120"/>
                        </a:rPr>
                        <a:t> et sa CIN, la photo restant facultative. Le compte naît en attente et ne peut pas se connecter.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entité, une seule PRMP</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PRMP gère plusieurs entités contractantes, mais chaque entité n’a qu’</a:t>
                      </a:r>
                      <a:pPr indent="0" marL="0">
                        <a:buNone/>
                      </a:pPr>
                      <a:r>
                        <a:rPr lang="en-US" sz="1100" b="1" dirty="0">
                          <a:solidFill>
                            <a:srgbClr val="1B2A3A"/>
                          </a:solidFill>
                          <a:latin typeface="Segoe UI" pitchFamily="34" charset="0"/>
                          <a:ea typeface="Segoe UI" pitchFamily="34" charset="-122"/>
                          <a:cs typeface="Segoe UI" pitchFamily="34" charset="-120"/>
                        </a:rPr>
                        <a:t>une seule PRMP active</a:t>
                      </a:r>
                      <a:pPr indent="0" marL="0">
                        <a:buNone/>
                      </a:pPr>
                      <a:r>
                        <a:rPr lang="en-US" sz="1100" dirty="0">
                          <a:solidFill>
                            <a:srgbClr val="1B2A3A"/>
                          </a:solidFill>
                          <a:latin typeface="Segoe UI" pitchFamily="34" charset="0"/>
                          <a:ea typeface="Segoe UI" pitchFamily="34" charset="-122"/>
                          <a:cs typeface="Segoe UI" pitchFamily="34" charset="-120"/>
                        </a:rPr>
                        <a:t>. La PRMP n’a pas de localité propre : celle d’un dossier vient de l’entité choisie à la saisie.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L’UGPM rattachée à sa tutelle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UGPM est rattachée à </a:t>
                      </a:r>
                      <a:pPr indent="0" marL="0">
                        <a:buNone/>
                      </a:pPr>
                      <a:r>
                        <a:rPr lang="en-US" sz="1100" b="1" dirty="0">
                          <a:solidFill>
                            <a:srgbClr val="1B2A3A"/>
                          </a:solidFill>
                          <a:latin typeface="Segoe UI" pitchFamily="34" charset="0"/>
                          <a:ea typeface="Segoe UI" pitchFamily="34" charset="-122"/>
                          <a:cs typeface="Segoe UI" pitchFamily="34" charset="-120"/>
                        </a:rPr>
                        <a:t>une seule PRMP de tutelle</a:t>
                      </a:r>
                      <a:pPr indent="0" marL="0">
                        <a:buNone/>
                      </a:pPr>
                      <a:r>
                        <a:rPr lang="en-US" sz="1100" dirty="0">
                          <a:solidFill>
                            <a:srgbClr val="1B2A3A"/>
                          </a:solidFill>
                          <a:latin typeface="Segoe UI" pitchFamily="34" charset="0"/>
                          <a:ea typeface="Segoe UI" pitchFamily="34" charset="-122"/>
                          <a:cs typeface="Segoe UI" pitchFamily="34" charset="-120"/>
                        </a:rPr>
                        <a:t>. Son compte est créé par sa PRMP depuis son espace (« Créer compte UGPM »), ou par l’Administrateur ; il porte sa CIN, sans arrêté ni entité. Dans tous les cas, il reste </a:t>
                      </a:r>
                      <a:pPr indent="0" marL="0">
                        <a:buNone/>
                      </a:pPr>
                      <a:r>
                        <a:rPr lang="en-US" sz="1100" b="1" dirty="0">
                          <a:solidFill>
                            <a:srgbClr val="1B2A3A"/>
                          </a:solidFill>
                          <a:latin typeface="Segoe UI" pitchFamily="34" charset="0"/>
                          <a:ea typeface="Segoe UI" pitchFamily="34" charset="-122"/>
                          <a:cs typeface="Segoe UI" pitchFamily="34" charset="-120"/>
                        </a:rPr>
                        <a:t>en attente</a:t>
                      </a:r>
                      <a:pPr indent="0" marL="0">
                        <a:buNone/>
                      </a:pPr>
                      <a:r>
                        <a:rPr lang="en-US" sz="1100" dirty="0">
                          <a:solidFill>
                            <a:srgbClr val="1B2A3A"/>
                          </a:solidFill>
                          <a:latin typeface="Segoe UI" pitchFamily="34" charset="0"/>
                          <a:ea typeface="Segoe UI" pitchFamily="34" charset="-122"/>
                          <a:cs typeface="Segoe UI" pitchFamily="34" charset="-120"/>
                        </a:rPr>
                        <a:t> jusqu’à la validation de l’Administrateur.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L’UGPM saisit, la PRMP engage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L’UGPM voit tout le périmètre de sa PRMP de tutelle et prépare les dossiers en brouillon. Les actes qui engagent l’entité — </a:t>
                      </a:r>
                      <a:pPr indent="0" marL="0">
                        <a:buNone/>
                      </a:pPr>
                      <a:r>
                        <a:rPr lang="en-US" sz="1100" b="1" dirty="0">
                          <a:solidFill>
                            <a:srgbClr val="1B2A3A"/>
                          </a:solidFill>
                          <a:latin typeface="Segoe UI" pitchFamily="34" charset="0"/>
                          <a:ea typeface="Segoe UI" pitchFamily="34" charset="-122"/>
                          <a:cs typeface="Segoe UI" pitchFamily="34" charset="-120"/>
                        </a:rPr>
                        <a:t>soumission</a:t>
                      </a:r>
                      <a:pPr indent="0" marL="0">
                        <a:buNone/>
                      </a:pPr>
                      <a:r>
                        <a:rPr lang="en-US" sz="1100" dirty="0">
                          <a:solidFill>
                            <a:srgbClr val="1B2A3A"/>
                          </a:solidFill>
                          <a:latin typeface="Segoe UI" pitchFamily="34" charset="0"/>
                          <a:ea typeface="Segoe UI" pitchFamily="34" charset="-122"/>
                          <a:cs typeface="Segoe UI" pitchFamily="34" charset="-120"/>
                        </a:rPr>
                        <a:t>, resoumission, compléments, retraits — restent à la PRMP seule.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PRMP voit ses seuls dossiers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acteur externe, n’est pas bornée par une localité : elle ne voit que </a:t>
                      </a:r>
                      <a:pPr indent="0" marL="0">
                        <a:buNone/>
                      </a:pPr>
                      <a:r>
                        <a:rPr lang="en-US" sz="1100" b="1" dirty="0">
                          <a:solidFill>
                            <a:srgbClr val="1B2A3A"/>
                          </a:solidFill>
                          <a:latin typeface="Segoe UI" pitchFamily="34" charset="0"/>
                          <a:ea typeface="Segoe UI" pitchFamily="34" charset="-122"/>
                          <a:cs typeface="Segoe UI" pitchFamily="34" charset="-120"/>
                        </a:rPr>
                        <a:t>ses propres dossiers</a:t>
                      </a:r>
                      <a:pPr indent="0" marL="0">
                        <a:buNone/>
                      </a:pPr>
                      <a:r>
                        <a:rPr lang="en-US" sz="1100" dirty="0">
                          <a:solidFill>
                            <a:srgbClr val="1B2A3A"/>
                          </a:solidFill>
                          <a:latin typeface="Segoe UI" pitchFamily="34" charset="0"/>
                          <a:ea typeface="Segoe UI" pitchFamily="34" charset="-122"/>
                          <a:cs typeface="Segoe UI" pitchFamily="34" charset="-120"/>
                        </a:rPr>
                        <a:t>, ceux dont elle est propriétaire.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101</a:t>
            </a:r>
            <a:endParaRPr lang="en-US" sz="11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(2/35)</a:t>
            </a:r>
            <a:endParaRPr lang="en-US" sz="260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entrée publique par public</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portail public a </a:t>
                      </a:r>
                      <a:pPr indent="0" marL="0">
                        <a:buNone/>
                      </a:pPr>
                      <a:r>
                        <a:rPr lang="en-US" sz="1100" b="1" dirty="0">
                          <a:solidFill>
                            <a:srgbClr val="1B2A3A"/>
                          </a:solidFill>
                          <a:latin typeface="Segoe UI" pitchFamily="34" charset="0"/>
                          <a:ea typeface="Segoe UI" pitchFamily="34" charset="-122"/>
                          <a:cs typeface="Segoe UI" pitchFamily="34" charset="-120"/>
                        </a:rPr>
                        <a:t>trois entrées</a:t>
                      </a:r>
                      <a:pPr indent="0" marL="0">
                        <a:buNone/>
                      </a:pPr>
                      <a:r>
                        <a:rPr lang="en-US" sz="1100" dirty="0">
                          <a:solidFill>
                            <a:srgbClr val="1B2A3A"/>
                          </a:solidFill>
                          <a:latin typeface="Segoe UI" pitchFamily="34" charset="0"/>
                          <a:ea typeface="Segoe UI" pitchFamily="34" charset="-122"/>
                          <a:cs typeface="Segoe UI" pitchFamily="34" charset="-120"/>
                        </a:rPr>
                        <a:t> : PRMP et UGPM, Commission, entreprises. Hors session, la racine du site y mène ; un utilisateur connecté qui y revient est renvoyé à son accueil. Les entreprises consultent les procédures ouvertes sans compte ; les membres de commission d’appel d’offres n’ont pas d’entrée publique et arrivent par leur invitation.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session portée par le serveur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connexion ouvre une session portée par un </a:t>
                      </a:r>
                      <a:pPr indent="0" marL="0">
                        <a:buNone/>
                      </a:pPr>
                      <a:r>
                        <a:rPr lang="en-US" sz="1100" b="1" dirty="0">
                          <a:solidFill>
                            <a:srgbClr val="1B2A3A"/>
                          </a:solidFill>
                          <a:latin typeface="Segoe UI" pitchFamily="34" charset="0"/>
                          <a:ea typeface="Segoe UI" pitchFamily="34" charset="-122"/>
                          <a:cs typeface="Segoe UI" pitchFamily="34" charset="-120"/>
                        </a:rPr>
                        <a:t>témoin protégé</a:t>
                      </a:r>
                      <a:pPr indent="0" marL="0">
                        <a:buNone/>
                      </a:pPr>
                      <a:r>
                        <a:rPr lang="en-US" sz="1100" dirty="0">
                          <a:solidFill>
                            <a:srgbClr val="1B2A3A"/>
                          </a:solidFill>
                          <a:latin typeface="Segoe UI" pitchFamily="34" charset="0"/>
                          <a:ea typeface="Segoe UI" pitchFamily="34" charset="-122"/>
                          <a:cs typeface="Segoe UI" pitchFamily="34" charset="-120"/>
                        </a:rPr>
                        <a:t>, que les scripts de la page ne peuvent pas lire et qui n’est jamais envoyé à un autre site. Aucun jeton n’est remis à l’écran ; la déconnexion est demandée au serveur, qui efface la session.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Tentatives de connexion limitées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Cinq échecs en quinze minutes verrouillent l’identifiant depuis un même poste ; vingt échecs bloquent le poste. Une connexion réussie remet à zéro le compteur de l’identifiant. Les inscriptions publiques sont limitées à </a:t>
                      </a:r>
                      <a:pPr indent="0" marL="0">
                        <a:buNone/>
                      </a:pPr>
                      <a:r>
                        <a:rPr lang="en-US" sz="1100" b="1" dirty="0">
                          <a:solidFill>
                            <a:srgbClr val="1B2A3A"/>
                          </a:solidFill>
                          <a:latin typeface="Segoe UI" pitchFamily="34" charset="0"/>
                          <a:ea typeface="Segoe UI" pitchFamily="34" charset="-122"/>
                          <a:cs typeface="Segoe UI" pitchFamily="34" charset="-120"/>
                        </a:rPr>
                        <a:t>dix par heure</a:t>
                      </a:r>
                      <a:pPr indent="0" marL="0">
                        <a:buNone/>
                      </a:pPr>
                      <a:r>
                        <a:rPr lang="en-US" sz="1100" dirty="0">
                          <a:solidFill>
                            <a:srgbClr val="1B2A3A"/>
                          </a:solidFill>
                          <a:latin typeface="Segoe UI" pitchFamily="34" charset="0"/>
                          <a:ea typeface="Segoe UI" pitchFamily="34" charset="-122"/>
                          <a:cs typeface="Segoe UI" pitchFamily="34" charset="-120"/>
                        </a:rPr>
                        <a:t> et par poste.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mot de passe robuste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nouveau mot de passe compte </a:t>
                      </a:r>
                      <a:pPr indent="0" marL="0">
                        <a:buNone/>
                      </a:pPr>
                      <a:r>
                        <a:rPr lang="en-US" sz="1100" b="1" dirty="0">
                          <a:solidFill>
                            <a:srgbClr val="1B2A3A"/>
                          </a:solidFill>
                          <a:latin typeface="Segoe UI" pitchFamily="34" charset="0"/>
                          <a:ea typeface="Segoe UI" pitchFamily="34" charset="-122"/>
                          <a:cs typeface="Segoe UI" pitchFamily="34" charset="-120"/>
                        </a:rPr>
                        <a:t>8 à 72 caractères</a:t>
                      </a:r>
                      <a:pPr indent="0" marL="0">
                        <a:buNone/>
                      </a:pPr>
                      <a:r>
                        <a:rPr lang="en-US" sz="1100" dirty="0">
                          <a:solidFill>
                            <a:srgbClr val="1B2A3A"/>
                          </a:solidFill>
                          <a:latin typeface="Segoe UI" pitchFamily="34" charset="0"/>
                          <a:ea typeface="Segoe UI" pitchFamily="34" charset="-122"/>
                          <a:cs typeface="Segoe UI" pitchFamily="34" charset="-120"/>
                        </a:rPr>
                        <a:t>, dont au moins une lettre et un chiffre : à l’inscription, à la création d’un compte, à la réinitialisation et au changement. La règle ne s’applique jamais à la connexion : un ancien mot de passe reste valable jusqu’à son prochain changement.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tentative est journalisée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tentative de connexion, réussie ou refusée, est consignée avec l’identifiant tenté ; la déconnexion date la fin de la session. L’Administrateur consulte ce </a:t>
                      </a:r>
                      <a:pPr indent="0" marL="0">
                        <a:buNone/>
                      </a:pPr>
                      <a:r>
                        <a:rPr lang="en-US" sz="1100" b="1" dirty="0">
                          <a:solidFill>
                            <a:srgbClr val="1B2A3A"/>
                          </a:solidFill>
                          <a:latin typeface="Segoe UI" pitchFamily="34" charset="0"/>
                          <a:ea typeface="Segoe UI" pitchFamily="34" charset="-122"/>
                          <a:cs typeface="Segoe UI" pitchFamily="34" charset="-120"/>
                        </a:rPr>
                        <a:t>journal des connexions</a:t>
                      </a:r>
                      <a:pPr indent="0" marL="0">
                        <a:buNone/>
                      </a:pPr>
                      <a:r>
                        <a:rPr lang="en-US" sz="1100" dirty="0">
                          <a:solidFill>
                            <a:srgbClr val="1B2A3A"/>
                          </a:solidFill>
                          <a:latin typeface="Segoe UI" pitchFamily="34" charset="0"/>
                          <a:ea typeface="Segoe UI" pitchFamily="34" charset="-122"/>
                          <a:cs typeface="Segoe UI" pitchFamily="34" charset="-120"/>
                        </a:rPr>
                        <a:t>. Une panne du journal ne bloque jamais la connexion.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102</a:t>
            </a:r>
            <a:endParaRPr lang="en-US" sz="11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(3/35)</a:t>
            </a:r>
            <a:endParaRPr lang="en-US" sz="26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Changer ou retrouver son mot de passe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Chacun change son mot de passe depuis la barre du haut : l’</a:t>
                      </a:r>
                      <a:pPr indent="0" marL="0">
                        <a:buNone/>
                      </a:pPr>
                      <a:r>
                        <a:rPr lang="en-US" sz="1100" b="1" dirty="0">
                          <a:solidFill>
                            <a:srgbClr val="1B2A3A"/>
                          </a:solidFill>
                          <a:latin typeface="Segoe UI" pitchFamily="34" charset="0"/>
                          <a:ea typeface="Segoe UI" pitchFamily="34" charset="-122"/>
                          <a:cs typeface="Segoe UI" pitchFamily="34" charset="-120"/>
                        </a:rPr>
                        <a:t>ancien mot de passe</a:t>
                      </a:r>
                      <a:pPr indent="0" marL="0">
                        <a:buNone/>
                      </a:pPr>
                      <a:r>
                        <a:rPr lang="en-US" sz="1100" dirty="0">
                          <a:solidFill>
                            <a:srgbClr val="1B2A3A"/>
                          </a:solidFill>
                          <a:latin typeface="Segoe UI" pitchFamily="34" charset="0"/>
                          <a:ea typeface="Segoe UI" pitchFamily="34" charset="-122"/>
                          <a:cs typeface="Segoe UI" pitchFamily="34" charset="-120"/>
                        </a:rPr>
                        <a:t> est vérifié par le serveur, et le nouveau doit en différer. Un mot de passe oublié ne se réinitialise pas en libre-service : l’utilisateur s’adresse à l’Administrateur, qui le réinitialise.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L’Administrateur vérifie et décide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inscription est notifiée aux Administrateurs. L’Administrateur télécharge et </a:t>
                      </a:r>
                      <a:pPr indent="0" marL="0">
                        <a:buNone/>
                      </a:pPr>
                      <a:r>
                        <a:rPr lang="en-US" sz="1100" b="1" dirty="0">
                          <a:solidFill>
                            <a:srgbClr val="1B2A3A"/>
                          </a:solidFill>
                          <a:latin typeface="Segoe UI" pitchFamily="34" charset="0"/>
                          <a:ea typeface="Segoe UI" pitchFamily="34" charset="-122"/>
                          <a:cs typeface="Segoe UI" pitchFamily="34" charset="-120"/>
                        </a:rPr>
                        <a:t>vérifie l’arrêté</a:t>
                      </a:r>
                      <a:pPr indent="0" marL="0">
                        <a:buNone/>
                      </a:pPr>
                      <a:r>
                        <a:rPr lang="en-US" sz="1100" dirty="0">
                          <a:solidFill>
                            <a:srgbClr val="1B2A3A"/>
                          </a:solidFill>
                          <a:latin typeface="Segoe UI" pitchFamily="34" charset="0"/>
                          <a:ea typeface="Segoe UI" pitchFamily="34" charset="-122"/>
                          <a:cs typeface="Segoe UI" pitchFamily="34" charset="-120"/>
                        </a:rPr>
                        <a:t>, puis valide ou refuse : la vérification n’est jamais automatique. Un refus porte un motif, notifié à la PRMP, et le compte reste non connectable.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validation entité par entité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validation, chaque entité disponible est rattachée ; une entité déjà tenue par une autre PRMP active est </a:t>
                      </a:r>
                      <a:pPr indent="0" marL="0">
                        <a:buNone/>
                      </a:pPr>
                      <a:r>
                        <a:rPr lang="en-US" sz="1100" b="1" dirty="0">
                          <a:solidFill>
                            <a:srgbClr val="1B2A3A"/>
                          </a:solidFill>
                          <a:latin typeface="Segoe UI" pitchFamily="34" charset="0"/>
                          <a:ea typeface="Segoe UI" pitchFamily="34" charset="-122"/>
                          <a:cs typeface="Segoe UI" pitchFamily="34" charset="-120"/>
                        </a:rPr>
                        <a:t>signalée en conflit</a:t>
                      </a:r>
                      <a:pPr indent="0" marL="0">
                        <a:buNone/>
                      </a:pPr>
                      <a:r>
                        <a:rPr lang="en-US" sz="1100" dirty="0">
                          <a:solidFill>
                            <a:srgbClr val="1B2A3A"/>
                          </a:solidFill>
                          <a:latin typeface="Segoe UI" pitchFamily="34" charset="0"/>
                          <a:ea typeface="Segoe UI" pitchFamily="34" charset="-122"/>
                          <a:cs typeface="Segoe UI" pitchFamily="34" charset="-120"/>
                        </a:rPr>
                        <a:t>, sans bloquer. Le compte devient actif dès qu’une entité est rattachée ; sinon il reste en attente.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actualité à l’ouverture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ouverture de session, une fenêtre présente les actualités </a:t>
                      </a:r>
                      <a:pPr indent="0" marL="0">
                        <a:buNone/>
                      </a:pPr>
                      <a:r>
                        <a:rPr lang="en-US" sz="1100" b="1" dirty="0">
                          <a:solidFill>
                            <a:srgbClr val="1B2A3A"/>
                          </a:solidFill>
                          <a:latin typeface="Segoe UI" pitchFamily="34" charset="0"/>
                          <a:ea typeface="Segoe UI" pitchFamily="34" charset="-122"/>
                          <a:cs typeface="Segoe UI" pitchFamily="34" charset="-120"/>
                        </a:rPr>
                        <a:t>ciblées sur le profil</a:t>
                      </a:r>
                      <a:pPr indent="0" marL="0">
                        <a:buNone/>
                      </a:pPr>
                      <a:r>
                        <a:rPr lang="en-US" sz="1100" dirty="0">
                          <a:solidFill>
                            <a:srgbClr val="1B2A3A"/>
                          </a:solidFill>
                          <a:latin typeface="Segoe UI" pitchFamily="34" charset="0"/>
                          <a:ea typeface="Segoe UI" pitchFamily="34" charset="-122"/>
                          <a:cs typeface="Segoe UI" pitchFamily="34" charset="-120"/>
                        </a:rPr>
                        <a:t>, actives et dans leur période de publication. L’Administrateur les rédige sans intervention technique : texte sans balise HTML, images JPEG de 10 Mo au plus ; une actualité expirée s’archive d’elle-même.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mandat de trois ans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mandat de la PRMP dure </a:t>
                      </a:r>
                      <a:pPr indent="0" marL="0">
                        <a:buNone/>
                      </a:pPr>
                      <a:r>
                        <a:rPr lang="en-US" sz="1100" b="1" dirty="0">
                          <a:solidFill>
                            <a:srgbClr val="1B2A3A"/>
                          </a:solidFill>
                          <a:latin typeface="Segoe UI" pitchFamily="34" charset="0"/>
                          <a:ea typeface="Segoe UI" pitchFamily="34" charset="-122"/>
                          <a:cs typeface="Segoe UI" pitchFamily="34" charset="-120"/>
                        </a:rPr>
                        <a:t>trois ans</a:t>
                      </a:r>
                      <a:pPr indent="0" marL="0">
                        <a:buNone/>
                      </a:pPr>
                      <a:r>
                        <a:rPr lang="en-US" sz="1100" dirty="0">
                          <a:solidFill>
                            <a:srgbClr val="1B2A3A"/>
                          </a:solidFill>
                          <a:latin typeface="Segoe UI" pitchFamily="34" charset="0"/>
                          <a:ea typeface="Segoe UI" pitchFamily="34" charset="-122"/>
                          <a:cs typeface="Segoe UI" pitchFamily="34" charset="-120"/>
                        </a:rPr>
                        <a:t>, reconductible une seule fois par un nouvel arrêté. Des alertes partent à J-90, J-30 et J-7 ; à l’échéance le compte est désactivé, et un nouveau mandat en cours le rouvre de lui-même.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103</a:t>
            </a:r>
            <a:endParaRPr lang="en-US" sz="11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(4/35)</a:t>
            </a:r>
            <a:endParaRPr lang="en-US" sz="26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gestes qui vous attendent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profil du circuit arrive sur « À faire » : les gestes qui l’attendent, regroupés par section, </a:t>
                      </a:r>
                      <a:pPr indent="0" marL="0">
                        <a:buNone/>
                      </a:pPr>
                      <a:r>
                        <a:rPr lang="en-US" sz="1100" b="1" dirty="0">
                          <a:solidFill>
                            <a:srgbClr val="1B2A3A"/>
                          </a:solidFill>
                          <a:latin typeface="Segoe UI" pitchFamily="34" charset="0"/>
                          <a:ea typeface="Segoe UI" pitchFamily="34" charset="-122"/>
                          <a:cs typeface="Segoe UI" pitchFamily="34" charset="-120"/>
                        </a:rPr>
                        <a:t>triés par urgence</a:t>
                      </a:r>
                      <a:pPr indent="0" marL="0">
                        <a:buNone/>
                      </a:pPr>
                      <a:r>
                        <a:rPr lang="en-US" sz="1100" dirty="0">
                          <a:solidFill>
                            <a:srgbClr val="1B2A3A"/>
                          </a:solidFill>
                          <a:latin typeface="Segoe UI" pitchFamily="34" charset="0"/>
                          <a:ea typeface="Segoe UI" pitchFamily="34" charset="-122"/>
                          <a:cs typeface="Segoe UI" pitchFamily="34" charset="-120"/>
                        </a:rPr>
                        <a:t>, un geste principal par ligne avec son délai en heures ouvrées. L’Administrateur et le Chargé de publication gardent leur propre accueil.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geste proposé est permis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Aucune règle du circuit n’est réécrite pour l’accueil : un geste n’est proposé que si le serveur </a:t>
                      </a:r>
                      <a:pPr indent="0" marL="0">
                        <a:buNone/>
                      </a:pPr>
                      <a:r>
                        <a:rPr lang="en-US" sz="1100" b="1" dirty="0">
                          <a:solidFill>
                            <a:srgbClr val="1B2A3A"/>
                          </a:solidFill>
                          <a:latin typeface="Segoe UI" pitchFamily="34" charset="0"/>
                          <a:ea typeface="Segoe UI" pitchFamily="34" charset="-122"/>
                          <a:cs typeface="Segoe UI" pitchFamily="34" charset="-120"/>
                        </a:rPr>
                        <a:t>l’accepterait</a:t>
                      </a:r>
                      <a:pPr indent="0" marL="0">
                        <a:buNone/>
                      </a:pPr>
                      <a:r>
                        <a:rPr lang="en-US" sz="1100" dirty="0">
                          <a:solidFill>
                            <a:srgbClr val="1B2A3A"/>
                          </a:solidFill>
                          <a:latin typeface="Segoe UI" pitchFamily="34" charset="0"/>
                          <a:ea typeface="Segoe UI" pitchFamily="34" charset="-122"/>
                          <a:cs typeface="Segoe UI" pitchFamily="34" charset="-120"/>
                        </a:rPr>
                        <a:t> à l’exécution. La page d’un dossier rejoue le même calcul, dossier par dossier.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urgence mesurée, jamais inventée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Délai dépassé : </a:t>
                      </a:r>
                      <a:pPr indent="0" marL="0">
                        <a:buNone/>
                      </a:pPr>
                      <a:r>
                        <a:rPr lang="en-US" sz="1100" b="1" dirty="0">
                          <a:solidFill>
                            <a:srgbClr val="1B2A3A"/>
                          </a:solidFill>
                          <a:latin typeface="Segoe UI" pitchFamily="34" charset="0"/>
                          <a:ea typeface="Segoe UI" pitchFamily="34" charset="-122"/>
                          <a:cs typeface="Segoe UI" pitchFamily="34" charset="-120"/>
                        </a:rPr>
                        <a:t>en retard</a:t>
                      </a:r>
                      <a:pPr indent="0" marL="0">
                        <a:buNone/>
                      </a:pPr>
                      <a:r>
                        <a:rPr lang="en-US" sz="1100" dirty="0">
                          <a:solidFill>
                            <a:srgbClr val="1B2A3A"/>
                          </a:solidFill>
                          <a:latin typeface="Segoe UI" pitchFamily="34" charset="0"/>
                          <a:ea typeface="Segoe UI" pitchFamily="34" charset="-122"/>
                          <a:cs typeface="Segoe UI" pitchFamily="34" charset="-120"/>
                        </a:rPr>
                        <a:t>. Reste inférieur ou égal à deux heures ou à 35 % du délai standard : bientôt à échéance. Au-delà : dans les délais. Un dossier sans entrée connue reste « sans délai » ; les brouillons de la PRMP sont « hors délai CNM » et ses attentes « en pause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Rien d’interne pour la PRMP</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et l’UGPM voient leurs brouillons, les pièces à compléter, les rectifications et le suivi de leurs dossiers, mais </a:t>
                      </a:r>
                      <a:pPr indent="0" marL="0">
                        <a:buNone/>
                      </a:pPr>
                      <a:r>
                        <a:rPr lang="en-US" sz="1100" b="1" dirty="0">
                          <a:solidFill>
                            <a:srgbClr val="1B2A3A"/>
                          </a:solidFill>
                          <a:latin typeface="Segoe UI" pitchFamily="34" charset="0"/>
                          <a:ea typeface="Segoe UI" pitchFamily="34" charset="-122"/>
                          <a:cs typeface="Segoe UI" pitchFamily="34" charset="-120"/>
                        </a:rPr>
                        <a:t>rien d’interne</a:t>
                      </a:r>
                      <a:pPr indent="0" marL="0">
                        <a:buNone/>
                      </a:pPr>
                      <a:r>
                        <a:rPr lang="en-US" sz="1100" dirty="0">
                          <a:solidFill>
                            <a:srgbClr val="1B2A3A"/>
                          </a:solidFill>
                          <a:latin typeface="Segoe UI" pitchFamily="34" charset="0"/>
                          <a:ea typeface="Segoe UI" pitchFamily="34" charset="-122"/>
                          <a:cs typeface="Segoe UI" pitchFamily="34" charset="-120"/>
                        </a:rPr>
                        <a:t> à la CNM : ni acteurs, ni consignes de dispatch, ni étapes de navette.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notification à chaque transmission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transmission avise le ou les responsables de l’</a:t>
                      </a:r>
                      <a:pPr indent="0" marL="0">
                        <a:buNone/>
                      </a:pPr>
                      <a:r>
                        <a:rPr lang="en-US" sz="1100" b="1" dirty="0">
                          <a:solidFill>
                            <a:srgbClr val="1B2A3A"/>
                          </a:solidFill>
                          <a:latin typeface="Segoe UI" pitchFamily="34" charset="0"/>
                          <a:ea typeface="Segoe UI" pitchFamily="34" charset="-122"/>
                          <a:cs typeface="Segoe UI" pitchFamily="34" charset="-120"/>
                        </a:rPr>
                        <a:t>étape suivante</a:t>
                      </a:r>
                      <a:pPr indent="0" marL="0">
                        <a:buNone/>
                      </a:pPr>
                      <a:r>
                        <a:rPr lang="en-US" sz="1100" dirty="0">
                          <a:solidFill>
                            <a:srgbClr val="1B2A3A"/>
                          </a:solidFill>
                          <a:latin typeface="Segoe UI" pitchFamily="34" charset="0"/>
                          <a:ea typeface="Segoe UI" pitchFamily="34" charset="-122"/>
                          <a:cs typeface="Segoe UI" pitchFamily="34" charset="-120"/>
                        </a:rPr>
                        <a:t>, dans le même mouvement que l’événement. Le destinataire se déduit du rôle et de la localité du dossier, ou de l’assignation. Un rattachement manquant ne fait jamais disparaître une notification.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104</a:t>
            </a:r>
            <a:endParaRPr lang="en-US" sz="11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(5/35)</a:t>
            </a:r>
            <a:endParaRPr lang="en-US" sz="2600" dirty="0"/>
          </a:p>
        </p:txBody>
      </p:sp>
      <p:graphicFrame>
        <p:nvGraphicFramePr>
          <p:cNvPr id="10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Chacun ne lit que les siennes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RG-ENT-23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utilisateur ne consulte que </a:t>
                      </a:r>
                      <a:pPr indent="0" marL="0">
                        <a:buNone/>
                      </a:pPr>
                      <a:r>
                        <a:rPr lang="en-US" sz="1100" b="1" dirty="0">
                          <a:solidFill>
                            <a:srgbClr val="1B2A3A"/>
                          </a:solidFill>
                          <a:latin typeface="Segoe UI" pitchFamily="34" charset="0"/>
                          <a:ea typeface="Segoe UI" pitchFamily="34" charset="-122"/>
                          <a:cs typeface="Segoe UI" pitchFamily="34" charset="-120"/>
                        </a:rPr>
                        <a:t>ses notifications</a:t>
                      </a:r>
                      <a:pPr indent="0" marL="0">
                        <a:buNone/>
                      </a:pPr>
                      <a:r>
                        <a:rPr lang="en-US" sz="1100" dirty="0">
                          <a:solidFill>
                            <a:srgbClr val="1B2A3A"/>
                          </a:solidFill>
                          <a:latin typeface="Segoe UI" pitchFamily="34" charset="0"/>
                          <a:ea typeface="Segoe UI" pitchFamily="34" charset="-122"/>
                          <a:cs typeface="Segoe UI" pitchFamily="34" charset="-120"/>
                        </a:rPr>
                        <a:t>, les marque lues ou non lues. Le compteur de la cloche est calculé par le serveur et suivi en temps réel, avec un repli toutes les 60 secondes. La liste globale est réservée à l’Administrateur.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Trois familles de dossier à la création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dossier se crée dans une famille : </a:t>
                      </a:r>
                      <a:pPr indent="0" marL="0">
                        <a:buNone/>
                      </a:pPr>
                      <a:r>
                        <a:rPr lang="en-US" sz="1100" b="1" dirty="0">
                          <a:solidFill>
                            <a:srgbClr val="1B2A3A"/>
                          </a:solidFill>
                          <a:latin typeface="Segoe UI" pitchFamily="34" charset="0"/>
                          <a:ea typeface="Segoe UI" pitchFamily="34" charset="-122"/>
                          <a:cs typeface="Segoe UI" pitchFamily="34" charset="-120"/>
                        </a:rPr>
                        <a:t>planification</a:t>
                      </a:r>
                      <a:pPr indent="0" marL="0">
                        <a:buNone/>
                      </a:pPr>
                      <a:r>
                        <a:rPr lang="en-US" sz="1100" dirty="0">
                          <a:solidFill>
                            <a:srgbClr val="1B2A3A"/>
                          </a:solidFill>
                          <a:latin typeface="Segoe UI" pitchFamily="34" charset="0"/>
                          <a:ea typeface="Segoe UI" pitchFamily="34" charset="-122"/>
                          <a:cs typeface="Segoe UI" pitchFamily="34" charset="-120"/>
                        </a:rPr>
                        <a:t>, mise en concurrence ou marché. Pour la planification, le sous-type — PPM ou PPM-AGPM — est déduit par le serveur ; pour les deux autres, il est choisi parmi les sous-types du manuel de contrôle. Les actes de gestion contractuelle (avenant, résiliation…) ne se créent pas ici : ils se déposent depuis le marché qu’ils concernent.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Saisir, c’est créer le brouillon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saisie crée le dossier au statut </a:t>
                      </a:r>
                      <a:pPr indent="0" marL="0">
                        <a:buNone/>
                      </a:pPr>
                      <a:r>
                        <a:rPr lang="en-US" sz="1100" b="1" dirty="0">
                          <a:solidFill>
                            <a:srgbClr val="1B2A3A"/>
                          </a:solidFill>
                          <a:latin typeface="Segoe UI" pitchFamily="34" charset="0"/>
                          <a:ea typeface="Segoe UI" pitchFamily="34" charset="-122"/>
                          <a:cs typeface="Segoe UI" pitchFamily="34" charset="-120"/>
                        </a:rPr>
                        <a:t>brouillon</a:t>
                      </a:r>
                      <a:pPr indent="0" marL="0">
                        <a:buNone/>
                      </a:pPr>
                      <a:r>
                        <a:rPr lang="en-US" sz="1100" dirty="0">
                          <a:solidFill>
                            <a:srgbClr val="1B2A3A"/>
                          </a:solidFill>
                          <a:latin typeface="Segoe UI" pitchFamily="34" charset="0"/>
                          <a:ea typeface="Segoe UI" pitchFamily="34" charset="-122"/>
                          <a:cs typeface="Segoe UI" pitchFamily="34" charset="-120"/>
                        </a:rPr>
                        <a:t>, propriété de la PRMP, et son contenu en une seule opération. La PRMP choisit l’entité parmi ses entités actives, et cette entité fixe la localité du dossier. Les identifiants sont attribués par le serveur.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L’import PDF pré-remplit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L’import lit le plan en PDF et propose l’exercice, l’autorité contractante, les lignes, leurs étapes et leurs lots. Il </a:t>
                      </a:r>
                      <a:pPr indent="0" marL="0">
                        <a:buNone/>
                      </a:pPr>
                      <a:r>
                        <a:rPr lang="en-US" sz="1100" b="1" dirty="0">
                          <a:solidFill>
                            <a:srgbClr val="1B2A3A"/>
                          </a:solidFill>
                          <a:latin typeface="Segoe UI" pitchFamily="34" charset="0"/>
                          <a:ea typeface="Segoe UI" pitchFamily="34" charset="-122"/>
                          <a:cs typeface="Segoe UI" pitchFamily="34" charset="-120"/>
                        </a:rPr>
                        <a:t>ne crée rien</a:t>
                      </a:r>
                      <a:pPr indent="0" marL="0">
                        <a:buNone/>
                      </a:pPr>
                      <a:r>
                        <a:rPr lang="en-US" sz="1100" dirty="0">
                          <a:solidFill>
                            <a:srgbClr val="1B2A3A"/>
                          </a:solidFill>
                          <a:latin typeface="Segoe UI" pitchFamily="34" charset="0"/>
                          <a:ea typeface="Segoe UI" pitchFamily="34" charset="-122"/>
                          <a:cs typeface="Segoe UI" pitchFamily="34" charset="-120"/>
                        </a:rPr>
                        <a:t> : la PRMP vérifie, complète puis crée le dossier. Les incohérences sont signalées, ligne par ligne.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mode de passation saisi</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mode de passation est </a:t>
                      </a:r>
                      <a:pPr indent="0" marL="0">
                        <a:buNone/>
                      </a:pPr>
                      <a:r>
                        <a:rPr lang="en-US" sz="1100" b="1" dirty="0">
                          <a:solidFill>
                            <a:srgbClr val="1B2A3A"/>
                          </a:solidFill>
                          <a:latin typeface="Segoe UI" pitchFamily="34" charset="0"/>
                          <a:ea typeface="Segoe UI" pitchFamily="34" charset="-122"/>
                          <a:cs typeface="Segoe UI" pitchFamily="34" charset="-120"/>
                        </a:rPr>
                        <a:t>purement saisi</a:t>
                      </a:r>
                      <a:pPr indent="0" marL="0">
                        <a:buNone/>
                      </a:pPr>
                      <a:r>
                        <a:rPr lang="en-US" sz="1100" dirty="0">
                          <a:solidFill>
                            <a:srgbClr val="1B2A3A"/>
                          </a:solidFill>
                          <a:latin typeface="Segoe UI" pitchFamily="34" charset="0"/>
                          <a:ea typeface="Segoe UI" pitchFamily="34" charset="-122"/>
                          <a:cs typeface="Segoe UI" pitchFamily="34" charset="-120"/>
                        </a:rPr>
                        <a:t> par la PRMP ou repris de l’import, et conservé tel quel : aucune détermination automatique, aucun refus par seuil. Les montants des lignes sont saisis hors taxes.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105</a:t>
            </a:r>
            <a:endParaRPr lang="en-US" sz="11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(6/35)</a:t>
            </a:r>
            <a:endParaRPr lang="en-US" sz="2600" dirty="0"/>
          </a:p>
        </p:txBody>
      </p:sp>
      <p:graphicFrame>
        <p:nvGraphicFramePr>
          <p:cNvPr id="10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Tout appel d’offres appelle l’AGPM</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plan comptant un marché en </a:t>
                      </a:r>
                      <a:pPr indent="0" marL="0">
                        <a:buNone/>
                      </a:pPr>
                      <a:r>
                        <a:rPr lang="en-US" sz="1100" b="1" dirty="0">
                          <a:solidFill>
                            <a:srgbClr val="1B2A3A"/>
                          </a:solidFill>
                          <a:latin typeface="Segoe UI" pitchFamily="34" charset="0"/>
                          <a:ea typeface="Segoe UI" pitchFamily="34" charset="-122"/>
                          <a:cs typeface="Segoe UI" pitchFamily="34" charset="-120"/>
                        </a:rPr>
                        <a:t>appel d’offres</a:t>
                      </a:r>
                      <a:pPr indent="0" marL="0">
                        <a:buNone/>
                      </a:pPr>
                      <a:r>
                        <a:rPr lang="en-US" sz="1100" dirty="0">
                          <a:solidFill>
                            <a:srgbClr val="1B2A3A"/>
                          </a:solidFill>
                          <a:latin typeface="Segoe UI" pitchFamily="34" charset="0"/>
                          <a:ea typeface="Segoe UI" pitchFamily="34" charset="-122"/>
                          <a:cs typeface="Segoe UI" pitchFamily="34" charset="-120"/>
                        </a:rPr>
                        <a:t>, quelle qu’en soit la variante, devient PPM-AGPM. L’appel à manifestation d’intérêt ne le déclenche qu’au-delà d’un seuil administrable, apprécié marché par marché. La référence du dossier suit le sous-type.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bénéficiaires couvrent la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somme des montants par service bénéficiaire doit égaler le </a:t>
                      </a:r>
                      <a:pPr indent="0" marL="0">
                        <a:buNone/>
                      </a:pPr>
                      <a:r>
                        <a:rPr lang="en-US" sz="1100" b="1" dirty="0">
                          <a:solidFill>
                            <a:srgbClr val="1B2A3A"/>
                          </a:solidFill>
                          <a:latin typeface="Segoe UI" pitchFamily="34" charset="0"/>
                          <a:ea typeface="Segoe UI" pitchFamily="34" charset="-122"/>
                          <a:cs typeface="Segoe UI" pitchFamily="34" charset="-120"/>
                        </a:rPr>
                        <a:t>montant du marché</a:t>
                      </a:r>
                      <a:pPr indent="0" marL="0">
                        <a:buNone/>
                      </a:pPr>
                      <a:r>
                        <a:rPr lang="en-US" sz="1100" dirty="0">
                          <a:solidFill>
                            <a:srgbClr val="1B2A3A"/>
                          </a:solidFill>
                          <a:latin typeface="Segoe UI" pitchFamily="34" charset="0"/>
                          <a:ea typeface="Segoe UI" pitchFamily="34" charset="-122"/>
                          <a:cs typeface="Segoe UI" pitchFamily="34" charset="-120"/>
                        </a:rPr>
                        <a:t>. La règle est vérifiée à chaque enregistrement de la grille ; un import la signale sans rejeter, et ne complète seul qu’une ligne à un unique bénéficiaire.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justifications de la fiche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marché en </a:t>
                      </a:r>
                      <a:pPr indent="0" marL="0">
                        <a:buNone/>
                      </a:pPr>
                      <a:r>
                        <a:rPr lang="en-US" sz="1100" b="1" dirty="0">
                          <a:solidFill>
                            <a:srgbClr val="1B2A3A"/>
                          </a:solidFill>
                          <a:latin typeface="Segoe UI" pitchFamily="34" charset="0"/>
                          <a:ea typeface="Segoe UI" pitchFamily="34" charset="-122"/>
                          <a:cs typeface="Segoe UI" pitchFamily="34" charset="-120"/>
                        </a:rPr>
                        <a:t>mode dérogatoire</a:t>
                      </a:r>
                      <a:pPr indent="0" marL="0">
                        <a:buNone/>
                      </a:pPr>
                      <a:r>
                        <a:rPr lang="en-US" sz="1100" dirty="0">
                          <a:solidFill>
                            <a:srgbClr val="1B2A3A"/>
                          </a:solidFill>
                          <a:latin typeface="Segoe UI" pitchFamily="34" charset="0"/>
                          <a:ea typeface="Segoe UI" pitchFamily="34" charset="-122"/>
                          <a:cs typeface="Segoe UI" pitchFamily="34" charset="-120"/>
                        </a:rPr>
                        <a:t> ou à délai aménagé porte sa justification ; une justification globale couvre en outre les contrats-cadres. Elles sont exigées à la saisie et à la soumission, et le serveur reclasse lui-même les marchés concernés.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statut de la ligne suit le fait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statut d’une ligne vient d’un référentiel tenu par l’Administrateur ; « Prévu » est la valeur par défaut et ne peut être supprimé. L’ouverture de la mise en concurrence pose d’elle-même « </a:t>
                      </a:r>
                      <a:pPr indent="0" marL="0">
                        <a:buNone/>
                      </a:pPr>
                      <a:r>
                        <a:rPr lang="en-US" sz="1100" b="1" dirty="0">
                          <a:solidFill>
                            <a:srgbClr val="1B2A3A"/>
                          </a:solidFill>
                          <a:latin typeface="Segoe UI" pitchFamily="34" charset="0"/>
                          <a:ea typeface="Segoe UI" pitchFamily="34" charset="-122"/>
                          <a:cs typeface="Segoe UI" pitchFamily="34" charset="-120"/>
                        </a:rPr>
                        <a:t>Lancé</a:t>
                      </a:r>
                      <a:pPr indent="0" marL="0">
                        <a:buNone/>
                      </a:pPr>
                      <a:r>
                        <a:rPr lang="en-US" sz="1100" dirty="0">
                          <a:solidFill>
                            <a:srgbClr val="1B2A3A"/>
                          </a:solidFill>
                          <a:latin typeface="Segoe UI" pitchFamily="34" charset="0"/>
                          <a:ea typeface="Segoe UI" pitchFamily="34" charset="-122"/>
                          <a:cs typeface="Segoe UI" pitchFamily="34" charset="-120"/>
                        </a:rPr>
                        <a:t> » ; la suppression de la fiche rend « Prévu ». Une ligne lancée ne redevient pas « Prévu » à la main ; « changement de projet » et « déclaré sans suite » restent à la PRMP.</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calendrier prévisionnel du mode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marché compte </a:t>
                      </a:r>
                      <a:pPr indent="0" marL="0">
                        <a:buNone/>
                      </a:pPr>
                      <a:r>
                        <a:rPr lang="en-US" sz="1100" b="1" dirty="0">
                          <a:solidFill>
                            <a:srgbClr val="1B2A3A"/>
                          </a:solidFill>
                          <a:latin typeface="Segoe UI" pitchFamily="34" charset="0"/>
                          <a:ea typeface="Segoe UI" pitchFamily="34" charset="-122"/>
                          <a:cs typeface="Segoe UI" pitchFamily="34" charset="-120"/>
                        </a:rPr>
                        <a:t>au moins une étape</a:t>
                      </a:r>
                      <a:pPr indent="0" marL="0">
                        <a:buNone/>
                      </a:pPr>
                      <a:r>
                        <a:rPr lang="en-US" sz="1100" dirty="0">
                          <a:solidFill>
                            <a:srgbClr val="1B2A3A"/>
                          </a:solidFill>
                          <a:latin typeface="Segoe UI" pitchFamily="34" charset="0"/>
                          <a:ea typeface="Segoe UI" pitchFamily="34" charset="-122"/>
                          <a:cs typeface="Segoe UI" pitchFamily="34" charset="-120"/>
                        </a:rPr>
                        <a:t> du calendrier prévisionnel, avec sa date de début ; la date de fin reste facultative. Les étapes proposées sont celles du mode de passation, à défaut celles de son modèle, à défaut les étapes communes.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106</a:t>
            </a:r>
            <a:endParaRPr lang="en-US" sz="11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(7/35)</a:t>
            </a:r>
            <a:endParaRPr lang="en-US" sz="2600" dirty="0"/>
          </a:p>
        </p:txBody>
      </p:sp>
      <p:graphicFrame>
        <p:nvGraphicFramePr>
          <p:cNvPr id="10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dates qui s’enchaînent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date de fin suit sa date de début, et chaque étape commence </a:t>
                      </a:r>
                      <a:pPr indent="0" marL="0">
                        <a:buNone/>
                      </a:pPr>
                      <a:r>
                        <a:rPr lang="en-US" sz="1100" b="1" dirty="0">
                          <a:solidFill>
                            <a:srgbClr val="1B2A3A"/>
                          </a:solidFill>
                          <a:latin typeface="Segoe UI" pitchFamily="34" charset="0"/>
                          <a:ea typeface="Segoe UI" pitchFamily="34" charset="-122"/>
                          <a:cs typeface="Segoe UI" pitchFamily="34" charset="-120"/>
                        </a:rPr>
                        <a:t>après la fin</a:t>
                      </a:r>
                      <a:pPr indent="0" marL="0">
                        <a:buNone/>
                      </a:pPr>
                      <a:r>
                        <a:rPr lang="en-US" sz="1100" dirty="0">
                          <a:solidFill>
                            <a:srgbClr val="1B2A3A"/>
                          </a:solidFill>
                          <a:latin typeface="Segoe UI" pitchFamily="34" charset="0"/>
                          <a:ea typeface="Segoe UI" pitchFamily="34" charset="-122"/>
                          <a:cs typeface="Segoe UI" pitchFamily="34" charset="-120"/>
                        </a:rPr>
                        <a:t> de la précédente lorsque celle-ci est connue. Une date de fin absente est ouverte et ne contraint rien.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pièces contrôlées, selon le sous-type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pièces sont des </a:t>
                      </a:r>
                      <a:pPr indent="0" marL="0">
                        <a:buNone/>
                      </a:pPr>
                      <a:r>
                        <a:rPr lang="en-US" sz="1100" b="1" dirty="0">
                          <a:solidFill>
                            <a:srgbClr val="1B2A3A"/>
                          </a:solidFill>
                          <a:latin typeface="Segoe UI" pitchFamily="34" charset="0"/>
                          <a:ea typeface="Segoe UI" pitchFamily="34" charset="-122"/>
                          <a:cs typeface="Segoe UI" pitchFamily="34" charset="-120"/>
                        </a:rPr>
                        <a:t>PDF, JPEG ou PNG</a:t>
                      </a:r>
                      <a:pPr indent="0" marL="0">
                        <a:buNone/>
                      </a:pPr>
                      <a:r>
                        <a:rPr lang="en-US" sz="1100" dirty="0">
                          <a:solidFill>
                            <a:srgbClr val="1B2A3A"/>
                          </a:solidFill>
                          <a:latin typeface="Segoe UI" pitchFamily="34" charset="0"/>
                          <a:ea typeface="Segoe UI" pitchFamily="34" charset="-122"/>
                          <a:cs typeface="Segoe UI" pitchFamily="34" charset="-120"/>
                        </a:rPr>
                        <a:t>, reconnus à leur contenu. Les plans de passation gardent leur liste ; les autres dossiers suivent désormais la liste </a:t>
                      </a:r>
                      <a:pPr indent="0" marL="0">
                        <a:buNone/>
                      </a:pPr>
                      <a:r>
                        <a:rPr lang="en-US" sz="1100" b="1" dirty="0">
                          <a:solidFill>
                            <a:srgbClr val="1B2A3A"/>
                          </a:solidFill>
                          <a:latin typeface="Segoe UI" pitchFamily="34" charset="0"/>
                          <a:ea typeface="Segoe UI" pitchFamily="34" charset="-122"/>
                          <a:cs typeface="Segoe UI" pitchFamily="34" charset="-120"/>
                        </a:rPr>
                        <a:t>propre à leur sous-type</a:t>
                      </a:r>
                      <a:pPr indent="0" marL="0">
                        <a:buNone/>
                      </a:pPr>
                      <a:r>
                        <a:rPr lang="en-US" sz="1100" dirty="0">
                          <a:solidFill>
                            <a:srgbClr val="1B2A3A"/>
                          </a:solidFill>
                          <a:latin typeface="Segoe UI" pitchFamily="34" charset="0"/>
                          <a:ea typeface="Segoe UI" pitchFamily="34" charset="-122"/>
                          <a:cs typeface="Segoe UI" pitchFamily="34" charset="-120"/>
                        </a:rPr>
                        <a:t>, tirée du manuel de contrôle, et la soumission est refusée s’il manque une pièce obligatoire. Le dépôt n’est ouvert qu’en brouillon, à la soumission et pendant les attentes de la PRMP.</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Seule la PRMP soumet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soumission est l’acte de la </a:t>
                      </a:r>
                      <a:pPr indent="0" marL="0">
                        <a:buNone/>
                      </a:pPr>
                      <a:r>
                        <a:rPr lang="en-US" sz="1100" b="1" dirty="0">
                          <a:solidFill>
                            <a:srgbClr val="1B2A3A"/>
                          </a:solidFill>
                          <a:latin typeface="Segoe UI" pitchFamily="34" charset="0"/>
                          <a:ea typeface="Segoe UI" pitchFamily="34" charset="-122"/>
                          <a:cs typeface="Segoe UI" pitchFamily="34" charset="-120"/>
                        </a:rPr>
                        <a:t>PRMP seule</a:t>
                      </a:r>
                      <a:pPr indent="0" marL="0">
                        <a:buNone/>
                      </a:pPr>
                      <a:r>
                        <a:rPr lang="en-US" sz="1100" dirty="0">
                          <a:solidFill>
                            <a:srgbClr val="1B2A3A"/>
                          </a:solidFill>
                          <a:latin typeface="Segoe UI" pitchFamily="34" charset="0"/>
                          <a:ea typeface="Segoe UI" pitchFamily="34" charset="-122"/>
                          <a:cs typeface="Segoe UI" pitchFamily="34" charset="-120"/>
                        </a:rPr>
                        <a:t> : elle attribue la référence du dossier. Un plan sans aucune ligne de marché est refusé. Sans mandat en cours, toute action est suspendue « en attente de nomination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Seul le brouillon se modifie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marché ou un plan ne se supprime qu’en </a:t>
                      </a:r>
                      <a:pPr indent="0" marL="0">
                        <a:buNone/>
                      </a:pPr>
                      <a:r>
                        <a:rPr lang="en-US" sz="1100" b="1" dirty="0">
                          <a:solidFill>
                            <a:srgbClr val="1B2A3A"/>
                          </a:solidFill>
                          <a:latin typeface="Segoe UI" pitchFamily="34" charset="0"/>
                          <a:ea typeface="Segoe UI" pitchFamily="34" charset="-122"/>
                          <a:cs typeface="Segoe UI" pitchFamily="34" charset="-120"/>
                        </a:rPr>
                        <a:t>brouillon</a:t>
                      </a:r>
                      <a:pPr indent="0" marL="0">
                        <a:buNone/>
                      </a:pPr>
                      <a:r>
                        <a:rPr lang="en-US" sz="1100" dirty="0">
                          <a:solidFill>
                            <a:srgbClr val="1B2A3A"/>
                          </a:solidFill>
                          <a:latin typeface="Segoe UI" pitchFamily="34" charset="0"/>
                          <a:ea typeface="Segoe UI" pitchFamily="34" charset="-122"/>
                          <a:cs typeface="Segoe UI" pitchFamily="34" charset="-120"/>
                        </a:rPr>
                        <a:t>, par sa PRMP, avec ses dates prévisionnelles. Après la soumission, le dossier ne se modifie plus, sauf retour officiel des observations ou retrait accepté.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seuils signalent, sans bloquer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référentiel des seuils, daté et administrable, compare chaque ligne aux montants </a:t>
                      </a:r>
                      <a:pPr indent="0" marL="0">
                        <a:buNone/>
                      </a:pPr>
                      <a:r>
                        <a:rPr lang="en-US" sz="1100" b="1" dirty="0">
                          <a:solidFill>
                            <a:srgbClr val="1B2A3A"/>
                          </a:solidFill>
                          <a:latin typeface="Segoe UI" pitchFamily="34" charset="0"/>
                          <a:ea typeface="Segoe UI" pitchFamily="34" charset="-122"/>
                          <a:cs typeface="Segoe UI" pitchFamily="34" charset="-120"/>
                        </a:rPr>
                        <a:t>hors taxes</a:t>
                      </a:r>
                      <a:pPr indent="0" marL="0">
                        <a:buNone/>
                      </a:pPr>
                      <a:r>
                        <a:rPr lang="en-US" sz="1100" dirty="0">
                          <a:solidFill>
                            <a:srgbClr val="1B2A3A"/>
                          </a:solidFill>
                          <a:latin typeface="Segoe UI" pitchFamily="34" charset="0"/>
                          <a:ea typeface="Segoe UI" pitchFamily="34" charset="-122"/>
                          <a:cs typeface="Segoe UI" pitchFamily="34" charset="-120"/>
                        </a:rPr>
                        <a:t> de l’arrêté n° 13 156/2019-MEF : barème central pour la CNM, déconcentré pour une CRM. Un écart produit un signalement écartable ; aucun mode n’est imposé, aucun dossier bloqué.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107</a:t>
            </a:r>
            <a:endParaRPr lang="en-US" sz="11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(8/35)</a:t>
            </a:r>
            <a:endParaRPr lang="en-US" sz="2600" dirty="0"/>
          </a:p>
        </p:txBody>
      </p:sp>
      <p:graphicFrame>
        <p:nvGraphicFramePr>
          <p:cNvPr id="10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référentiel muet se tait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Sans seuil au référentiel, </a:t>
                      </a:r>
                      <a:pPr indent="0" marL="0">
                        <a:buNone/>
                      </a:pPr>
                      <a:r>
                        <a:rPr lang="en-US" sz="1100" b="1" dirty="0">
                          <a:solidFill>
                            <a:srgbClr val="1B2A3A"/>
                          </a:solidFill>
                          <a:latin typeface="Segoe UI" pitchFamily="34" charset="0"/>
                          <a:ea typeface="Segoe UI" pitchFamily="34" charset="-122"/>
                          <a:cs typeface="Segoe UI" pitchFamily="34" charset="-120"/>
                        </a:rPr>
                        <a:t>rien n’est signalé</a:t>
                      </a:r>
                      <a:pPr indent="0" marL="0">
                        <a:buNone/>
                      </a:pPr>
                      <a:r>
                        <a:rPr lang="en-US" sz="1100" dirty="0">
                          <a:solidFill>
                            <a:srgbClr val="1B2A3A"/>
                          </a:solidFill>
                          <a:latin typeface="Segoe UI" pitchFamily="34" charset="0"/>
                          <a:ea typeface="Segoe UI" pitchFamily="34" charset="-122"/>
                          <a:cs typeface="Segoe UI" pitchFamily="34" charset="-120"/>
                        </a:rPr>
                        <a:t> : aucun montant de repli n’existe. Un mode dérogatoire n’est pas signalé par les seuils, et un mode plus ouvert que nécessaire ne l’est jamais. Une catégorie de seuil n’est demandée que si les catégories plausibles donnent des réponses différentes.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Écarter, avec un motif</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signalement s’écarte par un </a:t>
                      </a:r>
                      <a:pPr indent="0" marL="0">
                        <a:buNone/>
                      </a:pPr>
                      <a:r>
                        <a:rPr lang="en-US" sz="1100" b="1" dirty="0">
                          <a:solidFill>
                            <a:srgbClr val="1B2A3A"/>
                          </a:solidFill>
                          <a:latin typeface="Segoe UI" pitchFamily="34" charset="0"/>
                          <a:ea typeface="Segoe UI" pitchFamily="34" charset="-122"/>
                          <a:cs typeface="Segoe UI" pitchFamily="34" charset="-120"/>
                        </a:rPr>
                        <a:t>motif d’au moins 20 caractères</a:t>
                      </a:r>
                      <a:pPr indent="0" marL="0">
                        <a:buNone/>
                      </a:pPr>
                      <a:r>
                        <a:rPr lang="en-US" sz="1100" dirty="0">
                          <a:solidFill>
                            <a:srgbClr val="1B2A3A"/>
                          </a:solidFill>
                          <a:latin typeface="Segoe UI" pitchFamily="34" charset="0"/>
                          <a:ea typeface="Segoe UI" pitchFamily="34" charset="-122"/>
                          <a:cs typeface="Segoe UI" pitchFamily="34" charset="-120"/>
                        </a:rPr>
                        <a:t>, après l’avertissement que le contrôleur le verra. L’auteur est enregistré ; un seul écartement par signalement. Avant la soumission, son auteur peut le reprendre.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Figé à la soumission, jamais effacé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soumission, les règles tournent une dernière fois et les écartements sont </a:t>
                      </a:r>
                      <a:pPr indent="0" marL="0">
                        <a:buNone/>
                      </a:pPr>
                      <a:r>
                        <a:rPr lang="en-US" sz="1100" b="1" dirty="0">
                          <a:solidFill>
                            <a:srgbClr val="1B2A3A"/>
                          </a:solidFill>
                          <a:latin typeface="Segoe UI" pitchFamily="34" charset="0"/>
                          <a:ea typeface="Segoe UI" pitchFamily="34" charset="-122"/>
                          <a:cs typeface="Segoe UI" pitchFamily="34" charset="-120"/>
                        </a:rPr>
                        <a:t>figés</a:t>
                      </a:r>
                      <a:pPr indent="0" marL="0">
                        <a:buNone/>
                      </a:pPr>
                      <a:r>
                        <a:rPr lang="en-US" sz="1100" dirty="0">
                          <a:solidFill>
                            <a:srgbClr val="1B2A3A"/>
                          </a:solidFill>
                          <a:latin typeface="Segoe UI" pitchFamily="34" charset="0"/>
                          <a:ea typeface="Segoe UI" pitchFamily="34" charset="-122"/>
                          <a:cs typeface="Segoe UI" pitchFamily="34" charset="-120"/>
                        </a:rPr>
                        <a:t>. Un signalement que le plan corrigé ne fait plus ressortir est levé, jamais effacé. Une panne du pré-contrôle n’empêche jamais de soumettre.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piste n’est pas un constat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Sur demande explicite, l’assistant propose des </a:t>
                      </a:r>
                      <a:pPr indent="0" marL="0">
                        <a:buNone/>
                      </a:pPr>
                      <a:r>
                        <a:rPr lang="en-US" sz="1100" b="1" dirty="0">
                          <a:solidFill>
                            <a:srgbClr val="1B2A3A"/>
                          </a:solidFill>
                          <a:latin typeface="Segoe UI" pitchFamily="34" charset="0"/>
                          <a:ea typeface="Segoe UI" pitchFamily="34" charset="-122"/>
                          <a:cs typeface="Segoe UI" pitchFamily="34" charset="-120"/>
                        </a:rPr>
                        <a:t>pistes</a:t>
                      </a:r>
                      <a:pPr indent="0" marL="0">
                        <a:buNone/>
                      </a:pPr>
                      <a:r>
                        <a:rPr lang="en-US" sz="1100" dirty="0">
                          <a:solidFill>
                            <a:srgbClr val="1B2A3A"/>
                          </a:solidFill>
                          <a:latin typeface="Segoe UI" pitchFamily="34" charset="0"/>
                          <a:ea typeface="Segoe UI" pitchFamily="34" charset="-122"/>
                          <a:cs typeface="Segoe UI" pitchFamily="34" charset="-120"/>
                        </a:rPr>
                        <a:t> : fractionnement déguisé, objet imprécis, nature incohérente. Présentées autrement que les constats des règles, elles s’écartent de même et ne touchent jamais aux seuils, montants ni dates.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fin prévue dès le dépôt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la soumission, le dossier porte sa </a:t>
                      </a:r>
                      <a:pPr indent="0" marL="0">
                        <a:buNone/>
                      </a:pPr>
                      <a:r>
                        <a:rPr lang="en-US" sz="1100" b="1" dirty="0">
                          <a:solidFill>
                            <a:srgbClr val="1B2A3A"/>
                          </a:solidFill>
                          <a:latin typeface="Segoe UI" pitchFamily="34" charset="0"/>
                          <a:ea typeface="Segoe UI" pitchFamily="34" charset="-122"/>
                          <a:cs typeface="Segoe UI" pitchFamily="34" charset="-120"/>
                        </a:rPr>
                        <a:t>date prévisionnelle de fin</a:t>
                      </a:r>
                      <a:pPr indent="0" marL="0">
                        <a:buNone/>
                      </a:pPr>
                      <a:r>
                        <a:rPr lang="en-US" sz="1100" dirty="0">
                          <a:solidFill>
                            <a:srgbClr val="1B2A3A"/>
                          </a:solidFill>
                          <a:latin typeface="Segoe UI" pitchFamily="34" charset="0"/>
                          <a:ea typeface="Segoe UI" pitchFamily="34" charset="-122"/>
                          <a:cs typeface="Segoe UI" pitchFamily="34" charset="-120"/>
                        </a:rPr>
                        <a:t>, calculée en jours ouvrés ; elle glisse tant que la main est à la PRMP. Depuis le 09/10, l’Administrateur peut régler un délai propre à un sous-type pour une étape, et la date annoncée en tient compte. La frise date chacune des sept étapes franchies.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108</a:t>
            </a:r>
            <a:endParaRPr lang="en-US" sz="11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(9/35)</a:t>
            </a:r>
            <a:endParaRPr lang="en-US" sz="2600" dirty="0"/>
          </a:p>
        </p:txBody>
      </p:sp>
      <p:graphicFrame>
        <p:nvGraphicFramePr>
          <p:cNvPr id="11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L’avancement, pas les coulisses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et l’UGPM suivent l’avancement, pas </a:t>
                      </a:r>
                      <a:pPr indent="0" marL="0">
                        <a:buNone/>
                      </a:pPr>
                      <a:r>
                        <a:rPr lang="en-US" sz="1100" b="1" dirty="0">
                          <a:solidFill>
                            <a:srgbClr val="1B2A3A"/>
                          </a:solidFill>
                          <a:latin typeface="Segoe UI" pitchFamily="34" charset="0"/>
                          <a:ea typeface="Segoe UI" pitchFamily="34" charset="-122"/>
                          <a:cs typeface="Segoe UI" pitchFamily="34" charset="-120"/>
                        </a:rPr>
                        <a:t>qui traite</a:t>
                      </a:r>
                      <a:pPr indent="0" marL="0">
                        <a:buNone/>
                      </a:pPr>
                      <a:r>
                        <a:rPr lang="en-US" sz="1100" dirty="0">
                          <a:solidFill>
                            <a:srgbClr val="1B2A3A"/>
                          </a:solidFill>
                          <a:latin typeface="Segoe UI" pitchFamily="34" charset="0"/>
                          <a:ea typeface="Segoe UI" pitchFamily="34" charset="-122"/>
                          <a:cs typeface="Segoe UI" pitchFamily="34" charset="-120"/>
                        </a:rPr>
                        <a:t> : ni journal interne, ni acteurs des étapes. Du PV, elles reçoivent l’avis, la synthèse des observations et le document officiel, jamais le détail point par point.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synthèse sur demande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Sur la page d’un dossier, « Résumer ce dossier » fait rédiger par l’assistant une synthèse en quatre rubriques : où en est le dossier, ce qui a été demandé à la PRMP, les délais, ce qui reste à faire. Rien ne se déclenche seul ; les </a:t>
                      </a:r>
                      <a:pPr indent="0" marL="0">
                        <a:buNone/>
                      </a:pPr>
                      <a:r>
                        <a:rPr lang="en-US" sz="1100" b="1" dirty="0">
                          <a:solidFill>
                            <a:srgbClr val="1B2A3A"/>
                          </a:solidFill>
                          <a:latin typeface="Segoe UI" pitchFamily="34" charset="0"/>
                          <a:ea typeface="Segoe UI" pitchFamily="34" charset="-122"/>
                          <a:cs typeface="Segoe UI" pitchFamily="34" charset="-120"/>
                        </a:rPr>
                        <a:t>faits viennent du serveur</a:t>
                      </a:r>
                      <a:pPr indent="0" marL="0">
                        <a:buNone/>
                      </a:pPr>
                      <a:r>
                        <a:rPr lang="en-US" sz="1100" dirty="0">
                          <a:solidFill>
                            <a:srgbClr val="1B2A3A"/>
                          </a:solidFill>
                          <a:latin typeface="Segoe UI" pitchFamily="34" charset="0"/>
                          <a:ea typeface="Segoe UI" pitchFamily="34" charset="-122"/>
                          <a:cs typeface="Segoe UI" pitchFamily="34" charset="-120"/>
                        </a:rPr>
                        <a:t>, la rédaction du modèle, et la synthèse ne remplace ni la lecture des pièces ni l’examen.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mise à jour, une nouvelle version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mise à jour ne modifie jamais le plan en place : elle ouvre un </a:t>
                      </a:r>
                      <a:pPr indent="0" marL="0">
                        <a:buNone/>
                      </a:pPr>
                      <a:r>
                        <a:rPr lang="en-US" sz="1100" b="1" dirty="0">
                          <a:solidFill>
                            <a:srgbClr val="1B2A3A"/>
                          </a:solidFill>
                          <a:latin typeface="Segoe UI" pitchFamily="34" charset="0"/>
                          <a:ea typeface="Segoe UI" pitchFamily="34" charset="-122"/>
                          <a:cs typeface="Segoe UI" pitchFamily="34" charset="-120"/>
                        </a:rPr>
                        <a:t>nouveau brouillon</a:t>
                      </a:r>
                      <a:pPr indent="0" marL="0">
                        <a:buNone/>
                      </a:pPr>
                      <a:r>
                        <a:rPr lang="en-US" sz="1100" dirty="0">
                          <a:solidFill>
                            <a:srgbClr val="1B2A3A"/>
                          </a:solidFill>
                          <a:latin typeface="Segoe UI" pitchFamily="34" charset="0"/>
                          <a:ea typeface="Segoe UI" pitchFamily="34" charset="-122"/>
                          <a:cs typeface="Segoe UI" pitchFamily="34" charset="-120"/>
                        </a:rPr>
                        <a:t>, copie complète du précédent, avec un motif obligatoire. Elle n’est possible que sur un plan dont la décision est transmise ou le dossier clôturé, et une seule à la fois.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lignes absentes sont supprimées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mise à jour s’importe en PDF : chaque ligne est rapprochée par son contenu. Une ligne absente devient </a:t>
                      </a:r>
                      <a:pPr indent="0" marL="0">
                        <a:buNone/>
                      </a:pPr>
                      <a:r>
                        <a:rPr lang="en-US" sz="1100" b="1" dirty="0">
                          <a:solidFill>
                            <a:srgbClr val="1B2A3A"/>
                          </a:solidFill>
                          <a:latin typeface="Segoe UI" pitchFamily="34" charset="0"/>
                          <a:ea typeface="Segoe UI" pitchFamily="34" charset="-122"/>
                          <a:cs typeface="Segoe UI" pitchFamily="34" charset="-120"/>
                        </a:rPr>
                        <a:t>supprimée</a:t>
                      </a:r>
                      <a:pPr indent="0" marL="0">
                        <a:buNone/>
                      </a:pPr>
                      <a:r>
                        <a:rPr lang="en-US" sz="1100" dirty="0">
                          <a:solidFill>
                            <a:srgbClr val="1B2A3A"/>
                          </a:solidFill>
                          <a:latin typeface="Segoe UI" pitchFamily="34" charset="0"/>
                          <a:ea typeface="Segoe UI" pitchFamily="34" charset="-122"/>
                          <a:cs typeface="Segoe UI" pitchFamily="34" charset="-120"/>
                        </a:rPr>
                        <a:t>, conservée et restaurable ; une ligne inconnue est créée. L’entité contractante reste celle du plan d’origine.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bascule à la soumission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version précédente passe « remplacée » à la </a:t>
                      </a:r>
                      <a:pPr indent="0" marL="0">
                        <a:buNone/>
                      </a:pPr>
                      <a:r>
                        <a:rPr lang="en-US" sz="1100" b="1" dirty="0">
                          <a:solidFill>
                            <a:srgbClr val="1B2A3A"/>
                          </a:solidFill>
                          <a:latin typeface="Segoe UI" pitchFamily="34" charset="0"/>
                          <a:ea typeface="Segoe UI" pitchFamily="34" charset="-122"/>
                          <a:cs typeface="Segoe UI" pitchFamily="34" charset="-120"/>
                        </a:rPr>
                        <a:t>soumission</a:t>
                      </a:r>
                      <a:pPr indent="0" marL="0">
                        <a:buNone/>
                      </a:pPr>
                      <a:r>
                        <a:rPr lang="en-US" sz="1100" dirty="0">
                          <a:solidFill>
                            <a:srgbClr val="1B2A3A"/>
                          </a:solidFill>
                          <a:latin typeface="Segoe UI" pitchFamily="34" charset="0"/>
                          <a:ea typeface="Segoe UI" pitchFamily="34" charset="-122"/>
                          <a:cs typeface="Segoe UI" pitchFamily="34" charset="-120"/>
                        </a:rPr>
                        <a:t> de la nouvelle, pas avant : une mise à jour abandonnée se supprime sans rien neutraliser. L’écart entre versions est alors figé, et l’examen ne porte que sur les lignes changées.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109</a:t>
            </a:r>
            <a:endParaRPr lang="en-US" sz="11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(10/35)</a:t>
            </a:r>
            <a:endParaRPr lang="en-US" sz="2600" dirty="0"/>
          </a:p>
        </p:txBody>
      </p:sp>
      <p:graphicFrame>
        <p:nvGraphicFramePr>
          <p:cNvPr id="11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retrait jusqu’au PV signé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demande le retrait avec un motif et sa </a:t>
                      </a:r>
                      <a:pPr indent="0" marL="0">
                        <a:buNone/>
                      </a:pPr>
                      <a:r>
                        <a:rPr lang="en-US" sz="1100" b="1" dirty="0">
                          <a:solidFill>
                            <a:srgbClr val="1B2A3A"/>
                          </a:solidFill>
                          <a:latin typeface="Segoe UI" pitchFamily="34" charset="0"/>
                          <a:ea typeface="Segoe UI" pitchFamily="34" charset="-122"/>
                          <a:cs typeface="Segoe UI" pitchFamily="34" charset="-120"/>
                        </a:rPr>
                        <a:t>lettre datée et signée</a:t>
                      </a:r>
                      <a:pPr indent="0" marL="0">
                        <a:buNone/>
                      </a:pPr>
                      <a:r>
                        <a:rPr lang="en-US" sz="1100" dirty="0">
                          <a:solidFill>
                            <a:srgbClr val="1B2A3A"/>
                          </a:solidFill>
                          <a:latin typeface="Segoe UI" pitchFamily="34" charset="0"/>
                          <a:ea typeface="Segoe UI" pitchFamily="34" charset="-122"/>
                          <a:cs typeface="Segoe UI" pitchFamily="34" charset="-120"/>
                        </a:rPr>
                        <a:t> (PDF de 10 Mo au plus), tant que le PV n’est pas signé. Une seule demande en attente par dossier ; le Chef de commission ou le Président décide, et la demande devient caduque si le PV est signé entre-temps.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accepté, retour au brouillon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retrait accepté remet le dossier en </a:t>
                      </a:r>
                      <a:pPr indent="0" marL="0">
                        <a:buNone/>
                      </a:pPr>
                      <a:r>
                        <a:rPr lang="en-US" sz="1100" b="1" dirty="0">
                          <a:solidFill>
                            <a:srgbClr val="1B2A3A"/>
                          </a:solidFill>
                          <a:latin typeface="Segoe UI" pitchFamily="34" charset="0"/>
                          <a:ea typeface="Segoe UI" pitchFamily="34" charset="-122"/>
                          <a:cs typeface="Segoe UI" pitchFamily="34" charset="-120"/>
                        </a:rPr>
                        <a:t>brouillon</a:t>
                      </a:r>
                      <a:pPr indent="0" marL="0">
                        <a:buNone/>
                      </a:pPr>
                      <a:r>
                        <a:rPr lang="en-US" sz="1100" dirty="0">
                          <a:solidFill>
                            <a:srgbClr val="1B2A3A"/>
                          </a:solidFill>
                          <a:latin typeface="Segoe UI" pitchFamily="34" charset="0"/>
                          <a:ea typeface="Segoe UI" pitchFamily="34" charset="-122"/>
                          <a:cs typeface="Segoe UI" pitchFamily="34" charset="-120"/>
                        </a:rPr>
                        <a:t> et efface son passage dans le circuit ; le journal et le chronométrage sont conservés. Un refus laisse le dossier inchangé. La PRMP suit le statut de sa demande, sans voir qui l’a tranchée.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jalons surveillés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RG-PLA-25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calendrier rapproche, pour chaque processus, la date prévue de la date réelle. À l’écran, un jalon est dit </a:t>
                      </a:r>
                      <a:pPr indent="0" marL="0">
                        <a:buNone/>
                      </a:pPr>
                      <a:r>
                        <a:rPr lang="en-US" sz="1100" b="1" dirty="0">
                          <a:solidFill>
                            <a:srgbClr val="1B2A3A"/>
                          </a:solidFill>
                          <a:latin typeface="Segoe UI" pitchFamily="34" charset="0"/>
                          <a:ea typeface="Segoe UI" pitchFamily="34" charset="-122"/>
                          <a:cs typeface="Segoe UI" pitchFamily="34" charset="-120"/>
                        </a:rPr>
                        <a:t>imminent</a:t>
                      </a:r>
                      <a:pPr indent="0" marL="0">
                        <a:buNone/>
                      </a:pPr>
                      <a:r>
                        <a:rPr lang="en-US" sz="1100" dirty="0">
                          <a:solidFill>
                            <a:srgbClr val="1B2A3A"/>
                          </a:solidFill>
                          <a:latin typeface="Segoe UI" pitchFamily="34" charset="0"/>
                          <a:ea typeface="Segoe UI" pitchFamily="34" charset="-122"/>
                          <a:cs typeface="Segoe UI" pitchFamily="34" charset="-120"/>
                        </a:rPr>
                        <a:t> dans les jours qui le précèdent (sept par défaut, ou selon la règle d’alerte réglée) et </a:t>
                      </a:r>
                      <a:pPr indent="0" marL="0">
                        <a:buNone/>
                      </a:pPr>
                      <a:r>
                        <a:rPr lang="en-US" sz="1100" b="1" dirty="0">
                          <a:solidFill>
                            <a:srgbClr val="1B2A3A"/>
                          </a:solidFill>
                          <a:latin typeface="Segoe UI" pitchFamily="34" charset="0"/>
                          <a:ea typeface="Segoe UI" pitchFamily="34" charset="-122"/>
                          <a:cs typeface="Segoe UI" pitchFamily="34" charset="-120"/>
                        </a:rPr>
                        <a:t>en retard</a:t>
                      </a:r>
                      <a:pPr indent="0" marL="0">
                        <a:buNone/>
                      </a:pPr>
                      <a:r>
                        <a:rPr lang="en-US" sz="1100" dirty="0">
                          <a:solidFill>
                            <a:srgbClr val="1B2A3A"/>
                          </a:solidFill>
                          <a:latin typeface="Segoe UI" pitchFamily="34" charset="0"/>
                          <a:ea typeface="Segoe UI" pitchFamily="34" charset="-122"/>
                          <a:cs typeface="Segoe UI" pitchFamily="34" charset="-120"/>
                        </a:rPr>
                        <a:t> une fois la date prévue dépassée sans date réelle. Les notifications, elles, ne partent qu’</a:t>
                      </a:r>
                      <a:pPr indent="0" marL="0">
                        <a:buNone/>
                      </a:pPr>
                      <a:r>
                        <a:rPr lang="en-US" sz="1100" b="1" dirty="0">
                          <a:solidFill>
                            <a:srgbClr val="1B2A3A"/>
                          </a:solidFill>
                          <a:latin typeface="Segoe UI" pitchFamily="34" charset="0"/>
                          <a:ea typeface="Segoe UI" pitchFamily="34" charset="-122"/>
                          <a:cs typeface="Segoe UI" pitchFamily="34" charset="-120"/>
                        </a:rPr>
                        <a:t>une fois</a:t>
                      </a:r>
                      <a:pPr indent="0" marL="0">
                        <a:buNone/>
                      </a:pPr>
                      <a:r>
                        <a:rPr lang="en-US" sz="1100" dirty="0">
                          <a:solidFill>
                            <a:srgbClr val="1B2A3A"/>
                          </a:solidFill>
                          <a:latin typeface="Segoe UI" pitchFamily="34" charset="0"/>
                          <a:ea typeface="Segoe UI" pitchFamily="34" charset="-122"/>
                          <a:cs typeface="Segoe UI" pitchFamily="34" charset="-120"/>
                        </a:rPr>
                        <a:t> par jalon, à son entrée dans les sept jours qui le précèdent.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Tout PV signé passe au Vérificateur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RG-CTL-29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 avis ne clôt le dossier à la signature : le PV est transmis à la PRMP et le dossier part en vérification. Pour un avis favorable, défavorable ou sans objet, le Vérificateur n’a plus qu’à transmettre la décision au SIGMP.</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L’attente de la PRMP est suspendue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compteur de la Commission se suspend pendant les attentes de la PRMP : compléments au dépôt, pièces après renvoi, rectification. Le délai propre de la PRMP est mesuré à part.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110</a:t>
            </a:r>
            <a:endParaRPr lang="en-US" sz="11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(11/35)</a:t>
            </a:r>
            <a:endParaRPr lang="en-US" sz="2600" dirty="0"/>
          </a:p>
        </p:txBody>
      </p:sp>
      <p:graphicFrame>
        <p:nvGraphicFramePr>
          <p:cNvPr id="11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Date prévisionnelle annoncée dès le dépôt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date annoncée à la PRMP additionne le reste de l’étape en cours et les délais standards des étapes restantes. Une étape en dépassement compte zéro : la date glisse.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pièces exigées par sous-type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RG-CTL-47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sous-type a sa propre liste de pièces ; une pièce qui dépend de la catégorie ou de la forme du marché ne s’exige que si elle s’applique à la fiche. La soumission refuse le dossier auquel manque une pièce obligatoire en nommant </a:t>
                      </a:r>
                      <a:pPr indent="0" marL="0">
                        <a:buNone/>
                      </a:pPr>
                      <a:r>
                        <a:rPr lang="en-US" sz="1100" b="1" dirty="0">
                          <a:solidFill>
                            <a:srgbClr val="1B2A3A"/>
                          </a:solidFill>
                          <a:latin typeface="Segoe UI" pitchFamily="34" charset="0"/>
                          <a:ea typeface="Segoe UI" pitchFamily="34" charset="-122"/>
                          <a:cs typeface="Segoe UI" pitchFamily="34" charset="-120"/>
                        </a:rPr>
                        <a:t>chaque</a:t>
                      </a:r>
                      <a:pPr indent="0" marL="0">
                        <a:buNone/>
                      </a:pPr>
                      <a:r>
                        <a:rPr lang="en-US" sz="1100" dirty="0">
                          <a:solidFill>
                            <a:srgbClr val="1B2A3A"/>
                          </a:solidFill>
                          <a:latin typeface="Segoe UI" pitchFamily="34" charset="0"/>
                          <a:ea typeface="Segoe UI" pitchFamily="34" charset="-122"/>
                          <a:cs typeface="Segoe UI" pitchFamily="34" charset="-120"/>
                        </a:rPr>
                        <a:t> pièce ; la réception lit la même liste. Depuis le 13/10, pour une procédure conduite dans l’application, les pièces que l’application produit ne sont plus demandées (RG-CTL-51).</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Avis avec réserves : la PRMP rectifie d’abord</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signature d’un PV favorable avec réserves, le PV et ses observations partent à la PRMP, qui rectifie. Sa </a:t>
                      </a:r>
                      <a:pPr indent="0" marL="0">
                        <a:buNone/>
                      </a:pPr>
                      <a:r>
                        <a:rPr lang="en-US" sz="1100" b="1" dirty="0">
                          <a:solidFill>
                            <a:srgbClr val="1B2A3A"/>
                          </a:solidFill>
                          <a:latin typeface="Segoe UI" pitchFamily="34" charset="0"/>
                          <a:ea typeface="Segoe UI" pitchFamily="34" charset="-122"/>
                          <a:cs typeface="Segoe UI" pitchFamily="34" charset="-120"/>
                        </a:rPr>
                        <a:t>resoumission</a:t>
                      </a:r>
                      <a:pPr indent="0" marL="0">
                        <a:buNone/>
                      </a:pPr>
                      <a:r>
                        <a:rPr lang="en-US" sz="1100" dirty="0">
                          <a:solidFill>
                            <a:srgbClr val="1B2A3A"/>
                          </a:solidFill>
                          <a:latin typeface="Segoe UI" pitchFamily="34" charset="0"/>
                          <a:ea typeface="Segoe UI" pitchFamily="34" charset="-122"/>
                          <a:cs typeface="Segoe UI" pitchFamily="34" charset="-120"/>
                        </a:rPr>
                        <a:t>, motivée, ouvre la vérification et notifie le Vérificateur.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Lettre de renvoi signée par la Commission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ou le Chef de commission établit la lettre de renvoi. En Centrale, l’un ou l’autre la signe ; en région, seul le Chef de commission de la localité. Le Membre ne la signe jamais.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Renvoi : examen suspendu, puis réexamen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signature de la lettre, l’examen est suspendu et la PRMP est notifiée. Après dépôt et transmission des pièces demandées, le dossier revient au Membre, qui </a:t>
                      </a:r>
                      <a:pPr indent="0" marL="0">
                        <a:buNone/>
                      </a:pPr>
                      <a:r>
                        <a:rPr lang="en-US" sz="1100" b="1" dirty="0">
                          <a:solidFill>
                            <a:srgbClr val="1B2A3A"/>
                          </a:solidFill>
                          <a:latin typeface="Segoe UI" pitchFamily="34" charset="0"/>
                          <a:ea typeface="Segoe UI" pitchFamily="34" charset="-122"/>
                          <a:cs typeface="Segoe UI" pitchFamily="34" charset="-120"/>
                        </a:rPr>
                        <a:t>réexamine</a:t>
                      </a:r>
                      <a:pPr indent="0" marL="0">
                        <a:buNone/>
                      </a:pPr>
                      <a:r>
                        <a:rPr lang="en-US" sz="1100" dirty="0">
                          <a:solidFill>
                            <a:srgbClr val="1B2A3A"/>
                          </a:solidFill>
                          <a:latin typeface="Segoe UI" pitchFamily="34" charset="0"/>
                          <a:ea typeface="Segoe UI" pitchFamily="34" charset="-122"/>
                          <a:cs typeface="Segoe UI" pitchFamily="34" charset="-120"/>
                        </a:rPr>
                        <a:t> puis resoumet le projet de PV.</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111</a:t>
            </a:r>
            <a:endParaRPr lang="en-US" sz="11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(12/35)</a:t>
            </a:r>
            <a:endParaRPr lang="en-US" sz="2600" dirty="0"/>
          </a:p>
        </p:txBody>
      </p:sp>
      <p:graphicFrame>
        <p:nvGraphicFramePr>
          <p:cNvPr id="11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écrans figés à la soumission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soumission et resoumission d’un dossier conduit dans l’application, les écrans qui remplacent les pièces (ligne du plan, avis et lettres, commission d’appel d’offres, AMI, séance, évaluation, attribution, acte, sans suite) sont </a:t>
                      </a:r>
                      <a:pPr indent="0" marL="0">
                        <a:buNone/>
                      </a:pPr>
                      <a:r>
                        <a:rPr lang="en-US" sz="1100" b="1" dirty="0">
                          <a:solidFill>
                            <a:srgbClr val="1B2A3A"/>
                          </a:solidFill>
                          <a:latin typeface="Segoe UI" pitchFamily="34" charset="0"/>
                          <a:ea typeface="Segoe UI" pitchFamily="34" charset="-122"/>
                          <a:cs typeface="Segoe UI" pitchFamily="34" charset="-120"/>
                        </a:rPr>
                        <a:t>figés</a:t>
                      </a:r>
                      <a:pPr indent="0" marL="0">
                        <a:buNone/>
                      </a:pPr>
                      <a:r>
                        <a:rPr lang="en-US" sz="1100" dirty="0">
                          <a:solidFill>
                            <a:srgbClr val="1B2A3A"/>
                          </a:solidFill>
                          <a:latin typeface="Segoe UI" pitchFamily="34" charset="0"/>
                          <a:ea typeface="Segoe UI" pitchFamily="34" charset="-122"/>
                          <a:cs typeface="Segoe UI" pitchFamily="34" charset="-120"/>
                        </a:rPr>
                        <a:t> avec leur empreinte et le numéro de la soumission. Immuables, ils se lisent en lecture seule et s’exportent en PDF ; les écrans vivants peuvent évoluer sans changer ce que la Commission a reçu.</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Pièces non demandées pour une procédure en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procédure est conduite dans l’application, la validation tracée vaut signature des pièces internes : fiche de présentation (sauf actes de gestion), AGPM et PPM contrôlés, PV de la Commission, PV de validation de la commission d’appel d’offres, marché initial d’un acte de gestion ne sont plus demandés à la PRMP. Le mode (papier ou électronique) est fixé à la création de la procédure ; en papier, toutes les pièces du manuel restent exigées.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contrôles automatiques à la soumission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soumission et à chaque resoumission, l’application joue les contrôles du manuel classés automatiques pour la famille du dossier. Un contrôle </a:t>
                      </a:r>
                      <a:pPr indent="0" marL="0">
                        <a:buNone/>
                      </a:pPr>
                      <a:r>
                        <a:rPr lang="en-US" sz="1100" b="1" dirty="0">
                          <a:solidFill>
                            <a:srgbClr val="1B2A3A"/>
                          </a:solidFill>
                          <a:latin typeface="Segoe UI" pitchFamily="34" charset="0"/>
                          <a:ea typeface="Segoe UI" pitchFamily="34" charset="-122"/>
                          <a:cs typeface="Segoe UI" pitchFamily="34" charset="-120"/>
                        </a:rPr>
                        <a:t>bloquant</a:t>
                      </a:r>
                      <a:pPr indent="0" marL="0">
                        <a:buNone/>
                      </a:pPr>
                      <a:r>
                        <a:rPr lang="en-US" sz="1100" dirty="0">
                          <a:solidFill>
                            <a:srgbClr val="1B2A3A"/>
                          </a:solidFill>
                          <a:latin typeface="Segoe UI" pitchFamily="34" charset="0"/>
                          <a:ea typeface="Segoe UI" pitchFamily="34" charset="-122"/>
                          <a:cs typeface="Segoe UI" pitchFamily="34" charset="-120"/>
                        </a:rPr>
                        <a:t> non conforme refuse la soumission en nommant ce qui manque et les valeurs constatées ; les autres résultats sont enregistrés, lisibles par la Commission et la PRMP.</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contrôles du Membre et la levée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Membre attributaire ajoute ses propres contrôles (point de grille ou règle, résultat, observation obligatoire s’il constate une non-conformité). Le dernier résultat posé sur une règle fait foi : il lève une non-conformité en posant « conforme » ou « sans objet », motivé. Une non-conformité non levée interdit l’avis favorable sans réserve et figure à l’annexe du PV.</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projet d’avis joint d’office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RG-CTL-56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validation de la fiche, l’application produit le </a:t>
                      </a:r>
                      <a:pPr indent="0" marL="0">
                        <a:buNone/>
                      </a:pPr>
                      <a:r>
                        <a:rPr lang="en-US" sz="1100" b="1" dirty="0">
                          <a:solidFill>
                            <a:srgbClr val="1B2A3A"/>
                          </a:solidFill>
                          <a:latin typeface="Segoe UI" pitchFamily="34" charset="0"/>
                          <a:ea typeface="Segoe UI" pitchFamily="34" charset="-122"/>
                          <a:cs typeface="Segoe UI" pitchFamily="34" charset="-120"/>
                        </a:rPr>
                        <a:t>projet</a:t>
                      </a:r>
                      <a:pPr indent="0" marL="0">
                        <a:buNone/>
                      </a:pPr>
                      <a:r>
                        <a:rPr lang="en-US" sz="1100" dirty="0">
                          <a:solidFill>
                            <a:srgbClr val="1B2A3A"/>
                          </a:solidFill>
                          <a:latin typeface="Segoe UI" pitchFamily="34" charset="0"/>
                          <a:ea typeface="Segoe UI" pitchFamily="34" charset="-122"/>
                          <a:cs typeface="Segoe UI" pitchFamily="34" charset="-120"/>
                        </a:rPr>
                        <a:t> d’avis spécifique (ou de lettre d’invitation), « PROJET » en filigrane, et le joint d’office au dossier. Un projet ne lance pas la ligne du plan. Pendant la transition, l’imprimé du SIGMP reste accepté en pièce facultative ; chaque document produit porte en pied la décision d’équivalence, ou « équivalence SIGMP en attente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112</a:t>
            </a:r>
            <a:endParaRPr lang="en-US" sz="11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(13/35)</a:t>
            </a:r>
            <a:endParaRPr lang="en-US" sz="2600" dirty="0"/>
          </a:p>
        </p:txBody>
      </p:sp>
      <p:graphicFrame>
        <p:nvGraphicFramePr>
          <p:cNvPr id="11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Qui prépare, qui valide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a:t>
                      </a:r>
                      <a:pPr indent="0" marL="0">
                        <a:buNone/>
                      </a:pPr>
                      <a:r>
                        <a:rPr lang="en-US" sz="1100" b="1" dirty="0">
                          <a:solidFill>
                            <a:srgbClr val="1B2A3A"/>
                          </a:solidFill>
                          <a:latin typeface="Segoe UI" pitchFamily="34" charset="0"/>
                          <a:ea typeface="Segoe UI" pitchFamily="34" charset="-122"/>
                          <a:cs typeface="Segoe UI" pitchFamily="34" charset="-120"/>
                        </a:rPr>
                        <a:t>PRMP propriétaire du plan et son UGPM</a:t>
                      </a:r>
                      <a:pPr indent="0" marL="0">
                        <a:buNone/>
                      </a:pPr>
                      <a:r>
                        <a:rPr lang="en-US" sz="1100" dirty="0">
                          <a:solidFill>
                            <a:srgbClr val="1B2A3A"/>
                          </a:solidFill>
                          <a:latin typeface="Segoe UI" pitchFamily="34" charset="0"/>
                          <a:ea typeface="Segoe UI" pitchFamily="34" charset="-122"/>
                          <a:cs typeface="Segoe UI" pitchFamily="34" charset="-120"/>
                        </a:rPr>
                        <a:t> préparent. La </a:t>
                      </a:r>
                      <a:pPr indent="0" marL="0">
                        <a:buNone/>
                      </a:pPr>
                      <a:r>
                        <a:rPr lang="en-US" sz="1100" b="1" dirty="0">
                          <a:solidFill>
                            <a:srgbClr val="1B2A3A"/>
                          </a:solidFill>
                          <a:latin typeface="Segoe UI" pitchFamily="34" charset="0"/>
                          <a:ea typeface="Segoe UI" pitchFamily="34" charset="-122"/>
                          <a:cs typeface="Segoe UI" pitchFamily="34" charset="-120"/>
                        </a:rPr>
                        <a:t>PRMP seule</a:t>
                      </a:r>
                      <a:pPr indent="0" marL="0">
                        <a:buNone/>
                      </a:pPr>
                      <a:r>
                        <a:rPr lang="en-US" sz="1100" dirty="0">
                          <a:solidFill>
                            <a:srgbClr val="1B2A3A"/>
                          </a:solidFill>
                          <a:latin typeface="Segoe UI" pitchFamily="34" charset="0"/>
                          <a:ea typeface="Segoe UI" pitchFamily="34" charset="-122"/>
                          <a:cs typeface="Segoe UI" pitchFamily="34" charset="-120"/>
                        </a:rPr>
                        <a:t> valide la fiche et crée le dossier à soumettre.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conditions pour ouvrir une fiche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ligne doit appartenir au périmètre de la PRMP (sinon elle n’apprend rien d’autre), sans vacance de son mandat ; ne pas être retirée ; appartenir à la dernière version du plan ; avoir un mode de passation qui appelle un DAO ; et le plan doit avoir un </a:t>
                      </a:r>
                      <a:pPr indent="0" marL="0">
                        <a:buNone/>
                      </a:pPr>
                      <a:r>
                        <a:rPr lang="en-US" sz="1100" b="1" dirty="0">
                          <a:solidFill>
                            <a:srgbClr val="1B2A3A"/>
                          </a:solidFill>
                          <a:latin typeface="Segoe UI" pitchFamily="34" charset="0"/>
                          <a:ea typeface="Segoe UI" pitchFamily="34" charset="-122"/>
                          <a:cs typeface="Segoe UI" pitchFamily="34" charset="-120"/>
                        </a:rPr>
                        <a:t>PV signé favorable</a:t>
                      </a:r>
                      <a:pPr indent="0" marL="0">
                        <a:buNone/>
                      </a:pPr>
                      <a:r>
                        <a:rPr lang="en-US" sz="1100" dirty="0">
                          <a:solidFill>
                            <a:srgbClr val="1B2A3A"/>
                          </a:solidFill>
                          <a:latin typeface="Segoe UI" pitchFamily="34" charset="0"/>
                          <a:ea typeface="Segoe UI" pitchFamily="34" charset="-122"/>
                          <a:cs typeface="Segoe UI" pitchFamily="34" charset="-120"/>
                        </a:rPr>
                        <a:t> (ou favorable avec réserves levées), ou être réputé approuvé (art. 26-IV). Une seule fiche par ligne.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mode de passation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Il doit être rattaché au type « appel d’offres » par l’Administrateur. Depuis le 08/10, le mode « Appel à manifestation d’intérêt » l’est aussi : les lignes de prestations intellectuelles en AMI ouvrent leur fiche comme les autres.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ligne à travers les versions du plan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fiche suit sa ligne jusqu’à la </a:t>
                      </a:r>
                      <a:pPr indent="0" marL="0">
                        <a:buNone/>
                      </a:pPr>
                      <a:r>
                        <a:rPr lang="en-US" sz="1100" b="1" dirty="0">
                          <a:solidFill>
                            <a:srgbClr val="1B2A3A"/>
                          </a:solidFill>
                          <a:latin typeface="Segoe UI" pitchFamily="34" charset="0"/>
                          <a:ea typeface="Segoe UI" pitchFamily="34" charset="-122"/>
                          <a:cs typeface="Segoe UI" pitchFamily="34" charset="-120"/>
                        </a:rPr>
                        <a:t>dernière version signée</a:t>
                      </a:r>
                      <a:pPr indent="0" marL="0">
                        <a:buNone/>
                      </a:pPr>
                      <a:r>
                        <a:rPr lang="en-US" sz="1100" dirty="0">
                          <a:solidFill>
                            <a:srgbClr val="1B2A3A"/>
                          </a:solidFill>
                          <a:latin typeface="Segoe UI" pitchFamily="34" charset="0"/>
                          <a:ea typeface="Segoe UI" pitchFamily="34" charset="-122"/>
                          <a:cs typeface="Segoe UI" pitchFamily="34" charset="-120"/>
                        </a:rPr>
                        <a:t> du plan ; une mise à jour encore en instruction ne la change pas. Une ligne retirée entre-temps est signalée.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catégorie = la nature de la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Fournitures et services, travaux, ou prestations intellectuelles : la catégorie se déduit de la nature de la ligne, selon la correspondance que tient l’Administrateur ; ce n’est jamais une réponse du cadrage. Sans nature, ou sans correspondance, la création est refusée avec son motif.</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113</a:t>
            </a:r>
            <a:endParaRPr lang="en-US" sz="11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(14/35)</a:t>
            </a:r>
            <a:endParaRPr lang="en-US" sz="2600"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forme = la forme de la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Quantité fixe, à commandes ou contrat-cadre : la forme est lue sur la ligne courante du plan et figure parmi les informations reprises ; la question n’est plus posée au cadrage.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cadrage ouvre et ferme des rubriques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information peut dépendre d’une réponse du cadrage. Si la condition n’est pas remplie, ou si la question est sans réponse, l’information est ignorée et n’entre pas dans le bilan.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Fixé dès la première validation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RG-DAO-46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mode de remise des offres — papier ou électronique — est celui du cadrage ; dès qu’une version de la fiche est validée, il </a:t>
                      </a:r>
                      <a:pPr indent="0" marL="0">
                        <a:buNone/>
                      </a:pPr>
                      <a:r>
                        <a:rPr lang="en-US" sz="1100" b="1" dirty="0">
                          <a:solidFill>
                            <a:srgbClr val="1B2A3A"/>
                          </a:solidFill>
                          <a:latin typeface="Segoe UI" pitchFamily="34" charset="0"/>
                          <a:ea typeface="Segoe UI" pitchFamily="34" charset="-122"/>
                          <a:cs typeface="Segoe UI" pitchFamily="34" charset="-120"/>
                        </a:rPr>
                        <a:t>ne change plus</a:t>
                      </a:r>
                      <a:pPr indent="0" marL="0">
                        <a:buNone/>
                      </a:pPr>
                      <a:r>
                        <a:rPr lang="en-US" sz="1100" dirty="0">
                          <a:solidFill>
                            <a:srgbClr val="1B2A3A"/>
                          </a:solidFill>
                          <a:latin typeface="Segoe UI" pitchFamily="34" charset="0"/>
                          <a:ea typeface="Segoe UI" pitchFamily="34" charset="-122"/>
                          <a:cs typeface="Segoe UI" pitchFamily="34" charset="-120"/>
                        </a:rPr>
                        <a:t> : une procédure commencée sur papier s’achève sur papier, et inversement. La révision recopie le mode.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migration documentée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RG-DAO-47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 l’</a:t>
                      </a:r>
                      <a:pPr indent="0" marL="0">
                        <a:buNone/>
                      </a:pPr>
                      <a:r>
                        <a:rPr lang="en-US" sz="1100" b="1" dirty="0">
                          <a:solidFill>
                            <a:srgbClr val="1B2A3A"/>
                          </a:solidFill>
                          <a:latin typeface="Segoe UI" pitchFamily="34" charset="0"/>
                          <a:ea typeface="Segoe UI" pitchFamily="34" charset="-122"/>
                          <a:cs typeface="Segoe UI" pitchFamily="34" charset="-120"/>
                        </a:rPr>
                        <a:t>Administrateur</a:t>
                      </a:r>
                      <a:pPr indent="0" marL="0">
                        <a:buNone/>
                      </a:pPr>
                      <a:r>
                        <a:rPr lang="en-US" sz="1100" dirty="0">
                          <a:solidFill>
                            <a:srgbClr val="1B2A3A"/>
                          </a:solidFill>
                          <a:latin typeface="Segoe UI" pitchFamily="34" charset="0"/>
                          <a:ea typeface="Segoe UI" pitchFamily="34" charset="-122"/>
                          <a:cs typeface="Segoe UI" pitchFamily="34" charset="-120"/>
                        </a:rPr>
                        <a:t> peut migrer le mode, avec un </a:t>
                      </a:r>
                      <a:pPr indent="0" marL="0">
                        <a:buNone/>
                      </a:pPr>
                      <a:r>
                        <a:rPr lang="en-US" sz="1100" b="1" dirty="0">
                          <a:solidFill>
                            <a:srgbClr val="1B2A3A"/>
                          </a:solidFill>
                          <a:latin typeface="Segoe UI" pitchFamily="34" charset="0"/>
                          <a:ea typeface="Segoe UI" pitchFamily="34" charset="-122"/>
                          <a:cs typeface="Segoe UI" pitchFamily="34" charset="-120"/>
                        </a:rPr>
                        <a:t>motif obligatoire</a:t>
                      </a:r>
                      <a:pPr indent="0" marL="0">
                        <a:buNone/>
                      </a:pPr>
                      <a:r>
                        <a:rPr lang="en-US" sz="1100" dirty="0">
                          <a:solidFill>
                            <a:srgbClr val="1B2A3A"/>
                          </a:solidFill>
                          <a:latin typeface="Segoe UI" pitchFamily="34" charset="0"/>
                          <a:ea typeface="Segoe UI" pitchFamily="34" charset="-122"/>
                          <a:cs typeface="Segoe UI" pitchFamily="34" charset="-120"/>
                        </a:rPr>
                        <a:t>. La migration ouvre une révision avec le nouveau mode (la version validée reste intacte), porte sa date, son auteur et son motif, et s’inscrit au journal ; la PRMP complète ce que le nouveau mode exige, puis valide. Elle est refusée dès qu’une offre a été déposée en ligne, qu’une cérémonie des clés est close ou qu’un lot est attribué.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que le mode décide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RG-DAO-48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En remise électronique, les pièces que l’application produit elle-même ne sont plus exigées au dossier et les contrôles automatiques s’appliquent ; en papier, toutes les pièces du manuel restent exigées et les contrôles automatiques sont sans objet.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114</a:t>
            </a:r>
            <a:endParaRPr lang="en-US" sz="11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(15/35)</a:t>
            </a:r>
            <a:endParaRPr lang="en-US" sz="260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Enregistrer n’est pas valider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bloc s’enregistre </a:t>
                      </a:r>
                      <a:pPr indent="0" marL="0">
                        <a:buNone/>
                      </a:pPr>
                      <a:r>
                        <a:rPr lang="en-US" sz="1100" b="1" dirty="0">
                          <a:solidFill>
                            <a:srgbClr val="1B2A3A"/>
                          </a:solidFill>
                          <a:latin typeface="Segoe UI" pitchFamily="34" charset="0"/>
                          <a:ea typeface="Segoe UI" pitchFamily="34" charset="-122"/>
                          <a:cs typeface="Segoe UI" pitchFamily="34" charset="-120"/>
                        </a:rPr>
                        <a:t>incomplet</a:t>
                      </a:r>
                      <a:pPr indent="0" marL="0">
                        <a:buNone/>
                      </a:pPr>
                      <a:r>
                        <a:rPr lang="en-US" sz="1100" dirty="0">
                          <a:solidFill>
                            <a:srgbClr val="1B2A3A"/>
                          </a:solidFill>
                          <a:latin typeface="Segoe UI" pitchFamily="34" charset="0"/>
                          <a:ea typeface="Segoe UI" pitchFamily="34" charset="-122"/>
                          <a:cs typeface="Segoe UI" pitchFamily="34" charset="-120"/>
                        </a:rPr>
                        <a:t>. Une valeur illisible (montant négatif, option inconnue) est refusée information par information ; une information obligatoire manquante ne bloque qu’au bilan.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On ne demande que ce qui sert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fiche ne demande que ce que le dossier </a:t>
                      </a:r>
                      <a:pPr indent="0" marL="0">
                        <a:buNone/>
                      </a:pPr>
                      <a:r>
                        <a:rPr lang="en-US" sz="1100" b="1" dirty="0">
                          <a:solidFill>
                            <a:srgbClr val="1B2A3A"/>
                          </a:solidFill>
                          <a:latin typeface="Segoe UI" pitchFamily="34" charset="0"/>
                          <a:ea typeface="Segoe UI" pitchFamily="34" charset="-122"/>
                          <a:cs typeface="Segoe UI" pitchFamily="34" charset="-120"/>
                        </a:rPr>
                        <a:t>imprime</a:t>
                      </a:r>
                      <a:pPr indent="0" marL="0">
                        <a:buNone/>
                      </a:pPr>
                      <a:r>
                        <a:rPr lang="en-US" sz="1100" dirty="0">
                          <a:solidFill>
                            <a:srgbClr val="1B2A3A"/>
                          </a:solidFill>
                          <a:latin typeface="Segoe UI" pitchFamily="34" charset="0"/>
                          <a:ea typeface="Segoe UI" pitchFamily="34" charset="-122"/>
                          <a:cs typeface="Segoe UI" pitchFamily="34" charset="-120"/>
                        </a:rPr>
                        <a:t> ou ce qu’un </a:t>
                      </a:r>
                      <a:pPr indent="0" marL="0">
                        <a:buNone/>
                      </a:pPr>
                      <a:r>
                        <a:rPr lang="en-US" sz="1100" b="1" dirty="0">
                          <a:solidFill>
                            <a:srgbClr val="1B2A3A"/>
                          </a:solidFill>
                          <a:latin typeface="Segoe UI" pitchFamily="34" charset="0"/>
                          <a:ea typeface="Segoe UI" pitchFamily="34" charset="-122"/>
                          <a:cs typeface="Segoe UI" pitchFamily="34" charset="-120"/>
                        </a:rPr>
                        <a:t>contrôle lit</a:t>
                      </a:r>
                      <a:pPr indent="0" marL="0">
                        <a:buNone/>
                      </a:pPr>
                      <a:r>
                        <a:rPr lang="en-US" sz="1100" dirty="0">
                          <a:solidFill>
                            <a:srgbClr val="1B2A3A"/>
                          </a:solidFill>
                          <a:latin typeface="Segoe UI" pitchFamily="34" charset="0"/>
                          <a:ea typeface="Segoe UI" pitchFamily="34" charset="-122"/>
                          <a:cs typeface="Segoe UI" pitchFamily="34" charset="-120"/>
                        </a:rPr>
                        <a:t> : 25 informations retirées en fournitures, 17 en travaux (61 en contrat-cadre de travaux), 13 en prestations intellectuelles. Rien de ce qui avait été saisi n’est perdu.</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qui varie par lot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montant de la garantie de soumission, les montants minimum et maximum, le délai de livraison, le besoin… Le nombre de lots est celui du </a:t>
                      </a:r>
                      <a:pPr indent="0" marL="0">
                        <a:buNone/>
                      </a:pPr>
                      <a:r>
                        <a:rPr lang="en-US" sz="1100" b="1" dirty="0">
                          <a:solidFill>
                            <a:srgbClr val="1B2A3A"/>
                          </a:solidFill>
                          <a:latin typeface="Segoe UI" pitchFamily="34" charset="0"/>
                          <a:ea typeface="Segoe UI" pitchFamily="34" charset="-122"/>
                          <a:cs typeface="Segoe UI" pitchFamily="34" charset="-120"/>
                        </a:rPr>
                        <a:t>plan</a:t>
                      </a:r>
                      <a:pPr indent="0" marL="0">
                        <a:buNone/>
                      </a:pPr>
                      <a:r>
                        <a:rPr lang="en-US" sz="1100" dirty="0">
                          <a:solidFill>
                            <a:srgbClr val="1B2A3A"/>
                          </a:solidFill>
                          <a:latin typeface="Segoe UI" pitchFamily="34" charset="0"/>
                          <a:ea typeface="Segoe UI" pitchFamily="34" charset="-122"/>
                          <a:cs typeface="Segoe UI" pitchFamily="34" charset="-120"/>
                        </a:rPr>
                        <a:t> : la fiche n’en invente pas.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Obligatoire pour chaque lot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information obligatoire par lot l’est pour </a:t>
                      </a:r>
                      <a:pPr indent="0" marL="0">
                        <a:buNone/>
                      </a:pPr>
                      <a:r>
                        <a:rPr lang="en-US" sz="1100" b="1" dirty="0">
                          <a:solidFill>
                            <a:srgbClr val="1B2A3A"/>
                          </a:solidFill>
                          <a:latin typeface="Segoe UI" pitchFamily="34" charset="0"/>
                          <a:ea typeface="Segoe UI" pitchFamily="34" charset="-122"/>
                          <a:cs typeface="Segoe UI" pitchFamily="34" charset="-120"/>
                        </a:rPr>
                        <a:t>chaque</a:t>
                      </a:r>
                      <a:pPr indent="0" marL="0">
                        <a:buNone/>
                      </a:pPr>
                      <a:r>
                        <a:rPr lang="en-US" sz="1100" dirty="0">
                          <a:solidFill>
                            <a:srgbClr val="1B2A3A"/>
                          </a:solidFill>
                          <a:latin typeface="Segoe UI" pitchFamily="34" charset="0"/>
                          <a:ea typeface="Segoe UI" pitchFamily="34" charset="-122"/>
                          <a:cs typeface="Segoe UI" pitchFamily="34" charset="-120"/>
                        </a:rPr>
                        <a:t> lot : la fiche ne se valide pas tant qu’un lot en manque, et le bilan dit lequel.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document type de l’ARMP, rempli</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RG-DAO-26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texte fixe est repris tel quel, les blancs remplis par la fiche ; les variantes de rédaction sont choisies par des </a:t>
                      </a:r>
                      <a:pPr indent="0" marL="0">
                        <a:buNone/>
                      </a:pPr>
                      <a:r>
                        <a:rPr lang="en-US" sz="1100" b="1" dirty="0">
                          <a:solidFill>
                            <a:srgbClr val="1B2A3A"/>
                          </a:solidFill>
                          <a:latin typeface="Segoe UI" pitchFamily="34" charset="0"/>
                          <a:ea typeface="Segoe UI" pitchFamily="34" charset="-122"/>
                          <a:cs typeface="Segoe UI" pitchFamily="34" charset="-120"/>
                        </a:rPr>
                        <a:t>conditions écrites dans le modèle</a:t>
                      </a:r>
                      <a:pPr indent="0" marL="0">
                        <a:buNone/>
                      </a:pPr>
                      <a:r>
                        <a:rPr lang="en-US" sz="1100" dirty="0">
                          <a:solidFill>
                            <a:srgbClr val="1B2A3A"/>
                          </a:solidFill>
                          <a:latin typeface="Segoe UI" pitchFamily="34" charset="0"/>
                          <a:ea typeface="Segoe UI" pitchFamily="34" charset="-122"/>
                          <a:cs typeface="Segoe UI" pitchFamily="34" charset="-120"/>
                        </a:rPr>
                        <a:t>. Ce que remplissent le candidat ou la notification reste à compléter. Un modèle illisible empêche le démarrage : un document ne sort jamais faux en silence.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115</a:t>
            </a:r>
            <a:endParaRPr lang="en-US" sz="11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(16/35)</a:t>
            </a:r>
            <a:endParaRPr lang="en-US" sz="260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règles de la catégorie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fiche se valide avec les règles de </a:t>
                      </a:r>
                      <a:pPr indent="0" marL="0">
                        <a:buNone/>
                      </a:pPr>
                      <a:r>
                        <a:rPr lang="en-US" sz="1100" b="1" dirty="0">
                          <a:solidFill>
                            <a:srgbClr val="1B2A3A"/>
                          </a:solidFill>
                          <a:latin typeface="Segoe UI" pitchFamily="34" charset="0"/>
                          <a:ea typeface="Segoe UI" pitchFamily="34" charset="-122"/>
                          <a:cs typeface="Segoe UI" pitchFamily="34" charset="-120"/>
                        </a:rPr>
                        <a:t>sa</a:t>
                      </a:r>
                      <a:pPr indent="0" marL="0">
                        <a:buNone/>
                      </a:pPr>
                      <a:r>
                        <a:rPr lang="en-US" sz="1100" dirty="0">
                          <a:solidFill>
                            <a:srgbClr val="1B2A3A"/>
                          </a:solidFill>
                          <a:latin typeface="Segoe UI" pitchFamily="34" charset="0"/>
                          <a:ea typeface="Segoe UI" pitchFamily="34" charset="-122"/>
                          <a:cs typeface="Segoe UI" pitchFamily="34" charset="-120"/>
                        </a:rPr>
                        <a:t> catégorie : quand deux catégories posent la même question (allotissement, forme de prix…), c’est la définition de la catégorie de la fiche qui s’applique.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besoin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Fournitures et services : article par article, lot par lot (désignation, unité, quantités, caractéristiques exigées). Travaux : le détail quantitatif et estimatif, par séries. Prestations intellectuelles : pas de besoin par article. La fiche ne se valide pas sans besoin complet.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formulaires du candidat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Produits sur les modèles officiels, seuls les blancs remplis : fiches de renseignements une fois pour le dossier ; modèles de garantie une fois par lot, au montant du lot. Le bordereau des prix et le tableau de conformité sont générés depuis le besoin.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pièce ne s’imprime qu’une fois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liste des pièces de l’offre est saisie, le texte libre de la même rubrique n’est plus imprimé. En remise électronique, la liste est exigée : le candidat joint un fichier par pièce.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spécifications techniques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document Word joint par la PRMP ou son UGPM (20 Mo au plus, sans macros), figé à la validation et recopié à la révision. Tant qu’il manque, un </a:t>
                      </a:r>
                      <a:pPr indent="0" marL="0">
                        <a:buNone/>
                      </a:pPr>
                      <a:r>
                        <a:rPr lang="en-US" sz="1100" b="1" dirty="0">
                          <a:solidFill>
                            <a:srgbClr val="1B2A3A"/>
                          </a:solidFill>
                          <a:latin typeface="Segoe UI" pitchFamily="34" charset="0"/>
                          <a:ea typeface="Segoe UI" pitchFamily="34" charset="-122"/>
                          <a:cs typeface="Segoe UI" pitchFamily="34" charset="-120"/>
                        </a:rPr>
                        <a:t>avertissement</a:t>
                      </a:r>
                      <a:pPr indent="0" marL="0">
                        <a:buNone/>
                      </a:pPr>
                      <a:r>
                        <a:rPr lang="en-US" sz="1100" dirty="0">
                          <a:solidFill>
                            <a:srgbClr val="1B2A3A"/>
                          </a:solidFill>
                          <a:latin typeface="Segoe UI" pitchFamily="34" charset="0"/>
                          <a:ea typeface="Segoe UI" pitchFamily="34" charset="-122"/>
                          <a:cs typeface="Segoe UI" pitchFamily="34" charset="-120"/>
                        </a:rPr>
                        <a:t>, non bloquant, le rappelle.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116</a:t>
            </a:r>
            <a:endParaRPr lang="en-US" sz="11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(17/35)</a:t>
            </a:r>
            <a:endParaRPr lang="en-US" sz="2600" dirty="0"/>
          </a:p>
        </p:txBody>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fiche par dossier, versionnée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appel d’offres a sa fiche, rattachée à une ligne du plan. Les informations reprises du plan sont </a:t>
                      </a:r>
                      <a:pPr indent="0" marL="0">
                        <a:buNone/>
                      </a:pPr>
                      <a:r>
                        <a:rPr lang="en-US" sz="1100" b="1" dirty="0">
                          <a:solidFill>
                            <a:srgbClr val="1B2A3A"/>
                          </a:solidFill>
                          <a:latin typeface="Segoe UI" pitchFamily="34" charset="0"/>
                          <a:ea typeface="Segoe UI" pitchFamily="34" charset="-122"/>
                          <a:cs typeface="Segoe UI" pitchFamily="34" charset="-120"/>
                        </a:rPr>
                        <a:t>relues à chaque ouverture</a:t>
                      </a:r>
                      <a:pPr indent="0" marL="0">
                        <a:buNone/>
                      </a:pPr>
                      <a:r>
                        <a:rPr lang="en-US" sz="1100" dirty="0">
                          <a:solidFill>
                            <a:srgbClr val="1B2A3A"/>
                          </a:solidFill>
                          <a:latin typeface="Segoe UI" pitchFamily="34" charset="0"/>
                          <a:ea typeface="Segoe UI" pitchFamily="34" charset="-122"/>
                          <a:cs typeface="Segoe UI" pitchFamily="34" charset="-120"/>
                        </a:rPr>
                        <a:t> : elles se corrigent dans le plan, jamais dans la fiche.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bilan des contrôles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Recalculé à chaque ouverture : informations obligatoires, montants positifs, ordre des dates, garantie valable plus longtemps que les offres, avance d’au plus 20 % et garantie de restitution au-delà de 5 %, paiement du forfait 60/40 ; s’y ajoutent des avertissements. Un contrôle bloquant ferme la validation.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garantie de soumission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Plusieurs formes peuvent être admises (au moins une si la garantie est exigée) ; le candidat choisit. Son taux, rapporté au montant de chaque lot, est comparé aux bornes réglées par l’Administrateur (référence 2 %) : un </a:t>
                      </a:r>
                      <a:pPr indent="0" marL="0">
                        <a:buNone/>
                      </a:pPr>
                      <a:r>
                        <a:rPr lang="en-US" sz="1100" b="1" dirty="0">
                          <a:solidFill>
                            <a:srgbClr val="1B2A3A"/>
                          </a:solidFill>
                          <a:latin typeface="Segoe UI" pitchFamily="34" charset="0"/>
                          <a:ea typeface="Segoe UI" pitchFamily="34" charset="-122"/>
                          <a:cs typeface="Segoe UI" pitchFamily="34" charset="-120"/>
                        </a:rPr>
                        <a:t>avertissement</a:t>
                      </a:r>
                      <a:pPr indent="0" marL="0">
                        <a:buNone/>
                      </a:pPr>
                      <a:r>
                        <a:rPr lang="en-US" sz="1100" dirty="0">
                          <a:solidFill>
                            <a:srgbClr val="1B2A3A"/>
                          </a:solidFill>
                          <a:latin typeface="Segoe UI" pitchFamily="34" charset="0"/>
                          <a:ea typeface="Segoe UI" pitchFamily="34" charset="-122"/>
                          <a:cs typeface="Segoe UI" pitchFamily="34" charset="-120"/>
                        </a:rPr>
                        <a:t>, jamais un blocage.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délai de publicité de la loi</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Entre la publication de l’avis et la date limite de remise, la loi impose 30 jours pour l’appel d’offres ouvert national et 45 jours pour l’international (art. 35-II), le jour de départ non compté. Le délai est vérifié à la </a:t>
                      </a:r>
                      <a:pPr indent="0" marL="0">
                        <a:buNone/>
                      </a:pPr>
                      <a:r>
                        <a:rPr lang="en-US" sz="1100" b="1" dirty="0">
                          <a:solidFill>
                            <a:srgbClr val="1B2A3A"/>
                          </a:solidFill>
                          <a:latin typeface="Segoe UI" pitchFamily="34" charset="0"/>
                          <a:ea typeface="Segoe UI" pitchFamily="34" charset="-122"/>
                          <a:cs typeface="Segoe UI" pitchFamily="34" charset="-120"/>
                        </a:rPr>
                        <a:t>validation de la fiche</a:t>
                      </a:r>
                      <a:pPr indent="0" marL="0">
                        <a:buNone/>
                      </a:pPr>
                      <a:r>
                        <a:rPr lang="en-US" sz="1100" dirty="0">
                          <a:solidFill>
                            <a:srgbClr val="1B2A3A"/>
                          </a:solidFill>
                          <a:latin typeface="Segoe UI" pitchFamily="34" charset="0"/>
                          <a:ea typeface="Segoe UI" pitchFamily="34" charset="-122"/>
                          <a:cs typeface="Segoe UI" pitchFamily="34" charset="-120"/>
                        </a:rPr>
                        <a:t> et à l’</a:t>
                      </a:r>
                      <a:pPr indent="0" marL="0">
                        <a:buNone/>
                      </a:pPr>
                      <a:r>
                        <a:rPr lang="en-US" sz="1100" b="1" dirty="0">
                          <a:solidFill>
                            <a:srgbClr val="1B2A3A"/>
                          </a:solidFill>
                          <a:latin typeface="Segoe UI" pitchFamily="34" charset="0"/>
                          <a:ea typeface="Segoe UI" pitchFamily="34" charset="-122"/>
                          <a:cs typeface="Segoe UI" pitchFamily="34" charset="-120"/>
                        </a:rPr>
                        <a:t>impression de l’avis</a:t>
                      </a:r>
                      <a:pPr indent="0" marL="0">
                        <a:buNone/>
                      </a:pPr>
                      <a:r>
                        <a:rPr lang="en-US" sz="1100" dirty="0">
                          <a:solidFill>
                            <a:srgbClr val="1B2A3A"/>
                          </a:solidFill>
                          <a:latin typeface="Segoe UI" pitchFamily="34" charset="0"/>
                          <a:ea typeface="Segoe UI" pitchFamily="34" charset="-122"/>
                          <a:cs typeface="Segoe UI" pitchFamily="34" charset="-120"/>
                        </a:rPr>
                        <a:t> : non respecté, il refuse l’une et l’autre.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fiche ouverte par erreur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Elle se </a:t>
                      </a:r>
                      <a:pPr indent="0" marL="0">
                        <a:buNone/>
                      </a:pPr>
                      <a:r>
                        <a:rPr lang="en-US" sz="1100" b="1" dirty="0">
                          <a:solidFill>
                            <a:srgbClr val="1B2A3A"/>
                          </a:solidFill>
                          <a:latin typeface="Segoe UI" pitchFamily="34" charset="0"/>
                          <a:ea typeface="Segoe UI" pitchFamily="34" charset="-122"/>
                          <a:cs typeface="Segoe UI" pitchFamily="34" charset="-120"/>
                        </a:rPr>
                        <a:t>supprime</a:t>
                      </a:r>
                      <a:pPr indent="0" marL="0">
                        <a:buNone/>
                      </a:pPr>
                      <a:r>
                        <a:rPr lang="en-US" sz="1100" dirty="0">
                          <a:solidFill>
                            <a:srgbClr val="1B2A3A"/>
                          </a:solidFill>
                          <a:latin typeface="Segoe UI" pitchFamily="34" charset="0"/>
                          <a:ea typeface="Segoe UI" pitchFamily="34" charset="-122"/>
                          <a:cs typeface="Segoe UI" pitchFamily="34" charset="-120"/>
                        </a:rPr>
                        <a:t> tant qu’elle n’a pas d’histoire (jamais validée, sans document, sans dossier) ; la ligne redevient disponible. Une fiche validée ne se supprime pas : elle se </a:t>
                      </a:r>
                      <a:pPr indent="0" marL="0">
                        <a:buNone/>
                      </a:pPr>
                      <a:r>
                        <a:rPr lang="en-US" sz="1100" b="1" dirty="0">
                          <a:solidFill>
                            <a:srgbClr val="1B2A3A"/>
                          </a:solidFill>
                          <a:latin typeface="Segoe UI" pitchFamily="34" charset="0"/>
                          <a:ea typeface="Segoe UI" pitchFamily="34" charset="-122"/>
                          <a:cs typeface="Segoe UI" pitchFamily="34" charset="-120"/>
                        </a:rPr>
                        <a:t>révise</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117</a:t>
            </a:r>
            <a:endParaRPr lang="en-US" sz="11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(18/35)</a:t>
            </a:r>
            <a:endParaRPr lang="en-US" sz="2600" dirty="0"/>
          </a:p>
        </p:txBody>
      </p:sp>
      <p:graphicFrame>
        <p:nvGraphicFramePr>
          <p:cNvPr id="11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version validée n’est jamais convertie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Si le référentiel de la fiche change, l’ancienne valeur reste lisible dans sa version, n’est pas reprise à la révision suivante, et se ressaisit.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Valider fige, réviser ouvre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seule valide ; un contrôle bloquant l’empêche. La version validée est figée et reste lisible ; réviser ouvre la version suivante en brouillon, copie de la précédente.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documents naissent à la validation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RG-DAO-25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Jamais sur un brouillon. Ils sont produits </a:t>
                      </a:r>
                      <a:pPr indent="0" marL="0">
                        <a:buNone/>
                      </a:pPr>
                      <a:r>
                        <a:rPr lang="en-US" sz="1100" b="1" dirty="0">
                          <a:solidFill>
                            <a:srgbClr val="1B2A3A"/>
                          </a:solidFill>
                          <a:latin typeface="Segoe UI" pitchFamily="34" charset="0"/>
                          <a:ea typeface="Segoe UI" pitchFamily="34" charset="-122"/>
                          <a:cs typeface="Segoe UI" pitchFamily="34" charset="-120"/>
                        </a:rPr>
                        <a:t>avant</a:t>
                      </a:r>
                      <a:pPr indent="0" marL="0">
                        <a:buNone/>
                      </a:pPr>
                      <a:r>
                        <a:rPr lang="en-US" sz="1100" dirty="0">
                          <a:solidFill>
                            <a:srgbClr val="1B2A3A"/>
                          </a:solidFill>
                          <a:latin typeface="Segoe UI" pitchFamily="34" charset="0"/>
                          <a:ea typeface="Segoe UI" pitchFamily="34" charset="-122"/>
                          <a:cs typeface="Segoe UI" pitchFamily="34" charset="-120"/>
                        </a:rPr>
                        <a:t> de figer la version : si la production échoue, la validation est annulée.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Jamais régénérés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documents d’une version validée sont ce que la Commission a examiné et ce que les candidats ont retiré. Une règle nouvelle des modèles ne vaut que pour les versions validées après elle ; seul l’assemblage du DAO complet peut être refait.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plan du document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Page de garde, sommaire général, deux parties : 1.1 instructions aux candidats, 1.2 données particulières, 1.3 formulaires ; 2.1 acte d’engagement lot par lot, 2.2 cahier des prescriptions spéciales, spécifications techniques et liste des fournitures, 2.3 CCAG. Il est produit à chaque validation, en Word et en PDF.</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118</a:t>
            </a:r>
            <a:endParaRPr lang="en-US" sz="11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(19/35)</a:t>
            </a:r>
            <a:endParaRPr lang="en-US" sz="2600" dirty="0"/>
          </a:p>
        </p:txBody>
      </p:sp>
      <p:graphicFrame>
        <p:nvGraphicFramePr>
          <p:cNvPr id="12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Où il est servi</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Dans les documents de la fiche ; au dossier soumis à la Commission, dont il est la </a:t>
                      </a:r>
                      <a:pPr indent="0" marL="0">
                        <a:buNone/>
                      </a:pPr>
                      <a:r>
                        <a:rPr lang="en-US" sz="1100" b="1" dirty="0">
                          <a:solidFill>
                            <a:srgbClr val="1B2A3A"/>
                          </a:solidFill>
                          <a:latin typeface="Segoe UI" pitchFamily="34" charset="0"/>
                          <a:ea typeface="Segoe UI" pitchFamily="34" charset="-122"/>
                          <a:cs typeface="Segoe UI" pitchFamily="34" charset="-120"/>
                        </a:rPr>
                        <a:t>pièce unique</a:t>
                      </a:r>
                      <a:pPr indent="0" marL="0">
                        <a:buNone/>
                      </a:pPr>
                      <a:r>
                        <a:rPr lang="en-US" sz="1100" dirty="0">
                          <a:solidFill>
                            <a:srgbClr val="1B2A3A"/>
                          </a:solidFill>
                          <a:latin typeface="Segoe UI" pitchFamily="34" charset="0"/>
                          <a:ea typeface="Segoe UI" pitchFamily="34" charset="-122"/>
                          <a:cs typeface="Segoe UI" pitchFamily="34" charset="-120"/>
                        </a:rPr>
                        <a:t> du DAO ; au retrait par les candidats, après paiement des frais.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qui reste à part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classeurs (bordereau des prix, détail quantitatif, tableau de conformité), l’avis spécifique et les lettres d’invitation. En prestations intellectuelles, le document s’intitule « Dossier de consultation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fiche produit le dossier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crée le dossier depuis la dernière version validée ; un dossier par fiche. Entité, localité et PRMP viennent du plan : rien n’est redemandé. La Commission lit la fiche avec le dossier ; l’examen porte sur les pièces.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Il assemble, il ne réécrit rien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partie est le document que la fiche produit déjà. La page de garde lit sur le plan le financement, l’imputation et le compte.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commission d’appel d’offres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Désignée par la </a:t>
                      </a:r>
                      <a:pPr indent="0" marL="0">
                        <a:buNone/>
                      </a:pPr>
                      <a:r>
                        <a:rPr lang="en-US" sz="1100" b="1" dirty="0">
                          <a:solidFill>
                            <a:srgbClr val="1B2A3A"/>
                          </a:solidFill>
                          <a:latin typeface="Segoe UI" pitchFamily="34" charset="0"/>
                          <a:ea typeface="Segoe UI" pitchFamily="34" charset="-122"/>
                          <a:cs typeface="Segoe UI" pitchFamily="34" charset="-120"/>
                        </a:rPr>
                        <a:t>PRMP</a:t>
                      </a:r>
                      <a:pPr indent="0" marL="0">
                        <a:buNone/>
                      </a:pPr>
                      <a:r>
                        <a:rPr lang="en-US" sz="1100" dirty="0">
                          <a:solidFill>
                            <a:srgbClr val="1B2A3A"/>
                          </a:solidFill>
                          <a:latin typeface="Segoe UI" pitchFamily="34" charset="0"/>
                          <a:ea typeface="Segoe UI" pitchFamily="34" charset="-122"/>
                          <a:cs typeface="Segoe UI" pitchFamily="34" charset="-120"/>
                        </a:rPr>
                        <a:t> par une décision, saisie par elle ou son UGPM : une commission par appel d’offres, au moins deux membres, un seul président, au plus un expert de l’objet. Ses membres détiennent chacun une part de la clé qui ouvrira les offres ; PRMP, UGPM, contrôleurs de la CNM et candidats en sont exclus.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119</a:t>
            </a:r>
            <a:endParaRPr lang="en-US" sz="11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(20/35)</a:t>
            </a:r>
            <a:endParaRPr lang="en-US" sz="2600" dirty="0"/>
          </a:p>
        </p:txBody>
      </p:sp>
      <p:graphicFrame>
        <p:nvGraphicFramePr>
          <p:cNvPr id="12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spécifique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RG-DAO-38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Fournitures et travaux : après un PV signé favorable, ou favorable avec réserves une fois levées ; sur la dernière version validée ; chaque impression est conservée. En remise électronique, il exige la cérémonie des clés close. Ce n’est pas une pièce du DAO.</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Pas d’avis sans DAO complet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spécifique et les lettres d’invitation ne s’impriment que si le DAO complet de la version validée existe (art. 31) ; il est assemblé à ce moment s’il manque, et l’impression est refusée s’il ne peut l’être.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projet d’avis dès la validation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validation, l’application produit le </a:t>
                      </a:r>
                      <a:pPr indent="0" marL="0">
                        <a:buNone/>
                      </a:pPr>
                      <a:r>
                        <a:rPr lang="en-US" sz="1100" b="1" dirty="0">
                          <a:solidFill>
                            <a:srgbClr val="1B2A3A"/>
                          </a:solidFill>
                          <a:latin typeface="Segoe UI" pitchFamily="34" charset="0"/>
                          <a:ea typeface="Segoe UI" pitchFamily="34" charset="-122"/>
                          <a:cs typeface="Segoe UI" pitchFamily="34" charset="-120"/>
                        </a:rPr>
                        <a:t>projet d’avis</a:t>
                      </a:r>
                      <a:pPr indent="0" marL="0">
                        <a:buNone/>
                      </a:pPr>
                      <a:r>
                        <a:rPr lang="en-US" sz="1100" dirty="0">
                          <a:solidFill>
                            <a:srgbClr val="1B2A3A"/>
                          </a:solidFill>
                          <a:latin typeface="Segoe UI" pitchFamily="34" charset="0"/>
                          <a:ea typeface="Segoe UI" pitchFamily="34" charset="-122"/>
                          <a:cs typeface="Segoe UI" pitchFamily="34" charset="-120"/>
                        </a:rPr>
                        <a:t> (fournitures, travaux) ou le projet de lettre d’invitation (prestations intellectuelles), en filigrane « PROJET », sans publication ni destinataire, et le joint d’office au dossier. Un projet ne lance pas la ligne du plan. L’avis et la lettre doivent porter chaque mention du modèle type ; l’application les vérifie et nomme les écarts.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après paiement vérifié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fiche fixe des frais de dossier, le candidat ne retire le DAO qu’après avoir déposé le reçu de son versement sur le compte de l’ARMP, et que la </a:t>
                      </a:r>
                      <a:pPr indent="0" marL="0">
                        <a:buNone/>
                      </a:pPr>
                      <a:r>
                        <a:rPr lang="en-US" sz="1100" b="1" dirty="0">
                          <a:solidFill>
                            <a:srgbClr val="1B2A3A"/>
                          </a:solidFill>
                          <a:latin typeface="Segoe UI" pitchFamily="34" charset="0"/>
                          <a:ea typeface="Segoe UI" pitchFamily="34" charset="-122"/>
                          <a:cs typeface="Segoe UI" pitchFamily="34" charset="-120"/>
                        </a:rPr>
                        <a:t>PRMP ou son UGPM l’a validé</a:t>
                      </a:r>
                      <a:pPr indent="0" marL="0">
                        <a:buNone/>
                      </a:pPr>
                      <a:r>
                        <a:rPr lang="en-US" sz="1100" dirty="0">
                          <a:solidFill>
                            <a:srgbClr val="1B2A3A"/>
                          </a:solidFill>
                          <a:latin typeface="Segoe UI" pitchFamily="34" charset="0"/>
                          <a:ea typeface="Segoe UI" pitchFamily="34" charset="-122"/>
                          <a:cs typeface="Segoe UI" pitchFamily="34" charset="-120"/>
                        </a:rPr>
                        <a:t>. Un refus porte un motif. Le reçu vaut pour l’entreprise, pour un ou plusieurs lots. Une décision </a:t>
                      </a:r>
                      <a:pPr indent="0" marL="0">
                        <a:buNone/>
                      </a:pPr>
                      <a:r>
                        <a:rPr lang="en-US" sz="1100" b="1" dirty="0">
                          <a:solidFill>
                            <a:srgbClr val="1B2A3A"/>
                          </a:solidFill>
                          <a:latin typeface="Segoe UI" pitchFamily="34" charset="0"/>
                          <a:ea typeface="Segoe UI" pitchFamily="34" charset="-122"/>
                          <a:cs typeface="Segoe UI" pitchFamily="34" charset="-120"/>
                        </a:rPr>
                        <a:t>ne se reprend pas</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registre des retraits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RG-DAO-60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retrait en ligne est inscrit : date, compte, entreprise et NIF, document et version retirés, reçu des frais qui l’a ouvert. La PRMP le lit du plus ancien au plus récent.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120</a:t>
            </a:r>
            <a:endParaRPr lang="en-US" sz="11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(21/35)</a:t>
            </a:r>
            <a:endParaRPr lang="en-US" sz="2600" dirty="0"/>
          </a:p>
        </p:txBody>
      </p:sp>
      <p:graphicFrame>
        <p:nvGraphicFramePr>
          <p:cNvPr id="12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Jusqu’à dix jours avant la date limite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RG-DAO-49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candidat qui a </a:t>
                      </a:r>
                      <a:pPr indent="0" marL="0">
                        <a:buNone/>
                      </a:pPr>
                      <a:r>
                        <a:rPr lang="en-US" sz="1100" b="1" dirty="0">
                          <a:solidFill>
                            <a:srgbClr val="1B2A3A"/>
                          </a:solidFill>
                          <a:latin typeface="Segoe UI" pitchFamily="34" charset="0"/>
                          <a:ea typeface="Segoe UI" pitchFamily="34" charset="-122"/>
                          <a:cs typeface="Segoe UI" pitchFamily="34" charset="-120"/>
                        </a:rPr>
                        <a:t>retiré le DAO</a:t>
                      </a:r>
                      <a:pPr indent="0" marL="0">
                        <a:buNone/>
                      </a:pPr>
                      <a:r>
                        <a:rPr lang="en-US" sz="1100" dirty="0">
                          <a:solidFill>
                            <a:srgbClr val="1B2A3A"/>
                          </a:solidFill>
                          <a:latin typeface="Segoe UI" pitchFamily="34" charset="0"/>
                          <a:ea typeface="Segoe UI" pitchFamily="34" charset="-122"/>
                          <a:cs typeface="Segoe UI" pitchFamily="34" charset="-120"/>
                        </a:rPr>
                        <a:t> d’une procédure en ligne peut poser une question à la PRMP jusqu’à </a:t>
                      </a:r>
                      <a:pPr indent="0" marL="0">
                        <a:buNone/>
                      </a:pPr>
                      <a:r>
                        <a:rPr lang="en-US" sz="1100" b="1" dirty="0">
                          <a:solidFill>
                            <a:srgbClr val="1B2A3A"/>
                          </a:solidFill>
                          <a:latin typeface="Segoe UI" pitchFamily="34" charset="0"/>
                          <a:ea typeface="Segoe UI" pitchFamily="34" charset="-122"/>
                          <a:cs typeface="Segoe UI" pitchFamily="34" charset="-120"/>
                        </a:rPr>
                        <a:t>dix jours avant la date limite</a:t>
                      </a:r>
                      <a:pPr indent="0" marL="0">
                        <a:buNone/>
                      </a:pPr>
                      <a:r>
                        <a:rPr lang="en-US" sz="1100" dirty="0">
                          <a:solidFill>
                            <a:srgbClr val="1B2A3A"/>
                          </a:solidFill>
                          <a:latin typeface="Segoe UI" pitchFamily="34" charset="0"/>
                          <a:ea typeface="Segoe UI" pitchFamily="34" charset="-122"/>
                          <a:cs typeface="Segoe UI" pitchFamily="34" charset="-120"/>
                        </a:rPr>
                        <a:t> de remise des offres, ce dixième jour compris (art. 35-II) ; passé ce jour, les questions sont closes. Un candidat absent du registre des retraits ne peut pas en poser.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Répondre, c’est diffuser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RG-DAO-50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répond par écrit, avec une pièce jointe si elle le souhaite ; l’UGPM lit sans répondre. La réponse est </a:t>
                      </a:r>
                      <a:pPr indent="0" marL="0">
                        <a:buNone/>
                      </a:pPr>
                      <a:r>
                        <a:rPr lang="en-US" sz="1100" b="1" dirty="0">
                          <a:solidFill>
                            <a:srgbClr val="1B2A3A"/>
                          </a:solidFill>
                          <a:latin typeface="Segoe UI" pitchFamily="34" charset="0"/>
                          <a:ea typeface="Segoe UI" pitchFamily="34" charset="-122"/>
                          <a:cs typeface="Segoe UI" pitchFamily="34" charset="-120"/>
                        </a:rPr>
                        <a:t>définitive</a:t>
                      </a:r>
                      <a:pPr indent="0" marL="0">
                        <a:buNone/>
                      </a:pPr>
                      <a:r>
                        <a:rPr lang="en-US" sz="1100" dirty="0">
                          <a:solidFill>
                            <a:srgbClr val="1B2A3A"/>
                          </a:solidFill>
                          <a:latin typeface="Segoe UI" pitchFamily="34" charset="0"/>
                          <a:ea typeface="Segoe UI" pitchFamily="34" charset="-122"/>
                          <a:cs typeface="Segoe UI" pitchFamily="34" charset="-120"/>
                        </a:rPr>
                        <a:t> et </a:t>
                      </a:r>
                      <a:pPr indent="0" marL="0">
                        <a:buNone/>
                      </a:pPr>
                      <a:r>
                        <a:rPr lang="en-US" sz="1100" b="1" dirty="0">
                          <a:solidFill>
                            <a:srgbClr val="1B2A3A"/>
                          </a:solidFill>
                          <a:latin typeface="Segoe UI" pitchFamily="34" charset="0"/>
                          <a:ea typeface="Segoe UI" pitchFamily="34" charset="-122"/>
                          <a:cs typeface="Segoe UI" pitchFamily="34" charset="-120"/>
                        </a:rPr>
                        <a:t>diffusée aussitôt</a:t>
                      </a:r>
                      <a:pPr indent="0" marL="0">
                        <a:buNone/>
                      </a:pPr>
                      <a:r>
                        <a:rPr lang="en-US" sz="1100" dirty="0">
                          <a:solidFill>
                            <a:srgbClr val="1B2A3A"/>
                          </a:solidFill>
                          <a:latin typeface="Segoe UI" pitchFamily="34" charset="0"/>
                          <a:ea typeface="Segoe UI" pitchFamily="34" charset="-122"/>
                          <a:cs typeface="Segoe UI" pitchFamily="34" charset="-120"/>
                        </a:rPr>
                        <a:t> à tous les candidats ayant retiré le dossier, et sur la page publique de la procédure, sans le nom de l’auteur. Les questions répondues sont jointes d’office au dossier soumis à la Commission ; la loi ne fixe pas de délai de réponse.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mode AMI ouvre une fiche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mode « Appel à manifestation d’intérêt » des lignes de prestations intellectuelles est rattaché au type « appel d’offres » : la PRMP crée la fiche de la ligne, qui porte d’abord l’AMI, puis la demande de propositions.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Préparé par la PRMP ou l’UGPM</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ou son UGPM prépare l’AMI de la procédure, sur une fiche de </a:t>
                      </a:r>
                      <a:pPr indent="0" marL="0">
                        <a:buNone/>
                      </a:pPr>
                      <a:r>
                        <a:rPr lang="en-US" sz="1100" b="1" dirty="0">
                          <a:solidFill>
                            <a:srgbClr val="1B2A3A"/>
                          </a:solidFill>
                          <a:latin typeface="Segoe UI" pitchFamily="34" charset="0"/>
                          <a:ea typeface="Segoe UI" pitchFamily="34" charset="-122"/>
                          <a:cs typeface="Segoe UI" pitchFamily="34" charset="-120"/>
                        </a:rPr>
                        <a:t>prestations intellectuelles</a:t>
                      </a:r>
                      <a:pPr indent="0" marL="0">
                        <a:buNone/>
                      </a:pPr>
                      <a:r>
                        <a:rPr lang="en-US" sz="1100" dirty="0">
                          <a:solidFill>
                            <a:srgbClr val="1B2A3A"/>
                          </a:solidFill>
                          <a:latin typeface="Segoe UI" pitchFamily="34" charset="0"/>
                          <a:ea typeface="Segoe UI" pitchFamily="34" charset="-122"/>
                          <a:cs typeface="Segoe UI" pitchFamily="34" charset="-120"/>
                        </a:rPr>
                        <a:t> seulement ; son objet est repris de la fiche.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critères qui totalisent 100</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critères de sélection (aptitude, références, expérience…) portent chacun ses points ; les points </a:t>
                      </a:r>
                      <a:pPr indent="0" marL="0">
                        <a:buNone/>
                      </a:pPr>
                      <a:r>
                        <a:rPr lang="en-US" sz="1100" b="1" dirty="0">
                          <a:solidFill>
                            <a:srgbClr val="1B2A3A"/>
                          </a:solidFill>
                          <a:latin typeface="Segoe UI" pitchFamily="34" charset="0"/>
                          <a:ea typeface="Segoe UI" pitchFamily="34" charset="-122"/>
                          <a:cs typeface="Segoe UI" pitchFamily="34" charset="-120"/>
                        </a:rPr>
                        <a:t>totalisent 100</a:t>
                      </a:r>
                      <a:pPr indent="0" marL="0">
                        <a:buNone/>
                      </a:pPr>
                      <a:r>
                        <a:rPr lang="en-US" sz="1100" dirty="0">
                          <a:solidFill>
                            <a:srgbClr val="1B2A3A"/>
                          </a:solidFill>
                          <a:latin typeface="Segoe UI" pitchFamily="34" charset="0"/>
                          <a:ea typeface="Segoe UI" pitchFamily="34" charset="-122"/>
                          <a:cs typeface="Segoe UI" pitchFamily="34" charset="-120"/>
                        </a:rPr>
                        <a:t>. Une note minimale de qualification, sur 100, est facultative.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121</a:t>
            </a:r>
            <a:endParaRPr lang="en-US" sz="11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(22/35)</a:t>
            </a:r>
            <a:endParaRPr lang="en-US" sz="2600" dirty="0"/>
          </a:p>
        </p:txBody>
      </p:sp>
      <p:graphicFrame>
        <p:nvGraphicFramePr>
          <p:cNvPr id="12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Six candidats à retenir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L’AMI fixe les pièces attendues, une date limite à venir et le nombre de candidats à retenir : </a:t>
                      </a:r>
                      <a:pPr indent="0" marL="0">
                        <a:buNone/>
                      </a:pPr>
                      <a:r>
                        <a:rPr lang="en-US" sz="1100" b="1" dirty="0">
                          <a:solidFill>
                            <a:srgbClr val="1B2A3A"/>
                          </a:solidFill>
                          <a:latin typeface="Segoe UI" pitchFamily="34" charset="0"/>
                          <a:ea typeface="Segoe UI" pitchFamily="34" charset="-122"/>
                          <a:cs typeface="Segoe UI" pitchFamily="34" charset="-120"/>
                        </a:rPr>
                        <a:t>six</a:t>
                      </a:r>
                      <a:pPr indent="0" marL="0">
                        <a:buNone/>
                      </a:pPr>
                      <a:r>
                        <a:rPr lang="en-US" sz="1100" dirty="0">
                          <a:solidFill>
                            <a:srgbClr val="1B2A3A"/>
                          </a:solidFill>
                          <a:latin typeface="Segoe UI" pitchFamily="34" charset="0"/>
                          <a:ea typeface="Segoe UI" pitchFamily="34" charset="-122"/>
                          <a:cs typeface="Segoe UI" pitchFamily="34" charset="-120"/>
                        </a:rPr>
                        <a:t> par défaut.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Modifiable jusqu’à la publication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Tant qu’il n’est pas publié, l’AMI se modifie et son avis se lit en projet. Ses critères appartiennent à l’AMI, non à la fiche, et se figent à la publication.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PRMP seule publie l’avis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seule publie l’AMI, en déclarant au moins un support daté (journal des marchés de l’ARMP, journal national…). L’AMI est figé ; l’avis, </a:t>
                      </a:r>
                      <a:pPr indent="0" marL="0">
                        <a:buNone/>
                      </a:pPr>
                      <a:r>
                        <a:rPr lang="en-US" sz="1100" b="1" dirty="0">
                          <a:solidFill>
                            <a:srgbClr val="1B2A3A"/>
                          </a:solidFill>
                          <a:latin typeface="Segoe UI" pitchFamily="34" charset="0"/>
                          <a:ea typeface="Segoe UI" pitchFamily="34" charset="-122"/>
                          <a:cs typeface="Segoe UI" pitchFamily="34" charset="-120"/>
                        </a:rPr>
                        <a:t>signé électroniquement</a:t>
                      </a:r>
                      <a:pPr indent="0" marL="0">
                        <a:buNone/>
                      </a:pPr>
                      <a:r>
                        <a:rPr lang="en-US" sz="1100" dirty="0">
                          <a:solidFill>
                            <a:srgbClr val="1B2A3A"/>
                          </a:solidFill>
                          <a:latin typeface="Segoe UI" pitchFamily="34" charset="0"/>
                          <a:ea typeface="Segoe UI" pitchFamily="34" charset="-122"/>
                          <a:cs typeface="Segoe UI" pitchFamily="34" charset="-120"/>
                        </a:rPr>
                        <a:t> par elle, paraît sur la liste publique des AMI.</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dispense de publicité motivée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peut déclarer la </a:t>
                      </a:r>
                      <a:pPr indent="0" marL="0">
                        <a:buNone/>
                      </a:pPr>
                      <a:r>
                        <a:rPr lang="en-US" sz="1100" b="1" dirty="0">
                          <a:solidFill>
                            <a:srgbClr val="1B2A3A"/>
                          </a:solidFill>
                          <a:latin typeface="Segoe UI" pitchFamily="34" charset="0"/>
                          <a:ea typeface="Segoe UI" pitchFamily="34" charset="-122"/>
                          <a:cs typeface="Segoe UI" pitchFamily="34" charset="-120"/>
                        </a:rPr>
                        <a:t>dispense de publicité</a:t>
                      </a:r>
                      <a:pPr indent="0" marL="0">
                        <a:buNone/>
                      </a:pPr>
                      <a:r>
                        <a:rPr lang="en-US" sz="1100" dirty="0">
                          <a:solidFill>
                            <a:srgbClr val="1B2A3A"/>
                          </a:solidFill>
                          <a:latin typeface="Segoe UI" pitchFamily="34" charset="0"/>
                          <a:ea typeface="Segoe UI" pitchFamily="34" charset="-122"/>
                          <a:cs typeface="Segoe UI" pitchFamily="34" charset="-120"/>
                        </a:rPr>
                        <a:t>, avec son motif : l’AMI n’a alors ni avis ni dépôt, et la liste restreinte se saisit directement pour les lettres d’invitation. Le seuil réglementaire de la dispense reste à préciser par le juriste.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Lues après la date limite seulement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expressions ne sont pas scellées, mais </a:t>
                      </a:r>
                      <a:pPr indent="0" marL="0">
                        <a:buNone/>
                      </a:pPr>
                      <a:r>
                        <a:rPr lang="en-US" sz="1100" b="1" dirty="0">
                          <a:solidFill>
                            <a:srgbClr val="1B2A3A"/>
                          </a:solidFill>
                          <a:latin typeface="Segoe UI" pitchFamily="34" charset="0"/>
                          <a:ea typeface="Segoe UI" pitchFamily="34" charset="-122"/>
                          <a:cs typeface="Segoe UI" pitchFamily="34" charset="-120"/>
                        </a:rPr>
                        <a:t>personne ne les lit avant la date limite</a:t>
                      </a:r>
                      <a:pPr indent="0" marL="0">
                        <a:buNone/>
                      </a:pPr>
                      <a:r>
                        <a:rPr lang="en-US" sz="1100" dirty="0">
                          <a:solidFill>
                            <a:srgbClr val="1B2A3A"/>
                          </a:solidFill>
                          <a:latin typeface="Segoe UI" pitchFamily="34" charset="0"/>
                          <a:ea typeface="Segoe UI" pitchFamily="34" charset="-122"/>
                          <a:cs typeface="Segoe UI" pitchFamily="34" charset="-120"/>
                        </a:rPr>
                        <a:t> : l’administration n’en voit que le nombre.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122</a:t>
            </a:r>
            <a:endParaRPr lang="en-US" sz="11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(23/35)</a:t>
            </a:r>
            <a:endParaRPr lang="en-US" sz="2600" dirty="0"/>
          </a:p>
        </p:txBody>
      </p:sp>
      <p:graphicFrame>
        <p:nvGraphicFramePr>
          <p:cNvPr id="12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Déposer son expression en ligne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candidat dont l’entreprise est déclarée dépose en ligne son expression d’intérêt avant la date limite : lettre, qualifications, références, groupement, et un fichier par pièce attendue.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Remplacer, retirer, recevoir un accusé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candidat peut remplacer ou retirer son expression jusqu’à la date limite. Il reçoit un accusé portant le numéro, la date et l’</a:t>
                      </a:r>
                      <a:pPr indent="0" marL="0">
                        <a:buNone/>
                      </a:pPr>
                      <a:r>
                        <a:rPr lang="en-US" sz="1100" b="1" dirty="0">
                          <a:solidFill>
                            <a:srgbClr val="1B2A3A"/>
                          </a:solidFill>
                          <a:latin typeface="Segoe UI" pitchFamily="34" charset="0"/>
                          <a:ea typeface="Segoe UI" pitchFamily="34" charset="-122"/>
                          <a:cs typeface="Segoe UI" pitchFamily="34" charset="-120"/>
                        </a:rPr>
                        <a:t>empreinte</a:t>
                      </a:r>
                      <a:pPr indent="0" marL="0">
                        <a:buNone/>
                      </a:pPr>
                      <a:r>
                        <a:rPr lang="en-US" sz="1100" dirty="0">
                          <a:solidFill>
                            <a:srgbClr val="1B2A3A"/>
                          </a:solidFill>
                          <a:latin typeface="Segoe UI" pitchFamily="34" charset="0"/>
                          <a:ea typeface="Segoe UI" pitchFamily="34" charset="-122"/>
                          <a:cs typeface="Segoe UI" pitchFamily="34" charset="-120"/>
                        </a:rPr>
                        <a:t> de son dépôt.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rapport signé des membres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L’arrêt produit le rapport de présélection : commission, notes par critère et leurs motifs, écartements, liste, motif du nombre, observations. Il est signé des membres ; un empêchement est constaté par le président, avec un motif.</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liste publiée et notifiée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dernière signature, la liste est </a:t>
                      </a:r>
                      <a:pPr indent="0" marL="0">
                        <a:buNone/>
                      </a:pPr>
                      <a:r>
                        <a:rPr lang="en-US" sz="1100" b="1" dirty="0">
                          <a:solidFill>
                            <a:srgbClr val="1B2A3A"/>
                          </a:solidFill>
                          <a:latin typeface="Segoe UI" pitchFamily="34" charset="0"/>
                          <a:ea typeface="Segoe UI" pitchFamily="34" charset="-122"/>
                          <a:cs typeface="Segoe UI" pitchFamily="34" charset="-120"/>
                        </a:rPr>
                        <a:t>définitive</a:t>
                      </a:r>
                      <a:pPr indent="0" marL="0">
                        <a:buNone/>
                      </a:pPr>
                      <a:r>
                        <a:rPr lang="en-US" sz="1100" dirty="0">
                          <a:solidFill>
                            <a:srgbClr val="1B2A3A"/>
                          </a:solidFill>
                          <a:latin typeface="Segoe UI" pitchFamily="34" charset="0"/>
                          <a:ea typeface="Segoe UI" pitchFamily="34" charset="-122"/>
                          <a:cs typeface="Segoe UI" pitchFamily="34" charset="-120"/>
                        </a:rPr>
                        <a:t> : publiée sur la page de l’AMI et notifiée à chaque candidat, les non-retenus avec leur motif (écartement, note sous le minimum, rang au-delà des places).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Pas de dossier sans liste définitive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dossier de la demande de propositions ne se crée qu’une fois la liste définitive. Il reçoit d’office le </a:t>
                      </a:r>
                      <a:pPr indent="0" marL="0">
                        <a:buNone/>
                      </a:pPr>
                      <a:r>
                        <a:rPr lang="en-US" sz="1100" b="1" dirty="0">
                          <a:solidFill>
                            <a:srgbClr val="1B2A3A"/>
                          </a:solidFill>
                          <a:latin typeface="Segoe UI" pitchFamily="34" charset="0"/>
                          <a:ea typeface="Segoe UI" pitchFamily="34" charset="-122"/>
                          <a:cs typeface="Segoe UI" pitchFamily="34" charset="-120"/>
                        </a:rPr>
                        <a:t>rapport signé</a:t>
                      </a:r>
                      <a:pPr indent="0" marL="0">
                        <a:buNone/>
                      </a:pPr>
                      <a:r>
                        <a:rPr lang="en-US" sz="1100" dirty="0">
                          <a:solidFill>
                            <a:srgbClr val="1B2A3A"/>
                          </a:solidFill>
                          <a:latin typeface="Segoe UI" pitchFamily="34" charset="0"/>
                          <a:ea typeface="Segoe UI" pitchFamily="34" charset="-122"/>
                          <a:cs typeface="Segoe UI" pitchFamily="34" charset="-120"/>
                        </a:rPr>
                        <a:t>, que la Commission examine avec lui.</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123</a:t>
            </a:r>
            <a:endParaRPr lang="en-US" sz="11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(24/35)</a:t>
            </a:r>
            <a:endParaRPr lang="en-US" sz="2600" dirty="0"/>
          </a:p>
        </p:txBody>
      </p:sp>
      <p:graphicFrame>
        <p:nvGraphicFramePr>
          <p:cNvPr id="12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invitations tirées de la liste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RG-AMI-20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Avec une liste définitive, les lettres d’invitation vont aux candidats </a:t>
                      </a:r>
                      <a:pPr indent="0" marL="0">
                        <a:buNone/>
                      </a:pPr>
                      <a:r>
                        <a:rPr lang="en-US" sz="1100" b="1" dirty="0">
                          <a:solidFill>
                            <a:srgbClr val="1B2A3A"/>
                          </a:solidFill>
                          <a:latin typeface="Segoe UI" pitchFamily="34" charset="0"/>
                          <a:ea typeface="Segoe UI" pitchFamily="34" charset="-122"/>
                          <a:cs typeface="Segoe UI" pitchFamily="34" charset="-120"/>
                        </a:rPr>
                        <a:t>de la liste</a:t>
                      </a:r>
                      <a:pPr indent="0" marL="0">
                        <a:buNone/>
                      </a:pPr>
                      <a:r>
                        <a:rPr lang="en-US" sz="1100" dirty="0">
                          <a:solidFill>
                            <a:srgbClr val="1B2A3A"/>
                          </a:solidFill>
                          <a:latin typeface="Segoe UI" pitchFamily="34" charset="0"/>
                          <a:ea typeface="Segoe UI" pitchFamily="34" charset="-122"/>
                          <a:cs typeface="Segoe UI" pitchFamily="34" charset="-120"/>
                        </a:rPr>
                        <a:t>, sans autre saisie ; chacun est averti en ligne et par courriel. Sans AMI, ou après une dispense, la liste se saisit comme avant.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quorum de la commission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RG-AMI-24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L’arrêt de la liste restreinte exige le </a:t>
                      </a:r>
                      <a:pPr indent="0" marL="0">
                        <a:buNone/>
                      </a:pPr>
                      <a:r>
                        <a:rPr lang="en-US" sz="1100" b="1" dirty="0">
                          <a:solidFill>
                            <a:srgbClr val="1B2A3A"/>
                          </a:solidFill>
                          <a:latin typeface="Segoe UI" pitchFamily="34" charset="0"/>
                          <a:ea typeface="Segoe UI" pitchFamily="34" charset="-122"/>
                          <a:cs typeface="Segoe UI" pitchFamily="34" charset="-120"/>
                        </a:rPr>
                        <a:t>quorum</a:t>
                      </a:r>
                      <a:pPr indent="0" marL="0">
                        <a:buNone/>
                      </a:pPr>
                      <a:r>
                        <a:rPr lang="en-US" sz="1100" dirty="0">
                          <a:solidFill>
                            <a:srgbClr val="1B2A3A"/>
                          </a:solidFill>
                          <a:latin typeface="Segoe UI" pitchFamily="34" charset="0"/>
                          <a:ea typeface="Segoe UI" pitchFamily="34" charset="-122"/>
                          <a:cs typeface="Segoe UI" pitchFamily="34" charset="-120"/>
                        </a:rPr>
                        <a:t> de la commission (par défaut, plus de la moitié des membres désignés), le président ou son représentant toujours requis. Le rapport signé vaut </a:t>
                      </a:r>
                      <a:pPr indent="0" marL="0">
                        <a:buNone/>
                      </a:pPr>
                      <a:r>
                        <a:rPr lang="en-US" sz="1100" b="1" dirty="0">
                          <a:solidFill>
                            <a:srgbClr val="1B2A3A"/>
                          </a:solidFill>
                          <a:latin typeface="Segoe UI" pitchFamily="34" charset="0"/>
                          <a:ea typeface="Segoe UI" pitchFamily="34" charset="-122"/>
                          <a:cs typeface="Segoe UI" pitchFamily="34" charset="-120"/>
                        </a:rPr>
                        <a:t>procès-verbal de validation</a:t>
                      </a:r>
                      <a:pPr indent="0" marL="0">
                        <a:buNone/>
                      </a:pPr>
                      <a:r>
                        <a:rPr lang="en-US" sz="1100" dirty="0">
                          <a:solidFill>
                            <a:srgbClr val="1B2A3A"/>
                          </a:solidFill>
                          <a:latin typeface="Segoe UI" pitchFamily="34" charset="0"/>
                          <a:ea typeface="Segoe UI" pitchFamily="34" charset="-122"/>
                          <a:cs typeface="Segoe UI" pitchFamily="34" charset="-120"/>
                        </a:rPr>
                        <a:t> : il porte la date de la dernière signature, les membres et leur qualité, les empêchements, les exclus pour conflit d’intérêts et le quorum constaté.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refus motivé, une décision définitive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ou son UGPM valide ou refuse le reçu ; un refus porte un </a:t>
                      </a:r>
                      <a:pPr indent="0" marL="0">
                        <a:buNone/>
                      </a:pPr>
                      <a:r>
                        <a:rPr lang="en-US" sz="1100" b="1" dirty="0">
                          <a:solidFill>
                            <a:srgbClr val="1B2A3A"/>
                          </a:solidFill>
                          <a:latin typeface="Segoe UI" pitchFamily="34" charset="0"/>
                          <a:ea typeface="Segoe UI" pitchFamily="34" charset="-122"/>
                          <a:cs typeface="Segoe UI" pitchFamily="34" charset="-120"/>
                        </a:rPr>
                        <a:t>motif</a:t>
                      </a:r>
                      <a:pPr indent="0" marL="0">
                        <a:buNone/>
                      </a:pPr>
                      <a:r>
                        <a:rPr lang="en-US" sz="1100" dirty="0">
                          <a:solidFill>
                            <a:srgbClr val="1B2A3A"/>
                          </a:solidFill>
                          <a:latin typeface="Segoe UI" pitchFamily="34" charset="0"/>
                          <a:ea typeface="Segoe UI" pitchFamily="34" charset="-122"/>
                          <a:cs typeface="Segoe UI" pitchFamily="34" charset="-120"/>
                        </a:rPr>
                        <a:t>, et le candidat dépose un nouveau reçu. Une décision ne se reprend pas. Le candidat en est averti par courriel.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Avant l’échéance, le nombre seul</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Avant la date limite, la PRMP ne connaît que le </a:t>
                      </a:r>
                      <a:pPr indent="0" marL="0">
                        <a:buNone/>
                      </a:pPr>
                      <a:r>
                        <a:rPr lang="en-US" sz="1100" b="1" dirty="0">
                          <a:solidFill>
                            <a:srgbClr val="1B2A3A"/>
                          </a:solidFill>
                          <a:latin typeface="Segoe UI" pitchFamily="34" charset="0"/>
                          <a:ea typeface="Segoe UI" pitchFamily="34" charset="-122"/>
                          <a:cs typeface="Segoe UI" pitchFamily="34" charset="-120"/>
                        </a:rPr>
                        <a:t>nombre</a:t>
                      </a:r>
                      <a:pPr indent="0" marL="0">
                        <a:buNone/>
                      </a:pPr>
                      <a:r>
                        <a:rPr lang="en-US" sz="1100" dirty="0">
                          <a:solidFill>
                            <a:srgbClr val="1B2A3A"/>
                          </a:solidFill>
                          <a:latin typeface="Segoe UI" pitchFamily="34" charset="0"/>
                          <a:ea typeface="Segoe UI" pitchFamily="34" charset="-122"/>
                          <a:cs typeface="Segoe UI" pitchFamily="34" charset="-120"/>
                        </a:rPr>
                        <a:t> de dépôts. Le registre (qui, quand, quel lot, empreinte) ne se lit qu’après l’échéance. L’Administrateur ne lit pas les dépôts.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Remplacer ou retirer avant l’échéance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RG-OFF-23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Remplacer ou retirer une offre n’est possible qu’avant la date limite, et si la fiche l’autorise. L’ancienne offre n’est remplacée qu’au scellement de la nouvelle ; une offre retirée est conservée et ne s’ouvre jamais.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124</a:t>
            </a:r>
            <a:endParaRPr lang="en-US" sz="11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(25/35)</a:t>
            </a:r>
            <a:endParaRPr lang="en-US" sz="2600" dirty="0"/>
          </a:p>
        </p:txBody>
      </p:sp>
      <p:graphicFrame>
        <p:nvGraphicFramePr>
          <p:cNvPr id="12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Toute tentative hors délai refusée et consignée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RG-OFF-33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Toute tentative de déposer une offre après la date et l’heure limites est </a:t>
                      </a:r>
                      <a:pPr indent="0" marL="0">
                        <a:buNone/>
                      </a:pPr>
                      <a:r>
                        <a:rPr lang="en-US" sz="1100" b="1" dirty="0">
                          <a:solidFill>
                            <a:srgbClr val="1B2A3A"/>
                          </a:solidFill>
                          <a:latin typeface="Segoe UI" pitchFamily="34" charset="0"/>
                          <a:ea typeface="Segoe UI" pitchFamily="34" charset="-122"/>
                          <a:cs typeface="Segoe UI" pitchFamily="34" charset="-120"/>
                        </a:rPr>
                        <a:t>refusée</a:t>
                      </a:r>
                      <a:pPr indent="0" marL="0">
                        <a:buNone/>
                      </a:pPr>
                      <a:r>
                        <a:rPr lang="en-US" sz="1100" dirty="0">
                          <a:solidFill>
                            <a:srgbClr val="1B2A3A"/>
                          </a:solidFill>
                          <a:latin typeface="Segoe UI" pitchFamily="34" charset="0"/>
                          <a:ea typeface="Segoe UI" pitchFamily="34" charset="-122"/>
                          <a:cs typeface="Segoe UI" pitchFamily="34" charset="-120"/>
                        </a:rPr>
                        <a:t> (art. 44). Le refus est daté par le serveur et conservé, avec l’entreprise, le NIF, le lot et le geste refusé. Le registre des dépôts de la PRMP et le PV d’ouverture les énumèrent.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part de secours, sur demande motivée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Si une part manque, le responsable </a:t>
                      </a:r>
                      <a:pPr indent="0" marL="0">
                        <a:buNone/>
                      </a:pPr>
                      <a:r>
                        <a:rPr lang="en-US" sz="1100" b="1" dirty="0">
                          <a:solidFill>
                            <a:srgbClr val="1B2A3A"/>
                          </a:solidFill>
                          <a:latin typeface="Segoe UI" pitchFamily="34" charset="0"/>
                          <a:ea typeface="Segoe UI" pitchFamily="34" charset="-122"/>
                          <a:cs typeface="Segoe UI" pitchFamily="34" charset="-120"/>
                        </a:rPr>
                        <a:t>demande</a:t>
                      </a:r>
                      <a:pPr indent="0" marL="0">
                        <a:buNone/>
                      </a:pPr>
                      <a:r>
                        <a:rPr lang="en-US" sz="1100" dirty="0">
                          <a:solidFill>
                            <a:srgbClr val="1B2A3A"/>
                          </a:solidFill>
                          <a:latin typeface="Segoe UI" pitchFamily="34" charset="0"/>
                          <a:ea typeface="Segoe UI" pitchFamily="34" charset="-122"/>
                          <a:cs typeface="Segoe UI" pitchFamily="34" charset="-120"/>
                        </a:rPr>
                        <a:t> la part de secours avec un motif, porté au PV ; le dépositaire l’apporte depuis son propre poste.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garantie lue en séance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garantie de soumission est lue en séance, montant et émetteur imprimés au PV. Un montant inférieur au minimum fixé par la fiche, par lot le cas échéant, donne une </a:t>
                      </a:r>
                      <a:pPr indent="0" marL="0">
                        <a:buNone/>
                      </a:pPr>
                      <a:r>
                        <a:rPr lang="en-US" sz="1100" b="1" dirty="0">
                          <a:solidFill>
                            <a:srgbClr val="1B2A3A"/>
                          </a:solidFill>
                          <a:latin typeface="Segoe UI" pitchFamily="34" charset="0"/>
                          <a:ea typeface="Segoe UI" pitchFamily="34" charset="-122"/>
                          <a:cs typeface="Segoe UI" pitchFamily="34" charset="-120"/>
                        </a:rPr>
                        <a:t>alerte</a:t>
                      </a:r>
                      <a:pPr indent="0" marL="0">
                        <a:buNone/>
                      </a:pPr>
                      <a:r>
                        <a:rPr lang="en-US" sz="1100" dirty="0">
                          <a:solidFill>
                            <a:srgbClr val="1B2A3A"/>
                          </a:solidFill>
                          <a:latin typeface="Segoe UI" pitchFamily="34" charset="0"/>
                          <a:ea typeface="Segoe UI" pitchFamily="34" charset="-122"/>
                          <a:cs typeface="Segoe UI" pitchFamily="34" charset="-120"/>
                        </a:rPr>
                        <a:t>, jamais un refus.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pièces, pour la commission seule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RG-SEA-18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pièces des offres ne s’ouvrent que par les </a:t>
                      </a:r>
                      <a:pPr indent="0" marL="0">
                        <a:buNone/>
                      </a:pPr>
                      <a:r>
                        <a:rPr lang="en-US" sz="1100" b="1" dirty="0">
                          <a:solidFill>
                            <a:srgbClr val="1B2A3A"/>
                          </a:solidFill>
                          <a:latin typeface="Segoe UI" pitchFamily="34" charset="0"/>
                          <a:ea typeface="Segoe UI" pitchFamily="34" charset="-122"/>
                          <a:cs typeface="Segoe UI" pitchFamily="34" charset="-120"/>
                        </a:rPr>
                        <a:t>membres de la commission</a:t>
                      </a:r>
                      <a:pPr indent="0" marL="0">
                        <a:buNone/>
                      </a:pPr>
                      <a:r>
                        <a:rPr lang="en-US" sz="1100" dirty="0">
                          <a:solidFill>
                            <a:srgbClr val="1B2A3A"/>
                          </a:solidFill>
                          <a:latin typeface="Segoe UI" pitchFamily="34" charset="0"/>
                          <a:ea typeface="Segoe UI" pitchFamily="34" charset="-122"/>
                          <a:cs typeface="Segoe UI" pitchFamily="34" charset="-120"/>
                        </a:rPr>
                        <a:t>. Le responsable, la PRMP et l’UGPM lisent ce qui est lu en séance, sans ouvrir aucun fichier ; pour montrer une pièce à la salle, un membre l’ouvre.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offres en ligne, lot par lot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commission évalue les offres dans l’application, lot par lot, en suivant le guide d’évaluation. Les offres papier n’y entrent pas ; les offres écartées au dépôt, retirées ou remplacées ne sont pas évaluées, et l’écran les nomme avec leur raison.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125</a:t>
            </a:r>
            <a:endParaRPr lang="en-US" sz="11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(26/35)</a:t>
            </a:r>
            <a:endParaRPr lang="en-US" sz="2600" dirty="0"/>
          </a:p>
        </p:txBody>
      </p:sp>
      <p:graphicFrame>
        <p:nvGraphicFramePr>
          <p:cNvPr id="12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membres décident, le président arrête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membre déclaré sans conflit enregistre les décisions, visibles des autres ; le </a:t>
                      </a:r>
                      <a:pPr indent="0" marL="0">
                        <a:buNone/>
                      </a:pPr>
                      <a:r>
                        <a:rPr lang="en-US" sz="1100" b="1" dirty="0">
                          <a:solidFill>
                            <a:srgbClr val="1B2A3A"/>
                          </a:solidFill>
                          <a:latin typeface="Segoe UI" pitchFamily="34" charset="0"/>
                          <a:ea typeface="Segoe UI" pitchFamily="34" charset="-122"/>
                          <a:cs typeface="Segoe UI" pitchFamily="34" charset="-120"/>
                        </a:rPr>
                        <a:t>président</a:t>
                      </a:r>
                      <a:pPr indent="0" marL="0">
                        <a:buNone/>
                      </a:pPr>
                      <a:r>
                        <a:rPr lang="en-US" sz="1100" dirty="0">
                          <a:solidFill>
                            <a:srgbClr val="1B2A3A"/>
                          </a:solidFill>
                          <a:latin typeface="Segoe UI" pitchFamily="34" charset="0"/>
                          <a:ea typeface="Segoe UI" pitchFamily="34" charset="-122"/>
                          <a:cs typeface="Segoe UI" pitchFamily="34" charset="-120"/>
                        </a:rPr>
                        <a:t> arrête l’étape d’un lot, ce qui fige ses décisions. La PRMP demande les précisions et les justifications ; la PRMP et l’UGPM lisent.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Rien ne s’efface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décision corrigée laisse la précédente au registre, et le journal dit qui a décidé quoi, quand, et pourquoi.</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Demander une précision au candidat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pose une question au candidat d’une offre (art. 35-VI), avec un délai, celui de la fiche par défaut. Le candidat répond </a:t>
                      </a:r>
                      <a:pPr indent="0" marL="0">
                        <a:buNone/>
                      </a:pPr>
                      <a:r>
                        <a:rPr lang="en-US" sz="1100" b="1" dirty="0">
                          <a:solidFill>
                            <a:srgbClr val="1B2A3A"/>
                          </a:solidFill>
                          <a:latin typeface="Segoe UI" pitchFamily="34" charset="0"/>
                          <a:ea typeface="Segoe UI" pitchFamily="34" charset="-122"/>
                          <a:cs typeface="Segoe UI" pitchFamily="34" charset="-120"/>
                        </a:rPr>
                        <a:t>une fois</a:t>
                      </a:r>
                      <a:pPr indent="0" marL="0">
                        <a:buNone/>
                      </a:pPr>
                      <a:r>
                        <a:rPr lang="en-US" sz="1100" dirty="0">
                          <a:solidFill>
                            <a:srgbClr val="1B2A3A"/>
                          </a:solidFill>
                          <a:latin typeface="Segoe UI" pitchFamily="34" charset="0"/>
                          <a:ea typeface="Segoe UI" pitchFamily="34" charset="-122"/>
                          <a:cs typeface="Segoe UI" pitchFamily="34" charset="-120"/>
                        </a:rPr>
                        <a:t>, dans le délai, par un texte et, s’il le veut, un fichier.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précision ne change pas l’offre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précision ne peut changer ni le prix ni la substance de l’offre. L’application ne le contrôle pas : la demande et la réponse vont au rapport.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offre classée examinée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commission examine chaque offre classée : non suspectée, ou suspectée avec un motif. L’étape ne s’arrête pas tant qu’une offre suspectée reste en suspens.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126</a:t>
            </a:r>
            <a:endParaRPr lang="en-US" sz="11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(27/35)</a:t>
            </a:r>
            <a:endParaRPr lang="en-US" sz="2600" dirty="0"/>
          </a:p>
        </p:txBody>
      </p:sp>
      <p:graphicFrame>
        <p:nvGraphicFramePr>
          <p:cNvPr id="12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Pas de rejet sans justification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Aucune offre n’est rejetée sans une </a:t>
                      </a:r>
                      <a:pPr indent="0" marL="0">
                        <a:buNone/>
                      </a:pPr>
                      <a:r>
                        <a:rPr lang="en-US" sz="1100" b="1" dirty="0">
                          <a:solidFill>
                            <a:srgbClr val="1B2A3A"/>
                          </a:solidFill>
                          <a:latin typeface="Segoe UI" pitchFamily="34" charset="0"/>
                          <a:ea typeface="Segoe UI" pitchFamily="34" charset="-122"/>
                          <a:cs typeface="Segoe UI" pitchFamily="34" charset="-120"/>
                        </a:rPr>
                        <a:t>demande écrite de justification</a:t>
                      </a:r>
                      <a:pPr indent="0" marL="0">
                        <a:buNone/>
                      </a:pPr>
                      <a:r>
                        <a:rPr lang="en-US" sz="1100" dirty="0">
                          <a:solidFill>
                            <a:srgbClr val="1B2A3A"/>
                          </a:solidFill>
                          <a:latin typeface="Segoe UI" pitchFamily="34" charset="0"/>
                          <a:ea typeface="Segoe UI" pitchFamily="34" charset="-122"/>
                          <a:cs typeface="Segoe UI" pitchFamily="34" charset="-120"/>
                        </a:rPr>
                        <a:t> de la PRMP, et sans la réponse du candidat ou l’expiration de son délai (art. 48). La commission maintient ou rejette, avec un motif ; l’offre rejetée sort du classement.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défaut de réponse vaut refus de justifier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l’échéance de la demande de justification passe sans réponse du candidat, la commission peut rejeter : le </a:t>
                      </a:r>
                      <a:pPr indent="0" marL="0">
                        <a:buNone/>
                      </a:pPr>
                      <a:r>
                        <a:rPr lang="en-US" sz="1100" b="1" dirty="0">
                          <a:solidFill>
                            <a:srgbClr val="1B2A3A"/>
                          </a:solidFill>
                          <a:latin typeface="Segoe UI" pitchFamily="34" charset="0"/>
                          <a:ea typeface="Segoe UI" pitchFamily="34" charset="-122"/>
                          <a:cs typeface="Segoe UI" pitchFamily="34" charset="-120"/>
                        </a:rPr>
                        <a:t>défaut de réponse</a:t>
                      </a:r>
                      <a:pPr indent="0" marL="0">
                        <a:buNone/>
                      </a:pPr>
                      <a:r>
                        <a:rPr lang="en-US" sz="1100" dirty="0">
                          <a:solidFill>
                            <a:srgbClr val="1B2A3A"/>
                          </a:solidFill>
                          <a:latin typeface="Segoe UI" pitchFamily="34" charset="0"/>
                          <a:ea typeface="Segoe UI" pitchFamily="34" charset="-122"/>
                          <a:cs typeface="Segoe UI" pitchFamily="34" charset="-120"/>
                        </a:rPr>
                        <a:t> vaut refus de justifier (art. 48). Il est écrit dans la décision et au journal, et l’offre porte la mention « Défaut de réponse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plan du guide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RG-EVA-28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rapport suit le plan du guide : références, plis reçus, chaque étape lot par lot, proposition d’attribution, signatures. En annexe, les déclarations des membres et les échanges avec les candidats.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étapes closes ne se modifient plus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qu’un dossier de marché de la procédure est </a:t>
                      </a:r>
                      <a:pPr indent="0" marL="0">
                        <a:buNone/>
                      </a:pPr>
                      <a:r>
                        <a:rPr lang="en-US" sz="1100" b="1" dirty="0">
                          <a:solidFill>
                            <a:srgbClr val="1B2A3A"/>
                          </a:solidFill>
                          <a:latin typeface="Segoe UI" pitchFamily="34" charset="0"/>
                          <a:ea typeface="Segoe UI" pitchFamily="34" charset="-122"/>
                          <a:cs typeface="Segoe UI" pitchFamily="34" charset="-120"/>
                        </a:rPr>
                        <a:t>soumis à la Commission</a:t>
                      </a:r>
                      <a:pPr indent="0" marL="0">
                        <a:buNone/>
                      </a:pPr>
                      <a:r>
                        <a:rPr lang="en-US" sz="1100" dirty="0">
                          <a:solidFill>
                            <a:srgbClr val="1B2A3A"/>
                          </a:solidFill>
                          <a:latin typeface="Segoe UI" pitchFamily="34" charset="0"/>
                          <a:ea typeface="Segoe UI" pitchFamily="34" charset="-122"/>
                          <a:cs typeface="Segoe UI" pitchFamily="34" charset="-120"/>
                        </a:rPr>
                        <a:t>, la séance d’ouverture, la seconde séance, l’évaluation et l’AMI de la procédure ne se modifient plus : la Commission examine ce qui lui a été soumis. Seules la reprise de l’évaluation après un avis défavorable et la réattribution après un retrait, motivées et tracées, les rouvrent. Les lectures restent ouvertes.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négociation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RG-EVA-33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Conduite par la PRMP ou son UGPM avec le premier classé, sur des points non substantiels (art. 42-IV). Réussie, elle porte la proposition d’attribution ; échouée, elle se motive et le classé suivant vient. Une seule en cours, une seule réussie par lot ; son PV se produit en PDF et en Word.</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127</a:t>
            </a:r>
            <a:endParaRPr lang="en-US" sz="11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(28/35)</a:t>
            </a:r>
            <a:endParaRPr lang="en-US" sz="2600" dirty="0"/>
          </a:p>
        </p:txBody>
      </p:sp>
      <p:graphicFrame>
        <p:nvGraphicFramePr>
          <p:cNvPr id="12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marché en ligne contrôlé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marché issu d’une procédure en ligne passe au </a:t>
                      </a:r>
                      <a:pPr indent="0" marL="0">
                        <a:buNone/>
                      </a:pPr>
                      <a:r>
                        <a:rPr lang="en-US" sz="1100" b="1" dirty="0">
                          <a:solidFill>
                            <a:srgbClr val="1B2A3A"/>
                          </a:solidFill>
                          <a:latin typeface="Segoe UI" pitchFamily="34" charset="0"/>
                          <a:ea typeface="Segoe UI" pitchFamily="34" charset="-122"/>
                          <a:cs typeface="Segoe UI" pitchFamily="34" charset="-120"/>
                        </a:rPr>
                        <a:t>contrôle a priori</a:t>
                      </a:r>
                      <a:pPr indent="0" marL="0">
                        <a:buNone/>
                      </a:pPr>
                      <a:r>
                        <a:rPr lang="en-US" sz="1100" dirty="0">
                          <a:solidFill>
                            <a:srgbClr val="1B2A3A"/>
                          </a:solidFill>
                          <a:latin typeface="Segoe UI" pitchFamily="34" charset="0"/>
                          <a:ea typeface="Segoe UI" pitchFamily="34" charset="-122"/>
                          <a:cs typeface="Segoe UI" pitchFamily="34" charset="-120"/>
                        </a:rPr>
                        <a:t> de la Commission, sans seuil.</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dossier de marché par lot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Depuis l’évaluation close, la PRMP ou son UGPM crée </a:t>
                      </a:r>
                      <a:pPr indent="0" marL="0">
                        <a:buNone/>
                      </a:pPr>
                      <a:r>
                        <a:rPr lang="en-US" sz="1100" b="1" dirty="0">
                          <a:solidFill>
                            <a:srgbClr val="1B2A3A"/>
                          </a:solidFill>
                          <a:latin typeface="Segoe UI" pitchFamily="34" charset="0"/>
                          <a:ea typeface="Segoe UI" pitchFamily="34" charset="-122"/>
                          <a:cs typeface="Segoe UI" pitchFamily="34" charset="-120"/>
                        </a:rPr>
                        <a:t>un dossier de marché par lot</a:t>
                      </a:r>
                      <a:pPr indent="0" marL="0">
                        <a:buNone/>
                      </a:pPr>
                      <a:r>
                        <a:rPr lang="en-US" sz="1100" dirty="0">
                          <a:solidFill>
                            <a:srgbClr val="1B2A3A"/>
                          </a:solidFill>
                          <a:latin typeface="Segoe UI" pitchFamily="34" charset="0"/>
                          <a:ea typeface="Segoe UI" pitchFamily="34" charset="-122"/>
                          <a:cs typeface="Segoe UI" pitchFamily="34" charset="-120"/>
                        </a:rPr>
                        <a:t> attribuable, ouvert ou restreint selon le mode de passation. Un lot que le rapport propose infructueux n’en a pas.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pièces jointes d’office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dossier reçoit d’office le </a:t>
                      </a:r>
                      <a:pPr indent="0" marL="0">
                        <a:buNone/>
                      </a:pPr>
                      <a:r>
                        <a:rPr lang="en-US" sz="1100" b="1" dirty="0">
                          <a:solidFill>
                            <a:srgbClr val="1B2A3A"/>
                          </a:solidFill>
                          <a:latin typeface="Segoe UI" pitchFamily="34" charset="0"/>
                          <a:ea typeface="Segoe UI" pitchFamily="34" charset="-122"/>
                          <a:cs typeface="Segoe UI" pitchFamily="34" charset="-120"/>
                        </a:rPr>
                        <a:t>projet de marché</a:t>
                      </a:r>
                      <a:pPr indent="0" marL="0">
                        <a:buNone/>
                      </a:pPr>
                      <a:r>
                        <a:rPr lang="en-US" sz="1100" dirty="0">
                          <a:solidFill>
                            <a:srgbClr val="1B2A3A"/>
                          </a:solidFill>
                          <a:latin typeface="Segoe UI" pitchFamily="34" charset="0"/>
                          <a:ea typeface="Segoe UI" pitchFamily="34" charset="-122"/>
                          <a:cs typeface="Segoe UI" pitchFamily="34" charset="-120"/>
                        </a:rPr>
                        <a:t> produit par l’application, le DAO complet, le devis ou bordereau de l’offre, le PV d’ouverture et le rapport d’évaluation, et, s’il y en a, les questions des candidats et leurs réponses. Restent à joindre par la PRMP, selon le sous-type, les autres pièces exigées.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projet de marché tiré de l’offre, selon l’art. 60</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RG-ATT-04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projet de marché porte l’objet de l’appel d’offres et le seul lot du marché, et toutes les mentions de l’art. 60 ; ce que l’application connaît est rempli, le reste est nommé et complété par la PRMP avant la signature. Tant que le marché n’est pas signé, la PRMP ou son UGPM peut le </a:t>
                      </a:r>
                      <a:pPr indent="0" marL="0">
                        <a:buNone/>
                      </a:pPr>
                      <a:r>
                        <a:rPr lang="en-US" sz="1100" b="1" dirty="0">
                          <a:solidFill>
                            <a:srgbClr val="1B2A3A"/>
                          </a:solidFill>
                          <a:latin typeface="Segoe UI" pitchFamily="34" charset="0"/>
                          <a:ea typeface="Segoe UI" pitchFamily="34" charset="-122"/>
                          <a:cs typeface="Segoe UI" pitchFamily="34" charset="-120"/>
                        </a:rPr>
                        <a:t>refaire</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lot proposé infructueux</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aucune offre n’est qualifiée, le rapport propose le lot infructueux : il n’a pas de dossier de marché, et la décision revient à la PRMP.</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128</a:t>
            </a:r>
            <a:endParaRPr lang="en-US" sz="11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(29/35)</a:t>
            </a:r>
            <a:endParaRPr lang="en-US" sz="2600" dirty="0"/>
          </a:p>
        </p:txBody>
      </p:sp>
      <p:graphicFrame>
        <p:nvGraphicFramePr>
          <p:cNvPr id="13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L’infructuosité déclarée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la déclare (motif, référence et date de sa décision, suite envisagée) quand le rapport la propose ou que la Commission rend un avis défavorable sur le dossier de marché ; jamais une fois le lot attribué (art. 56-VI). Les candidats du lot sont avertis, la page publique l’affiche.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DAO complet dispense du CCAG</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RG-ATT-05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dossier qui porte le DAO complet produit par la fiche n’a plus à joindre le CCAG, ni le CCTP quand la fiche porte ses spécifications techniques.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grille tirée du guide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RG-ATT-06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dossier suit le circuit ordinaire. La Commission l’examine sur une grille tirée du guide : commission, PV, motivation des rejets, montant évalué, offres anormales, classement, post-qualification, signatures, conformité du projet à l’offre. Une correction hors calcul y est signalée (RG-EVA-35).</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dossier de marché MPI</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RG-ATT-32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dossier de marché d’une fiche de prestations intellectuelles se crée au sous-type MPI ; le devis joint d’office est le bordereau de l’enveloppe financière ; un lot proposé infructueux n’a pas de dossier.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PRMP attribue après l’avis favorable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Après l’avis </a:t>
                      </a:r>
                      <a:pPr indent="0" marL="0">
                        <a:buNone/>
                      </a:pPr>
                      <a:r>
                        <a:rPr lang="en-US" sz="1100" b="1" dirty="0">
                          <a:solidFill>
                            <a:srgbClr val="1B2A3A"/>
                          </a:solidFill>
                          <a:latin typeface="Segoe UI" pitchFamily="34" charset="0"/>
                          <a:ea typeface="Segoe UI" pitchFamily="34" charset="-122"/>
                          <a:cs typeface="Segoe UI" pitchFamily="34" charset="-120"/>
                        </a:rPr>
                        <a:t>favorable</a:t>
                      </a:r>
                      <a:pPr indent="0" marL="0">
                        <a:buNone/>
                      </a:pPr>
                      <a:r>
                        <a:rPr lang="en-US" sz="1100" dirty="0">
                          <a:solidFill>
                            <a:srgbClr val="1B2A3A"/>
                          </a:solidFill>
                          <a:latin typeface="Segoe UI" pitchFamily="34" charset="0"/>
                          <a:ea typeface="Segoe UI" pitchFamily="34" charset="-122"/>
                          <a:cs typeface="Segoe UI" pitchFamily="34" charset="-120"/>
                        </a:rPr>
                        <a:t> de la Commission sur le dossier de marché, avec ou sans réserves, la PRMP, et elle seule, attribue le lot.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129</a:t>
            </a:r>
            <a:endParaRPr lang="en-US" sz="11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(30/35)</a:t>
            </a:r>
            <a:endParaRPr lang="en-US" sz="2600" dirty="0"/>
          </a:p>
        </p:txBody>
      </p:sp>
      <p:graphicFrame>
        <p:nvGraphicFramePr>
          <p:cNvPr id="13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L’offre proposée, et elle seule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L’attribution va à l’offre </a:t>
                      </a:r>
                      <a:pPr indent="0" marL="0">
                        <a:buNone/>
                      </a:pPr>
                      <a:r>
                        <a:rPr lang="en-US" sz="1100" b="1" dirty="0">
                          <a:solidFill>
                            <a:srgbClr val="1B2A3A"/>
                          </a:solidFill>
                          <a:latin typeface="Segoe UI" pitchFamily="34" charset="0"/>
                          <a:ea typeface="Segoe UI" pitchFamily="34" charset="-122"/>
                          <a:cs typeface="Segoe UI" pitchFamily="34" charset="-120"/>
                        </a:rPr>
                        <a:t>proposée</a:t>
                      </a:r>
                      <a:pPr indent="0" marL="0">
                        <a:buNone/>
                      </a:pPr>
                      <a:r>
                        <a:rPr lang="en-US" sz="1100" dirty="0">
                          <a:solidFill>
                            <a:srgbClr val="1B2A3A"/>
                          </a:solidFill>
                          <a:latin typeface="Segoe UI" pitchFamily="34" charset="0"/>
                          <a:ea typeface="Segoe UI" pitchFamily="34" charset="-122"/>
                          <a:cs typeface="Segoe UI" pitchFamily="34" charset="-120"/>
                        </a:rPr>
                        <a:t> par la commission d’appel d’offres, jamais à une autre (art. 35-VII). En désaccord, la PRMP ne peut que déclarer le lot infructueux ou la procédure sans suite.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lettre à chaque candidat évalué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informe tous les candidats dont l’offre a été évaluée (art. 52) : lettre d’attribution à l’attributaire, lettre de rejet aux autres, avec les </a:t>
                      </a:r>
                      <a:pPr indent="0" marL="0">
                        <a:buNone/>
                      </a:pPr>
                      <a:r>
                        <a:rPr lang="en-US" sz="1100" b="1" dirty="0">
                          <a:solidFill>
                            <a:srgbClr val="1B2A3A"/>
                          </a:solidFill>
                          <a:latin typeface="Segoe UI" pitchFamily="34" charset="0"/>
                          <a:ea typeface="Segoe UI" pitchFamily="34" charset="-122"/>
                          <a:cs typeface="Segoe UI" pitchFamily="34" charset="-120"/>
                        </a:rPr>
                        <a:t>motifs tirés du rapport</a:t>
                      </a:r>
                      <a:pPr indent="0" marL="0">
                        <a:buNone/>
                      </a:pPr>
                      <a:r>
                        <a:rPr lang="en-US" sz="1100" dirty="0">
                          <a:solidFill>
                            <a:srgbClr val="1B2A3A"/>
                          </a:solidFill>
                          <a:latin typeface="Segoe UI" pitchFamily="34" charset="0"/>
                          <a:ea typeface="Segoe UI" pitchFamily="34" charset="-122"/>
                          <a:cs typeface="Segoe UI" pitchFamily="34" charset="-120"/>
                        </a:rPr>
                        <a:t>, le nom de l’attributaire et le montant du marché.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Signées en ligne, lues avec accusé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signe ces lettres électroniquement ; elles partent sur la plateforme et par courriel. La première lecture par le candidat sur la plateforme vaut </a:t>
                      </a:r>
                      <a:pPr indent="0" marL="0">
                        <a:buNone/>
                      </a:pPr>
                      <a:r>
                        <a:rPr lang="en-US" sz="1100" b="1" dirty="0">
                          <a:solidFill>
                            <a:srgbClr val="1B2A3A"/>
                          </a:solidFill>
                          <a:latin typeface="Segoe UI" pitchFamily="34" charset="0"/>
                          <a:ea typeface="Segoe UI" pitchFamily="34" charset="-122"/>
                          <a:cs typeface="Segoe UI" pitchFamily="34" charset="-120"/>
                        </a:rPr>
                        <a:t>accusé de réception</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L’affichage déclaré, le résultat publié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la date d’</a:t>
                      </a:r>
                      <a:pPr indent="0" marL="0">
                        <a:buNone/>
                      </a:pPr>
                      <a:r>
                        <a:rPr lang="en-US" sz="1100" b="1" dirty="0">
                          <a:solidFill>
                            <a:srgbClr val="1B2A3A"/>
                          </a:solidFill>
                          <a:latin typeface="Segoe UI" pitchFamily="34" charset="0"/>
                          <a:ea typeface="Segoe UI" pitchFamily="34" charset="-122"/>
                          <a:cs typeface="Segoe UI" pitchFamily="34" charset="-120"/>
                        </a:rPr>
                        <a:t>affichage</a:t>
                      </a:r>
                      <a:pPr indent="0" marL="0">
                        <a:buNone/>
                      </a:pPr>
                      <a:r>
                        <a:rPr lang="en-US" sz="1100" dirty="0">
                          <a:solidFill>
                            <a:srgbClr val="1B2A3A"/>
                          </a:solidFill>
                          <a:latin typeface="Segoe UI" pitchFamily="34" charset="0"/>
                          <a:ea typeface="Segoe UI" pitchFamily="34" charset="-122"/>
                          <a:cs typeface="Segoe UI" pitchFamily="34" charset="-120"/>
                        </a:rPr>
                        <a:t> du résultat à son siège ; l’attributaire et le montant paraissent sur la page publique de la procédure.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modèles provisoires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Tant que les modèles officiels ne sont pas remis, les lettres et l’avis d’attribution suivent un </a:t>
                      </a:r>
                      <a:pPr indent="0" marL="0">
                        <a:buNone/>
                      </a:pPr>
                      <a:r>
                        <a:rPr lang="en-US" sz="1100" b="1" dirty="0">
                          <a:solidFill>
                            <a:srgbClr val="1B2A3A"/>
                          </a:solidFill>
                          <a:latin typeface="Segoe UI" pitchFamily="34" charset="0"/>
                          <a:ea typeface="Segoe UI" pitchFamily="34" charset="-122"/>
                          <a:cs typeface="Segoe UI" pitchFamily="34" charset="-120"/>
                        </a:rPr>
                        <a:t>modèle provisoire</a:t>
                      </a:r>
                      <a:pPr indent="0" marL="0">
                        <a:buNone/>
                      </a:pPr>
                      <a:r>
                        <a:rPr lang="en-US" sz="1100" dirty="0">
                          <a:solidFill>
                            <a:srgbClr val="1B2A3A"/>
                          </a:solidFill>
                          <a:latin typeface="Segoe UI" pitchFamily="34" charset="0"/>
                          <a:ea typeface="Segoe UI" pitchFamily="34" charset="-122"/>
                          <a:cs typeface="Segoe UI" pitchFamily="34" charset="-120"/>
                        </a:rPr>
                        <a:t> de l’application.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130</a:t>
            </a:r>
            <a:endParaRPr lang="en-US" sz="11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(31/35)</a:t>
            </a:r>
            <a:endParaRPr lang="en-US" sz="2600" dirty="0"/>
          </a:p>
        </p:txBody>
      </p:sp>
      <p:graphicFrame>
        <p:nvGraphicFramePr>
          <p:cNvPr id="13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Dix jours francs depuis la réception présumée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marché ne se signe qu’après </a:t>
                      </a:r>
                      <a:pPr indent="0" marL="0">
                        <a:buNone/>
                      </a:pPr>
                      <a:r>
                        <a:rPr lang="en-US" sz="1100" b="1" dirty="0">
                          <a:solidFill>
                            <a:srgbClr val="1B2A3A"/>
                          </a:solidFill>
                          <a:latin typeface="Segoe UI" pitchFamily="34" charset="0"/>
                          <a:ea typeface="Segoe UI" pitchFamily="34" charset="-122"/>
                          <a:cs typeface="Segoe UI" pitchFamily="34" charset="-120"/>
                        </a:rPr>
                        <a:t>dix jours francs</a:t>
                      </a:r>
                      <a:pPr indent="0" marL="0">
                        <a:buNone/>
                      </a:pPr>
                      <a:r>
                        <a:rPr lang="en-US" sz="1100" dirty="0">
                          <a:solidFill>
                            <a:srgbClr val="1B2A3A"/>
                          </a:solidFill>
                          <a:latin typeface="Segoe UI" pitchFamily="34" charset="0"/>
                          <a:ea typeface="Segoe UI" pitchFamily="34" charset="-122"/>
                          <a:cs typeface="Segoe UI" pitchFamily="34" charset="-120"/>
                        </a:rPr>
                        <a:t> (art. 78), comptés depuis la </a:t>
                      </a:r>
                      <a:pPr indent="0" marL="0">
                        <a:buNone/>
                      </a:pPr>
                      <a:r>
                        <a:rPr lang="en-US" sz="1100" b="1" dirty="0">
                          <a:solidFill>
                            <a:srgbClr val="1B2A3A"/>
                          </a:solidFill>
                          <a:latin typeface="Segoe UI" pitchFamily="34" charset="0"/>
                          <a:ea typeface="Segoe UI" pitchFamily="34" charset="-122"/>
                          <a:cs typeface="Segoe UI" pitchFamily="34" charset="-120"/>
                        </a:rPr>
                        <a:t>réception présumée</a:t>
                      </a:r>
                      <a:pPr indent="0" marL="0">
                        <a:buNone/>
                      </a:pPr>
                      <a:r>
                        <a:rPr lang="en-US" sz="1100" dirty="0">
                          <a:solidFill>
                            <a:srgbClr val="1B2A3A"/>
                          </a:solidFill>
                          <a:latin typeface="Segoe UI" pitchFamily="34" charset="0"/>
                          <a:ea typeface="Segoe UI" pitchFamily="34" charset="-122"/>
                          <a:cs typeface="Segoe UI" pitchFamily="34" charset="-120"/>
                        </a:rPr>
                        <a:t> de la lettre par les candidats non retenus — l’envoi plus un nombre de jours réglé par l’Administrateur (trois proposés), le même pour tous —, ou depuis l’affichage s’il est plus tardif. Ni ce jour ni le dixième ne comptent ; l’écran affiche la date à partir de laquelle la signature est possible.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explications, par écrit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candidat non retenu peut demander par écrit des </a:t>
                      </a:r>
                      <a:pPr indent="0" marL="0">
                        <a:buNone/>
                      </a:pPr>
                      <a:r>
                        <a:rPr lang="en-US" sz="1100" b="1" dirty="0">
                          <a:solidFill>
                            <a:srgbClr val="1B2A3A"/>
                          </a:solidFill>
                          <a:latin typeface="Segoe UI" pitchFamily="34" charset="0"/>
                          <a:ea typeface="Segoe UI" pitchFamily="34" charset="-122"/>
                          <a:cs typeface="Segoe UI" pitchFamily="34" charset="-120"/>
                        </a:rPr>
                        <a:t>explications</a:t>
                      </a:r>
                      <a:pPr indent="0" marL="0">
                        <a:buNone/>
                      </a:pPr>
                      <a:r>
                        <a:rPr lang="en-US" sz="1100" dirty="0">
                          <a:solidFill>
                            <a:srgbClr val="1B2A3A"/>
                          </a:solidFill>
                          <a:latin typeface="Segoe UI" pitchFamily="34" charset="0"/>
                          <a:ea typeface="Segoe UI" pitchFamily="34" charset="-122"/>
                          <a:cs typeface="Segoe UI" pitchFamily="34" charset="-120"/>
                        </a:rPr>
                        <a:t> sur le rejet de son offre ; la PRMP y répond par écrit, avec un fichier si elle le souhaite.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recours déclarés par la PRMP</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les recours reçus, chacun typé : demande de réexamen, demande de révision auprès de l’ARMP, référé. Leur décision se déclare ensuite, avec son issue et un motif.</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réexamen, sous dix jours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RG-ATT-16</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doit répondre à une demande de </a:t>
                      </a:r>
                      <a:pPr indent="0" marL="0">
                        <a:buNone/>
                      </a:pPr>
                      <a:r>
                        <a:rPr lang="en-US" sz="1100" b="1" dirty="0">
                          <a:solidFill>
                            <a:srgbClr val="1B2A3A"/>
                          </a:solidFill>
                          <a:latin typeface="Segoe UI" pitchFamily="34" charset="0"/>
                          <a:ea typeface="Segoe UI" pitchFamily="34" charset="-122"/>
                          <a:cs typeface="Segoe UI" pitchFamily="34" charset="-120"/>
                        </a:rPr>
                        <a:t>réexamen</a:t>
                      </a:r>
                      <a:pPr indent="0" marL="0">
                        <a:buNone/>
                      </a:pPr>
                      <a:r>
                        <a:rPr lang="en-US" sz="1100" dirty="0">
                          <a:solidFill>
                            <a:srgbClr val="1B2A3A"/>
                          </a:solidFill>
                          <a:latin typeface="Segoe UI" pitchFamily="34" charset="0"/>
                          <a:ea typeface="Segoe UI" pitchFamily="34" charset="-122"/>
                          <a:cs typeface="Segoe UI" pitchFamily="34" charset="-120"/>
                        </a:rPr>
                        <a:t> sous dix jours ; elle est alertée deux jours avant l’échéance. Par défaut, le réexamen ne suspend pas la signature, sauf si l’Administrateur l’a rangé parmi les recours suspensifs (RG-ATT-35).</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recours suspensif suspend la signature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recours d’un type suspensif — par défaut la révision par l’ARMP et le référé — </a:t>
                      </a:r>
                      <a:pPr indent="0" marL="0">
                        <a:buNone/>
                      </a:pPr>
                      <a:r>
                        <a:rPr lang="en-US" sz="1100" b="1" dirty="0">
                          <a:solidFill>
                            <a:srgbClr val="1B2A3A"/>
                          </a:solidFill>
                          <a:latin typeface="Segoe UI" pitchFamily="34" charset="0"/>
                          <a:ea typeface="Segoe UI" pitchFamily="34" charset="-122"/>
                          <a:cs typeface="Segoe UI" pitchFamily="34" charset="-120"/>
                        </a:rPr>
                        <a:t>suspend la signature</a:t>
                      </a:r>
                      <a:pPr indent="0" marL="0">
                        <a:buNone/>
                      </a:pPr>
                      <a:r>
                        <a:rPr lang="en-US" sz="1100" dirty="0">
                          <a:solidFill>
                            <a:srgbClr val="1B2A3A"/>
                          </a:solidFill>
                          <a:latin typeface="Segoe UI" pitchFamily="34" charset="0"/>
                          <a:ea typeface="Segoe UI" pitchFamily="34" charset="-122"/>
                          <a:cs typeface="Segoe UI" pitchFamily="34" charset="-120"/>
                        </a:rPr>
                        <a:t> jusqu’à sa décision, vingt jours au plus après sa réception ; l’écran donne la date limite.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131</a:t>
            </a:r>
            <a:endParaRPr lang="en-US" sz="11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(32/35)</a:t>
            </a:r>
            <a:endParaRPr lang="en-US" sz="2600" dirty="0"/>
          </a:p>
        </p:txBody>
      </p:sp>
      <p:graphicFrame>
        <p:nvGraphicFramePr>
          <p:cNvPr id="13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recours suspensifs, un réglage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RG-ATT-35</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types de recours qui suspendent la signature sont un </a:t>
                      </a:r>
                      <a:pPr indent="0" marL="0">
                        <a:buNone/>
                      </a:pPr>
                      <a:r>
                        <a:rPr lang="en-US" sz="1100" b="1" dirty="0">
                          <a:solidFill>
                            <a:srgbClr val="1B2A3A"/>
                          </a:solidFill>
                          <a:latin typeface="Segoe UI" pitchFamily="34" charset="0"/>
                          <a:ea typeface="Segoe UI" pitchFamily="34" charset="-122"/>
                          <a:cs typeface="Segoe UI" pitchFamily="34" charset="-120"/>
                        </a:rPr>
                        <a:t>réglage de l’Administrateur</a:t>
                      </a:r>
                      <a:pPr indent="0" marL="0">
                        <a:buNone/>
                      </a:pPr>
                      <a:r>
                        <a:rPr lang="en-US" sz="1100" dirty="0">
                          <a:solidFill>
                            <a:srgbClr val="1B2A3A"/>
                          </a:solidFill>
                          <a:latin typeface="Segoe UI" pitchFamily="34" charset="0"/>
                          <a:ea typeface="Segoe UI" pitchFamily="34" charset="-122"/>
                          <a:cs typeface="Segoe UI" pitchFamily="34" charset="-120"/>
                        </a:rPr>
                        <a:t> : par défaut la révision par l’ARMP et le référé, le réexamen pouvant être ajouté ; aucune case cochée signifie aucun recours suspensif. Le réglage vaut aussi pour les recours déjà déclarés, et la liste de déclaration le dit pour chaque type.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d’attribution sous trente jours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d’attribution est publié dans les </a:t>
                      </a:r>
                      <a:pPr indent="0" marL="0">
                        <a:buNone/>
                      </a:pPr>
                      <a:r>
                        <a:rPr lang="en-US" sz="1100" b="1" dirty="0">
                          <a:solidFill>
                            <a:srgbClr val="1B2A3A"/>
                          </a:solidFill>
                          <a:latin typeface="Segoe UI" pitchFamily="34" charset="0"/>
                          <a:ea typeface="Segoe UI" pitchFamily="34" charset="-122"/>
                          <a:cs typeface="Segoe UI" pitchFamily="34" charset="-120"/>
                        </a:rPr>
                        <a:t>trente jours</a:t>
                      </a:r>
                      <a:pPr indent="0" marL="0">
                        <a:buNone/>
                      </a:pPr>
                      <a:r>
                        <a:rPr lang="en-US" sz="1100" dirty="0">
                          <a:solidFill>
                            <a:srgbClr val="1B2A3A"/>
                          </a:solidFill>
                          <a:latin typeface="Segoe UI" pitchFamily="34" charset="0"/>
                          <a:ea typeface="Segoe UI" pitchFamily="34" charset="-122"/>
                          <a:cs typeface="Segoe UI" pitchFamily="34" charset="-120"/>
                        </a:rPr>
                        <a:t> de la réception de la notification par le titulaire (déclarée ou constatée par la plateforme), à défaut de la notification, sur la page publique de la procédure. La PRMP est alertée au vingtième jour ; un avis en retard est signalé « En retard » sur le lot et par une pastille sur son entrée « Fiches DAO ». La règle ne bloque rien : une publication tardive se lit « Publié après l’échéance ».</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Pièces fiscales et sociales en quinze jours, et récentes</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L’attributaire dépose, dans les </a:t>
                      </a:r>
                      <a:pPr indent="0" marL="0">
                        <a:buNone/>
                      </a:pPr>
                      <a:r>
                        <a:rPr lang="en-US" sz="1100" b="1" dirty="0">
                          <a:solidFill>
                            <a:srgbClr val="1B2A3A"/>
                          </a:solidFill>
                          <a:latin typeface="Segoe UI" pitchFamily="34" charset="0"/>
                          <a:ea typeface="Segoe UI" pitchFamily="34" charset="-122"/>
                          <a:cs typeface="Segoe UI" pitchFamily="34" charset="-120"/>
                        </a:rPr>
                        <a:t>quinze jours</a:t>
                      </a:r>
                      <a:pPr indent="0" marL="0">
                        <a:buNone/>
                      </a:pPr>
                      <a:r>
                        <a:rPr lang="en-US" sz="1100" dirty="0">
                          <a:solidFill>
                            <a:srgbClr val="1B2A3A"/>
                          </a:solidFill>
                          <a:latin typeface="Segoe UI" pitchFamily="34" charset="0"/>
                          <a:ea typeface="Segoe UI" pitchFamily="34" charset="-122"/>
                          <a:cs typeface="Segoe UI" pitchFamily="34" charset="-120"/>
                        </a:rPr>
                        <a:t> de la lettre d’attribution (art. 20-I), une attestation fiscale et une attestation sociale. Elles doivent avoir moins de six mois (fiscale) et moins de trois mois (sociale) à la notification de l’attribution : plus anciennes, elles sont refusées au dépôt et </a:t>
                      </a:r>
                      <a:pPr indent="0" marL="0">
                        <a:buNone/>
                      </a:pPr>
                      <a:r>
                        <a:rPr lang="en-US" sz="1100" b="1" dirty="0">
                          <a:solidFill>
                            <a:srgbClr val="1B2A3A"/>
                          </a:solidFill>
                          <a:latin typeface="Segoe UI" pitchFamily="34" charset="0"/>
                          <a:ea typeface="Segoe UI" pitchFamily="34" charset="-122"/>
                          <a:cs typeface="Segoe UI" pitchFamily="34" charset="-120"/>
                        </a:rPr>
                        <a:t>ne peuvent être reconnues conformes</a:t>
                      </a:r>
                      <a:pPr indent="0" marL="0">
                        <a:buNone/>
                      </a:pPr>
                      <a:r>
                        <a:rPr lang="en-US" sz="1100" dirty="0">
                          <a:solidFill>
                            <a:srgbClr val="1B2A3A"/>
                          </a:solidFill>
                          <a:latin typeface="Segoe UI" pitchFamily="34" charset="0"/>
                          <a:ea typeface="Segoe UI" pitchFamily="34" charset="-122"/>
                          <a:cs typeface="Segoe UI" pitchFamily="34" charset="-120"/>
                        </a:rPr>
                        <a:t> ; l’écran affiche les dates les plus anciennes admises. L’attributaire peut redéposer jusqu’à l’échéance ; la dernière pièce fait foi.</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Vérifiées, ou le marché retiré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RG-ATT-19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vérifie chaque pièce, avec un motif si elle n’est pas conforme. L’état de chaque pièce se lit sur son dernier dépôt : à déposer, à vérifier, conforme, non conforme. Faute de pièces conformes à l’échéance, la PRMP </a:t>
                      </a:r>
                      <a:pPr indent="0" marL="0">
                        <a:buNone/>
                      </a:pPr>
                      <a:r>
                        <a:rPr lang="en-US" sz="1100" b="1" dirty="0">
                          <a:solidFill>
                            <a:srgbClr val="1B2A3A"/>
                          </a:solidFill>
                          <a:latin typeface="Segoe UI" pitchFamily="34" charset="0"/>
                          <a:ea typeface="Segoe UI" pitchFamily="34" charset="-122"/>
                          <a:cs typeface="Segoe UI" pitchFamily="34" charset="-120"/>
                        </a:rPr>
                        <a:t>retire</a:t>
                      </a:r>
                      <a:pPr indent="0" marL="0">
                        <a:buNone/>
                      </a:pPr>
                      <a:r>
                        <a:rPr lang="en-US" sz="1100" dirty="0">
                          <a:solidFill>
                            <a:srgbClr val="1B2A3A"/>
                          </a:solidFill>
                          <a:latin typeface="Segoe UI" pitchFamily="34" charset="0"/>
                          <a:ea typeface="Segoe UI" pitchFamily="34" charset="-122"/>
                          <a:cs typeface="Segoe UI" pitchFamily="34" charset="-120"/>
                        </a:rPr>
                        <a:t> le marché, avant sa signature.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L’original signé de l’acte d’engagement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RG-ATT-34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En remise électronique, le dépôt scellé de l’offre depuis le compte du candidat vaut signature de l’offre et de l’acte d’engagement ; l’attributaire remet ensuite l’</a:t>
                      </a:r>
                      <a:pPr indent="0" marL="0">
                        <a:buNone/>
                      </a:pPr>
                      <a:r>
                        <a:rPr lang="en-US" sz="1100" b="1" dirty="0">
                          <a:solidFill>
                            <a:srgbClr val="1B2A3A"/>
                          </a:solidFill>
                          <a:latin typeface="Segoe UI" pitchFamily="34" charset="0"/>
                          <a:ea typeface="Segoe UI" pitchFamily="34" charset="-122"/>
                          <a:cs typeface="Segoe UI" pitchFamily="34" charset="-120"/>
                        </a:rPr>
                        <a:t>original signé</a:t>
                      </a:r>
                      <a:pPr indent="0" marL="0">
                        <a:buNone/>
                      </a:pPr>
                      <a:r>
                        <a:rPr lang="en-US" sz="1100" dirty="0">
                          <a:solidFill>
                            <a:srgbClr val="1B2A3A"/>
                          </a:solidFill>
                          <a:latin typeface="Segoe UI" pitchFamily="34" charset="0"/>
                          <a:ea typeface="Segoe UI" pitchFamily="34" charset="-122"/>
                          <a:cs typeface="Segoe UI" pitchFamily="34" charset="-120"/>
                        </a:rPr>
                        <a:t> de son acte d’engagement. Il en dépose le scan, sans l’échéance des quinze jours, ou la PRMP qui l’a reçu l’enregistre ; la PRMP le reconnaît conforme, et le marché ne se signe pas avant. Le projet de marché cite l’original et sa date de remise. Une procédure papier n’est pas concernée.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132</a:t>
            </a:r>
            <a:endParaRPr lang="en-US" sz="11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(33/35)</a:t>
            </a:r>
            <a:endParaRPr lang="en-US" sz="2600" dirty="0"/>
          </a:p>
        </p:txBody>
      </p:sp>
      <p:graphicFrame>
        <p:nvGraphicFramePr>
          <p:cNvPr id="13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mise au point sans changement substantiel</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mise au point avec l’attributaire fait l’objet d’un rapport. Elle ne peut changer les caractéristiques substantielles du marché, ce que l’application ne contrôle pas.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conditions de la signature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marché n’est signé qu’après le délai d’attente, sans recours suspensif en cours ni demande de sans suite en attente d’avis, une fois les deux pièces de l’attributaire reconnues conformes et, en remise électronique, l’original signé de l’acte d’engagement reconnu conforme. La PRMP dépose le marché signé.</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Approuver et enregistrer avant de notifier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marché est </a:t>
                      </a:r>
                      <a:pPr indent="0" marL="0">
                        <a:buNone/>
                      </a:pPr>
                      <a:r>
                        <a:rPr lang="en-US" sz="1100" b="1" dirty="0">
                          <a:solidFill>
                            <a:srgbClr val="1B2A3A"/>
                          </a:solidFill>
                          <a:latin typeface="Segoe UI" pitchFamily="34" charset="0"/>
                          <a:ea typeface="Segoe UI" pitchFamily="34" charset="-122"/>
                          <a:cs typeface="Segoe UI" pitchFamily="34" charset="-120"/>
                        </a:rPr>
                        <a:t>enregistré</a:t>
                      </a:r>
                      <a:pPr indent="0" marL="0">
                        <a:buNone/>
                      </a:pPr>
                      <a:r>
                        <a:rPr lang="en-US" sz="1100" dirty="0">
                          <a:solidFill>
                            <a:srgbClr val="1B2A3A"/>
                          </a:solidFill>
                          <a:latin typeface="Segoe UI" pitchFamily="34" charset="0"/>
                          <a:ea typeface="Segoe UI" pitchFamily="34" charset="-122"/>
                          <a:cs typeface="Segoe UI" pitchFamily="34" charset="-120"/>
                        </a:rPr>
                        <a:t> — une date et le justificatif — et </a:t>
                      </a:r>
                      <a:pPr indent="0" marL="0">
                        <a:buNone/>
                      </a:pPr>
                      <a:r>
                        <a:rPr lang="en-US" sz="1100" b="1" dirty="0">
                          <a:solidFill>
                            <a:srgbClr val="1B2A3A"/>
                          </a:solidFill>
                          <a:latin typeface="Segoe UI" pitchFamily="34" charset="0"/>
                          <a:ea typeface="Segoe UI" pitchFamily="34" charset="-122"/>
                          <a:cs typeface="Segoe UI" pitchFamily="34" charset="-120"/>
                        </a:rPr>
                        <a:t>approuvé</a:t>
                      </a:r>
                      <a:pPr indent="0" marL="0">
                        <a:buNone/>
                      </a:pPr>
                      <a:r>
                        <a:rPr lang="en-US" sz="1100" dirty="0">
                          <a:solidFill>
                            <a:srgbClr val="1B2A3A"/>
                          </a:solidFill>
                          <a:latin typeface="Segoe UI" pitchFamily="34" charset="0"/>
                          <a:ea typeface="Segoe UI" pitchFamily="34" charset="-122"/>
                          <a:cs typeface="Segoe UI" pitchFamily="34" charset="-120"/>
                        </a:rPr>
                        <a:t> (RG-ATT-33) avant d’être notifié : la notification ne s’ouvre qu’une fois les deux faits, et sa date ne précède ni l’un ni l’autre (art. 54). L’écran dit ce qui manque encore.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L’approbation du marché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RG-ATT-33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Après la signature, la PRMP déclare l’</a:t>
                      </a:r>
                      <a:pPr indent="0" marL="0">
                        <a:buNone/>
                      </a:pPr>
                      <a:r>
                        <a:rPr lang="en-US" sz="1100" b="1" dirty="0">
                          <a:solidFill>
                            <a:srgbClr val="1B2A3A"/>
                          </a:solidFill>
                          <a:latin typeface="Segoe UI" pitchFamily="34" charset="0"/>
                          <a:ea typeface="Segoe UI" pitchFamily="34" charset="-122"/>
                          <a:cs typeface="Segoe UI" pitchFamily="34" charset="-120"/>
                        </a:rPr>
                        <a:t>approbation</a:t>
                      </a:r>
                      <a:pPr indent="0" marL="0">
                        <a:buNone/>
                      </a:pPr>
                      <a:r>
                        <a:rPr lang="en-US" sz="1100" dirty="0">
                          <a:solidFill>
                            <a:srgbClr val="1B2A3A"/>
                          </a:solidFill>
                          <a:latin typeface="Segoe UI" pitchFamily="34" charset="0"/>
                          <a:ea typeface="Segoe UI" pitchFamily="34" charset="-122"/>
                          <a:cs typeface="Segoe UI" pitchFamily="34" charset="-120"/>
                        </a:rPr>
                        <a:t> du marché par l’autorité compétente (art. 54) : l’autorité, la date — comprise entre la signature et le jour même — et la décision jointe. L’approbation ne se déclare qu’une fois ; elle se lit ensuite « Approuvé le … » avec sa pièce. Sans elle, pas de notification.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Reprendre l’évaluation, réattribuer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RG-ATT-30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Après un avis défavorable, la PRMP peut reprendre l’évaluation (motif) : le rapport signé est archivé, l’évaluation rouverte, un nouveau rapport et un nouveau dossier suivront. La reprise est refusée quand un autre lot est déjà attribué, ou que le dossier de marché d’un autre lot est soumis. Après le retrait du marché, la PRMP réattribue au candidat suivant (offre encore valide, nouvelle post-qualification, nouvelle information, nouveau délai) ; sans suivant éligible, seul le sans suite reste.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133</a:t>
            </a:r>
            <a:endParaRPr lang="en-US" sz="11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(34/35)</a:t>
            </a:r>
            <a:endParaRPr lang="en-US" sz="2600" dirty="0"/>
          </a:p>
        </p:txBody>
      </p:sp>
      <p:graphicFrame>
        <p:nvGraphicFramePr>
          <p:cNvPr id="13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déclaration sans suite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RG-ATT-31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Avant la signature d’un marché, la PRMP demande, motifs à l’appui : un dossier « Déclaration sans suite » suit le circuit et la Commission rend un avis favorable ou défavorable sous cinq jours de la réception. Sans avis à l’échéance, une </a:t>
                      </a:r>
                      <a:pPr indent="0" marL="0">
                        <a:buNone/>
                      </a:pPr>
                      <a:r>
                        <a:rPr lang="en-US" sz="1100" b="1" dirty="0">
                          <a:solidFill>
                            <a:srgbClr val="1B2A3A"/>
                          </a:solidFill>
                          <a:latin typeface="Segoe UI" pitchFamily="34" charset="0"/>
                          <a:ea typeface="Segoe UI" pitchFamily="34" charset="-122"/>
                          <a:cs typeface="Segoe UI" pitchFamily="34" charset="-120"/>
                        </a:rPr>
                        <a:t>relance</a:t>
                      </a:r>
                      <a:pPr indent="0" marL="0">
                        <a:buNone/>
                      </a:pPr>
                      <a:r>
                        <a:rPr lang="en-US" sz="1100" dirty="0">
                          <a:solidFill>
                            <a:srgbClr val="1B2A3A"/>
                          </a:solidFill>
                          <a:latin typeface="Segoe UI" pitchFamily="34" charset="0"/>
                          <a:ea typeface="Segoe UI" pitchFamily="34" charset="-122"/>
                          <a:cs typeface="Segoe UI" pitchFamily="34" charset="-120"/>
                        </a:rPr>
                        <a:t> part une fois à la PRMP, au membre examinateur et aux Présidents de la localité ; la signature reste suspendue jusqu’à l’avis exprès. Favorable, la PRMP déclare : procédure close, candidats informés, sans indemnité (art. 55).</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acte se dépose depuis le marché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Avenant, résiliation, indemnité, remise de pénalités, sursis : déposés depuis un dossier de marché dont le dernier PV signé est favorable ; jamais par la saisie libre. L’acte naît en brouillon au nom de la PRMP, puis suit le circuit (pièces de son sous-type, grille, motifs-types).</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garde-fous de l’avenant</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RG-ATT-28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cumul des avenants déjà soumis (hors avis défavorable) et du nouveau ne dépasse pas le </a:t>
                      </a:r>
                      <a:pPr indent="0" marL="0">
                        <a:buNone/>
                      </a:pPr>
                      <a:r>
                        <a:rPr lang="en-US" sz="1100" b="1" dirty="0">
                          <a:solidFill>
                            <a:srgbClr val="1B2A3A"/>
                          </a:solidFill>
                          <a:latin typeface="Segoe UI" pitchFamily="34" charset="0"/>
                          <a:ea typeface="Segoe UI" pitchFamily="34" charset="-122"/>
                          <a:cs typeface="Segoe UI" pitchFamily="34" charset="-120"/>
                        </a:rPr>
                        <a:t>tiers</a:t>
                      </a:r>
                      <a:pPr indent="0" marL="0">
                        <a:buNone/>
                      </a:pPr>
                      <a:r>
                        <a:rPr lang="en-US" sz="1100" dirty="0">
                          <a:solidFill>
                            <a:srgbClr val="1B2A3A"/>
                          </a:solidFill>
                          <a:latin typeface="Segoe UI" pitchFamily="34" charset="0"/>
                          <a:ea typeface="Segoe UI" pitchFamily="34" charset="-122"/>
                          <a:cs typeface="Segoe UI" pitchFamily="34" charset="-120"/>
                        </a:rPr>
                        <a:t> du montant initial hors taxes ; pas d’avenant après la réception (définitive en travaux, provisoire ou définitive ailleurs) ni après le solde. Contrôlé au dépôt, à la modification et de nouveau à la soumission.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Fin prévue dès la soumission</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RG-PIL-01</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voit, pour chaque dossier, la date de dépôt et la </a:t>
                      </a:r>
                      <a:pPr indent="0" marL="0">
                        <a:buNone/>
                      </a:pPr>
                      <a:r>
                        <a:rPr lang="en-US" sz="1100" b="1" dirty="0">
                          <a:solidFill>
                            <a:srgbClr val="1B2A3A"/>
                          </a:solidFill>
                          <a:latin typeface="Segoe UI" pitchFamily="34" charset="0"/>
                          <a:ea typeface="Segoe UI" pitchFamily="34" charset="-122"/>
                          <a:cs typeface="Segoe UI" pitchFamily="34" charset="-120"/>
                        </a:rPr>
                        <a:t>fin de traitement prévue</a:t>
                      </a:r>
                      <a:pPr indent="0" marL="0">
                        <a:buNone/>
                      </a:pPr>
                      <a:r>
                        <a:rPr lang="en-US" sz="1100" dirty="0">
                          <a:solidFill>
                            <a:srgbClr val="1B2A3A"/>
                          </a:solidFill>
                          <a:latin typeface="Segoe UI" pitchFamily="34" charset="0"/>
                          <a:ea typeface="Segoe UI" pitchFamily="34" charset="-122"/>
                          <a:cs typeface="Segoe UI" pitchFamily="34" charset="-120"/>
                        </a:rPr>
                        <a:t>, calculée par l’application dès la soumission à partir des délais standards de la Commission (et, s’il en a, de ceux de son sous-type).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date glisse, sans promesse</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RG-PIL-02</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le dossier attend la PRMP (compléments, pièces, décision), la date reste calculée mais </a:t>
                      </a:r>
                      <a:pPr indent="0" marL="0">
                        <a:buNone/>
                      </a:pPr>
                      <a:r>
                        <a:rPr lang="en-US" sz="1100" b="1" dirty="0">
                          <a:solidFill>
                            <a:srgbClr val="1B2A3A"/>
                          </a:solidFill>
                          <a:latin typeface="Segoe UI" pitchFamily="34" charset="0"/>
                          <a:ea typeface="Segoe UI" pitchFamily="34" charset="-122"/>
                          <a:cs typeface="Segoe UI" pitchFamily="34" charset="-120"/>
                        </a:rPr>
                        <a:t>glisse</a:t>
                      </a:r>
                      <a:pPr indent="0" marL="0">
                        <a:buNone/>
                      </a:pPr>
                      <a:r>
                        <a:rPr lang="en-US" sz="1100" dirty="0">
                          <a:solidFill>
                            <a:srgbClr val="1B2A3A"/>
                          </a:solidFill>
                          <a:latin typeface="Segoe UI" pitchFamily="34" charset="0"/>
                          <a:ea typeface="Segoe UI" pitchFamily="34" charset="-122"/>
                          <a:cs typeface="Segoe UI" pitchFamily="34" charset="-120"/>
                        </a:rPr>
                        <a:t> jusqu’à sa réponse. Une étape en dépassement ne compte plus : la date recule au lieu de promettre un rattrapage.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134</a:t>
            </a:r>
            <a:endParaRPr lang="en-US" sz="11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FONCTIONNALITÉS · LA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à connaître (35/35)</a:t>
            </a:r>
            <a:endParaRPr lang="en-US" sz="2600" dirty="0"/>
          </a:p>
        </p:txBody>
      </p:sp>
      <p:graphicFrame>
        <p:nvGraphicFramePr>
          <p:cNvPr id="13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3108960"/>
                <a:gridCol w="8321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Rien d’interne pour la PRMP</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RG-PIL-03</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suit l’avancement de ses dossiers, mais ne voit ni les acteurs internes de la Commission ni la grille point par point : du procès-verbal, elle reçoit la </a:t>
                      </a:r>
                      <a:pPr indent="0" marL="0">
                        <a:buNone/>
                      </a:pPr>
                      <a:r>
                        <a:rPr lang="en-US" sz="1100" b="1" dirty="0">
                          <a:solidFill>
                            <a:srgbClr val="1B2A3A"/>
                          </a:solidFill>
                          <a:latin typeface="Segoe UI" pitchFamily="34" charset="0"/>
                          <a:ea typeface="Segoe UI" pitchFamily="34" charset="-122"/>
                          <a:cs typeface="Segoe UI" pitchFamily="34" charset="-120"/>
                        </a:rPr>
                        <a:t>synthèse</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Chargé de publication cloisonné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RG-PIL-07</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Chargé de publication gère le portail de transparence sans accès au circuit interne, au journal d’audit ni aux statistiques de la CNM. Il est </a:t>
                      </a:r>
                      <a:pPr indent="0" marL="0">
                        <a:buNone/>
                      </a:pPr>
                      <a:r>
                        <a:rPr lang="en-US" sz="1100" b="1" dirty="0">
                          <a:solidFill>
                            <a:srgbClr val="1B2A3A"/>
                          </a:solidFill>
                          <a:latin typeface="Segoe UI" pitchFamily="34" charset="0"/>
                          <a:ea typeface="Segoe UI" pitchFamily="34" charset="-122"/>
                          <a:cs typeface="Segoe UI" pitchFamily="34" charset="-120"/>
                        </a:rPr>
                        <a:t>avisé</a:t>
                      </a:r>
                      <a:pPr indent="0" marL="0">
                        <a:buNone/>
                      </a:pPr>
                      <a:r>
                        <a:rPr lang="en-US" sz="1100" dirty="0">
                          <a:solidFill>
                            <a:srgbClr val="1B2A3A"/>
                          </a:solidFill>
                          <a:latin typeface="Segoe UI" pitchFamily="34" charset="0"/>
                          <a:ea typeface="Segoe UI" pitchFamily="34" charset="-122"/>
                          <a:cs typeface="Segoe UI" pitchFamily="34" charset="-120"/>
                        </a:rPr>
                        <a:t> à chaque clôture conforme éligible à publication.</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Publier, puis retirer</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RG-PIL-08</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publication naît </a:t>
                      </a:r>
                      <a:pPr indent="0" marL="0">
                        <a:buNone/>
                      </a:pPr>
                      <a:r>
                        <a:rPr lang="en-US" sz="1100" b="1" dirty="0">
                          <a:solidFill>
                            <a:srgbClr val="1B2A3A"/>
                          </a:solidFill>
                          <a:latin typeface="Segoe UI" pitchFamily="34" charset="0"/>
                          <a:ea typeface="Segoe UI" pitchFamily="34" charset="-122"/>
                          <a:cs typeface="Segoe UI" pitchFamily="34" charset="-120"/>
                        </a:rPr>
                        <a:t>en attente</a:t>
                      </a:r>
                      <a:pPr indent="0" marL="0">
                        <a:buNone/>
                      </a:pPr>
                      <a:r>
                        <a:rPr lang="en-US" sz="1100" dirty="0">
                          <a:solidFill>
                            <a:srgbClr val="1B2A3A"/>
                          </a:solidFill>
                          <a:latin typeface="Segoe UI" pitchFamily="34" charset="0"/>
                          <a:ea typeface="Segoe UI" pitchFamily="34" charset="-122"/>
                          <a:cs typeface="Segoe UI" pitchFamily="34" charset="-120"/>
                        </a:rPr>
                        <a:t> ; seule une publication en attente se publie, seule une publication publiée se retire. Chaque consultation incrémente son compteur.</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toujours motivé</a:t>
                      </a:r>
                      <a:endParaRPr lang="en-US" sz="1100" dirty="0">
                        <a:latin typeface="Segoe UI" charset="0"/>
                        <a:ea typeface="Segoe UI" charset="0"/>
                        <a:cs typeface="Segoe UI" charset="0"/>
                      </a:endParaRPr>
                    </a:p>
                    <a:p>
                      <a:pPr indent="0" marL="0">
                        <a:buNone/>
                      </a:pPr>
                      <a:r>
                        <a:rPr lang="en-US" sz="1100" b="1" dirty="0">
                          <a:solidFill>
                            <a:srgbClr val="1B2A3A"/>
                          </a:solidFill>
                          <a:latin typeface="Segoe UI" pitchFamily="34" charset="0"/>
                          <a:ea typeface="Segoe UI" pitchFamily="34" charset="-122"/>
                          <a:cs typeface="Segoe UI" pitchFamily="34" charset="-120"/>
                        </a:rPr>
                        <a:t>RG-PIL-09</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Retirer une publication exige un </a:t>
                      </a:r>
                      <a:pPr indent="0" marL="0">
                        <a:buNone/>
                      </a:pPr>
                      <a:r>
                        <a:rPr lang="en-US" sz="1100" b="1" dirty="0">
                          <a:solidFill>
                            <a:srgbClr val="1B2A3A"/>
                          </a:solidFill>
                          <a:latin typeface="Segoe UI" pitchFamily="34" charset="0"/>
                          <a:ea typeface="Segoe UI" pitchFamily="34" charset="-122"/>
                          <a:cs typeface="Segoe UI" pitchFamily="34" charset="-120"/>
                        </a:rPr>
                        <a:t>motif</a:t>
                      </a:r>
                      <a:pPr indent="0" marL="0">
                        <a:buNone/>
                      </a:pPr>
                      <a:r>
                        <a:rPr lang="en-US" sz="1100" dirty="0">
                          <a:solidFill>
                            <a:srgbClr val="1B2A3A"/>
                          </a:solidFill>
                          <a:latin typeface="Segoe UI" pitchFamily="34" charset="0"/>
                          <a:ea typeface="Segoe UI" pitchFamily="34" charset="-122"/>
                          <a:cs typeface="Segoe UI" pitchFamily="34" charset="-120"/>
                        </a:rPr>
                        <a:t>, conservé avec la date du retrait : la dépublication reste documentée.</a:t>
                      </a:r>
                      <a:endParaRPr lang="en-US" sz="12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Les fonctionnalités · La PRMP · 135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135</Slides>
  <Notes>135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135</vt:i4>
      </vt:variant>
    </vt:vector>
  </HeadingPairs>
  <TitlesOfParts>
    <vt:vector size="1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Les fonctionnalités · La PRMP</dc:title>
  <dc:subject>PptxGenJS Presentation</dc:subject>
  <dc:creator>PRS 2.0</dc:creator>
  <cp:lastModifiedBy>PRS 2.0</cp:lastModifiedBy>
  <cp:revision>1</cp:revision>
  <dcterms:created xsi:type="dcterms:W3CDTF">2026-10-14T12:36:44Z</dcterms:created>
  <dcterms:modified xsi:type="dcterms:W3CDTF">2026-10-14T12:36:44Z</dcterms:modified>
</cp:coreProperties>
</file>