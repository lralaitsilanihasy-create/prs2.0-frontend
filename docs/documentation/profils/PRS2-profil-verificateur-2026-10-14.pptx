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le Vérificateur</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Vérifient la levée des observations, transmettent la décision ; l’Assistant archive.</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13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le Vérificateur agit ou lit, rangés par étape de la chaîne ; chacun est présenté ensuite.</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portail public : la Commission · La connexion · Changer son mot de passe · Une actualité à l’ouverture · L’accueil « À faire » du Vérificateur · L’écran des notifications · La cloche</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03 · Contrôler</a:t>
            </a:r>
            <a:endParaRPr lang="en-US" sz="1500" dirty="0"/>
          </a:p>
        </p:txBody>
      </p:sp>
      <p:sp>
        <p:nvSpPr>
          <p:cNvPr id="12" name="Text 10"/>
          <p:cNvSpPr/>
          <p:nvPr/>
        </p:nvSpPr>
        <p:spPr>
          <a:xfrm>
            <a:off x="4525320"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dossiers à vérifier · Transmettre la décision à SIGMP · Les dossiers vérifiés et clôturés · Les écrans figés à la soumission</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16" name="Text 14"/>
          <p:cNvSpPr/>
          <p:nvPr/>
        </p:nvSpPr>
        <p:spPr>
          <a:xfrm>
            <a:off x="8098164"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L’étape close</a:t>
            </a:r>
            <a:endParaRPr lang="en-US" sz="1200" dirty="0"/>
          </a:p>
        </p:txBody>
      </p:sp>
      <p:sp>
        <p:nvSpPr>
          <p:cNvPr id="17" name="Shape 15"/>
          <p:cNvSpPr/>
          <p:nvPr/>
        </p:nvSpPr>
        <p:spPr>
          <a:xfrm>
            <a:off x="812780" y="3962400"/>
            <a:ext cx="3420448" cy="2159000"/>
          </a:xfrm>
          <a:prstGeom prst="rect">
            <a:avLst/>
          </a:prstGeom>
          <a:solidFill>
            <a:srgbClr val="FCFCFA"/>
          </a:solidFill>
          <a:ln w="9525">
            <a:solidFill>
              <a:srgbClr val="D5DCE4"/>
            </a:solidFill>
            <a:prstDash val="solid"/>
          </a:ln>
        </p:spPr>
      </p:sp>
      <p:sp>
        <p:nvSpPr>
          <p:cNvPr id="18" name="Shape 16"/>
          <p:cNvSpPr/>
          <p:nvPr/>
        </p:nvSpPr>
        <p:spPr>
          <a:xfrm>
            <a:off x="812780" y="3962400"/>
            <a:ext cx="3420448" cy="38100"/>
          </a:xfrm>
          <a:prstGeom prst="rect">
            <a:avLst/>
          </a:prstGeom>
          <a:solidFill>
            <a:srgbClr val="12324A"/>
          </a:solidFill>
          <a:ln/>
        </p:spPr>
      </p:sp>
      <p:sp>
        <p:nvSpPr>
          <p:cNvPr id="19" name="Text 17"/>
          <p:cNvSpPr/>
          <p:nvPr/>
        </p:nvSpPr>
        <p:spPr>
          <a:xfrm>
            <a:off x="952476"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20" name="Text 18"/>
          <p:cNvSpPr/>
          <p:nvPr/>
        </p:nvSpPr>
        <p:spPr>
          <a:xfrm>
            <a:off x="952476"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résultat public de la procédure</a:t>
            </a:r>
            <a:endParaRPr lang="en-US" sz="1200" dirty="0"/>
          </a:p>
        </p:txBody>
      </p:sp>
      <p:sp>
        <p:nvSpPr>
          <p:cNvPr id="21" name="Text 19"/>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01</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Entrer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porte d’entrée au premier geste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avant connexion.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Votre travail du jour, sans rien chercher » : l’accueil « À faire » et la page guidée de chaque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circuit en trois temps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recevoir et dispatcher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examiner et viser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et clore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Dix profils, une page par dossier pour tous, et deux personnes distinctes pour signer chaque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connexion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nnex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Identifiant (ou adresse électronique) et mot de passe. La session est portée par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témoin sécurisé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conservé dans le navigateur qui permettrait de la dérober.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tentatives répétées sont freinées, et chacune est inscrite au journal des connexions.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Liens vers l’inscription d’une PRMP, l’inscription d’un candidat et le portail public.</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Changer son mot de passe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hanger son mot de pas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utilisateur connecté, depuis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mot de passe est exigé ; le nouveau compte au moins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8 caractères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une lettre et un chiffre, et se saisit deux fois.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 Annuler », par sa croix ou par Échap.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Mot de passe oublié : l’Administrateur le réinitialise.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actualité à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actualité à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ciblés par 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publie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actualités ciblées par profil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rappel de règles, consignes de dépôt, fermeture technique.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ce que la Commission attend d’un dossier de planification.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sa croix ou par Échap.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du Vérificateur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u Vérificateu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Contrôleur vérificateur.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PV signés à vérifier, avec leur avis et leur retard : dix sur treize sont ici en retard.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un avis favorable, le geste est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transmettre la décision à SIGMP</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sur réserves, de suivre leur levée.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frise du dossier nomme qui a franchi chaque étape et à quelle date.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L’écran des notifications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cran des notif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chacun pour ses seules notifications.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ce que le circuit a signalé,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 date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notification non lue reste en gras.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Filtres : toutes ou non lues, et par type d’événement ; « Tout marquer lu » en un geste.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pour la PRMP : rapport d’évaluation signé, dépôts clos, pièce de l’attributaire déposée.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cloche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lo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dans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dernières notifications et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compteur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quitter l’écran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compteur est tenu par le serveur et suivi en temps réel.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03</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Contrôler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circuit de contrôle d’un dossier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dossiers à vérifier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ossiers à vérif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Vérificateur.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dont le PV est signé, « à vérifier par vous » quand la chaîne de contrôle le désigne.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chacun : le PV définitif et le geste « Transmettre la décision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Transmettre la décision à SIGMP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Transmettre la décision à SIG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Vérificateur.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du dossier, son contexte, l’avis du PV et les observations du PV à portée de main.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sens à transmettre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se déduit de l’avis : ici « Favorable » donne « Approuvé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Après la transmission, le PV part de lui-même chez l’Assistant pour archivage.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dossiers vérifiés et clôturés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ossiers vérifiés et clôtur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Vérificateur.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L’historique de ses vérifications : « Décision transmise à SIGMP », puis « Clôturé » après l’archivage, avec la fin de traitement à la Commission.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écrans figés à la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écrans figés à la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de la Commission, en lecture seule ; 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chaque soumission, l’application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écrans de la procédure tels qu’ils étaient : ici la ligne du plan, les avis et lettres, la commission d’appel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écran figé porte le numéro de la soumission, sa date, son auteur et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atteste qu’il n’a pas changé.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les lit à la place des pièces qui ne sont plus jointes, et peut les exporter en PDF pour l’archivage avec le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le Vérificateur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28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(1/6)</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Président voit tout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n’est rattaché à aucune localité : il voit </a:t>
                      </a:r>
                      <a:pPr indent="0" marL="0">
                        <a:buNone/>
                      </a:pPr>
                      <a:r>
                        <a:rPr lang="en-US" sz="1100" b="1" dirty="0">
                          <a:solidFill>
                            <a:srgbClr val="1B2A3A"/>
                          </a:solidFill>
                          <a:latin typeface="Segoe UI" pitchFamily="34" charset="0"/>
                          <a:ea typeface="Segoe UI" pitchFamily="34" charset="-122"/>
                          <a:cs typeface="Segoe UI" pitchFamily="34" charset="-120"/>
                        </a:rPr>
                        <a:t>toutes les localités</a:t>
                      </a:r>
                      <a:pPr indent="0" marL="0">
                        <a:buNone/>
                      </a:pPr>
                      <a:r>
                        <a:rPr lang="en-US" sz="1100" dirty="0">
                          <a:solidFill>
                            <a:srgbClr val="1B2A3A"/>
                          </a:solidFill>
                          <a:latin typeface="Segoe UI" pitchFamily="34" charset="0"/>
                          <a:ea typeface="Segoe UI" pitchFamily="34" charset="-122"/>
                          <a:cs typeface="Segoe UI" pitchFamily="34" charset="-120"/>
                        </a:rPr>
                        <a:t> et peut exercer les tâches du Secrétaire, du Membre et du Vérificateur.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contrôleurs bornés à leur localité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Chef de commission voit </a:t>
                      </a:r>
                      <a:pPr indent="0" marL="0">
                        <a:buNone/>
                      </a:pPr>
                      <a:r>
                        <a:rPr lang="en-US" sz="1100" b="1" dirty="0">
                          <a:solidFill>
                            <a:srgbClr val="1B2A3A"/>
                          </a:solidFill>
                          <a:latin typeface="Segoe UI" pitchFamily="34" charset="0"/>
                          <a:ea typeface="Segoe UI" pitchFamily="34" charset="-122"/>
                          <a:cs typeface="Segoe UI" pitchFamily="34" charset="-120"/>
                        </a:rPr>
                        <a:t>uniquement sa localité</a:t>
                      </a:r>
                      <a:pPr indent="0" marL="0">
                        <a:buNone/>
                      </a:pPr>
                      <a:r>
                        <a:rPr lang="en-US" sz="1100" dirty="0">
                          <a:solidFill>
                            <a:srgbClr val="1B2A3A"/>
                          </a:solidFill>
                          <a:latin typeface="Segoe UI" pitchFamily="34" charset="0"/>
                          <a:ea typeface="Segoe UI" pitchFamily="34" charset="-122"/>
                          <a:cs typeface="Segoe UI" pitchFamily="34" charset="-120"/>
                        </a:rPr>
                        <a:t>, avec son Secrétaire et ses Membres ; il peut exercer leurs tâches et celles du Vérificateur. Secrétaire, Membre, Vérificateur et Assistant relèvent de la même localité.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entrée publique par public</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portail public a </a:t>
                      </a:r>
                      <a:pPr indent="0" marL="0">
                        <a:buNone/>
                      </a:pPr>
                      <a:r>
                        <a:rPr lang="en-US" sz="1100" b="1" dirty="0">
                          <a:solidFill>
                            <a:srgbClr val="1B2A3A"/>
                          </a:solidFill>
                          <a:latin typeface="Segoe UI" pitchFamily="34" charset="0"/>
                          <a:ea typeface="Segoe UI" pitchFamily="34" charset="-122"/>
                          <a:cs typeface="Segoe UI" pitchFamily="34" charset="-120"/>
                        </a:rPr>
                        <a:t>trois entrées</a:t>
                      </a:r>
                      <a:pPr indent="0" marL="0">
                        <a:buNone/>
                      </a:pPr>
                      <a:r>
                        <a:rPr lang="en-US" sz="1100" dirty="0">
                          <a:solidFill>
                            <a:srgbClr val="1B2A3A"/>
                          </a:solidFill>
                          <a:latin typeface="Segoe UI" pitchFamily="34" charset="0"/>
                          <a:ea typeface="Segoe UI" pitchFamily="34" charset="-122"/>
                          <a:cs typeface="Segoe UI" pitchFamily="34" charset="-120"/>
                        </a:rPr>
                        <a:t> : PRMP et UGPM, Commission, entreprises. Hors session, la racine du site y mène ; un utilisateur connecté qui y revient est renvoyé à son accueil. Les entreprises consultent les procédures ouvertes sans compte ; les membres de commission d’appel d’offres n’ont pas d’entrée publique et arrivent par leur invitation.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session portée par le serveur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connexion ouvre une session portée par un </a:t>
                      </a:r>
                      <a:pPr indent="0" marL="0">
                        <a:buNone/>
                      </a:pPr>
                      <a:r>
                        <a:rPr lang="en-US" sz="1100" b="1" dirty="0">
                          <a:solidFill>
                            <a:srgbClr val="1B2A3A"/>
                          </a:solidFill>
                          <a:latin typeface="Segoe UI" pitchFamily="34" charset="0"/>
                          <a:ea typeface="Segoe UI" pitchFamily="34" charset="-122"/>
                          <a:cs typeface="Segoe UI" pitchFamily="34" charset="-120"/>
                        </a:rPr>
                        <a:t>témoin protégé</a:t>
                      </a:r>
                      <a:pPr indent="0" marL="0">
                        <a:buNone/>
                      </a:pPr>
                      <a:r>
                        <a:rPr lang="en-US" sz="1100" dirty="0">
                          <a:solidFill>
                            <a:srgbClr val="1B2A3A"/>
                          </a:solidFill>
                          <a:latin typeface="Segoe UI" pitchFamily="34" charset="0"/>
                          <a:ea typeface="Segoe UI" pitchFamily="34" charset="-122"/>
                          <a:cs typeface="Segoe UI" pitchFamily="34" charset="-120"/>
                        </a:rPr>
                        <a:t>, que les scripts de la page ne peuvent pas lire et qui n’est jamais envoyé à un autre site. Aucun jeton n’est remis à l’écran ; la déconnexion est demandée au serveur, qui efface la session.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Tentatives de connexion limitées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Cinq échecs en quinze minutes verrouillent l’identifiant depuis un même poste ; vingt échecs bloquent le poste. Une connexion réussie remet à zéro le compteur de l’identifiant. Les inscriptions publiques sont limitées à </a:t>
                      </a:r>
                      <a:pPr indent="0" marL="0">
                        <a:buNone/>
                      </a:pPr>
                      <a:r>
                        <a:rPr lang="en-US" sz="1100" b="1" dirty="0">
                          <a:solidFill>
                            <a:srgbClr val="1B2A3A"/>
                          </a:solidFill>
                          <a:latin typeface="Segoe UI" pitchFamily="34" charset="0"/>
                          <a:ea typeface="Segoe UI" pitchFamily="34" charset="-122"/>
                          <a:cs typeface="Segoe UI" pitchFamily="34" charset="-120"/>
                        </a:rPr>
                        <a:t>dix par heure</a:t>
                      </a:r>
                      <a:pPr indent="0" marL="0">
                        <a:buNone/>
                      </a:pPr>
                      <a:r>
                        <a:rPr lang="en-US" sz="1100" dirty="0">
                          <a:solidFill>
                            <a:srgbClr val="1B2A3A"/>
                          </a:solidFill>
                          <a:latin typeface="Segoe UI" pitchFamily="34" charset="0"/>
                          <a:ea typeface="Segoe UI" pitchFamily="34" charset="-122"/>
                          <a:cs typeface="Segoe UI" pitchFamily="34" charset="-120"/>
                        </a:rPr>
                        <a:t> et par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(2/6)</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mot de passe robuste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nouveau mot de passe compte </a:t>
                      </a:r>
                      <a:pPr indent="0" marL="0">
                        <a:buNone/>
                      </a:pPr>
                      <a:r>
                        <a:rPr lang="en-US" sz="1100" b="1" dirty="0">
                          <a:solidFill>
                            <a:srgbClr val="1B2A3A"/>
                          </a:solidFill>
                          <a:latin typeface="Segoe UI" pitchFamily="34" charset="0"/>
                          <a:ea typeface="Segoe UI" pitchFamily="34" charset="-122"/>
                          <a:cs typeface="Segoe UI" pitchFamily="34" charset="-120"/>
                        </a:rPr>
                        <a:t>8 à 72 caractères</a:t>
                      </a:r>
                      <a:pPr indent="0" marL="0">
                        <a:buNone/>
                      </a:pPr>
                      <a:r>
                        <a:rPr lang="en-US" sz="1100" dirty="0">
                          <a:solidFill>
                            <a:srgbClr val="1B2A3A"/>
                          </a:solidFill>
                          <a:latin typeface="Segoe UI" pitchFamily="34" charset="0"/>
                          <a:ea typeface="Segoe UI" pitchFamily="34" charset="-122"/>
                          <a:cs typeface="Segoe UI" pitchFamily="34" charset="-120"/>
                        </a:rPr>
                        <a:t>, dont au moins une lettre et un chiffre : à l’inscription, à la création d’un compte, à la réinitialisation et au changement. La règle ne s’applique jamais à la connexion : un ancien mot de passe reste valable jusqu’à son prochain changement.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tentative est journalisée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tentative de connexion, réussie ou refusée, est consignée avec l’identifiant tenté ; la déconnexion date la fin de la session. L’Administrateur consulte ce </a:t>
                      </a:r>
                      <a:pPr indent="0" marL="0">
                        <a:buNone/>
                      </a:pPr>
                      <a:r>
                        <a:rPr lang="en-US" sz="1100" b="1" dirty="0">
                          <a:solidFill>
                            <a:srgbClr val="1B2A3A"/>
                          </a:solidFill>
                          <a:latin typeface="Segoe UI" pitchFamily="34" charset="0"/>
                          <a:ea typeface="Segoe UI" pitchFamily="34" charset="-122"/>
                          <a:cs typeface="Segoe UI" pitchFamily="34" charset="-120"/>
                        </a:rPr>
                        <a:t>journal des connexions</a:t>
                      </a:r>
                      <a:pPr indent="0" marL="0">
                        <a:buNone/>
                      </a:pPr>
                      <a:r>
                        <a:rPr lang="en-US" sz="1100" dirty="0">
                          <a:solidFill>
                            <a:srgbClr val="1B2A3A"/>
                          </a:solidFill>
                          <a:latin typeface="Segoe UI" pitchFamily="34" charset="0"/>
                          <a:ea typeface="Segoe UI" pitchFamily="34" charset="-122"/>
                          <a:cs typeface="Segoe UI" pitchFamily="34" charset="-120"/>
                        </a:rPr>
                        <a:t>. Une panne du journal ne bloque jamais la connexion.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Changer ou retrouver son mot de passe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Chacun change son mot de passe depuis la barre du haut : l’</a:t>
                      </a:r>
                      <a:pPr indent="0" marL="0">
                        <a:buNone/>
                      </a:pPr>
                      <a:r>
                        <a:rPr lang="en-US" sz="1100" b="1" dirty="0">
                          <a:solidFill>
                            <a:srgbClr val="1B2A3A"/>
                          </a:solidFill>
                          <a:latin typeface="Segoe UI" pitchFamily="34" charset="0"/>
                          <a:ea typeface="Segoe UI" pitchFamily="34" charset="-122"/>
                          <a:cs typeface="Segoe UI" pitchFamily="34" charset="-120"/>
                        </a:rPr>
                        <a:t>ancien mot de passe</a:t>
                      </a:r>
                      <a:pPr indent="0" marL="0">
                        <a:buNone/>
                      </a:pPr>
                      <a:r>
                        <a:rPr lang="en-US" sz="1100" dirty="0">
                          <a:solidFill>
                            <a:srgbClr val="1B2A3A"/>
                          </a:solidFill>
                          <a:latin typeface="Segoe UI" pitchFamily="34" charset="0"/>
                          <a:ea typeface="Segoe UI" pitchFamily="34" charset="-122"/>
                          <a:cs typeface="Segoe UI" pitchFamily="34" charset="-120"/>
                        </a:rPr>
                        <a:t> est vérifié par le serveur, et le nouveau doit en différer. Un mot de passe oublié ne se réinitialise pas en libre-service : l’utilisateur s’adresse à l’Administrateur, qui le réinitialise.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actualité à l’ouverture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ouverture de session, une fenêtre présente les actualités </a:t>
                      </a:r>
                      <a:pPr indent="0" marL="0">
                        <a:buNone/>
                      </a:pPr>
                      <a:r>
                        <a:rPr lang="en-US" sz="1100" b="1" dirty="0">
                          <a:solidFill>
                            <a:srgbClr val="1B2A3A"/>
                          </a:solidFill>
                          <a:latin typeface="Segoe UI" pitchFamily="34" charset="0"/>
                          <a:ea typeface="Segoe UI" pitchFamily="34" charset="-122"/>
                          <a:cs typeface="Segoe UI" pitchFamily="34" charset="-120"/>
                        </a:rPr>
                        <a:t>ciblées sur le profil</a:t>
                      </a:r>
                      <a:pPr indent="0" marL="0">
                        <a:buNone/>
                      </a:pPr>
                      <a:r>
                        <a:rPr lang="en-US" sz="1100" dirty="0">
                          <a:solidFill>
                            <a:srgbClr val="1B2A3A"/>
                          </a:solidFill>
                          <a:latin typeface="Segoe UI" pitchFamily="34" charset="0"/>
                          <a:ea typeface="Segoe UI" pitchFamily="34" charset="-122"/>
                          <a:cs typeface="Segoe UI" pitchFamily="34" charset="-120"/>
                        </a:rPr>
                        <a:t>, actives et dans leur période de publication. L’Administrateur les rédige sans intervention technique : texte sans balise HTML, images JPEG de 10 Mo au plus ; une actualité expirée s’archive d’elle-même.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rattachement cible, sans verrouiller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peut désigner son Vérificateur, et chaque Vérificateur son Assistant. Ce lien décide </a:t>
                      </a:r>
                      <a:pPr indent="0" marL="0">
                        <a:buNone/>
                      </a:pPr>
                      <a:r>
                        <a:rPr lang="en-US" sz="1100" b="1" dirty="0">
                          <a:solidFill>
                            <a:srgbClr val="1B2A3A"/>
                          </a:solidFill>
                          <a:latin typeface="Segoe UI" pitchFamily="34" charset="0"/>
                          <a:ea typeface="Segoe UI" pitchFamily="34" charset="-122"/>
                          <a:cs typeface="Segoe UI" pitchFamily="34" charset="-120"/>
                        </a:rPr>
                        <a:t>qui est notifié</a:t>
                      </a:r>
                      <a:pPr indent="0" marL="0">
                        <a:buNone/>
                      </a:pPr>
                      <a:r>
                        <a:rPr lang="en-US" sz="1100" dirty="0">
                          <a:solidFill>
                            <a:srgbClr val="1B2A3A"/>
                          </a:solidFill>
                          <a:latin typeface="Segoe UI" pitchFamily="34" charset="0"/>
                          <a:ea typeface="Segoe UI" pitchFamily="34" charset="-122"/>
                          <a:cs typeface="Segoe UI" pitchFamily="34" charset="-120"/>
                        </a:rPr>
                        <a:t> et quel dossier paraît « le mien », jamais qui peut agir. Sans rattachement, tous les porteurs du rôle dans la localité sont avisés.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(3/6)</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gestes qui vous attendent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profil du circuit arrive sur « À faire » : les gestes qui l’attendent, regroupés par section, </a:t>
                      </a:r>
                      <a:pPr indent="0" marL="0">
                        <a:buNone/>
                      </a:pPr>
                      <a:r>
                        <a:rPr lang="en-US" sz="1100" b="1" dirty="0">
                          <a:solidFill>
                            <a:srgbClr val="1B2A3A"/>
                          </a:solidFill>
                          <a:latin typeface="Segoe UI" pitchFamily="34" charset="0"/>
                          <a:ea typeface="Segoe UI" pitchFamily="34" charset="-122"/>
                          <a:cs typeface="Segoe UI" pitchFamily="34" charset="-120"/>
                        </a:rPr>
                        <a:t>triés par urgence</a:t>
                      </a:r>
                      <a:pPr indent="0" marL="0">
                        <a:buNone/>
                      </a:pPr>
                      <a:r>
                        <a:rPr lang="en-US" sz="1100" dirty="0">
                          <a:solidFill>
                            <a:srgbClr val="1B2A3A"/>
                          </a:solidFill>
                          <a:latin typeface="Segoe UI" pitchFamily="34" charset="0"/>
                          <a:ea typeface="Segoe UI" pitchFamily="34" charset="-122"/>
                          <a:cs typeface="Segoe UI" pitchFamily="34" charset="-120"/>
                        </a:rPr>
                        <a:t>, un geste principal par ligne avec son délai en heures ouvrées. L’Administrateur et le Chargé de publication gardent leur propre accueil.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geste proposé est permis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Aucune règle du circuit n’est réécrite pour l’accueil : un geste n’est proposé que si le serveur </a:t>
                      </a:r>
                      <a:pPr indent="0" marL="0">
                        <a:buNone/>
                      </a:pPr>
                      <a:r>
                        <a:rPr lang="en-US" sz="1100" b="1" dirty="0">
                          <a:solidFill>
                            <a:srgbClr val="1B2A3A"/>
                          </a:solidFill>
                          <a:latin typeface="Segoe UI" pitchFamily="34" charset="0"/>
                          <a:ea typeface="Segoe UI" pitchFamily="34" charset="-122"/>
                          <a:cs typeface="Segoe UI" pitchFamily="34" charset="-120"/>
                        </a:rPr>
                        <a:t>l’accepterait</a:t>
                      </a:r>
                      <a:pPr indent="0" marL="0">
                        <a:buNone/>
                      </a:pPr>
                      <a:r>
                        <a:rPr lang="en-US" sz="1100" dirty="0">
                          <a:solidFill>
                            <a:srgbClr val="1B2A3A"/>
                          </a:solidFill>
                          <a:latin typeface="Segoe UI" pitchFamily="34" charset="0"/>
                          <a:ea typeface="Segoe UI" pitchFamily="34" charset="-122"/>
                          <a:cs typeface="Segoe UI" pitchFamily="34" charset="-120"/>
                        </a:rPr>
                        <a:t> à l’exécution. La page d’un dossier rejoue le même calcul, dossier par dossier.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délégations à part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gestes faisables par délégation, intérim, collègue ou suppléance sont </a:t>
                      </a:r>
                      <a:pPr indent="0" marL="0">
                        <a:buNone/>
                      </a:pPr>
                      <a:r>
                        <a:rPr lang="en-US" sz="1100" b="1" dirty="0">
                          <a:solidFill>
                            <a:srgbClr val="1B2A3A"/>
                          </a:solidFill>
                          <a:latin typeface="Segoe UI" pitchFamily="34" charset="0"/>
                          <a:ea typeface="Segoe UI" pitchFamily="34" charset="-122"/>
                          <a:cs typeface="Segoe UI" pitchFamily="34" charset="-120"/>
                        </a:rPr>
                        <a:t>repliés</a:t>
                      </a:r>
                      <a:pPr indent="0" marL="0">
                        <a:buNone/>
                      </a:pPr>
                      <a:r>
                        <a:rPr lang="en-US" sz="1100" dirty="0">
                          <a:solidFill>
                            <a:srgbClr val="1B2A3A"/>
                          </a:solidFill>
                          <a:latin typeface="Segoe UI" pitchFamily="34" charset="0"/>
                          <a:ea typeface="Segoe UI" pitchFamily="34" charset="-122"/>
                          <a:cs typeface="Segoe UI" pitchFamily="34" charset="-120"/>
                        </a:rPr>
                        <a:t> dans un bloc séparé et ne comptent ni dans les compteurs ni dans le badge. Sans ce repli, le Président verrait toutes les réceptions et vérifications du pays.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urgence mesurée, jamais inventée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Délai dépassé : </a:t>
                      </a:r>
                      <a:pPr indent="0" marL="0">
                        <a:buNone/>
                      </a:pPr>
                      <a:r>
                        <a:rPr lang="en-US" sz="1100" b="1" dirty="0">
                          <a:solidFill>
                            <a:srgbClr val="1B2A3A"/>
                          </a:solidFill>
                          <a:latin typeface="Segoe UI" pitchFamily="34" charset="0"/>
                          <a:ea typeface="Segoe UI" pitchFamily="34" charset="-122"/>
                          <a:cs typeface="Segoe UI" pitchFamily="34" charset="-120"/>
                        </a:rPr>
                        <a:t>en retard</a:t>
                      </a:r>
                      <a:pPr indent="0" marL="0">
                        <a:buNone/>
                      </a:pPr>
                      <a:r>
                        <a:rPr lang="en-US" sz="1100" dirty="0">
                          <a:solidFill>
                            <a:srgbClr val="1B2A3A"/>
                          </a:solidFill>
                          <a:latin typeface="Segoe UI" pitchFamily="34" charset="0"/>
                          <a:ea typeface="Segoe UI" pitchFamily="34" charset="-122"/>
                          <a:cs typeface="Segoe UI" pitchFamily="34" charset="-120"/>
                        </a:rPr>
                        <a:t>. Reste inférieur ou égal à deux heures ou à 35 % du délai standard : bientôt à échéance. Au-delà : dans les délais. Un dossier sans entrée connue reste « sans délai » ; les brouillons de la PRMP sont « hors délai CNM » et ses attentes « en pause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notification à chaque transmission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transmission avise le ou les responsables de l’</a:t>
                      </a:r>
                      <a:pPr indent="0" marL="0">
                        <a:buNone/>
                      </a:pPr>
                      <a:r>
                        <a:rPr lang="en-US" sz="1100" b="1" dirty="0">
                          <a:solidFill>
                            <a:srgbClr val="1B2A3A"/>
                          </a:solidFill>
                          <a:latin typeface="Segoe UI" pitchFamily="34" charset="0"/>
                          <a:ea typeface="Segoe UI" pitchFamily="34" charset="-122"/>
                          <a:cs typeface="Segoe UI" pitchFamily="34" charset="-120"/>
                        </a:rPr>
                        <a:t>étape suivante</a:t>
                      </a:r>
                      <a:pPr indent="0" marL="0">
                        <a:buNone/>
                      </a:pPr>
                      <a:r>
                        <a:rPr lang="en-US" sz="1100" dirty="0">
                          <a:solidFill>
                            <a:srgbClr val="1B2A3A"/>
                          </a:solidFill>
                          <a:latin typeface="Segoe UI" pitchFamily="34" charset="0"/>
                          <a:ea typeface="Segoe UI" pitchFamily="34" charset="-122"/>
                          <a:cs typeface="Segoe UI" pitchFamily="34" charset="-120"/>
                        </a:rPr>
                        <a:t>, dans le même mouvement que l’événement. Le destinataire se déduit du rôle et de la localité du dossier, ou de l’assignation. Un rattachement manquant ne fait jamais disparaître une notification.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(4/6)</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ne lit que les siennes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utilisateur ne consulte que </a:t>
                      </a:r>
                      <a:pPr indent="0" marL="0">
                        <a:buNone/>
                      </a:pPr>
                      <a:r>
                        <a:rPr lang="en-US" sz="1100" b="1" dirty="0">
                          <a:solidFill>
                            <a:srgbClr val="1B2A3A"/>
                          </a:solidFill>
                          <a:latin typeface="Segoe UI" pitchFamily="34" charset="0"/>
                          <a:ea typeface="Segoe UI" pitchFamily="34" charset="-122"/>
                          <a:cs typeface="Segoe UI" pitchFamily="34" charset="-120"/>
                        </a:rPr>
                        <a:t>ses notifications</a:t>
                      </a:r>
                      <a:pPr indent="0" marL="0">
                        <a:buNone/>
                      </a:pPr>
                      <a:r>
                        <a:rPr lang="en-US" sz="1100" dirty="0">
                          <a:solidFill>
                            <a:srgbClr val="1B2A3A"/>
                          </a:solidFill>
                          <a:latin typeface="Segoe UI" pitchFamily="34" charset="0"/>
                          <a:ea typeface="Segoe UI" pitchFamily="34" charset="-122"/>
                          <a:cs typeface="Segoe UI" pitchFamily="34" charset="-120"/>
                        </a:rPr>
                        <a:t>, les marque lues ou non lues. Le compteur de la cloche est calculé par le serveur et suivi en temps réel, avec un repli toutes les 60 secondes. La liste globale est réservée à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Tout PV signé passe au Vérificateur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 avis ne clôt le dossier à la signature : le PV est transmis à la PRMP et le dossier part en vérification. Pour un avis favorable, défavorable ou sans objet, le Vérificateur n’a plus qu’à transmettre la décision au SIGMP.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Avis avec réserves : la PRMP rectifie d’abord</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signature d’un PV favorable avec réserves, le PV et ses observations partent à la PRMP, qui rectifie. Sa </a:t>
                      </a:r>
                      <a:pPr indent="0" marL="0">
                        <a:buNone/>
                      </a:pPr>
                      <a:r>
                        <a:rPr lang="en-US" sz="1100" b="1" dirty="0">
                          <a:solidFill>
                            <a:srgbClr val="1B2A3A"/>
                          </a:solidFill>
                          <a:latin typeface="Segoe UI" pitchFamily="34" charset="0"/>
                          <a:ea typeface="Segoe UI" pitchFamily="34" charset="-122"/>
                          <a:cs typeface="Segoe UI" pitchFamily="34" charset="-120"/>
                        </a:rPr>
                        <a:t>resoumission</a:t>
                      </a:r>
                      <a:pPr indent="0" marL="0">
                        <a:buNone/>
                      </a:pPr>
                      <a:r>
                        <a:rPr lang="en-US" sz="1100" dirty="0">
                          <a:solidFill>
                            <a:srgbClr val="1B2A3A"/>
                          </a:solidFill>
                          <a:latin typeface="Segoe UI" pitchFamily="34" charset="0"/>
                          <a:ea typeface="Segoe UI" pitchFamily="34" charset="-122"/>
                          <a:cs typeface="Segoe UI" pitchFamily="34" charset="-120"/>
                        </a:rPr>
                        <a:t>, motivée, ouvre la vérification et notifie le Vérificateur.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Observations figées au PV</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observations suivies sont exclusivement celles arrêtées au PV signé, aux libellés figés ; aucun acteur ne peut en ajouter, et le Vérificateur ne rédige aucun texte libre.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Lever ou maintenir chaque observation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passage, le Vérificateur statue chaque observation : levée ou maintenue, avec une précision facultative. Une levée est acquise ; une seule observation maintenue renvoie le dossier à la PRMP, et la boucle reprend.</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(5/6)</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Vérificateur voit la rectification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Pour statuer, le Vérificateur compare la version d’avant et celle d’après la rectification. Chaque version remplacée est archivée, en lecture seule.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Transmission du sens au SIGMP</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Vérificateur transmet le sens de la décision, déduit de l’avis : favorable donne « approuvé », défavorable et sans objet « non approuvé », favorable avec réserves « approuvé » une fois toutes les observations levées. Le dossier passe alors aux « vérifiés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L’archivage clôt le dossier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 l’</a:t>
                      </a:r>
                      <a:pPr indent="0" marL="0">
                        <a:buNone/>
                      </a:pPr>
                      <a:r>
                        <a:rPr lang="en-US" sz="1100" b="1" dirty="0">
                          <a:solidFill>
                            <a:srgbClr val="1B2A3A"/>
                          </a:solidFill>
                          <a:latin typeface="Segoe UI" pitchFamily="34" charset="0"/>
                          <a:ea typeface="Segoe UI" pitchFamily="34" charset="-122"/>
                          <a:cs typeface="Segoe UI" pitchFamily="34" charset="-120"/>
                        </a:rPr>
                        <a:t>archivage</a:t>
                      </a:r>
                      <a:pPr indent="0" marL="0">
                        <a:buNone/>
                      </a:pPr>
                      <a:r>
                        <a:rPr lang="en-US" sz="1100" dirty="0">
                          <a:solidFill>
                            <a:srgbClr val="1B2A3A"/>
                          </a:solidFill>
                          <a:latin typeface="Segoe UI" pitchFamily="34" charset="0"/>
                          <a:ea typeface="Segoe UI" pitchFamily="34" charset="-122"/>
                          <a:cs typeface="Segoe UI" pitchFamily="34" charset="-120"/>
                        </a:rPr>
                        <a:t> du PV par l’Assistant de la localité, ou par délégation, clôt le dossier ; il prévient le Chargé de publication. L’Assistant archive aussi les lettres de renvoi signées.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écrans figés à la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soumission et resoumission d’un dossier conduit dans l’application, les écrans qui remplacent les pièces (ligne du plan, avis et lettres, commission d’appel d’offres, AMI, séance, évaluation, attribution, acte, sans suite) sont </a:t>
                      </a:r>
                      <a:pPr indent="0" marL="0">
                        <a:buNone/>
                      </a:pPr>
                      <a:r>
                        <a:rPr lang="en-US" sz="1100" b="1" dirty="0">
                          <a:solidFill>
                            <a:srgbClr val="1B2A3A"/>
                          </a:solidFill>
                          <a:latin typeface="Segoe UI" pitchFamily="34" charset="0"/>
                          <a:ea typeface="Segoe UI" pitchFamily="34" charset="-122"/>
                          <a:cs typeface="Segoe UI" pitchFamily="34" charset="-120"/>
                        </a:rPr>
                        <a:t>figés</a:t>
                      </a:r>
                      <a:pPr indent="0" marL="0">
                        <a:buNone/>
                      </a:pPr>
                      <a:r>
                        <a:rPr lang="en-US" sz="1100" dirty="0">
                          <a:solidFill>
                            <a:srgbClr val="1B2A3A"/>
                          </a:solidFill>
                          <a:latin typeface="Segoe UI" pitchFamily="34" charset="0"/>
                          <a:ea typeface="Segoe UI" pitchFamily="34" charset="-122"/>
                          <a:cs typeface="Segoe UI" pitchFamily="34" charset="-120"/>
                        </a:rPr>
                        <a:t> avec leur empreinte et le numéro de la soumission. Immuables, ils se lisent en lecture seule et s’exportent en PDF ; les écrans vivants peuvent évoluer sans changer ce que la Commission a reçu.</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Pièces non demandées pour une procédure en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procédure est conduite dans l’application, la validation tracée vaut signature des pièces internes : fiche de présentation (sauf actes de gestion), AGPM et PPM contrôlés, PV de la Commission, PV de validation de la commission d’appel d’offres, marché initial d’un acte de gestion ne sont plus demandés à la PRMP. Le mode (papier ou électronique) est fixé à la création de la procédure ; en papier, toutes les pièces du manuel restent exigées.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(6/6)</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étapes closes ne se modifient plus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qu’un dossier de marché de la procédure est </a:t>
                      </a:r>
                      <a:pPr indent="0" marL="0">
                        <a:buNone/>
                      </a:pPr>
                      <a:r>
                        <a:rPr lang="en-US" sz="1100" b="1" dirty="0">
                          <a:solidFill>
                            <a:srgbClr val="1B2A3A"/>
                          </a:solidFill>
                          <a:latin typeface="Segoe UI" pitchFamily="34" charset="0"/>
                          <a:ea typeface="Segoe UI" pitchFamily="34" charset="-122"/>
                          <a:cs typeface="Segoe UI" pitchFamily="34" charset="-120"/>
                        </a:rPr>
                        <a:t>soumis à la Commission</a:t>
                      </a:r>
                      <a:pPr indent="0" marL="0">
                        <a:buNone/>
                      </a:pPr>
                      <a:r>
                        <a:rPr lang="en-US" sz="1100" dirty="0">
                          <a:solidFill>
                            <a:srgbClr val="1B2A3A"/>
                          </a:solidFill>
                          <a:latin typeface="Segoe UI" pitchFamily="34" charset="0"/>
                          <a:ea typeface="Segoe UI" pitchFamily="34" charset="-122"/>
                          <a:cs typeface="Segoe UI" pitchFamily="34" charset="-120"/>
                        </a:rPr>
                        <a:t>, la séance d’ouverture, la seconde séance, l’évaluation et l’AMI de la procédure ne se modifient plus : la Commission examine ce qui lui a été soumis. Seules la reprise de l’évaluation après un avis défavorable et la réattribution après un retrait, motivées et tracées, les rouvrent. Les lectures restent ouvertes.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Vérificateur · 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Le Vérificateur</dc:title>
  <dc:subject>PptxGenJS Presentation</dc:subject>
  <dc:creator>PRS 2.0</dc:creator>
  <cp:lastModifiedBy>PRS 2.0</cp:lastModifiedBy>
  <cp:revision>1</cp:revision>
  <dcterms:created xsi:type="dcterms:W3CDTF">2026-10-14T12:36:47Z</dcterms:created>
  <dcterms:modified xsi:type="dcterms:W3CDTF">2026-10-14T12:36:47Z</dcterms:modified>
</cp:coreProperties>
</file>