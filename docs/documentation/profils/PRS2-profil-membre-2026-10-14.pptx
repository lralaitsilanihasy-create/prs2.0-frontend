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Membre</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Examine le dossier, émet l’avis et signe le PV.</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18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Membre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L’accueil « À faire » du Membre · L’écran des notifications · La cloche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2" name="Text 10"/>
          <p:cNvSpPr/>
          <p:nvPr/>
        </p:nvSpPr>
        <p:spPr>
          <a:xfrm>
            <a:off x="4525320"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dossiers de la localité, vus du Membre · L’examen séquentiel · Les motifs-types de la conclusion · Le projet de PV · La seconde signature · PV et lettres de renvoi, vus du Membre · Les écrans figés à la soumission · Lever ou ajouter un contrôle</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Commission lit la fiche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21" name="Shape 19"/>
          <p:cNvSpPr/>
          <p:nvPr/>
        </p:nvSpPr>
        <p:spPr>
          <a:xfrm>
            <a:off x="4385624" y="3962400"/>
            <a:ext cx="3420448" cy="2159000"/>
          </a:xfrm>
          <a:prstGeom prst="rect">
            <a:avLst/>
          </a:prstGeom>
          <a:solidFill>
            <a:srgbClr val="FCFCFA"/>
          </a:solidFill>
          <a:ln w="9525">
            <a:solidFill>
              <a:srgbClr val="D5DCE4"/>
            </a:solidFill>
            <a:prstDash val="solid"/>
          </a:ln>
        </p:spPr>
      </p:sp>
      <p:sp>
        <p:nvSpPr>
          <p:cNvPr id="22" name="Shape 20"/>
          <p:cNvSpPr/>
          <p:nvPr/>
        </p:nvSpPr>
        <p:spPr>
          <a:xfrm>
            <a:off x="4385624" y="3962400"/>
            <a:ext cx="3420448" cy="38100"/>
          </a:xfrm>
          <a:prstGeom prst="rect">
            <a:avLst/>
          </a:prstGeom>
          <a:solidFill>
            <a:srgbClr val="1B6FA8"/>
          </a:solidFill>
          <a:ln/>
        </p:spPr>
      </p:sp>
      <p:sp>
        <p:nvSpPr>
          <p:cNvPr id="23" name="Text 21"/>
          <p:cNvSpPr/>
          <p:nvPr/>
        </p:nvSpPr>
        <p:spPr>
          <a:xfrm>
            <a:off x="4525320"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4" name="Text 22"/>
          <p:cNvSpPr/>
          <p:nvPr/>
        </p:nvSpPr>
        <p:spPr>
          <a:xfrm>
            <a:off x="4525320"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5" name="Text 2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examiner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délai standard de quarante heures et le temps déjà écoulé.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panneau rappelle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consigne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dispatch et ouvre l’examen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classements : par urgence, par étape, par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dossiers de la localité,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ossiers de la localité,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sa localité avec leur frise ; le bouton « Examiner » sur celui qui lui est attribué.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séquentiel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séquentie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examen par étapes, dans l’ordre : ici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pièces jointes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contrôles du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puis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synthèse et l’avis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est lue à l’écran puis déclarée « RAS » ou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on ne passe pas à la suivante sans l’avoir statuée.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 la consigne du dispatch, le temps restant, et le compte des contrôles non conformes.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Réinitialiser » efface l’examen tant qu’aucun projet de PV n’existe.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projet de PV</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rojet de PV">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L’examen terminé produit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l’avis du Membre et ses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le soumet au Président ou au Chef de commission qui l’a dispatché.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 CO-SIGNATAIRE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signature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econde signa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désigné co-signataire.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visé attend les parts de signature des désignés ; le PV est signé par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deux personnes distinctes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 moins.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dernière signature rend le PV définitif.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PV et lettres de renvoi, vus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PV et lettres de renvoi, vu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même regroupement : ses projets de PV à gérer et soumettre, les PV définitifs (ici quinze), les projets de lettre de renvoi.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Lever ou ajouter un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ver ou ajouter un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attributaire.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contrôles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automatiques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joués par l’application à la soumission ; le Membre pose les siens pendant l’examen.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dernier résultat posé fait foi : une non-conformité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lève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posant « Conforme » ou « Sans objet », avec une observation.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non levée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interdit l’avis « Favorable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réserve.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lit la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lit la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 qui examine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marché du dossier examiné,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cadrage, les informations saisies par la PRMP, les reprises, le bilan des contrôles et les documents produits.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versions figées, avec leur date : la Commission sait quelle version elle examine.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Membre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37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(1/8)</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(2/8)</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rattachement cible, sans verrouiller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désigner son Vérificateur, et chaque Vérificateur son Assistant. Ce lien décide </a:t>
                      </a:r>
                      <a:pPr indent="0" marL="0">
                        <a:buNone/>
                      </a:pPr>
                      <a:r>
                        <a:rPr lang="en-US" sz="1100" b="1" dirty="0">
                          <a:solidFill>
                            <a:srgbClr val="1B2A3A"/>
                          </a:solidFill>
                          <a:latin typeface="Segoe UI" pitchFamily="34" charset="0"/>
                          <a:ea typeface="Segoe UI" pitchFamily="34" charset="-122"/>
                          <a:cs typeface="Segoe UI" pitchFamily="34" charset="-120"/>
                        </a:rPr>
                        <a:t>qui est notifié</a:t>
                      </a:r>
                      <a:pPr indent="0" marL="0">
                        <a:buNone/>
                      </a:pPr>
                      <a:r>
                        <a:rPr lang="en-US" sz="1100" dirty="0">
                          <a:solidFill>
                            <a:srgbClr val="1B2A3A"/>
                          </a:solidFill>
                          <a:latin typeface="Segoe UI" pitchFamily="34" charset="0"/>
                          <a:ea typeface="Segoe UI" pitchFamily="34" charset="-122"/>
                          <a:cs typeface="Segoe UI" pitchFamily="34" charset="-120"/>
                        </a:rPr>
                        <a:t> et quel dossier paraît « le mien », jamais qui peut agir. Sans rattachement, tous les porteurs du rôle dans la localité sont avisés.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(3/8)</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(4/8)</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l’attributaire examine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Quel que soit son profil, seul l’</a:t>
                      </a:r>
                      <a:pPr indent="0" marL="0">
                        <a:buNone/>
                      </a:pPr>
                      <a:r>
                        <a:rPr lang="en-US" sz="1100" b="1" dirty="0">
                          <a:solidFill>
                            <a:srgbClr val="1B2A3A"/>
                          </a:solidFill>
                          <a:latin typeface="Segoe UI" pitchFamily="34" charset="0"/>
                          <a:ea typeface="Segoe UI" pitchFamily="34" charset="-122"/>
                          <a:cs typeface="Segoe UI" pitchFamily="34" charset="-120"/>
                        </a:rPr>
                        <a:t>attributaire</a:t>
                      </a:r>
                      <a:pPr indent="0" marL="0">
                        <a:buNone/>
                      </a:pPr>
                      <a:r>
                        <a:rPr lang="en-US" sz="1100" dirty="0">
                          <a:solidFill>
                            <a:srgbClr val="1B2A3A"/>
                          </a:solidFill>
                          <a:latin typeface="Segoe UI" pitchFamily="34" charset="0"/>
                          <a:ea typeface="Segoe UI" pitchFamily="34" charset="-122"/>
                          <a:cs typeface="Segoe UI" pitchFamily="34" charset="-120"/>
                        </a:rPr>
                        <a:t> du dispatch crée, modifie et soumet l’examen. Ni le dispatcheur ni le Chef de commission en copie ne peuvent examiner.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Examen point par point, en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statue chaque pièce et chaque point de contrôle, « RAS » ou observation ; il enregistre et reprend plus tard sans faire avancer le dossier. L’examen reste modifiable jusqu’à la signature du PV.</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ne contrôle pas le vide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points de contrôle de la fiche de présentation et du projet d’AGPM ne sont exigés que si le document a du contenu. Chaque document est jugé séparément.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Réinitialiser un examen non soumis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L’attributaire peut </a:t>
                      </a:r>
                      <a:pPr indent="0" marL="0">
                        <a:buNone/>
                      </a:pPr>
                      <a:r>
                        <a:rPr lang="en-US" sz="1100" b="1" dirty="0">
                          <a:solidFill>
                            <a:srgbClr val="1B2A3A"/>
                          </a:solidFill>
                          <a:latin typeface="Segoe UI" pitchFamily="34" charset="0"/>
                          <a:ea typeface="Segoe UI" pitchFamily="34" charset="-122"/>
                          <a:cs typeface="Segoe UI" pitchFamily="34" charset="-120"/>
                        </a:rPr>
                        <a:t>réinitialiser</a:t>
                      </a:r>
                      <a:pPr indent="0" marL="0">
                        <a:buNone/>
                      </a:pPr>
                      <a:r>
                        <a:rPr lang="en-US" sz="1100" dirty="0">
                          <a:solidFill>
                            <a:srgbClr val="1B2A3A"/>
                          </a:solidFill>
                          <a:latin typeface="Segoe UI" pitchFamily="34" charset="0"/>
                          <a:ea typeface="Segoe UI" pitchFamily="34" charset="-122"/>
                          <a:cs typeface="Segoe UI" pitchFamily="34" charset="-120"/>
                        </a:rPr>
                        <a:t> son examen tant qu’aucun projet de PV n’existe : points, observations et résultats de pièces sont effacés d’un geste. Le temps écoulé continue de compter et l’effacement est inscrit au journal.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grille du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grille d’un dossier réunit les points communs de sa famille (sauf grille propre : marché de prestations intellectuelles, gré à gré, dossier de consultation, rapport justificatif, pré-qualification, avenant, déclaration sans suite), ceux de la grille dont il dérive (un appel d’offres restreint reprend l’appel d’offres ouvert) et les siens, sans les points dont la catégorie ou la forme ne s’applique pas à sa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(5/8)</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motifs-types de la conclusion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formulations du manuel (renvoi, avis défavorable) forment un référentiel tenu par l’Administrateur, qui suit l’héritage des grilles. Le contrôleur les insère dans le projet de PV ou la lettre de renvoi et les complète ; l’application n’écrit rien à sa place. Un motif désactivé n’est plus proposé.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soumission porte l’avis du Membre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soumet son examen avec son avis (favorable, favorable avec réserves, défavorable, ou sans objet) ; la soumission crée le projet de PV. L’avis doit être cohérent avec ce qui a été relevé : un avis </a:t>
                      </a:r>
                      <a:pPr indent="0" marL="0">
                        <a:buNone/>
                      </a:pPr>
                      <a:r>
                        <a:rPr lang="en-US" sz="1100" b="1" dirty="0">
                          <a:solidFill>
                            <a:srgbClr val="1B2A3A"/>
                          </a:solidFill>
                          <a:latin typeface="Segoe UI" pitchFamily="34" charset="0"/>
                          <a:ea typeface="Segoe UI" pitchFamily="34" charset="-122"/>
                          <a:cs typeface="Segoe UI" pitchFamily="34" charset="-120"/>
                        </a:rPr>
                        <a:t>favorable</a:t>
                      </a:r>
                      <a:pPr indent="0" marL="0">
                        <a:buNone/>
                      </a:pPr>
                      <a:r>
                        <a:rPr lang="en-US" sz="1100" dirty="0">
                          <a:solidFill>
                            <a:srgbClr val="1B2A3A"/>
                          </a:solidFill>
                          <a:latin typeface="Segoe UI" pitchFamily="34" charset="0"/>
                          <a:ea typeface="Segoe UI" pitchFamily="34" charset="-122"/>
                          <a:cs typeface="Segoe UI" pitchFamily="34" charset="-120"/>
                        </a:rPr>
                        <a:t> est refusé tant qu’une observation ou un </a:t>
                      </a:r>
                      <a:pPr indent="0" marL="0">
                        <a:buNone/>
                      </a:pPr>
                      <a:r>
                        <a:rPr lang="en-US" sz="1100" b="1" dirty="0">
                          <a:solidFill>
                            <a:srgbClr val="1B2A3A"/>
                          </a:solidFill>
                          <a:latin typeface="Segoe UI" pitchFamily="34" charset="0"/>
                          <a:ea typeface="Segoe UI" pitchFamily="34" charset="-122"/>
                          <a:cs typeface="Segoe UI" pitchFamily="34" charset="-120"/>
                        </a:rPr>
                        <a:t>contrôle non conforme non levé</a:t>
                      </a:r>
                      <a:pPr indent="0" marL="0">
                        <a:buNone/>
                      </a:pPr>
                      <a:r>
                        <a:rPr lang="en-US" sz="1100" dirty="0">
                          <a:solidFill>
                            <a:srgbClr val="1B2A3A"/>
                          </a:solidFill>
                          <a:latin typeface="Segoe UI" pitchFamily="34" charset="0"/>
                          <a:ea typeface="Segoe UI" pitchFamily="34" charset="-122"/>
                          <a:cs typeface="Segoe UI" pitchFamily="34" charset="-120"/>
                        </a:rPr>
                        <a:t> subsiste.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Soumettre engage le seul examinateur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soumission et la re-soumission du projet de PV sont réservées à l’examinateur, même face à un supérieur agissant par délégation. Corriger le projet pour un collègue absent reste permis : seul le geste qui engage est nominatif.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du projet de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peut retourner le projet au Membre autant de fois que nécessaire, avec un commentaire obligatoire ; le Membre corrige puis resoumet. Chaque aller-retour est tracé.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signataires distincts au moins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viseur désigne ses co-signataires : au moins une autre personne, trois signataires au plus, un seul par rôle. Le PV n’imprime que les lignes des désignés.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(6/8)</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PV définitif quand toutes les parts sont signées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est signé quand la part du viseur et celle de chaque désigné sont posées. La part du Membre ne se délègue pas : seul le Membre désigné la signe.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Lettre de renvoi signée par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établit la lettre de renvoi. En Centrale, l’un ou l’autre la signe ; en région, seul le Chef de commission de la localité. Le Membre ne la signe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Renvoi : examen suspendu, puis réexamen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de la lettre, l’examen est suspendu et la PRMP est notifiée. Après dépôt et transmission des pièces demandées, le dossier revient au Membre, qui </a:t>
                      </a:r>
                      <a:pPr indent="0" marL="0">
                        <a:buNone/>
                      </a:pPr>
                      <a:r>
                        <a:rPr lang="en-US" sz="1100" b="1" dirty="0">
                          <a:solidFill>
                            <a:srgbClr val="1B2A3A"/>
                          </a:solidFill>
                          <a:latin typeface="Segoe UI" pitchFamily="34" charset="0"/>
                          <a:ea typeface="Segoe UI" pitchFamily="34" charset="-122"/>
                          <a:cs typeface="Segoe UI" pitchFamily="34" charset="-120"/>
                        </a:rPr>
                        <a:t>réexamine</a:t>
                      </a:r>
                      <a:pPr indent="0" marL="0">
                        <a:buNone/>
                      </a:pPr>
                      <a:r>
                        <a:rPr lang="en-US" sz="1100" dirty="0">
                          <a:solidFill>
                            <a:srgbClr val="1B2A3A"/>
                          </a:solidFill>
                          <a:latin typeface="Segoe UI" pitchFamily="34" charset="0"/>
                          <a:ea typeface="Segoe UI" pitchFamily="34" charset="-122"/>
                          <a:cs typeface="Segoe UI" pitchFamily="34" charset="-120"/>
                        </a:rPr>
                        <a:t> puis resoumet le projet de PV.</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(7/8)</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automatiques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soumission et à chaque resoumission, l’application joue les contrôles du manuel classés automatiques pour la famille du dossier. Un contrôle </a:t>
                      </a:r>
                      <a:pPr indent="0" marL="0">
                        <a:buNone/>
                      </a:pPr>
                      <a:r>
                        <a:rPr lang="en-US" sz="1100" b="1" dirty="0">
                          <a:solidFill>
                            <a:srgbClr val="1B2A3A"/>
                          </a:solidFill>
                          <a:latin typeface="Segoe UI" pitchFamily="34" charset="0"/>
                          <a:ea typeface="Segoe UI" pitchFamily="34" charset="-122"/>
                          <a:cs typeface="Segoe UI" pitchFamily="34" charset="-120"/>
                        </a:rPr>
                        <a:t>bloquant</a:t>
                      </a:r>
                      <a:pPr indent="0" marL="0">
                        <a:buNone/>
                      </a:pPr>
                      <a:r>
                        <a:rPr lang="en-US" sz="1100" dirty="0">
                          <a:solidFill>
                            <a:srgbClr val="1B2A3A"/>
                          </a:solidFill>
                          <a:latin typeface="Segoe UI" pitchFamily="34" charset="0"/>
                          <a:ea typeface="Segoe UI" pitchFamily="34" charset="-122"/>
                          <a:cs typeface="Segoe UI" pitchFamily="34" charset="-120"/>
                        </a:rPr>
                        <a:t> non conforme refuse la soumission en nommant ce qui manque et les valeurs constatées ; les autres résultats sont enregistrés, lisibles par la Commission et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du Membre et la levée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attributaire ajoute ses propres contrôles (point de grille ou règle, résultat, observation obligatoire s’il constate une non-conformité). Le dernier résultat posé sur une règle fait foi : il lève une non-conformité en posant « conforme » ou « sans objet », motivé. Une non-conformité non levée interdit l’avis favorable sans réserve et figure à l’annexe du PV.</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fiche produit le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crée le dossier depuis la dernière version validée ; un dossier par fiche. Entité, localité et PRMP viennent du plan : rien n’est redemandé. La Commission lit la fiche avec le dossier ; l’examen porte sur les pièces.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rectification est une révision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Jamais un nouveau dossier : la fiche ne se révise pas tant que la Commission tient le dossier ; resoumettre sans avoir revalidé est refusé ; les documents de la révision remplacent les pièces produites, l’ancienne version restant gardée.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(8/8)</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Membre · 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Membre</dc:title>
  <dc:subject>PptxGenJS Presentation</dc:subject>
  <dc:creator>PRS 2.0</dc:creator>
  <cp:lastModifiedBy>PRS 2.0</cp:lastModifiedBy>
  <cp:revision>1</cp:revision>
  <dcterms:created xsi:type="dcterms:W3CDTF">2026-10-14T12:36:46Z</dcterms:created>
  <dcterms:modified xsi:type="dcterms:W3CDTF">2026-10-14T12:36:46Z</dcterms:modified>
</cp:coreProperties>
</file>