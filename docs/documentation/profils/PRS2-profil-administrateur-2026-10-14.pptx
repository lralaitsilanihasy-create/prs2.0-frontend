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Lst>
  <p:notesMasterIdLst>
    <p:notesMasterId r:id="rId7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notesMaster" Target="notesMasters/notesMaster1.xml"/><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jp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jp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jp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jp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812800"/>
            <a:ext cx="10159746" cy="317500"/>
          </a:xfrm>
          <a:prstGeom prst="rect">
            <a:avLst/>
          </a:prstGeom>
          <a:noFill/>
          <a:ln/>
        </p:spPr>
        <p:txBody>
          <a:bodyPr wrap="square" rtlCol="0" anchor="ctr"/>
          <a:lstStyle/>
          <a:p>
            <a:pPr indent="0" marL="0">
              <a:buNone/>
            </a:pPr>
            <a:r>
              <a:rPr lang="en-US" sz="1400" b="1" spc="300" kern="0" dirty="0">
                <a:solidFill>
                  <a:srgbClr val="E3AE2E"/>
                </a:solidFill>
                <a:latin typeface="Segoe UI" pitchFamily="34" charset="0"/>
                <a:ea typeface="Segoe UI" pitchFamily="34" charset="-122"/>
                <a:cs typeface="Segoe UI" pitchFamily="34" charset="-120"/>
              </a:rPr>
              <a:t>COMMISSION NATIONALE DES MARCHÉS · LES FONCTIONNALITÉS PAR PROFIL</a:t>
            </a:r>
            <a:endParaRPr lang="en-US" sz="1400" dirty="0"/>
          </a:p>
        </p:txBody>
      </p:sp>
      <p:sp>
        <p:nvSpPr>
          <p:cNvPr id="4" name="Text 2"/>
          <p:cNvSpPr/>
          <p:nvPr/>
        </p:nvSpPr>
        <p:spPr>
          <a:xfrm>
            <a:off x="812780" y="1206500"/>
            <a:ext cx="10477238" cy="1397000"/>
          </a:xfrm>
          <a:prstGeom prst="rect">
            <a:avLst/>
          </a:prstGeom>
          <a:noFill/>
          <a:ln/>
        </p:spPr>
        <p:txBody>
          <a:bodyPr wrap="square" rtlCol="0" anchor="t">
            <a:normAutofit/>
          </a:bodyPr>
          <a:lstStyle/>
          <a:p>
            <a:pPr indent="0" marL="0">
              <a:buNone/>
            </a:pPr>
            <a:r>
              <a:rPr lang="en-US" sz="4000" b="1" dirty="0">
                <a:solidFill>
                  <a:srgbClr val="FCFCFA"/>
                </a:solidFill>
                <a:latin typeface="Segoe UI" pitchFamily="34" charset="0"/>
                <a:ea typeface="Segoe UI" pitchFamily="34" charset="-122"/>
                <a:cs typeface="Segoe UI" pitchFamily="34" charset="-120"/>
              </a:rPr>
              <a:t>PRS 2.0 — Les fonctionnalités de l’Administrateur</a:t>
            </a:r>
            <a:endParaRPr lang="en-US" sz="4000" dirty="0"/>
          </a:p>
        </p:txBody>
      </p:sp>
      <p:sp>
        <p:nvSpPr>
          <p:cNvPr id="5" name="Text 3"/>
          <p:cNvSpPr/>
          <p:nvPr/>
        </p:nvSpPr>
        <p:spPr>
          <a:xfrm>
            <a:off x="812780" y="2857500"/>
            <a:ext cx="9524762" cy="1270000"/>
          </a:xfrm>
          <a:prstGeom prst="rect">
            <a:avLst/>
          </a:prstGeom>
          <a:noFill/>
          <a:ln/>
        </p:spPr>
        <p:txBody>
          <a:bodyPr wrap="square" rtlCol="0" anchor="t">
            <a:normAutofit/>
          </a:bodyPr>
          <a:lstStyle/>
          <a:p>
            <a:pPr indent="0" marL="0">
              <a:buNone/>
            </a:pPr>
            <a:r>
              <a:rPr lang="en-US" sz="2000" dirty="0">
                <a:solidFill>
                  <a:srgbClr val="C9D6E2"/>
                </a:solidFill>
                <a:latin typeface="Segoe UI" pitchFamily="34" charset="0"/>
                <a:ea typeface="Segoe UI" pitchFamily="34" charset="-122"/>
                <a:cs typeface="Segoe UI" pitchFamily="34" charset="-120"/>
              </a:rPr>
              <a:t>Publie les décisions ; administre les comptes, les référentiels et les paramètres.</a:t>
            </a:r>
            <a:endParaRPr lang="en-US" sz="2000" dirty="0"/>
          </a:p>
        </p:txBody>
      </p:sp>
      <p:sp>
        <p:nvSpPr>
          <p:cNvPr id="6" name="Text 4"/>
          <p:cNvSpPr/>
          <p:nvPr/>
        </p:nvSpPr>
        <p:spPr>
          <a:xfrm>
            <a:off x="812780" y="5270500"/>
            <a:ext cx="9842254" cy="762000"/>
          </a:xfrm>
          <a:prstGeom prst="rect">
            <a:avLst/>
          </a:prstGeom>
          <a:noFill/>
          <a:ln/>
        </p:spPr>
        <p:txBody>
          <a:bodyPr wrap="square" rtlCol="0" anchor="t"/>
          <a:lstStyle/>
          <a:p>
            <a:pPr indent="0" marL="0">
              <a:buNone/>
            </a:pPr>
            <a:r>
              <a:rPr lang="en-US" sz="1400" dirty="0">
                <a:solidFill>
                  <a:srgbClr val="8FA6BB"/>
                </a:solidFill>
                <a:latin typeface="Segoe UI" pitchFamily="34" charset="0"/>
                <a:ea typeface="Segoe UI" pitchFamily="34" charset="-122"/>
                <a:cs typeface="Segoe UI" pitchFamily="34" charset="-120"/>
              </a:rPr>
              <a:t>49 écrans, étape par étape, et les règles à connaître</a:t>
            </a:r>
            <a:endParaRPr lang="en-US" sz="1400" dirty="0"/>
          </a:p>
          <a:p>
            <a:pPr indent="0" marL="0">
              <a:buNone/>
            </a:pPr>
            <a:r>
              <a:rPr lang="en-US" sz="1400" dirty="0">
                <a:solidFill>
                  <a:srgbClr val="8FA6BB"/>
                </a:solidFill>
                <a:latin typeface="Segoe UI" pitchFamily="34" charset="0"/>
                <a:ea typeface="Segoe UI" pitchFamily="34" charset="-122"/>
                <a:cs typeface="Segoe UI" pitchFamily="34" charset="-120"/>
              </a:rPr>
              <a:t>Captures de l’application réelle sur des dossiers de démonstration (14 octobre 2026) · noms de personnes remplacés par leur rôle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Ses fonctionnalités d’un coup d’œil</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Les écrans où l’Administrateur agit ou lit, rangés par étape de la chaîne ; chacun est présenté ensuite.</a:t>
            </a:r>
            <a:endParaRPr lang="en-US" sz="1300" dirty="0"/>
          </a:p>
        </p:txBody>
      </p:sp>
      <p:sp>
        <p:nvSpPr>
          <p:cNvPr id="5" name="Shape 3"/>
          <p:cNvSpPr/>
          <p:nvPr/>
        </p:nvSpPr>
        <p:spPr>
          <a:xfrm>
            <a:off x="812780" y="1651000"/>
            <a:ext cx="3420448" cy="1443567"/>
          </a:xfrm>
          <a:prstGeom prst="rect">
            <a:avLst/>
          </a:prstGeom>
          <a:solidFill>
            <a:srgbClr val="FCFCFA"/>
          </a:solidFill>
          <a:ln w="9525">
            <a:solidFill>
              <a:srgbClr val="D5DCE4"/>
            </a:solidFill>
            <a:prstDash val="solid"/>
          </a:ln>
        </p:spPr>
      </p:sp>
      <p:sp>
        <p:nvSpPr>
          <p:cNvPr id="6" name="Shape 4"/>
          <p:cNvSpPr/>
          <p:nvPr/>
        </p:nvSpPr>
        <p:spPr>
          <a:xfrm>
            <a:off x="812780" y="1651000"/>
            <a:ext cx="3420448" cy="38100"/>
          </a:xfrm>
          <a:prstGeom prst="rect">
            <a:avLst/>
          </a:prstGeom>
          <a:solidFill>
            <a:srgbClr val="1B6FA8"/>
          </a:solidFill>
          <a:ln/>
        </p:spPr>
      </p:sp>
      <p:sp>
        <p:nvSpPr>
          <p:cNvPr id="7" name="Text 5"/>
          <p:cNvSpPr/>
          <p:nvPr/>
        </p:nvSpPr>
        <p:spPr>
          <a:xfrm>
            <a:off x="952476" y="17526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01 · Entrer</a:t>
            </a:r>
            <a:endParaRPr lang="en-US" sz="1500" dirty="0"/>
          </a:p>
        </p:txBody>
      </p:sp>
      <p:sp>
        <p:nvSpPr>
          <p:cNvPr id="8" name="Text 6"/>
          <p:cNvSpPr/>
          <p:nvPr/>
        </p:nvSpPr>
        <p:spPr>
          <a:xfrm>
            <a:off x="952476" y="2038350"/>
            <a:ext cx="3141055" cy="99271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La connexion · Changer son mot de passe · Une actualité à l’ouverture · L’écran des notifications · La cloche</a:t>
            </a:r>
            <a:endParaRPr lang="en-US" sz="1200" dirty="0"/>
          </a:p>
        </p:txBody>
      </p:sp>
      <p:sp>
        <p:nvSpPr>
          <p:cNvPr id="9" name="Shape 7"/>
          <p:cNvSpPr/>
          <p:nvPr/>
        </p:nvSpPr>
        <p:spPr>
          <a:xfrm>
            <a:off x="4385624" y="1651000"/>
            <a:ext cx="3420448" cy="1443567"/>
          </a:xfrm>
          <a:prstGeom prst="rect">
            <a:avLst/>
          </a:prstGeom>
          <a:solidFill>
            <a:srgbClr val="FCFCFA"/>
          </a:solidFill>
          <a:ln w="9525">
            <a:solidFill>
              <a:srgbClr val="D5DCE4"/>
            </a:solidFill>
            <a:prstDash val="solid"/>
          </a:ln>
        </p:spPr>
      </p:sp>
      <p:sp>
        <p:nvSpPr>
          <p:cNvPr id="10" name="Shape 8"/>
          <p:cNvSpPr/>
          <p:nvPr/>
        </p:nvSpPr>
        <p:spPr>
          <a:xfrm>
            <a:off x="4385624" y="1651000"/>
            <a:ext cx="3420448" cy="38100"/>
          </a:xfrm>
          <a:prstGeom prst="rect">
            <a:avLst/>
          </a:prstGeom>
          <a:solidFill>
            <a:srgbClr val="2E8B57"/>
          </a:solidFill>
          <a:ln/>
        </p:spPr>
      </p:sp>
      <p:sp>
        <p:nvSpPr>
          <p:cNvPr id="11" name="Text 9"/>
          <p:cNvSpPr/>
          <p:nvPr/>
        </p:nvSpPr>
        <p:spPr>
          <a:xfrm>
            <a:off x="4525320" y="17526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03 · Contrôler</a:t>
            </a:r>
            <a:endParaRPr lang="en-US" sz="1500" dirty="0"/>
          </a:p>
        </p:txBody>
      </p:sp>
      <p:sp>
        <p:nvSpPr>
          <p:cNvPr id="12" name="Text 10"/>
          <p:cNvSpPr/>
          <p:nvPr/>
        </p:nvSpPr>
        <p:spPr>
          <a:xfrm>
            <a:off x="4525320" y="2038350"/>
            <a:ext cx="3141055" cy="99271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Les chaînes de contrôle · Les motifs-types de la conclusion · Les points de contrôle · Le taux d’écartement des règles · Les délais standards du circuit · Les délais par sous-type</a:t>
            </a:r>
            <a:endParaRPr lang="en-US" sz="1200" dirty="0"/>
          </a:p>
        </p:txBody>
      </p:sp>
      <p:sp>
        <p:nvSpPr>
          <p:cNvPr id="13" name="Shape 11"/>
          <p:cNvSpPr/>
          <p:nvPr/>
        </p:nvSpPr>
        <p:spPr>
          <a:xfrm>
            <a:off x="7958468" y="1651000"/>
            <a:ext cx="3420448" cy="1443567"/>
          </a:xfrm>
          <a:prstGeom prst="rect">
            <a:avLst/>
          </a:prstGeom>
          <a:solidFill>
            <a:srgbClr val="FCFCFA"/>
          </a:solidFill>
          <a:ln w="9525">
            <a:solidFill>
              <a:srgbClr val="D5DCE4"/>
            </a:solidFill>
            <a:prstDash val="solid"/>
          </a:ln>
        </p:spPr>
      </p:sp>
      <p:sp>
        <p:nvSpPr>
          <p:cNvPr id="14" name="Shape 12"/>
          <p:cNvSpPr/>
          <p:nvPr/>
        </p:nvSpPr>
        <p:spPr>
          <a:xfrm>
            <a:off x="7958468" y="1651000"/>
            <a:ext cx="3420448" cy="38100"/>
          </a:xfrm>
          <a:prstGeom prst="rect">
            <a:avLst/>
          </a:prstGeom>
          <a:solidFill>
            <a:srgbClr val="E3AE2E"/>
          </a:solidFill>
          <a:ln/>
        </p:spPr>
      </p:sp>
      <p:sp>
        <p:nvSpPr>
          <p:cNvPr id="15" name="Text 13"/>
          <p:cNvSpPr/>
          <p:nvPr/>
        </p:nvSpPr>
        <p:spPr>
          <a:xfrm>
            <a:off x="8098164" y="17526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04 · Préparer le DAO</a:t>
            </a:r>
            <a:endParaRPr lang="en-US" sz="1500" dirty="0"/>
          </a:p>
        </p:txBody>
      </p:sp>
      <p:sp>
        <p:nvSpPr>
          <p:cNvPr id="16" name="Text 14"/>
          <p:cNvSpPr/>
          <p:nvPr/>
        </p:nvSpPr>
        <p:spPr>
          <a:xfrm>
            <a:off x="8098164" y="2038350"/>
            <a:ext cx="3141055" cy="99271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Les procédures en ligne · La fiche vue par l’Administrateur · Migrer le mode de remise</a:t>
            </a:r>
            <a:endParaRPr lang="en-US" sz="1200" dirty="0"/>
          </a:p>
        </p:txBody>
      </p:sp>
      <p:sp>
        <p:nvSpPr>
          <p:cNvPr id="17" name="Shape 15"/>
          <p:cNvSpPr/>
          <p:nvPr/>
        </p:nvSpPr>
        <p:spPr>
          <a:xfrm>
            <a:off x="812780" y="3246967"/>
            <a:ext cx="3420448" cy="1443567"/>
          </a:xfrm>
          <a:prstGeom prst="rect">
            <a:avLst/>
          </a:prstGeom>
          <a:solidFill>
            <a:srgbClr val="FCFCFA"/>
          </a:solidFill>
          <a:ln w="9525">
            <a:solidFill>
              <a:srgbClr val="D5DCE4"/>
            </a:solidFill>
            <a:prstDash val="solid"/>
          </a:ln>
        </p:spPr>
      </p:sp>
      <p:sp>
        <p:nvSpPr>
          <p:cNvPr id="18" name="Shape 16"/>
          <p:cNvSpPr/>
          <p:nvPr/>
        </p:nvSpPr>
        <p:spPr>
          <a:xfrm>
            <a:off x="812780" y="3246967"/>
            <a:ext cx="3420448" cy="38100"/>
          </a:xfrm>
          <a:prstGeom prst="rect">
            <a:avLst/>
          </a:prstGeom>
          <a:solidFill>
            <a:srgbClr val="12324A"/>
          </a:solidFill>
          <a:ln/>
        </p:spPr>
      </p:sp>
      <p:sp>
        <p:nvSpPr>
          <p:cNvPr id="19" name="Text 17"/>
          <p:cNvSpPr/>
          <p:nvPr/>
        </p:nvSpPr>
        <p:spPr>
          <a:xfrm>
            <a:off x="952476" y="3348567"/>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08 · Évaluer les offres</a:t>
            </a:r>
            <a:endParaRPr lang="en-US" sz="1500" dirty="0"/>
          </a:p>
        </p:txBody>
      </p:sp>
      <p:sp>
        <p:nvSpPr>
          <p:cNvPr id="20" name="Text 18"/>
          <p:cNvSpPr/>
          <p:nvPr/>
        </p:nvSpPr>
        <p:spPr>
          <a:xfrm>
            <a:off x="952476" y="3634317"/>
            <a:ext cx="3141055" cy="99271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L’étape close</a:t>
            </a:r>
            <a:endParaRPr lang="en-US" sz="1200" dirty="0"/>
          </a:p>
        </p:txBody>
      </p:sp>
      <p:sp>
        <p:nvSpPr>
          <p:cNvPr id="21" name="Shape 19"/>
          <p:cNvSpPr/>
          <p:nvPr/>
        </p:nvSpPr>
        <p:spPr>
          <a:xfrm>
            <a:off x="4385624" y="3246967"/>
            <a:ext cx="3420448" cy="1443567"/>
          </a:xfrm>
          <a:prstGeom prst="rect">
            <a:avLst/>
          </a:prstGeom>
          <a:solidFill>
            <a:srgbClr val="FCFCFA"/>
          </a:solidFill>
          <a:ln w="9525">
            <a:solidFill>
              <a:srgbClr val="D5DCE4"/>
            </a:solidFill>
            <a:prstDash val="solid"/>
          </a:ln>
        </p:spPr>
      </p:sp>
      <p:sp>
        <p:nvSpPr>
          <p:cNvPr id="22" name="Shape 20"/>
          <p:cNvSpPr/>
          <p:nvPr/>
        </p:nvSpPr>
        <p:spPr>
          <a:xfrm>
            <a:off x="4385624" y="3246967"/>
            <a:ext cx="3420448" cy="38100"/>
          </a:xfrm>
          <a:prstGeom prst="rect">
            <a:avLst/>
          </a:prstGeom>
          <a:solidFill>
            <a:srgbClr val="1B6FA8"/>
          </a:solidFill>
          <a:ln/>
        </p:spPr>
      </p:sp>
      <p:sp>
        <p:nvSpPr>
          <p:cNvPr id="23" name="Text 21"/>
          <p:cNvSpPr/>
          <p:nvPr/>
        </p:nvSpPr>
        <p:spPr>
          <a:xfrm>
            <a:off x="4525320" y="3348567"/>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09 · Attribuer et notifier</a:t>
            </a:r>
            <a:endParaRPr lang="en-US" sz="1500" dirty="0"/>
          </a:p>
        </p:txBody>
      </p:sp>
      <p:sp>
        <p:nvSpPr>
          <p:cNvPr id="24" name="Text 22"/>
          <p:cNvSpPr/>
          <p:nvPr/>
        </p:nvSpPr>
        <p:spPr>
          <a:xfrm>
            <a:off x="4525320" y="3634317"/>
            <a:ext cx="3141055" cy="99271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 résultat public de la procédure</a:t>
            </a:r>
            <a:endParaRPr lang="en-US" sz="1200" dirty="0"/>
          </a:p>
        </p:txBody>
      </p:sp>
      <p:sp>
        <p:nvSpPr>
          <p:cNvPr id="25" name="Shape 23"/>
          <p:cNvSpPr/>
          <p:nvPr/>
        </p:nvSpPr>
        <p:spPr>
          <a:xfrm>
            <a:off x="7958468" y="3246967"/>
            <a:ext cx="3420448" cy="1443567"/>
          </a:xfrm>
          <a:prstGeom prst="rect">
            <a:avLst/>
          </a:prstGeom>
          <a:solidFill>
            <a:srgbClr val="FCFCFA"/>
          </a:solidFill>
          <a:ln w="9525">
            <a:solidFill>
              <a:srgbClr val="D5DCE4"/>
            </a:solidFill>
            <a:prstDash val="solid"/>
          </a:ln>
        </p:spPr>
      </p:sp>
      <p:sp>
        <p:nvSpPr>
          <p:cNvPr id="26" name="Shape 24"/>
          <p:cNvSpPr/>
          <p:nvPr/>
        </p:nvSpPr>
        <p:spPr>
          <a:xfrm>
            <a:off x="7958468" y="3246967"/>
            <a:ext cx="3420448" cy="38100"/>
          </a:xfrm>
          <a:prstGeom prst="rect">
            <a:avLst/>
          </a:prstGeom>
          <a:solidFill>
            <a:srgbClr val="2E8B57"/>
          </a:solidFill>
          <a:ln/>
        </p:spPr>
      </p:sp>
      <p:sp>
        <p:nvSpPr>
          <p:cNvPr id="27" name="Text 25"/>
          <p:cNvSpPr/>
          <p:nvPr/>
        </p:nvSpPr>
        <p:spPr>
          <a:xfrm>
            <a:off x="8098164" y="3348567"/>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10 · Intérim et mandats</a:t>
            </a:r>
            <a:endParaRPr lang="en-US" sz="1500" dirty="0"/>
          </a:p>
        </p:txBody>
      </p:sp>
      <p:sp>
        <p:nvSpPr>
          <p:cNvPr id="28" name="Text 26"/>
          <p:cNvSpPr/>
          <p:nvPr/>
        </p:nvSpPr>
        <p:spPr>
          <a:xfrm>
            <a:off x="8098164" y="3634317"/>
            <a:ext cx="3141055" cy="99271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Les intérims des contrôleurs · Les mandats des PRMP · Nommer ou reconduire</a:t>
            </a:r>
            <a:endParaRPr lang="en-US" sz="1200" dirty="0"/>
          </a:p>
        </p:txBody>
      </p:sp>
      <p:sp>
        <p:nvSpPr>
          <p:cNvPr id="29" name="Shape 27"/>
          <p:cNvSpPr/>
          <p:nvPr/>
        </p:nvSpPr>
        <p:spPr>
          <a:xfrm>
            <a:off x="812780" y="4842933"/>
            <a:ext cx="3420448" cy="1443567"/>
          </a:xfrm>
          <a:prstGeom prst="rect">
            <a:avLst/>
          </a:prstGeom>
          <a:solidFill>
            <a:srgbClr val="FCFCFA"/>
          </a:solidFill>
          <a:ln w="9525">
            <a:solidFill>
              <a:srgbClr val="D5DCE4"/>
            </a:solidFill>
            <a:prstDash val="solid"/>
          </a:ln>
        </p:spPr>
      </p:sp>
      <p:sp>
        <p:nvSpPr>
          <p:cNvPr id="30" name="Shape 28"/>
          <p:cNvSpPr/>
          <p:nvPr/>
        </p:nvSpPr>
        <p:spPr>
          <a:xfrm>
            <a:off x="812780" y="4842933"/>
            <a:ext cx="3420448" cy="38100"/>
          </a:xfrm>
          <a:prstGeom prst="rect">
            <a:avLst/>
          </a:prstGeom>
          <a:solidFill>
            <a:srgbClr val="E3AE2E"/>
          </a:solidFill>
          <a:ln/>
        </p:spPr>
      </p:sp>
      <p:sp>
        <p:nvSpPr>
          <p:cNvPr id="31" name="Text 29"/>
          <p:cNvSpPr/>
          <p:nvPr/>
        </p:nvSpPr>
        <p:spPr>
          <a:xfrm>
            <a:off x="952476" y="4944533"/>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11 · Administrer</a:t>
            </a:r>
            <a:endParaRPr lang="en-US" sz="1500" dirty="0"/>
          </a:p>
        </p:txBody>
      </p:sp>
      <p:sp>
        <p:nvSpPr>
          <p:cNvPr id="32" name="Text 30"/>
          <p:cNvSpPr/>
          <p:nvPr/>
        </p:nvSpPr>
        <p:spPr>
          <a:xfrm>
            <a:off x="952476" y="5230283"/>
            <a:ext cx="3141055" cy="99271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 poste d’administration · Les demandes d’accès · Les rattachements en attente · Comptes et personnes · Créer une PRMP · Les comptes des contrôleurs · Les chaînes de contrôle · Délais standards et délais de la loi · Les points de contrôle · Le seuil AGPM de l’AMI · Les règles d’alerte · Le taux d’écartement des règles du pré-contrôle · Les nomenclatures · L’arbre des entités · Mode de passation → type de dossier · Les champs de la fiche DAO · Le quorum de la commission d’appel d’offres · Les recours suspensifs · La transition SIGMP · La remise électronique : défauts et bornes · Le compte bancaire de l’ARMP · Les paramètres de l’espace candidat · Les entreprises candidates · Les entreprises exclues par l’ARMP · Le journal des écritures · Le journal des connexions · Les actualités · Les plans et leurs marchés</a:t>
            </a:r>
            <a:endParaRPr lang="en-US" sz="1200" dirty="0"/>
          </a:p>
        </p:txBody>
      </p:sp>
      <p:sp>
        <p:nvSpPr>
          <p:cNvPr id="33" name="Shape 31"/>
          <p:cNvSpPr/>
          <p:nvPr/>
        </p:nvSpPr>
        <p:spPr>
          <a:xfrm>
            <a:off x="4385624" y="4842933"/>
            <a:ext cx="3420448" cy="1443567"/>
          </a:xfrm>
          <a:prstGeom prst="rect">
            <a:avLst/>
          </a:prstGeom>
          <a:solidFill>
            <a:srgbClr val="FCFCFA"/>
          </a:solidFill>
          <a:ln w="9525">
            <a:solidFill>
              <a:srgbClr val="D5DCE4"/>
            </a:solidFill>
            <a:prstDash val="solid"/>
          </a:ln>
        </p:spPr>
      </p:sp>
      <p:sp>
        <p:nvSpPr>
          <p:cNvPr id="34" name="Shape 32"/>
          <p:cNvSpPr/>
          <p:nvPr/>
        </p:nvSpPr>
        <p:spPr>
          <a:xfrm>
            <a:off x="4385624" y="4842933"/>
            <a:ext cx="3420448" cy="38100"/>
          </a:xfrm>
          <a:prstGeom prst="rect">
            <a:avLst/>
          </a:prstGeom>
          <a:solidFill>
            <a:srgbClr val="12324A"/>
          </a:solidFill>
          <a:ln/>
        </p:spPr>
      </p:sp>
      <p:sp>
        <p:nvSpPr>
          <p:cNvPr id="35" name="Text 33"/>
          <p:cNvSpPr/>
          <p:nvPr/>
        </p:nvSpPr>
        <p:spPr>
          <a:xfrm>
            <a:off x="4525320" y="4944533"/>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12 · Piloter et publier</a:t>
            </a:r>
            <a:endParaRPr lang="en-US" sz="1500" dirty="0"/>
          </a:p>
        </p:txBody>
      </p:sp>
      <p:sp>
        <p:nvSpPr>
          <p:cNvPr id="36" name="Text 34"/>
          <p:cNvSpPr/>
          <p:nvPr/>
        </p:nvSpPr>
        <p:spPr>
          <a:xfrm>
            <a:off x="4525320" y="5230283"/>
            <a:ext cx="3141055" cy="99271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Les rapports · Les procédures en ligne</a:t>
            </a:r>
            <a:endParaRPr lang="en-US" sz="1200" dirty="0"/>
          </a:p>
        </p:txBody>
      </p:sp>
      <p:sp>
        <p:nvSpPr>
          <p:cNvPr id="37" name="Text 35"/>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ÉTAPE 01</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Entrer</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De la porte d’entrée au premier geste</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PUBLIC</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connexion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connex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Tous les profils.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Identifiant (ou adresse électronique) et mot de passe. La session est portée par un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témoin sécurisé</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rien n’est conservé dans le navigateur qui permettrait de la dérober.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tentatives répétées sont freinées, et chacune est inscrite au journal des connexions.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Liens vers l’inscription d’une PRMP, l’inscription d’un candidat et le portail public.</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COMPTES · TOUS LES PROFILS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Changer son mot de passe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Changer son mot de pass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Tout utilisateur connecté, depuis la barre du haut.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L’ancien mot de passe est exigé ; le nouveau compte au moins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8 caractères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dont une lettre et un chiffre, et se saisit deux fois.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fenêtre se ferme par « Annuler », par sa croix ou par Échap.</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Mot de passe oublié : l’Administrateur le réinitialise.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ACCUEIL · TOUS LES PROFILS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Une actualité à l’ouverture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Une actualité à l’ouvertur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profils ciblés par 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L’Administrateur publie des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actualités ciblées par profil</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rappel de règles, consignes de dépôt, fermeture technique.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Ici, ce que la Commission attend d’un dossier de planification.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fenêtre se ferme par sa croix ou par Échap.</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NOTIFICATIONS · TOUS LES PROFILS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L’écran des notifications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écran des notification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Tous les profils, chacun pour ses seules notifications.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Tout ce que le circuit a signalé,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par date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une notification non lue reste en gras.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Filtres : toutes ou non lues, et par type d’événement ; « Tout marquer lu » en un geste.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Ici, pour la PRMP : rapport d’évaluation signé, dépôts clos, pièce de l’attributaire déposée.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NOTIFICATIONS · TOUS LES PROFILS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cloche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cloch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Tous les profils, dans la barre du haut.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dernières notifications et leur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compteur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sans quitter l’écran en cours.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compteur est tenu par le serveur et suivi en temps réel.</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ÉTAPE 03</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Contrôler</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Le circuit de contrôle d’un dossier</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chaînes de contrôle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chaînes de contrôl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 le Président, le Chef de commission pour sa localité.</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Membre rattaché à un Vérificateur, chaque Vérificateur à un Assistant.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rattachement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oriente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la vérification et l’archivage ; il n’interdit rien. Une chaîne incomplète n’est pas bloquante : tout porteur du rôle dans la localité reste compétent (« repli localité »).</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motifs-types de la conclusion</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es motifs-types de la conclusion">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 tient le référentiel ; le Membre, le Président et le Chef de commission s’en servent.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formulations du manuel : motifs de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renvoi</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(lettre de renvoi) et d’</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avis défavorable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(projet de PV), par type de dossier et, au besoin, par catégorie.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contrôleur insère le texte puis le complète : le motif n’engage rien par lui-même. Un motif se désactive plutôt que de se supprimer.</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MANUEL RÉVISÉ · 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points de contrôle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points de contrôl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grille d’examen : chaque point porte sa famille de dossier et, au besoin, un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sous-type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une catégorie ou une forme de marché.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portée range le point : par ligne de marché, une fois pour le dossier, la fiche de présentation ou le projet d’AGPM.</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points des dossiers d’appel d’offres renvoient aux informations de la fiche DAO qu’ils vérifient.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MANUEL RÉVISÉ · 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taux d’écartement des règles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taux d’écartement des règl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Pour chaque règle du pré-contrôle des plans : signalements ouverts, écartés, levés, et 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taux d’écartement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règle écartée presque à chaque fois s’éteint, sans rien perdre : les signalements écartés gardent leur motif.</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 règles » (faits établis) sont distinguées des « pistes » de l’assistant (suggestions).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MANUEL RÉVISÉ · 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délais standards du circuit</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délais standards du circuit">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délai de chaque étape de la Commission, en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heures ouvrées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(8 h = 1 jour ouvré) : il alimente la date de fin annoncée à la PRMP.</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Plus bas, les neuf délais de la loi n° 2016-055, en lecture : ils ne se règlent pas (voir la partie 09).</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MANUEL RÉVISÉ · 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délais par sous-type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es délais par sous-typ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Pour un sous-type, un délai propre à une étape (ici 24 h pour la réception d’une déclaration sans suite), ou « Revenir au standard ».</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L’alerte d’examen, au-delà de cinq jours ouvrés, ne dépend pas de ces réglages.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ÉTAPE 04</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Préparer le DAO</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De la ligne du plan au DAO publié</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procédures en ligne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procédures en lign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 sur le Poste d’administration.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Toutes les procédures en remise électronique,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à traiter d’abord</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celles sans responsable, celles dont le PV est à signer.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Pour chacune : l’état, le calendrier (avis, date limite, ouverture), la commission et la cérémonie, la séance, le responsable.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responsable se désigne depuis la fiche.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fiche vue par l’Administrateur</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fiche vue par l’Administrateur">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 en lecture.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fiche du dossier, en lecture : cadrage, informations, reprises, contrôles, versions figées (ici sept versions, en remise papier).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Deux gestes qui lui sont propres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désigner le responsable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de la procédure et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migrer le mode de remise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ADMINISTRATEUR · MANUEL RÉVISÉ</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Migrer le mode de remise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Migrer le mode de remis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 seul.</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migration fait passer une fiche figée en papier à la remise électronique : elle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ouvre une révision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la version validée reste intacte.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motif est obligatoire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la migration est tracée au journal du plan et du dossier.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PRMP complète ensuite ce que le nouveau mode exige, puis valide la nouvelle version.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ÉTAPE CLOSE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L’étape close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étape clos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Tous les profils qui lisent l’évaluation.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Étape close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 le dossier de marché n° 100372 (lot 1) est soumis à la Commission ; la séance, l’évaluation et l’AMI de la procédure ne se modifient plus.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Seule une reprise de l’évaluation après avis défavorable, ou une réattribution, les rouvre ; la PRMP ouvre le dossier de marché d’un clic.</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lectures restent ouvertes : rapport, PV, PDF et Word.</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INFORMER · PUBLIC</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résultat public de la procédure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résultat public de la procédu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Tout visiteur, sans compte.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Sur la page publique de la procédure : le résultat par lot — attributaire et montant hors taxes —, avec les dates de communication et d’affichage.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L’extrait du PV d’ouverture et les questions des candidats y restent lisibles ; l’avis d’attribution y paraîtra une fois publié.</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ÉTAPE 10</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Intérim et mandats</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De l’absence déclarée à la reprise</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INTÉRIM · 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intérims des contrôleurs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intérims des contrôleur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Tous les intérims de la Commission en une liste : titulaire, intérimaire, période, motif, référence, statut et auteur de la désignation.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L’Administrateur désigne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en repli</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pour un absent qui n’a rien déclaré, et peut révoquer.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fin avant terme est une révocation, une prolongation un nouvel intérim : l’historique reste complet.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MANDATS · 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mandats des PRMP</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mandats des PRMP">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mandat : PRMP, titulaire, numéro, début à la date de l’arrêté, fin, référence de l’arrêté, statut.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mandat dure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trois ans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ne se renouvelle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qu’une fois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la reconduction exige un nouvel arrêté.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PRMP saisie avant ce registre reçoit un mandat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implicite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reconstitué depuis sa fiche, jusqu’à la déclaration du mandat initial.</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MANDATS · 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Nommer ou reconduire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Nommer ou recondui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nomination ou une reconduction se déclare avec la référence d’un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nouvel arrêté</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un arrêté n’est jamais réutilisé, même pour la même personne.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fin se propose d’office : date de l’arrêté plus trois ans, moins un jour ; elle ne peut pas aller au-delà.</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nouveau mandat en cours rouvre le compte de la PRMP reconduite et lève l’attente de ses dossiers.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ÉTAPE 11</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Administrer</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La journée de l’Administrateur</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poste d’administration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poste d’administrat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b="1" dirty="0">
                <a:solidFill>
                  <a:srgbClr val="1B2A3A"/>
                </a:solidFill>
                <a:latin typeface="Segoe UI" pitchFamily="34" charset="0"/>
                <a:ea typeface="Segoe UI" pitchFamily="34" charset="-122"/>
                <a:cs typeface="Segoe UI" pitchFamily="34" charset="-120"/>
              </a:rPr>
              <a:t>À traiter maintenant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inscriptions de PRMP et d’UGPM, rattachements PRMP ⇄ entité, procédures en ligne sans responsable.</a:t>
            </a:r>
            <a:endParaRPr lang="en-US" sz="1050" dirty="0"/>
          </a:p>
          <a:p>
            <a:pPr marL="152400" indent="-152400">
              <a:spcAft>
                <a:spcPts val="300"/>
              </a:spcAft>
              <a:buSzPct val="100000"/>
              <a:buChar char="•"/>
            </a:pPr>
            <a:r>
              <a:rPr lang="en-US" sz="1200" b="1" dirty="0">
                <a:solidFill>
                  <a:srgbClr val="1B2A3A"/>
                </a:solidFill>
                <a:latin typeface="Segoe UI" pitchFamily="34" charset="0"/>
                <a:ea typeface="Segoe UI" pitchFamily="34" charset="-122"/>
                <a:cs typeface="Segoe UI" pitchFamily="34" charset="-120"/>
              </a:rPr>
              <a:t>Derniers changements de paramétrage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quand, qui, quel réglage — ici la transition SIGMP et les délais par sous-type.</a:t>
            </a:r>
            <a:endParaRPr lang="en-US" sz="1050" dirty="0"/>
          </a:p>
          <a:p>
            <a:pPr marL="152400" indent="-152400">
              <a:spcAft>
                <a:spcPts val="300"/>
              </a:spcAft>
              <a:buSzPct val="100000"/>
              <a:buChar char="•"/>
            </a:pPr>
            <a:r>
              <a:rPr lang="en-US" sz="1200" b="1" dirty="0">
                <a:solidFill>
                  <a:srgbClr val="1B2A3A"/>
                </a:solidFill>
                <a:latin typeface="Segoe UI" pitchFamily="34" charset="0"/>
                <a:ea typeface="Segoe UI" pitchFamily="34" charset="-122"/>
                <a:cs typeface="Segoe UI" pitchFamily="34" charset="-120"/>
              </a:rPr>
              <a:t>À surveiller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mandats de PRMP arrivant à terme dans les 30 jours, connexions refusées depuis 24 heures ; comptes actifs, suspendus et sessions ouvertes.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ADMINISTRATION · ACCÈS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demandes d’accès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demandes d’accè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PRMP inscrites en ligne attendent la validation : l’Administrateur vérifie l’identité et les pièces, puis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active ou refuse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le compte.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Aucune demande n’est en attente ce jour ; le compteur du menu les signale dès qu’il y en a.</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ADMINISTRATION · ACCÈS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rattachements en attente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rattachements en attent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entité créée à l’import d’un plan attend son approbation avant de devenir sélectionnable par la PRMP.</a:t>
            </a:r>
            <a:endParaRPr lang="en-US" sz="1050" dirty="0"/>
          </a:p>
          <a:p>
            <a:pPr marL="152400" indent="-152400">
              <a:spcAft>
                <a:spcPts val="300"/>
              </a:spcAft>
              <a:buSzPct val="100000"/>
              <a:buChar char="•"/>
            </a:pPr>
            <a:r>
              <a:rPr lang="en-US" sz="1200" b="1" dirty="0">
                <a:solidFill>
                  <a:srgbClr val="1B2A3A"/>
                </a:solidFill>
                <a:latin typeface="Segoe UI" pitchFamily="34" charset="0"/>
                <a:ea typeface="Segoe UI" pitchFamily="34" charset="-122"/>
                <a:cs typeface="Segoe UI" pitchFamily="34" charset="-120"/>
              </a:rPr>
              <a:t>Approuver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rend l’entité utilisable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rejeter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retire le rattachement, l’entité restant au référentiel.</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ADMINISTRATION · ACCÈS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Comptes et personnes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Comptes et personn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Toutes les personnes de l’application en une liste — contrôleurs, PRMP, UGPM — filtrable par type, profil, localité et état du compte.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fiche réunit l’accès (dernière connexion, échecs sur 30 jours), la place dans l’organisation (supérieur,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délégations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chaîne de contrôle) et l’activité au journal.</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Depuis la fiche : réinitialiser le mot de passe, suspendre le compte, modifier la fiche, changer de chaîne.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ADMINISTRATION · ACCÈS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Créer une PRMP</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Créer une PRMP">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fiche reprend l’arrêté de nomination (référence et date), la carte d’identité, les coordonnées et l’identifiant de connexion.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Arrêté, carte d’identité et photo se joignent en pièces ; le compte créé ici est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immédiatement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utilisable.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PRMP existante se gère depuis la liste : fiche, compte, entités, pièces.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31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ADMINISTRATION · ACCÈS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comptes des contrôleurs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comptes des contrôleur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contrôleur de la Commission : matricule, profil, localité, supérieur hiérarchique, caractère transversal.</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Douze contrôleurs sont enregistrés sur la base de démonstration, de la Centrale et de la région Atsinanana.</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32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ADMINISTRATION · CONTRÔLE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chaînes de contrôle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chaînes de contrôl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Membre a son Vérificateur, chaque Vérificateur son Assistant : la vérification des documents rectifiés et l’archivage sont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adressés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le long de ces chaînes.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chaîne incomplète ne bloque rien : tout Vérificateur ou Assistant de la localité reste compétent, et l’écran le signale « repli localité ».</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33</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ADMINISTRATION · CONTRÔLE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Délais standards et délais de la loi</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Délais standards et délais de la loi">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 règle ; tous lisent.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délai de chaque étape du circuit, en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heures ouvrées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(8 heures = 1 jour) : il fait la date de fin annoncée à la PRMP dès la soumission.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neuf délais de la loi n° 2016-055</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publicité, questions des candidats, plan réputé approuvé, attente avant signature, pièces de l’attributaire, avis d’attribution, déclaration sans suite — avec leur article et leur effet : ils ne se règlent pas.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délais issus des décrets et du manuel sont réglables et seulement signalés ; un sous-type de dossier peut avoir ses propres délais.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34</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ADMINISTRATION · CONTRÔLE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points de contrôle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points de contrôl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grille d’examen du manuel de contrôle, point par point : libellé, question posée au contrôleur, ordre, caractère obligatoire.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point vaut pour toute une famille de dossiers, ou pour un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sous-type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il peut ne viser qu’une catégorie ou une forme de marché.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Sa portée le range dans la grille : par ligne de marché, une fois pour le dossier, sur la fiche de présentation ou sur l’avis général.</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35</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ADMINISTRATION · CONTRÔLE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seuil AGPM de l’AMI</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seuil AGPM de l’AMI">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montant à partir duquel un marché en appel à manifestation d’intérêt rend l’avis général de passation requis, comparé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marché par marché</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borne incluse.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Réglé à 0 ce jour : tout marché en AMI le déclenche. Les appels d’offres le déclenchent toujours ; le gré à gré et la consultation, jamais.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36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ADMINISTRATION · CONTRÔLE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d’alerte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règles d’alert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règle fixe un jalon, le nombre de jours avant l’échéance et le profil prévenu ; elle s’active ou se désactive.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Aucune règle n’est enregistrée sur la base de démonstration.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37</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ADMINISTRATION · PRÉ-CONTRÔLE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taux d’écartement des règles du pré-contrôle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taux d’écartement des règles du pré-contrôl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Pour chaque règle du pré-contrôle du plan de passation : signalements observés, ouverts,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écartés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levés.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règle écartée presque à chaque fois fatigue la PRMP et le contrôleur : elle s’éteint depuis les règles d’anomalie, sans perdre les motifs déjà saisis.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Ce jour : 68 signalements, aucun écarté.</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38</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ADMINISTRATION · RÉFÉRENTIELS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nomenclatures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nomenclatur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sommaire de tous les référentiels : entités, localités, natures, modes de passation, types et sous-types de dossier, pièces, statuts de marché, délégations de profil…</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Il ouvre aussi les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réglages de la commande publique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quorum de la commission d’appel d’offres, transition SIGMP, recours suspensifs, remise électronique, compte de l’ARMP, espace candidat, exclusions.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39</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ADMINISTRATION · RÉFÉRENTIELS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L’arbre des entités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rbre des entité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entités contractantes rangées par niveau : ministère, direction générale…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localité d’un dossier vient de l’entité choisie à la saisie, jamais de la PRMP.</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40</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ADMINISTRATION · RÉFÉRENTIELS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Mode de passation → type de dossier</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Mode de passation → type de dossier">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type de dossier de mise en concurrence d’un marché (DAO, dossier de consultation, bon de commande) se déduit de son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mode de passation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modes sans rattachement sont signalés « Non mappé » : aucune fiche ne peut se créer sur leurs lignes.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41</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ADMINISTRATION · RÉFÉRENTIELS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champs de la fiche DAO</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champs de la fiche DAO">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L’écran de la fiche DAO est dessiné depuis ce référentiel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699 informations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dont 488 actives, 23 reprises du plan et 26 du cadrage.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champ dit sa source, le document où il s’imprime, les marchés concernés et sa condition d’affichage.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Ajouter une information ou changer sa condition ne demande aucune intervention technique ; un champ ne se supprime pas, il se désactive.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42</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PARAMÈTRES · MANUEL RÉVISÉ</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quorum de la commission d’appel d’offres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quorum de la commission d’appel d’offr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Trois règles possibles : 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majorité</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des membres désignés (par défaut), tous les membres, ou un nombre minimal.</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président de la commission, ou le représentant qu’il désigne, est toujours requis en plus du nombre.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quorum se vérifie à la clôture des séances, à la production du rapport d’évaluation et à l’arrêt de la liste de l’AMI ; un empêchement qui le rendrait inatteignable est refusé.</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43</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PARAMÈTRES · MANUEL RÉVISÉ</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recours suspensifs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recours suspensif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recours qui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arrêtent la signature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du marché jusqu’à leur décision, vingt jours au plus : révision auprès de l’ARMP (art. 80) et référé précontractuel (art. 78), cochés ce jour.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demande de réexamen auprès de la PRMP (art. 79) peut être ajoutée ; la PRMP y répond sous dix jours.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réglage vaut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immédiatement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y compris pour les recours déjà déclarés.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44</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PARAMÈTRES · MANUEL RÉVISÉ</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transition SIGMP</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transition SIGMP">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L’avis spécifique, la lettre d’invitation et l’avis général produits par l’application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tiennent lieu</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d’imprimés du SIGMP.</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Jusqu’à la date de fin de transition, l’imprimé du SIGMP reste accepté mais facultatif pour les procédures en ligne ; ensuite il n’est plus demandé. Aucune date n’est fixée ce jour.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décision formelle d’équivalence (référence et date) s’imprime au pied de chaque document ; en attendant : « Projet — équivalence SIGMP en attente ».</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45</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PARAMÈTRES · REMISE ÉLECTRONIQUE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remise électronique : défauts et bornes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remise électronique : défauts et born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Ce que la fiche DAO propose d’avance en remise électronique : adresse de la plateforme, fuseau horaire, assistance aux candidats, quorum de déchiffrement proposé (3 sur 5).</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Ce que ses contrôles exigent au minimum : niveau de signature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Simple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ce jour), taille maximale de la plateforme (500 Mo), délai minimal entre publication et date limite (30 jours).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rappel aux détenteurs d’une part de clé non vérifiée, 7 jours avant la date limite.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46</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PARAMÈTRES · REMISE ÉLECTRONIQUE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compte bancaire de l’ARMP</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compte bancaire de l’ARMP">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compte unique où se verse le prix d’un dossier d’appel d’offres : banque, titulaire, numéro.</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L’avis spécifique l’imprime ; l’écran montre la phrase telle qu’elle paraîtra.</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Il n’est pas encore réglé sur la base de démonstration : les avis impriment des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pointillés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à sa place.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47</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PARAMÈTRES · ESPACE 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paramètres de l’espace candidat</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paramètres de l’espace candidat">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Vérification du NIF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sur pièces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inscriptions limitées à 5 par jour depuis un même poste ; un compte jamais confirmé est supprimé après 7 jours, un compte inactif archivé après 24 mois.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Pièces de l’entreprise limitées à 10 Mo ; la confirmation par téléphone reste désactivée.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Conservation des offres : sans durée fixée, rien n’est supprimé ; au terme, la purge reste un geste de l’Administrateur, procédure par procédure.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48</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ADMINISTRATION · ENTREPRISES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entreprises candidates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entreprises candidat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entreprises déclarées par les candidats, par état de vérification : non vérifié, pièces refusées, NIF vérifié sur pièces…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L’Administrateur rapproche la carte fiscale du NIF déclaré, puis décide — ici l’« Entreprise de recette BTP », non encore vérifiée.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décision ne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bloque aucun dépôt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la commission la lit à l’ouverture des plis.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49</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ADMINISTRATION · ENTREPRISES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entreprises exclues par l’ARMP</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entreprises exclues par l’ARMP">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répertoire des décisions d’exclusion de l’ARMP, avec leur référence et leurs dates, rapproché par le NIF.</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entreprise exclue est signalée dès sa déclaration et ne peut pas déposer d’offre pendant la période.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Rien ne se supprime : on corrige, ou on avance la date de fin. Aucune exclusion n’est répertoriée ce jour.</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50</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ADMINISTRATION · TRACES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journal des écritures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journal des écritur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Toute écriture enregistrée : date, acteur, objet, action — plus de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132 000</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entrées sur la base de démonstration.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Filtrable par objet, par acteur et par période, du plus récent au plus ancien ; nul ne peut y ajouter, modifier ni supprimer une entrée.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51</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ADMINISTRATION · TRACES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journal des connexions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journal des connexion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connexion acceptée ou refusée : qui, quand, fin de session, durée, adresse et poste utilisés.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tentative sur un identifiant inconnu est journalisée sous l’identifiant tapé : c’est souvent la ligne qu’on vient chercher.</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52</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ADMINISTRATION · TRACES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actualités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actualité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actualité vise un ou plusieurs profils et s’affiche à l’ouverture de session, dans sa période de publication.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Elle s’active, se désactive ou s’archive ; un interrupteur général les arrête toutes sans rien perdre.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53</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ADMINISTRATION · CONSULTATION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plans et leurs marchés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plans et leurs marché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 en lecture.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plans de passation enregistrés, par référence et exercice, avec le nombre de marchés rattachés et leur détail.</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consultation des données des PRMP, sans aucun geste de modification.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54</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PILOTAGE ·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rapports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rapport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Président, l’Administrateur et le Chef de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rapport des dossiers, en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PDF</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ou en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tableur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période est facultative : sans dates, tous les dossiers sont inclus.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Chef de commission n’obtient que sa localité.</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55</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PILOTAGE · 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procédures en ligne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procédures en lign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 ; chaque responsable pour les siennes.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Toutes les procédures en remise électronique — ici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11</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dont 4 à traiter et 1 sans responsable.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Pour chacune : état de la fiche et des dépôts, nombre d’offres, calendrier (avis, date limite, ouverture), commission constituée ou non, cérémonie des clés, séance, responsable.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Désigner le responsable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pour celle qui n’en a pas ; sinon, accès à la fiche, aux paramètres et à la cérémonie, et à la séance.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56</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RÈGLES À CONNAÎTRE</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Ce que l’application applique pour l’Administrateur</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82 règles de gestion, tirées des écrans présentés : ce que l’application vérifie, bloque ou trace.</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57</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(1/17)</a:t>
            </a:r>
            <a:endParaRPr lang="en-US" sz="2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session portée par le serveur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RG-ENT-01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connexion ouvre une session portée par un </a:t>
                      </a:r>
                      <a:pPr indent="0" marL="0">
                        <a:buNone/>
                      </a:pPr>
                      <a:r>
                        <a:rPr lang="en-US" sz="1100" b="1" dirty="0">
                          <a:solidFill>
                            <a:srgbClr val="1B2A3A"/>
                          </a:solidFill>
                          <a:latin typeface="Segoe UI" pitchFamily="34" charset="0"/>
                          <a:ea typeface="Segoe UI" pitchFamily="34" charset="-122"/>
                          <a:cs typeface="Segoe UI" pitchFamily="34" charset="-120"/>
                        </a:rPr>
                        <a:t>témoin protégé</a:t>
                      </a:r>
                      <a:pPr indent="0" marL="0">
                        <a:buNone/>
                      </a:pPr>
                      <a:r>
                        <a:rPr lang="en-US" sz="1100" dirty="0">
                          <a:solidFill>
                            <a:srgbClr val="1B2A3A"/>
                          </a:solidFill>
                          <a:latin typeface="Segoe UI" pitchFamily="34" charset="0"/>
                          <a:ea typeface="Segoe UI" pitchFamily="34" charset="-122"/>
                          <a:cs typeface="Segoe UI" pitchFamily="34" charset="-120"/>
                        </a:rPr>
                        <a:t>, que les scripts de la page ne peuvent pas lire et qui n’est jamais envoyé à un autre site. Aucun jeton n’est remis à l’écran ; la déconnexion est demandée au serveur, qui efface la session.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Tentatives de connexion limitées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RG-ENT-02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Cinq échecs en quinze minutes verrouillent l’identifiant depuis un même poste ; vingt échecs bloquent le poste. Une connexion réussie remet à zéro le compteur de l’identifiant. Les inscriptions publiques sont limitées à </a:t>
                      </a:r>
                      <a:pPr indent="0" marL="0">
                        <a:buNone/>
                      </a:pPr>
                      <a:r>
                        <a:rPr lang="en-US" sz="1100" b="1" dirty="0">
                          <a:solidFill>
                            <a:srgbClr val="1B2A3A"/>
                          </a:solidFill>
                          <a:latin typeface="Segoe UI" pitchFamily="34" charset="0"/>
                          <a:ea typeface="Segoe UI" pitchFamily="34" charset="-122"/>
                          <a:cs typeface="Segoe UI" pitchFamily="34" charset="-120"/>
                        </a:rPr>
                        <a:t>dix par heure</a:t>
                      </a:r>
                      <a:pPr indent="0" marL="0">
                        <a:buNone/>
                      </a:pPr>
                      <a:r>
                        <a:rPr lang="en-US" sz="1100" dirty="0">
                          <a:solidFill>
                            <a:srgbClr val="1B2A3A"/>
                          </a:solidFill>
                          <a:latin typeface="Segoe UI" pitchFamily="34" charset="0"/>
                          <a:ea typeface="Segoe UI" pitchFamily="34" charset="-122"/>
                          <a:cs typeface="Segoe UI" pitchFamily="34" charset="-120"/>
                        </a:rPr>
                        <a:t> et par poste.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mot de passe robuste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RG-ENT-03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Tout nouveau mot de passe compte </a:t>
                      </a:r>
                      <a:pPr indent="0" marL="0">
                        <a:buNone/>
                      </a:pPr>
                      <a:r>
                        <a:rPr lang="en-US" sz="1100" b="1" dirty="0">
                          <a:solidFill>
                            <a:srgbClr val="1B2A3A"/>
                          </a:solidFill>
                          <a:latin typeface="Segoe UI" pitchFamily="34" charset="0"/>
                          <a:ea typeface="Segoe UI" pitchFamily="34" charset="-122"/>
                          <a:cs typeface="Segoe UI" pitchFamily="34" charset="-120"/>
                        </a:rPr>
                        <a:t>8 à 72 caractères</a:t>
                      </a:r>
                      <a:pPr indent="0" marL="0">
                        <a:buNone/>
                      </a:pPr>
                      <a:r>
                        <a:rPr lang="en-US" sz="1100" dirty="0">
                          <a:solidFill>
                            <a:srgbClr val="1B2A3A"/>
                          </a:solidFill>
                          <a:latin typeface="Segoe UI" pitchFamily="34" charset="0"/>
                          <a:ea typeface="Segoe UI" pitchFamily="34" charset="-122"/>
                          <a:cs typeface="Segoe UI" pitchFamily="34" charset="-120"/>
                        </a:rPr>
                        <a:t>, dont au moins une lettre et un chiffre : à l’inscription, à la création d’un compte, à la réinitialisation et au changement. La règle ne s’applique jamais à la connexion : un ancien mot de passe reste valable jusqu’à son prochain changement.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Chaque tentative est journalisée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RG-ENT-04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tentative de connexion, réussie ou refusée, est consignée avec l’identifiant tenté ; la déconnexion date la fin de la session. L’Administrateur consulte ce </a:t>
                      </a:r>
                      <a:pPr indent="0" marL="0">
                        <a:buNone/>
                      </a:pPr>
                      <a:r>
                        <a:rPr lang="en-US" sz="1100" b="1" dirty="0">
                          <a:solidFill>
                            <a:srgbClr val="1B2A3A"/>
                          </a:solidFill>
                          <a:latin typeface="Segoe UI" pitchFamily="34" charset="0"/>
                          <a:ea typeface="Segoe UI" pitchFamily="34" charset="-122"/>
                          <a:cs typeface="Segoe UI" pitchFamily="34" charset="-120"/>
                        </a:rPr>
                        <a:t>journal des connexions</a:t>
                      </a:r>
                      <a:pPr indent="0" marL="0">
                        <a:buNone/>
                      </a:pPr>
                      <a:r>
                        <a:rPr lang="en-US" sz="1100" dirty="0">
                          <a:solidFill>
                            <a:srgbClr val="1B2A3A"/>
                          </a:solidFill>
                          <a:latin typeface="Segoe UI" pitchFamily="34" charset="0"/>
                          <a:ea typeface="Segoe UI" pitchFamily="34" charset="-122"/>
                          <a:cs typeface="Segoe UI" pitchFamily="34" charset="-120"/>
                        </a:rPr>
                        <a:t>. Une panne du journal ne bloque jamais la connexion.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Changer ou retrouver son mot de passe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Chacun change son mot de passe depuis la barre du haut : l’</a:t>
                      </a:r>
                      <a:pPr indent="0" marL="0">
                        <a:buNone/>
                      </a:pPr>
                      <a:r>
                        <a:rPr lang="en-US" sz="1100" b="1" dirty="0">
                          <a:solidFill>
                            <a:srgbClr val="1B2A3A"/>
                          </a:solidFill>
                          <a:latin typeface="Segoe UI" pitchFamily="34" charset="0"/>
                          <a:ea typeface="Segoe UI" pitchFamily="34" charset="-122"/>
                          <a:cs typeface="Segoe UI" pitchFamily="34" charset="-120"/>
                        </a:rPr>
                        <a:t>ancien mot de passe</a:t>
                      </a:r>
                      <a:pPr indent="0" marL="0">
                        <a:buNone/>
                      </a:pPr>
                      <a:r>
                        <a:rPr lang="en-US" sz="1100" dirty="0">
                          <a:solidFill>
                            <a:srgbClr val="1B2A3A"/>
                          </a:solidFill>
                          <a:latin typeface="Segoe UI" pitchFamily="34" charset="0"/>
                          <a:ea typeface="Segoe UI" pitchFamily="34" charset="-122"/>
                          <a:cs typeface="Segoe UI" pitchFamily="34" charset="-120"/>
                        </a:rPr>
                        <a:t> est vérifié par le serveur, et le nouveau doit en différer. Un mot de passe oublié ne se réinitialise pas en libre-service : l’utilisateur s’adresse à l’Administrateur, qui le réinitialise.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58</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(2/17)</a:t>
            </a:r>
            <a:endParaRPr lang="en-US" sz="26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actualité à l’ouverture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À chaque ouverture de session, une fenêtre présente les actualités </a:t>
                      </a:r>
                      <a:pPr indent="0" marL="0">
                        <a:buNone/>
                      </a:pPr>
                      <a:r>
                        <a:rPr lang="en-US" sz="1100" b="1" dirty="0">
                          <a:solidFill>
                            <a:srgbClr val="1B2A3A"/>
                          </a:solidFill>
                          <a:latin typeface="Segoe UI" pitchFamily="34" charset="0"/>
                          <a:ea typeface="Segoe UI" pitchFamily="34" charset="-122"/>
                          <a:cs typeface="Segoe UI" pitchFamily="34" charset="-120"/>
                        </a:rPr>
                        <a:t>ciblées sur le profil</a:t>
                      </a:r>
                      <a:pPr indent="0" marL="0">
                        <a:buNone/>
                      </a:pPr>
                      <a:r>
                        <a:rPr lang="en-US" sz="1100" dirty="0">
                          <a:solidFill>
                            <a:srgbClr val="1B2A3A"/>
                          </a:solidFill>
                          <a:latin typeface="Segoe UI" pitchFamily="34" charset="0"/>
                          <a:ea typeface="Segoe UI" pitchFamily="34" charset="-122"/>
                          <a:cs typeface="Segoe UI" pitchFamily="34" charset="-120"/>
                        </a:rPr>
                        <a:t>, actives et dans leur période de publication. L’Administrateur les rédige sans intervention technique : texte sans balise HTML, images JPEG de 10 Mo au plus ; une actualité expirée s’archive d’elle-même.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notification à chaque transmission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transmission avise le ou les responsables de l’</a:t>
                      </a:r>
                      <a:pPr indent="0" marL="0">
                        <a:buNone/>
                      </a:pPr>
                      <a:r>
                        <a:rPr lang="en-US" sz="1100" b="1" dirty="0">
                          <a:solidFill>
                            <a:srgbClr val="1B2A3A"/>
                          </a:solidFill>
                          <a:latin typeface="Segoe UI" pitchFamily="34" charset="0"/>
                          <a:ea typeface="Segoe UI" pitchFamily="34" charset="-122"/>
                          <a:cs typeface="Segoe UI" pitchFamily="34" charset="-120"/>
                        </a:rPr>
                        <a:t>étape suivante</a:t>
                      </a:r>
                      <a:pPr indent="0" marL="0">
                        <a:buNone/>
                      </a:pPr>
                      <a:r>
                        <a:rPr lang="en-US" sz="1100" dirty="0">
                          <a:solidFill>
                            <a:srgbClr val="1B2A3A"/>
                          </a:solidFill>
                          <a:latin typeface="Segoe UI" pitchFamily="34" charset="0"/>
                          <a:ea typeface="Segoe UI" pitchFamily="34" charset="-122"/>
                          <a:cs typeface="Segoe UI" pitchFamily="34" charset="-120"/>
                        </a:rPr>
                        <a:t>, dans le même mouvement que l’événement. Le destinataire se déduit du rôle et de la localité du dossier, ou de l’assignation. Un rattachement manquant ne fait jamais disparaître une notification.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Chacun ne lit que les siennes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utilisateur ne consulte que </a:t>
                      </a:r>
                      <a:pPr indent="0" marL="0">
                        <a:buNone/>
                      </a:pPr>
                      <a:r>
                        <a:rPr lang="en-US" sz="1100" b="1" dirty="0">
                          <a:solidFill>
                            <a:srgbClr val="1B2A3A"/>
                          </a:solidFill>
                          <a:latin typeface="Segoe UI" pitchFamily="34" charset="0"/>
                          <a:ea typeface="Segoe UI" pitchFamily="34" charset="-122"/>
                          <a:cs typeface="Segoe UI" pitchFamily="34" charset="-120"/>
                        </a:rPr>
                        <a:t>ses notifications</a:t>
                      </a:r>
                      <a:pPr indent="0" marL="0">
                        <a:buNone/>
                      </a:pPr>
                      <a:r>
                        <a:rPr lang="en-US" sz="1100" dirty="0">
                          <a:solidFill>
                            <a:srgbClr val="1B2A3A"/>
                          </a:solidFill>
                          <a:latin typeface="Segoe UI" pitchFamily="34" charset="0"/>
                          <a:ea typeface="Segoe UI" pitchFamily="34" charset="-122"/>
                          <a:cs typeface="Segoe UI" pitchFamily="34" charset="-120"/>
                        </a:rPr>
                        <a:t>, les marque lues ou non lues. Le compteur de la cloche est calculé par le serveur et suivi en temps réel, avec un repli toutes les 60 secondes. La liste globale est réservée à l’Administrateur.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Chaînes Membre, Vérificateur, Assistant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RG-CTL-13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Membre peut être rattaché à un Vérificateur, et chaque Vérificateur à un Assistant, dans la même localité ; le rattachement est posé par l’Administrateur, le Président, ou le Chef de commission dans sa localité. Il </a:t>
                      </a:r>
                      <a:pPr indent="0" marL="0">
                        <a:buNone/>
                      </a:pPr>
                      <a:r>
                        <a:rPr lang="en-US" sz="1100" b="1" dirty="0">
                          <a:solidFill>
                            <a:srgbClr val="1B2A3A"/>
                          </a:solidFill>
                          <a:latin typeface="Segoe UI" pitchFamily="34" charset="0"/>
                          <a:ea typeface="Segoe UI" pitchFamily="34" charset="-122"/>
                          <a:cs typeface="Segoe UI" pitchFamily="34" charset="-120"/>
                        </a:rPr>
                        <a:t>oriente</a:t>
                      </a:r>
                      <a:pPr indent="0" marL="0">
                        <a:buNone/>
                      </a:pPr>
                      <a:r>
                        <a:rPr lang="en-US" sz="1100" dirty="0">
                          <a:solidFill>
                            <a:srgbClr val="1B2A3A"/>
                          </a:solidFill>
                          <a:latin typeface="Segoe UI" pitchFamily="34" charset="0"/>
                          <a:ea typeface="Segoe UI" pitchFamily="34" charset="-122"/>
                          <a:cs typeface="Segoe UI" pitchFamily="34" charset="-120"/>
                        </a:rPr>
                        <a:t> notifications et files sans rien verrouiller : sans chaîne, tous les porteurs du rôle de la localité restent compétents.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motifs-types de la conclusion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RG-CTL-49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formulations du manuel (renvoi, avis défavorable) forment un référentiel tenu par l’Administrateur, qui suit l’héritage des grilles. Le contrôleur les insère dans le projet de PV ou la lettre de renvoi et les complète ; l’application n’écrit rien à sa place. Un motif désactivé n’est plus proposé.</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59</a:t>
            </a: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(3/17)</a:t>
            </a:r>
            <a:endParaRPr lang="en-US" sz="26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grille du dossier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RG-CTL-48</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grille d’un dossier réunit les points communs de sa famille (sauf grille propre : marché de prestations intellectuelles, gré à gré, dossier de consultation, rapport justificatif, pré-qualification, avenant, déclaration sans suite), ceux de la grille dont il dérive (un appel d’offres restreint reprend l’appel d’offres ouvert) et les siens, sans les points dont la catégorie ou la forme ne s’applique pas à sa fiche.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sous-types du manuel</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RG-CTL-46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Vingt-trois sous-types de dossier : </a:t>
                      </a:r>
                      <a:pPr indent="0" marL="0">
                        <a:buNone/>
                      </a:pPr>
                      <a:r>
                        <a:rPr lang="en-US" sz="1100" b="1" dirty="0">
                          <a:solidFill>
                            <a:srgbClr val="1B2A3A"/>
                          </a:solidFill>
                          <a:latin typeface="Segoe UI" pitchFamily="34" charset="0"/>
                          <a:ea typeface="Segoe UI" pitchFamily="34" charset="-122"/>
                          <a:cs typeface="Segoe UI" pitchFamily="34" charset="-120"/>
                        </a:rPr>
                        <a:t>DAOO</a:t>
                      </a:r>
                      <a:pPr indent="0" marL="0">
                        <a:buNone/>
                      </a:pPr>
                      <a:r>
                        <a:rPr lang="en-US" sz="1100" dirty="0">
                          <a:solidFill>
                            <a:srgbClr val="1B2A3A"/>
                          </a:solidFill>
                          <a:latin typeface="Segoe UI" pitchFamily="34" charset="0"/>
                          <a:ea typeface="Segoe UI" pitchFamily="34" charset="-122"/>
                          <a:cs typeface="Segoe UI" pitchFamily="34" charset="-120"/>
                        </a:rPr>
                        <a:t> (ancien « DAO »), DAOOI, DAOOPREQUAL, DPREQUAL, DAOR, DAORI, DC, DP, RJ ; MAOO… MPI, MGG ; la famille des actes de gestion contractuelle (avenant, résiliation, indemnité, remise de pénalités, sursis) ; la déclaration sans suite (DSS). Le dossier produit par une fiche prend le sous-type que dit le mode de la ligne du plan.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règle trop écartée s’éteint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RG-CTL-57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taux d’écartement de chaque règle du pré-contrôle se lit en compteurs seulement. Un signalement </a:t>
                      </a:r>
                      <a:pPr indent="0" marL="0">
                        <a:buNone/>
                      </a:pPr>
                      <a:r>
                        <a:rPr lang="en-US" sz="1100" b="1" dirty="0">
                          <a:solidFill>
                            <a:srgbClr val="1B2A3A"/>
                          </a:solidFill>
                          <a:latin typeface="Segoe UI" pitchFamily="34" charset="0"/>
                          <a:ea typeface="Segoe UI" pitchFamily="34" charset="-122"/>
                          <a:cs typeface="Segoe UI" pitchFamily="34" charset="-120"/>
                        </a:rPr>
                        <a:t>levé</a:t>
                      </a:r>
                      <a:pPr indent="0" marL="0">
                        <a:buNone/>
                      </a:pPr>
                      <a:r>
                        <a:rPr lang="en-US" sz="1100" dirty="0">
                          <a:solidFill>
                            <a:srgbClr val="1B2A3A"/>
                          </a:solidFill>
                          <a:latin typeface="Segoe UI" pitchFamily="34" charset="0"/>
                          <a:ea typeface="Segoe UI" pitchFamily="34" charset="-122"/>
                          <a:cs typeface="Segoe UI" pitchFamily="34" charset="-120"/>
                        </a:rPr>
                        <a:t> (le plan a été corrigé) est une réussite et ne compte pas dans le taux. Le taux n’est signalé qu’à partir de cinq signalements ; une règle s’éteint sans redéploiement, et les signalements écartés gardent leur motif.</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délai se mesure, sans saisie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RG-CTL-42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étape est chronométrée sans saisie : elle commence à la fin de la précédente et s’achève au geste qui la clôt. Le calcul se fait en </a:t>
                      </a:r>
                      <a:pPr indent="0" marL="0">
                        <a:buNone/>
                      </a:pPr>
                      <a:r>
                        <a:rPr lang="en-US" sz="1100" b="1" dirty="0">
                          <a:solidFill>
                            <a:srgbClr val="1B2A3A"/>
                          </a:solidFill>
                          <a:latin typeface="Segoe UI" pitchFamily="34" charset="0"/>
                          <a:ea typeface="Segoe UI" pitchFamily="34" charset="-122"/>
                          <a:cs typeface="Segoe UI" pitchFamily="34" charset="-120"/>
                        </a:rPr>
                        <a:t>heures ouvrées</a:t>
                      </a:r>
                      <a:pPr indent="0" marL="0">
                        <a:buNone/>
                      </a:pPr>
                      <a:r>
                        <a:rPr lang="en-US" sz="1100" dirty="0">
                          <a:solidFill>
                            <a:srgbClr val="1B2A3A"/>
                          </a:solidFill>
                          <a:latin typeface="Segoe UI" pitchFamily="34" charset="0"/>
                          <a:ea typeface="Segoe UI" pitchFamily="34" charset="-122"/>
                          <a:cs typeface="Segoe UI" pitchFamily="34" charset="-120"/>
                        </a:rPr>
                        <a:t>, de 8 h à 16 h du lundi au vendredi, 8 h valant un jour.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Date prévisionnelle annoncée dès le dépôt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RG-CTL-44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date annoncée à la PRMP additionne le reste de l’étape en cours et les délais standards des étapes restantes. Une étape en dépassement compte zéro : la date glisse.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60</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(4/17)</a:t>
            </a:r>
            <a:endParaRPr lang="en-US" sz="26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délais par sous-type et l’alerte d’examen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RG-CTL-50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sous-type peut avoir son délai par étape de la Commission ; sans réglage, il suit le délai standard. La date de fin annoncée suit ces réglages. Un examen ouvert depuis plus de </a:t>
                      </a:r>
                      <a:pPr indent="0" marL="0">
                        <a:buNone/>
                      </a:pPr>
                      <a:r>
                        <a:rPr lang="en-US" sz="1100" b="1" dirty="0">
                          <a:solidFill>
                            <a:srgbClr val="1B2A3A"/>
                          </a:solidFill>
                          <a:latin typeface="Segoe UI" pitchFamily="34" charset="0"/>
                          <a:ea typeface="Segoe UI" pitchFamily="34" charset="-122"/>
                          <a:cs typeface="Segoe UI" pitchFamily="34" charset="-120"/>
                        </a:rPr>
                        <a:t>cinq jours ouvrés</a:t>
                      </a:r>
                      <a:pPr indent="0" marL="0">
                        <a:buNone/>
                      </a:pPr>
                      <a:r>
                        <a:rPr lang="en-US" sz="1100" dirty="0">
                          <a:solidFill>
                            <a:srgbClr val="1B2A3A"/>
                          </a:solidFill>
                          <a:latin typeface="Segoe UI" pitchFamily="34" charset="0"/>
                          <a:ea typeface="Segoe UI" pitchFamily="34" charset="-122"/>
                          <a:cs typeface="Segoe UI" pitchFamily="34" charset="-120"/>
                        </a:rPr>
                        <a:t> (40 heures ouvrées) alerte le Membre, le Chef de commission et le Président, une fois par passage.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responsable de la procédure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RG-DAO-57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personne désignée par l’</a:t>
                      </a:r>
                      <a:pPr indent="0" marL="0">
                        <a:buNone/>
                      </a:pPr>
                      <a:r>
                        <a:rPr lang="en-US" sz="1100" b="1" dirty="0">
                          <a:solidFill>
                            <a:srgbClr val="1B2A3A"/>
                          </a:solidFill>
                          <a:latin typeface="Segoe UI" pitchFamily="34" charset="0"/>
                          <a:ea typeface="Segoe UI" pitchFamily="34" charset="-122"/>
                          <a:cs typeface="Segoe UI" pitchFamily="34" charset="-120"/>
                        </a:rPr>
                        <a:t>Administrateur</a:t>
                      </a:r>
                      <a:pPr indent="0" marL="0">
                        <a:buNone/>
                      </a:pPr>
                      <a:r>
                        <a:rPr lang="en-US" sz="1100" dirty="0">
                          <a:solidFill>
                            <a:srgbClr val="1B2A3A"/>
                          </a:solidFill>
                          <a:latin typeface="Segoe UI" pitchFamily="34" charset="0"/>
                          <a:ea typeface="Segoe UI" pitchFamily="34" charset="-122"/>
                          <a:cs typeface="Segoe UI" pitchFamily="34" charset="-120"/>
                        </a:rPr>
                        <a:t> pour cette procédure, une à la fois, jamais détentrice d’une part. En remise électronique, la fiche ne se valide pas sans lui. L’Administrateur voit toutes les procédures en ligne pour désigner les responsables et les suivre.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migration documentée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RG-DAO-47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Seul l’</a:t>
                      </a:r>
                      <a:pPr indent="0" marL="0">
                        <a:buNone/>
                      </a:pPr>
                      <a:r>
                        <a:rPr lang="en-US" sz="1100" b="1" dirty="0">
                          <a:solidFill>
                            <a:srgbClr val="1B2A3A"/>
                          </a:solidFill>
                          <a:latin typeface="Segoe UI" pitchFamily="34" charset="0"/>
                          <a:ea typeface="Segoe UI" pitchFamily="34" charset="-122"/>
                          <a:cs typeface="Segoe UI" pitchFamily="34" charset="-120"/>
                        </a:rPr>
                        <a:t>Administrateur</a:t>
                      </a:r>
                      <a:pPr indent="0" marL="0">
                        <a:buNone/>
                      </a:pPr>
                      <a:r>
                        <a:rPr lang="en-US" sz="1100" dirty="0">
                          <a:solidFill>
                            <a:srgbClr val="1B2A3A"/>
                          </a:solidFill>
                          <a:latin typeface="Segoe UI" pitchFamily="34" charset="0"/>
                          <a:ea typeface="Segoe UI" pitchFamily="34" charset="-122"/>
                          <a:cs typeface="Segoe UI" pitchFamily="34" charset="-120"/>
                        </a:rPr>
                        <a:t> peut migrer le mode, avec un </a:t>
                      </a:r>
                      <a:pPr indent="0" marL="0">
                        <a:buNone/>
                      </a:pPr>
                      <a:r>
                        <a:rPr lang="en-US" sz="1100" b="1" dirty="0">
                          <a:solidFill>
                            <a:srgbClr val="1B2A3A"/>
                          </a:solidFill>
                          <a:latin typeface="Segoe UI" pitchFamily="34" charset="0"/>
                          <a:ea typeface="Segoe UI" pitchFamily="34" charset="-122"/>
                          <a:cs typeface="Segoe UI" pitchFamily="34" charset="-120"/>
                        </a:rPr>
                        <a:t>motif obligatoire</a:t>
                      </a:r>
                      <a:pPr indent="0" marL="0">
                        <a:buNone/>
                      </a:pPr>
                      <a:r>
                        <a:rPr lang="en-US" sz="1100" dirty="0">
                          <a:solidFill>
                            <a:srgbClr val="1B2A3A"/>
                          </a:solidFill>
                          <a:latin typeface="Segoe UI" pitchFamily="34" charset="0"/>
                          <a:ea typeface="Segoe UI" pitchFamily="34" charset="-122"/>
                          <a:cs typeface="Segoe UI" pitchFamily="34" charset="-120"/>
                        </a:rPr>
                        <a:t>. La migration ouvre une révision avec le nouveau mode (la version validée reste intacte), porte sa date, son auteur et son motif, et s’inscrit au journal ; la PRMP complète ce que le nouveau mode exige, puis valide. Elle est refusée dès qu’une offre a été déposée en ligne, qu’une cérémonie des clés est close ou qu’un lot est attribué.</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Ce que le mode décide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RG-DAO-48</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En remise électronique, les pièces que l’application produit elle-même ne sont plus exigées au dossier et les contrôles automatiques s’appliquent ; en papier, toutes les pièces du manuel restent exigées et les contrôles automatiques sont sans objet.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étapes closes ne se modifient plus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RG-EVA-37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Dès qu’un dossier de marché de la procédure est </a:t>
                      </a:r>
                      <a:pPr indent="0" marL="0">
                        <a:buNone/>
                      </a:pPr>
                      <a:r>
                        <a:rPr lang="en-US" sz="1100" b="1" dirty="0">
                          <a:solidFill>
                            <a:srgbClr val="1B2A3A"/>
                          </a:solidFill>
                          <a:latin typeface="Segoe UI" pitchFamily="34" charset="0"/>
                          <a:ea typeface="Segoe UI" pitchFamily="34" charset="-122"/>
                          <a:cs typeface="Segoe UI" pitchFamily="34" charset="-120"/>
                        </a:rPr>
                        <a:t>soumis à la Commission</a:t>
                      </a:r>
                      <a:pPr indent="0" marL="0">
                        <a:buNone/>
                      </a:pPr>
                      <a:r>
                        <a:rPr lang="en-US" sz="1100" dirty="0">
                          <a:solidFill>
                            <a:srgbClr val="1B2A3A"/>
                          </a:solidFill>
                          <a:latin typeface="Segoe UI" pitchFamily="34" charset="0"/>
                          <a:ea typeface="Segoe UI" pitchFamily="34" charset="-122"/>
                          <a:cs typeface="Segoe UI" pitchFamily="34" charset="-120"/>
                        </a:rPr>
                        <a:t>, la séance d’ouverture, la seconde séance, l’évaluation et l’AMI de la procédure ne se modifient plus : la Commission examine ce qui lui a été soumis. Seules la reprise de l’évaluation après un avis défavorable et la réattribution après un retrait, motivées et tracées, les rouvrent. Les lectures restent ouvertes.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61</a:t>
            </a:r>
            <a:endParaRPr lang="en-US" sz="11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(5/17)</a:t>
            </a:r>
            <a:endParaRPr lang="en-US" sz="26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L’affichage déclaré, le résultat publié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RG-ATT-11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déclare la date d’</a:t>
                      </a:r>
                      <a:pPr indent="0" marL="0">
                        <a:buNone/>
                      </a:pPr>
                      <a:r>
                        <a:rPr lang="en-US" sz="1100" b="1" dirty="0">
                          <a:solidFill>
                            <a:srgbClr val="1B2A3A"/>
                          </a:solidFill>
                          <a:latin typeface="Segoe UI" pitchFamily="34" charset="0"/>
                          <a:ea typeface="Segoe UI" pitchFamily="34" charset="-122"/>
                          <a:cs typeface="Segoe UI" pitchFamily="34" charset="-120"/>
                        </a:rPr>
                        <a:t>affichage</a:t>
                      </a:r>
                      <a:pPr indent="0" marL="0">
                        <a:buNone/>
                      </a:pPr>
                      <a:r>
                        <a:rPr lang="en-US" sz="1100" dirty="0">
                          <a:solidFill>
                            <a:srgbClr val="1B2A3A"/>
                          </a:solidFill>
                          <a:latin typeface="Segoe UI" pitchFamily="34" charset="0"/>
                          <a:ea typeface="Segoe UI" pitchFamily="34" charset="-122"/>
                          <a:cs typeface="Segoe UI" pitchFamily="34" charset="-120"/>
                        </a:rPr>
                        <a:t> du résultat à son siège ; l’attributaire et le montant paraissent sur la page publique de la procédure.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L’avis d’attribution sous trente jours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RG-ATT-24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L’avis d’attribution est publié dans les </a:t>
                      </a:r>
                      <a:pPr indent="0" marL="0">
                        <a:buNone/>
                      </a:pPr>
                      <a:r>
                        <a:rPr lang="en-US" sz="1100" b="1" dirty="0">
                          <a:solidFill>
                            <a:srgbClr val="1B2A3A"/>
                          </a:solidFill>
                          <a:latin typeface="Segoe UI" pitchFamily="34" charset="0"/>
                          <a:ea typeface="Segoe UI" pitchFamily="34" charset="-122"/>
                          <a:cs typeface="Segoe UI" pitchFamily="34" charset="-120"/>
                        </a:rPr>
                        <a:t>trente jours</a:t>
                      </a:r>
                      <a:pPr indent="0" marL="0">
                        <a:buNone/>
                      </a:pPr>
                      <a:r>
                        <a:rPr lang="en-US" sz="1100" dirty="0">
                          <a:solidFill>
                            <a:srgbClr val="1B2A3A"/>
                          </a:solidFill>
                          <a:latin typeface="Segoe UI" pitchFamily="34" charset="0"/>
                          <a:ea typeface="Segoe UI" pitchFamily="34" charset="-122"/>
                          <a:cs typeface="Segoe UI" pitchFamily="34" charset="-120"/>
                        </a:rPr>
                        <a:t> de la réception de la notification par le titulaire (déclarée ou constatée par la plateforme), à défaut de la notification, sur la page publique de la procédure. La PRMP est alertée au vingtième jour ; un avis en retard est signalé « En retard » sur le lot et par une pastille sur son entrée « Fiches DAO ». La règle ne bloque rien : une publication tardive se lit « Publié après l’échéance ».</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acte daté, avec pièce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RG-INT-01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titulaire absent désigne son intérimaire pour une période, sur note de service ou décision jointe en PDF. Un intérim ne se modifie ni ne s’efface : une prolongation est un </a:t>
                      </a:r>
                      <a:pPr indent="0" marL="0">
                        <a:buNone/>
                      </a:pPr>
                      <a:r>
                        <a:rPr lang="en-US" sz="1100" b="1" dirty="0">
                          <a:solidFill>
                            <a:srgbClr val="1B2A3A"/>
                          </a:solidFill>
                          <a:latin typeface="Segoe UI" pitchFamily="34" charset="0"/>
                          <a:ea typeface="Segoe UI" pitchFamily="34" charset="-122"/>
                          <a:cs typeface="Segoe UI" pitchFamily="34" charset="-120"/>
                        </a:rPr>
                        <a:t>nouvel intérim</a:t>
                      </a:r>
                      <a:pPr indent="0" marL="0">
                        <a:buNone/>
                      </a:pPr>
                      <a:r>
                        <a:rPr lang="en-US" sz="1100" dirty="0">
                          <a:solidFill>
                            <a:srgbClr val="1B2A3A"/>
                          </a:solidFill>
                          <a:latin typeface="Segoe UI" pitchFamily="34" charset="0"/>
                          <a:ea typeface="Segoe UI" pitchFamily="34" charset="-122"/>
                          <a:cs typeface="Segoe UI" pitchFamily="34" charset="-120"/>
                        </a:rPr>
                        <a:t>, une fin avant terme une révocation.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Chacun déclare sa propre absence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RG-INT-03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Président et le Chef de commission déclarent eux-mêmes leur absence ; l’Administrateur désigne et révoque </a:t>
                      </a:r>
                      <a:pPr indent="0" marL="0">
                        <a:buNone/>
                      </a:pPr>
                      <a:r>
                        <a:rPr lang="en-US" sz="1100" b="1" dirty="0">
                          <a:solidFill>
                            <a:srgbClr val="1B2A3A"/>
                          </a:solidFill>
                          <a:latin typeface="Segoe UI" pitchFamily="34" charset="0"/>
                          <a:ea typeface="Segoe UI" pitchFamily="34" charset="-122"/>
                          <a:cs typeface="Segoe UI" pitchFamily="34" charset="-120"/>
                        </a:rPr>
                        <a:t>en repli</a:t>
                      </a:r>
                      <a:pPr indent="0" marL="0">
                        <a:buNone/>
                      </a:pPr>
                      <a:r>
                        <a:rPr lang="en-US" sz="1100" dirty="0">
                          <a:solidFill>
                            <a:srgbClr val="1B2A3A"/>
                          </a:solidFill>
                          <a:latin typeface="Segoe UI" pitchFamily="34" charset="0"/>
                          <a:ea typeface="Segoe UI" pitchFamily="34" charset="-122"/>
                          <a:cs typeface="Segoe UI" pitchFamily="34" charset="-120"/>
                        </a:rPr>
                        <a:t>. Les autres profils ne déclarent pas d’absence : la réattribution et la délégation les couvrent.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seul intérim à la fois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RG-INT-04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titulaire n’a qu’un intérim actif ou à venir à une date donnée : tout chevauchement est refusé. Le cumul du côté de l’intérimaire est </a:t>
                      </a:r>
                      <a:pPr indent="0" marL="0">
                        <a:buNone/>
                      </a:pPr>
                      <a:r>
                        <a:rPr lang="en-US" sz="1100" b="1" dirty="0">
                          <a:solidFill>
                            <a:srgbClr val="1B2A3A"/>
                          </a:solidFill>
                          <a:latin typeface="Segoe UI" pitchFamily="34" charset="0"/>
                          <a:ea typeface="Segoe UI" pitchFamily="34" charset="-122"/>
                          <a:cs typeface="Segoe UI" pitchFamily="34" charset="-120"/>
                        </a:rPr>
                        <a:t>signalé</a:t>
                      </a:r>
                      <a:pPr indent="0" marL="0">
                        <a:buNone/>
                      </a:pPr>
                      <a:r>
                        <a:rPr lang="en-US" sz="1100" dirty="0">
                          <a:solidFill>
                            <a:srgbClr val="1B2A3A"/>
                          </a:solidFill>
                          <a:latin typeface="Segoe UI" pitchFamily="34" charset="0"/>
                          <a:ea typeface="Segoe UI" pitchFamily="34" charset="-122"/>
                          <a:cs typeface="Segoe UI" pitchFamily="34" charset="-120"/>
                        </a:rPr>
                        <a:t>, jamais interdit.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62</a:t>
            </a:r>
            <a:endParaRPr lang="en-US" sz="11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(6/17)</a:t>
            </a:r>
            <a:endParaRPr lang="en-US" sz="26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Statut déduit des dates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RG-INT-05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statut se déduit des dates : à venir, actif, achevé ou révoqué. Seul l’intérim </a:t>
                      </a:r>
                      <a:pPr indent="0" marL="0">
                        <a:buNone/>
                      </a:pPr>
                      <a:r>
                        <a:rPr lang="en-US" sz="1100" b="1" dirty="0">
                          <a:solidFill>
                            <a:srgbClr val="1B2A3A"/>
                          </a:solidFill>
                          <a:latin typeface="Segoe UI" pitchFamily="34" charset="0"/>
                          <a:ea typeface="Segoe UI" pitchFamily="34" charset="-122"/>
                          <a:cs typeface="Segoe UI" pitchFamily="34" charset="-120"/>
                        </a:rPr>
                        <a:t>actif</a:t>
                      </a:r>
                      <a:pPr indent="0" marL="0">
                        <a:buNone/>
                      </a:pPr>
                      <a:r>
                        <a:rPr lang="en-US" sz="1100" dirty="0">
                          <a:solidFill>
                            <a:srgbClr val="1B2A3A"/>
                          </a:solidFill>
                          <a:latin typeface="Segoe UI" pitchFamily="34" charset="0"/>
                          <a:ea typeface="Segoe UI" pitchFamily="34" charset="-122"/>
                          <a:cs typeface="Segoe UI" pitchFamily="34" charset="-120"/>
                        </a:rPr>
                        <a:t> ouvre des droits, et il n’est pas transitif : l’intérimaire du Président ne désigne jamais d’intérimaire pour le Président.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Révocation sans effet rétroactif</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RG-INT-06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titulaire, l’auteur de la désignation ou l’Administrateur révoque l’intérim, au plus tôt à la date du jour. Les droits tombent aussitôt ; les actes déjà posés </a:t>
                      </a:r>
                      <a:pPr indent="0" marL="0">
                        <a:buNone/>
                      </a:pPr>
                      <a:r>
                        <a:rPr lang="en-US" sz="1100" b="1" dirty="0">
                          <a:solidFill>
                            <a:srgbClr val="1B2A3A"/>
                          </a:solidFill>
                          <a:latin typeface="Segoe UI" pitchFamily="34" charset="0"/>
                          <a:ea typeface="Segoe UI" pitchFamily="34" charset="-122"/>
                          <a:cs typeface="Segoe UI" pitchFamily="34" charset="-120"/>
                        </a:rPr>
                        <a:t>restent</a:t>
                      </a:r>
                      <a:pPr indent="0" marL="0">
                        <a:buNone/>
                      </a:pPr>
                      <a:r>
                        <a:rPr lang="en-US" sz="1100" dirty="0">
                          <a:solidFill>
                            <a:srgbClr val="1B2A3A"/>
                          </a:solidFill>
                          <a:latin typeface="Segoe UI" pitchFamily="34" charset="0"/>
                          <a:ea typeface="Segoe UI" pitchFamily="34" charset="-122"/>
                          <a:cs typeface="Segoe UI" pitchFamily="34" charset="-120"/>
                        </a:rPr>
                        <a:t> ceux de l’intérimaire.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Mandat déclaré par l’Administrateur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RG-INT-11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mandat d’une PRMP matérialise son arrêté de nomination : seul l’Administrateur le déclare. Il dure </a:t>
                      </a:r>
                      <a:pPr indent="0" marL="0">
                        <a:buNone/>
                      </a:pPr>
                      <a:r>
                        <a:rPr lang="en-US" sz="1100" b="1" dirty="0">
                          <a:solidFill>
                            <a:srgbClr val="1B2A3A"/>
                          </a:solidFill>
                          <a:latin typeface="Segoe UI" pitchFamily="34" charset="0"/>
                          <a:ea typeface="Segoe UI" pitchFamily="34" charset="-122"/>
                          <a:cs typeface="Segoe UI" pitchFamily="34" charset="-120"/>
                        </a:rPr>
                        <a:t>trois ans</a:t>
                      </a:r>
                      <a:pPr indent="0" marL="0">
                        <a:buNone/>
                      </a:pPr>
                      <a:r>
                        <a:rPr lang="en-US" sz="1100" dirty="0">
                          <a:solidFill>
                            <a:srgbClr val="1B2A3A"/>
                          </a:solidFill>
                          <a:latin typeface="Segoe UI" pitchFamily="34" charset="0"/>
                          <a:ea typeface="Segoe UI" pitchFamily="34" charset="-122"/>
                          <a:cs typeface="Segoe UI" pitchFamily="34" charset="-120"/>
                        </a:rPr>
                        <a:t> à partir de la date de l’arrêté ; sa fin ne peut dépasser cette borne.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Reconduction unique, jamais prolongation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RG-INT-12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reconduction est un nouveau mandat, avec un </a:t>
                      </a:r>
                      <a:pPr indent="0" marL="0">
                        <a:buNone/>
                      </a:pPr>
                      <a:r>
                        <a:rPr lang="en-US" sz="1100" b="1" dirty="0">
                          <a:solidFill>
                            <a:srgbClr val="1B2A3A"/>
                          </a:solidFill>
                          <a:latin typeface="Segoe UI" pitchFamily="34" charset="0"/>
                          <a:ea typeface="Segoe UI" pitchFamily="34" charset="-122"/>
                          <a:cs typeface="Segoe UI" pitchFamily="34" charset="-120"/>
                        </a:rPr>
                        <a:t>nouvel arrêté</a:t>
                      </a:r>
                      <a:pPr indent="0" marL="0">
                        <a:buNone/>
                      </a:pPr>
                      <a:r>
                        <a:rPr lang="en-US" sz="1100" dirty="0">
                          <a:solidFill>
                            <a:srgbClr val="1B2A3A"/>
                          </a:solidFill>
                          <a:latin typeface="Segoe UI" pitchFamily="34" charset="0"/>
                          <a:ea typeface="Segoe UI" pitchFamily="34" charset="-122"/>
                          <a:cs typeface="Segoe UI" pitchFamily="34" charset="-120"/>
                        </a:rPr>
                        <a:t> et des dates qui succèdent au précédent. Une même personne porte au plus deux mandats ; aucun mandat ne s’allonge.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Statut du mandat déduit des dates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RG-INT-13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mandat est en transition avant la prise de fonction, actif pendant, achevé après. L’</a:t>
                      </a:r>
                      <a:pPr indent="0" marL="0">
                        <a:buNone/>
                      </a:pPr>
                      <a:r>
                        <a:rPr lang="en-US" sz="1100" b="1" dirty="0">
                          <a:solidFill>
                            <a:srgbClr val="1B2A3A"/>
                          </a:solidFill>
                          <a:latin typeface="Segoe UI" pitchFamily="34" charset="0"/>
                          <a:ea typeface="Segoe UI" pitchFamily="34" charset="-122"/>
                          <a:cs typeface="Segoe UI" pitchFamily="34" charset="-120"/>
                        </a:rPr>
                        <a:t>abrogation</a:t>
                      </a:r>
                      <a:pPr indent="0" marL="0">
                        <a:buNone/>
                      </a:pPr>
                      <a:r>
                        <a:rPr lang="en-US" sz="1100" dirty="0">
                          <a:solidFill>
                            <a:srgbClr val="1B2A3A"/>
                          </a:solidFill>
                          <a:latin typeface="Segoe UI" pitchFamily="34" charset="0"/>
                          <a:ea typeface="Segoe UI" pitchFamily="34" charset="-122"/>
                          <a:cs typeface="Segoe UI" pitchFamily="34" charset="-120"/>
                        </a:rPr>
                        <a:t>, fin avant terme par un acte explicite, prime sur les dates.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63</a:t>
            </a:r>
            <a:endParaRPr lang="en-US" sz="11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(7/17)</a:t>
            </a:r>
            <a:endParaRPr lang="en-US" sz="26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mandat implicite des PRMP existantes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RG-INT-16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PRMP sans mandat déclaré reçoit un mandat </a:t>
                      </a:r>
                      <a:pPr indent="0" marL="0">
                        <a:buNone/>
                      </a:pPr>
                      <a:r>
                        <a:rPr lang="en-US" sz="1100" b="1" dirty="0">
                          <a:solidFill>
                            <a:srgbClr val="1B2A3A"/>
                          </a:solidFill>
                          <a:latin typeface="Segoe UI" pitchFamily="34" charset="0"/>
                          <a:ea typeface="Segoe UI" pitchFamily="34" charset="-122"/>
                          <a:cs typeface="Segoe UI" pitchFamily="34" charset="-120"/>
                        </a:rPr>
                        <a:t>implicite</a:t>
                      </a:r>
                      <a:pPr indent="0" marL="0">
                        <a:buNone/>
                      </a:pPr>
                      <a:r>
                        <a:rPr lang="en-US" sz="1100" dirty="0">
                          <a:solidFill>
                            <a:srgbClr val="1B2A3A"/>
                          </a:solidFill>
                          <a:latin typeface="Segoe UI" pitchFamily="34" charset="0"/>
                          <a:ea typeface="Segoe UI" pitchFamily="34" charset="-122"/>
                          <a:cs typeface="Segoe UI" pitchFamily="34" charset="-120"/>
                        </a:rPr>
                        <a:t>, reconstitué depuis sa fiche : la date et l’arrêté de nomination, plus trois ans. La règle des trois ans s’applique ainsi sans reprise de données ; l’écran invite à déclarer le mandat initial.</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Vacance : traitement suspendu</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RG-INT-14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Sans mandat actif à la date de l’action, tout geste de la PRMP ou de son UGPM est refusé : le dossier </a:t>
                      </a:r>
                      <a:pPr indent="0" marL="0">
                        <a:buNone/>
                      </a:pPr>
                      <a:r>
                        <a:rPr lang="en-US" sz="1100" b="1" dirty="0">
                          <a:solidFill>
                            <a:srgbClr val="1B2A3A"/>
                          </a:solidFill>
                          <a:latin typeface="Segoe UI" pitchFamily="34" charset="0"/>
                          <a:ea typeface="Segoe UI" pitchFamily="34" charset="-122"/>
                          <a:cs typeface="Segoe UI" pitchFamily="34" charset="-120"/>
                        </a:rPr>
                        <a:t>attend</a:t>
                      </a:r>
                      <a:pPr indent="0" marL="0">
                        <a:buNone/>
                      </a:pPr>
                      <a:r>
                        <a:rPr lang="en-US" sz="1100" dirty="0">
                          <a:solidFill>
                            <a:srgbClr val="1B2A3A"/>
                          </a:solidFill>
                          <a:latin typeface="Segoe UI" pitchFamily="34" charset="0"/>
                          <a:ea typeface="Segoe UI" pitchFamily="34" charset="-122"/>
                          <a:cs typeface="Segoe UI" pitchFamily="34" charset="-120"/>
                        </a:rPr>
                        <a:t> la nomination, sans obligation d’intérim. Le circuit de la Commission n’est jamais suspendu.</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Reprise par le nouveau titulaire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RG-INT-15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À l’échéance du mandat, le compte de la PRMP se ferme ; dès qu’un nouveau mandat est actif, le blocage tombe de lui-même et le compte de la PRMP reconduite est </a:t>
                      </a:r>
                      <a:pPr indent="0" marL="0">
                        <a:buNone/>
                      </a:pPr>
                      <a:r>
                        <a:rPr lang="en-US" sz="1100" b="1" dirty="0">
                          <a:solidFill>
                            <a:srgbClr val="1B2A3A"/>
                          </a:solidFill>
                          <a:latin typeface="Segoe UI" pitchFamily="34" charset="0"/>
                          <a:ea typeface="Segoe UI" pitchFamily="34" charset="-122"/>
                          <a:cs typeface="Segoe UI" pitchFamily="34" charset="-120"/>
                        </a:rPr>
                        <a:t>réactivé</a:t>
                      </a:r>
                      <a:pPr indent="0" marL="0">
                        <a:buNone/>
                      </a:pPr>
                      <a:r>
                        <a:rPr lang="en-US" sz="1100" dirty="0">
                          <a:solidFill>
                            <a:srgbClr val="1B2A3A"/>
                          </a:solidFill>
                          <a:latin typeface="Segoe UI" pitchFamily="34" charset="0"/>
                          <a:ea typeface="Segoe UI" pitchFamily="34" charset="-122"/>
                          <a:cs typeface="Segoe UI" pitchFamily="34" charset="-120"/>
                        </a:rPr>
                        <a:t>. Le nouveau titulaire reprend le traitement ; l’attribution des dossiers ne change pas.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Refus toujours motivé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RG-ADM-03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refus d’inscription porte un </a:t>
                      </a:r>
                      <a:pPr indent="0" marL="0">
                        <a:buNone/>
                      </a:pPr>
                      <a:r>
                        <a:rPr lang="en-US" sz="1100" b="1" dirty="0">
                          <a:solidFill>
                            <a:srgbClr val="1B2A3A"/>
                          </a:solidFill>
                          <a:latin typeface="Segoe UI" pitchFamily="34" charset="0"/>
                          <a:ea typeface="Segoe UI" pitchFamily="34" charset="-122"/>
                          <a:cs typeface="Segoe UI" pitchFamily="34" charset="-120"/>
                        </a:rPr>
                        <a:t>motif</a:t>
                      </a:r>
                      <a:pPr indent="0" marL="0">
                        <a:buNone/>
                      </a:pPr>
                      <a:r>
                        <a:rPr lang="en-US" sz="1100" dirty="0">
                          <a:solidFill>
                            <a:srgbClr val="1B2A3A"/>
                          </a:solidFill>
                          <a:latin typeface="Segoe UI" pitchFamily="34" charset="0"/>
                          <a:ea typeface="Segoe UI" pitchFamily="34" charset="-122"/>
                          <a:cs typeface="Segoe UI" pitchFamily="34" charset="-120"/>
                        </a:rPr>
                        <a:t> : le compte passe « refusé », reste fermé, et le demandeur est avisé du motif. Les demandes d’accès réunissent les inscriptions des PRMP et des UGPM ; le compteur du menu et le poste d’administration les comptent toutes deux.</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Suspendu n’est pas refusé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RG-ADM-05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L’annuaire réunit contrôleurs, PRMP et UGPM avec cinq états : actif, </a:t>
                      </a:r>
                      <a:pPr indent="0" marL="0">
                        <a:buNone/>
                      </a:pPr>
                      <a:r>
                        <a:rPr lang="en-US" sz="1100" b="1" dirty="0">
                          <a:solidFill>
                            <a:srgbClr val="1B2A3A"/>
                          </a:solidFill>
                          <a:latin typeface="Segoe UI" pitchFamily="34" charset="0"/>
                          <a:ea typeface="Segoe UI" pitchFamily="34" charset="-122"/>
                          <a:cs typeface="Segoe UI" pitchFamily="34" charset="-120"/>
                        </a:rPr>
                        <a:t>suspendu</a:t>
                      </a:r>
                      <a:pPr indent="0" marL="0">
                        <a:buNone/>
                      </a:pPr>
                      <a:r>
                        <a:rPr lang="en-US" sz="1100" dirty="0">
                          <a:solidFill>
                            <a:srgbClr val="1B2A3A"/>
                          </a:solidFill>
                          <a:latin typeface="Segoe UI" pitchFamily="34" charset="0"/>
                          <a:ea typeface="Segoe UI" pitchFamily="34" charset="-122"/>
                          <a:cs typeface="Segoe UI" pitchFamily="34" charset="-120"/>
                        </a:rPr>
                        <a:t>, refusé, en attente, sans compte. Un compte suspendu a été fermé après coup ; un compte refusé n’a jamais été ouvert. La recherche ignore la casse et les accents.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64</a:t>
            </a:r>
            <a:endParaRPr lang="en-US" sz="11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(8/17)</a:t>
            </a:r>
            <a:endParaRPr lang="en-US" sz="2600" dirty="0"/>
          </a:p>
        </p:txBody>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responsable par procédure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RG-ADM-29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L’Administrateur désigne le </a:t>
                      </a:r>
                      <a:pPr indent="0" marL="0">
                        <a:buNone/>
                      </a:pPr>
                      <a:r>
                        <a:rPr lang="en-US" sz="1100" b="1" dirty="0">
                          <a:solidFill>
                            <a:srgbClr val="1B2A3A"/>
                          </a:solidFill>
                          <a:latin typeface="Segoe UI" pitchFamily="34" charset="0"/>
                          <a:ea typeface="Segoe UI" pitchFamily="34" charset="-122"/>
                          <a:cs typeface="Segoe UI" pitchFamily="34" charset="-120"/>
                        </a:rPr>
                        <a:t>responsable</a:t>
                      </a:r>
                      <a:pPr indent="0" marL="0">
                        <a:buNone/>
                      </a:pPr>
                      <a:r>
                        <a:rPr lang="en-US" sz="1100" dirty="0">
                          <a:solidFill>
                            <a:srgbClr val="1B2A3A"/>
                          </a:solidFill>
                          <a:latin typeface="Segoe UI" pitchFamily="34" charset="0"/>
                          <a:ea typeface="Segoe UI" pitchFamily="34" charset="-122"/>
                          <a:cs typeface="Segoe UI" pitchFamily="34" charset="-120"/>
                        </a:rPr>
                        <a:t> de chaque procédure en ligne, une personne à la fois, jamais détentrice d’une part de clé. Une procédure sans responsable est comptée au poste d’administration et remonte en tête des procédures en ligne.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Levé n’est pas écarté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RG-ADM-35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signalement </a:t>
                      </a:r>
                      <a:pPr indent="0" marL="0">
                        <a:buNone/>
                      </a:pPr>
                      <a:r>
                        <a:rPr lang="en-US" sz="1100" b="1" dirty="0">
                          <a:solidFill>
                            <a:srgbClr val="1B2A3A"/>
                          </a:solidFill>
                          <a:latin typeface="Segoe UI" pitchFamily="34" charset="0"/>
                          <a:ea typeface="Segoe UI" pitchFamily="34" charset="-122"/>
                          <a:cs typeface="Segoe UI" pitchFamily="34" charset="-120"/>
                        </a:rPr>
                        <a:t>levé</a:t>
                      </a:r>
                      <a:pPr indent="0" marL="0">
                        <a:buNone/>
                      </a:pPr>
                      <a:r>
                        <a:rPr lang="en-US" sz="1100" dirty="0">
                          <a:solidFill>
                            <a:srgbClr val="1B2A3A"/>
                          </a:solidFill>
                          <a:latin typeface="Segoe UI" pitchFamily="34" charset="0"/>
                          <a:ea typeface="Segoe UI" pitchFamily="34" charset="-122"/>
                          <a:cs typeface="Segoe UI" pitchFamily="34" charset="-120"/>
                        </a:rPr>
                        <a:t> — la PRMP a corrigé son plan — est une réussite et ne compte pas dans le taux. Le seuil ne joue qu’à partir de cinq signalements ; l’accueil annonce la règle qui le dépasse.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Ce que le poste d’administration surveille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RG-ADM-47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poste compte les inscriptions et rattachements en attente, les procédures en ligne sans responsable, les mandats de PRMP qui arrivent à terme dans les </a:t>
                      </a:r>
                      <a:pPr indent="0" marL="0">
                        <a:buNone/>
                      </a:pPr>
                      <a:r>
                        <a:rPr lang="en-US" sz="1100" b="1" dirty="0">
                          <a:solidFill>
                            <a:srgbClr val="1B2A3A"/>
                          </a:solidFill>
                          <a:latin typeface="Segoe UI" pitchFamily="34" charset="0"/>
                          <a:ea typeface="Segoe UI" pitchFamily="34" charset="-122"/>
                          <a:cs typeface="Segoe UI" pitchFamily="34" charset="-120"/>
                        </a:rPr>
                        <a:t>30 jours</a:t>
                      </a:r>
                      <a:pPr indent="0" marL="0">
                        <a:buNone/>
                      </a:pPr>
                      <a:r>
                        <a:rPr lang="en-US" sz="1100" dirty="0">
                          <a:solidFill>
                            <a:srgbClr val="1B2A3A"/>
                          </a:solidFill>
                          <a:latin typeface="Segoe UI" pitchFamily="34" charset="0"/>
                          <a:ea typeface="Segoe UI" pitchFamily="34" charset="-122"/>
                          <a:cs typeface="Segoe UI" pitchFamily="34" charset="-120"/>
                        </a:rPr>
                        <a:t>, les comptes actifs et suspendus, les sessions ouvertes depuis moins de 12 heures et les connexions refusées sur 24 heures ; il liste les derniers changements de paramétrage avec leur auteur.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Inscription vérifiée par l’Administrateur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RG-ADM-01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s’inscrit en ligne avec son arrêté de nomination et sa carte d’identité ; son compte reste </a:t>
                      </a:r>
                      <a:pPr indent="0" marL="0">
                        <a:buNone/>
                      </a:pPr>
                      <a:r>
                        <a:rPr lang="en-US" sz="1100" b="1" dirty="0">
                          <a:solidFill>
                            <a:srgbClr val="1B2A3A"/>
                          </a:solidFill>
                          <a:latin typeface="Segoe UI" pitchFamily="34" charset="0"/>
                          <a:ea typeface="Segoe UI" pitchFamily="34" charset="-122"/>
                          <a:cs typeface="Segoe UI" pitchFamily="34" charset="-120"/>
                        </a:rPr>
                        <a:t>en attente</a:t>
                      </a:r>
                      <a:pPr indent="0" marL="0">
                        <a:buNone/>
                      </a:pPr>
                      <a:r>
                        <a:rPr lang="en-US" sz="1100" dirty="0">
                          <a:solidFill>
                            <a:srgbClr val="1B2A3A"/>
                          </a:solidFill>
                          <a:latin typeface="Segoe UI" pitchFamily="34" charset="0"/>
                          <a:ea typeface="Segoe UI" pitchFamily="34" charset="-122"/>
                          <a:cs typeface="Segoe UI" pitchFamily="34" charset="-120"/>
                        </a:rPr>
                        <a:t> et ne peut pas se connecter. L’Administrateur télécharge et vérifie l’arrêté, puis valide ou refuse.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Validation entité par entité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RG-ADM-02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entité déclarée disponible est rattachée ; une entité déjà tenue par une autre PRMP est signalée en conflit, sans bloquer. Le compte s’ouvre dès qu’</a:t>
                      </a:r>
                      <a:pPr indent="0" marL="0">
                        <a:buNone/>
                      </a:pPr>
                      <a:r>
                        <a:rPr lang="en-US" sz="1100" b="1" dirty="0">
                          <a:solidFill>
                            <a:srgbClr val="1B2A3A"/>
                          </a:solidFill>
                          <a:latin typeface="Segoe UI" pitchFamily="34" charset="0"/>
                          <a:ea typeface="Segoe UI" pitchFamily="34" charset="-122"/>
                          <a:cs typeface="Segoe UI" pitchFamily="34" charset="-120"/>
                        </a:rPr>
                        <a:t>une entité</a:t>
                      </a:r>
                      <a:pPr indent="0" marL="0">
                        <a:buNone/>
                      </a:pPr>
                      <a:r>
                        <a:rPr lang="en-US" sz="1100" dirty="0">
                          <a:solidFill>
                            <a:srgbClr val="1B2A3A"/>
                          </a:solidFill>
                          <a:latin typeface="Segoe UI" pitchFamily="34" charset="0"/>
                          <a:ea typeface="Segoe UI" pitchFamily="34" charset="-122"/>
                          <a:cs typeface="Segoe UI" pitchFamily="34" charset="-120"/>
                        </a:rPr>
                        <a:t> est rattachée. Une entité proposée n’est créée que si l’Administrateur l’accepte.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65</a:t>
            </a:r>
            <a:endParaRPr lang="en-US" sz="11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(9/17)</a:t>
            </a:r>
            <a:endParaRPr lang="en-US" sz="26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seule porte pour décider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RG-ADM-04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inscription ne se décide que dans les demandes d’accès. Suspendre ou réactiver un compte en attente ou refusé est impossible : ce serait ouvrir un accès jamais accordé et contourner le rattachement des entités.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entité, une seule PRMP</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RG-ADM-09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entité contractante n’est rattachée qu’à </a:t>
                      </a:r>
                      <a:pPr indent="0" marL="0">
                        <a:buNone/>
                      </a:pPr>
                      <a:r>
                        <a:rPr lang="en-US" sz="1100" b="1" dirty="0">
                          <a:solidFill>
                            <a:srgbClr val="1B2A3A"/>
                          </a:solidFill>
                          <a:latin typeface="Segoe UI" pitchFamily="34" charset="0"/>
                          <a:ea typeface="Segoe UI" pitchFamily="34" charset="-122"/>
                          <a:cs typeface="Segoe UI" pitchFamily="34" charset="-120"/>
                        </a:rPr>
                        <a:t>une seule PRMP active</a:t>
                      </a:r>
                      <a:pPr indent="0" marL="0">
                        <a:buNone/>
                      </a:pPr>
                      <a:r>
                        <a:rPr lang="en-US" sz="1100" dirty="0">
                          <a:solidFill>
                            <a:srgbClr val="1B2A3A"/>
                          </a:solidFill>
                          <a:latin typeface="Segoe UI" pitchFamily="34" charset="0"/>
                          <a:ea typeface="Segoe UI" pitchFamily="34" charset="-122"/>
                          <a:cs typeface="Segoe UI" pitchFamily="34" charset="-120"/>
                        </a:rPr>
                        <a:t> ; une PRMP peut en gérer plusieurs. L’entité créée par une PRMP ou son UGPM à l’import d’un plan naît rattachée en attente : l’Administrateur approuve ou rejette le rattachement, l’entité restant au référentiel.</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Délégations par paires listées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RG-ADM-11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délégation est une paire de profils : le Président exerce les tâches de cinq profils, le Chef de commission de quatre ; la fiche d’une personne les énumère. La relation </a:t>
                      </a:r>
                      <a:pPr indent="0" marL="0">
                        <a:buNone/>
                      </a:pPr>
                      <a:r>
                        <a:rPr lang="en-US" sz="1100" b="1" dirty="0">
                          <a:solidFill>
                            <a:srgbClr val="1B2A3A"/>
                          </a:solidFill>
                          <a:latin typeface="Segoe UI" pitchFamily="34" charset="0"/>
                          <a:ea typeface="Segoe UI" pitchFamily="34" charset="-122"/>
                          <a:cs typeface="Segoe UI" pitchFamily="34" charset="-120"/>
                        </a:rPr>
                        <a:t>n’est pas transitive</a:t>
                      </a:r>
                      <a:pPr indent="0" marL="0">
                        <a:buNone/>
                      </a:pPr>
                      <a:r>
                        <a:rPr lang="en-US" sz="1100" dirty="0">
                          <a:solidFill>
                            <a:srgbClr val="1B2A3A"/>
                          </a:solidFill>
                          <a:latin typeface="Segoe UI" pitchFamily="34" charset="0"/>
                          <a:ea typeface="Segoe UI" pitchFamily="34" charset="-122"/>
                          <a:cs typeface="Segoe UI" pitchFamily="34" charset="-120"/>
                        </a:rPr>
                        <a:t>. Les signatures du procès-verbal et des lettres de renvoi ne se délèguent jamais.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Connexions journalisées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RG-ADM-32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connexion réussie ou refusée et chaque déconnexion sont enregistrées avec l’adresse, le poste et l’heure. Une tentative sur un identifiant inconnu n’est attribuée à personne. Aucune purge n’est prévue : la durée de conservation reste </a:t>
                      </a:r>
                      <a:pPr indent="0" marL="0">
                        <a:buNone/>
                      </a:pPr>
                      <a:r>
                        <a:rPr lang="en-US" sz="1100" b="1" dirty="0">
                          <a:solidFill>
                            <a:srgbClr val="1B2A3A"/>
                          </a:solidFill>
                          <a:latin typeface="Segoe UI" pitchFamily="34" charset="0"/>
                          <a:ea typeface="Segoe UI" pitchFamily="34" charset="-122"/>
                          <a:cs typeface="Segoe UI" pitchFamily="34" charset="-120"/>
                        </a:rPr>
                        <a:t>à arbitrer</a:t>
                      </a:r>
                      <a:pPr indent="0" marL="0">
                        <a:buNone/>
                      </a:pPr>
                      <a:r>
                        <a:rPr lang="en-US" sz="1100" dirty="0">
                          <a:solidFill>
                            <a:srgbClr val="1B2A3A"/>
                          </a:solidFill>
                          <a:latin typeface="Segoe UI" pitchFamily="34" charset="0"/>
                          <a:ea typeface="Segoe UI" pitchFamily="34" charset="-122"/>
                          <a:cs typeface="Segoe UI" pitchFamily="34" charset="-120"/>
                        </a:rPr>
                        <a: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PRMP créée par l’Administrateur, UGPM rattachée à sa tutelle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RG-ADM-06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PRMP créée par l’Administrateur reçoit son compte de connexion avec sa fiche et peut se connecter </a:t>
                      </a:r>
                      <a:pPr indent="0" marL="0">
                        <a:buNone/>
                      </a:pPr>
                      <a:r>
                        <a:rPr lang="en-US" sz="1100" b="1" dirty="0">
                          <a:solidFill>
                            <a:srgbClr val="1B2A3A"/>
                          </a:solidFill>
                          <a:latin typeface="Segoe UI" pitchFamily="34" charset="0"/>
                          <a:ea typeface="Segoe UI" pitchFamily="34" charset="-122"/>
                          <a:cs typeface="Segoe UI" pitchFamily="34" charset="-120"/>
                        </a:rPr>
                        <a:t>aussitôt</a:t>
                      </a:r>
                      <a:pPr indent="0" marL="0">
                        <a:buNone/>
                      </a:pPr>
                      <a:r>
                        <a:rPr lang="en-US" sz="1100" dirty="0">
                          <a:solidFill>
                            <a:srgbClr val="1B2A3A"/>
                          </a:solidFill>
                          <a:latin typeface="Segoe UI" pitchFamily="34" charset="0"/>
                          <a:ea typeface="Segoe UI" pitchFamily="34" charset="-122"/>
                          <a:cs typeface="Segoe UI" pitchFamily="34" charset="-120"/>
                        </a:rPr>
                        <a:t>. Une UGPM est rattachée à sa PRMP de tutelle : elle n’a pas d’entité propre et partage le périmètre de sa tutelle.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66</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(10/17)</a:t>
            </a:r>
            <a:endParaRPr lang="en-US" sz="260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Chaînes Membre, Vérificateur, Assistant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RG-ADM-10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Membre a son Vérificateur, chaque Vérificateur son Assistant, de même localité et du profil attendu. La chaîne oriente les notifications sans rien verrouiller ; incomplète, elle est signalée et tous les Vérificateurs de la localité peuvent agir.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Délais standards en heures ouvrées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RG-ADM-12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délai de chaque étape du circuit se fixe en </a:t>
                      </a:r>
                      <a:pPr indent="0" marL="0">
                        <a:buNone/>
                      </a:pPr>
                      <a:r>
                        <a:rPr lang="en-US" sz="1100" b="1" dirty="0">
                          <a:solidFill>
                            <a:srgbClr val="1B2A3A"/>
                          </a:solidFill>
                          <a:latin typeface="Segoe UI" pitchFamily="34" charset="0"/>
                          <a:ea typeface="Segoe UI" pitchFamily="34" charset="-122"/>
                          <a:cs typeface="Segoe UI" pitchFamily="34" charset="-120"/>
                        </a:rPr>
                        <a:t>heures ouvrées</a:t>
                      </a:r>
                      <a:pPr indent="0" marL="0">
                        <a:buNone/>
                      </a:pPr>
                      <a:r>
                        <a:rPr lang="en-US" sz="1100" dirty="0">
                          <a:solidFill>
                            <a:srgbClr val="1B2A3A"/>
                          </a:solidFill>
                          <a:latin typeface="Segoe UI" pitchFamily="34" charset="0"/>
                          <a:ea typeface="Segoe UI" pitchFamily="34" charset="-122"/>
                          <a:cs typeface="Segoe UI" pitchFamily="34" charset="-120"/>
                        </a:rPr>
                        <a:t>, par l’Administrateur seul ; tous peuvent le lire. Il donne la date de fin annoncée à la PRMP dès la soumission ; à la prise en charge, la prévision du porteur le remplace pour ce dossier. Un délai de moins d’une heure est refusé.</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Huit étapes, fenêtre de service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RG-ADM-13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référentiel rend toujours les </a:t>
                      </a:r>
                      <a:pPr indent="0" marL="0">
                        <a:buNone/>
                      </a:pPr>
                      <a:r>
                        <a:rPr lang="en-US" sz="1100" b="1" dirty="0">
                          <a:solidFill>
                            <a:srgbClr val="1B2A3A"/>
                          </a:solidFill>
                          <a:latin typeface="Segoe UI" pitchFamily="34" charset="0"/>
                          <a:ea typeface="Segoe UI" pitchFamily="34" charset="-122"/>
                          <a:cs typeface="Segoe UI" pitchFamily="34" charset="-120"/>
                        </a:rPr>
                        <a:t>huit étapes</a:t>
                      </a:r>
                      <a:pPr indent="0" marL="0">
                        <a:buNone/>
                      </a:pPr>
                      <a:r>
                        <a:rPr lang="en-US" sz="1100" dirty="0">
                          <a:solidFill>
                            <a:srgbClr val="1B2A3A"/>
                          </a:solidFill>
                          <a:latin typeface="Segoe UI" pitchFamily="34" charset="0"/>
                          <a:ea typeface="Segoe UI" pitchFamily="34" charset="-122"/>
                          <a:cs typeface="Segoe UI" pitchFamily="34" charset="-120"/>
                        </a:rPr>
                        <a:t>, de la réception à l’archivage (hors compteur global), avec un repli de 8 heures pour une étape manquante. Le temps écoulé se compte de 8 h à 16 h, du lundi au vendredi.</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neuf délais de la loi ne se règlent pas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RG-ADM-41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Neuf délais de la loi n° 2016-055 font foi : publicité de l’appel d’offres ouvert national (30 jours) et international (45 jours, art. 35-II), questions des candidats jusqu’à J−10, consultation ouverte (10 jours, art. 41-II), plan réputé approuvé après 10 jours ouvrables (art. 26-IV), 10 jours francs avant la signature (art. 52-I et 58), pièces de l’attributaire sous 15 jours (art. 20-I), avis d’attribution sous 30 jours (art. 53), avis sur une déclaration sans suite sous 5 jours (art. 55-II). Le jour de départ n’est pas compté ; les délais </a:t>
                      </a:r>
                      <a:pPr indent="0" marL="0">
                        <a:buNone/>
                      </a:pPr>
                      <a:r>
                        <a:rPr lang="en-US" sz="1100" b="1" dirty="0">
                          <a:solidFill>
                            <a:srgbClr val="1B2A3A"/>
                          </a:solidFill>
                          <a:latin typeface="Segoe UI" pitchFamily="34" charset="0"/>
                          <a:ea typeface="Segoe UI" pitchFamily="34" charset="-122"/>
                          <a:cs typeface="Segoe UI" pitchFamily="34" charset="-120"/>
                        </a:rPr>
                        <a:t>bloquants</a:t>
                      </a:r>
                      <a:pPr indent="0" marL="0">
                        <a:buNone/>
                      </a:pPr>
                      <a:r>
                        <a:rPr lang="en-US" sz="1100" dirty="0">
                          <a:solidFill>
                            <a:srgbClr val="1B2A3A"/>
                          </a:solidFill>
                          <a:latin typeface="Segoe UI" pitchFamily="34" charset="0"/>
                          <a:ea typeface="Segoe UI" pitchFamily="34" charset="-122"/>
                          <a:cs typeface="Segoe UI" pitchFamily="34" charset="-120"/>
                        </a:rPr>
                        <a:t> refusent le geste qui les enfreint.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délais réglables sont signalés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RG-ADM-42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délais issus des décrets, des documents types ou du manuel (appel d’offres restreint, prestations intellectuelles, AMI, contrat-cadre, pré-qualification, délai aménagé, réception présumée d’une lettre) se règlent par l’Administrateur. Tant que le pilote ne les a pas confirmés, ils sont </a:t>
                      </a:r>
                      <a:pPr indent="0" marL="0">
                        <a:buNone/>
                      </a:pPr>
                      <a:r>
                        <a:rPr lang="en-US" sz="1100" b="1" dirty="0">
                          <a:solidFill>
                            <a:srgbClr val="1B2A3A"/>
                          </a:solidFill>
                          <a:latin typeface="Segoe UI" pitchFamily="34" charset="0"/>
                          <a:ea typeface="Segoe UI" pitchFamily="34" charset="-122"/>
                          <a:cs typeface="Segoe UI" pitchFamily="34" charset="-120"/>
                        </a:rPr>
                        <a:t>signalés, jamais bloquants</a:t>
                      </a:r>
                      <a:pPr indent="0" marL="0">
                        <a:buNone/>
                      </a:pPr>
                      <a:r>
                        <a:rPr lang="en-US" sz="1100" dirty="0">
                          <a:solidFill>
                            <a:srgbClr val="1B2A3A"/>
                          </a:solidFill>
                          <a:latin typeface="Segoe UI" pitchFamily="34" charset="0"/>
                          <a:ea typeface="Segoe UI" pitchFamily="34" charset="-122"/>
                          <a:cs typeface="Segoe UI" pitchFamily="34" charset="-120"/>
                        </a:rPr>
                        <a:t> ; un délai inactif n’est plus évalué.</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67</a:t>
            </a:r>
            <a:endParaRPr lang="en-US" sz="11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(11/17)</a:t>
            </a:r>
            <a:endParaRPr lang="en-US" sz="26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Délais par type de dossier et alerte d’examen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RG-ADM-43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L’Administrateur peut régler, pour un sous-type de dossier, un délai propre à une étape ; sans réglage, le délai standard s’applique. La date de fin annoncée à la PRMP suit ces réglages. Un dossier ne reste pas plus de </a:t>
                      </a:r>
                      <a:pPr indent="0" marL="0">
                        <a:buNone/>
                      </a:pPr>
                      <a:r>
                        <a:rPr lang="en-US" sz="1100" b="1" dirty="0">
                          <a:solidFill>
                            <a:srgbClr val="1B2A3A"/>
                          </a:solidFill>
                          <a:latin typeface="Segoe UI" pitchFamily="34" charset="0"/>
                          <a:ea typeface="Segoe UI" pitchFamily="34" charset="-122"/>
                          <a:cs typeface="Segoe UI" pitchFamily="34" charset="-120"/>
                        </a:rPr>
                        <a:t>5 jours ouvrés</a:t>
                      </a:r>
                      <a:pPr indent="0" marL="0">
                        <a:buNone/>
                      </a:pPr>
                      <a:r>
                        <a:rPr lang="en-US" sz="1100" dirty="0">
                          <a:solidFill>
                            <a:srgbClr val="1B2A3A"/>
                          </a:solidFill>
                          <a:latin typeface="Segoe UI" pitchFamily="34" charset="0"/>
                          <a:ea typeface="Segoe UI" pitchFamily="34" charset="-122"/>
                          <a:cs typeface="Segoe UI" pitchFamily="34" charset="-120"/>
                        </a:rPr>
                        <a:t> en examen : au-delà, le Membre examinateur, le Chef de commission et le Président sont avertis, une fois par passage.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Points communs ou par sous-type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RG-ADM-14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point de contrôle se rattache à une famille de dossier : sans sous-type il est </a:t>
                      </a:r>
                      <a:pPr indent="0" marL="0">
                        <a:buNone/>
                      </a:pPr>
                      <a:r>
                        <a:rPr lang="en-US" sz="1100" b="1" dirty="0">
                          <a:solidFill>
                            <a:srgbClr val="1B2A3A"/>
                          </a:solidFill>
                          <a:latin typeface="Segoe UI" pitchFamily="34" charset="0"/>
                          <a:ea typeface="Segoe UI" pitchFamily="34" charset="-122"/>
                          <a:cs typeface="Segoe UI" pitchFamily="34" charset="-120"/>
                        </a:rPr>
                        <a:t>commun</a:t>
                      </a:r>
                      <a:pPr indent="0" marL="0">
                        <a:buNone/>
                      </a:pPr>
                      <a:r>
                        <a:rPr lang="en-US" sz="1100" dirty="0">
                          <a:solidFill>
                            <a:srgbClr val="1B2A3A"/>
                          </a:solidFill>
                          <a:latin typeface="Segoe UI" pitchFamily="34" charset="0"/>
                          <a:ea typeface="Segoe UI" pitchFamily="34" charset="-122"/>
                          <a:cs typeface="Segoe UI" pitchFamily="34" charset="-120"/>
                        </a:rPr>
                        <a:t>, avec un sous-type il lui est propre ; il peut aussi ne valoir que pour une catégorie ou une forme de marché. Certains sous-types ont une grille propre, sans les points communs de leur famille.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Seuil AGPM de l’AMI</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RG-ADM-15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appel à manifestation d’intérêt rend l’avis général de passation requis à partir du seuil fixé par l’Administrateur, comparé </a:t>
                      </a:r>
                      <a:pPr indent="0" marL="0">
                        <a:buNone/>
                      </a:pPr>
                      <a:r>
                        <a:rPr lang="en-US" sz="1100" b="1" dirty="0">
                          <a:solidFill>
                            <a:srgbClr val="1B2A3A"/>
                          </a:solidFill>
                          <a:latin typeface="Segoe UI" pitchFamily="34" charset="0"/>
                          <a:ea typeface="Segoe UI" pitchFamily="34" charset="-122"/>
                          <a:cs typeface="Segoe UI" pitchFamily="34" charset="-120"/>
                        </a:rPr>
                        <a:t>marché par marché</a:t>
                      </a:r>
                      <a:pPr indent="0" marL="0">
                        <a:buNone/>
                      </a:pPr>
                      <a:r>
                        <a:rPr lang="en-US" sz="1100" dirty="0">
                          <a:solidFill>
                            <a:srgbClr val="1B2A3A"/>
                          </a:solidFill>
                          <a:latin typeface="Segoe UI" pitchFamily="34" charset="0"/>
                          <a:ea typeface="Segoe UI" pitchFamily="34" charset="-122"/>
                          <a:cs typeface="Segoe UI" pitchFamily="34" charset="-120"/>
                        </a:rPr>
                        <a:t>, borne incluse, sur le nouveau montant estimatif s’il existe, sinon l’initial. Un seuil à 0 fait déclencher tout marché en AMI. Les autres appels d’offres le déclenchent toujours ; le gré à gré et la consultation, jamais.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Règles d’alerte paramétrables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RG-ADM-16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règle d’alerte fixe un jalon, le nombre de jours avant l’échéance et le profil destinataire ; elle s’active ou se désactive. Tous la lisent, l’Administrateur seul l’écrit.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Taux d’écartement par règle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RG-ADM-34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tableau donne, règle par règle, la part des signalements écartés, en compteurs seuls, sans aucun plan. Une règle écartée dans </a:t>
                      </a:r>
                      <a:pPr indent="0" marL="0">
                        <a:buNone/>
                      </a:pPr>
                      <a:r>
                        <a:rPr lang="en-US" sz="1100" b="1" dirty="0">
                          <a:solidFill>
                            <a:srgbClr val="1B2A3A"/>
                          </a:solidFill>
                          <a:latin typeface="Segoe UI" pitchFamily="34" charset="0"/>
                          <a:ea typeface="Segoe UI" pitchFamily="34" charset="-122"/>
                          <a:cs typeface="Segoe UI" pitchFamily="34" charset="-120"/>
                        </a:rPr>
                        <a:t>80 % des cas</a:t>
                      </a:r>
                      <a:pPr indent="0" marL="0">
                        <a:buNone/>
                      </a:pPr>
                      <a:r>
                        <a:rPr lang="en-US" sz="1100" dirty="0">
                          <a:solidFill>
                            <a:srgbClr val="1B2A3A"/>
                          </a:solidFill>
                          <a:latin typeface="Segoe UI" pitchFamily="34" charset="0"/>
                          <a:ea typeface="Segoe UI" pitchFamily="34" charset="-122"/>
                          <a:cs typeface="Segoe UI" pitchFamily="34" charset="-120"/>
                        </a:rPr>
                        <a:t> s’éteint depuis l’administration ; les motifs déjà saisis sont conservés.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68</a:t>
            </a:r>
            <a:endParaRPr lang="en-US" sz="11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(12/17)</a:t>
            </a:r>
            <a:endParaRPr lang="en-US" sz="260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Statut de marché encadré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RG-ADM-17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statut d’un marché est une valeur du référentiel. « Prévu » sert de défaut et </a:t>
                      </a:r>
                      <a:pPr indent="0" marL="0">
                        <a:buNone/>
                      </a:pPr>
                      <a:r>
                        <a:rPr lang="en-US" sz="1100" b="1" dirty="0">
                          <a:solidFill>
                            <a:srgbClr val="1B2A3A"/>
                          </a:solidFill>
                          <a:latin typeface="Segoe UI" pitchFamily="34" charset="0"/>
                          <a:ea typeface="Segoe UI" pitchFamily="34" charset="-122"/>
                          <a:cs typeface="Segoe UI" pitchFamily="34" charset="-120"/>
                        </a:rPr>
                        <a:t>ne se supprime pas</a:t>
                      </a:r>
                      <a:pPr indent="0" marL="0">
                        <a:buNone/>
                      </a:pPr>
                      <a:r>
                        <a:rPr lang="en-US" sz="1100" dirty="0">
                          <a:solidFill>
                            <a:srgbClr val="1B2A3A"/>
                          </a:solidFill>
                          <a:latin typeface="Segoe UI" pitchFamily="34" charset="0"/>
                          <a:ea typeface="Segoe UI" pitchFamily="34" charset="-122"/>
                          <a:cs typeface="Segoe UI" pitchFamily="34" charset="-120"/>
                        </a:rPr>
                        <a:t> ; un statut désactivé reste accepté sur les marchés qui le portent. Une valeur inconnue est refusée avec la liste des valeurs possibles.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nature donne la catégorie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RG-ADM-18</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catégorie de fiche DAO (fournitures et services, travaux, prestations intellectuelles) vient de la </a:t>
                      </a:r>
                      <a:pPr indent="0" marL="0">
                        <a:buNone/>
                      </a:pPr>
                      <a:r>
                        <a:rPr lang="en-US" sz="1100" b="1" dirty="0">
                          <a:solidFill>
                            <a:srgbClr val="1B2A3A"/>
                          </a:solidFill>
                          <a:latin typeface="Segoe UI" pitchFamily="34" charset="0"/>
                          <a:ea typeface="Segoe UI" pitchFamily="34" charset="-122"/>
                          <a:cs typeface="Segoe UI" pitchFamily="34" charset="-120"/>
                        </a:rPr>
                        <a:t>nature</a:t>
                      </a:r>
                      <a:pPr indent="0" marL="0">
                        <a:buNone/>
                      </a:pPr>
                      <a:r>
                        <a:rPr lang="en-US" sz="1100" dirty="0">
                          <a:solidFill>
                            <a:srgbClr val="1B2A3A"/>
                          </a:solidFill>
                          <a:latin typeface="Segoe UI" pitchFamily="34" charset="0"/>
                          <a:ea typeface="Segoe UI" pitchFamily="34" charset="-122"/>
                          <a:cs typeface="Segoe UI" pitchFamily="34" charset="-120"/>
                        </a:rPr>
                        <a:t> de la ligne, par une correspondance que l’Administrateur tient à jour. Une nature sans catégorie empêche de préparer la fiche.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Sous-types et pièces attendues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RG-ADM-20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sous-types forment un référentiel ouvert, rattaché aux familles plan, mise en concurrence et marché ; celui d’un plan est déduit par l’application. Les pièces attendues se rattachent à la famille ; une pièce </a:t>
                      </a:r>
                      <a:pPr indent="0" marL="0">
                        <a:buNone/>
                      </a:pPr>
                      <a:r>
                        <a:rPr lang="en-US" sz="1100" b="1" dirty="0">
                          <a:solidFill>
                            <a:srgbClr val="1B2A3A"/>
                          </a:solidFill>
                          <a:latin typeface="Segoe UI" pitchFamily="34" charset="0"/>
                          <a:ea typeface="Segoe UI" pitchFamily="34" charset="-122"/>
                          <a:cs typeface="Segoe UI" pitchFamily="34" charset="-120"/>
                        </a:rPr>
                        <a:t>obligatoire</a:t>
                      </a:r>
                      <a:pPr indent="0" marL="0">
                        <a:buNone/>
                      </a:pPr>
                      <a:r>
                        <a:rPr lang="en-US" sz="1100" dirty="0">
                          <a:solidFill>
                            <a:srgbClr val="1B2A3A"/>
                          </a:solidFill>
                          <a:latin typeface="Segoe UI" pitchFamily="34" charset="0"/>
                          <a:ea typeface="Segoe UI" pitchFamily="34" charset="-122"/>
                          <a:cs typeface="Segoe UI" pitchFamily="34" charset="-120"/>
                        </a:rPr>
                        <a:t> est exigée à la soumission.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Seuils datés, pour signaler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RG-ADM-22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seuils de l’arrêté vivent dans un référentiel daté, hors taxes, en deux barèmes, central et déconcentré. Ils servent seulement à </a:t>
                      </a:r>
                      <a:pPr indent="0" marL="0">
                        <a:buNone/>
                      </a:pPr>
                      <a:r>
                        <a:rPr lang="en-US" sz="1100" b="1" dirty="0">
                          <a:solidFill>
                            <a:srgbClr val="1B2A3A"/>
                          </a:solidFill>
                          <a:latin typeface="Segoe UI" pitchFamily="34" charset="0"/>
                          <a:ea typeface="Segoe UI" pitchFamily="34" charset="-122"/>
                          <a:cs typeface="Segoe UI" pitchFamily="34" charset="-120"/>
                        </a:rPr>
                        <a:t>signaler</a:t>
                      </a:r>
                      <a:pPr indent="0" marL="0">
                        <a:buNone/>
                      </a:pPr>
                      <a:r>
                        <a:rPr lang="en-US" sz="1100" dirty="0">
                          <a:solidFill>
                            <a:srgbClr val="1B2A3A"/>
                          </a:solidFill>
                          <a:latin typeface="Segoe UI" pitchFamily="34" charset="0"/>
                          <a:ea typeface="Segoe UI" pitchFamily="34" charset="-122"/>
                          <a:cs typeface="Segoe UI" pitchFamily="34" charset="-120"/>
                        </a:rPr>
                        <a:t> : aucun mode n’est imposé, et une case vide ne produit aucun signalement.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Mode de passation, type de dossier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RG-ADM-19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mode de passation est rattaché à un type de dossier de mise en concurrence (DAO, dossier de consultation, bon de commande…), liste ouverte. Sans rattachement à un type </a:t>
                      </a:r>
                      <a:pPr indent="0" marL="0">
                        <a:buNone/>
                      </a:pPr>
                      <a:r>
                        <a:rPr lang="en-US" sz="1100" b="1" dirty="0">
                          <a:solidFill>
                            <a:srgbClr val="1B2A3A"/>
                          </a:solidFill>
                          <a:latin typeface="Segoe UI" pitchFamily="34" charset="0"/>
                          <a:ea typeface="Segoe UI" pitchFamily="34" charset="-122"/>
                          <a:cs typeface="Segoe UI" pitchFamily="34" charset="-120"/>
                        </a:rPr>
                        <a:t>actif</a:t>
                      </a:r>
                      <a:pPr indent="0" marL="0">
                        <a:buNone/>
                      </a:pPr>
                      <a:r>
                        <a:rPr lang="en-US" sz="1100" dirty="0">
                          <a:solidFill>
                            <a:srgbClr val="1B2A3A"/>
                          </a:solidFill>
                          <a:latin typeface="Segoe UI" pitchFamily="34" charset="0"/>
                          <a:ea typeface="Segoe UI" pitchFamily="34" charset="-122"/>
                          <a:cs typeface="Segoe UI" pitchFamily="34" charset="-120"/>
                        </a:rPr>
                        <a:t>, aucune ligne de ce mode ne peut recevoir de fiche ; l’écran signale les modes non rattachés.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69</a:t>
            </a:r>
            <a:endParaRPr lang="en-US" sz="11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(13/17)</a:t>
            </a:r>
            <a:endParaRPr lang="en-US" sz="2600" dirty="0"/>
          </a:p>
        </p:txBody>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champ se désactive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RG-ADM-21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champ de la fiche DAO se crée ou se modifie, jamais ne se supprime : il se </a:t>
                      </a:r>
                      <a:pPr indent="0" marL="0">
                        <a:buNone/>
                      </a:pPr>
                      <a:r>
                        <a:rPr lang="en-US" sz="1100" b="1" dirty="0">
                          <a:solidFill>
                            <a:srgbClr val="1B2A3A"/>
                          </a:solidFill>
                          <a:latin typeface="Segoe UI" pitchFamily="34" charset="0"/>
                          <a:ea typeface="Segoe UI" pitchFamily="34" charset="-122"/>
                          <a:cs typeface="Segoe UI" pitchFamily="34" charset="-120"/>
                        </a:rPr>
                        <a:t>désactive</a:t>
                      </a:r>
                      <a:pPr indent="0" marL="0">
                        <a:buNone/>
                      </a:pPr>
                      <a:r>
                        <a:rPr lang="en-US" sz="1100" dirty="0">
                          <a:solidFill>
                            <a:srgbClr val="1B2A3A"/>
                          </a:solidFill>
                          <a:latin typeface="Segoe UI" pitchFamily="34" charset="0"/>
                          <a:ea typeface="Segoe UI" pitchFamily="34" charset="-122"/>
                          <a:cs typeface="Segoe UI" pitchFamily="34" charset="-120"/>
                        </a:rPr>
                        <a:t>, et les valeurs déjà saisies restent lisibles. Blocs et rubriques sont figés ; chaque champ dit sa source, son document et sa condition.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quorum de la commission d’appel d’offres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RG-ADM-36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commission ne délibère valablement qu’au </a:t>
                      </a:r>
                      <a:pPr indent="0" marL="0">
                        <a:buNone/>
                      </a:pPr>
                      <a:r>
                        <a:rPr lang="en-US" sz="1100" b="1" dirty="0">
                          <a:solidFill>
                            <a:srgbClr val="1B2A3A"/>
                          </a:solidFill>
                          <a:latin typeface="Segoe UI" pitchFamily="34" charset="0"/>
                          <a:ea typeface="Segoe UI" pitchFamily="34" charset="-122"/>
                          <a:cs typeface="Segoe UI" pitchFamily="34" charset="-120"/>
                        </a:rPr>
                        <a:t>quorum</a:t>
                      </a:r>
                      <a:pPr indent="0" marL="0">
                        <a:buNone/>
                      </a:pPr>
                      <a:r>
                        <a:rPr lang="en-US" sz="1100" dirty="0">
                          <a:solidFill>
                            <a:srgbClr val="1B2A3A"/>
                          </a:solidFill>
                          <a:latin typeface="Segoe UI" pitchFamily="34" charset="0"/>
                          <a:ea typeface="Segoe UI" pitchFamily="34" charset="-122"/>
                          <a:cs typeface="Segoe UI" pitchFamily="34" charset="-120"/>
                        </a:rPr>
                        <a:t>, réglé par l’Administrateur pour toutes les procédures : la majorité des membres désignés (par défaut), tous, ou un nombre. Une procédure peut avoir sa propre règle. Le président, ou le représentant qu’il désigne pour la séance, est toujours requis en plus ; dans une commission de deux membres, la majorité vaut l’unanimité.</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Là où le quorum bloque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RG-ADM-37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quorum bloque la clôture de la séance d’ouverture et de la seconde séance, la production du rapport d’évaluation et l’arrêt de la liste de l’AMI, ainsi que tout </a:t>
                      </a:r>
                      <a:pPr indent="0" marL="0">
                        <a:buNone/>
                      </a:pPr>
                      <a:r>
                        <a:rPr lang="en-US" sz="1100" b="1" dirty="0">
                          <a:solidFill>
                            <a:srgbClr val="1B2A3A"/>
                          </a:solidFill>
                          <a:latin typeface="Segoe UI" pitchFamily="34" charset="0"/>
                          <a:ea typeface="Segoe UI" pitchFamily="34" charset="-122"/>
                          <a:cs typeface="Segoe UI" pitchFamily="34" charset="-120"/>
                        </a:rPr>
                        <a:t>empêchement</a:t>
                      </a:r>
                      <a:pPr indent="0" marL="0">
                        <a:buNone/>
                      </a:pPr>
                      <a:r>
                        <a:rPr lang="en-US" sz="1100" dirty="0">
                          <a:solidFill>
                            <a:srgbClr val="1B2A3A"/>
                          </a:solidFill>
                          <a:latin typeface="Segoe UI" pitchFamily="34" charset="0"/>
                          <a:ea typeface="Segoe UI" pitchFamily="34" charset="-122"/>
                          <a:cs typeface="Segoe UI" pitchFamily="34" charset="-120"/>
                        </a:rPr>
                        <a:t> qui le rendrait inatteignable : aucun procès-verbal ni rapport ne reste sans issue. Le quorum constaté s’imprime au procès-verbal et au rapport.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recours suspensifs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RG-ADM-38</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types de recours qui suspendent la signature du marché sont un réglage de l’Administrateur : par défaut la révision par l’ARMP (art. 80) et le référé précontractuel (art. 78) ; le réexamen par la PRMP (art. 79) peut être ajouté. La suspension dure jusqu’à la décision, vingt jours au plus. Le réglage vaut </a:t>
                      </a:r>
                      <a:pPr indent="0" marL="0">
                        <a:buNone/>
                      </a:pPr>
                      <a:r>
                        <a:rPr lang="en-US" sz="1100" b="1" dirty="0">
                          <a:solidFill>
                            <a:srgbClr val="1B2A3A"/>
                          </a:solidFill>
                          <a:latin typeface="Segoe UI" pitchFamily="34" charset="0"/>
                          <a:ea typeface="Segoe UI" pitchFamily="34" charset="-122"/>
                          <a:cs typeface="Segoe UI" pitchFamily="34" charset="-120"/>
                        </a:rPr>
                        <a:t>immédiatement</a:t>
                      </a:r>
                      <a:pPr indent="0" marL="0">
                        <a:buNone/>
                      </a:pPr>
                      <a:r>
                        <a:rPr lang="en-US" sz="1100" dirty="0">
                          <a:solidFill>
                            <a:srgbClr val="1B2A3A"/>
                          </a:solidFill>
                          <a:latin typeface="Segoe UI" pitchFamily="34" charset="0"/>
                          <a:ea typeface="Segoe UI" pitchFamily="34" charset="-122"/>
                          <a:cs typeface="Segoe UI" pitchFamily="34" charset="-120"/>
                        </a:rPr>
                        <a:t>, y compris pour les recours déjà déclarés.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transition SIGMP</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RG-ADM-39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L’avis spécifique et les lettres d’invitation produits par l’application remplacent les imprimés du SIGMP. Pendant la transition, l’imprimé reste accepté en pièce </a:t>
                      </a:r>
                      <a:pPr indent="0" marL="0">
                        <a:buNone/>
                      </a:pPr>
                      <a:r>
                        <a:rPr lang="en-US" sz="1100" b="1" dirty="0">
                          <a:solidFill>
                            <a:srgbClr val="1B2A3A"/>
                          </a:solidFill>
                          <a:latin typeface="Segoe UI" pitchFamily="34" charset="0"/>
                          <a:ea typeface="Segoe UI" pitchFamily="34" charset="-122"/>
                          <a:cs typeface="Segoe UI" pitchFamily="34" charset="-120"/>
                        </a:rPr>
                        <a:t>facultative</a:t>
                      </a:r>
                      <a:pPr indent="0" marL="0">
                        <a:buNone/>
                      </a:pPr>
                      <a:r>
                        <a:rPr lang="en-US" sz="1100" dirty="0">
                          <a:solidFill>
                            <a:srgbClr val="1B2A3A"/>
                          </a:solidFill>
                          <a:latin typeface="Segoe UI" pitchFamily="34" charset="0"/>
                          <a:ea typeface="Segoe UI" pitchFamily="34" charset="-122"/>
                          <a:cs typeface="Segoe UI" pitchFamily="34" charset="-120"/>
                        </a:rPr>
                        <a:t> des procédures en ligne ; dès la date de fin réglée par l’Administrateur, il n’est plus demandé. Sans date, la transition dure. Les dossiers saisis hors de l’application continuent d’exiger l’imprimé.</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70</a:t>
            </a:r>
            <a:endParaRPr lang="en-US" sz="11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(14/17)</a:t>
            </a:r>
            <a:endParaRPr lang="en-US" sz="260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décision d’équivalence au pied des documents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RG-ADM-40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page des documents générés porte en pied la décision formelle d’équivalence (« Document produit par la plateforme PRS 2.0 en application de la décision n° … du … ») dès que l’Administrateur l’a réglée ; auparavant, « Projet — équivalence SIGMP en attente ». Référence et date vont ensemble. Un document déjà imprimé </a:t>
                      </a:r>
                      <a:pPr indent="0" marL="0">
                        <a:buNone/>
                      </a:pPr>
                      <a:r>
                        <a:rPr lang="en-US" sz="1100" b="1" dirty="0">
                          <a:solidFill>
                            <a:srgbClr val="1B2A3A"/>
                          </a:solidFill>
                          <a:latin typeface="Segoe UI" pitchFamily="34" charset="0"/>
                          <a:ea typeface="Segoe UI" pitchFamily="34" charset="-122"/>
                          <a:cs typeface="Segoe UI" pitchFamily="34" charset="-120"/>
                        </a:rPr>
                        <a:t>garde</a:t>
                      </a:r>
                      <a:pPr indent="0" marL="0">
                        <a:buNone/>
                      </a:pPr>
                      <a:r>
                        <a:rPr lang="en-US" sz="1100" dirty="0">
                          <a:solidFill>
                            <a:srgbClr val="1B2A3A"/>
                          </a:solidFill>
                          <a:latin typeface="Segoe UI" pitchFamily="34" charset="0"/>
                          <a:ea typeface="Segoe UI" pitchFamily="34" charset="-122"/>
                          <a:cs typeface="Segoe UI" pitchFamily="34" charset="-120"/>
                        </a:rPr>
                        <a:t> le pied du moment.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Défauts et bornes de la remise électronique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RG-ADM-23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L’Administrateur fixe les défauts de la remise électronique — plateforme, fuseau, assistance, quorum de déchiffrement proposé — et ses bornes : signature minimale, taille maximale, délai minimal de publication. Un défaut se recopie à la </a:t>
                      </a:r>
                      <a:pPr indent="0" marL="0">
                        <a:buNone/>
                      </a:pPr>
                      <a:r>
                        <a:rPr lang="en-US" sz="1100" b="1" dirty="0">
                          <a:solidFill>
                            <a:srgbClr val="1B2A3A"/>
                          </a:solidFill>
                          <a:latin typeface="Segoe UI" pitchFamily="34" charset="0"/>
                          <a:ea typeface="Segoe UI" pitchFamily="34" charset="-122"/>
                          <a:cs typeface="Segoe UI" pitchFamily="34" charset="-120"/>
                        </a:rPr>
                        <a:t>création</a:t>
                      </a:r>
                      <a:pPr indent="0" marL="0">
                        <a:buNone/>
                      </a:pPr>
                      <a:r>
                        <a:rPr lang="en-US" sz="1100" dirty="0">
                          <a:solidFill>
                            <a:srgbClr val="1B2A3A"/>
                          </a:solidFill>
                          <a:latin typeface="Segoe UI" pitchFamily="34" charset="0"/>
                          <a:ea typeface="Segoe UI" pitchFamily="34" charset="-122"/>
                          <a:cs typeface="Segoe UI" pitchFamily="34" charset="-120"/>
                        </a:rPr>
                        <a:t> de la fiche ; une borne s’applique à chaque validation.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Signature minimale et mise en ligne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RG-ADM-24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signature minimale vaut « Avancée » par défaut, alors que la plateforme n’accepte encore que la signature simple : tant que l’Administrateur ne l’abaisse pas à </a:t>
                      </a:r>
                      <a:pPr indent="0" marL="0">
                        <a:buNone/>
                      </a:pPr>
                      <a:r>
                        <a:rPr lang="en-US" sz="1100" b="1" dirty="0">
                          <a:solidFill>
                            <a:srgbClr val="1B2A3A"/>
                          </a:solidFill>
                          <a:latin typeface="Segoe UI" pitchFamily="34" charset="0"/>
                          <a:ea typeface="Segoe UI" pitchFamily="34" charset="-122"/>
                          <a:cs typeface="Segoe UI" pitchFamily="34" charset="-120"/>
                        </a:rPr>
                        <a:t>Simple</a:t>
                      </a:r>
                      <a:pPr indent="0" marL="0">
                        <a:buNone/>
                      </a:pPr>
                      <a:r>
                        <a:rPr lang="en-US" sz="1100" dirty="0">
                          <a:solidFill>
                            <a:srgbClr val="1B2A3A"/>
                          </a:solidFill>
                          <a:latin typeface="Segoe UI" pitchFamily="34" charset="0"/>
                          <a:ea typeface="Segoe UI" pitchFamily="34" charset="-122"/>
                          <a:cs typeface="Segoe UI" pitchFamily="34" charset="-120"/>
                        </a:rPr>
                        <a:t>, aucune procédure ne paraît en ligne. Sur la base de démonstration, elle est réglée à Simple.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rappel des parts de clé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RG-ADM-46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nombre de jours avant la date limite de remise (7 par défaut), chaque membre de la commission dont la part de clé n’a pas été vérifiée depuis la clôture de la cérémonie reçoit un rappel, </a:t>
                      </a:r>
                      <a:pPr indent="0" marL="0">
                        <a:buNone/>
                      </a:pPr>
                      <a:r>
                        <a:rPr lang="en-US" sz="1100" b="1" dirty="0">
                          <a:solidFill>
                            <a:srgbClr val="1B2A3A"/>
                          </a:solidFill>
                          <a:latin typeface="Segoe UI" pitchFamily="34" charset="0"/>
                          <a:ea typeface="Segoe UI" pitchFamily="34" charset="-122"/>
                          <a:cs typeface="Segoe UI" pitchFamily="34" charset="-120"/>
                        </a:rPr>
                        <a:t>une fois</a:t>
                      </a:r>
                      <a:pPr indent="0" marL="0">
                        <a:buNone/>
                      </a:pPr>
                      <a:r>
                        <a:rPr lang="en-US" sz="1100" dirty="0">
                          <a:solidFill>
                            <a:srgbClr val="1B2A3A"/>
                          </a:solidFill>
                          <a:latin typeface="Segoe UI" pitchFamily="34" charset="0"/>
                          <a:ea typeface="Segoe UI" pitchFamily="34" charset="-122"/>
                          <a:cs typeface="Segoe UI" pitchFamily="34" charset="-120"/>
                        </a:rPr>
                        <a:t>. Le quorum de déchiffrement réglé ici (3 sur 5 par défaut) n’est qu’une </a:t>
                      </a:r>
                      <a:pPr indent="0" marL="0">
                        <a:buNone/>
                      </a:pPr>
                      <a:r>
                        <a:rPr lang="en-US" sz="1100" b="1" dirty="0">
                          <a:solidFill>
                            <a:srgbClr val="1B2A3A"/>
                          </a:solidFill>
                          <a:latin typeface="Segoe UI" pitchFamily="34" charset="0"/>
                          <a:ea typeface="Segoe UI" pitchFamily="34" charset="-122"/>
                          <a:cs typeface="Segoe UI" pitchFamily="34" charset="-120"/>
                        </a:rPr>
                        <a:t>proposition</a:t>
                      </a:r>
                      <a:pPr indent="0" marL="0">
                        <a:buNone/>
                      </a:pPr>
                      <a:r>
                        <a:rPr lang="en-US" sz="1100" dirty="0">
                          <a:solidFill>
                            <a:srgbClr val="1B2A3A"/>
                          </a:solidFill>
                          <a:latin typeface="Segoe UI" pitchFamily="34" charset="0"/>
                          <a:ea typeface="Segoe UI" pitchFamily="34" charset="-122"/>
                          <a:cs typeface="Segoe UI" pitchFamily="34" charset="-120"/>
                        </a:rPr>
                        <a:t> : il se fixe dans les paramètres de chaque procédure, entre 2 et le nombre de membres.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Compte bancaire de l’ARMP</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RG-ADM-25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Banque, titulaire et numéro du compte de l’ARMP se règlent par l’Administrateur seul, tous trois exigés. Le compte s’imprime dans l’avis spécifique ; un document déjà produit garde le compte du moment, et sans réglage il imprime des </a:t>
                      </a:r>
                      <a:pPr indent="0" marL="0">
                        <a:buNone/>
                      </a:pPr>
                      <a:r>
                        <a:rPr lang="en-US" sz="1100" b="1" dirty="0">
                          <a:solidFill>
                            <a:srgbClr val="1B2A3A"/>
                          </a:solidFill>
                          <a:latin typeface="Segoe UI" pitchFamily="34" charset="0"/>
                          <a:ea typeface="Segoe UI" pitchFamily="34" charset="-122"/>
                          <a:cs typeface="Segoe UI" pitchFamily="34" charset="-120"/>
                        </a:rPr>
                        <a:t>pointillés</a:t>
                      </a:r>
                      <a:pPr indent="0" marL="0">
                        <a:buNone/>
                      </a:pPr>
                      <a:r>
                        <a:rPr lang="en-US" sz="1100" dirty="0">
                          <a:solidFill>
                            <a:srgbClr val="1B2A3A"/>
                          </a:solidFill>
                          <a:latin typeface="Segoe UI" pitchFamily="34" charset="0"/>
                          <a:ea typeface="Segoe UI" pitchFamily="34" charset="-122"/>
                          <a:cs typeface="Segoe UI" pitchFamily="34" charset="-120"/>
                        </a:rPr>
                        <a: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71</a:t>
            </a:r>
            <a:endParaRPr lang="en-US" sz="11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(15/17)</a:t>
            </a:r>
            <a:endParaRPr lang="en-US" sz="2600" dirty="0"/>
          </a:p>
        </p:txBody>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Paramètres de l’espace candidat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RG-ADM-26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L’Administrateur règle l’espace candidat : vérification du NIF, confirmation par téléphone, inscriptions par jour, délais de confirmation et d’inactivité, taille des pièces. Chaque nuit, un compte jamais confirmé est supprimé, un compte inactif </a:t>
                      </a:r>
                      <a:pPr indent="0" marL="0">
                        <a:buNone/>
                      </a:pPr>
                      <a:r>
                        <a:rPr lang="en-US" sz="1100" b="1" dirty="0">
                          <a:solidFill>
                            <a:srgbClr val="1B2A3A"/>
                          </a:solidFill>
                          <a:latin typeface="Segoe UI" pitchFamily="34" charset="0"/>
                          <a:ea typeface="Segoe UI" pitchFamily="34" charset="-122"/>
                          <a:cs typeface="Segoe UI" pitchFamily="34" charset="-120"/>
                        </a:rPr>
                        <a:t>archivé</a:t>
                      </a:r>
                      <a:pPr indent="0" marL="0">
                        <a:buNone/>
                      </a:pPr>
                      <a:r>
                        <a:rPr lang="en-US" sz="1100" dirty="0">
                          <a:solidFill>
                            <a:srgbClr val="1B2A3A"/>
                          </a:solidFill>
                          <a:latin typeface="Segoe UI" pitchFamily="34" charset="0"/>
                          <a:ea typeface="Segoe UI" pitchFamily="34" charset="-122"/>
                          <a:cs typeface="Segoe UI" pitchFamily="34" charset="-120"/>
                        </a:rPr>
                        <a:t> — jamais supprimé.</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Conservation et purge des offres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RG-ADM-30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L’Administrateur fixe la durée de conservation des offres, comptée depuis la clôture de la séance ; sans durée, rien n’est supprimé. Au terme, il purge les procédures échues </a:t>
                      </a:r>
                      <a:pPr indent="0" marL="0">
                        <a:buNone/>
                      </a:pPr>
                      <a:r>
                        <a:rPr lang="en-US" sz="1100" b="1" dirty="0">
                          <a:solidFill>
                            <a:srgbClr val="1B2A3A"/>
                          </a:solidFill>
                          <a:latin typeface="Segoe UI" pitchFamily="34" charset="0"/>
                          <a:ea typeface="Segoe UI" pitchFamily="34" charset="-122"/>
                          <a:cs typeface="Segoe UI" pitchFamily="34" charset="-120"/>
                        </a:rPr>
                        <a:t>une à une</a:t>
                      </a:r>
                      <a:pPr indent="0" marL="0">
                        <a:buNone/>
                      </a:pPr>
                      <a:r>
                        <a:rPr lang="en-US" sz="1100" dirty="0">
                          <a:solidFill>
                            <a:srgbClr val="1B2A3A"/>
                          </a:solidFill>
                          <a:latin typeface="Segoe UI" pitchFamily="34" charset="0"/>
                          <a:ea typeface="Segoe UI" pitchFamily="34" charset="-122"/>
                          <a:cs typeface="Segoe UI" pitchFamily="34" charset="-120"/>
                        </a:rPr>
                        <a:t> ; journal, empreintes, lecture et procès-verbal demeurent.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Confirmation par téléphone désactivée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RG-ADM-45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confirmation d’un compte candidat par un code envoyé au téléphone peut s’exiger, mais </a:t>
                      </a:r>
                      <a:pPr indent="0" marL="0">
                        <a:buNone/>
                      </a:pPr>
                      <a:r>
                        <a:rPr lang="en-US" sz="1100" b="1" dirty="0">
                          <a:solidFill>
                            <a:srgbClr val="1B2A3A"/>
                          </a:solidFill>
                          <a:latin typeface="Segoe UI" pitchFamily="34" charset="0"/>
                          <a:ea typeface="Segoe UI" pitchFamily="34" charset="-122"/>
                          <a:cs typeface="Segoe UI" pitchFamily="34" charset="-120"/>
                        </a:rPr>
                        <a:t>aucune passerelle d’envoi n’est raccordée</a:t>
                      </a:r>
                      <a:pPr indent="0" marL="0">
                        <a:buNone/>
                      </a:pPr>
                      <a:r>
                        <a:rPr lang="en-US" sz="1100" dirty="0">
                          <a:solidFill>
                            <a:srgbClr val="1B2A3A"/>
                          </a:solidFill>
                          <a:latin typeface="Segoe UI" pitchFamily="34" charset="0"/>
                          <a:ea typeface="Segoe UI" pitchFamily="34" charset="-122"/>
                          <a:cs typeface="Segoe UI" pitchFamily="34" charset="-120"/>
                        </a:rPr>
                        <a:t> : le réglage doit rester désactivé. Le téléphone est alors déclaré sans être confirmé ; la confirmation passe par le courriel.</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NIF vérifié sur pièces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RG-ADM-27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L’Administrateur vérifie sur pièces le NIF d’une entreprise candidate, ou le refuse avec un motif obligatoire ; chaque décision est journalisée. La vérification ne </a:t>
                      </a:r>
                      <a:pPr indent="0" marL="0">
                        <a:buNone/>
                      </a:pPr>
                      <a:r>
                        <a:rPr lang="en-US" sz="1100" b="1" dirty="0">
                          <a:solidFill>
                            <a:srgbClr val="1B2A3A"/>
                          </a:solidFill>
                          <a:latin typeface="Segoe UI" pitchFamily="34" charset="0"/>
                          <a:ea typeface="Segoe UI" pitchFamily="34" charset="-122"/>
                          <a:cs typeface="Segoe UI" pitchFamily="34" charset="-120"/>
                        </a:rPr>
                        <a:t>bloque jamais</a:t>
                      </a:r>
                      <a:pPr indent="0" marL="0">
                        <a:buNone/>
                      </a:pPr>
                      <a:r>
                        <a:rPr lang="en-US" sz="1100" dirty="0">
                          <a:solidFill>
                            <a:srgbClr val="1B2A3A"/>
                          </a:solidFill>
                          <a:latin typeface="Segoe UI" pitchFamily="34" charset="0"/>
                          <a:ea typeface="Segoe UI" pitchFamily="34" charset="-122"/>
                          <a:cs typeface="Segoe UI" pitchFamily="34" charset="-120"/>
                        </a:rPr>
                        <a:t> le dépôt d’une offre : la commission la lit à l’ouverture des plis.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Exclusions ARMP indélébiles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RG-ADM-28</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exclusion de l’ARMP ne se supprime pas : on la corrige ou on avance sa fin, chaque changement journalisé. Rapprochée par le NIF, elle </a:t>
                      </a:r>
                      <a:pPr indent="0" marL="0">
                        <a:buNone/>
                      </a:pPr>
                      <a:r>
                        <a:rPr lang="en-US" sz="1100" b="1" dirty="0">
                          <a:solidFill>
                            <a:srgbClr val="1B2A3A"/>
                          </a:solidFill>
                          <a:latin typeface="Segoe UI" pitchFamily="34" charset="0"/>
                          <a:ea typeface="Segoe UI" pitchFamily="34" charset="-122"/>
                          <a:cs typeface="Segoe UI" pitchFamily="34" charset="-120"/>
                        </a:rPr>
                        <a:t>interdit le dépôt</a:t>
                      </a:r>
                      <a:pPr indent="0" marL="0">
                        <a:buNone/>
                      </a:pPr>
                      <a:r>
                        <a:rPr lang="en-US" sz="1100" dirty="0">
                          <a:solidFill>
                            <a:srgbClr val="1B2A3A"/>
                          </a:solidFill>
                          <a:latin typeface="Segoe UI" pitchFamily="34" charset="0"/>
                          <a:ea typeface="Segoe UI" pitchFamily="34" charset="-122"/>
                          <a:cs typeface="Segoe UI" pitchFamily="34" charset="-120"/>
                        </a:rPr>
                        <a:t> ; l’offre d’une entreprise exclue après son dépôt est écartée sans être ouverte.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72</a:t>
            </a:r>
            <a:endParaRPr lang="en-US" sz="11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(16/17)</a:t>
            </a:r>
            <a:endParaRPr lang="en-US" sz="2600" dirty="0"/>
          </a:p>
        </p:txBody>
      </p:sp>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Journal d’audit immuable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RG-ADM-31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Toute écriture est tracée au journal, qui se filtre par objet, acteur et période, du plus récent au plus ancien. Il est </a:t>
                      </a:r>
                      <a:pPr indent="0" marL="0">
                        <a:buNone/>
                      </a:pPr>
                      <a:r>
                        <a:rPr lang="en-US" sz="1100" b="1" dirty="0">
                          <a:solidFill>
                            <a:srgbClr val="1B2A3A"/>
                          </a:solidFill>
                          <a:latin typeface="Segoe UI" pitchFamily="34" charset="0"/>
                          <a:ea typeface="Segoe UI" pitchFamily="34" charset="-122"/>
                          <a:cs typeface="Segoe UI" pitchFamily="34" charset="-120"/>
                        </a:rPr>
                        <a:t>immuable</a:t>
                      </a:r>
                      <a:pPr indent="0" marL="0">
                        <a:buNone/>
                      </a:pPr>
                      <a:r>
                        <a:rPr lang="en-US" sz="1100" dirty="0">
                          <a:solidFill>
                            <a:srgbClr val="1B2A3A"/>
                          </a:solidFill>
                          <a:latin typeface="Segoe UI" pitchFamily="34" charset="0"/>
                          <a:ea typeface="Segoe UI" pitchFamily="34" charset="-122"/>
                          <a:cs typeface="Segoe UI" pitchFamily="34" charset="-120"/>
                        </a:rPr>
                        <a:t> : nul n’y ajoute, n’y modifie ni n’y supprime une entrée.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Actualités ciblées et archivées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RG-ADM-33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actualité, en texte simple sans mise en page libre, vise au moins un profil et s’affiche à l’ouverture de session dans sa période de publication. Elle naît </a:t>
                      </a:r>
                      <a:pPr indent="0" marL="0">
                        <a:buNone/>
                      </a:pPr>
                      <a:r>
                        <a:rPr lang="en-US" sz="1100" b="1" dirty="0">
                          <a:solidFill>
                            <a:srgbClr val="1B2A3A"/>
                          </a:solidFill>
                          <a:latin typeface="Segoe UI" pitchFamily="34" charset="0"/>
                          <a:ea typeface="Segoe UI" pitchFamily="34" charset="-122"/>
                          <a:cs typeface="Segoe UI" pitchFamily="34" charset="-120"/>
                        </a:rPr>
                        <a:t>inactive</a:t>
                      </a:r>
                      <a:pPr indent="0" marL="0">
                        <a:buNone/>
                      </a:pPr>
                      <a:r>
                        <a:rPr lang="en-US" sz="1100" dirty="0">
                          <a:solidFill>
                            <a:srgbClr val="1B2A3A"/>
                          </a:solidFill>
                          <a:latin typeface="Segoe UI" pitchFamily="34" charset="0"/>
                          <a:ea typeface="Segoe UI" pitchFamily="34" charset="-122"/>
                          <a:cs typeface="Segoe UI" pitchFamily="34" charset="-120"/>
                        </a:rPr>
                        <a:t> ; supprimée, elle est archivée. Un interrupteur général les coupe toutes.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Rapports bornés par la localité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RG-PIL-04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rapports de dossiers se téléchargent en PDF ou en tableur, sur une période facultative : sans dates, tous les dossiers sont inclus. Président et Administrateur couvrent toutes les commissions ; le Chef de commission n’obtient que </a:t>
                      </a:r>
                      <a:pPr indent="0" marL="0">
                        <a:buNone/>
                      </a:pPr>
                      <a:r>
                        <a:rPr lang="en-US" sz="1100" b="1" dirty="0">
                          <a:solidFill>
                            <a:srgbClr val="1B2A3A"/>
                          </a:solidFill>
                          <a:latin typeface="Segoe UI" pitchFamily="34" charset="0"/>
                          <a:ea typeface="Segoe UI" pitchFamily="34" charset="-122"/>
                          <a:cs typeface="Segoe UI" pitchFamily="34" charset="-120"/>
                        </a:rPr>
                        <a:t>sa localité</a:t>
                      </a:r>
                      <a:pPr indent="0" marL="0">
                        <a:buNone/>
                      </a:pPr>
                      <a:r>
                        <a:rPr lang="en-US" sz="1100" dirty="0">
                          <a:solidFill>
                            <a:srgbClr val="1B2A3A"/>
                          </a:solidFill>
                          <a:latin typeface="Segoe UI" pitchFamily="34" charset="0"/>
                          <a:ea typeface="Segoe UI" pitchFamily="34" charset="-122"/>
                          <a:cs typeface="Segoe UI" pitchFamily="34" charset="-120"/>
                        </a:rPr>
                        <a:t>. L’écran ne propose pas encore de cibler une commission précise, que l’application sait pourtant produire.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Vue complète de l’Administrateur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RG-PIL-11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L’Administrateur voit toutes les fiches en remise électronique, brouillons compris, pour désigner les responsables et suivre les procédures. Chaque autre agent ne voit que celles dont il est le </a:t>
                      </a:r>
                      <a:pPr indent="0" marL="0">
                        <a:buNone/>
                      </a:pPr>
                      <a:r>
                        <a:rPr lang="en-US" sz="1100" b="1" dirty="0">
                          <a:solidFill>
                            <a:srgbClr val="1B2A3A"/>
                          </a:solidFill>
                          <a:latin typeface="Segoe UI" pitchFamily="34" charset="0"/>
                          <a:ea typeface="Segoe UI" pitchFamily="34" charset="-122"/>
                          <a:cs typeface="Segoe UI" pitchFamily="34" charset="-120"/>
                        </a:rPr>
                        <a:t>responsable</a:t>
                      </a:r>
                      <a:pPr indent="0" marL="0">
                        <a:buNone/>
                      </a:pPr>
                      <a:r>
                        <a:rPr lang="en-US" sz="1100" dirty="0">
                          <a:solidFill>
                            <a:srgbClr val="1B2A3A"/>
                          </a:solidFill>
                          <a:latin typeface="Segoe UI" pitchFamily="34" charset="0"/>
                          <a:ea typeface="Segoe UI" pitchFamily="34" charset="-122"/>
                          <a:cs typeface="Segoe UI" pitchFamily="34" charset="-120"/>
                        </a:rPr>
                        <a: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À traiter d’abord</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RG-PIL-12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liste place en tête les procédures à traiter — sans responsable, cérémonie des clés non close, séance en cours ou du jour —, les séances closes en dernier. Seul le </a:t>
                      </a:r>
                      <a:pPr indent="0" marL="0">
                        <a:buNone/>
                      </a:pPr>
                      <a:r>
                        <a:rPr lang="en-US" sz="1100" b="1" dirty="0">
                          <a:solidFill>
                            <a:srgbClr val="1B2A3A"/>
                          </a:solidFill>
                          <a:latin typeface="Segoe UI" pitchFamily="34" charset="0"/>
                          <a:ea typeface="Segoe UI" pitchFamily="34" charset="-122"/>
                          <a:cs typeface="Segoe UI" pitchFamily="34" charset="-120"/>
                        </a:rPr>
                        <a:t>nombre</a:t>
                      </a:r>
                      <a:pPr indent="0" marL="0">
                        <a:buNone/>
                      </a:pPr>
                      <a:r>
                        <a:rPr lang="en-US" sz="1100" dirty="0">
                          <a:solidFill>
                            <a:srgbClr val="1B2A3A"/>
                          </a:solidFill>
                          <a:latin typeface="Segoe UI" pitchFamily="34" charset="0"/>
                          <a:ea typeface="Segoe UI" pitchFamily="34" charset="-122"/>
                          <a:cs typeface="Segoe UI" pitchFamily="34" charset="-120"/>
                        </a:rPr>
                        <a:t> d’offres déposées y figure, jamais leur contenu.</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73</a:t>
            </a:r>
            <a:endParaRPr lang="en-US" sz="11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(17/17)</a:t>
            </a:r>
            <a:endParaRPr lang="en-US" sz="2600" dirty="0"/>
          </a:p>
        </p:txBody>
      </p:sp>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L’intérimaire voit, sans agir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RG-PIL-13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procédure suivie par intérim est signalée : l’intérimaire la voit, mais les gestes du responsable restent au </a:t>
                      </a:r>
                      <a:pPr indent="0" marL="0">
                        <a:buNone/>
                      </a:pPr>
                      <a:r>
                        <a:rPr lang="en-US" sz="1100" b="1" dirty="0">
                          <a:solidFill>
                            <a:srgbClr val="1B2A3A"/>
                          </a:solidFill>
                          <a:latin typeface="Segoe UI" pitchFamily="34" charset="0"/>
                          <a:ea typeface="Segoe UI" pitchFamily="34" charset="-122"/>
                          <a:cs typeface="Segoe UI" pitchFamily="34" charset="-120"/>
                        </a:rPr>
                        <a:t>titulaire</a:t>
                      </a:r>
                      <a:pPr indent="0" marL="0">
                        <a:buNone/>
                      </a:pPr>
                      <a:r>
                        <a:rPr lang="en-US" sz="1100" dirty="0">
                          <a:solidFill>
                            <a:srgbClr val="1B2A3A"/>
                          </a:solidFill>
                          <a:latin typeface="Segoe UI" pitchFamily="34" charset="0"/>
                          <a:ea typeface="Segoe UI" pitchFamily="34" charset="-122"/>
                          <a:cs typeface="Segoe UI" pitchFamily="34" charset="-120"/>
                        </a:rPr>
                        <a:t>. Une procédure close reste listée jusqu’au terme de la conservation des offres.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Ce que le public voit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RG-PIL-14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public ne voit en ligne qu’une procédure électronique lancée, en signature simple et avant sa date limite. Aucun </a:t>
                      </a:r>
                      <a:pPr indent="0" marL="0">
                        <a:buNone/>
                      </a:pPr>
                      <a:r>
                        <a:rPr lang="en-US" sz="1100" b="1" dirty="0">
                          <a:solidFill>
                            <a:srgbClr val="1B2A3A"/>
                          </a:solidFill>
                          <a:latin typeface="Segoe UI" pitchFamily="34" charset="0"/>
                          <a:ea typeface="Segoe UI" pitchFamily="34" charset="-122"/>
                          <a:cs typeface="Segoe UI" pitchFamily="34" charset="-120"/>
                        </a:rPr>
                        <a:t>paramètre interne</a:t>
                      </a:r>
                      <a:pPr indent="0" marL="0">
                        <a:buNone/>
                      </a:pPr>
                      <a:r>
                        <a:rPr lang="en-US" sz="1100" dirty="0">
                          <a:solidFill>
                            <a:srgbClr val="1B2A3A"/>
                          </a:solidFill>
                          <a:latin typeface="Segoe UI" pitchFamily="34" charset="0"/>
                          <a:ea typeface="Segoe UI" pitchFamily="34" charset="-122"/>
                          <a:cs typeface="Segoe UI" pitchFamily="34" charset="-120"/>
                        </a:rPr>
                        <a:t> n’est publié ; les documents ne se retirent qu’avec un compte candidat.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L’Administrateur · 74</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74</Slides>
  <Notes>74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74</vt:i4>
      </vt:variant>
    </vt:vector>
  </HeadingPairs>
  <TitlesOfParts>
    <vt:vector size="7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vector>
  </TitlesOfParts>
  <Company>Commission nationale des marchés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PRS 2.0 — Les fonctionnalités · L’Administrateur</dc:title>
  <dc:subject>PptxGenJS Presentation</dc:subject>
  <dc:creator>PRS 2.0</dc:creator>
  <cp:lastModifiedBy>PRS 2.0</cp:lastModifiedBy>
  <cp:revision>1</cp:revision>
  <dcterms:created xsi:type="dcterms:W3CDTF">2026-10-14T12:36:48Z</dcterms:created>
  <dcterms:modified xsi:type="dcterms:W3CDTF">2026-10-14T12:36:48Z</dcterms:modified>
</cp:coreProperties>
</file>